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39" r:id="rId33"/>
    <p:sldId id="940" r:id="rId34"/>
    <p:sldId id="941" r:id="rId35"/>
    <p:sldId id="942" r:id="rId36"/>
    <p:sldId id="943" r:id="rId31"/>
    <p:sldId id="944" r:id="rId30"/>
    <p:sldId id="945" r:id="rId29"/>
    <p:sldId id="946" r:id="rId28"/>
    <p:sldId id="947" r:id="rId27"/>
    <p:sldId id="948" r:id="rId20"/>
    <p:sldId id="949" r:id="rId18"/>
    <p:sldId id="950" r:id="rId17"/>
    <p:sldId id="951" r:id="rId16"/>
    <p:sldId id="952" r:id="rId14"/>
    <p:sldId id="953" r:id="rId13"/>
    <p:sldId id="954" r:id="rId12"/>
    <p:sldId id="955" r:id="rId11"/>
    <p:sldId id="956" r:id="rId10"/>
    <p:sldId id="957" r:id="rId8"/>
    <p:sldId id="958" r:id="rId7"/>
    <p:sldId id="959" r:id="rId6"/>
    <p:sldId id="960" r:id="rId5"/>
    <p:sldId id="961" r:id="rId4"/>
    <p:sldId id="962" r:id="rId3"/>
    <p:sldId id="963" r:id="rId57"/>
    <p:sldId id="96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2:20)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Write your introduction and your conclusion only.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She has been learning to speak up at work • 2 She did not look up • 3 Her mentor • 4 One short talk a week • 5 It repeats the point and adds a next step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says "introduction," "example," or "conclusion." B says what that part must do. Then switch. ---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names the point • 2 has a detail • 3 repeats the point • 4 I'm going to • 5 had learned • 6 learning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Introduction • 2 Example • 3 Example • 4 Conclusion • 5 Conclusion • 6 Example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review sentences, not a new tense.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conclusion.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two examples.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introduction.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Introduction • 2 Example 1 • 3 Example 2 • 4 Conclusion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introduction • 2 example • 3 example • 4 conclusion • 5 a stopwatch • 6 finishing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Imani, a former learner, gives a short talk at a practice night: what she has been learning, one hard moment, one person who helped, and her next step.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thirteen. Imani, a former learner, gives a short talk at a practice night at the community center. Then Mr. Gordon asks one question.</a:t>
            </a:r>
          </a:p>
          <a:p>
            <a:r>
              <a:t>Imani: Good evening. My point is simple. I've been learning to speak up at work, and a mentor helped me.</a:t>
            </a:r>
          </a:p>
          <a:p>
            <a:r>
              <a:t>Imani: That is my introduction. I want to give two examples.</a:t>
            </a:r>
          </a:p>
          <a:p>
            <a:r>
              <a:t>Imani: Example one. By the time I finished my first month, I had learned to pause and look up from my notecard.</a:t>
            </a:r>
          </a:p>
          <a:p>
            <a:r>
              <a:t>Imani: The hard moment was a team meeting. I wish I had looked up sooner, so next time I will make eye contact.</a:t>
            </a:r>
          </a:p>
          <a:p>
            <a:r>
              <a:t>Imani: Example two. My mentor at the community center listened and asked one question.</a:t>
            </a:r>
          </a:p>
          <a:p>
            <a:r>
              <a:t>Imani: That question helped me find my point. The achievement was small, and it was mine.</a:t>
            </a:r>
          </a:p>
          <a:p>
            <a:r>
              <a:t>Imani: I'm going to practice with a stopwatch for two minutes. The outline is on my notecard.</a:t>
            </a:r>
          </a:p>
          <a:p>
            <a:r>
              <a:t>Imani: This is my conclusion. I can speak from notes. My next step is one short talk a week at work.</a:t>
            </a:r>
          </a:p>
          <a:p>
            <a:r>
              <a:t>Mr. Gordon: Thank you, Imani. Which example do you want to keep?</a:t>
            </a:r>
          </a:p>
          <a:p>
            <a:r>
              <a:t>Imani: I want to keep the mentor example. I'm going to say it again, more slowly.</a:t>
            </a:r>
          </a:p>
          <a:p>
            <a:r>
              <a:t>Mr. Gordon: Good. A pause between the parts helps. Applause is for finishing, not for the longest story.</a:t>
            </a:r>
          </a:p>
          <a:p>
            <a:r>
              <a:t>Imani: I am not going to memorize the talk. Eye contact means I look up from the card.</a:t>
            </a:r>
          </a:p>
          <a:p>
            <a:r>
              <a:t>Mr. Gordon: What is your next step, in one sentence?</a:t>
            </a:r>
          </a:p>
          <a:p>
            <a:r>
              <a:t>Imani: I'm going to practice one talk a week. I want to keep the introduction short.</a:t>
            </a:r>
          </a:p>
          <a:p>
            <a:r>
              <a:t>Mr. Gordon: The conclusion should repeat the point, not start a new story.</a:t>
            </a:r>
          </a:p>
          <a:p>
            <a:r>
              <a:t>Imani: An achievement can be small. My class, my job, or a person who helped me is enough.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Yes.</a:t>
            </a:r>
          </a:p>
          <a:p>
            <a:r>
              <a:t>2. Yes.</a:t>
            </a:r>
          </a:p>
          <a:p>
            <a:r>
              <a:t>3. No.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Outline: a clipboard and a memo [sign: OUTLINE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13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Short Talk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open a talk with one clear sentence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give two examples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close with a next step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open a talk with one clear sentence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two examples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close with a next step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speak for about two minutes from notes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Notecard: an index card [sign: NOTECAR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question. B answers in about four sentences. A asks one follow-up. Then switch.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sentences. A asks one follow-up. Then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switch.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 question. B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 in about four sentences. A asks one follow-up. Then switch.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 question. B answers in about four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sentences. A asks one follow-up. Then switch.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Outline: a clipboard and a memo [sign: OUTLINE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outline</a:t>
            </a:r>
            <a:endParaRPr lang="en-US" sz="2000" dirty="0" b="1"/>
          </a:p>
        </p:txBody>
      </p:sp>
      <p:pic>
        <p:nvPicPr>
          <p:cNvPr id="19" name="Word picture 2" descr="Notecard: an index card [sign: NOTECARD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notecard</a:t>
            </a:r>
            <a:endParaRPr lang="en-US" sz="2000" dirty="0" b="1"/>
          </a:p>
        </p:txBody>
      </p:sp>
      <p:pic>
        <p:nvPicPr>
          <p:cNvPr id="21" name="Word picture 3" descr="Pause: a pause button [sign: PAUSE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pause</a:t>
            </a:r>
            <a:endParaRPr lang="en-US" sz="2000" dirty="0" b="1"/>
          </a:p>
        </p:txBody>
      </p:sp>
      <p:pic>
        <p:nvPicPr>
          <p:cNvPr id="23" name="Word picture 4" descr="Eye contact: a pair of eyes [sign: LOOK UP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eye contact</a:t>
            </a:r>
            <a:endParaRPr lang="en-US" sz="2000" dirty="0" b="1"/>
          </a:p>
        </p:txBody>
      </p:sp>
      <p:pic>
        <p:nvPicPr>
          <p:cNvPr id="25" name="Word picture 5" descr="Introduction: a waving hand [sign: HELLO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introduction</a:t>
            </a:r>
            <a:endParaRPr lang="en-US" sz="2000" dirty="0" b="1"/>
          </a:p>
        </p:txBody>
      </p:sp>
      <p:pic>
        <p:nvPicPr>
          <p:cNvPr id="27" name="Word picture 6" descr="Example: a light bulb [sign: EXAMPLE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example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 in a sentence</a:t>
            </a:r>
            <a:endParaRPr lang="en-US" sz="2200" dirty="0" b="1"/>
          </a:p>
        </p:txBody>
      </p:sp>
      <p:pic>
        <p:nvPicPr>
          <p:cNvPr id="17" name="Word picture 1" descr="Conclusion: a checkered flag [sign: THE END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conclusion</a:t>
            </a:r>
            <a:endParaRPr lang="en-US" sz="2000" dirty="0" b="1"/>
          </a:p>
        </p:txBody>
      </p:sp>
      <p:pic>
        <p:nvPicPr>
          <p:cNvPr id="19" name="Word picture 2" descr="Mentor: a person and a speech balloon [sign: MENTOR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mentor</a:t>
            </a:r>
            <a:endParaRPr lang="en-US" sz="2000" dirty="0" b="1"/>
          </a:p>
        </p:txBody>
      </p:sp>
      <p:pic>
        <p:nvPicPr>
          <p:cNvPr id="21" name="Word picture 3" descr="Applause: clapping hands [sign: APPLAUSE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applause</a:t>
            </a:r>
            <a:endParaRPr lang="en-US" sz="2000" dirty="0" b="1"/>
          </a:p>
        </p:txBody>
      </p:sp>
      <p:pic>
        <p:nvPicPr>
          <p:cNvPr id="23" name="Word picture 4" descr="Community center: a school building and two people [sign: CENTER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community center</a:t>
            </a:r>
            <a:endParaRPr lang="en-US" sz="1500" dirty="0" b="1"/>
          </a:p>
        </p:txBody>
      </p:sp>
      <p:pic>
        <p:nvPicPr>
          <p:cNvPr id="25" name="Word picture 5" descr="Achievement: a trophy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achievement</a:t>
            </a:r>
            <a:endParaRPr lang="en-US" sz="2000" dirty="0" b="1"/>
          </a:p>
        </p:txBody>
      </p:sp>
      <p:pic>
        <p:nvPicPr>
          <p:cNvPr id="27" name="Word picture 6" descr="Stopwatch: a stopwatch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stopwatch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the introduction name the point?</a:t>
            </a:r>
            <a:endParaRPr lang="en-US" sz="1600" dirty="0" b="1"/>
          </a:p>
        </p:txBody>
      </p:sp>
      <p:pic>
        <p:nvPicPr>
          <p:cNvPr id="101" name="R1 pic" descr="Introduction: a waving hand [sign: HELLO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each example need a detail?</a:t>
            </a:r>
            <a:endParaRPr lang="en-US" sz="1600" dirty="0" b="1"/>
          </a:p>
        </p:txBody>
      </p:sp>
      <p:pic>
        <p:nvPicPr>
          <p:cNvPr id="102" name="R2 pic" descr="Example: a light bulb [sign: EXAMPLE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conclusion a new story?</a:t>
            </a:r>
            <a:endParaRPr lang="en-US" sz="1600" dirty="0" b="1"/>
          </a:p>
        </p:txBody>
      </p:sp>
      <p:pic>
        <p:nvPicPr>
          <p:cNvPr id="103" name="R3 pic" descr="Conclusion: a checkered flag [sign: THE END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Imani, a former learner, gives a short talk at a practice night: what she has been learning, one hard moment, one person who helped, and her next step.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Pause: a pause button [sign: PAUS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Imani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Gordon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her main point?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 Play 1 → Task A.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2:20):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her main point?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the loudest applause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speaking up at work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a forgotten notecard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Circle the answers.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1. "My point is simple" is the</a:t>
            </a:r>
            <a:endParaRPr lang="en-US" sz="1300" dirty="0"/>
          </a:p>
        </p:txBody>
      </p:sp>
      <p:sp>
        <p:nvSpPr>
          <p:cNvPr id="9" name="R1 opt1"/>
          <p:cNvSpPr/>
          <p:nvPr/>
        </p:nvSpPr>
        <p:spPr>
          <a:xfrm>
            <a:off x="5166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introduction</a:t>
            </a:r>
            <a:endParaRPr lang="en-US" sz="1200" dirty="0" b="1"/>
          </a:p>
        </p:txBody>
      </p:sp>
      <p:sp>
        <p:nvSpPr>
          <p:cNvPr id="10" name="R1 opt2"/>
          <p:cNvSpPr/>
          <p:nvPr/>
        </p:nvSpPr>
        <p:spPr>
          <a:xfrm>
            <a:off x="7452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1200" dirty="0" b="1"/>
          </a:p>
        </p:txBody>
      </p:sp>
      <p:sp>
        <p:nvSpPr>
          <p:cNvPr id="11" name="R1 opt3"/>
          <p:cNvSpPr/>
          <p:nvPr/>
        </p:nvSpPr>
        <p:spPr>
          <a:xfrm>
            <a:off x="9738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conclusion</a:t>
            </a:r>
            <a:endParaRPr lang="en-US" sz="1200" dirty="0" b="1"/>
          </a:p>
        </p:txBody>
      </p:sp>
      <p:sp>
        <p:nvSpPr>
          <p:cNvPr id="12" name="R1 circle"/>
          <p:cNvSpPr/>
          <p:nvPr/>
        </p:nvSpPr>
        <p:spPr>
          <a:xfrm>
            <a:off x="5038344" y="30540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3" name="R2 stmt"/>
          <p:cNvSpPr/>
          <p:nvPr/>
        </p:nvSpPr>
        <p:spPr>
          <a:xfrm>
            <a:off x="502920" y="365760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2. The hard moment is an</a:t>
            </a:r>
            <a:endParaRPr lang="en-US" sz="1300" dirty="0"/>
          </a:p>
        </p:txBody>
      </p:sp>
      <p:sp>
        <p:nvSpPr>
          <p:cNvPr id="14" name="R2 opt1"/>
          <p:cNvSpPr/>
          <p:nvPr/>
        </p:nvSpPr>
        <p:spPr>
          <a:xfrm>
            <a:off x="5166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introduction</a:t>
            </a:r>
            <a:endParaRPr lang="en-US" sz="1200" dirty="0" b="1"/>
          </a:p>
        </p:txBody>
      </p:sp>
      <p:sp>
        <p:nvSpPr>
          <p:cNvPr id="15" name="R2 opt2"/>
          <p:cNvSpPr/>
          <p:nvPr/>
        </p:nvSpPr>
        <p:spPr>
          <a:xfrm>
            <a:off x="7452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1200" dirty="0" b="1"/>
          </a:p>
        </p:txBody>
      </p:sp>
      <p:sp>
        <p:nvSpPr>
          <p:cNvPr id="16" name="R2 opt3"/>
          <p:cNvSpPr/>
          <p:nvPr/>
        </p:nvSpPr>
        <p:spPr>
          <a:xfrm>
            <a:off x="9738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conclusion</a:t>
            </a:r>
            <a:endParaRPr lang="en-US" sz="1200" dirty="0" b="1"/>
          </a:p>
        </p:txBody>
      </p:sp>
      <p:sp>
        <p:nvSpPr>
          <p:cNvPr id="17" name="R2 circle"/>
          <p:cNvSpPr/>
          <p:nvPr/>
        </p:nvSpPr>
        <p:spPr>
          <a:xfrm>
            <a:off x="7324344" y="360273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8" name="R3 stmt"/>
          <p:cNvSpPr/>
          <p:nvPr/>
        </p:nvSpPr>
        <p:spPr>
          <a:xfrm>
            <a:off x="502920" y="420624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3. The mentor's question is an</a:t>
            </a:r>
            <a:endParaRPr lang="en-US" sz="1300" dirty="0"/>
          </a:p>
        </p:txBody>
      </p:sp>
      <p:sp>
        <p:nvSpPr>
          <p:cNvPr id="19" name="R3 opt1"/>
          <p:cNvSpPr/>
          <p:nvPr/>
        </p:nvSpPr>
        <p:spPr>
          <a:xfrm>
            <a:off x="5166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introduction</a:t>
            </a:r>
            <a:endParaRPr lang="en-US" sz="1200" dirty="0" b="1"/>
          </a:p>
        </p:txBody>
      </p:sp>
      <p:sp>
        <p:nvSpPr>
          <p:cNvPr id="20" name="R3 opt2"/>
          <p:cNvSpPr/>
          <p:nvPr/>
        </p:nvSpPr>
        <p:spPr>
          <a:xfrm>
            <a:off x="7452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1200" dirty="0" b="1"/>
          </a:p>
        </p:txBody>
      </p:sp>
      <p:sp>
        <p:nvSpPr>
          <p:cNvPr id="21" name="R3 opt3"/>
          <p:cNvSpPr/>
          <p:nvPr/>
        </p:nvSpPr>
        <p:spPr>
          <a:xfrm>
            <a:off x="9738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conclusion</a:t>
            </a:r>
            <a:endParaRPr lang="en-US" sz="1200" dirty="0" b="1"/>
          </a:p>
        </p:txBody>
      </p:sp>
      <p:sp>
        <p:nvSpPr>
          <p:cNvPr id="22" name="R3 circle"/>
          <p:cNvSpPr/>
          <p:nvPr/>
        </p:nvSpPr>
        <p:spPr>
          <a:xfrm>
            <a:off x="7324344" y="415137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R4 stmt"/>
          <p:cNvSpPr/>
          <p:nvPr/>
        </p:nvSpPr>
        <p:spPr>
          <a:xfrm>
            <a:off x="502920" y="475488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4. The next step is the</a:t>
            </a:r>
            <a:endParaRPr lang="en-US" sz="1300" dirty="0"/>
          </a:p>
        </p:txBody>
      </p:sp>
      <p:sp>
        <p:nvSpPr>
          <p:cNvPr id="24" name="R4 opt1"/>
          <p:cNvSpPr/>
          <p:nvPr/>
        </p:nvSpPr>
        <p:spPr>
          <a:xfrm>
            <a:off x="5166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introduction</a:t>
            </a:r>
            <a:endParaRPr lang="en-US" sz="1200" dirty="0" b="1"/>
          </a:p>
        </p:txBody>
      </p:sp>
      <p:sp>
        <p:nvSpPr>
          <p:cNvPr id="25" name="R4 opt2"/>
          <p:cNvSpPr/>
          <p:nvPr/>
        </p:nvSpPr>
        <p:spPr>
          <a:xfrm>
            <a:off x="7452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1200" dirty="0" b="1"/>
          </a:p>
        </p:txBody>
      </p:sp>
      <p:sp>
        <p:nvSpPr>
          <p:cNvPr id="26" name="R4 opt3"/>
          <p:cNvSpPr/>
          <p:nvPr/>
        </p:nvSpPr>
        <p:spPr>
          <a:xfrm>
            <a:off x="9738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conclusion</a:t>
            </a:r>
            <a:endParaRPr lang="en-US" sz="1200" dirty="0" b="1"/>
          </a:p>
        </p:txBody>
      </p:sp>
      <p:sp>
        <p:nvSpPr>
          <p:cNvPr id="27" name="R4 circle"/>
          <p:cNvSpPr/>
          <p:nvPr/>
        </p:nvSpPr>
        <p:spPr>
          <a:xfrm>
            <a:off x="9610344" y="470001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5 stmt"/>
          <p:cNvSpPr/>
          <p:nvPr/>
        </p:nvSpPr>
        <p:spPr>
          <a:xfrm>
            <a:off x="502920" y="530352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5. She is going to practice with</a:t>
            </a:r>
            <a:endParaRPr lang="en-US" sz="1300" dirty="0"/>
          </a:p>
        </p:txBody>
      </p:sp>
      <p:sp>
        <p:nvSpPr>
          <p:cNvPr id="29" name="R5 opt1"/>
          <p:cNvSpPr/>
          <p:nvPr/>
        </p:nvSpPr>
        <p:spPr>
          <a:xfrm>
            <a:off x="5166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stopwatch</a:t>
            </a:r>
            <a:endParaRPr lang="en-US" sz="1200" dirty="0" b="1"/>
          </a:p>
        </p:txBody>
      </p:sp>
      <p:sp>
        <p:nvSpPr>
          <p:cNvPr id="30" name="R5 opt2"/>
          <p:cNvSpPr/>
          <p:nvPr/>
        </p:nvSpPr>
        <p:spPr>
          <a:xfrm>
            <a:off x="7452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microphone</a:t>
            </a:r>
            <a:endParaRPr lang="en-US" sz="1200" dirty="0" b="1"/>
          </a:p>
        </p:txBody>
      </p:sp>
      <p:sp>
        <p:nvSpPr>
          <p:cNvPr id="31" name="R5 opt3"/>
          <p:cNvSpPr/>
          <p:nvPr/>
        </p:nvSpPr>
        <p:spPr>
          <a:xfrm>
            <a:off x="9738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whiteboard</a:t>
            </a:r>
            <a:endParaRPr lang="en-US" sz="1200" dirty="0" b="1"/>
          </a:p>
        </p:txBody>
      </p:sp>
      <p:sp>
        <p:nvSpPr>
          <p:cNvPr id="32" name="R5 circle"/>
          <p:cNvSpPr/>
          <p:nvPr/>
        </p:nvSpPr>
        <p:spPr>
          <a:xfrm>
            <a:off x="5038344" y="524865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3" name="R6 stmt"/>
          <p:cNvSpPr/>
          <p:nvPr/>
        </p:nvSpPr>
        <p:spPr>
          <a:xfrm>
            <a:off x="502920" y="585216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6. Applause is for</a:t>
            </a:r>
            <a:endParaRPr lang="en-US" sz="1300" dirty="0"/>
          </a:p>
        </p:txBody>
      </p:sp>
      <p:sp>
        <p:nvSpPr>
          <p:cNvPr id="34" name="R6 opt1"/>
          <p:cNvSpPr/>
          <p:nvPr/>
        </p:nvSpPr>
        <p:spPr>
          <a:xfrm>
            <a:off x="5166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finishing</a:t>
            </a:r>
            <a:endParaRPr lang="en-US" sz="1200" dirty="0" b="1"/>
          </a:p>
        </p:txBody>
      </p:sp>
      <p:sp>
        <p:nvSpPr>
          <p:cNvPr id="35" name="R6 opt2"/>
          <p:cNvSpPr/>
          <p:nvPr/>
        </p:nvSpPr>
        <p:spPr>
          <a:xfrm>
            <a:off x="7452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longest story</a:t>
            </a:r>
            <a:endParaRPr lang="en-US" sz="1200" dirty="0" b="1"/>
          </a:p>
        </p:txBody>
      </p:sp>
      <p:sp>
        <p:nvSpPr>
          <p:cNvPr id="36" name="R6 opt3"/>
          <p:cNvSpPr/>
          <p:nvPr/>
        </p:nvSpPr>
        <p:spPr>
          <a:xfrm>
            <a:off x="9738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perfect memory</a:t>
            </a:r>
            <a:endParaRPr lang="en-US" sz="1200" dirty="0" b="1"/>
          </a:p>
        </p:txBody>
      </p:sp>
      <p:sp>
        <p:nvSpPr>
          <p:cNvPr id="37" name="R6 circle"/>
          <p:cNvSpPr/>
          <p:nvPr/>
        </p:nvSpPr>
        <p:spPr>
          <a:xfrm>
            <a:off x="5038344" y="57972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the four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1330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First: ______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52557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Introduction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41330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Second: ______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3311957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 1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41330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Third: ______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4098341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 2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41330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Fourth: ______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884725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Conclusion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I've been learning to speak up at work.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give two examples.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practice with a stopwatch.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not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memorize the talk.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Eye contact: a pair of eyes [sign: LOOK UP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introduction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INTRODUCTION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NAMES THE POINT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I've been learning to speak up at work.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is my point.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mentor helped me.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is part of the point.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to give two examples.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the examples start.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Introduction: a waving hand [sign: HELLO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examples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EXAMPLE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DETAIL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 1</a:t>
            </a:r>
            <a:endParaRPr lang="en-US" sz="13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 I finished my first month, I had learned to pause.</a:t>
            </a:r>
            <a:endParaRPr lang="en-US" sz="14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hard moment</a:t>
            </a:r>
            <a:endParaRPr lang="en-US" sz="13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had looked up sooner, so next time I will make eye contact.</a:t>
            </a:r>
            <a:endParaRPr lang="en-US" sz="14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 2</a:t>
            </a:r>
            <a:endParaRPr lang="en-US" sz="13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mentor asked one question.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Example: a light bulb [sign: EXAMPL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conclusion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CONCLUSION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A NEW STORY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 the point in new words.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speak from notes.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Add a next step.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practice one talk a week.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Stop.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Applause is for finishing.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onclusion: a checkered flag [sign: THE EN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 sentences, not a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SENTENCE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I've been learning…</a:t>
            </a:r>
            <a:endParaRPr lang="en-US" sz="13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I've been learning to speak up at work.</a:t>
            </a:r>
            <a:endParaRPr lang="en-US" sz="14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 I finished…, I had…</a:t>
            </a:r>
            <a:endParaRPr lang="en-US" sz="13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 I finished my first month, I had learned to pause.</a:t>
            </a:r>
            <a:endParaRPr lang="en-US" sz="14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had…, so next time I will…</a:t>
            </a:r>
            <a:endParaRPr lang="en-US" sz="13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had looked up sooner, so next time I will make eye contact.</a:t>
            </a:r>
            <a:endParaRPr lang="en-US" sz="14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16636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to…</a:t>
            </a:r>
            <a:endParaRPr lang="en-US" sz="1300" dirty="0" b="1"/>
          </a:p>
        </p:txBody>
      </p:sp>
      <p:sp>
        <p:nvSpPr>
          <p:cNvPr id="28" name="Answer bg 4"/>
          <p:cNvSpPr/>
          <p:nvPr/>
        </p:nvSpPr>
        <p:spPr>
          <a:xfrm>
            <a:off x="9418320" y="516636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9418320" y="516636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practice with a stopwatch.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point is simple. I've been learning to speak up. ______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Introduction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 I finished my first month, I had learned to pause. ______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mentor asked one question. ______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speak from notes, and my next step is one talk a week. ______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Conclusion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practice with a stopwatch. ______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Conclusion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had looked up sooner, so next time I will make eye contact. ______</a:t>
            </a:r>
            <a:endParaRPr lang="en-US" sz="14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The introduction ______ .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7571232" y="31089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the point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646920" y="31089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tells a new story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7443216" y="305409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Each example ______ .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7571232" y="365760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has a detail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646920" y="365760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has no detail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7443216" y="360273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The conclusion ______ .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7571232" y="420624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new story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646920" y="420624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repeats the point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9518904" y="415137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Next step: ______ practice.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7571232" y="475488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646920" y="475488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gonna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7443216" y="470001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By the time I finished, I ______ to pause.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7571232" y="530352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learned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646920" y="530352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learn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7443216" y="524865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I've been ______ to speak up.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7571232" y="58521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learning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646920" y="58521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learn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7443216" y="579729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Mentor: a person and a speech balloon [sign: MENTO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 with the example and never say the point.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 with the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introduction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It names the point.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213309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conclusion that is a new story.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3213309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conclusion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repeats the point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adds a next step.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731828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gonna practice.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731828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practice.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Applause: clapping hands [sign: APPLAUS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 "introduction," "example," or "conclusion." B says what that part must do.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Introduction: a waving hand [sign: HELLO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together.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Partners.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Partners.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Partners.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Conclusion: a checkered flag [sign: THE EN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her main point?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010912" y="2525573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has been learning to speak up at work</a:t>
            </a:r>
            <a:endParaRPr lang="en-US" sz="13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happened in example 1?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010912" y="3311957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did not look up</a:t>
            </a:r>
            <a:endParaRPr lang="en-US" sz="13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helped her?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010912" y="4098341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Her mentor</a:t>
            </a:r>
            <a:endParaRPr lang="en-US" sz="13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her next step?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010912" y="4884725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short talk a week</a:t>
            </a:r>
            <a:endParaRPr lang="en-US" sz="13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the conclusion do?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010912" y="5671109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repeats the point and adds a next step</a:t>
            </a:r>
            <a:endParaRPr lang="en-US" sz="13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Community center: a school building and two people [sign: CENTE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your introduction and your conclusion only.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will say the examples in the rehearsal.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Label the part: Introduction, Example, or Conclusion.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outline, then the talk in 12–16 sentences.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Say your introduction aloud to a friend. One time is enough.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write I'm going to and your next step.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Achievement: a 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13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open a talk with one clear sentence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give two examples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close with a next step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Imani and Mr. Gordon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13: A Short Talk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