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1121" r:id="rId32"/>
    <p:sldId id="1122" r:id="rId21"/>
    <p:sldId id="1123" r:id="rId19"/>
    <p:sldId id="1124" r:id="rId15"/>
    <p:sldId id="1125" r:id="rId37"/>
    <p:sldId id="1126" r:id="rId38"/>
    <p:sldId id="1127" r:id="rId39"/>
    <p:sldId id="1128" r:id="rId40"/>
    <p:sldId id="1129" r:id="rId41"/>
    <p:sldId id="1130" r:id="rId42"/>
    <p:sldId id="1131" r:id="rId43"/>
    <p:sldId id="1132" r:id="rId44"/>
    <p:sldId id="1133" r:id="rId45"/>
    <p:sldId id="1134" r:id="rId46"/>
    <p:sldId id="1135" r:id="rId47"/>
    <p:sldId id="1136" r:id="rId48"/>
    <p:sldId id="1137" r:id="rId49"/>
    <p:sldId id="1138" r:id="rId50"/>
    <p:sldId id="1139" r:id="rId51"/>
    <p:sldId id="1140" r:id="rId52"/>
    <p:sldId id="1141" r:id="rId53"/>
    <p:sldId id="1142" r:id="rId54"/>
    <p:sldId id="1143" r:id="rId55"/>
    <p:sldId id="1144" r:id="rId56"/>
    <p:sldId id="1145" r:id="rId9"/>
    <p:sldId id="1146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Now you can lines.</a:t>
            </a:r>
          </a:p>
          <a:p>
            <a:r>
              <a:t>Homework is about 20–25 minutes. Bring it next week.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shows the next card.</a:t>
            </a:r>
          </a:p>
          <a:p>
            <a:r>
              <a:t>A asks. B answers. Then switch.</a:t>
            </a:r>
          </a:p>
          <a:p>
            <a:r>
              <a:t>Lesson plan: Step 1; Opening Talk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6:00–6:06 · Opening Talk.</a:t>
            </a:r>
          </a:p>
          <a:p>
            <a:r>
              <a:t>Work with a partner.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Read the three lines under Today you will.</a:t>
            </a:r>
          </a:p>
          <a:p>
            <a:r>
              <a:t>Lesson plan: Topic; At a glance: Objectives.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6:06–6:12 · New Words.</a:t>
            </a:r>
          </a:p>
          <a:p>
            <a:r>
              <a:t>Point to each picture. Learners repeat. ★ = most important.</a:t>
            </a:r>
          </a:p>
          <a:p>
            <a:r>
              <a:t>Lesson plan: Step 2;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points to a picture. B names it and uses it in one sentence. Then switch.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answers are hidden. Ask, then click.</a:t>
            </a:r>
          </a:p>
          <a:p>
            <a:r>
              <a:t>1. Yes.</a:t>
            </a:r>
          </a:p>
          <a:p>
            <a:r>
              <a:t>2. Yes.</a:t>
            </a:r>
          </a:p>
          <a:p>
            <a:r>
              <a:t>3. No.</a:t>
            </a:r>
          </a:p>
          <a:p>
            <a:r>
              <a:t>Lesson plan: Step 2: Check the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6:12–6:32 · Listening. Play 1 is Task A. Play 2 is Tasks B and C. A third play is fine.</a:t>
            </a:r>
          </a:p>
          <a:p>
            <a:r>
              <a:t>Imani, a former learner, gives a short talk at a practice night: what she has been learning, one hard moment, one person who helped, and her next step.</a:t>
            </a:r>
          </a:p>
          <a:p>
            <a:r>
              <a:t>The script says going to and want to. Learners only need to recognize gonna and wanna.</a:t>
            </a:r>
          </a:p>
          <a:p>
            <a:r>
              <a:t>Lesson plan: Step 3;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b.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introduction • 2 example • 3 example • 4 conclusion • 5 a stopwatch • 6 finishing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Introduction • 2 Example 1 • 3 Example 2 • 4 Conclusion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gonna and wanna are short forms. This listening uses the full forms. Say each line two times.</a:t>
            </a:r>
          </a:p>
          <a:p>
            <a:r>
              <a:t>Lesson plan: Step 3: Hear it,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1: introduction. Each click shows the answer side.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2: two examples. Each click shows the answer side.</a:t>
            </a:r>
          </a:p>
          <a:p>
            <a:r>
              <a:t>Lesson plan: Step 4; Grammar Box 2.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3: conclusion. Each click shows the answer side.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4: review sentences, not a new tense. Each click shows the answer side.</a:t>
            </a:r>
          </a:p>
          <a:p>
            <a:r>
              <a:t>Lesson plan: Step 4; Grammar Box 4.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Introduction • 2 Example • 3 Example • 4 Conclusion • 5 Conclusion • 6 Example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names the point • 2 has a detail • 3 repeats the point • 4 I'm going to • 5 had learned • 6 learning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Don't say, then Say. Learners try first. Then click.</a:t>
            </a:r>
          </a:p>
          <a:p>
            <a:r>
              <a:t>Lesson plan: Grammar: Common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says "introduction," "example," or "conclusion." B says what that part must do. Then switch. ---</a:t>
            </a:r>
          </a:p>
          <a:p>
            <a:r>
              <a:t>Break · 6:45–7:00.</a:t>
            </a:r>
          </a:p>
          <a:p>
            <a:r>
              <a:t>Lesson plan: Step 4: Pair check.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1.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7:18–7:25 · Read &amp; Write.</a:t>
            </a:r>
          </a:p>
          <a:p>
            <a:r>
              <a:t>Click to show each answer: 1 She has been learning to speak up at work • 2 She did not look up • 3 Her mentor • 4 One short talk a week • 5 It repeats the point and adds a next step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and homework. Never skip the exit ticket.</a:t>
            </a:r>
          </a:p>
          <a:p>
            <a:r>
              <a:t>Write your introduction and your conclusion only.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Outline: a clipboard and a memo [sign: OUTLINE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13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Short Talk</a:t>
            </a:r>
            <a:endParaRPr lang="en-US" sz="4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open a talk with one clear sentence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give two examples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close with a next step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things.</a:t>
            </a:r>
            <a:endParaRPr lang="en-US" sz="2000" dirty="0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713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6883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open a talk with one clear sentence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5750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5750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90876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57500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two examples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9100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7954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7954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712921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79546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close with a next step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81304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01591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0159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3496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01591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speak for about two minutes from notes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350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Notecard: an index card [sign: NOTECARD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 card</a:t>
            </a:r>
            <a:endParaRPr lang="en-US" sz="18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question. B answers in about four sentences. A asks one follow-up. Then switch.</a:t>
            </a:r>
            <a:endParaRPr lang="en-US" sz="1800" dirty="0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sentences. A asks one follow-up. Then</a:t>
            </a:r>
            <a:endParaRPr lang="en-US" sz="18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switch.</a:t>
            </a:r>
            <a:endParaRPr lang="en-US" sz="18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 card question. B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 in about four sentences. A asks one follow-up. Then switch.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 card question. B answers in about four</a:t>
            </a:r>
            <a:endParaRPr lang="en-US" sz="15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sentences. A asks one follow-up. Then switch.</a:t>
            </a:r>
            <a:endParaRPr lang="en-US" sz="15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Outline: a clipboard and a memo [sign: OUTLINE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outline</a:t>
            </a:r>
            <a:endParaRPr lang="en-US" sz="2000" dirty="0" b="1"/>
          </a:p>
        </p:txBody>
      </p:sp>
      <p:pic>
        <p:nvPicPr>
          <p:cNvPr id="19" name="Word picture 2" descr="Notecard: an index card [sign: NOTECARD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notecard</a:t>
            </a:r>
            <a:endParaRPr lang="en-US" sz="2000" dirty="0" b="1"/>
          </a:p>
        </p:txBody>
      </p:sp>
      <p:pic>
        <p:nvPicPr>
          <p:cNvPr id="21" name="Word picture 3" descr="Pause: a pause button [sign: PAUSE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pause</a:t>
            </a:r>
            <a:endParaRPr lang="en-US" sz="2000" dirty="0" b="1"/>
          </a:p>
        </p:txBody>
      </p:sp>
      <p:pic>
        <p:nvPicPr>
          <p:cNvPr id="23" name="Word picture 4" descr="Eye contact: a pair of eyes [sign: LOOK UP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eye contact</a:t>
            </a:r>
            <a:endParaRPr lang="en-US" sz="2000" dirty="0" b="1"/>
          </a:p>
        </p:txBody>
      </p:sp>
      <p:pic>
        <p:nvPicPr>
          <p:cNvPr id="25" name="Word picture 5" descr="Introduction: a waving hand [sign: HELLO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introduction</a:t>
            </a:r>
            <a:endParaRPr lang="en-US" sz="2000" dirty="0" b="1"/>
          </a:p>
        </p:txBody>
      </p:sp>
      <p:pic>
        <p:nvPicPr>
          <p:cNvPr id="27" name="Word picture 6" descr="Example: a light bulb [sign: EXAMPLE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example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 in a sentence</a:t>
            </a:r>
            <a:endParaRPr lang="en-US" sz="2200" dirty="0" b="1"/>
          </a:p>
        </p:txBody>
      </p:sp>
      <p:pic>
        <p:nvPicPr>
          <p:cNvPr id="17" name="Word picture 1" descr="Conclusion: a checkered flag [sign: THE END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conclusion</a:t>
            </a:r>
            <a:endParaRPr lang="en-US" sz="2000" dirty="0" b="1"/>
          </a:p>
        </p:txBody>
      </p:sp>
      <p:pic>
        <p:nvPicPr>
          <p:cNvPr id="19" name="Word picture 2" descr="Mentor: a person and a speech balloon [sign: MENTOR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mentor</a:t>
            </a:r>
            <a:endParaRPr lang="en-US" sz="2000" dirty="0" b="1"/>
          </a:p>
        </p:txBody>
      </p:sp>
      <p:pic>
        <p:nvPicPr>
          <p:cNvPr id="21" name="Word picture 3" descr="Applause: clapping hands [sign: APPLAUSE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applause</a:t>
            </a:r>
            <a:endParaRPr lang="en-US" sz="2000" dirty="0" b="1"/>
          </a:p>
        </p:txBody>
      </p:sp>
      <p:pic>
        <p:nvPicPr>
          <p:cNvPr id="23" name="Word picture 4" descr="Community center: a school building and two people [sign: CENTER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community center</a:t>
            </a:r>
            <a:endParaRPr lang="en-US" sz="1500" dirty="0" b="1"/>
          </a:p>
        </p:txBody>
      </p:sp>
      <p:pic>
        <p:nvPicPr>
          <p:cNvPr id="25" name="Word picture 5" descr="Achievement: a trophy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achievement</a:t>
            </a:r>
            <a:endParaRPr lang="en-US" sz="2000" dirty="0" b="1"/>
          </a:p>
        </p:txBody>
      </p:sp>
      <p:pic>
        <p:nvPicPr>
          <p:cNvPr id="27" name="Word picture 6" descr="Stopwatch: a stopwatch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stopwatch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the introduction name the point?</a:t>
            </a:r>
            <a:endParaRPr lang="en-US" sz="1600" dirty="0" b="1"/>
          </a:p>
        </p:txBody>
      </p:sp>
      <p:pic>
        <p:nvPicPr>
          <p:cNvPr id="101" name="R1 pic" descr="Introduction: a waving hand [sign: HELLO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each example need a detail?</a:t>
            </a:r>
            <a:endParaRPr lang="en-US" sz="1600" dirty="0" b="1"/>
          </a:p>
        </p:txBody>
      </p:sp>
      <p:pic>
        <p:nvPicPr>
          <p:cNvPr id="102" name="R2 pic" descr="Example: a light bulb [sign: EXAMPLE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conclusion a new story?</a:t>
            </a:r>
            <a:endParaRPr lang="en-US" sz="1600" dirty="0" b="1"/>
          </a:p>
        </p:txBody>
      </p:sp>
      <p:pic>
        <p:nvPicPr>
          <p:cNvPr id="103" name="R3 pic" descr="Conclusion: a checkered flag [sign: THE END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Yes.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Yes.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No.</a:t>
            </a:r>
            <a:endParaRPr lang="en-US" sz="2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Imani, a former learner, gives a short talk at a practice night: what she has been learning, one hard moment, one person who helped, and her next step.</a:t>
            </a:r>
            <a:endParaRPr lang="en-US" sz="16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Pause: a pause button [sign: PAUS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Imani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Mr. Gordon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is her main point?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 Play 1 → Task A.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1:47.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is her main point?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453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2139696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the loudest applause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5367528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speaking up at work</a:t>
            </a:r>
            <a:endParaRPr lang="en-US" sz="1500" dirty="0" b="1"/>
          </a:p>
        </p:txBody>
      </p:sp>
      <p:sp>
        <p:nvSpPr>
          <p:cNvPr id="11" name="R1 opt3"/>
          <p:cNvSpPr/>
          <p:nvPr/>
        </p:nvSpPr>
        <p:spPr>
          <a:xfrm>
            <a:off x="8595360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a forgotten notecard</a:t>
            </a:r>
            <a:endParaRPr lang="en-US" sz="1500" dirty="0" b="1"/>
          </a:p>
        </p:txBody>
      </p:sp>
      <p:sp>
        <p:nvSpPr>
          <p:cNvPr id="12" name="R1 circle"/>
          <p:cNvSpPr/>
          <p:nvPr/>
        </p:nvSpPr>
        <p:spPr>
          <a:xfrm>
            <a:off x="5239512" y="3054096"/>
            <a:ext cx="34107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Listen again. Circle the answers.</a:t>
            </a:r>
            <a:endParaRPr lang="en-US" sz="16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1. "My point is simple" is the</a:t>
            </a:r>
            <a:endParaRPr lang="en-US" sz="1300" dirty="0"/>
          </a:p>
        </p:txBody>
      </p:sp>
      <p:sp>
        <p:nvSpPr>
          <p:cNvPr id="9" name="R1 opt1"/>
          <p:cNvSpPr/>
          <p:nvPr/>
        </p:nvSpPr>
        <p:spPr>
          <a:xfrm>
            <a:off x="516636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introduction</a:t>
            </a:r>
            <a:endParaRPr lang="en-US" sz="1200" dirty="0" b="1"/>
          </a:p>
        </p:txBody>
      </p:sp>
      <p:sp>
        <p:nvSpPr>
          <p:cNvPr id="10" name="R1 opt2"/>
          <p:cNvSpPr/>
          <p:nvPr/>
        </p:nvSpPr>
        <p:spPr>
          <a:xfrm>
            <a:off x="745236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1200" dirty="0" b="1"/>
          </a:p>
        </p:txBody>
      </p:sp>
      <p:sp>
        <p:nvSpPr>
          <p:cNvPr id="11" name="R1 opt3"/>
          <p:cNvSpPr/>
          <p:nvPr/>
        </p:nvSpPr>
        <p:spPr>
          <a:xfrm>
            <a:off x="973836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conclusion</a:t>
            </a:r>
            <a:endParaRPr lang="en-US" sz="1200" dirty="0" b="1"/>
          </a:p>
        </p:txBody>
      </p:sp>
      <p:sp>
        <p:nvSpPr>
          <p:cNvPr id="12" name="R1 circle"/>
          <p:cNvSpPr/>
          <p:nvPr/>
        </p:nvSpPr>
        <p:spPr>
          <a:xfrm>
            <a:off x="5038344" y="30540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3" name="R2 stmt"/>
          <p:cNvSpPr/>
          <p:nvPr/>
        </p:nvSpPr>
        <p:spPr>
          <a:xfrm>
            <a:off x="502920" y="365760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2. The hard moment is an</a:t>
            </a:r>
            <a:endParaRPr lang="en-US" sz="1300" dirty="0"/>
          </a:p>
        </p:txBody>
      </p:sp>
      <p:sp>
        <p:nvSpPr>
          <p:cNvPr id="14" name="R2 opt1"/>
          <p:cNvSpPr/>
          <p:nvPr/>
        </p:nvSpPr>
        <p:spPr>
          <a:xfrm>
            <a:off x="516636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introduction</a:t>
            </a:r>
            <a:endParaRPr lang="en-US" sz="1200" dirty="0" b="1"/>
          </a:p>
        </p:txBody>
      </p:sp>
      <p:sp>
        <p:nvSpPr>
          <p:cNvPr id="15" name="R2 opt2"/>
          <p:cNvSpPr/>
          <p:nvPr/>
        </p:nvSpPr>
        <p:spPr>
          <a:xfrm>
            <a:off x="745236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1200" dirty="0" b="1"/>
          </a:p>
        </p:txBody>
      </p:sp>
      <p:sp>
        <p:nvSpPr>
          <p:cNvPr id="16" name="R2 opt3"/>
          <p:cNvSpPr/>
          <p:nvPr/>
        </p:nvSpPr>
        <p:spPr>
          <a:xfrm>
            <a:off x="973836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conclusion</a:t>
            </a:r>
            <a:endParaRPr lang="en-US" sz="1200" dirty="0" b="1"/>
          </a:p>
        </p:txBody>
      </p:sp>
      <p:sp>
        <p:nvSpPr>
          <p:cNvPr id="17" name="R2 circle"/>
          <p:cNvSpPr/>
          <p:nvPr/>
        </p:nvSpPr>
        <p:spPr>
          <a:xfrm>
            <a:off x="7324344" y="360273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8" name="R3 stmt"/>
          <p:cNvSpPr/>
          <p:nvPr/>
        </p:nvSpPr>
        <p:spPr>
          <a:xfrm>
            <a:off x="502920" y="420624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3. The mentor's question is an</a:t>
            </a:r>
            <a:endParaRPr lang="en-US" sz="1300" dirty="0"/>
          </a:p>
        </p:txBody>
      </p:sp>
      <p:sp>
        <p:nvSpPr>
          <p:cNvPr id="19" name="R3 opt1"/>
          <p:cNvSpPr/>
          <p:nvPr/>
        </p:nvSpPr>
        <p:spPr>
          <a:xfrm>
            <a:off x="516636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introduction</a:t>
            </a:r>
            <a:endParaRPr lang="en-US" sz="1200" dirty="0" b="1"/>
          </a:p>
        </p:txBody>
      </p:sp>
      <p:sp>
        <p:nvSpPr>
          <p:cNvPr id="20" name="R3 opt2"/>
          <p:cNvSpPr/>
          <p:nvPr/>
        </p:nvSpPr>
        <p:spPr>
          <a:xfrm>
            <a:off x="745236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1200" dirty="0" b="1"/>
          </a:p>
        </p:txBody>
      </p:sp>
      <p:sp>
        <p:nvSpPr>
          <p:cNvPr id="21" name="R3 opt3"/>
          <p:cNvSpPr/>
          <p:nvPr/>
        </p:nvSpPr>
        <p:spPr>
          <a:xfrm>
            <a:off x="973836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conclusion</a:t>
            </a:r>
            <a:endParaRPr lang="en-US" sz="1200" dirty="0" b="1"/>
          </a:p>
        </p:txBody>
      </p:sp>
      <p:sp>
        <p:nvSpPr>
          <p:cNvPr id="22" name="R3 circle"/>
          <p:cNvSpPr/>
          <p:nvPr/>
        </p:nvSpPr>
        <p:spPr>
          <a:xfrm>
            <a:off x="7324344" y="415137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R4 stmt"/>
          <p:cNvSpPr/>
          <p:nvPr/>
        </p:nvSpPr>
        <p:spPr>
          <a:xfrm>
            <a:off x="502920" y="475488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4. The next step is the</a:t>
            </a:r>
            <a:endParaRPr lang="en-US" sz="1300" dirty="0"/>
          </a:p>
        </p:txBody>
      </p:sp>
      <p:sp>
        <p:nvSpPr>
          <p:cNvPr id="24" name="R4 opt1"/>
          <p:cNvSpPr/>
          <p:nvPr/>
        </p:nvSpPr>
        <p:spPr>
          <a:xfrm>
            <a:off x="516636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introduction</a:t>
            </a:r>
            <a:endParaRPr lang="en-US" sz="1200" dirty="0" b="1"/>
          </a:p>
        </p:txBody>
      </p:sp>
      <p:sp>
        <p:nvSpPr>
          <p:cNvPr id="25" name="R4 opt2"/>
          <p:cNvSpPr/>
          <p:nvPr/>
        </p:nvSpPr>
        <p:spPr>
          <a:xfrm>
            <a:off x="745236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1200" dirty="0" b="1"/>
          </a:p>
        </p:txBody>
      </p:sp>
      <p:sp>
        <p:nvSpPr>
          <p:cNvPr id="26" name="R4 opt3"/>
          <p:cNvSpPr/>
          <p:nvPr/>
        </p:nvSpPr>
        <p:spPr>
          <a:xfrm>
            <a:off x="973836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conclusion</a:t>
            </a:r>
            <a:endParaRPr lang="en-US" sz="1200" dirty="0" b="1"/>
          </a:p>
        </p:txBody>
      </p:sp>
      <p:sp>
        <p:nvSpPr>
          <p:cNvPr id="27" name="R4 circle"/>
          <p:cNvSpPr/>
          <p:nvPr/>
        </p:nvSpPr>
        <p:spPr>
          <a:xfrm>
            <a:off x="9610344" y="470001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5 stmt"/>
          <p:cNvSpPr/>
          <p:nvPr/>
        </p:nvSpPr>
        <p:spPr>
          <a:xfrm>
            <a:off x="502920" y="530352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5. She is going to practice with</a:t>
            </a:r>
            <a:endParaRPr lang="en-US" sz="1300" dirty="0"/>
          </a:p>
        </p:txBody>
      </p:sp>
      <p:sp>
        <p:nvSpPr>
          <p:cNvPr id="29" name="R5 opt1"/>
          <p:cNvSpPr/>
          <p:nvPr/>
        </p:nvSpPr>
        <p:spPr>
          <a:xfrm>
            <a:off x="516636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stopwatch</a:t>
            </a:r>
            <a:endParaRPr lang="en-US" sz="1200" dirty="0" b="1"/>
          </a:p>
        </p:txBody>
      </p:sp>
      <p:sp>
        <p:nvSpPr>
          <p:cNvPr id="30" name="R5 opt2"/>
          <p:cNvSpPr/>
          <p:nvPr/>
        </p:nvSpPr>
        <p:spPr>
          <a:xfrm>
            <a:off x="745236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microphone</a:t>
            </a:r>
            <a:endParaRPr lang="en-US" sz="1200" dirty="0" b="1"/>
          </a:p>
        </p:txBody>
      </p:sp>
      <p:sp>
        <p:nvSpPr>
          <p:cNvPr id="31" name="R5 opt3"/>
          <p:cNvSpPr/>
          <p:nvPr/>
        </p:nvSpPr>
        <p:spPr>
          <a:xfrm>
            <a:off x="973836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whiteboard</a:t>
            </a:r>
            <a:endParaRPr lang="en-US" sz="1200" dirty="0" b="1"/>
          </a:p>
        </p:txBody>
      </p:sp>
      <p:sp>
        <p:nvSpPr>
          <p:cNvPr id="32" name="R5 circle"/>
          <p:cNvSpPr/>
          <p:nvPr/>
        </p:nvSpPr>
        <p:spPr>
          <a:xfrm>
            <a:off x="5038344" y="524865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3" name="R6 stmt"/>
          <p:cNvSpPr/>
          <p:nvPr/>
        </p:nvSpPr>
        <p:spPr>
          <a:xfrm>
            <a:off x="502920" y="585216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6. Applause is for</a:t>
            </a:r>
            <a:endParaRPr lang="en-US" sz="1300" dirty="0"/>
          </a:p>
        </p:txBody>
      </p:sp>
      <p:sp>
        <p:nvSpPr>
          <p:cNvPr id="34" name="R6 opt1"/>
          <p:cNvSpPr/>
          <p:nvPr/>
        </p:nvSpPr>
        <p:spPr>
          <a:xfrm>
            <a:off x="516636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finishing</a:t>
            </a:r>
            <a:endParaRPr lang="en-US" sz="1200" dirty="0" b="1"/>
          </a:p>
        </p:txBody>
      </p:sp>
      <p:sp>
        <p:nvSpPr>
          <p:cNvPr id="35" name="R6 opt2"/>
          <p:cNvSpPr/>
          <p:nvPr/>
        </p:nvSpPr>
        <p:spPr>
          <a:xfrm>
            <a:off x="745236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longest story</a:t>
            </a:r>
            <a:endParaRPr lang="en-US" sz="1200" dirty="0" b="1"/>
          </a:p>
        </p:txBody>
      </p:sp>
      <p:sp>
        <p:nvSpPr>
          <p:cNvPr id="36" name="R6 opt3"/>
          <p:cNvSpPr/>
          <p:nvPr/>
        </p:nvSpPr>
        <p:spPr>
          <a:xfrm>
            <a:off x="973836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perfect memory</a:t>
            </a:r>
            <a:endParaRPr lang="en-US" sz="1200" dirty="0" b="1"/>
          </a:p>
        </p:txBody>
      </p:sp>
      <p:sp>
        <p:nvSpPr>
          <p:cNvPr id="37" name="R6 circle"/>
          <p:cNvSpPr/>
          <p:nvPr/>
        </p:nvSpPr>
        <p:spPr>
          <a:xfrm>
            <a:off x="5038344" y="57972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Write the four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1330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First: ______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6016752" y="252557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Introduction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1330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Second: ______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6016752" y="3311957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 1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1330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Third: ______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6016752" y="4098341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 2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1330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Fourth: ______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6016752" y="4884725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Conclusion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and wanna are short forms</a:t>
            </a:r>
            <a:endParaRPr lang="en-US" sz="16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use the full forms</a:t>
            </a:r>
            <a:endParaRPr lang="en-US" sz="16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short forms. This listening uses the full forms.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say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been learning to speak up at work.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give two examples.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practice with a stopwatch.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am not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memorize the talk.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Eye contact: a pair of eyes [sign: LOOK UP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introduction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INTRODUCTION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NAMES THE POINT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been learning to speak up at work.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 is my point.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mentor helped me.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 is part of the point.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want to give two examples.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the examples start.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Introduction: a waving hand [sign: HELLO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examples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EXAMPLE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41832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DETAIL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 1</a:t>
            </a:r>
            <a:endParaRPr lang="en-US" sz="1300" dirty="0" b="1"/>
          </a:p>
        </p:txBody>
      </p:sp>
      <p:sp>
        <p:nvSpPr>
          <p:cNvPr id="19" name="Answer bg 1"/>
          <p:cNvSpPr/>
          <p:nvPr/>
        </p:nvSpPr>
        <p:spPr>
          <a:xfrm>
            <a:off x="9418320" y="228600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418320" y="228600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time I finished my first month, I had learned to pause.</a:t>
            </a:r>
            <a:endParaRPr lang="en-US" sz="14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hard moment</a:t>
            </a:r>
            <a:endParaRPr lang="en-US" sz="1300" dirty="0" b="1"/>
          </a:p>
        </p:txBody>
      </p:sp>
      <p:sp>
        <p:nvSpPr>
          <p:cNvPr id="22" name="Answer bg 2"/>
          <p:cNvSpPr/>
          <p:nvPr/>
        </p:nvSpPr>
        <p:spPr>
          <a:xfrm>
            <a:off x="9418320" y="324612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418320" y="324612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had looked up sooner, so next time I will make eye contact.</a:t>
            </a:r>
            <a:endParaRPr lang="en-US" sz="14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 2</a:t>
            </a:r>
            <a:endParaRPr lang="en-US" sz="1300" dirty="0" b="1"/>
          </a:p>
        </p:txBody>
      </p:sp>
      <p:sp>
        <p:nvSpPr>
          <p:cNvPr id="25" name="Answer bg 3"/>
          <p:cNvSpPr/>
          <p:nvPr/>
        </p:nvSpPr>
        <p:spPr>
          <a:xfrm>
            <a:off x="9418320" y="420624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418320" y="420624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mentor asked one question.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Example: a light bulb [sign: EXAMPL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conclusion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CONCLUSION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 A NEW STORY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 the point in new words.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speak from notes.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Add a next step.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going to practice one talk a week.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Stop.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Applause is for finishing.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Conclusion: a checkered flag [sign: THE END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review sentences, not a</a:t>
            </a:r>
            <a:endParaRPr lang="en-US" sz="20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REVIEW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41832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SENTENCE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been learning…</a:t>
            </a:r>
            <a:endParaRPr lang="en-US" sz="1300" dirty="0" b="1"/>
          </a:p>
        </p:txBody>
      </p:sp>
      <p:sp>
        <p:nvSpPr>
          <p:cNvPr id="19" name="Answer bg 1"/>
          <p:cNvSpPr/>
          <p:nvPr/>
        </p:nvSpPr>
        <p:spPr>
          <a:xfrm>
            <a:off x="9418320" y="228600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418320" y="228600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been learning to speak up at work.</a:t>
            </a:r>
            <a:endParaRPr lang="en-US" sz="14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time I finished…, I had…</a:t>
            </a:r>
            <a:endParaRPr lang="en-US" sz="1300" dirty="0" b="1"/>
          </a:p>
        </p:txBody>
      </p:sp>
      <p:sp>
        <p:nvSpPr>
          <p:cNvPr id="22" name="Answer bg 2"/>
          <p:cNvSpPr/>
          <p:nvPr/>
        </p:nvSpPr>
        <p:spPr>
          <a:xfrm>
            <a:off x="9418320" y="324612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418320" y="324612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time I finished my first month, I had learned to pause.</a:t>
            </a:r>
            <a:endParaRPr lang="en-US" sz="14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had…, so next time I will…</a:t>
            </a:r>
            <a:endParaRPr lang="en-US" sz="1300" dirty="0" b="1"/>
          </a:p>
        </p:txBody>
      </p:sp>
      <p:sp>
        <p:nvSpPr>
          <p:cNvPr id="25" name="Answer bg 3"/>
          <p:cNvSpPr/>
          <p:nvPr/>
        </p:nvSpPr>
        <p:spPr>
          <a:xfrm>
            <a:off x="9418320" y="420624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418320" y="420624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had looked up sooner, so next time I will make eye contact.</a:t>
            </a:r>
            <a:endParaRPr lang="en-US" sz="14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16636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going to…</a:t>
            </a:r>
            <a:endParaRPr lang="en-US" sz="1300" dirty="0" b="1"/>
          </a:p>
        </p:txBody>
      </p:sp>
      <p:sp>
        <p:nvSpPr>
          <p:cNvPr id="28" name="Answer bg 4"/>
          <p:cNvSpPr/>
          <p:nvPr/>
        </p:nvSpPr>
        <p:spPr>
          <a:xfrm>
            <a:off x="9418320" y="516636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9418320" y="516636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going to practice with a stopwatch.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point is simple. I've been learning to speak up. ______</a:t>
            </a:r>
            <a:endParaRPr lang="en-US" sz="14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Introduction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time I finished my first month, I had learned to pause. ______</a:t>
            </a:r>
            <a:endParaRPr lang="en-US" sz="14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mentor asked one question. ______</a:t>
            </a:r>
            <a:endParaRPr lang="en-US" sz="14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speak from notes, and my next step is one talk a week. ______</a:t>
            </a:r>
            <a:endParaRPr lang="en-US" sz="14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Conclusion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going to practice with a stopwatch. ______</a:t>
            </a:r>
            <a:endParaRPr lang="en-US" sz="14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Conclusion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had looked up sooner, so next time I will make eye contact. ______</a:t>
            </a:r>
            <a:endParaRPr lang="en-US" sz="14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1. The introduction ______ .</a:t>
            </a:r>
            <a:endParaRPr lang="en-US" sz="1500" dirty="0"/>
          </a:p>
        </p:txBody>
      </p:sp>
      <p:sp>
        <p:nvSpPr>
          <p:cNvPr id="9" name="R1 opt1"/>
          <p:cNvSpPr/>
          <p:nvPr/>
        </p:nvSpPr>
        <p:spPr>
          <a:xfrm>
            <a:off x="7571232" y="310896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the point</a:t>
            </a:r>
            <a:endParaRPr lang="en-US" sz="1600" dirty="0" b="1"/>
          </a:p>
        </p:txBody>
      </p:sp>
      <p:sp>
        <p:nvSpPr>
          <p:cNvPr id="10" name="R1 opt2"/>
          <p:cNvSpPr/>
          <p:nvPr/>
        </p:nvSpPr>
        <p:spPr>
          <a:xfrm>
            <a:off x="9646920" y="310896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tells a new story</a:t>
            </a:r>
            <a:endParaRPr lang="en-US" sz="1600" dirty="0" b="1"/>
          </a:p>
        </p:txBody>
      </p:sp>
      <p:sp>
        <p:nvSpPr>
          <p:cNvPr id="11" name="R1 circle"/>
          <p:cNvSpPr/>
          <p:nvPr/>
        </p:nvSpPr>
        <p:spPr>
          <a:xfrm>
            <a:off x="7443216" y="305409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2. Each example ______ .</a:t>
            </a:r>
            <a:endParaRPr lang="en-US" sz="1500" dirty="0"/>
          </a:p>
        </p:txBody>
      </p:sp>
      <p:sp>
        <p:nvSpPr>
          <p:cNvPr id="13" name="R2 opt1"/>
          <p:cNvSpPr/>
          <p:nvPr/>
        </p:nvSpPr>
        <p:spPr>
          <a:xfrm>
            <a:off x="7571232" y="365760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 a detail</a:t>
            </a:r>
            <a:endParaRPr lang="en-US" sz="1600" dirty="0" b="1"/>
          </a:p>
        </p:txBody>
      </p:sp>
      <p:sp>
        <p:nvSpPr>
          <p:cNvPr id="14" name="R2 opt2"/>
          <p:cNvSpPr/>
          <p:nvPr/>
        </p:nvSpPr>
        <p:spPr>
          <a:xfrm>
            <a:off x="9646920" y="365760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 no detail</a:t>
            </a:r>
            <a:endParaRPr lang="en-US" sz="1600" dirty="0" b="1"/>
          </a:p>
        </p:txBody>
      </p:sp>
      <p:sp>
        <p:nvSpPr>
          <p:cNvPr id="15" name="R2 circle"/>
          <p:cNvSpPr/>
          <p:nvPr/>
        </p:nvSpPr>
        <p:spPr>
          <a:xfrm>
            <a:off x="7443216" y="360273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3. The conclusion ______ .</a:t>
            </a:r>
            <a:endParaRPr lang="en-US" sz="1500" dirty="0"/>
          </a:p>
        </p:txBody>
      </p:sp>
      <p:sp>
        <p:nvSpPr>
          <p:cNvPr id="17" name="R3 opt1"/>
          <p:cNvSpPr/>
          <p:nvPr/>
        </p:nvSpPr>
        <p:spPr>
          <a:xfrm>
            <a:off x="7571232" y="420624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new story</a:t>
            </a:r>
            <a:endParaRPr lang="en-US" sz="1600" dirty="0" b="1"/>
          </a:p>
        </p:txBody>
      </p:sp>
      <p:sp>
        <p:nvSpPr>
          <p:cNvPr id="18" name="R3 opt2"/>
          <p:cNvSpPr/>
          <p:nvPr/>
        </p:nvSpPr>
        <p:spPr>
          <a:xfrm>
            <a:off x="9646920" y="420624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repeats the point</a:t>
            </a:r>
            <a:endParaRPr lang="en-US" sz="1600" dirty="0" b="1"/>
          </a:p>
        </p:txBody>
      </p:sp>
      <p:sp>
        <p:nvSpPr>
          <p:cNvPr id="19" name="R3 circle"/>
          <p:cNvSpPr/>
          <p:nvPr/>
        </p:nvSpPr>
        <p:spPr>
          <a:xfrm>
            <a:off x="9518904" y="415137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4. Next step: ______ practice.</a:t>
            </a:r>
            <a:endParaRPr lang="en-US" sz="1500" dirty="0"/>
          </a:p>
        </p:txBody>
      </p:sp>
      <p:sp>
        <p:nvSpPr>
          <p:cNvPr id="21" name="R4 opt1"/>
          <p:cNvSpPr/>
          <p:nvPr/>
        </p:nvSpPr>
        <p:spPr>
          <a:xfrm>
            <a:off x="7571232" y="475488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going to</a:t>
            </a:r>
            <a:endParaRPr lang="en-US" sz="1600" dirty="0" b="1"/>
          </a:p>
        </p:txBody>
      </p:sp>
      <p:sp>
        <p:nvSpPr>
          <p:cNvPr id="22" name="R4 opt2"/>
          <p:cNvSpPr/>
          <p:nvPr/>
        </p:nvSpPr>
        <p:spPr>
          <a:xfrm>
            <a:off x="9646920" y="475488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gonna</a:t>
            </a:r>
            <a:endParaRPr lang="en-US" sz="1600" dirty="0" b="1"/>
          </a:p>
        </p:txBody>
      </p:sp>
      <p:sp>
        <p:nvSpPr>
          <p:cNvPr id="23" name="R4 circle"/>
          <p:cNvSpPr/>
          <p:nvPr/>
        </p:nvSpPr>
        <p:spPr>
          <a:xfrm>
            <a:off x="7443216" y="470001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5. By the time I finished, I ______ to pause.</a:t>
            </a:r>
            <a:endParaRPr lang="en-US" sz="1500" dirty="0"/>
          </a:p>
        </p:txBody>
      </p:sp>
      <p:sp>
        <p:nvSpPr>
          <p:cNvPr id="25" name="R5 opt1"/>
          <p:cNvSpPr/>
          <p:nvPr/>
        </p:nvSpPr>
        <p:spPr>
          <a:xfrm>
            <a:off x="7571232" y="530352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learned</a:t>
            </a:r>
            <a:endParaRPr lang="en-US" sz="1600" dirty="0" b="1"/>
          </a:p>
        </p:txBody>
      </p:sp>
      <p:sp>
        <p:nvSpPr>
          <p:cNvPr id="26" name="R5 opt2"/>
          <p:cNvSpPr/>
          <p:nvPr/>
        </p:nvSpPr>
        <p:spPr>
          <a:xfrm>
            <a:off x="9646920" y="530352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learn</a:t>
            </a:r>
            <a:endParaRPr lang="en-US" sz="1600" dirty="0" b="1"/>
          </a:p>
        </p:txBody>
      </p:sp>
      <p:sp>
        <p:nvSpPr>
          <p:cNvPr id="27" name="R5 circle"/>
          <p:cNvSpPr/>
          <p:nvPr/>
        </p:nvSpPr>
        <p:spPr>
          <a:xfrm>
            <a:off x="7443216" y="524865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6. I've been ______ to speak up.</a:t>
            </a:r>
            <a:endParaRPr lang="en-US" sz="1500" dirty="0"/>
          </a:p>
        </p:txBody>
      </p:sp>
      <p:sp>
        <p:nvSpPr>
          <p:cNvPr id="29" name="R6 opt1"/>
          <p:cNvSpPr/>
          <p:nvPr/>
        </p:nvSpPr>
        <p:spPr>
          <a:xfrm>
            <a:off x="7571232" y="585216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learning</a:t>
            </a:r>
            <a:endParaRPr lang="en-US" sz="1600" dirty="0" b="1"/>
          </a:p>
        </p:txBody>
      </p:sp>
      <p:sp>
        <p:nvSpPr>
          <p:cNvPr id="30" name="R6 opt2"/>
          <p:cNvSpPr/>
          <p:nvPr/>
        </p:nvSpPr>
        <p:spPr>
          <a:xfrm>
            <a:off x="9646920" y="585216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learn</a:t>
            </a:r>
            <a:endParaRPr lang="en-US" sz="1600" dirty="0" b="1"/>
          </a:p>
        </p:txBody>
      </p:sp>
      <p:sp>
        <p:nvSpPr>
          <p:cNvPr id="31" name="R6 circle"/>
          <p:cNvSpPr/>
          <p:nvPr/>
        </p:nvSpPr>
        <p:spPr>
          <a:xfrm>
            <a:off x="7443216" y="579729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Mentor: a person and a speech balloon [sign: MENTO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Start with the example and never say the point.</a:t>
            </a:r>
            <a:endParaRPr lang="en-US" sz="14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Start with the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introduction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It names the point.</a:t>
            </a:r>
            <a:endParaRPr lang="en-US" sz="1400" dirty="0" b="1"/>
          </a:p>
        </p:txBody>
      </p:sp>
      <p:sp>
        <p:nvSpPr>
          <p:cNvPr id="26" name="Bad 2"/>
          <p:cNvSpPr/>
          <p:nvPr/>
        </p:nvSpPr>
        <p:spPr>
          <a:xfrm>
            <a:off x="914400" y="3213309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conclusion that is a new story.</a:t>
            </a:r>
            <a:endParaRPr lang="en-US" sz="1400" dirty="0"/>
          </a:p>
        </p:txBody>
      </p:sp>
      <p:sp>
        <p:nvSpPr>
          <p:cNvPr id="27" name="Good 2"/>
          <p:cNvSpPr/>
          <p:nvPr/>
        </p:nvSpPr>
        <p:spPr>
          <a:xfrm>
            <a:off x="4800600" y="3213309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conclusion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repeats the point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adds a next step.</a:t>
            </a:r>
            <a:endParaRPr lang="en-US" sz="14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731828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gonna practice.</a:t>
            </a:r>
            <a:endParaRPr lang="en-US" sz="1400" dirty="0"/>
          </a:p>
        </p:txBody>
      </p:sp>
      <p:sp>
        <p:nvSpPr>
          <p:cNvPr id="29" name="Good 3"/>
          <p:cNvSpPr/>
          <p:nvPr/>
        </p:nvSpPr>
        <p:spPr>
          <a:xfrm>
            <a:off x="4800600" y="3731828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going to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practice.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Applause: clapping hands [sign: APPLAUS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 "introduction," "example," or "conclusion." B says what that part must do.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900" dirty="0" b="0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Introduction: a waving hand [sign: HELLO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together.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Partners.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Partners.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Partners.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Conclusion: a checkered flag [sign: THE END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3.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3.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3.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3.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page.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her main point?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010912" y="2525573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has been learning to speak up at work</a:t>
            </a:r>
            <a:endParaRPr lang="en-US" sz="13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happened in example 1?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010912" y="3311957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did not look up</a:t>
            </a:r>
            <a:endParaRPr lang="en-US" sz="13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helped her?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010912" y="4098341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 mentor</a:t>
            </a:r>
            <a:endParaRPr lang="en-US" sz="13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her next step?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010912" y="4884725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short talk a week</a:t>
            </a:r>
            <a:endParaRPr lang="en-US" sz="13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the conclusion do?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010912" y="5671109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repeats the point and adds a next step</a:t>
            </a:r>
            <a:endParaRPr lang="en-US" sz="13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Community center: a school building and two people [sign: CENTE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your introduction and your conclusion only.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Name: Date: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will say the examples in the rehearsal.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this page to your teacher.</a:t>
            </a:r>
            <a:endParaRPr lang="en-US" sz="15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20–25 minutes.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Label the part: Introduction, Example, or Conclusion.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outline, then the talk in 12–16 sentences.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Say your introduction aloud to a friend. One time is enough.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write I'm going to and your next step.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5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Achievement: a troph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13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36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open a talk with one clear sentence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give two examples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close with a next step</a:t>
            </a:r>
            <a:endParaRPr 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Imani and Mr. Gordon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5 Lesson 13: A Short Talk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