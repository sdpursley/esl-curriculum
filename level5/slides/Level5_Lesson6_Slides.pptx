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1043" r:id="rId33"/>
    <p:sldId id="1044" r:id="rId34"/>
    <p:sldId id="1045" r:id="rId35"/>
    <p:sldId id="1046" r:id="rId36"/>
    <p:sldId id="1047" r:id="rId31"/>
    <p:sldId id="1048" r:id="rId30"/>
    <p:sldId id="1049" r:id="rId29"/>
    <p:sldId id="1050" r:id="rId28"/>
    <p:sldId id="1051" r:id="rId27"/>
    <p:sldId id="1052" r:id="rId20"/>
    <p:sldId id="1053" r:id="rId18"/>
    <p:sldId id="1054" r:id="rId17"/>
    <p:sldId id="1055" r:id="rId16"/>
    <p:sldId id="1056" r:id="rId14"/>
    <p:sldId id="1057" r:id="rId13"/>
    <p:sldId id="1058" r:id="rId12"/>
    <p:sldId id="1059" r:id="rId11"/>
    <p:sldId id="1060" r:id="rId10"/>
    <p:sldId id="1061" r:id="rId8"/>
    <p:sldId id="1062" r:id="rId7"/>
    <p:sldId id="1063" r:id="rId6"/>
    <p:sldId id="1064" r:id="rId5"/>
    <p:sldId id="1065" r:id="rId4"/>
    <p:sldId id="1066" r:id="rId3"/>
    <p:sldId id="1067" r:id="rId57"/>
    <p:sldId id="1068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2.xml"/><Relationship Id="rId3" Type="http://schemas.openxmlformats.org/officeDocument/2006/relationships/slide" Target="slides/slide50.xml"/><Relationship Id="rId4" Type="http://schemas.openxmlformats.org/officeDocument/2006/relationships/slide" Target="slides/slide49.xml"/><Relationship Id="rId5" Type="http://schemas.openxmlformats.org/officeDocument/2006/relationships/slide" Target="slides/slide48.xml"/><Relationship Id="rId6" Type="http://schemas.openxmlformats.org/officeDocument/2006/relationships/slide" Target="slides/slide47.xml"/><Relationship Id="rId7" Type="http://schemas.openxmlformats.org/officeDocument/2006/relationships/slide" Target="slides/slide46.xml"/><Relationship Id="rId8" Type="http://schemas.openxmlformats.org/officeDocument/2006/relationships/slide" Target="slides/slide45.xml"/><Relationship Id="rId10" Type="http://schemas.openxmlformats.org/officeDocument/2006/relationships/slide" Target="slides/slide44.xml"/><Relationship Id="rId11" Type="http://schemas.openxmlformats.org/officeDocument/2006/relationships/slide" Target="slides/slide43.xml"/><Relationship Id="rId12" Type="http://schemas.openxmlformats.org/officeDocument/2006/relationships/slide" Target="slides/slide42.xml"/><Relationship Id="rId13" Type="http://schemas.openxmlformats.org/officeDocument/2006/relationships/slide" Target="slides/slide41.xml"/><Relationship Id="rId14" Type="http://schemas.openxmlformats.org/officeDocument/2006/relationships/slide" Target="slides/slide40.xml"/><Relationship Id="rId16" Type="http://schemas.openxmlformats.org/officeDocument/2006/relationships/slide" Target="slides/slide39.xml"/><Relationship Id="rId17" Type="http://schemas.openxmlformats.org/officeDocument/2006/relationships/slide" Target="slides/slide38.xml"/><Relationship Id="rId18" Type="http://schemas.openxmlformats.org/officeDocument/2006/relationships/slide" Target="slides/slide37.xml"/><Relationship Id="rId20" Type="http://schemas.openxmlformats.org/officeDocument/2006/relationships/slide" Target="slides/slide36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35.xml"/><Relationship Id="rId28" Type="http://schemas.openxmlformats.org/officeDocument/2006/relationships/slide" Target="slides/slide34.xml"/><Relationship Id="rId29" Type="http://schemas.openxmlformats.org/officeDocument/2006/relationships/slide" Target="slides/slide33.xml"/><Relationship Id="rId30" Type="http://schemas.openxmlformats.org/officeDocument/2006/relationships/slide" Target="slides/slide32.xml"/><Relationship Id="rId31" Type="http://schemas.openxmlformats.org/officeDocument/2006/relationships/slide" Target="slides/slide31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57" Type="http://schemas.openxmlformats.org/officeDocument/2006/relationships/slide" Target="slides/slide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Credits. You don't need to read this slide in class.</a:t>
            </a:r>
          </a:p>
          <a:p>
            <a:r>
              <a:t>Pictures: Twemoji graphics by Twitter, Inc. and other contributors, CC BY 4.0; the file-by-file list is in images/CREDITS.md.</a:t>
            </a:r>
          </a:p>
          <a:p>
            <a:r>
              <a:t>Audio: synthetic voices, computer-generated (Chatterbox TTS cloned from Kokoro-82M reference clips). No recordings of real people. The names and the story are invented.</a:t>
            </a:r>
          </a:p>
          <a:p>
            <a:r>
              <a:t>Course materials: © 2026 the authors, licensed under CC BY-NC-SA 4.0 (https://creativecommons.org/licenses/by-nc-sa/4.0/).</a:t>
            </a:r>
          </a:p>
          <a:p>
            <a:r>
              <a:t>Lesson plan: Picture Credits. Picture list: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7 · 7:25–7:30 · Exit ticket and homework. Never skip the exit ticket.</a:t>
            </a:r>
          </a:p>
          <a:p>
            <a:r>
              <a:t>Report one thing someone said in class tonight.</a:t>
            </a:r>
          </a:p>
          <a:p>
            <a:r>
              <a:t>Lesson plan: Step 7; Exit Ticket page; Homework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· 7:18–7:25 · Read &amp; Write.</a:t>
            </a:r>
          </a:p>
          <a:p>
            <a:r>
              <a:t>Click to show each answer: 1 Thursday • 2 Call before 3:00 • 3 The appointment card • 4 They would call if the room changes • 5 Ken, a family member</a:t>
            </a:r>
          </a:p>
          <a:p>
            <a:r>
              <a:t>Lesson plan: Step 6; Read &amp; Write page;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2.</a:t>
            </a:r>
          </a:p>
          <a:p>
            <a:r>
              <a:t>Lesson plan: Step 5; Talk Time.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1.</a:t>
            </a:r>
          </a:p>
          <a:p>
            <a:r>
              <a:t>Lesson plan: Step 5; Talk Time.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reads one direct sentence. B reports it with said, told, or asked. Then switch. ---</a:t>
            </a:r>
          </a:p>
          <a:p>
            <a:r>
              <a:t>Break · 6:45–7:00.</a:t>
            </a:r>
          </a:p>
          <a:p>
            <a:r>
              <a:t>Lesson plan: Step 4: Pair check.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Don't say, then Say. Learners try first. Then click.</a:t>
            </a:r>
          </a:p>
          <a:p>
            <a:r>
              <a:t>Lesson plan: Grammar: Common mistakes.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circle each answer: 1 said the day had changed • 2 told me the new time • 3 asked me to call • 4 if Thursday was OK • 5 would call • 6 could come</a:t>
            </a:r>
          </a:p>
          <a:p>
            <a:r>
              <a:t>Lesson plan: Step 4; Grammar Practice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show each answer: 1 said • 2 told • 3 asked • 4 asked • 5 would • 6 me</a:t>
            </a:r>
          </a:p>
          <a:p>
            <a:r>
              <a:t>Lesson plan: Step 4; Grammar Practice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4: asked if. Each click shows the answer side.</a:t>
            </a:r>
          </a:p>
          <a:p>
            <a:r>
              <a:t>Lesson plan: Step 4; Grammar Box 4.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3: asked me to. Each click shows the answer side.</a:t>
            </a:r>
          </a:p>
          <a:p>
            <a:r>
              <a:t>Lesson plan: Step 4; Grammar Box 3.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2: told. Each click shows the answer side.</a:t>
            </a:r>
          </a:p>
          <a:p>
            <a:r>
              <a:t>Lesson plan: Step 4; Grammar Box 2.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1: said. Each click shows the answer side.</a:t>
            </a:r>
          </a:p>
          <a:p>
            <a:r>
              <a:t>Lesson plan: Step 4; Grammar Box 1.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gonna and wanna are short forms. This listening uses the full forms. Say each line two times.</a:t>
            </a:r>
          </a:p>
          <a:p>
            <a:r>
              <a:t>Lesson plan: Step 3: Hear it, say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show each answer: 1 said • 2 told • 3 asked • 4 asked • 5 said • 6 asked</a:t>
            </a:r>
          </a:p>
          <a:p>
            <a:r>
              <a:t>Lesson plan: Step 3; Listening Task C;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circle each answer: 1 Thursday • 2 3:00 • 3 the appointment card • 4 Ken • 5 the room changes</a:t>
            </a:r>
          </a:p>
          <a:p>
            <a:r>
              <a:t>Lesson plan: Step 3; Listening Task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circle b.</a:t>
            </a:r>
          </a:p>
          <a:p>
            <a:r>
              <a:t>Lesson plan: Step 3; Listening Task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· 6:12–6:32 · Listening. Play 1 is Task A. Play 2 is Tasks B and C. A third play is fine.</a:t>
            </a:r>
          </a:p>
          <a:p>
            <a:r>
              <a:t>Jana calls the clinic.</a:t>
            </a:r>
          </a:p>
          <a:p>
            <a:r>
              <a:t>The script says going to and want to. Learners only need to recognize gonna and wanna.</a:t>
            </a:r>
          </a:p>
          <a:p>
            <a:r>
              <a:t>Lesson plan: Step 3; Listening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answers are hidden. Ask, then click.</a:t>
            </a:r>
          </a:p>
          <a:p>
            <a:r>
              <a:t>1. a note</a:t>
            </a:r>
          </a:p>
          <a:p>
            <a:r>
              <a:t>2. the waiting room</a:t>
            </a:r>
          </a:p>
          <a:p>
            <a:r>
              <a:t>3. a family member</a:t>
            </a:r>
          </a:p>
          <a:p>
            <a:r>
              <a:t>Lesson plan: Step 2: Check the Meaning.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points to a picture. B names it and uses it in one sentence. Then switch.</a:t>
            </a:r>
          </a:p>
          <a:p>
            <a:r>
              <a:t>Lesson plan: Step 2; New Words page; Partner game.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6:06–6:12 · New Words.</a:t>
            </a:r>
          </a:p>
          <a:p>
            <a:r>
              <a:t>Point to each picture. Learners repeat. ★ = most important.</a:t>
            </a:r>
          </a:p>
          <a:p>
            <a:r>
              <a:t>Lesson plan: Step 2; New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learners as they arrive.</a:t>
            </a:r>
          </a:p>
          <a:p>
            <a:r>
              <a:t>Read the three lines under Today you will.</a:t>
            </a:r>
          </a:p>
          <a:p>
            <a:r>
              <a:t>This lesson is not medical advice.</a:t>
            </a:r>
          </a:p>
          <a:p>
            <a:r>
              <a:t>Lesson plan: Topic; At a glance: Objectives.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goal slowly. Learners repeat.</a:t>
            </a:r>
          </a:p>
          <a:p>
            <a:r>
              <a:t>Lesson plan: At a glance: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· 6:00–6:06 · Opening Talk.</a:t>
            </a:r>
          </a:p>
          <a:p>
            <a:r>
              <a:t>Work with a partner.</a:t>
            </a:r>
          </a:p>
          <a:p>
            <a:r>
              <a:t>Lesson plan: Step 1; Opening Talk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shows the next card.</a:t>
            </a:r>
          </a:p>
          <a:p>
            <a:r>
              <a:t>A asks. B answers. Then switch.</a:t>
            </a:r>
          </a:p>
          <a:p>
            <a:r>
              <a:t>Lesson plan: Step 1; Opening Talk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three Now you can lines.</a:t>
            </a:r>
          </a:p>
          <a:p>
            <a:r>
              <a:t>Homework is about 20–25 minutes. Bring it next week.</a:t>
            </a:r>
          </a:p>
          <a:p>
            <a:r>
              <a:t>Lesson plan: At a glance: Objectives; Step 7.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Relationship Id="rId13" Type="http://schemas.openxmlformats.org/officeDocument/2006/relationships/image" Target="../media/image24.png"/><Relationship Id="rId14" Type="http://schemas.openxmlformats.org/officeDocument/2006/relationships/notesSlide" Target="../notesSlides/notesSlide2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6" Type="http://schemas.openxmlformats.org/officeDocument/2006/relationships/image" Target="../media/image24.png"/><Relationship Id="rId7" Type="http://schemas.openxmlformats.org/officeDocument/2006/relationships/image" Target="../media/image21.png"/><Relationship Id="rId8" Type="http://schemas.openxmlformats.org/officeDocument/2006/relationships/notesSlide" Target="../notesSlides/notesSlide2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2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1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1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1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1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2.png"/><Relationship Id="rId4" Type="http://schemas.openxmlformats.org/officeDocument/2006/relationships/notesSlide" Target="../notesSlides/notesSlide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it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Message: a speech balloon [sign: MESSAGE]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6  ·  Level 5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Told Me to Call</a:t>
            </a:r>
            <a:endParaRPr lang="en-US" sz="40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report a statement with said and told.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report a request with asked me to.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report a yes or no question with asked if.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oal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things.</a:t>
            </a:r>
            <a:endParaRPr lang="en-US" sz="2000" dirty="0"/>
          </a:p>
        </p:txBody>
      </p:sp>
      <p:sp>
        <p:nvSpPr>
          <p:cNvPr id="31" name="R1 shadow"/>
          <p:cNvSpPr/>
          <p:nvPr/>
        </p:nvSpPr>
        <p:spPr>
          <a:xfrm>
            <a:off x="544982" y="2093062"/>
            <a:ext cx="6227064" cy="7132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035454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035454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068830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035454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report a statement with said and told.</a:t>
            </a:r>
            <a:endParaRPr lang="en-US" sz="16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168957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2857500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2857500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2890876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2857500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report a request with asked me to.</a:t>
            </a:r>
            <a:endParaRPr lang="en-US" sz="16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299100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679546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679546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712921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679546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report a yes or no question with asked if.</a:t>
            </a:r>
            <a:endParaRPr lang="en-US" sz="16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81304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01591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0159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34967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01591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write the message so another person can act on it.</a:t>
            </a:r>
            <a:endParaRPr lang="en-US" sz="16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35094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warmup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ic" descr="Note: a memo and a pencil [sign: NOTE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93" y="2104034"/>
            <a:ext cx="4754880" cy="3328416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</p:txBody>
      </p:sp>
      <p:sp>
        <p:nvSpPr>
          <p:cNvPr id="8" name="kicker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 b="1"/>
          </a:p>
        </p:txBody>
      </p:sp>
      <p:sp>
        <p:nvSpPr>
          <p:cNvPr id="9" name="box1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Say one</a:t>
            </a:r>
            <a:endParaRPr lang="en-US" sz="1800" dirty="0" b="1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passive line from last week. Then switch.</a:t>
            </a:r>
            <a:endParaRPr lang="en-US" sz="1800" dirty="0"/>
          </a:p>
        </p:txBody>
      </p:sp>
      <p:sp>
        <p:nvSpPr>
          <p:cNvPr id="14" name="box2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check: read one budget line. Use</a:t>
            </a:r>
            <a:endParaRPr lang="en-US" sz="18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invented numbers only.</a:t>
            </a:r>
            <a:endParaRPr lang="en-US" sz="1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Say one passive line from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last week. Then switch.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471623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41401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41401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41401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41401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one line from the practice statement with was.</a:t>
            </a:r>
            <a:endParaRPr lang="en-US" sz="15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54751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312541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312541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312541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312541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was added on Tuesday?</a:t>
            </a:r>
            <a:endParaRPr lang="en-US" sz="15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32589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836822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836822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836822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836822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does credit mean on that page?</a:t>
            </a:r>
            <a:endParaRPr lang="en-US" sz="15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97032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4822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4822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4822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4822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check: read one budget line. Use invented numbers only.</a:t>
            </a:r>
            <a:endParaRPr lang="en-US" sz="15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8172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 b="1"/>
          </a:p>
        </p:txBody>
      </p:sp>
      <p:pic>
        <p:nvPicPr>
          <p:cNvPr id="17" name="Word picture 1" descr="Message: a speech balloon [sign: MESSAGE]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message</a:t>
            </a:r>
            <a:endParaRPr lang="en-US" sz="2000" dirty="0" b="1"/>
          </a:p>
        </p:txBody>
      </p:sp>
      <p:pic>
        <p:nvPicPr>
          <p:cNvPr id="19" name="Word picture 2" descr="Note: a memo and a pencil [sign: NOTE]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note</a:t>
            </a:r>
            <a:endParaRPr lang="en-US" sz="2000" dirty="0" b="1"/>
          </a:p>
        </p:txBody>
      </p:sp>
      <p:pic>
        <p:nvPicPr>
          <p:cNvPr id="21" name="Word picture 3" descr="Callback: a telephone [sign: CALL BACK]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callback</a:t>
            </a:r>
            <a:endParaRPr lang="en-US" sz="2000" dirty="0" b="1"/>
          </a:p>
        </p:txBody>
      </p:sp>
      <p:pic>
        <p:nvPicPr>
          <p:cNvPr id="23" name="Word picture 4" descr="Nurse: a health worker with a stethoscope [sign: NURSE]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nurse</a:t>
            </a:r>
            <a:endParaRPr lang="en-US" sz="2000" dirty="0" b="1"/>
          </a:p>
        </p:txBody>
      </p:sp>
      <p:pic>
        <p:nvPicPr>
          <p:cNvPr id="25" name="Word picture 5" descr="Clinic: a hospital building with a cross on it [sign: CLINIC]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clinic</a:t>
            </a:r>
            <a:endParaRPr lang="en-US" sz="2000" dirty="0" b="1"/>
          </a:p>
        </p:txBody>
      </p:sp>
      <p:pic>
        <p:nvPicPr>
          <p:cNvPr id="27" name="Word picture 6" descr="Folder: a file folder [sign: FOLDER]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folder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Pass the word</a:t>
            </a:r>
            <a:endParaRPr lang="en-US" sz="2200" dirty="0" b="1"/>
          </a:p>
        </p:txBody>
      </p:sp>
      <p:pic>
        <p:nvPicPr>
          <p:cNvPr id="17" name="Word picture 1" descr="Detail: a magnifying glass and a memo with a pencil [sign: DETAIL]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detail</a:t>
            </a:r>
            <a:endParaRPr lang="en-US" sz="2000" dirty="0" b="1"/>
          </a:p>
        </p:txBody>
      </p:sp>
      <p:pic>
        <p:nvPicPr>
          <p:cNvPr id="19" name="Word picture 2" descr="Time change: a clock showing 4:00 and circular arrows [sign: NEW TIME]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time change</a:t>
            </a:r>
            <a:endParaRPr lang="en-US" sz="2000" dirty="0" b="1"/>
          </a:p>
        </p:txBody>
      </p:sp>
      <p:pic>
        <p:nvPicPr>
          <p:cNvPr id="21" name="Word picture 3" descr="Family member: a family [sign: FAMILY]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family member</a:t>
            </a:r>
            <a:endParaRPr lang="en-US" sz="1500" dirty="0" b="1"/>
          </a:p>
        </p:txBody>
      </p:sp>
      <p:pic>
        <p:nvPicPr>
          <p:cNvPr id="23" name="Word picture 4" descr="Relay: a speech balloon and a right arrow [sign: PASS IT ON]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relay</a:t>
            </a:r>
            <a:endParaRPr lang="en-US" sz="2000" dirty="0" b="1"/>
          </a:p>
        </p:txBody>
      </p:sp>
      <p:pic>
        <p:nvPicPr>
          <p:cNvPr id="25" name="Word picture 5" descr="Phone log: a telephone and a clipboard [sign: PHONE LOG]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phone log</a:t>
            </a:r>
            <a:endParaRPr lang="en-US" sz="2000" dirty="0" b="1"/>
          </a:p>
        </p:txBody>
      </p:sp>
      <p:pic>
        <p:nvPicPr>
          <p:cNvPr id="27" name="Word picture 6" descr="Waiting room: a couch with a lamp and a clock showing 3:00 [sign: PLEASE WAIT]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waiting room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ec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 b="1"/>
          </a:p>
        </p:txBody>
      </p:sp>
      <p:sp>
        <p:nvSpPr>
          <p:cNvPr id="3" name="sub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R1 shadow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R1 card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R1 circle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R1 num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R1 q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write a message on?</a:t>
            </a:r>
            <a:endParaRPr lang="en-US" sz="1600" dirty="0" b="1"/>
          </a:p>
        </p:txBody>
      </p:sp>
      <p:pic>
        <p:nvPicPr>
          <p:cNvPr id="101" name="R1 pic" descr="Message: a speech balloon [sign: MESSAGE]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R2 shadow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R2 card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R2 circle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R2 num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R2 q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do you sit before the call?</a:t>
            </a:r>
            <a:endParaRPr lang="en-US" sz="1600" dirty="0" b="1"/>
          </a:p>
        </p:txBody>
      </p:sp>
      <p:pic>
        <p:nvPicPr>
          <p:cNvPr id="102" name="R2 pic" descr="Waiting room: a couch with a lamp and a clock showing 3:00 [sign: PLEASE WAIT]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R3 shadow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R3 card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R3 circle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R3 num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R3 q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 can you pass the message to?</a:t>
            </a:r>
            <a:endParaRPr lang="en-US" sz="1600" dirty="0" b="1"/>
          </a:p>
        </p:txBody>
      </p:sp>
      <p:pic>
        <p:nvPicPr>
          <p:cNvPr id="103" name="R3 pic" descr="Family member: a family [sign: FAMILY]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R1 ans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note</a:t>
            </a:r>
            <a:endParaRPr lang="en-US" sz="2800" dirty="0" b="1"/>
          </a:p>
        </p:txBody>
      </p:sp>
      <p:sp>
        <p:nvSpPr>
          <p:cNvPr id="26" name="R2 ans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waiting room</a:t>
            </a:r>
            <a:endParaRPr lang="en-US" sz="1800" dirty="0" b="1"/>
          </a:p>
        </p:txBody>
      </p:sp>
      <p:sp>
        <p:nvSpPr>
          <p:cNvPr id="27" name="R3 an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family member</a:t>
            </a:r>
            <a:endParaRPr lang="en-US" sz="1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befor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1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 b="1"/>
          </a:p>
        </p:txBody>
      </p:sp>
      <p:sp>
        <p:nvSpPr>
          <p:cNvPr id="9" name="title2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 b="1"/>
          </a:p>
        </p:txBody>
      </p:sp>
      <p:sp>
        <p:nvSpPr>
          <p:cNvPr id="10" name="context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Jana calls the clinic.</a:t>
            </a:r>
            <a:endParaRPr lang="en-US" sz="1800" dirty="0"/>
          </a:p>
        </p:txBody>
      </p:sp>
      <p:sp>
        <p:nvSpPr>
          <p:cNvPr id="11" name="R1 num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R2 num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R3 num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line 1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line 2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" descr="Callback: a telephone [sign: CALL BACK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R1 hl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R1 voice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Jana</a:t>
            </a:r>
            <a:endParaRPr lang="en-US" sz="2200" dirty="0" b="1"/>
          </a:p>
        </p:txBody>
      </p:sp>
      <p:sp>
        <p:nvSpPr>
          <p:cNvPr id="29" name="R2 hl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R2 voice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Nurse Patel</a:t>
            </a:r>
            <a:endParaRPr lang="en-US" sz="2200" dirty="0" b="1"/>
          </a:p>
        </p:txBody>
      </p:sp>
      <p:sp>
        <p:nvSpPr>
          <p:cNvPr id="33" name="R3 hl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R3 voice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Ken</a:t>
            </a:r>
            <a:endParaRPr lang="en-US" sz="2200" dirty="0" b="1"/>
          </a:p>
        </p:txBody>
      </p:sp>
      <p:sp>
        <p:nvSpPr>
          <p:cNvPr id="37" name="listen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 b="1"/>
          </a:p>
        </p:txBody>
      </p:sp>
      <p:sp>
        <p:nvSpPr>
          <p:cNvPr id="39" name="listen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Did the checkup stay on the same day?</a:t>
            </a:r>
            <a:endParaRPr lang="en-US" sz="2200" dirty="0"/>
          </a:p>
        </p:txBody>
      </p:sp>
      <p:sp>
        <p:nvSpPr>
          <p:cNvPr id="41" name="listen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| 6:12–6:32 | Listening.</a:t>
            </a:r>
            <a:endParaRPr lang="en-US" sz="2200" dirty="0"/>
          </a:p>
        </p:txBody>
      </p:sp>
      <p:sp>
        <p:nvSpPr>
          <p:cNvPr id="43" name="audio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about 1:41. It plays once.</a:t>
            </a:r>
            <a:endParaRPr lang="en-US" sz="2200" dirty="0"/>
          </a:p>
        </p:txBody>
      </p:sp>
      <p:sp>
        <p:nvSpPr>
          <p:cNvPr id="46" name="play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Did the checkup stay on the same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day?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1453896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1.</a:t>
            </a:r>
            <a:endParaRPr lang="en-US" sz="1600" dirty="0"/>
          </a:p>
        </p:txBody>
      </p:sp>
      <p:sp>
        <p:nvSpPr>
          <p:cNvPr id="9" name="R1 opt1"/>
          <p:cNvSpPr/>
          <p:nvPr/>
        </p:nvSpPr>
        <p:spPr>
          <a:xfrm>
            <a:off x="2139696" y="3108960"/>
            <a:ext cx="31546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Yes. It stayed on the same day</a:t>
            </a:r>
            <a:endParaRPr lang="en-US" sz="1300" dirty="0" b="1"/>
          </a:p>
        </p:txBody>
      </p:sp>
      <p:sp>
        <p:nvSpPr>
          <p:cNvPr id="10" name="R1 opt2"/>
          <p:cNvSpPr/>
          <p:nvPr/>
        </p:nvSpPr>
        <p:spPr>
          <a:xfrm>
            <a:off x="5367528" y="3108960"/>
            <a:ext cx="31546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No. It moved to Thursday</a:t>
            </a:r>
            <a:endParaRPr lang="en-US" sz="1300" dirty="0" b="1"/>
          </a:p>
        </p:txBody>
      </p:sp>
      <p:sp>
        <p:nvSpPr>
          <p:cNvPr id="11" name="R1 opt3"/>
          <p:cNvSpPr/>
          <p:nvPr/>
        </p:nvSpPr>
        <p:spPr>
          <a:xfrm>
            <a:off x="8595360" y="3108960"/>
            <a:ext cx="31546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 It was canceled</a:t>
            </a:r>
            <a:endParaRPr lang="en-US" sz="1300" dirty="0" b="1"/>
          </a:p>
        </p:txBody>
      </p:sp>
      <p:sp>
        <p:nvSpPr>
          <p:cNvPr id="12" name="R1 circle"/>
          <p:cNvSpPr/>
          <p:nvPr/>
        </p:nvSpPr>
        <p:spPr>
          <a:xfrm>
            <a:off x="5239512" y="3054096"/>
            <a:ext cx="341071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Listen again. Complete the message.</a:t>
            </a:r>
            <a:endParaRPr lang="en-US" sz="16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448056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1. New day</a:t>
            </a:r>
            <a:endParaRPr lang="en-US" sz="1300" dirty="0"/>
          </a:p>
        </p:txBody>
      </p:sp>
      <p:sp>
        <p:nvSpPr>
          <p:cNvPr id="9" name="R1 opt1"/>
          <p:cNvSpPr/>
          <p:nvPr/>
        </p:nvSpPr>
        <p:spPr>
          <a:xfrm>
            <a:off x="5166360" y="3108960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Thursday</a:t>
            </a:r>
            <a:endParaRPr lang="en-US" sz="1200" dirty="0" b="1"/>
          </a:p>
        </p:txBody>
      </p:sp>
      <p:sp>
        <p:nvSpPr>
          <p:cNvPr id="10" name="R1 opt2"/>
          <p:cNvSpPr/>
          <p:nvPr/>
        </p:nvSpPr>
        <p:spPr>
          <a:xfrm>
            <a:off x="7452360" y="3108960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Monday</a:t>
            </a:r>
            <a:endParaRPr lang="en-US" sz="1200" dirty="0" b="1"/>
          </a:p>
        </p:txBody>
      </p:sp>
      <p:sp>
        <p:nvSpPr>
          <p:cNvPr id="11" name="R1 opt3"/>
          <p:cNvSpPr/>
          <p:nvPr/>
        </p:nvSpPr>
        <p:spPr>
          <a:xfrm>
            <a:off x="9738360" y="3108960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Friday</a:t>
            </a:r>
            <a:endParaRPr lang="en-US" sz="1200" dirty="0" b="1"/>
          </a:p>
        </p:txBody>
      </p:sp>
      <p:sp>
        <p:nvSpPr>
          <p:cNvPr id="12" name="R1 circle"/>
          <p:cNvSpPr/>
          <p:nvPr/>
        </p:nvSpPr>
        <p:spPr>
          <a:xfrm>
            <a:off x="5038344" y="3054096"/>
            <a:ext cx="249631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3" name="R2 stmt"/>
          <p:cNvSpPr/>
          <p:nvPr/>
        </p:nvSpPr>
        <p:spPr>
          <a:xfrm>
            <a:off x="502920" y="3767328"/>
            <a:ext cx="448056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2. Call before</a:t>
            </a:r>
            <a:endParaRPr lang="en-US" sz="1300" dirty="0"/>
          </a:p>
        </p:txBody>
      </p:sp>
      <p:sp>
        <p:nvSpPr>
          <p:cNvPr id="14" name="R2 opt1"/>
          <p:cNvSpPr/>
          <p:nvPr/>
        </p:nvSpPr>
        <p:spPr>
          <a:xfrm>
            <a:off x="5166360" y="3767328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3:00</a:t>
            </a:r>
            <a:endParaRPr lang="en-US" sz="1200" dirty="0" b="1"/>
          </a:p>
        </p:txBody>
      </p:sp>
      <p:sp>
        <p:nvSpPr>
          <p:cNvPr id="15" name="R2 opt2"/>
          <p:cNvSpPr/>
          <p:nvPr/>
        </p:nvSpPr>
        <p:spPr>
          <a:xfrm>
            <a:off x="7452360" y="3767328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5:00</a:t>
            </a:r>
            <a:endParaRPr lang="en-US" sz="1200" dirty="0" b="1"/>
          </a:p>
        </p:txBody>
      </p:sp>
      <p:sp>
        <p:nvSpPr>
          <p:cNvPr id="16" name="R2 opt3"/>
          <p:cNvSpPr/>
          <p:nvPr/>
        </p:nvSpPr>
        <p:spPr>
          <a:xfrm>
            <a:off x="9738360" y="3767328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9:00</a:t>
            </a:r>
            <a:endParaRPr lang="en-US" sz="1200" dirty="0" b="1"/>
          </a:p>
        </p:txBody>
      </p:sp>
      <p:sp>
        <p:nvSpPr>
          <p:cNvPr id="17" name="R2 circle"/>
          <p:cNvSpPr/>
          <p:nvPr/>
        </p:nvSpPr>
        <p:spPr>
          <a:xfrm>
            <a:off x="5038344" y="3712464"/>
            <a:ext cx="249631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8" name="R3 stmt"/>
          <p:cNvSpPr/>
          <p:nvPr/>
        </p:nvSpPr>
        <p:spPr>
          <a:xfrm>
            <a:off x="502920" y="4425696"/>
            <a:ext cx="448056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3. Bring</a:t>
            </a:r>
            <a:endParaRPr lang="en-US" sz="1300" dirty="0"/>
          </a:p>
        </p:txBody>
      </p:sp>
      <p:sp>
        <p:nvSpPr>
          <p:cNvPr id="19" name="R3 opt1"/>
          <p:cNvSpPr/>
          <p:nvPr/>
        </p:nvSpPr>
        <p:spPr>
          <a:xfrm>
            <a:off x="5166360" y="4425696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appointment card</a:t>
            </a:r>
            <a:endParaRPr lang="en-US" sz="1200" dirty="0" b="1"/>
          </a:p>
        </p:txBody>
      </p:sp>
      <p:sp>
        <p:nvSpPr>
          <p:cNvPr id="20" name="R3 opt2"/>
          <p:cNvSpPr/>
          <p:nvPr/>
        </p:nvSpPr>
        <p:spPr>
          <a:xfrm>
            <a:off x="7452360" y="4425696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lunch</a:t>
            </a:r>
            <a:endParaRPr lang="en-US" sz="1200" dirty="0" b="1"/>
          </a:p>
        </p:txBody>
      </p:sp>
      <p:sp>
        <p:nvSpPr>
          <p:cNvPr id="21" name="R3 opt3"/>
          <p:cNvSpPr/>
          <p:nvPr/>
        </p:nvSpPr>
        <p:spPr>
          <a:xfrm>
            <a:off x="9738360" y="4425696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photo</a:t>
            </a:r>
            <a:endParaRPr lang="en-US" sz="1200" dirty="0" b="1"/>
          </a:p>
        </p:txBody>
      </p:sp>
      <p:sp>
        <p:nvSpPr>
          <p:cNvPr id="22" name="R3 circle"/>
          <p:cNvSpPr/>
          <p:nvPr/>
        </p:nvSpPr>
        <p:spPr>
          <a:xfrm>
            <a:off x="5038344" y="4370832"/>
            <a:ext cx="249631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R4 stmt"/>
          <p:cNvSpPr/>
          <p:nvPr/>
        </p:nvSpPr>
        <p:spPr>
          <a:xfrm>
            <a:off x="502920" y="5084064"/>
            <a:ext cx="448056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4. She tells the message to</a:t>
            </a:r>
            <a:endParaRPr lang="en-US" sz="1300" dirty="0"/>
          </a:p>
        </p:txBody>
      </p:sp>
      <p:sp>
        <p:nvSpPr>
          <p:cNvPr id="24" name="R4 opt1"/>
          <p:cNvSpPr/>
          <p:nvPr/>
        </p:nvSpPr>
        <p:spPr>
          <a:xfrm>
            <a:off x="5166360" y="5084064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Ken</a:t>
            </a:r>
            <a:endParaRPr lang="en-US" sz="1200" dirty="0" b="1"/>
          </a:p>
        </p:txBody>
      </p:sp>
      <p:sp>
        <p:nvSpPr>
          <p:cNvPr id="25" name="R4 opt2"/>
          <p:cNvSpPr/>
          <p:nvPr/>
        </p:nvSpPr>
        <p:spPr>
          <a:xfrm>
            <a:off x="7452360" y="5084064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nurse</a:t>
            </a:r>
            <a:endParaRPr lang="en-US" sz="1200" dirty="0" b="1"/>
          </a:p>
        </p:txBody>
      </p:sp>
      <p:sp>
        <p:nvSpPr>
          <p:cNvPr id="26" name="R4 opt3"/>
          <p:cNvSpPr/>
          <p:nvPr/>
        </p:nvSpPr>
        <p:spPr>
          <a:xfrm>
            <a:off x="9738360" y="5084064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teacher</a:t>
            </a:r>
            <a:endParaRPr lang="en-US" sz="1200" dirty="0" b="1"/>
          </a:p>
        </p:txBody>
      </p:sp>
      <p:sp>
        <p:nvSpPr>
          <p:cNvPr id="27" name="R4 circle"/>
          <p:cNvSpPr/>
          <p:nvPr/>
        </p:nvSpPr>
        <p:spPr>
          <a:xfrm>
            <a:off x="5038344" y="5029200"/>
            <a:ext cx="249631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5 stmt"/>
          <p:cNvSpPr/>
          <p:nvPr/>
        </p:nvSpPr>
        <p:spPr>
          <a:xfrm>
            <a:off x="502920" y="5742432"/>
            <a:ext cx="448056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5. They will call if</a:t>
            </a:r>
            <a:endParaRPr lang="en-US" sz="1300" dirty="0"/>
          </a:p>
        </p:txBody>
      </p:sp>
      <p:sp>
        <p:nvSpPr>
          <p:cNvPr id="29" name="R5 opt1"/>
          <p:cNvSpPr/>
          <p:nvPr/>
        </p:nvSpPr>
        <p:spPr>
          <a:xfrm>
            <a:off x="5166360" y="5742432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room changes</a:t>
            </a:r>
            <a:endParaRPr lang="en-US" sz="1200" dirty="0" b="1"/>
          </a:p>
        </p:txBody>
      </p:sp>
      <p:sp>
        <p:nvSpPr>
          <p:cNvPr id="30" name="R5 opt2"/>
          <p:cNvSpPr/>
          <p:nvPr/>
        </p:nvSpPr>
        <p:spPr>
          <a:xfrm>
            <a:off x="7452360" y="5742432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clinic closes</a:t>
            </a:r>
            <a:endParaRPr lang="en-US" sz="1200" dirty="0" b="1"/>
          </a:p>
        </p:txBody>
      </p:sp>
      <p:sp>
        <p:nvSpPr>
          <p:cNvPr id="31" name="R5 opt3"/>
          <p:cNvSpPr/>
          <p:nvPr/>
        </p:nvSpPr>
        <p:spPr>
          <a:xfrm>
            <a:off x="9738360" y="5742432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class is off</a:t>
            </a:r>
            <a:endParaRPr lang="en-US" sz="1200" dirty="0" b="1"/>
          </a:p>
        </p:txBody>
      </p:sp>
      <p:sp>
        <p:nvSpPr>
          <p:cNvPr id="32" name="R5 circle"/>
          <p:cNvSpPr/>
          <p:nvPr/>
        </p:nvSpPr>
        <p:spPr>
          <a:xfrm>
            <a:off x="5038344" y="5687568"/>
            <a:ext cx="249631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 Write said, to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words.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check together.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______ the checkup was on Thursday.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6016752" y="2222144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said</a:t>
            </a:r>
            <a:endParaRPr lang="en-US" sz="16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______ me the time had changed.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6016752" y="2950312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told</a:t>
            </a:r>
            <a:endParaRPr lang="en-US" sz="16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______ me to call before 3:00.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6016752" y="3678479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asked</a:t>
            </a:r>
            <a:endParaRPr lang="en-US" sz="16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______ if Thursday was OK.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6016752" y="4406646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asked</a:t>
            </a:r>
            <a:endParaRPr lang="en-US" sz="16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______ they would call me.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6016752" y="5134813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said</a:t>
            </a:r>
            <a:endParaRPr lang="en-US" sz="16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______ me to bring the card.</a:t>
            </a:r>
            <a:endParaRPr lang="en-US" sz="1600" dirty="0"/>
          </a:p>
        </p:txBody>
      </p:sp>
      <p:sp>
        <p:nvSpPr>
          <p:cNvPr id="60" name="R6 ans"/>
          <p:cNvSpPr/>
          <p:nvPr/>
        </p:nvSpPr>
        <p:spPr>
          <a:xfrm>
            <a:off x="6016752" y="5862980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asked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4982" y="1623974"/>
            <a:ext cx="6169457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6916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it: gonna and wanna are short forms</a:t>
            </a:r>
            <a:endParaRPr lang="en-US" sz="1600" dirty="0" b="1"/>
          </a:p>
        </p:txBody>
      </p:sp>
      <p:sp>
        <p:nvSpPr>
          <p:cNvPr id="9" name="head2"/>
          <p:cNvSpPr/>
          <p:nvPr/>
        </p:nvSpPr>
        <p:spPr>
          <a:xfrm>
            <a:off x="86868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use the full forms</a:t>
            </a:r>
            <a:endParaRPr lang="en-US" sz="1600" dirty="0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It,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are short forms. This listening uses the full forms.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can say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want to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each line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times.</a:t>
            </a:r>
            <a:endParaRPr lang="en-US" sz="2000" dirty="0" b="0"/>
          </a:p>
        </p:txBody>
      </p:sp>
      <p:sp>
        <p:nvSpPr>
          <p:cNvPr id="31" name="S1 card"/>
          <p:cNvSpPr/>
          <p:nvPr/>
        </p:nvSpPr>
        <p:spPr>
          <a:xfrm>
            <a:off x="548640" y="271576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1 text"/>
          <p:cNvSpPr/>
          <p:nvPr/>
        </p:nvSpPr>
        <p:spPr>
          <a:xfrm>
            <a:off x="777240" y="271576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want to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write the message down.</a:t>
            </a:r>
            <a:endParaRPr lang="en-US" sz="1800" dirty="0" b="1"/>
          </a:p>
        </p:txBody>
      </p:sp>
      <p:sp>
        <p:nvSpPr>
          <p:cNvPr id="33" name="S2 card"/>
          <p:cNvSpPr/>
          <p:nvPr/>
        </p:nvSpPr>
        <p:spPr>
          <a:xfrm>
            <a:off x="548640" y="3427171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S2 text"/>
          <p:cNvSpPr/>
          <p:nvPr/>
        </p:nvSpPr>
        <p:spPr>
          <a:xfrm>
            <a:off x="777240" y="3427171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am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call before 3:00.</a:t>
            </a:r>
            <a:endParaRPr lang="en-US" sz="1800" dirty="0" b="1"/>
          </a:p>
        </p:txBody>
      </p:sp>
      <p:sp>
        <p:nvSpPr>
          <p:cNvPr id="35" name="S3 card"/>
          <p:cNvSpPr/>
          <p:nvPr/>
        </p:nvSpPr>
        <p:spPr>
          <a:xfrm>
            <a:off x="548640" y="4138574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3 text"/>
          <p:cNvSpPr/>
          <p:nvPr/>
        </p:nvSpPr>
        <p:spPr>
          <a:xfrm>
            <a:off x="777240" y="4138574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told me to bring the card.</a:t>
            </a:r>
            <a:endParaRPr lang="en-US" sz="1800" dirty="0" b="1"/>
          </a:p>
        </p:txBody>
      </p:sp>
      <p:sp>
        <p:nvSpPr>
          <p:cNvPr id="37" name="S4 card"/>
          <p:cNvSpPr/>
          <p:nvPr/>
        </p:nvSpPr>
        <p:spPr>
          <a:xfrm>
            <a:off x="548640" y="484997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S4 text"/>
          <p:cNvSpPr/>
          <p:nvPr/>
        </p:nvSpPr>
        <p:spPr>
          <a:xfrm>
            <a:off x="777240" y="484997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said they would call.</a:t>
            </a:r>
            <a:endParaRPr lang="en-US" sz="1800" dirty="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Nurse: a health worker with a stethoscope [sign: NURSE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said</a:t>
            </a:r>
            <a:endParaRPr lang="en-US" sz="22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DIRECT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418320" y="1828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REPORTED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nurse said, "The checkup is on Thursday."</a:t>
            </a:r>
            <a:endParaRPr lang="en-US" sz="1300" dirty="0" b="1"/>
          </a:p>
        </p:txBody>
      </p:sp>
      <p:sp>
        <p:nvSpPr>
          <p:cNvPr id="19" name="Answer bg 1"/>
          <p:cNvSpPr/>
          <p:nvPr/>
        </p:nvSpPr>
        <p:spPr>
          <a:xfrm>
            <a:off x="9418320" y="228600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418320" y="228600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said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checkup 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on Thursday.</a:t>
            </a:r>
            <a:endParaRPr lang="en-US" sz="14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"We will call you."</a:t>
            </a:r>
            <a:endParaRPr lang="en-US" sz="1300" dirty="0" b="1"/>
          </a:p>
        </p:txBody>
      </p:sp>
      <p:sp>
        <p:nvSpPr>
          <p:cNvPr id="22" name="Answer bg 2"/>
          <p:cNvSpPr/>
          <p:nvPr/>
        </p:nvSpPr>
        <p:spPr>
          <a:xfrm>
            <a:off x="9418320" y="324612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418320" y="324612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said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they 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call me.</a:t>
            </a:r>
            <a:endParaRPr lang="en-US" sz="14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said the time had changed.</a:t>
            </a:r>
            <a:endParaRPr lang="en-US" sz="1300" dirty="0" b="1"/>
          </a:p>
        </p:txBody>
      </p:sp>
      <p:sp>
        <p:nvSpPr>
          <p:cNvPr id="25" name="Answer bg 3"/>
          <p:cNvSpPr/>
          <p:nvPr/>
        </p:nvSpPr>
        <p:spPr>
          <a:xfrm>
            <a:off x="9418320" y="420624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418320" y="420624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said does not need a person</a:t>
            </a:r>
            <a:endParaRPr lang="en-US" sz="14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Clinic: a hospital building with a cross on it [sign: CLINIC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told</a:t>
            </a:r>
            <a:endParaRPr lang="en-US" sz="22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THIS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052560" y="1828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NOTE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told me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time had changed.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052560" y="228600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052560" y="228600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tell needs a person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told me the checkup was on Thursday.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052560" y="324612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052560" y="324612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told me, not told to me</a:t>
            </a:r>
            <a:endParaRPr lang="en-US" sz="16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told Ken the new day.</a:t>
            </a:r>
            <a:endParaRPr lang="en-US" sz="1500" dirty="0" b="1"/>
          </a:p>
        </p:txBody>
      </p:sp>
      <p:sp>
        <p:nvSpPr>
          <p:cNvPr id="25" name="Answer bg 3"/>
          <p:cNvSpPr/>
          <p:nvPr/>
        </p:nvSpPr>
        <p:spPr>
          <a:xfrm>
            <a:off x="9052560" y="420624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052560" y="420624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person after told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Folder: a file folder [sign: FOLDER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asked me to</a:t>
            </a:r>
            <a:endParaRPr lang="en-US" sz="22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REQUEST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052560" y="1828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FORM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asked me to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call before 3:00.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052560" y="228600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052560" y="228600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request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asked me to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bring the card.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052560" y="324612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052560" y="324612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asked me to + verb</a:t>
            </a:r>
            <a:endParaRPr lang="en-US" sz="16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asked me to write it in the folder.</a:t>
            </a:r>
            <a:endParaRPr lang="en-US" sz="1500" dirty="0" b="1"/>
          </a:p>
        </p:txBody>
      </p:sp>
      <p:sp>
        <p:nvSpPr>
          <p:cNvPr id="25" name="Answer bg 3"/>
          <p:cNvSpPr/>
          <p:nvPr/>
        </p:nvSpPr>
        <p:spPr>
          <a:xfrm>
            <a:off x="9052560" y="420624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052560" y="420624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request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Detail: a magnifying glass and a memo with a pencil [sign: DETAIL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asked if</a:t>
            </a:r>
            <a:endParaRPr lang="en-US" sz="22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052560" y="1828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REPORTED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asked if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Thursday was OK.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052560" y="228600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052560" y="228600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statement order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asked if I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come before 3:00.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052560" y="324612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052560" y="324612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becomes could</a:t>
            </a:r>
            <a:endParaRPr lang="en-US" sz="16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asked if Ken was at home.</a:t>
            </a:r>
            <a:endParaRPr lang="en-US" sz="1500" dirty="0" b="1"/>
          </a:p>
        </p:txBody>
      </p:sp>
      <p:sp>
        <p:nvSpPr>
          <p:cNvPr id="25" name="Answer bg 3"/>
          <p:cNvSpPr/>
          <p:nvPr/>
        </p:nvSpPr>
        <p:spPr>
          <a:xfrm>
            <a:off x="9052560" y="420624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052560" y="420624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 or no, then statement order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check your answers.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______ the checkup was on Thursday.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6016752" y="2222144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said</a:t>
            </a:r>
            <a:endParaRPr lang="en-US" sz="16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______ me the time had changed.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6016752" y="2950312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told</a:t>
            </a:r>
            <a:endParaRPr lang="en-US" sz="16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______ me to call before 3:00.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6016752" y="3678479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asked</a:t>
            </a:r>
            <a:endParaRPr lang="en-US" sz="16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______ if Thursday was OK.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6016752" y="4406646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asked</a:t>
            </a:r>
            <a:endParaRPr lang="en-US" sz="16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said they ______ call me.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6016752" y="5134813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</a:t>
            </a:r>
            <a:endParaRPr lang="en-US" sz="16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told ______ the new day.</a:t>
            </a:r>
            <a:endParaRPr lang="en-US" sz="1600" dirty="0"/>
          </a:p>
        </p:txBody>
      </p:sp>
      <p:sp>
        <p:nvSpPr>
          <p:cNvPr id="60" name="R6 ans"/>
          <p:cNvSpPr/>
          <p:nvPr/>
        </p:nvSpPr>
        <p:spPr>
          <a:xfrm>
            <a:off x="6016752" y="5862980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correct words.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633679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1. She</a:t>
            </a:r>
            <a:endParaRPr lang="en-US" sz="1500" dirty="0"/>
          </a:p>
        </p:txBody>
      </p:sp>
      <p:sp>
        <p:nvSpPr>
          <p:cNvPr id="9" name="R1 opt1"/>
          <p:cNvSpPr/>
          <p:nvPr/>
        </p:nvSpPr>
        <p:spPr>
          <a:xfrm>
            <a:off x="7022592" y="31089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said the day had changed</a:t>
            </a:r>
            <a:endParaRPr lang="en-US" sz="1300" dirty="0" b="1"/>
          </a:p>
        </p:txBody>
      </p:sp>
      <p:sp>
        <p:nvSpPr>
          <p:cNvPr id="10" name="R1 opt2"/>
          <p:cNvSpPr/>
          <p:nvPr/>
        </p:nvSpPr>
        <p:spPr>
          <a:xfrm>
            <a:off x="9372600" y="31089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said me the day had changed</a:t>
            </a:r>
            <a:endParaRPr lang="en-US" sz="1300" dirty="0" b="1"/>
          </a:p>
        </p:txBody>
      </p:sp>
      <p:sp>
        <p:nvSpPr>
          <p:cNvPr id="11" name="R1 circle"/>
          <p:cNvSpPr/>
          <p:nvPr/>
        </p:nvSpPr>
        <p:spPr>
          <a:xfrm>
            <a:off x="6894576" y="305409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633679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2. She</a:t>
            </a:r>
            <a:endParaRPr lang="en-US" sz="1500" dirty="0"/>
          </a:p>
        </p:txBody>
      </p:sp>
      <p:sp>
        <p:nvSpPr>
          <p:cNvPr id="13" name="R2 opt1"/>
          <p:cNvSpPr/>
          <p:nvPr/>
        </p:nvSpPr>
        <p:spPr>
          <a:xfrm>
            <a:off x="7022592" y="365760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told me the new time</a:t>
            </a:r>
            <a:endParaRPr lang="en-US" sz="1300" dirty="0" b="1"/>
          </a:p>
        </p:txBody>
      </p:sp>
      <p:sp>
        <p:nvSpPr>
          <p:cNvPr id="14" name="R2 opt2"/>
          <p:cNvSpPr/>
          <p:nvPr/>
        </p:nvSpPr>
        <p:spPr>
          <a:xfrm>
            <a:off x="9372600" y="365760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told to me the new time</a:t>
            </a:r>
            <a:endParaRPr lang="en-US" sz="1300" dirty="0" b="1"/>
          </a:p>
        </p:txBody>
      </p:sp>
      <p:sp>
        <p:nvSpPr>
          <p:cNvPr id="15" name="R2 circle"/>
          <p:cNvSpPr/>
          <p:nvPr/>
        </p:nvSpPr>
        <p:spPr>
          <a:xfrm>
            <a:off x="6894576" y="360273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633679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3. She</a:t>
            </a:r>
            <a:endParaRPr lang="en-US" sz="1500" dirty="0"/>
          </a:p>
        </p:txBody>
      </p:sp>
      <p:sp>
        <p:nvSpPr>
          <p:cNvPr id="17" name="R3 opt1"/>
          <p:cNvSpPr/>
          <p:nvPr/>
        </p:nvSpPr>
        <p:spPr>
          <a:xfrm>
            <a:off x="7022592" y="420624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asked me to call</a:t>
            </a:r>
            <a:endParaRPr lang="en-US" sz="1300" dirty="0" b="1"/>
          </a:p>
        </p:txBody>
      </p:sp>
      <p:sp>
        <p:nvSpPr>
          <p:cNvPr id="18" name="R3 opt2"/>
          <p:cNvSpPr/>
          <p:nvPr/>
        </p:nvSpPr>
        <p:spPr>
          <a:xfrm>
            <a:off x="9372600" y="420624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asked that I call</a:t>
            </a:r>
            <a:endParaRPr lang="en-US" sz="1300" dirty="0" b="1"/>
          </a:p>
        </p:txBody>
      </p:sp>
      <p:sp>
        <p:nvSpPr>
          <p:cNvPr id="19" name="R3 circle"/>
          <p:cNvSpPr/>
          <p:nvPr/>
        </p:nvSpPr>
        <p:spPr>
          <a:xfrm>
            <a:off x="6894576" y="415137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633679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4. She asked</a:t>
            </a:r>
            <a:endParaRPr lang="en-US" sz="1500" dirty="0"/>
          </a:p>
        </p:txBody>
      </p:sp>
      <p:sp>
        <p:nvSpPr>
          <p:cNvPr id="21" name="R4 opt1"/>
          <p:cNvSpPr/>
          <p:nvPr/>
        </p:nvSpPr>
        <p:spPr>
          <a:xfrm>
            <a:off x="7022592" y="475488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Thursday was OK</a:t>
            </a:r>
            <a:endParaRPr lang="en-US" sz="1300" dirty="0" b="1"/>
          </a:p>
        </p:txBody>
      </p:sp>
      <p:sp>
        <p:nvSpPr>
          <p:cNvPr id="22" name="R4 opt2"/>
          <p:cNvSpPr/>
          <p:nvPr/>
        </p:nvSpPr>
        <p:spPr>
          <a:xfrm>
            <a:off x="9372600" y="475488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was Thursday OK</a:t>
            </a:r>
            <a:endParaRPr lang="en-US" sz="1300" dirty="0" b="1"/>
          </a:p>
        </p:txBody>
      </p:sp>
      <p:sp>
        <p:nvSpPr>
          <p:cNvPr id="23" name="R4 circle"/>
          <p:cNvSpPr/>
          <p:nvPr/>
        </p:nvSpPr>
        <p:spPr>
          <a:xfrm>
            <a:off x="6894576" y="470001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633679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5. She said they</a:t>
            </a:r>
            <a:endParaRPr lang="en-US" sz="1500" dirty="0"/>
          </a:p>
        </p:txBody>
      </p:sp>
      <p:sp>
        <p:nvSpPr>
          <p:cNvPr id="25" name="R5 opt1"/>
          <p:cNvSpPr/>
          <p:nvPr/>
        </p:nvSpPr>
        <p:spPr>
          <a:xfrm>
            <a:off x="7022592" y="530352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 call</a:t>
            </a:r>
            <a:endParaRPr lang="en-US" sz="1300" dirty="0" b="1"/>
          </a:p>
        </p:txBody>
      </p:sp>
      <p:sp>
        <p:nvSpPr>
          <p:cNvPr id="26" name="R5 opt2"/>
          <p:cNvSpPr/>
          <p:nvPr/>
        </p:nvSpPr>
        <p:spPr>
          <a:xfrm>
            <a:off x="9372600" y="530352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 call</a:t>
            </a:r>
            <a:endParaRPr lang="en-US" sz="1300" dirty="0" b="1"/>
          </a:p>
        </p:txBody>
      </p:sp>
      <p:sp>
        <p:nvSpPr>
          <p:cNvPr id="27" name="R5 circle"/>
          <p:cNvSpPr/>
          <p:nvPr/>
        </p:nvSpPr>
        <p:spPr>
          <a:xfrm>
            <a:off x="6894576" y="524865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633679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6. She asked if I</a:t>
            </a:r>
            <a:endParaRPr lang="en-US" sz="1500" dirty="0"/>
          </a:p>
        </p:txBody>
      </p:sp>
      <p:sp>
        <p:nvSpPr>
          <p:cNvPr id="29" name="R6 opt1"/>
          <p:cNvSpPr/>
          <p:nvPr/>
        </p:nvSpPr>
        <p:spPr>
          <a:xfrm>
            <a:off x="7022592" y="58521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 come</a:t>
            </a:r>
            <a:endParaRPr lang="en-US" sz="1300" dirty="0" b="1"/>
          </a:p>
        </p:txBody>
      </p:sp>
      <p:sp>
        <p:nvSpPr>
          <p:cNvPr id="30" name="R6 opt2"/>
          <p:cNvSpPr/>
          <p:nvPr/>
        </p:nvSpPr>
        <p:spPr>
          <a:xfrm>
            <a:off x="9372600" y="58521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come</a:t>
            </a:r>
            <a:endParaRPr lang="en-US" sz="1300" dirty="0" b="1"/>
          </a:p>
        </p:txBody>
      </p:sp>
      <p:sp>
        <p:nvSpPr>
          <p:cNvPr id="31" name="R6 circle"/>
          <p:cNvSpPr/>
          <p:nvPr/>
        </p:nvSpPr>
        <p:spPr>
          <a:xfrm>
            <a:off x="6894576" y="579729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mistake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 b="1"/>
          </a:p>
        </p:txBody>
      </p:sp>
      <p:pic>
        <p:nvPicPr>
          <p:cNvPr id="21" name="pic" descr="Time change: a clock showing 4:00 and circular arrows [sign: NEW TIME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said me the day.</a:t>
            </a:r>
            <a:endParaRPr lang="en-US" sz="14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told me the day.</a:t>
            </a:r>
            <a:endParaRPr lang="en-US" sz="1400" dirty="0" b="1"/>
          </a:p>
        </p:txBody>
      </p:sp>
      <p:sp>
        <p:nvSpPr>
          <p:cNvPr id="26" name="Bad 2"/>
          <p:cNvSpPr/>
          <p:nvPr/>
        </p:nvSpPr>
        <p:spPr>
          <a:xfrm>
            <a:off x="914400" y="2987399"/>
            <a:ext cx="324612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told that the time had changed.</a:t>
            </a:r>
            <a:endParaRPr lang="en-US" sz="1400" dirty="0"/>
          </a:p>
        </p:txBody>
      </p:sp>
      <p:sp>
        <p:nvSpPr>
          <p:cNvPr id="27" name="Good 2"/>
          <p:cNvSpPr/>
          <p:nvPr/>
        </p:nvSpPr>
        <p:spPr>
          <a:xfrm>
            <a:off x="4800600" y="2987399"/>
            <a:ext cx="539496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said that the time had changed.</a:t>
            </a:r>
            <a:endParaRPr lang="en-US" sz="1400" dirty="0" b="1"/>
          </a:p>
        </p:txBody>
      </p:sp>
      <p:sp>
        <p:nvSpPr>
          <p:cNvPr id="28" name="Bad 3"/>
          <p:cNvSpPr/>
          <p:nvPr/>
        </p:nvSpPr>
        <p:spPr>
          <a:xfrm>
            <a:off x="914400" y="3505917"/>
            <a:ext cx="324612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asked me if I can come.</a:t>
            </a:r>
            <a:endParaRPr lang="en-US" sz="1400" dirty="0"/>
          </a:p>
        </p:txBody>
      </p:sp>
      <p:sp>
        <p:nvSpPr>
          <p:cNvPr id="29" name="Good 3"/>
          <p:cNvSpPr/>
          <p:nvPr/>
        </p:nvSpPr>
        <p:spPr>
          <a:xfrm>
            <a:off x="4800600" y="3505917"/>
            <a:ext cx="539496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asked if I could come.</a:t>
            </a:r>
            <a:endParaRPr lang="en-US" sz="1400" dirty="0" b="1"/>
          </a:p>
        </p:txBody>
      </p:sp>
      <p:sp>
        <p:nvSpPr>
          <p:cNvPr id="30" name="Bad 4"/>
          <p:cNvSpPr/>
          <p:nvPr/>
        </p:nvSpPr>
        <p:spPr>
          <a:xfrm>
            <a:off x="914400" y="4024436"/>
            <a:ext cx="324612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told to me.</a:t>
            </a:r>
            <a:endParaRPr lang="en-US" sz="1400" dirty="0"/>
          </a:p>
        </p:txBody>
      </p:sp>
      <p:sp>
        <p:nvSpPr>
          <p:cNvPr id="31" name="Good 4"/>
          <p:cNvSpPr/>
          <p:nvPr/>
        </p:nvSpPr>
        <p:spPr>
          <a:xfrm>
            <a:off x="4800600" y="4024436"/>
            <a:ext cx="539496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told me.</a:t>
            </a:r>
            <a:endParaRPr lang="en-US" sz="14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drill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pic>
        <p:nvPicPr>
          <p:cNvPr id="26" name="pic" descr="Family member: a family [sign: FAMILY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9" y="3680460"/>
            <a:ext cx="3449901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Check</a:t>
            </a:r>
            <a:endParaRPr lang="en-US" sz="4000" dirty="0" b="1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1 label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says.</a:t>
            </a:r>
            <a:endParaRPr lang="en-US" sz="2200" dirty="0" b="1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2 label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answers.</a:t>
            </a:r>
            <a:endParaRPr lang="en-US" sz="2200" dirty="0" b="1"/>
          </a:p>
        </p:txBody>
      </p:sp>
      <p:sp>
        <p:nvSpPr>
          <p:cNvPr id="60" name="s1 body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reads one direct sentence.</a:t>
            </a:r>
            <a:endParaRPr lang="en-US" sz="1900" dirty="0" b="0"/>
          </a:p>
        </p:txBody>
      </p:sp>
      <p:sp>
        <p:nvSpPr>
          <p:cNvPr id="70" name="s2 body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reports it with said, told, or asked.</a:t>
            </a:r>
            <a:endParaRPr lang="en-US" sz="1900" dirty="0" b="0"/>
          </a:p>
        </p:txBody>
      </p:sp>
      <p:sp>
        <p:nvSpPr>
          <p:cNvPr id="25" name="sub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Clinic: a hospital building with a cross on it [sign: CLINIC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Groups.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Groups of 3.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7:00–7:18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Groups of 3.</a:t>
            </a:r>
            <a:endParaRPr lang="en-US" sz="1600" dirty="0" b="1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said the checkup was on Thursday.</a:t>
            </a:r>
            <a:endParaRPr lang="en-US" sz="1600" dirty="0" b="1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asked me to call before 3:00.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Detail: a magnifying glass and a memo with a pencil [sign: DETAIL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Groups.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Groups of 3.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7:00–7:18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Groups of 3.</a:t>
            </a:r>
            <a:endParaRPr lang="en-US" sz="1600" dirty="0" b="1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 called?</a:t>
            </a:r>
            <a:endParaRPr lang="en-US" sz="1600" dirty="0" b="1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day is the checkup?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&amp;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the page.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the questions.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day is the checkup?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5010912" y="2525573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Thursday</a:t>
            </a:r>
            <a:endParaRPr lang="en-US" sz="13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did the nurse ask Jana to do first?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5010912" y="3311957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Call before 3:00</a:t>
            </a:r>
            <a:endParaRPr lang="en-US" sz="13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should she bring?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5010912" y="4098341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appointment card</a:t>
            </a:r>
            <a:endParaRPr lang="en-US" sz="13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did the nurse say about a later call?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5010912" y="4884725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would call if the room changes</a:t>
            </a:r>
            <a:endParaRPr lang="en-US" sz="13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543093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543093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60710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543093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 is the message for?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5010912" y="5671109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Ken, a family member</a:t>
            </a:r>
            <a:endParaRPr lang="en-US" sz="13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o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7:25–7:30</a:t>
            </a:r>
            <a:endParaRPr lang="en-US" sz="4000" dirty="0"/>
          </a:p>
        </p:txBody>
      </p:sp>
      <p:pic>
        <p:nvPicPr>
          <p:cNvPr id="16" name="pic" descr="Relay: a speech balloon and a right arrow [sign: PASS IT ON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 b="1"/>
          </a:p>
        </p:txBody>
      </p:sp>
      <p:sp>
        <p:nvSpPr>
          <p:cNvPr id="19" name="Body 01"/>
          <p:cNvSpPr/>
          <p:nvPr/>
        </p:nvSpPr>
        <p:spPr>
          <a:xfrm>
            <a:off x="4343400" y="3520440"/>
            <a:ext cx="352044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Report one thing someone said in class tonight.</a:t>
            </a:r>
            <a:endParaRPr lang="en-US" sz="15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Name: Date: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said or told, and asked me to or asked if.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this page to your teacher.</a:t>
            </a:r>
            <a:endParaRPr lang="en-US" sz="1500" dirty="0" b="0"/>
          </a:p>
        </p:txBody>
      </p:sp>
      <p:sp>
        <p:nvSpPr>
          <p:cNvPr id="20" name="Num 02"/>
          <p:cNvSpPr/>
          <p:nvPr/>
        </p:nvSpPr>
        <p:spPr>
          <a:xfrm>
            <a:off x="80010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 b="1"/>
          </a:p>
        </p:txBody>
      </p:sp>
      <p:sp>
        <p:nvSpPr>
          <p:cNvPr id="22" name="Body 02"/>
          <p:cNvSpPr/>
          <p:nvPr/>
        </p:nvSpPr>
        <p:spPr>
          <a:xfrm>
            <a:off x="8001000" y="3520440"/>
            <a:ext cx="365760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20–25 minutes.</a:t>
            </a:r>
            <a:endParaRPr lang="en-US" sz="15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Report one sentence with said or told.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Finish the message for a family member. Six to eight sentences.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Read the message to a friend. They name the day and the task.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Review: one passive line from Lesson 5.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1500" dirty="0" b="1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oodby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Phone log: a telephone and a clipboard [sign: PHONE LOG]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6  ·  Level 5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36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report a statement with said and told.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report a request with asked me to.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report a yes or no question with asked if.</a:t>
            </a:r>
            <a:endParaRPr lang="en-US" sz="2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redits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itle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pictures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signs and labels were added.</a:t>
            </a:r>
            <a:endParaRPr lang="en-US" sz="1600" dirty="0" b="0"/>
          </a:p>
        </p:txBody>
      </p:sp>
      <p:sp>
        <p:nvSpPr>
          <p:cNvPr id="16" name="names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Jana, Nurse Patel, and Ken are invented names. The listening story is invented.</a:t>
            </a:r>
            <a:endParaRPr lang="en-US" sz="1600" dirty="0" b="0"/>
          </a:p>
        </p:txBody>
      </p:sp>
      <p:sp>
        <p:nvSpPr>
          <p:cNvPr id="17" name="audio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synthetic voices made with Chatterbox TTS (MIT License), cloned from short synthetic reference clips made with Kokoro-82M (Apache License 2.0). No recordings of real people were used. Each file carries an inaudible Perth watermark marking it as AI-generated. Font: Lexend Deca (OFL 1.1).</a:t>
            </a:r>
            <a:endParaRPr lang="en-US" sz="135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1350" dirty="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5 Lesson 6: She Told Me to Call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