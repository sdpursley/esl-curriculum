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1017" r:id="rId32"/>
    <p:sldId id="1018" r:id="rId21"/>
    <p:sldId id="1019" r:id="rId19"/>
    <p:sldId id="1020" r:id="rId15"/>
    <p:sldId id="1021" r:id="rId37"/>
    <p:sldId id="1022" r:id="rId38"/>
    <p:sldId id="1023" r:id="rId39"/>
    <p:sldId id="1024" r:id="rId40"/>
    <p:sldId id="1025" r:id="rId41"/>
    <p:sldId id="1026" r:id="rId42"/>
    <p:sldId id="1027" r:id="rId43"/>
    <p:sldId id="1028" r:id="rId44"/>
    <p:sldId id="1029" r:id="rId45"/>
    <p:sldId id="1030" r:id="rId46"/>
    <p:sldId id="1031" r:id="rId47"/>
    <p:sldId id="1032" r:id="rId48"/>
    <p:sldId id="1033" r:id="rId49"/>
    <p:sldId id="1034" r:id="rId50"/>
    <p:sldId id="1035" r:id="rId51"/>
    <p:sldId id="1036" r:id="rId52"/>
    <p:sldId id="1037" r:id="rId53"/>
    <p:sldId id="1038" r:id="rId54"/>
    <p:sldId id="1039" r:id="rId55"/>
    <p:sldId id="1040" r:id="rId56"/>
    <p:sldId id="1041" r:id="rId9"/>
    <p:sldId id="1042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This lesson is not financial advice.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yes</a:t>
            </a:r>
          </a:p>
          <a:p>
            <a:r>
              <a:t>2. a receipt</a:t>
            </a:r>
          </a:p>
          <a:p>
            <a:r>
              <a:t>3. credit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Diego calls customer service about a statement.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on Tuesday • 2 on Friday • 3 $6 • 4 money back • 5 $0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was added • 2 was received • 3 was posted • 4 is mailed • 5 are listed • 6 wasn't removed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is, are, was, were.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add by when you need the name.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yes and no.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start with the thing.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added • 2 received • 3 posted • 4 mailed • 5 listed • 6 high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was added • 2 was received • 3 posted the payment • 4 by the phone company • 5 Yes, they are • 6 No, it wasn't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says a line from the statement. B says it again with was or were and a participle. Then switch. ---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On Tuesday • 2 On Friday • 3 $6 • 4 Money back • 5 $0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Explain one line from a statement.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Statement: a page and a dollar bill [sign: STATEMENT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5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Posted on Tuesday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is done with is or are and was or were plus a participle.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add by when the doer matters.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find the amount due, the due date, and one charge.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is done with is or are and was or were plus a participle.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add by when the doer matters.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find the amount due, the due date, and one charge.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 three-line budget with invented numbers.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Charge: money with wings [sign: CHARG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Ask about a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mild regret from last week. Then switch.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sentence from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note.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Ask about a mild regret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from last week. Then switch.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one I wish I had sentence from Lesson 3.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one next step you wrote.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wish was about now?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sentence from your note.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Statement: a page and a dollar bill [sign: STATEMENT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statement</a:t>
            </a:r>
            <a:endParaRPr lang="en-US" sz="2000" dirty="0" b="1"/>
          </a:p>
        </p:txBody>
      </p:sp>
      <p:pic>
        <p:nvPicPr>
          <p:cNvPr id="19" name="Word picture 2" descr="Charge: money with wings [sign: CHARG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charge</a:t>
            </a:r>
            <a:endParaRPr lang="en-US" sz="2000" dirty="0" b="1"/>
          </a:p>
        </p:txBody>
      </p:sp>
      <p:pic>
        <p:nvPicPr>
          <p:cNvPr id="21" name="Word picture 3" descr="Payment: a dollar bill with a green check [sign: PAID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payment</a:t>
            </a:r>
            <a:endParaRPr lang="en-US" sz="2000" dirty="0" b="1"/>
          </a:p>
        </p:txBody>
      </p:sp>
      <p:pic>
        <p:nvPicPr>
          <p:cNvPr id="23" name="Word picture 4" descr="Balance: a money bag [sign: BALANCE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balance</a:t>
            </a:r>
            <a:endParaRPr lang="en-US" sz="2000" dirty="0" b="1"/>
          </a:p>
        </p:txBody>
      </p:sp>
      <p:pic>
        <p:nvPicPr>
          <p:cNvPr id="25" name="Word picture 5" descr="Fee: a large dollar sign [sign: FEE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fee</a:t>
            </a:r>
            <a:endParaRPr lang="en-US" sz="2000" dirty="0" b="1"/>
          </a:p>
        </p:txBody>
      </p:sp>
      <p:pic>
        <p:nvPicPr>
          <p:cNvPr id="27" name="Word picture 6" descr="Receipt: a receipt [sign: RECEIPT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receipt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 and say the word</a:t>
            </a:r>
            <a:endParaRPr lang="en-US" sz="2200" dirty="0" b="1"/>
          </a:p>
        </p:txBody>
      </p:sp>
      <p:pic>
        <p:nvPicPr>
          <p:cNvPr id="17" name="Word picture 1" descr="Refund: a dollar bill and a BACK arrow [sign: REFUND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refund</a:t>
            </a:r>
            <a:endParaRPr lang="en-US" sz="2000" dirty="0" b="1"/>
          </a:p>
        </p:txBody>
      </p:sp>
      <p:pic>
        <p:nvPicPr>
          <p:cNvPr id="19" name="Word picture 2" descr="Budget: a bar chart [sign: BUDGET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budget</a:t>
            </a:r>
            <a:endParaRPr lang="en-US" sz="2000" dirty="0" b="1"/>
          </a:p>
        </p:txBody>
      </p:sp>
      <p:pic>
        <p:nvPicPr>
          <p:cNvPr id="21" name="Word picture 3" descr="Deposit: a bank and a money bag [sign: DEPOSIT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deposit</a:t>
            </a:r>
            <a:endParaRPr lang="en-US" sz="2000" dirty="0" b="1"/>
          </a:p>
        </p:txBody>
      </p:sp>
      <p:pic>
        <p:nvPicPr>
          <p:cNvPr id="23" name="Word picture 4" descr="Due date: a calendar [sign: DUE DATE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due date</a:t>
            </a:r>
            <a:endParaRPr lang="en-US" sz="2000" dirty="0" b="1"/>
          </a:p>
        </p:txBody>
      </p:sp>
      <p:pic>
        <p:nvPicPr>
          <p:cNvPr id="25" name="Word picture 5" descr="Account number: the numbers 1, 2, 3, and 4 [sign: ACCT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account number</a:t>
            </a:r>
            <a:endParaRPr lang="en-US" sz="1500" dirty="0" b="1"/>
          </a:p>
        </p:txBody>
      </p:sp>
      <p:pic>
        <p:nvPicPr>
          <p:cNvPr id="27" name="Word picture 6" descr="Credit: a page and a dollar bill with a green check [sign: MONEY BACK]. Money back on a statement, not a loan.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statement a bill you can read?</a:t>
            </a:r>
            <a:endParaRPr lang="en-US" sz="1600" dirty="0" b="1"/>
          </a:p>
        </p:txBody>
      </p:sp>
      <p:pic>
        <p:nvPicPr>
          <p:cNvPr id="101" name="R1 pic" descr="Statement: a page and a dollar bill [sign: STATEMENT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keep to show you paid?</a:t>
            </a:r>
            <a:endParaRPr lang="en-US" sz="1600" dirty="0" b="1"/>
          </a:p>
        </p:txBody>
      </p:sp>
      <p:pic>
        <p:nvPicPr>
          <p:cNvPr id="102" name="R2 pic" descr="Receipt: a receipt [sign: RECEIPT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word means money back on this page?</a:t>
            </a:r>
            <a:endParaRPr lang="en-US" sz="1600" dirty="0" b="1"/>
          </a:p>
        </p:txBody>
      </p:sp>
      <p:pic>
        <p:nvPicPr>
          <p:cNvPr id="103" name="R3 pic" descr="Credit: a page and a dollar bill with a green check [sign: MONEY BACK]. Money back on a statement, not a loan.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receipt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Diego calls customer service about a statement.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Payment: a dollar bill with a green check [sign: PAI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Diego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Brooks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Why is he calling?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6:12–6:32 | Listening.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1:43.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Why is he calling?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The store is closed</a:t>
            </a:r>
            <a:endParaRPr lang="en-US" sz="13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A fee was added, and a payment was posted</a:t>
            </a:r>
            <a:endParaRPr lang="en-US" sz="13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His phone was lost</a:t>
            </a:r>
            <a:endParaRPr lang="en-US" sz="13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Circle the amount or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day.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1. The fee was added</a:t>
            </a:r>
            <a:endParaRPr lang="en-US" sz="1300" dirty="0"/>
          </a:p>
        </p:txBody>
      </p:sp>
      <p:sp>
        <p:nvSpPr>
          <p:cNvPr id="9" name="R1 opt1"/>
          <p:cNvSpPr/>
          <p:nvPr/>
        </p:nvSpPr>
        <p:spPr>
          <a:xfrm>
            <a:off x="5166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Tuesday</a:t>
            </a:r>
            <a:endParaRPr lang="en-US" sz="1200" dirty="0" b="1"/>
          </a:p>
        </p:txBody>
      </p:sp>
      <p:sp>
        <p:nvSpPr>
          <p:cNvPr id="10" name="R1 opt2"/>
          <p:cNvSpPr/>
          <p:nvPr/>
        </p:nvSpPr>
        <p:spPr>
          <a:xfrm>
            <a:off x="7452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Friday</a:t>
            </a:r>
            <a:endParaRPr lang="en-US" sz="1200" dirty="0" b="1"/>
          </a:p>
        </p:txBody>
      </p:sp>
      <p:sp>
        <p:nvSpPr>
          <p:cNvPr id="11" name="R1 opt3"/>
          <p:cNvSpPr/>
          <p:nvPr/>
        </p:nvSpPr>
        <p:spPr>
          <a:xfrm>
            <a:off x="9738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May</a:t>
            </a:r>
            <a:endParaRPr lang="en-US" sz="1200" dirty="0" b="1"/>
          </a:p>
        </p:txBody>
      </p:sp>
      <p:sp>
        <p:nvSpPr>
          <p:cNvPr id="12" name="R1 circle"/>
          <p:cNvSpPr/>
          <p:nvPr/>
        </p:nvSpPr>
        <p:spPr>
          <a:xfrm>
            <a:off x="5038344" y="3054096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3" name="R2 stmt"/>
          <p:cNvSpPr/>
          <p:nvPr/>
        </p:nvSpPr>
        <p:spPr>
          <a:xfrm>
            <a:off x="502920" y="3767328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2. The payment was received</a:t>
            </a:r>
            <a:endParaRPr lang="en-US" sz="1300" dirty="0"/>
          </a:p>
        </p:txBody>
      </p:sp>
      <p:sp>
        <p:nvSpPr>
          <p:cNvPr id="14" name="R2 opt1"/>
          <p:cNvSpPr/>
          <p:nvPr/>
        </p:nvSpPr>
        <p:spPr>
          <a:xfrm>
            <a:off x="5166360" y="3767328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Friday</a:t>
            </a:r>
            <a:endParaRPr lang="en-US" sz="1200" dirty="0" b="1"/>
          </a:p>
        </p:txBody>
      </p:sp>
      <p:sp>
        <p:nvSpPr>
          <p:cNvPr id="15" name="R2 opt2"/>
          <p:cNvSpPr/>
          <p:nvPr/>
        </p:nvSpPr>
        <p:spPr>
          <a:xfrm>
            <a:off x="7452360" y="3767328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Tuesday</a:t>
            </a:r>
            <a:endParaRPr lang="en-US" sz="1200" dirty="0" b="1"/>
          </a:p>
        </p:txBody>
      </p:sp>
      <p:sp>
        <p:nvSpPr>
          <p:cNvPr id="16" name="R2 opt3"/>
          <p:cNvSpPr/>
          <p:nvPr/>
        </p:nvSpPr>
        <p:spPr>
          <a:xfrm>
            <a:off x="9738360" y="3767328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yet</a:t>
            </a:r>
            <a:endParaRPr lang="en-US" sz="1200" dirty="0" b="1"/>
          </a:p>
        </p:txBody>
      </p:sp>
      <p:sp>
        <p:nvSpPr>
          <p:cNvPr id="17" name="R2 circle"/>
          <p:cNvSpPr/>
          <p:nvPr/>
        </p:nvSpPr>
        <p:spPr>
          <a:xfrm>
            <a:off x="5038344" y="3712464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8" name="R3 stmt"/>
          <p:cNvSpPr/>
          <p:nvPr/>
        </p:nvSpPr>
        <p:spPr>
          <a:xfrm>
            <a:off x="502920" y="4425696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3. The fee was</a:t>
            </a:r>
            <a:endParaRPr lang="en-US" sz="1300" dirty="0"/>
          </a:p>
        </p:txBody>
      </p:sp>
      <p:sp>
        <p:nvSpPr>
          <p:cNvPr id="19" name="R3 opt1"/>
          <p:cNvSpPr/>
          <p:nvPr/>
        </p:nvSpPr>
        <p:spPr>
          <a:xfrm>
            <a:off x="5166360" y="442569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$6</a:t>
            </a:r>
            <a:endParaRPr lang="en-US" sz="1200" dirty="0" b="1"/>
          </a:p>
        </p:txBody>
      </p:sp>
      <p:sp>
        <p:nvSpPr>
          <p:cNvPr id="20" name="R3 opt2"/>
          <p:cNvSpPr/>
          <p:nvPr/>
        </p:nvSpPr>
        <p:spPr>
          <a:xfrm>
            <a:off x="7452360" y="442569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$60</a:t>
            </a:r>
            <a:endParaRPr lang="en-US" sz="1200" dirty="0" b="1"/>
          </a:p>
        </p:txBody>
      </p:sp>
      <p:sp>
        <p:nvSpPr>
          <p:cNvPr id="21" name="R3 opt3"/>
          <p:cNvSpPr/>
          <p:nvPr/>
        </p:nvSpPr>
        <p:spPr>
          <a:xfrm>
            <a:off x="9738360" y="442569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$600</a:t>
            </a:r>
            <a:endParaRPr lang="en-US" sz="1200" dirty="0" b="1"/>
          </a:p>
        </p:txBody>
      </p:sp>
      <p:sp>
        <p:nvSpPr>
          <p:cNvPr id="22" name="R3 circle"/>
          <p:cNvSpPr/>
          <p:nvPr/>
        </p:nvSpPr>
        <p:spPr>
          <a:xfrm>
            <a:off x="5038344" y="4370832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R4 stmt"/>
          <p:cNvSpPr/>
          <p:nvPr/>
        </p:nvSpPr>
        <p:spPr>
          <a:xfrm>
            <a:off x="502920" y="5084064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4. Credit on this page means</a:t>
            </a:r>
            <a:endParaRPr lang="en-US" sz="1300" dirty="0"/>
          </a:p>
        </p:txBody>
      </p:sp>
      <p:sp>
        <p:nvSpPr>
          <p:cNvPr id="24" name="R4 opt1"/>
          <p:cNvSpPr/>
          <p:nvPr/>
        </p:nvSpPr>
        <p:spPr>
          <a:xfrm>
            <a:off x="5166360" y="508406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money back</a:t>
            </a:r>
            <a:endParaRPr lang="en-US" sz="1200" dirty="0" b="1"/>
          </a:p>
        </p:txBody>
      </p:sp>
      <p:sp>
        <p:nvSpPr>
          <p:cNvPr id="25" name="R4 opt2"/>
          <p:cNvSpPr/>
          <p:nvPr/>
        </p:nvSpPr>
        <p:spPr>
          <a:xfrm>
            <a:off x="7452360" y="508406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new phone</a:t>
            </a:r>
            <a:endParaRPr lang="en-US" sz="1200" dirty="0" b="1"/>
          </a:p>
        </p:txBody>
      </p:sp>
      <p:sp>
        <p:nvSpPr>
          <p:cNvPr id="26" name="R4 opt3"/>
          <p:cNvSpPr/>
          <p:nvPr/>
        </p:nvSpPr>
        <p:spPr>
          <a:xfrm>
            <a:off x="9738360" y="508406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late day</a:t>
            </a:r>
            <a:endParaRPr lang="en-US" sz="1200" dirty="0" b="1"/>
          </a:p>
        </p:txBody>
      </p:sp>
      <p:sp>
        <p:nvSpPr>
          <p:cNvPr id="27" name="R4 circle"/>
          <p:cNvSpPr/>
          <p:nvPr/>
        </p:nvSpPr>
        <p:spPr>
          <a:xfrm>
            <a:off x="5038344" y="5029200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5 stmt"/>
          <p:cNvSpPr/>
          <p:nvPr/>
        </p:nvSpPr>
        <p:spPr>
          <a:xfrm>
            <a:off x="502920" y="5742432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5. Due today</a:t>
            </a:r>
            <a:endParaRPr lang="en-US" sz="1300" dirty="0"/>
          </a:p>
        </p:txBody>
      </p:sp>
      <p:sp>
        <p:nvSpPr>
          <p:cNvPr id="29" name="R5 opt1"/>
          <p:cNvSpPr/>
          <p:nvPr/>
        </p:nvSpPr>
        <p:spPr>
          <a:xfrm>
            <a:off x="5166360" y="57424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$0</a:t>
            </a:r>
            <a:endParaRPr lang="en-US" sz="1200" dirty="0" b="1"/>
          </a:p>
        </p:txBody>
      </p:sp>
      <p:sp>
        <p:nvSpPr>
          <p:cNvPr id="30" name="R5 opt2"/>
          <p:cNvSpPr/>
          <p:nvPr/>
        </p:nvSpPr>
        <p:spPr>
          <a:xfrm>
            <a:off x="7452360" y="57424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$40</a:t>
            </a:r>
            <a:endParaRPr lang="en-US" sz="1200" dirty="0" b="1"/>
          </a:p>
        </p:txBody>
      </p:sp>
      <p:sp>
        <p:nvSpPr>
          <p:cNvPr id="31" name="R5 opt3"/>
          <p:cNvSpPr/>
          <p:nvPr/>
        </p:nvSpPr>
        <p:spPr>
          <a:xfrm>
            <a:off x="9738360" y="57424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$90</a:t>
            </a:r>
            <a:endParaRPr lang="en-US" sz="1200" dirty="0" b="1"/>
          </a:p>
        </p:txBody>
      </p:sp>
      <p:sp>
        <p:nvSpPr>
          <p:cNvPr id="32" name="R5 circle"/>
          <p:cNvSpPr/>
          <p:nvPr/>
        </p:nvSpPr>
        <p:spPr>
          <a:xfrm>
            <a:off x="5038344" y="5687568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the pass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35844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fee ______ on Tuesday.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468112" y="2222144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added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35844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payment ______ on Friday.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468112" y="2950312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received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35844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credit ______ by the phone company.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468112" y="3678479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posted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35844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bill ______ on the first of the month.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468112" y="4406646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mailed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35844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calls ______ on the statement.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468112" y="5134813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listed</a:t>
            </a:r>
            <a:endParaRPr lang="en-US" sz="14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35844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 fee ______.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468112" y="5862980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wasn't removed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understand this statement.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check the due date.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fee was added on Tuesday.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payment was received on Friday.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Balance: a money bag [sign: BALANC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is, are, was, were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FORM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bill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mailed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the first.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present passive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fee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added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Tuesday.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past passive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payment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received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Friday.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past passive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Fee: a large dollar sign [sign: FE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add by when you need the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credit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posted by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phone company.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names the doer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fee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added by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company.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by when you need the name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payment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received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by: start with the thing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eceipt: a receipt [sign: RECEIP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 and no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calls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they are.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fee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removed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it wasn't.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payment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received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it was.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efund: a dollar bill and a BACK arrow [sign: REFUN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 with the thing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THIS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THIS IDEA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fee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too high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review line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payment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posted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 with the thing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company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posted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payment.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active, when the person matters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fee was ______ on Tuesday.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added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payment was ______ on Friday.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received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credit was ______ by the phone company.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posted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bill is ______ on the first.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mailed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calls are ______.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listed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fee is too ______.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high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The fee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7022592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added</a:t>
            </a:r>
            <a:endParaRPr lang="en-US" sz="1300" dirty="0" b="1"/>
          </a:p>
        </p:txBody>
      </p:sp>
      <p:sp>
        <p:nvSpPr>
          <p:cNvPr id="10" name="R1 opt2"/>
          <p:cNvSpPr/>
          <p:nvPr/>
        </p:nvSpPr>
        <p:spPr>
          <a:xfrm>
            <a:off x="937260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add</a:t>
            </a:r>
            <a:endParaRPr lang="en-US" sz="1300" dirty="0" b="1"/>
          </a:p>
        </p:txBody>
      </p:sp>
      <p:sp>
        <p:nvSpPr>
          <p:cNvPr id="11" name="R1 circle"/>
          <p:cNvSpPr/>
          <p:nvPr/>
        </p:nvSpPr>
        <p:spPr>
          <a:xfrm>
            <a:off x="6894576" y="30540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The payment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7022592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received</a:t>
            </a:r>
            <a:endParaRPr lang="en-US" sz="1300" dirty="0" b="1"/>
          </a:p>
        </p:txBody>
      </p:sp>
      <p:sp>
        <p:nvSpPr>
          <p:cNvPr id="14" name="R2 opt2"/>
          <p:cNvSpPr/>
          <p:nvPr/>
        </p:nvSpPr>
        <p:spPr>
          <a:xfrm>
            <a:off x="937260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received</a:t>
            </a:r>
            <a:endParaRPr lang="en-US" sz="1300" dirty="0" b="1"/>
          </a:p>
        </p:txBody>
      </p:sp>
      <p:sp>
        <p:nvSpPr>
          <p:cNvPr id="15" name="R2 circle"/>
          <p:cNvSpPr/>
          <p:nvPr/>
        </p:nvSpPr>
        <p:spPr>
          <a:xfrm>
            <a:off x="6894576" y="360273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The company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7022592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posted the payment</a:t>
            </a:r>
            <a:endParaRPr lang="en-US" sz="1300" dirty="0" b="1"/>
          </a:p>
        </p:txBody>
      </p:sp>
      <p:sp>
        <p:nvSpPr>
          <p:cNvPr id="18" name="R3 opt2"/>
          <p:cNvSpPr/>
          <p:nvPr/>
        </p:nvSpPr>
        <p:spPr>
          <a:xfrm>
            <a:off x="937260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posted the payment</a:t>
            </a:r>
            <a:endParaRPr lang="en-US" sz="1300" dirty="0" b="1"/>
          </a:p>
        </p:txBody>
      </p:sp>
      <p:sp>
        <p:nvSpPr>
          <p:cNvPr id="19" name="R3 circle"/>
          <p:cNvSpPr/>
          <p:nvPr/>
        </p:nvSpPr>
        <p:spPr>
          <a:xfrm>
            <a:off x="6894576" y="415137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The credit was posted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7022592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phone company</a:t>
            </a:r>
            <a:endParaRPr lang="en-US" sz="1300" dirty="0" b="1"/>
          </a:p>
        </p:txBody>
      </p:sp>
      <p:sp>
        <p:nvSpPr>
          <p:cNvPr id="22" name="R4 opt2"/>
          <p:cNvSpPr/>
          <p:nvPr/>
        </p:nvSpPr>
        <p:spPr>
          <a:xfrm>
            <a:off x="937260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the phone company</a:t>
            </a:r>
            <a:endParaRPr lang="en-US" sz="1300" dirty="0" b="1"/>
          </a:p>
        </p:txBody>
      </p:sp>
      <p:sp>
        <p:nvSpPr>
          <p:cNvPr id="23" name="R4 circle"/>
          <p:cNvSpPr/>
          <p:nvPr/>
        </p:nvSpPr>
        <p:spPr>
          <a:xfrm>
            <a:off x="6894576" y="470001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Are the calls listed?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7022592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they are.</a:t>
            </a:r>
            <a:endParaRPr lang="en-US" sz="1300" dirty="0" b="1"/>
          </a:p>
        </p:txBody>
      </p:sp>
      <p:sp>
        <p:nvSpPr>
          <p:cNvPr id="26" name="R5 opt2"/>
          <p:cNvSpPr/>
          <p:nvPr/>
        </p:nvSpPr>
        <p:spPr>
          <a:xfrm>
            <a:off x="937260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they listed.</a:t>
            </a:r>
            <a:endParaRPr lang="en-US" sz="1300" dirty="0" b="1"/>
          </a:p>
        </p:txBody>
      </p:sp>
      <p:sp>
        <p:nvSpPr>
          <p:cNvPr id="27" name="R5 circle"/>
          <p:cNvSpPr/>
          <p:nvPr/>
        </p:nvSpPr>
        <p:spPr>
          <a:xfrm>
            <a:off x="6894576" y="524865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Was the fee removed?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7022592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it wasn't.</a:t>
            </a:r>
            <a:endParaRPr lang="en-US" sz="1300" dirty="0" b="1"/>
          </a:p>
        </p:txBody>
      </p:sp>
      <p:sp>
        <p:nvSpPr>
          <p:cNvPr id="30" name="R6 opt2"/>
          <p:cNvSpPr/>
          <p:nvPr/>
        </p:nvSpPr>
        <p:spPr>
          <a:xfrm>
            <a:off x="937260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it didn't.</a:t>
            </a:r>
            <a:endParaRPr lang="en-US" sz="1300" dirty="0" b="1"/>
          </a:p>
        </p:txBody>
      </p:sp>
      <p:sp>
        <p:nvSpPr>
          <p:cNvPr id="31" name="R6 circle"/>
          <p:cNvSpPr/>
          <p:nvPr/>
        </p:nvSpPr>
        <p:spPr>
          <a:xfrm>
            <a:off x="6894576" y="57972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Budget: a bar chart [sign: BUDGE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fee was add on Tuesday.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fee was added on Tuesday.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2987399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company was posted the payment.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2987399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payment was posted.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505917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credit was posted for the company.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505917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credit was posted by the company.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Deposit: a bank and a money bag [sign: DEPOSI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 a line from the statement.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says it again with was or were and a participle.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Fee: a large dollar sign [sign: FE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charged?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was the payment received?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Refund: a dollar bill and a BACK arrow [sign: REFUN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Money in, two bills, and what is left.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rent was paid.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1330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was the fee added?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52557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Tuesday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41330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was the payment received?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3311957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Friday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41330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much was the fee?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4098341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$6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41330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credit mean here?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884725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Money back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41330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due today?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67110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$0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Due date: a calendar [sign: DUE DAT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Explain one line from a statement.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two passive sentences, and say one reason you would call the company.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two passive sentences about the practice statement.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the note and the three-line budget. This is writing check 2.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Read one passive sentence to a friend.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I wish I had. Write one sentence from Lesson 3.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Account number: the numbers 1, 2, 3, and 4 [sign: ACCT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5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is done with is or are and was or were plus a participle.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add by when the doer matters.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find the amount due, the due date, and one charge.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Diego and Ms. Brooks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5: It Was Posted on Tuesday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