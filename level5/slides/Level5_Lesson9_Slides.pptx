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939" r:id="rId33"/>
    <p:sldId id="940" r:id="rId34"/>
    <p:sldId id="941" r:id="rId35"/>
    <p:sldId id="942" r:id="rId36"/>
    <p:sldId id="943" r:id="rId31"/>
    <p:sldId id="944" r:id="rId30"/>
    <p:sldId id="945" r:id="rId29"/>
    <p:sldId id="946" r:id="rId28"/>
    <p:sldId id="947" r:id="rId27"/>
    <p:sldId id="948" r:id="rId20"/>
    <p:sldId id="949" r:id="rId18"/>
    <p:sldId id="950" r:id="rId17"/>
    <p:sldId id="951" r:id="rId16"/>
    <p:sldId id="952" r:id="rId14"/>
    <p:sldId id="953" r:id="rId13"/>
    <p:sldId id="954" r:id="rId12"/>
    <p:sldId id="955" r:id="rId11"/>
    <p:sldId id="956" r:id="rId10"/>
    <p:sldId id="957" r:id="rId8"/>
    <p:sldId id="958" r:id="rId7"/>
    <p:sldId id="959" r:id="rId6"/>
    <p:sldId id="960" r:id="rId5"/>
    <p:sldId id="961" r:id="rId4"/>
    <p:sldId id="962" r:id="rId3"/>
    <p:sldId id="963" r:id="rId57"/>
    <p:sldId id="964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2:20)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and homework. Never skip the exit ticket.</a:t>
            </a:r>
          </a:p>
          <a:p>
            <a:r>
              <a:t>How can you tell that a page might be wrong?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7:18–7:25 · Read &amp; Write.</a:t>
            </a:r>
          </a:p>
          <a:p>
            <a:r>
              <a:t>Click to show each answer: 1 The library's page • 2 Thursday at 6:30 • 3 Thursday at 8:00 • 4 The library's page • 5 The author and the date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only these pages. | Page 1 · City bus notice | Page 2 · Amazing deal | Page 3 · Neighborhood post | |---|---|---| | Author: the city bus office. Date: this week. Logo: the city bus logo. The evening bus still stops</a:t>
            </a:r>
          </a:p>
          <a:p>
            <a:r>
              <a:t>Break · 6:45–7:00.</a:t>
            </a:r>
          </a:p>
          <a:p>
            <a:r>
              <a:t>Lesson plan: Step 4: Pair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Don't say, then Say. Learners try first. Then click.</a:t>
            </a:r>
          </a:p>
          <a:p>
            <a:r>
              <a:t>Lesson plan: Grammar: Common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must be • 2 can't be • 3 might be • 4 must be • 5 be • 6 not possible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must • 2 might • 3 can't • 4 might • 5 can't • 6 must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4: how sure?. Each click shows the answer side.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3: can't be. Each click shows the answer side.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2: might be. Each click shows the answer side.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1: must be. Each click shows the answer side.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gonna and wanna are short forms. This listening uses the full forms. Say each line two times.</a:t>
            </a:r>
          </a:p>
          <a:p>
            <a:r>
              <a:t>Lesson plan: Step 3: Hear it,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might • 2 might • 3 can't • 4 must • 5 must • 6 can't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no • 2 no • 3 matches • 4 open • 5 he does not share it • 6 it is not a fact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b.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6:12–6:32 · Listening. Play 1 is Task A. Play 2 is Tasks B and C. A third play is fine.</a:t>
            </a:r>
          </a:p>
          <a:p>
            <a:r>
              <a:t>Noah shows Aisha a post.</a:t>
            </a:r>
          </a:p>
          <a:p>
            <a:r>
              <a:t>The script says going to and want to. Learners only need to recognize gonna and wanna.</a:t>
            </a:r>
          </a:p>
          <a:p>
            <a:r>
              <a:t>Lesson plan: Step 3;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nine. Noah shows Aisha a post. The post says their grocery store is closing. They want to check the source.</a:t>
            </a:r>
          </a:p>
          <a:p>
            <a:r>
              <a:t>Noah: Aisha, look at this post. It says our grocery store is closing on Friday.</a:t>
            </a:r>
          </a:p>
          <a:p>
            <a:r>
              <a:t>Aisha: Do you know who wrote it? I don't see an author.</a:t>
            </a:r>
          </a:p>
          <a:p>
            <a:r>
              <a:t>Noah: There is no author. And I don't see a date stamp.</a:t>
            </a:r>
          </a:p>
          <a:p>
            <a:r>
              <a:t>Aisha: Then it might be old. It might be a rumor. I'm going to look for the store's own page.</a:t>
            </a:r>
          </a:p>
          <a:p>
            <a:r>
              <a:t>Noah: Here it is. The logo matches our store.</a:t>
            </a:r>
          </a:p>
          <a:p>
            <a:r>
              <a:t>Aisha: What does that page say?</a:t>
            </a:r>
          </a:p>
          <a:p>
            <a:r>
              <a:t>Noah: It says the store is open. The hours are the same.</a:t>
            </a:r>
          </a:p>
          <a:p>
            <a:r>
              <a:t>Aisha: Then the closing post can't be true. It must be a rumor.</a:t>
            </a:r>
          </a:p>
          <a:p>
            <a:r>
              <a:t>Noah: The post has a share button. I was going to share it.</a:t>
            </a:r>
          </a:p>
          <a:p>
            <a:r>
              <a:t>Aisha: Don't share it yet. We want to check a second source first.</a:t>
            </a:r>
          </a:p>
          <a:p>
            <a:r>
              <a:t>Noah: The store page names the author. The author is the store. The date is this week.</a:t>
            </a:r>
          </a:p>
          <a:p>
            <a:r>
              <a:t>Aisha: That page must be the one we trust. The first post has no author and no date.</a:t>
            </a:r>
          </a:p>
          <a:p>
            <a:r>
              <a:t>Noah: So the store isn't closing. I'm not going to share the post.</a:t>
            </a:r>
          </a:p>
          <a:p>
            <a:r>
              <a:t>Aisha: Good. It can't be a fact when the store's own page says the opposite.</a:t>
            </a:r>
          </a:p>
          <a:p>
            <a:r>
              <a:t>Noah: There is a comment under the post, but the comment has no source.</a:t>
            </a:r>
          </a:p>
          <a:p>
            <a:r>
              <a:t>Aisha: A comment is not a fact. It might be someone's guess.</a:t>
            </a:r>
          </a:p>
          <a:p>
            <a:r>
              <a:t>Noah: I see. A reliable page names the author and the date.</a:t>
            </a:r>
          </a:p>
          <a:p>
            <a:r>
              <a:t>Aisha: Yes. And it matches a second source. This one does.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answers are hidden. Ask, then click.</a:t>
            </a:r>
          </a:p>
          <a:p>
            <a:r>
              <a:t>1. an ad</a:t>
            </a:r>
          </a:p>
          <a:p>
            <a:r>
              <a:t>2. the author</a:t>
            </a:r>
          </a:p>
          <a:p>
            <a:r>
              <a:t>3. the date stamp</a:t>
            </a:r>
          </a:p>
          <a:p>
            <a:r>
              <a:t>Lesson plan: Step 2: Check the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points to a picture. B names it and uses it in one sentence. Then switch.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6:06–6:12 · New Words.</a:t>
            </a:r>
          </a:p>
          <a:p>
            <a:r>
              <a:t>Point to each picture. Learners repeat. ★ = most important.</a:t>
            </a:r>
          </a:p>
          <a:p>
            <a:r>
              <a:t>Lesson plan: Step 2;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Read the three lines under Today you will.</a:t>
            </a:r>
          </a:p>
          <a:p>
            <a:r>
              <a:t>Lesson plan: Topic; At a glance: Objectives.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6:00–6:06 · Opening Talk.</a:t>
            </a:r>
          </a:p>
          <a:p>
            <a:r>
              <a:t>Work with a partner.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shows the next card.</a:t>
            </a:r>
          </a:p>
          <a:p>
            <a:r>
              <a:t>A asks. B answers. Then switch.</a:t>
            </a:r>
          </a:p>
          <a:p>
            <a:r>
              <a:t>Lesson plan: Step 1; Opening Talk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Now you can lines.</a:t>
            </a:r>
          </a:p>
          <a:p>
            <a:r>
              <a:t>Homework is about 20–25 minutes. Bring it next week.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6" Type="http://schemas.openxmlformats.org/officeDocument/2006/relationships/image" Target="../media/image15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Website: a globe and a laptop [sign: WEB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9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Must Be an Ad</a:t>
            </a:r>
            <a:endParaRPr lang="en-US" sz="4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how sure I am with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and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name two clues (author, date, ad, a mismatch).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what I would do before I believed the page.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things.</a:t>
            </a:r>
            <a:endParaRPr lang="en-US" sz="2000" dirty="0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713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6883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how sure I am with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and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5750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5750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90876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5750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name two clues (author, date, ad, a mismatch).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9100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7954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7954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712921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7954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I would do before I believed the page.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81304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01591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0159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3496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01591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tell a classmate, with a reason.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350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Source: a stack of books [sign: SOURC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Do you</a:t>
            </a:r>
            <a:endParaRPr lang="en-US" sz="18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know if…? B keeps statement order and reports one answer. Then compare one homework sentence.</a:t>
            </a:r>
            <a:endParaRPr lang="en-US" sz="1800" dirty="0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read one indirect question</a:t>
            </a:r>
            <a:endParaRPr lang="en-US" sz="18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from your email.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Do you know if…? B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keeps statement order and reports one answer. Then compare one homework sentence.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Ask: Do you know if the office is open?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Keep statement order. Not: if is the office open.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Report the answer: He said… / He told me…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read one indirect question from your email.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Website: a globe and a laptop [sign: WEB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website</a:t>
            </a:r>
            <a:endParaRPr lang="en-US" sz="2000" dirty="0" b="1"/>
          </a:p>
        </p:txBody>
      </p:sp>
      <p:pic>
        <p:nvPicPr>
          <p:cNvPr id="19" name="Word picture 2" descr="Source: a stack of books [sign: SOURCE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source</a:t>
            </a:r>
            <a:endParaRPr lang="en-US" sz="2000" dirty="0" b="1"/>
          </a:p>
        </p:txBody>
      </p:sp>
      <p:pic>
        <p:nvPicPr>
          <p:cNvPr id="21" name="Word picture 3" descr="Author: a writing hand and a person [sign: AUTHOR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author</a:t>
            </a:r>
            <a:endParaRPr lang="en-US" sz="2000" dirty="0" b="1"/>
          </a:p>
        </p:txBody>
      </p:sp>
      <p:pic>
        <p:nvPicPr>
          <p:cNvPr id="23" name="Word picture 4" descr="Advertisement: a megaphone and a shopping cart [sign: AD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advertisement</a:t>
            </a:r>
            <a:endParaRPr lang="en-US" sz="1500" dirty="0" b="1"/>
          </a:p>
        </p:txBody>
      </p:sp>
      <p:pic>
        <p:nvPicPr>
          <p:cNvPr id="25" name="Word picture 5" descr="Screenshot: a laptop and a camera [sign: SCREEN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screenshot</a:t>
            </a:r>
            <a:endParaRPr lang="en-US" sz="2000" dirty="0" b="1"/>
          </a:p>
        </p:txBody>
      </p:sp>
      <p:pic>
        <p:nvPicPr>
          <p:cNvPr id="27" name="Word picture 6" descr="Fact: a page and a check mark [sign: FACT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fact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Must, might, or can't?</a:t>
            </a:r>
            <a:endParaRPr lang="en-US" sz="2200" dirty="0" b="1"/>
          </a:p>
        </p:txBody>
      </p:sp>
      <p:pic>
        <p:nvPicPr>
          <p:cNvPr id="17" name="Word picture 1" descr="Rumor: a speech balloon and a question mark [sign: RUMOR?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rumor</a:t>
            </a:r>
            <a:endParaRPr lang="en-US" sz="2000" dirty="0" b="1"/>
          </a:p>
        </p:txBody>
      </p:sp>
      <p:pic>
        <p:nvPicPr>
          <p:cNvPr id="19" name="Word picture 2" descr="Date stamp: a tear-off calendar [sign: 2019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date stamp</a:t>
            </a:r>
            <a:endParaRPr lang="en-US" sz="2000" dirty="0" b="1"/>
          </a:p>
        </p:txBody>
      </p:sp>
      <p:pic>
        <p:nvPicPr>
          <p:cNvPr id="21" name="Word picture 3" descr="Logo: a label and an office building [sign: LOGO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logo</a:t>
            </a:r>
            <a:endParaRPr lang="en-US" sz="2000" dirty="0" b="1"/>
          </a:p>
        </p:txBody>
      </p:sp>
      <p:pic>
        <p:nvPicPr>
          <p:cNvPr id="23" name="Word picture 4" descr="Comment: a speech balloon [sign: COMMENT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comment</a:t>
            </a:r>
            <a:endParaRPr lang="en-US" sz="2000" dirty="0" b="1"/>
          </a:p>
        </p:txBody>
      </p:sp>
      <p:pic>
        <p:nvPicPr>
          <p:cNvPr id="25" name="Word picture 5" descr="Reliable: a shield and a check mark [sign: SURE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reliable</a:t>
            </a:r>
            <a:endParaRPr lang="en-US" sz="2000" dirty="0" b="1"/>
          </a:p>
        </p:txBody>
      </p:sp>
      <p:pic>
        <p:nvPicPr>
          <p:cNvPr id="27" name="Word picture 6" descr="Share button: a link and a right arrow [sign: SHARE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share button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page with Buy now is what?</a:t>
            </a:r>
            <a:endParaRPr lang="en-US" sz="1600" dirty="0" b="1"/>
          </a:p>
        </p:txBody>
      </p:sp>
      <p:pic>
        <p:nvPicPr>
          <p:cNvPr id="101" name="R1 pic" descr="Website: a globe and a laptop [sign: WEB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Who writes a page?</a:t>
            </a:r>
            <a:endParaRPr lang="en-US" sz="1600" dirty="0" b="1"/>
          </a:p>
        </p:txBody>
      </p:sp>
      <p:pic>
        <p:nvPicPr>
          <p:cNvPr id="102" name="R2 pic" descr="Author: a writing hand and a person [sign: AUTHOR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shows how old a page is?</a:t>
            </a:r>
            <a:endParaRPr lang="en-US" sz="1600" dirty="0" b="1"/>
          </a:p>
        </p:txBody>
      </p:sp>
      <p:pic>
        <p:nvPicPr>
          <p:cNvPr id="103" name="R3 pic" descr="Date stamp: a tear-off calendar [sign: 2019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ad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author</a:t>
            </a:r>
            <a:endParaRPr lang="en-US" sz="22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date stamp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Noah shows Aisha a post.</a:t>
            </a:r>
            <a:endParaRPr lang="en-US" sz="18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Author: a writing hand and a person [sign: AUTHO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Noah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Aisha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Is the store closing?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| 6:12–6:32 | Listening: play 1 (Task A), play 2 (Tasks B and C) +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2:20):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Is the store closing?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453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2139696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Yes. It closes on Friday</a:t>
            </a:r>
            <a:endParaRPr lang="en-US" sz="1300" dirty="0" b="1"/>
          </a:p>
        </p:txBody>
      </p:sp>
      <p:sp>
        <p:nvSpPr>
          <p:cNvPr id="10" name="R1 opt2"/>
          <p:cNvSpPr/>
          <p:nvPr/>
        </p:nvSpPr>
        <p:spPr>
          <a:xfrm>
            <a:off x="5367528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No. The store's page says it is open</a:t>
            </a:r>
            <a:endParaRPr lang="en-US" sz="1300" dirty="0" b="1"/>
          </a:p>
        </p:txBody>
      </p:sp>
      <p:sp>
        <p:nvSpPr>
          <p:cNvPr id="11" name="R1 opt3"/>
          <p:cNvSpPr/>
          <p:nvPr/>
        </p:nvSpPr>
        <p:spPr>
          <a:xfrm>
            <a:off x="8595360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No one can tell</a:t>
            </a:r>
            <a:endParaRPr lang="en-US" sz="1300" dirty="0" b="1"/>
          </a:p>
        </p:txBody>
      </p:sp>
      <p:sp>
        <p:nvSpPr>
          <p:cNvPr id="12" name="R1 circle"/>
          <p:cNvSpPr/>
          <p:nvPr/>
        </p:nvSpPr>
        <p:spPr>
          <a:xfrm>
            <a:off x="5239512" y="3054096"/>
            <a:ext cx="34107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Listen again. Circle the clue.</a:t>
            </a:r>
            <a:endParaRPr lang="en-US" sz="16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Author on the post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7022592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37260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9244584" y="30540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Date stamp on the post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7022592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37260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9244584" y="360273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Store logo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7022592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matches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37260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different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6894576" y="415137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Store's own page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7022592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37260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closing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6894576" y="470001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The share button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7022592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shares it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37260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 does not share it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9244584" y="524865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The comment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7022592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is a fact</a:t>
            </a:r>
            <a:endParaRPr lang="en-US" sz="1600" dirty="0" b="1"/>
          </a:p>
        </p:txBody>
      </p:sp>
      <p:sp>
        <p:nvSpPr>
          <p:cNvPr id="30" name="R6 opt2"/>
          <p:cNvSpPr/>
          <p:nvPr/>
        </p:nvSpPr>
        <p:spPr>
          <a:xfrm>
            <a:off x="937260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is not a fact</a:t>
            </a:r>
            <a:endParaRPr lang="en-US" sz="1600" dirty="0" b="1"/>
          </a:p>
        </p:txBody>
      </p:sp>
      <p:sp>
        <p:nvSpPr>
          <p:cNvPr id="31" name="R6 circle"/>
          <p:cNvSpPr/>
          <p:nvPr/>
        </p:nvSpPr>
        <p:spPr>
          <a:xfrm>
            <a:off x="9244584" y="57972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Write must, mi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it ______ be old.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(First guess) It ______ be a rumor.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closing post ______ be true.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(After the store page) It ______ be a rumor.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 page ______ be the one we trust.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______ be a fact.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and wanna are short forms</a:t>
            </a:r>
            <a:endParaRPr lang="en-US" sz="16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use the full forms</a:t>
            </a:r>
            <a:endParaRPr lang="en-US" sz="16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check a second source first.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look for the store's own page.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must be a rumor.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can't be a fact.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Advertisement: a megaphone and a shopping cart [sign: A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be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CLUE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page has a Buy now button. What is it?</a:t>
            </a:r>
            <a:endParaRPr lang="en-US" sz="13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must be an ad.</a:t>
            </a:r>
            <a:endParaRPr lang="en-US" sz="14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store's page says the store is open. What is the closing post?</a:t>
            </a:r>
            <a:endParaRPr lang="en-US" sz="13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must be a rumor.</a:t>
            </a:r>
            <a:endParaRPr lang="en-US" sz="14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logo, the author, and the date all match. What is the page?</a:t>
            </a:r>
            <a:endParaRPr lang="en-US" sz="13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must be the store's page.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creenshot: a laptop and a camera [sign: SCREE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 be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CLUE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date says 2019. What do you think?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might be old.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is no author. What do you think?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might be a rumor.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comment has no source. What do you think?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might be a guess.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Fact: a page and a check mark [sign: FAC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 be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CLUE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logo is different. Is it the city's page?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can't be the city's page.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store's page says open. Is the store closing?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can't be closing.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first post has no author and no date. Is it a fact?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can't be a fact.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Rumor: a speech balloon and a question mark [sign: RUMOR?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sure?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SURE?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are almost sure.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be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are less sure.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 be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is not possible.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 be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page has a Buy now button. It ______ be an ad.</a:t>
            </a:r>
            <a:endParaRPr lang="en-US" sz="14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date says 2019. It ______ be old.</a:t>
            </a:r>
            <a:endParaRPr lang="en-US" sz="14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logo is different. It ______ be the city's page.</a:t>
            </a:r>
            <a:endParaRPr lang="en-US" sz="14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is no author. It ______ be a rumor.</a:t>
            </a:r>
            <a:endParaRPr lang="en-US" sz="14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store's own page says the store is open. The post ______ be true.</a:t>
            </a:r>
            <a:endParaRPr lang="en-US" sz="14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Aisha is almost sure. She says it ______ be a rumor.</a:t>
            </a:r>
            <a:endParaRPr lang="en-US" sz="14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It ______ an ad.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8211312" y="31089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966960" y="31089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be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9838944" y="305409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It ______ the city page.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8211312" y="365760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be not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966960" y="365760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 be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9838944" y="360273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The date says 2019. It ______ old.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8211312" y="420624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be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966960" y="420624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 be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9838944" y="415137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It ______ an ad.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8211312" y="475488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to be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966960" y="475488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be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9838944" y="470001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It can't ______ official.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8211312" y="530352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966960" y="530352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be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8083296" y="524865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752551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</a:t>
            </a:r>
            <a:r>
              <a:rPr lang="en-US" sz="1500" dirty="0" b="1">
                <a:solidFill>
                  <a:srgbClr val="5B3FC4"/>
                </a:solidFill>
              </a:rPr>
              <a:t>Can't</a:t>
            </a:r>
            <a:r>
              <a:rPr lang="en-US" sz="1500" dirty="0"/>
              <a:t> here means ______ .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8211312" y="58521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 able</a:t>
            </a:r>
            <a:endParaRPr lang="en-US" sz="1600" dirty="0" b="1"/>
          </a:p>
        </p:txBody>
      </p:sp>
      <p:sp>
        <p:nvSpPr>
          <p:cNvPr id="30" name="R6 opt2"/>
          <p:cNvSpPr/>
          <p:nvPr/>
        </p:nvSpPr>
        <p:spPr>
          <a:xfrm>
            <a:off x="9966960" y="5852160"/>
            <a:ext cx="16459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 possible</a:t>
            </a:r>
            <a:endParaRPr lang="en-US" sz="1600" dirty="0" b="1"/>
          </a:p>
        </p:txBody>
      </p:sp>
      <p:sp>
        <p:nvSpPr>
          <p:cNvPr id="31" name="R6 circle"/>
          <p:cNvSpPr/>
          <p:nvPr/>
        </p:nvSpPr>
        <p:spPr>
          <a:xfrm>
            <a:off x="9838944" y="5797296"/>
            <a:ext cx="19019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Date stamp: a tear-off calendar [sign: 2019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must an ad.</a:t>
            </a:r>
            <a:endParaRPr lang="en-US" sz="14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be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 ad.</a:t>
            </a:r>
            <a:endParaRPr lang="en-US" sz="1400" dirty="0" b="1"/>
          </a:p>
        </p:txBody>
      </p:sp>
      <p:sp>
        <p:nvSpPr>
          <p:cNvPr id="26" name="Bad 2"/>
          <p:cNvSpPr/>
          <p:nvPr/>
        </p:nvSpPr>
        <p:spPr>
          <a:xfrm>
            <a:off x="914400" y="2987399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can be not the city page.</a:t>
            </a:r>
            <a:endParaRPr lang="en-US" sz="1400" dirty="0"/>
          </a:p>
        </p:txBody>
      </p:sp>
      <p:sp>
        <p:nvSpPr>
          <p:cNvPr id="27" name="Good 2"/>
          <p:cNvSpPr/>
          <p:nvPr/>
        </p:nvSpPr>
        <p:spPr>
          <a:xfrm>
            <a:off x="4800600" y="2987399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 be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city page.</a:t>
            </a:r>
            <a:endParaRPr lang="en-US" sz="14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505917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must to be an ad.</a:t>
            </a:r>
            <a:endParaRPr lang="en-US" sz="1400" dirty="0"/>
          </a:p>
        </p:txBody>
      </p:sp>
      <p:sp>
        <p:nvSpPr>
          <p:cNvPr id="29" name="Good 3"/>
          <p:cNvSpPr/>
          <p:nvPr/>
        </p:nvSpPr>
        <p:spPr>
          <a:xfrm>
            <a:off x="4800600" y="3505917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 be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 ad.</a:t>
            </a:r>
            <a:endParaRPr lang="en-US" sz="14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024436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can't means she is not able.</a:t>
            </a:r>
            <a:endParaRPr lang="en-US" sz="1400" dirty="0"/>
          </a:p>
        </p:txBody>
      </p:sp>
      <p:sp>
        <p:nvSpPr>
          <p:cNvPr id="31" name="Good 4"/>
          <p:cNvSpPr/>
          <p:nvPr/>
        </p:nvSpPr>
        <p:spPr>
          <a:xfrm>
            <a:off x="4800600" y="4024436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can't be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means it is not possible.</a:t>
            </a:r>
            <a:endParaRPr lang="en-US" sz="1400" dirty="0" b="1"/>
          </a:p>
        </p:txBody>
      </p:sp>
      <p:sp>
        <p:nvSpPr>
          <p:cNvPr id="32" name="Bad 5"/>
          <p:cNvSpPr/>
          <p:nvPr/>
        </p:nvSpPr>
        <p:spPr>
          <a:xfrm>
            <a:off x="914400" y="4542954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must be not official.</a:t>
            </a:r>
            <a:endParaRPr lang="en-US" sz="1400" dirty="0"/>
          </a:p>
        </p:txBody>
      </p:sp>
      <p:sp>
        <p:nvSpPr>
          <p:cNvPr id="33" name="Good 5"/>
          <p:cNvSpPr/>
          <p:nvPr/>
        </p:nvSpPr>
        <p:spPr>
          <a:xfrm>
            <a:off x="4800600" y="4542954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 be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official.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Logo: a label and an office building [sign: LOGO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only these pages.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| Page 1 · City bus notice | Page 2 · Amazing deal | Page 3 · Neighborhood post |</a:t>
            </a:r>
            <a:endParaRPr lang="en-US" sz="1900" dirty="0" b="0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Screenshot: a laptop and a camera [sign: SCREE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three class pages.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three class pages.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three class pages.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three class pages.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Rumor: a speech balloon and a question mark [sign: RUMOR?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share, name one check.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share, name one check.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share, name one check.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share, name one check.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page.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page names an author?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010912" y="2525573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library's page</a:t>
            </a:r>
            <a:endParaRPr lang="en-US" sz="13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 is on the library's page?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010912" y="3311957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 at 6:30</a:t>
            </a:r>
            <a:endParaRPr lang="en-US" sz="13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 is on the repost?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010912" y="4098341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Thursday at 8:00</a:t>
            </a:r>
            <a:endParaRPr lang="en-US" sz="13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page do you trust?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010912" y="4884725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library's page</a:t>
            </a:r>
            <a:endParaRPr lang="en-US" sz="13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one clue?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010912" y="5671109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author and the date</a:t>
            </a:r>
            <a:endParaRPr lang="en-US" sz="13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Comment: a speech balloon [sign: COMMENT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can you tell that a page might be wrong?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Name: Date: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must, might, or can't.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this page to your teacher.</a:t>
            </a:r>
            <a:endParaRPr lang="en-US" sz="15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20–25 minutes.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must, might, or can't.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message to a friend (Read &amp; Write C).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Tell a friend one clue you would check before you shared a class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(Do you know if). Finish the question in statement order.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5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Reliable: a shield and a check mark [sign: SURE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9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36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how sure I am with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must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and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can't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name two clues (author, date, ad, a mismatch).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what I would do before I believed the page.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Noah and Aisha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5 Lesson 9: It Must Be an Ad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