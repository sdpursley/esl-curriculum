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1017" r:id="rId32"/>
    <p:sldId id="1018" r:id="rId21"/>
    <p:sldId id="1019" r:id="rId19"/>
    <p:sldId id="1020" r:id="rId15"/>
    <p:sldId id="1021" r:id="rId37"/>
    <p:sldId id="1022" r:id="rId38"/>
    <p:sldId id="1023" r:id="rId39"/>
    <p:sldId id="1024" r:id="rId40"/>
    <p:sldId id="1025" r:id="rId41"/>
    <p:sldId id="1026" r:id="rId42"/>
    <p:sldId id="1027" r:id="rId43"/>
    <p:sldId id="1028" r:id="rId44"/>
    <p:sldId id="1029" r:id="rId45"/>
    <p:sldId id="1030" r:id="rId46"/>
    <p:sldId id="1031" r:id="rId47"/>
    <p:sldId id="1032" r:id="rId48"/>
    <p:sldId id="1033" r:id="rId49"/>
    <p:sldId id="1034" r:id="rId50"/>
    <p:sldId id="1035" r:id="rId51"/>
    <p:sldId id="1036" r:id="rId52"/>
    <p:sldId id="1037" r:id="rId53"/>
    <p:sldId id="1038" r:id="rId54"/>
    <p:sldId id="1039" r:id="rId55"/>
    <p:sldId id="1040" r:id="rId56"/>
    <p:sldId id="1041" r:id="rId9"/>
    <p:sldId id="104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an ad</a:t>
            </a:r>
          </a:p>
          <a:p>
            <a:r>
              <a:t>2. the author</a:t>
            </a:r>
          </a:p>
          <a:p>
            <a:r>
              <a:t>3. the date stamp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Noah shows Aisha a post.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no • 2 no • 3 matches • 4 open • 5 he does not share it • 6 it is not a fact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might • 2 might • 3 can't • 4 must • 5 must • 6 can't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must be.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might be.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can't be.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how sure?.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must • 2 might • 3 can't • 4 might • 5 can't • 6 must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must be • 2 can't be • 3 might be • 4 must be • 5 be • 6 not possible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these pages. | Page 1 · City bus notice | Page 2 · Amazing deal | Page 3 · Neighborhood post | |---|---|---| | Author: the city bus office. Date: this week. Logo: the city bus logo. The evening bus still stops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The library's page • 2 Thursday at 6:30 • 3 Thursday at 8:00 • 4 The library's page • 5 The author and the date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How can you tell that a page might be wrong?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Website: a globe and a laptop [sign: WEB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Be an Ad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how sure I am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and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name two clues (author, date, ad, a mismatch).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I would do before I believed the page.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how sure I am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and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name two clues (author, date, ad, a mismatch).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would do before I believed the page.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a classmate, with a reason.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Source: a stack of books [sign: SOURC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Do you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 if…? B keeps statement order and reports one answer. Then compare one homework sentence.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indirect question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your email.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Do you know if…?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keeps statement order and reports one answer. Then compare one homework sentence.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Ask: Do you know if the office is open?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Keep statement order. Not: if is the office open.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Report the answer: He said… / He told me…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indirect question from your email.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Website: a globe and a laptop [sign: WEB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website</a:t>
            </a:r>
            <a:endParaRPr lang="en-US" sz="2000" dirty="0" b="1"/>
          </a:p>
        </p:txBody>
      </p:sp>
      <p:pic>
        <p:nvPicPr>
          <p:cNvPr id="19" name="Word picture 2" descr="Source: a stack of books [sign: SOURC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source</a:t>
            </a:r>
            <a:endParaRPr lang="en-US" sz="2000" dirty="0" b="1"/>
          </a:p>
        </p:txBody>
      </p:sp>
      <p:pic>
        <p:nvPicPr>
          <p:cNvPr id="21" name="Word picture 3" descr="Author: a writing hand and a person [sign: AUTHOR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author</a:t>
            </a:r>
            <a:endParaRPr lang="en-US" sz="2000" dirty="0" b="1"/>
          </a:p>
        </p:txBody>
      </p:sp>
      <p:pic>
        <p:nvPicPr>
          <p:cNvPr id="23" name="Word picture 4" descr="Advertisement: a megaphone and a shopping cart [sign: AD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advertisement</a:t>
            </a:r>
            <a:endParaRPr lang="en-US" sz="1500" dirty="0" b="1"/>
          </a:p>
        </p:txBody>
      </p:sp>
      <p:pic>
        <p:nvPicPr>
          <p:cNvPr id="25" name="Word picture 5" descr="Screenshot: a laptop and a camera [sign: SCREEN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screenshot</a:t>
            </a:r>
            <a:endParaRPr lang="en-US" sz="2000" dirty="0" b="1"/>
          </a:p>
        </p:txBody>
      </p:sp>
      <p:pic>
        <p:nvPicPr>
          <p:cNvPr id="27" name="Word picture 6" descr="Fact: a page and a check mark [sign: FAC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fact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Must, might, or can't?</a:t>
            </a:r>
            <a:endParaRPr lang="en-US" sz="2200" dirty="0" b="1"/>
          </a:p>
        </p:txBody>
      </p:sp>
      <p:pic>
        <p:nvPicPr>
          <p:cNvPr id="17" name="Word picture 1" descr="Rumor: a speech balloon and a question mark [sign: RUMOR?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rumor</a:t>
            </a:r>
            <a:endParaRPr lang="en-US" sz="2000" dirty="0" b="1"/>
          </a:p>
        </p:txBody>
      </p:sp>
      <p:pic>
        <p:nvPicPr>
          <p:cNvPr id="19" name="Word picture 2" descr="Date stamp: a tear-off calendar [sign: 2019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date stamp</a:t>
            </a:r>
            <a:endParaRPr lang="en-US" sz="2000" dirty="0" b="1"/>
          </a:p>
        </p:txBody>
      </p:sp>
      <p:pic>
        <p:nvPicPr>
          <p:cNvPr id="21" name="Word picture 3" descr="Logo: a label and an office building [sign: LOGO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logo</a:t>
            </a:r>
            <a:endParaRPr lang="en-US" sz="2000" dirty="0" b="1"/>
          </a:p>
        </p:txBody>
      </p:sp>
      <p:pic>
        <p:nvPicPr>
          <p:cNvPr id="23" name="Word picture 4" descr="Comment: a speech balloon [sign: COMMENT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comment</a:t>
            </a:r>
            <a:endParaRPr lang="en-US" sz="2000" dirty="0" b="1"/>
          </a:p>
        </p:txBody>
      </p:sp>
      <p:pic>
        <p:nvPicPr>
          <p:cNvPr id="25" name="Word picture 5" descr="Reliable: a shield and a check mark [sign: SURE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reliable</a:t>
            </a:r>
            <a:endParaRPr lang="en-US" sz="2000" dirty="0" b="1"/>
          </a:p>
        </p:txBody>
      </p:sp>
      <p:pic>
        <p:nvPicPr>
          <p:cNvPr id="27" name="Word picture 6" descr="Share button: a link and a right arrow [sign: SHARE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share button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page with Buy now is what?</a:t>
            </a:r>
            <a:endParaRPr lang="en-US" sz="1600" dirty="0" b="1"/>
          </a:p>
        </p:txBody>
      </p:sp>
      <p:pic>
        <p:nvPicPr>
          <p:cNvPr id="101" name="R1 pic" descr="Website: a globe and a laptop [sign: WEB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writes a page?</a:t>
            </a:r>
            <a:endParaRPr lang="en-US" sz="1600" dirty="0" b="1"/>
          </a:p>
        </p:txBody>
      </p:sp>
      <p:pic>
        <p:nvPicPr>
          <p:cNvPr id="102" name="R2 pic" descr="Author: a writing hand and a person [sign: AUTHOR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shows how old a page is?</a:t>
            </a:r>
            <a:endParaRPr lang="en-US" sz="1600" dirty="0" b="1"/>
          </a:p>
        </p:txBody>
      </p:sp>
      <p:pic>
        <p:nvPicPr>
          <p:cNvPr id="103" name="R3 pic" descr="Date stamp: a tear-off calendar [sign: 2019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ad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author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date stamp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Noah shows Aisha a post.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Author: a writing hand and a person [sign: AUTHO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Noah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Aisha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Is the store closing?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Listening: play 1 (Task A), play 2 (Tasks B and C) +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1:50.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Is the store closing?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Yes. It closes on Friday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No. The store's page says it is open</a:t>
            </a:r>
            <a:endParaRPr lang="en-US" sz="13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No one can tell</a:t>
            </a:r>
            <a:endParaRPr lang="en-US" sz="13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clue.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Author on the post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022592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924458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Date stamp on the post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022592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924458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Store logo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022592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matches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different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6894576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Store's own page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022592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closing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6894576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The share button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022592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shares it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does not share it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9244584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The comment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022592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is a fact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is not a fact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9244584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must, mi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it ______ be old.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(First guess) It ______ be a rumor.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closing post ______ be true.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(After the store page) It ______ be a rumor.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page ______ be the one we trust.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______ be a fact.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check a second source first.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look for the store's own page.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be a rumor.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can't be a fact.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Advertisement: a megaphone and a shopping cart [sign: A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be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CLUE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page has a Buy now button. What is it?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be an ad.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store's page says the store is open. What is the closing post?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be a rumor.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logo, the author, and the date all match. What is the page?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be the store's page.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creenshot: a laptop and a camera [sign: SCREE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be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CLUE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date says 2019. What do you think?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might be old.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is no author. What do you think?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might be a rumor.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comment has no source. What do you think?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might be a guess.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act: a page and a check mark [sign: FA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 be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CLUE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logo is different. Is it the city's page?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can't be the city's page.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store's page says open. Is the store closing?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can't be closing.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first post has no author and no date. Is it a fact?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can't be a fact.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umor: a speech balloon and a question mark [sign: RUMOR?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sure?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SURE?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are almost sure.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be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are less sure.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be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is not possible.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 be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page has a Buy now button. It ______ be an ad.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date says 2019. It ______ be old.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logo is different. It ______ be the city's page.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is no author. It ______ be a rumor.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store's own page says the store is open. The post ______ be true.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Aisha is almost sure. She says it ______ be a rumor.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It ______ an ad.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8211312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966960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be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9838944" y="30540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It ______ the city page.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8211312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be not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966960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 be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9838944" y="360273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The date says 2019. It ______ old.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8211312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be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966960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be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9838944" y="415137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It ______ an ad.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8211312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to be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966960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be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9838944" y="470001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It can't ______ official.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8211312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966960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be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8083296" y="524865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</a:t>
            </a:r>
            <a:r>
              <a:rPr lang="en-US" sz="1500" dirty="0" b="1">
                <a:solidFill>
                  <a:srgbClr val="5B3FC4"/>
                </a:solidFill>
              </a:rPr>
              <a:t>Can't</a:t>
            </a:r>
            <a:r>
              <a:rPr lang="en-US" sz="1500" dirty="0"/>
              <a:t> here means ______ 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8211312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able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966960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possible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9838944" y="57972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Date stamp: a tear-off calendar [sign: 2019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an ad.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be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 ad.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can be not the city page.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 be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city page.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505917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to be an ad.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505917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be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 ad.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024436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can't means she is not able.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024436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can't be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means it is not possible.</a:t>
            </a:r>
            <a:endParaRPr lang="en-US" sz="1400" dirty="0" b="1"/>
          </a:p>
        </p:txBody>
      </p:sp>
      <p:sp>
        <p:nvSpPr>
          <p:cNvPr id="32" name="Bad 5"/>
          <p:cNvSpPr/>
          <p:nvPr/>
        </p:nvSpPr>
        <p:spPr>
          <a:xfrm>
            <a:off x="914400" y="4542954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must be not official.</a:t>
            </a:r>
            <a:endParaRPr lang="en-US" sz="1400" dirty="0"/>
          </a:p>
        </p:txBody>
      </p:sp>
      <p:sp>
        <p:nvSpPr>
          <p:cNvPr id="33" name="Good 5"/>
          <p:cNvSpPr/>
          <p:nvPr/>
        </p:nvSpPr>
        <p:spPr>
          <a:xfrm>
            <a:off x="4800600" y="4542954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 be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official.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Logo: a label and an office building [sign: LOG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only these pages.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Page 1 · City bus notice | Page 2 · Amazing deal | Page 3 · Neighborhood post |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creenshot: a laptop and a camera [sign: SCREE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three class pages.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three class pages.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three class pages.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three class pages.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Rumor: a speech balloon and a question mark [sign: RUMOR?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share, name one check.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share, name one check.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share, name one check.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share, name one check.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page names an author?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library's page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on the library's page?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 at 6:30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on the repost?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 at 8:00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page do you trust?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library's page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clue?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author and the date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Comment: a speech balloon [sign: COMMEN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can you tell that a page might be wrong?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must, might, or can't.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must, might, or can't.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message to a friend (Read &amp; Write C).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Tell a friend one clue you would check before you shared a class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(Do you know if). Finish the question in statement order.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Reliable: a shield and a check mark [sign: SUR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how sure I am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and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name two clues (author, date, ad, a mismatch).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I would do before I believed the page.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Noah and Aisha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9: It Must Be an Ad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