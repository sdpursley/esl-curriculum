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1043" r:id="rId33"/>
    <p:sldId id="1044" r:id="rId34"/>
    <p:sldId id="1045" r:id="rId35"/>
    <p:sldId id="1046" r:id="rId36"/>
    <p:sldId id="1047" r:id="rId31"/>
    <p:sldId id="1048" r:id="rId30"/>
    <p:sldId id="1049" r:id="rId29"/>
    <p:sldId id="1050" r:id="rId28"/>
    <p:sldId id="1051" r:id="rId27"/>
    <p:sldId id="1052" r:id="rId20"/>
    <p:sldId id="1053" r:id="rId18"/>
    <p:sldId id="1054" r:id="rId17"/>
    <p:sldId id="1055" r:id="rId16"/>
    <p:sldId id="1056" r:id="rId14"/>
    <p:sldId id="1057" r:id="rId13"/>
    <p:sldId id="1058" r:id="rId12"/>
    <p:sldId id="1059" r:id="rId11"/>
    <p:sldId id="1060" r:id="rId10"/>
    <p:sldId id="1061" r:id="rId8"/>
    <p:sldId id="1062" r:id="rId7"/>
    <p:sldId id="1063" r:id="rId6"/>
    <p:sldId id="1064" r:id="rId5"/>
    <p:sldId id="1065" r:id="rId4"/>
    <p:sldId id="1066" r:id="rId3"/>
    <p:sldId id="1067" r:id="rId57"/>
    <p:sldId id="1068" r:id="rId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52.xml"/><Relationship Id="rId3" Type="http://schemas.openxmlformats.org/officeDocument/2006/relationships/slide" Target="slides/slide50.xml"/><Relationship Id="rId4" Type="http://schemas.openxmlformats.org/officeDocument/2006/relationships/slide" Target="slides/slide49.xml"/><Relationship Id="rId5" Type="http://schemas.openxmlformats.org/officeDocument/2006/relationships/slide" Target="slides/slide48.xml"/><Relationship Id="rId6" Type="http://schemas.openxmlformats.org/officeDocument/2006/relationships/slide" Target="slides/slide47.xml"/><Relationship Id="rId7" Type="http://schemas.openxmlformats.org/officeDocument/2006/relationships/slide" Target="slides/slide46.xml"/><Relationship Id="rId8" Type="http://schemas.openxmlformats.org/officeDocument/2006/relationships/slide" Target="slides/slide45.xml"/><Relationship Id="rId10" Type="http://schemas.openxmlformats.org/officeDocument/2006/relationships/slide" Target="slides/slide44.xml"/><Relationship Id="rId11" Type="http://schemas.openxmlformats.org/officeDocument/2006/relationships/slide" Target="slides/slide43.xml"/><Relationship Id="rId12" Type="http://schemas.openxmlformats.org/officeDocument/2006/relationships/slide" Target="slides/slide42.xml"/><Relationship Id="rId13" Type="http://schemas.openxmlformats.org/officeDocument/2006/relationships/slide" Target="slides/slide41.xml"/><Relationship Id="rId14" Type="http://schemas.openxmlformats.org/officeDocument/2006/relationships/slide" Target="slides/slide40.xml"/><Relationship Id="rId16" Type="http://schemas.openxmlformats.org/officeDocument/2006/relationships/slide" Target="slides/slide39.xml"/><Relationship Id="rId17" Type="http://schemas.openxmlformats.org/officeDocument/2006/relationships/slide" Target="slides/slide38.xml"/><Relationship Id="rId18" Type="http://schemas.openxmlformats.org/officeDocument/2006/relationships/slide" Target="slides/slide37.xml"/><Relationship Id="rId20" Type="http://schemas.openxmlformats.org/officeDocument/2006/relationships/slide" Target="slides/slide36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35.xml"/><Relationship Id="rId28" Type="http://schemas.openxmlformats.org/officeDocument/2006/relationships/slide" Target="slides/slide34.xml"/><Relationship Id="rId29" Type="http://schemas.openxmlformats.org/officeDocument/2006/relationships/slide" Target="slides/slide33.xml"/><Relationship Id="rId30" Type="http://schemas.openxmlformats.org/officeDocument/2006/relationships/slide" Target="slides/slide32.xml"/><Relationship Id="rId31" Type="http://schemas.openxmlformats.org/officeDocument/2006/relationships/slide" Target="slides/slide31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57" Type="http://schemas.openxmlformats.org/officeDocument/2006/relationships/slide" Target="slides/slide5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Credits. You don't need to read this slide in class.</a:t>
            </a:r>
          </a:p>
          <a:p>
            <a:r>
              <a:t>Pictures: Twemoji graphics by Twitter, Inc. and other contributors, CC BY 4.0; the file-by-file list is in images/CREDITS.md.</a:t>
            </a:r>
          </a:p>
          <a:p>
            <a:r>
              <a:t>Audio: synthetic voices, computer-generated (Chatterbox TTS cloned from Kokoro-82M reference clips). No recordings of real people. The names and the story are invented.</a:t>
            </a:r>
          </a:p>
          <a:p>
            <a:r>
              <a:t>Course materials: © 2026 the authors, licensed under CC BY-NC-SA 4.0 (https://creativecommons.org/licenses/by-nc-sa/4.0/).</a:t>
            </a:r>
          </a:p>
          <a:p>
            <a:r>
              <a:t>Lesson plan: Picture Credits. Picture list: images/CREDITS.md.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7 · 7:25–7:30 · Exit ticket and homework. Never skip the exit ticket.</a:t>
            </a:r>
          </a:p>
          <a:p>
            <a:r>
              <a:t>Describe a small compromise.</a:t>
            </a:r>
          </a:p>
          <a:p>
            <a:r>
              <a:t>Lesson plan: Step 7; Exit Ticket page; Homework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6 · 7:18–7:25 · Read &amp; Write.</a:t>
            </a:r>
          </a:p>
          <a:p>
            <a:r>
              <a:t>Click to show each answer: 1 The Saturday shift • 2 A morning class • 3 At noon • 4 On the whiteboard • 5 No. She will not call it off</a:t>
            </a:r>
          </a:p>
          <a:p>
            <a:r>
              <a:t>Lesson plan: Step 6; Read &amp; Write page;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2.</a:t>
            </a:r>
          </a:p>
          <a:p>
            <a:r>
              <a:t>Lesson plan: Step 5; Talk Time.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Round 1.</a:t>
            </a:r>
          </a:p>
          <a:p>
            <a:r>
              <a:t>Lesson plan: Step 5; Talk Time.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says a need: "I need the morning for a class." B says it back, then offers: "You need the morning. What if I take the afternoon?" Then switch. ---</a:t>
            </a:r>
          </a:p>
          <a:p>
            <a:r>
              <a:t>Break · 6:45–7:00.</a:t>
            </a:r>
          </a:p>
          <a:p>
            <a:r>
              <a:t>Lesson plan: Step 4: Pair check.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Don't say, then Say. Learners try first. Then click.</a:t>
            </a:r>
          </a:p>
          <a:p>
            <a:r>
              <a:t>Lesson plan: Grammar: Common mistakes.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each answer: 1 so • 2 such • 3 it out • 4 it off • 5 give in • 6 too</a:t>
            </a:r>
          </a:p>
          <a:p>
            <a:r>
              <a:t>Lesson plan: Step 4; Grammar Practice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show each answer: 1 so • 2 such • 3 too • 4 so • 5 such • 6 it out</a:t>
            </a:r>
          </a:p>
          <a:p>
            <a:r>
              <a:t>Lesson plan: Step 4; Grammar Practice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4: don't mix them. Each click shows the answer side.</a:t>
            </a:r>
          </a:p>
          <a:p>
            <a:r>
              <a:t>Lesson plan: Step 4; Grammar Box 4.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3: work out, call off, give in (review). Each click shows the answer side.</a:t>
            </a:r>
          </a:p>
          <a:p>
            <a:r>
              <a:t>Lesson plan: Step 4; Grammar Box 3.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2: so… that / such… that. Each click shows the answer side.</a:t>
            </a:r>
          </a:p>
          <a:p>
            <a:r>
              <a:t>Lesson plan: Step 4; Grammar Box 2.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Grammar Box 1: a middle idea. Each click shows the answer side.</a:t>
            </a:r>
          </a:p>
          <a:p>
            <a:r>
              <a:t>Lesson plan: Step 4; Grammar Box 1.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gonna and wanna are short forms. This listening uses the full forms. Say each line two times.</a:t>
            </a:r>
          </a:p>
          <a:p>
            <a:r>
              <a:t>Lesson plan: Step 3: Hear it, say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show each answer: 1 so • 2 such • 3 so • 4 such • 5 so • 6 so</a:t>
            </a:r>
          </a:p>
          <a:p>
            <a:r>
              <a:t>Lesson plan: Step 3; Listening Task C;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each answer: 1 a morning class • 2 an afternoon visit • 3 twelve • 4 such a long shift • 5 a sticky note • 6 not call it off</a:t>
            </a:r>
          </a:p>
          <a:p>
            <a:r>
              <a:t>Lesson plan: Step 3; Listening Task B;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Click to circle b.</a:t>
            </a:r>
          </a:p>
          <a:p>
            <a:r>
              <a:t>Lesson plan: Step 3; Listening Task A; Answer key.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3 · 6:12–6:32 · Listening. Play 1 is Task A. Play 2 is Tasks B and C. A third play is fine.</a:t>
            </a:r>
          </a:p>
          <a:p>
            <a:r>
              <a:t>Camila and Jon both need Saturday.</a:t>
            </a:r>
          </a:p>
          <a:p>
            <a:r>
              <a:t>The script says going to and want to. Learners only need to recognize gonna and wanna.</a:t>
            </a:r>
          </a:p>
          <a:p>
            <a:r>
              <a:t>Lesson plan: Step 3; Listening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answers are hidden. Ask, then click.</a:t>
            </a:r>
          </a:p>
          <a:p>
            <a:r>
              <a:t>1. No. A middle idea.</a:t>
            </a:r>
          </a:p>
          <a:p>
            <a:r>
              <a:t>2. No.</a:t>
            </a:r>
          </a:p>
          <a:p>
            <a:r>
              <a:t>3. *so busy that*</a:t>
            </a:r>
          </a:p>
          <a:p>
            <a:r>
              <a:t>Lesson plan: Step 2: Check the Meaning.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points to a picture. B names it and uses it in one sentence. Then switch.</a:t>
            </a:r>
          </a:p>
          <a:p>
            <a:r>
              <a:t>Lesson plan: Step 2; New Words page; Partner game.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2 · 6:06–6:12 · New Words.</a:t>
            </a:r>
          </a:p>
          <a:p>
            <a:r>
              <a:t>Point to each picture. Learners repeat. ★ = most important.</a:t>
            </a:r>
          </a:p>
          <a:p>
            <a:r>
              <a:t>Lesson plan: Step 2; New Words page.</a:t>
            </a:r>
          </a:p>
          <a:p>
            <a:r>
              <a:t>Pictures: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 as they arrive.</a:t>
            </a:r>
          </a:p>
          <a:p>
            <a:r>
              <a:t>Read the three lines under Today you will.</a:t>
            </a:r>
          </a:p>
          <a:p>
            <a:r>
              <a:t>Lesson plan: Topic; At a glance: Objectives.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each goal slowly. Learners repeat.</a:t>
            </a:r>
          </a:p>
          <a:p>
            <a:r>
              <a:t>Lesson plan: At a glance: Objectives.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 1 · 6:00–6:06 · Opening Talk.</a:t>
            </a:r>
          </a:p>
          <a:p>
            <a:r>
              <a:t>Work with a partner.</a:t>
            </a:r>
          </a:p>
          <a:p>
            <a:r>
              <a:t>Lesson plan: Step 1; Opening Talk page.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click shows the next card.</a:t>
            </a:r>
          </a:p>
          <a:p>
            <a:r>
              <a:t>A asks. B answers. Then switch.</a:t>
            </a:r>
          </a:p>
          <a:p>
            <a:r>
              <a:t>Lesson plan: Step 1; Opening Talk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three Now you can lines.</a:t>
            </a:r>
          </a:p>
          <a:p>
            <a:r>
              <a:t>Homework is about 20–25 minutes. Bring it next week.</a:t>
            </a:r>
          </a:p>
          <a:p>
            <a:r>
              <a:t>Lesson plan: At a glance: Objectives; Step 7.</a:t>
            </a:r>
          </a:p>
          <a:p>
            <a:r>
              <a:t>Picture: Twemoji graphics by Twitter, Inc. and other contributors (https://github.com/jdecked/twemoji), CC BY 4.0 (https://creativecommons.org/licenses/by/4.0/); resized and combined, with signs and labels (images/CREDITS.md).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3.png"/><Relationship Id="rId4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4.png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3.png"/><Relationship Id="rId9" Type="http://schemas.openxmlformats.org/officeDocument/2006/relationships/image" Target="../media/image14.png"/><Relationship Id="rId10" Type="http://schemas.openxmlformats.org/officeDocument/2006/relationships/image" Target="../media/image15.png"/><Relationship Id="rId11" Type="http://schemas.openxmlformats.org/officeDocument/2006/relationships/image" Target="../media/image16.png"/><Relationship Id="rId12" Type="http://schemas.openxmlformats.org/officeDocument/2006/relationships/image" Target="../media/image17.png"/><Relationship Id="rId13" Type="http://schemas.openxmlformats.org/officeDocument/2006/relationships/image" Target="../media/image18.png"/><Relationship Id="rId14" Type="http://schemas.openxmlformats.org/officeDocument/2006/relationships/notesSlide" Target="../notesSlides/notesSlide2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8" Type="http://schemas.openxmlformats.org/officeDocument/2006/relationships/image" Target="../media/image19.png"/><Relationship Id="rId9" Type="http://schemas.openxmlformats.org/officeDocument/2006/relationships/image" Target="../media/image20.png"/><Relationship Id="rId10" Type="http://schemas.openxmlformats.org/officeDocument/2006/relationships/image" Target="../media/image21.png"/><Relationship Id="rId11" Type="http://schemas.openxmlformats.org/officeDocument/2006/relationships/image" Target="../media/image22.png"/><Relationship Id="rId12" Type="http://schemas.openxmlformats.org/officeDocument/2006/relationships/image" Target="../media/image23.png"/><Relationship Id="rId13" Type="http://schemas.openxmlformats.org/officeDocument/2006/relationships/image" Target="../media/image24.png"/><Relationship Id="rId14" Type="http://schemas.openxmlformats.org/officeDocument/2006/relationships/notesSlide" Target="../notesSlides/notesSlide2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notesSlide" Target="../notesSlides/notesSlide2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6.png"/><Relationship Id="rId4" Type="http://schemas.openxmlformats.org/officeDocument/2006/relationships/notesSlide" Target="../notesSlides/notesSlide1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1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0.png"/><Relationship Id="rId4" Type="http://schemas.openxmlformats.org/officeDocument/2006/relationships/notesSlide" Target="../notesSlides/notesSlide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1.png"/><Relationship Id="rId4" Type="http://schemas.openxmlformats.org/officeDocument/2006/relationships/notesSlide" Target="../notesSlides/notesSlide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7.png"/><Relationship Id="rId4" Type="http://schemas.openxmlformats.org/officeDocument/2006/relationships/notesSlide" Target="../notesSlides/notesSlide5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4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23.png"/><Relationship Id="rId4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it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Compromise: a handshake [sign: COMPROMISE]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10  ·  Level 5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Can We Meet in the Middle?</a:t>
            </a:r>
            <a:endParaRPr lang="en-US" sz="40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 you will: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say what they need and ask what the other person needs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offer a middle idea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explain a result with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so… that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or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such… that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al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Today's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Goals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By the end of class, you can do these things.</a:t>
            </a:r>
            <a:endParaRPr lang="en-US" sz="2000" dirty="0"/>
          </a:p>
        </p:txBody>
      </p:sp>
      <p:sp>
        <p:nvSpPr>
          <p:cNvPr id="31" name="R1 shadow"/>
          <p:cNvSpPr/>
          <p:nvPr/>
        </p:nvSpPr>
        <p:spPr>
          <a:xfrm>
            <a:off x="544982" y="2093062"/>
            <a:ext cx="6227064" cy="713232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035454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035454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068830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035454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say what they need and ask what the other person needs</a:t>
            </a:r>
            <a:endParaRPr lang="en-US" sz="16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168957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2857500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2857500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2890876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2857500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offer a middle idea</a:t>
            </a:r>
            <a:endParaRPr lang="en-US" sz="16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299100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2" name="R3 card"/>
          <p:cNvSpPr/>
          <p:nvPr/>
        </p:nvSpPr>
        <p:spPr>
          <a:xfrm>
            <a:off x="1583741" y="3679546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3" name="R3 chip"/>
          <p:cNvSpPr/>
          <p:nvPr/>
        </p:nvSpPr>
        <p:spPr>
          <a:xfrm>
            <a:off x="544982" y="3679546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4" name="R3 num"/>
          <p:cNvSpPr/>
          <p:nvPr/>
        </p:nvSpPr>
        <p:spPr>
          <a:xfrm>
            <a:off x="686714" y="3712921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200" b="1" dirty="0"/>
          </a:p>
        </p:txBody>
      </p:sp>
      <p:sp>
        <p:nvSpPr>
          <p:cNvPr id="45" name="R3 text"/>
          <p:cNvSpPr/>
          <p:nvPr/>
        </p:nvSpPr>
        <p:spPr>
          <a:xfrm>
            <a:off x="1810512" y="3679546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explain a result with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so… that</a:t>
            </a: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or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such… that</a:t>
            </a:r>
            <a:endParaRPr lang="en-US" sz="1600" dirty="0"/>
          </a:p>
        </p:txBody>
      </p:sp>
      <p:sp>
        <p:nvSpPr>
          <p:cNvPr id="46" name="R3 dot"/>
          <p:cNvSpPr/>
          <p:nvPr/>
        </p:nvSpPr>
        <p:spPr>
          <a:xfrm rot="10800000">
            <a:off x="6361481" y="381304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7" name="R4 card"/>
          <p:cNvSpPr/>
          <p:nvPr/>
        </p:nvSpPr>
        <p:spPr>
          <a:xfrm>
            <a:off x="1583741" y="4501591"/>
            <a:ext cx="5130698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8" name="R4 chip"/>
          <p:cNvSpPr/>
          <p:nvPr/>
        </p:nvSpPr>
        <p:spPr>
          <a:xfrm>
            <a:off x="544982" y="450159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9" name="R4 num"/>
          <p:cNvSpPr/>
          <p:nvPr/>
        </p:nvSpPr>
        <p:spPr>
          <a:xfrm>
            <a:off x="686714" y="4534967"/>
            <a:ext cx="1109167" cy="646481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04</a:t>
            </a:r>
            <a:endParaRPr lang="en-US" sz="3200" b="1" dirty="0"/>
          </a:p>
        </p:txBody>
      </p:sp>
      <p:sp>
        <p:nvSpPr>
          <p:cNvPr id="50" name="R4 text"/>
          <p:cNvSpPr/>
          <p:nvPr/>
        </p:nvSpPr>
        <p:spPr>
          <a:xfrm>
            <a:off x="1810512" y="4501591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use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out</a:t>
            </a: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call off</a:t>
            </a: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or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in</a:t>
            </a: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in a real sentence</a:t>
            </a:r>
            <a:endParaRPr lang="en-US" sz="1600" dirty="0"/>
          </a:p>
        </p:txBody>
      </p:sp>
      <p:sp>
        <p:nvSpPr>
          <p:cNvPr id="51" name="R4 dot"/>
          <p:cNvSpPr/>
          <p:nvPr/>
        </p:nvSpPr>
        <p:spPr>
          <a:xfrm rot="10800000">
            <a:off x="6361481" y="4635094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armup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487604" y="1352535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8465" y="1300277"/>
            <a:ext cx="5246827" cy="17830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 flipH="1">
            <a:off x="5503774" y="3276295"/>
            <a:ext cx="6847942" cy="3931006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5" name="pic" descr="Offer: a speech balloon and a gift [sign: OFFER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0393" y="2104034"/>
            <a:ext cx="4754880" cy="3328416"/>
          </a:xfrm>
          <a:prstGeom prst="rect">
            <a:avLst/>
          </a:prstGeom>
        </p:spPr>
      </p:pic>
      <p:sp>
        <p:nvSpPr>
          <p:cNvPr id="7" name="title"/>
          <p:cNvSpPr/>
          <p:nvPr/>
        </p:nvSpPr>
        <p:spPr>
          <a:xfrm>
            <a:off x="548640" y="1764792"/>
            <a:ext cx="51206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</p:txBody>
      </p:sp>
      <p:sp>
        <p:nvSpPr>
          <p:cNvPr id="8" name="kicker"/>
          <p:cNvSpPr/>
          <p:nvPr/>
        </p:nvSpPr>
        <p:spPr>
          <a:xfrm>
            <a:off x="599846" y="1371600"/>
            <a:ext cx="484632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  ·  6:00</a:t>
            </a:r>
            <a:endParaRPr lang="en-US" sz="2000" dirty="0" b="1"/>
          </a:p>
        </p:txBody>
      </p:sp>
      <p:sp>
        <p:nvSpPr>
          <p:cNvPr id="9" name="box1"/>
          <p:cNvSpPr/>
          <p:nvPr/>
        </p:nvSpPr>
        <p:spPr>
          <a:xfrm>
            <a:off x="599846" y="33832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A asks a card</a:t>
            </a:r>
            <a:endParaRPr lang="en-US" sz="1800" dirty="0" b="1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question. B answers in about four sentences. A asks one follow-up. Then switch.</a:t>
            </a:r>
            <a:endParaRPr lang="en-US" sz="1800" dirty="0"/>
          </a:p>
        </p:txBody>
      </p:sp>
      <p:sp>
        <p:nvSpPr>
          <p:cNvPr id="14" name="box2"/>
          <p:cNvSpPr/>
          <p:nvPr/>
        </p:nvSpPr>
        <p:spPr>
          <a:xfrm>
            <a:off x="599846" y="4754880"/>
            <a:ext cx="48463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sentences. A asks one follow-up. Then</a:t>
            </a:r>
            <a:endParaRPr lang="en-US" sz="18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switch.</a:t>
            </a:r>
            <a:endParaRPr lang="en-US" sz="18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numlist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Opening Talk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Cards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A asks a card question. B</a:t>
            </a:r>
            <a:endParaRPr lang="en-US" sz="1800" dirty="0"/>
          </a:p>
          <a:p>
            <a:pPr algn="l" indent="0" marL="0">
              <a:lnSpc>
                <a:spcPct val="120000"/>
              </a:lnSpc>
              <a:spcAft>
                <a:spcPts val="1400"/>
              </a:spcAft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answers in about four sentences. A asks one follow-up. Then switch.</a:t>
            </a:r>
            <a:endParaRPr lang="en-US" sz="1800" dirty="0" b="1"/>
          </a:p>
        </p:txBody>
      </p:sp>
      <p:sp>
        <p:nvSpPr>
          <p:cNvPr id="31" name="R1 shadow"/>
          <p:cNvSpPr/>
          <p:nvPr/>
        </p:nvSpPr>
        <p:spPr>
          <a:xfrm>
            <a:off x="544982" y="2471623"/>
            <a:ext cx="6227064" cy="60259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2" name="R1 card"/>
          <p:cNvSpPr/>
          <p:nvPr/>
        </p:nvSpPr>
        <p:spPr>
          <a:xfrm>
            <a:off x="1583741" y="2414016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3" name="R1 chip"/>
          <p:cNvSpPr/>
          <p:nvPr/>
        </p:nvSpPr>
        <p:spPr>
          <a:xfrm>
            <a:off x="544982" y="2414016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4" name="R1 num"/>
          <p:cNvSpPr/>
          <p:nvPr/>
        </p:nvSpPr>
        <p:spPr>
          <a:xfrm>
            <a:off x="686714" y="2414016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b="1" dirty="0"/>
          </a:p>
        </p:txBody>
      </p:sp>
      <p:sp>
        <p:nvSpPr>
          <p:cNvPr id="35" name="R1 text"/>
          <p:cNvSpPr/>
          <p:nvPr/>
        </p:nvSpPr>
        <p:spPr>
          <a:xfrm>
            <a:off x="1810512" y="2414016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with a partner. A asks a card question. B answers in about four</a:t>
            </a:r>
            <a:endParaRPr lang="en-US" sz="1500" dirty="0"/>
          </a:p>
        </p:txBody>
      </p:sp>
      <p:sp>
        <p:nvSpPr>
          <p:cNvPr id="36" name="R1 dot"/>
          <p:cNvSpPr/>
          <p:nvPr/>
        </p:nvSpPr>
        <p:spPr>
          <a:xfrm rot="10800000">
            <a:off x="6361481" y="2547518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7" name="R2 card"/>
          <p:cNvSpPr/>
          <p:nvPr/>
        </p:nvSpPr>
        <p:spPr>
          <a:xfrm>
            <a:off x="1583741" y="3125419"/>
            <a:ext cx="5130698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R2 chip"/>
          <p:cNvSpPr/>
          <p:nvPr/>
        </p:nvSpPr>
        <p:spPr>
          <a:xfrm>
            <a:off x="544982" y="3125419"/>
            <a:ext cx="1039673" cy="60259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9" name="R2 num"/>
          <p:cNvSpPr/>
          <p:nvPr/>
        </p:nvSpPr>
        <p:spPr>
          <a:xfrm>
            <a:off x="686714" y="3125419"/>
            <a:ext cx="1109167" cy="60259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200" b="1" dirty="0"/>
          </a:p>
        </p:txBody>
      </p:sp>
      <p:sp>
        <p:nvSpPr>
          <p:cNvPr id="40" name="R2 text"/>
          <p:cNvSpPr/>
          <p:nvPr/>
        </p:nvSpPr>
        <p:spPr>
          <a:xfrm>
            <a:off x="1810512" y="3125419"/>
            <a:ext cx="443484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sentences. A asks one follow-up. Then switch.</a:t>
            </a:r>
            <a:endParaRPr lang="en-US" sz="1500" dirty="0"/>
          </a:p>
        </p:txBody>
      </p:sp>
      <p:sp>
        <p:nvSpPr>
          <p:cNvPr id="41" name="R2 dot"/>
          <p:cNvSpPr/>
          <p:nvPr/>
        </p:nvSpPr>
        <p:spPr>
          <a:xfrm rot="10800000">
            <a:off x="6361481" y="3258922"/>
            <a:ext cx="88697" cy="76810"/>
          </a:xfrm>
          <a:prstGeom prst="triangle">
            <a:avLst/>
          </a:prstGeom>
          <a:solidFill>
            <a:srgbClr val="8FAFE3"/>
          </a:solidFill>
          <a:ln/>
        </p:spPr>
        <p:txBody>
          <a:bodyPr/>
          <a:p/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Look. Listen.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Repeat.</a:t>
            </a:r>
            <a:endParaRPr lang="en-US" sz="2200" dirty="0" b="1"/>
          </a:p>
        </p:txBody>
      </p:sp>
      <p:pic>
        <p:nvPicPr>
          <p:cNvPr id="17" name="Word picture 1" descr="Compromise: a handshake [sign: COMPROMISE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compromise</a:t>
            </a:r>
            <a:endParaRPr lang="en-US" sz="2000" dirty="0" b="1"/>
          </a:p>
        </p:txBody>
      </p:sp>
      <p:pic>
        <p:nvPicPr>
          <p:cNvPr id="19" name="Word picture 2" descr="Offer: a speech balloon and a gift [sign: OFFER]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offer</a:t>
            </a:r>
            <a:endParaRPr lang="en-US" sz="2000" dirty="0" b="1"/>
          </a:p>
        </p:txBody>
      </p:sp>
      <p:pic>
        <p:nvPicPr>
          <p:cNvPr id="21" name="Word picture 3" descr="Counteroffer: swap arrows and a speech balloon [sign: COUNTEROFFER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counteroffer</a:t>
            </a:r>
            <a:endParaRPr lang="en-US" sz="2000" dirty="0" b="1"/>
          </a:p>
        </p:txBody>
      </p:sp>
      <p:pic>
        <p:nvPicPr>
          <p:cNvPr id="23" name="Word picture 4" descr="Priority: a star [sign: PRIORITY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priority</a:t>
            </a:r>
            <a:endParaRPr lang="en-US" sz="2000" dirty="0" b="1"/>
          </a:p>
        </p:txBody>
      </p:sp>
      <p:pic>
        <p:nvPicPr>
          <p:cNvPr id="25" name="Word picture 5" descr="Shared task: two people and a clipboard [sign: SHARED TASK]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shared task</a:t>
            </a:r>
            <a:endParaRPr lang="en-US" sz="2000" dirty="0" b="1"/>
          </a:p>
        </p:txBody>
      </p:sp>
      <p:pic>
        <p:nvPicPr>
          <p:cNvPr id="27" name="Word picture 6" descr="Solution: a light bulb [sign: SOLUTION]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solution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word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541325" y="2231136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 flipH="1" flipV="1">
            <a:off x="541325" y="2090318"/>
            <a:ext cx="10958170" cy="4343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630738" y="517002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5666537" y="462686"/>
            <a:ext cx="6063386" cy="133136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5938114" y="594360"/>
            <a:ext cx="56692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9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More New Words</a:t>
            </a:r>
            <a:endParaRPr lang="en-US" sz="4900" dirty="0" b="1"/>
          </a:p>
        </p:txBody>
      </p:sp>
      <p:sp>
        <p:nvSpPr>
          <p:cNvPr id="9" name="instr card"/>
          <p:cNvSpPr/>
          <p:nvPr/>
        </p:nvSpPr>
        <p:spPr>
          <a:xfrm>
            <a:off x="1121969" y="587045"/>
            <a:ext cx="3557930" cy="114300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" name="instr"/>
          <p:cNvSpPr/>
          <p:nvPr/>
        </p:nvSpPr>
        <p:spPr>
          <a:xfrm>
            <a:off x="1325880" y="685800"/>
            <a:ext cx="2468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Partner game:</a:t>
            </a:r>
            <a:endParaRPr lang="en-US" sz="2200" dirty="0" b="1"/>
          </a:p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 in a sentence</a:t>
            </a:r>
            <a:endParaRPr lang="en-US" sz="2200" dirty="0" b="1"/>
          </a:p>
        </p:txBody>
      </p:sp>
      <p:pic>
        <p:nvPicPr>
          <p:cNvPr id="17" name="Word picture 1" descr="Fairness: a balance scale [sign: FAIR]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48410" y="2286000"/>
            <a:ext cx="1920240" cy="1344168"/>
          </a:xfrm>
          <a:prstGeom prst="rect">
            <a:avLst/>
          </a:prstGeom>
        </p:spPr>
      </p:pic>
      <p:sp>
        <p:nvSpPr>
          <p:cNvPr id="18" name="Word label 1"/>
          <p:cNvSpPr/>
          <p:nvPr/>
        </p:nvSpPr>
        <p:spPr>
          <a:xfrm>
            <a:off x="85405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fairness</a:t>
            </a:r>
            <a:endParaRPr lang="en-US" sz="2000" dirty="0" b="1"/>
          </a:p>
        </p:txBody>
      </p:sp>
      <p:pic>
        <p:nvPicPr>
          <p:cNvPr id="19" name="Word picture 2" descr="Sticky note: a memo and a pushpin [sign: NOTE]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60290" y="2286000"/>
            <a:ext cx="1920240" cy="1344168"/>
          </a:xfrm>
          <a:prstGeom prst="rect">
            <a:avLst/>
          </a:prstGeom>
        </p:spPr>
      </p:pic>
      <p:sp>
        <p:nvSpPr>
          <p:cNvPr id="20" name="Word label 2"/>
          <p:cNvSpPr/>
          <p:nvPr/>
        </p:nvSpPr>
        <p:spPr>
          <a:xfrm>
            <a:off x="446593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sticky note</a:t>
            </a:r>
            <a:endParaRPr lang="en-US" sz="2000" dirty="0" b="1"/>
          </a:p>
        </p:txBody>
      </p:sp>
      <p:pic>
        <p:nvPicPr>
          <p:cNvPr id="21" name="Word picture 3" descr="Break time: a coffee cup and an alarm clock [sign: BREAK]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672170" y="2286000"/>
            <a:ext cx="1920240" cy="1344168"/>
          </a:xfrm>
          <a:prstGeom prst="rect">
            <a:avLst/>
          </a:prstGeom>
        </p:spPr>
      </p:pic>
      <p:sp>
        <p:nvSpPr>
          <p:cNvPr id="22" name="Word label 3"/>
          <p:cNvSpPr/>
          <p:nvPr/>
        </p:nvSpPr>
        <p:spPr>
          <a:xfrm>
            <a:off x="8077810" y="3703320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break time</a:t>
            </a:r>
            <a:endParaRPr lang="en-US" sz="2000" dirty="0" b="1"/>
          </a:p>
        </p:txBody>
      </p:sp>
      <p:pic>
        <p:nvPicPr>
          <p:cNvPr id="23" name="Word picture 4" descr="Swap: swap arrows [sign: SWAP]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448410" y="4315968"/>
            <a:ext cx="1920240" cy="1344168"/>
          </a:xfrm>
          <a:prstGeom prst="rect">
            <a:avLst/>
          </a:prstGeom>
        </p:spPr>
      </p:pic>
      <p:sp>
        <p:nvSpPr>
          <p:cNvPr id="24" name="Word label 4"/>
          <p:cNvSpPr/>
          <p:nvPr/>
        </p:nvSpPr>
        <p:spPr>
          <a:xfrm>
            <a:off x="85405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★</a:t>
            </a: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swap</a:t>
            </a:r>
            <a:endParaRPr lang="en-US" sz="2000" dirty="0" b="1"/>
          </a:p>
        </p:txBody>
      </p:sp>
      <p:pic>
        <p:nvPicPr>
          <p:cNvPr id="25" name="Word picture 5" descr="Whiteboard: a chart and a pen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0290" y="4315968"/>
            <a:ext cx="1920240" cy="1344168"/>
          </a:xfrm>
          <a:prstGeom prst="rect">
            <a:avLst/>
          </a:prstGeom>
        </p:spPr>
      </p:pic>
      <p:sp>
        <p:nvSpPr>
          <p:cNvPr id="26" name="Word label 5"/>
          <p:cNvSpPr/>
          <p:nvPr/>
        </p:nvSpPr>
        <p:spPr>
          <a:xfrm>
            <a:off x="446593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whiteboard</a:t>
            </a:r>
            <a:endParaRPr lang="en-US" sz="2000" dirty="0" b="1"/>
          </a:p>
        </p:txBody>
      </p:sp>
      <p:pic>
        <p:nvPicPr>
          <p:cNvPr id="27" name="Word picture 6" descr="Middle: a left arrow, a star, and a right arrow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672170" y="4315968"/>
            <a:ext cx="1920240" cy="1344168"/>
          </a:xfrm>
          <a:prstGeom prst="rect">
            <a:avLst/>
          </a:prstGeom>
        </p:spPr>
      </p:pic>
      <p:sp>
        <p:nvSpPr>
          <p:cNvPr id="28" name="Word label 6"/>
          <p:cNvSpPr/>
          <p:nvPr/>
        </p:nvSpPr>
        <p:spPr>
          <a:xfrm>
            <a:off x="8077810" y="5733288"/>
            <a:ext cx="3108960" cy="5029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middle</a:t>
            </a:r>
            <a:endParaRPr lang="en-US" sz="20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ec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685800" y="502920"/>
            <a:ext cx="10789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Check the Meaning</a:t>
            </a:r>
            <a:endParaRPr lang="en-US" sz="4300" dirty="0" b="1"/>
          </a:p>
        </p:txBody>
      </p:sp>
      <p:sp>
        <p:nvSpPr>
          <p:cNvPr id="3" name="sub"/>
          <p:cNvSpPr/>
          <p:nvPr/>
        </p:nvSpPr>
        <p:spPr>
          <a:xfrm>
            <a:off x="685800" y="15544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Look at the picture. Answer the question.</a:t>
            </a:r>
            <a:endParaRPr lang="en-US" sz="2400" dirty="0"/>
          </a:p>
        </p:txBody>
      </p:sp>
      <p:sp>
        <p:nvSpPr>
          <p:cNvPr id="4" name="R1 shadow"/>
          <p:cNvSpPr/>
          <p:nvPr/>
        </p:nvSpPr>
        <p:spPr>
          <a:xfrm>
            <a:off x="7589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R1 card"/>
          <p:cNvSpPr/>
          <p:nvPr/>
        </p:nvSpPr>
        <p:spPr>
          <a:xfrm>
            <a:off x="6858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6" name="R1 circle"/>
          <p:cNvSpPr/>
          <p:nvPr/>
        </p:nvSpPr>
        <p:spPr>
          <a:xfrm>
            <a:off x="9601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7" name="R1 num"/>
          <p:cNvSpPr/>
          <p:nvPr/>
        </p:nvSpPr>
        <p:spPr>
          <a:xfrm>
            <a:off x="9601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500" dirty="0"/>
          </a:p>
        </p:txBody>
      </p:sp>
      <p:sp>
        <p:nvSpPr>
          <p:cNvPr id="8" name="R1 q"/>
          <p:cNvSpPr/>
          <p:nvPr/>
        </p:nvSpPr>
        <p:spPr>
          <a:xfrm>
            <a:off x="9601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a compromise one person winning?</a:t>
            </a:r>
            <a:endParaRPr lang="en-US" sz="1600" dirty="0" b="1"/>
          </a:p>
        </p:txBody>
      </p:sp>
      <p:pic>
        <p:nvPicPr>
          <p:cNvPr id="101" name="R1 pic" descr="Compromise: a handshake [sign: COMPROMISE]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3080" y="2560320"/>
            <a:ext cx="1920240" cy="1344168"/>
          </a:xfrm>
          <a:prstGeom prst="rect">
            <a:avLst/>
          </a:prstGeom>
        </p:spPr>
      </p:pic>
      <p:sp>
        <p:nvSpPr>
          <p:cNvPr id="10" name="R2 shadow"/>
          <p:cNvSpPr/>
          <p:nvPr/>
        </p:nvSpPr>
        <p:spPr>
          <a:xfrm>
            <a:off x="44165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1" name="R2 card"/>
          <p:cNvSpPr/>
          <p:nvPr/>
        </p:nvSpPr>
        <p:spPr>
          <a:xfrm>
            <a:off x="43434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C9B8F2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2" name="R2 circle"/>
          <p:cNvSpPr/>
          <p:nvPr/>
        </p:nvSpPr>
        <p:spPr>
          <a:xfrm>
            <a:off x="46177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3" name="R2 num"/>
          <p:cNvSpPr/>
          <p:nvPr/>
        </p:nvSpPr>
        <p:spPr>
          <a:xfrm>
            <a:off x="46177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500" dirty="0"/>
          </a:p>
        </p:txBody>
      </p:sp>
      <p:sp>
        <p:nvSpPr>
          <p:cNvPr id="14" name="R2 q"/>
          <p:cNvSpPr/>
          <p:nvPr/>
        </p:nvSpPr>
        <p:spPr>
          <a:xfrm>
            <a:off x="46177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Does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in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take an object here?</a:t>
            </a:r>
            <a:endParaRPr lang="en-US" sz="1600" dirty="0" b="1"/>
          </a:p>
        </p:txBody>
      </p:sp>
      <p:pic>
        <p:nvPicPr>
          <p:cNvPr id="102" name="R2 pic" descr="Offer: a speech balloon and a gift [sign: OFFER]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40680" y="2560320"/>
            <a:ext cx="1920240" cy="1344168"/>
          </a:xfrm>
          <a:prstGeom prst="rect">
            <a:avLst/>
          </a:prstGeom>
        </p:spPr>
      </p:pic>
      <p:sp>
        <p:nvSpPr>
          <p:cNvPr id="16" name="R3 shadow"/>
          <p:cNvSpPr/>
          <p:nvPr/>
        </p:nvSpPr>
        <p:spPr>
          <a:xfrm>
            <a:off x="8074152" y="2395728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7" name="R3 card"/>
          <p:cNvSpPr/>
          <p:nvPr/>
        </p:nvSpPr>
        <p:spPr>
          <a:xfrm>
            <a:off x="8001000" y="2286000"/>
            <a:ext cx="3291840" cy="338328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 w="19050">
            <a:solidFill>
              <a:srgbClr val="8FAFE3"/>
            </a:solidFill>
            <a:prstDash val="solid"/>
          </a:ln>
        </p:spPr>
        <p:txBody>
          <a:bodyPr/>
          <a:p/>
        </p:txBody>
      </p:sp>
      <p:sp>
        <p:nvSpPr>
          <p:cNvPr id="18" name="R3 circle"/>
          <p:cNvSpPr/>
          <p:nvPr/>
        </p:nvSpPr>
        <p:spPr>
          <a:xfrm>
            <a:off x="8275320" y="2560320"/>
            <a:ext cx="731520" cy="731520"/>
          </a:xfrm>
          <a:prstGeom prst="ellipse">
            <a:avLst/>
          </a:prstGeom>
          <a:solidFill>
            <a:srgbClr val="FFE28C"/>
          </a:solidFill>
          <a:ln/>
        </p:spPr>
        <p:txBody>
          <a:bodyPr/>
          <a:p/>
        </p:txBody>
      </p:sp>
      <p:sp>
        <p:nvSpPr>
          <p:cNvPr id="19" name="R3 num"/>
          <p:cNvSpPr/>
          <p:nvPr/>
        </p:nvSpPr>
        <p:spPr>
          <a:xfrm>
            <a:off x="827532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500" dirty="0"/>
          </a:p>
        </p:txBody>
      </p:sp>
      <p:sp>
        <p:nvSpPr>
          <p:cNvPr id="20" name="R3 q"/>
          <p:cNvSpPr/>
          <p:nvPr/>
        </p:nvSpPr>
        <p:spPr>
          <a:xfrm>
            <a:off x="8275320" y="3931920"/>
            <a:ext cx="2788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Which is right: </a:t>
            </a:r>
            <a:r>
              <a:rPr lang="en-US" sz="1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 busy that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, or </a:t>
            </a:r>
            <a:r>
              <a:rPr lang="en-US" sz="14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 busy so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?</a:t>
            </a:r>
            <a:endParaRPr lang="en-US" sz="1400" dirty="0" b="1"/>
          </a:p>
        </p:txBody>
      </p:sp>
      <p:pic>
        <p:nvPicPr>
          <p:cNvPr id="103" name="R3 pic" descr="Counteroffer: swap arrows and a speech balloon [sign: COUNTEROFFER]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98280" y="2560320"/>
            <a:ext cx="1920240" cy="1344168"/>
          </a:xfrm>
          <a:prstGeom prst="rect">
            <a:avLst/>
          </a:prstGeom>
        </p:spPr>
      </p:pic>
      <p:sp>
        <p:nvSpPr>
          <p:cNvPr id="25" name="R1 ans"/>
          <p:cNvSpPr/>
          <p:nvPr/>
        </p:nvSpPr>
        <p:spPr>
          <a:xfrm>
            <a:off x="9601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No. A middle idea.</a:t>
            </a:r>
            <a:endParaRPr lang="en-US" sz="1800" dirty="0" b="1"/>
          </a:p>
        </p:txBody>
      </p:sp>
      <p:sp>
        <p:nvSpPr>
          <p:cNvPr id="26" name="R2 ans"/>
          <p:cNvSpPr/>
          <p:nvPr/>
        </p:nvSpPr>
        <p:spPr>
          <a:xfrm>
            <a:off x="46177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No.</a:t>
            </a:r>
            <a:endParaRPr lang="en-US" sz="2800" dirty="0" b="1"/>
          </a:p>
        </p:txBody>
      </p:sp>
      <p:sp>
        <p:nvSpPr>
          <p:cNvPr id="27" name="R3 ans"/>
          <p:cNvSpPr/>
          <p:nvPr/>
        </p:nvSpPr>
        <p:spPr>
          <a:xfrm>
            <a:off x="8275320" y="4709160"/>
            <a:ext cx="2286000" cy="68580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 busy that</a:t>
            </a:r>
            <a:endParaRPr lang="en-US" sz="22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befor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3063240" cy="68580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8156448" y="1289304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8321040" y="1097280"/>
            <a:ext cx="3429000" cy="498348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94847" y="1032586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420770" y="956462"/>
            <a:ext cx="4424782" cy="1863547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1"/>
          <p:cNvSpPr/>
          <p:nvPr/>
        </p:nvSpPr>
        <p:spPr>
          <a:xfrm>
            <a:off x="3566160" y="1078992"/>
            <a:ext cx="411480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</a:t>
            </a:r>
            <a:endParaRPr lang="en-US" sz="4400" dirty="0" b="1"/>
          </a:p>
        </p:txBody>
      </p:sp>
      <p:sp>
        <p:nvSpPr>
          <p:cNvPr id="9" name="title2"/>
          <p:cNvSpPr/>
          <p:nvPr/>
        </p:nvSpPr>
        <p:spPr>
          <a:xfrm>
            <a:off x="3566160" y="1828800"/>
            <a:ext cx="4114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</a:t>
            </a:r>
            <a:endParaRPr lang="en-US" sz="4400" dirty="0" b="1"/>
          </a:p>
        </p:txBody>
      </p:sp>
      <p:sp>
        <p:nvSpPr>
          <p:cNvPr id="10" name="context"/>
          <p:cNvSpPr/>
          <p:nvPr/>
        </p:nvSpPr>
        <p:spPr>
          <a:xfrm>
            <a:off x="3487522" y="310896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Camila and Jon both need Saturday.</a:t>
            </a:r>
            <a:endParaRPr lang="en-US" sz="1800" dirty="0"/>
          </a:p>
        </p:txBody>
      </p:sp>
      <p:sp>
        <p:nvSpPr>
          <p:cNvPr id="11" name="R1 num"/>
          <p:cNvSpPr/>
          <p:nvPr/>
        </p:nvSpPr>
        <p:spPr>
          <a:xfrm>
            <a:off x="3383280" y="4114800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600" dirty="0"/>
          </a:p>
        </p:txBody>
      </p:sp>
      <p:sp>
        <p:nvSpPr>
          <p:cNvPr id="13" name="R2 num"/>
          <p:cNvSpPr/>
          <p:nvPr/>
        </p:nvSpPr>
        <p:spPr>
          <a:xfrm>
            <a:off x="3383280" y="4919472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600" dirty="0"/>
          </a:p>
        </p:txBody>
      </p:sp>
      <p:sp>
        <p:nvSpPr>
          <p:cNvPr id="15" name="R3 num"/>
          <p:cNvSpPr/>
          <p:nvPr/>
        </p:nvSpPr>
        <p:spPr>
          <a:xfrm>
            <a:off x="3383280" y="5724144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line 1"/>
          <p:cNvSpPr/>
          <p:nvPr/>
        </p:nvSpPr>
        <p:spPr>
          <a:xfrm>
            <a:off x="3503066" y="4928616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8" name="line 2"/>
          <p:cNvSpPr/>
          <p:nvPr/>
        </p:nvSpPr>
        <p:spPr>
          <a:xfrm>
            <a:off x="3503066" y="5733288"/>
            <a:ext cx="4480560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pic>
        <p:nvPicPr>
          <p:cNvPr id="24" name="pic" descr="Counteroffer: swap arrows and a speech balloon [sign: COUNTEROFFER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" y="2423160"/>
            <a:ext cx="2743200" cy="1920240"/>
          </a:xfrm>
          <a:prstGeom prst="rect">
            <a:avLst/>
          </a:prstGeom>
        </p:spPr>
      </p:pic>
      <p:sp>
        <p:nvSpPr>
          <p:cNvPr id="25" name="R1 hl"/>
          <p:cNvSpPr/>
          <p:nvPr/>
        </p:nvSpPr>
        <p:spPr>
          <a:xfrm>
            <a:off x="4389120" y="4251960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7" name="R1 voice"/>
          <p:cNvSpPr/>
          <p:nvPr/>
        </p:nvSpPr>
        <p:spPr>
          <a:xfrm>
            <a:off x="4389120" y="4251960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Ms. Nguyen</a:t>
            </a:r>
            <a:endParaRPr lang="en-US" sz="2200" dirty="0" b="1"/>
          </a:p>
        </p:txBody>
      </p:sp>
      <p:sp>
        <p:nvSpPr>
          <p:cNvPr id="29" name="R2 hl"/>
          <p:cNvSpPr/>
          <p:nvPr/>
        </p:nvSpPr>
        <p:spPr>
          <a:xfrm>
            <a:off x="4389120" y="5056632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1" name="R2 voice"/>
          <p:cNvSpPr/>
          <p:nvPr/>
        </p:nvSpPr>
        <p:spPr>
          <a:xfrm>
            <a:off x="4389120" y="5056632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Camila</a:t>
            </a:r>
            <a:endParaRPr lang="en-US" sz="2200" dirty="0" b="1"/>
          </a:p>
        </p:txBody>
      </p:sp>
      <p:sp>
        <p:nvSpPr>
          <p:cNvPr id="33" name="R3 hl"/>
          <p:cNvSpPr/>
          <p:nvPr/>
        </p:nvSpPr>
        <p:spPr>
          <a:xfrm>
            <a:off x="4389120" y="5861304"/>
            <a:ext cx="3566160" cy="548640"/>
          </a:xfrm>
          <a:prstGeom prst="roundRect">
            <a:avLst>
              <a:gd name="adj" fmla="val 22000"/>
            </a:avLst>
          </a:prstGeom>
          <a:solidFill>
            <a:srgbClr val="FFE28C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5" name="R3 voice"/>
          <p:cNvSpPr/>
          <p:nvPr/>
        </p:nvSpPr>
        <p:spPr>
          <a:xfrm>
            <a:off x="4389120" y="5861304"/>
            <a:ext cx="35661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Jon</a:t>
            </a:r>
            <a:endParaRPr lang="en-US" sz="2200" dirty="0" b="1"/>
          </a:p>
        </p:txBody>
      </p:sp>
      <p:sp>
        <p:nvSpPr>
          <p:cNvPr id="37" name="listen head"/>
          <p:cNvSpPr/>
          <p:nvPr/>
        </p:nvSpPr>
        <p:spPr>
          <a:xfrm>
            <a:off x="8549640" y="1280160"/>
            <a:ext cx="3017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for:</a:t>
            </a:r>
            <a:endParaRPr lang="en-US" sz="2400" dirty="0" b="1"/>
          </a:p>
        </p:txBody>
      </p:sp>
      <p:sp>
        <p:nvSpPr>
          <p:cNvPr id="39" name="listen 1"/>
          <p:cNvSpPr/>
          <p:nvPr/>
        </p:nvSpPr>
        <p:spPr>
          <a:xfrm>
            <a:off x="8549640" y="196596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What is the problem?</a:t>
            </a:r>
            <a:endParaRPr lang="en-US" sz="2200" dirty="0"/>
          </a:p>
        </p:txBody>
      </p:sp>
      <p:sp>
        <p:nvSpPr>
          <p:cNvPr id="41" name="listen 2"/>
          <p:cNvSpPr/>
          <p:nvPr/>
        </p:nvSpPr>
        <p:spPr>
          <a:xfrm>
            <a:off x="8549640" y="301752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| 6:12–6:32 | Listening (play 1 Task A, play 2 Tasks B and C) + Hear</a:t>
            </a:r>
            <a:endParaRPr lang="en-US" sz="2200" dirty="0"/>
          </a:p>
        </p:txBody>
      </p:sp>
      <p:sp>
        <p:nvSpPr>
          <p:cNvPr id="43" name="audio"/>
          <p:cNvSpPr/>
          <p:nvPr/>
        </p:nvSpPr>
        <p:spPr>
          <a:xfrm>
            <a:off x="8549640" y="4069080"/>
            <a:ext cx="3063240" cy="91440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about 2:11. It plays once.</a:t>
            </a:r>
            <a:endParaRPr lang="en-US" sz="2200" dirty="0"/>
          </a:p>
        </p:txBody>
      </p:sp>
      <p:sp>
        <p:nvSpPr>
          <p:cNvPr id="46" name="play"/>
          <p:cNvSpPr/>
          <p:nvPr/>
        </p:nvSpPr>
        <p:spPr>
          <a:xfrm>
            <a:off x="8549640" y="5029200"/>
            <a:ext cx="3017520" cy="73152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Play 1: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Task A</a:t>
            </a:r>
            <a:endParaRPr lang="en-US" sz="2200" dirty="0" b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A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Listen. What is the problem?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1453896" cy="530352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/>
              <a:t>1.</a:t>
            </a:r>
            <a:endParaRPr lang="en-US" sz="1600" dirty="0"/>
          </a:p>
        </p:txBody>
      </p:sp>
      <p:sp>
        <p:nvSpPr>
          <p:cNvPr id="9" name="R1 opt1"/>
          <p:cNvSpPr/>
          <p:nvPr/>
        </p:nvSpPr>
        <p:spPr>
          <a:xfrm>
            <a:off x="2139696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a. Camila wants a new job</a:t>
            </a:r>
            <a:endParaRPr lang="en-US" sz="1500" dirty="0" b="1"/>
          </a:p>
        </p:txBody>
      </p:sp>
      <p:sp>
        <p:nvSpPr>
          <p:cNvPr id="10" name="R1 opt2"/>
          <p:cNvSpPr/>
          <p:nvPr/>
        </p:nvSpPr>
        <p:spPr>
          <a:xfrm>
            <a:off x="5367528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Both need Saturday off</a:t>
            </a:r>
            <a:endParaRPr lang="en-US" sz="1500" dirty="0" b="1"/>
          </a:p>
        </p:txBody>
      </p:sp>
      <p:sp>
        <p:nvSpPr>
          <p:cNvPr id="11" name="R1 opt3"/>
          <p:cNvSpPr/>
          <p:nvPr/>
        </p:nvSpPr>
        <p:spPr>
          <a:xfrm>
            <a:off x="8595360" y="3108960"/>
            <a:ext cx="3154680" cy="530352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c. The store is closed</a:t>
            </a:r>
            <a:endParaRPr lang="en-US" sz="1500" dirty="0" b="1"/>
          </a:p>
        </p:txBody>
      </p:sp>
      <p:sp>
        <p:nvSpPr>
          <p:cNvPr id="12" name="R1 circle"/>
          <p:cNvSpPr/>
          <p:nvPr/>
        </p:nvSpPr>
        <p:spPr>
          <a:xfrm>
            <a:off x="5239512" y="3054096"/>
            <a:ext cx="3410712" cy="640080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B. Listen again. Circle the answers.</a:t>
            </a:r>
            <a:endParaRPr lang="en-US" sz="16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4480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1. Camila's priority</a:t>
            </a:r>
            <a:endParaRPr lang="en-US" sz="1300" dirty="0"/>
          </a:p>
        </p:txBody>
      </p:sp>
      <p:sp>
        <p:nvSpPr>
          <p:cNvPr id="9" name="R1 opt1"/>
          <p:cNvSpPr/>
          <p:nvPr/>
        </p:nvSpPr>
        <p:spPr>
          <a:xfrm>
            <a:off x="5166360" y="31089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morning class</a:t>
            </a:r>
            <a:endParaRPr lang="en-US" sz="1200" dirty="0" b="1"/>
          </a:p>
        </p:txBody>
      </p:sp>
      <p:sp>
        <p:nvSpPr>
          <p:cNvPr id="10" name="R1 opt2"/>
          <p:cNvSpPr/>
          <p:nvPr/>
        </p:nvSpPr>
        <p:spPr>
          <a:xfrm>
            <a:off x="7452360" y="31089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 afternoon visit</a:t>
            </a:r>
            <a:endParaRPr lang="en-US" sz="1200" dirty="0" b="1"/>
          </a:p>
        </p:txBody>
      </p:sp>
      <p:sp>
        <p:nvSpPr>
          <p:cNvPr id="11" name="R1 opt3"/>
          <p:cNvSpPr/>
          <p:nvPr/>
        </p:nvSpPr>
        <p:spPr>
          <a:xfrm>
            <a:off x="9738360" y="31089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second job</a:t>
            </a:r>
            <a:endParaRPr lang="en-US" sz="1200" dirty="0" b="1"/>
          </a:p>
        </p:txBody>
      </p:sp>
      <p:sp>
        <p:nvSpPr>
          <p:cNvPr id="12" name="R1 circle"/>
          <p:cNvSpPr/>
          <p:nvPr/>
        </p:nvSpPr>
        <p:spPr>
          <a:xfrm>
            <a:off x="5038344" y="305409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3" name="R2 stmt"/>
          <p:cNvSpPr/>
          <p:nvPr/>
        </p:nvSpPr>
        <p:spPr>
          <a:xfrm>
            <a:off x="502920" y="3657600"/>
            <a:ext cx="4480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2. Jon's limit</a:t>
            </a:r>
            <a:endParaRPr lang="en-US" sz="1300" dirty="0"/>
          </a:p>
        </p:txBody>
      </p:sp>
      <p:sp>
        <p:nvSpPr>
          <p:cNvPr id="14" name="R2 opt1"/>
          <p:cNvSpPr/>
          <p:nvPr/>
        </p:nvSpPr>
        <p:spPr>
          <a:xfrm>
            <a:off x="5166360" y="365760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morning class</a:t>
            </a:r>
            <a:endParaRPr lang="en-US" sz="1200" dirty="0" b="1"/>
          </a:p>
        </p:txBody>
      </p:sp>
      <p:sp>
        <p:nvSpPr>
          <p:cNvPr id="15" name="R2 opt2"/>
          <p:cNvSpPr/>
          <p:nvPr/>
        </p:nvSpPr>
        <p:spPr>
          <a:xfrm>
            <a:off x="7452360" y="365760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 afternoon visit</a:t>
            </a:r>
            <a:endParaRPr lang="en-US" sz="1200" dirty="0" b="1"/>
          </a:p>
        </p:txBody>
      </p:sp>
      <p:sp>
        <p:nvSpPr>
          <p:cNvPr id="16" name="R2 opt3"/>
          <p:cNvSpPr/>
          <p:nvPr/>
        </p:nvSpPr>
        <p:spPr>
          <a:xfrm>
            <a:off x="9738360" y="365760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whiteboard</a:t>
            </a:r>
            <a:endParaRPr lang="en-US" sz="1200" dirty="0" b="1"/>
          </a:p>
        </p:txBody>
      </p:sp>
      <p:sp>
        <p:nvSpPr>
          <p:cNvPr id="17" name="R2 circle"/>
          <p:cNvSpPr/>
          <p:nvPr/>
        </p:nvSpPr>
        <p:spPr>
          <a:xfrm>
            <a:off x="7324344" y="360273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8" name="R3 stmt"/>
          <p:cNvSpPr/>
          <p:nvPr/>
        </p:nvSpPr>
        <p:spPr>
          <a:xfrm>
            <a:off x="502920" y="4206240"/>
            <a:ext cx="4480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3. They swap at</a:t>
            </a:r>
            <a:endParaRPr lang="en-US" sz="1300" dirty="0"/>
          </a:p>
        </p:txBody>
      </p:sp>
      <p:sp>
        <p:nvSpPr>
          <p:cNvPr id="19" name="R3 opt1"/>
          <p:cNvSpPr/>
          <p:nvPr/>
        </p:nvSpPr>
        <p:spPr>
          <a:xfrm>
            <a:off x="5166360" y="420624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ten</a:t>
            </a:r>
            <a:endParaRPr lang="en-US" sz="1200" dirty="0" b="1"/>
          </a:p>
        </p:txBody>
      </p:sp>
      <p:sp>
        <p:nvSpPr>
          <p:cNvPr id="20" name="R3 opt2"/>
          <p:cNvSpPr/>
          <p:nvPr/>
        </p:nvSpPr>
        <p:spPr>
          <a:xfrm>
            <a:off x="7452360" y="420624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twelve</a:t>
            </a:r>
            <a:endParaRPr lang="en-US" sz="1200" dirty="0" b="1"/>
          </a:p>
        </p:txBody>
      </p:sp>
      <p:sp>
        <p:nvSpPr>
          <p:cNvPr id="21" name="R3 opt3"/>
          <p:cNvSpPr/>
          <p:nvPr/>
        </p:nvSpPr>
        <p:spPr>
          <a:xfrm>
            <a:off x="9738360" y="420624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four</a:t>
            </a:r>
            <a:endParaRPr lang="en-US" sz="1200" dirty="0" b="1"/>
          </a:p>
        </p:txBody>
      </p:sp>
      <p:sp>
        <p:nvSpPr>
          <p:cNvPr id="22" name="R3 circle"/>
          <p:cNvSpPr/>
          <p:nvPr/>
        </p:nvSpPr>
        <p:spPr>
          <a:xfrm>
            <a:off x="7324344" y="415137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R4 stmt"/>
          <p:cNvSpPr/>
          <p:nvPr/>
        </p:nvSpPr>
        <p:spPr>
          <a:xfrm>
            <a:off x="502920" y="4754880"/>
            <a:ext cx="4480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4. The shift was</a:t>
            </a:r>
            <a:endParaRPr lang="en-US" sz="1300" dirty="0"/>
          </a:p>
        </p:txBody>
      </p:sp>
      <p:sp>
        <p:nvSpPr>
          <p:cNvPr id="24" name="R4 opt1"/>
          <p:cNvSpPr/>
          <p:nvPr/>
        </p:nvSpPr>
        <p:spPr>
          <a:xfrm>
            <a:off x="5166360" y="475488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 short</a:t>
            </a:r>
            <a:endParaRPr lang="en-US" sz="1200" dirty="0" b="1"/>
          </a:p>
        </p:txBody>
      </p:sp>
      <p:sp>
        <p:nvSpPr>
          <p:cNvPr id="25" name="R4 opt2"/>
          <p:cNvSpPr/>
          <p:nvPr/>
        </p:nvSpPr>
        <p:spPr>
          <a:xfrm>
            <a:off x="7452360" y="475488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such a long shift</a:t>
            </a:r>
            <a:endParaRPr lang="en-US" sz="1200" dirty="0" b="1"/>
          </a:p>
        </p:txBody>
      </p:sp>
      <p:sp>
        <p:nvSpPr>
          <p:cNvPr id="26" name="R4 opt3"/>
          <p:cNvSpPr/>
          <p:nvPr/>
        </p:nvSpPr>
        <p:spPr>
          <a:xfrm>
            <a:off x="9738360" y="475488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 easy</a:t>
            </a:r>
            <a:endParaRPr lang="en-US" sz="1200" dirty="0" b="1"/>
          </a:p>
        </p:txBody>
      </p:sp>
      <p:sp>
        <p:nvSpPr>
          <p:cNvPr id="27" name="R4 circle"/>
          <p:cNvSpPr/>
          <p:nvPr/>
        </p:nvSpPr>
        <p:spPr>
          <a:xfrm>
            <a:off x="7324344" y="470001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5 stmt"/>
          <p:cNvSpPr/>
          <p:nvPr/>
        </p:nvSpPr>
        <p:spPr>
          <a:xfrm>
            <a:off x="502920" y="5303520"/>
            <a:ext cx="4480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5. They write the plan on</a:t>
            </a:r>
            <a:endParaRPr lang="en-US" sz="1300" dirty="0"/>
          </a:p>
        </p:txBody>
      </p:sp>
      <p:sp>
        <p:nvSpPr>
          <p:cNvPr id="29" name="R5 opt1"/>
          <p:cNvSpPr/>
          <p:nvPr/>
        </p:nvSpPr>
        <p:spPr>
          <a:xfrm>
            <a:off x="5166360" y="530352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sticky note</a:t>
            </a:r>
            <a:endParaRPr lang="en-US" sz="1200" dirty="0" b="1"/>
          </a:p>
        </p:txBody>
      </p:sp>
      <p:sp>
        <p:nvSpPr>
          <p:cNvPr id="30" name="R5 opt2"/>
          <p:cNvSpPr/>
          <p:nvPr/>
        </p:nvSpPr>
        <p:spPr>
          <a:xfrm>
            <a:off x="7452360" y="530352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napkin</a:t>
            </a:r>
            <a:endParaRPr lang="en-US" sz="1200" dirty="0" b="1"/>
          </a:p>
        </p:txBody>
      </p:sp>
      <p:sp>
        <p:nvSpPr>
          <p:cNvPr id="31" name="R5 opt3"/>
          <p:cNvSpPr/>
          <p:nvPr/>
        </p:nvSpPr>
        <p:spPr>
          <a:xfrm>
            <a:off x="9738360" y="530352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menu</a:t>
            </a:r>
            <a:endParaRPr lang="en-US" sz="1200" dirty="0" b="1"/>
          </a:p>
        </p:txBody>
      </p:sp>
      <p:sp>
        <p:nvSpPr>
          <p:cNvPr id="32" name="R5 circle"/>
          <p:cNvSpPr/>
          <p:nvPr/>
        </p:nvSpPr>
        <p:spPr>
          <a:xfrm>
            <a:off x="5038344" y="524865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33" name="R6 stmt"/>
          <p:cNvSpPr/>
          <p:nvPr/>
        </p:nvSpPr>
        <p:spPr>
          <a:xfrm>
            <a:off x="502920" y="5852160"/>
            <a:ext cx="4480560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/>
              <a:t>6. Ms. Nguyen is going to</a:t>
            </a:r>
            <a:endParaRPr lang="en-US" sz="1300" dirty="0"/>
          </a:p>
        </p:txBody>
      </p:sp>
      <p:sp>
        <p:nvSpPr>
          <p:cNvPr id="34" name="R6 opt1"/>
          <p:cNvSpPr/>
          <p:nvPr/>
        </p:nvSpPr>
        <p:spPr>
          <a:xfrm>
            <a:off x="5166360" y="58521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call it off</a:t>
            </a:r>
            <a:endParaRPr lang="en-US" sz="1200" dirty="0" b="1"/>
          </a:p>
        </p:txBody>
      </p:sp>
      <p:sp>
        <p:nvSpPr>
          <p:cNvPr id="35" name="R6 opt2"/>
          <p:cNvSpPr/>
          <p:nvPr/>
        </p:nvSpPr>
        <p:spPr>
          <a:xfrm>
            <a:off x="7452360" y="58521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not call it off</a:t>
            </a:r>
            <a:endParaRPr lang="en-US" sz="1200" dirty="0" b="1"/>
          </a:p>
        </p:txBody>
      </p:sp>
      <p:sp>
        <p:nvSpPr>
          <p:cNvPr id="36" name="R6 opt3"/>
          <p:cNvSpPr/>
          <p:nvPr/>
        </p:nvSpPr>
        <p:spPr>
          <a:xfrm>
            <a:off x="9738360" y="58521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in</a:t>
            </a:r>
            <a:endParaRPr lang="en-US" sz="1200" dirty="0" b="1"/>
          </a:p>
        </p:txBody>
      </p:sp>
      <p:sp>
        <p:nvSpPr>
          <p:cNvPr id="37" name="R6 circle"/>
          <p:cNvSpPr/>
          <p:nvPr/>
        </p:nvSpPr>
        <p:spPr>
          <a:xfrm>
            <a:off x="7324344" y="579729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 again. Write so or su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Listening C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words.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check together.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week was ______ busy that we split Saturday.</a:t>
            </a:r>
            <a:endParaRPr lang="en-US" sz="1400" dirty="0"/>
          </a:p>
        </p:txBody>
      </p:sp>
      <p:sp>
        <p:nvSpPr>
          <p:cNvPr id="35" name="R1 ans"/>
          <p:cNvSpPr/>
          <p:nvPr/>
        </p:nvSpPr>
        <p:spPr>
          <a:xfrm>
            <a:off x="6016752" y="2222144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</a:t>
            </a:r>
            <a:endParaRPr lang="en-US" sz="16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was ______ a long shift that we shared it.</a:t>
            </a:r>
            <a:endParaRPr lang="en-US" sz="1400" dirty="0"/>
          </a:p>
        </p:txBody>
      </p:sp>
      <p:sp>
        <p:nvSpPr>
          <p:cNvPr id="40" name="R2 ans"/>
          <p:cNvSpPr/>
          <p:nvPr/>
        </p:nvSpPr>
        <p:spPr>
          <a:xfrm>
            <a:off x="6016752" y="2950312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such</a:t>
            </a:r>
            <a:endParaRPr lang="en-US" sz="16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visit is ______ important that I need the afternoon.</a:t>
            </a:r>
            <a:endParaRPr lang="en-US" sz="1400" dirty="0"/>
          </a:p>
        </p:txBody>
      </p:sp>
      <p:sp>
        <p:nvSpPr>
          <p:cNvPr id="45" name="R3 ans"/>
          <p:cNvSpPr/>
          <p:nvPr/>
        </p:nvSpPr>
        <p:spPr>
          <a:xfrm>
            <a:off x="6016752" y="3678479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</a:t>
            </a:r>
            <a:endParaRPr lang="en-US" sz="16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Noon is ______ a clear time that nobody has to guess.</a:t>
            </a:r>
            <a:endParaRPr lang="en-US" sz="1400" dirty="0"/>
          </a:p>
        </p:txBody>
      </p:sp>
      <p:sp>
        <p:nvSpPr>
          <p:cNvPr id="50" name="R4 ans"/>
          <p:cNvSpPr/>
          <p:nvPr/>
        </p:nvSpPr>
        <p:spPr>
          <a:xfrm>
            <a:off x="6016752" y="4406646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such</a:t>
            </a:r>
            <a:endParaRPr lang="en-US" sz="16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week was ______ busy that we need Saturday.</a:t>
            </a:r>
            <a:endParaRPr lang="en-US" sz="1400" dirty="0"/>
          </a:p>
        </p:txBody>
      </p:sp>
      <p:sp>
        <p:nvSpPr>
          <p:cNvPr id="55" name="R5 ans"/>
          <p:cNvSpPr/>
          <p:nvPr/>
        </p:nvSpPr>
        <p:spPr>
          <a:xfrm>
            <a:off x="6016752" y="5134813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</a:t>
            </a:r>
            <a:endParaRPr lang="en-US" sz="16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My class is ______ important that I need the morning.</a:t>
            </a:r>
            <a:endParaRPr lang="en-US" sz="1400" dirty="0"/>
          </a:p>
        </p:txBody>
      </p:sp>
      <p:sp>
        <p:nvSpPr>
          <p:cNvPr id="60" name="R6 ans"/>
          <p:cNvSpPr/>
          <p:nvPr/>
        </p:nvSpPr>
        <p:spPr>
          <a:xfrm>
            <a:off x="6016752" y="5862980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ecksay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681582"/>
            <a:ext cx="6227064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4982" y="1623974"/>
            <a:ext cx="6169457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691640"/>
            <a:ext cx="56692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it: gonna and wanna are short forms</a:t>
            </a:r>
            <a:endParaRPr lang="en-US" sz="1600" dirty="0" b="1"/>
          </a:p>
        </p:txBody>
      </p:sp>
      <p:sp>
        <p:nvSpPr>
          <p:cNvPr id="9" name="head2"/>
          <p:cNvSpPr/>
          <p:nvPr/>
        </p:nvSpPr>
        <p:spPr>
          <a:xfrm>
            <a:off x="868680" y="2093976"/>
            <a:ext cx="5577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it: use the full forms</a:t>
            </a:r>
            <a:endParaRPr lang="en-US" sz="1600" dirty="0"/>
          </a:p>
        </p:txBody>
      </p:sp>
      <p:sp>
        <p:nvSpPr>
          <p:cNvPr id="29" name="title"/>
          <p:cNvSpPr/>
          <p:nvPr/>
        </p:nvSpPr>
        <p:spPr>
          <a:xfrm>
            <a:off x="7634326" y="1783080"/>
            <a:ext cx="422910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Hear It,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It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7751369" y="3611880"/>
            <a:ext cx="3931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wanna</a:t>
            </a: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are short forms. This listening uses the full forms.</a:t>
            </a:r>
            <a:endParaRPr lang="en-US" sz="2000" dirty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 say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and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2000" dirty="0" b="0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each line </a:t>
            </a: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two times.</a:t>
            </a:r>
            <a:endParaRPr lang="en-US" sz="2000" dirty="0" b="0"/>
          </a:p>
        </p:txBody>
      </p:sp>
      <p:sp>
        <p:nvSpPr>
          <p:cNvPr id="31" name="S1 card"/>
          <p:cNvSpPr/>
          <p:nvPr/>
        </p:nvSpPr>
        <p:spPr>
          <a:xfrm>
            <a:off x="548640" y="271576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S1 text"/>
          <p:cNvSpPr/>
          <p:nvPr/>
        </p:nvSpPr>
        <p:spPr>
          <a:xfrm>
            <a:off x="777240" y="271576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want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take the morning off.</a:t>
            </a:r>
            <a:endParaRPr lang="en-US" sz="1800" dirty="0" b="1"/>
          </a:p>
        </p:txBody>
      </p:sp>
      <p:sp>
        <p:nvSpPr>
          <p:cNvPr id="33" name="S2 card"/>
          <p:cNvSpPr/>
          <p:nvPr/>
        </p:nvSpPr>
        <p:spPr>
          <a:xfrm>
            <a:off x="548640" y="3427171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4" name="S2 text"/>
          <p:cNvSpPr/>
          <p:nvPr/>
        </p:nvSpPr>
        <p:spPr>
          <a:xfrm>
            <a:off x="777240" y="3427171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was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ask for the whole day too.</a:t>
            </a:r>
            <a:endParaRPr lang="en-US" sz="1800" dirty="0" b="1"/>
          </a:p>
        </p:txBody>
      </p:sp>
      <p:sp>
        <p:nvSpPr>
          <p:cNvPr id="35" name="S3 card"/>
          <p:cNvSpPr/>
          <p:nvPr/>
        </p:nvSpPr>
        <p:spPr>
          <a:xfrm>
            <a:off x="548640" y="4138574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S3 text"/>
          <p:cNvSpPr/>
          <p:nvPr/>
        </p:nvSpPr>
        <p:spPr>
          <a:xfrm>
            <a:off x="777240" y="4138574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I'm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going to</a:t>
            </a: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work the morning.</a:t>
            </a:r>
            <a:endParaRPr lang="en-US" sz="1800" dirty="0" b="1"/>
          </a:p>
        </p:txBody>
      </p:sp>
      <p:sp>
        <p:nvSpPr>
          <p:cNvPr id="37" name="S4 card"/>
          <p:cNvSpPr/>
          <p:nvPr/>
        </p:nvSpPr>
        <p:spPr>
          <a:xfrm>
            <a:off x="548640" y="4849978"/>
            <a:ext cx="6766560" cy="60259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8" name="S4 text"/>
          <p:cNvSpPr/>
          <p:nvPr/>
        </p:nvSpPr>
        <p:spPr>
          <a:xfrm>
            <a:off x="777240" y="4849978"/>
            <a:ext cx="6355080" cy="6025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if WE split the day?</a:t>
            </a:r>
            <a:endParaRPr lang="en-US" sz="1800" dirty="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Priority: a star [sign: PRIORITY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1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middle idea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CAN SAY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418320" y="18288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MIDDLE IDEA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if we split the day?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418320" y="228600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418320" y="228600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 can take the morning if you take the afternoon.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Let's meet in the middle.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418320" y="324612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418320" y="324612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can swap at twelve.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 the other idea first.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418320" y="420624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418320" y="420624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You need the afternoon. I need the morning.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Shared task: two people and a clipboard [sign: SHARED TASK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2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so… that / such… that</a:t>
            </a:r>
            <a:endParaRPr lang="en-US" sz="20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4206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PATTERN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418320" y="1828800"/>
            <a:ext cx="2514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EXAMPLE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</a:t>
            </a: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+ adjective + </a:t>
            </a:r>
            <a:r>
              <a:rPr lang="en-US" sz="13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</a:t>
            </a:r>
            <a:endParaRPr lang="en-US" sz="1300" dirty="0" b="1"/>
          </a:p>
        </p:txBody>
      </p:sp>
      <p:sp>
        <p:nvSpPr>
          <p:cNvPr id="19" name="Answer bg 1"/>
          <p:cNvSpPr/>
          <p:nvPr/>
        </p:nvSpPr>
        <p:spPr>
          <a:xfrm>
            <a:off x="9418320" y="228600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418320" y="228600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week was so busy that we split Saturday.</a:t>
            </a:r>
            <a:endParaRPr lang="en-US" sz="14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such</a:t>
            </a: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+ </a:t>
            </a:r>
            <a:r>
              <a:rPr lang="en-US" sz="13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+ adjective + noun + </a:t>
            </a:r>
            <a:r>
              <a:rPr lang="en-US" sz="13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</a:t>
            </a:r>
            <a:endParaRPr lang="en-US" sz="1300" dirty="0" b="1"/>
          </a:p>
        </p:txBody>
      </p:sp>
      <p:sp>
        <p:nvSpPr>
          <p:cNvPr id="22" name="Answer bg 2"/>
          <p:cNvSpPr/>
          <p:nvPr/>
        </p:nvSpPr>
        <p:spPr>
          <a:xfrm>
            <a:off x="9418320" y="324612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418320" y="324612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was such a long shift that we shared it.</a:t>
            </a:r>
            <a:endParaRPr lang="en-US" sz="14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</a:t>
            </a: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+ adjective + </a:t>
            </a:r>
            <a:r>
              <a:rPr lang="en-US" sz="13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</a:t>
            </a:r>
            <a:endParaRPr lang="en-US" sz="1300" dirty="0" b="1"/>
          </a:p>
        </p:txBody>
      </p:sp>
      <p:sp>
        <p:nvSpPr>
          <p:cNvPr id="25" name="Answer bg 3"/>
          <p:cNvSpPr/>
          <p:nvPr/>
        </p:nvSpPr>
        <p:spPr>
          <a:xfrm>
            <a:off x="9418320" y="420624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418320" y="420624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visit is so important that Jon needs the afternoon.</a:t>
            </a:r>
            <a:endParaRPr lang="en-US" sz="1400" dirty="0" b="1"/>
          </a:p>
        </p:txBody>
      </p:sp>
      <p:sp>
        <p:nvSpPr>
          <p:cNvPr id="27" name="Question 4"/>
          <p:cNvSpPr/>
          <p:nvPr/>
        </p:nvSpPr>
        <p:spPr>
          <a:xfrm>
            <a:off x="5138928" y="5166360"/>
            <a:ext cx="420624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3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such</a:t>
            </a: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+ </a:t>
            </a:r>
            <a:r>
              <a:rPr lang="en-US" sz="13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</a:t>
            </a: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+ adjective + noun + </a:t>
            </a:r>
            <a:r>
              <a:rPr lang="en-US" sz="13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</a:t>
            </a:r>
            <a:endParaRPr lang="en-US" sz="1300" dirty="0" b="1"/>
          </a:p>
        </p:txBody>
      </p:sp>
      <p:sp>
        <p:nvSpPr>
          <p:cNvPr id="28" name="Answer bg 4"/>
          <p:cNvSpPr/>
          <p:nvPr/>
        </p:nvSpPr>
        <p:spPr>
          <a:xfrm>
            <a:off x="9418320" y="5166360"/>
            <a:ext cx="251460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4"/>
          <p:cNvSpPr/>
          <p:nvPr/>
        </p:nvSpPr>
        <p:spPr>
          <a:xfrm>
            <a:off x="9418320" y="5166360"/>
            <a:ext cx="251460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Noon is such a clear time that nobody has to guess.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Solution: a light bulb [sign: SOLUTION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3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out, call off, give</a:t>
            </a:r>
            <a:endParaRPr lang="en-US" sz="20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REVIEW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REAL SENTENCE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it out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can work it out.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call it off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She is not going to call it off.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call the shift off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Noun after, or </a:t>
            </a:r>
            <a:r>
              <a:rPr lang="en-US" sz="16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</a:t>
            </a: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in the middle: call it off.</a:t>
            </a:r>
            <a:endParaRPr lang="en-US" sz="1600" dirty="0" b="1"/>
          </a:p>
        </p:txBody>
      </p:sp>
      <p:sp>
        <p:nvSpPr>
          <p:cNvPr id="27" name="Question 4"/>
          <p:cNvSpPr/>
          <p:nvPr/>
        </p:nvSpPr>
        <p:spPr>
          <a:xfrm>
            <a:off x="5138928" y="516636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in</a:t>
            </a:r>
            <a:endParaRPr lang="en-US" sz="1500" dirty="0" b="1"/>
          </a:p>
        </p:txBody>
      </p:sp>
      <p:sp>
        <p:nvSpPr>
          <p:cNvPr id="28" name="Answer bg 4"/>
          <p:cNvSpPr/>
          <p:nvPr/>
        </p:nvSpPr>
        <p:spPr>
          <a:xfrm>
            <a:off x="9052560" y="516636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9" name="Answer 4"/>
          <p:cNvSpPr/>
          <p:nvPr/>
        </p:nvSpPr>
        <p:spPr>
          <a:xfrm>
            <a:off x="9052560" y="516636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didn't give in. No object.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bl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076429" y="533095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110582" y="457200"/>
            <a:ext cx="5814670" cy="12344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" name="left panel"/>
          <p:cNvSpPr/>
          <p:nvPr/>
        </p:nvSpPr>
        <p:spPr>
          <a:xfrm flipV="1">
            <a:off x="-106985" y="-101498"/>
            <a:ext cx="3844138" cy="6418174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pic>
        <p:nvPicPr>
          <p:cNvPr id="17" name="pic" descr="Fairness: a balance scale [sign: FAIR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65152"/>
            <a:ext cx="3326587" cy="2328611"/>
          </a:xfrm>
          <a:prstGeom prst="rect">
            <a:avLst/>
          </a:prstGeom>
        </p:spPr>
      </p:pic>
      <p:sp>
        <p:nvSpPr>
          <p:cNvPr id="7" name="head"/>
          <p:cNvSpPr/>
          <p:nvPr/>
        </p:nvSpPr>
        <p:spPr>
          <a:xfrm>
            <a:off x="5333695" y="566928"/>
            <a:ext cx="4846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Grammar Box 4</a:t>
            </a:r>
            <a:endParaRPr lang="en-US" sz="2000" dirty="0" b="1"/>
          </a:p>
          <a:p>
            <a:pPr algn="l" indent="0" marL="0">
              <a:spcAft>
                <a:spcPts val="400"/>
              </a:spcAft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mix them</a:t>
            </a:r>
            <a:endParaRPr lang="en-US" sz="2200" dirty="0" b="1"/>
          </a:p>
        </p:txBody>
      </p:sp>
      <p:sp>
        <p:nvSpPr>
          <p:cNvPr id="8" name="Q head"/>
          <p:cNvSpPr/>
          <p:nvPr/>
        </p:nvSpPr>
        <p:spPr>
          <a:xfrm>
            <a:off x="5166360" y="1828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MIX THEM</a:t>
            </a:r>
            <a:endParaRPr lang="en-US" sz="2000" dirty="0" b="1"/>
          </a:p>
        </p:txBody>
      </p:sp>
      <p:sp>
        <p:nvSpPr>
          <p:cNvPr id="11" name="A head"/>
          <p:cNvSpPr/>
          <p:nvPr/>
        </p:nvSpPr>
        <p:spPr>
          <a:xfrm>
            <a:off x="9052560" y="1828800"/>
            <a:ext cx="2880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000" dirty="0" b="1"/>
          </a:p>
        </p:txBody>
      </p:sp>
      <p:sp>
        <p:nvSpPr>
          <p:cNvPr id="18" name="Question 1"/>
          <p:cNvSpPr/>
          <p:nvPr/>
        </p:nvSpPr>
        <p:spPr>
          <a:xfrm>
            <a:off x="5138928" y="228600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+ adjective +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that</a:t>
            </a:r>
            <a:endParaRPr lang="en-US" sz="1500" dirty="0" b="1"/>
          </a:p>
        </p:txBody>
      </p:sp>
      <p:sp>
        <p:nvSpPr>
          <p:cNvPr id="19" name="Answer bg 1"/>
          <p:cNvSpPr/>
          <p:nvPr/>
        </p:nvSpPr>
        <p:spPr>
          <a:xfrm>
            <a:off x="9052560" y="228600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Answer 1"/>
          <p:cNvSpPr/>
          <p:nvPr/>
        </p:nvSpPr>
        <p:spPr>
          <a:xfrm>
            <a:off x="9052560" y="228600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week was so busy that we split Saturday.</a:t>
            </a:r>
            <a:endParaRPr lang="en-US" sz="1600" dirty="0" b="1"/>
          </a:p>
        </p:txBody>
      </p:sp>
      <p:sp>
        <p:nvSpPr>
          <p:cNvPr id="21" name="Question 2"/>
          <p:cNvSpPr/>
          <p:nvPr/>
        </p:nvSpPr>
        <p:spPr>
          <a:xfrm>
            <a:off x="5138928" y="324612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such a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+ adjective + noun</a:t>
            </a:r>
            <a:endParaRPr lang="en-US" sz="1500" dirty="0" b="1"/>
          </a:p>
        </p:txBody>
      </p:sp>
      <p:sp>
        <p:nvSpPr>
          <p:cNvPr id="22" name="Answer bg 2"/>
          <p:cNvSpPr/>
          <p:nvPr/>
        </p:nvSpPr>
        <p:spPr>
          <a:xfrm>
            <a:off x="9052560" y="324612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3" name="Answer 2"/>
          <p:cNvSpPr/>
          <p:nvPr/>
        </p:nvSpPr>
        <p:spPr>
          <a:xfrm>
            <a:off x="9052560" y="324612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was such a long shift that we shared it.</a:t>
            </a:r>
            <a:endParaRPr lang="en-US" sz="1600" dirty="0" b="1"/>
          </a:p>
        </p:txBody>
      </p:sp>
      <p:sp>
        <p:nvSpPr>
          <p:cNvPr id="24" name="Question 3"/>
          <p:cNvSpPr/>
          <p:nvPr/>
        </p:nvSpPr>
        <p:spPr>
          <a:xfrm>
            <a:off x="5138928" y="4206240"/>
            <a:ext cx="384048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+ adjective + </a:t>
            </a:r>
            <a:r>
              <a:rPr lang="en-US" sz="15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for</a:t>
            </a:r>
            <a:endParaRPr lang="en-US" sz="1500" dirty="0" b="1"/>
          </a:p>
        </p:txBody>
      </p:sp>
      <p:sp>
        <p:nvSpPr>
          <p:cNvPr id="25" name="Answer bg 3"/>
          <p:cNvSpPr/>
          <p:nvPr/>
        </p:nvSpPr>
        <p:spPr>
          <a:xfrm>
            <a:off x="9052560" y="4206240"/>
            <a:ext cx="2880360" cy="886968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6" name="Answer 3"/>
          <p:cNvSpPr/>
          <p:nvPr/>
        </p:nvSpPr>
        <p:spPr>
          <a:xfrm>
            <a:off x="9052560" y="4206240"/>
            <a:ext cx="2880360" cy="88696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week is too full for one person.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13294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07533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14300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54533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A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 the missing word.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Pairs: check your answers.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123237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123237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158136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123237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week was ______ busy that we split Saturday.</a:t>
            </a:r>
            <a:endParaRPr lang="en-US" sz="1400" dirty="0"/>
          </a:p>
        </p:txBody>
      </p:sp>
      <p:sp>
        <p:nvSpPr>
          <p:cNvPr id="35" name="R1 ans"/>
          <p:cNvSpPr/>
          <p:nvPr/>
        </p:nvSpPr>
        <p:spPr>
          <a:xfrm>
            <a:off x="6016752" y="2222144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</a:t>
            </a:r>
            <a:endParaRPr lang="en-US" sz="16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2851404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2851404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2886304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2851404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was ______ a long shift that we shared it.</a:t>
            </a:r>
            <a:endParaRPr lang="en-US" sz="1400" dirty="0"/>
          </a:p>
        </p:txBody>
      </p:sp>
      <p:sp>
        <p:nvSpPr>
          <p:cNvPr id="40" name="R2 ans"/>
          <p:cNvSpPr/>
          <p:nvPr/>
        </p:nvSpPr>
        <p:spPr>
          <a:xfrm>
            <a:off x="6016752" y="2950312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such</a:t>
            </a:r>
            <a:endParaRPr lang="en-US" sz="16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579571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579571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361447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579571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week is ______ full for one person.</a:t>
            </a:r>
            <a:endParaRPr lang="en-US" sz="1400" dirty="0"/>
          </a:p>
        </p:txBody>
      </p:sp>
      <p:sp>
        <p:nvSpPr>
          <p:cNvPr id="45" name="R3 ans"/>
          <p:cNvSpPr/>
          <p:nvPr/>
        </p:nvSpPr>
        <p:spPr>
          <a:xfrm>
            <a:off x="6016752" y="3678479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endParaRPr lang="en-US" sz="16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307738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307738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342638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307738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class is ______ important that she needs the morning.</a:t>
            </a:r>
            <a:endParaRPr lang="en-US" sz="1400" dirty="0"/>
          </a:p>
        </p:txBody>
      </p:sp>
      <p:sp>
        <p:nvSpPr>
          <p:cNvPr id="50" name="R4 ans"/>
          <p:cNvSpPr/>
          <p:nvPr/>
        </p:nvSpPr>
        <p:spPr>
          <a:xfrm>
            <a:off x="6016752" y="4406646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</a:t>
            </a:r>
            <a:endParaRPr lang="en-US" sz="16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035906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035906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07080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035906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was ______ a fair plan that they both said yes.</a:t>
            </a:r>
            <a:endParaRPr lang="en-US" sz="1400" dirty="0"/>
          </a:p>
        </p:txBody>
      </p:sp>
      <p:sp>
        <p:nvSpPr>
          <p:cNvPr id="55" name="R5 ans"/>
          <p:cNvSpPr/>
          <p:nvPr/>
        </p:nvSpPr>
        <p:spPr>
          <a:xfrm>
            <a:off x="6016752" y="5134813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such</a:t>
            </a:r>
            <a:endParaRPr lang="en-US" sz="1600" dirty="0" b="1"/>
          </a:p>
        </p:txBody>
      </p:sp>
      <p:sp>
        <p:nvSpPr>
          <p:cNvPr id="56" name="R6 card"/>
          <p:cNvSpPr/>
          <p:nvPr/>
        </p:nvSpPr>
        <p:spPr>
          <a:xfrm>
            <a:off x="1583741" y="5764073"/>
            <a:ext cx="6035040" cy="655015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7" name="R6 chip"/>
          <p:cNvSpPr/>
          <p:nvPr/>
        </p:nvSpPr>
        <p:spPr>
          <a:xfrm>
            <a:off x="544982" y="5764073"/>
            <a:ext cx="1039673" cy="655015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8" name="R6 num"/>
          <p:cNvSpPr/>
          <p:nvPr/>
        </p:nvSpPr>
        <p:spPr>
          <a:xfrm>
            <a:off x="686714" y="5798972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6</a:t>
            </a:r>
            <a:endParaRPr lang="en-US" sz="3200" dirty="0" b="1"/>
          </a:p>
        </p:txBody>
      </p:sp>
      <p:sp>
        <p:nvSpPr>
          <p:cNvPr id="59" name="R6 text"/>
          <p:cNvSpPr/>
          <p:nvPr/>
        </p:nvSpPr>
        <p:spPr>
          <a:xfrm>
            <a:off x="1810512" y="5764073"/>
            <a:ext cx="4133088" cy="655015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We can work ______.</a:t>
            </a:r>
            <a:endParaRPr lang="en-US" sz="1400" dirty="0"/>
          </a:p>
        </p:txBody>
      </p:sp>
      <p:sp>
        <p:nvSpPr>
          <p:cNvPr id="60" name="R6 ans"/>
          <p:cNvSpPr/>
          <p:nvPr/>
        </p:nvSpPr>
        <p:spPr>
          <a:xfrm>
            <a:off x="6016752" y="5862980"/>
            <a:ext cx="155448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out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hoic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164592" y="2980944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233172" y="1137194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66090" y="1080821"/>
            <a:ext cx="5607101" cy="137525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2856586"/>
            <a:ext cx="11582705" cy="3623767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16052" y="1452067"/>
            <a:ext cx="5680253" cy="94731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4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Practice B</a:t>
            </a:r>
            <a:endParaRPr lang="en-US" sz="4800" dirty="0" b="1"/>
          </a:p>
        </p:txBody>
      </p:sp>
      <p:sp>
        <p:nvSpPr>
          <p:cNvPr id="7" name="instr"/>
          <p:cNvSpPr/>
          <p:nvPr/>
        </p:nvSpPr>
        <p:spPr>
          <a:xfrm>
            <a:off x="6745529" y="123444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Circle the correct words.</a:t>
            </a:r>
            <a:endParaRPr lang="en-US" sz="2000" dirty="0"/>
          </a:p>
        </p:txBody>
      </p:sp>
      <p:sp>
        <p:nvSpPr>
          <p:cNvPr id="8" name="R1 stmt"/>
          <p:cNvSpPr/>
          <p:nvPr/>
        </p:nvSpPr>
        <p:spPr>
          <a:xfrm>
            <a:off x="502920" y="310896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1. The week was ______ busy that we split it.</a:t>
            </a:r>
            <a:endParaRPr lang="en-US" sz="1500" dirty="0"/>
          </a:p>
        </p:txBody>
      </p:sp>
      <p:sp>
        <p:nvSpPr>
          <p:cNvPr id="9" name="R1 opt1"/>
          <p:cNvSpPr/>
          <p:nvPr/>
        </p:nvSpPr>
        <p:spPr>
          <a:xfrm>
            <a:off x="7022592" y="31089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</a:t>
            </a:r>
            <a:endParaRPr lang="en-US" sz="1600" dirty="0" b="1"/>
          </a:p>
        </p:txBody>
      </p:sp>
      <p:sp>
        <p:nvSpPr>
          <p:cNvPr id="10" name="R1 opt2"/>
          <p:cNvSpPr/>
          <p:nvPr/>
        </p:nvSpPr>
        <p:spPr>
          <a:xfrm>
            <a:off x="9372600" y="31089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such</a:t>
            </a:r>
            <a:endParaRPr lang="en-US" sz="1600" dirty="0" b="1"/>
          </a:p>
        </p:txBody>
      </p:sp>
      <p:sp>
        <p:nvSpPr>
          <p:cNvPr id="11" name="R1 circle"/>
          <p:cNvSpPr/>
          <p:nvPr/>
        </p:nvSpPr>
        <p:spPr>
          <a:xfrm>
            <a:off x="6894576" y="305409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2" name="R2 stmt"/>
          <p:cNvSpPr/>
          <p:nvPr/>
        </p:nvSpPr>
        <p:spPr>
          <a:xfrm>
            <a:off x="502920" y="365760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2. It was ______ a long shift.</a:t>
            </a:r>
            <a:endParaRPr lang="en-US" sz="1500" dirty="0"/>
          </a:p>
        </p:txBody>
      </p:sp>
      <p:sp>
        <p:nvSpPr>
          <p:cNvPr id="13" name="R2 opt1"/>
          <p:cNvSpPr/>
          <p:nvPr/>
        </p:nvSpPr>
        <p:spPr>
          <a:xfrm>
            <a:off x="7022592" y="365760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</a:t>
            </a:r>
            <a:endParaRPr lang="en-US" sz="1600" dirty="0" b="1"/>
          </a:p>
        </p:txBody>
      </p:sp>
      <p:sp>
        <p:nvSpPr>
          <p:cNvPr id="14" name="R2 opt2"/>
          <p:cNvSpPr/>
          <p:nvPr/>
        </p:nvSpPr>
        <p:spPr>
          <a:xfrm>
            <a:off x="9372600" y="365760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such</a:t>
            </a:r>
            <a:endParaRPr lang="en-US" sz="1600" dirty="0" b="1"/>
          </a:p>
        </p:txBody>
      </p:sp>
      <p:sp>
        <p:nvSpPr>
          <p:cNvPr id="15" name="R2 circle"/>
          <p:cNvSpPr/>
          <p:nvPr/>
        </p:nvSpPr>
        <p:spPr>
          <a:xfrm>
            <a:off x="9244584" y="360273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16" name="R3 stmt"/>
          <p:cNvSpPr/>
          <p:nvPr/>
        </p:nvSpPr>
        <p:spPr>
          <a:xfrm>
            <a:off x="502920" y="420624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3. Work ______ .</a:t>
            </a:r>
            <a:endParaRPr lang="en-US" sz="1500" dirty="0"/>
          </a:p>
        </p:txBody>
      </p:sp>
      <p:sp>
        <p:nvSpPr>
          <p:cNvPr id="17" name="R3 opt1"/>
          <p:cNvSpPr/>
          <p:nvPr/>
        </p:nvSpPr>
        <p:spPr>
          <a:xfrm>
            <a:off x="7022592" y="420624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out</a:t>
            </a:r>
            <a:endParaRPr lang="en-US" sz="1600" dirty="0" b="1"/>
          </a:p>
        </p:txBody>
      </p:sp>
      <p:sp>
        <p:nvSpPr>
          <p:cNvPr id="18" name="R3 opt2"/>
          <p:cNvSpPr/>
          <p:nvPr/>
        </p:nvSpPr>
        <p:spPr>
          <a:xfrm>
            <a:off x="9372600" y="420624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out it</a:t>
            </a:r>
            <a:endParaRPr lang="en-US" sz="1600" dirty="0" b="1"/>
          </a:p>
        </p:txBody>
      </p:sp>
      <p:sp>
        <p:nvSpPr>
          <p:cNvPr id="19" name="R3 circle"/>
          <p:cNvSpPr/>
          <p:nvPr/>
        </p:nvSpPr>
        <p:spPr>
          <a:xfrm>
            <a:off x="6894576" y="415137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0" name="R4 stmt"/>
          <p:cNvSpPr/>
          <p:nvPr/>
        </p:nvSpPr>
        <p:spPr>
          <a:xfrm>
            <a:off x="502920" y="475488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4. Call ______ .</a:t>
            </a:r>
            <a:endParaRPr lang="en-US" sz="1500" dirty="0"/>
          </a:p>
        </p:txBody>
      </p:sp>
      <p:sp>
        <p:nvSpPr>
          <p:cNvPr id="21" name="R4 opt1"/>
          <p:cNvSpPr/>
          <p:nvPr/>
        </p:nvSpPr>
        <p:spPr>
          <a:xfrm>
            <a:off x="7022592" y="475488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off</a:t>
            </a:r>
            <a:endParaRPr lang="en-US" sz="1600" dirty="0" b="1"/>
          </a:p>
        </p:txBody>
      </p:sp>
      <p:sp>
        <p:nvSpPr>
          <p:cNvPr id="22" name="R4 opt2"/>
          <p:cNvSpPr/>
          <p:nvPr/>
        </p:nvSpPr>
        <p:spPr>
          <a:xfrm>
            <a:off x="9372600" y="475488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off it</a:t>
            </a:r>
            <a:endParaRPr lang="en-US" sz="1600" dirty="0" b="1"/>
          </a:p>
        </p:txBody>
      </p:sp>
      <p:sp>
        <p:nvSpPr>
          <p:cNvPr id="23" name="R4 circle"/>
          <p:cNvSpPr/>
          <p:nvPr/>
        </p:nvSpPr>
        <p:spPr>
          <a:xfrm>
            <a:off x="6894576" y="470001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4" name="R5 stmt"/>
          <p:cNvSpPr/>
          <p:nvPr/>
        </p:nvSpPr>
        <p:spPr>
          <a:xfrm>
            <a:off x="502920" y="530352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5. We didn't ______ .</a:t>
            </a:r>
            <a:endParaRPr lang="en-US" sz="1500" dirty="0"/>
          </a:p>
        </p:txBody>
      </p:sp>
      <p:sp>
        <p:nvSpPr>
          <p:cNvPr id="25" name="R5 opt1"/>
          <p:cNvSpPr/>
          <p:nvPr/>
        </p:nvSpPr>
        <p:spPr>
          <a:xfrm>
            <a:off x="7022592" y="530352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in</a:t>
            </a:r>
            <a:endParaRPr lang="en-US" sz="1600" dirty="0" b="1"/>
          </a:p>
        </p:txBody>
      </p:sp>
      <p:sp>
        <p:nvSpPr>
          <p:cNvPr id="26" name="R5 opt2"/>
          <p:cNvSpPr/>
          <p:nvPr/>
        </p:nvSpPr>
        <p:spPr>
          <a:xfrm>
            <a:off x="9372600" y="530352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in the argument</a:t>
            </a:r>
            <a:endParaRPr lang="en-US" sz="1600" dirty="0" b="1"/>
          </a:p>
        </p:txBody>
      </p:sp>
      <p:sp>
        <p:nvSpPr>
          <p:cNvPr id="27" name="R5 circle"/>
          <p:cNvSpPr/>
          <p:nvPr/>
        </p:nvSpPr>
        <p:spPr>
          <a:xfrm>
            <a:off x="6894576" y="524865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  <p:sp>
        <p:nvSpPr>
          <p:cNvPr id="28" name="R6 stmt"/>
          <p:cNvSpPr/>
          <p:nvPr/>
        </p:nvSpPr>
        <p:spPr>
          <a:xfrm>
            <a:off x="502920" y="5852160"/>
            <a:ext cx="6336792" cy="475488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500" dirty="0"/>
              <a:t>6. The week is ______ full for one person.</a:t>
            </a:r>
            <a:endParaRPr lang="en-US" sz="1500" dirty="0"/>
          </a:p>
        </p:txBody>
      </p:sp>
      <p:sp>
        <p:nvSpPr>
          <p:cNvPr id="29" name="R6 opt1"/>
          <p:cNvSpPr/>
          <p:nvPr/>
        </p:nvSpPr>
        <p:spPr>
          <a:xfrm>
            <a:off x="7022592" y="58521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too</a:t>
            </a:r>
            <a:endParaRPr lang="en-US" sz="1600" dirty="0" b="1"/>
          </a:p>
        </p:txBody>
      </p:sp>
      <p:sp>
        <p:nvSpPr>
          <p:cNvPr id="30" name="R6 opt2"/>
          <p:cNvSpPr/>
          <p:nvPr/>
        </p:nvSpPr>
        <p:spPr>
          <a:xfrm>
            <a:off x="9372600" y="5852160"/>
            <a:ext cx="2240280" cy="47548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such</a:t>
            </a:r>
            <a:endParaRPr lang="en-US" sz="1600" dirty="0" b="1"/>
          </a:p>
        </p:txBody>
      </p:sp>
      <p:sp>
        <p:nvSpPr>
          <p:cNvPr id="31" name="R6 circle"/>
          <p:cNvSpPr/>
          <p:nvPr/>
        </p:nvSpPr>
        <p:spPr>
          <a:xfrm>
            <a:off x="6894576" y="5797296"/>
            <a:ext cx="2496312" cy="585216"/>
          </a:xfrm>
          <a:prstGeom prst="ellipse">
            <a:avLst/>
          </a:prstGeom>
          <a:noFill/>
          <a:ln w="50800">
            <a:solidFill>
              <a:srgbClr val="5B3FC4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/>
            </a:r>
            <a:endParaRPr lang="en-US" sz="2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mistake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 flipH="1" flipV="1">
            <a:off x="8060436" y="1132027"/>
            <a:ext cx="4274820" cy="586039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762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442448" y="1188720"/>
            <a:ext cx="1691640" cy="1371600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H="1">
            <a:off x="501091" y="2020824"/>
            <a:ext cx="354330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 flipH="1">
            <a:off x="4388206" y="2020824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479328" y="457200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522122" y="393192"/>
            <a:ext cx="7295083" cy="114300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 flipH="1">
            <a:off x="658368" y="1828800"/>
            <a:ext cx="3610966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 flipH="1">
            <a:off x="4519879" y="1828800"/>
            <a:ext cx="5860390" cy="470916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title"/>
          <p:cNvSpPr/>
          <p:nvPr/>
        </p:nvSpPr>
        <p:spPr>
          <a:xfrm>
            <a:off x="608076" y="457200"/>
            <a:ext cx="69494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Common Mistakes</a:t>
            </a:r>
            <a:endParaRPr lang="en-US" sz="4300" dirty="0" b="1"/>
          </a:p>
        </p:txBody>
      </p:sp>
      <p:pic>
        <p:nvPicPr>
          <p:cNvPr id="21" name="pic" descr="Sticky note: a memo and a pushpin [sign: NOTE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15600" y="1325880"/>
            <a:ext cx="1554480" cy="1088136"/>
          </a:xfrm>
          <a:prstGeom prst="rect">
            <a:avLst/>
          </a:prstGeom>
        </p:spPr>
      </p:pic>
      <p:sp>
        <p:nvSpPr>
          <p:cNvPr id="22" name="Dont head"/>
          <p:cNvSpPr/>
          <p:nvPr/>
        </p:nvSpPr>
        <p:spPr>
          <a:xfrm>
            <a:off x="914400" y="1938528"/>
            <a:ext cx="310896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B42318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Don't say</a:t>
            </a:r>
            <a:endParaRPr lang="en-US" sz="2200" dirty="0"/>
          </a:p>
        </p:txBody>
      </p:sp>
      <p:sp>
        <p:nvSpPr>
          <p:cNvPr id="23" name="Say head"/>
          <p:cNvSpPr/>
          <p:nvPr/>
        </p:nvSpPr>
        <p:spPr>
          <a:xfrm>
            <a:off x="4800600" y="1938528"/>
            <a:ext cx="5303520" cy="50292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E6B45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Say</a:t>
            </a:r>
            <a:endParaRPr lang="en-US" sz="2200" dirty="0"/>
          </a:p>
        </p:txBody>
      </p:sp>
      <p:sp>
        <p:nvSpPr>
          <p:cNvPr id="24" name="Bad 1"/>
          <p:cNvSpPr/>
          <p:nvPr/>
        </p:nvSpPr>
        <p:spPr>
          <a:xfrm>
            <a:off x="914400" y="2468880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week was so busy so we split it.</a:t>
            </a:r>
            <a:endParaRPr lang="en-US" sz="1400" dirty="0"/>
          </a:p>
        </p:txBody>
      </p:sp>
      <p:sp>
        <p:nvSpPr>
          <p:cNvPr id="25" name="Good 1"/>
          <p:cNvSpPr/>
          <p:nvPr/>
        </p:nvSpPr>
        <p:spPr>
          <a:xfrm>
            <a:off x="4800600" y="2468880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week was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 busy that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we split it.</a:t>
            </a:r>
            <a:endParaRPr lang="en-US" sz="1400" dirty="0" b="1"/>
          </a:p>
        </p:txBody>
      </p:sp>
      <p:sp>
        <p:nvSpPr>
          <p:cNvPr id="26" name="Bad 2"/>
          <p:cNvSpPr/>
          <p:nvPr/>
        </p:nvSpPr>
        <p:spPr>
          <a:xfrm>
            <a:off x="914400" y="2987399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was so long shift.</a:t>
            </a:r>
            <a:endParaRPr lang="en-US" sz="1400" dirty="0"/>
          </a:p>
        </p:txBody>
      </p:sp>
      <p:sp>
        <p:nvSpPr>
          <p:cNvPr id="27" name="Good 2"/>
          <p:cNvSpPr/>
          <p:nvPr/>
        </p:nvSpPr>
        <p:spPr>
          <a:xfrm>
            <a:off x="4800600" y="2987399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It was 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such a long shift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.</a:t>
            </a:r>
            <a:endParaRPr lang="en-US" sz="1400" dirty="0" b="1"/>
          </a:p>
        </p:txBody>
      </p:sp>
      <p:sp>
        <p:nvSpPr>
          <p:cNvPr id="28" name="Bad 3"/>
          <p:cNvSpPr/>
          <p:nvPr/>
        </p:nvSpPr>
        <p:spPr>
          <a:xfrm>
            <a:off x="914400" y="3505917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in the argument.</a:t>
            </a:r>
            <a:endParaRPr lang="en-US" sz="1400" dirty="0"/>
          </a:p>
        </p:txBody>
      </p:sp>
      <p:sp>
        <p:nvSpPr>
          <p:cNvPr id="29" name="Good 3"/>
          <p:cNvSpPr/>
          <p:nvPr/>
        </p:nvSpPr>
        <p:spPr>
          <a:xfrm>
            <a:off x="4800600" y="3505917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in.</a:t>
            </a: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No object here.</a:t>
            </a:r>
            <a:endParaRPr lang="en-US" sz="1400" dirty="0" b="1"/>
          </a:p>
        </p:txBody>
      </p:sp>
      <p:sp>
        <p:nvSpPr>
          <p:cNvPr id="30" name="Bad 4"/>
          <p:cNvSpPr/>
          <p:nvPr/>
        </p:nvSpPr>
        <p:spPr>
          <a:xfrm>
            <a:off x="914400" y="4024436"/>
            <a:ext cx="324612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out it.</a:t>
            </a:r>
            <a:endParaRPr lang="en-US" sz="1400" dirty="0"/>
          </a:p>
        </p:txBody>
      </p:sp>
      <p:sp>
        <p:nvSpPr>
          <p:cNvPr id="31" name="Good 4"/>
          <p:cNvSpPr/>
          <p:nvPr/>
        </p:nvSpPr>
        <p:spPr>
          <a:xfrm>
            <a:off x="4800600" y="4024436"/>
            <a:ext cx="5394960" cy="454511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Work it out.</a:t>
            </a:r>
            <a:endParaRPr lang="en-US" sz="14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drill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pic>
        <p:nvPicPr>
          <p:cNvPr id="26" name="pic" descr="Break time: a coffee cup and an alarm clock [sign: BREAK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4739" y="3680460"/>
            <a:ext cx="3449901" cy="2414930"/>
          </a:xfrm>
          <a:prstGeom prst="rect">
            <a:avLst/>
          </a:prstGeom>
        </p:spPr>
      </p:pic>
      <p:sp>
        <p:nvSpPr>
          <p:cNvPr id="4" name="Shape 2"/>
          <p:cNvSpPr/>
          <p:nvPr/>
        </p:nvSpPr>
        <p:spPr>
          <a:xfrm>
            <a:off x="560984" y="1342842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89788" y="1277417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771754" y="141732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 Check</a:t>
            </a:r>
            <a:endParaRPr lang="en-US" sz="4000" dirty="0" b="1"/>
          </a:p>
        </p:txBody>
      </p:sp>
      <p:sp>
        <p:nvSpPr>
          <p:cNvPr id="7" name="Shape 5"/>
          <p:cNvSpPr/>
          <p:nvPr/>
        </p:nvSpPr>
        <p:spPr>
          <a:xfrm>
            <a:off x="6107278" y="138257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6107278" y="3714292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6035040" y="132588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172200" y="1946757"/>
            <a:ext cx="678485" cy="678485"/>
          </a:xfrm>
          <a:prstGeom prst="star32">
            <a:avLst>
              <a:gd name="adj" fmla="val 43755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172200" y="194675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2000" dirty="0"/>
          </a:p>
        </p:txBody>
      </p:sp>
      <p:sp>
        <p:nvSpPr>
          <p:cNvPr id="13" name="s1 label"/>
          <p:cNvSpPr/>
          <p:nvPr/>
        </p:nvSpPr>
        <p:spPr>
          <a:xfrm>
            <a:off x="6995160" y="150876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says.</a:t>
            </a:r>
            <a:endParaRPr lang="en-US" sz="2200" dirty="0" b="1"/>
          </a:p>
        </p:txBody>
      </p:sp>
      <p:sp>
        <p:nvSpPr>
          <p:cNvPr id="14" name="Shape 12"/>
          <p:cNvSpPr/>
          <p:nvPr/>
        </p:nvSpPr>
        <p:spPr>
          <a:xfrm>
            <a:off x="6035040" y="3657600"/>
            <a:ext cx="5577840" cy="19202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72200" y="4278477"/>
            <a:ext cx="678485" cy="678485"/>
          </a:xfrm>
          <a:prstGeom prst="star32">
            <a:avLst>
              <a:gd name="adj" fmla="val 43755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172200" y="4278477"/>
            <a:ext cx="678485" cy="67848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s2 label"/>
          <p:cNvSpPr/>
          <p:nvPr/>
        </p:nvSpPr>
        <p:spPr>
          <a:xfrm>
            <a:off x="6995160" y="384048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 answers.</a:t>
            </a:r>
            <a:endParaRPr lang="en-US" sz="2200" dirty="0" b="1"/>
          </a:p>
        </p:txBody>
      </p:sp>
      <p:sp>
        <p:nvSpPr>
          <p:cNvPr id="60" name="s1 body"/>
          <p:cNvSpPr/>
          <p:nvPr/>
        </p:nvSpPr>
        <p:spPr>
          <a:xfrm>
            <a:off x="6995160" y="21031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says a need: "I need the morning for a class." B says it back, then offers: "You need</a:t>
            </a:r>
            <a:endParaRPr lang="en-US" sz="1900" dirty="0" b="0"/>
          </a:p>
        </p:txBody>
      </p:sp>
      <p:sp>
        <p:nvSpPr>
          <p:cNvPr id="70" name="s2 body"/>
          <p:cNvSpPr/>
          <p:nvPr/>
        </p:nvSpPr>
        <p:spPr>
          <a:xfrm>
            <a:off x="6995160" y="443484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if I take the afternoon?" Then switch.</a:t>
            </a:r>
            <a:endParaRPr lang="en-US" sz="1900" dirty="0" b="0"/>
          </a:p>
        </p:txBody>
      </p:sp>
      <p:sp>
        <p:nvSpPr>
          <p:cNvPr id="25" name="sub"/>
          <p:cNvSpPr/>
          <p:nvPr/>
        </p:nvSpPr>
        <p:spPr>
          <a:xfrm>
            <a:off x="771754" y="2148840"/>
            <a:ext cx="4572000" cy="685800"/>
          </a:xfrm>
          <a:prstGeom prst="rect">
            <a:avLst/>
          </a:prstGeom>
          <a:noFill/>
          <a:ln w="38100">
            <a:noFill/>
          </a:ln>
        </p:spPr>
        <p:txBody>
          <a:bodyPr wrap="square" lIns="91440" tIns="36576" rIns="9144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Then switch.</a:t>
            </a:r>
            <a:endParaRPr lang="en-US" sz="1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Shared task: two people and a clipboard [sign: SHARED TASK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7:00–7:18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600" dirty="0" b="1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600" dirty="0" b="1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talk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-171907" y="-142646"/>
            <a:ext cx="5937199" cy="7143293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 w="127000">
            <a:solidFill>
              <a:srgbClr val="F1F5FB"/>
            </a:solidFill>
            <a:prstDash val="solid"/>
          </a:ln>
        </p:spPr>
        <p:txBody>
          <a:bodyPr/>
          <a:p/>
        </p:txBody>
      </p:sp>
      <p:pic>
        <p:nvPicPr>
          <p:cNvPr id="18" name="pic" descr="Fairness: a balance scale [sign: FAIR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164" y="3418942"/>
            <a:ext cx="3882281" cy="2717597"/>
          </a:xfrm>
          <a:prstGeom prst="rect">
            <a:avLst/>
          </a:prstGeom>
        </p:spPr>
      </p:pic>
      <p:sp>
        <p:nvSpPr>
          <p:cNvPr id="5" name="Shape 3"/>
          <p:cNvSpPr/>
          <p:nvPr/>
        </p:nvSpPr>
        <p:spPr>
          <a:xfrm>
            <a:off x="308610" y="1260546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37414" y="1195121"/>
            <a:ext cx="491215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head"/>
          <p:cNvSpPr/>
          <p:nvPr/>
        </p:nvSpPr>
        <p:spPr>
          <a:xfrm>
            <a:off x="502920" y="1298448"/>
            <a:ext cx="4663440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40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2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Talk Time</a:t>
            </a:r>
            <a:endParaRPr lang="en-US" sz="2600" dirty="0" b="1"/>
          </a:p>
        </p:txBody>
      </p:sp>
      <p:sp>
        <p:nvSpPr>
          <p:cNvPr id="8" name="grouping"/>
          <p:cNvSpPr/>
          <p:nvPr/>
        </p:nvSpPr>
        <p:spPr>
          <a:xfrm>
            <a:off x="6291072" y="1783080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Pairs.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 of 3.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9734702" y="2103120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9734702" y="2571293"/>
            <a:ext cx="1992478" cy="0"/>
          </a:xfrm>
          <a:prstGeom prst="line">
            <a:avLst/>
          </a:prstGeom>
          <a:noFill/>
          <a:ln w="6350">
            <a:solidFill>
              <a:srgbClr val="1B2236"/>
            </a:solidFill>
            <a:prstDash val="solid"/>
          </a:ln>
        </p:spPr>
        <p:txBody>
          <a:bodyPr/>
          <a:p/>
        </p:txBody>
      </p:sp>
      <p:sp>
        <p:nvSpPr>
          <p:cNvPr id="11" name="time"/>
          <p:cNvSpPr/>
          <p:nvPr/>
        </p:nvSpPr>
        <p:spPr>
          <a:xfrm>
            <a:off x="9784080" y="2130552"/>
            <a:ext cx="1920240" cy="38404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7:00–7:18</a:t>
            </a:r>
            <a:endParaRPr lang="en-US" sz="2000" dirty="0" b="1"/>
          </a:p>
        </p:txBody>
      </p:sp>
      <p:sp>
        <p:nvSpPr>
          <p:cNvPr id="12" name="Shape 10"/>
          <p:cNvSpPr/>
          <p:nvPr/>
        </p:nvSpPr>
        <p:spPr>
          <a:xfrm>
            <a:off x="6416345" y="3198571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291986" y="3071470"/>
            <a:ext cx="5486400" cy="3411626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9" name="Step num 1"/>
          <p:cNvSpPr/>
          <p:nvPr/>
        </p:nvSpPr>
        <p:spPr>
          <a:xfrm>
            <a:off x="6583680" y="3511296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tep 1"/>
          <p:cNvSpPr/>
          <p:nvPr/>
        </p:nvSpPr>
        <p:spPr>
          <a:xfrm>
            <a:off x="7315200" y="3401568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 of 3.</a:t>
            </a:r>
            <a:endParaRPr lang="en-US" sz="1600" dirty="0" b="1"/>
          </a:p>
        </p:txBody>
      </p:sp>
      <p:sp>
        <p:nvSpPr>
          <p:cNvPr id="21" name="Step num 2"/>
          <p:cNvSpPr/>
          <p:nvPr/>
        </p:nvSpPr>
        <p:spPr>
          <a:xfrm>
            <a:off x="6583680" y="4489704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Step 2"/>
          <p:cNvSpPr/>
          <p:nvPr/>
        </p:nvSpPr>
        <p:spPr>
          <a:xfrm>
            <a:off x="7315200" y="4379976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 of 3.</a:t>
            </a:r>
            <a:endParaRPr lang="en-US" sz="1600" dirty="0" b="1"/>
          </a:p>
        </p:txBody>
      </p:sp>
      <p:sp>
        <p:nvSpPr>
          <p:cNvPr id="23" name="Step num 3"/>
          <p:cNvSpPr/>
          <p:nvPr/>
        </p:nvSpPr>
        <p:spPr>
          <a:xfrm>
            <a:off x="6583680" y="5468112"/>
            <a:ext cx="566928" cy="566928"/>
          </a:xfrm>
          <a:prstGeom prst="ellipse">
            <a:avLst/>
          </a:prstGeom>
          <a:solidFill>
            <a:srgbClr val="FFE28C"/>
          </a:solidFill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</a:t>
            </a:r>
            <a:endParaRPr lang="en-US" sz="2200" dirty="0"/>
          </a:p>
        </p:txBody>
      </p:sp>
      <p:sp>
        <p:nvSpPr>
          <p:cNvPr id="24" name="Step 3"/>
          <p:cNvSpPr/>
          <p:nvPr/>
        </p:nvSpPr>
        <p:spPr>
          <a:xfrm>
            <a:off x="7315200" y="5358384"/>
            <a:ext cx="4206240" cy="8686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16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Groups of 3.</a:t>
            </a:r>
            <a:endParaRPr lang="en-US" sz="16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aps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head shadow"/>
          <p:cNvSpPr/>
          <p:nvPr/>
        </p:nvSpPr>
        <p:spPr>
          <a:xfrm>
            <a:off x="544982" y="1407262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3" name="head card"/>
          <p:cNvSpPr/>
          <p:nvPr/>
        </p:nvSpPr>
        <p:spPr>
          <a:xfrm>
            <a:off x="548640" y="1349654"/>
            <a:ext cx="7086600" cy="983894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head1"/>
          <p:cNvSpPr/>
          <p:nvPr/>
        </p:nvSpPr>
        <p:spPr>
          <a:xfrm>
            <a:off x="777240" y="1417320"/>
            <a:ext cx="544068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Read.</a:t>
            </a:r>
            <a:endParaRPr lang="en-US" sz="2000" dirty="0" b="1"/>
          </a:p>
        </p:txBody>
      </p:sp>
      <p:sp>
        <p:nvSpPr>
          <p:cNvPr id="9" name="head2"/>
          <p:cNvSpPr/>
          <p:nvPr/>
        </p:nvSpPr>
        <p:spPr>
          <a:xfrm>
            <a:off x="868680" y="1819656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Answer.</a:t>
            </a:r>
            <a:endParaRPr lang="en-US" sz="2000" dirty="0"/>
          </a:p>
        </p:txBody>
      </p:sp>
      <p:sp>
        <p:nvSpPr>
          <p:cNvPr id="29" name="title"/>
          <p:cNvSpPr/>
          <p:nvPr/>
        </p:nvSpPr>
        <p:spPr>
          <a:xfrm>
            <a:off x="8001000" y="1783080"/>
            <a:ext cx="3840480" cy="16002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&amp;</a:t>
            </a:r>
            <a:endParaRPr lang="en-US" sz="4000" dirty="0" b="1"/>
          </a:p>
          <a:p>
            <a:pPr algn="l" indent="0" marL="0">
              <a:buNone/>
            </a:pPr>
            <a:r>
              <a:rPr lang="en-US" sz="4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Write</a:t>
            </a:r>
            <a:endParaRPr lang="en-US" sz="4000" dirty="0" b="1"/>
          </a:p>
        </p:txBody>
      </p:sp>
      <p:sp>
        <p:nvSpPr>
          <p:cNvPr id="30" name="side"/>
          <p:cNvSpPr/>
          <p:nvPr/>
        </p:nvSpPr>
        <p:spPr>
          <a:xfrm>
            <a:off x="8046720" y="3611880"/>
            <a:ext cx="3749039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Read the page.</a:t>
            </a:r>
            <a:endParaRPr lang="en-US" sz="2000" dirty="0" b="1"/>
          </a:p>
          <a:p>
            <a:pPr algn="l" indent="0" marL="0">
              <a:lnSpc>
                <a:spcPct val="120000"/>
              </a:lnSpc>
              <a:spcAft>
                <a:spcPts val="1200"/>
              </a:spcAft>
              <a:buNone/>
            </a:pPr>
            <a:r>
              <a:rPr lang="en-US" sz="20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Answer the questions.</a:t>
            </a:r>
            <a:endParaRPr lang="en-US" sz="2000" dirty="0" b="1"/>
          </a:p>
        </p:txBody>
      </p:sp>
      <p:sp>
        <p:nvSpPr>
          <p:cNvPr id="31" name="R1 card"/>
          <p:cNvSpPr/>
          <p:nvPr/>
        </p:nvSpPr>
        <p:spPr>
          <a:xfrm>
            <a:off x="1583741" y="2397557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2" name="R1 chip"/>
          <p:cNvSpPr/>
          <p:nvPr/>
        </p:nvSpPr>
        <p:spPr>
          <a:xfrm>
            <a:off x="544982" y="2397557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3" name="R1 num"/>
          <p:cNvSpPr/>
          <p:nvPr/>
        </p:nvSpPr>
        <p:spPr>
          <a:xfrm>
            <a:off x="686714" y="2461565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1</a:t>
            </a:r>
            <a:endParaRPr lang="en-US" sz="3200" dirty="0" b="1"/>
          </a:p>
        </p:txBody>
      </p:sp>
      <p:sp>
        <p:nvSpPr>
          <p:cNvPr id="34" name="R1 text"/>
          <p:cNvSpPr/>
          <p:nvPr/>
        </p:nvSpPr>
        <p:spPr>
          <a:xfrm>
            <a:off x="1810512" y="2397557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the shared task?</a:t>
            </a:r>
            <a:endParaRPr lang="en-US" sz="1600" dirty="0"/>
          </a:p>
        </p:txBody>
      </p:sp>
      <p:sp>
        <p:nvSpPr>
          <p:cNvPr id="35" name="R1 ans"/>
          <p:cNvSpPr/>
          <p:nvPr/>
        </p:nvSpPr>
        <p:spPr>
          <a:xfrm>
            <a:off x="5010912" y="2525573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The Saturday shift</a:t>
            </a:r>
            <a:endParaRPr lang="en-US" sz="1300" dirty="0" b="1"/>
          </a:p>
        </p:txBody>
      </p:sp>
      <p:sp>
        <p:nvSpPr>
          <p:cNvPr id="36" name="R2 card"/>
          <p:cNvSpPr/>
          <p:nvPr/>
        </p:nvSpPr>
        <p:spPr>
          <a:xfrm>
            <a:off x="1583741" y="3183941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7" name="R2 chip"/>
          <p:cNvSpPr/>
          <p:nvPr/>
        </p:nvSpPr>
        <p:spPr>
          <a:xfrm>
            <a:off x="544982" y="3183941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38" name="R2 num"/>
          <p:cNvSpPr/>
          <p:nvPr/>
        </p:nvSpPr>
        <p:spPr>
          <a:xfrm>
            <a:off x="686714" y="3247949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2</a:t>
            </a:r>
            <a:endParaRPr lang="en-US" sz="3200" dirty="0" b="1"/>
          </a:p>
        </p:txBody>
      </p:sp>
      <p:sp>
        <p:nvSpPr>
          <p:cNvPr id="39" name="R2 text"/>
          <p:cNvSpPr/>
          <p:nvPr/>
        </p:nvSpPr>
        <p:spPr>
          <a:xfrm>
            <a:off x="1810512" y="3183941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What is Camila's priority?</a:t>
            </a:r>
            <a:endParaRPr lang="en-US" sz="1600" dirty="0"/>
          </a:p>
        </p:txBody>
      </p:sp>
      <p:sp>
        <p:nvSpPr>
          <p:cNvPr id="40" name="R2 ans"/>
          <p:cNvSpPr/>
          <p:nvPr/>
        </p:nvSpPr>
        <p:spPr>
          <a:xfrm>
            <a:off x="5010912" y="3311957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 morning class</a:t>
            </a:r>
            <a:endParaRPr lang="en-US" sz="1300" dirty="0" b="1"/>
          </a:p>
        </p:txBody>
      </p:sp>
      <p:sp>
        <p:nvSpPr>
          <p:cNvPr id="41" name="R3 card"/>
          <p:cNvSpPr/>
          <p:nvPr/>
        </p:nvSpPr>
        <p:spPr>
          <a:xfrm>
            <a:off x="1583741" y="3970325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2" name="R3 chip"/>
          <p:cNvSpPr/>
          <p:nvPr/>
        </p:nvSpPr>
        <p:spPr>
          <a:xfrm>
            <a:off x="544982" y="3970325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3" name="R3 num"/>
          <p:cNvSpPr/>
          <p:nvPr/>
        </p:nvSpPr>
        <p:spPr>
          <a:xfrm>
            <a:off x="686714" y="4034333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3</a:t>
            </a:r>
            <a:endParaRPr lang="en-US" sz="3200" dirty="0" b="1"/>
          </a:p>
        </p:txBody>
      </p:sp>
      <p:sp>
        <p:nvSpPr>
          <p:cNvPr id="44" name="R3 text"/>
          <p:cNvSpPr/>
          <p:nvPr/>
        </p:nvSpPr>
        <p:spPr>
          <a:xfrm>
            <a:off x="1810512" y="3970325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When do they swap?</a:t>
            </a:r>
            <a:endParaRPr lang="en-US" sz="1600" dirty="0"/>
          </a:p>
        </p:txBody>
      </p:sp>
      <p:sp>
        <p:nvSpPr>
          <p:cNvPr id="45" name="R3 ans"/>
          <p:cNvSpPr/>
          <p:nvPr/>
        </p:nvSpPr>
        <p:spPr>
          <a:xfrm>
            <a:off x="5010912" y="4098341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At noon</a:t>
            </a:r>
            <a:endParaRPr lang="en-US" sz="1300" dirty="0" b="1"/>
          </a:p>
        </p:txBody>
      </p:sp>
      <p:sp>
        <p:nvSpPr>
          <p:cNvPr id="46" name="R4 card"/>
          <p:cNvSpPr/>
          <p:nvPr/>
        </p:nvSpPr>
        <p:spPr>
          <a:xfrm>
            <a:off x="1583741" y="4756709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47" name="R4 chip"/>
          <p:cNvSpPr/>
          <p:nvPr/>
        </p:nvSpPr>
        <p:spPr>
          <a:xfrm>
            <a:off x="544982" y="4756709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8" name="R4 num"/>
          <p:cNvSpPr/>
          <p:nvPr/>
        </p:nvSpPr>
        <p:spPr>
          <a:xfrm>
            <a:off x="686714" y="4820717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4</a:t>
            </a:r>
            <a:endParaRPr lang="en-US" sz="3200" dirty="0" b="1"/>
          </a:p>
        </p:txBody>
      </p:sp>
      <p:sp>
        <p:nvSpPr>
          <p:cNvPr id="49" name="R4 text"/>
          <p:cNvSpPr/>
          <p:nvPr/>
        </p:nvSpPr>
        <p:spPr>
          <a:xfrm>
            <a:off x="1810512" y="4756709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Where did they copy the plan?</a:t>
            </a:r>
            <a:endParaRPr lang="en-US" sz="1600" dirty="0"/>
          </a:p>
        </p:txBody>
      </p:sp>
      <p:sp>
        <p:nvSpPr>
          <p:cNvPr id="50" name="R4 ans"/>
          <p:cNvSpPr/>
          <p:nvPr/>
        </p:nvSpPr>
        <p:spPr>
          <a:xfrm>
            <a:off x="5010912" y="4884725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On the whiteboard</a:t>
            </a:r>
            <a:endParaRPr lang="en-US" sz="1300" dirty="0" b="1"/>
          </a:p>
        </p:txBody>
      </p:sp>
      <p:sp>
        <p:nvSpPr>
          <p:cNvPr id="51" name="R5 card"/>
          <p:cNvSpPr/>
          <p:nvPr/>
        </p:nvSpPr>
        <p:spPr>
          <a:xfrm>
            <a:off x="1583741" y="5543093"/>
            <a:ext cx="6035040" cy="713232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2" name="R5 chip"/>
          <p:cNvSpPr/>
          <p:nvPr/>
        </p:nvSpPr>
        <p:spPr>
          <a:xfrm>
            <a:off x="544982" y="5543093"/>
            <a:ext cx="1039673" cy="713232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3" name="R5 num"/>
          <p:cNvSpPr/>
          <p:nvPr/>
        </p:nvSpPr>
        <p:spPr>
          <a:xfrm>
            <a:off x="686714" y="5607101"/>
            <a:ext cx="1109167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 b="1"/>
              <a:t>5</a:t>
            </a:r>
            <a:endParaRPr lang="en-US" sz="3200" dirty="0" b="1"/>
          </a:p>
        </p:txBody>
      </p:sp>
      <p:sp>
        <p:nvSpPr>
          <p:cNvPr id="54" name="R5 text"/>
          <p:cNvSpPr/>
          <p:nvPr/>
        </p:nvSpPr>
        <p:spPr>
          <a:xfrm>
            <a:off x="1810512" y="5543093"/>
            <a:ext cx="3127248" cy="713232"/>
          </a:xfrm>
          <a:prstGeom prst="rect">
            <a:avLst/>
          </a:prstGeom>
          <a:noFill/>
          <a:ln/>
        </p:spPr>
        <p:txBody>
          <a:bodyPr wrap="square" rtlCol="0" anchor="ctr" tIns="0" bIns="0"/>
          <a:lstStyle/>
          <a:p>
            <a:pPr algn="l" indent="0" marL="0">
              <a:buNone/>
            </a:pPr>
            <a:r>
              <a:rPr lang="en-US" sz="16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Is Ms. Nguyen going to call the shift off?</a:t>
            </a:r>
            <a:endParaRPr lang="en-US" sz="1600" dirty="0"/>
          </a:p>
        </p:txBody>
      </p:sp>
      <p:sp>
        <p:nvSpPr>
          <p:cNvPr id="55" name="R5 ans"/>
          <p:cNvSpPr/>
          <p:nvPr/>
        </p:nvSpPr>
        <p:spPr>
          <a:xfrm>
            <a:off x="5010912" y="5671109"/>
            <a:ext cx="2560320" cy="457200"/>
          </a:xfrm>
          <a:prstGeom prst="roundRect">
            <a:avLst>
              <a:gd name="adj" fmla="val 22000"/>
            </a:avLst>
          </a:prstGeom>
          <a:solidFill>
            <a:srgbClr val="C9B8F2"/>
          </a:solidFill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 indent="0" marL="0">
              <a:buNone/>
            </a:pPr>
            <a:r>
              <a:rPr lang="en-US" sz="13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No. She will not call it off</a:t>
            </a:r>
            <a:endParaRPr lang="en-US" sz="1300" dirty="0" b="1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4982" y="786384"/>
            <a:ext cx="5486400" cy="5731459"/>
          </a:xfrm>
          <a:prstGeom prst="rect">
            <a:avLst/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4147718" y="2196389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992270" y="1937614"/>
            <a:ext cx="7699248" cy="4160520"/>
          </a:xfrm>
          <a:prstGeom prst="round1Rect">
            <a:avLst>
              <a:gd name="adj" fmla="val 2308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6" name="title"/>
          <p:cNvSpPr/>
          <p:nvPr/>
        </p:nvSpPr>
        <p:spPr>
          <a:xfrm>
            <a:off x="4343400" y="21031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Before You Go   </a:t>
            </a:r>
            <a:r>
              <a:rPr lang="en-US" sz="22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7:25–7:30</a:t>
            </a:r>
            <a:endParaRPr lang="en-US" sz="4000" dirty="0"/>
          </a:p>
        </p:txBody>
      </p:sp>
      <p:pic>
        <p:nvPicPr>
          <p:cNvPr id="16" name="pic" descr="Swap: swap arrows [sign: SWAP]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51760"/>
            <a:ext cx="3017520" cy="2112264"/>
          </a:xfrm>
          <a:prstGeom prst="rect">
            <a:avLst/>
          </a:prstGeom>
        </p:spPr>
      </p:pic>
      <p:sp>
        <p:nvSpPr>
          <p:cNvPr id="17" name="Num 01"/>
          <p:cNvSpPr/>
          <p:nvPr/>
        </p:nvSpPr>
        <p:spPr>
          <a:xfrm>
            <a:off x="43434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01</a:t>
            </a:r>
            <a:endParaRPr lang="en-US" sz="3000" dirty="0"/>
          </a:p>
        </p:txBody>
      </p:sp>
      <p:sp>
        <p:nvSpPr>
          <p:cNvPr id="18" name="Label 01"/>
          <p:cNvSpPr/>
          <p:nvPr/>
        </p:nvSpPr>
        <p:spPr>
          <a:xfrm>
            <a:off x="51206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Exit ticket</a:t>
            </a:r>
            <a:endParaRPr lang="en-US" sz="2200" dirty="0" b="1"/>
          </a:p>
        </p:txBody>
      </p:sp>
      <p:sp>
        <p:nvSpPr>
          <p:cNvPr id="19" name="Body 01"/>
          <p:cNvSpPr/>
          <p:nvPr/>
        </p:nvSpPr>
        <p:spPr>
          <a:xfrm>
            <a:off x="4343400" y="3520440"/>
            <a:ext cx="352044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Describe a small compromise.</a:t>
            </a:r>
            <a:endParaRPr lang="en-US" sz="15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Name: Date: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Give this page to your teacher.</a:t>
            </a:r>
            <a:endParaRPr lang="en-US" sz="1500" dirty="0" b="0"/>
          </a:p>
        </p:txBody>
      </p:sp>
      <p:sp>
        <p:nvSpPr>
          <p:cNvPr id="20" name="Num 02"/>
          <p:cNvSpPr/>
          <p:nvPr/>
        </p:nvSpPr>
        <p:spPr>
          <a:xfrm>
            <a:off x="8001000" y="2971800"/>
            <a:ext cx="73152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0" tIns="36576" rIns="0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3000" dirty="0" b="1">
                <a:solidFill>
                  <a:srgbClr val="8FAFE3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02</a:t>
            </a:r>
            <a:endParaRPr lang="en-US" sz="3000" dirty="0"/>
          </a:p>
        </p:txBody>
      </p:sp>
      <p:sp>
        <p:nvSpPr>
          <p:cNvPr id="21" name="Label 02"/>
          <p:cNvSpPr/>
          <p:nvPr/>
        </p:nvSpPr>
        <p:spPr>
          <a:xfrm>
            <a:off x="8778240" y="2971800"/>
            <a:ext cx="2651760" cy="54864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 indent="0" marL="0">
              <a:buNone/>
            </a:pPr>
            <a:r>
              <a:rPr lang="en-US" sz="22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Homework</a:t>
            </a:r>
            <a:endParaRPr lang="en-US" sz="2200" dirty="0" b="1"/>
          </a:p>
        </p:txBody>
      </p:sp>
      <p:sp>
        <p:nvSpPr>
          <p:cNvPr id="22" name="Body 02"/>
          <p:cNvSpPr/>
          <p:nvPr/>
        </p:nvSpPr>
        <p:spPr>
          <a:xfrm>
            <a:off x="8001000" y="3520440"/>
            <a:ext cx="3657600" cy="2468880"/>
          </a:xfrm>
          <a:prstGeom prst="rect">
            <a:avLst/>
          </a:prstGeom>
          <a:noFill/>
          <a:ln w="38100"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About 20–25 minutes.</a:t>
            </a:r>
            <a:endParaRPr lang="en-US" sz="1500" dirty="0" b="1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1. Write one so… that sentence.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2. Finish your message (Read &amp; Write).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3. Tell a friend a small compromise. Write one sentence they said.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4. Review: work it out, call it off, give in. Write one real sentence</a:t>
            </a:r>
            <a:endParaRPr lang="en-US" sz="1500" dirty="0" b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5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Bring it next week!</a:t>
            </a:r>
            <a:endParaRPr lang="en-US" sz="1500" dirty="0" b="1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goodbye">
    <p:bg>
      <p:bgPr>
        <a:solidFill>
          <a:srgbClr val="F1F5FB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7223760" y="914400"/>
            <a:ext cx="4480560" cy="512064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pic>
        <p:nvPicPr>
          <p:cNvPr id="4" name="pic" descr="Whiteboard: a chart and a pe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80" y="1664208"/>
            <a:ext cx="3474720" cy="2432304"/>
          </a:xfrm>
          <a:prstGeom prst="rect">
            <a:avLst/>
          </a:prstGeom>
        </p:spPr>
      </p:pic>
      <p:sp>
        <p:nvSpPr>
          <p:cNvPr id="5" name="lesson"/>
          <p:cNvSpPr/>
          <p:nvPr/>
        </p:nvSpPr>
        <p:spPr>
          <a:xfrm>
            <a:off x="7635240" y="44348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Lesson 10  ·  Level 5</a:t>
            </a:r>
            <a:endParaRPr lang="en-US" sz="2200" b="1" dirty="0"/>
          </a:p>
        </p:txBody>
      </p:sp>
      <p:sp>
        <p:nvSpPr>
          <p:cNvPr id="6" name="Shape 3"/>
          <p:cNvSpPr/>
          <p:nvPr/>
        </p:nvSpPr>
        <p:spPr>
          <a:xfrm>
            <a:off x="661111" y="1146658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85800" y="1097280"/>
            <a:ext cx="6035040" cy="246888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8" name="title"/>
          <p:cNvSpPr/>
          <p:nvPr/>
        </p:nvSpPr>
        <p:spPr>
          <a:xfrm>
            <a:off x="868680" y="1325880"/>
            <a:ext cx="58064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36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Goodbye! See You Next Week!</a:t>
            </a:r>
            <a:endParaRPr lang="en-US" sz="3600" b="1" dirty="0"/>
          </a:p>
        </p:txBody>
      </p:sp>
      <p:sp>
        <p:nvSpPr>
          <p:cNvPr id="9" name="lead"/>
          <p:cNvSpPr/>
          <p:nvPr/>
        </p:nvSpPr>
        <p:spPr>
          <a:xfrm>
            <a:off x="777240" y="3977640"/>
            <a:ext cx="585216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Now you can:</a:t>
            </a:r>
            <a:endParaRPr lang="en-US" sz="2400" b="1" dirty="0"/>
          </a:p>
        </p:txBody>
      </p:sp>
      <p:sp>
        <p:nvSpPr>
          <p:cNvPr id="10" name="bullets"/>
          <p:cNvSpPr/>
          <p:nvPr/>
        </p:nvSpPr>
        <p:spPr>
          <a:xfrm>
            <a:off x="777240" y="4480560"/>
            <a:ext cx="603504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say what they need and ask what the other person needs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offer a middle idea</a:t>
            </a:r>
            <a:endParaRPr lang="en-US" sz="1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•  I can explain a result with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so… that</a:t>
            </a:r>
            <a:r>
              <a:rPr lang="en-US" sz="1800" dirty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 or </a:t>
            </a:r>
            <a:r>
              <a:rPr lang="en-US" sz="18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such… that</a:t>
            </a:r>
            <a:endParaRPr lang="en-US" sz="1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L5:credits">
    <p:bg>
      <p:bgPr>
        <a:solidFill>
          <a:srgbClr val="C9B8F2"/>
        </a:solidFill>
      </p:bgPr>
    </p:bg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DCE6F5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0" y="1371600"/>
            <a:ext cx="12191695" cy="5486400"/>
          </a:xfrm>
          <a:prstGeom prst="round1Rect">
            <a:avLst>
              <a:gd name="adj" fmla="val 23087"/>
            </a:avLst>
          </a:prstGeom>
          <a:solidFill>
            <a:srgbClr val="B9D2F7"/>
          </a:solidFill>
          <a:ln/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18465" y="431597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8FAFE3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50469" y="365760"/>
            <a:ext cx="5361127" cy="1595628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" name="title"/>
          <p:cNvSpPr/>
          <p:nvPr/>
        </p:nvSpPr>
        <p:spPr>
          <a:xfrm>
            <a:off x="674827" y="640080"/>
            <a:ext cx="5120640" cy="1024128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l" indent="0" marL="0">
              <a:buNone/>
            </a:pPr>
            <a:r>
              <a:rPr lang="en-US" sz="5400" dirty="0" b="1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Credits</a:t>
            </a:r>
            <a:endParaRPr lang="en-US" sz="5400" dirty="0"/>
          </a:p>
        </p:txBody>
      </p:sp>
      <p:sp>
        <p:nvSpPr>
          <p:cNvPr id="15" name="pictures"/>
          <p:cNvSpPr/>
          <p:nvPr/>
        </p:nvSpPr>
        <p:spPr>
          <a:xfrm>
            <a:off x="411480" y="2240280"/>
            <a:ext cx="11365992" cy="22402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Pictures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Vocabulary pictures use Twemoji graphics by Twitter, Inc. and other contributors (https://github.com/jdecked/twemoji), licensed under CC BY 4.0 (https://creativecommons.org/licenses/by/4.0/). The graphics were resized and combined, and signs and labels were added.</a:t>
            </a:r>
            <a:endParaRPr lang="en-US" sz="1600" dirty="0" b="0"/>
          </a:p>
        </p:txBody>
      </p:sp>
      <p:sp>
        <p:nvSpPr>
          <p:cNvPr id="16" name="names"/>
          <p:cNvSpPr/>
          <p:nvPr/>
        </p:nvSpPr>
        <p:spPr>
          <a:xfrm>
            <a:off x="411480" y="4709160"/>
            <a:ext cx="4206240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Names and story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60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Ms. Nguyen, Camila, and Jon are invented names. The listening story is invented.</a:t>
            </a:r>
            <a:endParaRPr lang="en-US" sz="1600" dirty="0" b="0"/>
          </a:p>
        </p:txBody>
      </p:sp>
      <p:sp>
        <p:nvSpPr>
          <p:cNvPr id="17" name="audio"/>
          <p:cNvSpPr/>
          <p:nvPr/>
        </p:nvSpPr>
        <p:spPr>
          <a:xfrm>
            <a:off x="4846320" y="4709160"/>
            <a:ext cx="6931152" cy="178308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38100">
            <a:noFill/>
          </a:ln>
        </p:spPr>
        <p:txBody>
          <a:bodyPr wrap="square" lIns="274320" tIns="36576" rIns="274320" bIns="36576" rtlCol="0" anchor="ctr">
            <a:noAutofit/>
          </a:bodyPr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2000" dirty="0" b="1">
                <a:solidFill>
                  <a:srgbClr val="5B3FC4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 and font</a:t>
            </a:r>
            <a:endParaRPr lang="en-US" sz="2000" dirty="0" b="1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Audio: synthetic voices made with Chatterbox TTS (MIT License), cloned from short synthetic reference clips made with Kokoro-82M (Apache License 2.0). No recordings of real people were used. Each file carries an inaudible Perth watermark marking it as AI-generated. Font: Lexend Deca (OFL 1.1).</a:t>
            </a:r>
            <a:endParaRPr lang="en-US" sz="1350" dirty="0" b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 b="0">
                <a:solidFill>
                  <a:srgbClr val="1B2236"/>
                </a:solidFill>
                <a:latin typeface="Lexend Deca" pitchFamily="34" charset="0"/>
                <a:ea typeface="Lexend Deca" pitchFamily="34" charset="-122"/>
                <a:cs typeface="Lexend Deca" pitchFamily="34" charset="-120"/>
              </a:rPr>
              <a:t>© 2026 the authors. The authors license this deck under CC BY-NC-SA 4.0.</a:t>
            </a:r>
            <a:endParaRPr lang="en-US" sz="1350" dirty="0" b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Level 5 Lesson 10: Can We Meet in the Middle?</dc:title>
  <dc:subject>PptxGenJS Presentation</dc:subject>
  <dc:creator>Level 1 ESL</dc:creator>
  <cp:lastModifiedBy>Level 1 ESL</cp:lastModifiedBy>
  <cp:revision>1</cp:revision>
  <dcterms:created xsi:type="dcterms:W3CDTF">2026-10-15T20:54:31Z</dcterms:created>
  <dcterms:modified xsi:type="dcterms:W3CDTF">2026-10-15T20:54:31Z</dcterms:modified>
</cp:coreProperties>
</file>