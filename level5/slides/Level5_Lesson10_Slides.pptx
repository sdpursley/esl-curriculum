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939" r:id="rId33"/>
    <p:sldId id="940" r:id="rId34"/>
    <p:sldId id="941" r:id="rId35"/>
    <p:sldId id="942" r:id="rId36"/>
    <p:sldId id="943" r:id="rId31"/>
    <p:sldId id="944" r:id="rId30"/>
    <p:sldId id="945" r:id="rId29"/>
    <p:sldId id="946" r:id="rId28"/>
    <p:sldId id="947" r:id="rId27"/>
    <p:sldId id="948" r:id="rId20"/>
    <p:sldId id="949" r:id="rId18"/>
    <p:sldId id="950" r:id="rId17"/>
    <p:sldId id="951" r:id="rId16"/>
    <p:sldId id="952" r:id="rId14"/>
    <p:sldId id="953" r:id="rId13"/>
    <p:sldId id="954" r:id="rId12"/>
    <p:sldId id="955" r:id="rId11"/>
    <p:sldId id="956" r:id="rId10"/>
    <p:sldId id="957" r:id="rId8"/>
    <p:sldId id="958" r:id="rId7"/>
    <p:sldId id="959" r:id="rId6"/>
    <p:sldId id="960" r:id="rId5"/>
    <p:sldId id="961" r:id="rId4"/>
    <p:sldId id="962" r:id="rId3"/>
    <p:sldId id="963" r:id="rId57"/>
    <p:sldId id="964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2.xml"/><Relationship Id="rId3" Type="http://schemas.openxmlformats.org/officeDocument/2006/relationships/slide" Target="slides/slide50.xml"/><Relationship Id="rId4" Type="http://schemas.openxmlformats.org/officeDocument/2006/relationships/slide" Target="slides/slide49.xml"/><Relationship Id="rId5" Type="http://schemas.openxmlformats.org/officeDocument/2006/relationships/slide" Target="slides/slide48.xml"/><Relationship Id="rId6" Type="http://schemas.openxmlformats.org/officeDocument/2006/relationships/slide" Target="slides/slide47.xml"/><Relationship Id="rId7" Type="http://schemas.openxmlformats.org/officeDocument/2006/relationships/slide" Target="slides/slide46.xml"/><Relationship Id="rId8" Type="http://schemas.openxmlformats.org/officeDocument/2006/relationships/slide" Target="slides/slide45.xml"/><Relationship Id="rId10" Type="http://schemas.openxmlformats.org/officeDocument/2006/relationships/slide" Target="slides/slide44.xml"/><Relationship Id="rId11" Type="http://schemas.openxmlformats.org/officeDocument/2006/relationships/slide" Target="slides/slide43.xml"/><Relationship Id="rId12" Type="http://schemas.openxmlformats.org/officeDocument/2006/relationships/slide" Target="slides/slide42.xml"/><Relationship Id="rId13" Type="http://schemas.openxmlformats.org/officeDocument/2006/relationships/slide" Target="slides/slide41.xml"/><Relationship Id="rId14" Type="http://schemas.openxmlformats.org/officeDocument/2006/relationships/slide" Target="slides/slide40.xml"/><Relationship Id="rId16" Type="http://schemas.openxmlformats.org/officeDocument/2006/relationships/slide" Target="slides/slide39.xml"/><Relationship Id="rId17" Type="http://schemas.openxmlformats.org/officeDocument/2006/relationships/slide" Target="slides/slide38.xml"/><Relationship Id="rId18" Type="http://schemas.openxmlformats.org/officeDocument/2006/relationships/slide" Target="slides/slide37.xml"/><Relationship Id="rId20" Type="http://schemas.openxmlformats.org/officeDocument/2006/relationships/slide" Target="slides/slide36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35.xml"/><Relationship Id="rId28" Type="http://schemas.openxmlformats.org/officeDocument/2006/relationships/slide" Target="slides/slide34.xml"/><Relationship Id="rId29" Type="http://schemas.openxmlformats.org/officeDocument/2006/relationships/slide" Target="slides/slide33.xml"/><Relationship Id="rId30" Type="http://schemas.openxmlformats.org/officeDocument/2006/relationships/slide" Target="slides/slide32.xml"/><Relationship Id="rId31" Type="http://schemas.openxmlformats.org/officeDocument/2006/relationships/slide" Target="slides/slide31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57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the listening audio for this lesson (about 2:30) is coming soon. It will use computer-generated voices (Chatterbox TTS cloned from synthetic Kokoro-82M reference clips); no recordings of real people. Until it is ready, read the listening script (in the notes of the Before You Listen slide) with a volunteer.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 · 7:25–7:30 · Exit ticket and homework. Never skip the exit ticket.</a:t>
            </a:r>
          </a:p>
          <a:p>
            <a:r>
              <a:t>Describe a small compromise.</a:t>
            </a:r>
          </a:p>
          <a:p>
            <a:r>
              <a:t>Lesson plan: Step 7; Exit Ticket page; Homework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7:18–7:25 · Read &amp; Write.</a:t>
            </a:r>
          </a:p>
          <a:p>
            <a:r>
              <a:t>Click to show each answer: 1 The Saturday shift • 2 A morning class • 3 At noon • 4 On the whiteboard • 5 No. She will not call it off</a:t>
            </a:r>
          </a:p>
          <a:p>
            <a:r>
              <a:t>Lesson plan: Step 6; Read &amp; Write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2.</a:t>
            </a:r>
          </a:p>
          <a:p>
            <a:r>
              <a:t>Lesson plan: Step 5; Talk Time.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1.</a:t>
            </a:r>
          </a:p>
          <a:p>
            <a:r>
              <a:t>Lesson plan: Step 5; Talk Time.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says a need: "I need the morning for a class." B says it back, then offers: "You need the morning. What if I take the afternoon?" Then switch. ---</a:t>
            </a:r>
          </a:p>
          <a:p>
            <a:r>
              <a:t>Break · 6:45–7:00.</a:t>
            </a:r>
          </a:p>
          <a:p>
            <a:r>
              <a:t>Lesson plan: Step 4: Pair check.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Don't say, then Say. Learners try first. Then click.</a:t>
            </a:r>
          </a:p>
          <a:p>
            <a:r>
              <a:t>Lesson plan: Grammar: Common mistakes.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each answer: 1 so • 2 such • 3 it out • 4 it off • 5 give in • 6 too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show each answer: 1 so • 2 such • 3 too • 4 so • 5 such • 6 it out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4: don't mix them. Each click shows the answer side.</a:t>
            </a:r>
          </a:p>
          <a:p>
            <a:r>
              <a:t>Lesson plan: Step 4; Grammar Box 4.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3: work out, call off, give in (review). Each click shows the answer side.</a:t>
            </a:r>
          </a:p>
          <a:p>
            <a:r>
              <a:t>Lesson plan: Step 4; Grammar Box 3.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2: so… that / such… that. Each click shows the answer side.</a:t>
            </a:r>
          </a:p>
          <a:p>
            <a:r>
              <a:t>Lesson plan: Step 4; Grammar Box 2.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1: a middle idea. Each click shows the answer side.</a:t>
            </a:r>
          </a:p>
          <a:p>
            <a:r>
              <a:t>Lesson plan: Step 4; Grammar Box 1.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gonna and wanna are short forms. This listening uses the full forms. Say each line two times.</a:t>
            </a:r>
          </a:p>
          <a:p>
            <a:r>
              <a:t>Lesson plan: Step 3: Hear it, say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show each answer: 1 so • 2 such • 3 so • 4 such • 5 so • 6 so</a:t>
            </a:r>
          </a:p>
          <a:p>
            <a:r>
              <a:t>Lesson plan: Step 3; Listening Task C;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each answer: 1 a morning class • 2 an afternoon visit • 3 twelve • 4 such a long shift • 5 a sticky note • 6 not call it off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b.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6:12–6:32 · Listening. Play 1 is Task A. Play 2 is Tasks B and C. A third play is fine.</a:t>
            </a:r>
          </a:p>
          <a:p>
            <a:r>
              <a:t>Camila and Jon both need Saturday.</a:t>
            </a:r>
          </a:p>
          <a:p>
            <a:r>
              <a:t>The script says going to and want to. Learners only need to recognize gonna and wanna.</a:t>
            </a:r>
          </a:p>
          <a:p>
            <a:r>
              <a:t>Lesson plan: Step 3;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  <a:p>
            <a:r>
              <a:t>Listening script (the audio is coming soon; until then, read it aloud with a volunteer at a normal, friendly speed):</a:t>
            </a:r>
          </a:p>
          <a:p>
            <a:r>
              <a:t>Narrator: Lesson ten. Camila and Jon share a Saturday job. They both want the day off. Ms. Nguyen asks them to work it out before she calls the shift off.</a:t>
            </a:r>
          </a:p>
          <a:p>
            <a:r>
              <a:t>Ms. Nguyen: I don't want to call the shift off. The week was so busy that we need Saturday. Please meet in the middle.</a:t>
            </a:r>
          </a:p>
          <a:p>
            <a:r>
              <a:t>Camila: I want to take the morning off. I have a class, and that class is my priority.</a:t>
            </a:r>
          </a:p>
          <a:p>
            <a:r>
              <a:t>Jon: I hear you. I have a family visit in the afternoon. I was going to ask for the whole day too.</a:t>
            </a:r>
          </a:p>
          <a:p>
            <a:r>
              <a:t>Ms. Nguyen: Say the other person's idea before you offer yours.</a:t>
            </a:r>
          </a:p>
          <a:p>
            <a:r>
              <a:t>Camila: Jon, you need the afternoon for a family visit. I need the morning for my class.</a:t>
            </a:r>
          </a:p>
          <a:p>
            <a:r>
              <a:t>Jon: Yes. What if we split the day? I can take the morning if you take the afternoon.</a:t>
            </a:r>
          </a:p>
          <a:p>
            <a:r>
              <a:t>Camila: That is a fair offer. My class ends at noon. What if we swap at twelve? That is my counteroffer.</a:t>
            </a:r>
          </a:p>
          <a:p>
            <a:r>
              <a:t>Jon: Your counteroffer works. The week was so busy that we split Saturday.</a:t>
            </a:r>
          </a:p>
          <a:p>
            <a:r>
              <a:t>Camila: And it was such a long shift that we shared it. The week is too full for one person.</a:t>
            </a:r>
          </a:p>
          <a:p>
            <a:r>
              <a:t>Jon: The visit is so important that I need the afternoon. This solution is about fairness.</a:t>
            </a:r>
          </a:p>
          <a:p>
            <a:r>
              <a:t>Camila: My class is so important that I need the morning. We didn't give in. We found the middle.</a:t>
            </a:r>
          </a:p>
          <a:p>
            <a:r>
              <a:t>Jon: I'll write the shared task on a sticky note and put it on the whiteboard.</a:t>
            </a:r>
          </a:p>
          <a:p>
            <a:r>
              <a:t>Camila: We each get a break time. I'm going to come in at noon.</a:t>
            </a:r>
          </a:p>
          <a:p>
            <a:r>
              <a:t>Ms. Nguyen: Read the compromise, please. I want to hear it.</a:t>
            </a:r>
          </a:p>
          <a:p>
            <a:r>
              <a:t>Jon: I'm going to work the morning. Camila is going to work the afternoon. We swap at twelve.</a:t>
            </a:r>
          </a:p>
          <a:p>
            <a:r>
              <a:t>Camila: Noon is such a clear time that nobody has to guess.</a:t>
            </a:r>
          </a:p>
          <a:p>
            <a:r>
              <a:t>Ms. Nguyen: You worked it out. I'm not going to call it off. Thank you for the compromise.</a:t>
            </a:r>
          </a:p>
          <a:p>
            <a:r>
              <a:t>Narrator: That's the end of the listening.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answers are hidden. Ask, then click.</a:t>
            </a:r>
          </a:p>
          <a:p>
            <a:r>
              <a:t>1. No. A middle idea.</a:t>
            </a:r>
          </a:p>
          <a:p>
            <a:r>
              <a:t>2. No.</a:t>
            </a:r>
          </a:p>
          <a:p>
            <a:r>
              <a:t>3. *so busy that*</a:t>
            </a:r>
          </a:p>
          <a:p>
            <a:r>
              <a:t>Lesson plan: Step 2: Check the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points to a picture. B names it and uses it in one sentence. Then switch.</a:t>
            </a:r>
          </a:p>
          <a:p>
            <a:r>
              <a:t>Lesson plan: Step 2; New Words page; Partner game.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6:06–6:12 · New Words.</a:t>
            </a:r>
          </a:p>
          <a:p>
            <a:r>
              <a:t>Point to each picture. Learners repeat. ★ = most important.</a:t>
            </a:r>
          </a:p>
          <a:p>
            <a:r>
              <a:t>Lesson plan: Step 2;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Read the three lines under Today you will.</a:t>
            </a:r>
          </a:p>
          <a:p>
            <a:r>
              <a:t>Lesson plan: Topic; At a glance: Objectives.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6:00–6:06 · Opening Talk.</a:t>
            </a:r>
          </a:p>
          <a:p>
            <a:r>
              <a:t>Work with a partner.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shows the next card.</a:t>
            </a:r>
          </a:p>
          <a:p>
            <a:r>
              <a:t>A asks. B answers. Then switch.</a:t>
            </a:r>
          </a:p>
          <a:p>
            <a:r>
              <a:t>Lesson plan: Step 1; Opening Talk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three Now you can lines.</a:t>
            </a:r>
          </a:p>
          <a:p>
            <a:r>
              <a:t>Homework is about 20–25 minutes. Bring it next week.</a:t>
            </a:r>
          </a:p>
          <a:p>
            <a:r>
              <a:t>Lesson plan: At a glance: Objectives; Step 7.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notesSlide" Target="../notesSlides/notesSlide2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1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1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1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Compromise: a handshake [sign: COMPROMISE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10  ·  Level 5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We Meet in the Middle?</a:t>
            </a:r>
            <a:endParaRPr lang="en-US" sz="40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say what they need and ask what the other person needs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offer a middle idea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explain a result with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so… that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or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such… that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things.</a:t>
            </a:r>
            <a:endParaRPr lang="en-US" sz="2000" dirty="0"/>
          </a:p>
        </p:txBody>
      </p:sp>
      <p:sp>
        <p:nvSpPr>
          <p:cNvPr id="31" name="R1 shadow"/>
          <p:cNvSpPr/>
          <p:nvPr/>
        </p:nvSpPr>
        <p:spPr>
          <a:xfrm>
            <a:off x="544982" y="2093062"/>
            <a:ext cx="6227064" cy="713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035454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035454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068830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035454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they need and ask what the other person needs</a:t>
            </a:r>
            <a:endParaRPr lang="en-US" sz="16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16895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2857500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2857500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2890876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2857500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offer a middle idea</a:t>
            </a:r>
            <a:endParaRPr lang="en-US" sz="16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299100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679546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679546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712921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679546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explain a result with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so… that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or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such… that</a:t>
            </a:r>
            <a:endParaRPr lang="en-US" sz="16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81304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01591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0159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34967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01591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use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out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call off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or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in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 a real sentence</a:t>
            </a:r>
            <a:endParaRPr lang="en-US" sz="16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350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Offer: a speech balloon and a gift [sign: OFFER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2104034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A asks a card</a:t>
            </a:r>
            <a:endParaRPr lang="en-US" sz="18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question. B answers in about four sentences. A asks one follow-up. Then switch.</a:t>
            </a:r>
            <a:endParaRPr lang="en-US" sz="1800" dirty="0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sentences. A asks one follow-up. Then</a:t>
            </a:r>
            <a:endParaRPr lang="en-US" sz="18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switch.</a:t>
            </a:r>
            <a:endParaRPr lang="en-US" sz="18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A asks a card question. B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answers in about four sentences. A asks one follow-up. Then switch.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A asks a card question. B answers in about four</a:t>
            </a:r>
            <a:endParaRPr lang="en-US" sz="15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sentences. A asks one follow-up. Then switch.</a:t>
            </a:r>
            <a:endParaRPr lang="en-US" sz="15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Compromise: a handshake [sign: COMPROMISE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compromise</a:t>
            </a:r>
            <a:endParaRPr lang="en-US" sz="2000" dirty="0" b="1"/>
          </a:p>
        </p:txBody>
      </p:sp>
      <p:pic>
        <p:nvPicPr>
          <p:cNvPr id="19" name="Word picture 2" descr="Offer: a speech balloon and a gift [sign: OFFER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offer</a:t>
            </a:r>
            <a:endParaRPr lang="en-US" sz="2000" dirty="0" b="1"/>
          </a:p>
        </p:txBody>
      </p:sp>
      <p:pic>
        <p:nvPicPr>
          <p:cNvPr id="21" name="Word picture 3" descr="Counteroffer: swap arrows and a speech balloon [sign: COUNTEROFFER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counteroffer</a:t>
            </a:r>
            <a:endParaRPr lang="en-US" sz="2000" dirty="0" b="1"/>
          </a:p>
        </p:txBody>
      </p:sp>
      <p:pic>
        <p:nvPicPr>
          <p:cNvPr id="23" name="Word picture 4" descr="Priority: a star [sign: PRIORITY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priority</a:t>
            </a:r>
            <a:endParaRPr lang="en-US" sz="2000" dirty="0" b="1"/>
          </a:p>
        </p:txBody>
      </p:sp>
      <p:pic>
        <p:nvPicPr>
          <p:cNvPr id="25" name="Word picture 5" descr="Shared task: two people and a clipboard [sign: SHARED TASK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shared task</a:t>
            </a:r>
            <a:endParaRPr lang="en-US" sz="2000" dirty="0" b="1"/>
          </a:p>
        </p:txBody>
      </p:sp>
      <p:pic>
        <p:nvPicPr>
          <p:cNvPr id="27" name="Word picture 6" descr="Solution: a light bulb [sign: SOLUTION]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solution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 in a sentence</a:t>
            </a:r>
            <a:endParaRPr lang="en-US" sz="2200" dirty="0" b="1"/>
          </a:p>
        </p:txBody>
      </p:sp>
      <p:pic>
        <p:nvPicPr>
          <p:cNvPr id="17" name="Word picture 1" descr="Fairness: a balance scale [sign: FAIR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fairness</a:t>
            </a:r>
            <a:endParaRPr lang="en-US" sz="2000" dirty="0" b="1"/>
          </a:p>
        </p:txBody>
      </p:sp>
      <p:pic>
        <p:nvPicPr>
          <p:cNvPr id="19" name="Word picture 2" descr="Sticky note: a memo and a pushpin [sign: NOTE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sticky note</a:t>
            </a:r>
            <a:endParaRPr lang="en-US" sz="2000" dirty="0" b="1"/>
          </a:p>
        </p:txBody>
      </p:sp>
      <p:pic>
        <p:nvPicPr>
          <p:cNvPr id="21" name="Word picture 3" descr="Break time: a coffee cup and an alarm clock [sign: BREAK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break time</a:t>
            </a:r>
            <a:endParaRPr lang="en-US" sz="2000" dirty="0" b="1"/>
          </a:p>
        </p:txBody>
      </p:sp>
      <p:pic>
        <p:nvPicPr>
          <p:cNvPr id="23" name="Word picture 4" descr="Swap: swap arrows [sign: SWAP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swap</a:t>
            </a:r>
            <a:endParaRPr lang="en-US" sz="2000" dirty="0" b="1"/>
          </a:p>
        </p:txBody>
      </p:sp>
      <p:pic>
        <p:nvPicPr>
          <p:cNvPr id="25" name="Word picture 5" descr="Whiteboard: a chart and a pe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whiteboard</a:t>
            </a:r>
            <a:endParaRPr lang="en-US" sz="2000" dirty="0" b="1"/>
          </a:p>
        </p:txBody>
      </p:sp>
      <p:pic>
        <p:nvPicPr>
          <p:cNvPr id="27" name="Word picture 6" descr="Middle: a left arrow, a star, and a right arrow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middle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 compromise one person winning?</a:t>
            </a:r>
            <a:endParaRPr lang="en-US" sz="1600" dirty="0" b="1"/>
          </a:p>
        </p:txBody>
      </p:sp>
      <p:pic>
        <p:nvPicPr>
          <p:cNvPr id="101" name="R1 pic" descr="Compromise: a handshake [sign: COMPROMISE]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in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take an object here?</a:t>
            </a:r>
            <a:endParaRPr lang="en-US" sz="1600" dirty="0" b="1"/>
          </a:p>
        </p:txBody>
      </p:sp>
      <p:pic>
        <p:nvPicPr>
          <p:cNvPr id="102" name="R2 pic" descr="Offer: a speech balloon and a gift [sign: OFFER]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is right: </a:t>
            </a:r>
            <a:r>
              <a:rPr lang="en-US" sz="1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 busy that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or </a:t>
            </a:r>
            <a:r>
              <a:rPr lang="en-US" sz="1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 busy so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400" dirty="0" b="1"/>
          </a:p>
        </p:txBody>
      </p:sp>
      <p:pic>
        <p:nvPicPr>
          <p:cNvPr id="103" name="R3 pic" descr="Counteroffer: swap arrows and a speech balloon [sign: COUNTEROFFER]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No. A middle idea.</a:t>
            </a:r>
            <a:endParaRPr lang="en-US" sz="1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No.</a:t>
            </a:r>
            <a:endParaRPr lang="en-US" sz="28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 busy that</a:t>
            </a:r>
            <a:endParaRPr lang="en-US" sz="22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Camila and Jon both need Saturday.</a:t>
            </a:r>
            <a:endParaRPr lang="en-US" sz="18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Counteroffer: swap arrows and a speech balloon [sign: COUNTEROFFER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Ms. Nguyen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Camila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Jon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What is the problem?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| 6:12–6:32 | Listening (play 1 Task A, play 2 Tasks B and C) + Hear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(about 2:30): coming soon.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What is the problem?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145389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2139696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Camila wants a new job</a:t>
            </a:r>
            <a:endParaRPr lang="en-US" sz="1500" dirty="0" b="1"/>
          </a:p>
        </p:txBody>
      </p:sp>
      <p:sp>
        <p:nvSpPr>
          <p:cNvPr id="10" name="R1 opt2"/>
          <p:cNvSpPr/>
          <p:nvPr/>
        </p:nvSpPr>
        <p:spPr>
          <a:xfrm>
            <a:off x="5367528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Both need Saturday off</a:t>
            </a:r>
            <a:endParaRPr lang="en-US" sz="1500" dirty="0" b="1"/>
          </a:p>
        </p:txBody>
      </p:sp>
      <p:sp>
        <p:nvSpPr>
          <p:cNvPr id="11" name="R1 opt3"/>
          <p:cNvSpPr/>
          <p:nvPr/>
        </p:nvSpPr>
        <p:spPr>
          <a:xfrm>
            <a:off x="8595360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The store is closed</a:t>
            </a:r>
            <a:endParaRPr lang="en-US" sz="1500" dirty="0" b="1"/>
          </a:p>
        </p:txBody>
      </p:sp>
      <p:sp>
        <p:nvSpPr>
          <p:cNvPr id="12" name="R1 circle"/>
          <p:cNvSpPr/>
          <p:nvPr/>
        </p:nvSpPr>
        <p:spPr>
          <a:xfrm>
            <a:off x="5239512" y="3054096"/>
            <a:ext cx="34107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Listen again. Circle the answers.</a:t>
            </a:r>
            <a:endParaRPr lang="en-US" sz="16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44805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1. Camila's priority</a:t>
            </a:r>
            <a:endParaRPr lang="en-US" sz="1300" dirty="0"/>
          </a:p>
        </p:txBody>
      </p:sp>
      <p:sp>
        <p:nvSpPr>
          <p:cNvPr id="9" name="R1 opt1"/>
          <p:cNvSpPr/>
          <p:nvPr/>
        </p:nvSpPr>
        <p:spPr>
          <a:xfrm>
            <a:off x="5166360" y="31089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morning class</a:t>
            </a:r>
            <a:endParaRPr lang="en-US" sz="1200" dirty="0" b="1"/>
          </a:p>
        </p:txBody>
      </p:sp>
      <p:sp>
        <p:nvSpPr>
          <p:cNvPr id="10" name="R1 opt2"/>
          <p:cNvSpPr/>
          <p:nvPr/>
        </p:nvSpPr>
        <p:spPr>
          <a:xfrm>
            <a:off x="7452360" y="31089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 afternoon visit</a:t>
            </a:r>
            <a:endParaRPr lang="en-US" sz="1200" dirty="0" b="1"/>
          </a:p>
        </p:txBody>
      </p:sp>
      <p:sp>
        <p:nvSpPr>
          <p:cNvPr id="11" name="R1 opt3"/>
          <p:cNvSpPr/>
          <p:nvPr/>
        </p:nvSpPr>
        <p:spPr>
          <a:xfrm>
            <a:off x="9738360" y="31089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second job</a:t>
            </a:r>
            <a:endParaRPr lang="en-US" sz="1200" dirty="0" b="1"/>
          </a:p>
        </p:txBody>
      </p:sp>
      <p:sp>
        <p:nvSpPr>
          <p:cNvPr id="12" name="R1 circle"/>
          <p:cNvSpPr/>
          <p:nvPr/>
        </p:nvSpPr>
        <p:spPr>
          <a:xfrm>
            <a:off x="5038344" y="305409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3" name="R2 stmt"/>
          <p:cNvSpPr/>
          <p:nvPr/>
        </p:nvSpPr>
        <p:spPr>
          <a:xfrm>
            <a:off x="502920" y="3657600"/>
            <a:ext cx="44805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2. Jon's limit</a:t>
            </a:r>
            <a:endParaRPr lang="en-US" sz="1300" dirty="0"/>
          </a:p>
        </p:txBody>
      </p:sp>
      <p:sp>
        <p:nvSpPr>
          <p:cNvPr id="14" name="R2 opt1"/>
          <p:cNvSpPr/>
          <p:nvPr/>
        </p:nvSpPr>
        <p:spPr>
          <a:xfrm>
            <a:off x="5166360" y="365760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morning class</a:t>
            </a:r>
            <a:endParaRPr lang="en-US" sz="1200" dirty="0" b="1"/>
          </a:p>
        </p:txBody>
      </p:sp>
      <p:sp>
        <p:nvSpPr>
          <p:cNvPr id="15" name="R2 opt2"/>
          <p:cNvSpPr/>
          <p:nvPr/>
        </p:nvSpPr>
        <p:spPr>
          <a:xfrm>
            <a:off x="7452360" y="365760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 afternoon visit</a:t>
            </a:r>
            <a:endParaRPr lang="en-US" sz="1200" dirty="0" b="1"/>
          </a:p>
        </p:txBody>
      </p:sp>
      <p:sp>
        <p:nvSpPr>
          <p:cNvPr id="16" name="R2 opt3"/>
          <p:cNvSpPr/>
          <p:nvPr/>
        </p:nvSpPr>
        <p:spPr>
          <a:xfrm>
            <a:off x="9738360" y="365760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whiteboard</a:t>
            </a:r>
            <a:endParaRPr lang="en-US" sz="1200" dirty="0" b="1"/>
          </a:p>
        </p:txBody>
      </p:sp>
      <p:sp>
        <p:nvSpPr>
          <p:cNvPr id="17" name="R2 circle"/>
          <p:cNvSpPr/>
          <p:nvPr/>
        </p:nvSpPr>
        <p:spPr>
          <a:xfrm>
            <a:off x="7324344" y="360273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8" name="R3 stmt"/>
          <p:cNvSpPr/>
          <p:nvPr/>
        </p:nvSpPr>
        <p:spPr>
          <a:xfrm>
            <a:off x="502920" y="4206240"/>
            <a:ext cx="44805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3. They swap at</a:t>
            </a:r>
            <a:endParaRPr lang="en-US" sz="1300" dirty="0"/>
          </a:p>
        </p:txBody>
      </p:sp>
      <p:sp>
        <p:nvSpPr>
          <p:cNvPr id="19" name="R3 opt1"/>
          <p:cNvSpPr/>
          <p:nvPr/>
        </p:nvSpPr>
        <p:spPr>
          <a:xfrm>
            <a:off x="5166360" y="420624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ten</a:t>
            </a:r>
            <a:endParaRPr lang="en-US" sz="1200" dirty="0" b="1"/>
          </a:p>
        </p:txBody>
      </p:sp>
      <p:sp>
        <p:nvSpPr>
          <p:cNvPr id="20" name="R3 opt2"/>
          <p:cNvSpPr/>
          <p:nvPr/>
        </p:nvSpPr>
        <p:spPr>
          <a:xfrm>
            <a:off x="7452360" y="420624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twelve</a:t>
            </a:r>
            <a:endParaRPr lang="en-US" sz="1200" dirty="0" b="1"/>
          </a:p>
        </p:txBody>
      </p:sp>
      <p:sp>
        <p:nvSpPr>
          <p:cNvPr id="21" name="R3 opt3"/>
          <p:cNvSpPr/>
          <p:nvPr/>
        </p:nvSpPr>
        <p:spPr>
          <a:xfrm>
            <a:off x="9738360" y="420624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four</a:t>
            </a:r>
            <a:endParaRPr lang="en-US" sz="1200" dirty="0" b="1"/>
          </a:p>
        </p:txBody>
      </p:sp>
      <p:sp>
        <p:nvSpPr>
          <p:cNvPr id="22" name="R3 circle"/>
          <p:cNvSpPr/>
          <p:nvPr/>
        </p:nvSpPr>
        <p:spPr>
          <a:xfrm>
            <a:off x="7324344" y="415137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R4 stmt"/>
          <p:cNvSpPr/>
          <p:nvPr/>
        </p:nvSpPr>
        <p:spPr>
          <a:xfrm>
            <a:off x="502920" y="4754880"/>
            <a:ext cx="44805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4. The shift was</a:t>
            </a:r>
            <a:endParaRPr lang="en-US" sz="1300" dirty="0"/>
          </a:p>
        </p:txBody>
      </p:sp>
      <p:sp>
        <p:nvSpPr>
          <p:cNvPr id="24" name="R4 opt1"/>
          <p:cNvSpPr/>
          <p:nvPr/>
        </p:nvSpPr>
        <p:spPr>
          <a:xfrm>
            <a:off x="5166360" y="475488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 short</a:t>
            </a:r>
            <a:endParaRPr lang="en-US" sz="1200" dirty="0" b="1"/>
          </a:p>
        </p:txBody>
      </p:sp>
      <p:sp>
        <p:nvSpPr>
          <p:cNvPr id="25" name="R4 opt2"/>
          <p:cNvSpPr/>
          <p:nvPr/>
        </p:nvSpPr>
        <p:spPr>
          <a:xfrm>
            <a:off x="7452360" y="475488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such a long shift</a:t>
            </a:r>
            <a:endParaRPr lang="en-US" sz="1200" dirty="0" b="1"/>
          </a:p>
        </p:txBody>
      </p:sp>
      <p:sp>
        <p:nvSpPr>
          <p:cNvPr id="26" name="R4 opt3"/>
          <p:cNvSpPr/>
          <p:nvPr/>
        </p:nvSpPr>
        <p:spPr>
          <a:xfrm>
            <a:off x="9738360" y="475488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easy</a:t>
            </a:r>
            <a:endParaRPr lang="en-US" sz="1200" dirty="0" b="1"/>
          </a:p>
        </p:txBody>
      </p:sp>
      <p:sp>
        <p:nvSpPr>
          <p:cNvPr id="27" name="R4 circle"/>
          <p:cNvSpPr/>
          <p:nvPr/>
        </p:nvSpPr>
        <p:spPr>
          <a:xfrm>
            <a:off x="7324344" y="470001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5 stmt"/>
          <p:cNvSpPr/>
          <p:nvPr/>
        </p:nvSpPr>
        <p:spPr>
          <a:xfrm>
            <a:off x="502920" y="5303520"/>
            <a:ext cx="44805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5. They write the plan on</a:t>
            </a:r>
            <a:endParaRPr lang="en-US" sz="1300" dirty="0"/>
          </a:p>
        </p:txBody>
      </p:sp>
      <p:sp>
        <p:nvSpPr>
          <p:cNvPr id="29" name="R5 opt1"/>
          <p:cNvSpPr/>
          <p:nvPr/>
        </p:nvSpPr>
        <p:spPr>
          <a:xfrm>
            <a:off x="5166360" y="530352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sticky note</a:t>
            </a:r>
            <a:endParaRPr lang="en-US" sz="1200" dirty="0" b="1"/>
          </a:p>
        </p:txBody>
      </p:sp>
      <p:sp>
        <p:nvSpPr>
          <p:cNvPr id="30" name="R5 opt2"/>
          <p:cNvSpPr/>
          <p:nvPr/>
        </p:nvSpPr>
        <p:spPr>
          <a:xfrm>
            <a:off x="7452360" y="530352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napkin</a:t>
            </a:r>
            <a:endParaRPr lang="en-US" sz="1200" dirty="0" b="1"/>
          </a:p>
        </p:txBody>
      </p:sp>
      <p:sp>
        <p:nvSpPr>
          <p:cNvPr id="31" name="R5 opt3"/>
          <p:cNvSpPr/>
          <p:nvPr/>
        </p:nvSpPr>
        <p:spPr>
          <a:xfrm>
            <a:off x="9738360" y="530352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menu</a:t>
            </a:r>
            <a:endParaRPr lang="en-US" sz="1200" dirty="0" b="1"/>
          </a:p>
        </p:txBody>
      </p:sp>
      <p:sp>
        <p:nvSpPr>
          <p:cNvPr id="32" name="R5 circle"/>
          <p:cNvSpPr/>
          <p:nvPr/>
        </p:nvSpPr>
        <p:spPr>
          <a:xfrm>
            <a:off x="5038344" y="524865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3" name="R6 stmt"/>
          <p:cNvSpPr/>
          <p:nvPr/>
        </p:nvSpPr>
        <p:spPr>
          <a:xfrm>
            <a:off x="502920" y="5852160"/>
            <a:ext cx="44805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6. Ms. Nguyen is going to</a:t>
            </a:r>
            <a:endParaRPr lang="en-US" sz="1300" dirty="0"/>
          </a:p>
        </p:txBody>
      </p:sp>
      <p:sp>
        <p:nvSpPr>
          <p:cNvPr id="34" name="R6 opt1"/>
          <p:cNvSpPr/>
          <p:nvPr/>
        </p:nvSpPr>
        <p:spPr>
          <a:xfrm>
            <a:off x="5166360" y="58521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call it off</a:t>
            </a:r>
            <a:endParaRPr lang="en-US" sz="1200" dirty="0" b="1"/>
          </a:p>
        </p:txBody>
      </p:sp>
      <p:sp>
        <p:nvSpPr>
          <p:cNvPr id="35" name="R6 opt2"/>
          <p:cNvSpPr/>
          <p:nvPr/>
        </p:nvSpPr>
        <p:spPr>
          <a:xfrm>
            <a:off x="7452360" y="58521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 call it off</a:t>
            </a:r>
            <a:endParaRPr lang="en-US" sz="1200" dirty="0" b="1"/>
          </a:p>
        </p:txBody>
      </p:sp>
      <p:sp>
        <p:nvSpPr>
          <p:cNvPr id="36" name="R6 opt3"/>
          <p:cNvSpPr/>
          <p:nvPr/>
        </p:nvSpPr>
        <p:spPr>
          <a:xfrm>
            <a:off x="9738360" y="58521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in</a:t>
            </a:r>
            <a:endParaRPr lang="en-US" sz="1200" dirty="0" b="1"/>
          </a:p>
        </p:txBody>
      </p:sp>
      <p:sp>
        <p:nvSpPr>
          <p:cNvPr id="37" name="R6 circle"/>
          <p:cNvSpPr/>
          <p:nvPr/>
        </p:nvSpPr>
        <p:spPr>
          <a:xfrm>
            <a:off x="7324344" y="579729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 Write so or su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words.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check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week was ______ busy that we split Saturday.</a:t>
            </a:r>
            <a:endParaRPr lang="en-US" sz="1400" dirty="0"/>
          </a:p>
        </p:txBody>
      </p:sp>
      <p:sp>
        <p:nvSpPr>
          <p:cNvPr id="35" name="R1 ans"/>
          <p:cNvSpPr/>
          <p:nvPr/>
        </p:nvSpPr>
        <p:spPr>
          <a:xfrm>
            <a:off x="6016752" y="2222144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was ______ a long shift that we shared it.</a:t>
            </a:r>
            <a:endParaRPr lang="en-US" sz="1400" dirty="0"/>
          </a:p>
        </p:txBody>
      </p:sp>
      <p:sp>
        <p:nvSpPr>
          <p:cNvPr id="40" name="R2 ans"/>
          <p:cNvSpPr/>
          <p:nvPr/>
        </p:nvSpPr>
        <p:spPr>
          <a:xfrm>
            <a:off x="6016752" y="2950312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such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visit is ______ important that I need the afternoon.</a:t>
            </a:r>
            <a:endParaRPr lang="en-US" sz="1400" dirty="0"/>
          </a:p>
        </p:txBody>
      </p:sp>
      <p:sp>
        <p:nvSpPr>
          <p:cNvPr id="45" name="R3 ans"/>
          <p:cNvSpPr/>
          <p:nvPr/>
        </p:nvSpPr>
        <p:spPr>
          <a:xfrm>
            <a:off x="6016752" y="3678479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Noon is ______ a clear time that nobody has to guess.</a:t>
            </a:r>
            <a:endParaRPr lang="en-US" sz="1400" dirty="0"/>
          </a:p>
        </p:txBody>
      </p:sp>
      <p:sp>
        <p:nvSpPr>
          <p:cNvPr id="50" name="R4 ans"/>
          <p:cNvSpPr/>
          <p:nvPr/>
        </p:nvSpPr>
        <p:spPr>
          <a:xfrm>
            <a:off x="6016752" y="4406646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such</a:t>
            </a:r>
            <a:endParaRPr lang="en-US" sz="16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week was ______ busy that we need Saturday.</a:t>
            </a:r>
            <a:endParaRPr lang="en-US" sz="1400" dirty="0"/>
          </a:p>
        </p:txBody>
      </p:sp>
      <p:sp>
        <p:nvSpPr>
          <p:cNvPr id="55" name="R5 ans"/>
          <p:cNvSpPr/>
          <p:nvPr/>
        </p:nvSpPr>
        <p:spPr>
          <a:xfrm>
            <a:off x="6016752" y="5134813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</a:t>
            </a:r>
            <a:endParaRPr lang="en-US" sz="16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class is ______ important that I need the morning.</a:t>
            </a:r>
            <a:endParaRPr lang="en-US" sz="1400" dirty="0"/>
          </a:p>
        </p:txBody>
      </p:sp>
      <p:sp>
        <p:nvSpPr>
          <p:cNvPr id="60" name="R6 ans"/>
          <p:cNvSpPr/>
          <p:nvPr/>
        </p:nvSpPr>
        <p:spPr>
          <a:xfrm>
            <a:off x="6016752" y="5862980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it: gonna and wanna are short forms</a:t>
            </a:r>
            <a:endParaRPr lang="en-US" sz="16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use the full forms</a:t>
            </a:r>
            <a:endParaRPr lang="en-US" sz="16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It,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are short forms. This listening uses the full forms.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can say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take the morning off.</a:t>
            </a:r>
            <a:endParaRPr lang="en-US" sz="18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427171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427171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ask for the whole day too.</a:t>
            </a:r>
            <a:endParaRPr lang="en-US" sz="18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138574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138574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work the morning.</a:t>
            </a:r>
            <a:endParaRPr lang="en-US" sz="1800" dirty="0" b="1"/>
          </a:p>
        </p:txBody>
      </p:sp>
      <p:sp>
        <p:nvSpPr>
          <p:cNvPr id="37" name="S4 card"/>
          <p:cNvSpPr/>
          <p:nvPr/>
        </p:nvSpPr>
        <p:spPr>
          <a:xfrm>
            <a:off x="548640" y="484997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S4 text"/>
          <p:cNvSpPr/>
          <p:nvPr/>
        </p:nvSpPr>
        <p:spPr>
          <a:xfrm>
            <a:off x="777240" y="484997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if WE split the day?</a:t>
            </a:r>
            <a:endParaRPr lang="en-US" sz="18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Priority: a star [sign: PRIORITY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middle idea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CAN SAY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418320" y="1828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MIDDLE IDEA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if we split the day?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418320" y="228600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418320" y="228600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take the morning if you take the afternoon.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Let's meet in the middle.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418320" y="324612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418320" y="324612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can swap at twelve.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the other idea first.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418320" y="420624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418320" y="420624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need the afternoon. I need the morning.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Shared task: two people and a clipboard [sign: SHARED TASK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so… that / such… that</a:t>
            </a:r>
            <a:endParaRPr lang="en-US" sz="20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PATTERN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418320" y="1828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EXAMPLE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+ adjective + </a:t>
            </a:r>
            <a:r>
              <a:rPr lang="en-US" sz="13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</a:t>
            </a:r>
            <a:endParaRPr lang="en-US" sz="1300" dirty="0" b="1"/>
          </a:p>
        </p:txBody>
      </p:sp>
      <p:sp>
        <p:nvSpPr>
          <p:cNvPr id="19" name="Answer bg 1"/>
          <p:cNvSpPr/>
          <p:nvPr/>
        </p:nvSpPr>
        <p:spPr>
          <a:xfrm>
            <a:off x="9418320" y="228600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418320" y="228600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week was so busy that we split Saturday.</a:t>
            </a:r>
            <a:endParaRPr lang="en-US" sz="14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such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+ </a:t>
            </a:r>
            <a:r>
              <a:rPr lang="en-US" sz="13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+ adjective + noun + </a:t>
            </a:r>
            <a:r>
              <a:rPr lang="en-US" sz="13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</a:t>
            </a:r>
            <a:endParaRPr lang="en-US" sz="1300" dirty="0" b="1"/>
          </a:p>
        </p:txBody>
      </p:sp>
      <p:sp>
        <p:nvSpPr>
          <p:cNvPr id="22" name="Answer bg 2"/>
          <p:cNvSpPr/>
          <p:nvPr/>
        </p:nvSpPr>
        <p:spPr>
          <a:xfrm>
            <a:off x="9418320" y="324612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418320" y="324612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was such a long shift that we shared it.</a:t>
            </a:r>
            <a:endParaRPr lang="en-US" sz="14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+ adjective + </a:t>
            </a:r>
            <a:r>
              <a:rPr lang="en-US" sz="13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</a:t>
            </a:r>
            <a:endParaRPr lang="en-US" sz="1300" dirty="0" b="1"/>
          </a:p>
        </p:txBody>
      </p:sp>
      <p:sp>
        <p:nvSpPr>
          <p:cNvPr id="25" name="Answer bg 3"/>
          <p:cNvSpPr/>
          <p:nvPr/>
        </p:nvSpPr>
        <p:spPr>
          <a:xfrm>
            <a:off x="9418320" y="420624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418320" y="420624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visit is so important that Jon needs the afternoon.</a:t>
            </a:r>
            <a:endParaRPr lang="en-US" sz="1400" dirty="0" b="1"/>
          </a:p>
        </p:txBody>
      </p:sp>
      <p:sp>
        <p:nvSpPr>
          <p:cNvPr id="27" name="Question 4"/>
          <p:cNvSpPr/>
          <p:nvPr/>
        </p:nvSpPr>
        <p:spPr>
          <a:xfrm>
            <a:off x="5138928" y="516636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such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+ </a:t>
            </a:r>
            <a:r>
              <a:rPr lang="en-US" sz="13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+ adjective + noun + </a:t>
            </a:r>
            <a:r>
              <a:rPr lang="en-US" sz="13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</a:t>
            </a:r>
            <a:endParaRPr lang="en-US" sz="1300" dirty="0" b="1"/>
          </a:p>
        </p:txBody>
      </p:sp>
      <p:sp>
        <p:nvSpPr>
          <p:cNvPr id="28" name="Answer bg 4"/>
          <p:cNvSpPr/>
          <p:nvPr/>
        </p:nvSpPr>
        <p:spPr>
          <a:xfrm>
            <a:off x="9418320" y="516636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4"/>
          <p:cNvSpPr/>
          <p:nvPr/>
        </p:nvSpPr>
        <p:spPr>
          <a:xfrm>
            <a:off x="9418320" y="516636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Noon is such a clear time that nobody has to guess.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Solution: a light bulb [sign: SOLUTION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out, call off, give</a:t>
            </a:r>
            <a:endParaRPr lang="en-US" sz="20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REVIEW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REAL SENTENCE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it out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can work it out.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call it off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is not going to call it off.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call the shift off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Noun after, or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 the middle: call it off.</a:t>
            </a:r>
            <a:endParaRPr lang="en-US" sz="1600" dirty="0" b="1"/>
          </a:p>
        </p:txBody>
      </p:sp>
      <p:sp>
        <p:nvSpPr>
          <p:cNvPr id="27" name="Question 4"/>
          <p:cNvSpPr/>
          <p:nvPr/>
        </p:nvSpPr>
        <p:spPr>
          <a:xfrm>
            <a:off x="5138928" y="516636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in</a:t>
            </a:r>
            <a:endParaRPr lang="en-US" sz="1500" dirty="0" b="1"/>
          </a:p>
        </p:txBody>
      </p:sp>
      <p:sp>
        <p:nvSpPr>
          <p:cNvPr id="28" name="Answer bg 4"/>
          <p:cNvSpPr/>
          <p:nvPr/>
        </p:nvSpPr>
        <p:spPr>
          <a:xfrm>
            <a:off x="9052560" y="516636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4"/>
          <p:cNvSpPr/>
          <p:nvPr/>
        </p:nvSpPr>
        <p:spPr>
          <a:xfrm>
            <a:off x="9052560" y="516636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didn't give in. No object.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Fairness: a balance scale [sign: FAIR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mix them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MIX THEM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+ adjective + 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week was so busy that we split Saturday.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such a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+ adjective + noun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was such a long shift that we shared it.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+ adjective + 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week is too full for one person.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check your answers.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week was ______ busy that we split Saturday.</a:t>
            </a:r>
            <a:endParaRPr lang="en-US" sz="1400" dirty="0"/>
          </a:p>
        </p:txBody>
      </p:sp>
      <p:sp>
        <p:nvSpPr>
          <p:cNvPr id="35" name="R1 ans"/>
          <p:cNvSpPr/>
          <p:nvPr/>
        </p:nvSpPr>
        <p:spPr>
          <a:xfrm>
            <a:off x="6016752" y="2222144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was ______ a long shift that we shared it.</a:t>
            </a:r>
            <a:endParaRPr lang="en-US" sz="1400" dirty="0"/>
          </a:p>
        </p:txBody>
      </p:sp>
      <p:sp>
        <p:nvSpPr>
          <p:cNvPr id="40" name="R2 ans"/>
          <p:cNvSpPr/>
          <p:nvPr/>
        </p:nvSpPr>
        <p:spPr>
          <a:xfrm>
            <a:off x="6016752" y="2950312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such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week is ______ full for one person.</a:t>
            </a:r>
            <a:endParaRPr lang="en-US" sz="1400" dirty="0"/>
          </a:p>
        </p:txBody>
      </p:sp>
      <p:sp>
        <p:nvSpPr>
          <p:cNvPr id="45" name="R3 ans"/>
          <p:cNvSpPr/>
          <p:nvPr/>
        </p:nvSpPr>
        <p:spPr>
          <a:xfrm>
            <a:off x="6016752" y="3678479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class is ______ important that she needs the morning.</a:t>
            </a:r>
            <a:endParaRPr lang="en-US" sz="1400" dirty="0"/>
          </a:p>
        </p:txBody>
      </p:sp>
      <p:sp>
        <p:nvSpPr>
          <p:cNvPr id="50" name="R4 ans"/>
          <p:cNvSpPr/>
          <p:nvPr/>
        </p:nvSpPr>
        <p:spPr>
          <a:xfrm>
            <a:off x="6016752" y="4406646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</a:t>
            </a:r>
            <a:endParaRPr lang="en-US" sz="16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was ______ a fair plan that they both said yes.</a:t>
            </a:r>
            <a:endParaRPr lang="en-US" sz="1400" dirty="0"/>
          </a:p>
        </p:txBody>
      </p:sp>
      <p:sp>
        <p:nvSpPr>
          <p:cNvPr id="55" name="R5 ans"/>
          <p:cNvSpPr/>
          <p:nvPr/>
        </p:nvSpPr>
        <p:spPr>
          <a:xfrm>
            <a:off x="6016752" y="5134813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such</a:t>
            </a:r>
            <a:endParaRPr lang="en-US" sz="16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can work ______.</a:t>
            </a:r>
            <a:endParaRPr lang="en-US" sz="1400" dirty="0"/>
          </a:p>
        </p:txBody>
      </p:sp>
      <p:sp>
        <p:nvSpPr>
          <p:cNvPr id="60" name="R6 ans"/>
          <p:cNvSpPr/>
          <p:nvPr/>
        </p:nvSpPr>
        <p:spPr>
          <a:xfrm>
            <a:off x="6016752" y="5862980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out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correct words.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1. The week was ______ busy that we split it.</a:t>
            </a:r>
            <a:endParaRPr lang="en-US" sz="1500" dirty="0"/>
          </a:p>
        </p:txBody>
      </p:sp>
      <p:sp>
        <p:nvSpPr>
          <p:cNvPr id="9" name="R1 opt1"/>
          <p:cNvSpPr/>
          <p:nvPr/>
        </p:nvSpPr>
        <p:spPr>
          <a:xfrm>
            <a:off x="7022592" y="31089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</a:t>
            </a:r>
            <a:endParaRPr lang="en-US" sz="1600" dirty="0" b="1"/>
          </a:p>
        </p:txBody>
      </p:sp>
      <p:sp>
        <p:nvSpPr>
          <p:cNvPr id="10" name="R1 opt2"/>
          <p:cNvSpPr/>
          <p:nvPr/>
        </p:nvSpPr>
        <p:spPr>
          <a:xfrm>
            <a:off x="9372600" y="31089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such</a:t>
            </a:r>
            <a:endParaRPr lang="en-US" sz="1600" dirty="0" b="1"/>
          </a:p>
        </p:txBody>
      </p:sp>
      <p:sp>
        <p:nvSpPr>
          <p:cNvPr id="11" name="R1 circle"/>
          <p:cNvSpPr/>
          <p:nvPr/>
        </p:nvSpPr>
        <p:spPr>
          <a:xfrm>
            <a:off x="6894576" y="305409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2. It was ______ a long shift.</a:t>
            </a:r>
            <a:endParaRPr lang="en-US" sz="1500" dirty="0"/>
          </a:p>
        </p:txBody>
      </p:sp>
      <p:sp>
        <p:nvSpPr>
          <p:cNvPr id="13" name="R2 opt1"/>
          <p:cNvSpPr/>
          <p:nvPr/>
        </p:nvSpPr>
        <p:spPr>
          <a:xfrm>
            <a:off x="7022592" y="365760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</a:t>
            </a:r>
            <a:endParaRPr lang="en-US" sz="1600" dirty="0" b="1"/>
          </a:p>
        </p:txBody>
      </p:sp>
      <p:sp>
        <p:nvSpPr>
          <p:cNvPr id="14" name="R2 opt2"/>
          <p:cNvSpPr/>
          <p:nvPr/>
        </p:nvSpPr>
        <p:spPr>
          <a:xfrm>
            <a:off x="9372600" y="365760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such</a:t>
            </a:r>
            <a:endParaRPr lang="en-US" sz="1600" dirty="0" b="1"/>
          </a:p>
        </p:txBody>
      </p:sp>
      <p:sp>
        <p:nvSpPr>
          <p:cNvPr id="15" name="R2 circle"/>
          <p:cNvSpPr/>
          <p:nvPr/>
        </p:nvSpPr>
        <p:spPr>
          <a:xfrm>
            <a:off x="9244584" y="360273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3. Work ______ .</a:t>
            </a:r>
            <a:endParaRPr lang="en-US" sz="1500" dirty="0"/>
          </a:p>
        </p:txBody>
      </p:sp>
      <p:sp>
        <p:nvSpPr>
          <p:cNvPr id="17" name="R3 opt1"/>
          <p:cNvSpPr/>
          <p:nvPr/>
        </p:nvSpPr>
        <p:spPr>
          <a:xfrm>
            <a:off x="7022592" y="420624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out</a:t>
            </a:r>
            <a:endParaRPr lang="en-US" sz="1600" dirty="0" b="1"/>
          </a:p>
        </p:txBody>
      </p:sp>
      <p:sp>
        <p:nvSpPr>
          <p:cNvPr id="18" name="R3 opt2"/>
          <p:cNvSpPr/>
          <p:nvPr/>
        </p:nvSpPr>
        <p:spPr>
          <a:xfrm>
            <a:off x="9372600" y="420624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out it</a:t>
            </a:r>
            <a:endParaRPr lang="en-US" sz="1600" dirty="0" b="1"/>
          </a:p>
        </p:txBody>
      </p:sp>
      <p:sp>
        <p:nvSpPr>
          <p:cNvPr id="19" name="R3 circle"/>
          <p:cNvSpPr/>
          <p:nvPr/>
        </p:nvSpPr>
        <p:spPr>
          <a:xfrm>
            <a:off x="6894576" y="415137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4. Call ______ .</a:t>
            </a:r>
            <a:endParaRPr lang="en-US" sz="1500" dirty="0"/>
          </a:p>
        </p:txBody>
      </p:sp>
      <p:sp>
        <p:nvSpPr>
          <p:cNvPr id="21" name="R4 opt1"/>
          <p:cNvSpPr/>
          <p:nvPr/>
        </p:nvSpPr>
        <p:spPr>
          <a:xfrm>
            <a:off x="7022592" y="475488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off</a:t>
            </a:r>
            <a:endParaRPr lang="en-US" sz="1600" dirty="0" b="1"/>
          </a:p>
        </p:txBody>
      </p:sp>
      <p:sp>
        <p:nvSpPr>
          <p:cNvPr id="22" name="R4 opt2"/>
          <p:cNvSpPr/>
          <p:nvPr/>
        </p:nvSpPr>
        <p:spPr>
          <a:xfrm>
            <a:off x="9372600" y="475488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off it</a:t>
            </a:r>
            <a:endParaRPr lang="en-US" sz="1600" dirty="0" b="1"/>
          </a:p>
        </p:txBody>
      </p:sp>
      <p:sp>
        <p:nvSpPr>
          <p:cNvPr id="23" name="R4 circle"/>
          <p:cNvSpPr/>
          <p:nvPr/>
        </p:nvSpPr>
        <p:spPr>
          <a:xfrm>
            <a:off x="6894576" y="470001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5. We didn't ______ .</a:t>
            </a:r>
            <a:endParaRPr lang="en-US" sz="1500" dirty="0"/>
          </a:p>
        </p:txBody>
      </p:sp>
      <p:sp>
        <p:nvSpPr>
          <p:cNvPr id="25" name="R5 opt1"/>
          <p:cNvSpPr/>
          <p:nvPr/>
        </p:nvSpPr>
        <p:spPr>
          <a:xfrm>
            <a:off x="7022592" y="530352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in</a:t>
            </a:r>
            <a:endParaRPr lang="en-US" sz="1600" dirty="0" b="1"/>
          </a:p>
        </p:txBody>
      </p:sp>
      <p:sp>
        <p:nvSpPr>
          <p:cNvPr id="26" name="R5 opt2"/>
          <p:cNvSpPr/>
          <p:nvPr/>
        </p:nvSpPr>
        <p:spPr>
          <a:xfrm>
            <a:off x="9372600" y="530352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in the argument</a:t>
            </a:r>
            <a:endParaRPr lang="en-US" sz="1600" dirty="0" b="1"/>
          </a:p>
        </p:txBody>
      </p:sp>
      <p:sp>
        <p:nvSpPr>
          <p:cNvPr id="27" name="R5 circle"/>
          <p:cNvSpPr/>
          <p:nvPr/>
        </p:nvSpPr>
        <p:spPr>
          <a:xfrm>
            <a:off x="6894576" y="524865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6. The week is ______ full for one person.</a:t>
            </a:r>
            <a:endParaRPr lang="en-US" sz="1500" dirty="0"/>
          </a:p>
        </p:txBody>
      </p:sp>
      <p:sp>
        <p:nvSpPr>
          <p:cNvPr id="29" name="R6 opt1"/>
          <p:cNvSpPr/>
          <p:nvPr/>
        </p:nvSpPr>
        <p:spPr>
          <a:xfrm>
            <a:off x="7022592" y="58521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</a:t>
            </a:r>
            <a:endParaRPr lang="en-US" sz="1600" dirty="0" b="1"/>
          </a:p>
        </p:txBody>
      </p:sp>
      <p:sp>
        <p:nvSpPr>
          <p:cNvPr id="30" name="R6 opt2"/>
          <p:cNvSpPr/>
          <p:nvPr/>
        </p:nvSpPr>
        <p:spPr>
          <a:xfrm>
            <a:off x="9372600" y="58521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such</a:t>
            </a:r>
            <a:endParaRPr lang="en-US" sz="1600" dirty="0" b="1"/>
          </a:p>
        </p:txBody>
      </p:sp>
      <p:sp>
        <p:nvSpPr>
          <p:cNvPr id="31" name="R6 circle"/>
          <p:cNvSpPr/>
          <p:nvPr/>
        </p:nvSpPr>
        <p:spPr>
          <a:xfrm>
            <a:off x="6894576" y="579729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Sticky note: a memo and a pushpin [sign: NOTE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week was so busy so we split it.</a:t>
            </a:r>
            <a:endParaRPr lang="en-US" sz="14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week was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 busy that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we split it.</a:t>
            </a:r>
            <a:endParaRPr lang="en-US" sz="1400" dirty="0" b="1"/>
          </a:p>
        </p:txBody>
      </p:sp>
      <p:sp>
        <p:nvSpPr>
          <p:cNvPr id="26" name="Bad 2"/>
          <p:cNvSpPr/>
          <p:nvPr/>
        </p:nvSpPr>
        <p:spPr>
          <a:xfrm>
            <a:off x="914400" y="2987399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was so long shift.</a:t>
            </a:r>
            <a:endParaRPr lang="en-US" sz="1400" dirty="0"/>
          </a:p>
        </p:txBody>
      </p:sp>
      <p:sp>
        <p:nvSpPr>
          <p:cNvPr id="27" name="Good 2"/>
          <p:cNvSpPr/>
          <p:nvPr/>
        </p:nvSpPr>
        <p:spPr>
          <a:xfrm>
            <a:off x="4800600" y="2987399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was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such a long shift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400" dirty="0" b="1"/>
          </a:p>
        </p:txBody>
      </p:sp>
      <p:sp>
        <p:nvSpPr>
          <p:cNvPr id="28" name="Bad 3"/>
          <p:cNvSpPr/>
          <p:nvPr/>
        </p:nvSpPr>
        <p:spPr>
          <a:xfrm>
            <a:off x="914400" y="3505917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in the argument.</a:t>
            </a:r>
            <a:endParaRPr lang="en-US" sz="1400" dirty="0"/>
          </a:p>
        </p:txBody>
      </p:sp>
      <p:sp>
        <p:nvSpPr>
          <p:cNvPr id="29" name="Good 3"/>
          <p:cNvSpPr/>
          <p:nvPr/>
        </p:nvSpPr>
        <p:spPr>
          <a:xfrm>
            <a:off x="4800600" y="3505917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in.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No object here.</a:t>
            </a:r>
            <a:endParaRPr lang="en-US" sz="1400" dirty="0" b="1"/>
          </a:p>
        </p:txBody>
      </p:sp>
      <p:sp>
        <p:nvSpPr>
          <p:cNvPr id="30" name="Bad 4"/>
          <p:cNvSpPr/>
          <p:nvPr/>
        </p:nvSpPr>
        <p:spPr>
          <a:xfrm>
            <a:off x="914400" y="4024436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out it.</a:t>
            </a:r>
            <a:endParaRPr lang="en-US" sz="1400" dirty="0"/>
          </a:p>
        </p:txBody>
      </p:sp>
      <p:sp>
        <p:nvSpPr>
          <p:cNvPr id="31" name="Good 4"/>
          <p:cNvSpPr/>
          <p:nvPr/>
        </p:nvSpPr>
        <p:spPr>
          <a:xfrm>
            <a:off x="4800600" y="4024436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it out.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Break time: a coffee cup and an alarm clock [sign: BREAK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Check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 a need: "I need the morning for a class." B says it back, then offers: "You need</a:t>
            </a:r>
            <a:endParaRPr lang="en-US" sz="19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if I take the afternoon?" Then switch.</a:t>
            </a:r>
            <a:endParaRPr lang="en-US" sz="1900" dirty="0" b="0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Shared task: two people and a clipboard [sign: SHARED TASK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7:00–7:18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600" dirty="0" b="1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600" dirty="0" b="1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Fairness: a balance scale [sign: FAIR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 of 3.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7:00–7:18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 of 3.</a:t>
            </a:r>
            <a:endParaRPr lang="en-US" sz="1600" dirty="0" b="1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 of 3.</a:t>
            </a:r>
            <a:endParaRPr lang="en-US" sz="1600" dirty="0" b="1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 of 3.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&amp;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the page.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the questions.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the shared task?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5010912" y="2525573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Saturday shift</a:t>
            </a:r>
            <a:endParaRPr lang="en-US" sz="13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Camila's priority?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5010912" y="3311957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morning class</a:t>
            </a:r>
            <a:endParaRPr lang="en-US" sz="13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do they swap?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5010912" y="4098341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 noon</a:t>
            </a:r>
            <a:endParaRPr lang="en-US" sz="13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did they copy the plan?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5010912" y="4884725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 the whiteboard</a:t>
            </a:r>
            <a:endParaRPr lang="en-US" sz="13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Ms. Nguyen going to call the shift off?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5010912" y="5671109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No. She will not call it off</a:t>
            </a:r>
            <a:endParaRPr lang="en-US" sz="13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7:25–7:30</a:t>
            </a:r>
            <a:endParaRPr lang="en-US" sz="4000" dirty="0"/>
          </a:p>
        </p:txBody>
      </p:sp>
      <p:pic>
        <p:nvPicPr>
          <p:cNvPr id="16" name="pic" descr="Swap: swap arrows [sign: SWAP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Describe a small compromise.</a:t>
            </a:r>
            <a:endParaRPr lang="en-US" sz="15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Name: Date: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this page to your teacher.</a:t>
            </a:r>
            <a:endParaRPr lang="en-US" sz="15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20–25 minutes.</a:t>
            </a:r>
            <a:endParaRPr lang="en-US" sz="15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one so… that sentence.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Finish your message (Read &amp; Write).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Tell a friend a small compromise. Write one sentence they said.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Review: work it out, call it off, give in. Write one real sentence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500" dirty="0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Whiteboard: a chart and a p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10  ·  Level 5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36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say what they need and ask what the other person needs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offer a middle idea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explain a result with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so… that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or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such… that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signs and labels were added.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Ms. Nguyen, Camila, and Jon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(coming soon): synthetic voices made with Chatterbox TTS (MIT License), cloned from short synthetic reference clips made with Kokoro-82M (Apache License 2.0). No recordings of real people. Each file will carry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5 Lesson 10: Can We Meet in the Middle?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