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939" r:id="rId33"/>
    <p:sldId id="940" r:id="rId34"/>
    <p:sldId id="941" r:id="rId35"/>
    <p:sldId id="942" r:id="rId36"/>
    <p:sldId id="943" r:id="rId31"/>
    <p:sldId id="944" r:id="rId30"/>
    <p:sldId id="945" r:id="rId29"/>
    <p:sldId id="946" r:id="rId28"/>
    <p:sldId id="947" r:id="rId27"/>
    <p:sldId id="948" r:id="rId20"/>
    <p:sldId id="949" r:id="rId18"/>
    <p:sldId id="950" r:id="rId17"/>
    <p:sldId id="951" r:id="rId16"/>
    <p:sldId id="952" r:id="rId14"/>
    <p:sldId id="953" r:id="rId13"/>
    <p:sldId id="954" r:id="rId12"/>
    <p:sldId id="955" r:id="rId11"/>
    <p:sldId id="956" r:id="rId10"/>
    <p:sldId id="957" r:id="rId8"/>
    <p:sldId id="958" r:id="rId7"/>
    <p:sldId id="959" r:id="rId6"/>
    <p:sldId id="960" r:id="rId5"/>
    <p:sldId id="961" r:id="rId4"/>
    <p:sldId id="962" r:id="rId3"/>
    <p:sldId id="963" r:id="rId57"/>
    <p:sldId id="964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4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the listening audio for this lesson (about 2:15)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and homework. Never skip the exit ticket.</a:t>
            </a:r>
          </a:p>
          <a:p>
            <a:r>
              <a:t>Explain one rule from tonight.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7:18–7:25 · Read &amp; Write.</a:t>
            </a:r>
          </a:p>
          <a:p>
            <a:r>
              <a:t>Click to show each answer: 1 No. Call first • 2 A visitor badge • 3 Tell the front desk first • 4 Nine to five • 5 The front desk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Strip | Word | |---|---| | 1. You can't go in unless you call first. | &lt;br | | 2. You can wait as long as the group finishes on time. | &lt;br | | 3. Even though you are on time, you still need to confirm. | &lt;br | | 4.</a:t>
            </a:r>
          </a:p>
          <a:p>
            <a:r>
              <a:t>Break · 6:45–7:00.</a:t>
            </a:r>
          </a:p>
          <a:p>
            <a:r>
              <a:t>Lesson plan: Step 4: Pair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Don't say, then Say. Learners try first. Then click.</a:t>
            </a:r>
          </a:p>
          <a:p>
            <a:r>
              <a:t>Lesson plan: Grammar: Common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call • 2 tell • 3 still must • 4 must • 5 will hold • 6 even though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unless • 2 as long as • 3 Even though • 4 Unless • 5 even though • 6 as long as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4: have to, must, and if. Each click shows the answer side.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3: even though. Each click shows the answer side.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2: as long as. Each click shows the answer side.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1: unless means if not. Each click shows the answer side.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gonna and wanna are short forms. This listening uses the full forms. Say each line two times.</a:t>
            </a:r>
          </a:p>
          <a:p>
            <a:r>
              <a:t>Lesson plan: Step 3: Hear it,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unless • 2 Even though • 3 as long as • 4 as long as • 5 Unless • 6 unless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false • 2 true • 3 true • 4 true • 5 false • 6 true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b.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6:12–6:32 · Listening. Play 1 is Task A. Play 2 is Tasks B and C. A third play is fine.</a:t>
            </a:r>
          </a:p>
          <a:p>
            <a:r>
              <a:t>Andre did not call first.</a:t>
            </a:r>
          </a:p>
          <a:p>
            <a:r>
              <a:t>The script says going to and want to. Learners only need to recognize gonna and wanna.</a:t>
            </a:r>
          </a:p>
          <a:p>
            <a:r>
              <a:t>Lesson plan: Step 3;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  <a:p>
            <a:r>
              <a:t>Listening script (the audio is coming soon; until then, read it aloud with a volunteer at a normal, friendly speed):</a:t>
            </a:r>
          </a:p>
          <a:p>
            <a:r>
              <a:t>Narrator: Lesson four. Andre is at the front desk. He wants to go to a meeting, but he did not call first.</a:t>
            </a:r>
          </a:p>
          <a:p>
            <a:r>
              <a:t>Helen: Good afternoon. Do you have an appointment?</a:t>
            </a:r>
          </a:p>
          <a:p>
            <a:r>
              <a:t>Andre: I want to go to the four o'clock meeting. I did not call this morning.</a:t>
            </a:r>
          </a:p>
          <a:p>
            <a:r>
              <a:t>Helen: I'm sorry. You can't go in unless you call first. That rule is on the notice.</a:t>
            </a:r>
          </a:p>
          <a:p>
            <a:r>
              <a:t>Andre: Even though I am on time?</a:t>
            </a:r>
          </a:p>
          <a:p>
            <a:r>
              <a:t>Helen: Even though you are on time, you still need to confirm.</a:t>
            </a:r>
          </a:p>
          <a:p>
            <a:r>
              <a:t>Andre: What do I have to do?</a:t>
            </a:r>
          </a:p>
          <a:p>
            <a:r>
              <a:t>Helen: You have to sign the book, and you must wear a visitor badge.</a:t>
            </a:r>
          </a:p>
          <a:p>
            <a:r>
              <a:t>Andre: Is there an exception if I already have permission?</a:t>
            </a:r>
          </a:p>
          <a:p>
            <a:r>
              <a:t>Helen: Permission is not the same as an appointment. Unless you confirm, the desk cannot make an exception.</a:t>
            </a:r>
          </a:p>
          <a:p>
            <a:r>
              <a:t>Helen: The requirement is on the door. Please read the policy before you sit down.</a:t>
            </a:r>
          </a:p>
          <a:p>
            <a:r>
              <a:t>Mei: Hi, Andre. You can wait as long as the four o'clock group finishes on time.</a:t>
            </a:r>
          </a:p>
          <a:p>
            <a:r>
              <a:t>Andre: What happens unless they finish?</a:t>
            </a:r>
          </a:p>
          <a:p>
            <a:r>
              <a:t>Mei: Then the room is closed. If you call first next time, they will hold the room.</a:t>
            </a:r>
          </a:p>
          <a:p>
            <a:r>
              <a:t>Helen: You can bring a guest as long as you tell the front desk.</a:t>
            </a:r>
          </a:p>
          <a:p>
            <a:r>
              <a:t>Andre: I am going to call tomorrow. Can I cancel today's meeting?</a:t>
            </a:r>
          </a:p>
          <a:p>
            <a:r>
              <a:t>Helen: Yes. I can cancel it, or you can wait. Office hours end at five.</a:t>
            </a:r>
          </a:p>
          <a:p>
            <a:r>
              <a:t>Andre: What happens unless I call tomorrow too?</a:t>
            </a:r>
          </a:p>
          <a:p>
            <a:r>
              <a:t>Mei: Call during office hours, from nine to five. Then they can confirm the room.</a:t>
            </a:r>
          </a:p>
          <a:p>
            <a:r>
              <a:t>Andre: I'll wait. Thank you for explaining the policy.</a:t>
            </a:r>
          </a:p>
          <a:p>
            <a:r>
              <a:t>Narrator: That's the end of the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answers are hidden. Ask, then click.</a:t>
            </a:r>
          </a:p>
          <a:p>
            <a:r>
              <a:t>1. if not</a:t>
            </a:r>
          </a:p>
          <a:p>
            <a:r>
              <a:t>2. a visitor badge</a:t>
            </a:r>
          </a:p>
          <a:p>
            <a:r>
              <a:t>3. the front desk</a:t>
            </a:r>
          </a:p>
          <a:p>
            <a:r>
              <a:t>Lesson plan: Step 2: Check the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points to a picture. B names it and uses it in one sentence. Then switch.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6:06–6:12 · New Words.</a:t>
            </a:r>
          </a:p>
          <a:p>
            <a:r>
              <a:t>Point to each picture. Learners repeat. ★ = most important.</a:t>
            </a:r>
          </a:p>
          <a:p>
            <a:r>
              <a:t>Lesson plan: Step 2;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Read the three lines under Today you will.</a:t>
            </a:r>
          </a:p>
          <a:p>
            <a:r>
              <a:t>- Say this once: "This lesson is not legal advice.</a:t>
            </a:r>
          </a:p>
          <a:p>
            <a:r>
              <a:t>Lesson plan: Topic; At a glance: Objectives.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6:00–6:06 · Opening Talk.</a:t>
            </a:r>
          </a:p>
          <a:p>
            <a:r>
              <a:t>Work with a partner.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shows the next card.</a:t>
            </a:r>
          </a:p>
          <a:p>
            <a:r>
              <a:t>A asks. B answers. Then switch.</a:t>
            </a:r>
          </a:p>
          <a:p>
            <a:r>
              <a:t>Lesson plan: Step 1; Opening Talk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Now you can lines.</a:t>
            </a:r>
          </a:p>
          <a:p>
            <a:r>
              <a:t>Homework is about 20–25 minutes. Bring it next week.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Policy: a scroll and an office building [sign: POLICY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4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 You Call First</a:t>
            </a:r>
            <a:endParaRPr lang="en-US" sz="4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explain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their own words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what is allowed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long as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something else is true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contrast with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 though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things.</a:t>
            </a:r>
            <a:endParaRPr lang="en-US" sz="2000" dirty="0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713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6883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explain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their own words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5750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5750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90876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575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is allowed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long as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something else is true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9100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7954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7954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712921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7954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contrast with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 though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81304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01591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0159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3496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01591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one polite question about a rule they do not understand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350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Notice: a pushpin and a page [sign: NOTIC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</a:t>
            </a:r>
            <a:endParaRPr lang="en-US" sz="18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question. B answers in two or three sentences. A asks one follow-up question. Then switch.</a:t>
            </a:r>
            <a:endParaRPr lang="en-US" sz="1800" dirty="0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say one I wish I had</a:t>
            </a:r>
            <a:endParaRPr lang="en-US" sz="18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question. B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 in two or three sentences. A asks one follow-up question. Then switch.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wish you had asked last week?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you ever read a notice on a door?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do before you visit an office?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say one I wish I had sentence.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Policy: a scroll and an office building [sign: POLICY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policy</a:t>
            </a:r>
            <a:endParaRPr lang="en-US" sz="2000" dirty="0" b="1"/>
          </a:p>
        </p:txBody>
      </p:sp>
      <p:pic>
        <p:nvPicPr>
          <p:cNvPr id="19" name="Word picture 2" descr="Notice: a pushpin and a page [sign: NOTICE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notice</a:t>
            </a:r>
            <a:endParaRPr lang="en-US" sz="2000" dirty="0" b="1"/>
          </a:p>
        </p:txBody>
      </p:sp>
      <p:pic>
        <p:nvPicPr>
          <p:cNvPr id="21" name="Word picture 3" descr="Appointment: a calendar and a clock showing 4:00 [sign: 4 PM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appointment</a:t>
            </a:r>
            <a:endParaRPr lang="en-US" sz="2000" dirty="0" b="1"/>
          </a:p>
        </p:txBody>
      </p:sp>
      <p:pic>
        <p:nvPicPr>
          <p:cNvPr id="23" name="Word picture 4" descr="Cancel: a calendar with a red cross [sign: CANCEL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cancel</a:t>
            </a:r>
            <a:endParaRPr lang="en-US" sz="2000" dirty="0" b="1"/>
          </a:p>
        </p:txBody>
      </p:sp>
      <p:pic>
        <p:nvPicPr>
          <p:cNvPr id="25" name="Word picture 5" descr="Confirm: a calendar with a green check [sign: CONFIRMED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confirm</a:t>
            </a:r>
            <a:endParaRPr lang="en-US" sz="2000" dirty="0" b="1"/>
          </a:p>
        </p:txBody>
      </p:sp>
      <p:pic>
        <p:nvPicPr>
          <p:cNvPr id="27" name="Word picture 6" descr="Visitor: a person and a door [sign: VISITOR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visitor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 and ask.</a:t>
            </a:r>
            <a:endParaRPr lang="en-US" sz="2200" dirty="0" b="1"/>
          </a:p>
        </p:txBody>
      </p:sp>
      <p:pic>
        <p:nvPicPr>
          <p:cNvPr id="17" name="Word picture 1" descr="Front desk: a desk bell and an office building [sign: FRONT DESK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front desk</a:t>
            </a:r>
            <a:endParaRPr lang="en-US" sz="2000" dirty="0" b="1"/>
          </a:p>
        </p:txBody>
      </p:sp>
      <p:pic>
        <p:nvPicPr>
          <p:cNvPr id="19" name="Word picture 2" descr="Office hours: a clock showing 9:00 [sign: 9 AM-5 PM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office hours</a:t>
            </a:r>
            <a:endParaRPr lang="en-US" sz="2000" dirty="0" b="1"/>
          </a:p>
        </p:txBody>
      </p:sp>
      <p:pic>
        <p:nvPicPr>
          <p:cNvPr id="21" name="Word picture 3" descr="Requirement: a clipboard with a green check [sign: REQUIRED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requirement</a:t>
            </a:r>
            <a:endParaRPr lang="en-US" sz="2000" dirty="0" b="1"/>
          </a:p>
        </p:txBody>
      </p:sp>
      <p:pic>
        <p:nvPicPr>
          <p:cNvPr id="23" name="Word picture 4" descr="Permission: a page and a key [sign: YOU MAY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permission</a:t>
            </a:r>
            <a:endParaRPr lang="en-US" sz="2000" dirty="0" b="1"/>
          </a:p>
        </p:txBody>
      </p:sp>
      <p:pic>
        <p:nvPicPr>
          <p:cNvPr id="25" name="Word picture 5" descr="Exception: a star [sign: ONE TIME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exception</a:t>
            </a:r>
            <a:endParaRPr lang="en-US" sz="2000" dirty="0" b="1"/>
          </a:p>
        </p:txBody>
      </p:sp>
      <p:pic>
        <p:nvPicPr>
          <p:cNvPr id="27" name="Word picture 6" descr="Visitor badge: a name badge [sign: VISITOR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visitor badge</a:t>
            </a:r>
            <a:endParaRPr lang="en-US" sz="15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mean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not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600" dirty="0" b="1"/>
          </a:p>
        </p:txBody>
      </p:sp>
      <p:pic>
        <p:nvPicPr>
          <p:cNvPr id="101" name="R1 pic" descr="Policy: a scroll and an office building [sign: POLICY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must a visitor wear?</a:t>
            </a:r>
            <a:endParaRPr lang="en-US" sz="1600" dirty="0" b="1"/>
          </a:p>
        </p:txBody>
      </p:sp>
      <p:pic>
        <p:nvPicPr>
          <p:cNvPr id="102" name="R2 pic" descr="Visitor badge: a name badge [sign: VISITOR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do you ask about a rule?</a:t>
            </a:r>
            <a:endParaRPr lang="en-US" sz="1600" dirty="0" b="1"/>
          </a:p>
        </p:txBody>
      </p:sp>
      <p:pic>
        <p:nvPicPr>
          <p:cNvPr id="103" name="R3 pic" descr="Front desk: a desk bell and an office building [sign: FRONT DESK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not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visitor badge</a:t>
            </a:r>
            <a:endParaRPr lang="en-US" sz="1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front desk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Andre did not call first.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Appointment: a calendar and a clock showing 4:00 [sign: 4 PM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Helen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Andre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Mei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Can Andre go in now?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| 6:12–6:32 | Listening: play 1 (Task A), play 2 (Tasks B and C) +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(about 2:15): coming soon.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Can Andre go in now?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453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2139696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Yes, he can go in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67528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No, not unless he calls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595360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The office is closed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5239512" y="3054096"/>
            <a:ext cx="34107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Listen again. True or false? Circle.</a:t>
            </a:r>
            <a:endParaRPr lang="en-US" sz="16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He called this morning.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8211312" y="31089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1600" dirty="0" b="1"/>
          </a:p>
        </p:txBody>
      </p:sp>
      <p:sp>
        <p:nvSpPr>
          <p:cNvPr id="10" name="R1 opt2"/>
          <p:cNvSpPr/>
          <p:nvPr/>
        </p:nvSpPr>
        <p:spPr>
          <a:xfrm>
            <a:off x="9966960" y="31089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1600" dirty="0" b="1"/>
          </a:p>
        </p:txBody>
      </p:sp>
      <p:sp>
        <p:nvSpPr>
          <p:cNvPr id="11" name="R1 circle"/>
          <p:cNvSpPr/>
          <p:nvPr/>
        </p:nvSpPr>
        <p:spPr>
          <a:xfrm>
            <a:off x="9838944" y="305409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He must wear a visitor badge.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8211312" y="365760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1600" dirty="0" b="1"/>
          </a:p>
        </p:txBody>
      </p:sp>
      <p:sp>
        <p:nvSpPr>
          <p:cNvPr id="14" name="R2 opt2"/>
          <p:cNvSpPr/>
          <p:nvPr/>
        </p:nvSpPr>
        <p:spPr>
          <a:xfrm>
            <a:off x="9966960" y="365760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1600" dirty="0" b="1"/>
          </a:p>
        </p:txBody>
      </p:sp>
      <p:sp>
        <p:nvSpPr>
          <p:cNvPr id="15" name="R2 circle"/>
          <p:cNvSpPr/>
          <p:nvPr/>
        </p:nvSpPr>
        <p:spPr>
          <a:xfrm>
            <a:off x="8083296" y="360273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He can wait as long as the group finishes.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8211312" y="420624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1600" dirty="0" b="1"/>
          </a:p>
        </p:txBody>
      </p:sp>
      <p:sp>
        <p:nvSpPr>
          <p:cNvPr id="18" name="R3 opt2"/>
          <p:cNvSpPr/>
          <p:nvPr/>
        </p:nvSpPr>
        <p:spPr>
          <a:xfrm>
            <a:off x="9966960" y="420624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1600" dirty="0" b="1"/>
          </a:p>
        </p:txBody>
      </p:sp>
      <p:sp>
        <p:nvSpPr>
          <p:cNvPr id="19" name="R3 circle"/>
          <p:cNvSpPr/>
          <p:nvPr/>
        </p:nvSpPr>
        <p:spPr>
          <a:xfrm>
            <a:off x="8083296" y="415137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A guest is OK if he tells the desk.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8211312" y="475488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1600" dirty="0" b="1"/>
          </a:p>
        </p:txBody>
      </p:sp>
      <p:sp>
        <p:nvSpPr>
          <p:cNvPr id="22" name="R4 opt2"/>
          <p:cNvSpPr/>
          <p:nvPr/>
        </p:nvSpPr>
        <p:spPr>
          <a:xfrm>
            <a:off x="9966960" y="475488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1600" dirty="0" b="1"/>
          </a:p>
        </p:txBody>
      </p:sp>
      <p:sp>
        <p:nvSpPr>
          <p:cNvPr id="23" name="R4 circle"/>
          <p:cNvSpPr/>
          <p:nvPr/>
        </p:nvSpPr>
        <p:spPr>
          <a:xfrm>
            <a:off x="8083296" y="470001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Office hours end at four.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8211312" y="530352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1600" dirty="0" b="1"/>
          </a:p>
        </p:txBody>
      </p:sp>
      <p:sp>
        <p:nvSpPr>
          <p:cNvPr id="26" name="R5 opt2"/>
          <p:cNvSpPr/>
          <p:nvPr/>
        </p:nvSpPr>
        <p:spPr>
          <a:xfrm>
            <a:off x="9966960" y="530352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1600" dirty="0" b="1"/>
          </a:p>
        </p:txBody>
      </p:sp>
      <p:sp>
        <p:nvSpPr>
          <p:cNvPr id="27" name="R5 circle"/>
          <p:cNvSpPr/>
          <p:nvPr/>
        </p:nvSpPr>
        <p:spPr>
          <a:xfrm>
            <a:off x="9838944" y="524865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Even though he is on time, he must confirm.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8211312" y="58521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1600" dirty="0" b="1"/>
          </a:p>
        </p:txBody>
      </p:sp>
      <p:sp>
        <p:nvSpPr>
          <p:cNvPr id="30" name="R6 opt2"/>
          <p:cNvSpPr/>
          <p:nvPr/>
        </p:nvSpPr>
        <p:spPr>
          <a:xfrm>
            <a:off x="9966960" y="58521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1600" dirty="0" b="1"/>
          </a:p>
        </p:txBody>
      </p:sp>
      <p:sp>
        <p:nvSpPr>
          <p:cNvPr id="31" name="R6 circle"/>
          <p:cNvSpPr/>
          <p:nvPr/>
        </p:nvSpPr>
        <p:spPr>
          <a:xfrm>
            <a:off x="8083296" y="579729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unless, 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can't go in ______ you call first.</a:t>
            </a:r>
            <a:endParaRPr lang="en-US" sz="14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 you are on time, you still need to confirm.</a:t>
            </a:r>
            <a:endParaRPr lang="en-US" sz="14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 though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wait ______ the group finishes on time.</a:t>
            </a:r>
            <a:endParaRPr lang="en-US" sz="14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long as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bring a guest ______ you tell the front desk.</a:t>
            </a:r>
            <a:endParaRPr lang="en-US" sz="14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long as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 you confirm, the desk cannot make an exception.</a:t>
            </a:r>
            <a:endParaRPr lang="en-US" sz="14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 is closed ______ they finish on time.</a:t>
            </a:r>
            <a:endParaRPr lang="en-US" sz="14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and wanna are short forms</a:t>
            </a:r>
            <a:endParaRPr lang="en-US" sz="16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 the full forms</a:t>
            </a:r>
            <a:endParaRPr lang="en-US" sz="16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 to the four o'clock meeting.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 tomorrow.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can't go in unless you call first.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wait as long as the group finishes.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ancel: a calendar with a red cross [sign: CANCEL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 means if not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MEANING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can't go in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sign the book.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you do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sign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can't go in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call first.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you do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confirm, they will not hold the room.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present verb after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onfirm: a calendar with a green check [sign: CONFIRMED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long as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MEANING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bring a guest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long as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tell the desk.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only if you tell them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wait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long as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group finishes on time.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only if that stays true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long as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call first, they will hold the room.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present verb, same as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Visitor: a person and a door [sign: VISITO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 though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418320" y="1828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MEANING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 though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office is busy, you still need an appointment.</a:t>
            </a:r>
            <a:endParaRPr lang="en-US" sz="1300" dirty="0" b="1"/>
          </a:p>
        </p:txBody>
      </p:sp>
      <p:sp>
        <p:nvSpPr>
          <p:cNvPr id="19" name="Answer bg 1"/>
          <p:cNvSpPr/>
          <p:nvPr/>
        </p:nvSpPr>
        <p:spPr>
          <a:xfrm>
            <a:off x="9418320" y="228600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418320" y="228600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result happens anyway</a:t>
            </a:r>
            <a:endParaRPr lang="en-US" sz="14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 though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are on time, you still need to confirm.</a:t>
            </a:r>
            <a:endParaRPr lang="en-US" sz="1300" dirty="0" b="1"/>
          </a:p>
        </p:txBody>
      </p:sp>
      <p:sp>
        <p:nvSpPr>
          <p:cNvPr id="22" name="Answer bg 2"/>
          <p:cNvSpPr/>
          <p:nvPr/>
        </p:nvSpPr>
        <p:spPr>
          <a:xfrm>
            <a:off x="9418320" y="324612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418320" y="324612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time does not change the rule</a:t>
            </a:r>
            <a:endParaRPr lang="en-US" sz="14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420624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 though</a:t>
            </a: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have permission, you still sign the book.</a:t>
            </a:r>
            <a:endParaRPr lang="en-US" sz="1300" dirty="0" b="1"/>
          </a:p>
        </p:txBody>
      </p:sp>
      <p:sp>
        <p:nvSpPr>
          <p:cNvPr id="25" name="Answer bg 3"/>
          <p:cNvSpPr/>
          <p:nvPr/>
        </p:nvSpPr>
        <p:spPr>
          <a:xfrm>
            <a:off x="9418320" y="4206240"/>
            <a:ext cx="251460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418320" y="4206240"/>
            <a:ext cx="251460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permission is not enough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Front desk: a desk bell and an office building [sign: FRONT DESK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to, must, and if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MEANING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sign the book.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requirement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wear the visitor badge.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requirement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call first, they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hold the room.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present, then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can't go in ______ you sign the book.</a:t>
            </a:r>
            <a:endParaRPr lang="en-US" sz="14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bring a guest ______ you tell the front desk.</a:t>
            </a:r>
            <a:endParaRPr lang="en-US" sz="14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long as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 the office is busy, you still need an appointment.</a:t>
            </a:r>
            <a:endParaRPr lang="en-US" sz="14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 though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 you call first, they will not hold the room.</a:t>
            </a:r>
            <a:endParaRPr lang="en-US" sz="14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still sign the book ______ you have permission.</a:t>
            </a:r>
            <a:endParaRPr lang="en-US" sz="14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 though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will hold the room ______ you confirm.</a:t>
            </a:r>
            <a:endParaRPr lang="en-US" sz="14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long as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Unless you ______ first, you can't go in.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8211312" y="31089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</a:t>
            </a:r>
            <a:endParaRPr lang="en-US" sz="1600" dirty="0" b="1"/>
          </a:p>
        </p:txBody>
      </p:sp>
      <p:sp>
        <p:nvSpPr>
          <p:cNvPr id="10" name="R1 opt2"/>
          <p:cNvSpPr/>
          <p:nvPr/>
        </p:nvSpPr>
        <p:spPr>
          <a:xfrm>
            <a:off x="9966960" y="31089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call</a:t>
            </a:r>
            <a:endParaRPr lang="en-US" sz="1600" dirty="0" b="1"/>
          </a:p>
        </p:txBody>
      </p:sp>
      <p:sp>
        <p:nvSpPr>
          <p:cNvPr id="11" name="R1 circle"/>
          <p:cNvSpPr/>
          <p:nvPr/>
        </p:nvSpPr>
        <p:spPr>
          <a:xfrm>
            <a:off x="8083296" y="305409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As long as you ______ the desk, you can bring a guest.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8211312" y="365760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</a:t>
            </a:r>
            <a:endParaRPr lang="en-US" sz="1600" dirty="0" b="1"/>
          </a:p>
        </p:txBody>
      </p:sp>
      <p:sp>
        <p:nvSpPr>
          <p:cNvPr id="14" name="R2 opt2"/>
          <p:cNvSpPr/>
          <p:nvPr/>
        </p:nvSpPr>
        <p:spPr>
          <a:xfrm>
            <a:off x="9966960" y="365760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tell</a:t>
            </a:r>
            <a:endParaRPr lang="en-US" sz="1600" dirty="0" b="1"/>
          </a:p>
        </p:txBody>
      </p:sp>
      <p:sp>
        <p:nvSpPr>
          <p:cNvPr id="15" name="R2 circle"/>
          <p:cNvSpPr/>
          <p:nvPr/>
        </p:nvSpPr>
        <p:spPr>
          <a:xfrm>
            <a:off x="8083296" y="360273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Even though he is on time, he ______ confirm.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8211312" y="420624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still must</a:t>
            </a:r>
            <a:endParaRPr lang="en-US" sz="1600" dirty="0" b="1"/>
          </a:p>
        </p:txBody>
      </p:sp>
      <p:sp>
        <p:nvSpPr>
          <p:cNvPr id="18" name="R3 opt2"/>
          <p:cNvSpPr/>
          <p:nvPr/>
        </p:nvSpPr>
        <p:spPr>
          <a:xfrm>
            <a:off x="9966960" y="420624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</a:t>
            </a:r>
            <a:endParaRPr lang="en-US" sz="1600" dirty="0" b="1"/>
          </a:p>
        </p:txBody>
      </p:sp>
      <p:sp>
        <p:nvSpPr>
          <p:cNvPr id="19" name="R3 circle"/>
          <p:cNvSpPr/>
          <p:nvPr/>
        </p:nvSpPr>
        <p:spPr>
          <a:xfrm>
            <a:off x="8083296" y="415137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You ______ wear the visitor badge.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8211312" y="475488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600" dirty="0" b="1"/>
          </a:p>
        </p:txBody>
      </p:sp>
      <p:sp>
        <p:nvSpPr>
          <p:cNvPr id="22" name="R4 opt2"/>
          <p:cNvSpPr/>
          <p:nvPr/>
        </p:nvSpPr>
        <p:spPr>
          <a:xfrm>
            <a:off x="9966960" y="475488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to</a:t>
            </a:r>
            <a:endParaRPr lang="en-US" sz="1600" dirty="0" b="1"/>
          </a:p>
        </p:txBody>
      </p:sp>
      <p:sp>
        <p:nvSpPr>
          <p:cNvPr id="23" name="R4 circle"/>
          <p:cNvSpPr/>
          <p:nvPr/>
        </p:nvSpPr>
        <p:spPr>
          <a:xfrm>
            <a:off x="8083296" y="470001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If you call first, they ______ the room.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8211312" y="530352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hold</a:t>
            </a:r>
            <a:endParaRPr lang="en-US" sz="1600" dirty="0" b="1"/>
          </a:p>
        </p:txBody>
      </p:sp>
      <p:sp>
        <p:nvSpPr>
          <p:cNvPr id="26" name="R5 opt2"/>
          <p:cNvSpPr/>
          <p:nvPr/>
        </p:nvSpPr>
        <p:spPr>
          <a:xfrm>
            <a:off x="9966960" y="530352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hold</a:t>
            </a:r>
            <a:endParaRPr lang="en-US" sz="1600" dirty="0" b="1"/>
          </a:p>
        </p:txBody>
      </p:sp>
      <p:sp>
        <p:nvSpPr>
          <p:cNvPr id="27" name="R5 circle"/>
          <p:cNvSpPr/>
          <p:nvPr/>
        </p:nvSpPr>
        <p:spPr>
          <a:xfrm>
            <a:off x="9838944" y="524865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You have to sign ______ you already have permission.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8211312" y="58521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</a:t>
            </a:r>
            <a:endParaRPr lang="en-US" sz="1600" dirty="0" b="1"/>
          </a:p>
        </p:txBody>
      </p:sp>
      <p:sp>
        <p:nvSpPr>
          <p:cNvPr id="30" name="R6 opt2"/>
          <p:cNvSpPr/>
          <p:nvPr/>
        </p:nvSpPr>
        <p:spPr>
          <a:xfrm>
            <a:off x="9966960" y="58521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 though</a:t>
            </a:r>
            <a:endParaRPr lang="en-US" sz="1600" dirty="0" b="1"/>
          </a:p>
        </p:txBody>
      </p:sp>
      <p:sp>
        <p:nvSpPr>
          <p:cNvPr id="31" name="R6 circle"/>
          <p:cNvSpPr/>
          <p:nvPr/>
        </p:nvSpPr>
        <p:spPr>
          <a:xfrm>
            <a:off x="9838944" y="579729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Office hours: a clock showing 9:00 [sign: 9 AM-5 PM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 you will call, they will not hold the room.</a:t>
            </a:r>
            <a:endParaRPr lang="en-US" sz="14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 you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they will not hold the room.</a:t>
            </a:r>
            <a:endParaRPr lang="en-US" sz="14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213309"/>
            <a:ext cx="324612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long as you will tell them, you can bring a guest.</a:t>
            </a:r>
            <a:endParaRPr lang="en-US" sz="1400" dirty="0"/>
          </a:p>
        </p:txBody>
      </p:sp>
      <p:sp>
        <p:nvSpPr>
          <p:cNvPr id="27" name="Good 2"/>
          <p:cNvSpPr/>
          <p:nvPr/>
        </p:nvSpPr>
        <p:spPr>
          <a:xfrm>
            <a:off x="4800600" y="3213309"/>
            <a:ext cx="539496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long as you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them, you can bring a guest.</a:t>
            </a:r>
            <a:endParaRPr lang="en-US" sz="14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957738"/>
            <a:ext cx="324612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 though the office is busy, but you need an appointment.</a:t>
            </a:r>
            <a:endParaRPr lang="en-US" sz="1400" dirty="0"/>
          </a:p>
        </p:txBody>
      </p:sp>
      <p:sp>
        <p:nvSpPr>
          <p:cNvPr id="29" name="Good 3"/>
          <p:cNvSpPr/>
          <p:nvPr/>
        </p:nvSpPr>
        <p:spPr>
          <a:xfrm>
            <a:off x="4800600" y="3957738"/>
            <a:ext cx="539496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 though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office is busy, you still need an appointment.</a:t>
            </a:r>
            <a:endParaRPr lang="en-US" sz="14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702168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 to wear the badge.</a:t>
            </a:r>
            <a:endParaRPr lang="en-US" sz="1400" dirty="0"/>
          </a:p>
        </p:txBody>
      </p:sp>
      <p:sp>
        <p:nvSpPr>
          <p:cNvPr id="31" name="Good 4"/>
          <p:cNvSpPr/>
          <p:nvPr/>
        </p:nvSpPr>
        <p:spPr>
          <a:xfrm>
            <a:off x="4800600" y="4702168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wear the visitor badge.</a:t>
            </a:r>
            <a:endParaRPr lang="en-US" sz="1400" dirty="0" b="1"/>
          </a:p>
        </p:txBody>
      </p:sp>
      <p:sp>
        <p:nvSpPr>
          <p:cNvPr id="32" name="Bad 5"/>
          <p:cNvSpPr/>
          <p:nvPr/>
        </p:nvSpPr>
        <p:spPr>
          <a:xfrm>
            <a:off x="914400" y="5220686"/>
            <a:ext cx="324612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you will call first, they will hold the room.</a:t>
            </a:r>
            <a:endParaRPr lang="en-US" sz="1400" dirty="0"/>
          </a:p>
        </p:txBody>
      </p:sp>
      <p:sp>
        <p:nvSpPr>
          <p:cNvPr id="33" name="Good 5"/>
          <p:cNvSpPr/>
          <p:nvPr/>
        </p:nvSpPr>
        <p:spPr>
          <a:xfrm>
            <a:off x="4800600" y="5220686"/>
            <a:ext cx="539496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you call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first, they will hold the room.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Requirement: a clipboard with a green check [sign: REQUIRED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| Strip | Word | |---|---| | 1.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can't go in unless you call first.</a:t>
            </a:r>
            <a:endParaRPr lang="en-US" sz="1900" dirty="0" b="0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Confirm: a calendar with a green check [sign: CONFIRMED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Match each strip to unless, as long as, or even though.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Match each strip to unless, as long as, or</a:t>
            </a:r>
            <a:endParaRPr lang="en-US" sz="1600" dirty="0" b="1"/>
          </a:p>
          <a:p>
            <a:pPr algn="l" indent="0" marL="0">
              <a:buNone/>
            </a:pPr>
            <a:r>
              <a:rPr lang="en-US" sz="16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 though.</a:t>
            </a:r>
            <a:endParaRPr lang="en-US" sz="16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Match each strip to unless, as long as, or even though.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Match each strip to unless, as long as, or even though.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Front desk: a desk bell and an office building [sign: FRONT DESK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together.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front desk.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is the front desk.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page.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 in without calling first?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010912" y="2525573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 Call first</a:t>
            </a:r>
            <a:endParaRPr lang="en-US" sz="13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must a visitor wear?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010912" y="3311957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visitor badge</a:t>
            </a:r>
            <a:endParaRPr lang="en-US" sz="13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can you bring a guest?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010912" y="4098341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the front desk first</a:t>
            </a:r>
            <a:endParaRPr lang="en-US" sz="13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the office hours?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010912" y="4884725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Nine to five</a:t>
            </a:r>
            <a:endParaRPr lang="en-US" sz="13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explains a rule?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010912" y="5671109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front desk</a:t>
            </a:r>
            <a:endParaRPr lang="en-US" sz="13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Permission: a page and a key [sign: YOU MAY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Explain one rule from tonight.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Name: Date: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 1: the rule • Sentence 2: unless or as long as • Sentence 3: an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this page to your teacher.</a:t>
            </a:r>
            <a:endParaRPr lang="en-US" sz="15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20–25 minutes.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three sentences: one with unless, one with as long as, and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6-sentence note from Read &amp; Write C. Use unless once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one polite question about a class rule. Do not write about a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Review. Write have to or must.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5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Exception: a star [sign: ONE TIME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4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36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explain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unless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their own words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say what is allowed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 long as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something else is true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contrast with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 though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Helen, Andre, and Mei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(coming soon): synthetic voices made with Chatterbox TTS (MIT License), cloned from short synthetic reference clips made with Kokoro-82M (Apache License 2.0). No recordings of real people. Each file will carry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5 Lesson 4: Unless You Call First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