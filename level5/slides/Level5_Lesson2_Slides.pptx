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939" r:id="rId33"/>
    <p:sldId id="940" r:id="rId34"/>
    <p:sldId id="941" r:id="rId35"/>
    <p:sldId id="942" r:id="rId36"/>
    <p:sldId id="943" r:id="rId31"/>
    <p:sldId id="944" r:id="rId30"/>
    <p:sldId id="945" r:id="rId29"/>
    <p:sldId id="946" r:id="rId28"/>
    <p:sldId id="947" r:id="rId27"/>
    <p:sldId id="948" r:id="rId20"/>
    <p:sldId id="949" r:id="rId18"/>
    <p:sldId id="950" r:id="rId17"/>
    <p:sldId id="951" r:id="rId16"/>
    <p:sldId id="952" r:id="rId14"/>
    <p:sldId id="953" r:id="rId13"/>
    <p:sldId id="954" r:id="rId12"/>
    <p:sldId id="955" r:id="rId11"/>
    <p:sldId id="956" r:id="rId10"/>
    <p:sldId id="957" r:id="rId8"/>
    <p:sldId id="958" r:id="rId7"/>
    <p:sldId id="959" r:id="rId6"/>
    <p:sldId id="960" r:id="rId5"/>
    <p:sldId id="961" r:id="rId4"/>
    <p:sldId id="962" r:id="rId3"/>
    <p:sldId id="963" r:id="rId57"/>
    <p:sldId id="964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2.xml"/><Relationship Id="rId3" Type="http://schemas.openxmlformats.org/officeDocument/2006/relationships/slide" Target="slides/slide50.xml"/><Relationship Id="rId4" Type="http://schemas.openxmlformats.org/officeDocument/2006/relationships/slide" Target="slides/slide49.xml"/><Relationship Id="rId5" Type="http://schemas.openxmlformats.org/officeDocument/2006/relationships/slide" Target="slides/slide48.xml"/><Relationship Id="rId6" Type="http://schemas.openxmlformats.org/officeDocument/2006/relationships/slide" Target="slides/slide47.xml"/><Relationship Id="rId7" Type="http://schemas.openxmlformats.org/officeDocument/2006/relationships/slide" Target="slides/slide46.xml"/><Relationship Id="rId8" Type="http://schemas.openxmlformats.org/officeDocument/2006/relationships/slide" Target="slides/slide45.xml"/><Relationship Id="rId10" Type="http://schemas.openxmlformats.org/officeDocument/2006/relationships/slide" Target="slides/slide44.xml"/><Relationship Id="rId11" Type="http://schemas.openxmlformats.org/officeDocument/2006/relationships/slide" Target="slides/slide43.xml"/><Relationship Id="rId12" Type="http://schemas.openxmlformats.org/officeDocument/2006/relationships/slide" Target="slides/slide42.xml"/><Relationship Id="rId13" Type="http://schemas.openxmlformats.org/officeDocument/2006/relationships/slide" Target="slides/slide41.xml"/><Relationship Id="rId14" Type="http://schemas.openxmlformats.org/officeDocument/2006/relationships/slide" Target="slides/slide40.xml"/><Relationship Id="rId16" Type="http://schemas.openxmlformats.org/officeDocument/2006/relationships/slide" Target="slides/slide39.xml"/><Relationship Id="rId17" Type="http://schemas.openxmlformats.org/officeDocument/2006/relationships/slide" Target="slides/slide38.xml"/><Relationship Id="rId18" Type="http://schemas.openxmlformats.org/officeDocument/2006/relationships/slide" Target="slides/slide37.xml"/><Relationship Id="rId20" Type="http://schemas.openxmlformats.org/officeDocument/2006/relationships/slide" Target="slides/slide36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35.xml"/><Relationship Id="rId28" Type="http://schemas.openxmlformats.org/officeDocument/2006/relationships/slide" Target="slides/slide34.xml"/><Relationship Id="rId29" Type="http://schemas.openxmlformats.org/officeDocument/2006/relationships/slide" Target="slides/slide33.xml"/><Relationship Id="rId30" Type="http://schemas.openxmlformats.org/officeDocument/2006/relationships/slide" Target="slides/slide32.xml"/><Relationship Id="rId31" Type="http://schemas.openxmlformats.org/officeDocument/2006/relationships/slide" Target="slides/slide31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57" Type="http://schemas.openxmlformats.org/officeDocument/2006/relationships/slide" Target="slides/slide5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Credits. You don't need to read this slide in class.</a:t>
            </a:r>
          </a:p>
          <a:p>
            <a:r>
              <a:t>Pictures: Twemoji graphics by Twitter, Inc. and other contributors, CC BY 4.0; the file-by-file list is in images/CREDITS.md.</a:t>
            </a:r>
          </a:p>
          <a:p>
            <a:r>
              <a:t>Audio: the listening audio for this lesson (about 2:15) is coming soon. It will use computer-generated voices (Chatterbox TTS cloned from synthetic Kokoro-82M reference clips); no recordings of real people. Until it is ready, read the listening script (in the notes of the Before You Listen slide) with a volunteer. The names and the story are invented.</a:t>
            </a:r>
          </a:p>
          <a:p>
            <a:r>
              <a:t>Course materials: © 2026 the authors, licensed under CC BY-NC-SA 4.0 (https://creativecommons.org/licenses/by-nc-sa/4.0/).</a:t>
            </a:r>
          </a:p>
          <a:p>
            <a:r>
              <a:t>Lesson plan: Picture Credits. Picture list: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7 · 7:25–7:30 · Exit ticket and homework. Never skip the exit ticket.</a:t>
            </a:r>
          </a:p>
          <a:p>
            <a:r>
              <a:t>Tell one change, in order.</a:t>
            </a:r>
          </a:p>
          <a:p>
            <a:r>
              <a:t>Lesson plan: Step 7; Exit Ticket page; Homework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6 · 7:18–7:25 · Read &amp; Write.</a:t>
            </a:r>
          </a:p>
          <a:p>
            <a:r>
              <a:t>Click to show each answer: 1 No. It opens tomorrow • 2 He had cleaned the kitchen • 3 They had painted the walls • 4 The store sign was first • 5 The permit and dry paint</a:t>
            </a:r>
          </a:p>
          <a:p>
            <a:r>
              <a:t>Lesson plan: Step 6; Read &amp; Write page;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2.</a:t>
            </a:r>
          </a:p>
          <a:p>
            <a:r>
              <a:t>Lesson plan: Step 5; Talk Time.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1.</a:t>
            </a:r>
          </a:p>
          <a:p>
            <a:r>
              <a:t>Lesson plan: Step 5; Talk Time.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says a later time: the inspector arrived. B says what had already happened: We had already painted the walls. Then switch. ---</a:t>
            </a:r>
          </a:p>
          <a:p>
            <a:r>
              <a:t>Break · 6:45–7:00.</a:t>
            </a:r>
          </a:p>
          <a:p>
            <a:r>
              <a:t>Lesson plan: Step 4: Pair check.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Don't say, then Say. Learners try first. Then click.</a:t>
            </a:r>
          </a:p>
          <a:p>
            <a:r>
              <a:t>Lesson plan: Grammar: Common mistakes.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each answer: 1 arrived • 2 had already painted • 3 opened • 4 was delivered • 5 Yes, we had • 6 was working</a:t>
            </a:r>
          </a:p>
          <a:p>
            <a:r>
              <a:t>Lesson plan: Step 4; Grammar Practice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show each answer: 1 had • 2 had • 3 arrived • 4 went • 5 had • 6 was</a:t>
            </a:r>
          </a:p>
          <a:p>
            <a:r>
              <a:t>Lesson plan: Step 4; Grammar Practice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4: Which time?. Each click shows the answer side.</a:t>
            </a:r>
          </a:p>
          <a:p>
            <a:r>
              <a:t>Lesson plan: Step 4; Grammar Box 4.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3: the later moment's background. Each click shows the answer side.</a:t>
            </a:r>
          </a:p>
          <a:p>
            <a:r>
              <a:t>Lesson plan: Step 4; Grammar Box 3.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2: earlier and later. Each click shows the answer side.</a:t>
            </a:r>
          </a:p>
          <a:p>
            <a:r>
              <a:t>Lesson plan: Step 4; Grammar Box 2.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1: by the time and when. Each click shows the answer side.</a:t>
            </a:r>
          </a:p>
          <a:p>
            <a:r>
              <a:t>Lesson plan: Step 4; Grammar Box 1.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gonna and wanna are short forms. This listening uses the full forms. Say each line two times.</a:t>
            </a:r>
          </a:p>
          <a:p>
            <a:r>
              <a:t>Lesson plan: Step 3: Hear it, say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show each answer: 1 had • 2 arrived • 3 had • 4 went • 5 had • 6 was</a:t>
            </a:r>
          </a:p>
          <a:p>
            <a:r>
              <a:t>Lesson plan: Step 3; Listening Task C;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each answer: 1 cleaned the kitchen • 2 the oven arrived • 3 we painted • 4 the poster went up • 5 the inspector</a:t>
            </a:r>
          </a:p>
          <a:p>
            <a:r>
              <a:t>Lesson plan: Step 3; Listening Task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b.</a:t>
            </a:r>
          </a:p>
          <a:p>
            <a:r>
              <a:t>Lesson plan: Step 3; Listening Task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· 6:12–6:32 · Listening. Play 1 is Task A. Play 2 is Tasks B and C. A third play is fine.</a:t>
            </a:r>
          </a:p>
          <a:p>
            <a:r>
              <a:t>Priya and Ben work at a new bakery.</a:t>
            </a:r>
          </a:p>
          <a:p>
            <a:r>
              <a:t>The script says going to and want to. Learners only need to recognize gonna and wanna.</a:t>
            </a:r>
          </a:p>
          <a:p>
            <a:r>
              <a:t>Lesson plan: Step 3; Listening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  <a:p>
            <a:r>
              <a:t>Listening script (the audio is coming soon; until then, read it aloud with a volunteer at a normal, friendly speed):</a:t>
            </a:r>
          </a:p>
          <a:p>
            <a:r>
              <a:t>Narrator: Lesson two. Priya and Ben work at a new bakery. Opening day is tomorrow. Ms. Cole, the inspector, is here today.</a:t>
            </a:r>
          </a:p>
          <a:p>
            <a:r>
              <a:t>Ms. Cole: Good morning. I'm Ms. Cole. Is the bakery open yet?</a:t>
            </a:r>
          </a:p>
          <a:p>
            <a:r>
              <a:t>Priya: Not yet. We want to open tomorrow. We are going to cut the ribbon in the morning.</a:t>
            </a:r>
          </a:p>
          <a:p>
            <a:r>
              <a:t>Ms. Cole: What had you already finished before I arrived?</a:t>
            </a:r>
          </a:p>
          <a:p>
            <a:r>
              <a:t>Ben: By the time you arrived, we had already painted the walls.</a:t>
            </a:r>
          </a:p>
          <a:p>
            <a:r>
              <a:t>Priya: When the oven was delivered, Ben had already cleaned the kitchen.</a:t>
            </a:r>
          </a:p>
          <a:p>
            <a:r>
              <a:t>Ms. Cole: Had you finished the store sign before the poster went up?</a:t>
            </a:r>
          </a:p>
          <a:p>
            <a:r>
              <a:t>Ben: Yes, we had. The sign was first. Then the poster went up.</a:t>
            </a:r>
          </a:p>
          <a:p>
            <a:r>
              <a:t>Priya: We had already picked up the permit before we painted.</a:t>
            </a:r>
          </a:p>
          <a:p>
            <a:r>
              <a:t>Ben: First I cleaned the kitchen. Second, the oven arrived. Third, we painted. Fourth, the poster went up. You arrived last.</a:t>
            </a:r>
          </a:p>
          <a:p>
            <a:r>
              <a:t>Ms. Cole: Was the painter still working when I knocked?</a:t>
            </a:r>
          </a:p>
          <a:p>
            <a:r>
              <a:t>Priya: Yes. The painter was still working. The walls are dry now.</a:t>
            </a:r>
          </a:p>
          <a:p>
            <a:r>
              <a:t>Ms. Cole: The display case and the awning look ready. You can open tomorrow.</a:t>
            </a:r>
          </a:p>
          <a:p>
            <a:r>
              <a:t>Ben: The counter was ready yesterday. Thank you.</a:t>
            </a:r>
          </a:p>
          <a:p>
            <a:r>
              <a:t>Ms. Cole: Bring the permit to the door in the morning.</a:t>
            </a:r>
          </a:p>
          <a:p>
            <a:r>
              <a:t>Ben: We will. It is already in the folder.</a:t>
            </a:r>
          </a:p>
          <a:p>
            <a:r>
              <a:t>Priya: We want to tell the staff tonight. We are going to hang the ribbon in the morning.</a:t>
            </a:r>
          </a:p>
          <a:p>
            <a:r>
              <a:t>Narrator: That's the end of the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answers are hidden. Ask, then click.</a:t>
            </a:r>
          </a:p>
          <a:p>
            <a:r>
              <a:t>1. no, it bakes</a:t>
            </a:r>
          </a:p>
          <a:p>
            <a:r>
              <a:t>2. the inspector</a:t>
            </a:r>
          </a:p>
          <a:p>
            <a:r>
              <a:t>3. a cover</a:t>
            </a:r>
          </a:p>
          <a:p>
            <a:r>
              <a:t>Lesson plan: Step 2: Check the Meaning.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points to a picture. B names it and uses it in one sentence. Then switch.</a:t>
            </a:r>
          </a:p>
          <a:p>
            <a:r>
              <a:t>Lesson plan: Step 2; New Words page; Partner game.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6:06–6:12 · New Words.</a:t>
            </a:r>
          </a:p>
          <a:p>
            <a:r>
              <a:t>Point to each picture. Learners repeat. ★ = most important.</a:t>
            </a:r>
          </a:p>
          <a:p>
            <a:r>
              <a:t>Lesson plan: Step 2; New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 as they arrive.</a:t>
            </a:r>
          </a:p>
          <a:p>
            <a:r>
              <a:t>Read the three lines under Today you will.</a:t>
            </a:r>
          </a:p>
          <a:p>
            <a:r>
              <a:t>Lesson plan: Topic; At a glance: Objectives.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goal slowly. Learners repeat.</a:t>
            </a:r>
          </a:p>
          <a:p>
            <a:r>
              <a:t>Lesson plan: At a glance: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· 6:00–6:06 · Opening Talk.</a:t>
            </a:r>
          </a:p>
          <a:p>
            <a:r>
              <a:t>Work with a partner.</a:t>
            </a:r>
          </a:p>
          <a:p>
            <a:r>
              <a:t>Lesson plan: Step 1; Opening Talk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click shows the next card.</a:t>
            </a:r>
          </a:p>
          <a:p>
            <a:r>
              <a:t>A asks. B answers. Then switch.</a:t>
            </a:r>
          </a:p>
          <a:p>
            <a:r>
              <a:t>Lesson plan: Step 1; Opening Talk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three Now you can lines.</a:t>
            </a:r>
          </a:p>
          <a:p>
            <a:r>
              <a:t>Homework is about 20–25 minutes. Bring it next week.</a:t>
            </a:r>
          </a:p>
          <a:p>
            <a:r>
              <a:t>Lesson plan: At a glance: Objectives; Step 7.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8.png"/><Relationship Id="rId14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Relationship Id="rId12" Type="http://schemas.openxmlformats.org/officeDocument/2006/relationships/image" Target="../media/image23.png"/><Relationship Id="rId13" Type="http://schemas.openxmlformats.org/officeDocument/2006/relationships/image" Target="../media/image24.png"/><Relationship Id="rId14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6" Type="http://schemas.openxmlformats.org/officeDocument/2006/relationships/image" Target="../media/image20.png"/><Relationship Id="rId7" Type="http://schemas.openxmlformats.org/officeDocument/2006/relationships/image" Target="../media/image23.png"/><Relationship Id="rId8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it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Bakery: a baguette and a shop [sign: BAKERY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2  ·  Level 5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Time We Opened</a:t>
            </a:r>
            <a:endParaRPr lang="en-US" sz="40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say what had already happened</a:t>
            </a:r>
            <a:endParaRPr lang="en-US" sz="2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use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time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with two past times</a:t>
            </a:r>
            <a:endParaRPr lang="en-US" sz="2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put four events in order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al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things.</a:t>
            </a:r>
            <a:endParaRPr lang="en-US" sz="2000" dirty="0"/>
          </a:p>
        </p:txBody>
      </p:sp>
      <p:sp>
        <p:nvSpPr>
          <p:cNvPr id="31" name="R1 shadow"/>
          <p:cNvSpPr/>
          <p:nvPr/>
        </p:nvSpPr>
        <p:spPr>
          <a:xfrm>
            <a:off x="544982" y="2093062"/>
            <a:ext cx="6227064" cy="7132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035454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035454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068830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035454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what had already happened</a:t>
            </a:r>
            <a:endParaRPr lang="en-US" sz="16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168957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2857500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2857500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2890876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2857500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use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time</a:t>
            </a: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</a:t>
            </a: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with two past times</a:t>
            </a:r>
            <a:endParaRPr lang="en-US" sz="16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299100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679546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679546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712921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679546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put four events in order</a:t>
            </a:r>
            <a:endParaRPr lang="en-US" sz="16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81304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01591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0159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34967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01591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write a short project note</a:t>
            </a:r>
            <a:endParaRPr lang="en-US" sz="16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35094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armup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87604" y="1352535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pic" descr="Oven: a fire and bread [sign: OVEN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393" y="2104034"/>
            <a:ext cx="4754880" cy="3328416"/>
          </a:xfrm>
          <a:prstGeom prst="rect">
            <a:avLst/>
          </a:prstGeom>
        </p:spPr>
      </p:pic>
      <p:sp>
        <p:nvSpPr>
          <p:cNvPr id="7" name="title"/>
          <p:cNvSpPr/>
          <p:nvPr/>
        </p:nvSpPr>
        <p:spPr>
          <a:xfrm>
            <a:off x="548640" y="1764792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</p:txBody>
      </p:sp>
      <p:sp>
        <p:nvSpPr>
          <p:cNvPr id="8" name="kicker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 b="1"/>
          </a:p>
        </p:txBody>
      </p:sp>
      <p:sp>
        <p:nvSpPr>
          <p:cNvPr id="9" name="box1"/>
          <p:cNvSpPr/>
          <p:nvPr/>
        </p:nvSpPr>
        <p:spPr>
          <a:xfrm>
            <a:off x="599846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 A asks. B</a:t>
            </a:r>
            <a:endParaRPr lang="en-US" sz="1800" dirty="0" b="1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answers in a short summary. A asks one follow-up. Then switch.</a:t>
            </a:r>
            <a:endParaRPr lang="en-US" sz="1800" dirty="0"/>
          </a:p>
        </p:txBody>
      </p:sp>
      <p:sp>
        <p:nvSpPr>
          <p:cNvPr id="14" name="box2"/>
          <p:cNvSpPr/>
          <p:nvPr/>
        </p:nvSpPr>
        <p:spPr>
          <a:xfrm>
            <a:off x="599846" y="475488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one example from last week.</a:t>
            </a:r>
            <a:endParaRPr lang="en-US" sz="18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numlist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Cards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 A asks. B answers in a</a:t>
            </a:r>
            <a:endParaRPr lang="en-US" sz="18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short summary. A asks one follow-up. Then switch.</a:t>
            </a:r>
            <a:endParaRPr lang="en-US" sz="18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471623"/>
            <a:ext cx="6227064" cy="60259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41401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41401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41401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41401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long have you been working, or studying English?</a:t>
            </a:r>
            <a:endParaRPr lang="en-US" sz="16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54751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312541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312541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312541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312541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have you been practicing?</a:t>
            </a:r>
            <a:endParaRPr lang="en-US" sz="16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32589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836822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836822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836822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836822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Have you finished any training?</a:t>
            </a:r>
            <a:endParaRPr lang="en-US" sz="16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970325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4822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4822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4822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4822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one example from last week.</a:t>
            </a:r>
            <a:endParaRPr lang="en-US" sz="16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8172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 b="1"/>
          </a:p>
        </p:txBody>
      </p:sp>
      <p:pic>
        <p:nvPicPr>
          <p:cNvPr id="17" name="Word picture 1" descr="Bakery: a baguette and a shop [sign: BAKERY]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bakery</a:t>
            </a:r>
            <a:endParaRPr lang="en-US" sz="2000" dirty="0" b="1"/>
          </a:p>
        </p:txBody>
      </p:sp>
      <p:pic>
        <p:nvPicPr>
          <p:cNvPr id="19" name="Word picture 2" descr="Oven: a fire and bread [sign: OVEN]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oven</a:t>
            </a:r>
            <a:endParaRPr lang="en-US" sz="2000" dirty="0" b="1"/>
          </a:p>
        </p:txBody>
      </p:sp>
      <p:pic>
        <p:nvPicPr>
          <p:cNvPr id="21" name="Word picture 3" descr="Permit: a page and a green check mark [sign: PERMIT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permit</a:t>
            </a:r>
            <a:endParaRPr lang="en-US" sz="2000" dirty="0" b="1"/>
          </a:p>
        </p:txBody>
      </p:sp>
      <p:pic>
        <p:nvPicPr>
          <p:cNvPr id="23" name="Word picture 4" descr="Inspector: a person and a magnifying glass [sign: INSPECTOR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inspector</a:t>
            </a:r>
            <a:endParaRPr lang="en-US" sz="2000" dirty="0" b="1"/>
          </a:p>
        </p:txBody>
      </p:sp>
      <p:pic>
        <p:nvPicPr>
          <p:cNvPr id="25" name="Word picture 5" descr="Paint roller: a palette and a paintbrush [sign: PAINT ROLLER]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paint roller</a:t>
            </a:r>
            <a:endParaRPr lang="en-US" sz="2000" dirty="0" b="1"/>
          </a:p>
        </p:txBody>
      </p:sp>
      <p:pic>
        <p:nvPicPr>
          <p:cNvPr id="27" name="Word picture 6" descr="Store sign: a shop with a sign on the roof [sign: OPEN]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store sign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 game: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one comes first?</a:t>
            </a:r>
            <a:endParaRPr lang="en-US" sz="2200" dirty="0" b="1"/>
          </a:p>
        </p:txBody>
      </p:sp>
      <p:pic>
        <p:nvPicPr>
          <p:cNvPr id="17" name="Word picture 1" descr="Ribbon: a ribbon [sign: RIBBON]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ribbon</a:t>
            </a:r>
            <a:endParaRPr lang="en-US" sz="2000" dirty="0" b="1"/>
          </a:p>
        </p:txBody>
      </p:sp>
      <p:pic>
        <p:nvPicPr>
          <p:cNvPr id="19" name="Word picture 2" descr="Opening day: a calendar and a party popper [sign: OPENING DAY]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opening day</a:t>
            </a:r>
            <a:endParaRPr lang="en-US" sz="2000" dirty="0" b="1"/>
          </a:p>
        </p:txBody>
      </p:sp>
      <p:pic>
        <p:nvPicPr>
          <p:cNvPr id="21" name="Word picture 3" descr="Counter: a person and a croissant [sign: COUNTER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counter</a:t>
            </a:r>
            <a:endParaRPr lang="en-US" sz="2000" dirty="0" b="1"/>
          </a:p>
        </p:txBody>
      </p:sp>
      <p:pic>
        <p:nvPicPr>
          <p:cNvPr id="23" name="Word picture 4" descr="Display case: a slice of cake and a cookie [sign: DISPLAY CASE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display case</a:t>
            </a:r>
            <a:endParaRPr lang="en-US" sz="2000" dirty="0" b="1"/>
          </a:p>
        </p:txBody>
      </p:sp>
      <p:pic>
        <p:nvPicPr>
          <p:cNvPr id="25" name="Word picture 5" descr="Awning: a beach umbrella and a shop [sign: AWNING]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awning</a:t>
            </a:r>
            <a:endParaRPr lang="en-US" sz="2000" dirty="0" b="1"/>
          </a:p>
        </p:txBody>
      </p:sp>
      <p:pic>
        <p:nvPicPr>
          <p:cNvPr id="27" name="Word picture 6" descr="Poster: a framed picture [sign: POSTER]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poster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ec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Meaning</a:t>
            </a:r>
            <a:endParaRPr lang="en-US" sz="4300" dirty="0" b="1"/>
          </a:p>
        </p:txBody>
      </p:sp>
      <p:sp>
        <p:nvSpPr>
          <p:cNvPr id="3" name="sub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picture. Answer the question.</a:t>
            </a:r>
            <a:endParaRPr lang="en-US" sz="2400" dirty="0"/>
          </a:p>
        </p:txBody>
      </p:sp>
      <p:sp>
        <p:nvSpPr>
          <p:cNvPr id="4" name="R1 shadow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R1 card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R1 circle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R1 num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R1 q"/>
          <p:cNvSpPr/>
          <p:nvPr/>
        </p:nvSpPr>
        <p:spPr>
          <a:xfrm>
            <a:off x="9601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the oven a person?</a:t>
            </a:r>
            <a:endParaRPr lang="en-US" sz="1600" dirty="0" b="1"/>
          </a:p>
        </p:txBody>
      </p:sp>
      <p:pic>
        <p:nvPicPr>
          <p:cNvPr id="101" name="R1 pic" descr="Oven: a fire and bread [sign: OVEN]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R2 shadow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R2 card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R2 circle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R2 num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R2 q"/>
          <p:cNvSpPr/>
          <p:nvPr/>
        </p:nvSpPr>
        <p:spPr>
          <a:xfrm>
            <a:off x="46177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 comes before opening day?</a:t>
            </a:r>
            <a:endParaRPr lang="en-US" sz="1600" dirty="0" b="1"/>
          </a:p>
        </p:txBody>
      </p:sp>
      <p:pic>
        <p:nvPicPr>
          <p:cNvPr id="102" name="R2 pic" descr="Opening day: a calendar and a party popper [sign: OPENING DAY]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R3 shadow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R3 card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R3 circle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R3 num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R3 q"/>
          <p:cNvSpPr/>
          <p:nvPr/>
        </p:nvSpPr>
        <p:spPr>
          <a:xfrm>
            <a:off x="82753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an awning a cover or a cake?</a:t>
            </a:r>
            <a:endParaRPr lang="en-US" sz="1600" dirty="0" b="1"/>
          </a:p>
        </p:txBody>
      </p:sp>
      <p:pic>
        <p:nvPicPr>
          <p:cNvPr id="103" name="R3 pic" descr="Awning: a beach umbrella and a shop [sign: AWNING]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5" name="R1 ans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it bakes</a:t>
            </a:r>
            <a:endParaRPr lang="en-US" sz="2200" dirty="0" b="1"/>
          </a:p>
        </p:txBody>
      </p:sp>
      <p:sp>
        <p:nvSpPr>
          <p:cNvPr id="26" name="R2 ans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inspector</a:t>
            </a:r>
            <a:endParaRPr lang="en-US" sz="2200" dirty="0" b="1"/>
          </a:p>
        </p:txBody>
      </p:sp>
      <p:sp>
        <p:nvSpPr>
          <p:cNvPr id="27" name="R3 an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cover</a:t>
            </a:r>
            <a:endParaRPr lang="en-US" sz="28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befor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1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</a:t>
            </a:r>
            <a:endParaRPr lang="en-US" sz="4400" dirty="0" b="1"/>
          </a:p>
        </p:txBody>
      </p:sp>
      <p:sp>
        <p:nvSpPr>
          <p:cNvPr id="9" name="title2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</a:t>
            </a:r>
            <a:endParaRPr lang="en-US" sz="4400" dirty="0" b="1"/>
          </a:p>
        </p:txBody>
      </p:sp>
      <p:sp>
        <p:nvSpPr>
          <p:cNvPr id="10" name="context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Priya and Ben work at a new bakery.</a:t>
            </a:r>
            <a:endParaRPr lang="en-US" sz="1800" dirty="0"/>
          </a:p>
        </p:txBody>
      </p:sp>
      <p:sp>
        <p:nvSpPr>
          <p:cNvPr id="11" name="R1 num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R2 num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R3 num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line 1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line 2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" descr="Permit: a page and a green check mark [sign: PERMIT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R1 hl"/>
          <p:cNvSpPr/>
          <p:nvPr/>
        </p:nvSpPr>
        <p:spPr>
          <a:xfrm>
            <a:off x="4389120" y="4251960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R1 voice"/>
          <p:cNvSpPr/>
          <p:nvPr/>
        </p:nvSpPr>
        <p:spPr>
          <a:xfrm>
            <a:off x="4389120" y="4251960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Ms. Cole</a:t>
            </a:r>
            <a:endParaRPr lang="en-US" sz="2200" dirty="0" b="1"/>
          </a:p>
        </p:txBody>
      </p:sp>
      <p:sp>
        <p:nvSpPr>
          <p:cNvPr id="29" name="R2 hl"/>
          <p:cNvSpPr/>
          <p:nvPr/>
        </p:nvSpPr>
        <p:spPr>
          <a:xfrm>
            <a:off x="4389120" y="5056632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R2 voice"/>
          <p:cNvSpPr/>
          <p:nvPr/>
        </p:nvSpPr>
        <p:spPr>
          <a:xfrm>
            <a:off x="4389120" y="5056632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Priya</a:t>
            </a:r>
            <a:endParaRPr lang="en-US" sz="2200" dirty="0" b="1"/>
          </a:p>
        </p:txBody>
      </p:sp>
      <p:sp>
        <p:nvSpPr>
          <p:cNvPr id="33" name="R3 hl"/>
          <p:cNvSpPr/>
          <p:nvPr/>
        </p:nvSpPr>
        <p:spPr>
          <a:xfrm>
            <a:off x="4389120" y="5861304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R3 voice"/>
          <p:cNvSpPr/>
          <p:nvPr/>
        </p:nvSpPr>
        <p:spPr>
          <a:xfrm>
            <a:off x="4389120" y="5861304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Ben</a:t>
            </a:r>
            <a:endParaRPr lang="en-US" sz="2200" dirty="0" b="1"/>
          </a:p>
        </p:txBody>
      </p:sp>
      <p:sp>
        <p:nvSpPr>
          <p:cNvPr id="37" name="listen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for:</a:t>
            </a:r>
            <a:endParaRPr lang="en-US" sz="2400" dirty="0" b="1"/>
          </a:p>
        </p:txBody>
      </p:sp>
      <p:sp>
        <p:nvSpPr>
          <p:cNvPr id="39" name="listen 1"/>
          <p:cNvSpPr/>
          <p:nvPr/>
        </p:nvSpPr>
        <p:spPr>
          <a:xfrm>
            <a:off x="8549640" y="196596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Is the bakery open yet?</a:t>
            </a:r>
            <a:endParaRPr lang="en-US" sz="2200" dirty="0"/>
          </a:p>
        </p:txBody>
      </p:sp>
      <p:sp>
        <p:nvSpPr>
          <p:cNvPr id="41" name="listen 2"/>
          <p:cNvSpPr/>
          <p:nvPr/>
        </p:nvSpPr>
        <p:spPr>
          <a:xfrm>
            <a:off x="8549640" y="301752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| 6:12–6:32 | Listening (play 1 = Task A; play 2 = Tasks B and C) +</a:t>
            </a:r>
            <a:endParaRPr lang="en-US" sz="2200" dirty="0"/>
          </a:p>
        </p:txBody>
      </p:sp>
      <p:sp>
        <p:nvSpPr>
          <p:cNvPr id="43" name="audio"/>
          <p:cNvSpPr/>
          <p:nvPr/>
        </p:nvSpPr>
        <p:spPr>
          <a:xfrm>
            <a:off x="8549640" y="406908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(about 2:15): coming soon.</a:t>
            </a:r>
            <a:endParaRPr lang="en-US" sz="2200" dirty="0"/>
          </a:p>
        </p:txBody>
      </p:sp>
      <p:sp>
        <p:nvSpPr>
          <p:cNvPr id="46" name="play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1: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A</a:t>
            </a:r>
            <a:endParaRPr lang="en-US" sz="22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Is the bakery open yet?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1453896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2139696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Yes. It is open now</a:t>
            </a:r>
            <a:endParaRPr lang="en-US" sz="1500" dirty="0" b="1"/>
          </a:p>
        </p:txBody>
      </p:sp>
      <p:sp>
        <p:nvSpPr>
          <p:cNvPr id="10" name="R1 opt2"/>
          <p:cNvSpPr/>
          <p:nvPr/>
        </p:nvSpPr>
        <p:spPr>
          <a:xfrm>
            <a:off x="5367528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No. It opens tomorrow</a:t>
            </a:r>
            <a:endParaRPr lang="en-US" sz="1500" dirty="0" b="1"/>
          </a:p>
        </p:txBody>
      </p:sp>
      <p:sp>
        <p:nvSpPr>
          <p:cNvPr id="11" name="R1 opt3"/>
          <p:cNvSpPr/>
          <p:nvPr/>
        </p:nvSpPr>
        <p:spPr>
          <a:xfrm>
            <a:off x="8595360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c. No. It failed the visit</a:t>
            </a:r>
            <a:endParaRPr lang="en-US" sz="1500" dirty="0" b="1"/>
          </a:p>
        </p:txBody>
      </p:sp>
      <p:sp>
        <p:nvSpPr>
          <p:cNvPr id="12" name="R1 circle"/>
          <p:cNvSpPr/>
          <p:nvPr/>
        </p:nvSpPr>
        <p:spPr>
          <a:xfrm>
            <a:off x="5239512" y="3054096"/>
            <a:ext cx="341071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Listen again. What happened first,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second, third, fourth, and last? Circle.</a:t>
            </a:r>
            <a:endParaRPr lang="en-US" sz="16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448056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1. First</a:t>
            </a:r>
            <a:endParaRPr lang="en-US" sz="1300" dirty="0"/>
          </a:p>
        </p:txBody>
      </p:sp>
      <p:sp>
        <p:nvSpPr>
          <p:cNvPr id="9" name="R1 opt1"/>
          <p:cNvSpPr/>
          <p:nvPr/>
        </p:nvSpPr>
        <p:spPr>
          <a:xfrm>
            <a:off x="5166360" y="3108960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cleaned the kitchen</a:t>
            </a:r>
            <a:endParaRPr lang="en-US" sz="1200" dirty="0" b="1"/>
          </a:p>
        </p:txBody>
      </p:sp>
      <p:sp>
        <p:nvSpPr>
          <p:cNvPr id="10" name="R1 opt2"/>
          <p:cNvSpPr/>
          <p:nvPr/>
        </p:nvSpPr>
        <p:spPr>
          <a:xfrm>
            <a:off x="7452360" y="3108960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poster</a:t>
            </a:r>
            <a:endParaRPr lang="en-US" sz="1200" dirty="0" b="1"/>
          </a:p>
        </p:txBody>
      </p:sp>
      <p:sp>
        <p:nvSpPr>
          <p:cNvPr id="11" name="R1 opt3"/>
          <p:cNvSpPr/>
          <p:nvPr/>
        </p:nvSpPr>
        <p:spPr>
          <a:xfrm>
            <a:off x="9738360" y="3108960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inspector</a:t>
            </a:r>
            <a:endParaRPr lang="en-US" sz="1200" dirty="0" b="1"/>
          </a:p>
        </p:txBody>
      </p:sp>
      <p:sp>
        <p:nvSpPr>
          <p:cNvPr id="12" name="R1 circle"/>
          <p:cNvSpPr/>
          <p:nvPr/>
        </p:nvSpPr>
        <p:spPr>
          <a:xfrm>
            <a:off x="5038344" y="3054096"/>
            <a:ext cx="249631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3" name="R2 stmt"/>
          <p:cNvSpPr/>
          <p:nvPr/>
        </p:nvSpPr>
        <p:spPr>
          <a:xfrm>
            <a:off x="502920" y="3767328"/>
            <a:ext cx="448056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2. Second</a:t>
            </a:r>
            <a:endParaRPr lang="en-US" sz="1300" dirty="0"/>
          </a:p>
        </p:txBody>
      </p:sp>
      <p:sp>
        <p:nvSpPr>
          <p:cNvPr id="14" name="R2 opt1"/>
          <p:cNvSpPr/>
          <p:nvPr/>
        </p:nvSpPr>
        <p:spPr>
          <a:xfrm>
            <a:off x="5166360" y="3767328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oven arrived</a:t>
            </a:r>
            <a:endParaRPr lang="en-US" sz="1200" dirty="0" b="1"/>
          </a:p>
        </p:txBody>
      </p:sp>
      <p:sp>
        <p:nvSpPr>
          <p:cNvPr id="15" name="R2 opt2"/>
          <p:cNvSpPr/>
          <p:nvPr/>
        </p:nvSpPr>
        <p:spPr>
          <a:xfrm>
            <a:off x="7452360" y="3767328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day</a:t>
            </a:r>
            <a:endParaRPr lang="en-US" sz="1200" dirty="0" b="1"/>
          </a:p>
        </p:txBody>
      </p:sp>
      <p:sp>
        <p:nvSpPr>
          <p:cNvPr id="16" name="R2 opt3"/>
          <p:cNvSpPr/>
          <p:nvPr/>
        </p:nvSpPr>
        <p:spPr>
          <a:xfrm>
            <a:off x="9738360" y="3767328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ribbon</a:t>
            </a:r>
            <a:endParaRPr lang="en-US" sz="1200" dirty="0" b="1"/>
          </a:p>
        </p:txBody>
      </p:sp>
      <p:sp>
        <p:nvSpPr>
          <p:cNvPr id="17" name="R2 circle"/>
          <p:cNvSpPr/>
          <p:nvPr/>
        </p:nvSpPr>
        <p:spPr>
          <a:xfrm>
            <a:off x="5038344" y="3712464"/>
            <a:ext cx="249631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8" name="R3 stmt"/>
          <p:cNvSpPr/>
          <p:nvPr/>
        </p:nvSpPr>
        <p:spPr>
          <a:xfrm>
            <a:off x="502920" y="4425696"/>
            <a:ext cx="448056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3. Third</a:t>
            </a:r>
            <a:endParaRPr lang="en-US" sz="1300" dirty="0"/>
          </a:p>
        </p:txBody>
      </p:sp>
      <p:sp>
        <p:nvSpPr>
          <p:cNvPr id="19" name="R3 opt1"/>
          <p:cNvSpPr/>
          <p:nvPr/>
        </p:nvSpPr>
        <p:spPr>
          <a:xfrm>
            <a:off x="5166360" y="4425696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painted</a:t>
            </a:r>
            <a:endParaRPr lang="en-US" sz="1200" dirty="0" b="1"/>
          </a:p>
        </p:txBody>
      </p:sp>
      <p:sp>
        <p:nvSpPr>
          <p:cNvPr id="20" name="R3 opt2"/>
          <p:cNvSpPr/>
          <p:nvPr/>
        </p:nvSpPr>
        <p:spPr>
          <a:xfrm>
            <a:off x="7452360" y="4425696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opened</a:t>
            </a:r>
            <a:endParaRPr lang="en-US" sz="1200" dirty="0" b="1"/>
          </a:p>
        </p:txBody>
      </p:sp>
      <p:sp>
        <p:nvSpPr>
          <p:cNvPr id="21" name="R3 opt3"/>
          <p:cNvSpPr/>
          <p:nvPr/>
        </p:nvSpPr>
        <p:spPr>
          <a:xfrm>
            <a:off x="9738360" y="4425696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failed</a:t>
            </a:r>
            <a:endParaRPr lang="en-US" sz="1200" dirty="0" b="1"/>
          </a:p>
        </p:txBody>
      </p:sp>
      <p:sp>
        <p:nvSpPr>
          <p:cNvPr id="22" name="R3 circle"/>
          <p:cNvSpPr/>
          <p:nvPr/>
        </p:nvSpPr>
        <p:spPr>
          <a:xfrm>
            <a:off x="5038344" y="4370832"/>
            <a:ext cx="249631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R4 stmt"/>
          <p:cNvSpPr/>
          <p:nvPr/>
        </p:nvSpPr>
        <p:spPr>
          <a:xfrm>
            <a:off x="502920" y="5084064"/>
            <a:ext cx="448056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4. Fourth</a:t>
            </a:r>
            <a:endParaRPr lang="en-US" sz="1300" dirty="0"/>
          </a:p>
        </p:txBody>
      </p:sp>
      <p:sp>
        <p:nvSpPr>
          <p:cNvPr id="24" name="R4 opt1"/>
          <p:cNvSpPr/>
          <p:nvPr/>
        </p:nvSpPr>
        <p:spPr>
          <a:xfrm>
            <a:off x="5166360" y="5084064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poster went up</a:t>
            </a:r>
            <a:endParaRPr lang="en-US" sz="1200" dirty="0" b="1"/>
          </a:p>
        </p:txBody>
      </p:sp>
      <p:sp>
        <p:nvSpPr>
          <p:cNvPr id="25" name="R4 opt2"/>
          <p:cNvSpPr/>
          <p:nvPr/>
        </p:nvSpPr>
        <p:spPr>
          <a:xfrm>
            <a:off x="7452360" y="5084064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oven</a:t>
            </a:r>
            <a:endParaRPr lang="en-US" sz="1200" dirty="0" b="1"/>
          </a:p>
        </p:txBody>
      </p:sp>
      <p:sp>
        <p:nvSpPr>
          <p:cNvPr id="26" name="R4 opt3"/>
          <p:cNvSpPr/>
          <p:nvPr/>
        </p:nvSpPr>
        <p:spPr>
          <a:xfrm>
            <a:off x="9738360" y="5084064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permit</a:t>
            </a:r>
            <a:endParaRPr lang="en-US" sz="1200" dirty="0" b="1"/>
          </a:p>
        </p:txBody>
      </p:sp>
      <p:sp>
        <p:nvSpPr>
          <p:cNvPr id="27" name="R4 circle"/>
          <p:cNvSpPr/>
          <p:nvPr/>
        </p:nvSpPr>
        <p:spPr>
          <a:xfrm>
            <a:off x="5038344" y="5029200"/>
            <a:ext cx="249631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5 stmt"/>
          <p:cNvSpPr/>
          <p:nvPr/>
        </p:nvSpPr>
        <p:spPr>
          <a:xfrm>
            <a:off x="502920" y="5742432"/>
            <a:ext cx="448056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5. Last</a:t>
            </a:r>
            <a:endParaRPr lang="en-US" sz="1300" dirty="0"/>
          </a:p>
        </p:txBody>
      </p:sp>
      <p:sp>
        <p:nvSpPr>
          <p:cNvPr id="29" name="R5 opt1"/>
          <p:cNvSpPr/>
          <p:nvPr/>
        </p:nvSpPr>
        <p:spPr>
          <a:xfrm>
            <a:off x="5166360" y="5742432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inspector</a:t>
            </a:r>
            <a:endParaRPr lang="en-US" sz="1200" dirty="0" b="1"/>
          </a:p>
        </p:txBody>
      </p:sp>
      <p:sp>
        <p:nvSpPr>
          <p:cNvPr id="30" name="R5 opt2"/>
          <p:cNvSpPr/>
          <p:nvPr/>
        </p:nvSpPr>
        <p:spPr>
          <a:xfrm>
            <a:off x="7452360" y="5742432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oven</a:t>
            </a:r>
            <a:endParaRPr lang="en-US" sz="1200" dirty="0" b="1"/>
          </a:p>
        </p:txBody>
      </p:sp>
      <p:sp>
        <p:nvSpPr>
          <p:cNvPr id="31" name="R5 opt3"/>
          <p:cNvSpPr/>
          <p:nvPr/>
        </p:nvSpPr>
        <p:spPr>
          <a:xfrm>
            <a:off x="9738360" y="5742432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sign</a:t>
            </a:r>
            <a:endParaRPr lang="en-US" sz="1200" dirty="0" b="1"/>
          </a:p>
        </p:txBody>
      </p:sp>
      <p:sp>
        <p:nvSpPr>
          <p:cNvPr id="32" name="R5 circle"/>
          <p:cNvSpPr/>
          <p:nvPr/>
        </p:nvSpPr>
        <p:spPr>
          <a:xfrm>
            <a:off x="5038344" y="5687568"/>
            <a:ext cx="249631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 Write had or t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words.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check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______ already painted the walls.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6016752" y="2222144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</a:t>
            </a:r>
            <a:endParaRPr lang="en-US" sz="16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______ last.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6016752" y="2950312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arrived</a:t>
            </a:r>
            <a:endParaRPr lang="en-US" sz="16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Ben ______ already cleaned the kitchen.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6016752" y="3678479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</a:t>
            </a:r>
            <a:endParaRPr lang="en-US" sz="16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poster ______ up.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6016752" y="4406646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went</a:t>
            </a:r>
            <a:endParaRPr lang="en-US" sz="16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______ already picked up the permit.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6016752" y="5134813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</a:t>
            </a:r>
            <a:endParaRPr lang="en-US" sz="16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oven ______ delivered.</a:t>
            </a:r>
            <a:endParaRPr lang="en-US" sz="1600" dirty="0"/>
          </a:p>
        </p:txBody>
      </p:sp>
      <p:sp>
        <p:nvSpPr>
          <p:cNvPr id="60" name="R6 ans"/>
          <p:cNvSpPr/>
          <p:nvPr/>
        </p:nvSpPr>
        <p:spPr>
          <a:xfrm>
            <a:off x="6016752" y="5862980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ecksay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68158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4982" y="1623974"/>
            <a:ext cx="6169457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691640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it: gonna and wanna are short forms</a:t>
            </a:r>
            <a:endParaRPr lang="en-US" sz="1600" dirty="0" b="1"/>
          </a:p>
        </p:txBody>
      </p:sp>
      <p:sp>
        <p:nvSpPr>
          <p:cNvPr id="9" name="head2"/>
          <p:cNvSpPr/>
          <p:nvPr/>
        </p:nvSpPr>
        <p:spPr>
          <a:xfrm>
            <a:off x="868680" y="209397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use the full forms</a:t>
            </a:r>
            <a:endParaRPr lang="en-US" sz="1600" dirty="0"/>
          </a:p>
        </p:txBody>
      </p:sp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It,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are short forms. This listening uses the full forms.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can say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 b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each line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times.</a:t>
            </a:r>
            <a:endParaRPr lang="en-US" sz="2000" dirty="0" b="0"/>
          </a:p>
        </p:txBody>
      </p:sp>
      <p:sp>
        <p:nvSpPr>
          <p:cNvPr id="31" name="S1 card"/>
          <p:cNvSpPr/>
          <p:nvPr/>
        </p:nvSpPr>
        <p:spPr>
          <a:xfrm>
            <a:off x="548640" y="271576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1 text"/>
          <p:cNvSpPr/>
          <p:nvPr/>
        </p:nvSpPr>
        <p:spPr>
          <a:xfrm>
            <a:off x="777240" y="271576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open tomorrow.</a:t>
            </a:r>
            <a:endParaRPr lang="en-US" sz="1600" dirty="0" b="1"/>
          </a:p>
        </p:txBody>
      </p:sp>
      <p:sp>
        <p:nvSpPr>
          <p:cNvPr id="33" name="S2 card"/>
          <p:cNvSpPr/>
          <p:nvPr/>
        </p:nvSpPr>
        <p:spPr>
          <a:xfrm>
            <a:off x="548640" y="3427171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" name="S2 text"/>
          <p:cNvSpPr/>
          <p:nvPr/>
        </p:nvSpPr>
        <p:spPr>
          <a:xfrm>
            <a:off x="777240" y="3427171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are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cut the ribbon.</a:t>
            </a:r>
            <a:endParaRPr lang="en-US" sz="1600" dirty="0" b="1"/>
          </a:p>
        </p:txBody>
      </p:sp>
      <p:sp>
        <p:nvSpPr>
          <p:cNvPr id="35" name="S3 card"/>
          <p:cNvSpPr/>
          <p:nvPr/>
        </p:nvSpPr>
        <p:spPr>
          <a:xfrm>
            <a:off x="548640" y="4138574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3 text"/>
          <p:cNvSpPr/>
          <p:nvPr/>
        </p:nvSpPr>
        <p:spPr>
          <a:xfrm>
            <a:off x="777240" y="4138574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had already painted the walls.</a:t>
            </a:r>
            <a:endParaRPr lang="en-US" sz="1600" dirty="0" b="1"/>
          </a:p>
        </p:txBody>
      </p:sp>
      <p:sp>
        <p:nvSpPr>
          <p:cNvPr id="37" name="S4 card"/>
          <p:cNvSpPr/>
          <p:nvPr/>
        </p:nvSpPr>
        <p:spPr>
          <a:xfrm>
            <a:off x="548640" y="484997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S4 text"/>
          <p:cNvSpPr/>
          <p:nvPr/>
        </p:nvSpPr>
        <p:spPr>
          <a:xfrm>
            <a:off x="777240" y="484997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time the inspector arrived, we had painted.</a:t>
            </a:r>
            <a:endParaRPr lang="en-US" sz="1600" dirty="0" b="1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Inspector: a person and a magnifying glass [sign: INSPECTOR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time and when</a:t>
            </a:r>
            <a:endParaRPr lang="en-US" sz="20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418320" y="182880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had you done </a:t>
            </a: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time</a:t>
            </a: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inspector arrived?</a:t>
            </a:r>
            <a:endParaRPr lang="en-US" sz="1300" dirty="0" b="1"/>
          </a:p>
        </p:txBody>
      </p:sp>
      <p:sp>
        <p:nvSpPr>
          <p:cNvPr id="19" name="Answer bg 1"/>
          <p:cNvSpPr/>
          <p:nvPr/>
        </p:nvSpPr>
        <p:spPr>
          <a:xfrm>
            <a:off x="9418320" y="228600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418320" y="228600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 already painted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walls.</a:t>
            </a:r>
            <a:endParaRPr lang="en-US" sz="14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had Ben done </a:t>
            </a: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</a:t>
            </a: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oven was delivered?</a:t>
            </a:r>
            <a:endParaRPr lang="en-US" sz="1300" dirty="0" b="1"/>
          </a:p>
        </p:txBody>
      </p:sp>
      <p:sp>
        <p:nvSpPr>
          <p:cNvPr id="22" name="Answer bg 2"/>
          <p:cNvSpPr/>
          <p:nvPr/>
        </p:nvSpPr>
        <p:spPr>
          <a:xfrm>
            <a:off x="9418320" y="324612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418320" y="324612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Ben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 already cleaned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kitchen.</a:t>
            </a:r>
            <a:endParaRPr lang="en-US" sz="14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</a:t>
            </a: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 </a:t>
            </a: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finished</a:t>
            </a: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sign before the poster went up?</a:t>
            </a:r>
            <a:endParaRPr lang="en-US" sz="1300" dirty="0" b="1"/>
          </a:p>
        </p:txBody>
      </p:sp>
      <p:sp>
        <p:nvSpPr>
          <p:cNvPr id="25" name="Answer bg 3"/>
          <p:cNvSpPr/>
          <p:nvPr/>
        </p:nvSpPr>
        <p:spPr>
          <a:xfrm>
            <a:off x="9418320" y="420624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418320" y="420624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we had.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/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we hadn't.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Paint roller: a palette and a paintbrush [sign: PAINT ROLLER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earlier and later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EARLIER: HAD + PAS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052560" y="1828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LATER: SIMPLE PAST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had already painted the walls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052560" y="228600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052560" y="228600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inspector arrived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Ben had already cleaned the kitchen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052560" y="324612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052560" y="324612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oven was delivered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had finished the sign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052560" y="420624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052560" y="420624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poster went up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Store sign: a shop with a sign on the roof [sign: OPEN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later moment's</a:t>
            </a:r>
            <a:endParaRPr lang="en-US" sz="20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418320" y="182880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was the painter doing when the inspector knocked?</a:t>
            </a:r>
            <a:endParaRPr lang="en-US" sz="1300" dirty="0" b="1"/>
          </a:p>
        </p:txBody>
      </p:sp>
      <p:sp>
        <p:nvSpPr>
          <p:cNvPr id="19" name="Answer bg 1"/>
          <p:cNvSpPr/>
          <p:nvPr/>
        </p:nvSpPr>
        <p:spPr>
          <a:xfrm>
            <a:off x="9418320" y="228600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418320" y="228600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painter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still working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Ribbon: a ribbon [sign: RIBBON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4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time?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FORM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052560" y="1828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EXAMPLE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earlier past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052560" y="228600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052560" y="228600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+ past participle: we had already painted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later past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052560" y="324612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052560" y="324612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simple past: the inspector arrived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time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052560" y="420624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052560" y="420624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marks the later time: By the time the inspector arrived, …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check your answers.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time the inspector arrived, we ______ already painted the walls.</a:t>
            </a:r>
            <a:endParaRPr lang="en-US" sz="1400" dirty="0"/>
          </a:p>
        </p:txBody>
      </p:sp>
      <p:sp>
        <p:nvSpPr>
          <p:cNvPr id="35" name="R1 ans"/>
          <p:cNvSpPr/>
          <p:nvPr/>
        </p:nvSpPr>
        <p:spPr>
          <a:xfrm>
            <a:off x="6016752" y="2222144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</a:t>
            </a:r>
            <a:endParaRPr lang="en-US" sz="16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the oven was delivered, Ben ______ already cleaned the kitchen.</a:t>
            </a:r>
            <a:endParaRPr lang="en-US" sz="1400" dirty="0"/>
          </a:p>
        </p:txBody>
      </p:sp>
      <p:sp>
        <p:nvSpPr>
          <p:cNvPr id="40" name="R2 ans"/>
          <p:cNvSpPr/>
          <p:nvPr/>
        </p:nvSpPr>
        <p:spPr>
          <a:xfrm>
            <a:off x="6016752" y="2950312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</a:t>
            </a:r>
            <a:endParaRPr lang="en-US" sz="16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inspector ______ after the painting.</a:t>
            </a:r>
            <a:endParaRPr lang="en-US" sz="1400" dirty="0"/>
          </a:p>
        </p:txBody>
      </p:sp>
      <p:sp>
        <p:nvSpPr>
          <p:cNvPr id="45" name="R3 ans"/>
          <p:cNvSpPr/>
          <p:nvPr/>
        </p:nvSpPr>
        <p:spPr>
          <a:xfrm>
            <a:off x="6016752" y="3678479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arrived</a:t>
            </a:r>
            <a:endParaRPr lang="en-US" sz="16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poster ______ up after the sign.</a:t>
            </a:r>
            <a:endParaRPr lang="en-US" sz="1400" dirty="0"/>
          </a:p>
        </p:txBody>
      </p:sp>
      <p:sp>
        <p:nvSpPr>
          <p:cNvPr id="50" name="R4 ans"/>
          <p:cNvSpPr/>
          <p:nvPr/>
        </p:nvSpPr>
        <p:spPr>
          <a:xfrm>
            <a:off x="6016752" y="4406646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went</a:t>
            </a:r>
            <a:endParaRPr lang="en-US" sz="16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 you finished the sign? Yes, we ______.</a:t>
            </a:r>
            <a:endParaRPr lang="en-US" sz="1400" dirty="0"/>
          </a:p>
        </p:txBody>
      </p:sp>
      <p:sp>
        <p:nvSpPr>
          <p:cNvPr id="55" name="R5 ans"/>
          <p:cNvSpPr/>
          <p:nvPr/>
        </p:nvSpPr>
        <p:spPr>
          <a:xfrm>
            <a:off x="6016752" y="5134813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</a:t>
            </a:r>
            <a:endParaRPr lang="en-US" sz="16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painter ______ still working when the inspector knocked.</a:t>
            </a:r>
            <a:endParaRPr lang="en-US" sz="1400" dirty="0"/>
          </a:p>
        </p:txBody>
      </p:sp>
      <p:sp>
        <p:nvSpPr>
          <p:cNvPr id="60" name="R6 ans"/>
          <p:cNvSpPr/>
          <p:nvPr/>
        </p:nvSpPr>
        <p:spPr>
          <a:xfrm>
            <a:off x="6016752" y="5862980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correct words.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633679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1. By the time the inspector ______ , we had already painted.</a:t>
            </a:r>
            <a:endParaRPr lang="en-US" sz="1500" dirty="0"/>
          </a:p>
        </p:txBody>
      </p:sp>
      <p:sp>
        <p:nvSpPr>
          <p:cNvPr id="9" name="R1 opt1"/>
          <p:cNvSpPr/>
          <p:nvPr/>
        </p:nvSpPr>
        <p:spPr>
          <a:xfrm>
            <a:off x="7022592" y="31089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arrived</a:t>
            </a:r>
            <a:endParaRPr lang="en-US" sz="1600" dirty="0" b="1"/>
          </a:p>
        </p:txBody>
      </p:sp>
      <p:sp>
        <p:nvSpPr>
          <p:cNvPr id="10" name="R1 opt2"/>
          <p:cNvSpPr/>
          <p:nvPr/>
        </p:nvSpPr>
        <p:spPr>
          <a:xfrm>
            <a:off x="9372600" y="31089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 arrived</a:t>
            </a:r>
            <a:endParaRPr lang="en-US" sz="1600" dirty="0" b="1"/>
          </a:p>
        </p:txBody>
      </p:sp>
      <p:sp>
        <p:nvSpPr>
          <p:cNvPr id="11" name="R1 circle"/>
          <p:cNvSpPr/>
          <p:nvPr/>
        </p:nvSpPr>
        <p:spPr>
          <a:xfrm>
            <a:off x="6894576" y="305409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633679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2. We ______ the walls.</a:t>
            </a:r>
            <a:endParaRPr lang="en-US" sz="1500" dirty="0"/>
          </a:p>
        </p:txBody>
      </p:sp>
      <p:sp>
        <p:nvSpPr>
          <p:cNvPr id="13" name="R2 opt1"/>
          <p:cNvSpPr/>
          <p:nvPr/>
        </p:nvSpPr>
        <p:spPr>
          <a:xfrm>
            <a:off x="7022592" y="365760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already painted</a:t>
            </a:r>
            <a:endParaRPr lang="en-US" sz="1600" dirty="0" b="1"/>
          </a:p>
        </p:txBody>
      </p:sp>
      <p:sp>
        <p:nvSpPr>
          <p:cNvPr id="14" name="R2 opt2"/>
          <p:cNvSpPr/>
          <p:nvPr/>
        </p:nvSpPr>
        <p:spPr>
          <a:xfrm>
            <a:off x="9372600" y="365760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 already painted</a:t>
            </a:r>
            <a:endParaRPr lang="en-US" sz="1600" dirty="0" b="1"/>
          </a:p>
        </p:txBody>
      </p:sp>
      <p:sp>
        <p:nvSpPr>
          <p:cNvPr id="15" name="R2 circle"/>
          <p:cNvSpPr/>
          <p:nvPr/>
        </p:nvSpPr>
        <p:spPr>
          <a:xfrm>
            <a:off x="9244584" y="360273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633679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3. By the time we ______ , the inspector had arrived.</a:t>
            </a:r>
            <a:endParaRPr lang="en-US" sz="1500" dirty="0"/>
          </a:p>
        </p:txBody>
      </p:sp>
      <p:sp>
        <p:nvSpPr>
          <p:cNvPr id="17" name="R3 opt1"/>
          <p:cNvSpPr/>
          <p:nvPr/>
        </p:nvSpPr>
        <p:spPr>
          <a:xfrm>
            <a:off x="7022592" y="420624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 opened</a:t>
            </a:r>
            <a:endParaRPr lang="en-US" sz="1600" dirty="0" b="1"/>
          </a:p>
        </p:txBody>
      </p:sp>
      <p:sp>
        <p:nvSpPr>
          <p:cNvPr id="18" name="R3 opt2"/>
          <p:cNvSpPr/>
          <p:nvPr/>
        </p:nvSpPr>
        <p:spPr>
          <a:xfrm>
            <a:off x="9372600" y="420624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opened</a:t>
            </a:r>
            <a:endParaRPr lang="en-US" sz="1600" dirty="0" b="1"/>
          </a:p>
        </p:txBody>
      </p:sp>
      <p:sp>
        <p:nvSpPr>
          <p:cNvPr id="19" name="R3 circle"/>
          <p:cNvSpPr/>
          <p:nvPr/>
        </p:nvSpPr>
        <p:spPr>
          <a:xfrm>
            <a:off x="9244584" y="415137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633679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4. When the oven ______ , Ben had cleaned the kitchen.</a:t>
            </a:r>
            <a:endParaRPr lang="en-US" sz="1500" dirty="0"/>
          </a:p>
        </p:txBody>
      </p:sp>
      <p:sp>
        <p:nvSpPr>
          <p:cNvPr id="21" name="R4 opt1"/>
          <p:cNvSpPr/>
          <p:nvPr/>
        </p:nvSpPr>
        <p:spPr>
          <a:xfrm>
            <a:off x="7022592" y="475488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delivered</a:t>
            </a:r>
            <a:endParaRPr lang="en-US" sz="1600" dirty="0" b="1"/>
          </a:p>
        </p:txBody>
      </p:sp>
      <p:sp>
        <p:nvSpPr>
          <p:cNvPr id="22" name="R4 opt2"/>
          <p:cNvSpPr/>
          <p:nvPr/>
        </p:nvSpPr>
        <p:spPr>
          <a:xfrm>
            <a:off x="9372600" y="475488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 delivered</a:t>
            </a:r>
            <a:endParaRPr lang="en-US" sz="1600" dirty="0" b="1"/>
          </a:p>
        </p:txBody>
      </p:sp>
      <p:sp>
        <p:nvSpPr>
          <p:cNvPr id="23" name="R4 circle"/>
          <p:cNvSpPr/>
          <p:nvPr/>
        </p:nvSpPr>
        <p:spPr>
          <a:xfrm>
            <a:off x="6894576" y="470001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633679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5. Had you finished the sign?</a:t>
            </a:r>
            <a:endParaRPr lang="en-US" sz="1500" dirty="0"/>
          </a:p>
        </p:txBody>
      </p:sp>
      <p:sp>
        <p:nvSpPr>
          <p:cNvPr id="25" name="R5 opt1"/>
          <p:cNvSpPr/>
          <p:nvPr/>
        </p:nvSpPr>
        <p:spPr>
          <a:xfrm>
            <a:off x="7022592" y="530352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we had.</a:t>
            </a:r>
            <a:endParaRPr lang="en-US" sz="1600" dirty="0" b="1"/>
          </a:p>
        </p:txBody>
      </p:sp>
      <p:sp>
        <p:nvSpPr>
          <p:cNvPr id="26" name="R5 opt2"/>
          <p:cNvSpPr/>
          <p:nvPr/>
        </p:nvSpPr>
        <p:spPr>
          <a:xfrm>
            <a:off x="9372600" y="530352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we did.</a:t>
            </a:r>
            <a:endParaRPr lang="en-US" sz="1600" dirty="0" b="1"/>
          </a:p>
        </p:txBody>
      </p:sp>
      <p:sp>
        <p:nvSpPr>
          <p:cNvPr id="27" name="R5 circle"/>
          <p:cNvSpPr/>
          <p:nvPr/>
        </p:nvSpPr>
        <p:spPr>
          <a:xfrm>
            <a:off x="6894576" y="524865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633679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6. The painter ______ when the inspector knocked.</a:t>
            </a:r>
            <a:endParaRPr lang="en-US" sz="1500" dirty="0"/>
          </a:p>
        </p:txBody>
      </p:sp>
      <p:sp>
        <p:nvSpPr>
          <p:cNvPr id="29" name="R6 opt1"/>
          <p:cNvSpPr/>
          <p:nvPr/>
        </p:nvSpPr>
        <p:spPr>
          <a:xfrm>
            <a:off x="7022592" y="58521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working</a:t>
            </a:r>
            <a:endParaRPr lang="en-US" sz="1600" dirty="0" b="1"/>
          </a:p>
        </p:txBody>
      </p:sp>
      <p:sp>
        <p:nvSpPr>
          <p:cNvPr id="30" name="R6 opt2"/>
          <p:cNvSpPr/>
          <p:nvPr/>
        </p:nvSpPr>
        <p:spPr>
          <a:xfrm>
            <a:off x="9372600" y="58521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 worked</a:t>
            </a:r>
            <a:endParaRPr lang="en-US" sz="1600" dirty="0" b="1"/>
          </a:p>
        </p:txBody>
      </p:sp>
      <p:sp>
        <p:nvSpPr>
          <p:cNvPr id="31" name="R6 circle"/>
          <p:cNvSpPr/>
          <p:nvPr/>
        </p:nvSpPr>
        <p:spPr>
          <a:xfrm>
            <a:off x="6894576" y="579729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mistake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42448" y="1188720"/>
            <a:ext cx="1691640" cy="13716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2020824"/>
            <a:ext cx="354330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2020824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457200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393192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1828800"/>
            <a:ext cx="3610966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1828800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45720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 b="1"/>
          </a:p>
        </p:txBody>
      </p:sp>
      <p:pic>
        <p:nvPicPr>
          <p:cNvPr id="21" name="pic" descr="Opening day: a calendar and a party popper [sign: OPENING DAY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1325880"/>
            <a:ext cx="1554480" cy="1088136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1938528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1938528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2468880"/>
            <a:ext cx="3246120" cy="68042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the inspector arrived, we already painted.</a:t>
            </a:r>
            <a:endParaRPr lang="en-US" sz="1400" dirty="0"/>
          </a:p>
        </p:txBody>
      </p:sp>
      <p:sp>
        <p:nvSpPr>
          <p:cNvPr id="25" name="Good 1"/>
          <p:cNvSpPr/>
          <p:nvPr/>
        </p:nvSpPr>
        <p:spPr>
          <a:xfrm>
            <a:off x="4800600" y="2468880"/>
            <a:ext cx="5394960" cy="68042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the inspector arrived, we had already painted.</a:t>
            </a:r>
            <a:endParaRPr lang="en-US" sz="1400" dirty="0" b="1"/>
          </a:p>
        </p:txBody>
      </p:sp>
      <p:sp>
        <p:nvSpPr>
          <p:cNvPr id="26" name="Bad 2"/>
          <p:cNvSpPr/>
          <p:nvPr/>
        </p:nvSpPr>
        <p:spPr>
          <a:xfrm>
            <a:off x="914400" y="3213309"/>
            <a:ext cx="3246120" cy="68042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time we had opened, the inspector arrived.</a:t>
            </a:r>
            <a:endParaRPr lang="en-US" sz="1400" dirty="0"/>
          </a:p>
        </p:txBody>
      </p:sp>
      <p:sp>
        <p:nvSpPr>
          <p:cNvPr id="27" name="Good 2"/>
          <p:cNvSpPr/>
          <p:nvPr/>
        </p:nvSpPr>
        <p:spPr>
          <a:xfrm>
            <a:off x="4800600" y="3213309"/>
            <a:ext cx="5394960" cy="68042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time we opened, the inspector had arrived.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drill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pic>
        <p:nvPicPr>
          <p:cNvPr id="26" name="pic" descr="Counter: a person and a croissant [sign: COUNTER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739" y="3680460"/>
            <a:ext cx="3449901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 Check</a:t>
            </a:r>
            <a:endParaRPr lang="en-US" sz="4000" dirty="0" b="1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s1 label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says.</a:t>
            </a:r>
            <a:endParaRPr lang="en-US" sz="2200" dirty="0" b="1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s2 label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answers.</a:t>
            </a:r>
            <a:endParaRPr lang="en-US" sz="2200" dirty="0" b="1"/>
          </a:p>
        </p:txBody>
      </p:sp>
      <p:sp>
        <p:nvSpPr>
          <p:cNvPr id="60" name="s1 body"/>
          <p:cNvSpPr/>
          <p:nvPr/>
        </p:nvSpPr>
        <p:spPr>
          <a:xfrm>
            <a:off x="6995160" y="21031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says a later time: the inspector arrived.</a:t>
            </a:r>
            <a:endParaRPr lang="en-US" sz="1900" dirty="0" b="0"/>
          </a:p>
        </p:txBody>
      </p:sp>
      <p:sp>
        <p:nvSpPr>
          <p:cNvPr id="70" name="s2 body"/>
          <p:cNvSpPr/>
          <p:nvPr/>
        </p:nvSpPr>
        <p:spPr>
          <a:xfrm>
            <a:off x="6995160" y="44348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says what had already happened: We had already painted the walls.</a:t>
            </a:r>
            <a:endParaRPr lang="en-US" sz="1900" dirty="0" b="0"/>
          </a:p>
        </p:txBody>
      </p:sp>
      <p:sp>
        <p:nvSpPr>
          <p:cNvPr id="25" name="sub"/>
          <p:cNvSpPr/>
          <p:nvPr/>
        </p:nvSpPr>
        <p:spPr>
          <a:xfrm>
            <a:off x="771754" y="2148840"/>
            <a:ext cx="4572000" cy="68580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Paint roller: a palette and a paintbrush [sign: PAINT ROLLER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together.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Four picture cards, shuffled.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7:00–7:18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Four picture cards, shuffled.</a:t>
            </a:r>
            <a:endParaRPr lang="en-US" sz="1600" dirty="0" b="1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Four picture cards, shuffled.</a:t>
            </a:r>
            <a:endParaRPr lang="en-US" sz="1600" dirty="0" b="1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Four picture cards, shuffled.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Ribbon: a ribbon [sign: RIBBON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Groups.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Tell the other group.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7:00–7:18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Tell the other group.</a:t>
            </a:r>
            <a:endParaRPr lang="en-US" sz="1600" dirty="0" b="1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Tell the other group.</a:t>
            </a:r>
            <a:endParaRPr lang="en-US" sz="1600" dirty="0" b="1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Tell the other group.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&amp;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the page.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the questions.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46156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the bakery open yet?</a:t>
            </a:r>
            <a:endParaRPr lang="en-US" sz="1400" dirty="0"/>
          </a:p>
        </p:txBody>
      </p:sp>
      <p:sp>
        <p:nvSpPr>
          <p:cNvPr id="35" name="R1 ans"/>
          <p:cNvSpPr/>
          <p:nvPr/>
        </p:nvSpPr>
        <p:spPr>
          <a:xfrm>
            <a:off x="5010912" y="2525573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No. It opens tomorrow</a:t>
            </a:r>
            <a:endParaRPr lang="en-US" sz="13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183941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18394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24794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183941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had Ben done when the oven was delivered?</a:t>
            </a:r>
            <a:endParaRPr lang="en-US" sz="1400" dirty="0"/>
          </a:p>
        </p:txBody>
      </p:sp>
      <p:sp>
        <p:nvSpPr>
          <p:cNvPr id="40" name="R2 ans"/>
          <p:cNvSpPr/>
          <p:nvPr/>
        </p:nvSpPr>
        <p:spPr>
          <a:xfrm>
            <a:off x="5010912" y="3311957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had cleaned the kitchen</a:t>
            </a:r>
            <a:endParaRPr lang="en-US" sz="13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970325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970325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03433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970325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had they done by the time Ms. Cole arrived?</a:t>
            </a:r>
            <a:endParaRPr lang="en-US" sz="1400" dirty="0"/>
          </a:p>
        </p:txBody>
      </p:sp>
      <p:sp>
        <p:nvSpPr>
          <p:cNvPr id="45" name="R3 ans"/>
          <p:cNvSpPr/>
          <p:nvPr/>
        </p:nvSpPr>
        <p:spPr>
          <a:xfrm>
            <a:off x="5010912" y="4098341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They had painted the walls</a:t>
            </a:r>
            <a:endParaRPr lang="en-US" sz="13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756709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756709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82071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756709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went up first?</a:t>
            </a:r>
            <a:endParaRPr lang="en-US" sz="1400" dirty="0"/>
          </a:p>
        </p:txBody>
      </p:sp>
      <p:sp>
        <p:nvSpPr>
          <p:cNvPr id="50" name="R4 ans"/>
          <p:cNvSpPr/>
          <p:nvPr/>
        </p:nvSpPr>
        <p:spPr>
          <a:xfrm>
            <a:off x="5010912" y="4884725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store sign was first</a:t>
            </a:r>
            <a:endParaRPr lang="en-US" sz="13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543093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543093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60710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543093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did she need before she said yes?</a:t>
            </a:r>
            <a:endParaRPr lang="en-US" sz="1400" dirty="0"/>
          </a:p>
        </p:txBody>
      </p:sp>
      <p:sp>
        <p:nvSpPr>
          <p:cNvPr id="55" name="R5 ans"/>
          <p:cNvSpPr/>
          <p:nvPr/>
        </p:nvSpPr>
        <p:spPr>
          <a:xfrm>
            <a:off x="5010912" y="5671109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permit and dry paint</a:t>
            </a:r>
            <a:endParaRPr lang="en-US" sz="13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34340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 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7:25–7:30</a:t>
            </a:r>
            <a:endParaRPr lang="en-US" sz="4000" dirty="0"/>
          </a:p>
        </p:txBody>
      </p:sp>
      <p:pic>
        <p:nvPicPr>
          <p:cNvPr id="16" name="pic" descr="Display case: a slice of cake and a cookie [sign: DISPLAY CASE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 b="1"/>
          </a:p>
        </p:txBody>
      </p:sp>
      <p:sp>
        <p:nvSpPr>
          <p:cNvPr id="19" name="Body 01"/>
          <p:cNvSpPr/>
          <p:nvPr/>
        </p:nvSpPr>
        <p:spPr>
          <a:xfrm>
            <a:off x="4343400" y="3520440"/>
            <a:ext cx="352044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Tell one change, in order.</a:t>
            </a:r>
            <a:endParaRPr lang="en-US" sz="15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Name: Date: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this page to your teacher.</a:t>
            </a:r>
            <a:endParaRPr lang="en-US" sz="1500" dirty="0" b="0"/>
          </a:p>
        </p:txBody>
      </p:sp>
      <p:sp>
        <p:nvSpPr>
          <p:cNvPr id="20" name="Num 02"/>
          <p:cNvSpPr/>
          <p:nvPr/>
        </p:nvSpPr>
        <p:spPr>
          <a:xfrm>
            <a:off x="80010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 b="1"/>
          </a:p>
        </p:txBody>
      </p:sp>
      <p:sp>
        <p:nvSpPr>
          <p:cNvPr id="22" name="Body 02"/>
          <p:cNvSpPr/>
          <p:nvPr/>
        </p:nvSpPr>
        <p:spPr>
          <a:xfrm>
            <a:off x="8001000" y="3520440"/>
            <a:ext cx="365760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20–25 minutes.</a:t>
            </a:r>
            <a:endParaRPr lang="en-US" sz="15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Write the sentence.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Finish your project note from Read &amp; Write. This is writing check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Tell the four-sentence story to a friend or a family member. Ask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Review (Lesson 1). Write I've been working, I've worked, worked,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1500" dirty="0" b="1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odby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Awning: a beach umbrella and a shop [sign: AWNING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2  ·  Level 5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36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say what had already happened</a:t>
            </a:r>
            <a:endParaRPr lang="en-US" sz="2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use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time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with two past times</a:t>
            </a:r>
            <a:endParaRPr lang="en-US" sz="2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put four events in order</a:t>
            </a:r>
            <a:endParaRPr lang="en-US" sz="2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redits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itle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5" name="pictures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signs and labels were added.</a:t>
            </a:r>
            <a:endParaRPr lang="en-US" sz="1600" dirty="0" b="0"/>
          </a:p>
        </p:txBody>
      </p:sp>
      <p:sp>
        <p:nvSpPr>
          <p:cNvPr id="16" name="names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story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Ms. Cole, Priya, and Ben are invented names. The listening story is invented.</a:t>
            </a:r>
            <a:endParaRPr lang="en-US" sz="1600" dirty="0" b="0"/>
          </a:p>
        </p:txBody>
      </p:sp>
      <p:sp>
        <p:nvSpPr>
          <p:cNvPr id="17" name="audio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(coming soon): synthetic voices made with Chatterbox TTS (MIT License), cloned from short synthetic reference clips made with Kokoro-82M (Apache License 2.0). No recordings of real people. Each file will carry an inaudible Perth watermark marking it as AI-generated. Font: Lexend Deca (OFL 1.1).</a:t>
            </a:r>
            <a:endParaRPr lang="en-US" sz="135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1350" dirty="0"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5 Lesson 2: By the Time We Opened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