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939" r:id="rId33"/>
    <p:sldId id="940" r:id="rId34"/>
    <p:sldId id="941" r:id="rId35"/>
    <p:sldId id="942" r:id="rId36"/>
    <p:sldId id="943" r:id="rId31"/>
    <p:sldId id="944" r:id="rId30"/>
    <p:sldId id="945" r:id="rId29"/>
    <p:sldId id="946" r:id="rId28"/>
    <p:sldId id="947" r:id="rId27"/>
    <p:sldId id="948" r:id="rId20"/>
    <p:sldId id="949" r:id="rId18"/>
    <p:sldId id="950" r:id="rId17"/>
    <p:sldId id="951" r:id="rId16"/>
    <p:sldId id="952" r:id="rId14"/>
    <p:sldId id="953" r:id="rId13"/>
    <p:sldId id="954" r:id="rId12"/>
    <p:sldId id="955" r:id="rId11"/>
    <p:sldId id="956" r:id="rId10"/>
    <p:sldId id="957" r:id="rId8"/>
    <p:sldId id="958" r:id="rId7"/>
    <p:sldId id="959" r:id="rId6"/>
    <p:sldId id="960" r:id="rId5"/>
    <p:sldId id="961" r:id="rId4"/>
    <p:sldId id="962" r:id="rId3"/>
    <p:sldId id="963" r:id="rId57"/>
    <p:sldId id="964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2.xml"/><Relationship Id="rId3" Type="http://schemas.openxmlformats.org/officeDocument/2006/relationships/slide" Target="slides/slide50.xml"/><Relationship Id="rId4" Type="http://schemas.openxmlformats.org/officeDocument/2006/relationships/slide" Target="slides/slide49.xml"/><Relationship Id="rId5" Type="http://schemas.openxmlformats.org/officeDocument/2006/relationships/slide" Target="slides/slide48.xml"/><Relationship Id="rId6" Type="http://schemas.openxmlformats.org/officeDocument/2006/relationships/slide" Target="slides/slide47.xml"/><Relationship Id="rId7" Type="http://schemas.openxmlformats.org/officeDocument/2006/relationships/slide" Target="slides/slide46.xml"/><Relationship Id="rId8" Type="http://schemas.openxmlformats.org/officeDocument/2006/relationships/slide" Target="slides/slide45.xml"/><Relationship Id="rId10" Type="http://schemas.openxmlformats.org/officeDocument/2006/relationships/slide" Target="slides/slide44.xml"/><Relationship Id="rId11" Type="http://schemas.openxmlformats.org/officeDocument/2006/relationships/slide" Target="slides/slide43.xml"/><Relationship Id="rId12" Type="http://schemas.openxmlformats.org/officeDocument/2006/relationships/slide" Target="slides/slide42.xml"/><Relationship Id="rId13" Type="http://schemas.openxmlformats.org/officeDocument/2006/relationships/slide" Target="slides/slide41.xml"/><Relationship Id="rId14" Type="http://schemas.openxmlformats.org/officeDocument/2006/relationships/slide" Target="slides/slide40.xml"/><Relationship Id="rId16" Type="http://schemas.openxmlformats.org/officeDocument/2006/relationships/slide" Target="slides/slide39.xml"/><Relationship Id="rId17" Type="http://schemas.openxmlformats.org/officeDocument/2006/relationships/slide" Target="slides/slide38.xml"/><Relationship Id="rId18" Type="http://schemas.openxmlformats.org/officeDocument/2006/relationships/slide" Target="slides/slide37.xml"/><Relationship Id="rId20" Type="http://schemas.openxmlformats.org/officeDocument/2006/relationships/slide" Target="slides/slide36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35.xml"/><Relationship Id="rId28" Type="http://schemas.openxmlformats.org/officeDocument/2006/relationships/slide" Target="slides/slide34.xml"/><Relationship Id="rId29" Type="http://schemas.openxmlformats.org/officeDocument/2006/relationships/slide" Target="slides/slide33.xml"/><Relationship Id="rId30" Type="http://schemas.openxmlformats.org/officeDocument/2006/relationships/slide" Target="slides/slide32.xml"/><Relationship Id="rId31" Type="http://schemas.openxmlformats.org/officeDocument/2006/relationships/slide" Target="slides/slide31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57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the listening audio for this lesson (about 2:35) is coming soon. It will use computer-generated voices (Chatterbox TTS cloned from synthetic Kokoro-82M reference clips); no recordings of real people. Until it is ready, read the listening script (in the notes of the Before You Listen slide) with a volunteer.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and homework. Never skip the exit ticket.</a:t>
            </a:r>
          </a:p>
          <a:p>
            <a:r>
              <a:t>Which idea do you support, and where would you say it?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7:18–7:25 · Read &amp; Write.</a:t>
            </a:r>
          </a:p>
          <a:p>
            <a:r>
              <a:t>Click to show each answer: 1 Evening hours • 2 Ms. Adeyemi • 3 Later hours, until eight on Thursday • 4 The bus stops early • 5 In the room where we meet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1.</a:t>
            </a:r>
          </a:p>
          <a:p>
            <a:r>
              <a:t>Lesson plan: Step 5; Talk Time.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says "room," "proposal," or "person." B makes one sentence with where, which, or who. Then switch. ---</a:t>
            </a:r>
          </a:p>
          <a:p>
            <a:r>
              <a:t>Break · 6:45–7:00.</a:t>
            </a:r>
          </a:p>
          <a:p>
            <a:r>
              <a:t>Lesson plan: Step 4: Pair check.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Don't say, then Say. Learners try first. Then click.</a:t>
            </a:r>
          </a:p>
          <a:p>
            <a:r>
              <a:t>Lesson plan: Grammar: Common mistakes.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where • 2 which • 3 who • 4 it • 5 there • 6 but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where • 2 which • 3 who • 4 where • 5 which • 6 who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4: an opinion and a reason. Each click shows the answer side.</a:t>
            </a:r>
          </a:p>
          <a:p>
            <a:r>
              <a:t>Lesson plan: Step 4; Grammar Box 4.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3: who for a person. Each click shows the answer side.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2: where for a place. Each click shows the answer side.</a:t>
            </a:r>
          </a:p>
          <a:p>
            <a:r>
              <a:t>Lesson plan: Step 4; Grammar Box 2.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Grammar Box 1: which for a thing. Each click shows the answer side.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gonna and wanna are short forms. This listening uses the full forms. Say each line two times.</a:t>
            </a:r>
          </a:p>
          <a:p>
            <a:r>
              <a:t>Lesson plan: Step 3: Hear it,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show each answer: 1 where • 2 which • 3 which • 4 which • 5 where • 6 where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each answer: 1 later hours • 2 the current hours • 3 the bus stops early • 4 a one-month try • 5 Thursday • 6 eight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to circle b.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6:12–6:32 · Listening. Play 1 is Task A. Play 2 is Tasks B and C. A third play is fine.</a:t>
            </a:r>
          </a:p>
          <a:p>
            <a:r>
              <a:t>A short library meeting.</a:t>
            </a:r>
          </a:p>
          <a:p>
            <a:r>
              <a:t>The script says going to and want to. Learners only need to recognize gonna and wanna.</a:t>
            </a:r>
          </a:p>
          <a:p>
            <a:r>
              <a:t>Lesson plan: Step 3;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  <a:p>
            <a:r>
              <a:t>Listening script (the audio is coming soon; until then, read it aloud with a volunteer at a normal, friendly speed):</a:t>
            </a:r>
          </a:p>
          <a:p>
            <a:r>
              <a:t>Narrator: Lesson twelve. This is a short meeting at the library. Ms. Adeyemi is the chairperson. Tom and Grace are going to talk about evening hours.</a:t>
            </a:r>
          </a:p>
          <a:p>
            <a:r>
              <a:t>Ms. Adeyemi: Welcome. Please look at the agenda, which is on your handout. This is the room where we meet.</a:t>
            </a:r>
          </a:p>
          <a:p>
            <a:r>
              <a:t>Tom: I want to speak about the proposal. I want later hours.</a:t>
            </a:r>
          </a:p>
          <a:p>
            <a:r>
              <a:t>Grace: I see your point, but I want to keep the current hours. The bus I take stops early.</a:t>
            </a:r>
          </a:p>
          <a:p>
            <a:r>
              <a:t>Ms. Adeyemi: The proposal which I read is on page 2. It says a one-month try.</a:t>
            </a:r>
          </a:p>
          <a:p>
            <a:r>
              <a:t>Tom: The library which we use closes at six. I want it open until eight.</a:t>
            </a:r>
          </a:p>
          <a:p>
            <a:r>
              <a:t>Grace: The stop where I catch the bus is dark after seven. That is my reason.</a:t>
            </a:r>
          </a:p>
          <a:p>
            <a:r>
              <a:t>Ms. Adeyemi: The person who takes notes is writing the minutes. Please use the microphone when you speak.</a:t>
            </a:r>
          </a:p>
          <a:p>
            <a:r>
              <a:t>Tom: I think a one-month try is fair. I'm going to come after work on Thursday.</a:t>
            </a:r>
          </a:p>
          <a:p>
            <a:r>
              <a:t>Grace: I see your point, but I need a safe ride. I can try it where the evening bus still runs.</a:t>
            </a:r>
          </a:p>
          <a:p>
            <a:r>
              <a:t>Ms. Adeyemi: Please take a question card. Tom, which hours do you want?</a:t>
            </a:r>
          </a:p>
          <a:p>
            <a:r>
              <a:t>Tom: I want eight o'clock on Thursday only. I want to keep the change small.</a:t>
            </a:r>
          </a:p>
          <a:p>
            <a:r>
              <a:t>Grace: I can agree to Thursday if the sign-in sheet shows how many people come.</a:t>
            </a:r>
          </a:p>
          <a:p>
            <a:r>
              <a:t>Ms. Adeyemi: Our decision is a one-month try on Thursday, until eight. The timer says we should stop.</a:t>
            </a:r>
          </a:p>
          <a:p>
            <a:r>
              <a:t>Tom: My name tent is on the table, so the minutes can show who spoke.</a:t>
            </a:r>
          </a:p>
          <a:p>
            <a:r>
              <a:t>Grace: The auditorium is too big. This library room is the place where we should meet.</a:t>
            </a:r>
          </a:p>
          <a:p>
            <a:r>
              <a:t>Ms. Adeyemi: I am going to put the decision in the minutes. Thank you for a calm meeting.</a:t>
            </a:r>
          </a:p>
          <a:p>
            <a:r>
              <a:t>Tom: I want to ask one question. Which bus still runs at eight?</a:t>
            </a:r>
          </a:p>
          <a:p>
            <a:r>
              <a:t>Grace: The bus where I get off stops at seven. Thursday is the only day I can try.</a:t>
            </a:r>
          </a:p>
          <a:p>
            <a:r>
              <a:t>Ms. Adeyemi: Then Thursday is the try. We are not going to move the meeting to the auditorium.</a:t>
            </a:r>
          </a:p>
          <a:p>
            <a:r>
              <a:t>Narrator: That's the end of the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answers are hidden. Ask, then click.</a:t>
            </a:r>
          </a:p>
          <a:p>
            <a:r>
              <a:t>1. A thing.</a:t>
            </a:r>
          </a:p>
          <a:p>
            <a:r>
              <a:t>2. A place.</a:t>
            </a:r>
          </a:p>
          <a:p>
            <a:r>
              <a:t>3. Yes.</a:t>
            </a:r>
          </a:p>
          <a:p>
            <a:r>
              <a:t>Lesson plan: Step 2: Check the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points to a picture. B names it and uses it in one sentence. Then switch.</a:t>
            </a:r>
          </a:p>
          <a:p>
            <a:r>
              <a:t>Lesson plan: Step 2; New Words page; Partner game.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6:06–6:12 · New Words.</a:t>
            </a:r>
          </a:p>
          <a:p>
            <a:r>
              <a:t>Point to each picture. Learners repeat. ★ = most important.</a:t>
            </a:r>
          </a:p>
          <a:p>
            <a:r>
              <a:t>Lesson plan: Step 2;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Read the three lines under Today you will.</a:t>
            </a:r>
          </a:p>
          <a:p>
            <a:r>
              <a:t>Lesson plan: Topic; At a glance: Objectives.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6:00–6:06 · Opening Talk.</a:t>
            </a:r>
          </a:p>
          <a:p>
            <a:r>
              <a:t>Work with a partner.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shows the next card.</a:t>
            </a:r>
          </a:p>
          <a:p>
            <a:r>
              <a:t>A asks. B answers. Then switch.</a:t>
            </a:r>
          </a:p>
          <a:p>
            <a:r>
              <a:t>Lesson plan: Step 1; Opening Talk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three Now you can lines.</a:t>
            </a:r>
          </a:p>
          <a:p>
            <a:r>
              <a:t>Homework is about 20–25 minutes. Bring it next week.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Agenda: a clipboard [sign: AGENDA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12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Room Where We Meet</a:t>
            </a:r>
            <a:endParaRPr lang="en-US" sz="4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point to a thing with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a place with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still use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 a person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ask a question from the agenda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things.</a:t>
            </a:r>
            <a:endParaRPr lang="en-US" sz="2000" dirty="0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713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6883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point to a thing with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a place with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endParaRPr lang="en-US" sz="16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5750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5750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90876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57500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still use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 a person</a:t>
            </a:r>
            <a:endParaRPr lang="en-US" sz="16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9100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7954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7954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712921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79546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a question from the agenda</a:t>
            </a:r>
            <a:endParaRPr lang="en-US" sz="16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81304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01591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0159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3496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01591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an opinion with a reason and listen to one other opinion</a:t>
            </a:r>
            <a:endParaRPr lang="en-US" sz="16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350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Chairperson: a person and a clipboard [sign: CHAIR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 a card</a:t>
            </a:r>
            <a:endParaRPr lang="en-US" sz="18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question. B answers in about four sentences. A asks one follow-up. Then switch.</a:t>
            </a:r>
            <a:endParaRPr lang="en-US" sz="1800" dirty="0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sentences. A asks one follow-up. Then</a:t>
            </a:r>
            <a:endParaRPr lang="en-US" sz="18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switch.</a:t>
            </a:r>
            <a:endParaRPr lang="en-US" sz="18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 a card question. B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answers in about four sentences. A asks one follow-up. Then switch.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A asks a card question. B answers in about four</a:t>
            </a:r>
            <a:endParaRPr lang="en-US" sz="15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sentences. A asks one follow-up. Then switch.</a:t>
            </a:r>
            <a:endParaRPr lang="en-US" sz="15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Agenda: a clipboard [sign: AGENDA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agenda</a:t>
            </a:r>
            <a:endParaRPr lang="en-US" sz="2000" dirty="0" b="1"/>
          </a:p>
        </p:txBody>
      </p:sp>
      <p:pic>
        <p:nvPicPr>
          <p:cNvPr id="19" name="Word picture 2" descr="Chairperson: a person and a clipboard [sign: CHAIR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chairperson</a:t>
            </a:r>
            <a:endParaRPr lang="en-US" sz="2000" dirty="0" b="1"/>
          </a:p>
        </p:txBody>
      </p:sp>
      <p:pic>
        <p:nvPicPr>
          <p:cNvPr id="21" name="Word picture 3" descr="Minutes: a notebook and a pen [sign: MINUTES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minutes</a:t>
            </a:r>
            <a:endParaRPr lang="en-US" sz="2000" dirty="0" b="1"/>
          </a:p>
        </p:txBody>
      </p:sp>
      <p:pic>
        <p:nvPicPr>
          <p:cNvPr id="23" name="Word picture 4" descr="Microphone: a microphone [sign: MIC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microphone</a:t>
            </a:r>
            <a:endParaRPr lang="en-US" sz="2000" dirty="0" b="1"/>
          </a:p>
        </p:txBody>
      </p:sp>
      <p:pic>
        <p:nvPicPr>
          <p:cNvPr id="25" name="Word picture 5" descr="Handout: a page [sign: HANDOUT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handout</a:t>
            </a:r>
            <a:endParaRPr lang="en-US" sz="2000" dirty="0" b="1"/>
          </a:p>
        </p:txBody>
      </p:sp>
      <p:pic>
        <p:nvPicPr>
          <p:cNvPr id="27" name="Word picture 6" descr="Proposal: a document and a light bulb [sign: PROPOSAL]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proposal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 in a sentence</a:t>
            </a:r>
            <a:endParaRPr lang="en-US" sz="2200" dirty="0" b="1"/>
          </a:p>
        </p:txBody>
      </p:sp>
      <p:pic>
        <p:nvPicPr>
          <p:cNvPr id="17" name="Word picture 1" descr="Sign-in sheet: a memo and a pencil [sign: SIGN IN]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sign-in sheet</a:t>
            </a:r>
            <a:endParaRPr lang="en-US" sz="1500" dirty="0" b="1"/>
          </a:p>
        </p:txBody>
      </p:sp>
      <p:pic>
        <p:nvPicPr>
          <p:cNvPr id="19" name="Word picture 2" descr="Name tent: a label [sign: NAME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name tent</a:t>
            </a:r>
            <a:endParaRPr lang="en-US" sz="2000" dirty="0" b="1"/>
          </a:p>
        </p:txBody>
      </p:sp>
      <p:pic>
        <p:nvPicPr>
          <p:cNvPr id="21" name="Word picture 3" descr="Timer: a timer clock [sign: 4:00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timer</a:t>
            </a:r>
            <a:endParaRPr lang="en-US" sz="2000" dirty="0" b="1"/>
          </a:p>
        </p:txBody>
      </p:sp>
      <p:pic>
        <p:nvPicPr>
          <p:cNvPr id="23" name="Word picture 4" descr="Question card: an index card and a question mark [sign: QUESTION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question card</a:t>
            </a:r>
            <a:endParaRPr lang="en-US" sz="1500" dirty="0" b="1"/>
          </a:p>
        </p:txBody>
      </p:sp>
      <p:pic>
        <p:nvPicPr>
          <p:cNvPr id="25" name="Word picture 5" descr="Library: books and a classical buildi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library</a:t>
            </a:r>
            <a:endParaRPr lang="en-US" sz="2000" dirty="0" b="1"/>
          </a:p>
        </p:txBody>
      </p:sp>
      <p:pic>
        <p:nvPicPr>
          <p:cNvPr id="27" name="Word picture 6" descr="Auditorium: theater masks and a loudspeak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auditorium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 a thing or a place?</a:t>
            </a:r>
            <a:endParaRPr lang="en-US" sz="1600" dirty="0" b="1"/>
          </a:p>
        </p:txBody>
      </p:sp>
      <p:pic>
        <p:nvPicPr>
          <p:cNvPr id="101" name="R1 pic" descr="Agenda: a clipboard [sign: AGENDA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 a thing or a place?</a:t>
            </a:r>
            <a:endParaRPr lang="en-US" sz="1600" dirty="0" b="1"/>
          </a:p>
        </p:txBody>
      </p:sp>
      <p:pic>
        <p:nvPicPr>
          <p:cNvPr id="102" name="R2 pic" descr="Chairperson: a person and a clipboard [sign: CHAIR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</a:t>
            </a: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 a person?</a:t>
            </a:r>
            <a:endParaRPr lang="en-US" sz="1600" dirty="0" b="1"/>
          </a:p>
        </p:txBody>
      </p:sp>
      <p:pic>
        <p:nvPicPr>
          <p:cNvPr id="103" name="R3 pic" descr="Minutes: a notebook and a pen [sign: MINUTES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thing.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place.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Yes.</a:t>
            </a:r>
            <a:endParaRPr lang="en-US" sz="2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short library meeting.</a:t>
            </a:r>
            <a:endParaRPr lang="en-US" sz="18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Minutes: a notebook and a pen [sign: MINUTES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Ms. Adeyemi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Tom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Grace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are they deciding?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 Play 1 → Task A.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(about 2:35): coming soon.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are they deciding?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45389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2139696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A new library building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5367528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Evening hours</a:t>
            </a:r>
            <a:endParaRPr lang="en-US" sz="1500" dirty="0" b="1"/>
          </a:p>
        </p:txBody>
      </p:sp>
      <p:sp>
        <p:nvSpPr>
          <p:cNvPr id="11" name="R1 opt3"/>
          <p:cNvSpPr/>
          <p:nvPr/>
        </p:nvSpPr>
        <p:spPr>
          <a:xfrm>
            <a:off x="8595360" y="3108960"/>
            <a:ext cx="315468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The price of a bus pass</a:t>
            </a:r>
            <a:endParaRPr lang="en-US" sz="1500" dirty="0" b="1"/>
          </a:p>
        </p:txBody>
      </p:sp>
      <p:sp>
        <p:nvSpPr>
          <p:cNvPr id="12" name="R1 circle"/>
          <p:cNvSpPr/>
          <p:nvPr/>
        </p:nvSpPr>
        <p:spPr>
          <a:xfrm>
            <a:off x="5239512" y="3054096"/>
            <a:ext cx="341071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Listen again. Circle the answers.</a:t>
            </a:r>
            <a:endParaRPr lang="en-US" sz="16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1. Tom wants</a:t>
            </a:r>
            <a:endParaRPr lang="en-US" sz="1300" dirty="0"/>
          </a:p>
        </p:txBody>
      </p:sp>
      <p:sp>
        <p:nvSpPr>
          <p:cNvPr id="9" name="R1 opt1"/>
          <p:cNvSpPr/>
          <p:nvPr/>
        </p:nvSpPr>
        <p:spPr>
          <a:xfrm>
            <a:off x="5166360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later hours</a:t>
            </a:r>
            <a:endParaRPr lang="en-US" sz="1200" dirty="0" b="1"/>
          </a:p>
        </p:txBody>
      </p:sp>
      <p:sp>
        <p:nvSpPr>
          <p:cNvPr id="10" name="R1 opt2"/>
          <p:cNvSpPr/>
          <p:nvPr/>
        </p:nvSpPr>
        <p:spPr>
          <a:xfrm>
            <a:off x="7452360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current hours</a:t>
            </a:r>
            <a:endParaRPr lang="en-US" sz="1200" dirty="0" b="1"/>
          </a:p>
        </p:txBody>
      </p:sp>
      <p:sp>
        <p:nvSpPr>
          <p:cNvPr id="11" name="R1 opt3"/>
          <p:cNvSpPr/>
          <p:nvPr/>
        </p:nvSpPr>
        <p:spPr>
          <a:xfrm>
            <a:off x="9738360" y="31089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new bus</a:t>
            </a:r>
            <a:endParaRPr lang="en-US" sz="1200" dirty="0" b="1"/>
          </a:p>
        </p:txBody>
      </p:sp>
      <p:sp>
        <p:nvSpPr>
          <p:cNvPr id="12" name="R1 circle"/>
          <p:cNvSpPr/>
          <p:nvPr/>
        </p:nvSpPr>
        <p:spPr>
          <a:xfrm>
            <a:off x="5038344" y="305409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3" name="R2 stmt"/>
          <p:cNvSpPr/>
          <p:nvPr/>
        </p:nvSpPr>
        <p:spPr>
          <a:xfrm>
            <a:off x="502920" y="365760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2. Grace wants</a:t>
            </a:r>
            <a:endParaRPr lang="en-US" sz="1300" dirty="0"/>
          </a:p>
        </p:txBody>
      </p:sp>
      <p:sp>
        <p:nvSpPr>
          <p:cNvPr id="14" name="R2 opt1"/>
          <p:cNvSpPr/>
          <p:nvPr/>
        </p:nvSpPr>
        <p:spPr>
          <a:xfrm>
            <a:off x="5166360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later hours</a:t>
            </a:r>
            <a:endParaRPr lang="en-US" sz="1200" dirty="0" b="1"/>
          </a:p>
        </p:txBody>
      </p:sp>
      <p:sp>
        <p:nvSpPr>
          <p:cNvPr id="15" name="R2 opt2"/>
          <p:cNvSpPr/>
          <p:nvPr/>
        </p:nvSpPr>
        <p:spPr>
          <a:xfrm>
            <a:off x="7452360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current hours</a:t>
            </a:r>
            <a:endParaRPr lang="en-US" sz="1200" dirty="0" b="1"/>
          </a:p>
        </p:txBody>
      </p:sp>
      <p:sp>
        <p:nvSpPr>
          <p:cNvPr id="16" name="R2 opt3"/>
          <p:cNvSpPr/>
          <p:nvPr/>
        </p:nvSpPr>
        <p:spPr>
          <a:xfrm>
            <a:off x="9738360" y="365760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meeting</a:t>
            </a:r>
            <a:endParaRPr lang="en-US" sz="1200" dirty="0" b="1"/>
          </a:p>
        </p:txBody>
      </p:sp>
      <p:sp>
        <p:nvSpPr>
          <p:cNvPr id="17" name="R2 circle"/>
          <p:cNvSpPr/>
          <p:nvPr/>
        </p:nvSpPr>
        <p:spPr>
          <a:xfrm>
            <a:off x="7324344" y="360273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8" name="R3 stmt"/>
          <p:cNvSpPr/>
          <p:nvPr/>
        </p:nvSpPr>
        <p:spPr>
          <a:xfrm>
            <a:off x="502920" y="420624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3. Grace's reason</a:t>
            </a:r>
            <a:endParaRPr lang="en-US" sz="1300" dirty="0"/>
          </a:p>
        </p:txBody>
      </p:sp>
      <p:sp>
        <p:nvSpPr>
          <p:cNvPr id="19" name="R3 opt1"/>
          <p:cNvSpPr/>
          <p:nvPr/>
        </p:nvSpPr>
        <p:spPr>
          <a:xfrm>
            <a:off x="5166360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bus stops early</a:t>
            </a:r>
            <a:endParaRPr lang="en-US" sz="1200" dirty="0" b="1"/>
          </a:p>
        </p:txBody>
      </p:sp>
      <p:sp>
        <p:nvSpPr>
          <p:cNvPr id="20" name="R3 opt2"/>
          <p:cNvSpPr/>
          <p:nvPr/>
        </p:nvSpPr>
        <p:spPr>
          <a:xfrm>
            <a:off x="7452360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room is cold</a:t>
            </a:r>
            <a:endParaRPr lang="en-US" sz="1200" dirty="0" b="1"/>
          </a:p>
        </p:txBody>
      </p:sp>
      <p:sp>
        <p:nvSpPr>
          <p:cNvPr id="21" name="R3 opt3"/>
          <p:cNvSpPr/>
          <p:nvPr/>
        </p:nvSpPr>
        <p:spPr>
          <a:xfrm>
            <a:off x="9738360" y="420624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wants a microphone</a:t>
            </a:r>
            <a:endParaRPr lang="en-US" sz="1200" dirty="0" b="1"/>
          </a:p>
        </p:txBody>
      </p:sp>
      <p:sp>
        <p:nvSpPr>
          <p:cNvPr id="22" name="R3 circle"/>
          <p:cNvSpPr/>
          <p:nvPr/>
        </p:nvSpPr>
        <p:spPr>
          <a:xfrm>
            <a:off x="5038344" y="415137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R4 stmt"/>
          <p:cNvSpPr/>
          <p:nvPr/>
        </p:nvSpPr>
        <p:spPr>
          <a:xfrm>
            <a:off x="502920" y="475488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4. The decision</a:t>
            </a:r>
            <a:endParaRPr lang="en-US" sz="1300" dirty="0"/>
          </a:p>
        </p:txBody>
      </p:sp>
      <p:sp>
        <p:nvSpPr>
          <p:cNvPr id="24" name="R4 opt1"/>
          <p:cNvSpPr/>
          <p:nvPr/>
        </p:nvSpPr>
        <p:spPr>
          <a:xfrm>
            <a:off x="5166360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close the library</a:t>
            </a:r>
            <a:endParaRPr lang="en-US" sz="1200" dirty="0" b="1"/>
          </a:p>
        </p:txBody>
      </p:sp>
      <p:sp>
        <p:nvSpPr>
          <p:cNvPr id="25" name="R4 opt2"/>
          <p:cNvSpPr/>
          <p:nvPr/>
        </p:nvSpPr>
        <p:spPr>
          <a:xfrm>
            <a:off x="7452360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one-month try</a:t>
            </a:r>
            <a:endParaRPr lang="en-US" sz="1200" dirty="0" b="1"/>
          </a:p>
        </p:txBody>
      </p:sp>
      <p:sp>
        <p:nvSpPr>
          <p:cNvPr id="26" name="R4 opt3"/>
          <p:cNvSpPr/>
          <p:nvPr/>
        </p:nvSpPr>
        <p:spPr>
          <a:xfrm>
            <a:off x="9738360" y="475488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move to the auditorium</a:t>
            </a:r>
            <a:endParaRPr lang="en-US" sz="1200" dirty="0" b="1"/>
          </a:p>
        </p:txBody>
      </p:sp>
      <p:sp>
        <p:nvSpPr>
          <p:cNvPr id="27" name="R4 circle"/>
          <p:cNvSpPr/>
          <p:nvPr/>
        </p:nvSpPr>
        <p:spPr>
          <a:xfrm>
            <a:off x="7324344" y="470001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5 stmt"/>
          <p:cNvSpPr/>
          <p:nvPr/>
        </p:nvSpPr>
        <p:spPr>
          <a:xfrm>
            <a:off x="502920" y="530352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5. The try is on</a:t>
            </a:r>
            <a:endParaRPr lang="en-US" sz="1300" dirty="0"/>
          </a:p>
        </p:txBody>
      </p:sp>
      <p:sp>
        <p:nvSpPr>
          <p:cNvPr id="29" name="R5 opt1"/>
          <p:cNvSpPr/>
          <p:nvPr/>
        </p:nvSpPr>
        <p:spPr>
          <a:xfrm>
            <a:off x="5166360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Monday</a:t>
            </a:r>
            <a:endParaRPr lang="en-US" sz="1200" dirty="0" b="1"/>
          </a:p>
        </p:txBody>
      </p:sp>
      <p:sp>
        <p:nvSpPr>
          <p:cNvPr id="30" name="R5 opt2"/>
          <p:cNvSpPr/>
          <p:nvPr/>
        </p:nvSpPr>
        <p:spPr>
          <a:xfrm>
            <a:off x="7452360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Thursday</a:t>
            </a:r>
            <a:endParaRPr lang="en-US" sz="1200" dirty="0" b="1"/>
          </a:p>
        </p:txBody>
      </p:sp>
      <p:sp>
        <p:nvSpPr>
          <p:cNvPr id="31" name="R5 opt3"/>
          <p:cNvSpPr/>
          <p:nvPr/>
        </p:nvSpPr>
        <p:spPr>
          <a:xfrm>
            <a:off x="9738360" y="530352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Sunday</a:t>
            </a:r>
            <a:endParaRPr lang="en-US" sz="1200" dirty="0" b="1"/>
          </a:p>
        </p:txBody>
      </p:sp>
      <p:sp>
        <p:nvSpPr>
          <p:cNvPr id="32" name="R5 circle"/>
          <p:cNvSpPr/>
          <p:nvPr/>
        </p:nvSpPr>
        <p:spPr>
          <a:xfrm>
            <a:off x="7324344" y="524865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3" name="R6 stmt"/>
          <p:cNvSpPr/>
          <p:nvPr/>
        </p:nvSpPr>
        <p:spPr>
          <a:xfrm>
            <a:off x="502920" y="5852160"/>
            <a:ext cx="44805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300" dirty="0"/>
              <a:t>6. Open until</a:t>
            </a:r>
            <a:endParaRPr lang="en-US" sz="1300" dirty="0"/>
          </a:p>
        </p:txBody>
      </p:sp>
      <p:sp>
        <p:nvSpPr>
          <p:cNvPr id="34" name="R6 opt1"/>
          <p:cNvSpPr/>
          <p:nvPr/>
        </p:nvSpPr>
        <p:spPr>
          <a:xfrm>
            <a:off x="5166360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six</a:t>
            </a:r>
            <a:endParaRPr lang="en-US" sz="1200" dirty="0" b="1"/>
          </a:p>
        </p:txBody>
      </p:sp>
      <p:sp>
        <p:nvSpPr>
          <p:cNvPr id="35" name="R6 opt2"/>
          <p:cNvSpPr/>
          <p:nvPr/>
        </p:nvSpPr>
        <p:spPr>
          <a:xfrm>
            <a:off x="7452360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seven</a:t>
            </a:r>
            <a:endParaRPr lang="en-US" sz="1200" dirty="0" b="1"/>
          </a:p>
        </p:txBody>
      </p:sp>
      <p:sp>
        <p:nvSpPr>
          <p:cNvPr id="36" name="R6 opt3"/>
          <p:cNvSpPr/>
          <p:nvPr/>
        </p:nvSpPr>
        <p:spPr>
          <a:xfrm>
            <a:off x="9738360" y="5852160"/>
            <a:ext cx="22402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eight</a:t>
            </a:r>
            <a:endParaRPr lang="en-US" sz="1200" dirty="0" b="1"/>
          </a:p>
        </p:txBody>
      </p:sp>
      <p:sp>
        <p:nvSpPr>
          <p:cNvPr id="37" name="R6 circle"/>
          <p:cNvSpPr/>
          <p:nvPr/>
        </p:nvSpPr>
        <p:spPr>
          <a:xfrm>
            <a:off x="9610344" y="5797296"/>
            <a:ext cx="24963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Write which or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is the room ______ we meet.</a:t>
            </a:r>
            <a:endParaRPr lang="en-US" sz="1400" dirty="0"/>
          </a:p>
        </p:txBody>
      </p:sp>
      <p:sp>
        <p:nvSpPr>
          <p:cNvPr id="35" name="R1 ans"/>
          <p:cNvSpPr/>
          <p:nvPr/>
        </p:nvSpPr>
        <p:spPr>
          <a:xfrm>
            <a:off x="6016752" y="2222144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agenda, ______ is on your handout, lists the hours.</a:t>
            </a:r>
            <a:endParaRPr lang="en-US" sz="1400" dirty="0"/>
          </a:p>
        </p:txBody>
      </p:sp>
      <p:sp>
        <p:nvSpPr>
          <p:cNvPr id="40" name="R2 ans"/>
          <p:cNvSpPr/>
          <p:nvPr/>
        </p:nvSpPr>
        <p:spPr>
          <a:xfrm>
            <a:off x="6016752" y="2950312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proposal ______ I read is on page 2.</a:t>
            </a:r>
            <a:endParaRPr lang="en-US" sz="1400" dirty="0"/>
          </a:p>
        </p:txBody>
      </p:sp>
      <p:sp>
        <p:nvSpPr>
          <p:cNvPr id="45" name="R3 ans"/>
          <p:cNvSpPr/>
          <p:nvPr/>
        </p:nvSpPr>
        <p:spPr>
          <a:xfrm>
            <a:off x="6016752" y="3678479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library ______ we use closes at six.</a:t>
            </a:r>
            <a:endParaRPr lang="en-US" sz="1400" dirty="0"/>
          </a:p>
        </p:txBody>
      </p:sp>
      <p:sp>
        <p:nvSpPr>
          <p:cNvPr id="50" name="R4 ans"/>
          <p:cNvSpPr/>
          <p:nvPr/>
        </p:nvSpPr>
        <p:spPr>
          <a:xfrm>
            <a:off x="6016752" y="4406646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stop ______ I catch the bus is dark after seven.</a:t>
            </a:r>
            <a:endParaRPr lang="en-US" sz="1400" dirty="0"/>
          </a:p>
        </p:txBody>
      </p:sp>
      <p:sp>
        <p:nvSpPr>
          <p:cNvPr id="55" name="R5 ans"/>
          <p:cNvSpPr/>
          <p:nvPr/>
        </p:nvSpPr>
        <p:spPr>
          <a:xfrm>
            <a:off x="6016752" y="513481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is the place ______ we should meet.</a:t>
            </a:r>
            <a:endParaRPr lang="en-US" sz="1400" dirty="0"/>
          </a:p>
        </p:txBody>
      </p:sp>
      <p:sp>
        <p:nvSpPr>
          <p:cNvPr id="60" name="R6 ans"/>
          <p:cNvSpPr/>
          <p:nvPr/>
        </p:nvSpPr>
        <p:spPr>
          <a:xfrm>
            <a:off x="6016752" y="5862980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and wanna are short forms</a:t>
            </a:r>
            <a:endParaRPr lang="en-US" sz="16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use the full forms</a:t>
            </a:r>
            <a:endParaRPr lang="en-US" sz="16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short forms. This listening uses the full forms.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say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is the room where we meet.</a:t>
            </a:r>
            <a:endParaRPr lang="en-US" sz="18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proposal which I read is on page 2.</a:t>
            </a:r>
            <a:endParaRPr lang="en-US" sz="18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come after work on Thursday.</a:t>
            </a:r>
            <a:endParaRPr lang="en-US" sz="1800" dirty="0" b="1"/>
          </a:p>
        </p:txBody>
      </p:sp>
      <p:sp>
        <p:nvSpPr>
          <p:cNvPr id="37" name="S4 card"/>
          <p:cNvSpPr/>
          <p:nvPr/>
        </p:nvSpPr>
        <p:spPr>
          <a:xfrm>
            <a:off x="548640" y="484997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S4 text"/>
          <p:cNvSpPr/>
          <p:nvPr/>
        </p:nvSpPr>
        <p:spPr>
          <a:xfrm>
            <a:off x="777240" y="484997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want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keep the current hours.</a:t>
            </a:r>
            <a:endParaRPr lang="en-US" sz="18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Microphone: a microphone [sign: MIC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for a thing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+ THING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EXTRA IT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proposal which the chair read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on page 2.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library which we use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closes at six.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agenda which is on the handout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lists the hours.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Handout: a page [sign: HANDOU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for a place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REPLACES THE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is the room where we meet.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Not: the room which we meet.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stop where I catch the bus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dark after seven.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place where we should meet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this library room.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Proposal: a document and a light bulb [sign: PROPOSAL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for a person</a:t>
            </a:r>
            <a:endParaRPr lang="en-US" sz="22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WHO, NOT WHICH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person who takes notes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the secretary.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chairperson who keeps the order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Ms. Adeyemi.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person who rides the bus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Grace.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Sign-in sheet: a memo and a pencil [sign: SIGN IN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 opinion and a reason</a:t>
            </a:r>
            <a:endParaRPr lang="en-US" sz="20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SAY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9052560" y="1828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EXAMPLE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think…</a:t>
            </a:r>
            <a:endParaRPr lang="en-US" sz="1500" dirty="0" b="1"/>
          </a:p>
        </p:txBody>
      </p:sp>
      <p:sp>
        <p:nvSpPr>
          <p:cNvPr id="19" name="Answer bg 1"/>
          <p:cNvSpPr/>
          <p:nvPr/>
        </p:nvSpPr>
        <p:spPr>
          <a:xfrm>
            <a:off x="9052560" y="228600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9052560" y="228600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think a one-month try is fair.</a:t>
            </a:r>
            <a:endParaRPr lang="en-US" sz="16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24612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see your point, but…</a:t>
            </a:r>
            <a:endParaRPr lang="en-US" sz="1500" dirty="0" b="1"/>
          </a:p>
        </p:txBody>
      </p:sp>
      <p:sp>
        <p:nvSpPr>
          <p:cNvPr id="22" name="Answer bg 2"/>
          <p:cNvSpPr/>
          <p:nvPr/>
        </p:nvSpPr>
        <p:spPr>
          <a:xfrm>
            <a:off x="9052560" y="324612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9052560" y="324612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see your point, but I need a safe ride.</a:t>
            </a:r>
            <a:endParaRPr lang="en-US" sz="16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206240"/>
            <a:ext cx="384048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or where</a:t>
            </a:r>
            <a:endParaRPr lang="en-US" sz="1500" dirty="0" b="1"/>
          </a:p>
        </p:txBody>
      </p:sp>
      <p:sp>
        <p:nvSpPr>
          <p:cNvPr id="25" name="Answer bg 3"/>
          <p:cNvSpPr/>
          <p:nvPr/>
        </p:nvSpPr>
        <p:spPr>
          <a:xfrm>
            <a:off x="9052560" y="4206240"/>
            <a:ext cx="2880360" cy="8869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9052560" y="4206240"/>
            <a:ext cx="2880360" cy="8869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idea? Where would you say it?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is the room ______ we meet.</a:t>
            </a:r>
            <a:endParaRPr lang="en-US" sz="1400" dirty="0"/>
          </a:p>
        </p:txBody>
      </p:sp>
      <p:sp>
        <p:nvSpPr>
          <p:cNvPr id="35" name="R1 ans"/>
          <p:cNvSpPr/>
          <p:nvPr/>
        </p:nvSpPr>
        <p:spPr>
          <a:xfrm>
            <a:off x="6016752" y="2222144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proposal ______ the chair read is on page 2.</a:t>
            </a:r>
            <a:endParaRPr lang="en-US" sz="1400" dirty="0"/>
          </a:p>
        </p:txBody>
      </p:sp>
      <p:sp>
        <p:nvSpPr>
          <p:cNvPr id="40" name="R2 ans"/>
          <p:cNvSpPr/>
          <p:nvPr/>
        </p:nvSpPr>
        <p:spPr>
          <a:xfrm>
            <a:off x="6016752" y="2950312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person ______ takes notes is the secretary.</a:t>
            </a:r>
            <a:endParaRPr lang="en-US" sz="1400" dirty="0"/>
          </a:p>
        </p:txBody>
      </p:sp>
      <p:sp>
        <p:nvSpPr>
          <p:cNvPr id="45" name="R3 ans"/>
          <p:cNvSpPr/>
          <p:nvPr/>
        </p:nvSpPr>
        <p:spPr>
          <a:xfrm>
            <a:off x="6016752" y="3678479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stop ______ I catch the bus is dark after seven.</a:t>
            </a:r>
            <a:endParaRPr lang="en-US" sz="1400" dirty="0"/>
          </a:p>
        </p:txBody>
      </p:sp>
      <p:sp>
        <p:nvSpPr>
          <p:cNvPr id="50" name="R4 ans"/>
          <p:cNvSpPr/>
          <p:nvPr/>
        </p:nvSpPr>
        <p:spPr>
          <a:xfrm>
            <a:off x="6016752" y="4406646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library ______ we use closes at six.</a:t>
            </a:r>
            <a:endParaRPr lang="en-US" sz="1400" dirty="0"/>
          </a:p>
        </p:txBody>
      </p:sp>
      <p:sp>
        <p:nvSpPr>
          <p:cNvPr id="55" name="R5 ans"/>
          <p:cNvSpPr/>
          <p:nvPr/>
        </p:nvSpPr>
        <p:spPr>
          <a:xfrm>
            <a:off x="6016752" y="5134813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13308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chairperson ______ keeps the order is Ms. Adeyemi.</a:t>
            </a:r>
            <a:endParaRPr lang="en-US" sz="1400" dirty="0"/>
          </a:p>
        </p:txBody>
      </p:sp>
      <p:sp>
        <p:nvSpPr>
          <p:cNvPr id="60" name="R6 ans"/>
          <p:cNvSpPr/>
          <p:nvPr/>
        </p:nvSpPr>
        <p:spPr>
          <a:xfrm>
            <a:off x="6016752" y="5862980"/>
            <a:ext cx="15544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1. This is the room ______ we meet.</a:t>
            </a:r>
            <a:endParaRPr lang="en-US" sz="1500" dirty="0"/>
          </a:p>
        </p:txBody>
      </p:sp>
      <p:sp>
        <p:nvSpPr>
          <p:cNvPr id="9" name="R1 opt1"/>
          <p:cNvSpPr/>
          <p:nvPr/>
        </p:nvSpPr>
        <p:spPr>
          <a:xfrm>
            <a:off x="8211312" y="310896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</a:t>
            </a:r>
            <a:endParaRPr lang="en-US" sz="1600" dirty="0" b="1"/>
          </a:p>
        </p:txBody>
      </p:sp>
      <p:sp>
        <p:nvSpPr>
          <p:cNvPr id="10" name="R1 opt2"/>
          <p:cNvSpPr/>
          <p:nvPr/>
        </p:nvSpPr>
        <p:spPr>
          <a:xfrm>
            <a:off x="9966960" y="310896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endParaRPr lang="en-US" sz="1600" dirty="0" b="1"/>
          </a:p>
        </p:txBody>
      </p:sp>
      <p:sp>
        <p:nvSpPr>
          <p:cNvPr id="11" name="R1 circle"/>
          <p:cNvSpPr/>
          <p:nvPr/>
        </p:nvSpPr>
        <p:spPr>
          <a:xfrm>
            <a:off x="9838944" y="305409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2. The proposal ______ the chair read is on page 2.</a:t>
            </a:r>
            <a:endParaRPr lang="en-US" sz="1500" dirty="0"/>
          </a:p>
        </p:txBody>
      </p:sp>
      <p:sp>
        <p:nvSpPr>
          <p:cNvPr id="13" name="R2 opt1"/>
          <p:cNvSpPr/>
          <p:nvPr/>
        </p:nvSpPr>
        <p:spPr>
          <a:xfrm>
            <a:off x="8211312" y="365760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</a:t>
            </a:r>
            <a:endParaRPr lang="en-US" sz="1600" dirty="0" b="1"/>
          </a:p>
        </p:txBody>
      </p:sp>
      <p:sp>
        <p:nvSpPr>
          <p:cNvPr id="14" name="R2 opt2"/>
          <p:cNvSpPr/>
          <p:nvPr/>
        </p:nvSpPr>
        <p:spPr>
          <a:xfrm>
            <a:off x="9966960" y="365760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endParaRPr lang="en-US" sz="1600" dirty="0" b="1"/>
          </a:p>
        </p:txBody>
      </p:sp>
      <p:sp>
        <p:nvSpPr>
          <p:cNvPr id="15" name="R2 circle"/>
          <p:cNvSpPr/>
          <p:nvPr/>
        </p:nvSpPr>
        <p:spPr>
          <a:xfrm>
            <a:off x="8083296" y="360273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3. The person ______ takes notes is the secretary.</a:t>
            </a:r>
            <a:endParaRPr lang="en-US" sz="1500" dirty="0"/>
          </a:p>
        </p:txBody>
      </p:sp>
      <p:sp>
        <p:nvSpPr>
          <p:cNvPr id="17" name="R3 opt1"/>
          <p:cNvSpPr/>
          <p:nvPr/>
        </p:nvSpPr>
        <p:spPr>
          <a:xfrm>
            <a:off x="8211312" y="420624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</a:t>
            </a:r>
            <a:endParaRPr lang="en-US" sz="1600" dirty="0" b="1"/>
          </a:p>
        </p:txBody>
      </p:sp>
      <p:sp>
        <p:nvSpPr>
          <p:cNvPr id="18" name="R3 opt2"/>
          <p:cNvSpPr/>
          <p:nvPr/>
        </p:nvSpPr>
        <p:spPr>
          <a:xfrm>
            <a:off x="9966960" y="420624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endParaRPr lang="en-US" sz="1600" dirty="0" b="1"/>
          </a:p>
        </p:txBody>
      </p:sp>
      <p:sp>
        <p:nvSpPr>
          <p:cNvPr id="19" name="R3 circle"/>
          <p:cNvSpPr/>
          <p:nvPr/>
        </p:nvSpPr>
        <p:spPr>
          <a:xfrm>
            <a:off x="9838944" y="415137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4. Don't add ______ after </a:t>
            </a:r>
            <a:r>
              <a:rPr lang="en-US" sz="1500" dirty="0" b="1">
                <a:solidFill>
                  <a:srgbClr val="5B3FC4"/>
                </a:solidFill>
              </a:rPr>
              <a:t>which the chair read</a:t>
            </a:r>
            <a:r>
              <a:rPr lang="en-US" sz="1500" dirty="0"/>
              <a:t>.</a:t>
            </a:r>
            <a:endParaRPr lang="en-US" sz="1500" dirty="0"/>
          </a:p>
        </p:txBody>
      </p:sp>
      <p:sp>
        <p:nvSpPr>
          <p:cNvPr id="21" name="R4 opt1"/>
          <p:cNvSpPr/>
          <p:nvPr/>
        </p:nvSpPr>
        <p:spPr>
          <a:xfrm>
            <a:off x="8211312" y="475488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</a:t>
            </a:r>
            <a:endParaRPr lang="en-US" sz="1600" dirty="0" b="1"/>
          </a:p>
        </p:txBody>
      </p:sp>
      <p:sp>
        <p:nvSpPr>
          <p:cNvPr id="22" name="R4 opt2"/>
          <p:cNvSpPr/>
          <p:nvPr/>
        </p:nvSpPr>
        <p:spPr>
          <a:xfrm>
            <a:off x="9966960" y="475488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</a:t>
            </a:r>
            <a:endParaRPr lang="en-US" sz="1600" dirty="0" b="1"/>
          </a:p>
        </p:txBody>
      </p:sp>
      <p:sp>
        <p:nvSpPr>
          <p:cNvPr id="23" name="R4 circle"/>
          <p:cNvSpPr/>
          <p:nvPr/>
        </p:nvSpPr>
        <p:spPr>
          <a:xfrm>
            <a:off x="8083296" y="470001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5. </a:t>
            </a:r>
            <a:r>
              <a:rPr lang="en-US" sz="1500" dirty="0" b="1">
                <a:solidFill>
                  <a:srgbClr val="5B3FC4"/>
                </a:solidFill>
              </a:rPr>
              <a:t>Where</a:t>
            </a:r>
            <a:r>
              <a:rPr lang="en-US" sz="1500" dirty="0"/>
              <a:t> replaces ______ .</a:t>
            </a:r>
            <a:endParaRPr lang="en-US" sz="1500" dirty="0"/>
          </a:p>
        </p:txBody>
      </p:sp>
      <p:sp>
        <p:nvSpPr>
          <p:cNvPr id="25" name="R5 opt1"/>
          <p:cNvSpPr/>
          <p:nvPr/>
        </p:nvSpPr>
        <p:spPr>
          <a:xfrm>
            <a:off x="8211312" y="530352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there</a:t>
            </a:r>
            <a:endParaRPr lang="en-US" sz="1600" dirty="0" b="1"/>
          </a:p>
        </p:txBody>
      </p:sp>
      <p:sp>
        <p:nvSpPr>
          <p:cNvPr id="26" name="R5 opt2"/>
          <p:cNvSpPr/>
          <p:nvPr/>
        </p:nvSpPr>
        <p:spPr>
          <a:xfrm>
            <a:off x="9966960" y="530352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</a:t>
            </a:r>
            <a:endParaRPr lang="en-US" sz="1600" dirty="0" b="1"/>
          </a:p>
        </p:txBody>
      </p:sp>
      <p:sp>
        <p:nvSpPr>
          <p:cNvPr id="27" name="R5 circle"/>
          <p:cNvSpPr/>
          <p:nvPr/>
        </p:nvSpPr>
        <p:spPr>
          <a:xfrm>
            <a:off x="8083296" y="524865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7525512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/>
              <a:t>6. I see your point, ______ I need a safe ride.</a:t>
            </a:r>
            <a:endParaRPr lang="en-US" sz="1500" dirty="0"/>
          </a:p>
        </p:txBody>
      </p:sp>
      <p:sp>
        <p:nvSpPr>
          <p:cNvPr id="29" name="R6 opt1"/>
          <p:cNvSpPr/>
          <p:nvPr/>
        </p:nvSpPr>
        <p:spPr>
          <a:xfrm>
            <a:off x="8211312" y="585216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but</a:t>
            </a:r>
            <a:endParaRPr lang="en-US" sz="1600" dirty="0" b="1"/>
          </a:p>
        </p:txBody>
      </p:sp>
      <p:sp>
        <p:nvSpPr>
          <p:cNvPr id="30" name="R6 opt2"/>
          <p:cNvSpPr/>
          <p:nvPr/>
        </p:nvSpPr>
        <p:spPr>
          <a:xfrm>
            <a:off x="9966960" y="5852160"/>
            <a:ext cx="16459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because</a:t>
            </a:r>
            <a:endParaRPr lang="en-US" sz="1600" dirty="0" b="1"/>
          </a:p>
        </p:txBody>
      </p:sp>
      <p:sp>
        <p:nvSpPr>
          <p:cNvPr id="31" name="R6 circle"/>
          <p:cNvSpPr/>
          <p:nvPr/>
        </p:nvSpPr>
        <p:spPr>
          <a:xfrm>
            <a:off x="8083296" y="5797296"/>
            <a:ext cx="19019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Name tent: a label [sign: NAM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room which we meet.</a:t>
            </a:r>
            <a:endParaRPr lang="en-US" sz="14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room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we meet.</a:t>
            </a:r>
            <a:endParaRPr lang="en-US" sz="1400" dirty="0" b="1"/>
          </a:p>
        </p:txBody>
      </p:sp>
      <p:sp>
        <p:nvSpPr>
          <p:cNvPr id="26" name="Bad 2"/>
          <p:cNvSpPr/>
          <p:nvPr/>
        </p:nvSpPr>
        <p:spPr>
          <a:xfrm>
            <a:off x="914400" y="2987399"/>
            <a:ext cx="324612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proposal which the chair read it.</a:t>
            </a:r>
            <a:endParaRPr lang="en-US" sz="1400" dirty="0"/>
          </a:p>
        </p:txBody>
      </p:sp>
      <p:sp>
        <p:nvSpPr>
          <p:cNvPr id="27" name="Good 2"/>
          <p:cNvSpPr/>
          <p:nvPr/>
        </p:nvSpPr>
        <p:spPr>
          <a:xfrm>
            <a:off x="4800600" y="2987399"/>
            <a:ext cx="5394960" cy="68042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proposal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the chair read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400" dirty="0" b="1"/>
          </a:p>
        </p:txBody>
      </p:sp>
      <p:sp>
        <p:nvSpPr>
          <p:cNvPr id="28" name="Bad 3"/>
          <p:cNvSpPr/>
          <p:nvPr/>
        </p:nvSpPr>
        <p:spPr>
          <a:xfrm>
            <a:off x="914400" y="3731828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person which takes notes.</a:t>
            </a:r>
            <a:endParaRPr lang="en-US" sz="1400" dirty="0"/>
          </a:p>
        </p:txBody>
      </p:sp>
      <p:sp>
        <p:nvSpPr>
          <p:cNvPr id="29" name="Good 3"/>
          <p:cNvSpPr/>
          <p:nvPr/>
        </p:nvSpPr>
        <p:spPr>
          <a:xfrm>
            <a:off x="4800600" y="3731828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person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takes notes.</a:t>
            </a:r>
            <a:endParaRPr lang="en-US" sz="1400" dirty="0" b="1"/>
          </a:p>
        </p:txBody>
      </p:sp>
      <p:sp>
        <p:nvSpPr>
          <p:cNvPr id="30" name="Bad 4"/>
          <p:cNvSpPr/>
          <p:nvPr/>
        </p:nvSpPr>
        <p:spPr>
          <a:xfrm>
            <a:off x="914400" y="4250346"/>
            <a:ext cx="324612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room where we meet there.</a:t>
            </a:r>
            <a:endParaRPr lang="en-US" sz="1400" dirty="0"/>
          </a:p>
        </p:txBody>
      </p:sp>
      <p:sp>
        <p:nvSpPr>
          <p:cNvPr id="31" name="Good 4"/>
          <p:cNvSpPr/>
          <p:nvPr/>
        </p:nvSpPr>
        <p:spPr>
          <a:xfrm>
            <a:off x="4800600" y="4250346"/>
            <a:ext cx="5394960" cy="454511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room 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we meet</a:t>
            </a: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Timer: a timer clock [sign: 4:00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 "room," "proposal," or "person." B makes one sentence with where, which, or who.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900" dirty="0" b="0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Handout: a page [sign: HANDOUT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 of 4.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 of 4.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 of 4.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 of 4.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Sign-in sheet: a memo and a pencil [sign: SIGN IN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chair keeps the order.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7:00–7:18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chair keeps the order.</a:t>
            </a:r>
            <a:endParaRPr lang="en-US" sz="1600" dirty="0" b="1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chair keeps the order.</a:t>
            </a:r>
            <a:endParaRPr lang="en-US" sz="1600" dirty="0" b="1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chair keeps the order.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page.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they deciding?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010912" y="2525573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Evening hours</a:t>
            </a:r>
            <a:endParaRPr lang="en-US" sz="13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is the chairperson?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010912" y="3311957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Ms. Adeyemi</a:t>
            </a:r>
            <a:endParaRPr lang="en-US" sz="13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Tom want?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010912" y="4098341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Later hours, until eight on Thursday</a:t>
            </a:r>
            <a:endParaRPr lang="en-US" sz="13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does Grace want the current hours?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010912" y="4884725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bus stops early</a:t>
            </a:r>
            <a:endParaRPr lang="en-US" sz="13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312724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is the meeting?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010912" y="5671109"/>
            <a:ext cx="25603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the room where we meet</a:t>
            </a:r>
            <a:endParaRPr lang="en-US" sz="13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Question card: an index card and a question mark [sign: QUESTION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idea do you support, and where would you say it?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Name: Date: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Four sentences with which or where, a reason, and one polite phrase.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this page to your teacher.</a:t>
            </a:r>
            <a:endParaRPr lang="en-US" sz="15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20–25 minutes.</a:t>
            </a:r>
            <a:endParaRPr lang="en-US" sz="15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where.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your comment for the chair (Read &amp; Write).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Ask one which or where question at home. Write it.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Review: write one sentence with who for a person.</a:t>
            </a:r>
            <a:endParaRPr lang="en-US" sz="15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5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Library: books and a classical build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12  ·  Level 5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36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point to a thing with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a place with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still use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 a person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 can ask a question from the agenda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5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Ms. Adeyemi, Tom, and Grace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(coming soon): synthetic voices made with Chatterbox TTS (MIT License), cloned from short synthetic reference clips made with Kokoro-82M (Apache License 2.0). No recordings of real people. Each file will carry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5 Lesson 12: The Room Where We Meet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