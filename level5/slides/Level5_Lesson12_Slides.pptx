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1095" r:id="rId33"/>
    <p:sldId id="1096" r:id="rId34"/>
    <p:sldId id="1097" r:id="rId35"/>
    <p:sldId id="1098" r:id="rId36"/>
    <p:sldId id="1099" r:id="rId31"/>
    <p:sldId id="1100" r:id="rId30"/>
    <p:sldId id="1101" r:id="rId29"/>
    <p:sldId id="1102" r:id="rId28"/>
    <p:sldId id="1103" r:id="rId27"/>
    <p:sldId id="1104" r:id="rId20"/>
    <p:sldId id="1105" r:id="rId18"/>
    <p:sldId id="1106" r:id="rId17"/>
    <p:sldId id="1107" r:id="rId16"/>
    <p:sldId id="1108" r:id="rId14"/>
    <p:sldId id="1109" r:id="rId13"/>
    <p:sldId id="1110" r:id="rId12"/>
    <p:sldId id="1111" r:id="rId11"/>
    <p:sldId id="1112" r:id="rId10"/>
    <p:sldId id="1113" r:id="rId8"/>
    <p:sldId id="1114" r:id="rId7"/>
    <p:sldId id="1115" r:id="rId6"/>
    <p:sldId id="1116" r:id="rId5"/>
    <p:sldId id="1117" r:id="rId4"/>
    <p:sldId id="1118" r:id="rId3"/>
    <p:sldId id="1119" r:id="rId57"/>
    <p:sldId id="1120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2.xml"/><Relationship Id="rId3" Type="http://schemas.openxmlformats.org/officeDocument/2006/relationships/slide" Target="slides/slide50.xml"/><Relationship Id="rId4" Type="http://schemas.openxmlformats.org/officeDocument/2006/relationships/slide" Target="slides/slide49.xml"/><Relationship Id="rId5" Type="http://schemas.openxmlformats.org/officeDocument/2006/relationships/slide" Target="slides/slide48.xml"/><Relationship Id="rId6" Type="http://schemas.openxmlformats.org/officeDocument/2006/relationships/slide" Target="slides/slide47.xml"/><Relationship Id="rId7" Type="http://schemas.openxmlformats.org/officeDocument/2006/relationships/slide" Target="slides/slide46.xml"/><Relationship Id="rId8" Type="http://schemas.openxmlformats.org/officeDocument/2006/relationships/slide" Target="slides/slide45.xml"/><Relationship Id="rId10" Type="http://schemas.openxmlformats.org/officeDocument/2006/relationships/slide" Target="slides/slide44.xml"/><Relationship Id="rId11" Type="http://schemas.openxmlformats.org/officeDocument/2006/relationships/slide" Target="slides/slide43.xml"/><Relationship Id="rId12" Type="http://schemas.openxmlformats.org/officeDocument/2006/relationships/slide" Target="slides/slide42.xml"/><Relationship Id="rId13" Type="http://schemas.openxmlformats.org/officeDocument/2006/relationships/slide" Target="slides/slide41.xml"/><Relationship Id="rId14" Type="http://schemas.openxmlformats.org/officeDocument/2006/relationships/slide" Target="slides/slide40.xml"/><Relationship Id="rId16" Type="http://schemas.openxmlformats.org/officeDocument/2006/relationships/slide" Target="slides/slide39.xml"/><Relationship Id="rId17" Type="http://schemas.openxmlformats.org/officeDocument/2006/relationships/slide" Target="slides/slide38.xml"/><Relationship Id="rId18" Type="http://schemas.openxmlformats.org/officeDocument/2006/relationships/slide" Target="slides/slide37.xml"/><Relationship Id="rId20" Type="http://schemas.openxmlformats.org/officeDocument/2006/relationships/slide" Target="slides/slide36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35.xml"/><Relationship Id="rId28" Type="http://schemas.openxmlformats.org/officeDocument/2006/relationships/slide" Target="slides/slide34.xml"/><Relationship Id="rId29" Type="http://schemas.openxmlformats.org/officeDocument/2006/relationships/slide" Target="slides/slide33.xml"/><Relationship Id="rId30" Type="http://schemas.openxmlformats.org/officeDocument/2006/relationships/slide" Target="slides/slide32.xml"/><Relationship Id="rId31" Type="http://schemas.openxmlformats.org/officeDocument/2006/relationships/slide" Target="slides/slide31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57" Type="http://schemas.openxmlformats.org/officeDocument/2006/relationships/slide" Target="slides/slide5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Credits. You don't need to read this slide in class.</a:t>
            </a:r>
          </a:p>
          <a:p>
            <a:r>
              <a:t>Pictures: Twemoji graphics by Twitter, Inc. and other contributors, CC BY 4.0; the file-by-file list is in images/CREDITS.md.</a:t>
            </a:r>
          </a:p>
          <a:p>
            <a:r>
              <a:t>Audio: synthetic voices, computer-generated (Chatterbox TTS cloned from Kokoro-82M reference clips). No recordings of real people. The names and the story are invented.</a:t>
            </a:r>
          </a:p>
          <a:p>
            <a:r>
              <a:t>Course materials: © 2026 the authors, licensed under CC BY-NC-SA 4.0 (https://creativecommons.org/licenses/by-nc-sa/4.0/).</a:t>
            </a:r>
          </a:p>
          <a:p>
            <a:r>
              <a:t>Lesson plan: Picture Credits. Picture list: images/CREDITS.md.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7 · 7:25–7:30 · Exit ticket and homework. Never skip the exit ticket.</a:t>
            </a:r>
          </a:p>
          <a:p>
            <a:r>
              <a:t>Which idea do you support, and where would you say it?</a:t>
            </a:r>
          </a:p>
          <a:p>
            <a:r>
              <a:t>Lesson plan: Step 7; Exit Ticket page; Homework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6 · 7:18–7:25 · Read &amp; Write.</a:t>
            </a:r>
          </a:p>
          <a:p>
            <a:r>
              <a:t>Click to show each answer: 1 Evening hours • 2 Ms. Adeyemi • 3 Later hours, until eight on Thursday • 4 The bus stops early • 5 In the room where we meet</a:t>
            </a:r>
          </a:p>
          <a:p>
            <a:r>
              <a:t>Lesson plan: Step 6; Read &amp; Write page;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2.</a:t>
            </a:r>
          </a:p>
          <a:p>
            <a:r>
              <a:t>Lesson plan: Step 5; Talk Time.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1.</a:t>
            </a:r>
          </a:p>
          <a:p>
            <a:r>
              <a:t>Lesson plan: Step 5; Talk Time.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says "room," "proposal," or "person." B makes one sentence with where, which, or who. Then switch. ---</a:t>
            </a:r>
          </a:p>
          <a:p>
            <a:r>
              <a:t>Break · 6:45–7:00.</a:t>
            </a:r>
          </a:p>
          <a:p>
            <a:r>
              <a:t>Lesson plan: Step 4: Pair check.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Don't say, then Say. Learners try first. Then click.</a:t>
            </a:r>
          </a:p>
          <a:p>
            <a:r>
              <a:t>Lesson plan: Grammar: Common mistakes.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circle each answer: 1 where • 2 which • 3 who • 4 it • 5 there • 6 but</a:t>
            </a:r>
          </a:p>
          <a:p>
            <a:r>
              <a:t>Lesson plan: Step 4; Grammar Practice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show each answer: 1 where • 2 which • 3 who • 4 where • 5 which • 6 who</a:t>
            </a:r>
          </a:p>
          <a:p>
            <a:r>
              <a:t>Lesson plan: Step 4; Grammar Practice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4: an opinion and a reason. Each click shows the answer side.</a:t>
            </a:r>
          </a:p>
          <a:p>
            <a:r>
              <a:t>Lesson plan: Step 4; Grammar Box 4.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3: who for a person. Each click shows the answer side.</a:t>
            </a:r>
          </a:p>
          <a:p>
            <a:r>
              <a:t>Lesson plan: Step 4; Grammar Box 3.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2: where for a place. Each click shows the answer side.</a:t>
            </a:r>
          </a:p>
          <a:p>
            <a:r>
              <a:t>Lesson plan: Step 4; Grammar Box 2.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1: which for a thing. Each click shows the answer side.</a:t>
            </a:r>
          </a:p>
          <a:p>
            <a:r>
              <a:t>Lesson plan: Step 4; Grammar Box 1.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gonna and wanna are short forms. This listening uses the full forms. Say each line two times.</a:t>
            </a:r>
          </a:p>
          <a:p>
            <a:r>
              <a:t>Lesson plan: Step 3: Hear it, say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show each answer: 1 where • 2 which • 3 which • 4 which • 5 where • 6 where</a:t>
            </a:r>
          </a:p>
          <a:p>
            <a:r>
              <a:t>Lesson plan: Step 3; Listening Task C;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circle each answer: 1 later hours • 2 the current hours • 3 the bus stops early • 4 a one-month try • 5 Thursday • 6 eight</a:t>
            </a:r>
          </a:p>
          <a:p>
            <a:r>
              <a:t>Lesson plan: Step 3; Listening Task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circle b.</a:t>
            </a:r>
          </a:p>
          <a:p>
            <a:r>
              <a:t>Lesson plan: Step 3; Listening Task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· 6:12–6:32 · Listening. Play 1 is Task A. Play 2 is Tasks B and C. A third play is fine.</a:t>
            </a:r>
          </a:p>
          <a:p>
            <a:r>
              <a:t>A short library meeting.</a:t>
            </a:r>
          </a:p>
          <a:p>
            <a:r>
              <a:t>The script says going to and want to. Learners only need to recognize gonna and wanna.</a:t>
            </a:r>
          </a:p>
          <a:p>
            <a:r>
              <a:t>Lesson plan: Step 3; Listening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answers are hidden. Ask, then click.</a:t>
            </a:r>
          </a:p>
          <a:p>
            <a:r>
              <a:t>1. A thing.</a:t>
            </a:r>
          </a:p>
          <a:p>
            <a:r>
              <a:t>2. A place.</a:t>
            </a:r>
          </a:p>
          <a:p>
            <a:r>
              <a:t>3. Yes.</a:t>
            </a:r>
          </a:p>
          <a:p>
            <a:r>
              <a:t>Lesson plan: Step 2: Check the Meaning.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points to a picture. B names it and uses it in one sentence. Then switch.</a:t>
            </a:r>
          </a:p>
          <a:p>
            <a:r>
              <a:t>Lesson plan: Step 2; New Words page; Partner game.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6:06–6:12 · New Words.</a:t>
            </a:r>
          </a:p>
          <a:p>
            <a:r>
              <a:t>Point to each picture. Learners repeat. ★ = most important.</a:t>
            </a:r>
          </a:p>
          <a:p>
            <a:r>
              <a:t>Lesson plan: Step 2; New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learners as they arrive.</a:t>
            </a:r>
          </a:p>
          <a:p>
            <a:r>
              <a:t>Read the three lines under Today you will.</a:t>
            </a:r>
          </a:p>
          <a:p>
            <a:r>
              <a:t>Lesson plan: Topic; At a glance: Objectives.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goal slowly. Learners repeat.</a:t>
            </a:r>
          </a:p>
          <a:p>
            <a:r>
              <a:t>Lesson plan: At a glance: Objectives.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· 6:00–6:06 · Opening Talk.</a:t>
            </a:r>
          </a:p>
          <a:p>
            <a:r>
              <a:t>Work with a partner.</a:t>
            </a:r>
          </a:p>
          <a:p>
            <a:r>
              <a:t>Lesson plan: Step 1; Opening Talk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click shows the next card.</a:t>
            </a:r>
          </a:p>
          <a:p>
            <a:r>
              <a:t>A asks. B answers. Then switch.</a:t>
            </a:r>
          </a:p>
          <a:p>
            <a:r>
              <a:t>Lesson plan: Step 1; Opening Talk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three Now you can lines.</a:t>
            </a:r>
          </a:p>
          <a:p>
            <a:r>
              <a:t>Homework is about 20–25 minutes. Bring it next week.</a:t>
            </a:r>
          </a:p>
          <a:p>
            <a:r>
              <a:t>Lesson plan: At a glance: Objectives; Step 7.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Relationship Id="rId13" Type="http://schemas.openxmlformats.org/officeDocument/2006/relationships/image" Target="../media/image18.png"/><Relationship Id="rId14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2.png"/><Relationship Id="rId12" Type="http://schemas.openxmlformats.org/officeDocument/2006/relationships/image" Target="../media/image23.png"/><Relationship Id="rId13" Type="http://schemas.openxmlformats.org/officeDocument/2006/relationships/image" Target="../media/image24.png"/><Relationship Id="rId14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it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Agenda: a clipboard [sign: AGENDA]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12  ·  Level 5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Room Where We Meet</a:t>
            </a:r>
            <a:endParaRPr lang="en-US" sz="40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point to a thing with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a place with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</a:t>
            </a:r>
            <a:endParaRPr lang="en-US" sz="1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still use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for a person</a:t>
            </a:r>
            <a:endParaRPr lang="en-US" sz="1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ask a question from the agenda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oal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Today's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Goals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end of class, you can do these things.</a:t>
            </a:r>
            <a:endParaRPr lang="en-US" sz="2000" dirty="0"/>
          </a:p>
        </p:txBody>
      </p:sp>
      <p:sp>
        <p:nvSpPr>
          <p:cNvPr id="31" name="R1 shadow"/>
          <p:cNvSpPr/>
          <p:nvPr/>
        </p:nvSpPr>
        <p:spPr>
          <a:xfrm>
            <a:off x="544982" y="2093062"/>
            <a:ext cx="6227064" cy="71323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035454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035454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068830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035454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point to a thing with </a:t>
            </a: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</a:t>
            </a: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a place with </a:t>
            </a: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</a:t>
            </a:r>
            <a:endParaRPr lang="en-US" sz="16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168957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2857500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2857500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2890876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2857500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still use </a:t>
            </a: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</a:t>
            </a: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for a person</a:t>
            </a:r>
            <a:endParaRPr lang="en-US" sz="16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299100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679546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679546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712921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679546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ask a question from the agenda</a:t>
            </a:r>
            <a:endParaRPr lang="en-US" sz="16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81304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01591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0159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34967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01591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give an opinion with a reason and listen to one other opinion</a:t>
            </a:r>
            <a:endParaRPr lang="en-US" sz="16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35094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warmup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87604" y="1352535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5" name="pic" descr="Chairperson: a person and a clipboard [sign: CHAIR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393" y="2104034"/>
            <a:ext cx="4754880" cy="3328416"/>
          </a:xfrm>
          <a:prstGeom prst="rect">
            <a:avLst/>
          </a:prstGeom>
        </p:spPr>
      </p:pic>
      <p:sp>
        <p:nvSpPr>
          <p:cNvPr id="7" name="title"/>
          <p:cNvSpPr/>
          <p:nvPr/>
        </p:nvSpPr>
        <p:spPr>
          <a:xfrm>
            <a:off x="548640" y="1764792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</p:txBody>
      </p:sp>
      <p:sp>
        <p:nvSpPr>
          <p:cNvPr id="8" name="kicker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 b="1"/>
          </a:p>
        </p:txBody>
      </p:sp>
      <p:sp>
        <p:nvSpPr>
          <p:cNvPr id="9" name="box1"/>
          <p:cNvSpPr/>
          <p:nvPr/>
        </p:nvSpPr>
        <p:spPr>
          <a:xfrm>
            <a:off x="599846" y="3383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 A asks a card</a:t>
            </a:r>
            <a:endParaRPr lang="en-US" sz="1800" dirty="0" b="1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question. B answers in about four sentences. A asks one follow-up. Then switch.</a:t>
            </a:r>
            <a:endParaRPr lang="en-US" sz="1800" dirty="0"/>
          </a:p>
        </p:txBody>
      </p:sp>
      <p:sp>
        <p:nvSpPr>
          <p:cNvPr id="14" name="box2"/>
          <p:cNvSpPr/>
          <p:nvPr/>
        </p:nvSpPr>
        <p:spPr>
          <a:xfrm>
            <a:off x="599846" y="475488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sentences. A asks one follow-up. Then</a:t>
            </a:r>
            <a:endParaRPr lang="en-US" sz="18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switch.</a:t>
            </a:r>
            <a:endParaRPr lang="en-US" sz="18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numlist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Cards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 A asks a card question. B</a:t>
            </a:r>
            <a:endParaRPr lang="en-US" sz="18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answers in about four sentences. A asks one follow-up. Then switch.</a:t>
            </a:r>
            <a:endParaRPr lang="en-US" sz="18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471623"/>
            <a:ext cx="6227064" cy="60259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41401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41401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41401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41401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 A asks a card question. B answers in about four</a:t>
            </a:r>
            <a:endParaRPr lang="en-US" sz="15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54751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312541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312541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312541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312541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sentences. A asks one follow-up. Then switch.</a:t>
            </a:r>
            <a:endParaRPr lang="en-US" sz="15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32589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 b="1"/>
          </a:p>
        </p:txBody>
      </p:sp>
      <p:pic>
        <p:nvPicPr>
          <p:cNvPr id="17" name="Word picture 1" descr="Agenda: a clipboard [sign: AGENDA]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agenda</a:t>
            </a:r>
            <a:endParaRPr lang="en-US" sz="2000" dirty="0" b="1"/>
          </a:p>
        </p:txBody>
      </p:sp>
      <p:pic>
        <p:nvPicPr>
          <p:cNvPr id="19" name="Word picture 2" descr="Chairperson: a person and a clipboard [sign: CHAIR]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chairperson</a:t>
            </a:r>
            <a:endParaRPr lang="en-US" sz="2000" dirty="0" b="1"/>
          </a:p>
        </p:txBody>
      </p:sp>
      <p:pic>
        <p:nvPicPr>
          <p:cNvPr id="21" name="Word picture 3" descr="Minutes: a notebook and a pen [sign: MINUTES]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minutes</a:t>
            </a:r>
            <a:endParaRPr lang="en-US" sz="2000" dirty="0" b="1"/>
          </a:p>
        </p:txBody>
      </p:sp>
      <p:pic>
        <p:nvPicPr>
          <p:cNvPr id="23" name="Word picture 4" descr="Microphone: a microphone [sign: MIC]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microphone</a:t>
            </a:r>
            <a:endParaRPr lang="en-US" sz="2000" dirty="0" b="1"/>
          </a:p>
        </p:txBody>
      </p:sp>
      <p:pic>
        <p:nvPicPr>
          <p:cNvPr id="25" name="Word picture 5" descr="Handout: a page [sign: HANDOUT]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handout</a:t>
            </a:r>
            <a:endParaRPr lang="en-US" sz="2000" dirty="0" b="1"/>
          </a:p>
        </p:txBody>
      </p:sp>
      <p:pic>
        <p:nvPicPr>
          <p:cNvPr id="27" name="Word picture 6" descr="Proposal: a document and a light bulb [sign: PROPOSAL]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proposal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Partner game: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 in a sentence</a:t>
            </a:r>
            <a:endParaRPr lang="en-US" sz="2200" dirty="0" b="1"/>
          </a:p>
        </p:txBody>
      </p:sp>
      <p:pic>
        <p:nvPicPr>
          <p:cNvPr id="17" name="Word picture 1" descr="Sign-in sheet: a memo and a pencil [sign: SIGN IN]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sign-in sheet</a:t>
            </a:r>
            <a:endParaRPr lang="en-US" sz="1500" dirty="0" b="1"/>
          </a:p>
        </p:txBody>
      </p:sp>
      <p:pic>
        <p:nvPicPr>
          <p:cNvPr id="19" name="Word picture 2" descr="Name tent: a label [sign: NAME]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name tent</a:t>
            </a:r>
            <a:endParaRPr lang="en-US" sz="2000" dirty="0" b="1"/>
          </a:p>
        </p:txBody>
      </p:sp>
      <p:pic>
        <p:nvPicPr>
          <p:cNvPr id="21" name="Word picture 3" descr="Timer: a timer clock [sign: 4:00]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timer</a:t>
            </a:r>
            <a:endParaRPr lang="en-US" sz="2000" dirty="0" b="1"/>
          </a:p>
        </p:txBody>
      </p:sp>
      <p:pic>
        <p:nvPicPr>
          <p:cNvPr id="23" name="Word picture 4" descr="Question card: an index card and a question mark [sign: QUESTION]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question card</a:t>
            </a:r>
            <a:endParaRPr lang="en-US" sz="1500" dirty="0" b="1"/>
          </a:p>
        </p:txBody>
      </p:sp>
      <p:pic>
        <p:nvPicPr>
          <p:cNvPr id="25" name="Word picture 5" descr="Library: books and a classical buildi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library</a:t>
            </a:r>
            <a:endParaRPr lang="en-US" sz="2000" dirty="0" b="1"/>
          </a:p>
        </p:txBody>
      </p:sp>
      <p:pic>
        <p:nvPicPr>
          <p:cNvPr id="27" name="Word picture 6" descr="Auditorium: theater masks and a loudspeaker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auditorium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ec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the Meaning</a:t>
            </a:r>
            <a:endParaRPr lang="en-US" sz="4300" dirty="0" b="1"/>
          </a:p>
        </p:txBody>
      </p:sp>
      <p:sp>
        <p:nvSpPr>
          <p:cNvPr id="3" name="sub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picture. Answer the question.</a:t>
            </a:r>
            <a:endParaRPr lang="en-US" sz="2400" dirty="0"/>
          </a:p>
        </p:txBody>
      </p:sp>
      <p:sp>
        <p:nvSpPr>
          <p:cNvPr id="4" name="R1 shadow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R1 card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R1 circle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R1 num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R1 q"/>
          <p:cNvSpPr/>
          <p:nvPr/>
        </p:nvSpPr>
        <p:spPr>
          <a:xfrm>
            <a:off x="9601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</a:t>
            </a: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for a thing or a place?</a:t>
            </a:r>
            <a:endParaRPr lang="en-US" sz="1600" dirty="0" b="1"/>
          </a:p>
        </p:txBody>
      </p:sp>
      <p:pic>
        <p:nvPicPr>
          <p:cNvPr id="101" name="R1 pic" descr="Agenda: a clipboard [sign: AGENDA]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2560320"/>
            <a:ext cx="1920240" cy="1344168"/>
          </a:xfrm>
          <a:prstGeom prst="rect">
            <a:avLst/>
          </a:prstGeom>
        </p:spPr>
      </p:pic>
      <p:sp>
        <p:nvSpPr>
          <p:cNvPr id="10" name="R2 shadow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R2 card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R2 circle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R2 num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R2 q"/>
          <p:cNvSpPr/>
          <p:nvPr/>
        </p:nvSpPr>
        <p:spPr>
          <a:xfrm>
            <a:off x="46177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</a:t>
            </a: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for a thing or a place?</a:t>
            </a:r>
            <a:endParaRPr lang="en-US" sz="1600" dirty="0" b="1"/>
          </a:p>
        </p:txBody>
      </p:sp>
      <p:pic>
        <p:nvPicPr>
          <p:cNvPr id="102" name="R2 pic" descr="Chairperson: a person and a clipboard [sign: CHAIR]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680" y="2560320"/>
            <a:ext cx="1920240" cy="1344168"/>
          </a:xfrm>
          <a:prstGeom prst="rect">
            <a:avLst/>
          </a:prstGeom>
        </p:spPr>
      </p:pic>
      <p:sp>
        <p:nvSpPr>
          <p:cNvPr id="16" name="R3 shadow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R3 card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R3 circle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R3 num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R3 q"/>
          <p:cNvSpPr/>
          <p:nvPr/>
        </p:nvSpPr>
        <p:spPr>
          <a:xfrm>
            <a:off x="82753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</a:t>
            </a: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for a person?</a:t>
            </a:r>
            <a:endParaRPr lang="en-US" sz="1600" dirty="0" b="1"/>
          </a:p>
        </p:txBody>
      </p:sp>
      <p:pic>
        <p:nvPicPr>
          <p:cNvPr id="103" name="R3 pic" descr="Minutes: a notebook and a pen [sign: MINUTES]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8280" y="2560320"/>
            <a:ext cx="1920240" cy="1344168"/>
          </a:xfrm>
          <a:prstGeom prst="rect">
            <a:avLst/>
          </a:prstGeom>
        </p:spPr>
      </p:pic>
      <p:sp>
        <p:nvSpPr>
          <p:cNvPr id="25" name="R1 ans"/>
          <p:cNvSpPr/>
          <p:nvPr/>
        </p:nvSpPr>
        <p:spPr>
          <a:xfrm>
            <a:off x="9601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thing.</a:t>
            </a:r>
            <a:endParaRPr lang="en-US" sz="2800" dirty="0" b="1"/>
          </a:p>
        </p:txBody>
      </p:sp>
      <p:sp>
        <p:nvSpPr>
          <p:cNvPr id="26" name="R2 ans"/>
          <p:cNvSpPr/>
          <p:nvPr/>
        </p:nvSpPr>
        <p:spPr>
          <a:xfrm>
            <a:off x="46177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place.</a:t>
            </a:r>
            <a:endParaRPr lang="en-US" sz="2800" dirty="0" b="1"/>
          </a:p>
        </p:txBody>
      </p:sp>
      <p:sp>
        <p:nvSpPr>
          <p:cNvPr id="27" name="R3 ans"/>
          <p:cNvSpPr/>
          <p:nvPr/>
        </p:nvSpPr>
        <p:spPr>
          <a:xfrm>
            <a:off x="82753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Yes.</a:t>
            </a:r>
            <a:endParaRPr lang="en-US" sz="28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befor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1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</a:t>
            </a:r>
            <a:endParaRPr lang="en-US" sz="4400" dirty="0" b="1"/>
          </a:p>
        </p:txBody>
      </p:sp>
      <p:sp>
        <p:nvSpPr>
          <p:cNvPr id="9" name="title2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</a:t>
            </a:r>
            <a:endParaRPr lang="en-US" sz="4400" dirty="0" b="1"/>
          </a:p>
        </p:txBody>
      </p:sp>
      <p:sp>
        <p:nvSpPr>
          <p:cNvPr id="10" name="context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short library meeting.</a:t>
            </a:r>
            <a:endParaRPr lang="en-US" sz="1800" dirty="0"/>
          </a:p>
        </p:txBody>
      </p:sp>
      <p:sp>
        <p:nvSpPr>
          <p:cNvPr id="11" name="R1 num"/>
          <p:cNvSpPr/>
          <p:nvPr/>
        </p:nvSpPr>
        <p:spPr>
          <a:xfrm>
            <a:off x="3383280" y="4114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R2 num"/>
          <p:cNvSpPr/>
          <p:nvPr/>
        </p:nvSpPr>
        <p:spPr>
          <a:xfrm>
            <a:off x="3383280" y="49194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R3 num"/>
          <p:cNvSpPr/>
          <p:nvPr/>
        </p:nvSpPr>
        <p:spPr>
          <a:xfrm>
            <a:off x="3383280" y="57241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line 1"/>
          <p:cNvSpPr/>
          <p:nvPr/>
        </p:nvSpPr>
        <p:spPr>
          <a:xfrm>
            <a:off x="3503066" y="4928616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8" name="line 2"/>
          <p:cNvSpPr/>
          <p:nvPr/>
        </p:nvSpPr>
        <p:spPr>
          <a:xfrm>
            <a:off x="3503066" y="5733288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pic>
        <p:nvPicPr>
          <p:cNvPr id="24" name="pic" descr="Minutes: a notebook and a pen [sign: MINUTES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25" name="R1 hl"/>
          <p:cNvSpPr/>
          <p:nvPr/>
        </p:nvSpPr>
        <p:spPr>
          <a:xfrm>
            <a:off x="4389120" y="4251960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R1 voice"/>
          <p:cNvSpPr/>
          <p:nvPr/>
        </p:nvSpPr>
        <p:spPr>
          <a:xfrm>
            <a:off x="4389120" y="4251960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Ms. Adeyemi</a:t>
            </a:r>
            <a:endParaRPr lang="en-US" sz="2200" dirty="0" b="1"/>
          </a:p>
        </p:txBody>
      </p:sp>
      <p:sp>
        <p:nvSpPr>
          <p:cNvPr id="29" name="R2 hl"/>
          <p:cNvSpPr/>
          <p:nvPr/>
        </p:nvSpPr>
        <p:spPr>
          <a:xfrm>
            <a:off x="4389120" y="5056632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R2 voice"/>
          <p:cNvSpPr/>
          <p:nvPr/>
        </p:nvSpPr>
        <p:spPr>
          <a:xfrm>
            <a:off x="4389120" y="5056632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Tom</a:t>
            </a:r>
            <a:endParaRPr lang="en-US" sz="2200" dirty="0" b="1"/>
          </a:p>
        </p:txBody>
      </p:sp>
      <p:sp>
        <p:nvSpPr>
          <p:cNvPr id="33" name="R3 hl"/>
          <p:cNvSpPr/>
          <p:nvPr/>
        </p:nvSpPr>
        <p:spPr>
          <a:xfrm>
            <a:off x="4389120" y="5861304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R3 voice"/>
          <p:cNvSpPr/>
          <p:nvPr/>
        </p:nvSpPr>
        <p:spPr>
          <a:xfrm>
            <a:off x="4389120" y="5861304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Grace</a:t>
            </a:r>
            <a:endParaRPr lang="en-US" sz="2200" dirty="0" b="1"/>
          </a:p>
        </p:txBody>
      </p:sp>
      <p:sp>
        <p:nvSpPr>
          <p:cNvPr id="37" name="listen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for:</a:t>
            </a:r>
            <a:endParaRPr lang="en-US" sz="2400" dirty="0" b="1"/>
          </a:p>
        </p:txBody>
      </p:sp>
      <p:sp>
        <p:nvSpPr>
          <p:cNvPr id="39" name="listen 1"/>
          <p:cNvSpPr/>
          <p:nvPr/>
        </p:nvSpPr>
        <p:spPr>
          <a:xfrm>
            <a:off x="8549640" y="196596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What are they deciding?</a:t>
            </a:r>
            <a:endParaRPr lang="en-US" sz="2200" dirty="0"/>
          </a:p>
        </p:txBody>
      </p:sp>
      <p:sp>
        <p:nvSpPr>
          <p:cNvPr id="41" name="listen 2"/>
          <p:cNvSpPr/>
          <p:nvPr/>
        </p:nvSpPr>
        <p:spPr>
          <a:xfrm>
            <a:off x="8549640" y="301752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 Play 1 → Task A.</a:t>
            </a:r>
            <a:endParaRPr lang="en-US" sz="2200" dirty="0"/>
          </a:p>
        </p:txBody>
      </p:sp>
      <p:sp>
        <p:nvSpPr>
          <p:cNvPr id="43" name="audio"/>
          <p:cNvSpPr/>
          <p:nvPr/>
        </p:nvSpPr>
        <p:spPr>
          <a:xfrm>
            <a:off x="8549640" y="406908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about 2:17. It plays once.</a:t>
            </a:r>
            <a:endParaRPr lang="en-US" sz="2200" dirty="0"/>
          </a:p>
        </p:txBody>
      </p:sp>
      <p:sp>
        <p:nvSpPr>
          <p:cNvPr id="46" name="play"/>
          <p:cNvSpPr/>
          <p:nvPr/>
        </p:nvSpPr>
        <p:spPr>
          <a:xfrm>
            <a:off x="8549640" y="5029200"/>
            <a:ext cx="3017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1: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Task A</a:t>
            </a:r>
            <a:endParaRPr lang="en-US" sz="22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What are they deciding?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1453896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2139696" y="3108960"/>
            <a:ext cx="31546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A new library building</a:t>
            </a:r>
            <a:endParaRPr lang="en-US" sz="1500" dirty="0" b="1"/>
          </a:p>
        </p:txBody>
      </p:sp>
      <p:sp>
        <p:nvSpPr>
          <p:cNvPr id="10" name="R1 opt2"/>
          <p:cNvSpPr/>
          <p:nvPr/>
        </p:nvSpPr>
        <p:spPr>
          <a:xfrm>
            <a:off x="5367528" y="3108960"/>
            <a:ext cx="31546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Evening hours</a:t>
            </a:r>
            <a:endParaRPr lang="en-US" sz="1500" dirty="0" b="1"/>
          </a:p>
        </p:txBody>
      </p:sp>
      <p:sp>
        <p:nvSpPr>
          <p:cNvPr id="11" name="R1 opt3"/>
          <p:cNvSpPr/>
          <p:nvPr/>
        </p:nvSpPr>
        <p:spPr>
          <a:xfrm>
            <a:off x="8595360" y="3108960"/>
            <a:ext cx="31546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c. The price of a bus pass</a:t>
            </a:r>
            <a:endParaRPr lang="en-US" sz="1500" dirty="0" b="1"/>
          </a:p>
        </p:txBody>
      </p:sp>
      <p:sp>
        <p:nvSpPr>
          <p:cNvPr id="12" name="R1 circle"/>
          <p:cNvSpPr/>
          <p:nvPr/>
        </p:nvSpPr>
        <p:spPr>
          <a:xfrm>
            <a:off x="5239512" y="3054096"/>
            <a:ext cx="341071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Listen again. Circle the answers.</a:t>
            </a:r>
            <a:endParaRPr lang="en-US" sz="16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44805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1. Tom wants</a:t>
            </a:r>
            <a:endParaRPr lang="en-US" sz="1300" dirty="0"/>
          </a:p>
        </p:txBody>
      </p:sp>
      <p:sp>
        <p:nvSpPr>
          <p:cNvPr id="9" name="R1 opt1"/>
          <p:cNvSpPr/>
          <p:nvPr/>
        </p:nvSpPr>
        <p:spPr>
          <a:xfrm>
            <a:off x="5166360" y="31089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later hours</a:t>
            </a:r>
            <a:endParaRPr lang="en-US" sz="1200" dirty="0" b="1"/>
          </a:p>
        </p:txBody>
      </p:sp>
      <p:sp>
        <p:nvSpPr>
          <p:cNvPr id="10" name="R1 opt2"/>
          <p:cNvSpPr/>
          <p:nvPr/>
        </p:nvSpPr>
        <p:spPr>
          <a:xfrm>
            <a:off x="7452360" y="31089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current hours</a:t>
            </a:r>
            <a:endParaRPr lang="en-US" sz="1200" dirty="0" b="1"/>
          </a:p>
        </p:txBody>
      </p:sp>
      <p:sp>
        <p:nvSpPr>
          <p:cNvPr id="11" name="R1 opt3"/>
          <p:cNvSpPr/>
          <p:nvPr/>
        </p:nvSpPr>
        <p:spPr>
          <a:xfrm>
            <a:off x="9738360" y="31089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new bus</a:t>
            </a:r>
            <a:endParaRPr lang="en-US" sz="1200" dirty="0" b="1"/>
          </a:p>
        </p:txBody>
      </p:sp>
      <p:sp>
        <p:nvSpPr>
          <p:cNvPr id="12" name="R1 circle"/>
          <p:cNvSpPr/>
          <p:nvPr/>
        </p:nvSpPr>
        <p:spPr>
          <a:xfrm>
            <a:off x="5038344" y="305409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3" name="R2 stmt"/>
          <p:cNvSpPr/>
          <p:nvPr/>
        </p:nvSpPr>
        <p:spPr>
          <a:xfrm>
            <a:off x="502920" y="3657600"/>
            <a:ext cx="44805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2. Grace wants</a:t>
            </a:r>
            <a:endParaRPr lang="en-US" sz="1300" dirty="0"/>
          </a:p>
        </p:txBody>
      </p:sp>
      <p:sp>
        <p:nvSpPr>
          <p:cNvPr id="14" name="R2 opt1"/>
          <p:cNvSpPr/>
          <p:nvPr/>
        </p:nvSpPr>
        <p:spPr>
          <a:xfrm>
            <a:off x="5166360" y="365760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later hours</a:t>
            </a:r>
            <a:endParaRPr lang="en-US" sz="1200" dirty="0" b="1"/>
          </a:p>
        </p:txBody>
      </p:sp>
      <p:sp>
        <p:nvSpPr>
          <p:cNvPr id="15" name="R2 opt2"/>
          <p:cNvSpPr/>
          <p:nvPr/>
        </p:nvSpPr>
        <p:spPr>
          <a:xfrm>
            <a:off x="7452360" y="365760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current hours</a:t>
            </a:r>
            <a:endParaRPr lang="en-US" sz="1200" dirty="0" b="1"/>
          </a:p>
        </p:txBody>
      </p:sp>
      <p:sp>
        <p:nvSpPr>
          <p:cNvPr id="16" name="R2 opt3"/>
          <p:cNvSpPr/>
          <p:nvPr/>
        </p:nvSpPr>
        <p:spPr>
          <a:xfrm>
            <a:off x="9738360" y="365760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 meeting</a:t>
            </a:r>
            <a:endParaRPr lang="en-US" sz="1200" dirty="0" b="1"/>
          </a:p>
        </p:txBody>
      </p:sp>
      <p:sp>
        <p:nvSpPr>
          <p:cNvPr id="17" name="R2 circle"/>
          <p:cNvSpPr/>
          <p:nvPr/>
        </p:nvSpPr>
        <p:spPr>
          <a:xfrm>
            <a:off x="7324344" y="360273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8" name="R3 stmt"/>
          <p:cNvSpPr/>
          <p:nvPr/>
        </p:nvSpPr>
        <p:spPr>
          <a:xfrm>
            <a:off x="502920" y="4206240"/>
            <a:ext cx="44805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3. Grace's reason</a:t>
            </a:r>
            <a:endParaRPr lang="en-US" sz="1300" dirty="0"/>
          </a:p>
        </p:txBody>
      </p:sp>
      <p:sp>
        <p:nvSpPr>
          <p:cNvPr id="19" name="R3 opt1"/>
          <p:cNvSpPr/>
          <p:nvPr/>
        </p:nvSpPr>
        <p:spPr>
          <a:xfrm>
            <a:off x="5166360" y="420624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bus stops early</a:t>
            </a:r>
            <a:endParaRPr lang="en-US" sz="1200" dirty="0" b="1"/>
          </a:p>
        </p:txBody>
      </p:sp>
      <p:sp>
        <p:nvSpPr>
          <p:cNvPr id="20" name="R3 opt2"/>
          <p:cNvSpPr/>
          <p:nvPr/>
        </p:nvSpPr>
        <p:spPr>
          <a:xfrm>
            <a:off x="7452360" y="420624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room is cold</a:t>
            </a:r>
            <a:endParaRPr lang="en-US" sz="1200" dirty="0" b="1"/>
          </a:p>
        </p:txBody>
      </p:sp>
      <p:sp>
        <p:nvSpPr>
          <p:cNvPr id="21" name="R3 opt3"/>
          <p:cNvSpPr/>
          <p:nvPr/>
        </p:nvSpPr>
        <p:spPr>
          <a:xfrm>
            <a:off x="9738360" y="420624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wants a microphone</a:t>
            </a:r>
            <a:endParaRPr lang="en-US" sz="1200" dirty="0" b="1"/>
          </a:p>
        </p:txBody>
      </p:sp>
      <p:sp>
        <p:nvSpPr>
          <p:cNvPr id="22" name="R3 circle"/>
          <p:cNvSpPr/>
          <p:nvPr/>
        </p:nvSpPr>
        <p:spPr>
          <a:xfrm>
            <a:off x="5038344" y="415137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R4 stmt"/>
          <p:cNvSpPr/>
          <p:nvPr/>
        </p:nvSpPr>
        <p:spPr>
          <a:xfrm>
            <a:off x="502920" y="4754880"/>
            <a:ext cx="44805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4. The decision</a:t>
            </a:r>
            <a:endParaRPr lang="en-US" sz="1300" dirty="0"/>
          </a:p>
        </p:txBody>
      </p:sp>
      <p:sp>
        <p:nvSpPr>
          <p:cNvPr id="24" name="R4 opt1"/>
          <p:cNvSpPr/>
          <p:nvPr/>
        </p:nvSpPr>
        <p:spPr>
          <a:xfrm>
            <a:off x="5166360" y="475488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close the library</a:t>
            </a:r>
            <a:endParaRPr lang="en-US" sz="1200" dirty="0" b="1"/>
          </a:p>
        </p:txBody>
      </p:sp>
      <p:sp>
        <p:nvSpPr>
          <p:cNvPr id="25" name="R4 opt2"/>
          <p:cNvSpPr/>
          <p:nvPr/>
        </p:nvSpPr>
        <p:spPr>
          <a:xfrm>
            <a:off x="7452360" y="475488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one-month try</a:t>
            </a:r>
            <a:endParaRPr lang="en-US" sz="1200" dirty="0" b="1"/>
          </a:p>
        </p:txBody>
      </p:sp>
      <p:sp>
        <p:nvSpPr>
          <p:cNvPr id="26" name="R4 opt3"/>
          <p:cNvSpPr/>
          <p:nvPr/>
        </p:nvSpPr>
        <p:spPr>
          <a:xfrm>
            <a:off x="9738360" y="475488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move to the auditorium</a:t>
            </a:r>
            <a:endParaRPr lang="en-US" sz="1200" dirty="0" b="1"/>
          </a:p>
        </p:txBody>
      </p:sp>
      <p:sp>
        <p:nvSpPr>
          <p:cNvPr id="27" name="R4 circle"/>
          <p:cNvSpPr/>
          <p:nvPr/>
        </p:nvSpPr>
        <p:spPr>
          <a:xfrm>
            <a:off x="7324344" y="470001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5 stmt"/>
          <p:cNvSpPr/>
          <p:nvPr/>
        </p:nvSpPr>
        <p:spPr>
          <a:xfrm>
            <a:off x="502920" y="5303520"/>
            <a:ext cx="44805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5. The try is on</a:t>
            </a:r>
            <a:endParaRPr lang="en-US" sz="1300" dirty="0"/>
          </a:p>
        </p:txBody>
      </p:sp>
      <p:sp>
        <p:nvSpPr>
          <p:cNvPr id="29" name="R5 opt1"/>
          <p:cNvSpPr/>
          <p:nvPr/>
        </p:nvSpPr>
        <p:spPr>
          <a:xfrm>
            <a:off x="5166360" y="530352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Monday</a:t>
            </a:r>
            <a:endParaRPr lang="en-US" sz="1200" dirty="0" b="1"/>
          </a:p>
        </p:txBody>
      </p:sp>
      <p:sp>
        <p:nvSpPr>
          <p:cNvPr id="30" name="R5 opt2"/>
          <p:cNvSpPr/>
          <p:nvPr/>
        </p:nvSpPr>
        <p:spPr>
          <a:xfrm>
            <a:off x="7452360" y="530352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Thursday</a:t>
            </a:r>
            <a:endParaRPr lang="en-US" sz="1200" dirty="0" b="1"/>
          </a:p>
        </p:txBody>
      </p:sp>
      <p:sp>
        <p:nvSpPr>
          <p:cNvPr id="31" name="R5 opt3"/>
          <p:cNvSpPr/>
          <p:nvPr/>
        </p:nvSpPr>
        <p:spPr>
          <a:xfrm>
            <a:off x="9738360" y="530352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Sunday</a:t>
            </a:r>
            <a:endParaRPr lang="en-US" sz="1200" dirty="0" b="1"/>
          </a:p>
        </p:txBody>
      </p:sp>
      <p:sp>
        <p:nvSpPr>
          <p:cNvPr id="32" name="R5 circle"/>
          <p:cNvSpPr/>
          <p:nvPr/>
        </p:nvSpPr>
        <p:spPr>
          <a:xfrm>
            <a:off x="7324344" y="524865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3" name="R6 stmt"/>
          <p:cNvSpPr/>
          <p:nvPr/>
        </p:nvSpPr>
        <p:spPr>
          <a:xfrm>
            <a:off x="502920" y="5852160"/>
            <a:ext cx="44805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6. Open until</a:t>
            </a:r>
            <a:endParaRPr lang="en-US" sz="1300" dirty="0"/>
          </a:p>
        </p:txBody>
      </p:sp>
      <p:sp>
        <p:nvSpPr>
          <p:cNvPr id="34" name="R6 opt1"/>
          <p:cNvSpPr/>
          <p:nvPr/>
        </p:nvSpPr>
        <p:spPr>
          <a:xfrm>
            <a:off x="5166360" y="58521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six</a:t>
            </a:r>
            <a:endParaRPr lang="en-US" sz="1200" dirty="0" b="1"/>
          </a:p>
        </p:txBody>
      </p:sp>
      <p:sp>
        <p:nvSpPr>
          <p:cNvPr id="35" name="R6 opt2"/>
          <p:cNvSpPr/>
          <p:nvPr/>
        </p:nvSpPr>
        <p:spPr>
          <a:xfrm>
            <a:off x="7452360" y="58521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seven</a:t>
            </a:r>
            <a:endParaRPr lang="en-US" sz="1200" dirty="0" b="1"/>
          </a:p>
        </p:txBody>
      </p:sp>
      <p:sp>
        <p:nvSpPr>
          <p:cNvPr id="36" name="R6 opt3"/>
          <p:cNvSpPr/>
          <p:nvPr/>
        </p:nvSpPr>
        <p:spPr>
          <a:xfrm>
            <a:off x="9738360" y="58521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eight</a:t>
            </a:r>
            <a:endParaRPr lang="en-US" sz="1200" dirty="0" b="1"/>
          </a:p>
        </p:txBody>
      </p:sp>
      <p:sp>
        <p:nvSpPr>
          <p:cNvPr id="37" name="R6 circle"/>
          <p:cNvSpPr/>
          <p:nvPr/>
        </p:nvSpPr>
        <p:spPr>
          <a:xfrm>
            <a:off x="9610344" y="579729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 Write which or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words.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check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This is the room ______ we meet.</a:t>
            </a:r>
            <a:endParaRPr lang="en-US" sz="1400" dirty="0"/>
          </a:p>
        </p:txBody>
      </p:sp>
      <p:sp>
        <p:nvSpPr>
          <p:cNvPr id="35" name="R1 ans"/>
          <p:cNvSpPr/>
          <p:nvPr/>
        </p:nvSpPr>
        <p:spPr>
          <a:xfrm>
            <a:off x="6016752" y="2222144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</a:t>
            </a:r>
            <a:endParaRPr lang="en-US" sz="16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agenda, ______ is on your handout, lists the hours.</a:t>
            </a:r>
            <a:endParaRPr lang="en-US" sz="1400" dirty="0"/>
          </a:p>
        </p:txBody>
      </p:sp>
      <p:sp>
        <p:nvSpPr>
          <p:cNvPr id="40" name="R2 ans"/>
          <p:cNvSpPr/>
          <p:nvPr/>
        </p:nvSpPr>
        <p:spPr>
          <a:xfrm>
            <a:off x="6016752" y="2950312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</a:t>
            </a:r>
            <a:endParaRPr lang="en-US" sz="16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proposal ______ I read is on page 2.</a:t>
            </a:r>
            <a:endParaRPr lang="en-US" sz="1400" dirty="0"/>
          </a:p>
        </p:txBody>
      </p:sp>
      <p:sp>
        <p:nvSpPr>
          <p:cNvPr id="45" name="R3 ans"/>
          <p:cNvSpPr/>
          <p:nvPr/>
        </p:nvSpPr>
        <p:spPr>
          <a:xfrm>
            <a:off x="6016752" y="3678479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</a:t>
            </a:r>
            <a:endParaRPr lang="en-US" sz="16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library ______ we use closes at six.</a:t>
            </a:r>
            <a:endParaRPr lang="en-US" sz="1400" dirty="0"/>
          </a:p>
        </p:txBody>
      </p:sp>
      <p:sp>
        <p:nvSpPr>
          <p:cNvPr id="50" name="R4 ans"/>
          <p:cNvSpPr/>
          <p:nvPr/>
        </p:nvSpPr>
        <p:spPr>
          <a:xfrm>
            <a:off x="6016752" y="4406646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</a:t>
            </a:r>
            <a:endParaRPr lang="en-US" sz="16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stop ______ I catch the bus is dark after seven.</a:t>
            </a:r>
            <a:endParaRPr lang="en-US" sz="1400" dirty="0"/>
          </a:p>
        </p:txBody>
      </p:sp>
      <p:sp>
        <p:nvSpPr>
          <p:cNvPr id="55" name="R5 ans"/>
          <p:cNvSpPr/>
          <p:nvPr/>
        </p:nvSpPr>
        <p:spPr>
          <a:xfrm>
            <a:off x="6016752" y="5134813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</a:t>
            </a:r>
            <a:endParaRPr lang="en-US" sz="16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This is the place ______ we should meet.</a:t>
            </a:r>
            <a:endParaRPr lang="en-US" sz="1400" dirty="0"/>
          </a:p>
        </p:txBody>
      </p:sp>
      <p:sp>
        <p:nvSpPr>
          <p:cNvPr id="60" name="R6 ans"/>
          <p:cNvSpPr/>
          <p:nvPr/>
        </p:nvSpPr>
        <p:spPr>
          <a:xfrm>
            <a:off x="6016752" y="5862980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ecksay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68158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4982" y="1623974"/>
            <a:ext cx="6169457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691640"/>
            <a:ext cx="56692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it: gonna and wanna are short forms</a:t>
            </a:r>
            <a:endParaRPr lang="en-US" sz="1600" dirty="0" b="1"/>
          </a:p>
        </p:txBody>
      </p:sp>
      <p:sp>
        <p:nvSpPr>
          <p:cNvPr id="9" name="head2"/>
          <p:cNvSpPr/>
          <p:nvPr/>
        </p:nvSpPr>
        <p:spPr>
          <a:xfrm>
            <a:off x="868680" y="209397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use the full forms</a:t>
            </a:r>
            <a:endParaRPr lang="en-US" sz="1600" dirty="0"/>
          </a:p>
        </p:txBody>
      </p:sp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It,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are short forms. This listening uses the full forms.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can say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 to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 b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each line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times.</a:t>
            </a:r>
            <a:endParaRPr lang="en-US" sz="2000" dirty="0" b="0"/>
          </a:p>
        </p:txBody>
      </p:sp>
      <p:sp>
        <p:nvSpPr>
          <p:cNvPr id="31" name="S1 card"/>
          <p:cNvSpPr/>
          <p:nvPr/>
        </p:nvSpPr>
        <p:spPr>
          <a:xfrm>
            <a:off x="548640" y="271576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S1 text"/>
          <p:cNvSpPr/>
          <p:nvPr/>
        </p:nvSpPr>
        <p:spPr>
          <a:xfrm>
            <a:off x="777240" y="271576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This is the room where we meet.</a:t>
            </a:r>
            <a:endParaRPr lang="en-US" sz="1800" dirty="0" b="1"/>
          </a:p>
        </p:txBody>
      </p:sp>
      <p:sp>
        <p:nvSpPr>
          <p:cNvPr id="33" name="S2 card"/>
          <p:cNvSpPr/>
          <p:nvPr/>
        </p:nvSpPr>
        <p:spPr>
          <a:xfrm>
            <a:off x="548640" y="3427171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" name="S2 text"/>
          <p:cNvSpPr/>
          <p:nvPr/>
        </p:nvSpPr>
        <p:spPr>
          <a:xfrm>
            <a:off x="777240" y="3427171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proposal which I read is on page 2.</a:t>
            </a:r>
            <a:endParaRPr lang="en-US" sz="1800" dirty="0" b="1"/>
          </a:p>
        </p:txBody>
      </p:sp>
      <p:sp>
        <p:nvSpPr>
          <p:cNvPr id="35" name="S3 card"/>
          <p:cNvSpPr/>
          <p:nvPr/>
        </p:nvSpPr>
        <p:spPr>
          <a:xfrm>
            <a:off x="548640" y="4138574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S3 text"/>
          <p:cNvSpPr/>
          <p:nvPr/>
        </p:nvSpPr>
        <p:spPr>
          <a:xfrm>
            <a:off x="777240" y="4138574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come after work on Thursday.</a:t>
            </a:r>
            <a:endParaRPr lang="en-US" sz="1800" dirty="0" b="1"/>
          </a:p>
        </p:txBody>
      </p:sp>
      <p:sp>
        <p:nvSpPr>
          <p:cNvPr id="37" name="S4 card"/>
          <p:cNvSpPr/>
          <p:nvPr/>
        </p:nvSpPr>
        <p:spPr>
          <a:xfrm>
            <a:off x="548640" y="484997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S4 text"/>
          <p:cNvSpPr/>
          <p:nvPr/>
        </p:nvSpPr>
        <p:spPr>
          <a:xfrm>
            <a:off x="777240" y="484997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keep the current hours.</a:t>
            </a:r>
            <a:endParaRPr lang="en-US" sz="1800" dirty="0" b="1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Microphone: a microphone [sign: MIC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 for a thing</a:t>
            </a:r>
            <a:endParaRPr lang="en-US" sz="22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 + THING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052560" y="18288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 EXTRA IT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proposal which the chair read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052560" y="228600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052560" y="228600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on page 2.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library which we use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052560" y="324612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052560" y="324612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closes at six.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agenda which is on the handout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052560" y="420624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052560" y="420624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lists the hours.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Handout: a page [sign: HANDOUT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for a place</a:t>
            </a:r>
            <a:endParaRPr lang="en-US" sz="22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REPLACES THE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052560" y="18288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EXAMPLE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This is the room where we meet.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052560" y="228600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052560" y="228600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Not: the room which we meet.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stop where I catch the bus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052560" y="324612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052560" y="324612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dark after seven.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place where we should meet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052560" y="420624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052560" y="420624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this library room.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Proposal: a document and a light bulb [sign: PROPOSAL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 for a person</a:t>
            </a:r>
            <a:endParaRPr lang="en-US" sz="22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WHO, NOT WHICH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052560" y="18288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EXAMPLE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person who takes notes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052560" y="228600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052560" y="228600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the secretary.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chairperson who keeps the order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052560" y="324612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052560" y="324612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Ms. Adeyemi.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person who rides the bus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052560" y="420624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052560" y="420624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Grace.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Sign-in sheet: a memo and a pencil [sign: SIGN IN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4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 opinion and a reason</a:t>
            </a:r>
            <a:endParaRPr lang="en-US" sz="20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CAN SAY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052560" y="18288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EXAMPLE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think…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052560" y="228600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052560" y="228600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think a one-month try is fair.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see your point, but…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052560" y="324612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052560" y="324612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see your point, but I need a safe ride.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 or where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052560" y="420624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052560" y="420624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 idea? Where would you say it?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check your answers.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This is the room ______ we meet.</a:t>
            </a:r>
            <a:endParaRPr lang="en-US" sz="1400" dirty="0"/>
          </a:p>
        </p:txBody>
      </p:sp>
      <p:sp>
        <p:nvSpPr>
          <p:cNvPr id="35" name="R1 ans"/>
          <p:cNvSpPr/>
          <p:nvPr/>
        </p:nvSpPr>
        <p:spPr>
          <a:xfrm>
            <a:off x="6016752" y="2222144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</a:t>
            </a:r>
            <a:endParaRPr lang="en-US" sz="16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proposal ______ the chair read is on page 2.</a:t>
            </a:r>
            <a:endParaRPr lang="en-US" sz="1400" dirty="0"/>
          </a:p>
        </p:txBody>
      </p:sp>
      <p:sp>
        <p:nvSpPr>
          <p:cNvPr id="40" name="R2 ans"/>
          <p:cNvSpPr/>
          <p:nvPr/>
        </p:nvSpPr>
        <p:spPr>
          <a:xfrm>
            <a:off x="6016752" y="2950312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</a:t>
            </a:r>
            <a:endParaRPr lang="en-US" sz="16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person ______ takes notes is the secretary.</a:t>
            </a:r>
            <a:endParaRPr lang="en-US" sz="1400" dirty="0"/>
          </a:p>
        </p:txBody>
      </p:sp>
      <p:sp>
        <p:nvSpPr>
          <p:cNvPr id="45" name="R3 ans"/>
          <p:cNvSpPr/>
          <p:nvPr/>
        </p:nvSpPr>
        <p:spPr>
          <a:xfrm>
            <a:off x="6016752" y="3678479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</a:t>
            </a:r>
            <a:endParaRPr lang="en-US" sz="16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stop ______ I catch the bus is dark after seven.</a:t>
            </a:r>
            <a:endParaRPr lang="en-US" sz="1400" dirty="0"/>
          </a:p>
        </p:txBody>
      </p:sp>
      <p:sp>
        <p:nvSpPr>
          <p:cNvPr id="50" name="R4 ans"/>
          <p:cNvSpPr/>
          <p:nvPr/>
        </p:nvSpPr>
        <p:spPr>
          <a:xfrm>
            <a:off x="6016752" y="4406646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</a:t>
            </a:r>
            <a:endParaRPr lang="en-US" sz="16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library ______ we use closes at six.</a:t>
            </a:r>
            <a:endParaRPr lang="en-US" sz="1400" dirty="0"/>
          </a:p>
        </p:txBody>
      </p:sp>
      <p:sp>
        <p:nvSpPr>
          <p:cNvPr id="55" name="R5 ans"/>
          <p:cNvSpPr/>
          <p:nvPr/>
        </p:nvSpPr>
        <p:spPr>
          <a:xfrm>
            <a:off x="6016752" y="5134813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</a:t>
            </a:r>
            <a:endParaRPr lang="en-US" sz="16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chairperson ______ keeps the order is Ms. Adeyemi.</a:t>
            </a:r>
            <a:endParaRPr lang="en-US" sz="1400" dirty="0"/>
          </a:p>
        </p:txBody>
      </p:sp>
      <p:sp>
        <p:nvSpPr>
          <p:cNvPr id="60" name="R6 ans"/>
          <p:cNvSpPr/>
          <p:nvPr/>
        </p:nvSpPr>
        <p:spPr>
          <a:xfrm>
            <a:off x="6016752" y="5862980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correct words.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752551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1. This is the room ______ we meet.</a:t>
            </a:r>
            <a:endParaRPr lang="en-US" sz="1500" dirty="0"/>
          </a:p>
        </p:txBody>
      </p:sp>
      <p:sp>
        <p:nvSpPr>
          <p:cNvPr id="9" name="R1 opt1"/>
          <p:cNvSpPr/>
          <p:nvPr/>
        </p:nvSpPr>
        <p:spPr>
          <a:xfrm>
            <a:off x="8211312" y="310896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</a:t>
            </a:r>
            <a:endParaRPr lang="en-US" sz="1600" dirty="0" b="1"/>
          </a:p>
        </p:txBody>
      </p:sp>
      <p:sp>
        <p:nvSpPr>
          <p:cNvPr id="10" name="R1 opt2"/>
          <p:cNvSpPr/>
          <p:nvPr/>
        </p:nvSpPr>
        <p:spPr>
          <a:xfrm>
            <a:off x="9966960" y="310896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</a:t>
            </a:r>
            <a:endParaRPr lang="en-US" sz="1600" dirty="0" b="1"/>
          </a:p>
        </p:txBody>
      </p:sp>
      <p:sp>
        <p:nvSpPr>
          <p:cNvPr id="11" name="R1 circle"/>
          <p:cNvSpPr/>
          <p:nvPr/>
        </p:nvSpPr>
        <p:spPr>
          <a:xfrm>
            <a:off x="9838944" y="3054096"/>
            <a:ext cx="19019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752551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2. The proposal ______ the chair read is on page 2.</a:t>
            </a:r>
            <a:endParaRPr lang="en-US" sz="1500" dirty="0"/>
          </a:p>
        </p:txBody>
      </p:sp>
      <p:sp>
        <p:nvSpPr>
          <p:cNvPr id="13" name="R2 opt1"/>
          <p:cNvSpPr/>
          <p:nvPr/>
        </p:nvSpPr>
        <p:spPr>
          <a:xfrm>
            <a:off x="8211312" y="365760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</a:t>
            </a:r>
            <a:endParaRPr lang="en-US" sz="1600" dirty="0" b="1"/>
          </a:p>
        </p:txBody>
      </p:sp>
      <p:sp>
        <p:nvSpPr>
          <p:cNvPr id="14" name="R2 opt2"/>
          <p:cNvSpPr/>
          <p:nvPr/>
        </p:nvSpPr>
        <p:spPr>
          <a:xfrm>
            <a:off x="9966960" y="365760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</a:t>
            </a:r>
            <a:endParaRPr lang="en-US" sz="1600" dirty="0" b="1"/>
          </a:p>
        </p:txBody>
      </p:sp>
      <p:sp>
        <p:nvSpPr>
          <p:cNvPr id="15" name="R2 circle"/>
          <p:cNvSpPr/>
          <p:nvPr/>
        </p:nvSpPr>
        <p:spPr>
          <a:xfrm>
            <a:off x="8083296" y="3602736"/>
            <a:ext cx="19019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752551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3. The person ______ takes notes is the secretary.</a:t>
            </a:r>
            <a:endParaRPr lang="en-US" sz="1500" dirty="0"/>
          </a:p>
        </p:txBody>
      </p:sp>
      <p:sp>
        <p:nvSpPr>
          <p:cNvPr id="17" name="R3 opt1"/>
          <p:cNvSpPr/>
          <p:nvPr/>
        </p:nvSpPr>
        <p:spPr>
          <a:xfrm>
            <a:off x="8211312" y="420624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</a:t>
            </a:r>
            <a:endParaRPr lang="en-US" sz="1600" dirty="0" b="1"/>
          </a:p>
        </p:txBody>
      </p:sp>
      <p:sp>
        <p:nvSpPr>
          <p:cNvPr id="18" name="R3 opt2"/>
          <p:cNvSpPr/>
          <p:nvPr/>
        </p:nvSpPr>
        <p:spPr>
          <a:xfrm>
            <a:off x="9966960" y="420624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</a:t>
            </a:r>
            <a:endParaRPr lang="en-US" sz="1600" dirty="0" b="1"/>
          </a:p>
        </p:txBody>
      </p:sp>
      <p:sp>
        <p:nvSpPr>
          <p:cNvPr id="19" name="R3 circle"/>
          <p:cNvSpPr/>
          <p:nvPr/>
        </p:nvSpPr>
        <p:spPr>
          <a:xfrm>
            <a:off x="9838944" y="4151376"/>
            <a:ext cx="19019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752551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4. Don't add ______ after </a:t>
            </a:r>
            <a:r>
              <a:rPr lang="en-US" sz="1500" dirty="0" b="1">
                <a:solidFill>
                  <a:srgbClr val="5B3FC4"/>
                </a:solidFill>
              </a:rPr>
              <a:t>which the chair read</a:t>
            </a:r>
            <a:r>
              <a:rPr lang="en-US" sz="1500" dirty="0"/>
              <a:t>.</a:t>
            </a:r>
            <a:endParaRPr lang="en-US" sz="1500" dirty="0"/>
          </a:p>
        </p:txBody>
      </p:sp>
      <p:sp>
        <p:nvSpPr>
          <p:cNvPr id="21" name="R4 opt1"/>
          <p:cNvSpPr/>
          <p:nvPr/>
        </p:nvSpPr>
        <p:spPr>
          <a:xfrm>
            <a:off x="8211312" y="475488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</a:t>
            </a:r>
            <a:endParaRPr lang="en-US" sz="1600" dirty="0" b="1"/>
          </a:p>
        </p:txBody>
      </p:sp>
      <p:sp>
        <p:nvSpPr>
          <p:cNvPr id="22" name="R4 opt2"/>
          <p:cNvSpPr/>
          <p:nvPr/>
        </p:nvSpPr>
        <p:spPr>
          <a:xfrm>
            <a:off x="9966960" y="475488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</a:t>
            </a:r>
            <a:endParaRPr lang="en-US" sz="1600" dirty="0" b="1"/>
          </a:p>
        </p:txBody>
      </p:sp>
      <p:sp>
        <p:nvSpPr>
          <p:cNvPr id="23" name="R4 circle"/>
          <p:cNvSpPr/>
          <p:nvPr/>
        </p:nvSpPr>
        <p:spPr>
          <a:xfrm>
            <a:off x="8083296" y="4700016"/>
            <a:ext cx="19019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752551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5. </a:t>
            </a:r>
            <a:r>
              <a:rPr lang="en-US" sz="1500" dirty="0" b="1">
                <a:solidFill>
                  <a:srgbClr val="5B3FC4"/>
                </a:solidFill>
              </a:rPr>
              <a:t>Where</a:t>
            </a:r>
            <a:r>
              <a:rPr lang="en-US" sz="1500" dirty="0"/>
              <a:t> replaces ______ .</a:t>
            </a:r>
            <a:endParaRPr lang="en-US" sz="1500" dirty="0"/>
          </a:p>
        </p:txBody>
      </p:sp>
      <p:sp>
        <p:nvSpPr>
          <p:cNvPr id="25" name="R5 opt1"/>
          <p:cNvSpPr/>
          <p:nvPr/>
        </p:nvSpPr>
        <p:spPr>
          <a:xfrm>
            <a:off x="8211312" y="530352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there</a:t>
            </a:r>
            <a:endParaRPr lang="en-US" sz="1600" dirty="0" b="1"/>
          </a:p>
        </p:txBody>
      </p:sp>
      <p:sp>
        <p:nvSpPr>
          <p:cNvPr id="26" name="R5 opt2"/>
          <p:cNvSpPr/>
          <p:nvPr/>
        </p:nvSpPr>
        <p:spPr>
          <a:xfrm>
            <a:off x="9966960" y="530352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</a:t>
            </a:r>
            <a:endParaRPr lang="en-US" sz="1600" dirty="0" b="1"/>
          </a:p>
        </p:txBody>
      </p:sp>
      <p:sp>
        <p:nvSpPr>
          <p:cNvPr id="27" name="R5 circle"/>
          <p:cNvSpPr/>
          <p:nvPr/>
        </p:nvSpPr>
        <p:spPr>
          <a:xfrm>
            <a:off x="8083296" y="5248656"/>
            <a:ext cx="19019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752551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6. I see your point, ______ I need a safe ride.</a:t>
            </a:r>
            <a:endParaRPr lang="en-US" sz="1500" dirty="0"/>
          </a:p>
        </p:txBody>
      </p:sp>
      <p:sp>
        <p:nvSpPr>
          <p:cNvPr id="29" name="R6 opt1"/>
          <p:cNvSpPr/>
          <p:nvPr/>
        </p:nvSpPr>
        <p:spPr>
          <a:xfrm>
            <a:off x="8211312" y="585216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but</a:t>
            </a:r>
            <a:endParaRPr lang="en-US" sz="1600" dirty="0" b="1"/>
          </a:p>
        </p:txBody>
      </p:sp>
      <p:sp>
        <p:nvSpPr>
          <p:cNvPr id="30" name="R6 opt2"/>
          <p:cNvSpPr/>
          <p:nvPr/>
        </p:nvSpPr>
        <p:spPr>
          <a:xfrm>
            <a:off x="9966960" y="585216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because</a:t>
            </a:r>
            <a:endParaRPr lang="en-US" sz="1600" dirty="0" b="1"/>
          </a:p>
        </p:txBody>
      </p:sp>
      <p:sp>
        <p:nvSpPr>
          <p:cNvPr id="31" name="R6 circle"/>
          <p:cNvSpPr/>
          <p:nvPr/>
        </p:nvSpPr>
        <p:spPr>
          <a:xfrm>
            <a:off x="8083296" y="5797296"/>
            <a:ext cx="19019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mistake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42448" y="1188720"/>
            <a:ext cx="1691640" cy="13716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2020824"/>
            <a:ext cx="354330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2020824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457200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393192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1828800"/>
            <a:ext cx="3610966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1828800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itle"/>
          <p:cNvSpPr/>
          <p:nvPr/>
        </p:nvSpPr>
        <p:spPr>
          <a:xfrm>
            <a:off x="608076" y="45720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 b="1"/>
          </a:p>
        </p:txBody>
      </p:sp>
      <p:pic>
        <p:nvPicPr>
          <p:cNvPr id="21" name="pic" descr="Name tent: a label [sign: NAME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1325880"/>
            <a:ext cx="1554480" cy="1088136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1938528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1938528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2468880"/>
            <a:ext cx="324612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room which we meet.</a:t>
            </a:r>
            <a:endParaRPr lang="en-US" sz="1400" dirty="0"/>
          </a:p>
        </p:txBody>
      </p:sp>
      <p:sp>
        <p:nvSpPr>
          <p:cNvPr id="25" name="Good 1"/>
          <p:cNvSpPr/>
          <p:nvPr/>
        </p:nvSpPr>
        <p:spPr>
          <a:xfrm>
            <a:off x="4800600" y="2468880"/>
            <a:ext cx="539496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room 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we meet.</a:t>
            </a:r>
            <a:endParaRPr lang="en-US" sz="1400" dirty="0" b="1"/>
          </a:p>
        </p:txBody>
      </p:sp>
      <p:sp>
        <p:nvSpPr>
          <p:cNvPr id="26" name="Bad 2"/>
          <p:cNvSpPr/>
          <p:nvPr/>
        </p:nvSpPr>
        <p:spPr>
          <a:xfrm>
            <a:off x="914400" y="2987399"/>
            <a:ext cx="3246120" cy="68042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proposal which the chair read it.</a:t>
            </a:r>
            <a:endParaRPr lang="en-US" sz="1400" dirty="0"/>
          </a:p>
        </p:txBody>
      </p:sp>
      <p:sp>
        <p:nvSpPr>
          <p:cNvPr id="27" name="Good 2"/>
          <p:cNvSpPr/>
          <p:nvPr/>
        </p:nvSpPr>
        <p:spPr>
          <a:xfrm>
            <a:off x="4800600" y="2987399"/>
            <a:ext cx="5394960" cy="68042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proposal 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 the chair read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400" dirty="0" b="1"/>
          </a:p>
        </p:txBody>
      </p:sp>
      <p:sp>
        <p:nvSpPr>
          <p:cNvPr id="28" name="Bad 3"/>
          <p:cNvSpPr/>
          <p:nvPr/>
        </p:nvSpPr>
        <p:spPr>
          <a:xfrm>
            <a:off x="914400" y="3731828"/>
            <a:ext cx="324612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person which takes notes.</a:t>
            </a:r>
            <a:endParaRPr lang="en-US" sz="1400" dirty="0"/>
          </a:p>
        </p:txBody>
      </p:sp>
      <p:sp>
        <p:nvSpPr>
          <p:cNvPr id="29" name="Good 3"/>
          <p:cNvSpPr/>
          <p:nvPr/>
        </p:nvSpPr>
        <p:spPr>
          <a:xfrm>
            <a:off x="4800600" y="3731828"/>
            <a:ext cx="539496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person 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takes notes.</a:t>
            </a:r>
            <a:endParaRPr lang="en-US" sz="1400" dirty="0" b="1"/>
          </a:p>
        </p:txBody>
      </p:sp>
      <p:sp>
        <p:nvSpPr>
          <p:cNvPr id="30" name="Bad 4"/>
          <p:cNvSpPr/>
          <p:nvPr/>
        </p:nvSpPr>
        <p:spPr>
          <a:xfrm>
            <a:off x="914400" y="4250346"/>
            <a:ext cx="324612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room where we meet there.</a:t>
            </a:r>
            <a:endParaRPr lang="en-US" sz="1400" dirty="0"/>
          </a:p>
        </p:txBody>
      </p:sp>
      <p:sp>
        <p:nvSpPr>
          <p:cNvPr id="31" name="Good 4"/>
          <p:cNvSpPr/>
          <p:nvPr/>
        </p:nvSpPr>
        <p:spPr>
          <a:xfrm>
            <a:off x="4800600" y="4250346"/>
            <a:ext cx="539496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room 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we meet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drill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pic>
        <p:nvPicPr>
          <p:cNvPr id="26" name="pic" descr="Timer: a timer clock [sign: 4:00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739" y="3680460"/>
            <a:ext cx="3449901" cy="241493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 Check</a:t>
            </a:r>
            <a:endParaRPr lang="en-US" sz="4000" dirty="0" b="1"/>
          </a:p>
        </p:txBody>
      </p:sp>
      <p:sp>
        <p:nvSpPr>
          <p:cNvPr id="7" name="Shape 5"/>
          <p:cNvSpPr/>
          <p:nvPr/>
        </p:nvSpPr>
        <p:spPr>
          <a:xfrm>
            <a:off x="6107278" y="138257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107278" y="371429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946757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94675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s1 label"/>
          <p:cNvSpPr/>
          <p:nvPr/>
        </p:nvSpPr>
        <p:spPr>
          <a:xfrm>
            <a:off x="6995160" y="15087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says.</a:t>
            </a:r>
            <a:endParaRPr lang="en-US" sz="2200" dirty="0" b="1"/>
          </a:p>
        </p:txBody>
      </p:sp>
      <p:sp>
        <p:nvSpPr>
          <p:cNvPr id="14" name="Shape 12"/>
          <p:cNvSpPr/>
          <p:nvPr/>
        </p:nvSpPr>
        <p:spPr>
          <a:xfrm>
            <a:off x="6035040" y="365760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4278477"/>
            <a:ext cx="678485" cy="678485"/>
          </a:xfrm>
          <a:prstGeom prst="star32">
            <a:avLst>
              <a:gd name="adj" fmla="val 4375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72200" y="427847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s2 label"/>
          <p:cNvSpPr/>
          <p:nvPr/>
        </p:nvSpPr>
        <p:spPr>
          <a:xfrm>
            <a:off x="6995160" y="3840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answers.</a:t>
            </a:r>
            <a:endParaRPr lang="en-US" sz="2200" dirty="0" b="1"/>
          </a:p>
        </p:txBody>
      </p:sp>
      <p:sp>
        <p:nvSpPr>
          <p:cNvPr id="60" name="s1 body"/>
          <p:cNvSpPr/>
          <p:nvPr/>
        </p:nvSpPr>
        <p:spPr>
          <a:xfrm>
            <a:off x="6995160" y="21031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says "room," "proposal," or "person." B makes one sentence with where, which, or who.</a:t>
            </a:r>
            <a:endParaRPr lang="en-US" sz="1900" dirty="0" b="0"/>
          </a:p>
        </p:txBody>
      </p:sp>
      <p:sp>
        <p:nvSpPr>
          <p:cNvPr id="70" name="s2 body"/>
          <p:cNvSpPr/>
          <p:nvPr/>
        </p:nvSpPr>
        <p:spPr>
          <a:xfrm>
            <a:off x="6995160" y="44348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1900" dirty="0" b="0"/>
          </a:p>
        </p:txBody>
      </p:sp>
      <p:sp>
        <p:nvSpPr>
          <p:cNvPr id="25" name="sub"/>
          <p:cNvSpPr/>
          <p:nvPr/>
        </p:nvSpPr>
        <p:spPr>
          <a:xfrm>
            <a:off x="771754" y="2148840"/>
            <a:ext cx="4572000" cy="68580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1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Handout: a page [sign: HANDOUT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Groups.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Groups of 4.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7:00–7:18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Groups of 4.</a:t>
            </a:r>
            <a:endParaRPr lang="en-US" sz="1600" dirty="0" b="1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Groups of 4.</a:t>
            </a:r>
            <a:endParaRPr lang="en-US" sz="1600" dirty="0" b="1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Groups of 4.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Sign-in sheet: a memo and a pencil [sign: SIGN IN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Groups.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chair keeps the order.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7:00–7:18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chair keeps the order.</a:t>
            </a:r>
            <a:endParaRPr lang="en-US" sz="1600" dirty="0" b="1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chair keeps the order.</a:t>
            </a:r>
            <a:endParaRPr lang="en-US" sz="1600" dirty="0" b="1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chair keeps the order.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40726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34965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&amp;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the page.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the questions.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397557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397557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46156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397557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are they deciding?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5010912" y="2525573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Evening hours</a:t>
            </a:r>
            <a:endParaRPr lang="en-US" sz="13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3183941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318394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3247949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3183941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 is the chairperson?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5010912" y="3311957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Ms. Adeyemi</a:t>
            </a:r>
            <a:endParaRPr lang="en-US" sz="13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970325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970325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4034333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970325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does Tom want?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5010912" y="4098341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Later hours, until eight on Thursday</a:t>
            </a:r>
            <a:endParaRPr lang="en-US" sz="13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756709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756709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82071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756709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 does Grace want the current hours?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5010912" y="4884725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bus stops early</a:t>
            </a:r>
            <a:endParaRPr lang="en-US" sz="13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543093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543093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60710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543093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is the meeting?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5010912" y="5671109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the room where we meet</a:t>
            </a:r>
            <a:endParaRPr lang="en-US" sz="13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o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343400" y="2103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  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7:25–7:30</a:t>
            </a:r>
            <a:endParaRPr lang="en-US" sz="4000" dirty="0"/>
          </a:p>
        </p:txBody>
      </p:sp>
      <p:pic>
        <p:nvPicPr>
          <p:cNvPr id="16" name="pic" descr="Question card: an index card and a question mark [sign: QUESTION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17" name="Num 01"/>
          <p:cNvSpPr/>
          <p:nvPr/>
        </p:nvSpPr>
        <p:spPr>
          <a:xfrm>
            <a:off x="43434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Label 01"/>
          <p:cNvSpPr/>
          <p:nvPr/>
        </p:nvSpPr>
        <p:spPr>
          <a:xfrm>
            <a:off x="51206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 b="1"/>
          </a:p>
        </p:txBody>
      </p:sp>
      <p:sp>
        <p:nvSpPr>
          <p:cNvPr id="19" name="Body 01"/>
          <p:cNvSpPr/>
          <p:nvPr/>
        </p:nvSpPr>
        <p:spPr>
          <a:xfrm>
            <a:off x="4343400" y="3520440"/>
            <a:ext cx="352044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 idea do you support, and where would you say it?</a:t>
            </a:r>
            <a:endParaRPr lang="en-US" sz="15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Name: Date: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Four sentences with which or where, a reason, and one polite phrase.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this page to your teacher.</a:t>
            </a:r>
            <a:endParaRPr lang="en-US" sz="1500" dirty="0" b="0"/>
          </a:p>
        </p:txBody>
      </p:sp>
      <p:sp>
        <p:nvSpPr>
          <p:cNvPr id="20" name="Num 02"/>
          <p:cNvSpPr/>
          <p:nvPr/>
        </p:nvSpPr>
        <p:spPr>
          <a:xfrm>
            <a:off x="80010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Label 02"/>
          <p:cNvSpPr/>
          <p:nvPr/>
        </p:nvSpPr>
        <p:spPr>
          <a:xfrm>
            <a:off x="87782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 b="1"/>
          </a:p>
        </p:txBody>
      </p:sp>
      <p:sp>
        <p:nvSpPr>
          <p:cNvPr id="22" name="Body 02"/>
          <p:cNvSpPr/>
          <p:nvPr/>
        </p:nvSpPr>
        <p:spPr>
          <a:xfrm>
            <a:off x="8001000" y="3520440"/>
            <a:ext cx="365760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 20–25 minutes.</a:t>
            </a:r>
            <a:endParaRPr lang="en-US" sz="15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Write where.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Finish your comment for the chair (Read &amp; Write).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Ask one which or where question at home. Write it.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Review: write one sentence with who for a person.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Bring it next week!</a:t>
            </a:r>
            <a:endParaRPr lang="en-US" sz="1500" dirty="0" b="1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oodby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Library: books and a classical buil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12  ·  Level 5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See You Next Week!</a:t>
            </a:r>
            <a:endParaRPr lang="en-US" sz="36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you can: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point to a thing with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a place with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</a:t>
            </a:r>
            <a:endParaRPr lang="en-US" sz="1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still use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for a person</a:t>
            </a:r>
            <a:endParaRPr lang="en-US" sz="1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ask a question from the agenda</a:t>
            </a:r>
            <a:endParaRPr lang="en-US" sz="1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redits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itle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5" name="pictures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signs and labels were added.</a:t>
            </a:r>
            <a:endParaRPr lang="en-US" sz="1600" dirty="0" b="0"/>
          </a:p>
        </p:txBody>
      </p:sp>
      <p:sp>
        <p:nvSpPr>
          <p:cNvPr id="16" name="names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Names and story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Ms. Adeyemi, Tom, and Grace are invented names. The listening story is invented.</a:t>
            </a:r>
            <a:endParaRPr lang="en-US" sz="1600" dirty="0" b="0"/>
          </a:p>
        </p:txBody>
      </p:sp>
      <p:sp>
        <p:nvSpPr>
          <p:cNvPr id="17" name="audio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synthetic voices made with Chatterbox TTS (MIT License), cloned from short synthetic reference clips made with Kokoro-82M (Apache License 2.0). No recordings of real people were used. Each file carries an inaudible Perth watermark marking it as AI-generated. Font: Lexend Deca (OFL 1.1).</a:t>
            </a:r>
            <a:endParaRPr lang="en-US" sz="1350" dirty="0" b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1350" dirty="0" b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Level 5 Lesson 12: The Room Where We Meet</dc:title>
  <dc:subject>PptxGenJS Presentation</dc:subject>
  <dc:creator>Level 1 ESL</dc:creator>
  <cp:lastModifiedBy>Level 1 ESL</cp:lastModifiedBy>
  <cp:revision>1</cp:revision>
  <dcterms:created xsi:type="dcterms:W3CDTF">2026-10-15T20:54:31Z</dcterms:created>
  <dcterms:modified xsi:type="dcterms:W3CDTF">2026-10-15T20:54:31Z</dcterms:modified>
</cp:coreProperties>
</file>