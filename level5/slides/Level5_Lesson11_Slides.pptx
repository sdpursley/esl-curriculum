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1069" r:id="rId32"/>
    <p:sldId id="1070" r:id="rId21"/>
    <p:sldId id="1071" r:id="rId19"/>
    <p:sldId id="1072" r:id="rId15"/>
    <p:sldId id="1073" r:id="rId37"/>
    <p:sldId id="1074" r:id="rId38"/>
    <p:sldId id="1075" r:id="rId39"/>
    <p:sldId id="1076" r:id="rId40"/>
    <p:sldId id="1077" r:id="rId41"/>
    <p:sldId id="1078" r:id="rId42"/>
    <p:sldId id="1079" r:id="rId43"/>
    <p:sldId id="1080" r:id="rId44"/>
    <p:sldId id="1081" r:id="rId45"/>
    <p:sldId id="1082" r:id="rId46"/>
    <p:sldId id="1083" r:id="rId47"/>
    <p:sldId id="1084" r:id="rId48"/>
    <p:sldId id="1085" r:id="rId49"/>
    <p:sldId id="1086" r:id="rId50"/>
    <p:sldId id="1087" r:id="rId51"/>
    <p:sldId id="1088" r:id="rId52"/>
    <p:sldId id="1089" r:id="rId53"/>
    <p:sldId id="1090" r:id="rId54"/>
    <p:sldId id="1091" r:id="rId55"/>
    <p:sldId id="1092" r:id="rId56"/>
    <p:sldId id="1093" r:id="rId9"/>
    <p:sldId id="1094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Now you can lines.</a:t>
            </a:r>
          </a:p>
          <a:p>
            <a:r>
              <a:t>Homework is about 20–25 minutes. Bring it next week.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shows the next card.</a:t>
            </a:r>
          </a:p>
          <a:p>
            <a:r>
              <a:t>A asks. B answers. Then switch.</a:t>
            </a:r>
          </a:p>
          <a:p>
            <a:r>
              <a:t>Lesson plan: Step 1; Opening Talk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6:00–6:06 · Opening Talk.</a:t>
            </a:r>
          </a:p>
          <a:p>
            <a:r>
              <a:t>Work with a partner.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Read the three lines under Today you will.</a:t>
            </a:r>
          </a:p>
          <a:p>
            <a:r>
              <a:t>It is not insurance advice.</a:t>
            </a:r>
          </a:p>
          <a:p>
            <a:r>
              <a:t>Lesson plan: Topic; At a glance: Objectives.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6:06–6:12 · New Words.</a:t>
            </a:r>
          </a:p>
          <a:p>
            <a:r>
              <a:t>Point to each picture. Learners repeat. ★ = most important.</a:t>
            </a:r>
          </a:p>
          <a:p>
            <a:r>
              <a:t>Lesson plan: Step 2;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points to a picture. B names it and uses it in one sentence. Then switch.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answers are hidden. Ask, then click.</a:t>
            </a:r>
          </a:p>
          <a:p>
            <a:r>
              <a:t>1. One.</a:t>
            </a:r>
          </a:p>
          <a:p>
            <a:r>
              <a:t>2. *is*</a:t>
            </a:r>
          </a:p>
          <a:p>
            <a:r>
              <a:t>3. It was attached.</a:t>
            </a:r>
          </a:p>
          <a:p>
            <a:r>
              <a:t>Lesson plan: Step 2: Check the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6:12–6:32 · Listening. Play 1 is Task A. Play 2 is Tasks B and C. A third play is fine.</a:t>
            </a:r>
          </a:p>
          <a:p>
            <a:r>
              <a:t>Hector calls about a cracked-screen claim.</a:t>
            </a:r>
          </a:p>
          <a:p>
            <a:r>
              <a:t>The script says going to and want to. Learners only need to recognize gonna and wanna.</a:t>
            </a:r>
          </a:p>
          <a:p>
            <a:r>
              <a:t>Lesson plan: Step 3;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b.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was received • 2 was attached • 3 the estimate • 4 seven one • 5 four two eight • 6 send it today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Waiting • 2 was received • 3 was attached • 4 Filing • 5 Sending • 6 Sending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gonna and wanna are short forms. This listening uses the full forms. Say each line two times.</a:t>
            </a:r>
          </a:p>
          <a:p>
            <a:r>
              <a:t>Lesson plan: Step 3: Hear it,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1: a gerund is the subject. Each click shows the answer side.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2: a soft request. Each click shows the answer side.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3: what was sent. Each click shows the answer side.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4: have to. Each click shows the answer side.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is • 2 attached • 3 takes • 4 could • 5 received • 6 helps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is • 2 you could • 3 attached • 4 Filing • 5 have to • 6 helps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Don't say, then Say. Learners try first. Then click.</a:t>
            </a:r>
          </a:p>
          <a:p>
            <a:r>
              <a:t>Lesson plan: Grammar: Common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says: "Waiting on hold." B says: "Waiting on hold is tiring." Then switch. Use filing and sending too. ---</a:t>
            </a:r>
          </a:p>
          <a:p>
            <a:r>
              <a:t>Break · 6:45–7:00.</a:t>
            </a:r>
          </a:p>
          <a:p>
            <a:r>
              <a:t>Lesson plan: Step 4: Pair check.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1.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7:18–7:25 · Read &amp; Write.</a:t>
            </a:r>
          </a:p>
          <a:p>
            <a:r>
              <a:t>Click to show each answer: 1 A cracked phone screen • 2 The photo • 3 The estimate • 4 Seven one • 5 Four two eight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and homework. Never skip the exit ticket.</a:t>
            </a:r>
          </a:p>
          <a:p>
            <a:r>
              <a:t>Start a claim letter.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Claim form: a clipboard and a memo [sign: CLAIM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11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 File a Claim</a:t>
            </a:r>
            <a:endParaRPr lang="en-US" sz="4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start a sentence with a gerund (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Waiting on hold is tiring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soften a request with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wondering if…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what was sent or attached, in the passive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things.</a:t>
            </a:r>
            <a:endParaRPr lang="en-US" sz="2000" dirty="0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713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6883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start a sentence with a gerund (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Waiting on hold is tiring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5750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5750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90876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5750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soften a request with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wondering if…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9100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7954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7954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712921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79546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was sent or attached, in the passive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81304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01591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0159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3496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01591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 1–2 paragraph letter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350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Policy number: a document [sign: POLICY NO.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 card</a:t>
            </a:r>
            <a:endParaRPr lang="en-US" sz="18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question. B answers in about four sentences. A asks one follow-up. Then switch.</a:t>
            </a:r>
            <a:endParaRPr lang="en-US" sz="1800" dirty="0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sentences. A asks one follow-up. Then</a:t>
            </a:r>
            <a:endParaRPr lang="en-US" sz="18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switch.</a:t>
            </a:r>
            <a:endParaRPr lang="en-US" sz="18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 card question. B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 in about four sentences. A asks one follow-up. Then switch.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 card question. B answers in about four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sentences. A asks one follow-up. Then switch.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Claim form: a clipboard and a memo [sign: CLAIM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claim form</a:t>
            </a:r>
            <a:endParaRPr lang="en-US" sz="2000" dirty="0" b="1"/>
          </a:p>
        </p:txBody>
      </p:sp>
      <p:pic>
        <p:nvPicPr>
          <p:cNvPr id="19" name="Word picture 2" descr="Policy number: a document [sign: POLICY NO.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policy number</a:t>
            </a:r>
            <a:endParaRPr lang="en-US" sz="1500" dirty="0" b="1"/>
          </a:p>
        </p:txBody>
      </p:sp>
      <p:pic>
        <p:nvPicPr>
          <p:cNvPr id="21" name="Word picture 3" descr="Photo: a camera [sign: PHOTO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photo</a:t>
            </a:r>
            <a:endParaRPr lang="en-US" sz="2000" dirty="0" b="1"/>
          </a:p>
        </p:txBody>
      </p:sp>
      <p:pic>
        <p:nvPicPr>
          <p:cNvPr id="23" name="Word picture 4" descr="Estimate: a receipt and a pen [sign: ESTIMATE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estimate</a:t>
            </a:r>
            <a:endParaRPr lang="en-US" sz="2000" dirty="0" b="1"/>
          </a:p>
        </p:txBody>
      </p:sp>
      <p:pic>
        <p:nvPicPr>
          <p:cNvPr id="25" name="Word picture 5" descr="Complaint: an envelope and a speech balloon [sign: COMPLAINT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complaint</a:t>
            </a:r>
            <a:endParaRPr lang="en-US" sz="2000" dirty="0" b="1"/>
          </a:p>
        </p:txBody>
      </p:sp>
      <p:pic>
        <p:nvPicPr>
          <p:cNvPr id="27" name="Word picture 6" descr="Attachment: a paperclip [sign: ATTACHMENT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attachment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 in a sentence</a:t>
            </a:r>
            <a:endParaRPr lang="en-US" sz="2200" dirty="0" b="1"/>
          </a:p>
        </p:txBody>
      </p:sp>
      <p:pic>
        <p:nvPicPr>
          <p:cNvPr id="17" name="Word picture 1" descr="Reference number: a document and a number sign [sign: REF. NO.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reference number</a:t>
            </a:r>
            <a:endParaRPr lang="en-US" sz="1500" dirty="0" b="1"/>
          </a:p>
        </p:txBody>
      </p:sp>
      <p:pic>
        <p:nvPicPr>
          <p:cNvPr id="19" name="Word picture 2" descr="Customer service: headphones and a telephone [sign: SERVICE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customer service</a:t>
            </a:r>
            <a:endParaRPr lang="en-US" sz="1500" dirty="0" b="1"/>
          </a:p>
        </p:txBody>
      </p:sp>
      <p:pic>
        <p:nvPicPr>
          <p:cNvPr id="21" name="Word picture 3" descr="On hold: a telephone and an hourglass [sign: ON HOLD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hold</a:t>
            </a:r>
            <a:endParaRPr lang="en-US" sz="2000" dirty="0" b="1"/>
          </a:p>
        </p:txBody>
      </p:sp>
      <p:pic>
        <p:nvPicPr>
          <p:cNvPr id="23" name="Word picture 4" descr="Resolution: a check mark and a document [sign: SOLVED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resolution</a:t>
            </a:r>
            <a:endParaRPr lang="en-US" sz="2000" dirty="0" b="1"/>
          </a:p>
        </p:txBody>
      </p:sp>
      <p:pic>
        <p:nvPicPr>
          <p:cNvPr id="25" name="Word picture 5" descr="Cracked screen: a mobile phone and a collision mark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cracked screen</a:t>
            </a:r>
            <a:endParaRPr lang="en-US" sz="1500" dirty="0" b="1"/>
          </a:p>
        </p:txBody>
      </p:sp>
      <p:pic>
        <p:nvPicPr>
          <p:cNvPr id="27" name="Word picture 6" descr="Water stain: a drop and a documen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water stain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Waiting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one activity or many?</a:t>
            </a:r>
            <a:endParaRPr lang="en-US" sz="1600" dirty="0" b="1"/>
          </a:p>
        </p:txBody>
      </p:sp>
      <p:pic>
        <p:nvPicPr>
          <p:cNvPr id="101" name="R1 pic" descr="Claim form: a clipboard and a memo [sign: CLAIM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the verb after </a:t>
            </a:r>
            <a:r>
              <a:rPr lang="en-US" sz="1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Waiting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</a:t>
            </a:r>
            <a:r>
              <a:rPr lang="en-US" sz="1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</a:t>
            </a:r>
            <a:r>
              <a:rPr lang="en-US" sz="1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400" dirty="0" b="1"/>
          </a:p>
        </p:txBody>
      </p:sp>
      <p:pic>
        <p:nvPicPr>
          <p:cNvPr id="102" name="R2 pic" descr="Policy number: a document [sign: POLICY NO.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the photo attached, or did Hector forget it?</a:t>
            </a:r>
            <a:endParaRPr lang="en-US" sz="1400" dirty="0" b="1"/>
          </a:p>
        </p:txBody>
      </p:sp>
      <p:pic>
        <p:nvPicPr>
          <p:cNvPr id="103" name="R3 pic" descr="Photo: a camera [sign: PHOTO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One.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was attached.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Hector calls about a cracked-screen claim.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Photo: a camera [sign: PHOTO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Ms. Lane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Hector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is the claim about?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 Play 1 → Task A.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2:02.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is the claim about?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453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2139696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A new phone he wants to buy</a:t>
            </a:r>
            <a:endParaRPr lang="en-US" sz="1300" dirty="0" b="1"/>
          </a:p>
        </p:txBody>
      </p:sp>
      <p:sp>
        <p:nvSpPr>
          <p:cNvPr id="10" name="R1 opt2"/>
          <p:cNvSpPr/>
          <p:nvPr/>
        </p:nvSpPr>
        <p:spPr>
          <a:xfrm>
            <a:off x="5367528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A cracked phone screen</a:t>
            </a:r>
            <a:endParaRPr lang="en-US" sz="1300" dirty="0" b="1"/>
          </a:p>
        </p:txBody>
      </p:sp>
      <p:sp>
        <p:nvSpPr>
          <p:cNvPr id="11" name="R1 opt3"/>
          <p:cNvSpPr/>
          <p:nvPr/>
        </p:nvSpPr>
        <p:spPr>
          <a:xfrm>
            <a:off x="8595360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A water stain that is still wet</a:t>
            </a:r>
            <a:endParaRPr lang="en-US" sz="1300" dirty="0" b="1"/>
          </a:p>
        </p:txBody>
      </p:sp>
      <p:sp>
        <p:nvSpPr>
          <p:cNvPr id="12" name="R1 circle"/>
          <p:cNvSpPr/>
          <p:nvPr/>
        </p:nvSpPr>
        <p:spPr>
          <a:xfrm>
            <a:off x="5239512" y="3054096"/>
            <a:ext cx="34107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Listen again. Circle the answers.</a:t>
            </a:r>
            <a:endParaRPr lang="en-US" sz="16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1. The form</a:t>
            </a:r>
            <a:endParaRPr lang="en-US" sz="1300" dirty="0"/>
          </a:p>
        </p:txBody>
      </p:sp>
      <p:sp>
        <p:nvSpPr>
          <p:cNvPr id="9" name="R1 opt1"/>
          <p:cNvSpPr/>
          <p:nvPr/>
        </p:nvSpPr>
        <p:spPr>
          <a:xfrm>
            <a:off x="516636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received</a:t>
            </a:r>
            <a:endParaRPr lang="en-US" sz="1200" dirty="0" b="1"/>
          </a:p>
        </p:txBody>
      </p:sp>
      <p:sp>
        <p:nvSpPr>
          <p:cNvPr id="10" name="R1 opt2"/>
          <p:cNvSpPr/>
          <p:nvPr/>
        </p:nvSpPr>
        <p:spPr>
          <a:xfrm>
            <a:off x="745236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lost</a:t>
            </a:r>
            <a:endParaRPr lang="en-US" sz="1200" dirty="0" b="1"/>
          </a:p>
        </p:txBody>
      </p:sp>
      <p:sp>
        <p:nvSpPr>
          <p:cNvPr id="11" name="R1 opt3"/>
          <p:cNvSpPr/>
          <p:nvPr/>
        </p:nvSpPr>
        <p:spPr>
          <a:xfrm>
            <a:off x="973836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not sent</a:t>
            </a:r>
            <a:endParaRPr lang="en-US" sz="1200" dirty="0" b="1"/>
          </a:p>
        </p:txBody>
      </p:sp>
      <p:sp>
        <p:nvSpPr>
          <p:cNvPr id="12" name="R1 circle"/>
          <p:cNvSpPr/>
          <p:nvPr/>
        </p:nvSpPr>
        <p:spPr>
          <a:xfrm>
            <a:off x="5038344" y="30540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3" name="R2 stmt"/>
          <p:cNvSpPr/>
          <p:nvPr/>
        </p:nvSpPr>
        <p:spPr>
          <a:xfrm>
            <a:off x="502920" y="365760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2. The photo</a:t>
            </a:r>
            <a:endParaRPr lang="en-US" sz="1300" dirty="0"/>
          </a:p>
        </p:txBody>
      </p:sp>
      <p:sp>
        <p:nvSpPr>
          <p:cNvPr id="14" name="R2 opt1"/>
          <p:cNvSpPr/>
          <p:nvPr/>
        </p:nvSpPr>
        <p:spPr>
          <a:xfrm>
            <a:off x="516636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attached</a:t>
            </a:r>
            <a:endParaRPr lang="en-US" sz="1200" dirty="0" b="1"/>
          </a:p>
        </p:txBody>
      </p:sp>
      <p:sp>
        <p:nvSpPr>
          <p:cNvPr id="15" name="R2 opt2"/>
          <p:cNvSpPr/>
          <p:nvPr/>
        </p:nvSpPr>
        <p:spPr>
          <a:xfrm>
            <a:off x="745236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missing</a:t>
            </a:r>
            <a:endParaRPr lang="en-US" sz="1200" dirty="0" b="1"/>
          </a:p>
        </p:txBody>
      </p:sp>
      <p:sp>
        <p:nvSpPr>
          <p:cNvPr id="16" name="R2 opt3"/>
          <p:cNvSpPr/>
          <p:nvPr/>
        </p:nvSpPr>
        <p:spPr>
          <a:xfrm>
            <a:off x="973836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water stain</a:t>
            </a:r>
            <a:endParaRPr lang="en-US" sz="1200" dirty="0" b="1"/>
          </a:p>
        </p:txBody>
      </p:sp>
      <p:sp>
        <p:nvSpPr>
          <p:cNvPr id="17" name="R2 circle"/>
          <p:cNvSpPr/>
          <p:nvPr/>
        </p:nvSpPr>
        <p:spPr>
          <a:xfrm>
            <a:off x="5038344" y="360273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8" name="R3 stmt"/>
          <p:cNvSpPr/>
          <p:nvPr/>
        </p:nvSpPr>
        <p:spPr>
          <a:xfrm>
            <a:off x="502920" y="420624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3. He still must send</a:t>
            </a:r>
            <a:endParaRPr lang="en-US" sz="1300" dirty="0"/>
          </a:p>
        </p:txBody>
      </p:sp>
      <p:sp>
        <p:nvSpPr>
          <p:cNvPr id="19" name="R3 opt1"/>
          <p:cNvSpPr/>
          <p:nvPr/>
        </p:nvSpPr>
        <p:spPr>
          <a:xfrm>
            <a:off x="516636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estimate</a:t>
            </a:r>
            <a:endParaRPr lang="en-US" sz="1200" dirty="0" b="1"/>
          </a:p>
        </p:txBody>
      </p:sp>
      <p:sp>
        <p:nvSpPr>
          <p:cNvPr id="20" name="R3 opt2"/>
          <p:cNvSpPr/>
          <p:nvPr/>
        </p:nvSpPr>
        <p:spPr>
          <a:xfrm>
            <a:off x="745236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phone</a:t>
            </a:r>
            <a:endParaRPr lang="en-US" sz="1200" dirty="0" b="1"/>
          </a:p>
        </p:txBody>
      </p:sp>
      <p:sp>
        <p:nvSpPr>
          <p:cNvPr id="21" name="R3 opt3"/>
          <p:cNvSpPr/>
          <p:nvPr/>
        </p:nvSpPr>
        <p:spPr>
          <a:xfrm>
            <a:off x="973836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new complaint</a:t>
            </a:r>
            <a:endParaRPr lang="en-US" sz="1200" dirty="0" b="1"/>
          </a:p>
        </p:txBody>
      </p:sp>
      <p:sp>
        <p:nvSpPr>
          <p:cNvPr id="22" name="R3 circle"/>
          <p:cNvSpPr/>
          <p:nvPr/>
        </p:nvSpPr>
        <p:spPr>
          <a:xfrm>
            <a:off x="5038344" y="415137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R4 stmt"/>
          <p:cNvSpPr/>
          <p:nvPr/>
        </p:nvSpPr>
        <p:spPr>
          <a:xfrm>
            <a:off x="502920" y="475488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4. Reference number</a:t>
            </a:r>
            <a:endParaRPr lang="en-US" sz="1300" dirty="0"/>
          </a:p>
        </p:txBody>
      </p:sp>
      <p:sp>
        <p:nvSpPr>
          <p:cNvPr id="24" name="R4 opt1"/>
          <p:cNvSpPr/>
          <p:nvPr/>
        </p:nvSpPr>
        <p:spPr>
          <a:xfrm>
            <a:off x="516636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seven one</a:t>
            </a:r>
            <a:endParaRPr lang="en-US" sz="1200" dirty="0" b="1"/>
          </a:p>
        </p:txBody>
      </p:sp>
      <p:sp>
        <p:nvSpPr>
          <p:cNvPr id="25" name="R4 opt2"/>
          <p:cNvSpPr/>
          <p:nvPr/>
        </p:nvSpPr>
        <p:spPr>
          <a:xfrm>
            <a:off x="745236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four two eight</a:t>
            </a:r>
            <a:endParaRPr lang="en-US" sz="1200" dirty="0" b="1"/>
          </a:p>
        </p:txBody>
      </p:sp>
      <p:sp>
        <p:nvSpPr>
          <p:cNvPr id="26" name="R4 opt3"/>
          <p:cNvSpPr/>
          <p:nvPr/>
        </p:nvSpPr>
        <p:spPr>
          <a:xfrm>
            <a:off x="973836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nine nine</a:t>
            </a:r>
            <a:endParaRPr lang="en-US" sz="1200" dirty="0" b="1"/>
          </a:p>
        </p:txBody>
      </p:sp>
      <p:sp>
        <p:nvSpPr>
          <p:cNvPr id="27" name="R4 circle"/>
          <p:cNvSpPr/>
          <p:nvPr/>
        </p:nvSpPr>
        <p:spPr>
          <a:xfrm>
            <a:off x="5038344" y="470001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5 stmt"/>
          <p:cNvSpPr/>
          <p:nvPr/>
        </p:nvSpPr>
        <p:spPr>
          <a:xfrm>
            <a:off x="502920" y="530352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5. Policy number</a:t>
            </a:r>
            <a:endParaRPr lang="en-US" sz="1300" dirty="0"/>
          </a:p>
        </p:txBody>
      </p:sp>
      <p:sp>
        <p:nvSpPr>
          <p:cNvPr id="29" name="R5 opt1"/>
          <p:cNvSpPr/>
          <p:nvPr/>
        </p:nvSpPr>
        <p:spPr>
          <a:xfrm>
            <a:off x="516636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four two eight</a:t>
            </a:r>
            <a:endParaRPr lang="en-US" sz="1200" dirty="0" b="1"/>
          </a:p>
        </p:txBody>
      </p:sp>
      <p:sp>
        <p:nvSpPr>
          <p:cNvPr id="30" name="R5 opt2"/>
          <p:cNvSpPr/>
          <p:nvPr/>
        </p:nvSpPr>
        <p:spPr>
          <a:xfrm>
            <a:off x="745236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seven one</a:t>
            </a:r>
            <a:endParaRPr lang="en-US" sz="1200" dirty="0" b="1"/>
          </a:p>
        </p:txBody>
      </p:sp>
      <p:sp>
        <p:nvSpPr>
          <p:cNvPr id="31" name="R5 opt3"/>
          <p:cNvSpPr/>
          <p:nvPr/>
        </p:nvSpPr>
        <p:spPr>
          <a:xfrm>
            <a:off x="973836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three three</a:t>
            </a:r>
            <a:endParaRPr lang="en-US" sz="1200" dirty="0" b="1"/>
          </a:p>
        </p:txBody>
      </p:sp>
      <p:sp>
        <p:nvSpPr>
          <p:cNvPr id="32" name="R5 circle"/>
          <p:cNvSpPr/>
          <p:nvPr/>
        </p:nvSpPr>
        <p:spPr>
          <a:xfrm>
            <a:off x="5038344" y="524865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3" name="R6 stmt"/>
          <p:cNvSpPr/>
          <p:nvPr/>
        </p:nvSpPr>
        <p:spPr>
          <a:xfrm>
            <a:off x="502920" y="585216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6. He is going to</a:t>
            </a:r>
            <a:endParaRPr lang="en-US" sz="1300" dirty="0"/>
          </a:p>
        </p:txBody>
      </p:sp>
      <p:sp>
        <p:nvSpPr>
          <p:cNvPr id="34" name="R6 opt1"/>
          <p:cNvSpPr/>
          <p:nvPr/>
        </p:nvSpPr>
        <p:spPr>
          <a:xfrm>
            <a:off x="516636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send it today</a:t>
            </a:r>
            <a:endParaRPr lang="en-US" sz="1200" dirty="0" b="1"/>
          </a:p>
        </p:txBody>
      </p:sp>
      <p:sp>
        <p:nvSpPr>
          <p:cNvPr id="35" name="R6 opt2"/>
          <p:cNvSpPr/>
          <p:nvPr/>
        </p:nvSpPr>
        <p:spPr>
          <a:xfrm>
            <a:off x="745236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stay on hold</a:t>
            </a:r>
            <a:endParaRPr lang="en-US" sz="1200" dirty="0" b="1"/>
          </a:p>
        </p:txBody>
      </p:sp>
      <p:sp>
        <p:nvSpPr>
          <p:cNvPr id="36" name="R6 opt3"/>
          <p:cNvSpPr/>
          <p:nvPr/>
        </p:nvSpPr>
        <p:spPr>
          <a:xfrm>
            <a:off x="973836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buy a new phone</a:t>
            </a:r>
            <a:endParaRPr lang="en-US" sz="1200" dirty="0" b="1"/>
          </a:p>
        </p:txBody>
      </p:sp>
      <p:sp>
        <p:nvSpPr>
          <p:cNvPr id="37" name="R6 circle"/>
          <p:cNvSpPr/>
          <p:nvPr/>
        </p:nvSpPr>
        <p:spPr>
          <a:xfrm>
            <a:off x="5038344" y="57972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Write the geru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 on hold was tiring.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Waiting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form ______.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received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photo ______.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attached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 a claim takes time.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Filing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 a photo helps.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Sending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 the estimate is my next step.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Sending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and wanna are short forms</a:t>
            </a:r>
            <a:endParaRPr lang="en-US" sz="16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use the full forms</a:t>
            </a:r>
            <a:endParaRPr lang="en-US" sz="16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say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file a claim.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wondering if you could look up my claim.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send it today.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Waiting on hold was tiring.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Estimate: a receipt and a pen [sign: ESTIMAT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gerund is the subject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ACTIVITY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VERB IS SINGUL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Waiting on hold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tiring.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Filing a claim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takes time.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Sending a photo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helps.</a:t>
            </a:r>
            <a:endParaRPr lang="en-US" sz="16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16636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Sending the estimate</a:t>
            </a:r>
            <a:endParaRPr lang="en-US" sz="1500" dirty="0" b="1"/>
          </a:p>
        </p:txBody>
      </p:sp>
      <p:sp>
        <p:nvSpPr>
          <p:cNvPr id="28" name="Answer bg 4"/>
          <p:cNvSpPr/>
          <p:nvPr/>
        </p:nvSpPr>
        <p:spPr>
          <a:xfrm>
            <a:off x="9052560" y="516636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9052560" y="516636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my next step.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Complaint: an envelope and a speech balloon [sign: COMPLAIN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soft request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SAY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STATEMENT ORDER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wondering if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could check the claim.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wondering if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could look up the reference number.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mind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looking up the reference number?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Attachment: a paperclip [sign: ATTACHMEN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was sent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THING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PASSIVE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photo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attached.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form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received.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estimate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not attached yet.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Reference number: a document and a number sign [sign: REF. NO.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to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HAVE TO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DON'T HAVE TO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include the policy number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stay on hold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send the estimate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 again if the letter is complete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reference number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add a different problem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Waiting on hold ______ tiring.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photo was ______.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attached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Filing a claim ______ time.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takes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wondering if you ______ check it.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form was ______.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received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Sending a photo ______.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helps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1. Waiting on hold ______ tiring.</a:t>
            </a:r>
            <a:endParaRPr lang="en-US" sz="1500" dirty="0"/>
          </a:p>
        </p:txBody>
      </p:sp>
      <p:sp>
        <p:nvSpPr>
          <p:cNvPr id="9" name="R1 opt1"/>
          <p:cNvSpPr/>
          <p:nvPr/>
        </p:nvSpPr>
        <p:spPr>
          <a:xfrm>
            <a:off x="8211312" y="31089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1600" dirty="0" b="1"/>
          </a:p>
        </p:txBody>
      </p:sp>
      <p:sp>
        <p:nvSpPr>
          <p:cNvPr id="10" name="R1 opt2"/>
          <p:cNvSpPr/>
          <p:nvPr/>
        </p:nvSpPr>
        <p:spPr>
          <a:xfrm>
            <a:off x="9966960" y="31089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1600" dirty="0" b="1"/>
          </a:p>
        </p:txBody>
      </p:sp>
      <p:sp>
        <p:nvSpPr>
          <p:cNvPr id="11" name="R1 circle"/>
          <p:cNvSpPr/>
          <p:nvPr/>
        </p:nvSpPr>
        <p:spPr>
          <a:xfrm>
            <a:off x="8083296" y="305409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2. I was wondering if ______ check.</a:t>
            </a:r>
            <a:endParaRPr lang="en-US" sz="1500" dirty="0"/>
          </a:p>
        </p:txBody>
      </p:sp>
      <p:sp>
        <p:nvSpPr>
          <p:cNvPr id="13" name="R2 opt1"/>
          <p:cNvSpPr/>
          <p:nvPr/>
        </p:nvSpPr>
        <p:spPr>
          <a:xfrm>
            <a:off x="8211312" y="365760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</a:t>
            </a:r>
            <a:endParaRPr lang="en-US" sz="1600" dirty="0" b="1"/>
          </a:p>
        </p:txBody>
      </p:sp>
      <p:sp>
        <p:nvSpPr>
          <p:cNvPr id="14" name="R2 opt2"/>
          <p:cNvSpPr/>
          <p:nvPr/>
        </p:nvSpPr>
        <p:spPr>
          <a:xfrm>
            <a:off x="9966960" y="365760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could</a:t>
            </a:r>
            <a:endParaRPr lang="en-US" sz="1600" dirty="0" b="1"/>
          </a:p>
        </p:txBody>
      </p:sp>
      <p:sp>
        <p:nvSpPr>
          <p:cNvPr id="15" name="R2 circle"/>
          <p:cNvSpPr/>
          <p:nvPr/>
        </p:nvSpPr>
        <p:spPr>
          <a:xfrm>
            <a:off x="9838944" y="360273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3. The photo was ______ .</a:t>
            </a:r>
            <a:endParaRPr lang="en-US" sz="1500" dirty="0"/>
          </a:p>
        </p:txBody>
      </p:sp>
      <p:sp>
        <p:nvSpPr>
          <p:cNvPr id="17" name="R3 opt1"/>
          <p:cNvSpPr/>
          <p:nvPr/>
        </p:nvSpPr>
        <p:spPr>
          <a:xfrm>
            <a:off x="8211312" y="420624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attach</a:t>
            </a:r>
            <a:endParaRPr lang="en-US" sz="1600" dirty="0" b="1"/>
          </a:p>
        </p:txBody>
      </p:sp>
      <p:sp>
        <p:nvSpPr>
          <p:cNvPr id="18" name="R3 opt2"/>
          <p:cNvSpPr/>
          <p:nvPr/>
        </p:nvSpPr>
        <p:spPr>
          <a:xfrm>
            <a:off x="9966960" y="420624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attached</a:t>
            </a:r>
            <a:endParaRPr lang="en-US" sz="1600" dirty="0" b="1"/>
          </a:p>
        </p:txBody>
      </p:sp>
      <p:sp>
        <p:nvSpPr>
          <p:cNvPr id="19" name="R3 circle"/>
          <p:cNvSpPr/>
          <p:nvPr/>
        </p:nvSpPr>
        <p:spPr>
          <a:xfrm>
            <a:off x="9838944" y="415137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4. ______ a claim takes time.</a:t>
            </a:r>
            <a:endParaRPr lang="en-US" sz="1500" dirty="0"/>
          </a:p>
        </p:txBody>
      </p:sp>
      <p:sp>
        <p:nvSpPr>
          <p:cNvPr id="21" name="R4 opt1"/>
          <p:cNvSpPr/>
          <p:nvPr/>
        </p:nvSpPr>
        <p:spPr>
          <a:xfrm>
            <a:off x="8211312" y="475488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Filing</a:t>
            </a:r>
            <a:endParaRPr lang="en-US" sz="1600" dirty="0" b="1"/>
          </a:p>
        </p:txBody>
      </p:sp>
      <p:sp>
        <p:nvSpPr>
          <p:cNvPr id="22" name="R4 opt2"/>
          <p:cNvSpPr/>
          <p:nvPr/>
        </p:nvSpPr>
        <p:spPr>
          <a:xfrm>
            <a:off x="9966960" y="475488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File</a:t>
            </a:r>
            <a:endParaRPr lang="en-US" sz="1600" dirty="0" b="1"/>
          </a:p>
        </p:txBody>
      </p:sp>
      <p:sp>
        <p:nvSpPr>
          <p:cNvPr id="23" name="R4 circle"/>
          <p:cNvSpPr/>
          <p:nvPr/>
        </p:nvSpPr>
        <p:spPr>
          <a:xfrm>
            <a:off x="8083296" y="470001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5. You ______ include the policy number.</a:t>
            </a:r>
            <a:endParaRPr lang="en-US" sz="1500" dirty="0"/>
          </a:p>
        </p:txBody>
      </p:sp>
      <p:sp>
        <p:nvSpPr>
          <p:cNvPr id="25" name="R5 opt1"/>
          <p:cNvSpPr/>
          <p:nvPr/>
        </p:nvSpPr>
        <p:spPr>
          <a:xfrm>
            <a:off x="8211312" y="530352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to</a:t>
            </a:r>
            <a:endParaRPr lang="en-US" sz="1600" dirty="0" b="1"/>
          </a:p>
        </p:txBody>
      </p:sp>
      <p:sp>
        <p:nvSpPr>
          <p:cNvPr id="26" name="R5 opt2"/>
          <p:cNvSpPr/>
          <p:nvPr/>
        </p:nvSpPr>
        <p:spPr>
          <a:xfrm>
            <a:off x="9966960" y="530352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 to</a:t>
            </a:r>
            <a:endParaRPr lang="en-US" sz="1600" dirty="0" b="1"/>
          </a:p>
        </p:txBody>
      </p:sp>
      <p:sp>
        <p:nvSpPr>
          <p:cNvPr id="27" name="R5 circle"/>
          <p:cNvSpPr/>
          <p:nvPr/>
        </p:nvSpPr>
        <p:spPr>
          <a:xfrm>
            <a:off x="8083296" y="524865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6. Sending a photo ______ .</a:t>
            </a:r>
            <a:endParaRPr lang="en-US" sz="1500" dirty="0"/>
          </a:p>
        </p:txBody>
      </p:sp>
      <p:sp>
        <p:nvSpPr>
          <p:cNvPr id="29" name="R6 opt1"/>
          <p:cNvSpPr/>
          <p:nvPr/>
        </p:nvSpPr>
        <p:spPr>
          <a:xfrm>
            <a:off x="8211312" y="58521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</a:t>
            </a:r>
            <a:endParaRPr lang="en-US" sz="1600" dirty="0" b="1"/>
          </a:p>
        </p:txBody>
      </p:sp>
      <p:sp>
        <p:nvSpPr>
          <p:cNvPr id="30" name="R6 opt2"/>
          <p:cNvSpPr/>
          <p:nvPr/>
        </p:nvSpPr>
        <p:spPr>
          <a:xfrm>
            <a:off x="9966960" y="58521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helps</a:t>
            </a:r>
            <a:endParaRPr lang="en-US" sz="1600" dirty="0" b="1"/>
          </a:p>
        </p:txBody>
      </p:sp>
      <p:sp>
        <p:nvSpPr>
          <p:cNvPr id="31" name="R6 circle"/>
          <p:cNvSpPr/>
          <p:nvPr/>
        </p:nvSpPr>
        <p:spPr>
          <a:xfrm>
            <a:off x="9838944" y="579729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Customer service: headphones and a telephone [sign: SERVIC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Waiting on hold are tiring.</a:t>
            </a:r>
            <a:endParaRPr lang="en-US" sz="14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Waiting on hold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tiring.</a:t>
            </a:r>
            <a:endParaRPr lang="en-US" sz="1400" dirty="0" b="1"/>
          </a:p>
        </p:txBody>
      </p:sp>
      <p:sp>
        <p:nvSpPr>
          <p:cNvPr id="26" name="Bad 2"/>
          <p:cNvSpPr/>
          <p:nvPr/>
        </p:nvSpPr>
        <p:spPr>
          <a:xfrm>
            <a:off x="914400" y="2987399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wondering if could you check.</a:t>
            </a:r>
            <a:endParaRPr lang="en-US" sz="1400" dirty="0"/>
          </a:p>
        </p:txBody>
      </p:sp>
      <p:sp>
        <p:nvSpPr>
          <p:cNvPr id="27" name="Good 2"/>
          <p:cNvSpPr/>
          <p:nvPr/>
        </p:nvSpPr>
        <p:spPr>
          <a:xfrm>
            <a:off x="4800600" y="2987399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wondering if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could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check.</a:t>
            </a:r>
            <a:endParaRPr lang="en-US" sz="14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505917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photo was attach.</a:t>
            </a:r>
            <a:endParaRPr lang="en-US" sz="1400" dirty="0"/>
          </a:p>
        </p:txBody>
      </p:sp>
      <p:sp>
        <p:nvSpPr>
          <p:cNvPr id="29" name="Good 3"/>
          <p:cNvSpPr/>
          <p:nvPr/>
        </p:nvSpPr>
        <p:spPr>
          <a:xfrm>
            <a:off x="4800600" y="3505917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photo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attached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4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024436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Waiting are hard.</a:t>
            </a:r>
            <a:endParaRPr lang="en-US" sz="1400" dirty="0"/>
          </a:p>
        </p:txBody>
      </p:sp>
      <p:sp>
        <p:nvSpPr>
          <p:cNvPr id="31" name="Good 4"/>
          <p:cNvSpPr/>
          <p:nvPr/>
        </p:nvSpPr>
        <p:spPr>
          <a:xfrm>
            <a:off x="4800600" y="4024436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Waiting is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hard.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On hold: a telephone and an hourglass [sign: ON HOLD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says: "Waiting on hold." B says: "Waiting on hold is tiring." Then switch.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filing and sending too.</a:t>
            </a:r>
            <a:endParaRPr lang="en-US" sz="1900" dirty="0" b="0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Complaint: an envelope and a speech balloon [sign: COMPLAIN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Reference number: a document and a number sign [sign: REF. NO.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 the two paragraphs before anyone writes full sentences.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 the two paragraphs before anyone</a:t>
            </a:r>
            <a:endParaRPr lang="en-US" sz="1600" dirty="0" b="1"/>
          </a:p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writes full sentences.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page.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claim about?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010912" y="2525573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cracked phone screen</a:t>
            </a:r>
            <a:endParaRPr lang="en-US" sz="13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was attached?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010912" y="3311957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photo</a:t>
            </a:r>
            <a:endParaRPr lang="en-US" sz="13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still missing?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010912" y="4098341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estimate</a:t>
            </a:r>
            <a:endParaRPr lang="en-US" sz="13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reference number?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010912" y="4884725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Seven one</a:t>
            </a:r>
            <a:endParaRPr lang="en-US" sz="13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policy number?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010912" y="5671109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Four two eight</a:t>
            </a:r>
            <a:endParaRPr lang="en-US" sz="13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Resolution: a check mark and a document [sign: SOLVED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Start a claim letter.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Name: Date: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this page to your teacher.</a:t>
            </a:r>
            <a:endParaRPr lang="en-US" sz="15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20–25 minutes.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verb.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letter (Read &amp; Write). About 8–12 sentences.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Say I was wondering if to a friend. Write the sentence.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write one passive. The photo was attached. Then write one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5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Cracked screen: a mobile phone and a collision ma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11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36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start a sentence with a gerund (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Waiting on hold is tiring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soften a request with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wondering if…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what was sent or attached, in the passive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Ms. Lane and Hector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5 Lesson 11: I'd Like to File a Claim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