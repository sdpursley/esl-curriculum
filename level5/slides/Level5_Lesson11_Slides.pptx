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39" r:id="rId33"/>
    <p:sldId id="940" r:id="rId34"/>
    <p:sldId id="941" r:id="rId35"/>
    <p:sldId id="942" r:id="rId36"/>
    <p:sldId id="943" r:id="rId31"/>
    <p:sldId id="944" r:id="rId30"/>
    <p:sldId id="945" r:id="rId29"/>
    <p:sldId id="946" r:id="rId28"/>
    <p:sldId id="947" r:id="rId27"/>
    <p:sldId id="948" r:id="rId20"/>
    <p:sldId id="949" r:id="rId18"/>
    <p:sldId id="950" r:id="rId17"/>
    <p:sldId id="951" r:id="rId16"/>
    <p:sldId id="952" r:id="rId14"/>
    <p:sldId id="953" r:id="rId13"/>
    <p:sldId id="954" r:id="rId12"/>
    <p:sldId id="955" r:id="rId11"/>
    <p:sldId id="956" r:id="rId10"/>
    <p:sldId id="957" r:id="rId8"/>
    <p:sldId id="958" r:id="rId7"/>
    <p:sldId id="959" r:id="rId6"/>
    <p:sldId id="960" r:id="rId5"/>
    <p:sldId id="961" r:id="rId4"/>
    <p:sldId id="962" r:id="rId3"/>
    <p:sldId id="963" r:id="rId57"/>
    <p:sldId id="96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2:30)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Start a claim letter.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A cracked phone screen • 2 The photo • 3 The estimate • 4 Seven one • 5 Four two eight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says: "Waiting on hold." B says: "Waiting on hold is tiring." Then switch. Use filing and sending too. ---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is • 2 you could • 3 attached • 4 Filing • 5 have to • 6 helps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is • 2 attached • 3 takes • 4 could • 5 received • 6 helps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have to.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what was sent.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a soft request.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a gerund is the subject.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Waiting • 2 was received • 3 was attached • 4 Filing • 5 Sending • 6 Sending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was received • 2 was attached • 3 the estimate • 4 seven one • 5 four two eight • 6 send it today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Hector calls about a cracked-screen claim.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eleven. Hector calls customer service about a cracked phone screen. Ms. Lane answers. The phone call is the whole story.</a:t>
            </a:r>
          </a:p>
          <a:p>
            <a:r>
              <a:t>Ms. Lane: Thank you for calling customer service. This is Ms. Lane. How can I help you?</a:t>
            </a:r>
          </a:p>
          <a:p>
            <a:r>
              <a:t>Hector: Hello. I want to file a claim for a cracked screen. Waiting on hold was tiring, but I'm glad you answered.</a:t>
            </a:r>
          </a:p>
          <a:p>
            <a:r>
              <a:t>Ms. Lane: I can help. What is your policy number?</a:t>
            </a:r>
          </a:p>
          <a:p>
            <a:r>
              <a:t>Hector: It is four two eight. I was wondering if you could look up my claim.</a:t>
            </a:r>
          </a:p>
          <a:p>
            <a:r>
              <a:t>Ms. Lane: The form was received. The claim is about a cracked screen. Is that right?</a:t>
            </a:r>
          </a:p>
          <a:p>
            <a:r>
              <a:t>Hector: Yes. Filing a claim takes time, so I sent a photo last week.</a:t>
            </a:r>
          </a:p>
          <a:p>
            <a:r>
              <a:t>Ms. Lane: The photo was attached. Sending a photo helps, but we still need the estimate.</a:t>
            </a:r>
          </a:p>
          <a:p>
            <a:r>
              <a:t>Hector: I was wondering if you could tell me the reference number. I want to send the estimate today.</a:t>
            </a:r>
          </a:p>
          <a:p>
            <a:r>
              <a:t>Ms. Lane: The reference number is seven one. Please send the estimate as an attachment.</a:t>
            </a:r>
          </a:p>
          <a:p>
            <a:r>
              <a:t>Hector: Would you mind saying that number again? I want to write it on the claim form.</a:t>
            </a:r>
          </a:p>
          <a:p>
            <a:r>
              <a:t>Ms. Lane: Of course. Seven one. You have to include the policy number on the estimate.</a:t>
            </a:r>
          </a:p>
          <a:p>
            <a:r>
              <a:t>Hector: Sending the estimate is my next step. I don't want to stay on hold again.</a:t>
            </a:r>
          </a:p>
          <a:p>
            <a:r>
              <a:t>Ms. Lane: You don't have to wait on hold. You can send the attachment with the reference number.</a:t>
            </a:r>
          </a:p>
          <a:p>
            <a:r>
              <a:t>Hector: This is not a water stain. A water stain can be a claim too, but that stain is already dry. Nobody was hurt.</a:t>
            </a:r>
          </a:p>
          <a:p>
            <a:r>
              <a:t>Ms. Lane: This file is only the cracked screen. The home is safe. When the estimate arrives, we can look for a resolution.</a:t>
            </a:r>
          </a:p>
          <a:p>
            <a:r>
              <a:t>Hector: I'm going to send it today. Thank you for your help.</a:t>
            </a:r>
          </a:p>
          <a:p>
            <a:r>
              <a:t>Ms. Lane: Thank you, Hector. A clear photo and a clear estimate are enough for this practice file.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One.</a:t>
            </a:r>
          </a:p>
          <a:p>
            <a:r>
              <a:t>2. *is*</a:t>
            </a:r>
          </a:p>
          <a:p>
            <a:r>
              <a:t>3. It was attached.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It is not insurance advice.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Claim form: a clipboard and a memo [sign: CLAIM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11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to File a Claim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start a sentence with a gerund (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on hold is tiring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soften a request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wondering if…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was sent or attached, in the passive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start a sentence with a gerund (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on hold is tiring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soften a request with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wondering if…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was sent or attached, in the passive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 1–2 paragraph letter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Policy number: a document [sign: POLICY NO.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question. B answers in about four sentences. A asks one follow-up. Then switch.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sentences. A asks one follow-up. Then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 question. B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 in about four sentences. A asks one follow-up. Then switch.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 question. B answers in about four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sentences. A asks one follow-up. Then switch.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Claim form: a clipboard and a memo [sign: CLAIM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claim form</a:t>
            </a:r>
            <a:endParaRPr lang="en-US" sz="2000" dirty="0" b="1"/>
          </a:p>
        </p:txBody>
      </p:sp>
      <p:pic>
        <p:nvPicPr>
          <p:cNvPr id="19" name="Word picture 2" descr="Policy number: a document [sign: POLICY NO.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policy number</a:t>
            </a:r>
            <a:endParaRPr lang="en-US" sz="1500" dirty="0" b="1"/>
          </a:p>
        </p:txBody>
      </p:sp>
      <p:pic>
        <p:nvPicPr>
          <p:cNvPr id="21" name="Word picture 3" descr="Photo: a camera [sign: PHOTO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photo</a:t>
            </a:r>
            <a:endParaRPr lang="en-US" sz="2000" dirty="0" b="1"/>
          </a:p>
        </p:txBody>
      </p:sp>
      <p:pic>
        <p:nvPicPr>
          <p:cNvPr id="23" name="Word picture 4" descr="Estimate: a receipt and a pen [sign: ESTIMAT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estimate</a:t>
            </a:r>
            <a:endParaRPr lang="en-US" sz="2000" dirty="0" b="1"/>
          </a:p>
        </p:txBody>
      </p:sp>
      <p:pic>
        <p:nvPicPr>
          <p:cNvPr id="25" name="Word picture 5" descr="Complaint: an envelope and a speech balloon [sign: COMPLAINT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complaint</a:t>
            </a:r>
            <a:endParaRPr lang="en-US" sz="2000" dirty="0" b="1"/>
          </a:p>
        </p:txBody>
      </p:sp>
      <p:pic>
        <p:nvPicPr>
          <p:cNvPr id="27" name="Word picture 6" descr="Attachment: a paperclip [sign: ATTACHMENT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attachment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 in a sentence</a:t>
            </a:r>
            <a:endParaRPr lang="en-US" sz="2200" dirty="0" b="1"/>
          </a:p>
        </p:txBody>
      </p:sp>
      <p:pic>
        <p:nvPicPr>
          <p:cNvPr id="17" name="Word picture 1" descr="Reference number: a document and a number sign [sign: REF. NO.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reference number</a:t>
            </a:r>
            <a:endParaRPr lang="en-US" sz="1500" dirty="0" b="1"/>
          </a:p>
        </p:txBody>
      </p:sp>
      <p:pic>
        <p:nvPicPr>
          <p:cNvPr id="19" name="Word picture 2" descr="Customer service: headphones and a telephone [sign: SERVIC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customer service</a:t>
            </a:r>
            <a:endParaRPr lang="en-US" sz="1500" dirty="0" b="1"/>
          </a:p>
        </p:txBody>
      </p:sp>
      <p:pic>
        <p:nvPicPr>
          <p:cNvPr id="21" name="Word picture 3" descr="On hold: a telephone and an hourglass [sign: ON HOLD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hold</a:t>
            </a:r>
            <a:endParaRPr lang="en-US" sz="2000" dirty="0" b="1"/>
          </a:p>
        </p:txBody>
      </p:sp>
      <p:pic>
        <p:nvPicPr>
          <p:cNvPr id="23" name="Word picture 4" descr="Resolution: a check mark and a document [sign: SOLVED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resolution</a:t>
            </a:r>
            <a:endParaRPr lang="en-US" sz="2000" dirty="0" b="1"/>
          </a:p>
        </p:txBody>
      </p:sp>
      <p:pic>
        <p:nvPicPr>
          <p:cNvPr id="25" name="Word picture 5" descr="Cracked screen: a mobile phone and a collision mark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cracked screen</a:t>
            </a:r>
            <a:endParaRPr lang="en-US" sz="1500" dirty="0" b="1"/>
          </a:p>
        </p:txBody>
      </p:sp>
      <p:pic>
        <p:nvPicPr>
          <p:cNvPr id="27" name="Word picture 6" descr="Water stain: a drop and a document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water stain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one activity or many?</a:t>
            </a:r>
            <a:endParaRPr lang="en-US" sz="1600" dirty="0" b="1"/>
          </a:p>
        </p:txBody>
      </p:sp>
      <p:pic>
        <p:nvPicPr>
          <p:cNvPr id="101" name="R1 pic" descr="Claim form: a clipboard and a memo [sign: CLAIM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the verb after </a:t>
            </a:r>
            <a:r>
              <a:rPr lang="en-US" sz="1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</a:t>
            </a:r>
            <a:r>
              <a:rPr lang="en-US" sz="1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1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400" dirty="0" b="1"/>
          </a:p>
        </p:txBody>
      </p:sp>
      <p:pic>
        <p:nvPicPr>
          <p:cNvPr id="102" name="R2 pic" descr="Policy number: a document [sign: POLICY NO.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the photo attached, or did Hector forget it?</a:t>
            </a:r>
            <a:endParaRPr lang="en-US" sz="1400" dirty="0" b="1"/>
          </a:p>
        </p:txBody>
      </p:sp>
      <p:pic>
        <p:nvPicPr>
          <p:cNvPr id="103" name="R3 pic" descr="Photo: a camera [sign: PHOTO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One.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attached.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Hector calls about a cracked-screen claim.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Photo: a camera [sign: PHOTO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Lane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Hector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the claim about?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 Play 1 → Task A.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2:30):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the claim about?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A new phone he wants to buy</a:t>
            </a:r>
            <a:endParaRPr lang="en-US" sz="13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A cracked phone screen</a:t>
            </a:r>
            <a:endParaRPr lang="en-US" sz="13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A water stain that is still wet</a:t>
            </a:r>
            <a:endParaRPr lang="en-US" sz="13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Circle the answers.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1. The form</a:t>
            </a:r>
            <a:endParaRPr lang="en-US" sz="1300" dirty="0"/>
          </a:p>
        </p:txBody>
      </p:sp>
      <p:sp>
        <p:nvSpPr>
          <p:cNvPr id="9" name="R1 opt1"/>
          <p:cNvSpPr/>
          <p:nvPr/>
        </p:nvSpPr>
        <p:spPr>
          <a:xfrm>
            <a:off x="5166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received</a:t>
            </a:r>
            <a:endParaRPr lang="en-US" sz="1200" dirty="0" b="1"/>
          </a:p>
        </p:txBody>
      </p:sp>
      <p:sp>
        <p:nvSpPr>
          <p:cNvPr id="10" name="R1 opt2"/>
          <p:cNvSpPr/>
          <p:nvPr/>
        </p:nvSpPr>
        <p:spPr>
          <a:xfrm>
            <a:off x="7452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lost</a:t>
            </a:r>
            <a:endParaRPr lang="en-US" sz="1200" dirty="0" b="1"/>
          </a:p>
        </p:txBody>
      </p:sp>
      <p:sp>
        <p:nvSpPr>
          <p:cNvPr id="11" name="R1 opt3"/>
          <p:cNvSpPr/>
          <p:nvPr/>
        </p:nvSpPr>
        <p:spPr>
          <a:xfrm>
            <a:off x="9738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not sent</a:t>
            </a:r>
            <a:endParaRPr lang="en-US" sz="1200" dirty="0" b="1"/>
          </a:p>
        </p:txBody>
      </p:sp>
      <p:sp>
        <p:nvSpPr>
          <p:cNvPr id="12" name="R1 circle"/>
          <p:cNvSpPr/>
          <p:nvPr/>
        </p:nvSpPr>
        <p:spPr>
          <a:xfrm>
            <a:off x="5038344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3" name="R2 stmt"/>
          <p:cNvSpPr/>
          <p:nvPr/>
        </p:nvSpPr>
        <p:spPr>
          <a:xfrm>
            <a:off x="502920" y="365760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2. The photo</a:t>
            </a:r>
            <a:endParaRPr lang="en-US" sz="1300" dirty="0"/>
          </a:p>
        </p:txBody>
      </p:sp>
      <p:sp>
        <p:nvSpPr>
          <p:cNvPr id="14" name="R2 opt1"/>
          <p:cNvSpPr/>
          <p:nvPr/>
        </p:nvSpPr>
        <p:spPr>
          <a:xfrm>
            <a:off x="5166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attached</a:t>
            </a:r>
            <a:endParaRPr lang="en-US" sz="1200" dirty="0" b="1"/>
          </a:p>
        </p:txBody>
      </p:sp>
      <p:sp>
        <p:nvSpPr>
          <p:cNvPr id="15" name="R2 opt2"/>
          <p:cNvSpPr/>
          <p:nvPr/>
        </p:nvSpPr>
        <p:spPr>
          <a:xfrm>
            <a:off x="7452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missing</a:t>
            </a:r>
            <a:endParaRPr lang="en-US" sz="1200" dirty="0" b="1"/>
          </a:p>
        </p:txBody>
      </p:sp>
      <p:sp>
        <p:nvSpPr>
          <p:cNvPr id="16" name="R2 opt3"/>
          <p:cNvSpPr/>
          <p:nvPr/>
        </p:nvSpPr>
        <p:spPr>
          <a:xfrm>
            <a:off x="9738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water stain</a:t>
            </a:r>
            <a:endParaRPr lang="en-US" sz="1200" dirty="0" b="1"/>
          </a:p>
        </p:txBody>
      </p:sp>
      <p:sp>
        <p:nvSpPr>
          <p:cNvPr id="17" name="R2 circle"/>
          <p:cNvSpPr/>
          <p:nvPr/>
        </p:nvSpPr>
        <p:spPr>
          <a:xfrm>
            <a:off x="5038344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8" name="R3 stmt"/>
          <p:cNvSpPr/>
          <p:nvPr/>
        </p:nvSpPr>
        <p:spPr>
          <a:xfrm>
            <a:off x="502920" y="420624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3. He still must send</a:t>
            </a:r>
            <a:endParaRPr lang="en-US" sz="1300" dirty="0"/>
          </a:p>
        </p:txBody>
      </p:sp>
      <p:sp>
        <p:nvSpPr>
          <p:cNvPr id="19" name="R3 opt1"/>
          <p:cNvSpPr/>
          <p:nvPr/>
        </p:nvSpPr>
        <p:spPr>
          <a:xfrm>
            <a:off x="5166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estimate</a:t>
            </a:r>
            <a:endParaRPr lang="en-US" sz="1200" dirty="0" b="1"/>
          </a:p>
        </p:txBody>
      </p:sp>
      <p:sp>
        <p:nvSpPr>
          <p:cNvPr id="20" name="R3 opt2"/>
          <p:cNvSpPr/>
          <p:nvPr/>
        </p:nvSpPr>
        <p:spPr>
          <a:xfrm>
            <a:off x="7452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phone</a:t>
            </a:r>
            <a:endParaRPr lang="en-US" sz="1200" dirty="0" b="1"/>
          </a:p>
        </p:txBody>
      </p:sp>
      <p:sp>
        <p:nvSpPr>
          <p:cNvPr id="21" name="R3 opt3"/>
          <p:cNvSpPr/>
          <p:nvPr/>
        </p:nvSpPr>
        <p:spPr>
          <a:xfrm>
            <a:off x="9738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new complaint</a:t>
            </a:r>
            <a:endParaRPr lang="en-US" sz="1200" dirty="0" b="1"/>
          </a:p>
        </p:txBody>
      </p:sp>
      <p:sp>
        <p:nvSpPr>
          <p:cNvPr id="22" name="R3 circle"/>
          <p:cNvSpPr/>
          <p:nvPr/>
        </p:nvSpPr>
        <p:spPr>
          <a:xfrm>
            <a:off x="5038344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R4 stmt"/>
          <p:cNvSpPr/>
          <p:nvPr/>
        </p:nvSpPr>
        <p:spPr>
          <a:xfrm>
            <a:off x="502920" y="475488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4. Reference number</a:t>
            </a:r>
            <a:endParaRPr lang="en-US" sz="1300" dirty="0"/>
          </a:p>
        </p:txBody>
      </p:sp>
      <p:sp>
        <p:nvSpPr>
          <p:cNvPr id="24" name="R4 opt1"/>
          <p:cNvSpPr/>
          <p:nvPr/>
        </p:nvSpPr>
        <p:spPr>
          <a:xfrm>
            <a:off x="5166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seven one</a:t>
            </a:r>
            <a:endParaRPr lang="en-US" sz="1200" dirty="0" b="1"/>
          </a:p>
        </p:txBody>
      </p:sp>
      <p:sp>
        <p:nvSpPr>
          <p:cNvPr id="25" name="R4 opt2"/>
          <p:cNvSpPr/>
          <p:nvPr/>
        </p:nvSpPr>
        <p:spPr>
          <a:xfrm>
            <a:off x="7452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two eight</a:t>
            </a:r>
            <a:endParaRPr lang="en-US" sz="1200" dirty="0" b="1"/>
          </a:p>
        </p:txBody>
      </p:sp>
      <p:sp>
        <p:nvSpPr>
          <p:cNvPr id="26" name="R4 opt3"/>
          <p:cNvSpPr/>
          <p:nvPr/>
        </p:nvSpPr>
        <p:spPr>
          <a:xfrm>
            <a:off x="9738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nine nine</a:t>
            </a:r>
            <a:endParaRPr lang="en-US" sz="1200" dirty="0" b="1"/>
          </a:p>
        </p:txBody>
      </p:sp>
      <p:sp>
        <p:nvSpPr>
          <p:cNvPr id="27" name="R4 circle"/>
          <p:cNvSpPr/>
          <p:nvPr/>
        </p:nvSpPr>
        <p:spPr>
          <a:xfrm>
            <a:off x="5038344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5 stmt"/>
          <p:cNvSpPr/>
          <p:nvPr/>
        </p:nvSpPr>
        <p:spPr>
          <a:xfrm>
            <a:off x="502920" y="530352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5. Policy number</a:t>
            </a:r>
            <a:endParaRPr lang="en-US" sz="1300" dirty="0"/>
          </a:p>
        </p:txBody>
      </p:sp>
      <p:sp>
        <p:nvSpPr>
          <p:cNvPr id="29" name="R5 opt1"/>
          <p:cNvSpPr/>
          <p:nvPr/>
        </p:nvSpPr>
        <p:spPr>
          <a:xfrm>
            <a:off x="5166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two eight</a:t>
            </a:r>
            <a:endParaRPr lang="en-US" sz="1200" dirty="0" b="1"/>
          </a:p>
        </p:txBody>
      </p:sp>
      <p:sp>
        <p:nvSpPr>
          <p:cNvPr id="30" name="R5 opt2"/>
          <p:cNvSpPr/>
          <p:nvPr/>
        </p:nvSpPr>
        <p:spPr>
          <a:xfrm>
            <a:off x="7452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seven one</a:t>
            </a:r>
            <a:endParaRPr lang="en-US" sz="1200" dirty="0" b="1"/>
          </a:p>
        </p:txBody>
      </p:sp>
      <p:sp>
        <p:nvSpPr>
          <p:cNvPr id="31" name="R5 opt3"/>
          <p:cNvSpPr/>
          <p:nvPr/>
        </p:nvSpPr>
        <p:spPr>
          <a:xfrm>
            <a:off x="9738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three three</a:t>
            </a:r>
            <a:endParaRPr lang="en-US" sz="1200" dirty="0" b="1"/>
          </a:p>
        </p:txBody>
      </p:sp>
      <p:sp>
        <p:nvSpPr>
          <p:cNvPr id="32" name="R5 circle"/>
          <p:cNvSpPr/>
          <p:nvPr/>
        </p:nvSpPr>
        <p:spPr>
          <a:xfrm>
            <a:off x="5038344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3" name="R6 stmt"/>
          <p:cNvSpPr/>
          <p:nvPr/>
        </p:nvSpPr>
        <p:spPr>
          <a:xfrm>
            <a:off x="502920" y="585216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6. He is going to</a:t>
            </a:r>
            <a:endParaRPr lang="en-US" sz="1300" dirty="0"/>
          </a:p>
        </p:txBody>
      </p:sp>
      <p:sp>
        <p:nvSpPr>
          <p:cNvPr id="34" name="R6 opt1"/>
          <p:cNvSpPr/>
          <p:nvPr/>
        </p:nvSpPr>
        <p:spPr>
          <a:xfrm>
            <a:off x="5166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send it today</a:t>
            </a:r>
            <a:endParaRPr lang="en-US" sz="1200" dirty="0" b="1"/>
          </a:p>
        </p:txBody>
      </p:sp>
      <p:sp>
        <p:nvSpPr>
          <p:cNvPr id="35" name="R6 opt2"/>
          <p:cNvSpPr/>
          <p:nvPr/>
        </p:nvSpPr>
        <p:spPr>
          <a:xfrm>
            <a:off x="7452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stay on hold</a:t>
            </a:r>
            <a:endParaRPr lang="en-US" sz="1200" dirty="0" b="1"/>
          </a:p>
        </p:txBody>
      </p:sp>
      <p:sp>
        <p:nvSpPr>
          <p:cNvPr id="36" name="R6 opt3"/>
          <p:cNvSpPr/>
          <p:nvPr/>
        </p:nvSpPr>
        <p:spPr>
          <a:xfrm>
            <a:off x="9738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buy a new phone</a:t>
            </a:r>
            <a:endParaRPr lang="en-US" sz="1200" dirty="0" b="1"/>
          </a:p>
        </p:txBody>
      </p:sp>
      <p:sp>
        <p:nvSpPr>
          <p:cNvPr id="37" name="R6 circle"/>
          <p:cNvSpPr/>
          <p:nvPr/>
        </p:nvSpPr>
        <p:spPr>
          <a:xfrm>
            <a:off x="5038344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the geru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 on hold was tiring.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form ______.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received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photo ______.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attached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 a claim takes time.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Filing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 a photo helps.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Sending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 the estimate is my next step.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Sending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file a claim.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wondering if you could look up my claim.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send it today.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on hold was tiring.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Estimate: a receipt and a pen [sign: ESTIMAT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gerund is the subject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ACTIVITY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VERB IS SINGUL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on hold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tiring.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Filing a claim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takes time.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Sending a photo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helps.</a:t>
            </a:r>
            <a:endParaRPr lang="en-US" sz="16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16636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Sending the estimate</a:t>
            </a:r>
            <a:endParaRPr lang="en-US" sz="1500" dirty="0" b="1"/>
          </a:p>
        </p:txBody>
      </p:sp>
      <p:sp>
        <p:nvSpPr>
          <p:cNvPr id="28" name="Answer bg 4"/>
          <p:cNvSpPr/>
          <p:nvPr/>
        </p:nvSpPr>
        <p:spPr>
          <a:xfrm>
            <a:off x="9052560" y="516636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9052560" y="516636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my next step.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omplaint: an envelope and a speech balloon [sign: COMPLAIN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soft request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STATEMENT ORDER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wondering if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could check the claim.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wondering if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could look up the reference number.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mind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looking up the reference number?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Attachment: a paperclip [sign: ATTACHMEN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sent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THING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PASSIVE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photo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attached.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form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received.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estimate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not attached yet.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eference number: a document and a number sign [sign: REF. NO.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to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HAVE TO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DON'T HAVE TO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include the policy number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stay on hold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send the estimate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again if the letter is complete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reference number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add a different problem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on hold ______ tiring.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photo was ______.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attached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Filing a claim ______ time.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takes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wondering if you ______ check it.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form was ______.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received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Sending a photo ______.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helps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Waiting on hold ______ tiring.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8211312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966960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8083296" y="30540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I was wondering if ______ check.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8211312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you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966960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could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9838944" y="360273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The photo was ______ .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8211312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attach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966960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attached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9838944" y="415137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______ a claim takes time.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8211312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Filing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966960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File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8083296" y="470001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You ______ include the policy number.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8211312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to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966960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has to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8083296" y="524865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Sending a photo ______ .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8211312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966960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helps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9838944" y="57972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Customer service: headphones and a telephone [sign: SERVIC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on hold are tiring.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on hold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tiring.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2987399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wondering if could you check.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2987399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wondering if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could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check.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505917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photo was attach.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505917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photo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attached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4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024436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are hard.</a:t>
            </a:r>
            <a:endParaRPr lang="en-US" sz="1400" dirty="0"/>
          </a:p>
        </p:txBody>
      </p:sp>
      <p:sp>
        <p:nvSpPr>
          <p:cNvPr id="31" name="Good 4"/>
          <p:cNvSpPr/>
          <p:nvPr/>
        </p:nvSpPr>
        <p:spPr>
          <a:xfrm>
            <a:off x="4800600" y="4024436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is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hard.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On hold: a telephone and an hourglass [sign: ON HOL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says: "Waiting on hold." B says: "Waiting on hold is tiring." Then switch.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filing and sending too.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Complaint: an envelope and a speech balloon [sign: COMPLAIN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Reference number: a document and a number sign [sign: REF. NO.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 the two paragraphs before anyone writes full sentences.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 the two paragraphs before anyone</a:t>
            </a:r>
            <a:endParaRPr lang="en-US" sz="1600" dirty="0" b="1"/>
          </a:p>
          <a:p>
            <a:pPr algn="l" indent="0" marL="0">
              <a:buNone/>
            </a:pPr>
            <a:r>
              <a:rPr lang="en-US" sz="16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writes full sentences.</a:t>
            </a:r>
            <a:endParaRPr lang="en-US" sz="16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claim about?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010912" y="2525573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cracked phone screen</a:t>
            </a:r>
            <a:endParaRPr lang="en-US" sz="13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attached?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010912" y="3311957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photo</a:t>
            </a:r>
            <a:endParaRPr lang="en-US" sz="13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still missing?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010912" y="4098341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estimate</a:t>
            </a:r>
            <a:endParaRPr lang="en-US" sz="13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reference number?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010912" y="4884725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Seven one</a:t>
            </a:r>
            <a:endParaRPr lang="en-US" sz="13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policy number?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010912" y="5671109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two eight</a:t>
            </a:r>
            <a:endParaRPr lang="en-US" sz="13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Resolution: a check mark and a document [sign: SOLVE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 a claim letter.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verb.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letter (Read &amp; Write). About 8–12 sentences.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Say I was wondering if to a friend. Write the sentence.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write one passive. The photo was attached. Then write one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Cracked screen: a mobile phone and a collision 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11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start a sentence with a gerund (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 on hold is tiring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soften a request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wondering if…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was sent or attached, in the passive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Lane and Hector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11: I'd Like to File a Claim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