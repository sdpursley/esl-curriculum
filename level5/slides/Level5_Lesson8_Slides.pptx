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939" r:id="rId33"/>
    <p:sldId id="940" r:id="rId34"/>
    <p:sldId id="941" r:id="rId35"/>
    <p:sldId id="942" r:id="rId36"/>
    <p:sldId id="943" r:id="rId31"/>
    <p:sldId id="944" r:id="rId30"/>
    <p:sldId id="945" r:id="rId29"/>
    <p:sldId id="946" r:id="rId28"/>
    <p:sldId id="947" r:id="rId27"/>
    <p:sldId id="948" r:id="rId20"/>
    <p:sldId id="949" r:id="rId18"/>
    <p:sldId id="950" r:id="rId17"/>
    <p:sldId id="951" r:id="rId16"/>
    <p:sldId id="952" r:id="rId14"/>
    <p:sldId id="953" r:id="rId13"/>
    <p:sldId id="954" r:id="rId12"/>
    <p:sldId id="955" r:id="rId11"/>
    <p:sldId id="956" r:id="rId10"/>
    <p:sldId id="957" r:id="rId8"/>
    <p:sldId id="958" r:id="rId7"/>
    <p:sldId id="959" r:id="rId6"/>
    <p:sldId id="960" r:id="rId5"/>
    <p:sldId id="961" r:id="rId4"/>
    <p:sldId id="962" r:id="rId3"/>
    <p:sldId id="963" r:id="rId57"/>
    <p:sldId id="964" r:id="rId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52.xml"/><Relationship Id="rId3" Type="http://schemas.openxmlformats.org/officeDocument/2006/relationships/slide" Target="slides/slide50.xml"/><Relationship Id="rId4" Type="http://schemas.openxmlformats.org/officeDocument/2006/relationships/slide" Target="slides/slide49.xml"/><Relationship Id="rId5" Type="http://schemas.openxmlformats.org/officeDocument/2006/relationships/slide" Target="slides/slide48.xml"/><Relationship Id="rId6" Type="http://schemas.openxmlformats.org/officeDocument/2006/relationships/slide" Target="slides/slide47.xml"/><Relationship Id="rId7" Type="http://schemas.openxmlformats.org/officeDocument/2006/relationships/slide" Target="slides/slide46.xml"/><Relationship Id="rId8" Type="http://schemas.openxmlformats.org/officeDocument/2006/relationships/slide" Target="slides/slide45.xml"/><Relationship Id="rId10" Type="http://schemas.openxmlformats.org/officeDocument/2006/relationships/slide" Target="slides/slide44.xml"/><Relationship Id="rId11" Type="http://schemas.openxmlformats.org/officeDocument/2006/relationships/slide" Target="slides/slide43.xml"/><Relationship Id="rId12" Type="http://schemas.openxmlformats.org/officeDocument/2006/relationships/slide" Target="slides/slide42.xml"/><Relationship Id="rId13" Type="http://schemas.openxmlformats.org/officeDocument/2006/relationships/slide" Target="slides/slide41.xml"/><Relationship Id="rId14" Type="http://schemas.openxmlformats.org/officeDocument/2006/relationships/slide" Target="slides/slide40.xml"/><Relationship Id="rId16" Type="http://schemas.openxmlformats.org/officeDocument/2006/relationships/slide" Target="slides/slide39.xml"/><Relationship Id="rId17" Type="http://schemas.openxmlformats.org/officeDocument/2006/relationships/slide" Target="slides/slide38.xml"/><Relationship Id="rId18" Type="http://schemas.openxmlformats.org/officeDocument/2006/relationships/slide" Target="slides/slide37.xml"/><Relationship Id="rId20" Type="http://schemas.openxmlformats.org/officeDocument/2006/relationships/slide" Target="slides/slide36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openxmlformats.org/officeDocument/2006/relationships/slide" Target="slides/slide35.xml"/><Relationship Id="rId28" Type="http://schemas.openxmlformats.org/officeDocument/2006/relationships/slide" Target="slides/slide34.xml"/><Relationship Id="rId29" Type="http://schemas.openxmlformats.org/officeDocument/2006/relationships/slide" Target="slides/slide33.xml"/><Relationship Id="rId30" Type="http://schemas.openxmlformats.org/officeDocument/2006/relationships/slide" Target="slides/slide32.xml"/><Relationship Id="rId31" Type="http://schemas.openxmlformats.org/officeDocument/2006/relationships/slide" Target="slides/slide31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57" Type="http://schemas.openxmlformats.org/officeDocument/2006/relationships/slide" Target="slides/slide5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Credits. You don't need to read this slide in class.</a:t>
            </a:r>
          </a:p>
          <a:p>
            <a:r>
              <a:t>Pictures: Twemoji graphics by Twitter, Inc. and other contributors, CC BY 4.0; the file-by-file list is in images/CREDITS.md.</a:t>
            </a:r>
          </a:p>
          <a:p>
            <a:r>
              <a:t>Audio: the listening audio for this lesson (about 2:20) is coming soon. It will use computer-generated voices (Chatterbox TTS cloned from synthetic Kokoro-82M reference clips); no recordings of real people. Until it is ready, read the listening script (in the notes of the Before You Listen slide) with a volunteer. The names and the story are invented.</a:t>
            </a:r>
          </a:p>
          <a:p>
            <a:r>
              <a:t>Course materials: © 2026 the authors, licensed under CC BY-NC-SA 4.0 (https://creativecommons.org/licenses/by-nc-sa/4.0/).</a:t>
            </a:r>
          </a:p>
          <a:p>
            <a:r>
              <a:t>Lesson plan: Picture Credits. Picture list: images/CREDITS.md.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7 · 7:25–7:30 · Exit ticket and homework. Never skip the exit ticket.</a:t>
            </a:r>
          </a:p>
          <a:p>
            <a:r>
              <a:t>Write the question you would ask the office, and the answer you hope for.</a:t>
            </a:r>
          </a:p>
          <a:p>
            <a:r>
              <a:t>Lesson plan: Step 7; Exit Ticket page; Homework page.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6 · 7:18–7:25 · Read &amp; Write.</a:t>
            </a:r>
          </a:p>
          <a:p>
            <a:r>
              <a:t>Click to show each answer: 1 Tonight at 6:30 • 2 In the library • 3 The signup sheet • 4 A permission slip • 5 Ten minutes early</a:t>
            </a:r>
          </a:p>
          <a:p>
            <a:r>
              <a:t>Lesson plan: Step 6; Read &amp; Write page;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Round 2.</a:t>
            </a:r>
          </a:p>
          <a:p>
            <a:r>
              <a:t>Lesson plan: Step 5; Talk Time.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Round 1.</a:t>
            </a:r>
          </a:p>
          <a:p>
            <a:r>
              <a:t>Lesson plan: Step 5; Talk Time.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Some cards are a parent. Some are a volunteer. Pick either one. | Volunteer card | Parent card | |---|---| | Ask if the conference is tonight. Ask if you should bring the signup sheet. | Ask if you can pick up early.</a:t>
            </a:r>
          </a:p>
          <a:p>
            <a:r>
              <a:t>Break · 6:45–7:00.</a:t>
            </a:r>
          </a:p>
          <a:p>
            <a:r>
              <a:t>Lesson plan: Step 4: Pair check.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Don't say, then Say. Learners try first. Then click.</a:t>
            </a:r>
          </a:p>
          <a:p>
            <a:r>
              <a:t>Lesson plan: Grammar: Common mistakes.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Click to circle each answer: 1 the conference is • 2 the office is • 3 it starts • 4 said • 5 me • 6 the office is</a:t>
            </a:r>
          </a:p>
          <a:p>
            <a:r>
              <a:t>Lesson plan: Step 4; Grammar Practice B;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Click to show each answer: 1 where • 2 when • 3 whether • 4 if • 5 where • 6 when</a:t>
            </a:r>
          </a:p>
          <a:p>
            <a:r>
              <a:t>Lesson plan: Step 4; Grammar Practice A;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Grammar Box 4: statement order. Each click shows the answer side.</a:t>
            </a:r>
          </a:p>
          <a:p>
            <a:r>
              <a:t>Lesson plan: Step 4; Grammar Box 4.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Grammar Box 3: said or told. Each click shows the answer side.</a:t>
            </a:r>
          </a:p>
          <a:p>
            <a:r>
              <a:t>Lesson plan: Step 4; Grammar Box 3.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Grammar Box 2: when or where. Each click shows the answer side.</a:t>
            </a:r>
          </a:p>
          <a:p>
            <a:r>
              <a:t>Lesson plan: Step 4; Grammar Box 2.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Grammar Box 1: if or whether. Each click shows the answer side.</a:t>
            </a:r>
          </a:p>
          <a:p>
            <a:r>
              <a:t>Lesson plan: Step 4; Grammar Box 1.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gonna and wanna are short forms. This listening uses the full forms. Say each line two times.</a:t>
            </a:r>
          </a:p>
          <a:p>
            <a:r>
              <a:t>Lesson plan: Step 3: Hear it, say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Click to show each answer: 1 if • 2 whether • 3 where • 4 if • 5 if • 6 where</a:t>
            </a:r>
          </a:p>
          <a:p>
            <a:r>
              <a:t>Lesson plan: Step 3; Listening Task C;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Click to circle each answer: 1 tonight • 2 6:30 • 3 the signup sheet • 4 ten minutes early • 5 down the hallway • 6 no. Six thirty in the script is 6:30</a:t>
            </a:r>
          </a:p>
          <a:p>
            <a:r>
              <a:t>Lesson plan: Step 3; Listening Task B;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Click to circle b.</a:t>
            </a:r>
          </a:p>
          <a:p>
            <a:r>
              <a:t>Lesson plan: Step 3; Listening Task A;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3 · 6:12–6:32 · Listening. Play 1 is Task A. Play 2 is Tasks B and C. A third play is fine.</a:t>
            </a:r>
          </a:p>
          <a:p>
            <a:r>
              <a:t>Maya calls the office at Northside School.</a:t>
            </a:r>
          </a:p>
          <a:p>
            <a:r>
              <a:t>The script says going to and want to. Learners only need to recognize gonna and wanna.</a:t>
            </a:r>
          </a:p>
          <a:p>
            <a:r>
              <a:t>Lesson plan: Step 3; Listening page.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  <a:p>
            <a:r>
              <a:t>Listening script (the audio is coming soon; until then, read it aloud with a volunteer at a normal, friendly speed):</a:t>
            </a:r>
          </a:p>
          <a:p>
            <a:r>
              <a:t>Narrator: Lesson eight. Maya is calling the office at Northside School. She volunteers for the after-school reading hour. Mr. Reed answers the phone.</a:t>
            </a:r>
          </a:p>
          <a:p>
            <a:r>
              <a:t>Mr. Reed: Northside School office. This is Mr. Reed.</a:t>
            </a:r>
          </a:p>
          <a:p>
            <a:r>
              <a:t>Maya: Hello. This is Maya. I want to ask about the conference.</a:t>
            </a:r>
          </a:p>
          <a:p>
            <a:r>
              <a:t>Mr. Reed: Of course. How can I help you?</a:t>
            </a:r>
          </a:p>
          <a:p>
            <a:r>
              <a:t>Maya: Do you know if the conference is tonight?</a:t>
            </a:r>
          </a:p>
          <a:p>
            <a:r>
              <a:t>Mr. Reed: Yes. It starts at six thirty, in the library.</a:t>
            </a:r>
          </a:p>
          <a:p>
            <a:r>
              <a:t>Maya: Thank you. Do you know whether I should bring the signup sheet?</a:t>
            </a:r>
          </a:p>
          <a:p>
            <a:r>
              <a:t>Mr. Reed: Yes. Please bring the signup sheet. I'm going to set it by the office window.</a:t>
            </a:r>
          </a:p>
          <a:p>
            <a:r>
              <a:t>Maya: Do you know where the office window is?</a:t>
            </a:r>
          </a:p>
          <a:p>
            <a:r>
              <a:t>Mr. Reed: It's down the hallway, past the bell.</a:t>
            </a:r>
          </a:p>
          <a:p>
            <a:r>
              <a:t>Maya: Can you tell me if I need a permission slip? I'm a volunteer, not a parent.</a:t>
            </a:r>
          </a:p>
          <a:p>
            <a:r>
              <a:t>Mr. Reed: A volunteer does not need a slip. A parent brings a permission slip for early pickup.</a:t>
            </a:r>
          </a:p>
          <a:p>
            <a:r>
              <a:t>Maya: Do you know when I should arrive?</a:t>
            </a:r>
          </a:p>
          <a:p>
            <a:r>
              <a:t>Mr. Reed: Please arrive ten minutes early.</a:t>
            </a:r>
          </a:p>
          <a:p>
            <a:r>
              <a:t>Maya: I will. I'm going to put the sheet in my backpack.</a:t>
            </a:r>
          </a:p>
          <a:p>
            <a:r>
              <a:t>Maya: Do you know where I should leave my backpack?</a:t>
            </a:r>
          </a:p>
          <a:p>
            <a:r>
              <a:t>Mr. Reed: Leave it by the office window.</a:t>
            </a:r>
          </a:p>
          <a:p>
            <a:r>
              <a:t>Mr. Reed: The newsletter also says the conference is tonight.</a:t>
            </a:r>
          </a:p>
          <a:p>
            <a:r>
              <a:t>Maya: Do you know if dismissal is at the usual time?</a:t>
            </a:r>
          </a:p>
          <a:p>
            <a:r>
              <a:t>Mr. Reed: Yes. Dismissal is at three. The conference is in the evening.</a:t>
            </a:r>
          </a:p>
          <a:p>
            <a:r>
              <a:t>Maya: Thank you. I don't want to miss the start.</a:t>
            </a:r>
          </a:p>
          <a:p>
            <a:r>
              <a:t>Mr. Reed: You're welcome. We'll see you ten minutes early.</a:t>
            </a:r>
          </a:p>
          <a:p>
            <a:r>
              <a:t>Narrator: That's the end of the listening.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answers are hidden. Ask, then click.</a:t>
            </a:r>
          </a:p>
          <a:p>
            <a:r>
              <a:t>1. a backpack</a:t>
            </a:r>
          </a:p>
          <a:p>
            <a:r>
              <a:t>2. a bell</a:t>
            </a:r>
          </a:p>
          <a:p>
            <a:r>
              <a:t>3. a permission slip</a:t>
            </a:r>
          </a:p>
          <a:p>
            <a:r>
              <a:t>Lesson plan: Step 2: Check the Meaning.</a:t>
            </a:r>
          </a:p>
          <a:p>
            <a:r>
              <a:t>Pictures: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points to a picture. B names it and uses it in one sentence. Then switch.</a:t>
            </a:r>
          </a:p>
          <a:p>
            <a:r>
              <a:t>Lesson plan: Step 2; New Words page; Partner game.</a:t>
            </a:r>
          </a:p>
          <a:p>
            <a:r>
              <a:t>Pictures: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2 · 6:06–6:12 · New Words.</a:t>
            </a:r>
          </a:p>
          <a:p>
            <a:r>
              <a:t>Point to each picture. Learners repeat. ★ = most important.</a:t>
            </a:r>
          </a:p>
          <a:p>
            <a:r>
              <a:t>Lesson plan: Step 2; New Words page.</a:t>
            </a:r>
          </a:p>
          <a:p>
            <a:r>
              <a:t>Pictures: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learners as they arrive.</a:t>
            </a:r>
          </a:p>
          <a:p>
            <a:r>
              <a:t>Read the three lines under Today you will.</a:t>
            </a:r>
          </a:p>
          <a:p>
            <a:r>
              <a:t>Lesson plan: Topic; At a glance: Objectives.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each goal slowly. Learners repeat.</a:t>
            </a:r>
          </a:p>
          <a:p>
            <a:r>
              <a:t>Lesson plan: At a glance: Objectives.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1 · 6:00–6:06 · Opening Talk.</a:t>
            </a:r>
          </a:p>
          <a:p>
            <a:r>
              <a:t>Work with a partner.</a:t>
            </a:r>
          </a:p>
          <a:p>
            <a:r>
              <a:t>Lesson plan: Step 1; Opening Talk page.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click shows the next card.</a:t>
            </a:r>
          </a:p>
          <a:p>
            <a:r>
              <a:t>A asks. B answers. Then switch.</a:t>
            </a:r>
          </a:p>
          <a:p>
            <a:r>
              <a:t>Lesson plan: Step 1; Opening Talk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three Now you can lines.</a:t>
            </a:r>
          </a:p>
          <a:p>
            <a:r>
              <a:t>Homework is about 20–25 minutes. Bring it next week.</a:t>
            </a:r>
          </a:p>
          <a:p>
            <a:r>
              <a:t>Lesson plan: At a glance: Objectives; Step 7.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8" Type="http://schemas.openxmlformats.org/officeDocument/2006/relationships/image" Target="../media/image13.png"/><Relationship Id="rId9" Type="http://schemas.openxmlformats.org/officeDocument/2006/relationships/image" Target="../media/image14.png"/><Relationship Id="rId10" Type="http://schemas.openxmlformats.org/officeDocument/2006/relationships/image" Target="../media/image15.png"/><Relationship Id="rId11" Type="http://schemas.openxmlformats.org/officeDocument/2006/relationships/image" Target="../media/image16.png"/><Relationship Id="rId12" Type="http://schemas.openxmlformats.org/officeDocument/2006/relationships/image" Target="../media/image17.png"/><Relationship Id="rId13" Type="http://schemas.openxmlformats.org/officeDocument/2006/relationships/image" Target="../media/image18.png"/><Relationship Id="rId14" Type="http://schemas.openxmlformats.org/officeDocument/2006/relationships/notesSlide" Target="../notesSlides/notesSlide2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8" Type="http://schemas.openxmlformats.org/officeDocument/2006/relationships/image" Target="../media/image19.png"/><Relationship Id="rId9" Type="http://schemas.openxmlformats.org/officeDocument/2006/relationships/image" Target="../media/image20.png"/><Relationship Id="rId10" Type="http://schemas.openxmlformats.org/officeDocument/2006/relationships/image" Target="../media/image21.png"/><Relationship Id="rId11" Type="http://schemas.openxmlformats.org/officeDocument/2006/relationships/image" Target="../media/image22.png"/><Relationship Id="rId12" Type="http://schemas.openxmlformats.org/officeDocument/2006/relationships/image" Target="../media/image23.png"/><Relationship Id="rId13" Type="http://schemas.openxmlformats.org/officeDocument/2006/relationships/image" Target="../media/image24.png"/><Relationship Id="rId14" Type="http://schemas.openxmlformats.org/officeDocument/2006/relationships/notesSlide" Target="../notesSlides/notesSlide2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0.png"/><Relationship Id="rId6" Type="http://schemas.openxmlformats.org/officeDocument/2006/relationships/image" Target="../media/image24.png"/><Relationship Id="rId7" Type="http://schemas.openxmlformats.org/officeDocument/2006/relationships/image" Target="../media/image16.png"/><Relationship Id="rId8" Type="http://schemas.openxmlformats.org/officeDocument/2006/relationships/notesSlide" Target="../notesSlides/notesSlide2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2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15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13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8.png"/><Relationship Id="rId4" Type="http://schemas.openxmlformats.org/officeDocument/2006/relationships/notesSlide" Target="../notesSlides/notesSlide1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1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0.png"/><Relationship Id="rId4" Type="http://schemas.openxmlformats.org/officeDocument/2006/relationships/notesSlide" Target="../notesSlides/notesSlide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1.png"/><Relationship Id="rId4" Type="http://schemas.openxmlformats.org/officeDocument/2006/relationships/notesSlide" Target="../notesSlides/notesSlide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5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4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2.png"/><Relationship Id="rId4" Type="http://schemas.openxmlformats.org/officeDocument/2006/relationships/notesSlide" Target="../notesSlides/notesSlide2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3.png"/><Relationship Id="rId4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tit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7223760" y="914400"/>
            <a:ext cx="4480560" cy="51206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pic>
        <p:nvPicPr>
          <p:cNvPr id="4" name="pic" descr="School office: a school and an office building [sign: OFFICE]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0" y="1664208"/>
            <a:ext cx="3474720" cy="2432304"/>
          </a:xfrm>
          <a:prstGeom prst="rect">
            <a:avLst/>
          </a:prstGeom>
        </p:spPr>
      </p:pic>
      <p:sp>
        <p:nvSpPr>
          <p:cNvPr id="5" name="lesson"/>
          <p:cNvSpPr/>
          <p:nvPr/>
        </p:nvSpPr>
        <p:spPr>
          <a:xfrm>
            <a:off x="7635240" y="44348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Lesson 8  ·  Level 5</a:t>
            </a:r>
            <a:endParaRPr lang="en-US" sz="2200" b="1" dirty="0"/>
          </a:p>
        </p:txBody>
      </p:sp>
      <p:sp>
        <p:nvSpPr>
          <p:cNvPr id="6" name="Shape 3"/>
          <p:cNvSpPr/>
          <p:nvPr/>
        </p:nvSpPr>
        <p:spPr>
          <a:xfrm>
            <a:off x="661111" y="1146658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685800" y="1097280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868680" y="1325880"/>
            <a:ext cx="5806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 Know If It's Tonight?</a:t>
            </a:r>
            <a:endParaRPr lang="en-US" sz="3400" b="1" dirty="0"/>
          </a:p>
        </p:txBody>
      </p:sp>
      <p:sp>
        <p:nvSpPr>
          <p:cNvPr id="9" name="lead"/>
          <p:cNvSpPr/>
          <p:nvPr/>
        </p:nvSpPr>
        <p:spPr>
          <a:xfrm>
            <a:off x="777240" y="3977640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Today you will:</a:t>
            </a:r>
            <a:endParaRPr lang="en-US" sz="2400" b="1" dirty="0"/>
          </a:p>
        </p:txBody>
      </p:sp>
      <p:sp>
        <p:nvSpPr>
          <p:cNvPr id="10" name="bullets"/>
          <p:cNvSpPr/>
          <p:nvPr/>
        </p:nvSpPr>
        <p:spPr>
          <a:xfrm>
            <a:off x="777240" y="4480560"/>
            <a:ext cx="60350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I can ask </a:t>
            </a: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 know if / whether…?</a:t>
            </a:r>
            <a:endParaRPr lang="en-US" sz="18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I can keep statement order after </a:t>
            </a: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</a:t>
            </a: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18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I can ask </a:t>
            </a: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 know when / where…?</a:t>
            </a: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the Level 4 way.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goal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9" name="title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Today's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Goals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By the end of class, you can do these things.</a:t>
            </a:r>
            <a:endParaRPr lang="en-US" sz="2000" dirty="0"/>
          </a:p>
        </p:txBody>
      </p:sp>
      <p:sp>
        <p:nvSpPr>
          <p:cNvPr id="31" name="R1 shadow"/>
          <p:cNvSpPr/>
          <p:nvPr/>
        </p:nvSpPr>
        <p:spPr>
          <a:xfrm>
            <a:off x="544982" y="2093062"/>
            <a:ext cx="6227064" cy="713232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2" name="R1 card"/>
          <p:cNvSpPr/>
          <p:nvPr/>
        </p:nvSpPr>
        <p:spPr>
          <a:xfrm>
            <a:off x="1583741" y="2035454"/>
            <a:ext cx="5130698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3" name="R1 chip"/>
          <p:cNvSpPr/>
          <p:nvPr/>
        </p:nvSpPr>
        <p:spPr>
          <a:xfrm>
            <a:off x="544982" y="2035454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4" name="R1 num"/>
          <p:cNvSpPr/>
          <p:nvPr/>
        </p:nvSpPr>
        <p:spPr>
          <a:xfrm>
            <a:off x="686714" y="2068830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600" b="1" dirty="0"/>
          </a:p>
        </p:txBody>
      </p:sp>
      <p:sp>
        <p:nvSpPr>
          <p:cNvPr id="35" name="R1 text"/>
          <p:cNvSpPr/>
          <p:nvPr/>
        </p:nvSpPr>
        <p:spPr>
          <a:xfrm>
            <a:off x="1810512" y="2035454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ask </a:t>
            </a:r>
            <a:r>
              <a:rPr lang="en-US" sz="16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 know if / whether…?</a:t>
            </a:r>
            <a:endParaRPr lang="en-US" sz="1600" dirty="0"/>
          </a:p>
        </p:txBody>
      </p:sp>
      <p:sp>
        <p:nvSpPr>
          <p:cNvPr id="36" name="R1 dot"/>
          <p:cNvSpPr/>
          <p:nvPr/>
        </p:nvSpPr>
        <p:spPr>
          <a:xfrm rot="10800000">
            <a:off x="6361481" y="2168957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7" name="R2 card"/>
          <p:cNvSpPr/>
          <p:nvPr/>
        </p:nvSpPr>
        <p:spPr>
          <a:xfrm>
            <a:off x="1583741" y="2857500"/>
            <a:ext cx="5130698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8" name="R2 chip"/>
          <p:cNvSpPr/>
          <p:nvPr/>
        </p:nvSpPr>
        <p:spPr>
          <a:xfrm>
            <a:off x="544982" y="2857500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9" name="R2 num"/>
          <p:cNvSpPr/>
          <p:nvPr/>
        </p:nvSpPr>
        <p:spPr>
          <a:xfrm>
            <a:off x="686714" y="2890876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200" b="1" dirty="0"/>
          </a:p>
        </p:txBody>
      </p:sp>
      <p:sp>
        <p:nvSpPr>
          <p:cNvPr id="40" name="R2 text"/>
          <p:cNvSpPr/>
          <p:nvPr/>
        </p:nvSpPr>
        <p:spPr>
          <a:xfrm>
            <a:off x="1810512" y="2857500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keep statement order after </a:t>
            </a:r>
            <a:r>
              <a:rPr lang="en-US" sz="16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</a:t>
            </a: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1600" dirty="0"/>
          </a:p>
        </p:txBody>
      </p:sp>
      <p:sp>
        <p:nvSpPr>
          <p:cNvPr id="41" name="R2 dot"/>
          <p:cNvSpPr/>
          <p:nvPr/>
        </p:nvSpPr>
        <p:spPr>
          <a:xfrm rot="10800000">
            <a:off x="6361481" y="2991002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2" name="R3 card"/>
          <p:cNvSpPr/>
          <p:nvPr/>
        </p:nvSpPr>
        <p:spPr>
          <a:xfrm>
            <a:off x="1583741" y="3679546"/>
            <a:ext cx="5130698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3" name="R3 chip"/>
          <p:cNvSpPr/>
          <p:nvPr/>
        </p:nvSpPr>
        <p:spPr>
          <a:xfrm>
            <a:off x="544982" y="3679546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4" name="R3 num"/>
          <p:cNvSpPr/>
          <p:nvPr/>
        </p:nvSpPr>
        <p:spPr>
          <a:xfrm>
            <a:off x="686714" y="3712921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3200" b="1" dirty="0"/>
          </a:p>
        </p:txBody>
      </p:sp>
      <p:sp>
        <p:nvSpPr>
          <p:cNvPr id="45" name="R3 text"/>
          <p:cNvSpPr/>
          <p:nvPr/>
        </p:nvSpPr>
        <p:spPr>
          <a:xfrm>
            <a:off x="1810512" y="3679546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ask </a:t>
            </a:r>
            <a:r>
              <a:rPr lang="en-US" sz="16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 know when / where…?</a:t>
            </a: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the Level 4 way.</a:t>
            </a:r>
            <a:endParaRPr lang="en-US" sz="1600" dirty="0"/>
          </a:p>
        </p:txBody>
      </p:sp>
      <p:sp>
        <p:nvSpPr>
          <p:cNvPr id="46" name="R3 dot"/>
          <p:cNvSpPr/>
          <p:nvPr/>
        </p:nvSpPr>
        <p:spPr>
          <a:xfrm rot="10800000">
            <a:off x="6361481" y="3813048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7" name="R4 card"/>
          <p:cNvSpPr/>
          <p:nvPr/>
        </p:nvSpPr>
        <p:spPr>
          <a:xfrm>
            <a:off x="1583741" y="4501591"/>
            <a:ext cx="5130698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8" name="R4 chip"/>
          <p:cNvSpPr/>
          <p:nvPr/>
        </p:nvSpPr>
        <p:spPr>
          <a:xfrm>
            <a:off x="544982" y="4501591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9" name="R4 num"/>
          <p:cNvSpPr/>
          <p:nvPr/>
        </p:nvSpPr>
        <p:spPr>
          <a:xfrm>
            <a:off x="686714" y="4534967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04</a:t>
            </a:r>
            <a:endParaRPr lang="en-US" sz="3200" b="1" dirty="0"/>
          </a:p>
        </p:txBody>
      </p:sp>
      <p:sp>
        <p:nvSpPr>
          <p:cNvPr id="50" name="R4 text"/>
          <p:cNvSpPr/>
          <p:nvPr/>
        </p:nvSpPr>
        <p:spPr>
          <a:xfrm>
            <a:off x="1810512" y="4501591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report the answer with </a:t>
            </a:r>
            <a:r>
              <a:rPr lang="en-US" sz="16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said</a:t>
            </a: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or </a:t>
            </a:r>
            <a:r>
              <a:rPr lang="en-US" sz="16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told</a:t>
            </a: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1600" dirty="0"/>
          </a:p>
        </p:txBody>
      </p:sp>
      <p:sp>
        <p:nvSpPr>
          <p:cNvPr id="51" name="R4 dot"/>
          <p:cNvSpPr/>
          <p:nvPr/>
        </p:nvSpPr>
        <p:spPr>
          <a:xfrm rot="10800000">
            <a:off x="6361481" y="4635094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warmup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487604" y="1352535"/>
            <a:ext cx="5246827" cy="17830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8465" y="1300277"/>
            <a:ext cx="5246827" cy="1783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 flipH="1">
            <a:off x="5503774" y="3276295"/>
            <a:ext cx="6847942" cy="3931006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5" name="pic" descr="Counselor: an office worker and a speech balloon [sign: TALK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0393" y="2104034"/>
            <a:ext cx="4754880" cy="3328416"/>
          </a:xfrm>
          <a:prstGeom prst="rect">
            <a:avLst/>
          </a:prstGeom>
        </p:spPr>
      </p:pic>
      <p:sp>
        <p:nvSpPr>
          <p:cNvPr id="7" name="title"/>
          <p:cNvSpPr/>
          <p:nvPr/>
        </p:nvSpPr>
        <p:spPr>
          <a:xfrm>
            <a:off x="548640" y="1764792"/>
            <a:ext cx="51206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Opening Talk</a:t>
            </a:r>
            <a:endParaRPr lang="en-US" sz="4000" dirty="0" b="1"/>
          </a:p>
        </p:txBody>
      </p:sp>
      <p:sp>
        <p:nvSpPr>
          <p:cNvPr id="8" name="kicker"/>
          <p:cNvSpPr/>
          <p:nvPr/>
        </p:nvSpPr>
        <p:spPr>
          <a:xfrm>
            <a:off x="599846" y="1371600"/>
            <a:ext cx="48463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OPENING TALK  ·  6:00</a:t>
            </a:r>
            <a:endParaRPr lang="en-US" sz="2000" dirty="0" b="1"/>
          </a:p>
        </p:txBody>
      </p:sp>
      <p:sp>
        <p:nvSpPr>
          <p:cNvPr id="9" name="box1"/>
          <p:cNvSpPr/>
          <p:nvPr/>
        </p:nvSpPr>
        <p:spPr>
          <a:xfrm>
            <a:off x="599846" y="338328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Work with a partner. A asks a tag</a:t>
            </a:r>
            <a:endParaRPr lang="en-US" sz="1800" dirty="0" b="1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from last week. B answers with a short yes, a short no, or Actually. Then compare one homework sentence.</a:t>
            </a:r>
            <a:endParaRPr lang="en-US" sz="1800" dirty="0"/>
          </a:p>
        </p:txBody>
      </p:sp>
      <p:sp>
        <p:nvSpPr>
          <p:cNvPr id="14" name="box2"/>
          <p:cNvSpPr/>
          <p:nvPr/>
        </p:nvSpPr>
        <p:spPr>
          <a:xfrm>
            <a:off x="599846" y="4754880"/>
            <a:ext cx="48463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Homework check: read one sentence from</a:t>
            </a:r>
            <a:endParaRPr lang="en-US" sz="18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your confirmation email.</a:t>
            </a:r>
            <a:endParaRPr lang="en-US" sz="1800" dirty="0" b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numlist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9" name="title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Opening Talk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Cards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Work with a partner. A asks a tag from last</a:t>
            </a:r>
            <a:endParaRPr lang="en-US" sz="1800" dirty="0"/>
          </a:p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week. B answers with a short yes, a short no, or Actually. Then compare one homework sentence.</a:t>
            </a:r>
            <a:endParaRPr lang="en-US" sz="1800" dirty="0" b="1"/>
          </a:p>
        </p:txBody>
      </p:sp>
      <p:sp>
        <p:nvSpPr>
          <p:cNvPr id="31" name="R1 shadow"/>
          <p:cNvSpPr/>
          <p:nvPr/>
        </p:nvSpPr>
        <p:spPr>
          <a:xfrm>
            <a:off x="544982" y="2471623"/>
            <a:ext cx="6227064" cy="60259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2" name="R1 card"/>
          <p:cNvSpPr/>
          <p:nvPr/>
        </p:nvSpPr>
        <p:spPr>
          <a:xfrm>
            <a:off x="1583741" y="2414016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3" name="R1 chip"/>
          <p:cNvSpPr/>
          <p:nvPr/>
        </p:nvSpPr>
        <p:spPr>
          <a:xfrm>
            <a:off x="544982" y="2414016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4" name="R1 num"/>
          <p:cNvSpPr/>
          <p:nvPr/>
        </p:nvSpPr>
        <p:spPr>
          <a:xfrm>
            <a:off x="686714" y="2414016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600" b="1" dirty="0"/>
          </a:p>
        </p:txBody>
      </p:sp>
      <p:sp>
        <p:nvSpPr>
          <p:cNvPr id="35" name="R1 text"/>
          <p:cNvSpPr/>
          <p:nvPr/>
        </p:nvSpPr>
        <p:spPr>
          <a:xfrm>
            <a:off x="1810512" y="2414016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Add a tag: The class is on Tuesday, .</a:t>
            </a:r>
            <a:endParaRPr lang="en-US" sz="1500" dirty="0"/>
          </a:p>
        </p:txBody>
      </p:sp>
      <p:sp>
        <p:nvSpPr>
          <p:cNvPr id="36" name="R1 dot"/>
          <p:cNvSpPr/>
          <p:nvPr/>
        </p:nvSpPr>
        <p:spPr>
          <a:xfrm rot="10800000">
            <a:off x="6361481" y="2547518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7" name="R2 card"/>
          <p:cNvSpPr/>
          <p:nvPr/>
        </p:nvSpPr>
        <p:spPr>
          <a:xfrm>
            <a:off x="1583741" y="3125419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8" name="R2 chip"/>
          <p:cNvSpPr/>
          <p:nvPr/>
        </p:nvSpPr>
        <p:spPr>
          <a:xfrm>
            <a:off x="544982" y="3125419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9" name="R2 num"/>
          <p:cNvSpPr/>
          <p:nvPr/>
        </p:nvSpPr>
        <p:spPr>
          <a:xfrm>
            <a:off x="686714" y="3125419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200" b="1" dirty="0"/>
          </a:p>
        </p:txBody>
      </p:sp>
      <p:sp>
        <p:nvSpPr>
          <p:cNvPr id="40" name="R2 text"/>
          <p:cNvSpPr/>
          <p:nvPr/>
        </p:nvSpPr>
        <p:spPr>
          <a:xfrm>
            <a:off x="1810512" y="3125419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 a tag: Yes, it is. / No, it isn't.</a:t>
            </a:r>
            <a:endParaRPr lang="en-US" sz="1500" dirty="0"/>
          </a:p>
        </p:txBody>
      </p:sp>
      <p:sp>
        <p:nvSpPr>
          <p:cNvPr id="41" name="R2 dot"/>
          <p:cNvSpPr/>
          <p:nvPr/>
        </p:nvSpPr>
        <p:spPr>
          <a:xfrm rot="10800000">
            <a:off x="6361481" y="3258922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2" name="R3 card"/>
          <p:cNvSpPr/>
          <p:nvPr/>
        </p:nvSpPr>
        <p:spPr>
          <a:xfrm>
            <a:off x="1583741" y="3836822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3" name="R3 chip"/>
          <p:cNvSpPr/>
          <p:nvPr/>
        </p:nvSpPr>
        <p:spPr>
          <a:xfrm>
            <a:off x="544982" y="3836822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4" name="R3 num"/>
          <p:cNvSpPr/>
          <p:nvPr/>
        </p:nvSpPr>
        <p:spPr>
          <a:xfrm>
            <a:off x="686714" y="3836822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3200" b="1" dirty="0"/>
          </a:p>
        </p:txBody>
      </p:sp>
      <p:sp>
        <p:nvSpPr>
          <p:cNvPr id="45" name="R3 text"/>
          <p:cNvSpPr/>
          <p:nvPr/>
        </p:nvSpPr>
        <p:spPr>
          <a:xfrm>
            <a:off x="1810512" y="3836822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Correct one detail: Actually, ...</a:t>
            </a:r>
            <a:endParaRPr lang="en-US" sz="1500" dirty="0"/>
          </a:p>
        </p:txBody>
      </p:sp>
      <p:sp>
        <p:nvSpPr>
          <p:cNvPr id="46" name="R3 dot"/>
          <p:cNvSpPr/>
          <p:nvPr/>
        </p:nvSpPr>
        <p:spPr>
          <a:xfrm rot="10800000">
            <a:off x="6361481" y="3970325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7" name="R4 card"/>
          <p:cNvSpPr/>
          <p:nvPr/>
        </p:nvSpPr>
        <p:spPr>
          <a:xfrm>
            <a:off x="1583741" y="4548226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8" name="R4 chip"/>
          <p:cNvSpPr/>
          <p:nvPr/>
        </p:nvSpPr>
        <p:spPr>
          <a:xfrm>
            <a:off x="544982" y="4548226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9" name="R4 num"/>
          <p:cNvSpPr/>
          <p:nvPr/>
        </p:nvSpPr>
        <p:spPr>
          <a:xfrm>
            <a:off x="686714" y="4548226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04</a:t>
            </a:r>
            <a:endParaRPr lang="en-US" sz="3200" b="1" dirty="0"/>
          </a:p>
        </p:txBody>
      </p:sp>
      <p:sp>
        <p:nvSpPr>
          <p:cNvPr id="50" name="R4 text"/>
          <p:cNvSpPr/>
          <p:nvPr/>
        </p:nvSpPr>
        <p:spPr>
          <a:xfrm>
            <a:off x="1810512" y="4548226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Homework check: read one sentence from your confirmation email.</a:t>
            </a:r>
            <a:endParaRPr lang="en-US" sz="1500" dirty="0"/>
          </a:p>
        </p:txBody>
      </p:sp>
      <p:sp>
        <p:nvSpPr>
          <p:cNvPr id="51" name="R4 dot"/>
          <p:cNvSpPr/>
          <p:nvPr/>
        </p:nvSpPr>
        <p:spPr>
          <a:xfrm rot="10800000">
            <a:off x="6361481" y="4681728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word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 flipH="1" flipV="1">
            <a:off x="541325" y="2231136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 flipH="1" flipV="1">
            <a:off x="541325" y="2090318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630738" y="517002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666537" y="462686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5938114" y="594360"/>
            <a:ext cx="5669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New Words</a:t>
            </a:r>
            <a:endParaRPr lang="en-US" sz="4900" dirty="0" b="1"/>
          </a:p>
        </p:txBody>
      </p:sp>
      <p:sp>
        <p:nvSpPr>
          <p:cNvPr id="9" name="instr card"/>
          <p:cNvSpPr/>
          <p:nvPr/>
        </p:nvSpPr>
        <p:spPr>
          <a:xfrm>
            <a:off x="1121969" y="587045"/>
            <a:ext cx="3557930" cy="114300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" name="instr"/>
          <p:cNvSpPr/>
          <p:nvPr/>
        </p:nvSpPr>
        <p:spPr>
          <a:xfrm>
            <a:off x="1325880" y="68580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Look. Listen.</a:t>
            </a:r>
            <a:endParaRPr lang="en-US" sz="2200" dirty="0" b="1"/>
          </a:p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Repeat.</a:t>
            </a:r>
            <a:endParaRPr lang="en-US" sz="2200" dirty="0" b="1"/>
          </a:p>
        </p:txBody>
      </p:sp>
      <p:pic>
        <p:nvPicPr>
          <p:cNvPr id="17" name="Word picture 1" descr="School office: a school and an office building [sign: OFFICE]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48410" y="2286000"/>
            <a:ext cx="1920240" cy="1344168"/>
          </a:xfrm>
          <a:prstGeom prst="rect">
            <a:avLst/>
          </a:prstGeom>
        </p:spPr>
      </p:pic>
      <p:sp>
        <p:nvSpPr>
          <p:cNvPr id="18" name="Word label 1"/>
          <p:cNvSpPr/>
          <p:nvPr/>
        </p:nvSpPr>
        <p:spPr>
          <a:xfrm>
            <a:off x="85405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school office</a:t>
            </a:r>
            <a:endParaRPr lang="en-US" sz="1500" dirty="0" b="1"/>
          </a:p>
        </p:txBody>
      </p:sp>
      <p:pic>
        <p:nvPicPr>
          <p:cNvPr id="19" name="Word picture 2" descr="Counselor: an office worker and a speech balloon [sign: TALK]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60290" y="2286000"/>
            <a:ext cx="1920240" cy="1344168"/>
          </a:xfrm>
          <a:prstGeom prst="rect">
            <a:avLst/>
          </a:prstGeom>
        </p:spPr>
      </p:pic>
      <p:sp>
        <p:nvSpPr>
          <p:cNvPr id="20" name="Word label 2"/>
          <p:cNvSpPr/>
          <p:nvPr/>
        </p:nvSpPr>
        <p:spPr>
          <a:xfrm>
            <a:off x="446593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counselor</a:t>
            </a:r>
            <a:endParaRPr lang="en-US" sz="2000" dirty="0" b="1"/>
          </a:p>
        </p:txBody>
      </p:sp>
      <p:pic>
        <p:nvPicPr>
          <p:cNvPr id="21" name="Word picture 3" descr="Conference: a calendar and two people [sign: MEET]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72170" y="2286000"/>
            <a:ext cx="1920240" cy="1344168"/>
          </a:xfrm>
          <a:prstGeom prst="rect">
            <a:avLst/>
          </a:prstGeom>
        </p:spPr>
      </p:pic>
      <p:sp>
        <p:nvSpPr>
          <p:cNvPr id="22" name="Word label 3"/>
          <p:cNvSpPr/>
          <p:nvPr/>
        </p:nvSpPr>
        <p:spPr>
          <a:xfrm>
            <a:off x="807781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conference</a:t>
            </a:r>
            <a:endParaRPr lang="en-US" sz="2000" dirty="0" b="1"/>
          </a:p>
        </p:txBody>
      </p:sp>
      <p:pic>
        <p:nvPicPr>
          <p:cNvPr id="23" name="Word picture 4" descr="Permission slip: a clipboard and a check mark [sign: SLIP]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48410" y="4315968"/>
            <a:ext cx="1920240" cy="1344168"/>
          </a:xfrm>
          <a:prstGeom prst="rect">
            <a:avLst/>
          </a:prstGeom>
        </p:spPr>
      </p:pic>
      <p:sp>
        <p:nvSpPr>
          <p:cNvPr id="24" name="Word label 4"/>
          <p:cNvSpPr/>
          <p:nvPr/>
        </p:nvSpPr>
        <p:spPr>
          <a:xfrm>
            <a:off x="85405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permission slip</a:t>
            </a:r>
            <a:endParaRPr lang="en-US" sz="1500" dirty="0" b="1"/>
          </a:p>
        </p:txBody>
      </p:sp>
      <p:pic>
        <p:nvPicPr>
          <p:cNvPr id="25" name="Word picture 5" descr="Dismissal: a school and a door [sign: GO]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60290" y="4315968"/>
            <a:ext cx="1920240" cy="1344168"/>
          </a:xfrm>
          <a:prstGeom prst="rect">
            <a:avLst/>
          </a:prstGeom>
        </p:spPr>
      </p:pic>
      <p:sp>
        <p:nvSpPr>
          <p:cNvPr id="26" name="Word label 5"/>
          <p:cNvSpPr/>
          <p:nvPr/>
        </p:nvSpPr>
        <p:spPr>
          <a:xfrm>
            <a:off x="446593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dismissal</a:t>
            </a:r>
            <a:endParaRPr lang="en-US" sz="2000" dirty="0" b="1"/>
          </a:p>
        </p:txBody>
      </p:sp>
      <p:pic>
        <p:nvPicPr>
          <p:cNvPr id="27" name="Word picture 6" descr="Pickup: a car and a school [sign: PICKUP]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72170" y="4315968"/>
            <a:ext cx="1920240" cy="1344168"/>
          </a:xfrm>
          <a:prstGeom prst="rect">
            <a:avLst/>
          </a:prstGeom>
        </p:spPr>
      </p:pic>
      <p:sp>
        <p:nvSpPr>
          <p:cNvPr id="28" name="Word label 6"/>
          <p:cNvSpPr/>
          <p:nvPr/>
        </p:nvSpPr>
        <p:spPr>
          <a:xfrm>
            <a:off x="807781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pickup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word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 flipH="1" flipV="1">
            <a:off x="541325" y="2231136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 flipH="1" flipV="1">
            <a:off x="541325" y="2090318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630738" y="517002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666537" y="462686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5938114" y="594360"/>
            <a:ext cx="5669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More New Words</a:t>
            </a:r>
            <a:endParaRPr lang="en-US" sz="4900" dirty="0" b="1"/>
          </a:p>
        </p:txBody>
      </p:sp>
      <p:sp>
        <p:nvSpPr>
          <p:cNvPr id="9" name="instr card"/>
          <p:cNvSpPr/>
          <p:nvPr/>
        </p:nvSpPr>
        <p:spPr>
          <a:xfrm>
            <a:off x="1121969" y="587045"/>
            <a:ext cx="3557930" cy="114300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" name="instr"/>
          <p:cNvSpPr/>
          <p:nvPr/>
        </p:nvSpPr>
        <p:spPr>
          <a:xfrm>
            <a:off x="1325880" y="68580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Partner game:</a:t>
            </a:r>
            <a:endParaRPr lang="en-US" sz="2200" dirty="0" b="1"/>
          </a:p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Point and ask</a:t>
            </a:r>
            <a:endParaRPr lang="en-US" sz="2200" dirty="0" b="1"/>
          </a:p>
        </p:txBody>
      </p:sp>
      <p:pic>
        <p:nvPicPr>
          <p:cNvPr id="17" name="Word picture 1" descr="Newsletter: a newspaper [sign: NEWS]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48410" y="2286000"/>
            <a:ext cx="1920240" cy="1344168"/>
          </a:xfrm>
          <a:prstGeom prst="rect">
            <a:avLst/>
          </a:prstGeom>
        </p:spPr>
      </p:pic>
      <p:sp>
        <p:nvSpPr>
          <p:cNvPr id="18" name="Word label 1"/>
          <p:cNvSpPr/>
          <p:nvPr/>
        </p:nvSpPr>
        <p:spPr>
          <a:xfrm>
            <a:off x="85405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newsletter</a:t>
            </a:r>
            <a:endParaRPr lang="en-US" sz="2000" dirty="0" b="1"/>
          </a:p>
        </p:txBody>
      </p:sp>
      <p:pic>
        <p:nvPicPr>
          <p:cNvPr id="19" name="Word picture 2" descr="Backpack: a backpack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60290" y="2286000"/>
            <a:ext cx="1920240" cy="1344168"/>
          </a:xfrm>
          <a:prstGeom prst="rect">
            <a:avLst/>
          </a:prstGeom>
        </p:spPr>
      </p:pic>
      <p:sp>
        <p:nvSpPr>
          <p:cNvPr id="20" name="Word label 2"/>
          <p:cNvSpPr/>
          <p:nvPr/>
        </p:nvSpPr>
        <p:spPr>
          <a:xfrm>
            <a:off x="446593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backpack</a:t>
            </a:r>
            <a:endParaRPr lang="en-US" sz="2000" dirty="0" b="1"/>
          </a:p>
        </p:txBody>
      </p:sp>
      <p:pic>
        <p:nvPicPr>
          <p:cNvPr id="21" name="Word picture 3" descr="Sign-up: a memo and a pencil [sign: SIGN UP]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72170" y="2286000"/>
            <a:ext cx="1920240" cy="1344168"/>
          </a:xfrm>
          <a:prstGeom prst="rect">
            <a:avLst/>
          </a:prstGeom>
        </p:spPr>
      </p:pic>
      <p:sp>
        <p:nvSpPr>
          <p:cNvPr id="22" name="Word label 3"/>
          <p:cNvSpPr/>
          <p:nvPr/>
        </p:nvSpPr>
        <p:spPr>
          <a:xfrm>
            <a:off x="807781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sign-up</a:t>
            </a:r>
            <a:endParaRPr lang="en-US" sz="2000" dirty="0" b="1"/>
          </a:p>
        </p:txBody>
      </p:sp>
      <p:pic>
        <p:nvPicPr>
          <p:cNvPr id="23" name="Word picture 4" descr="Office window: a window and an office building [sign: WINDOW]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48410" y="4315968"/>
            <a:ext cx="1920240" cy="1344168"/>
          </a:xfrm>
          <a:prstGeom prst="rect">
            <a:avLst/>
          </a:prstGeom>
        </p:spPr>
      </p:pic>
      <p:sp>
        <p:nvSpPr>
          <p:cNvPr id="24" name="Word label 4"/>
          <p:cNvSpPr/>
          <p:nvPr/>
        </p:nvSpPr>
        <p:spPr>
          <a:xfrm>
            <a:off x="85405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office window</a:t>
            </a:r>
            <a:endParaRPr lang="en-US" sz="1500" dirty="0" b="1"/>
          </a:p>
        </p:txBody>
      </p:sp>
      <p:pic>
        <p:nvPicPr>
          <p:cNvPr id="25" name="Word picture 5" descr="Bell: a bell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60290" y="4315968"/>
            <a:ext cx="1920240" cy="1344168"/>
          </a:xfrm>
          <a:prstGeom prst="rect">
            <a:avLst/>
          </a:prstGeom>
        </p:spPr>
      </p:pic>
      <p:sp>
        <p:nvSpPr>
          <p:cNvPr id="26" name="Word label 5"/>
          <p:cNvSpPr/>
          <p:nvPr/>
        </p:nvSpPr>
        <p:spPr>
          <a:xfrm>
            <a:off x="446593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bell</a:t>
            </a:r>
            <a:endParaRPr lang="en-US" sz="2000" dirty="0" b="1"/>
          </a:p>
        </p:txBody>
      </p:sp>
      <p:pic>
        <p:nvPicPr>
          <p:cNvPr id="27" name="Word picture 6" descr="Hallway: a door and a person walking [sign: HALL]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72170" y="4315968"/>
            <a:ext cx="1920240" cy="1344168"/>
          </a:xfrm>
          <a:prstGeom prst="rect">
            <a:avLst/>
          </a:prstGeom>
        </p:spPr>
      </p:pic>
      <p:sp>
        <p:nvSpPr>
          <p:cNvPr id="28" name="Word label 6"/>
          <p:cNvSpPr/>
          <p:nvPr/>
        </p:nvSpPr>
        <p:spPr>
          <a:xfrm>
            <a:off x="807781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hallway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check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/>
          <p:nvPr/>
        </p:nvSpPr>
        <p:spPr>
          <a:xfrm>
            <a:off x="685800" y="502920"/>
            <a:ext cx="10789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Check the Meaning</a:t>
            </a:r>
            <a:endParaRPr lang="en-US" sz="4300" dirty="0" b="1"/>
          </a:p>
        </p:txBody>
      </p:sp>
      <p:sp>
        <p:nvSpPr>
          <p:cNvPr id="3" name="sub"/>
          <p:cNvSpPr/>
          <p:nvPr/>
        </p:nvSpPr>
        <p:spPr>
          <a:xfrm>
            <a:off x="685800" y="155448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Look at the picture. Answer the question.</a:t>
            </a:r>
            <a:endParaRPr lang="en-US" sz="2400" dirty="0"/>
          </a:p>
        </p:txBody>
      </p:sp>
      <p:sp>
        <p:nvSpPr>
          <p:cNvPr id="4" name="R1 shadow"/>
          <p:cNvSpPr/>
          <p:nvPr/>
        </p:nvSpPr>
        <p:spPr>
          <a:xfrm>
            <a:off x="7589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R1 card"/>
          <p:cNvSpPr/>
          <p:nvPr/>
        </p:nvSpPr>
        <p:spPr>
          <a:xfrm>
            <a:off x="6858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6" name="R1 circle"/>
          <p:cNvSpPr/>
          <p:nvPr/>
        </p:nvSpPr>
        <p:spPr>
          <a:xfrm>
            <a:off x="9601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7" name="R1 num"/>
          <p:cNvSpPr/>
          <p:nvPr/>
        </p:nvSpPr>
        <p:spPr>
          <a:xfrm>
            <a:off x="9601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500" dirty="0"/>
          </a:p>
        </p:txBody>
      </p:sp>
      <p:sp>
        <p:nvSpPr>
          <p:cNvPr id="8" name="R1 q"/>
          <p:cNvSpPr/>
          <p:nvPr/>
        </p:nvSpPr>
        <p:spPr>
          <a:xfrm>
            <a:off x="960120" y="3931920"/>
            <a:ext cx="2788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do you carry books in?</a:t>
            </a:r>
            <a:endParaRPr lang="en-US" sz="1600" dirty="0" b="1"/>
          </a:p>
        </p:txBody>
      </p:sp>
      <p:pic>
        <p:nvPicPr>
          <p:cNvPr id="101" name="R1 pic" descr="Backpack: a backpack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83080" y="2560320"/>
            <a:ext cx="1920240" cy="1344168"/>
          </a:xfrm>
          <a:prstGeom prst="rect">
            <a:avLst/>
          </a:prstGeom>
        </p:spPr>
      </p:pic>
      <p:sp>
        <p:nvSpPr>
          <p:cNvPr id="10" name="R2 shadow"/>
          <p:cNvSpPr/>
          <p:nvPr/>
        </p:nvSpPr>
        <p:spPr>
          <a:xfrm>
            <a:off x="44165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1" name="R2 card"/>
          <p:cNvSpPr/>
          <p:nvPr/>
        </p:nvSpPr>
        <p:spPr>
          <a:xfrm>
            <a:off x="43434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C9B8F2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12" name="R2 circle"/>
          <p:cNvSpPr/>
          <p:nvPr/>
        </p:nvSpPr>
        <p:spPr>
          <a:xfrm>
            <a:off x="46177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3" name="R2 num"/>
          <p:cNvSpPr/>
          <p:nvPr/>
        </p:nvSpPr>
        <p:spPr>
          <a:xfrm>
            <a:off x="46177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500" dirty="0"/>
          </a:p>
        </p:txBody>
      </p:sp>
      <p:sp>
        <p:nvSpPr>
          <p:cNvPr id="14" name="R2 q"/>
          <p:cNvSpPr/>
          <p:nvPr/>
        </p:nvSpPr>
        <p:spPr>
          <a:xfrm>
            <a:off x="4617720" y="3931920"/>
            <a:ext cx="2788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rings in the hallway?</a:t>
            </a:r>
            <a:endParaRPr lang="en-US" sz="1600" dirty="0" b="1"/>
          </a:p>
        </p:txBody>
      </p:sp>
      <p:pic>
        <p:nvPicPr>
          <p:cNvPr id="102" name="R2 pic" descr="Hallway: a door and a person walking [sign: HALL]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40680" y="2560320"/>
            <a:ext cx="1920240" cy="1344168"/>
          </a:xfrm>
          <a:prstGeom prst="rect">
            <a:avLst/>
          </a:prstGeom>
        </p:spPr>
      </p:pic>
      <p:sp>
        <p:nvSpPr>
          <p:cNvPr id="16" name="R3 shadow"/>
          <p:cNvSpPr/>
          <p:nvPr/>
        </p:nvSpPr>
        <p:spPr>
          <a:xfrm>
            <a:off x="80741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7" name="R3 card"/>
          <p:cNvSpPr/>
          <p:nvPr/>
        </p:nvSpPr>
        <p:spPr>
          <a:xfrm>
            <a:off x="80010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18" name="R3 circle"/>
          <p:cNvSpPr/>
          <p:nvPr/>
        </p:nvSpPr>
        <p:spPr>
          <a:xfrm>
            <a:off x="82753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9" name="R3 num"/>
          <p:cNvSpPr/>
          <p:nvPr/>
        </p:nvSpPr>
        <p:spPr>
          <a:xfrm>
            <a:off x="82753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500" dirty="0"/>
          </a:p>
        </p:txBody>
      </p:sp>
      <p:sp>
        <p:nvSpPr>
          <p:cNvPr id="20" name="R3 q"/>
          <p:cNvSpPr/>
          <p:nvPr/>
        </p:nvSpPr>
        <p:spPr>
          <a:xfrm>
            <a:off x="8275320" y="3931920"/>
            <a:ext cx="2788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paper does a parent bring for early pickup?</a:t>
            </a:r>
            <a:endParaRPr lang="en-US" sz="1400" dirty="0" b="1"/>
          </a:p>
        </p:txBody>
      </p:sp>
      <p:pic>
        <p:nvPicPr>
          <p:cNvPr id="103" name="R3 pic" descr="Permission slip: a clipboard and a check mark [sign: SLIP]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98280" y="2560320"/>
            <a:ext cx="1920240" cy="1344168"/>
          </a:xfrm>
          <a:prstGeom prst="rect">
            <a:avLst/>
          </a:prstGeom>
        </p:spPr>
      </p:pic>
      <p:sp>
        <p:nvSpPr>
          <p:cNvPr id="25" name="R1 ans"/>
          <p:cNvSpPr/>
          <p:nvPr/>
        </p:nvSpPr>
        <p:spPr>
          <a:xfrm>
            <a:off x="960120" y="4709160"/>
            <a:ext cx="228600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backpack</a:t>
            </a:r>
            <a:endParaRPr lang="en-US" sz="2200" dirty="0" b="1"/>
          </a:p>
        </p:txBody>
      </p:sp>
      <p:sp>
        <p:nvSpPr>
          <p:cNvPr id="26" name="R2 ans"/>
          <p:cNvSpPr/>
          <p:nvPr/>
        </p:nvSpPr>
        <p:spPr>
          <a:xfrm>
            <a:off x="4617720" y="4709160"/>
            <a:ext cx="228600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bell</a:t>
            </a:r>
            <a:endParaRPr lang="en-US" sz="2800" dirty="0" b="1"/>
          </a:p>
        </p:txBody>
      </p:sp>
      <p:sp>
        <p:nvSpPr>
          <p:cNvPr id="27" name="R3 ans"/>
          <p:cNvSpPr/>
          <p:nvPr/>
        </p:nvSpPr>
        <p:spPr>
          <a:xfrm>
            <a:off x="8275320" y="4709160"/>
            <a:ext cx="228600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permission slip</a:t>
            </a:r>
            <a:endParaRPr lang="en-US" sz="18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befor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3063240" cy="685800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8156448" y="1289304"/>
            <a:ext cx="3429000" cy="49834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321040" y="1097280"/>
            <a:ext cx="3429000" cy="498348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94847" y="1032586"/>
            <a:ext cx="4424782" cy="186354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3420770" y="956462"/>
            <a:ext cx="4424782" cy="186354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1"/>
          <p:cNvSpPr/>
          <p:nvPr/>
        </p:nvSpPr>
        <p:spPr>
          <a:xfrm>
            <a:off x="3566160" y="1078992"/>
            <a:ext cx="4114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Before You</a:t>
            </a:r>
            <a:endParaRPr lang="en-US" sz="4400" dirty="0" b="1"/>
          </a:p>
        </p:txBody>
      </p:sp>
      <p:sp>
        <p:nvSpPr>
          <p:cNvPr id="9" name="title2"/>
          <p:cNvSpPr/>
          <p:nvPr/>
        </p:nvSpPr>
        <p:spPr>
          <a:xfrm>
            <a:off x="3566160" y="1828800"/>
            <a:ext cx="4114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</a:t>
            </a:r>
            <a:endParaRPr lang="en-US" sz="4400" dirty="0" b="1"/>
          </a:p>
        </p:txBody>
      </p:sp>
      <p:sp>
        <p:nvSpPr>
          <p:cNvPr id="10" name="context"/>
          <p:cNvSpPr/>
          <p:nvPr/>
        </p:nvSpPr>
        <p:spPr>
          <a:xfrm>
            <a:off x="3487522" y="310896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Maya calls the office at Northside School.</a:t>
            </a:r>
            <a:endParaRPr lang="en-US" sz="1800" dirty="0"/>
          </a:p>
        </p:txBody>
      </p:sp>
      <p:sp>
        <p:nvSpPr>
          <p:cNvPr id="11" name="R1 num"/>
          <p:cNvSpPr/>
          <p:nvPr/>
        </p:nvSpPr>
        <p:spPr>
          <a:xfrm>
            <a:off x="3383280" y="4114800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600" dirty="0"/>
          </a:p>
        </p:txBody>
      </p:sp>
      <p:sp>
        <p:nvSpPr>
          <p:cNvPr id="13" name="R2 num"/>
          <p:cNvSpPr/>
          <p:nvPr/>
        </p:nvSpPr>
        <p:spPr>
          <a:xfrm>
            <a:off x="3383280" y="4919472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600" dirty="0"/>
          </a:p>
        </p:txBody>
      </p:sp>
      <p:sp>
        <p:nvSpPr>
          <p:cNvPr id="15" name="R3 num"/>
          <p:cNvSpPr/>
          <p:nvPr/>
        </p:nvSpPr>
        <p:spPr>
          <a:xfrm>
            <a:off x="3383280" y="5724144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3600" dirty="0"/>
          </a:p>
        </p:txBody>
      </p:sp>
      <p:sp>
        <p:nvSpPr>
          <p:cNvPr id="17" name="line 1"/>
          <p:cNvSpPr/>
          <p:nvPr/>
        </p:nvSpPr>
        <p:spPr>
          <a:xfrm>
            <a:off x="3503066" y="4928616"/>
            <a:ext cx="4480560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8" name="line 2"/>
          <p:cNvSpPr/>
          <p:nvPr/>
        </p:nvSpPr>
        <p:spPr>
          <a:xfrm>
            <a:off x="3503066" y="5733288"/>
            <a:ext cx="4480560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pic>
        <p:nvPicPr>
          <p:cNvPr id="24" name="pic" descr="Conference: a calendar and two people [sign: MEET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" y="2423160"/>
            <a:ext cx="2743200" cy="1920240"/>
          </a:xfrm>
          <a:prstGeom prst="rect">
            <a:avLst/>
          </a:prstGeom>
        </p:spPr>
      </p:pic>
      <p:sp>
        <p:nvSpPr>
          <p:cNvPr id="25" name="R1 hl"/>
          <p:cNvSpPr/>
          <p:nvPr/>
        </p:nvSpPr>
        <p:spPr>
          <a:xfrm>
            <a:off x="4389120" y="4251960"/>
            <a:ext cx="356616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7" name="R1 voice"/>
          <p:cNvSpPr/>
          <p:nvPr/>
        </p:nvSpPr>
        <p:spPr>
          <a:xfrm>
            <a:off x="4389120" y="4251960"/>
            <a:ext cx="35661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Narrator</a:t>
            </a:r>
            <a:endParaRPr lang="en-US" sz="2200" dirty="0" b="1"/>
          </a:p>
        </p:txBody>
      </p:sp>
      <p:sp>
        <p:nvSpPr>
          <p:cNvPr id="29" name="R2 hl"/>
          <p:cNvSpPr/>
          <p:nvPr/>
        </p:nvSpPr>
        <p:spPr>
          <a:xfrm>
            <a:off x="4389120" y="5056632"/>
            <a:ext cx="356616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1" name="R2 voice"/>
          <p:cNvSpPr/>
          <p:nvPr/>
        </p:nvSpPr>
        <p:spPr>
          <a:xfrm>
            <a:off x="4389120" y="5056632"/>
            <a:ext cx="35661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Mr. Reed</a:t>
            </a:r>
            <a:endParaRPr lang="en-US" sz="2200" dirty="0" b="1"/>
          </a:p>
        </p:txBody>
      </p:sp>
      <p:sp>
        <p:nvSpPr>
          <p:cNvPr id="33" name="R3 hl"/>
          <p:cNvSpPr/>
          <p:nvPr/>
        </p:nvSpPr>
        <p:spPr>
          <a:xfrm>
            <a:off x="4389120" y="5861304"/>
            <a:ext cx="356616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5" name="R3 voice"/>
          <p:cNvSpPr/>
          <p:nvPr/>
        </p:nvSpPr>
        <p:spPr>
          <a:xfrm>
            <a:off x="4389120" y="5861304"/>
            <a:ext cx="35661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Maya</a:t>
            </a:r>
            <a:endParaRPr lang="en-US" sz="2200" dirty="0" b="1"/>
          </a:p>
        </p:txBody>
      </p:sp>
      <p:sp>
        <p:nvSpPr>
          <p:cNvPr id="37" name="listen head"/>
          <p:cNvSpPr/>
          <p:nvPr/>
        </p:nvSpPr>
        <p:spPr>
          <a:xfrm>
            <a:off x="8549640" y="1280160"/>
            <a:ext cx="3017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for:</a:t>
            </a:r>
            <a:endParaRPr lang="en-US" sz="2400" dirty="0" b="1"/>
          </a:p>
        </p:txBody>
      </p:sp>
      <p:sp>
        <p:nvSpPr>
          <p:cNvPr id="39" name="listen 1"/>
          <p:cNvSpPr/>
          <p:nvPr/>
        </p:nvSpPr>
        <p:spPr>
          <a:xfrm>
            <a:off x="8549640" y="1965960"/>
            <a:ext cx="3063240" cy="9144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Listen. Why is she calling?</a:t>
            </a:r>
            <a:endParaRPr lang="en-US" sz="2200" dirty="0"/>
          </a:p>
        </p:txBody>
      </p:sp>
      <p:sp>
        <p:nvSpPr>
          <p:cNvPr id="41" name="listen 2"/>
          <p:cNvSpPr/>
          <p:nvPr/>
        </p:nvSpPr>
        <p:spPr>
          <a:xfrm>
            <a:off x="8549640" y="3017520"/>
            <a:ext cx="3063240" cy="9144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| 6:12–6:32 | Listening: play 1 (Task A), play 2 (Tasks B and C) +</a:t>
            </a:r>
            <a:endParaRPr lang="en-US" sz="2200" dirty="0"/>
          </a:p>
        </p:txBody>
      </p:sp>
      <p:sp>
        <p:nvSpPr>
          <p:cNvPr id="43" name="audio"/>
          <p:cNvSpPr/>
          <p:nvPr/>
        </p:nvSpPr>
        <p:spPr>
          <a:xfrm>
            <a:off x="8549640" y="4069080"/>
            <a:ext cx="3063240" cy="9144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 (about 2:20): coming soon.</a:t>
            </a:r>
            <a:endParaRPr lang="en-US" sz="2200" dirty="0"/>
          </a:p>
        </p:txBody>
      </p:sp>
      <p:sp>
        <p:nvSpPr>
          <p:cNvPr id="46" name="play"/>
          <p:cNvSpPr/>
          <p:nvPr/>
        </p:nvSpPr>
        <p:spPr>
          <a:xfrm>
            <a:off x="8549640" y="5029200"/>
            <a:ext cx="3017520" cy="7315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Play 1: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Task A</a:t>
            </a:r>
            <a:endParaRPr lang="en-US" sz="2200" dirty="0" b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choic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164592" y="2980944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33172" y="1137194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66090" y="1080821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2856586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16052" y="1452067"/>
            <a:ext cx="5680253" cy="94731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4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A</a:t>
            </a:r>
            <a:endParaRPr lang="en-US" sz="4800" dirty="0" b="1"/>
          </a:p>
        </p:txBody>
      </p:sp>
      <p:sp>
        <p:nvSpPr>
          <p:cNvPr id="7" name="instr"/>
          <p:cNvSpPr/>
          <p:nvPr/>
        </p:nvSpPr>
        <p:spPr>
          <a:xfrm>
            <a:off x="6745529" y="123444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Listen. Why is she calling?</a:t>
            </a:r>
            <a:endParaRPr lang="en-US" sz="2000" dirty="0"/>
          </a:p>
        </p:txBody>
      </p:sp>
      <p:sp>
        <p:nvSpPr>
          <p:cNvPr id="8" name="R1 stmt"/>
          <p:cNvSpPr/>
          <p:nvPr/>
        </p:nvSpPr>
        <p:spPr>
          <a:xfrm>
            <a:off x="502920" y="3108960"/>
            <a:ext cx="1453896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1.</a:t>
            </a:r>
            <a:endParaRPr lang="en-US" sz="1600" dirty="0"/>
          </a:p>
        </p:txBody>
      </p:sp>
      <p:sp>
        <p:nvSpPr>
          <p:cNvPr id="9" name="R1 opt1"/>
          <p:cNvSpPr/>
          <p:nvPr/>
        </p:nvSpPr>
        <p:spPr>
          <a:xfrm>
            <a:off x="2139696" y="3108960"/>
            <a:ext cx="315468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a. to ask about the bus</a:t>
            </a:r>
            <a:endParaRPr lang="en-US" sz="1500" dirty="0" b="1"/>
          </a:p>
        </p:txBody>
      </p:sp>
      <p:sp>
        <p:nvSpPr>
          <p:cNvPr id="10" name="R1 opt2"/>
          <p:cNvSpPr/>
          <p:nvPr/>
        </p:nvSpPr>
        <p:spPr>
          <a:xfrm>
            <a:off x="5367528" y="3108960"/>
            <a:ext cx="315468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b. to ask about the conference</a:t>
            </a:r>
            <a:endParaRPr lang="en-US" sz="1500" dirty="0" b="1"/>
          </a:p>
        </p:txBody>
      </p:sp>
      <p:sp>
        <p:nvSpPr>
          <p:cNvPr id="11" name="R1 opt3"/>
          <p:cNvSpPr/>
          <p:nvPr/>
        </p:nvSpPr>
        <p:spPr>
          <a:xfrm>
            <a:off x="8595360" y="3108960"/>
            <a:ext cx="315468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c. to join the office staff</a:t>
            </a:r>
            <a:endParaRPr lang="en-US" sz="1500" dirty="0" b="1"/>
          </a:p>
        </p:txBody>
      </p:sp>
      <p:sp>
        <p:nvSpPr>
          <p:cNvPr id="12" name="R1 circle"/>
          <p:cNvSpPr/>
          <p:nvPr/>
        </p:nvSpPr>
        <p:spPr>
          <a:xfrm>
            <a:off x="5239512" y="3054096"/>
            <a:ext cx="3410712" cy="640080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choic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164592" y="2980944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33172" y="1137194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66090" y="1080821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2856586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16052" y="1452067"/>
            <a:ext cx="5680253" cy="94731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4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B</a:t>
            </a:r>
            <a:endParaRPr lang="en-US" sz="4800" dirty="0" b="1"/>
          </a:p>
        </p:txBody>
      </p:sp>
      <p:sp>
        <p:nvSpPr>
          <p:cNvPr id="7" name="instr"/>
          <p:cNvSpPr/>
          <p:nvPr/>
        </p:nvSpPr>
        <p:spPr>
          <a:xfrm>
            <a:off x="6745529" y="123444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B. Listen again. Circle the note.</a:t>
            </a:r>
            <a:endParaRPr lang="en-US" sz="1600" dirty="0"/>
          </a:p>
        </p:txBody>
      </p:sp>
      <p:sp>
        <p:nvSpPr>
          <p:cNvPr id="8" name="R1 stmt"/>
          <p:cNvSpPr/>
          <p:nvPr/>
        </p:nvSpPr>
        <p:spPr>
          <a:xfrm>
            <a:off x="502920" y="3108960"/>
            <a:ext cx="448056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300" dirty="0"/>
              <a:t>1. Day</a:t>
            </a:r>
            <a:endParaRPr lang="en-US" sz="1300" dirty="0"/>
          </a:p>
        </p:txBody>
      </p:sp>
      <p:sp>
        <p:nvSpPr>
          <p:cNvPr id="9" name="R1 opt1"/>
          <p:cNvSpPr/>
          <p:nvPr/>
        </p:nvSpPr>
        <p:spPr>
          <a:xfrm>
            <a:off x="5166360" y="310896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tonight</a:t>
            </a:r>
            <a:endParaRPr lang="en-US" sz="1200" dirty="0" b="1"/>
          </a:p>
        </p:txBody>
      </p:sp>
      <p:sp>
        <p:nvSpPr>
          <p:cNvPr id="10" name="R1 opt2"/>
          <p:cNvSpPr/>
          <p:nvPr/>
        </p:nvSpPr>
        <p:spPr>
          <a:xfrm>
            <a:off x="7452360" y="310896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tomorrow</a:t>
            </a:r>
            <a:endParaRPr lang="en-US" sz="1200" dirty="0" b="1"/>
          </a:p>
        </p:txBody>
      </p:sp>
      <p:sp>
        <p:nvSpPr>
          <p:cNvPr id="11" name="R1 opt3"/>
          <p:cNvSpPr/>
          <p:nvPr/>
        </p:nvSpPr>
        <p:spPr>
          <a:xfrm>
            <a:off x="9738360" y="310896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Monday</a:t>
            </a:r>
            <a:endParaRPr lang="en-US" sz="1200" dirty="0" b="1"/>
          </a:p>
        </p:txBody>
      </p:sp>
      <p:sp>
        <p:nvSpPr>
          <p:cNvPr id="12" name="R1 circle"/>
          <p:cNvSpPr/>
          <p:nvPr/>
        </p:nvSpPr>
        <p:spPr>
          <a:xfrm>
            <a:off x="5038344" y="3054096"/>
            <a:ext cx="24963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3" name="R2 stmt"/>
          <p:cNvSpPr/>
          <p:nvPr/>
        </p:nvSpPr>
        <p:spPr>
          <a:xfrm>
            <a:off x="502920" y="3657600"/>
            <a:ext cx="448056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300" dirty="0"/>
              <a:t>2. Starts</a:t>
            </a:r>
            <a:endParaRPr lang="en-US" sz="1300" dirty="0"/>
          </a:p>
        </p:txBody>
      </p:sp>
      <p:sp>
        <p:nvSpPr>
          <p:cNvPr id="14" name="R2 opt1"/>
          <p:cNvSpPr/>
          <p:nvPr/>
        </p:nvSpPr>
        <p:spPr>
          <a:xfrm>
            <a:off x="5166360" y="365760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6:00</a:t>
            </a:r>
            <a:endParaRPr lang="en-US" sz="1200" dirty="0" b="1"/>
          </a:p>
        </p:txBody>
      </p:sp>
      <p:sp>
        <p:nvSpPr>
          <p:cNvPr id="15" name="R2 opt2"/>
          <p:cNvSpPr/>
          <p:nvPr/>
        </p:nvSpPr>
        <p:spPr>
          <a:xfrm>
            <a:off x="7452360" y="365760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6:30</a:t>
            </a:r>
            <a:endParaRPr lang="en-US" sz="1200" dirty="0" b="1"/>
          </a:p>
        </p:txBody>
      </p:sp>
      <p:sp>
        <p:nvSpPr>
          <p:cNvPr id="16" name="R2 opt3"/>
          <p:cNvSpPr/>
          <p:nvPr/>
        </p:nvSpPr>
        <p:spPr>
          <a:xfrm>
            <a:off x="9738360" y="365760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7:00</a:t>
            </a:r>
            <a:endParaRPr lang="en-US" sz="1200" dirty="0" b="1"/>
          </a:p>
        </p:txBody>
      </p:sp>
      <p:sp>
        <p:nvSpPr>
          <p:cNvPr id="17" name="R2 circle"/>
          <p:cNvSpPr/>
          <p:nvPr/>
        </p:nvSpPr>
        <p:spPr>
          <a:xfrm>
            <a:off x="7324344" y="3602736"/>
            <a:ext cx="24963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8" name="R3 stmt"/>
          <p:cNvSpPr/>
          <p:nvPr/>
        </p:nvSpPr>
        <p:spPr>
          <a:xfrm>
            <a:off x="502920" y="4206240"/>
            <a:ext cx="448056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300" dirty="0"/>
              <a:t>3. Bring</a:t>
            </a:r>
            <a:endParaRPr lang="en-US" sz="1300" dirty="0"/>
          </a:p>
        </p:txBody>
      </p:sp>
      <p:sp>
        <p:nvSpPr>
          <p:cNvPr id="19" name="R3 opt1"/>
          <p:cNvSpPr/>
          <p:nvPr/>
        </p:nvSpPr>
        <p:spPr>
          <a:xfrm>
            <a:off x="5166360" y="420624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slip</a:t>
            </a:r>
            <a:endParaRPr lang="en-US" sz="1200" dirty="0" b="1"/>
          </a:p>
        </p:txBody>
      </p:sp>
      <p:sp>
        <p:nvSpPr>
          <p:cNvPr id="20" name="R3 opt2"/>
          <p:cNvSpPr/>
          <p:nvPr/>
        </p:nvSpPr>
        <p:spPr>
          <a:xfrm>
            <a:off x="7452360" y="420624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signup sheet</a:t>
            </a:r>
            <a:endParaRPr lang="en-US" sz="1200" dirty="0" b="1"/>
          </a:p>
        </p:txBody>
      </p:sp>
      <p:sp>
        <p:nvSpPr>
          <p:cNvPr id="21" name="R3 opt3"/>
          <p:cNvSpPr/>
          <p:nvPr/>
        </p:nvSpPr>
        <p:spPr>
          <a:xfrm>
            <a:off x="9738360" y="420624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newsletter</a:t>
            </a:r>
            <a:endParaRPr lang="en-US" sz="1200" dirty="0" b="1"/>
          </a:p>
        </p:txBody>
      </p:sp>
      <p:sp>
        <p:nvSpPr>
          <p:cNvPr id="22" name="R3 circle"/>
          <p:cNvSpPr/>
          <p:nvPr/>
        </p:nvSpPr>
        <p:spPr>
          <a:xfrm>
            <a:off x="7324344" y="4151376"/>
            <a:ext cx="24963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R4 stmt"/>
          <p:cNvSpPr/>
          <p:nvPr/>
        </p:nvSpPr>
        <p:spPr>
          <a:xfrm>
            <a:off x="502920" y="4754880"/>
            <a:ext cx="448056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300" dirty="0"/>
              <a:t>4. Arrive</a:t>
            </a:r>
            <a:endParaRPr lang="en-US" sz="1300" dirty="0"/>
          </a:p>
        </p:txBody>
      </p:sp>
      <p:sp>
        <p:nvSpPr>
          <p:cNvPr id="24" name="R4 opt1"/>
          <p:cNvSpPr/>
          <p:nvPr/>
        </p:nvSpPr>
        <p:spPr>
          <a:xfrm>
            <a:off x="5166360" y="475488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on time</a:t>
            </a:r>
            <a:endParaRPr lang="en-US" sz="1200" dirty="0" b="1"/>
          </a:p>
        </p:txBody>
      </p:sp>
      <p:sp>
        <p:nvSpPr>
          <p:cNvPr id="25" name="R4 opt2"/>
          <p:cNvSpPr/>
          <p:nvPr/>
        </p:nvSpPr>
        <p:spPr>
          <a:xfrm>
            <a:off x="7452360" y="475488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ten minutes early</a:t>
            </a:r>
            <a:endParaRPr lang="en-US" sz="1200" dirty="0" b="1"/>
          </a:p>
        </p:txBody>
      </p:sp>
      <p:sp>
        <p:nvSpPr>
          <p:cNvPr id="26" name="R4 opt3"/>
          <p:cNvSpPr/>
          <p:nvPr/>
        </p:nvSpPr>
        <p:spPr>
          <a:xfrm>
            <a:off x="9738360" y="475488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after three</a:t>
            </a:r>
            <a:endParaRPr lang="en-US" sz="1200" dirty="0" b="1"/>
          </a:p>
        </p:txBody>
      </p:sp>
      <p:sp>
        <p:nvSpPr>
          <p:cNvPr id="27" name="R4 circle"/>
          <p:cNvSpPr/>
          <p:nvPr/>
        </p:nvSpPr>
        <p:spPr>
          <a:xfrm>
            <a:off x="7324344" y="4700016"/>
            <a:ext cx="24963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8" name="R5 stmt"/>
          <p:cNvSpPr/>
          <p:nvPr/>
        </p:nvSpPr>
        <p:spPr>
          <a:xfrm>
            <a:off x="502920" y="5303520"/>
            <a:ext cx="448056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300" dirty="0"/>
              <a:t>5. The window is</a:t>
            </a:r>
            <a:endParaRPr lang="en-US" sz="1300" dirty="0"/>
          </a:p>
        </p:txBody>
      </p:sp>
      <p:sp>
        <p:nvSpPr>
          <p:cNvPr id="29" name="R5 opt1"/>
          <p:cNvSpPr/>
          <p:nvPr/>
        </p:nvSpPr>
        <p:spPr>
          <a:xfrm>
            <a:off x="5166360" y="530352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in the library</a:t>
            </a:r>
            <a:endParaRPr lang="en-US" sz="1200" dirty="0" b="1"/>
          </a:p>
        </p:txBody>
      </p:sp>
      <p:sp>
        <p:nvSpPr>
          <p:cNvPr id="30" name="R5 opt2"/>
          <p:cNvSpPr/>
          <p:nvPr/>
        </p:nvSpPr>
        <p:spPr>
          <a:xfrm>
            <a:off x="7452360" y="530352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down the hallway</a:t>
            </a:r>
            <a:endParaRPr lang="en-US" sz="1200" dirty="0" b="1"/>
          </a:p>
        </p:txBody>
      </p:sp>
      <p:sp>
        <p:nvSpPr>
          <p:cNvPr id="31" name="R5 opt3"/>
          <p:cNvSpPr/>
          <p:nvPr/>
        </p:nvSpPr>
        <p:spPr>
          <a:xfrm>
            <a:off x="9738360" y="530352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in the parking lot</a:t>
            </a:r>
            <a:endParaRPr lang="en-US" sz="1200" dirty="0" b="1"/>
          </a:p>
        </p:txBody>
      </p:sp>
      <p:sp>
        <p:nvSpPr>
          <p:cNvPr id="32" name="R5 circle"/>
          <p:cNvSpPr/>
          <p:nvPr/>
        </p:nvSpPr>
        <p:spPr>
          <a:xfrm>
            <a:off x="7324344" y="5248656"/>
            <a:ext cx="24963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3" name="R6 stmt"/>
          <p:cNvSpPr/>
          <p:nvPr/>
        </p:nvSpPr>
        <p:spPr>
          <a:xfrm>
            <a:off x="502920" y="5852160"/>
            <a:ext cx="676656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300" dirty="0"/>
              <a:t>6. A slip for Maya</a:t>
            </a:r>
            <a:endParaRPr lang="en-US" sz="1300" dirty="0"/>
          </a:p>
        </p:txBody>
      </p:sp>
      <p:sp>
        <p:nvSpPr>
          <p:cNvPr id="34" name="R6 opt1"/>
          <p:cNvSpPr/>
          <p:nvPr/>
        </p:nvSpPr>
        <p:spPr>
          <a:xfrm>
            <a:off x="7452360" y="585216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</a:t>
            </a:r>
            <a:endParaRPr lang="en-US" sz="1200" dirty="0" b="1"/>
          </a:p>
        </p:txBody>
      </p:sp>
      <p:sp>
        <p:nvSpPr>
          <p:cNvPr id="35" name="R6 opt2"/>
          <p:cNvSpPr/>
          <p:nvPr/>
        </p:nvSpPr>
        <p:spPr>
          <a:xfrm>
            <a:off x="9738360" y="585216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</a:t>
            </a:r>
            <a:endParaRPr lang="en-US" sz="1200" dirty="0" b="1"/>
          </a:p>
        </p:txBody>
      </p:sp>
      <p:sp>
        <p:nvSpPr>
          <p:cNvPr id="36" name="R6 circle"/>
          <p:cNvSpPr/>
          <p:nvPr/>
        </p:nvSpPr>
        <p:spPr>
          <a:xfrm>
            <a:off x="9610344" y="5797296"/>
            <a:ext cx="24963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gap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132942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8640" y="1075334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143000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again.</a:t>
            </a:r>
            <a:endParaRPr lang="en-US" sz="2000" dirty="0" b="1"/>
          </a:p>
        </p:txBody>
      </p:sp>
      <p:sp>
        <p:nvSpPr>
          <p:cNvPr id="9" name="head2"/>
          <p:cNvSpPr/>
          <p:nvPr/>
        </p:nvSpPr>
        <p:spPr>
          <a:xfrm>
            <a:off x="868680" y="1545336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again. Write if, whet</a:t>
            </a:r>
            <a:endParaRPr lang="en-US" sz="2000" dirty="0"/>
          </a:p>
        </p:txBody>
      </p:sp>
      <p:sp>
        <p:nvSpPr>
          <p:cNvPr id="29" name="title"/>
          <p:cNvSpPr/>
          <p:nvPr/>
        </p:nvSpPr>
        <p:spPr>
          <a:xfrm>
            <a:off x="8001000" y="1783080"/>
            <a:ext cx="384048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C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8046720" y="3611880"/>
            <a:ext cx="3749039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the missing words.</a:t>
            </a:r>
            <a:endParaRPr lang="en-US" sz="2000" dirty="0" b="1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Then check together.</a:t>
            </a:r>
            <a:endParaRPr lang="en-US" sz="2000" dirty="0" b="1"/>
          </a:p>
        </p:txBody>
      </p:sp>
      <p:sp>
        <p:nvSpPr>
          <p:cNvPr id="31" name="R1 card"/>
          <p:cNvSpPr/>
          <p:nvPr/>
        </p:nvSpPr>
        <p:spPr>
          <a:xfrm>
            <a:off x="1583741" y="2123237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R1 chip"/>
          <p:cNvSpPr/>
          <p:nvPr/>
        </p:nvSpPr>
        <p:spPr>
          <a:xfrm>
            <a:off x="544982" y="2123237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3" name="R1 num"/>
          <p:cNvSpPr/>
          <p:nvPr/>
        </p:nvSpPr>
        <p:spPr>
          <a:xfrm>
            <a:off x="686714" y="2158136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1</a:t>
            </a:r>
            <a:endParaRPr lang="en-US" sz="3200" dirty="0" b="1"/>
          </a:p>
        </p:txBody>
      </p:sp>
      <p:sp>
        <p:nvSpPr>
          <p:cNvPr id="34" name="R1 text"/>
          <p:cNvSpPr/>
          <p:nvPr/>
        </p:nvSpPr>
        <p:spPr>
          <a:xfrm>
            <a:off x="1810512" y="2123237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 know ______ the conference is tonight?</a:t>
            </a:r>
            <a:endParaRPr lang="en-US" sz="1600" dirty="0"/>
          </a:p>
        </p:txBody>
      </p:sp>
      <p:sp>
        <p:nvSpPr>
          <p:cNvPr id="35" name="R1 ans"/>
          <p:cNvSpPr/>
          <p:nvPr/>
        </p:nvSpPr>
        <p:spPr>
          <a:xfrm>
            <a:off x="6016752" y="2222144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</a:t>
            </a:r>
            <a:endParaRPr lang="en-US" sz="1600" dirty="0" b="1"/>
          </a:p>
        </p:txBody>
      </p:sp>
      <p:sp>
        <p:nvSpPr>
          <p:cNvPr id="36" name="R2 card"/>
          <p:cNvSpPr/>
          <p:nvPr/>
        </p:nvSpPr>
        <p:spPr>
          <a:xfrm>
            <a:off x="1583741" y="2851404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" name="R2 chip"/>
          <p:cNvSpPr/>
          <p:nvPr/>
        </p:nvSpPr>
        <p:spPr>
          <a:xfrm>
            <a:off x="544982" y="2851404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8" name="R2 num"/>
          <p:cNvSpPr/>
          <p:nvPr/>
        </p:nvSpPr>
        <p:spPr>
          <a:xfrm>
            <a:off x="686714" y="2886304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2</a:t>
            </a:r>
            <a:endParaRPr lang="en-US" sz="3200" dirty="0" b="1"/>
          </a:p>
        </p:txBody>
      </p:sp>
      <p:sp>
        <p:nvSpPr>
          <p:cNvPr id="39" name="R2 text"/>
          <p:cNvSpPr/>
          <p:nvPr/>
        </p:nvSpPr>
        <p:spPr>
          <a:xfrm>
            <a:off x="1810512" y="2851404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 know ______ I should bring the signup sheet?</a:t>
            </a:r>
            <a:endParaRPr lang="en-US" sz="1600" dirty="0"/>
          </a:p>
        </p:txBody>
      </p:sp>
      <p:sp>
        <p:nvSpPr>
          <p:cNvPr id="40" name="R2 ans"/>
          <p:cNvSpPr/>
          <p:nvPr/>
        </p:nvSpPr>
        <p:spPr>
          <a:xfrm>
            <a:off x="6016752" y="2950312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whether</a:t>
            </a:r>
            <a:endParaRPr lang="en-US" sz="1600" dirty="0" b="1"/>
          </a:p>
        </p:txBody>
      </p:sp>
      <p:sp>
        <p:nvSpPr>
          <p:cNvPr id="41" name="R3 card"/>
          <p:cNvSpPr/>
          <p:nvPr/>
        </p:nvSpPr>
        <p:spPr>
          <a:xfrm>
            <a:off x="1583741" y="3579571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" name="R3 chip"/>
          <p:cNvSpPr/>
          <p:nvPr/>
        </p:nvSpPr>
        <p:spPr>
          <a:xfrm>
            <a:off x="544982" y="3579571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3" name="R3 num"/>
          <p:cNvSpPr/>
          <p:nvPr/>
        </p:nvSpPr>
        <p:spPr>
          <a:xfrm>
            <a:off x="686714" y="3614471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3</a:t>
            </a:r>
            <a:endParaRPr lang="en-US" sz="3200" dirty="0" b="1"/>
          </a:p>
        </p:txBody>
      </p:sp>
      <p:sp>
        <p:nvSpPr>
          <p:cNvPr id="44" name="R3 text"/>
          <p:cNvSpPr/>
          <p:nvPr/>
        </p:nvSpPr>
        <p:spPr>
          <a:xfrm>
            <a:off x="1810512" y="3579571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 know ______ the office window is?</a:t>
            </a:r>
            <a:endParaRPr lang="en-US" sz="1600" dirty="0"/>
          </a:p>
        </p:txBody>
      </p:sp>
      <p:sp>
        <p:nvSpPr>
          <p:cNvPr id="45" name="R3 ans"/>
          <p:cNvSpPr/>
          <p:nvPr/>
        </p:nvSpPr>
        <p:spPr>
          <a:xfrm>
            <a:off x="6016752" y="3678479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where</a:t>
            </a:r>
            <a:endParaRPr lang="en-US" sz="1600" dirty="0" b="1"/>
          </a:p>
        </p:txBody>
      </p:sp>
      <p:sp>
        <p:nvSpPr>
          <p:cNvPr id="46" name="R4 card"/>
          <p:cNvSpPr/>
          <p:nvPr/>
        </p:nvSpPr>
        <p:spPr>
          <a:xfrm>
            <a:off x="1583741" y="4307738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" name="R4 chip"/>
          <p:cNvSpPr/>
          <p:nvPr/>
        </p:nvSpPr>
        <p:spPr>
          <a:xfrm>
            <a:off x="544982" y="4307738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8" name="R4 num"/>
          <p:cNvSpPr/>
          <p:nvPr/>
        </p:nvSpPr>
        <p:spPr>
          <a:xfrm>
            <a:off x="686714" y="4342638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4</a:t>
            </a:r>
            <a:endParaRPr lang="en-US" sz="3200" dirty="0" b="1"/>
          </a:p>
        </p:txBody>
      </p:sp>
      <p:sp>
        <p:nvSpPr>
          <p:cNvPr id="49" name="R4 text"/>
          <p:cNvSpPr/>
          <p:nvPr/>
        </p:nvSpPr>
        <p:spPr>
          <a:xfrm>
            <a:off x="1810512" y="4307738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Can you tell me ______ I need a permission slip?</a:t>
            </a:r>
            <a:endParaRPr lang="en-US" sz="1600" dirty="0"/>
          </a:p>
        </p:txBody>
      </p:sp>
      <p:sp>
        <p:nvSpPr>
          <p:cNvPr id="50" name="R4 ans"/>
          <p:cNvSpPr/>
          <p:nvPr/>
        </p:nvSpPr>
        <p:spPr>
          <a:xfrm>
            <a:off x="6016752" y="4406646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</a:t>
            </a:r>
            <a:endParaRPr lang="en-US" sz="1600" dirty="0" b="1"/>
          </a:p>
        </p:txBody>
      </p:sp>
      <p:sp>
        <p:nvSpPr>
          <p:cNvPr id="51" name="R5 card"/>
          <p:cNvSpPr/>
          <p:nvPr/>
        </p:nvSpPr>
        <p:spPr>
          <a:xfrm>
            <a:off x="1583741" y="5035906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2" name="R5 chip"/>
          <p:cNvSpPr/>
          <p:nvPr/>
        </p:nvSpPr>
        <p:spPr>
          <a:xfrm>
            <a:off x="544982" y="5035906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3" name="R5 num"/>
          <p:cNvSpPr/>
          <p:nvPr/>
        </p:nvSpPr>
        <p:spPr>
          <a:xfrm>
            <a:off x="686714" y="5070805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5</a:t>
            </a:r>
            <a:endParaRPr lang="en-US" sz="3200" dirty="0" b="1"/>
          </a:p>
        </p:txBody>
      </p:sp>
      <p:sp>
        <p:nvSpPr>
          <p:cNvPr id="54" name="R5 text"/>
          <p:cNvSpPr/>
          <p:nvPr/>
        </p:nvSpPr>
        <p:spPr>
          <a:xfrm>
            <a:off x="1810512" y="5035906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 know ______ dismissal is at the usual time?</a:t>
            </a:r>
            <a:endParaRPr lang="en-US" sz="1600" dirty="0"/>
          </a:p>
        </p:txBody>
      </p:sp>
      <p:sp>
        <p:nvSpPr>
          <p:cNvPr id="55" name="R5 ans"/>
          <p:cNvSpPr/>
          <p:nvPr/>
        </p:nvSpPr>
        <p:spPr>
          <a:xfrm>
            <a:off x="6016752" y="5134813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</a:t>
            </a:r>
            <a:endParaRPr lang="en-US" sz="1600" dirty="0" b="1"/>
          </a:p>
        </p:txBody>
      </p:sp>
      <p:sp>
        <p:nvSpPr>
          <p:cNvPr id="56" name="R6 card"/>
          <p:cNvSpPr/>
          <p:nvPr/>
        </p:nvSpPr>
        <p:spPr>
          <a:xfrm>
            <a:off x="1583741" y="5764073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7" name="R6 chip"/>
          <p:cNvSpPr/>
          <p:nvPr/>
        </p:nvSpPr>
        <p:spPr>
          <a:xfrm>
            <a:off x="544982" y="5764073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8" name="R6 num"/>
          <p:cNvSpPr/>
          <p:nvPr/>
        </p:nvSpPr>
        <p:spPr>
          <a:xfrm>
            <a:off x="686714" y="5798972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6</a:t>
            </a:r>
            <a:endParaRPr lang="en-US" sz="3200" dirty="0" b="1"/>
          </a:p>
        </p:txBody>
      </p:sp>
      <p:sp>
        <p:nvSpPr>
          <p:cNvPr id="59" name="R6 text"/>
          <p:cNvSpPr/>
          <p:nvPr/>
        </p:nvSpPr>
        <p:spPr>
          <a:xfrm>
            <a:off x="1810512" y="5764073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 know ______ I should leave my backpack?</a:t>
            </a:r>
            <a:endParaRPr lang="en-US" sz="1600" dirty="0"/>
          </a:p>
        </p:txBody>
      </p:sp>
      <p:sp>
        <p:nvSpPr>
          <p:cNvPr id="60" name="R6 ans"/>
          <p:cNvSpPr/>
          <p:nvPr/>
        </p:nvSpPr>
        <p:spPr>
          <a:xfrm>
            <a:off x="6016752" y="5862980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where</a:t>
            </a:r>
            <a:endParaRPr lang="en-US" sz="16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checksay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681582"/>
            <a:ext cx="6227064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4982" y="1623974"/>
            <a:ext cx="6169457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691640"/>
            <a:ext cx="56692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Hear it: gonna and wanna are short forms</a:t>
            </a:r>
            <a:endParaRPr lang="en-US" sz="1600" dirty="0" b="1"/>
          </a:p>
        </p:txBody>
      </p:sp>
      <p:sp>
        <p:nvSpPr>
          <p:cNvPr id="9" name="head2"/>
          <p:cNvSpPr/>
          <p:nvPr/>
        </p:nvSpPr>
        <p:spPr>
          <a:xfrm>
            <a:off x="868680" y="2093976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it: use the full forms</a:t>
            </a:r>
            <a:endParaRPr lang="en-US" sz="1600" dirty="0"/>
          </a:p>
        </p:txBody>
      </p:sp>
      <p:sp>
        <p:nvSpPr>
          <p:cNvPr id="29" name="title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Hear It,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It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gonna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and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wanna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are short forms. This listening uses the full forms.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can say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going to</a:t>
            </a: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and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want to</a:t>
            </a: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000" dirty="0" b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each line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two times.</a:t>
            </a:r>
            <a:endParaRPr lang="en-US" sz="2000" dirty="0" b="0"/>
          </a:p>
        </p:txBody>
      </p:sp>
      <p:sp>
        <p:nvSpPr>
          <p:cNvPr id="31" name="S1 card"/>
          <p:cNvSpPr/>
          <p:nvPr/>
        </p:nvSpPr>
        <p:spPr>
          <a:xfrm>
            <a:off x="548640" y="2715768"/>
            <a:ext cx="6766560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S1 text"/>
          <p:cNvSpPr/>
          <p:nvPr/>
        </p:nvSpPr>
        <p:spPr>
          <a:xfrm>
            <a:off x="777240" y="2715768"/>
            <a:ext cx="63550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</a:t>
            </a: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want to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ask about the conference.</a:t>
            </a:r>
            <a:endParaRPr lang="en-US" sz="1800" dirty="0" b="1"/>
          </a:p>
        </p:txBody>
      </p:sp>
      <p:sp>
        <p:nvSpPr>
          <p:cNvPr id="33" name="S2 card"/>
          <p:cNvSpPr/>
          <p:nvPr/>
        </p:nvSpPr>
        <p:spPr>
          <a:xfrm>
            <a:off x="548640" y="3427171"/>
            <a:ext cx="6766560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4" name="S2 text"/>
          <p:cNvSpPr/>
          <p:nvPr/>
        </p:nvSpPr>
        <p:spPr>
          <a:xfrm>
            <a:off x="777240" y="3427171"/>
            <a:ext cx="63550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 </a:t>
            </a: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going to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put the sheet in my backpack.</a:t>
            </a:r>
            <a:endParaRPr lang="en-US" sz="1800" dirty="0" b="1"/>
          </a:p>
        </p:txBody>
      </p:sp>
      <p:sp>
        <p:nvSpPr>
          <p:cNvPr id="35" name="S3 card"/>
          <p:cNvSpPr/>
          <p:nvPr/>
        </p:nvSpPr>
        <p:spPr>
          <a:xfrm>
            <a:off x="548640" y="4138574"/>
            <a:ext cx="6766560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6" name="S3 text"/>
          <p:cNvSpPr/>
          <p:nvPr/>
        </p:nvSpPr>
        <p:spPr>
          <a:xfrm>
            <a:off x="777240" y="4138574"/>
            <a:ext cx="63550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 know if the conference is tonight?</a:t>
            </a:r>
            <a:endParaRPr lang="en-US" sz="1800" dirty="0" b="1"/>
          </a:p>
        </p:txBody>
      </p:sp>
      <p:sp>
        <p:nvSpPr>
          <p:cNvPr id="37" name="S4 card"/>
          <p:cNvSpPr/>
          <p:nvPr/>
        </p:nvSpPr>
        <p:spPr>
          <a:xfrm>
            <a:off x="548640" y="4849978"/>
            <a:ext cx="6766560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8" name="S4 text"/>
          <p:cNvSpPr/>
          <p:nvPr/>
        </p:nvSpPr>
        <p:spPr>
          <a:xfrm>
            <a:off x="777240" y="4849978"/>
            <a:ext cx="63550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 know where the office window is?</a:t>
            </a:r>
            <a:endParaRPr lang="en-US" sz="1800" dirty="0" b="1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Permission slip: a clipboard and a check mark [sign: SLIP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1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 or whether</a:t>
            </a:r>
            <a:endParaRPr lang="en-US" sz="22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QUESTION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9418320" y="1828800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420624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 know 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the conference is tonight?</a:t>
            </a:r>
            <a:endParaRPr lang="en-US" sz="1500" dirty="0" b="1"/>
          </a:p>
        </p:txBody>
      </p:sp>
      <p:sp>
        <p:nvSpPr>
          <p:cNvPr id="19" name="Answer bg 1"/>
          <p:cNvSpPr/>
          <p:nvPr/>
        </p:nvSpPr>
        <p:spPr>
          <a:xfrm>
            <a:off x="9418320" y="2286000"/>
            <a:ext cx="251460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9418320" y="2286000"/>
            <a:ext cx="251460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Yes. It starts at 6:30.</a:t>
            </a: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/ </a:t>
            </a: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 not sure.</a:t>
            </a:r>
            <a:endParaRPr lang="en-US" sz="1600" dirty="0" b="1"/>
          </a:p>
        </p:txBody>
      </p:sp>
      <p:sp>
        <p:nvSpPr>
          <p:cNvPr id="21" name="Question 2"/>
          <p:cNvSpPr/>
          <p:nvPr/>
        </p:nvSpPr>
        <p:spPr>
          <a:xfrm>
            <a:off x="5138928" y="3246120"/>
            <a:ext cx="420624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 know 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whether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I need a permission slip?</a:t>
            </a:r>
            <a:endParaRPr lang="en-US" sz="1500" dirty="0" b="1"/>
          </a:p>
        </p:txBody>
      </p:sp>
      <p:sp>
        <p:nvSpPr>
          <p:cNvPr id="22" name="Answer bg 2"/>
          <p:cNvSpPr/>
          <p:nvPr/>
        </p:nvSpPr>
        <p:spPr>
          <a:xfrm>
            <a:off x="9418320" y="3246120"/>
            <a:ext cx="251460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2"/>
          <p:cNvSpPr/>
          <p:nvPr/>
        </p:nvSpPr>
        <p:spPr>
          <a:xfrm>
            <a:off x="9418320" y="3246120"/>
            <a:ext cx="251460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Yes. Please bring the slip.</a:t>
            </a:r>
            <a:endParaRPr lang="en-US" sz="1600" dirty="0" b="1"/>
          </a:p>
        </p:txBody>
      </p:sp>
      <p:sp>
        <p:nvSpPr>
          <p:cNvPr id="24" name="Question 3"/>
          <p:cNvSpPr/>
          <p:nvPr/>
        </p:nvSpPr>
        <p:spPr>
          <a:xfrm>
            <a:off x="5138928" y="4206240"/>
            <a:ext cx="420624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Can you tell me 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the office is still open?</a:t>
            </a:r>
            <a:endParaRPr lang="en-US" sz="1500" dirty="0" b="1"/>
          </a:p>
        </p:txBody>
      </p:sp>
      <p:sp>
        <p:nvSpPr>
          <p:cNvPr id="25" name="Answer bg 3"/>
          <p:cNvSpPr/>
          <p:nvPr/>
        </p:nvSpPr>
        <p:spPr>
          <a:xfrm>
            <a:off x="9418320" y="4206240"/>
            <a:ext cx="251460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3"/>
          <p:cNvSpPr/>
          <p:nvPr/>
        </p:nvSpPr>
        <p:spPr>
          <a:xfrm>
            <a:off x="9418320" y="4206240"/>
            <a:ext cx="251460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Yes. It closes at seven.</a:t>
            </a:r>
            <a:endParaRPr lang="en-US" sz="16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Dismissal: a school and a door [sign: GO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2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when or where</a:t>
            </a:r>
            <a:endParaRPr lang="en-US" sz="22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QUESTION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9418320" y="1828800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420624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 know 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where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the office is?</a:t>
            </a:r>
            <a:endParaRPr lang="en-US" sz="1500" dirty="0" b="1"/>
          </a:p>
        </p:txBody>
      </p:sp>
      <p:sp>
        <p:nvSpPr>
          <p:cNvPr id="19" name="Answer bg 1"/>
          <p:cNvSpPr/>
          <p:nvPr/>
        </p:nvSpPr>
        <p:spPr>
          <a:xfrm>
            <a:off x="9418320" y="2286000"/>
            <a:ext cx="251460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9418320" y="2286000"/>
            <a:ext cx="251460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It's down the hallway, by the office window.</a:t>
            </a:r>
            <a:endParaRPr lang="en-US" sz="1600" dirty="0" b="1"/>
          </a:p>
        </p:txBody>
      </p:sp>
      <p:sp>
        <p:nvSpPr>
          <p:cNvPr id="21" name="Question 2"/>
          <p:cNvSpPr/>
          <p:nvPr/>
        </p:nvSpPr>
        <p:spPr>
          <a:xfrm>
            <a:off x="5138928" y="3246120"/>
            <a:ext cx="420624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 know 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when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it starts?</a:t>
            </a:r>
            <a:endParaRPr lang="en-US" sz="1500" dirty="0" b="1"/>
          </a:p>
        </p:txBody>
      </p:sp>
      <p:sp>
        <p:nvSpPr>
          <p:cNvPr id="22" name="Answer bg 2"/>
          <p:cNvSpPr/>
          <p:nvPr/>
        </p:nvSpPr>
        <p:spPr>
          <a:xfrm>
            <a:off x="9418320" y="3246120"/>
            <a:ext cx="251460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2"/>
          <p:cNvSpPr/>
          <p:nvPr/>
        </p:nvSpPr>
        <p:spPr>
          <a:xfrm>
            <a:off x="9418320" y="3246120"/>
            <a:ext cx="251460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 starts at 6:30.</a:t>
            </a:r>
            <a:endParaRPr lang="en-US" sz="1600" dirty="0" b="1"/>
          </a:p>
        </p:txBody>
      </p:sp>
      <p:sp>
        <p:nvSpPr>
          <p:cNvPr id="24" name="Question 3"/>
          <p:cNvSpPr/>
          <p:nvPr/>
        </p:nvSpPr>
        <p:spPr>
          <a:xfrm>
            <a:off x="5138928" y="4206240"/>
            <a:ext cx="420624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 know 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where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I sign up?</a:t>
            </a:r>
            <a:endParaRPr lang="en-US" sz="1500" dirty="0" b="1"/>
          </a:p>
        </p:txBody>
      </p:sp>
      <p:sp>
        <p:nvSpPr>
          <p:cNvPr id="25" name="Answer bg 3"/>
          <p:cNvSpPr/>
          <p:nvPr/>
        </p:nvSpPr>
        <p:spPr>
          <a:xfrm>
            <a:off x="9418320" y="4206240"/>
            <a:ext cx="251460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3"/>
          <p:cNvSpPr/>
          <p:nvPr/>
        </p:nvSpPr>
        <p:spPr>
          <a:xfrm>
            <a:off x="9418320" y="4206240"/>
            <a:ext cx="251460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At the office window.</a:t>
            </a:r>
            <a:endParaRPr lang="en-US" sz="16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Pickup: a car and a school [sign: PICKUP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3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said or told</a:t>
            </a:r>
            <a:endParaRPr lang="en-US" sz="22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QUESTION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9052560" y="1828800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384048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did he say about the night?</a:t>
            </a:r>
            <a:endParaRPr lang="en-US" sz="1500" dirty="0" b="1"/>
          </a:p>
        </p:txBody>
      </p:sp>
      <p:sp>
        <p:nvSpPr>
          <p:cNvPr id="19" name="Answer bg 1"/>
          <p:cNvSpPr/>
          <p:nvPr/>
        </p:nvSpPr>
        <p:spPr>
          <a:xfrm>
            <a:off x="9052560" y="2286000"/>
            <a:ext cx="288036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9052560" y="2286000"/>
            <a:ext cx="288036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 said the conference was tonight.</a:t>
            </a:r>
            <a:endParaRPr lang="en-US" sz="1600" dirty="0" b="1"/>
          </a:p>
        </p:txBody>
      </p:sp>
      <p:sp>
        <p:nvSpPr>
          <p:cNvPr id="21" name="Question 2"/>
          <p:cNvSpPr/>
          <p:nvPr/>
        </p:nvSpPr>
        <p:spPr>
          <a:xfrm>
            <a:off x="5138928" y="3246120"/>
            <a:ext cx="384048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did he tell you to bring?</a:t>
            </a:r>
            <a:endParaRPr lang="en-US" sz="1500" dirty="0" b="1"/>
          </a:p>
        </p:txBody>
      </p:sp>
      <p:sp>
        <p:nvSpPr>
          <p:cNvPr id="22" name="Answer bg 2"/>
          <p:cNvSpPr/>
          <p:nvPr/>
        </p:nvSpPr>
        <p:spPr>
          <a:xfrm>
            <a:off x="9052560" y="3246120"/>
            <a:ext cx="288036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2"/>
          <p:cNvSpPr/>
          <p:nvPr/>
        </p:nvSpPr>
        <p:spPr>
          <a:xfrm>
            <a:off x="9052560" y="3246120"/>
            <a:ext cx="288036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 told me to bring the slip.</a:t>
            </a:r>
            <a:endParaRPr lang="en-US" sz="1600" dirty="0" b="1"/>
          </a:p>
        </p:txBody>
      </p:sp>
      <p:sp>
        <p:nvSpPr>
          <p:cNvPr id="24" name="Question 3"/>
          <p:cNvSpPr/>
          <p:nvPr/>
        </p:nvSpPr>
        <p:spPr>
          <a:xfrm>
            <a:off x="5138928" y="4206240"/>
            <a:ext cx="384048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did he say about the time?</a:t>
            </a:r>
            <a:endParaRPr lang="en-US" sz="1500" dirty="0" b="1"/>
          </a:p>
        </p:txBody>
      </p:sp>
      <p:sp>
        <p:nvSpPr>
          <p:cNvPr id="25" name="Answer bg 3"/>
          <p:cNvSpPr/>
          <p:nvPr/>
        </p:nvSpPr>
        <p:spPr>
          <a:xfrm>
            <a:off x="9052560" y="4206240"/>
            <a:ext cx="288036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3"/>
          <p:cNvSpPr/>
          <p:nvPr/>
        </p:nvSpPr>
        <p:spPr>
          <a:xfrm>
            <a:off x="9052560" y="4206240"/>
            <a:ext cx="288036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 said it starts at 6:30.</a:t>
            </a:r>
            <a:endParaRPr lang="en-US" sz="16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Newsletter: a newspaper [sign: NEWS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4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statement order</a:t>
            </a:r>
            <a:endParaRPr lang="en-US" sz="22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NOT THIS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9418320" y="1828800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THIS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420624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 know if is the conference tonight?</a:t>
            </a:r>
            <a:endParaRPr lang="en-US" sz="1300" dirty="0" b="1"/>
          </a:p>
        </p:txBody>
      </p:sp>
      <p:sp>
        <p:nvSpPr>
          <p:cNvPr id="19" name="Answer bg 1"/>
          <p:cNvSpPr/>
          <p:nvPr/>
        </p:nvSpPr>
        <p:spPr>
          <a:xfrm>
            <a:off x="9418320" y="2286000"/>
            <a:ext cx="251460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9418320" y="2286000"/>
            <a:ext cx="251460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 know if the conference is tonight?</a:t>
            </a:r>
            <a:endParaRPr lang="en-US" sz="1400" dirty="0" b="1"/>
          </a:p>
        </p:txBody>
      </p:sp>
      <p:sp>
        <p:nvSpPr>
          <p:cNvPr id="21" name="Question 2"/>
          <p:cNvSpPr/>
          <p:nvPr/>
        </p:nvSpPr>
        <p:spPr>
          <a:xfrm>
            <a:off x="5138928" y="3246120"/>
            <a:ext cx="420624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 know where is the office?</a:t>
            </a:r>
            <a:endParaRPr lang="en-US" sz="1300" dirty="0" b="1"/>
          </a:p>
        </p:txBody>
      </p:sp>
      <p:sp>
        <p:nvSpPr>
          <p:cNvPr id="22" name="Answer bg 2"/>
          <p:cNvSpPr/>
          <p:nvPr/>
        </p:nvSpPr>
        <p:spPr>
          <a:xfrm>
            <a:off x="9418320" y="3246120"/>
            <a:ext cx="251460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2"/>
          <p:cNvSpPr/>
          <p:nvPr/>
        </p:nvSpPr>
        <p:spPr>
          <a:xfrm>
            <a:off x="9418320" y="3246120"/>
            <a:ext cx="251460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 know where the office is?</a:t>
            </a:r>
            <a:endParaRPr lang="en-US" sz="1400" dirty="0" b="1"/>
          </a:p>
        </p:txBody>
      </p:sp>
      <p:sp>
        <p:nvSpPr>
          <p:cNvPr id="24" name="Question 3"/>
          <p:cNvSpPr/>
          <p:nvPr/>
        </p:nvSpPr>
        <p:spPr>
          <a:xfrm>
            <a:off x="5138928" y="4206240"/>
            <a:ext cx="420624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 know when does it start?</a:t>
            </a:r>
            <a:endParaRPr lang="en-US" sz="1300" dirty="0" b="1"/>
          </a:p>
        </p:txBody>
      </p:sp>
      <p:sp>
        <p:nvSpPr>
          <p:cNvPr id="25" name="Answer bg 3"/>
          <p:cNvSpPr/>
          <p:nvPr/>
        </p:nvSpPr>
        <p:spPr>
          <a:xfrm>
            <a:off x="9418320" y="4206240"/>
            <a:ext cx="251460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3"/>
          <p:cNvSpPr/>
          <p:nvPr/>
        </p:nvSpPr>
        <p:spPr>
          <a:xfrm>
            <a:off x="9418320" y="4206240"/>
            <a:ext cx="251460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 know when it starts?</a:t>
            </a:r>
            <a:endParaRPr lang="en-US" sz="14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gap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132942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8640" y="1075334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143000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Practice A</a:t>
            </a:r>
            <a:endParaRPr lang="en-US" sz="2000" dirty="0" b="1"/>
          </a:p>
        </p:txBody>
      </p:sp>
      <p:sp>
        <p:nvSpPr>
          <p:cNvPr id="9" name="head2"/>
          <p:cNvSpPr/>
          <p:nvPr/>
        </p:nvSpPr>
        <p:spPr>
          <a:xfrm>
            <a:off x="868680" y="1545336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Write.</a:t>
            </a:r>
            <a:endParaRPr lang="en-US" sz="2000" dirty="0"/>
          </a:p>
        </p:txBody>
      </p:sp>
      <p:sp>
        <p:nvSpPr>
          <p:cNvPr id="29" name="title"/>
          <p:cNvSpPr/>
          <p:nvPr/>
        </p:nvSpPr>
        <p:spPr>
          <a:xfrm>
            <a:off x="8001000" y="1783080"/>
            <a:ext cx="384048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Practice A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8046720" y="3611880"/>
            <a:ext cx="3749039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the missing word.</a:t>
            </a:r>
            <a:endParaRPr lang="en-US" sz="2000" dirty="0" b="1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Pairs: check your answers.</a:t>
            </a:r>
            <a:endParaRPr lang="en-US" sz="2000" dirty="0" b="1"/>
          </a:p>
        </p:txBody>
      </p:sp>
      <p:sp>
        <p:nvSpPr>
          <p:cNvPr id="31" name="R1 card"/>
          <p:cNvSpPr/>
          <p:nvPr/>
        </p:nvSpPr>
        <p:spPr>
          <a:xfrm>
            <a:off x="1583741" y="2123237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R1 chip"/>
          <p:cNvSpPr/>
          <p:nvPr/>
        </p:nvSpPr>
        <p:spPr>
          <a:xfrm>
            <a:off x="544982" y="2123237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3" name="R1 num"/>
          <p:cNvSpPr/>
          <p:nvPr/>
        </p:nvSpPr>
        <p:spPr>
          <a:xfrm>
            <a:off x="686714" y="2158136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1</a:t>
            </a:r>
            <a:endParaRPr lang="en-US" sz="3200" dirty="0" b="1"/>
          </a:p>
        </p:txBody>
      </p:sp>
      <p:sp>
        <p:nvSpPr>
          <p:cNvPr id="34" name="R1 text"/>
          <p:cNvSpPr/>
          <p:nvPr/>
        </p:nvSpPr>
        <p:spPr>
          <a:xfrm>
            <a:off x="1810512" y="2123237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 know ______ the office is?</a:t>
            </a:r>
            <a:endParaRPr lang="en-US" sz="1600" dirty="0"/>
          </a:p>
        </p:txBody>
      </p:sp>
      <p:sp>
        <p:nvSpPr>
          <p:cNvPr id="35" name="R1 ans"/>
          <p:cNvSpPr/>
          <p:nvPr/>
        </p:nvSpPr>
        <p:spPr>
          <a:xfrm>
            <a:off x="6016752" y="2222144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where</a:t>
            </a:r>
            <a:endParaRPr lang="en-US" sz="1600" dirty="0" b="1"/>
          </a:p>
        </p:txBody>
      </p:sp>
      <p:sp>
        <p:nvSpPr>
          <p:cNvPr id="36" name="R2 card"/>
          <p:cNvSpPr/>
          <p:nvPr/>
        </p:nvSpPr>
        <p:spPr>
          <a:xfrm>
            <a:off x="1583741" y="2851404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" name="R2 chip"/>
          <p:cNvSpPr/>
          <p:nvPr/>
        </p:nvSpPr>
        <p:spPr>
          <a:xfrm>
            <a:off x="544982" y="2851404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8" name="R2 num"/>
          <p:cNvSpPr/>
          <p:nvPr/>
        </p:nvSpPr>
        <p:spPr>
          <a:xfrm>
            <a:off x="686714" y="2886304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2</a:t>
            </a:r>
            <a:endParaRPr lang="en-US" sz="3200" dirty="0" b="1"/>
          </a:p>
        </p:txBody>
      </p:sp>
      <p:sp>
        <p:nvSpPr>
          <p:cNvPr id="39" name="R2 text"/>
          <p:cNvSpPr/>
          <p:nvPr/>
        </p:nvSpPr>
        <p:spPr>
          <a:xfrm>
            <a:off x="1810512" y="2851404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 know ______ it starts?</a:t>
            </a:r>
            <a:endParaRPr lang="en-US" sz="1600" dirty="0"/>
          </a:p>
        </p:txBody>
      </p:sp>
      <p:sp>
        <p:nvSpPr>
          <p:cNvPr id="40" name="R2 ans"/>
          <p:cNvSpPr/>
          <p:nvPr/>
        </p:nvSpPr>
        <p:spPr>
          <a:xfrm>
            <a:off x="6016752" y="2950312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when</a:t>
            </a:r>
            <a:endParaRPr lang="en-US" sz="1600" dirty="0" b="1"/>
          </a:p>
        </p:txBody>
      </p:sp>
      <p:sp>
        <p:nvSpPr>
          <p:cNvPr id="41" name="R3 card"/>
          <p:cNvSpPr/>
          <p:nvPr/>
        </p:nvSpPr>
        <p:spPr>
          <a:xfrm>
            <a:off x="1583741" y="3579571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" name="R3 chip"/>
          <p:cNvSpPr/>
          <p:nvPr/>
        </p:nvSpPr>
        <p:spPr>
          <a:xfrm>
            <a:off x="544982" y="3579571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3" name="R3 num"/>
          <p:cNvSpPr/>
          <p:nvPr/>
        </p:nvSpPr>
        <p:spPr>
          <a:xfrm>
            <a:off x="686714" y="3614471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3</a:t>
            </a:r>
            <a:endParaRPr lang="en-US" sz="3200" dirty="0" b="1"/>
          </a:p>
        </p:txBody>
      </p:sp>
      <p:sp>
        <p:nvSpPr>
          <p:cNvPr id="44" name="R3 text"/>
          <p:cNvSpPr/>
          <p:nvPr/>
        </p:nvSpPr>
        <p:spPr>
          <a:xfrm>
            <a:off x="1810512" y="3579571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 know ______ I need a permission slip?</a:t>
            </a:r>
            <a:endParaRPr lang="en-US" sz="1600" dirty="0"/>
          </a:p>
        </p:txBody>
      </p:sp>
      <p:sp>
        <p:nvSpPr>
          <p:cNvPr id="45" name="R3 ans"/>
          <p:cNvSpPr/>
          <p:nvPr/>
        </p:nvSpPr>
        <p:spPr>
          <a:xfrm>
            <a:off x="6016752" y="3678479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whether</a:t>
            </a:r>
            <a:endParaRPr lang="en-US" sz="1600" dirty="0" b="1"/>
          </a:p>
        </p:txBody>
      </p:sp>
      <p:sp>
        <p:nvSpPr>
          <p:cNvPr id="46" name="R4 card"/>
          <p:cNvSpPr/>
          <p:nvPr/>
        </p:nvSpPr>
        <p:spPr>
          <a:xfrm>
            <a:off x="1583741" y="4307738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" name="R4 chip"/>
          <p:cNvSpPr/>
          <p:nvPr/>
        </p:nvSpPr>
        <p:spPr>
          <a:xfrm>
            <a:off x="544982" y="4307738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8" name="R4 num"/>
          <p:cNvSpPr/>
          <p:nvPr/>
        </p:nvSpPr>
        <p:spPr>
          <a:xfrm>
            <a:off x="686714" y="4342638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4</a:t>
            </a:r>
            <a:endParaRPr lang="en-US" sz="3200" dirty="0" b="1"/>
          </a:p>
        </p:txBody>
      </p:sp>
      <p:sp>
        <p:nvSpPr>
          <p:cNvPr id="49" name="R4 text"/>
          <p:cNvSpPr/>
          <p:nvPr/>
        </p:nvSpPr>
        <p:spPr>
          <a:xfrm>
            <a:off x="1810512" y="4307738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Can you tell me ______ the office is still open?</a:t>
            </a:r>
            <a:endParaRPr lang="en-US" sz="1600" dirty="0"/>
          </a:p>
        </p:txBody>
      </p:sp>
      <p:sp>
        <p:nvSpPr>
          <p:cNvPr id="50" name="R4 ans"/>
          <p:cNvSpPr/>
          <p:nvPr/>
        </p:nvSpPr>
        <p:spPr>
          <a:xfrm>
            <a:off x="6016752" y="4406646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</a:t>
            </a:r>
            <a:endParaRPr lang="en-US" sz="1600" dirty="0" b="1"/>
          </a:p>
        </p:txBody>
      </p:sp>
      <p:sp>
        <p:nvSpPr>
          <p:cNvPr id="51" name="R5 card"/>
          <p:cNvSpPr/>
          <p:nvPr/>
        </p:nvSpPr>
        <p:spPr>
          <a:xfrm>
            <a:off x="1583741" y="5035906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2" name="R5 chip"/>
          <p:cNvSpPr/>
          <p:nvPr/>
        </p:nvSpPr>
        <p:spPr>
          <a:xfrm>
            <a:off x="544982" y="5035906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3" name="R5 num"/>
          <p:cNvSpPr/>
          <p:nvPr/>
        </p:nvSpPr>
        <p:spPr>
          <a:xfrm>
            <a:off x="686714" y="5070805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5</a:t>
            </a:r>
            <a:endParaRPr lang="en-US" sz="3200" dirty="0" b="1"/>
          </a:p>
        </p:txBody>
      </p:sp>
      <p:sp>
        <p:nvSpPr>
          <p:cNvPr id="54" name="R5 text"/>
          <p:cNvSpPr/>
          <p:nvPr/>
        </p:nvSpPr>
        <p:spPr>
          <a:xfrm>
            <a:off x="1810512" y="5035906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 know ______ the signup sheet is?</a:t>
            </a:r>
            <a:endParaRPr lang="en-US" sz="1600" dirty="0"/>
          </a:p>
        </p:txBody>
      </p:sp>
      <p:sp>
        <p:nvSpPr>
          <p:cNvPr id="55" name="R5 ans"/>
          <p:cNvSpPr/>
          <p:nvPr/>
        </p:nvSpPr>
        <p:spPr>
          <a:xfrm>
            <a:off x="6016752" y="5134813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where</a:t>
            </a:r>
            <a:endParaRPr lang="en-US" sz="1600" dirty="0" b="1"/>
          </a:p>
        </p:txBody>
      </p:sp>
      <p:sp>
        <p:nvSpPr>
          <p:cNvPr id="56" name="R6 card"/>
          <p:cNvSpPr/>
          <p:nvPr/>
        </p:nvSpPr>
        <p:spPr>
          <a:xfrm>
            <a:off x="1583741" y="5764073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7" name="R6 chip"/>
          <p:cNvSpPr/>
          <p:nvPr/>
        </p:nvSpPr>
        <p:spPr>
          <a:xfrm>
            <a:off x="544982" y="5764073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8" name="R6 num"/>
          <p:cNvSpPr/>
          <p:nvPr/>
        </p:nvSpPr>
        <p:spPr>
          <a:xfrm>
            <a:off x="686714" y="5798972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6</a:t>
            </a:r>
            <a:endParaRPr lang="en-US" sz="3200" dirty="0" b="1"/>
          </a:p>
        </p:txBody>
      </p:sp>
      <p:sp>
        <p:nvSpPr>
          <p:cNvPr id="59" name="R6 text"/>
          <p:cNvSpPr/>
          <p:nvPr/>
        </p:nvSpPr>
        <p:spPr>
          <a:xfrm>
            <a:off x="1810512" y="5764073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 know ______ the bell rings?</a:t>
            </a:r>
            <a:endParaRPr lang="en-US" sz="1600" dirty="0"/>
          </a:p>
        </p:txBody>
      </p:sp>
      <p:sp>
        <p:nvSpPr>
          <p:cNvPr id="60" name="R6 ans"/>
          <p:cNvSpPr/>
          <p:nvPr/>
        </p:nvSpPr>
        <p:spPr>
          <a:xfrm>
            <a:off x="6016752" y="5862980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when</a:t>
            </a:r>
            <a:endParaRPr lang="en-US" sz="16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choic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164592" y="2980944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33172" y="1137194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66090" y="1080821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2856586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16052" y="1452067"/>
            <a:ext cx="5680253" cy="94731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4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Practice B</a:t>
            </a:r>
            <a:endParaRPr lang="en-US" sz="4800" dirty="0" b="1"/>
          </a:p>
        </p:txBody>
      </p:sp>
      <p:sp>
        <p:nvSpPr>
          <p:cNvPr id="7" name="instr"/>
          <p:cNvSpPr/>
          <p:nvPr/>
        </p:nvSpPr>
        <p:spPr>
          <a:xfrm>
            <a:off x="6745529" y="123444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Circle the correct words.</a:t>
            </a:r>
            <a:endParaRPr lang="en-US" sz="2000" dirty="0"/>
          </a:p>
        </p:txBody>
      </p:sp>
      <p:sp>
        <p:nvSpPr>
          <p:cNvPr id="8" name="R1 stmt"/>
          <p:cNvSpPr/>
          <p:nvPr/>
        </p:nvSpPr>
        <p:spPr>
          <a:xfrm>
            <a:off x="502920" y="3108960"/>
            <a:ext cx="6885432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/>
              <a:t>1. Do you know if ______ tonight?</a:t>
            </a:r>
            <a:endParaRPr lang="en-US" sz="1500" dirty="0"/>
          </a:p>
        </p:txBody>
      </p:sp>
      <p:sp>
        <p:nvSpPr>
          <p:cNvPr id="9" name="R1 opt1"/>
          <p:cNvSpPr/>
          <p:nvPr/>
        </p:nvSpPr>
        <p:spPr>
          <a:xfrm>
            <a:off x="7571232" y="3108960"/>
            <a:ext cx="196596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conference is</a:t>
            </a:r>
            <a:endParaRPr lang="en-US" sz="1600" dirty="0" b="1"/>
          </a:p>
        </p:txBody>
      </p:sp>
      <p:sp>
        <p:nvSpPr>
          <p:cNvPr id="10" name="R1 opt2"/>
          <p:cNvSpPr/>
          <p:nvPr/>
        </p:nvSpPr>
        <p:spPr>
          <a:xfrm>
            <a:off x="9646920" y="3108960"/>
            <a:ext cx="196596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 the conference</a:t>
            </a:r>
            <a:endParaRPr lang="en-US" sz="1600" dirty="0" b="1"/>
          </a:p>
        </p:txBody>
      </p:sp>
      <p:sp>
        <p:nvSpPr>
          <p:cNvPr id="11" name="R1 circle"/>
          <p:cNvSpPr/>
          <p:nvPr/>
        </p:nvSpPr>
        <p:spPr>
          <a:xfrm>
            <a:off x="7443216" y="3054096"/>
            <a:ext cx="222199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2" name="R2 stmt"/>
          <p:cNvSpPr/>
          <p:nvPr/>
        </p:nvSpPr>
        <p:spPr>
          <a:xfrm>
            <a:off x="502920" y="3657600"/>
            <a:ext cx="6885432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/>
              <a:t>2. Do you know where ______ ?</a:t>
            </a:r>
            <a:endParaRPr lang="en-US" sz="1500" dirty="0"/>
          </a:p>
        </p:txBody>
      </p:sp>
      <p:sp>
        <p:nvSpPr>
          <p:cNvPr id="13" name="R2 opt1"/>
          <p:cNvSpPr/>
          <p:nvPr/>
        </p:nvSpPr>
        <p:spPr>
          <a:xfrm>
            <a:off x="7571232" y="3657600"/>
            <a:ext cx="196596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office is</a:t>
            </a:r>
            <a:endParaRPr lang="en-US" sz="1600" dirty="0" b="1"/>
          </a:p>
        </p:txBody>
      </p:sp>
      <p:sp>
        <p:nvSpPr>
          <p:cNvPr id="14" name="R2 opt2"/>
          <p:cNvSpPr/>
          <p:nvPr/>
        </p:nvSpPr>
        <p:spPr>
          <a:xfrm>
            <a:off x="9646920" y="3657600"/>
            <a:ext cx="196596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 the office</a:t>
            </a:r>
            <a:endParaRPr lang="en-US" sz="1600" dirty="0" b="1"/>
          </a:p>
        </p:txBody>
      </p:sp>
      <p:sp>
        <p:nvSpPr>
          <p:cNvPr id="15" name="R2 circle"/>
          <p:cNvSpPr/>
          <p:nvPr/>
        </p:nvSpPr>
        <p:spPr>
          <a:xfrm>
            <a:off x="7443216" y="3602736"/>
            <a:ext cx="222199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6" name="R3 stmt"/>
          <p:cNvSpPr/>
          <p:nvPr/>
        </p:nvSpPr>
        <p:spPr>
          <a:xfrm>
            <a:off x="502920" y="4206240"/>
            <a:ext cx="6885432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/>
              <a:t>3. Do you know when ______ ?</a:t>
            </a:r>
            <a:endParaRPr lang="en-US" sz="1500" dirty="0"/>
          </a:p>
        </p:txBody>
      </p:sp>
      <p:sp>
        <p:nvSpPr>
          <p:cNvPr id="17" name="R3 opt1"/>
          <p:cNvSpPr/>
          <p:nvPr/>
        </p:nvSpPr>
        <p:spPr>
          <a:xfrm>
            <a:off x="7571232" y="4206240"/>
            <a:ext cx="196596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 starts</a:t>
            </a:r>
            <a:endParaRPr lang="en-US" sz="1600" dirty="0" b="1"/>
          </a:p>
        </p:txBody>
      </p:sp>
      <p:sp>
        <p:nvSpPr>
          <p:cNvPr id="18" name="R3 opt2"/>
          <p:cNvSpPr/>
          <p:nvPr/>
        </p:nvSpPr>
        <p:spPr>
          <a:xfrm>
            <a:off x="9646920" y="4206240"/>
            <a:ext cx="196596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does it start</a:t>
            </a:r>
            <a:endParaRPr lang="en-US" sz="1600" dirty="0" b="1"/>
          </a:p>
        </p:txBody>
      </p:sp>
      <p:sp>
        <p:nvSpPr>
          <p:cNvPr id="19" name="R3 circle"/>
          <p:cNvSpPr/>
          <p:nvPr/>
        </p:nvSpPr>
        <p:spPr>
          <a:xfrm>
            <a:off x="7443216" y="4151376"/>
            <a:ext cx="222199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R4 stmt"/>
          <p:cNvSpPr/>
          <p:nvPr/>
        </p:nvSpPr>
        <p:spPr>
          <a:xfrm>
            <a:off x="502920" y="4754880"/>
            <a:ext cx="6885432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/>
              <a:t>4. He ______ the conference was tonight.</a:t>
            </a:r>
            <a:endParaRPr lang="en-US" sz="1500" dirty="0"/>
          </a:p>
        </p:txBody>
      </p:sp>
      <p:sp>
        <p:nvSpPr>
          <p:cNvPr id="21" name="R4 opt1"/>
          <p:cNvSpPr/>
          <p:nvPr/>
        </p:nvSpPr>
        <p:spPr>
          <a:xfrm>
            <a:off x="7571232" y="4754880"/>
            <a:ext cx="196596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said</a:t>
            </a:r>
            <a:endParaRPr lang="en-US" sz="1600" dirty="0" b="1"/>
          </a:p>
        </p:txBody>
      </p:sp>
      <p:sp>
        <p:nvSpPr>
          <p:cNvPr id="22" name="R4 opt2"/>
          <p:cNvSpPr/>
          <p:nvPr/>
        </p:nvSpPr>
        <p:spPr>
          <a:xfrm>
            <a:off x="9646920" y="4754880"/>
            <a:ext cx="196596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said me</a:t>
            </a:r>
            <a:endParaRPr lang="en-US" sz="1600" dirty="0" b="1"/>
          </a:p>
        </p:txBody>
      </p:sp>
      <p:sp>
        <p:nvSpPr>
          <p:cNvPr id="23" name="R4 circle"/>
          <p:cNvSpPr/>
          <p:nvPr/>
        </p:nvSpPr>
        <p:spPr>
          <a:xfrm>
            <a:off x="7443216" y="4700016"/>
            <a:ext cx="222199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4" name="R5 stmt"/>
          <p:cNvSpPr/>
          <p:nvPr/>
        </p:nvSpPr>
        <p:spPr>
          <a:xfrm>
            <a:off x="502920" y="5303520"/>
            <a:ext cx="6885432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/>
              <a:t>5. He told ______ to bring the slip.</a:t>
            </a:r>
            <a:endParaRPr lang="en-US" sz="1500" dirty="0"/>
          </a:p>
        </p:txBody>
      </p:sp>
      <p:sp>
        <p:nvSpPr>
          <p:cNvPr id="25" name="R5 opt1"/>
          <p:cNvSpPr/>
          <p:nvPr/>
        </p:nvSpPr>
        <p:spPr>
          <a:xfrm>
            <a:off x="7571232" y="5303520"/>
            <a:ext cx="196596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me</a:t>
            </a:r>
            <a:endParaRPr lang="en-US" sz="1600" dirty="0" b="1"/>
          </a:p>
        </p:txBody>
      </p:sp>
      <p:sp>
        <p:nvSpPr>
          <p:cNvPr id="26" name="R5 opt2"/>
          <p:cNvSpPr/>
          <p:nvPr/>
        </p:nvSpPr>
        <p:spPr>
          <a:xfrm>
            <a:off x="9646920" y="5303520"/>
            <a:ext cx="196596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 me</a:t>
            </a:r>
            <a:endParaRPr lang="en-US" sz="1600" dirty="0" b="1"/>
          </a:p>
        </p:txBody>
      </p:sp>
      <p:sp>
        <p:nvSpPr>
          <p:cNvPr id="27" name="R5 circle"/>
          <p:cNvSpPr/>
          <p:nvPr/>
        </p:nvSpPr>
        <p:spPr>
          <a:xfrm>
            <a:off x="7443216" y="5248656"/>
            <a:ext cx="222199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8" name="R6 stmt"/>
          <p:cNvSpPr/>
          <p:nvPr/>
        </p:nvSpPr>
        <p:spPr>
          <a:xfrm>
            <a:off x="502920" y="5852160"/>
            <a:ext cx="6885432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/>
              <a:t>6. Can you tell me if ______ open?</a:t>
            </a:r>
            <a:endParaRPr lang="en-US" sz="1500" dirty="0"/>
          </a:p>
        </p:txBody>
      </p:sp>
      <p:sp>
        <p:nvSpPr>
          <p:cNvPr id="29" name="R6 opt1"/>
          <p:cNvSpPr/>
          <p:nvPr/>
        </p:nvSpPr>
        <p:spPr>
          <a:xfrm>
            <a:off x="7571232" y="5852160"/>
            <a:ext cx="196596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office is</a:t>
            </a:r>
            <a:endParaRPr lang="en-US" sz="1600" dirty="0" b="1"/>
          </a:p>
        </p:txBody>
      </p:sp>
      <p:sp>
        <p:nvSpPr>
          <p:cNvPr id="30" name="R6 opt2"/>
          <p:cNvSpPr/>
          <p:nvPr/>
        </p:nvSpPr>
        <p:spPr>
          <a:xfrm>
            <a:off x="9646920" y="5852160"/>
            <a:ext cx="196596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 the office</a:t>
            </a:r>
            <a:endParaRPr lang="en-US" sz="1600" dirty="0" b="1"/>
          </a:p>
        </p:txBody>
      </p:sp>
      <p:sp>
        <p:nvSpPr>
          <p:cNvPr id="31" name="R6 circle"/>
          <p:cNvSpPr/>
          <p:nvPr/>
        </p:nvSpPr>
        <p:spPr>
          <a:xfrm>
            <a:off x="7443216" y="5797296"/>
            <a:ext cx="222199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mistake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 flipH="1" flipV="1">
            <a:off x="8060436" y="1132027"/>
            <a:ext cx="4274820" cy="586039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442448" y="1188720"/>
            <a:ext cx="1691640" cy="137160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 flipH="1">
            <a:off x="501091" y="2020824"/>
            <a:ext cx="3543300" cy="470916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 flipH="1">
            <a:off x="4388206" y="2020824"/>
            <a:ext cx="5860390" cy="470916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79328" y="457200"/>
            <a:ext cx="7295083" cy="114300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22122" y="393192"/>
            <a:ext cx="7295083" cy="1143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 flipH="1">
            <a:off x="658368" y="1828800"/>
            <a:ext cx="3610966" cy="470916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 flipH="1">
            <a:off x="4519879" y="1828800"/>
            <a:ext cx="5860390" cy="470916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title"/>
          <p:cNvSpPr/>
          <p:nvPr/>
        </p:nvSpPr>
        <p:spPr>
          <a:xfrm>
            <a:off x="608076" y="457200"/>
            <a:ext cx="6949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Common Mistakes</a:t>
            </a:r>
            <a:endParaRPr lang="en-US" sz="4300" dirty="0" b="1"/>
          </a:p>
        </p:txBody>
      </p:sp>
      <p:pic>
        <p:nvPicPr>
          <p:cNvPr id="21" name="pic" descr="Backpack: a backpa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0" y="1325880"/>
            <a:ext cx="1554480" cy="1088136"/>
          </a:xfrm>
          <a:prstGeom prst="rect">
            <a:avLst/>
          </a:prstGeom>
        </p:spPr>
      </p:pic>
      <p:sp>
        <p:nvSpPr>
          <p:cNvPr id="22" name="Dont head"/>
          <p:cNvSpPr/>
          <p:nvPr/>
        </p:nvSpPr>
        <p:spPr>
          <a:xfrm>
            <a:off x="914400" y="1938528"/>
            <a:ext cx="3108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B42318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say</a:t>
            </a:r>
            <a:endParaRPr lang="en-US" sz="2200" dirty="0"/>
          </a:p>
        </p:txBody>
      </p:sp>
      <p:sp>
        <p:nvSpPr>
          <p:cNvPr id="23" name="Say head"/>
          <p:cNvSpPr/>
          <p:nvPr/>
        </p:nvSpPr>
        <p:spPr>
          <a:xfrm>
            <a:off x="4800600" y="1938528"/>
            <a:ext cx="53035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E6B45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</a:t>
            </a:r>
            <a:endParaRPr lang="en-US" sz="2200" dirty="0"/>
          </a:p>
        </p:txBody>
      </p:sp>
      <p:sp>
        <p:nvSpPr>
          <p:cNvPr id="24" name="Bad 1"/>
          <p:cNvSpPr/>
          <p:nvPr/>
        </p:nvSpPr>
        <p:spPr>
          <a:xfrm>
            <a:off x="914400" y="2468880"/>
            <a:ext cx="3246120" cy="454511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 know if is the office open?</a:t>
            </a:r>
            <a:endParaRPr lang="en-US" sz="1400" dirty="0"/>
          </a:p>
        </p:txBody>
      </p:sp>
      <p:sp>
        <p:nvSpPr>
          <p:cNvPr id="25" name="Good 1"/>
          <p:cNvSpPr/>
          <p:nvPr/>
        </p:nvSpPr>
        <p:spPr>
          <a:xfrm>
            <a:off x="4800600" y="2468880"/>
            <a:ext cx="5394960" cy="454511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 know </a:t>
            </a: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 the office is</a:t>
            </a: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open?</a:t>
            </a:r>
            <a:endParaRPr lang="en-US" sz="1400" dirty="0" b="1"/>
          </a:p>
        </p:txBody>
      </p:sp>
      <p:sp>
        <p:nvSpPr>
          <p:cNvPr id="26" name="Bad 2"/>
          <p:cNvSpPr/>
          <p:nvPr/>
        </p:nvSpPr>
        <p:spPr>
          <a:xfrm>
            <a:off x="914400" y="2987399"/>
            <a:ext cx="3246120" cy="454511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 know where is the conference?</a:t>
            </a:r>
            <a:endParaRPr lang="en-US" sz="1400" dirty="0"/>
          </a:p>
        </p:txBody>
      </p:sp>
      <p:sp>
        <p:nvSpPr>
          <p:cNvPr id="27" name="Good 2"/>
          <p:cNvSpPr/>
          <p:nvPr/>
        </p:nvSpPr>
        <p:spPr>
          <a:xfrm>
            <a:off x="4800600" y="2987399"/>
            <a:ext cx="5394960" cy="454511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 know </a:t>
            </a: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where the conference is?</a:t>
            </a:r>
            <a:endParaRPr lang="en-US" sz="1400" dirty="0" b="1"/>
          </a:p>
        </p:txBody>
      </p:sp>
      <p:sp>
        <p:nvSpPr>
          <p:cNvPr id="28" name="Bad 3"/>
          <p:cNvSpPr/>
          <p:nvPr/>
        </p:nvSpPr>
        <p:spPr>
          <a:xfrm>
            <a:off x="914400" y="3505917"/>
            <a:ext cx="3246120" cy="454511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 told to me to bring the slip.</a:t>
            </a:r>
            <a:endParaRPr lang="en-US" sz="1400" dirty="0"/>
          </a:p>
        </p:txBody>
      </p:sp>
      <p:sp>
        <p:nvSpPr>
          <p:cNvPr id="29" name="Good 3"/>
          <p:cNvSpPr/>
          <p:nvPr/>
        </p:nvSpPr>
        <p:spPr>
          <a:xfrm>
            <a:off x="4800600" y="3505917"/>
            <a:ext cx="5394960" cy="454511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 </a:t>
            </a: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told me</a:t>
            </a: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to bring the slip.</a:t>
            </a:r>
            <a:endParaRPr lang="en-US" sz="1400" dirty="0" b="1"/>
          </a:p>
        </p:txBody>
      </p:sp>
      <p:sp>
        <p:nvSpPr>
          <p:cNvPr id="30" name="Bad 4"/>
          <p:cNvSpPr/>
          <p:nvPr/>
        </p:nvSpPr>
        <p:spPr>
          <a:xfrm>
            <a:off x="914400" y="4024436"/>
            <a:ext cx="3246120" cy="680421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 said me the conference was tonight.</a:t>
            </a:r>
            <a:endParaRPr lang="en-US" sz="1400" dirty="0"/>
          </a:p>
        </p:txBody>
      </p:sp>
      <p:sp>
        <p:nvSpPr>
          <p:cNvPr id="31" name="Good 4"/>
          <p:cNvSpPr/>
          <p:nvPr/>
        </p:nvSpPr>
        <p:spPr>
          <a:xfrm>
            <a:off x="4800600" y="4024436"/>
            <a:ext cx="5394960" cy="680421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 </a:t>
            </a: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said</a:t>
            </a: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the conference was tonight.</a:t>
            </a:r>
            <a:endParaRPr lang="en-US" sz="1400" dirty="0" b="1"/>
          </a:p>
        </p:txBody>
      </p:sp>
      <p:sp>
        <p:nvSpPr>
          <p:cNvPr id="32" name="Bad 5"/>
          <p:cNvSpPr/>
          <p:nvPr/>
        </p:nvSpPr>
        <p:spPr>
          <a:xfrm>
            <a:off x="914400" y="4768865"/>
            <a:ext cx="3246120" cy="454511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 know when does it start?</a:t>
            </a:r>
            <a:endParaRPr lang="en-US" sz="1400" dirty="0"/>
          </a:p>
        </p:txBody>
      </p:sp>
      <p:sp>
        <p:nvSpPr>
          <p:cNvPr id="33" name="Good 5"/>
          <p:cNvSpPr/>
          <p:nvPr/>
        </p:nvSpPr>
        <p:spPr>
          <a:xfrm>
            <a:off x="4800600" y="4768865"/>
            <a:ext cx="5394960" cy="454511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 know </a:t>
            </a: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when it starts?</a:t>
            </a:r>
            <a:endParaRPr lang="en-US" sz="14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drill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pic>
        <p:nvPicPr>
          <p:cNvPr id="26" name="pic" descr="Sign-up: a memo and a pencil [sign: SIGN UP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4739" y="3680460"/>
            <a:ext cx="3449901" cy="2414930"/>
          </a:xfrm>
          <a:prstGeom prst="rect">
            <a:avLst/>
          </a:prstGeom>
        </p:spPr>
      </p:pic>
      <p:sp>
        <p:nvSpPr>
          <p:cNvPr id="4" name="Shape 2"/>
          <p:cNvSpPr/>
          <p:nvPr/>
        </p:nvSpPr>
        <p:spPr>
          <a:xfrm>
            <a:off x="560984" y="1342842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89788" y="1277417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771754" y="141732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 Check</a:t>
            </a:r>
            <a:endParaRPr lang="en-US" sz="4000" dirty="0" b="1"/>
          </a:p>
        </p:txBody>
      </p:sp>
      <p:sp>
        <p:nvSpPr>
          <p:cNvPr id="7" name="Shape 5"/>
          <p:cNvSpPr/>
          <p:nvPr/>
        </p:nvSpPr>
        <p:spPr>
          <a:xfrm>
            <a:off x="6107278" y="1382572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107278" y="3714292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035040" y="1325880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172200" y="1946757"/>
            <a:ext cx="678485" cy="678485"/>
          </a:xfrm>
          <a:prstGeom prst="star32">
            <a:avLst>
              <a:gd name="adj" fmla="val 43755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172200" y="1946757"/>
            <a:ext cx="678485" cy="678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2000" dirty="0"/>
          </a:p>
        </p:txBody>
      </p:sp>
      <p:sp>
        <p:nvSpPr>
          <p:cNvPr id="13" name="s1 label"/>
          <p:cNvSpPr/>
          <p:nvPr/>
        </p:nvSpPr>
        <p:spPr>
          <a:xfrm>
            <a:off x="6995160" y="150876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says.</a:t>
            </a:r>
            <a:endParaRPr lang="en-US" sz="2200" dirty="0" b="1"/>
          </a:p>
        </p:txBody>
      </p:sp>
      <p:sp>
        <p:nvSpPr>
          <p:cNvPr id="14" name="Shape 12"/>
          <p:cNvSpPr/>
          <p:nvPr/>
        </p:nvSpPr>
        <p:spPr>
          <a:xfrm>
            <a:off x="6035040" y="3657600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6172200" y="4278477"/>
            <a:ext cx="678485" cy="678485"/>
          </a:xfrm>
          <a:prstGeom prst="star32">
            <a:avLst>
              <a:gd name="adj" fmla="val 4375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172200" y="4278477"/>
            <a:ext cx="678485" cy="678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2000" dirty="0"/>
          </a:p>
        </p:txBody>
      </p:sp>
      <p:sp>
        <p:nvSpPr>
          <p:cNvPr id="17" name="s2 label"/>
          <p:cNvSpPr/>
          <p:nvPr/>
        </p:nvSpPr>
        <p:spPr>
          <a:xfrm>
            <a:off x="6995160" y="384048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 answers.</a:t>
            </a:r>
            <a:endParaRPr lang="en-US" sz="2200" dirty="0" b="1"/>
          </a:p>
        </p:txBody>
      </p:sp>
      <p:sp>
        <p:nvSpPr>
          <p:cNvPr id="60" name="s1 body"/>
          <p:cNvSpPr/>
          <p:nvPr/>
        </p:nvSpPr>
        <p:spPr>
          <a:xfrm>
            <a:off x="6995160" y="210312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Some cards are a parent.</a:t>
            </a:r>
            <a:endParaRPr lang="en-US" sz="1900" dirty="0" b="0"/>
          </a:p>
        </p:txBody>
      </p:sp>
      <p:sp>
        <p:nvSpPr>
          <p:cNvPr id="70" name="s2 body"/>
          <p:cNvSpPr/>
          <p:nvPr/>
        </p:nvSpPr>
        <p:spPr>
          <a:xfrm>
            <a:off x="6995160" y="443484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Some are a volunteer.</a:t>
            </a:r>
            <a:endParaRPr lang="en-US" sz="1900" dirty="0" b="0"/>
          </a:p>
        </p:txBody>
      </p:sp>
      <p:sp>
        <p:nvSpPr>
          <p:cNvPr id="25" name="sub"/>
          <p:cNvSpPr/>
          <p:nvPr/>
        </p:nvSpPr>
        <p:spPr>
          <a:xfrm>
            <a:off x="771754" y="2148840"/>
            <a:ext cx="4572000" cy="685800"/>
          </a:xfrm>
          <a:prstGeom prst="rect">
            <a:avLst/>
          </a:prstGeom>
          <a:noFill/>
          <a:ln w="38100">
            <a:noFill/>
          </a:ln>
        </p:spPr>
        <p:txBody>
          <a:bodyPr wrap="square" lIns="91440" tIns="36576" rIns="9144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Work with a partner.</a:t>
            </a:r>
            <a:endParaRPr lang="en-US" sz="18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talk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-171907" y="-142646"/>
            <a:ext cx="5937199" cy="7143293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127000">
            <a:solidFill>
              <a:srgbClr val="F1F5FB"/>
            </a:solidFill>
            <a:prstDash val="solid"/>
          </a:ln>
        </p:spPr>
        <p:txBody>
          <a:bodyPr/>
          <a:p/>
        </p:txBody>
      </p:sp>
      <p:pic>
        <p:nvPicPr>
          <p:cNvPr id="18" name="pic" descr="Dismissal: a school and a door [sign: GO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164" y="3418942"/>
            <a:ext cx="3882281" cy="2717597"/>
          </a:xfrm>
          <a:prstGeom prst="rect">
            <a:avLst/>
          </a:prstGeom>
        </p:spPr>
      </p:pic>
      <p:sp>
        <p:nvSpPr>
          <p:cNvPr id="5" name="Shape 3"/>
          <p:cNvSpPr/>
          <p:nvPr/>
        </p:nvSpPr>
        <p:spPr>
          <a:xfrm>
            <a:off x="308610" y="1260546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7414" y="1195121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head"/>
          <p:cNvSpPr/>
          <p:nvPr/>
        </p:nvSpPr>
        <p:spPr>
          <a:xfrm>
            <a:off x="502920" y="1298448"/>
            <a:ext cx="46634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Talk Time</a:t>
            </a:r>
            <a:endParaRPr lang="en-US" sz="40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Talk Time</a:t>
            </a:r>
            <a:endParaRPr lang="en-US" sz="2600" dirty="0" b="1"/>
          </a:p>
        </p:txBody>
      </p:sp>
      <p:sp>
        <p:nvSpPr>
          <p:cNvPr id="8" name="grouping"/>
          <p:cNvSpPr/>
          <p:nvPr/>
        </p:nvSpPr>
        <p:spPr>
          <a:xfrm>
            <a:off x="6291072" y="17830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Work together.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Sit back to back.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734702" y="2103120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9734702" y="2571293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1" name="time"/>
          <p:cNvSpPr/>
          <p:nvPr/>
        </p:nvSpPr>
        <p:spPr>
          <a:xfrm>
            <a:off x="9784080" y="2130552"/>
            <a:ext cx="192024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7:00–7:18</a:t>
            </a:r>
            <a:endParaRPr lang="en-US" sz="2000" dirty="0" b="1"/>
          </a:p>
        </p:txBody>
      </p:sp>
      <p:sp>
        <p:nvSpPr>
          <p:cNvPr id="12" name="Shape 10"/>
          <p:cNvSpPr/>
          <p:nvPr/>
        </p:nvSpPr>
        <p:spPr>
          <a:xfrm>
            <a:off x="6416345" y="3198571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291986" y="3071470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9" name="Step num 1"/>
          <p:cNvSpPr/>
          <p:nvPr/>
        </p:nvSpPr>
        <p:spPr>
          <a:xfrm>
            <a:off x="6583680" y="3511296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200" dirty="0"/>
          </a:p>
        </p:txBody>
      </p:sp>
      <p:sp>
        <p:nvSpPr>
          <p:cNvPr id="20" name="Step 1"/>
          <p:cNvSpPr/>
          <p:nvPr/>
        </p:nvSpPr>
        <p:spPr>
          <a:xfrm>
            <a:off x="7315200" y="3401568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Sit back to back.</a:t>
            </a:r>
            <a:endParaRPr lang="en-US" sz="1600" dirty="0" b="1"/>
          </a:p>
        </p:txBody>
      </p:sp>
      <p:sp>
        <p:nvSpPr>
          <p:cNvPr id="21" name="Step num 2"/>
          <p:cNvSpPr/>
          <p:nvPr/>
        </p:nvSpPr>
        <p:spPr>
          <a:xfrm>
            <a:off x="6583680" y="4489704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Step 2"/>
          <p:cNvSpPr/>
          <p:nvPr/>
        </p:nvSpPr>
        <p:spPr>
          <a:xfrm>
            <a:off x="7315200" y="4379976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Sit back to back.</a:t>
            </a:r>
            <a:endParaRPr lang="en-US" sz="1600" dirty="0" b="1"/>
          </a:p>
        </p:txBody>
      </p:sp>
      <p:sp>
        <p:nvSpPr>
          <p:cNvPr id="23" name="Step num 3"/>
          <p:cNvSpPr/>
          <p:nvPr/>
        </p:nvSpPr>
        <p:spPr>
          <a:xfrm>
            <a:off x="6583680" y="5468112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200" dirty="0"/>
          </a:p>
        </p:txBody>
      </p:sp>
      <p:sp>
        <p:nvSpPr>
          <p:cNvPr id="24" name="Step 3"/>
          <p:cNvSpPr/>
          <p:nvPr/>
        </p:nvSpPr>
        <p:spPr>
          <a:xfrm>
            <a:off x="7315200" y="5358384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Sit back to back.</a:t>
            </a:r>
            <a:endParaRPr lang="en-US" sz="16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talk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-171907" y="-142646"/>
            <a:ext cx="5937199" cy="7143293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127000">
            <a:solidFill>
              <a:srgbClr val="F1F5FB"/>
            </a:solidFill>
            <a:prstDash val="solid"/>
          </a:ln>
        </p:spPr>
        <p:txBody>
          <a:bodyPr/>
          <a:p/>
        </p:txBody>
      </p:sp>
      <p:pic>
        <p:nvPicPr>
          <p:cNvPr id="18" name="pic" descr="Newsletter: a newspaper [sign: NEWS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164" y="3418942"/>
            <a:ext cx="3882281" cy="2717597"/>
          </a:xfrm>
          <a:prstGeom prst="rect">
            <a:avLst/>
          </a:prstGeom>
        </p:spPr>
      </p:pic>
      <p:sp>
        <p:nvSpPr>
          <p:cNvPr id="5" name="Shape 3"/>
          <p:cNvSpPr/>
          <p:nvPr/>
        </p:nvSpPr>
        <p:spPr>
          <a:xfrm>
            <a:off x="308610" y="1260546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7414" y="1195121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head"/>
          <p:cNvSpPr/>
          <p:nvPr/>
        </p:nvSpPr>
        <p:spPr>
          <a:xfrm>
            <a:off x="502920" y="1298448"/>
            <a:ext cx="46634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Talk Time</a:t>
            </a:r>
            <a:endParaRPr lang="en-US" sz="40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Talk Time</a:t>
            </a:r>
            <a:endParaRPr lang="en-US" sz="2600" dirty="0" b="1"/>
          </a:p>
        </p:txBody>
      </p:sp>
      <p:sp>
        <p:nvSpPr>
          <p:cNvPr id="8" name="grouping"/>
          <p:cNvSpPr/>
          <p:nvPr/>
        </p:nvSpPr>
        <p:spPr>
          <a:xfrm>
            <a:off x="6291072" y="17830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Find a new partner.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734702" y="2103120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9734702" y="2571293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1" name="time"/>
          <p:cNvSpPr/>
          <p:nvPr/>
        </p:nvSpPr>
        <p:spPr>
          <a:xfrm>
            <a:off x="9784080" y="2130552"/>
            <a:ext cx="192024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7:00–7:18</a:t>
            </a:r>
            <a:endParaRPr lang="en-US" sz="2000" dirty="0" b="1"/>
          </a:p>
        </p:txBody>
      </p:sp>
      <p:sp>
        <p:nvSpPr>
          <p:cNvPr id="12" name="Shape 10"/>
          <p:cNvSpPr/>
          <p:nvPr/>
        </p:nvSpPr>
        <p:spPr>
          <a:xfrm>
            <a:off x="6416345" y="3198571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291986" y="3071470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9" name="Step num 1"/>
          <p:cNvSpPr/>
          <p:nvPr/>
        </p:nvSpPr>
        <p:spPr>
          <a:xfrm>
            <a:off x="6583680" y="3511296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200" dirty="0"/>
          </a:p>
        </p:txBody>
      </p:sp>
      <p:sp>
        <p:nvSpPr>
          <p:cNvPr id="20" name="Step 1"/>
          <p:cNvSpPr/>
          <p:nvPr/>
        </p:nvSpPr>
        <p:spPr>
          <a:xfrm>
            <a:off x="7315200" y="3401568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Find a new partner.</a:t>
            </a:r>
            <a:endParaRPr lang="en-US" sz="1600" dirty="0" b="1"/>
          </a:p>
        </p:txBody>
      </p:sp>
      <p:sp>
        <p:nvSpPr>
          <p:cNvPr id="21" name="Step num 2"/>
          <p:cNvSpPr/>
          <p:nvPr/>
        </p:nvSpPr>
        <p:spPr>
          <a:xfrm>
            <a:off x="6583680" y="4489704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Step 2"/>
          <p:cNvSpPr/>
          <p:nvPr/>
        </p:nvSpPr>
        <p:spPr>
          <a:xfrm>
            <a:off x="7315200" y="4379976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Find a new partner.</a:t>
            </a:r>
            <a:endParaRPr lang="en-US" sz="1600" dirty="0" b="1"/>
          </a:p>
        </p:txBody>
      </p:sp>
      <p:sp>
        <p:nvSpPr>
          <p:cNvPr id="23" name="Step num 3"/>
          <p:cNvSpPr/>
          <p:nvPr/>
        </p:nvSpPr>
        <p:spPr>
          <a:xfrm>
            <a:off x="6583680" y="5468112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200" dirty="0"/>
          </a:p>
        </p:txBody>
      </p:sp>
      <p:sp>
        <p:nvSpPr>
          <p:cNvPr id="24" name="Step 3"/>
          <p:cNvSpPr/>
          <p:nvPr/>
        </p:nvSpPr>
        <p:spPr>
          <a:xfrm>
            <a:off x="7315200" y="5358384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Find a new partner.</a:t>
            </a:r>
            <a:endParaRPr lang="en-US" sz="16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gap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407262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8640" y="1349654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417320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Read.</a:t>
            </a:r>
            <a:endParaRPr lang="en-US" sz="2000" dirty="0" b="1"/>
          </a:p>
        </p:txBody>
      </p:sp>
      <p:sp>
        <p:nvSpPr>
          <p:cNvPr id="9" name="head2"/>
          <p:cNvSpPr/>
          <p:nvPr/>
        </p:nvSpPr>
        <p:spPr>
          <a:xfrm>
            <a:off x="868680" y="1819656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Answer.</a:t>
            </a:r>
            <a:endParaRPr lang="en-US" sz="2000" dirty="0"/>
          </a:p>
        </p:txBody>
      </p:sp>
      <p:sp>
        <p:nvSpPr>
          <p:cNvPr id="29" name="title"/>
          <p:cNvSpPr/>
          <p:nvPr/>
        </p:nvSpPr>
        <p:spPr>
          <a:xfrm>
            <a:off x="8001000" y="1783080"/>
            <a:ext cx="384048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Read &amp;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8046720" y="3611880"/>
            <a:ext cx="3749039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Read the page.</a:t>
            </a:r>
            <a:endParaRPr lang="en-US" sz="2000" dirty="0" b="1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 the questions.</a:t>
            </a:r>
            <a:endParaRPr lang="en-US" sz="2000" dirty="0" b="1"/>
          </a:p>
        </p:txBody>
      </p:sp>
      <p:sp>
        <p:nvSpPr>
          <p:cNvPr id="31" name="R1 card"/>
          <p:cNvSpPr/>
          <p:nvPr/>
        </p:nvSpPr>
        <p:spPr>
          <a:xfrm>
            <a:off x="1583741" y="2397557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R1 chip"/>
          <p:cNvSpPr/>
          <p:nvPr/>
        </p:nvSpPr>
        <p:spPr>
          <a:xfrm>
            <a:off x="544982" y="2397557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3" name="R1 num"/>
          <p:cNvSpPr/>
          <p:nvPr/>
        </p:nvSpPr>
        <p:spPr>
          <a:xfrm>
            <a:off x="686714" y="2461565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1</a:t>
            </a:r>
            <a:endParaRPr lang="en-US" sz="3200" dirty="0" b="1"/>
          </a:p>
        </p:txBody>
      </p:sp>
      <p:sp>
        <p:nvSpPr>
          <p:cNvPr id="34" name="R1 text"/>
          <p:cNvSpPr/>
          <p:nvPr/>
        </p:nvSpPr>
        <p:spPr>
          <a:xfrm>
            <a:off x="1810512" y="2397557"/>
            <a:ext cx="358444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When is the conference?</a:t>
            </a:r>
            <a:endParaRPr lang="en-US" sz="1600" dirty="0"/>
          </a:p>
        </p:txBody>
      </p:sp>
      <p:sp>
        <p:nvSpPr>
          <p:cNvPr id="35" name="R1 ans"/>
          <p:cNvSpPr/>
          <p:nvPr/>
        </p:nvSpPr>
        <p:spPr>
          <a:xfrm>
            <a:off x="5468112" y="2525573"/>
            <a:ext cx="21031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Tonight at 6:30</a:t>
            </a:r>
            <a:endParaRPr lang="en-US" sz="1400" dirty="0" b="1"/>
          </a:p>
        </p:txBody>
      </p:sp>
      <p:sp>
        <p:nvSpPr>
          <p:cNvPr id="36" name="R2 card"/>
          <p:cNvSpPr/>
          <p:nvPr/>
        </p:nvSpPr>
        <p:spPr>
          <a:xfrm>
            <a:off x="1583741" y="3183941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" name="R2 chip"/>
          <p:cNvSpPr/>
          <p:nvPr/>
        </p:nvSpPr>
        <p:spPr>
          <a:xfrm>
            <a:off x="544982" y="3183941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8" name="R2 num"/>
          <p:cNvSpPr/>
          <p:nvPr/>
        </p:nvSpPr>
        <p:spPr>
          <a:xfrm>
            <a:off x="686714" y="3247949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2</a:t>
            </a:r>
            <a:endParaRPr lang="en-US" sz="3200" dirty="0" b="1"/>
          </a:p>
        </p:txBody>
      </p:sp>
      <p:sp>
        <p:nvSpPr>
          <p:cNvPr id="39" name="R2 text"/>
          <p:cNvSpPr/>
          <p:nvPr/>
        </p:nvSpPr>
        <p:spPr>
          <a:xfrm>
            <a:off x="1810512" y="3183941"/>
            <a:ext cx="358444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Where is the conference?</a:t>
            </a:r>
            <a:endParaRPr lang="en-US" sz="1600" dirty="0"/>
          </a:p>
        </p:txBody>
      </p:sp>
      <p:sp>
        <p:nvSpPr>
          <p:cNvPr id="40" name="R2 ans"/>
          <p:cNvSpPr/>
          <p:nvPr/>
        </p:nvSpPr>
        <p:spPr>
          <a:xfrm>
            <a:off x="5468112" y="3311957"/>
            <a:ext cx="21031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In the library</a:t>
            </a:r>
            <a:endParaRPr lang="en-US" sz="1400" dirty="0" b="1"/>
          </a:p>
        </p:txBody>
      </p:sp>
      <p:sp>
        <p:nvSpPr>
          <p:cNvPr id="41" name="R3 card"/>
          <p:cNvSpPr/>
          <p:nvPr/>
        </p:nvSpPr>
        <p:spPr>
          <a:xfrm>
            <a:off x="1583741" y="3970325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" name="R3 chip"/>
          <p:cNvSpPr/>
          <p:nvPr/>
        </p:nvSpPr>
        <p:spPr>
          <a:xfrm>
            <a:off x="544982" y="3970325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3" name="R3 num"/>
          <p:cNvSpPr/>
          <p:nvPr/>
        </p:nvSpPr>
        <p:spPr>
          <a:xfrm>
            <a:off x="686714" y="4034333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3</a:t>
            </a:r>
            <a:endParaRPr lang="en-US" sz="3200" dirty="0" b="1"/>
          </a:p>
        </p:txBody>
      </p:sp>
      <p:sp>
        <p:nvSpPr>
          <p:cNvPr id="44" name="R3 text"/>
          <p:cNvSpPr/>
          <p:nvPr/>
        </p:nvSpPr>
        <p:spPr>
          <a:xfrm>
            <a:off x="1810512" y="3970325"/>
            <a:ext cx="358444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does a volunteer bring?</a:t>
            </a:r>
            <a:endParaRPr lang="en-US" sz="1600" dirty="0"/>
          </a:p>
        </p:txBody>
      </p:sp>
      <p:sp>
        <p:nvSpPr>
          <p:cNvPr id="45" name="R3 ans"/>
          <p:cNvSpPr/>
          <p:nvPr/>
        </p:nvSpPr>
        <p:spPr>
          <a:xfrm>
            <a:off x="5468112" y="4098341"/>
            <a:ext cx="21031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signup sheet</a:t>
            </a:r>
            <a:endParaRPr lang="en-US" sz="1400" dirty="0" b="1"/>
          </a:p>
        </p:txBody>
      </p:sp>
      <p:sp>
        <p:nvSpPr>
          <p:cNvPr id="46" name="R4 card"/>
          <p:cNvSpPr/>
          <p:nvPr/>
        </p:nvSpPr>
        <p:spPr>
          <a:xfrm>
            <a:off x="1583741" y="4756709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" name="R4 chip"/>
          <p:cNvSpPr/>
          <p:nvPr/>
        </p:nvSpPr>
        <p:spPr>
          <a:xfrm>
            <a:off x="544982" y="4756709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8" name="R4 num"/>
          <p:cNvSpPr/>
          <p:nvPr/>
        </p:nvSpPr>
        <p:spPr>
          <a:xfrm>
            <a:off x="686714" y="4820717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4</a:t>
            </a:r>
            <a:endParaRPr lang="en-US" sz="3200" dirty="0" b="1"/>
          </a:p>
        </p:txBody>
      </p:sp>
      <p:sp>
        <p:nvSpPr>
          <p:cNvPr id="49" name="R4 text"/>
          <p:cNvSpPr/>
          <p:nvPr/>
        </p:nvSpPr>
        <p:spPr>
          <a:xfrm>
            <a:off x="1810512" y="4756709"/>
            <a:ext cx="358444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does a parent bring for early pickup?</a:t>
            </a:r>
            <a:endParaRPr lang="en-US" sz="1600" dirty="0"/>
          </a:p>
        </p:txBody>
      </p:sp>
      <p:sp>
        <p:nvSpPr>
          <p:cNvPr id="50" name="R4 ans"/>
          <p:cNvSpPr/>
          <p:nvPr/>
        </p:nvSpPr>
        <p:spPr>
          <a:xfrm>
            <a:off x="5468112" y="4884725"/>
            <a:ext cx="21031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permission slip</a:t>
            </a:r>
            <a:endParaRPr lang="en-US" sz="1400" dirty="0" b="1"/>
          </a:p>
        </p:txBody>
      </p:sp>
      <p:sp>
        <p:nvSpPr>
          <p:cNvPr id="51" name="R5 card"/>
          <p:cNvSpPr/>
          <p:nvPr/>
        </p:nvSpPr>
        <p:spPr>
          <a:xfrm>
            <a:off x="1583741" y="5543093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2" name="R5 chip"/>
          <p:cNvSpPr/>
          <p:nvPr/>
        </p:nvSpPr>
        <p:spPr>
          <a:xfrm>
            <a:off x="544982" y="5543093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3" name="R5 num"/>
          <p:cNvSpPr/>
          <p:nvPr/>
        </p:nvSpPr>
        <p:spPr>
          <a:xfrm>
            <a:off x="686714" y="5607101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5</a:t>
            </a:r>
            <a:endParaRPr lang="en-US" sz="3200" dirty="0" b="1"/>
          </a:p>
        </p:txBody>
      </p:sp>
      <p:sp>
        <p:nvSpPr>
          <p:cNvPr id="54" name="R5 text"/>
          <p:cNvSpPr/>
          <p:nvPr/>
        </p:nvSpPr>
        <p:spPr>
          <a:xfrm>
            <a:off x="1810512" y="5543093"/>
            <a:ext cx="358444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How early should people arrive?</a:t>
            </a:r>
            <a:endParaRPr lang="en-US" sz="1600" dirty="0"/>
          </a:p>
        </p:txBody>
      </p:sp>
      <p:sp>
        <p:nvSpPr>
          <p:cNvPr id="55" name="R5 ans"/>
          <p:cNvSpPr/>
          <p:nvPr/>
        </p:nvSpPr>
        <p:spPr>
          <a:xfrm>
            <a:off x="5468112" y="5671109"/>
            <a:ext cx="21031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Ten minutes early</a:t>
            </a:r>
            <a:endParaRPr lang="en-US" sz="14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go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44982" y="786384"/>
            <a:ext cx="5486400" cy="5731459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147718" y="2196389"/>
            <a:ext cx="7699248" cy="416052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3992270" y="1937614"/>
            <a:ext cx="7699248" cy="416052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343400" y="210312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Before You Go  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7:25–7:30</a:t>
            </a:r>
            <a:endParaRPr lang="en-US" sz="4000" dirty="0"/>
          </a:p>
        </p:txBody>
      </p:sp>
      <p:pic>
        <p:nvPicPr>
          <p:cNvPr id="16" name="pic" descr="Office window: a window and an office building [sign: WINDOW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651760"/>
            <a:ext cx="3017520" cy="2112264"/>
          </a:xfrm>
          <a:prstGeom prst="rect">
            <a:avLst/>
          </a:prstGeom>
        </p:spPr>
      </p:pic>
      <p:sp>
        <p:nvSpPr>
          <p:cNvPr id="17" name="Num 01"/>
          <p:cNvSpPr/>
          <p:nvPr/>
        </p:nvSpPr>
        <p:spPr>
          <a:xfrm>
            <a:off x="4343400" y="2971800"/>
            <a:ext cx="731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3000" dirty="0" b="1">
                <a:solidFill>
                  <a:srgbClr val="8FAFE3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000" dirty="0"/>
          </a:p>
        </p:txBody>
      </p:sp>
      <p:sp>
        <p:nvSpPr>
          <p:cNvPr id="18" name="Label 01"/>
          <p:cNvSpPr/>
          <p:nvPr/>
        </p:nvSpPr>
        <p:spPr>
          <a:xfrm>
            <a:off x="5120640" y="2971800"/>
            <a:ext cx="26517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Exit ticket</a:t>
            </a:r>
            <a:endParaRPr lang="en-US" sz="2200" dirty="0" b="1"/>
          </a:p>
        </p:txBody>
      </p:sp>
      <p:sp>
        <p:nvSpPr>
          <p:cNvPr id="19" name="Body 01"/>
          <p:cNvSpPr/>
          <p:nvPr/>
        </p:nvSpPr>
        <p:spPr>
          <a:xfrm>
            <a:off x="4343400" y="3520440"/>
            <a:ext cx="3520440" cy="24688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the question you would ask the office, and the answer you hope for.</a:t>
            </a:r>
            <a:endParaRPr lang="en-US" sz="15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Name: Date:</a:t>
            </a:r>
            <a:endParaRPr lang="en-US" sz="15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Two with Do you know if / whether.</a:t>
            </a:r>
            <a:endParaRPr lang="en-US" sz="15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Give this page to your teacher.</a:t>
            </a:r>
            <a:endParaRPr lang="en-US" sz="1500" dirty="0" b="0"/>
          </a:p>
        </p:txBody>
      </p:sp>
      <p:sp>
        <p:nvSpPr>
          <p:cNvPr id="20" name="Num 02"/>
          <p:cNvSpPr/>
          <p:nvPr/>
        </p:nvSpPr>
        <p:spPr>
          <a:xfrm>
            <a:off x="8001000" y="2971800"/>
            <a:ext cx="731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3000" dirty="0" b="1">
                <a:solidFill>
                  <a:srgbClr val="8FAFE3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000" dirty="0"/>
          </a:p>
        </p:txBody>
      </p:sp>
      <p:sp>
        <p:nvSpPr>
          <p:cNvPr id="21" name="Label 02"/>
          <p:cNvSpPr/>
          <p:nvPr/>
        </p:nvSpPr>
        <p:spPr>
          <a:xfrm>
            <a:off x="8778240" y="2971800"/>
            <a:ext cx="26517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Homework</a:t>
            </a:r>
            <a:endParaRPr lang="en-US" sz="2200" dirty="0" b="1"/>
          </a:p>
        </p:txBody>
      </p:sp>
      <p:sp>
        <p:nvSpPr>
          <p:cNvPr id="22" name="Body 02"/>
          <p:cNvSpPr/>
          <p:nvPr/>
        </p:nvSpPr>
        <p:spPr>
          <a:xfrm>
            <a:off x="8001000" y="3520440"/>
            <a:ext cx="3657600" cy="24688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About 20–25 minutes.</a:t>
            </a:r>
            <a:endParaRPr lang="en-US" sz="15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1. Finish the question. Use statement order.</a:t>
            </a:r>
            <a:endParaRPr lang="en-US" sz="15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2. Finish your email to the office (Read &amp; Write C).</a:t>
            </a:r>
            <a:endParaRPr lang="en-US" sz="15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3. Ask one person Do you know if…? Report the answer with said or</a:t>
            </a:r>
            <a:endParaRPr lang="en-US" sz="15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4. Review (a tag). Write the tag.</a:t>
            </a:r>
            <a:endParaRPr lang="en-US" sz="15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Bring it next week!</a:t>
            </a:r>
            <a:endParaRPr lang="en-US" sz="1500" dirty="0" b="1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goodby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7223760" y="914400"/>
            <a:ext cx="4480560" cy="51206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pic>
        <p:nvPicPr>
          <p:cNvPr id="4" name="pic" descr="Bell: a bel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0" y="1664208"/>
            <a:ext cx="3474720" cy="2432304"/>
          </a:xfrm>
          <a:prstGeom prst="rect">
            <a:avLst/>
          </a:prstGeom>
        </p:spPr>
      </p:pic>
      <p:sp>
        <p:nvSpPr>
          <p:cNvPr id="5" name="lesson"/>
          <p:cNvSpPr/>
          <p:nvPr/>
        </p:nvSpPr>
        <p:spPr>
          <a:xfrm>
            <a:off x="7635240" y="44348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Lesson 8  ·  Level 5</a:t>
            </a:r>
            <a:endParaRPr lang="en-US" sz="2200" b="1" dirty="0"/>
          </a:p>
        </p:txBody>
      </p:sp>
      <p:sp>
        <p:nvSpPr>
          <p:cNvPr id="6" name="Shape 3"/>
          <p:cNvSpPr/>
          <p:nvPr/>
        </p:nvSpPr>
        <p:spPr>
          <a:xfrm>
            <a:off x="661111" y="1146658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685800" y="1097280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868680" y="1325880"/>
            <a:ext cx="5806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Goodbye! See You Next Week!</a:t>
            </a:r>
            <a:endParaRPr lang="en-US" sz="3600" b="1" dirty="0"/>
          </a:p>
        </p:txBody>
      </p:sp>
      <p:sp>
        <p:nvSpPr>
          <p:cNvPr id="9" name="lead"/>
          <p:cNvSpPr/>
          <p:nvPr/>
        </p:nvSpPr>
        <p:spPr>
          <a:xfrm>
            <a:off x="777240" y="3977640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Now you can:</a:t>
            </a:r>
            <a:endParaRPr lang="en-US" sz="2400" b="1" dirty="0"/>
          </a:p>
        </p:txBody>
      </p:sp>
      <p:sp>
        <p:nvSpPr>
          <p:cNvPr id="10" name="bullets"/>
          <p:cNvSpPr/>
          <p:nvPr/>
        </p:nvSpPr>
        <p:spPr>
          <a:xfrm>
            <a:off x="777240" y="4480560"/>
            <a:ext cx="60350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I can ask </a:t>
            </a: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 know if / whether…?</a:t>
            </a:r>
            <a:endParaRPr lang="en-US" sz="18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I can keep statement order after </a:t>
            </a: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</a:t>
            </a: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18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I can ask </a:t>
            </a: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 know when / where…?</a:t>
            </a: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the Level 4 way.</a:t>
            </a:r>
            <a:endParaRPr lang="en-US" sz="18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credits">
    <p:bg>
      <p:bgPr>
        <a:solidFill>
          <a:srgbClr val="C9B8F2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CE6F5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0" y="1371600"/>
            <a:ext cx="12191695" cy="5486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18465" y="431597"/>
            <a:ext cx="536112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50469" y="365760"/>
            <a:ext cx="536112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title"/>
          <p:cNvSpPr/>
          <p:nvPr/>
        </p:nvSpPr>
        <p:spPr>
          <a:xfrm>
            <a:off x="674827" y="640080"/>
            <a:ext cx="5120640" cy="102412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5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Credits</a:t>
            </a:r>
            <a:endParaRPr lang="en-US" sz="5400" dirty="0"/>
          </a:p>
        </p:txBody>
      </p:sp>
      <p:sp>
        <p:nvSpPr>
          <p:cNvPr id="15" name="pictures"/>
          <p:cNvSpPr/>
          <p:nvPr/>
        </p:nvSpPr>
        <p:spPr>
          <a:xfrm>
            <a:off x="411480" y="2240280"/>
            <a:ext cx="11365992" cy="22402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Pictures</a:t>
            </a:r>
            <a:endParaRPr lang="en-US" sz="2000" dirty="0" b="1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Vocabulary pictures use Twemoji graphics by Twitter, Inc. and other contributors (https://github.com/jdecked/twemoji), licensed under CC BY 4.0 (https://creativecommons.org/licenses/by/4.0/). The graphics were resized and combined, and signs and labels were added.</a:t>
            </a:r>
            <a:endParaRPr lang="en-US" sz="1600" dirty="0" b="0"/>
          </a:p>
        </p:txBody>
      </p:sp>
      <p:sp>
        <p:nvSpPr>
          <p:cNvPr id="16" name="names"/>
          <p:cNvSpPr/>
          <p:nvPr/>
        </p:nvSpPr>
        <p:spPr>
          <a:xfrm>
            <a:off x="411480" y="4709160"/>
            <a:ext cx="4206240" cy="1783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Names and story</a:t>
            </a:r>
            <a:endParaRPr lang="en-US" sz="2000" dirty="0" b="1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Mr. Reed and Maya are invented names. The listening story is invented.</a:t>
            </a:r>
            <a:endParaRPr lang="en-US" sz="1600" dirty="0" b="0"/>
          </a:p>
        </p:txBody>
      </p:sp>
      <p:sp>
        <p:nvSpPr>
          <p:cNvPr id="17" name="audio"/>
          <p:cNvSpPr/>
          <p:nvPr/>
        </p:nvSpPr>
        <p:spPr>
          <a:xfrm>
            <a:off x="4846320" y="4709160"/>
            <a:ext cx="6931152" cy="1783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 and font</a:t>
            </a:r>
            <a:endParaRPr lang="en-US" sz="2000" dirty="0" b="1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 (coming soon): synthetic voices made with Chatterbox TTS (MIT License), cloned from short synthetic reference clips made with Kokoro-82M (Apache License 2.0). No recordings of real people. Each file will carry an inaudible Perth watermark marking it as AI-generated. Font: Lexend Deca (OFL 1.1).</a:t>
            </a:r>
            <a:endParaRPr lang="en-US" sz="1350" dirty="0" b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© 2026 the authors. The authors license this deck under CC BY-NC-SA 4.0.</a:t>
            </a:r>
            <a:endParaRPr lang="en-US" sz="1350" dirty="0" b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Level 5 Lesson 8: Do You Know If It's Tonight?</dc:title>
  <dc:subject>PptxGenJS Presentation</dc:subject>
  <dc:creator>Level 1 ESL</dc:creator>
  <cp:lastModifiedBy>Level 1 ESL</cp:lastModifiedBy>
  <cp:revision>1</cp:revision>
  <dcterms:created xsi:type="dcterms:W3CDTF">2026-10-15T20:54:31Z</dcterms:created>
  <dcterms:modified xsi:type="dcterms:W3CDTF">2026-10-15T20:54:31Z</dcterms:modified>
</cp:coreProperties>
</file>