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991" r:id="rId33"/>
    <p:sldId id="992" r:id="rId34"/>
    <p:sldId id="993" r:id="rId35"/>
    <p:sldId id="994" r:id="rId36"/>
    <p:sldId id="995" r:id="rId31"/>
    <p:sldId id="996" r:id="rId30"/>
    <p:sldId id="997" r:id="rId29"/>
    <p:sldId id="998" r:id="rId28"/>
    <p:sldId id="999" r:id="rId27"/>
    <p:sldId id="1000" r:id="rId20"/>
    <p:sldId id="1001" r:id="rId18"/>
    <p:sldId id="1002" r:id="rId17"/>
    <p:sldId id="1003" r:id="rId16"/>
    <p:sldId id="1004" r:id="rId14"/>
    <p:sldId id="1005" r:id="rId13"/>
    <p:sldId id="1006" r:id="rId12"/>
    <p:sldId id="1007" r:id="rId11"/>
    <p:sldId id="1008" r:id="rId10"/>
    <p:sldId id="1009" r:id="rId8"/>
    <p:sldId id="1010" r:id="rId7"/>
    <p:sldId id="1011" r:id="rId6"/>
    <p:sldId id="1012" r:id="rId5"/>
    <p:sldId id="1013" r:id="rId4"/>
    <p:sldId id="1014" r:id="rId3"/>
    <p:sldId id="1015" r:id="rId57"/>
    <p:sldId id="101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2.xml"/><Relationship Id="rId3" Type="http://schemas.openxmlformats.org/officeDocument/2006/relationships/slide" Target="slides/slide50.xml"/><Relationship Id="rId4" Type="http://schemas.openxmlformats.org/officeDocument/2006/relationships/slide" Target="slides/slide49.xml"/><Relationship Id="rId5" Type="http://schemas.openxmlformats.org/officeDocument/2006/relationships/slide" Target="slides/slide48.xml"/><Relationship Id="rId6" Type="http://schemas.openxmlformats.org/officeDocument/2006/relationships/slide" Target="slides/slide47.xml"/><Relationship Id="rId7" Type="http://schemas.openxmlformats.org/officeDocument/2006/relationships/slide" Target="slides/slide46.xml"/><Relationship Id="rId8" Type="http://schemas.openxmlformats.org/officeDocument/2006/relationships/slide" Target="slides/slide45.xml"/><Relationship Id="rId10" Type="http://schemas.openxmlformats.org/officeDocument/2006/relationships/slide" Target="slides/slide44.xml"/><Relationship Id="rId11" Type="http://schemas.openxmlformats.org/officeDocument/2006/relationships/slide" Target="slides/slide43.xml"/><Relationship Id="rId12" Type="http://schemas.openxmlformats.org/officeDocument/2006/relationships/slide" Target="slides/slide42.xml"/><Relationship Id="rId13" Type="http://schemas.openxmlformats.org/officeDocument/2006/relationships/slide" Target="slides/slide41.xml"/><Relationship Id="rId14" Type="http://schemas.openxmlformats.org/officeDocument/2006/relationships/slide" Target="slides/slide40.xml"/><Relationship Id="rId16" Type="http://schemas.openxmlformats.org/officeDocument/2006/relationships/slide" Target="slides/slide39.xml"/><Relationship Id="rId17" Type="http://schemas.openxmlformats.org/officeDocument/2006/relationships/slide" Target="slides/slide38.xml"/><Relationship Id="rId18" Type="http://schemas.openxmlformats.org/officeDocument/2006/relationships/slide" Target="slides/slide37.xml"/><Relationship Id="rId20" Type="http://schemas.openxmlformats.org/officeDocument/2006/relationships/slide" Target="slides/slide3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5.xml"/><Relationship Id="rId28" Type="http://schemas.openxmlformats.org/officeDocument/2006/relationships/slide" Target="slides/slide34.xml"/><Relationship Id="rId29" Type="http://schemas.openxmlformats.org/officeDocument/2006/relationships/slide" Target="slides/slide33.xml"/><Relationship Id="rId30" Type="http://schemas.openxmlformats.org/officeDocument/2006/relationships/slide" Target="slides/slide32.xml"/><Relationship Id="rId31" Type="http://schemas.openxmlformats.org/officeDocument/2006/relationships/slide" Target="slides/slide31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57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and homework. Never skip the exit ticket.</a:t>
            </a:r>
          </a:p>
          <a:p>
            <a:r>
              <a:t>Write the question you would ask the office, and the answer you hope for.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7:18–7:25 · Read &amp; Write.</a:t>
            </a:r>
          </a:p>
          <a:p>
            <a:r>
              <a:t>Click to show each answer: 1 Tonight at 6:30 • 2 In the library • 3 The signup sheet • 4 A permission slip • 5 Ten minutes early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1.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 cards are a parent. Some are a volunteer. Pick either one. | Volunteer card | Parent card | |---|---| | Ask if the conference is tonight. Ask if you should bring the signup sheet. | Ask if you can pick up early.</a:t>
            </a:r>
          </a:p>
          <a:p>
            <a:r>
              <a:t>Break · 6:45–7:00.</a:t>
            </a:r>
          </a:p>
          <a:p>
            <a:r>
              <a:t>Lesson plan: Step 4: Pair check.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Don't say, then Say. Learners try first. Then click.</a:t>
            </a:r>
          </a:p>
          <a:p>
            <a:r>
              <a:t>Lesson plan: Grammar: Common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the conference is • 2 the office is • 3 it starts • 4 said • 5 me • 6 the office is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where • 2 when • 3 whether • 4 if • 5 where • 6 when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4: statement order. Each click shows the answer side.</a:t>
            </a:r>
          </a:p>
          <a:p>
            <a:r>
              <a:t>Lesson plan: Step 4; Grammar Box 4.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3: said or told. Each click shows the answer side.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2: when or where. Each click shows the answer side.</a:t>
            </a:r>
          </a:p>
          <a:p>
            <a:r>
              <a:t>Lesson plan: Step 4; Grammar Box 2.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1: if or whether. Each click shows the answer side.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gonna and wanna are short forms. This listening uses the full forms. Say each line two times.</a:t>
            </a:r>
          </a:p>
          <a:p>
            <a:r>
              <a:t>Lesson plan: Step 3: Hear it,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if • 2 whether • 3 where • 4 if • 5 if • 6 where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tonight • 2 6:30 • 3 the signup sheet • 4 ten minutes early • 5 down the hallway • 6 no. Six thirty in the script is 6:30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b.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6:12–6:32 · Listening. Play 1 is Task A. Play 2 is Tasks B and C. A third play is fine.</a:t>
            </a:r>
          </a:p>
          <a:p>
            <a:r>
              <a:t>Maya calls the office at Northside School.</a:t>
            </a:r>
          </a:p>
          <a:p>
            <a:r>
              <a:t>The script says going to and want to. Learners only need to recognize gonna and wanna.</a:t>
            </a:r>
          </a:p>
          <a:p>
            <a:r>
              <a:t>Lesson plan: Step 3;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answers are hidden. Ask, then click.</a:t>
            </a:r>
          </a:p>
          <a:p>
            <a:r>
              <a:t>1. a backpack</a:t>
            </a:r>
          </a:p>
          <a:p>
            <a:r>
              <a:t>2. a bell</a:t>
            </a:r>
          </a:p>
          <a:p>
            <a:r>
              <a:t>3. a permission slip</a:t>
            </a:r>
          </a:p>
          <a:p>
            <a:r>
              <a:t>Lesson plan: Step 2: Check the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points to a picture. B names it and uses it in one sentence. Then switch.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6:06–6:12 · New Words.</a:t>
            </a:r>
          </a:p>
          <a:p>
            <a:r>
              <a:t>Point to each picture. Learners repeat. ★ = most important.</a:t>
            </a:r>
          </a:p>
          <a:p>
            <a:r>
              <a:t>Lesson plan: Step 2;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Read the three lines under Today you will.</a:t>
            </a:r>
          </a:p>
          <a:p>
            <a:r>
              <a:t>Lesson plan: Topic; At a glance: Objectives.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6:00–6:06 · Opening Talk.</a:t>
            </a:r>
          </a:p>
          <a:p>
            <a:r>
              <a:t>Work with a partner.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shows the next card.</a:t>
            </a:r>
          </a:p>
          <a:p>
            <a:r>
              <a:t>A asks. B answers. Then switch.</a:t>
            </a:r>
          </a:p>
          <a:p>
            <a:r>
              <a:t>Lesson plan: Step 1; Opening Talk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three Now you can lines.</a:t>
            </a:r>
          </a:p>
          <a:p>
            <a:r>
              <a:t>Homework is about 20–25 minutes. Bring it next week.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16.png"/><Relationship Id="rId8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School office: a school and an office building [sign: OFFICE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8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If It's Tonight?</a:t>
            </a:r>
            <a:endParaRPr lang="en-US" sz="3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ask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if / whether…?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keep statement order after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ask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when / where…?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Level 4 way.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things.</a:t>
            </a:r>
            <a:endParaRPr lang="en-US" sz="2000" dirty="0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713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6883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if / whether…?</a:t>
            </a:r>
            <a:endParaRPr lang="en-US" sz="16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5750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5750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90876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57500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keep statement order after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6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9100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7954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7954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712921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79546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when / where…?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Level 4 way.</a:t>
            </a:r>
            <a:endParaRPr lang="en-US" sz="16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81304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01591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0159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3496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01591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report the answer with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said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told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6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350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Counselor: an office worker and a speech balloon [sign: TALK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a tag</a:t>
            </a:r>
            <a:endParaRPr lang="en-US" sz="18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from last week. B answers with a short yes, a short no, or Actually. Then compare one homework sentence.</a:t>
            </a:r>
            <a:endParaRPr lang="en-US" sz="1800" dirty="0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read one sentence from</a:t>
            </a:r>
            <a:endParaRPr lang="en-US" sz="18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confirmation email.</a:t>
            </a:r>
            <a:endParaRPr lang="en-US" sz="18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a tag from last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week. B answers with a short yes, a short no, or Actually. Then compare one homework sentence.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Add a tag: The class is on Tuesday, .</a:t>
            </a:r>
            <a:endParaRPr lang="en-US" sz="15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a tag: Yes, it is. / No, it isn't.</a:t>
            </a:r>
            <a:endParaRPr lang="en-US" sz="15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Correct one detail: Actually, ...</a:t>
            </a:r>
            <a:endParaRPr lang="en-US" sz="15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read one sentence from your confirmation email.</a:t>
            </a:r>
            <a:endParaRPr lang="en-US" sz="15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School office: a school and an office building [sign: OFFICE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school office</a:t>
            </a:r>
            <a:endParaRPr lang="en-US" sz="1500" dirty="0" b="1"/>
          </a:p>
        </p:txBody>
      </p:sp>
      <p:pic>
        <p:nvPicPr>
          <p:cNvPr id="19" name="Word picture 2" descr="Counselor: an office worker and a speech balloon [sign: TALK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counselor</a:t>
            </a:r>
            <a:endParaRPr lang="en-US" sz="2000" dirty="0" b="1"/>
          </a:p>
        </p:txBody>
      </p:sp>
      <p:pic>
        <p:nvPicPr>
          <p:cNvPr id="21" name="Word picture 3" descr="Conference: a calendar and two people [sign: MEET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conference</a:t>
            </a:r>
            <a:endParaRPr lang="en-US" sz="2000" dirty="0" b="1"/>
          </a:p>
        </p:txBody>
      </p:sp>
      <p:pic>
        <p:nvPicPr>
          <p:cNvPr id="23" name="Word picture 4" descr="Permission slip: a clipboard and a check mark [sign: SLIP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permission slip</a:t>
            </a:r>
            <a:endParaRPr lang="en-US" sz="1500" dirty="0" b="1"/>
          </a:p>
        </p:txBody>
      </p:sp>
      <p:pic>
        <p:nvPicPr>
          <p:cNvPr id="25" name="Word picture 5" descr="Dismissal: a school and a door [sign: GO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dismissal</a:t>
            </a:r>
            <a:endParaRPr lang="en-US" sz="2000" dirty="0" b="1"/>
          </a:p>
        </p:txBody>
      </p:sp>
      <p:pic>
        <p:nvPicPr>
          <p:cNvPr id="27" name="Word picture 6" descr="Pickup: a car and a school [sign: PICKUP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pickup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Point and ask</a:t>
            </a:r>
            <a:endParaRPr lang="en-US" sz="2200" dirty="0" b="1"/>
          </a:p>
        </p:txBody>
      </p:sp>
      <p:pic>
        <p:nvPicPr>
          <p:cNvPr id="17" name="Word picture 1" descr="Newsletter: a newspaper [sign: NEWS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newsletter</a:t>
            </a:r>
            <a:endParaRPr lang="en-US" sz="2000" dirty="0" b="1"/>
          </a:p>
        </p:txBody>
      </p:sp>
      <p:pic>
        <p:nvPicPr>
          <p:cNvPr id="19" name="Word picture 2" descr="Backpack: a backpack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backpack</a:t>
            </a:r>
            <a:endParaRPr lang="en-US" sz="2000" dirty="0" b="1"/>
          </a:p>
        </p:txBody>
      </p:sp>
      <p:pic>
        <p:nvPicPr>
          <p:cNvPr id="21" name="Word picture 3" descr="Sign-up: a memo and a pencil [sign: SIGN UP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sign-up</a:t>
            </a:r>
            <a:endParaRPr lang="en-US" sz="2000" dirty="0" b="1"/>
          </a:p>
        </p:txBody>
      </p:sp>
      <p:pic>
        <p:nvPicPr>
          <p:cNvPr id="23" name="Word picture 4" descr="Office window: a window and an office building [sign: WINDOW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office window</a:t>
            </a:r>
            <a:endParaRPr lang="en-US" sz="1500" dirty="0" b="1"/>
          </a:p>
        </p:txBody>
      </p:sp>
      <p:pic>
        <p:nvPicPr>
          <p:cNvPr id="25" name="Word picture 5" descr="Bell: a bell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bell</a:t>
            </a:r>
            <a:endParaRPr lang="en-US" sz="2000" dirty="0" b="1"/>
          </a:p>
        </p:txBody>
      </p:sp>
      <p:pic>
        <p:nvPicPr>
          <p:cNvPr id="27" name="Word picture 6" descr="Hallway: a door and a person walking [sign: HALL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hallway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carry books in?</a:t>
            </a:r>
            <a:endParaRPr lang="en-US" sz="1600" dirty="0" b="1"/>
          </a:p>
        </p:txBody>
      </p:sp>
      <p:pic>
        <p:nvPicPr>
          <p:cNvPr id="101" name="R1 pic" descr="Backpack: a backpa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rings in the hallway?</a:t>
            </a:r>
            <a:endParaRPr lang="en-US" sz="1600" dirty="0" b="1"/>
          </a:p>
        </p:txBody>
      </p:sp>
      <p:pic>
        <p:nvPicPr>
          <p:cNvPr id="102" name="R2 pic" descr="Hallway: a door and a person walking [sign: HALL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paper does a parent bring for early pickup?</a:t>
            </a:r>
            <a:endParaRPr lang="en-US" sz="1400" dirty="0" b="1"/>
          </a:p>
        </p:txBody>
      </p:sp>
      <p:pic>
        <p:nvPicPr>
          <p:cNvPr id="103" name="R3 pic" descr="Permission slip: a clipboard and a check mark [sign: SLIP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backpack</a:t>
            </a:r>
            <a:endParaRPr lang="en-US" sz="22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bell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permission slip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Maya calls the office at Northside School.</a:t>
            </a:r>
            <a:endParaRPr lang="en-US" sz="18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Conference: a calendar and two people [sign: MEE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Mr. Reed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Maya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Why is she calling?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| 6:12–6:32 | Listening: play 1 (Task A), play 2 (Tasks B and C) +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1:43.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Why is she calling?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4538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2139696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to ask about the bus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5367528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to ask about the conference</a:t>
            </a:r>
            <a:endParaRPr lang="en-US" sz="1500" dirty="0" b="1"/>
          </a:p>
        </p:txBody>
      </p:sp>
      <p:sp>
        <p:nvSpPr>
          <p:cNvPr id="11" name="R1 opt3"/>
          <p:cNvSpPr/>
          <p:nvPr/>
        </p:nvSpPr>
        <p:spPr>
          <a:xfrm>
            <a:off x="8595360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to join the office staff</a:t>
            </a:r>
            <a:endParaRPr lang="en-US" sz="1500" dirty="0" b="1"/>
          </a:p>
        </p:txBody>
      </p:sp>
      <p:sp>
        <p:nvSpPr>
          <p:cNvPr id="12" name="R1 circle"/>
          <p:cNvSpPr/>
          <p:nvPr/>
        </p:nvSpPr>
        <p:spPr>
          <a:xfrm>
            <a:off x="5239512" y="3054096"/>
            <a:ext cx="34107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Listen again. Circle the note.</a:t>
            </a:r>
            <a:endParaRPr lang="en-US" sz="16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1. Day</a:t>
            </a:r>
            <a:endParaRPr lang="en-US" sz="1300" dirty="0"/>
          </a:p>
        </p:txBody>
      </p:sp>
      <p:sp>
        <p:nvSpPr>
          <p:cNvPr id="9" name="R1 opt1"/>
          <p:cNvSpPr/>
          <p:nvPr/>
        </p:nvSpPr>
        <p:spPr>
          <a:xfrm>
            <a:off x="5166360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tonight</a:t>
            </a:r>
            <a:endParaRPr lang="en-US" sz="1200" dirty="0" b="1"/>
          </a:p>
        </p:txBody>
      </p:sp>
      <p:sp>
        <p:nvSpPr>
          <p:cNvPr id="10" name="R1 opt2"/>
          <p:cNvSpPr/>
          <p:nvPr/>
        </p:nvSpPr>
        <p:spPr>
          <a:xfrm>
            <a:off x="7452360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tomorrow</a:t>
            </a:r>
            <a:endParaRPr lang="en-US" sz="1200" dirty="0" b="1"/>
          </a:p>
        </p:txBody>
      </p:sp>
      <p:sp>
        <p:nvSpPr>
          <p:cNvPr id="11" name="R1 opt3"/>
          <p:cNvSpPr/>
          <p:nvPr/>
        </p:nvSpPr>
        <p:spPr>
          <a:xfrm>
            <a:off x="9738360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Monday</a:t>
            </a:r>
            <a:endParaRPr lang="en-US" sz="1200" dirty="0" b="1"/>
          </a:p>
        </p:txBody>
      </p:sp>
      <p:sp>
        <p:nvSpPr>
          <p:cNvPr id="12" name="R1 circle"/>
          <p:cNvSpPr/>
          <p:nvPr/>
        </p:nvSpPr>
        <p:spPr>
          <a:xfrm>
            <a:off x="5038344" y="30540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3" name="R2 stmt"/>
          <p:cNvSpPr/>
          <p:nvPr/>
        </p:nvSpPr>
        <p:spPr>
          <a:xfrm>
            <a:off x="502920" y="365760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2. Starts</a:t>
            </a:r>
            <a:endParaRPr lang="en-US" sz="1300" dirty="0"/>
          </a:p>
        </p:txBody>
      </p:sp>
      <p:sp>
        <p:nvSpPr>
          <p:cNvPr id="14" name="R2 opt1"/>
          <p:cNvSpPr/>
          <p:nvPr/>
        </p:nvSpPr>
        <p:spPr>
          <a:xfrm>
            <a:off x="5166360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6:00</a:t>
            </a:r>
            <a:endParaRPr lang="en-US" sz="1200" dirty="0" b="1"/>
          </a:p>
        </p:txBody>
      </p:sp>
      <p:sp>
        <p:nvSpPr>
          <p:cNvPr id="15" name="R2 opt2"/>
          <p:cNvSpPr/>
          <p:nvPr/>
        </p:nvSpPr>
        <p:spPr>
          <a:xfrm>
            <a:off x="7452360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6:30</a:t>
            </a:r>
            <a:endParaRPr lang="en-US" sz="1200" dirty="0" b="1"/>
          </a:p>
        </p:txBody>
      </p:sp>
      <p:sp>
        <p:nvSpPr>
          <p:cNvPr id="16" name="R2 opt3"/>
          <p:cNvSpPr/>
          <p:nvPr/>
        </p:nvSpPr>
        <p:spPr>
          <a:xfrm>
            <a:off x="9738360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</a:t>
            </a:r>
            <a:endParaRPr lang="en-US" sz="1200" dirty="0" b="1"/>
          </a:p>
        </p:txBody>
      </p:sp>
      <p:sp>
        <p:nvSpPr>
          <p:cNvPr id="17" name="R2 circle"/>
          <p:cNvSpPr/>
          <p:nvPr/>
        </p:nvSpPr>
        <p:spPr>
          <a:xfrm>
            <a:off x="7324344" y="360273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8" name="R3 stmt"/>
          <p:cNvSpPr/>
          <p:nvPr/>
        </p:nvSpPr>
        <p:spPr>
          <a:xfrm>
            <a:off x="502920" y="420624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3. Bring</a:t>
            </a:r>
            <a:endParaRPr lang="en-US" sz="1300" dirty="0"/>
          </a:p>
        </p:txBody>
      </p:sp>
      <p:sp>
        <p:nvSpPr>
          <p:cNvPr id="19" name="R3 opt1"/>
          <p:cNvSpPr/>
          <p:nvPr/>
        </p:nvSpPr>
        <p:spPr>
          <a:xfrm>
            <a:off x="5166360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slip</a:t>
            </a:r>
            <a:endParaRPr lang="en-US" sz="1200" dirty="0" b="1"/>
          </a:p>
        </p:txBody>
      </p:sp>
      <p:sp>
        <p:nvSpPr>
          <p:cNvPr id="20" name="R3 opt2"/>
          <p:cNvSpPr/>
          <p:nvPr/>
        </p:nvSpPr>
        <p:spPr>
          <a:xfrm>
            <a:off x="7452360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signup sheet</a:t>
            </a:r>
            <a:endParaRPr lang="en-US" sz="1200" dirty="0" b="1"/>
          </a:p>
        </p:txBody>
      </p:sp>
      <p:sp>
        <p:nvSpPr>
          <p:cNvPr id="21" name="R3 opt3"/>
          <p:cNvSpPr/>
          <p:nvPr/>
        </p:nvSpPr>
        <p:spPr>
          <a:xfrm>
            <a:off x="9738360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newsletter</a:t>
            </a:r>
            <a:endParaRPr lang="en-US" sz="1200" dirty="0" b="1"/>
          </a:p>
        </p:txBody>
      </p:sp>
      <p:sp>
        <p:nvSpPr>
          <p:cNvPr id="22" name="R3 circle"/>
          <p:cNvSpPr/>
          <p:nvPr/>
        </p:nvSpPr>
        <p:spPr>
          <a:xfrm>
            <a:off x="7324344" y="415137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R4 stmt"/>
          <p:cNvSpPr/>
          <p:nvPr/>
        </p:nvSpPr>
        <p:spPr>
          <a:xfrm>
            <a:off x="502920" y="475488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4. Arrive</a:t>
            </a:r>
            <a:endParaRPr lang="en-US" sz="1300" dirty="0"/>
          </a:p>
        </p:txBody>
      </p:sp>
      <p:sp>
        <p:nvSpPr>
          <p:cNvPr id="24" name="R4 opt1"/>
          <p:cNvSpPr/>
          <p:nvPr/>
        </p:nvSpPr>
        <p:spPr>
          <a:xfrm>
            <a:off x="5166360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time</a:t>
            </a:r>
            <a:endParaRPr lang="en-US" sz="1200" dirty="0" b="1"/>
          </a:p>
        </p:txBody>
      </p:sp>
      <p:sp>
        <p:nvSpPr>
          <p:cNvPr id="25" name="R4 opt2"/>
          <p:cNvSpPr/>
          <p:nvPr/>
        </p:nvSpPr>
        <p:spPr>
          <a:xfrm>
            <a:off x="7452360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ten minutes early</a:t>
            </a:r>
            <a:endParaRPr lang="en-US" sz="1200" dirty="0" b="1"/>
          </a:p>
        </p:txBody>
      </p:sp>
      <p:sp>
        <p:nvSpPr>
          <p:cNvPr id="26" name="R4 opt3"/>
          <p:cNvSpPr/>
          <p:nvPr/>
        </p:nvSpPr>
        <p:spPr>
          <a:xfrm>
            <a:off x="9738360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three</a:t>
            </a:r>
            <a:endParaRPr lang="en-US" sz="1200" dirty="0" b="1"/>
          </a:p>
        </p:txBody>
      </p:sp>
      <p:sp>
        <p:nvSpPr>
          <p:cNvPr id="27" name="R4 circle"/>
          <p:cNvSpPr/>
          <p:nvPr/>
        </p:nvSpPr>
        <p:spPr>
          <a:xfrm>
            <a:off x="7324344" y="470001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5 stmt"/>
          <p:cNvSpPr/>
          <p:nvPr/>
        </p:nvSpPr>
        <p:spPr>
          <a:xfrm>
            <a:off x="502920" y="530352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5. The window is</a:t>
            </a:r>
            <a:endParaRPr lang="en-US" sz="1300" dirty="0"/>
          </a:p>
        </p:txBody>
      </p:sp>
      <p:sp>
        <p:nvSpPr>
          <p:cNvPr id="29" name="R5 opt1"/>
          <p:cNvSpPr/>
          <p:nvPr/>
        </p:nvSpPr>
        <p:spPr>
          <a:xfrm>
            <a:off x="5166360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the library</a:t>
            </a:r>
            <a:endParaRPr lang="en-US" sz="1200" dirty="0" b="1"/>
          </a:p>
        </p:txBody>
      </p:sp>
      <p:sp>
        <p:nvSpPr>
          <p:cNvPr id="30" name="R5 opt2"/>
          <p:cNvSpPr/>
          <p:nvPr/>
        </p:nvSpPr>
        <p:spPr>
          <a:xfrm>
            <a:off x="7452360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down the hallway</a:t>
            </a:r>
            <a:endParaRPr lang="en-US" sz="1200" dirty="0" b="1"/>
          </a:p>
        </p:txBody>
      </p:sp>
      <p:sp>
        <p:nvSpPr>
          <p:cNvPr id="31" name="R5 opt3"/>
          <p:cNvSpPr/>
          <p:nvPr/>
        </p:nvSpPr>
        <p:spPr>
          <a:xfrm>
            <a:off x="9738360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the parking lot</a:t>
            </a:r>
            <a:endParaRPr lang="en-US" sz="1200" dirty="0" b="1"/>
          </a:p>
        </p:txBody>
      </p:sp>
      <p:sp>
        <p:nvSpPr>
          <p:cNvPr id="32" name="R5 circle"/>
          <p:cNvSpPr/>
          <p:nvPr/>
        </p:nvSpPr>
        <p:spPr>
          <a:xfrm>
            <a:off x="7324344" y="524865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3" name="R6 stmt"/>
          <p:cNvSpPr/>
          <p:nvPr/>
        </p:nvSpPr>
        <p:spPr>
          <a:xfrm>
            <a:off x="502920" y="5852160"/>
            <a:ext cx="6766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6. A slip for Maya</a:t>
            </a:r>
            <a:endParaRPr lang="en-US" sz="1300" dirty="0"/>
          </a:p>
        </p:txBody>
      </p:sp>
      <p:sp>
        <p:nvSpPr>
          <p:cNvPr id="34" name="R6 opt1"/>
          <p:cNvSpPr/>
          <p:nvPr/>
        </p:nvSpPr>
        <p:spPr>
          <a:xfrm>
            <a:off x="7452360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1200" dirty="0" b="1"/>
          </a:p>
        </p:txBody>
      </p:sp>
      <p:sp>
        <p:nvSpPr>
          <p:cNvPr id="35" name="R6 opt2"/>
          <p:cNvSpPr/>
          <p:nvPr/>
        </p:nvSpPr>
        <p:spPr>
          <a:xfrm>
            <a:off x="9738360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1200" dirty="0" b="1"/>
          </a:p>
        </p:txBody>
      </p:sp>
      <p:sp>
        <p:nvSpPr>
          <p:cNvPr id="36" name="R6 circle"/>
          <p:cNvSpPr/>
          <p:nvPr/>
        </p:nvSpPr>
        <p:spPr>
          <a:xfrm>
            <a:off x="9610344" y="57972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Write if, whet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______ the conference is tonight?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______ I should bring the signup sheet?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whether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______ the office window is?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tell me ______ I need a permission slip?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______ dismissal is at the usual time?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______ I should leave my backpack?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and wanna are short forms</a:t>
            </a:r>
            <a:endParaRPr lang="en-US" sz="16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use the full forms</a:t>
            </a:r>
            <a:endParaRPr lang="en-US" sz="16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short forms. This listening uses the full forms.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say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ask about the conference.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put the sheet in my backpack.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if the conference is tonight?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where the office window is?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Permission slip: a clipboard and a check mark [sign: SLIP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or whether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418320" y="1828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conference is tonight?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418320" y="228600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418320" y="228600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Yes. It starts at 6:30.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not sure.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whether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need a permission slip?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418320" y="324612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418320" y="324612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Yes. Please bring the slip.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tell me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office is still open?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418320" y="420624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418320" y="420624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Yes. It closes at seven.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Dismissal: a school and a door [sign: GO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or where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418320" y="1828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office is?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418320" y="228600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418320" y="228600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down the hallway, by the office window.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 starts?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418320" y="324612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418320" y="324612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starts at 6:30.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sign up?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418320" y="420624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418320" y="420624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the office window.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Pickup: a car and a school [sign: PICKUP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said or told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he say about the night?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said the conference was tonight.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he tell you to bring?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told me to bring the slip.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he say about the time?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said it starts at 6:30.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Newsletter: a newspaper [sign: NEWS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statement order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 THIS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418320" y="1828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THIS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if is the conference tonight?</a:t>
            </a:r>
            <a:endParaRPr lang="en-US" sz="1300" dirty="0" b="1"/>
          </a:p>
        </p:txBody>
      </p:sp>
      <p:sp>
        <p:nvSpPr>
          <p:cNvPr id="19" name="Answer bg 1"/>
          <p:cNvSpPr/>
          <p:nvPr/>
        </p:nvSpPr>
        <p:spPr>
          <a:xfrm>
            <a:off x="9418320" y="228600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418320" y="228600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if the conference is tonight?</a:t>
            </a:r>
            <a:endParaRPr lang="en-US" sz="14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where is the office?</a:t>
            </a:r>
            <a:endParaRPr lang="en-US" sz="1300" dirty="0" b="1"/>
          </a:p>
        </p:txBody>
      </p:sp>
      <p:sp>
        <p:nvSpPr>
          <p:cNvPr id="22" name="Answer bg 2"/>
          <p:cNvSpPr/>
          <p:nvPr/>
        </p:nvSpPr>
        <p:spPr>
          <a:xfrm>
            <a:off x="9418320" y="324612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418320" y="324612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where the office is?</a:t>
            </a:r>
            <a:endParaRPr lang="en-US" sz="14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when does it start?</a:t>
            </a:r>
            <a:endParaRPr lang="en-US" sz="1300" dirty="0" b="1"/>
          </a:p>
        </p:txBody>
      </p:sp>
      <p:sp>
        <p:nvSpPr>
          <p:cNvPr id="25" name="Answer bg 3"/>
          <p:cNvSpPr/>
          <p:nvPr/>
        </p:nvSpPr>
        <p:spPr>
          <a:xfrm>
            <a:off x="9418320" y="420624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418320" y="420624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when it starts?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______ the office is?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______ it starts?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______ I need a permission slip?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whether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tell me ______ the office is still open?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______ the signup sheet is?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______ the bell rings?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1. Do you know if ______ tonight?</a:t>
            </a:r>
            <a:endParaRPr lang="en-US" sz="1500" dirty="0"/>
          </a:p>
        </p:txBody>
      </p:sp>
      <p:sp>
        <p:nvSpPr>
          <p:cNvPr id="9" name="R1 opt1"/>
          <p:cNvSpPr/>
          <p:nvPr/>
        </p:nvSpPr>
        <p:spPr>
          <a:xfrm>
            <a:off x="7571232" y="310896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conference is</a:t>
            </a:r>
            <a:endParaRPr lang="en-US" sz="1600" dirty="0" b="1"/>
          </a:p>
        </p:txBody>
      </p:sp>
      <p:sp>
        <p:nvSpPr>
          <p:cNvPr id="10" name="R1 opt2"/>
          <p:cNvSpPr/>
          <p:nvPr/>
        </p:nvSpPr>
        <p:spPr>
          <a:xfrm>
            <a:off x="9646920" y="310896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 conference</a:t>
            </a:r>
            <a:endParaRPr lang="en-US" sz="1600" dirty="0" b="1"/>
          </a:p>
        </p:txBody>
      </p:sp>
      <p:sp>
        <p:nvSpPr>
          <p:cNvPr id="11" name="R1 circle"/>
          <p:cNvSpPr/>
          <p:nvPr/>
        </p:nvSpPr>
        <p:spPr>
          <a:xfrm>
            <a:off x="7443216" y="305409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2. Do you know where ______ ?</a:t>
            </a:r>
            <a:endParaRPr lang="en-US" sz="1500" dirty="0"/>
          </a:p>
        </p:txBody>
      </p:sp>
      <p:sp>
        <p:nvSpPr>
          <p:cNvPr id="13" name="R2 opt1"/>
          <p:cNvSpPr/>
          <p:nvPr/>
        </p:nvSpPr>
        <p:spPr>
          <a:xfrm>
            <a:off x="7571232" y="365760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office is</a:t>
            </a:r>
            <a:endParaRPr lang="en-US" sz="1600" dirty="0" b="1"/>
          </a:p>
        </p:txBody>
      </p:sp>
      <p:sp>
        <p:nvSpPr>
          <p:cNvPr id="14" name="R2 opt2"/>
          <p:cNvSpPr/>
          <p:nvPr/>
        </p:nvSpPr>
        <p:spPr>
          <a:xfrm>
            <a:off x="9646920" y="365760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 office</a:t>
            </a:r>
            <a:endParaRPr lang="en-US" sz="1600" dirty="0" b="1"/>
          </a:p>
        </p:txBody>
      </p:sp>
      <p:sp>
        <p:nvSpPr>
          <p:cNvPr id="15" name="R2 circle"/>
          <p:cNvSpPr/>
          <p:nvPr/>
        </p:nvSpPr>
        <p:spPr>
          <a:xfrm>
            <a:off x="7443216" y="360273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3. Do you know when ______ ?</a:t>
            </a:r>
            <a:endParaRPr lang="en-US" sz="1500" dirty="0"/>
          </a:p>
        </p:txBody>
      </p:sp>
      <p:sp>
        <p:nvSpPr>
          <p:cNvPr id="17" name="R3 opt1"/>
          <p:cNvSpPr/>
          <p:nvPr/>
        </p:nvSpPr>
        <p:spPr>
          <a:xfrm>
            <a:off x="7571232" y="420624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starts</a:t>
            </a:r>
            <a:endParaRPr lang="en-US" sz="1600" dirty="0" b="1"/>
          </a:p>
        </p:txBody>
      </p:sp>
      <p:sp>
        <p:nvSpPr>
          <p:cNvPr id="18" name="R3 opt2"/>
          <p:cNvSpPr/>
          <p:nvPr/>
        </p:nvSpPr>
        <p:spPr>
          <a:xfrm>
            <a:off x="9646920" y="420624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it start</a:t>
            </a:r>
            <a:endParaRPr lang="en-US" sz="1600" dirty="0" b="1"/>
          </a:p>
        </p:txBody>
      </p:sp>
      <p:sp>
        <p:nvSpPr>
          <p:cNvPr id="19" name="R3 circle"/>
          <p:cNvSpPr/>
          <p:nvPr/>
        </p:nvSpPr>
        <p:spPr>
          <a:xfrm>
            <a:off x="7443216" y="415137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4. He ______ the conference was tonight.</a:t>
            </a:r>
            <a:endParaRPr lang="en-US" sz="1500" dirty="0"/>
          </a:p>
        </p:txBody>
      </p:sp>
      <p:sp>
        <p:nvSpPr>
          <p:cNvPr id="21" name="R4 opt1"/>
          <p:cNvSpPr/>
          <p:nvPr/>
        </p:nvSpPr>
        <p:spPr>
          <a:xfrm>
            <a:off x="7571232" y="475488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said</a:t>
            </a:r>
            <a:endParaRPr lang="en-US" sz="1600" dirty="0" b="1"/>
          </a:p>
        </p:txBody>
      </p:sp>
      <p:sp>
        <p:nvSpPr>
          <p:cNvPr id="22" name="R4 opt2"/>
          <p:cNvSpPr/>
          <p:nvPr/>
        </p:nvSpPr>
        <p:spPr>
          <a:xfrm>
            <a:off x="9646920" y="475488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said me</a:t>
            </a:r>
            <a:endParaRPr lang="en-US" sz="1600" dirty="0" b="1"/>
          </a:p>
        </p:txBody>
      </p:sp>
      <p:sp>
        <p:nvSpPr>
          <p:cNvPr id="23" name="R4 circle"/>
          <p:cNvSpPr/>
          <p:nvPr/>
        </p:nvSpPr>
        <p:spPr>
          <a:xfrm>
            <a:off x="7443216" y="470001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5. He told ______ to bring the slip.</a:t>
            </a:r>
            <a:endParaRPr lang="en-US" sz="1500" dirty="0"/>
          </a:p>
        </p:txBody>
      </p:sp>
      <p:sp>
        <p:nvSpPr>
          <p:cNvPr id="25" name="R5 opt1"/>
          <p:cNvSpPr/>
          <p:nvPr/>
        </p:nvSpPr>
        <p:spPr>
          <a:xfrm>
            <a:off x="7571232" y="530352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</a:t>
            </a:r>
            <a:endParaRPr lang="en-US" sz="1600" dirty="0" b="1"/>
          </a:p>
        </p:txBody>
      </p:sp>
      <p:sp>
        <p:nvSpPr>
          <p:cNvPr id="26" name="R5 opt2"/>
          <p:cNvSpPr/>
          <p:nvPr/>
        </p:nvSpPr>
        <p:spPr>
          <a:xfrm>
            <a:off x="9646920" y="530352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me</a:t>
            </a:r>
            <a:endParaRPr lang="en-US" sz="1600" dirty="0" b="1"/>
          </a:p>
        </p:txBody>
      </p:sp>
      <p:sp>
        <p:nvSpPr>
          <p:cNvPr id="27" name="R5 circle"/>
          <p:cNvSpPr/>
          <p:nvPr/>
        </p:nvSpPr>
        <p:spPr>
          <a:xfrm>
            <a:off x="7443216" y="524865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6. Can you tell me if ______ open?</a:t>
            </a:r>
            <a:endParaRPr lang="en-US" sz="1500" dirty="0"/>
          </a:p>
        </p:txBody>
      </p:sp>
      <p:sp>
        <p:nvSpPr>
          <p:cNvPr id="29" name="R6 opt1"/>
          <p:cNvSpPr/>
          <p:nvPr/>
        </p:nvSpPr>
        <p:spPr>
          <a:xfrm>
            <a:off x="7571232" y="585216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office is</a:t>
            </a:r>
            <a:endParaRPr lang="en-US" sz="1600" dirty="0" b="1"/>
          </a:p>
        </p:txBody>
      </p:sp>
      <p:sp>
        <p:nvSpPr>
          <p:cNvPr id="30" name="R6 opt2"/>
          <p:cNvSpPr/>
          <p:nvPr/>
        </p:nvSpPr>
        <p:spPr>
          <a:xfrm>
            <a:off x="9646920" y="585216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 office</a:t>
            </a:r>
            <a:endParaRPr lang="en-US" sz="1600" dirty="0" b="1"/>
          </a:p>
        </p:txBody>
      </p:sp>
      <p:sp>
        <p:nvSpPr>
          <p:cNvPr id="31" name="R6 circle"/>
          <p:cNvSpPr/>
          <p:nvPr/>
        </p:nvSpPr>
        <p:spPr>
          <a:xfrm>
            <a:off x="7443216" y="579729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Backpack: a backpa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if is the office open?</a:t>
            </a:r>
            <a:endParaRPr lang="en-US" sz="14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the office is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open?</a:t>
            </a:r>
            <a:endParaRPr lang="en-US" sz="1400" dirty="0" b="1"/>
          </a:p>
        </p:txBody>
      </p:sp>
      <p:sp>
        <p:nvSpPr>
          <p:cNvPr id="26" name="Bad 2"/>
          <p:cNvSpPr/>
          <p:nvPr/>
        </p:nvSpPr>
        <p:spPr>
          <a:xfrm>
            <a:off x="914400" y="2987399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where is the conference?</a:t>
            </a:r>
            <a:endParaRPr lang="en-US" sz="1400" dirty="0"/>
          </a:p>
        </p:txBody>
      </p:sp>
      <p:sp>
        <p:nvSpPr>
          <p:cNvPr id="27" name="Good 2"/>
          <p:cNvSpPr/>
          <p:nvPr/>
        </p:nvSpPr>
        <p:spPr>
          <a:xfrm>
            <a:off x="4800600" y="2987399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the conference is?</a:t>
            </a:r>
            <a:endParaRPr lang="en-US" sz="1400" dirty="0" b="1"/>
          </a:p>
        </p:txBody>
      </p:sp>
      <p:sp>
        <p:nvSpPr>
          <p:cNvPr id="28" name="Bad 3"/>
          <p:cNvSpPr/>
          <p:nvPr/>
        </p:nvSpPr>
        <p:spPr>
          <a:xfrm>
            <a:off x="914400" y="3505917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told to me to bring the slip.</a:t>
            </a:r>
            <a:endParaRPr lang="en-US" sz="1400" dirty="0"/>
          </a:p>
        </p:txBody>
      </p:sp>
      <p:sp>
        <p:nvSpPr>
          <p:cNvPr id="29" name="Good 3"/>
          <p:cNvSpPr/>
          <p:nvPr/>
        </p:nvSpPr>
        <p:spPr>
          <a:xfrm>
            <a:off x="4800600" y="3505917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told me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bring the slip.</a:t>
            </a:r>
            <a:endParaRPr lang="en-US" sz="14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024436"/>
            <a:ext cx="324612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said me the conference was tonight.</a:t>
            </a:r>
            <a:endParaRPr lang="en-US" sz="1400" dirty="0"/>
          </a:p>
        </p:txBody>
      </p:sp>
      <p:sp>
        <p:nvSpPr>
          <p:cNvPr id="31" name="Good 4"/>
          <p:cNvSpPr/>
          <p:nvPr/>
        </p:nvSpPr>
        <p:spPr>
          <a:xfrm>
            <a:off x="4800600" y="4024436"/>
            <a:ext cx="539496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said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conference was tonight.</a:t>
            </a:r>
            <a:endParaRPr lang="en-US" sz="1400" dirty="0" b="1"/>
          </a:p>
        </p:txBody>
      </p:sp>
      <p:sp>
        <p:nvSpPr>
          <p:cNvPr id="32" name="Bad 5"/>
          <p:cNvSpPr/>
          <p:nvPr/>
        </p:nvSpPr>
        <p:spPr>
          <a:xfrm>
            <a:off x="914400" y="4768865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when does it start?</a:t>
            </a:r>
            <a:endParaRPr lang="en-US" sz="1400" dirty="0"/>
          </a:p>
        </p:txBody>
      </p:sp>
      <p:sp>
        <p:nvSpPr>
          <p:cNvPr id="33" name="Good 5"/>
          <p:cNvSpPr/>
          <p:nvPr/>
        </p:nvSpPr>
        <p:spPr>
          <a:xfrm>
            <a:off x="4800600" y="4768865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it starts?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Sign-up: a memo and a pencil [sign: SIGN UP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 cards are a parent.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 are a volunteer.</a:t>
            </a:r>
            <a:endParaRPr lang="en-US" sz="1900" dirty="0" b="0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Dismissal: a school and a door [sign: GO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together.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Sit back to back.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Sit back to back.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Sit back to back.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Sit back to back.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Newsletter: a newspaper [sign: NEWS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Find a new partner.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Find a new partner.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Find a new partner.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Find a new partner.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page.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35844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is the conference?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468112" y="2525573"/>
            <a:ext cx="21031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Tonight at 6:30</a:t>
            </a:r>
            <a:endParaRPr lang="en-US" sz="14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35844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is the conference?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468112" y="3311957"/>
            <a:ext cx="21031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the library</a:t>
            </a:r>
            <a:endParaRPr lang="en-US" sz="14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35844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a volunteer bring?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468112" y="4098341"/>
            <a:ext cx="21031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signup sheet</a:t>
            </a:r>
            <a:endParaRPr lang="en-US" sz="14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35844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a parent bring for early pickup?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468112" y="4884725"/>
            <a:ext cx="21031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permission slip</a:t>
            </a:r>
            <a:endParaRPr lang="en-US" sz="14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35844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early should people arrive?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468112" y="5671109"/>
            <a:ext cx="21031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Ten minutes early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Office window: a window and an office building [sign: WINDOW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question you would ask the office, and the answer you hope for.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Name: Date: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with Do you know if / whether.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this page to your teacher.</a:t>
            </a:r>
            <a:endParaRPr lang="en-US" sz="15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20–25 minutes.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Finish the question. Use statement order.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email to the office (Read &amp; Write C).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Ask one person Do you know if…? Report the answer with said or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 (a tag). Write the tag.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5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Bell: a be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8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36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ask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if / whether…?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keep statement order after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ask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when / where…?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Level 4 way.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Mr. Reed and Maya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5 Lesson 8: Do You Know If It's Tonight?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