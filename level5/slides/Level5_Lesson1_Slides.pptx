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39" r:id="rId33"/>
    <p:sldId id="940" r:id="rId34"/>
    <p:sldId id="941" r:id="rId35"/>
    <p:sldId id="942" r:id="rId36"/>
    <p:sldId id="943" r:id="rId31"/>
    <p:sldId id="944" r:id="rId30"/>
    <p:sldId id="945" r:id="rId29"/>
    <p:sldId id="946" r:id="rId28"/>
    <p:sldId id="947" r:id="rId27"/>
    <p:sldId id="948" r:id="rId20"/>
    <p:sldId id="949" r:id="rId18"/>
    <p:sldId id="950" r:id="rId17"/>
    <p:sldId id="951" r:id="rId16"/>
    <p:sldId id="952" r:id="rId14"/>
    <p:sldId id="953" r:id="rId13"/>
    <p:sldId id="954" r:id="rId12"/>
    <p:sldId id="955" r:id="rId11"/>
    <p:sldId id="956" r:id="rId10"/>
    <p:sldId id="957" r:id="rId8"/>
    <p:sldId id="958" r:id="rId7"/>
    <p:sldId id="959" r:id="rId6"/>
    <p:sldId id="960" r:id="rId5"/>
    <p:sldId id="961" r:id="rId4"/>
    <p:sldId id="962" r:id="rId3"/>
    <p:sldId id="963" r:id="rId57"/>
    <p:sldId id="964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2:10)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How long have you been studying English (or doing your job)?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Front desk at Harbor Hotel • 2 For one year or more • 3 Stayed for a week • 4 The simple past • 5 A short follow-up note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says still true or finished in 2022. B makes one sentence (I've been working… or I worked…). Then switch.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've been working • 2 worked • 3 have you been working • 4 been working • 5 for • 6 since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working • 2 since • 3 for • 4 worked • 5 finished • 6 taking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Which form?.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a finished time needs the simple past.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have + past participle is also correct for How long.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been + -ing (the activity, still going on).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been working • 2 worked • 3 been working • 4 worked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three years • 2 trained two new cashiers • 3 stayed for a week • 4 a bakery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Nora is practicing for a hotel front-desk job.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one. The community center is holding a practice interview night. Nora wants a hotel front-desk job.</a:t>
            </a:r>
          </a:p>
          <a:p>
            <a:r>
              <a:t>Samir: Hi, Nora. I'm Samir, your coach. Are you ready to practice?</a:t>
            </a:r>
          </a:p>
          <a:p>
            <a:r>
              <a:t>Nora: Yes. I want to practice for a front-desk job at the Harbor Hotel.</a:t>
            </a:r>
          </a:p>
          <a:p>
            <a:r>
              <a:t>Samir: Good. Ms. Hale is going to ask the questions. I am going to take notes.</a:t>
            </a:r>
          </a:p>
          <a:p>
            <a:r>
              <a:t>Ms. Hale: Welcome, Nora. How long have you been working with customers?</a:t>
            </a:r>
          </a:p>
          <a:p>
            <a:r>
              <a:t>Nora: I've been working with customers for three years. I work at a store now.</a:t>
            </a:r>
          </a:p>
          <a:p>
            <a:r>
              <a:t>Ms. Hale: Tell me one accomplishment.</a:t>
            </a:r>
          </a:p>
          <a:p>
            <a:r>
              <a:t>Nora: I trained two new cashiers last spring.</a:t>
            </a:r>
          </a:p>
          <a:p>
            <a:r>
              <a:t>Ms. Hale: Can you give an example?</a:t>
            </a:r>
          </a:p>
          <a:p>
            <a:r>
              <a:t>Nora: Yes. One new cashier was nervous. I stayed with her for a week.</a:t>
            </a:r>
          </a:p>
          <a:p>
            <a:r>
              <a:t>Ms. Hale: Have you finished any hotel training?</a:t>
            </a:r>
          </a:p>
          <a:p>
            <a:r>
              <a:t>Nora: Not yet. I want to start the front-desk training next month.</a:t>
            </a:r>
          </a:p>
          <a:p>
            <a:r>
              <a:t>Samir: That example was clear. You said, "I've been working."</a:t>
            </a:r>
          </a:p>
          <a:p>
            <a:r>
              <a:t>Ms. Hale: What did you do in 2022?</a:t>
            </a:r>
          </a:p>
          <a:p>
            <a:r>
              <a:t>Nora: I worked at a bakery in 2022. That job is finished.</a:t>
            </a:r>
          </a:p>
          <a:p>
            <a:r>
              <a:t>Ms. Hale: Do you have a follow-up question?</a:t>
            </a:r>
          </a:p>
          <a:p>
            <a:r>
              <a:t>Nora: Yes. What do you send after the interview?</a:t>
            </a:r>
          </a:p>
          <a:p>
            <a:r>
              <a:t>Ms. Hale: A short note. A handshake and a thank-you are a good start.</a:t>
            </a:r>
          </a:p>
          <a:p>
            <a:r>
              <a:t>Samir: Next, you are going to put one accomplishment in your portfolio.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yes, a work paper</a:t>
            </a:r>
          </a:p>
          <a:p>
            <a:r>
              <a:t>2. no</a:t>
            </a:r>
          </a:p>
          <a:p>
            <a:r>
              <a:t>3. no, it shows a name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Résumé: a page and a briefcase [sign: RESUME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Working Here?</a:t>
            </a:r>
            <a:endParaRPr lang="en-US" sz="28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answer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been…?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also answer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worked… for / since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give one example of an accomplishment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been…?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also answer with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worked… for / since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one example of an accomplishment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a follow-up question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Interview: a speaking head and a memo with a pencil [sign: INTERVIEW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question. B answers in a short summary. A asks one follow-up.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have you been doing this week?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question. B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 in a short summary. A asks one follow-up.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lived in this city?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studied English?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you finished a class or a training?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have you been doing this week?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Résumé: a page and a briefcase [sign: RESUME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résumé</a:t>
            </a:r>
            <a:endParaRPr lang="en-US" sz="2000" dirty="0" b="1"/>
          </a:p>
        </p:txBody>
      </p:sp>
      <p:pic>
        <p:nvPicPr>
          <p:cNvPr id="19" name="Word picture 2" descr="Interview: a speaking head and a memo with a pencil [sign: INTERVIEW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interview</a:t>
            </a:r>
            <a:endParaRPr lang="en-US" sz="2000" dirty="0" b="1"/>
          </a:p>
        </p:txBody>
      </p:sp>
      <p:pic>
        <p:nvPicPr>
          <p:cNvPr id="21" name="Word picture 3" descr="Accomplishment: a trophy [sign: I DID IT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accomplishment</a:t>
            </a:r>
            <a:endParaRPr lang="en-US" sz="1500" dirty="0" b="1"/>
          </a:p>
        </p:txBody>
      </p:sp>
      <p:pic>
        <p:nvPicPr>
          <p:cNvPr id="23" name="Word picture 4" descr="Example: a light bulb [sign: FOR EXAMPL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example</a:t>
            </a:r>
            <a:endParaRPr lang="en-US" sz="2000" dirty="0" b="1"/>
          </a:p>
        </p:txBody>
      </p:sp>
      <p:pic>
        <p:nvPicPr>
          <p:cNvPr id="25" name="Word picture 5" descr="Skill: a wrench and a laptop [sign: SKILL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skill</a:t>
            </a:r>
            <a:endParaRPr lang="en-US" sz="2000" dirty="0" b="1"/>
          </a:p>
        </p:txBody>
      </p:sp>
      <p:pic>
        <p:nvPicPr>
          <p:cNvPr id="27" name="Word picture 6" descr="Job offer: an envelope and a briefcase [sign: JOB OFFER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job offer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one question</a:t>
            </a:r>
            <a:endParaRPr lang="en-US" sz="2200" dirty="0" b="1"/>
          </a:p>
        </p:txBody>
      </p:sp>
      <p:pic>
        <p:nvPicPr>
          <p:cNvPr id="17" name="Word picture 1" descr="Training: a graduation cap [sign: TRAINING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training</a:t>
            </a:r>
            <a:endParaRPr lang="en-US" sz="2000" dirty="0" b="1"/>
          </a:p>
        </p:txBody>
      </p:sp>
      <p:pic>
        <p:nvPicPr>
          <p:cNvPr id="19" name="Word picture 2" descr="Portfolio: a folder and a framed picture [sign: PORTFOLIO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portfolio</a:t>
            </a:r>
            <a:endParaRPr lang="en-US" sz="2000" dirty="0" b="1"/>
          </a:p>
        </p:txBody>
      </p:sp>
      <p:pic>
        <p:nvPicPr>
          <p:cNvPr id="21" name="Word picture 3" descr="Handshake: a handshake [sign: HELLO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handshake</a:t>
            </a:r>
            <a:endParaRPr lang="en-US" sz="2000" dirty="0" b="1"/>
          </a:p>
        </p:txBody>
      </p:sp>
      <p:pic>
        <p:nvPicPr>
          <p:cNvPr id="23" name="Word picture 4" descr="Follow-up: an e-mail and a phone [sign: FOLLOW-UP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follow-up</a:t>
            </a:r>
            <a:endParaRPr lang="en-US" sz="2000" dirty="0" b="1"/>
          </a:p>
        </p:txBody>
      </p:sp>
      <p:pic>
        <p:nvPicPr>
          <p:cNvPr id="25" name="Word picture 5" descr="Qualification: a scroll [sign: QUALIFIED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qualification</a:t>
            </a:r>
            <a:endParaRPr lang="en-US" sz="1500" dirty="0" b="1"/>
          </a:p>
        </p:txBody>
      </p:sp>
      <p:pic>
        <p:nvPicPr>
          <p:cNvPr id="27" name="Word picture 6" descr="Name tag: a name badge [sign: NAME TAG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 tag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résumé a paper about your work?</a:t>
            </a:r>
            <a:endParaRPr lang="en-US" sz="1600" dirty="0" b="1"/>
          </a:p>
        </p:txBody>
      </p:sp>
      <p:pic>
        <p:nvPicPr>
          <p:cNvPr id="101" name="R1 pic" descr="Résumé: a page and a briefcase [sign: RESUME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handshake a follow-up?</a:t>
            </a:r>
            <a:endParaRPr lang="en-US" sz="1600" dirty="0" b="1"/>
          </a:p>
        </p:txBody>
      </p:sp>
      <p:pic>
        <p:nvPicPr>
          <p:cNvPr id="102" name="R2 pic" descr="Handshake: a handshake [sign: HELLO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a name tag show a skill?</a:t>
            </a:r>
            <a:endParaRPr lang="en-US" sz="1600" dirty="0" b="1"/>
          </a:p>
        </p:txBody>
      </p:sp>
      <p:pic>
        <p:nvPicPr>
          <p:cNvPr id="103" name="R3 pic" descr="Name tag: a name badge [sign: NAME TAG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a work paper</a:t>
            </a:r>
            <a:endParaRPr lang="en-US" sz="1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shows a name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 is practicing for a hotel front-desk job.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Accomplishment: a trophy [sign: I DID I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Samir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Hale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job is the practice for?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 (play 1 = Task A; play 2 = Tasks B and C) +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2:10):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job is the practice for?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a bakery job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a hotel front-desk job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a coach's job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answers.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How long with customers?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years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years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 September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913632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Accomplishment?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9136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trained two new cashiers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9136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finished the training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9136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 a follow-up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5038344" y="3858768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718304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Example?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71830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stayed for a week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71830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 in 2022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71830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handshake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5038344" y="4663440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5522976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The job in 2022?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552297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hotel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552297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bakery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552297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class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7324344" y="5468112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been wor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______ with customers for three years.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52557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______ at a bakery in 2022.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3311957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said, "I've ______."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4098341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______ at a bakery in 2022. That job is finished.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884725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practice for a front-desk job.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Hale is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ask the questions.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working with customers.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working here?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Example: a light bulb [sign: FOR EXAMPL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+ -ing (the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here?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been working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two years.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the hotel?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been working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there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two years.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taking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this class?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 been taking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this class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September.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kill: a wrench and a laptop [sign: SKILL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+ past participle is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worked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2024.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there?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worked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there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two years.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training?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Job offer: an envelope and a briefcase [sign: JOB OFF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finished time needs the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your last job?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helped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customers at a store.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you work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2022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a bakery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2022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Training: a graduation cap [sign: TRAINING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form?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FORM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activity, still going on: I've been working here for two years.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past participle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also correct for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: I've worked here since 2024.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simple past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finished time (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2022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): I worked at a bakery in 2022.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______ here for two years.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 here ______ 2024.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 here ______ two years.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______ at a bakery in 2022.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you ______ the training?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finished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been ______ this class since September.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taking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I ______ here since 2024.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022592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working</a:t>
            </a:r>
            <a:endParaRPr lang="en-US" sz="1300" dirty="0" b="1"/>
          </a:p>
        </p:txBody>
      </p:sp>
      <p:sp>
        <p:nvSpPr>
          <p:cNvPr id="10" name="R1 opt2"/>
          <p:cNvSpPr/>
          <p:nvPr/>
        </p:nvSpPr>
        <p:spPr>
          <a:xfrm>
            <a:off x="937260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been working</a:t>
            </a:r>
            <a:endParaRPr lang="en-US" sz="1300" dirty="0" b="1"/>
          </a:p>
        </p:txBody>
      </p:sp>
      <p:sp>
        <p:nvSpPr>
          <p:cNvPr id="11" name="R1 circle"/>
          <p:cNvSpPr/>
          <p:nvPr/>
        </p:nvSpPr>
        <p:spPr>
          <a:xfrm>
            <a:off x="9244584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I ______ here in 2022.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022592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been working</a:t>
            </a:r>
            <a:endParaRPr lang="en-US" sz="1300" dirty="0" b="1"/>
          </a:p>
        </p:txBody>
      </p:sp>
      <p:sp>
        <p:nvSpPr>
          <p:cNvPr id="14" name="R2 opt2"/>
          <p:cNvSpPr/>
          <p:nvPr/>
        </p:nvSpPr>
        <p:spPr>
          <a:xfrm>
            <a:off x="937260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1300" dirty="0" b="1"/>
          </a:p>
        </p:txBody>
      </p:sp>
      <p:sp>
        <p:nvSpPr>
          <p:cNvPr id="15" name="R2 circle"/>
          <p:cNvSpPr/>
          <p:nvPr/>
        </p:nvSpPr>
        <p:spPr>
          <a:xfrm>
            <a:off x="924458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How long ______ at the hotel?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022592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you been working</a:t>
            </a:r>
            <a:endParaRPr lang="en-US" sz="1300" dirty="0" b="1"/>
          </a:p>
        </p:txBody>
      </p:sp>
      <p:sp>
        <p:nvSpPr>
          <p:cNvPr id="18" name="R3 opt2"/>
          <p:cNvSpPr/>
          <p:nvPr/>
        </p:nvSpPr>
        <p:spPr>
          <a:xfrm>
            <a:off x="937260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have been working</a:t>
            </a:r>
            <a:endParaRPr lang="en-US" sz="1300" dirty="0" b="1"/>
          </a:p>
        </p:txBody>
      </p:sp>
      <p:sp>
        <p:nvSpPr>
          <p:cNvPr id="19" name="R3 circle"/>
          <p:cNvSpPr/>
          <p:nvPr/>
        </p:nvSpPr>
        <p:spPr>
          <a:xfrm>
            <a:off x="6894576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I've ______ there for two years.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022592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endParaRPr lang="en-US" sz="1300" dirty="0" b="1"/>
          </a:p>
        </p:txBody>
      </p:sp>
      <p:sp>
        <p:nvSpPr>
          <p:cNvPr id="22" name="R4 opt2"/>
          <p:cNvSpPr/>
          <p:nvPr/>
        </p:nvSpPr>
        <p:spPr>
          <a:xfrm>
            <a:off x="937260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300" dirty="0" b="1"/>
          </a:p>
        </p:txBody>
      </p:sp>
      <p:sp>
        <p:nvSpPr>
          <p:cNvPr id="23" name="R4 circle"/>
          <p:cNvSpPr/>
          <p:nvPr/>
        </p:nvSpPr>
        <p:spPr>
          <a:xfrm>
            <a:off x="6894576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I've worked there ______ two years.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022592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endParaRPr lang="en-US" sz="1300" dirty="0" b="1"/>
          </a:p>
        </p:txBody>
      </p:sp>
      <p:sp>
        <p:nvSpPr>
          <p:cNvPr id="26" name="R5 opt2"/>
          <p:cNvSpPr/>
          <p:nvPr/>
        </p:nvSpPr>
        <p:spPr>
          <a:xfrm>
            <a:off x="937260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endParaRPr lang="en-US" sz="1300" dirty="0" b="1"/>
          </a:p>
        </p:txBody>
      </p:sp>
      <p:sp>
        <p:nvSpPr>
          <p:cNvPr id="27" name="R5 circle"/>
          <p:cNvSpPr/>
          <p:nvPr/>
        </p:nvSpPr>
        <p:spPr>
          <a:xfrm>
            <a:off x="6894576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She's been taking this class ______ September.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022592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endParaRPr lang="en-US" sz="1300" dirty="0" b="1"/>
          </a:p>
        </p:txBody>
      </p:sp>
      <p:sp>
        <p:nvSpPr>
          <p:cNvPr id="30" name="R6 opt2"/>
          <p:cNvSpPr/>
          <p:nvPr/>
        </p:nvSpPr>
        <p:spPr>
          <a:xfrm>
            <a:off x="937260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endParaRPr lang="en-US" sz="1300" dirty="0" b="1"/>
          </a:p>
        </p:txBody>
      </p:sp>
      <p:sp>
        <p:nvSpPr>
          <p:cNvPr id="31" name="R6 circle"/>
          <p:cNvSpPr/>
          <p:nvPr/>
        </p:nvSpPr>
        <p:spPr>
          <a:xfrm>
            <a:off x="6894576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Portfolio: a folder and a framed picture [sign: PORTFOLI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working here since 2024.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working here since 2024. or I've worked here since 2024.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21330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working here in 2022.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321330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worked here in 2022.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Handshake: a handshake [sign: HELL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still true or finished in 2022.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makes one sentence (I've been working… or I worked…).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kill: a wrench and a laptop [sign: SKILL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together.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interviewer.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interviewer.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working at your</a:t>
            </a:r>
            <a:endParaRPr lang="en-US" sz="1600" dirty="0" b="1"/>
          </a:p>
          <a:p>
            <a:pPr algn="l" indent="0" marL="0">
              <a:buNone/>
            </a:pPr>
            <a:r>
              <a:rPr lang="en-US" sz="16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job?</a:t>
            </a:r>
            <a:endParaRPr lang="en-US" sz="16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studying English?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raining: a graduation cap [sign: TRAINING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together.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Kind Feedback.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Kind Feedback.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Kind Feedback.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Kind Feedback.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job is the posting for?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Front desk at Harbor Hotel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with customers?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one year or more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example do they give?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Stayed for a week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finished job in 2022 uses…?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simple past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the coach send after?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short follow-up note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Follow-up: an e-mail and a phone [sign: FOLLOW-UP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studying English (or doing your job)?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 If the work is still true, been working or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email from Read &amp; Write. Read it one more time.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 one person: How long have you been…? Write the answer in one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(for or since).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Qualification: a scroll [sign: QUALIFIED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answer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been…?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also answer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worked… for / since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give one example of an accomplishment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Samir, Nora, and Ms. Hale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1: How Long Have You Been Working Here?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