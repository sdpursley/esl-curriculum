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939" r:id="rId33"/>
    <p:sldId id="940" r:id="rId34"/>
    <p:sldId id="941" r:id="rId35"/>
    <p:sldId id="942" r:id="rId36"/>
    <p:sldId id="943" r:id="rId31"/>
    <p:sldId id="944" r:id="rId30"/>
    <p:sldId id="945" r:id="rId29"/>
    <p:sldId id="946" r:id="rId28"/>
    <p:sldId id="947" r:id="rId27"/>
    <p:sldId id="948" r:id="rId20"/>
    <p:sldId id="949" r:id="rId18"/>
    <p:sldId id="950" r:id="rId17"/>
    <p:sldId id="951" r:id="rId16"/>
    <p:sldId id="952" r:id="rId14"/>
    <p:sldId id="953" r:id="rId13"/>
    <p:sldId id="954" r:id="rId12"/>
    <p:sldId id="955" r:id="rId11"/>
    <p:sldId id="956" r:id="rId10"/>
    <p:sldId id="957" r:id="rId8"/>
    <p:sldId id="958" r:id="rId7"/>
    <p:sldId id="959" r:id="rId6"/>
    <p:sldId id="960" r:id="rId5"/>
    <p:sldId id="961" r:id="rId4"/>
    <p:sldId id="962" r:id="rId3"/>
    <p:sldId id="963" r:id="rId57"/>
    <p:sldId id="964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the listening audio for this lesson (about 2:10) is coming soon. It will use computer-generated voices (Chatterbox TTS cloned from synthetic Kokoro-82M reference clips); no recordings of real people. Until it is ready, read the listening script (in the notes of the Before You Listen slide) with a volunteer.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and homework. Never skip the exit ticket.</a:t>
            </a:r>
          </a:p>
          <a:p>
            <a:r>
              <a:t>Confirm two details about this class.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7:18–7:25 · Read &amp; Write.</a:t>
            </a:r>
          </a:p>
          <a:p>
            <a:r>
              <a:t>Click to show each answer: 1 C-42 • 2 Tuesday at 6:00 • 3 Room C • 4 Room A • 5 The room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1.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Model: It's Tuesday, isn't it? Actually, it's Wednesday. | Detail | Copy A | Copy B | |---|---|---| | Day | Tuesday | Wednesday | | Time | 6:00 | 6:00 | | Room | C | C | | Email | leah@mail.example | leah@mail.example |</a:t>
            </a:r>
          </a:p>
          <a:p>
            <a:r>
              <a:t>Break · 6:45–7:00.</a:t>
            </a:r>
          </a:p>
          <a:p>
            <a:r>
              <a:t>Lesson plan: Step 4: Pair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Don't say, then Say. Learners try first. Then click.</a:t>
            </a:r>
          </a:p>
          <a:p>
            <a:r>
              <a:t>Lesson plan: Grammar: Common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Yes, I did • 2 isn't it • 3 is she • 4 didn't you • 5 isn't it • 6 No, I didn't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didn't you • 2 isn't it • 3 is she • 4 don't you • 5 doesn't it • 6 didn't she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4: correct a detail. Each click shows the answer side.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3: do, does, or did. Each click shows the answer side.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2: a positive tag. Each click shows the answer side.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1: a negative tag. Each click shows the answer side.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gonna and wanna are short forms. This listening uses the full forms. Say each line two times.</a:t>
            </a:r>
          </a:p>
          <a:p>
            <a:r>
              <a:t>Lesson plan: Step 3: Hear it,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didn't you • 2 isn't it • 3 isn't it • 4 didn't you • 5 isn't it • 6 is she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Correct • 2 Correct • 3 Correct • 4 Correct • 5 Wrong. C forty-two is class ID C-42. Tuesday at six is 6:00. The room on his copy is A; the schedule says room C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b.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6:12–6:32 · Listening. Play 1 is Task A. Play 2 is Tasks B and C. A third play is fine.</a:t>
            </a:r>
          </a:p>
          <a:p>
            <a:r>
              <a:t>Leah is at a community center desk.</a:t>
            </a:r>
          </a:p>
          <a:p>
            <a:r>
              <a:t>The script says going to and want to. Learners only need to recognize gonna and wanna.</a:t>
            </a:r>
          </a:p>
          <a:p>
            <a:r>
              <a:t>Lesson plan: Step 3;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  <a:p>
            <a:r>
              <a:t>Listening script (the audio is coming soon; until then, read it aloud with a volunteer at a normal, friendly speed):</a:t>
            </a:r>
          </a:p>
          <a:p>
            <a:r>
              <a:t>Narrator: Lesson seven. Leah is at the community center desk. She wants to check her evening-class form. Mr. Ortiz has the copy.</a:t>
            </a:r>
          </a:p>
          <a:p>
            <a:r>
              <a:t>Mr. Ortiz: Good evening. You sent the form, didn't you?</a:t>
            </a:r>
          </a:p>
          <a:p>
            <a:r>
              <a:t>Leah: Yes, I did. I want to double-check every line.</a:t>
            </a:r>
          </a:p>
          <a:p>
            <a:r>
              <a:t>Mr. Ortiz: Your class ID is C forty-two, isn't it?</a:t>
            </a:r>
          </a:p>
          <a:p>
            <a:r>
              <a:t>Leah: Yes, it is.</a:t>
            </a:r>
          </a:p>
          <a:p>
            <a:r>
              <a:t>Mr. Ortiz: And the email address is leah at mail dot example, isn't it?</a:t>
            </a:r>
          </a:p>
          <a:p>
            <a:r>
              <a:t>Leah: Yes, it is. The L in Leah is a capital letter. Please check the spelling.</a:t>
            </a:r>
          </a:p>
          <a:p>
            <a:r>
              <a:t>Mr. Ortiz: I will. You wrote a phone number on line three, didn't you?</a:t>
            </a:r>
          </a:p>
          <a:p>
            <a:r>
              <a:t>Leah: Yes, I did. I double-checked it at home.</a:t>
            </a:r>
          </a:p>
          <a:p>
            <a:r>
              <a:t>Mr. Ortiz: The class is on Tuesday at six, isn't it?</a:t>
            </a:r>
          </a:p>
          <a:p>
            <a:r>
              <a:t>Leah: Yes, it is. I'm going to come straight from work.</a:t>
            </a:r>
          </a:p>
          <a:p>
            <a:r>
              <a:t>Mr. Ortiz: And the room is A, isn't it?</a:t>
            </a:r>
          </a:p>
          <a:p>
            <a:r>
              <a:t>Leah: Actually, it isn't. The schedule says room C. Can you make that correction?</a:t>
            </a:r>
          </a:p>
          <a:p>
            <a:r>
              <a:t>Mr. Ortiz: You're right. I'll change the room to C and initial the correction.</a:t>
            </a:r>
          </a:p>
          <a:p>
            <a:r>
              <a:t>Leah: Thank you. My signature is on the form, isn't it?</a:t>
            </a:r>
          </a:p>
          <a:p>
            <a:r>
              <a:t>Mr. Ortiz: Yes, it is. I'll check the box and give you this copy.</a:t>
            </a:r>
          </a:p>
          <a:p>
            <a:r>
              <a:t>Leah: Great. I'm going to keep the copy.</a:t>
            </a:r>
          </a:p>
          <a:p>
            <a:r>
              <a:t>Mr. Ortiz: Your friend isn't in this class, is she?</a:t>
            </a:r>
          </a:p>
          <a:p>
            <a:r>
              <a:t>Leah: No, she isn't. This copy is only for me.</a:t>
            </a:r>
          </a:p>
          <a:p>
            <a:r>
              <a:t>Narrator: That's the end of the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answers are hidden. Ask, then click.</a:t>
            </a:r>
          </a:p>
          <a:p>
            <a:r>
              <a:t>1. an email address</a:t>
            </a:r>
          </a:p>
          <a:p>
            <a:r>
              <a:t>2. a checkbox</a:t>
            </a:r>
          </a:p>
          <a:p>
            <a:r>
              <a:t>3. capital</a:t>
            </a:r>
          </a:p>
          <a:p>
            <a:r>
              <a:t>Lesson plan: Step 2: Check the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points to a picture. B names it and uses it in one sentence. Then switch.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6:06–6:12 · New Words.</a:t>
            </a:r>
          </a:p>
          <a:p>
            <a:r>
              <a:t>Point to each picture. Learners repeat. ★ = most important.</a:t>
            </a:r>
          </a:p>
          <a:p>
            <a:r>
              <a:t>Lesson plan: Step 2;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Read the three lines under Today you will.</a:t>
            </a:r>
          </a:p>
          <a:p>
            <a:r>
              <a:t>Do not collect real Social Security numbers, immigration papers, bank numbers, or medical record numbers.</a:t>
            </a:r>
          </a:p>
          <a:p>
            <a:r>
              <a:t>Lesson plan: Topic; At a glance: Objectives.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6:00–6:06 · Opening Talk.</a:t>
            </a:r>
          </a:p>
          <a:p>
            <a:r>
              <a:t>Work with a partner.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shows the next card.</a:t>
            </a:r>
          </a:p>
          <a:p>
            <a:r>
              <a:t>A asks. B answers. Then switch.</a:t>
            </a:r>
          </a:p>
          <a:p>
            <a:r>
              <a:t>Lesson plan: Step 1; Opening Talk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Now you can lines.</a:t>
            </a:r>
          </a:p>
          <a:p>
            <a:r>
              <a:t>Homework is about 20–25 minutes. Bring it next week.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6" Type="http://schemas.openxmlformats.org/officeDocument/2006/relationships/image" Target="../media/image19.png"/><Relationship Id="rId7" Type="http://schemas.openxmlformats.org/officeDocument/2006/relationships/image" Target="../media/image13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Spelling: latin letters and a pencil [sign: A B C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7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Sent It, Didn't You?</a:t>
            </a:r>
            <a:endParaRPr lang="en-US" sz="4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add a tag to a statement I think is true.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answer a tag with a short yes or no.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correct a wrong detail politely.</a:t>
            </a:r>
            <a:endParaRPr lang="en-US" sz="2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things.</a:t>
            </a:r>
            <a:endParaRPr lang="en-US" sz="2000" dirty="0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713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6883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add a tag to a statement I think is true.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5750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5750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90876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5750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answer a tag with a short yes or no.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9100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7954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7954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712921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79546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correct a wrong detail politely.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81304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01591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0159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3496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01591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write a confirmation email.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350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Email address: an e-mail icon [sign: EMAIL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last</a:t>
            </a:r>
            <a:endParaRPr lang="en-US" sz="18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week's question. B answers with a short summary. Then compare one homework sentence.</a:t>
            </a:r>
            <a:endParaRPr lang="en-US" sz="1800" dirty="0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read one sentence from</a:t>
            </a:r>
            <a:endParaRPr lang="en-US" sz="18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Lesson 6 message.</a:t>
            </a:r>
            <a:endParaRPr lang="en-US" sz="18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last week's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question. B answers with a short summary. Then compare one homework sentence.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the person say? Use said or told.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did the person ask you to do? Use asked me to.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836822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836822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836822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836822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yes/no question did the person ask? Use asked if.</a:t>
            </a:r>
            <a:endParaRPr lang="en-US" sz="15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970325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4822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4822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4822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4822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 check: read one sentence from your Lesson 6 message.</a:t>
            </a:r>
            <a:endParaRPr lang="en-US" sz="15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8172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Spelling: latin letters and a pencil [sign: A B C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spelling</a:t>
            </a:r>
            <a:endParaRPr lang="en-US" sz="2000" dirty="0" b="1"/>
          </a:p>
        </p:txBody>
      </p:sp>
      <p:pic>
        <p:nvPicPr>
          <p:cNvPr id="19" name="Word picture 2" descr="Email address: an e-mail icon [sign: EMAIL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email address</a:t>
            </a:r>
            <a:endParaRPr lang="en-US" sz="1500" dirty="0" b="1"/>
          </a:p>
        </p:txBody>
      </p:sp>
      <p:pic>
        <p:nvPicPr>
          <p:cNvPr id="21" name="Word picture 3" descr="Phone number: a mobile phone [sign: PHONE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phone number</a:t>
            </a:r>
            <a:endParaRPr lang="en-US" sz="2000" dirty="0" b="1"/>
          </a:p>
        </p:txBody>
      </p:sp>
      <p:pic>
        <p:nvPicPr>
          <p:cNvPr id="23" name="Word picture 4" descr="Schedule: a calendar and an alarm clock [sign: TUE 6:00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schedule</a:t>
            </a:r>
            <a:endParaRPr lang="en-US" sz="2000" dirty="0" b="1"/>
          </a:p>
        </p:txBody>
      </p:sp>
      <p:pic>
        <p:nvPicPr>
          <p:cNvPr id="25" name="Word picture 5" descr="Signature: a writing hand [sign: SIGN HERE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signature</a:t>
            </a:r>
            <a:endParaRPr lang="en-US" sz="2000" dirty="0" b="1"/>
          </a:p>
        </p:txBody>
      </p:sp>
      <p:pic>
        <p:nvPicPr>
          <p:cNvPr id="27" name="Word picture 6" descr="Form: a clipboard [sign: FORM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form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form</a:t>
            </a:r>
            <a:endParaRPr lang="en-US" sz="2200" dirty="0" b="1"/>
          </a:p>
        </p:txBody>
      </p:sp>
      <p:pic>
        <p:nvPicPr>
          <p:cNvPr id="17" name="Word picture 1" descr="Checkbox: a ballot box with a check [sign: YES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checkbox</a:t>
            </a:r>
            <a:endParaRPr lang="en-US" sz="2000" dirty="0" b="1"/>
          </a:p>
        </p:txBody>
      </p:sp>
      <p:pic>
        <p:nvPicPr>
          <p:cNvPr id="19" name="Word picture 2" descr="Correction: a pencil and a cross mark [sign: FIX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correction</a:t>
            </a:r>
            <a:endParaRPr lang="en-US" sz="2000" dirty="0" b="1"/>
          </a:p>
        </p:txBody>
      </p:sp>
      <p:pic>
        <p:nvPicPr>
          <p:cNvPr id="21" name="Word picture 3" descr="Double-check: two check marks [sign: AGAIN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double-check</a:t>
            </a:r>
            <a:endParaRPr lang="en-US" sz="2000" dirty="0" b="1"/>
          </a:p>
        </p:txBody>
      </p:sp>
      <p:pic>
        <p:nvPicPr>
          <p:cNvPr id="23" name="Word picture 4" descr="Copy: two pages [sign: COPY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copy</a:t>
            </a:r>
            <a:endParaRPr lang="en-US" sz="2000" dirty="0" b="1"/>
          </a:p>
        </p:txBody>
      </p:sp>
      <p:pic>
        <p:nvPicPr>
          <p:cNvPr id="25" name="Word picture 5" descr="Initial: a writing hand and a memo [sign: L.P.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initial</a:t>
            </a:r>
            <a:endParaRPr lang="en-US" sz="2000" dirty="0" b="1"/>
          </a:p>
        </p:txBody>
      </p:sp>
      <p:pic>
        <p:nvPicPr>
          <p:cNvPr id="27" name="Word picture 6" descr="Capital letter: a capital-letters key [sign: ABC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capital letter</a:t>
            </a:r>
            <a:endParaRPr lang="en-US" sz="15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this a phone number or an email address?</a:t>
            </a:r>
            <a:endParaRPr lang="en-US" sz="1400" dirty="0" b="1"/>
          </a:p>
        </p:txBody>
      </p:sp>
      <p:pic>
        <p:nvPicPr>
          <p:cNvPr id="101" name="R1 pic" descr="Email address: an e-mail icon [sign: EMAIL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small box do you mark on a form?</a:t>
            </a:r>
            <a:endParaRPr lang="en-US" sz="1600" dirty="0" b="1"/>
          </a:p>
        </p:txBody>
      </p:sp>
      <p:pic>
        <p:nvPicPr>
          <p:cNvPr id="102" name="R2 pic" descr="Checkbox: a ballot box with a check [sign: YES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the L in Leah small or capital?</a:t>
            </a:r>
            <a:endParaRPr lang="en-US" sz="1600" dirty="0" b="1"/>
          </a:p>
        </p:txBody>
      </p:sp>
      <p:pic>
        <p:nvPicPr>
          <p:cNvPr id="103" name="R3 pic" descr="Spelling: latin letters and a pencil [sign: A B C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email address</a:t>
            </a:r>
            <a:endParaRPr lang="en-US" sz="1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checkbox</a:t>
            </a:r>
            <a:endParaRPr lang="en-US" sz="22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capital</a:t>
            </a:r>
            <a:endParaRPr lang="en-US" sz="28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Leah is at a community center desk.</a:t>
            </a:r>
            <a:endParaRPr lang="en-US" sz="18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Phone number: a mobile phone [sign: PHON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Narrator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Mr. Ortiz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Leah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Is every detail correct at the start?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| 6:12–6:32 | Listening: play 1 (Task A), play 2 (Tasks B and C) +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(about 2:10): coming soon.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Is every detail correct at the</a:t>
            </a:r>
            <a:endParaRPr lang="en-US" sz="20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start?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453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2139696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Yes. Every detail is correct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67528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No. The room is wrong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595360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She did not send the form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5239512" y="3054096"/>
            <a:ext cx="34107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Listen again. Mark each detail</a:t>
            </a:r>
            <a:endParaRPr lang="en-US" sz="16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correct or wrong.</a:t>
            </a:r>
            <a:endParaRPr lang="en-US" sz="16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752551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Class ID C-42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8211312" y="3108960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Correct</a:t>
            </a:r>
            <a:endParaRPr lang="en-US" sz="1600" dirty="0" b="1"/>
          </a:p>
        </p:txBody>
      </p:sp>
      <p:sp>
        <p:nvSpPr>
          <p:cNvPr id="10" name="R1 opt2"/>
          <p:cNvSpPr/>
          <p:nvPr/>
        </p:nvSpPr>
        <p:spPr>
          <a:xfrm>
            <a:off x="9966960" y="3108960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Wrong</a:t>
            </a:r>
            <a:endParaRPr lang="en-US" sz="1600" dirty="0" b="1"/>
          </a:p>
        </p:txBody>
      </p:sp>
      <p:sp>
        <p:nvSpPr>
          <p:cNvPr id="11" name="R1 circle"/>
          <p:cNvSpPr/>
          <p:nvPr/>
        </p:nvSpPr>
        <p:spPr>
          <a:xfrm>
            <a:off x="8083296" y="3054096"/>
            <a:ext cx="190195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767328"/>
            <a:ext cx="752551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Email leah@mail.example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8211312" y="3767328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Correct</a:t>
            </a:r>
            <a:endParaRPr lang="en-US" sz="1600" dirty="0" b="1"/>
          </a:p>
        </p:txBody>
      </p:sp>
      <p:sp>
        <p:nvSpPr>
          <p:cNvPr id="14" name="R2 opt2"/>
          <p:cNvSpPr/>
          <p:nvPr/>
        </p:nvSpPr>
        <p:spPr>
          <a:xfrm>
            <a:off x="9966960" y="3767328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Wrong</a:t>
            </a:r>
            <a:endParaRPr lang="en-US" sz="1600" dirty="0" b="1"/>
          </a:p>
        </p:txBody>
      </p:sp>
      <p:sp>
        <p:nvSpPr>
          <p:cNvPr id="15" name="R2 circle"/>
          <p:cNvSpPr/>
          <p:nvPr/>
        </p:nvSpPr>
        <p:spPr>
          <a:xfrm>
            <a:off x="8083296" y="3712464"/>
            <a:ext cx="190195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425696"/>
            <a:ext cx="752551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Day: Tuesday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8211312" y="4425696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Correct</a:t>
            </a:r>
            <a:endParaRPr lang="en-US" sz="1600" dirty="0" b="1"/>
          </a:p>
        </p:txBody>
      </p:sp>
      <p:sp>
        <p:nvSpPr>
          <p:cNvPr id="18" name="R3 opt2"/>
          <p:cNvSpPr/>
          <p:nvPr/>
        </p:nvSpPr>
        <p:spPr>
          <a:xfrm>
            <a:off x="9966960" y="4425696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Wrong</a:t>
            </a:r>
            <a:endParaRPr lang="en-US" sz="1600" dirty="0" b="1"/>
          </a:p>
        </p:txBody>
      </p:sp>
      <p:sp>
        <p:nvSpPr>
          <p:cNvPr id="19" name="R3 circle"/>
          <p:cNvSpPr/>
          <p:nvPr/>
        </p:nvSpPr>
        <p:spPr>
          <a:xfrm>
            <a:off x="8083296" y="4370832"/>
            <a:ext cx="190195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5084064"/>
            <a:ext cx="752551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Time: 6:00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8211312" y="5084064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Correct</a:t>
            </a:r>
            <a:endParaRPr lang="en-US" sz="1600" dirty="0" b="1"/>
          </a:p>
        </p:txBody>
      </p:sp>
      <p:sp>
        <p:nvSpPr>
          <p:cNvPr id="22" name="R4 opt2"/>
          <p:cNvSpPr/>
          <p:nvPr/>
        </p:nvSpPr>
        <p:spPr>
          <a:xfrm>
            <a:off x="9966960" y="5084064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Wrong</a:t>
            </a:r>
            <a:endParaRPr lang="en-US" sz="1600" dirty="0" b="1"/>
          </a:p>
        </p:txBody>
      </p:sp>
      <p:sp>
        <p:nvSpPr>
          <p:cNvPr id="23" name="R4 circle"/>
          <p:cNvSpPr/>
          <p:nvPr/>
        </p:nvSpPr>
        <p:spPr>
          <a:xfrm>
            <a:off x="8083296" y="5029200"/>
            <a:ext cx="190195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742432"/>
            <a:ext cx="7525512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Room on his copy: A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8211312" y="5742432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Correct</a:t>
            </a:r>
            <a:endParaRPr lang="en-US" sz="1600" dirty="0" b="1"/>
          </a:p>
        </p:txBody>
      </p:sp>
      <p:sp>
        <p:nvSpPr>
          <p:cNvPr id="26" name="R5 opt2"/>
          <p:cNvSpPr/>
          <p:nvPr/>
        </p:nvSpPr>
        <p:spPr>
          <a:xfrm>
            <a:off x="9966960" y="5742432"/>
            <a:ext cx="164592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Wrong</a:t>
            </a:r>
            <a:endParaRPr lang="en-US" sz="1600" dirty="0" b="1"/>
          </a:p>
        </p:txBody>
      </p:sp>
      <p:sp>
        <p:nvSpPr>
          <p:cNvPr id="27" name="R5 circle"/>
          <p:cNvSpPr/>
          <p:nvPr/>
        </p:nvSpPr>
        <p:spPr>
          <a:xfrm>
            <a:off x="9838944" y="5687568"/>
            <a:ext cx="190195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Write the tag.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sent the form, ______?</a:t>
            </a:r>
            <a:endParaRPr lang="en-US" sz="14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didn't you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class ID is C forty-two, ______?</a:t>
            </a:r>
            <a:endParaRPr lang="en-US" sz="14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it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email address is leah at mail dot example, ______?</a:t>
            </a:r>
            <a:endParaRPr lang="en-US" sz="14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it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wrote a phone number on line three, ______?</a:t>
            </a:r>
            <a:endParaRPr lang="en-US" sz="14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didn't you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class is on Tuesday at six, ______?</a:t>
            </a:r>
            <a:endParaRPr lang="en-US" sz="14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it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friend isn't in this class, ______?</a:t>
            </a:r>
            <a:endParaRPr lang="en-US" sz="14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she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and wanna are short forms</a:t>
            </a:r>
            <a:endParaRPr lang="en-US" sz="16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use the full forms</a:t>
            </a:r>
            <a:endParaRPr lang="en-US" sz="16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double-check every line.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come straight from work.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sent the form, didn't you?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Actually, it isn't.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chedule: a calendar and an alarm clock [sign: TUE 6:00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negative tag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sent the form,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didn't you?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did.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class is on Tuesday,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it?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it is.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signed the copy,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didn't she?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did.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ignature: a writing hand [sign: SIGN HER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positive tag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on the list,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she?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she isn't.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A,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it?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it isn't.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didn't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initial it,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 you?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Actually, I did.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Form: a clipboard [sign: FORM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do, does, or did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need a copy,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you?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do.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schedule starts at six,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 it?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it does.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Leah checked the spelling,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didn't she?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she did.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Checkbox: a ballot box with a check [sign: YES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correct a detail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 is A,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it?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Actually, it's room C.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class is on Wednesday,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it?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Actually, it's on Tuesday.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Your email ends in mail.example, 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 it?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it does.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sent the form, ______?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didn't you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class is on Tuesday, ______?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it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isn't on the list, ______?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she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need a copy, ______?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you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schedule starts at six, ______?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doesn't it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Leah checked the spelling, ______?</a:t>
            </a:r>
            <a:endParaRPr lang="en-US" sz="16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didn't she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You sent it, didn't you?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7571232" y="31089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did.</a:t>
            </a:r>
            <a:endParaRPr lang="en-US" sz="1600" dirty="0" b="1"/>
          </a:p>
        </p:txBody>
      </p:sp>
      <p:sp>
        <p:nvSpPr>
          <p:cNvPr id="10" name="R1 opt2"/>
          <p:cNvSpPr/>
          <p:nvPr/>
        </p:nvSpPr>
        <p:spPr>
          <a:xfrm>
            <a:off x="9646920" y="31089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didn't.</a:t>
            </a:r>
            <a:endParaRPr lang="en-US" sz="1600" dirty="0" b="1"/>
          </a:p>
        </p:txBody>
      </p:sp>
      <p:sp>
        <p:nvSpPr>
          <p:cNvPr id="11" name="R1 circle"/>
          <p:cNvSpPr/>
          <p:nvPr/>
        </p:nvSpPr>
        <p:spPr>
          <a:xfrm>
            <a:off x="7443216" y="305409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The room is A, ______?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7571232" y="365760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it</a:t>
            </a:r>
            <a:endParaRPr lang="en-US" sz="1600" dirty="0" b="1"/>
          </a:p>
        </p:txBody>
      </p:sp>
      <p:sp>
        <p:nvSpPr>
          <p:cNvPr id="14" name="R2 opt2"/>
          <p:cNvSpPr/>
          <p:nvPr/>
        </p:nvSpPr>
        <p:spPr>
          <a:xfrm>
            <a:off x="9646920" y="365760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it</a:t>
            </a:r>
            <a:endParaRPr lang="en-US" sz="1600" dirty="0" b="1"/>
          </a:p>
        </p:txBody>
      </p:sp>
      <p:sp>
        <p:nvSpPr>
          <p:cNvPr id="15" name="R2 circle"/>
          <p:cNvSpPr/>
          <p:nvPr/>
        </p:nvSpPr>
        <p:spPr>
          <a:xfrm>
            <a:off x="7443216" y="360273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She isn't on the list, ______?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7571232" y="420624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she</a:t>
            </a:r>
            <a:endParaRPr lang="en-US" sz="1600" dirty="0" b="1"/>
          </a:p>
        </p:txBody>
      </p:sp>
      <p:sp>
        <p:nvSpPr>
          <p:cNvPr id="18" name="R3 opt2"/>
          <p:cNvSpPr/>
          <p:nvPr/>
        </p:nvSpPr>
        <p:spPr>
          <a:xfrm>
            <a:off x="9646920" y="420624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she</a:t>
            </a:r>
            <a:endParaRPr lang="en-US" sz="1600" dirty="0" b="1"/>
          </a:p>
        </p:txBody>
      </p:sp>
      <p:sp>
        <p:nvSpPr>
          <p:cNvPr id="19" name="R3 circle"/>
          <p:cNvSpPr/>
          <p:nvPr/>
        </p:nvSpPr>
        <p:spPr>
          <a:xfrm>
            <a:off x="9518904" y="415137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You checked the spelling, ______?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7571232" y="475488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didn't you</a:t>
            </a:r>
            <a:endParaRPr lang="en-US" sz="1600" dirty="0" b="1"/>
          </a:p>
        </p:txBody>
      </p:sp>
      <p:sp>
        <p:nvSpPr>
          <p:cNvPr id="22" name="R4 opt2"/>
          <p:cNvSpPr/>
          <p:nvPr/>
        </p:nvSpPr>
        <p:spPr>
          <a:xfrm>
            <a:off x="9646920" y="475488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 you</a:t>
            </a:r>
            <a:endParaRPr lang="en-US" sz="1600" dirty="0" b="1"/>
          </a:p>
        </p:txBody>
      </p:sp>
      <p:sp>
        <p:nvSpPr>
          <p:cNvPr id="23" name="R4 circle"/>
          <p:cNvSpPr/>
          <p:nvPr/>
        </p:nvSpPr>
        <p:spPr>
          <a:xfrm>
            <a:off x="7443216" y="470001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The class ID is C forty-two, ______?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7571232" y="530352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it</a:t>
            </a:r>
            <a:endParaRPr lang="en-US" sz="1600" dirty="0" b="1"/>
          </a:p>
        </p:txBody>
      </p:sp>
      <p:sp>
        <p:nvSpPr>
          <p:cNvPr id="26" name="R5 opt2"/>
          <p:cNvSpPr/>
          <p:nvPr/>
        </p:nvSpPr>
        <p:spPr>
          <a:xfrm>
            <a:off x="9646920" y="530352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it</a:t>
            </a:r>
            <a:endParaRPr lang="en-US" sz="1600" dirty="0" b="1"/>
          </a:p>
        </p:txBody>
      </p:sp>
      <p:sp>
        <p:nvSpPr>
          <p:cNvPr id="27" name="R5 circle"/>
          <p:cNvSpPr/>
          <p:nvPr/>
        </p:nvSpPr>
        <p:spPr>
          <a:xfrm>
            <a:off x="7443216" y="524865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88543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You didn't sign it, did you?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7571232" y="58521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No, I didn't.</a:t>
            </a:r>
            <a:endParaRPr lang="en-US" sz="1600" dirty="0" b="1"/>
          </a:p>
        </p:txBody>
      </p:sp>
      <p:sp>
        <p:nvSpPr>
          <p:cNvPr id="30" name="R6 opt2"/>
          <p:cNvSpPr/>
          <p:nvPr/>
        </p:nvSpPr>
        <p:spPr>
          <a:xfrm>
            <a:off x="9646920" y="5852160"/>
            <a:ext cx="196596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didn't.</a:t>
            </a:r>
            <a:endParaRPr lang="en-US" sz="1600" dirty="0" b="1"/>
          </a:p>
        </p:txBody>
      </p:sp>
      <p:sp>
        <p:nvSpPr>
          <p:cNvPr id="31" name="R6 circle"/>
          <p:cNvSpPr/>
          <p:nvPr/>
        </p:nvSpPr>
        <p:spPr>
          <a:xfrm>
            <a:off x="7443216" y="5797296"/>
            <a:ext cx="222199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Correction: a pencil and a cross mark [sign: FIX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didn't.</a:t>
            </a:r>
            <a:endParaRPr lang="en-US" sz="14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Yes, I did.</a:t>
            </a:r>
            <a:endParaRPr lang="en-US" sz="1400" dirty="0" b="1"/>
          </a:p>
        </p:txBody>
      </p:sp>
      <p:sp>
        <p:nvSpPr>
          <p:cNvPr id="26" name="Bad 2"/>
          <p:cNvSpPr/>
          <p:nvPr/>
        </p:nvSpPr>
        <p:spPr>
          <a:xfrm>
            <a:off x="914400" y="2987399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sent it, did you?</a:t>
            </a:r>
            <a:endParaRPr lang="en-US" sz="1400" dirty="0"/>
          </a:p>
        </p:txBody>
      </p:sp>
      <p:sp>
        <p:nvSpPr>
          <p:cNvPr id="27" name="Good 2"/>
          <p:cNvSpPr/>
          <p:nvPr/>
        </p:nvSpPr>
        <p:spPr>
          <a:xfrm>
            <a:off x="4800600" y="2987399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sent it,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didn't you?</a:t>
            </a:r>
            <a:endParaRPr lang="en-US" sz="14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505917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class is on Tuesday, doesn't it?</a:t>
            </a:r>
            <a:endParaRPr lang="en-US" sz="1400" dirty="0"/>
          </a:p>
        </p:txBody>
      </p:sp>
      <p:sp>
        <p:nvSpPr>
          <p:cNvPr id="29" name="Good 3"/>
          <p:cNvSpPr/>
          <p:nvPr/>
        </p:nvSpPr>
        <p:spPr>
          <a:xfrm>
            <a:off x="4800600" y="3505917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class is on Tuesday,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isn't it?</a:t>
            </a:r>
            <a:endParaRPr lang="en-US" sz="14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024436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isn't on the list, isn't she?</a:t>
            </a:r>
            <a:endParaRPr lang="en-US" sz="1400" dirty="0"/>
          </a:p>
        </p:txBody>
      </p:sp>
      <p:sp>
        <p:nvSpPr>
          <p:cNvPr id="31" name="Good 4"/>
          <p:cNvSpPr/>
          <p:nvPr/>
        </p:nvSpPr>
        <p:spPr>
          <a:xfrm>
            <a:off x="4800600" y="4024436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isn't on the list,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she?</a:t>
            </a:r>
            <a:endParaRPr lang="en-US" sz="1400" dirty="0" b="1"/>
          </a:p>
        </p:txBody>
      </p:sp>
      <p:sp>
        <p:nvSpPr>
          <p:cNvPr id="32" name="Bad 5"/>
          <p:cNvSpPr/>
          <p:nvPr/>
        </p:nvSpPr>
        <p:spPr>
          <a:xfrm>
            <a:off x="914400" y="4542954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need a copy, doesn't you?</a:t>
            </a:r>
            <a:endParaRPr lang="en-US" sz="1400" dirty="0"/>
          </a:p>
        </p:txBody>
      </p:sp>
      <p:sp>
        <p:nvSpPr>
          <p:cNvPr id="33" name="Good 5"/>
          <p:cNvSpPr/>
          <p:nvPr/>
        </p:nvSpPr>
        <p:spPr>
          <a:xfrm>
            <a:off x="4800600" y="4542954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need a copy,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you?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Double-check: two check marks [sign: AGAI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Model: It's Tuesday, isn't it?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| Detail | Copy A | Copy B | |---|---|---| | Day | Tuesday | Wednesday | | Time | 6:00 |</a:t>
            </a:r>
            <a:endParaRPr lang="en-US" sz="1900" dirty="0" b="0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Signature: a writing hand [sign: SIGN HER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together.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has four details.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has four details.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has four details.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has four details.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Checkbox: a ballot box with a check [sign: YES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says two sentences.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says two sentences.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page.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35844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Leah's class ID?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468112" y="2525573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C-42</a:t>
            </a:r>
            <a:endParaRPr lang="en-US" sz="14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35844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day and time is the class?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468112" y="3311957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Tuesday at 6:00</a:t>
            </a:r>
            <a:endParaRPr lang="en-US" sz="14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35844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room is on the form?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468112" y="4098341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Room C</a:t>
            </a:r>
            <a:endParaRPr lang="en-US" sz="14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35844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room is in the email?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468112" y="4884725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Room A</a:t>
            </a:r>
            <a:endParaRPr lang="en-US" sz="14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35844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mismatch?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468112" y="5671109"/>
            <a:ext cx="21031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room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Copy: two pages [sign: COPY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Confirm two details about this class.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Name: Date: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of them are tags.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this page to your teacher.</a:t>
            </a:r>
            <a:endParaRPr lang="en-US" sz="15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20–25 minutes.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Add the tag.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confirmation email (Read &amp; Write C). Read it one more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Confirm two details with a friend or a family member. Use a tag.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 (said / told). Report one sentence from Lesson 6. Use said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5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Initial: a writing hand and a memo [sign: L.P.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7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36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add a tag to a statement I think is true.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answer a tag with a short yes or no.</a:t>
            </a:r>
            <a:endParaRPr lang="en-US" sz="2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correct a wrong detail politely.</a:t>
            </a:r>
            <a:endParaRPr lang="en-US" sz="2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Mr. Ortiz and Leah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(coming soon): synthetic voices made with Chatterbox TTS (MIT License), cloned from short synthetic reference clips made with Kokoro-82M (Apache License 2.0). No recordings of real people. Each file will carry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5 Lesson 7: You Sent It, Didn't You?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