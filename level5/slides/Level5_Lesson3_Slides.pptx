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939" r:id="rId33"/>
    <p:sldId id="940" r:id="rId34"/>
    <p:sldId id="941" r:id="rId35"/>
    <p:sldId id="942" r:id="rId36"/>
    <p:sldId id="943" r:id="rId31"/>
    <p:sldId id="944" r:id="rId30"/>
    <p:sldId id="945" r:id="rId29"/>
    <p:sldId id="946" r:id="rId28"/>
    <p:sldId id="947" r:id="rId27"/>
    <p:sldId id="948" r:id="rId20"/>
    <p:sldId id="949" r:id="rId18"/>
    <p:sldId id="950" r:id="rId17"/>
    <p:sldId id="951" r:id="rId16"/>
    <p:sldId id="952" r:id="rId14"/>
    <p:sldId id="953" r:id="rId13"/>
    <p:sldId id="954" r:id="rId12"/>
    <p:sldId id="955" r:id="rId11"/>
    <p:sldId id="956" r:id="rId10"/>
    <p:sldId id="957" r:id="rId8"/>
    <p:sldId id="958" r:id="rId7"/>
    <p:sldId id="959" r:id="rId6"/>
    <p:sldId id="960" r:id="rId5"/>
    <p:sldId id="961" r:id="rId4"/>
    <p:sldId id="962" r:id="rId3"/>
    <p:sldId id="963" r:id="rId57"/>
    <p:sldId id="964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2.xml"/><Relationship Id="rId3" Type="http://schemas.openxmlformats.org/officeDocument/2006/relationships/slide" Target="slides/slide50.xml"/><Relationship Id="rId4" Type="http://schemas.openxmlformats.org/officeDocument/2006/relationships/slide" Target="slides/slide49.xml"/><Relationship Id="rId5" Type="http://schemas.openxmlformats.org/officeDocument/2006/relationships/slide" Target="slides/slide48.xml"/><Relationship Id="rId6" Type="http://schemas.openxmlformats.org/officeDocument/2006/relationships/slide" Target="slides/slide47.xml"/><Relationship Id="rId7" Type="http://schemas.openxmlformats.org/officeDocument/2006/relationships/slide" Target="slides/slide46.xml"/><Relationship Id="rId8" Type="http://schemas.openxmlformats.org/officeDocument/2006/relationships/slide" Target="slides/slide45.xml"/><Relationship Id="rId10" Type="http://schemas.openxmlformats.org/officeDocument/2006/relationships/slide" Target="slides/slide44.xml"/><Relationship Id="rId11" Type="http://schemas.openxmlformats.org/officeDocument/2006/relationships/slide" Target="slides/slide43.xml"/><Relationship Id="rId12" Type="http://schemas.openxmlformats.org/officeDocument/2006/relationships/slide" Target="slides/slide42.xml"/><Relationship Id="rId13" Type="http://schemas.openxmlformats.org/officeDocument/2006/relationships/slide" Target="slides/slide41.xml"/><Relationship Id="rId14" Type="http://schemas.openxmlformats.org/officeDocument/2006/relationships/slide" Target="slides/slide40.xml"/><Relationship Id="rId16" Type="http://schemas.openxmlformats.org/officeDocument/2006/relationships/slide" Target="slides/slide39.xml"/><Relationship Id="rId17" Type="http://schemas.openxmlformats.org/officeDocument/2006/relationships/slide" Target="slides/slide38.xml"/><Relationship Id="rId18" Type="http://schemas.openxmlformats.org/officeDocument/2006/relationships/slide" Target="slides/slide37.xml"/><Relationship Id="rId20" Type="http://schemas.openxmlformats.org/officeDocument/2006/relationships/slide" Target="slides/slide3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35.xml"/><Relationship Id="rId28" Type="http://schemas.openxmlformats.org/officeDocument/2006/relationships/slide" Target="slides/slide34.xml"/><Relationship Id="rId29" Type="http://schemas.openxmlformats.org/officeDocument/2006/relationships/slide" Target="slides/slide33.xml"/><Relationship Id="rId30" Type="http://schemas.openxmlformats.org/officeDocument/2006/relationships/slide" Target="slides/slide32.xml"/><Relationship Id="rId31" Type="http://schemas.openxmlformats.org/officeDocument/2006/relationships/slide" Target="slides/slide31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57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the listening audio for this lesson (about 2:10)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and homework. Never skip the exit ticket.</a:t>
            </a:r>
          </a:p>
          <a:p>
            <a:r>
              <a:t>Write about one mild regret.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7:18–7:25 · Read &amp; Write.</a:t>
            </a:r>
          </a:p>
          <a:p>
            <a:r>
              <a:t>Click to show each answer: 1 The workshop sign-up • 2 I wish I knew the deadline • 3 I wish I had asked the tutor • 4 If I had asked, I would have known • 5 Ask on the first day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1.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says a mild regret from class. B says I wish I had… and Next time I will…. Then switch. ---</a:t>
            </a:r>
          </a:p>
          <a:p>
            <a:r>
              <a:t>Break · 6:45–7:00.</a:t>
            </a:r>
          </a:p>
          <a:p>
            <a:r>
              <a:t>Lesson plan: Step 4: Pair check.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Don't say, then Say. Learners try first. Then click.</a:t>
            </a:r>
          </a:p>
          <a:p>
            <a:r>
              <a:t>Lesson plan: Grammar: Common mistakes.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knew • 2 had asked • 3 had asked • 4 should have asked • 5 will ask • 6 would ask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knew • 2 had • 3 would • 4 should • 5 will • 6 had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4: should have, and next time. Each click shows the answer side.</a:t>
            </a:r>
          </a:p>
          <a:p>
            <a:r>
              <a:t>Lesson plan: Step 4; Grammar Box 4.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3: one different past. Each click shows the answer side.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2: a wish about the past. Each click shows the answer side.</a:t>
            </a:r>
          </a:p>
          <a:p>
            <a:r>
              <a:t>Lesson plan: Step 4; Grammar Box 2.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1: a wish about now. Each click shows the answer side.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gonna and wanna are short forms. This listening uses the full forms. Say each line two times.</a:t>
            </a:r>
          </a:p>
          <a:p>
            <a:r>
              <a:t>Lesson plan: Step 3: Hear it, say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wish I had • 2 would have • 3 wish I had • 4 would have • 5 would have • 6 wish I had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asked the tutor • 2 set an alarm • 3 ask on the first day • 4 would have known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b.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6:12–6:32 · Listening. Play 1 is Task A. Play 2 is Tasks B and C. A third play is fine.</a:t>
            </a:r>
          </a:p>
          <a:p>
            <a:r>
              <a:t>After class, Alicia and Chris talk about a workshop they signed up for late.</a:t>
            </a:r>
          </a:p>
          <a:p>
            <a:r>
              <a:t>The script says going to and want to. Learners only need to recognize gonna and wanna.</a:t>
            </a:r>
          </a:p>
          <a:p>
            <a:r>
              <a:t>Lesson plan: Step 3;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  <a:p>
            <a:r>
              <a:t>Listening script (the audio is coming soon; until then, read it aloud with a volunteer at a normal, friendly speed):</a:t>
            </a:r>
          </a:p>
          <a:p>
            <a:r>
              <a:t>Narrator: Lesson three. After class, Alicia and Chris talk about a workshop. They signed up late.</a:t>
            </a:r>
          </a:p>
          <a:p>
            <a:r>
              <a:t>Alicia: I want to take the workshop, but the sign-up sheet was already full.</a:t>
            </a:r>
          </a:p>
          <a:p>
            <a:r>
              <a:t>Chris: I am going to be honest. I wish I had set an alarm.</a:t>
            </a:r>
          </a:p>
          <a:p>
            <a:r>
              <a:t>Alicia: I wish I knew the deadline sooner. I wish I had asked the tutor on Monday.</a:t>
            </a:r>
          </a:p>
          <a:p>
            <a:r>
              <a:t>Chris: If you had asked, you would have known.</a:t>
            </a:r>
          </a:p>
          <a:p>
            <a:r>
              <a:t>Alicia: Yes. If I had asked, I would have known. I should have asked earlier.</a:t>
            </a:r>
          </a:p>
          <a:p>
            <a:r>
              <a:t>Chris: I wish I had put a reminder on my calendar. The alarm on my phone was off.</a:t>
            </a:r>
          </a:p>
          <a:p>
            <a:r>
              <a:t>Alicia: Next time I will ask on the first day.</a:t>
            </a:r>
          </a:p>
          <a:p>
            <a:r>
              <a:t>Chris: I am going to put the reminder on the calendar tonight.</a:t>
            </a:r>
          </a:p>
          <a:p>
            <a:r>
              <a:t>Alicia: If I had another chance, I would ask on the first day. I would not wait.</a:t>
            </a:r>
          </a:p>
          <a:p>
            <a:r>
              <a:t>Chris: If I had set the alarm, I would have arrived on time to sign up.</a:t>
            </a:r>
          </a:p>
          <a:p>
            <a:r>
              <a:t>Alicia: We can still practice. I want to bring one question next week.</a:t>
            </a:r>
          </a:p>
          <a:p>
            <a:r>
              <a:t>Chris: Good. Let us ask at the help desk if we are not sure which choice to make.</a:t>
            </a:r>
          </a:p>
          <a:p>
            <a:r>
              <a:t>Alicia: I am going to write the next step before I leave.</a:t>
            </a:r>
          </a:p>
          <a:p>
            <a:r>
              <a:t>Narrator: They choose a next step. The regret stays small. It is only about the sign-up.</a:t>
            </a:r>
          </a:p>
          <a:p>
            <a:r>
              <a:t>Narrator: That's the end of the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answers are hidden. Ask, then click.</a:t>
            </a:r>
          </a:p>
          <a:p>
            <a:r>
              <a:t>1. yes</a:t>
            </a:r>
          </a:p>
          <a:p>
            <a:r>
              <a:t>2. an alarm</a:t>
            </a:r>
          </a:p>
          <a:p>
            <a:r>
              <a:t>3. the help desk</a:t>
            </a:r>
          </a:p>
          <a:p>
            <a:r>
              <a:t>Lesson plan: Step 2: Check the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points to a picture. B names it and uses it in one sentence. Then switch.</a:t>
            </a:r>
          </a:p>
          <a:p>
            <a:r>
              <a:t>Lesson plan: Step 2; New Words page; Partner game.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6:06–6:12 · New Words.</a:t>
            </a:r>
          </a:p>
          <a:p>
            <a:r>
              <a:t>Point to each picture. Learners repeat. ★ = most important.</a:t>
            </a:r>
          </a:p>
          <a:p>
            <a:r>
              <a:t>Lesson plan: Step 2;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Read the three lines under Today you will.</a:t>
            </a:r>
          </a:p>
          <a:p>
            <a:r>
              <a:t>Lesson plan: Topic; At a glance: Objectives.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6:00–6:06 · Opening Talk.</a:t>
            </a:r>
          </a:p>
          <a:p>
            <a:r>
              <a:t>Work with a partner.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shows the next card.</a:t>
            </a:r>
          </a:p>
          <a:p>
            <a:r>
              <a:t>A asks. B answers. Then switch.</a:t>
            </a:r>
          </a:p>
          <a:p>
            <a:r>
              <a:t>Lesson plan: Step 1; Opening Talk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three Now you can lines.</a:t>
            </a:r>
          </a:p>
          <a:p>
            <a:r>
              <a:t>Homework is about 20–25 minutes. Bring it next week.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6" Type="http://schemas.openxmlformats.org/officeDocument/2006/relationships/image" Target="../media/image17.png"/><Relationship Id="rId7" Type="http://schemas.openxmlformats.org/officeDocument/2006/relationships/image" Target="../media/image23.png"/><Relationship Id="rId8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Wish: a glowing star [sign: I WISH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3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Wish I Had Asked</a:t>
            </a:r>
            <a:endParaRPr lang="en-US" sz="40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say I wish I had… for a past regret.</a:t>
            </a:r>
            <a:endParaRPr lang="en-US" sz="2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say I wish I knew… for something I want now.</a:t>
            </a:r>
            <a:endParaRPr lang="en-US" sz="2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say one If I had…, I would have… sentence.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things.</a:t>
            </a:r>
            <a:endParaRPr lang="en-US" sz="2000" dirty="0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713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6883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I wish I had… for a past regret.</a:t>
            </a:r>
            <a:endParaRPr lang="en-US" sz="16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57500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57500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90876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57500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I wish I knew… for something I want now.</a:t>
            </a:r>
            <a:endParaRPr lang="en-US" sz="16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9100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79546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79546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712921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79546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one If I had…, I would have… sentence.</a:t>
            </a:r>
            <a:endParaRPr lang="en-US" sz="16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81304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01591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0159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34967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01591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 I will do next time.</a:t>
            </a:r>
            <a:endParaRPr lang="en-US" sz="16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350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Regret: a pensive face [sign: REGRE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Ask about</a:t>
            </a:r>
            <a:endParaRPr lang="en-US" sz="18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last week. Then switch.</a:t>
            </a:r>
            <a:endParaRPr lang="en-US" sz="1800" dirty="0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read one sentence from</a:t>
            </a:r>
            <a:endParaRPr lang="en-US" sz="18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Lesson 2 note.</a:t>
            </a:r>
            <a:endParaRPr lang="en-US" sz="18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Ask about last week. Then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switch.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had you already finished before class?</a:t>
            </a:r>
            <a:endParaRPr lang="en-US" sz="16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one earlier event with had.</a:t>
            </a:r>
            <a:endParaRPr lang="en-US" sz="16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the later event with by the time.</a:t>
            </a:r>
            <a:endParaRPr lang="en-US" sz="16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read one sentence from your Lesson 2 note.</a:t>
            </a:r>
            <a:endParaRPr lang="en-US" sz="16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Wish: a glowing star [sign: I WISH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wish</a:t>
            </a:r>
            <a:endParaRPr lang="en-US" sz="2000" dirty="0" b="1"/>
          </a:p>
        </p:txBody>
      </p:sp>
      <p:pic>
        <p:nvPicPr>
          <p:cNvPr id="19" name="Word picture 2" descr="Regret: a pensive face [sign: REGRET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regret</a:t>
            </a:r>
            <a:endParaRPr lang="en-US" sz="2000" dirty="0" b="1"/>
          </a:p>
        </p:txBody>
      </p:sp>
      <p:pic>
        <p:nvPicPr>
          <p:cNvPr id="21" name="Word picture 3" descr="Calendar: a calendar [sign: DATE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calendar</a:t>
            </a:r>
            <a:endParaRPr lang="en-US" sz="2000" dirty="0" b="1"/>
          </a:p>
        </p:txBody>
      </p:sp>
      <p:pic>
        <p:nvPicPr>
          <p:cNvPr id="23" name="Word picture 4" descr="Reminder: a pushpin and a memo with a pencil [sign: REMINDER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reminder</a:t>
            </a:r>
            <a:endParaRPr lang="en-US" sz="2000" dirty="0" b="1"/>
          </a:p>
        </p:txBody>
      </p:sp>
      <p:pic>
        <p:nvPicPr>
          <p:cNvPr id="25" name="Word picture 5" descr="Alarm: an alarm clock [sign: ALARM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alarm</a:t>
            </a:r>
            <a:endParaRPr lang="en-US" sz="2000" dirty="0" b="1"/>
          </a:p>
        </p:txBody>
      </p:sp>
      <p:pic>
        <p:nvPicPr>
          <p:cNvPr id="27" name="Word picture 6" descr="Sign-up sheet: a clipboard and a writing hand [sign: SIGN-UP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sign-up sheet</a:t>
            </a:r>
            <a:endParaRPr lang="en-US" sz="15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Point and wish</a:t>
            </a:r>
            <a:endParaRPr lang="en-US" sz="2200" dirty="0" b="1"/>
          </a:p>
        </p:txBody>
      </p:sp>
      <p:pic>
        <p:nvPicPr>
          <p:cNvPr id="17" name="Word picture 1" descr="Tutor: a teacher at a chalkboard [sign: TUTOR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tutor</a:t>
            </a:r>
            <a:endParaRPr lang="en-US" sz="2000" dirty="0" b="1"/>
          </a:p>
        </p:txBody>
      </p:sp>
      <p:pic>
        <p:nvPicPr>
          <p:cNvPr id="19" name="Word picture 2" descr="Practice: a memo with a pencil and a second pencil [sign: PRACTICE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practice</a:t>
            </a:r>
            <a:endParaRPr lang="en-US" sz="2000" dirty="0" b="1"/>
          </a:p>
        </p:txBody>
      </p:sp>
      <p:pic>
        <p:nvPicPr>
          <p:cNvPr id="21" name="Word picture 3" descr="Question: a question mark [sign: QUESTION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question</a:t>
            </a:r>
            <a:endParaRPr lang="en-US" sz="2000" dirty="0" b="1"/>
          </a:p>
        </p:txBody>
      </p:sp>
      <p:pic>
        <p:nvPicPr>
          <p:cNvPr id="23" name="Word picture 4" descr="Choice: a left arrow and a right arrow [sign: A OR B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choice</a:t>
            </a:r>
            <a:endParaRPr lang="en-US" sz="2000" dirty="0" b="1"/>
          </a:p>
        </p:txBody>
      </p:sp>
      <p:pic>
        <p:nvPicPr>
          <p:cNvPr id="25" name="Word picture 5" descr="Help desk: a person and a phone [sign: HELP DESK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help desk</a:t>
            </a:r>
            <a:endParaRPr lang="en-US" sz="2000" dirty="0" b="1"/>
          </a:p>
        </p:txBody>
      </p:sp>
      <p:pic>
        <p:nvPicPr>
          <p:cNvPr id="27" name="Word picture 6" descr="Next time: a calendar and a right arrow [sign: NEXT TIME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next time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calendar a list of dates?</a:t>
            </a:r>
            <a:endParaRPr lang="en-US" sz="1600" dirty="0" b="1"/>
          </a:p>
        </p:txBody>
      </p:sp>
      <p:pic>
        <p:nvPicPr>
          <p:cNvPr id="101" name="R1 pic" descr="Calendar: a calendar [sign: DATE]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can wake you up?</a:t>
            </a:r>
            <a:endParaRPr lang="en-US" sz="1600" dirty="0" b="1"/>
          </a:p>
        </p:txBody>
      </p:sp>
      <p:pic>
        <p:nvPicPr>
          <p:cNvPr id="102" name="R2 pic" descr="Alarm: an alarm clock [sign: ALARM]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can you ask for help?</a:t>
            </a:r>
            <a:endParaRPr lang="en-US" sz="1600" dirty="0" b="1"/>
          </a:p>
        </p:txBody>
      </p:sp>
      <p:pic>
        <p:nvPicPr>
          <p:cNvPr id="103" name="R3 pic" descr="Help desk: a person and a phone [sign: HELP DESK]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 alarm</a:t>
            </a:r>
            <a:endParaRPr lang="en-US" sz="28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help desk</a:t>
            </a:r>
            <a:endParaRPr lang="en-US" sz="22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After class, Alicia and Chris talk about a workshop they signed up for late.</a:t>
            </a:r>
            <a:endParaRPr lang="en-US" sz="18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Calendar: a calendar [sign: DAT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Narrator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Alicia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Chris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 do they regret?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| 6:12–6:32 | Listening.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(about 2:10): coming soon.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 do they regret?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45389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2139696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They lost a book</a:t>
            </a:r>
            <a:endParaRPr lang="en-US" sz="1300" dirty="0" b="1"/>
          </a:p>
        </p:txBody>
      </p:sp>
      <p:sp>
        <p:nvSpPr>
          <p:cNvPr id="10" name="R1 opt2"/>
          <p:cNvSpPr/>
          <p:nvPr/>
        </p:nvSpPr>
        <p:spPr>
          <a:xfrm>
            <a:off x="5367528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They signed up for the workshop late</a:t>
            </a:r>
            <a:endParaRPr lang="en-US" sz="1300" dirty="0" b="1"/>
          </a:p>
        </p:txBody>
      </p:sp>
      <p:sp>
        <p:nvSpPr>
          <p:cNvPr id="11" name="R1 opt3"/>
          <p:cNvSpPr/>
          <p:nvPr/>
        </p:nvSpPr>
        <p:spPr>
          <a:xfrm>
            <a:off x="8595360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They want to leave the class</a:t>
            </a:r>
            <a:endParaRPr lang="en-US" sz="1300" dirty="0" b="1"/>
          </a:p>
        </p:txBody>
      </p:sp>
      <p:sp>
        <p:nvSpPr>
          <p:cNvPr id="12" name="R1 circle"/>
          <p:cNvSpPr/>
          <p:nvPr/>
        </p:nvSpPr>
        <p:spPr>
          <a:xfrm>
            <a:off x="5239512" y="3054096"/>
            <a:ext cx="34107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Listen again. Circle the answers.</a:t>
            </a:r>
            <a:endParaRPr lang="en-US" sz="16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4480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1. Alicia's wish</a:t>
            </a:r>
            <a:endParaRPr lang="en-US" sz="1300" dirty="0"/>
          </a:p>
        </p:txBody>
      </p:sp>
      <p:sp>
        <p:nvSpPr>
          <p:cNvPr id="9" name="R1 opt1"/>
          <p:cNvSpPr/>
          <p:nvPr/>
        </p:nvSpPr>
        <p:spPr>
          <a:xfrm>
            <a:off x="5166360" y="3108960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asked the tutor</a:t>
            </a:r>
            <a:endParaRPr lang="en-US" sz="1200" dirty="0" b="1"/>
          </a:p>
        </p:txBody>
      </p:sp>
      <p:sp>
        <p:nvSpPr>
          <p:cNvPr id="10" name="R1 opt2"/>
          <p:cNvSpPr/>
          <p:nvPr/>
        </p:nvSpPr>
        <p:spPr>
          <a:xfrm>
            <a:off x="7452360" y="3108960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left the class</a:t>
            </a:r>
            <a:endParaRPr lang="en-US" sz="1200" dirty="0" b="1"/>
          </a:p>
        </p:txBody>
      </p:sp>
      <p:sp>
        <p:nvSpPr>
          <p:cNvPr id="11" name="R1 opt3"/>
          <p:cNvSpPr/>
          <p:nvPr/>
        </p:nvSpPr>
        <p:spPr>
          <a:xfrm>
            <a:off x="9738360" y="3108960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skipped practice</a:t>
            </a:r>
            <a:endParaRPr lang="en-US" sz="1200" dirty="0" b="1"/>
          </a:p>
        </p:txBody>
      </p:sp>
      <p:sp>
        <p:nvSpPr>
          <p:cNvPr id="12" name="R1 circle"/>
          <p:cNvSpPr/>
          <p:nvPr/>
        </p:nvSpPr>
        <p:spPr>
          <a:xfrm>
            <a:off x="5038344" y="3054096"/>
            <a:ext cx="24963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3" name="R2 stmt"/>
          <p:cNvSpPr/>
          <p:nvPr/>
        </p:nvSpPr>
        <p:spPr>
          <a:xfrm>
            <a:off x="502920" y="3913632"/>
            <a:ext cx="4480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2. Chris's wish</a:t>
            </a:r>
            <a:endParaRPr lang="en-US" sz="1300" dirty="0"/>
          </a:p>
        </p:txBody>
      </p:sp>
      <p:sp>
        <p:nvSpPr>
          <p:cNvPr id="14" name="R2 opt1"/>
          <p:cNvSpPr/>
          <p:nvPr/>
        </p:nvSpPr>
        <p:spPr>
          <a:xfrm>
            <a:off x="5166360" y="3913632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set an alarm</a:t>
            </a:r>
            <a:endParaRPr lang="en-US" sz="1200" dirty="0" b="1"/>
          </a:p>
        </p:txBody>
      </p:sp>
      <p:sp>
        <p:nvSpPr>
          <p:cNvPr id="15" name="R2 opt2"/>
          <p:cNvSpPr/>
          <p:nvPr/>
        </p:nvSpPr>
        <p:spPr>
          <a:xfrm>
            <a:off x="7452360" y="3913632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changed jobs</a:t>
            </a:r>
            <a:endParaRPr lang="en-US" sz="1200" dirty="0" b="1"/>
          </a:p>
        </p:txBody>
      </p:sp>
      <p:sp>
        <p:nvSpPr>
          <p:cNvPr id="16" name="R2 opt3"/>
          <p:cNvSpPr/>
          <p:nvPr/>
        </p:nvSpPr>
        <p:spPr>
          <a:xfrm>
            <a:off x="9738360" y="3913632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missed the class</a:t>
            </a:r>
            <a:endParaRPr lang="en-US" sz="1200" dirty="0" b="1"/>
          </a:p>
        </p:txBody>
      </p:sp>
      <p:sp>
        <p:nvSpPr>
          <p:cNvPr id="17" name="R2 circle"/>
          <p:cNvSpPr/>
          <p:nvPr/>
        </p:nvSpPr>
        <p:spPr>
          <a:xfrm>
            <a:off x="5038344" y="3858768"/>
            <a:ext cx="24963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8" name="R3 stmt"/>
          <p:cNvSpPr/>
          <p:nvPr/>
        </p:nvSpPr>
        <p:spPr>
          <a:xfrm>
            <a:off x="502920" y="4718304"/>
            <a:ext cx="4480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3. Next time Alicia will</a:t>
            </a:r>
            <a:endParaRPr lang="en-US" sz="1300" dirty="0"/>
          </a:p>
        </p:txBody>
      </p:sp>
      <p:sp>
        <p:nvSpPr>
          <p:cNvPr id="19" name="R3 opt1"/>
          <p:cNvSpPr/>
          <p:nvPr/>
        </p:nvSpPr>
        <p:spPr>
          <a:xfrm>
            <a:off x="5166360" y="4718304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on the first day</a:t>
            </a:r>
            <a:endParaRPr lang="en-US" sz="1200" dirty="0" b="1"/>
          </a:p>
        </p:txBody>
      </p:sp>
      <p:sp>
        <p:nvSpPr>
          <p:cNvPr id="20" name="R3 opt2"/>
          <p:cNvSpPr/>
          <p:nvPr/>
        </p:nvSpPr>
        <p:spPr>
          <a:xfrm>
            <a:off x="7452360" y="4718304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wait a year</a:t>
            </a:r>
            <a:endParaRPr lang="en-US" sz="1200" dirty="0" b="1"/>
          </a:p>
        </p:txBody>
      </p:sp>
      <p:sp>
        <p:nvSpPr>
          <p:cNvPr id="21" name="R3 opt3"/>
          <p:cNvSpPr/>
          <p:nvPr/>
        </p:nvSpPr>
        <p:spPr>
          <a:xfrm>
            <a:off x="9738360" y="4718304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stay quiet</a:t>
            </a:r>
            <a:endParaRPr lang="en-US" sz="1200" dirty="0" b="1"/>
          </a:p>
        </p:txBody>
      </p:sp>
      <p:sp>
        <p:nvSpPr>
          <p:cNvPr id="22" name="R3 circle"/>
          <p:cNvSpPr/>
          <p:nvPr/>
        </p:nvSpPr>
        <p:spPr>
          <a:xfrm>
            <a:off x="5038344" y="4663440"/>
            <a:ext cx="24963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R4 stmt"/>
          <p:cNvSpPr/>
          <p:nvPr/>
        </p:nvSpPr>
        <p:spPr>
          <a:xfrm>
            <a:off x="502920" y="5522976"/>
            <a:ext cx="44805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4. The if sentence uses</a:t>
            </a:r>
            <a:endParaRPr lang="en-US" sz="1300" dirty="0"/>
          </a:p>
        </p:txBody>
      </p:sp>
      <p:sp>
        <p:nvSpPr>
          <p:cNvPr id="24" name="R4 opt1"/>
          <p:cNvSpPr/>
          <p:nvPr/>
        </p:nvSpPr>
        <p:spPr>
          <a:xfrm>
            <a:off x="5166360" y="5522976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have known</a:t>
            </a:r>
            <a:endParaRPr lang="en-US" sz="1200" dirty="0" b="1"/>
          </a:p>
        </p:txBody>
      </p:sp>
      <p:sp>
        <p:nvSpPr>
          <p:cNvPr id="25" name="R4 opt2"/>
          <p:cNvSpPr/>
          <p:nvPr/>
        </p:nvSpPr>
        <p:spPr>
          <a:xfrm>
            <a:off x="7452360" y="5522976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 know</a:t>
            </a:r>
            <a:endParaRPr lang="en-US" sz="1200" dirty="0" b="1"/>
          </a:p>
        </p:txBody>
      </p:sp>
      <p:sp>
        <p:nvSpPr>
          <p:cNvPr id="26" name="R4 opt3"/>
          <p:cNvSpPr/>
          <p:nvPr/>
        </p:nvSpPr>
        <p:spPr>
          <a:xfrm>
            <a:off x="9738360" y="5522976"/>
            <a:ext cx="22402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knew</a:t>
            </a:r>
            <a:endParaRPr lang="en-US" sz="1200" dirty="0" b="1"/>
          </a:p>
        </p:txBody>
      </p:sp>
      <p:sp>
        <p:nvSpPr>
          <p:cNvPr id="27" name="R4 circle"/>
          <p:cNvSpPr/>
          <p:nvPr/>
        </p:nvSpPr>
        <p:spPr>
          <a:xfrm>
            <a:off x="5038344" y="5468112"/>
            <a:ext cx="24963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 Write wish I h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Alicia: "I ______ asked the tutor."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6016752" y="2222144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wish I had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"If I had asked, I ______ known the date."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6016752" y="2950312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have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Chris: "I ______ set an alarm."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6016752" y="367847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wish I had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"If I had set one, I ______ arrived on time."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6016752" y="4406646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have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Alicia: "Then I ______ known."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6016752" y="513481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have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Chris: "I ______ put a reminder on the calendar."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6016752" y="5862980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wish I had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and wanna are short forms</a:t>
            </a:r>
            <a:endParaRPr lang="en-US" sz="16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use the full forms</a:t>
            </a:r>
            <a:endParaRPr lang="en-US" sz="16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are short forms. This listening uses the full forms.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say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ask the tutor.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am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sign up on the first day.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wish I had asked.</a:t>
            </a:r>
            <a:endParaRPr lang="en-US" sz="18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had asked, I would have known.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Reminder: a pushpin and a memo with a pencil [sign: REMINDER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wish about now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WISH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MEANING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wish I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knew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deadline.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wish about now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wish I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reminder.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 means owned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wish I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the list.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were, for now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Alarm: an alarm clock [sign: ALARM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wish about the past</a:t>
            </a:r>
            <a:endParaRPr lang="en-US" sz="20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WISH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MEANING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wish I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 asked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tutor.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past regret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wish I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 set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 alarm.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 + participle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wish we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 signed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up on Monday.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sign-up is finished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Sign-up sheet: a clipboard and a writing hand [sign: SIGN-UP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 different past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RESULT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 asked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I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have known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 pattern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he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 set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 alarm, he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have arrived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time.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same pattern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we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 read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reminder, we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have signed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up.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same pattern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Tutor: a teacher at a chalkboard [sign: TUTOR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 have, and next time</a:t>
            </a:r>
            <a:endParaRPr lang="en-US" sz="20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NEXT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 have asked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earlier.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same idea as the wish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Next time I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 ask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the first day.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plan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another chance, I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ask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next time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wish I ______ the deadline.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6016752" y="2222144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knew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wish I ______ asked the tutor.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6016752" y="2950312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had asked, I ______ have known.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6016752" y="367847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______ have asked earlier.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6016752" y="4406646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Next time I ______ ask on the first day.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6016752" y="513481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wish I ______ a reminder.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6016752" y="5862980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1. I wish I</a:t>
            </a:r>
            <a:endParaRPr lang="en-US" sz="1500" dirty="0"/>
          </a:p>
        </p:txBody>
      </p:sp>
      <p:sp>
        <p:nvSpPr>
          <p:cNvPr id="9" name="R1 opt1"/>
          <p:cNvSpPr/>
          <p:nvPr/>
        </p:nvSpPr>
        <p:spPr>
          <a:xfrm>
            <a:off x="7571232" y="310896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knew</a:t>
            </a:r>
            <a:endParaRPr lang="en-US" sz="1600" dirty="0" b="1"/>
          </a:p>
        </p:txBody>
      </p:sp>
      <p:sp>
        <p:nvSpPr>
          <p:cNvPr id="10" name="R1 opt2"/>
          <p:cNvSpPr/>
          <p:nvPr/>
        </p:nvSpPr>
        <p:spPr>
          <a:xfrm>
            <a:off x="9646920" y="310896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know</a:t>
            </a:r>
            <a:endParaRPr lang="en-US" sz="1600" dirty="0" b="1"/>
          </a:p>
        </p:txBody>
      </p:sp>
      <p:sp>
        <p:nvSpPr>
          <p:cNvPr id="11" name="R1 circle"/>
          <p:cNvSpPr/>
          <p:nvPr/>
        </p:nvSpPr>
        <p:spPr>
          <a:xfrm>
            <a:off x="7443216" y="305409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2. I wish I</a:t>
            </a:r>
            <a:endParaRPr lang="en-US" sz="1500" dirty="0"/>
          </a:p>
        </p:txBody>
      </p:sp>
      <p:sp>
        <p:nvSpPr>
          <p:cNvPr id="13" name="R2 opt1"/>
          <p:cNvSpPr/>
          <p:nvPr/>
        </p:nvSpPr>
        <p:spPr>
          <a:xfrm>
            <a:off x="7571232" y="365760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 asked</a:t>
            </a:r>
            <a:endParaRPr lang="en-US" sz="1600" dirty="0" b="1"/>
          </a:p>
        </p:txBody>
      </p:sp>
      <p:sp>
        <p:nvSpPr>
          <p:cNvPr id="14" name="R2 opt2"/>
          <p:cNvSpPr/>
          <p:nvPr/>
        </p:nvSpPr>
        <p:spPr>
          <a:xfrm>
            <a:off x="9646920" y="365760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have asked</a:t>
            </a:r>
            <a:endParaRPr lang="en-US" sz="1600" dirty="0" b="1"/>
          </a:p>
        </p:txBody>
      </p:sp>
      <p:sp>
        <p:nvSpPr>
          <p:cNvPr id="15" name="R2 circle"/>
          <p:cNvSpPr/>
          <p:nvPr/>
        </p:nvSpPr>
        <p:spPr>
          <a:xfrm>
            <a:off x="7443216" y="360273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3. If I</a:t>
            </a:r>
            <a:endParaRPr lang="en-US" sz="1500" dirty="0"/>
          </a:p>
        </p:txBody>
      </p:sp>
      <p:sp>
        <p:nvSpPr>
          <p:cNvPr id="17" name="R3 opt1"/>
          <p:cNvSpPr/>
          <p:nvPr/>
        </p:nvSpPr>
        <p:spPr>
          <a:xfrm>
            <a:off x="7571232" y="420624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 asked</a:t>
            </a:r>
            <a:endParaRPr lang="en-US" sz="1600" dirty="0" b="1"/>
          </a:p>
        </p:txBody>
      </p:sp>
      <p:sp>
        <p:nvSpPr>
          <p:cNvPr id="18" name="R3 opt2"/>
          <p:cNvSpPr/>
          <p:nvPr/>
        </p:nvSpPr>
        <p:spPr>
          <a:xfrm>
            <a:off x="9646920" y="420624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have asked</a:t>
            </a:r>
            <a:endParaRPr lang="en-US" sz="1600" dirty="0" b="1"/>
          </a:p>
        </p:txBody>
      </p:sp>
      <p:sp>
        <p:nvSpPr>
          <p:cNvPr id="19" name="R3 circle"/>
          <p:cNvSpPr/>
          <p:nvPr/>
        </p:nvSpPr>
        <p:spPr>
          <a:xfrm>
            <a:off x="7443216" y="415137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4. I</a:t>
            </a:r>
            <a:endParaRPr lang="en-US" sz="1500" dirty="0"/>
          </a:p>
        </p:txBody>
      </p:sp>
      <p:sp>
        <p:nvSpPr>
          <p:cNvPr id="21" name="R4 opt1"/>
          <p:cNvSpPr/>
          <p:nvPr/>
        </p:nvSpPr>
        <p:spPr>
          <a:xfrm>
            <a:off x="7571232" y="475488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 have asked</a:t>
            </a:r>
            <a:endParaRPr lang="en-US" sz="1600" dirty="0" b="1"/>
          </a:p>
        </p:txBody>
      </p:sp>
      <p:sp>
        <p:nvSpPr>
          <p:cNvPr id="22" name="R4 opt2"/>
          <p:cNvSpPr/>
          <p:nvPr/>
        </p:nvSpPr>
        <p:spPr>
          <a:xfrm>
            <a:off x="9646920" y="475488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should asked</a:t>
            </a:r>
            <a:endParaRPr lang="en-US" sz="1600" dirty="0" b="1"/>
          </a:p>
        </p:txBody>
      </p:sp>
      <p:sp>
        <p:nvSpPr>
          <p:cNvPr id="23" name="R4 circle"/>
          <p:cNvSpPr/>
          <p:nvPr/>
        </p:nvSpPr>
        <p:spPr>
          <a:xfrm>
            <a:off x="7443216" y="470001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5. Next time I</a:t>
            </a:r>
            <a:endParaRPr lang="en-US" sz="1500" dirty="0"/>
          </a:p>
        </p:txBody>
      </p:sp>
      <p:sp>
        <p:nvSpPr>
          <p:cNvPr id="25" name="R5 opt1"/>
          <p:cNvSpPr/>
          <p:nvPr/>
        </p:nvSpPr>
        <p:spPr>
          <a:xfrm>
            <a:off x="7571232" y="530352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 ask</a:t>
            </a:r>
            <a:endParaRPr lang="en-US" sz="1600" dirty="0" b="1"/>
          </a:p>
        </p:txBody>
      </p:sp>
      <p:sp>
        <p:nvSpPr>
          <p:cNvPr id="26" name="R5 opt2"/>
          <p:cNvSpPr/>
          <p:nvPr/>
        </p:nvSpPr>
        <p:spPr>
          <a:xfrm>
            <a:off x="9646920" y="530352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have ask</a:t>
            </a:r>
            <a:endParaRPr lang="en-US" sz="1600" dirty="0" b="1"/>
          </a:p>
        </p:txBody>
      </p:sp>
      <p:sp>
        <p:nvSpPr>
          <p:cNvPr id="27" name="R5 circle"/>
          <p:cNvSpPr/>
          <p:nvPr/>
        </p:nvSpPr>
        <p:spPr>
          <a:xfrm>
            <a:off x="7443216" y="524865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6. If I had another chance, I</a:t>
            </a:r>
            <a:endParaRPr lang="en-US" sz="1500" dirty="0"/>
          </a:p>
        </p:txBody>
      </p:sp>
      <p:sp>
        <p:nvSpPr>
          <p:cNvPr id="29" name="R6 opt1"/>
          <p:cNvSpPr/>
          <p:nvPr/>
        </p:nvSpPr>
        <p:spPr>
          <a:xfrm>
            <a:off x="7571232" y="585216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ask</a:t>
            </a:r>
            <a:endParaRPr lang="en-US" sz="1600" dirty="0" b="1"/>
          </a:p>
        </p:txBody>
      </p:sp>
      <p:sp>
        <p:nvSpPr>
          <p:cNvPr id="30" name="R6 opt2"/>
          <p:cNvSpPr/>
          <p:nvPr/>
        </p:nvSpPr>
        <p:spPr>
          <a:xfrm>
            <a:off x="9646920" y="585216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 have asked</a:t>
            </a:r>
            <a:endParaRPr lang="en-US" sz="1600" dirty="0" b="1"/>
          </a:p>
        </p:txBody>
      </p:sp>
      <p:sp>
        <p:nvSpPr>
          <p:cNvPr id="31" name="R6 circle"/>
          <p:cNvSpPr/>
          <p:nvPr/>
        </p:nvSpPr>
        <p:spPr>
          <a:xfrm>
            <a:off x="7443216" y="579729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Practice: a memo with a pencil and a second pencil [sign: PRACTIC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wish I would have asked.</a:t>
            </a:r>
            <a:endParaRPr lang="en-US" sz="14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wish I had asked.</a:t>
            </a:r>
            <a:endParaRPr lang="en-US" sz="1400" dirty="0" b="1"/>
          </a:p>
        </p:txBody>
      </p:sp>
      <p:sp>
        <p:nvSpPr>
          <p:cNvPr id="26" name="Bad 2"/>
          <p:cNvSpPr/>
          <p:nvPr/>
        </p:nvSpPr>
        <p:spPr>
          <a:xfrm>
            <a:off x="914400" y="2987399"/>
            <a:ext cx="3246120" cy="68042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would have asked, I would have known.</a:t>
            </a:r>
            <a:endParaRPr lang="en-US" sz="1400" dirty="0"/>
          </a:p>
        </p:txBody>
      </p:sp>
      <p:sp>
        <p:nvSpPr>
          <p:cNvPr id="27" name="Good 2"/>
          <p:cNvSpPr/>
          <p:nvPr/>
        </p:nvSpPr>
        <p:spPr>
          <a:xfrm>
            <a:off x="4800600" y="2987399"/>
            <a:ext cx="5394960" cy="68042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had asked, I would have known.</a:t>
            </a:r>
            <a:endParaRPr lang="en-US" sz="14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731828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wish I know the deadline.</a:t>
            </a:r>
            <a:endParaRPr lang="en-US" sz="1400" dirty="0"/>
          </a:p>
        </p:txBody>
      </p:sp>
      <p:sp>
        <p:nvSpPr>
          <p:cNvPr id="29" name="Good 3"/>
          <p:cNvSpPr/>
          <p:nvPr/>
        </p:nvSpPr>
        <p:spPr>
          <a:xfrm>
            <a:off x="4800600" y="3731828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wish I knew the deadline.</a:t>
            </a:r>
            <a:endParaRPr lang="en-US" sz="14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250346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should asked earlier.</a:t>
            </a:r>
            <a:endParaRPr lang="en-US" sz="1400" dirty="0"/>
          </a:p>
        </p:txBody>
      </p:sp>
      <p:sp>
        <p:nvSpPr>
          <p:cNvPr id="31" name="Good 4"/>
          <p:cNvSpPr/>
          <p:nvPr/>
        </p:nvSpPr>
        <p:spPr>
          <a:xfrm>
            <a:off x="4800600" y="4250346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should have asked earlier.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Question: a question mark [sign: QUESTION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 a mild regret from class.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says I wish I had… and Next time I will….</a:t>
            </a:r>
            <a:endParaRPr lang="en-US" sz="1900" dirty="0" b="0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Alarm: an alarm clock [sign: ALARM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missed the sign-up.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did not ask for the example.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Tutor: a teacher at a chalkboard [sign: TUTOR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If I had…, I would have….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group repeats the clearest sentence.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page.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did the learner miss?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010912" y="2525573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workshop sign-up</a:t>
            </a:r>
            <a:endParaRPr lang="en-US" sz="13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wish is about now?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010912" y="3311957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wish I knew the deadline</a:t>
            </a:r>
            <a:endParaRPr lang="en-US" sz="13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wish is about the past?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010912" y="4098341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wish I had asked the tutor</a:t>
            </a:r>
            <a:endParaRPr lang="en-US" sz="13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the if sentence?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010912" y="4884725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I had asked, I would have known</a:t>
            </a:r>
            <a:endParaRPr lang="en-US" sz="13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will the learner do next time?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010912" y="5671109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on the first day</a:t>
            </a:r>
            <a:endParaRPr lang="en-US" sz="13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Choice: a left arrow and a right arrow [sign: A OR B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about one mild regret.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Name: Date: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wish, the if sentence, what you should have done, and the next step.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this page to your teacher.</a:t>
            </a:r>
            <a:endParaRPr lang="en-US" sz="15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20–25 minutes.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I wish I knew and one past wish.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the six-sentence note from Read &amp; Write.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Tell a friend one next step. Write the sentence.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Review: had already. Write one sentence from Lesson 2.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5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Help desk: a person and a phone [sign: HELP DESK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3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36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say I wish I had… for a past regret.</a:t>
            </a:r>
            <a:endParaRPr lang="en-US" sz="2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say I wish I knew… for something I want now.</a:t>
            </a:r>
            <a:endParaRPr lang="en-US" sz="2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say one If I had…, I would have… sentence.</a:t>
            </a:r>
            <a:endParaRPr lang="en-US" sz="2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Alicia and Chris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(coming soon): synthetic voices made with Chatterbox TTS (MIT License), cloned from short synthetic reference clips made with Kokoro-82M (Apache License 2.0). No recordings of real people. Each file will carry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5 Lesson 3: I Wish I Had Asked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