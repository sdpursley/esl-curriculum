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32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65" r:id="rId11"/>
    <p:sldId id="276" r:id="rId27"/>
    <p:sldId id="264" r:id="rId10"/>
    <p:sldId id="287" r:id="rId38"/>
    <p:sldId id="280" r:id="rId31"/>
    <p:sldId id="260" r:id="rId6"/>
    <p:sldId id="266" r:id="rId12"/>
    <p:sldId id="259" r:id="rId5"/>
    <p:sldId id="277" r:id="rId28"/>
    <p:sldId id="289" r:id="rId40"/>
    <p:sldId id="278" r:id="rId29"/>
    <p:sldId id="270" r:id="rId16"/>
    <p:sldId id="288" r:id="rId39"/>
    <p:sldId id="271" r:id="rId17"/>
    <p:sldId id="279" r:id="rId30"/>
    <p:sldId id="291" r:id="rId42"/>
    <p:sldId id="281" r:id="rId32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4" Type="http://schemas.openxmlformats.org/officeDocument/2006/relationships/slide" Target="slides/slide22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2" Type="http://schemas.openxmlformats.org/officeDocument/2006/relationships/slide" Target="slides/slide3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Welcome. Say: "Today: dates and the weather." Point to the calendar: "May 5th."</a:t>
            </a:r>
          </a:p>
          <a:p>
            <a:r>
              <a:rPr lang="en-US"/>
              <a:t>Before class: print the Student Pages (number expected + 3 spares), one set of picture cards per group of 3–4, the appointment cards for Talk Time, and the ordinals card (1st–5th…). Have the phone + small speaker and L1_L9_listening.mp3 ready. Prep time: 30 min.</a:t>
            </a:r>
          </a:p>
          <a:p>
            <a:r>
              <a:rPr lang="en-US"/>
              <a:t>No holidays: never ask about religious or cultural holidays. Invented birthdays are fine.</a:t>
            </a:r>
          </a:p>
          <a:p>
            <a:r>
              <a:rPr lang="en-US"/>
              <a:t>Teach in English. Show, point, and gesture. Say less, show more.</a:t>
            </a:r>
          </a:p>
          <a:p>
            <a:r>
              <a:rPr lang="en-US"/>
              <a:t>Class plan: 6:00 Hello + Review, 6:10 New Words, 6:20 Listening, 6:32 Grammar, 6:45 Break, 7:00 Talk Time, 7:10 Exit Ticket + Homework, 7:15 Real-World Reading, 7:25 Progress Check.</a:t>
            </a:r>
          </a:p>
          <a:p>
            <a:r>
              <a:rPr lang="en-US"/>
              <a:t>Source: level1_curriculum/lesson9/Level1_Lesson9.md (At a glance, Clock-time plan,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Pairs. 15 learners: 7 pairs + 1 group of 3. 7–8 learners: 3–4 pairs. Late arrivals join any pair.</a:t>
            </a:r>
          </a:p>
          <a:p>
            <a:r>
              <a:rPr lang="en-US"/>
              <a:t>Before class, write on the board: Do you like fish? What do you want for lunch? What day is today?</a:t>
            </a:r>
          </a:p>
          <a:p>
            <a:r>
              <a:rPr lang="en-US"/>
              <a:t>Model with one learner: "Do you like fish?" "Yes, I do." Then "What day is today?"</a:t>
            </a:r>
          </a:p>
          <a:p>
            <a:r>
              <a:rPr lang="en-US"/>
              <a:t>Click to show the A question. Click again for the B answers. Pairs use the Hello + Review page: 1 Do you like fish? 2 What do you want for lunch? I want ___. 3 What day is today? It's ___. Switch. Then find a new partner.</a:t>
            </a:r>
          </a:p>
          <a:p>
            <a:r>
              <a:rPr lang="en-US"/>
              <a:t>Homework check (last 3 min): partners show last week's homework. Walk around and look.</a:t>
            </a:r>
          </a:p>
          <a:p>
            <a:r>
              <a:rPr lang="en-US"/>
              <a:t>New learners: pair them with a strong partner. If behind: one partner only.</a:t>
            </a:r>
          </a:p>
          <a:p>
            <a:r>
              <a:rPr lang="en-US"/>
              <a:t>Source: level1_curriculum/lesson9/Level1_Lesson9.md (Step 1: Hello + Review; Student Pages: Hello + Review).</a:t>
            </a:r>
          </a:p>
          <a:p>
            <a:r>
              <a:rPr lang="en-US"/>
              <a:t>Review picture: the fish from Lesson 8 (lesson8/images/L1_L8_fish.png). Twemoji graphics by Twitter, Inc. and other contributors (https://github.com/jdecked/twemoji), CC BY 4.0 (https://creativecommons.org/licenses/by/4.0/); resized (see lesson8/images/CREDITS.md).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4: "How's the weather?" "It's sunny / rainy / cold / hot." Point out the window. Learners answer.</a:t>
            </a:r>
          </a:p>
          <a:p>
            <a:r>
              <a:rPr lang="en-US"/>
              <a:t>Read each DON'T SAY line. Shake your head. Click to show the SAY line. Learners repeat it.</a:t>
            </a:r>
          </a:p>
          <a:p>
            <a:r>
              <a:rPr lang="en-US"/>
              <a:t>Weather: It's cold (not It makes cold). For people: I'm cold. Cross out It makes cold on the board.</a:t>
            </a:r>
          </a:p>
          <a:p>
            <a:r>
              <a:rPr lang="en-US"/>
              <a:t>Pair drill (last 3–4 min): A asks birthday / appointment / weather; B answers; switch. If behind: skip the pair drill; Talk Time practices the same language.</a:t>
            </a:r>
          </a:p>
          <a:p>
            <a:r>
              <a:rPr lang="en-US"/>
              <a:t>Source: level1_curriculum/lesson9/Level1_Lesson9.md (Step 4: Grammar Q&amp;A, Box 4 and pair drill; Grammar Box 4; Common mistakes;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Grammar page. Left = question. Right = answer. Point left, then right.</a:t>
            </a:r>
          </a:p>
          <a:p>
            <a:r>
              <a:rPr lang="en-US"/>
              <a:t>Box 1: "What's the date today?" Click: "It's October 20th." Box 2: "When is your birthday?" Click: "It's on May 5th." / "It's in May."</a:t>
            </a:r>
          </a:p>
          <a:p>
            <a:r>
              <a:rPr lang="en-US"/>
              <a:t>Click to show each answer. Learners repeat the question and the answer.</a:t>
            </a:r>
          </a:p>
          <a:p>
            <a:r>
              <a:rPr lang="en-US"/>
              <a:t>Write on the board: on + date or day; in + month. Months always start with a capital letter.</a:t>
            </a:r>
          </a:p>
          <a:p>
            <a:r>
              <a:rPr lang="en-US"/>
              <a:t>Check questions: "My birthday is ___ May." (in) • "My birthday is ___ May 5th." (on)</a:t>
            </a:r>
          </a:p>
          <a:p>
            <a:r>
              <a:rPr lang="en-US"/>
              <a:t>Source: level1_curriculum/lesson9/Level1_Lesson9.md (Step 4: Grammar Q&amp;A, Boxes 1–2; Grammar Boxes 1 and 2; Questions and answers).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Progress Check (5 min). Individuals. Open the Progress Check page.</a:t>
            </a:r>
          </a:p>
          <a:p>
            <a:r>
              <a:rPr lang="en-US"/>
              <a:t>Part A: read each item slowly, 2 times: 1 May, 2 sunny, 3 10:30, 4 cold, 5 today. Learners circle.</a:t>
            </a:r>
          </a:p>
          <a:p>
            <a:r>
              <a:rPr lang="en-US"/>
              <a:t>Parts B and C: learners match and write on their own. Help with the instructions only. Click to show the Part B answers when you check together: 1 b, 2 a, 3 c, 4 d.</a:t>
            </a:r>
          </a:p>
          <a:p>
            <a:r>
              <a:rPr lang="en-US"/>
              <a:t>Part C answers: 1 in (June), 2 on (Friday), 3 at (9:00), 4 on (May 10th).</a:t>
            </a:r>
          </a:p>
          <a:p>
            <a:r>
              <a:rPr lang="en-US"/>
              <a:t>Part D: read each "I can…" line and point to the 3 faces. Learners check one.</a:t>
            </a:r>
          </a:p>
          <a:p>
            <a:r>
              <a:rPr lang="en-US"/>
              <a:t>Score: A /5 + B /4 + C /4 = /13. Not a test grade. Collect if you want. If behind: do it next week at 6:00.</a:t>
            </a:r>
          </a:p>
          <a:p>
            <a:r>
              <a:rPr lang="en-US"/>
              <a:t>Source: level1_curriculum/lesson9/Level1_Lesson9.md (Progress Check step; Student Pages: Progress Check;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you listen (1 min). Say: "Kim calls the clinic. She makes an appointment. Then Kim and Marco talk about the weather and birthdays."</a:t>
            </a:r>
          </a:p>
          <a:p>
            <a:r>
              <a:rPr lang="en-US"/>
              <a:t>Click to show each listen. Listen 1: Task A (the appointment: day, date, time). Listen 2: Task B (circle the weather). Listen 3: Task C (write the birthdays).</a:t>
            </a:r>
          </a:p>
          <a:p>
            <a:r>
              <a:rPr lang="en-US"/>
              <a:t>Say it!: read each line. Learners repeat: "Thursday, May tenth, at ten thirty." "How's the weather?"</a:t>
            </a:r>
          </a:p>
          <a:p>
            <a:r>
              <a:rPr lang="en-US"/>
              <a:t>The audio L1_L9_listening.mp3 (about 1:10) plays the conversation once. Press play again for the next listen. Pairs compare after each task. Write answers on the board.</a:t>
            </a:r>
          </a:p>
          <a:p>
            <a:r>
              <a:rPr lang="en-US"/>
              <a:t>No speaker? Read the script with a volunteer. Say dates as words: May tenth, May fifth, ten thirty.</a:t>
            </a:r>
          </a:p>
          <a:p>
            <a:r>
              <a:rPr lang="en-US"/>
              <a:t>Voices: Narrator, Receptionist, Kim, Marco. Synthetic voices made with Chatterbox TTS (MIT), copied from short reference clips made with Kokoro-82M (Apache 2.0); no recordings of real people. Riverside Clinic is invented.</a:t>
            </a:r>
          </a:p>
          <a:p>
            <a:r>
              <a:rPr lang="en-US"/>
              <a:t>If behind: play 2 times; do Task C together.</a:t>
            </a:r>
          </a:p>
          <a:p>
            <a:r>
              <a:rPr lang="en-US"/>
              <a:t>Source: level1_curriculum/lesson9/Level1_Lesson9.md (Step 3: Listening; Listening script).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a calendar: "Month. Date. Today. Tomorrow."</a:t>
            </a:r>
          </a:p>
          <a:p>
            <a:r>
              <a:rPr lang="en-US"/>
              <a:t>Click to show each picture. Point and say the word. Learners repeat 2 times. ★ words 2 more times.</a:t>
            </a:r>
          </a:p>
          <a:p>
            <a:r>
              <a:rPr lang="en-US"/>
              <a:t>appointment: the card says Thursday, May 10, 10:30.</a:t>
            </a:r>
          </a:p>
          <a:p>
            <a:r>
              <a:rPr lang="en-US"/>
              <a:t>★ = most important words. If behind: teach the ★ words only.</a:t>
            </a:r>
          </a:p>
          <a:p>
            <a:r>
              <a:rPr lang="en-US"/>
              <a:t>Source: level1_curriculum/lesson9/Level1_Lesson9.md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3: "When is your appointment?" Click: "It's on Tuesday, at 3:00." at + time.</a:t>
            </a:r>
          </a:p>
          <a:p>
            <a:r>
              <a:rPr lang="en-US"/>
              <a:t>Then click: in, on, or at? in + month (in May). on + date or day (on May 5th, on Tuesday). at + time (at 3:00).</a:t>
            </a:r>
          </a:p>
          <a:p>
            <a:r>
              <a:rPr lang="en-US"/>
              <a:t>Check question: "Class is ___ 6:00." (at)</a:t>
            </a:r>
          </a:p>
          <a:p>
            <a:r>
              <a:rPr lang="en-US"/>
              <a:t>Big mistake this week: in May 5th / at May. Point to Grammar Box 2.</a:t>
            </a:r>
          </a:p>
          <a:p>
            <a:r>
              <a:rPr lang="en-US"/>
              <a:t>Source: level1_curriculum/lesson9/Level1_Lesson9.md (Step 4: Grammar Q&amp;A, Box 3; Grammar Box 3; Questions and answers;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goal, one at a time. Read it aloud. Learners repeat.</a:t>
            </a:r>
          </a:p>
          <a:p>
            <a:r>
              <a:rPr lang="en-US"/>
              <a:t>Goal 1: say the months and write a date: May 5th / 5/5.</a:t>
            </a:r>
          </a:p>
          <a:p>
            <a:r>
              <a:rPr lang="en-US"/>
              <a:t>Goal 2: "When is your birthday?" "It's on May 5th." / "It's in May."</a:t>
            </a:r>
          </a:p>
          <a:p>
            <a:r>
              <a:rPr lang="en-US"/>
              <a:t>Goal 3: in + month, on + date or day, at + time.</a:t>
            </a:r>
          </a:p>
          <a:p>
            <a:r>
              <a:rPr lang="en-US"/>
              <a:t>Goal 4: "How's the weather?" "It's cold / hot / sunny / rainy."</a:t>
            </a:r>
          </a:p>
          <a:p>
            <a:r>
              <a:rPr lang="en-US"/>
              <a:t>Goal 5: understand an appointment day and time; read a simple appointment card (Real-World Reading at 7:15).</a:t>
            </a:r>
          </a:p>
          <a:p>
            <a:r>
              <a:rPr lang="en-US"/>
              <a:t>Source: level1_curriculum/lesson9/Level1_Lesson9.md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1, birthday line (5 min). Whole class. Learners line up by birthday month and day by asking only: "When is your birthday?" Invented birthdays are OK.</a:t>
            </a:r>
          </a:p>
          <a:p>
            <a:r>
              <a:rPr lang="en-US"/>
              <a:t>Model with 2 learners first. Click to show each step.</a:t>
            </a:r>
          </a:p>
          <a:p>
            <a:r>
              <a:rPr lang="en-US"/>
              <a:t>On the page: My birthday is ___. Write 2 classmates' birthdays.</a:t>
            </a:r>
          </a:p>
          <a:p>
            <a:r>
              <a:rPr lang="en-US"/>
              <a:t>No holidays: never ask about religious or cultural holidays.</a:t>
            </a:r>
          </a:p>
          <a:p>
            <a:r>
              <a:rPr lang="en-US"/>
              <a:t>If behind: do half of Talk Time only.</a:t>
            </a:r>
          </a:p>
          <a:p>
            <a:r>
              <a:rPr lang="en-US"/>
              <a:t>Source: level1_curriculum/lesson9/Level1_Lesson9.md (Step 5: Talk Time, Part 1; Student Pages: Talk Time, Birthday Line;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Exit ticket (never skip): each learner says "My birthday is in ___." or "It's on ___." Copying from the box is fine.</a:t>
            </a:r>
          </a:p>
          <a:p>
            <a:r>
              <a:rPr lang="en-US"/>
              <a:t>Homework (10 minutes): open the Homework page. Do item 1, line 1 together. Point to each instruction.</a:t>
            </a:r>
          </a:p>
          <a:p>
            <a:r>
              <a:rPr lang="en-US"/>
              <a:t>Homework: 1) write: Today is… Tomorrow is… My birthday is… How's the weather today?; 2) write in, on, or at; 3) write 3 months and say them to a family member or a friend; 4) look at a calendar and write today's date two ways (words and month/day/year); 5) review: write one food you like (Lesson 8).</a:t>
            </a:r>
          </a:p>
          <a:p>
            <a:r>
              <a:rPr lang="en-US"/>
              <a:t>Homework answers: item 2: 1 in (October), 2 on (Monday), 3 at (7:00), 4 on (May 5th).</a:t>
            </a:r>
          </a:p>
          <a:p>
            <a:r>
              <a:rPr lang="en-US"/>
              <a:t>Source: level1_curriculum/lesson9/Level1_Lesson9.md (Step 6: Exit Ticket + Homework; Student Pages: Homework; Answer key).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Credits for the pictures, audio, and font.</a:t>
            </a:r>
          </a:p>
          <a:p>
            <a:r>
              <a:rPr lang="en-US"/>
              <a:t>Pictures: Twemoji (CC BY 4.0), https://github.com/jdecked/twemoji; resized and combined, labels added; calendar, months, ordinals, and appointment card drawn in code. Review picture (fish) from Lesson 8. Audio: Chatterbox TTS (MIT) voices copied from short Kokoro-82M (Apache 2.0) reference clips; no recordings of real people.</a:t>
            </a:r>
          </a:p>
          <a:p>
            <a:r>
              <a:rPr lang="en-US"/>
              <a:t>Sources: Level1_Lesson9.md (Picture Credits), lesson9/images/CREDITS.md, lesson9/audio/README.md.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Mime the weather: "Sunny. Rainy. Cold. Hot." Click to show each picture. Learners repeat 2 times.</a:t>
            </a:r>
          </a:p>
          <a:p>
            <a:r>
              <a:rPr lang="en-US"/>
              <a:t>months: January to December. Months always start with a capital letter: May, October.</a:t>
            </a:r>
          </a:p>
          <a:p>
            <a:r>
              <a:rPr lang="en-US"/>
              <a:t>Show the ordinals card: "first, second, third…" (1st 2nd 3rd 4th 5th).</a:t>
            </a:r>
          </a:p>
          <a:p>
            <a:r>
              <a:rPr lang="en-US"/>
              <a:t>Pairs (4 min): A points to a picture, B says the word. Then A asks "When is your birthday?" (invented OK).</a:t>
            </a:r>
          </a:p>
          <a:p>
            <a:r>
              <a:rPr lang="en-US"/>
              <a:t>★ = most important words. If behind: teach the ★ words only.</a:t>
            </a:r>
          </a:p>
          <a:p>
            <a:r>
              <a:rPr lang="en-US"/>
              <a:t>Source: level1_curriculum/lesson9/Level1_Lesson9.md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do I write a date in the U.S.? Month / day / year. Ask: "In the U.S., 5/10 is…?" Click: "May 10 (not October 5)."</a:t>
            </a:r>
          </a:p>
          <a:p>
            <a:r>
              <a:rPr lang="en-US"/>
              <a:t>Right box: "Do months start with a capital letter?" Click: "Yes. May, October (always)."</a:t>
            </a:r>
          </a:p>
          <a:p>
            <a:r>
              <a:rPr lang="en-US"/>
              <a:t>Ordinals 1st–31st: teach with the card. Say: first, second, third, fourth, fifth.</a:t>
            </a:r>
          </a:p>
          <a:p>
            <a:r>
              <a:rPr lang="en-US"/>
              <a:t>Spanish speakers: in the U.S. the date is month/day/year (5/10 = 10 de mayo). Learners can read the Spanish note on their Grammar page.</a:t>
            </a:r>
          </a:p>
          <a:p>
            <a:r>
              <a:rPr lang="en-US"/>
              <a:t>Source: level1_curriculum/lesson9/Level1_Lesson9.md (Grammar: Questions and answers;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each "Don't say" line. Shake your head. Click to show the correct line. Learners repeat it.</a:t>
            </a:r>
          </a:p>
          <a:p>
            <a:r>
              <a:rPr lang="en-US"/>
              <a:t>It makes cold → It's cold. I have cold → I'm cold. / It's cold.</a:t>
            </a:r>
          </a:p>
          <a:p>
            <a:r>
              <a:rPr lang="en-US"/>
              <a:t>in May 5th → on May 5th (on + date). at May → in May (in + month).</a:t>
            </a:r>
          </a:p>
          <a:p>
            <a:r>
              <a:rPr lang="en-US"/>
              <a:t>Tip: read the grammar boxes left to right. Copy one question and one answer.</a:t>
            </a:r>
          </a:p>
          <a:p>
            <a:r>
              <a:rPr lang="en-US"/>
              <a:t>Source: level1_curriculum/lesson9/Level1_Lesson9.md (Grammar: Common mistakes;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Real-World Reading (10 min). Whole class, then pairs. Use the Real-World Reading page.</a:t>
            </a:r>
          </a:p>
          <a:p>
            <a:r>
              <a:rPr lang="en-US"/>
              <a:t>See it (2 min), Task A: point to the day, the date, and the time on the appointment card.</a:t>
            </a:r>
          </a:p>
          <a:p>
            <a:r>
              <a:rPr lang="en-US"/>
              <a:t>Learners answer. Then click to show each answer (answer key): Thursday, May 10, 10:30.</a:t>
            </a:r>
          </a:p>
          <a:p>
            <a:r>
              <a:rPr lang="en-US"/>
              <a:t>Hear it (2 min): say 3 dates; learners point or write.</a:t>
            </a:r>
          </a:p>
          <a:p>
            <a:r>
              <a:rPr lang="en-US"/>
              <a:t>Learners who can't read yet: they point to the pictures and say key words with everyone.</a:t>
            </a:r>
          </a:p>
          <a:p>
            <a:r>
              <a:rPr lang="en-US"/>
              <a:t>Source: level1_curriculum/lesson9/Level1_Lesson9.md (Real-World Reading step; Student Pages: Real-World Reading A).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2 (Task B): learners circle the weather. Listen 3 (Task C): learners write the birthdays of Marco and Kim.</a:t>
            </a:r>
          </a:p>
          <a:p>
            <a:r>
              <a:rPr lang="en-US"/>
              <a:t>Pairs compare. Then click to show each answer.</a:t>
            </a:r>
          </a:p>
          <a:p>
            <a:r>
              <a:rPr lang="en-US"/>
              <a:t>Task B: sunny, hot ("It's sunny and hot. I like sunny days.").</a:t>
            </a:r>
          </a:p>
          <a:p>
            <a:r>
              <a:rPr lang="en-US"/>
              <a:t>Task C: Marco: May 5th ("It's on May fifth. Next week!"). Kim: October ("My birthday is in October.").</a:t>
            </a:r>
          </a:p>
          <a:p>
            <a:r>
              <a:rPr lang="en-US"/>
              <a:t>If behind: play the audio 2 times, and do Task C together.</a:t>
            </a:r>
          </a:p>
          <a:p>
            <a:r>
              <a:rPr lang="en-US"/>
              <a:t>Source: level1_curriculum/lesson9/Level1_Lesson9.md (Step 3: Listening; Student Pages: Listening B and C; Answer key).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C: learners write today's date two ways: words and numbers (month/day/year). Answers vary.</a:t>
            </a:r>
          </a:p>
          <a:p>
            <a:r>
              <a:rPr lang="en-US"/>
              <a:t>Task D (pairs): A says a date from Task B; B points. Then switch. Partners: A is the receptionist, B repeats the appointment.</a:t>
            </a:r>
          </a:p>
          <a:p>
            <a:r>
              <a:rPr lang="en-US"/>
              <a:t>Click to show how to say each date. Learners repeat: May tenth, October fifth, December twenty-fifth.</a:t>
            </a:r>
          </a:p>
          <a:p>
            <a:r>
              <a:rPr lang="en-US"/>
              <a:t>Source: level1_curriculum/lesson9/Level1_Lesson9.md (Real-World Reading step; Student Pages: Real-World Reading C and 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"Great work! See you next week!" Remind learners: bring the homework next week.</a:t>
            </a:r>
          </a:p>
          <a:p>
            <a:r>
              <a:rPr lang="en-US"/>
              <a:t>Collect the Progress Check pages if you want.</a:t>
            </a:r>
          </a:p>
          <a:p>
            <a:r>
              <a:rPr lang="en-US"/>
              <a:t>Source: level1_curriculum/lesson9/Level1_Lesson9.md (At a glance: Objectives).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Calendar, month, months, ordinals, and appointment card are drawn in code (see lesson9/images/CREDITS.md).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1 (Task A). Kim calls the clinic. Learners circle the day and write the date and the time.</a:t>
            </a:r>
          </a:p>
          <a:p>
            <a:r>
              <a:rPr lang="en-US"/>
              <a:t>Pairs compare. Then click to show each answer: Thursday; May 10; 10:30 (in the morning).</a:t>
            </a:r>
          </a:p>
          <a:p>
            <a:r>
              <a:rPr lang="en-US"/>
              <a:t>In the audio: "How about Thursday, May tenth, at ten thirty?" "Is that in the morning?" "Yes, it is."</a:t>
            </a:r>
          </a:p>
          <a:p>
            <a:r>
              <a:rPr lang="en-US"/>
              <a:t>Source: level1_curriculum/lesson9/Level1_Lesson9.md (Step 3: Listening; Student Pages: Listening A; Answer key, Listening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2, appointment (5 min). A–B pairs. A = receptionist with the appointment card (Thursday, May 10, 10:30). B = patient. Then switch.</a:t>
            </a:r>
          </a:p>
          <a:p>
            <a:r>
              <a:rPr lang="en-US"/>
              <a:t>Model it: "When is my appointment?" Click: "On Thursday, at 10:30."</a:t>
            </a:r>
          </a:p>
          <a:p>
            <a:r>
              <a:rPr lang="en-US"/>
              <a:t>A says: "Your appointment is on ___, at ___." B repeats: "On ___, at ___. OK. Thank you!" B writes the day, the date, and the time. B can also ask "What time?"</a:t>
            </a:r>
          </a:p>
          <a:p>
            <a:r>
              <a:rPr lang="en-US"/>
              <a:t>If behind: one round only.</a:t>
            </a:r>
          </a:p>
          <a:p>
            <a:r>
              <a:rPr lang="en-US"/>
              <a:t>Source: level1_curriculum/lesson9/Level1_Lesson9.md (Step 5: Talk Time, Part 2; Student Pages: Talk Time, Appointment A and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Learners write in, on, at, or a weather word on lines 1–5. Then pairs check.</a:t>
            </a:r>
          </a:p>
          <a:p>
            <a:r>
              <a:rPr lang="en-US"/>
              <a:t>Click to show each answer: 1 on, 2 in, 3 at, 4 sunny (or rainy / cold / hot), 5 on (on + day).</a:t>
            </a:r>
          </a:p>
          <a:p>
            <a:r>
              <a:rPr lang="en-US"/>
              <a:t>Line 6 on the page: write today's date (answers will vary).</a:t>
            </a:r>
          </a:p>
          <a:p>
            <a:r>
              <a:rPr lang="en-US"/>
              <a:t>Source: level1_curriculum/lesson9/Level1_Lesson9.md (Grammar: Practice; Answer key, Grammar practice; Questions and answers).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it (4 min), Task B: U.S. date order is month / day / year. 5/10 = May 10.</a:t>
            </a:r>
          </a:p>
          <a:p>
            <a:r>
              <a:rPr lang="en-US"/>
              <a:t>Learners match each date to a, b, or c. Then click to show each answer: 5/10 → b May 10; 10/5 → a October 5; 12/25 → c December 25.</a:t>
            </a:r>
          </a:p>
          <a:p>
            <a:r>
              <a:rPr lang="en-US"/>
              <a:t>If behind: do Tasks A and B only.</a:t>
            </a:r>
          </a:p>
          <a:p>
            <a:r>
              <a:rPr lang="en-US"/>
              <a:t>Source: level1_curriculum/lesson9/Level1_Lesson9.md (Real-World Reading step; Student Pages: Real-World Reading B; Answer key, Real-World Reading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Img2" Type="http://schemas.openxmlformats.org/officeDocument/2006/relationships/image" Target="../media/L1_L9_date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Img2" Type="http://schemas.openxmlformats.org/officeDocument/2006/relationships/image" Target="../media/L1_L8_fish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Img2" Type="http://schemas.openxmlformats.org/officeDocument/2006/relationships/image" Target="../media/L1_L9_appointment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Img7" Type="http://schemas.openxmlformats.org/officeDocument/2006/relationships/image" Target="../media/L1_L9_calendar.png"/><Relationship Id="rIdImg8" Type="http://schemas.openxmlformats.org/officeDocument/2006/relationships/image" Target="../media/L1_L9_month.png"/><Relationship Id="rIdImg9" Type="http://schemas.openxmlformats.org/officeDocument/2006/relationships/image" Target="../media/L1_L9_date.png"/><Relationship Id="rIdImg10" Type="http://schemas.openxmlformats.org/officeDocument/2006/relationships/image" Target="../media/L1_L9_birthday.png"/><Relationship Id="rIdImg11" Type="http://schemas.openxmlformats.org/officeDocument/2006/relationships/image" Target="../media/L1_L9_appointment.png"/><Relationship Id="rIdImg12" Type="http://schemas.openxmlformats.org/officeDocument/2006/relationships/image" Target="../media/L1_L9_today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Img7" Type="http://schemas.openxmlformats.org/officeDocument/2006/relationships/image" Target="../media/L1_L9_tomorrow.png"/><Relationship Id="rIdImg8" Type="http://schemas.openxmlformats.org/officeDocument/2006/relationships/image" Target="../media/L1_L9_sunny.png"/><Relationship Id="rIdImg9" Type="http://schemas.openxmlformats.org/officeDocument/2006/relationships/image" Target="../media/L1_L9_rainy.png"/><Relationship Id="rIdImg10" Type="http://schemas.openxmlformats.org/officeDocument/2006/relationships/image" Target="../media/L1_L9_cold.png"/><Relationship Id="rIdImg11" Type="http://schemas.openxmlformats.org/officeDocument/2006/relationships/image" Target="../media/L1_L9_hot.png"/><Relationship Id="rIdImg12" Type="http://schemas.openxmlformats.org/officeDocument/2006/relationships/image" Target="../media/L1_L9_months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Img3" Type="http://schemas.openxmlformats.org/officeDocument/2006/relationships/image" Target="../media/L1_L9_appointment.png"/><Relationship Id="rIdImg4" Type="http://schemas.openxmlformats.org/officeDocument/2006/relationships/image" Target="../media/L1_L9_sunny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Relationship Id="rIdImg2" Type="http://schemas.openxmlformats.org/officeDocument/2006/relationships/image" Target="../media/L1_L9_ordinals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Img3" Type="http://schemas.openxmlformats.org/officeDocument/2006/relationships/image" Target="../media/L1_L9_date.png"/><Relationship Id="rIdImg4" Type="http://schemas.openxmlformats.org/officeDocument/2006/relationships/image" Target="../media/L1_L9_birthday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Img3" Type="http://schemas.openxmlformats.org/officeDocument/2006/relationships/image" Target="../media/L1_L9_appointment.png"/><Relationship Id="rIdImg4" Type="http://schemas.openxmlformats.org/officeDocument/2006/relationships/image" Target="../media/L1_L9_calendar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Img5" Type="http://schemas.openxmlformats.org/officeDocument/2006/relationships/image" Target="../media/L1_L9_sunny.png"/><Relationship Id="rIdImg6" Type="http://schemas.openxmlformats.org/officeDocument/2006/relationships/image" Target="../media/L1_L9_rainy.png"/><Relationship Id="rIdImg7" Type="http://schemas.openxmlformats.org/officeDocument/2006/relationships/image" Target="../media/L1_L9_cold.png"/><Relationship Id="rIdImg8" Type="http://schemas.openxmlformats.org/officeDocument/2006/relationships/image" Target="../media/L1_L9_hot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Img2" Type="http://schemas.openxmlformats.org/officeDocument/2006/relationships/image" Target="../media/L1_L9_cold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Img2" Type="http://schemas.openxmlformats.org/officeDocument/2006/relationships/image" Target="../media/L1_L9_birthday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Img2" Type="http://schemas.openxmlformats.org/officeDocument/2006/relationships/image" Target="../media/L1_L9_today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Img2" Type="http://schemas.openxmlformats.org/officeDocument/2006/relationships/image" Target="../media/L1_L9_sunny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Calendar: May 5th, 5/5 picture" descr="calendar: May 5th, 5/5">    </p:cNvPr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 Date?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When is your birthday?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It's on May 5th. It's in May.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How's the weather?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and write a date.</a:t>
            </a:r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5th  ·  5/5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my birthday.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in, on, at.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the weather.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an appointment card.</a:t>
            </a:r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you learn these things.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Months and dates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How's the weather?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at 7:25!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Fish (from Lesson 8) picture" descr="fish (from Lesson 8)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+ Review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want for lunch?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 is today?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4023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Do you like fish?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Yes, I do.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don't.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day? ________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2461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date? ________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2461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time? ________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685800"/>
            <a:ext cx="42291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Card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751369" y="48006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Real-World Reading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answer.</a:t>
            </a:r>
          </a:p>
        </p:txBody>
      </p:sp>
      <p:sp>
        <p:nvSpPr>
          <p:cNvPr id="160" name="Answer 1"/>
          <p:cNvSpPr/>
          <p:nvPr/>
        </p:nvSpPr>
        <p:spPr>
          <a:xfrm>
            <a:off x="5120640" y="2487168"/>
            <a:ext cx="1481328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</a:p>
        </p:txBody>
      </p:sp>
      <p:sp>
        <p:nvSpPr>
          <p:cNvPr id="161" name="Answer 2"/>
          <p:cNvSpPr/>
          <p:nvPr/>
        </p:nvSpPr>
        <p:spPr>
          <a:xfrm>
            <a:off x="5120640" y="3200400"/>
            <a:ext cx="1481328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10</a:t>
            </a:r>
          </a:p>
        </p:txBody>
      </p:sp>
      <p:sp>
        <p:nvSpPr>
          <p:cNvPr id="162" name="Answer 3"/>
          <p:cNvSpPr/>
          <p:nvPr/>
        </p:nvSpPr>
        <p:spPr>
          <a:xfrm>
            <a:off x="5120640" y="3911803"/>
            <a:ext cx="1481328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10:30</a:t>
            </a:r>
          </a:p>
        </p:txBody>
      </p:sp>
      <p:pic>
        <p:nvPicPr>
          <p:cNvPr id="170" name="Appointment card: Day Thursday, Date May picture" descr="appointment card: Day Thursday, Date May 10, Time 10:30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26679" y="1783080"/>
            <a:ext cx="4023360" cy="281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17" name="Calendar picture" descr="calendar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calendar</a:t>
            </a:r>
          </a:p>
        </p:txBody>
      </p:sp>
      <p:pic>
        <p:nvPicPr>
          <p:cNvPr id="19" name="Month picture" descr="month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month</a:t>
            </a:r>
          </a:p>
        </p:txBody>
      </p:sp>
      <p:pic>
        <p:nvPicPr>
          <p:cNvPr id="21" name="Date picture" descr="date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date</a:t>
            </a:r>
          </a:p>
        </p:txBody>
      </p:sp>
      <p:pic>
        <p:nvPicPr>
          <p:cNvPr id="23" name="Birthday picture" descr="birthday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birthday</a:t>
            </a:r>
          </a:p>
        </p:txBody>
      </p:sp>
      <p:pic>
        <p:nvPicPr>
          <p:cNvPr id="25" name="Appointment picture" descr="appointment"/>
          <p:cNvPicPr>
            <a:picLocks noChangeAspect="1"/>
          </p:cNvPicPr>
          <p:nvPr/>
        </p:nvPicPr>
        <p:blipFill>
          <a:blip r:embed="rIdImg11"/>
          <a:stretch>
            <a:fillRect/>
          </a:stretch>
        </p:blipFill>
        <p:spPr>
          <a:xfrm>
            <a:off x="3685032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32735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appointment</a:t>
            </a:r>
          </a:p>
        </p:txBody>
      </p:sp>
      <p:pic>
        <p:nvPicPr>
          <p:cNvPr id="27" name="Today picture" descr="today"/>
          <p:cNvPicPr>
            <a:picLocks noChangeAspect="1"/>
          </p:cNvPicPr>
          <p:nvPr/>
        </p:nvPicPr>
        <p:blipFill>
          <a:blip r:embed="rIdImg12"/>
          <a:stretch>
            <a:fillRect/>
          </a:stretch>
        </p:blipFill>
        <p:spPr>
          <a:xfrm>
            <a:off x="64282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60167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7490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Partners: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</a:p>
        </p:txBody>
      </p:sp>
      <p:pic>
        <p:nvPicPr>
          <p:cNvPr id="17" name="Tomorrow picture" descr="tomorrow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tomorrow</a:t>
            </a:r>
          </a:p>
        </p:txBody>
      </p:sp>
      <p:pic>
        <p:nvPicPr>
          <p:cNvPr id="19" name="Sunny picture" descr="sunny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sunny</a:t>
            </a:r>
          </a:p>
        </p:txBody>
      </p:sp>
      <p:pic>
        <p:nvPicPr>
          <p:cNvPr id="21" name="Rainy picture" descr="rainy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rainy</a:t>
            </a:r>
          </a:p>
        </p:txBody>
      </p:sp>
      <p:pic>
        <p:nvPicPr>
          <p:cNvPr id="23" name="Cold picture" descr="cold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cold</a:t>
            </a:r>
          </a:p>
        </p:txBody>
      </p:sp>
      <p:pic>
        <p:nvPicPr>
          <p:cNvPr id="25" name="Hot picture" descr="hot"/>
          <p:cNvPicPr>
            <a:picLocks noChangeAspect="1"/>
          </p:cNvPicPr>
          <p:nvPr/>
        </p:nvPicPr>
        <p:blipFill>
          <a:blip r:embed="rIdImg11"/>
          <a:stretch>
            <a:fillRect/>
          </a:stretch>
        </p:blipFill>
        <p:spPr>
          <a:xfrm>
            <a:off x="3685032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32735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hot</a:t>
            </a:r>
          </a:p>
        </p:txBody>
      </p:sp>
      <p:pic>
        <p:nvPicPr>
          <p:cNvPr id="27" name="Months picture" descr="months"/>
          <p:cNvPicPr>
            <a:picLocks noChangeAspect="1"/>
          </p:cNvPicPr>
          <p:nvPr/>
        </p:nvPicPr>
        <p:blipFill>
          <a:blip r:embed="rIdImg12"/>
          <a:stretch>
            <a:fillRect/>
          </a:stretch>
        </p:blipFill>
        <p:spPr>
          <a:xfrm>
            <a:off x="64282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60167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Listen</a:t>
            </a:r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calls the clinic.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Appointment card: Thursday, May 10, 10:3 picture" descr="appointment card: Thursday, May 10, 10:30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284378" y="1138930"/>
            <a:ext cx="2493568" cy="1745498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1: The appointment.</a:t>
            </a:r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2: The weather.</a:t>
            </a:r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3: The birthdays.</a:t>
            </a:r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it!</a:t>
            </a:r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Thursday, May tenth, at ten thirty.</a:t>
            </a:r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How's the weather?</a:t>
            </a:r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sunny and hot.</a:t>
            </a:r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90" name="Sunny picture" descr="sunny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284378" y="3973570"/>
            <a:ext cx="2493568" cy="1745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66176" y="3721608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0" y="3657600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Months: capital letter?</a:t>
            </a:r>
          </a:p>
        </p:txBody>
      </p:sp>
      <p:sp>
        <p:nvSpPr>
          <p:cNvPr id="9" name="Text 7"/>
          <p:cNvSpPr/>
          <p:nvPr/>
        </p:nvSpPr>
        <p:spPr>
          <a:xfrm>
            <a:off x="8412480" y="4572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May, October (always).</a:t>
            </a:r>
          </a:p>
        </p:txBody>
      </p:sp>
      <p:sp>
        <p:nvSpPr>
          <p:cNvPr id="29" name="Text 27"/>
          <p:cNvSpPr/>
          <p:nvPr/>
        </p:nvSpPr>
        <p:spPr>
          <a:xfrm>
            <a:off x="8229600" y="640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Date</a:t>
            </a:r>
          </a:p>
        </p:txBody>
      </p:sp>
      <p:sp>
        <p:nvSpPr>
          <p:cNvPr id="30" name="Text 28"/>
          <p:cNvSpPr/>
          <p:nvPr/>
        </p:nvSpPr>
        <p:spPr>
          <a:xfrm>
            <a:off x="822960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Month / day / year.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5/10 = May 10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1st, 2nd, 3rd…</a:t>
            </a:r>
          </a:p>
        </p:txBody>
      </p:sp>
      <p:pic>
        <p:nvPicPr>
          <p:cNvPr id="60" name="Ordinals: 1st 2nd 3rd 4th 5th picture" descr="ordinals: 1st 2nd 3rd 4th 5th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1645919" y="502920"/>
            <a:ext cx="5029200" cy="3520440"/>
          </a:xfrm>
          <a:prstGeom prst="rect">
            <a:avLst/>
          </a:prstGeom>
        </p:spPr>
      </p:pic>
      <p:sp>
        <p:nvSpPr>
          <p:cNvPr id="34" name="Answer 1"/>
          <p:cNvSpPr/>
          <p:nvPr/>
        </p:nvSpPr>
        <p:spPr>
          <a:xfrm>
            <a:off x="548640" y="5074920"/>
            <a:ext cx="7315200" cy="77724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10.</a:t>
            </a: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Not October 5.</a:t>
            </a:r>
          </a:p>
        </p:txBody>
      </p:sp>
      <p:sp>
        <p:nvSpPr>
          <p:cNvPr id="130" name="Preview question"/>
          <p:cNvSpPr/>
          <p:nvPr/>
        </p:nvSpPr>
        <p:spPr>
          <a:xfrm>
            <a:off x="548640" y="4251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U.S., 5/10 is…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Calendar: May 5th, 5/5 picture" descr="calendar: May 5th, 5/5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182880" y="811530"/>
            <a:ext cx="3429000" cy="24003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Boxes 1 + 2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 date?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today?</a:t>
            </a:r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October 20th.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October twentieth</a:t>
            </a:r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today?</a:t>
            </a:r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5th.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fifth</a:t>
            </a:r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 5th.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+ date</a:t>
            </a:r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+ month</a:t>
            </a:r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your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birthday?</a:t>
            </a:r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your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birthday?</a:t>
            </a:r>
          </a:p>
        </p:txBody>
      </p:sp>
      <p:pic>
        <p:nvPicPr>
          <p:cNvPr id="95" name="Birthday cake picture" descr="birthday cake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182880" y="3646170"/>
            <a:ext cx="342900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Optional shadow"/>
          <p:cNvSpPr/>
          <p:nvPr/>
        </p:nvSpPr>
        <p:spPr>
          <a:xfrm>
            <a:off x="6709867" y="1350569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1" name="Optional card"/>
          <p:cNvSpPr/>
          <p:nvPr/>
        </p:nvSpPr>
        <p:spPr>
          <a:xfrm>
            <a:off x="6742786" y="1286561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Optional text"/>
          <p:cNvSpPr/>
          <p:nvPr/>
        </p:nvSpPr>
        <p:spPr>
          <a:xfrm>
            <a:off x="694944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How's the weather?</a:t>
            </a:r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sunny.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rainy.</a:t>
            </a:r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cold.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hot.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People: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cold.</a:t>
            </a:r>
          </a:p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How's the weather?</a:t>
            </a:r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makes cold.</a:t>
            </a:r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cold.</a:t>
            </a:r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cold.</a:t>
            </a:r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Appointment card: Thursday, May 10, 10:3 picture" descr="appointment card: Thursday, May 10, 10:30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649224" y="1616796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</a:p>
          <a:p>
            <a:pPr algn="l" indent="0" marL="0"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your appointment?</a:t>
            </a:r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your appointment?</a:t>
            </a:r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Tuesday,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3:00.</a:t>
            </a:r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in, on, or at?</a:t>
            </a:r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  (month)</a:t>
            </a:r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 5th  ·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3:00</a:t>
            </a:r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date or day</a:t>
            </a:r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time</a:t>
            </a:r>
          </a:p>
        </p:txBody>
      </p:sp>
      <p:pic>
        <p:nvPicPr>
          <p:cNvPr id="96" name="Calendar picture" descr="calendar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649224" y="4039956"/>
            <a:ext cx="2826410" cy="19784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15087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4041648"/>
            <a:ext cx="5130698" cy="15087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Circle. Write.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 two. Kim and Marco talk.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4231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Circle the weather.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40690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 birthdays: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Marco: ______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Kim: ______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15087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85292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4041648"/>
            <a:ext cx="1039673" cy="15087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449884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 + C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weather.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birthdays.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4754880" y="2395728"/>
            <a:ext cx="1874519" cy="4114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sunny · hot</a:t>
            </a:r>
          </a:p>
        </p:txBody>
      </p:sp>
      <p:sp>
        <p:nvSpPr>
          <p:cNvPr id="35" name="Answer 2"/>
          <p:cNvSpPr/>
          <p:nvPr/>
        </p:nvSpPr>
        <p:spPr>
          <a:xfrm>
            <a:off x="4526280" y="4315968"/>
            <a:ext cx="2103120" cy="82296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5th</a:t>
            </a:r>
          </a:p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October</a:t>
            </a:r>
          </a:p>
        </p:txBody>
      </p:sp>
      <p:pic>
        <p:nvPicPr>
          <p:cNvPr id="36" name="Sunny picture" descr="sunny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1755648" y="2807208"/>
            <a:ext cx="1097280" cy="768096"/>
          </a:xfrm>
          <a:prstGeom prst="rect">
            <a:avLst/>
          </a:prstGeom>
        </p:spPr>
      </p:pic>
      <p:sp>
        <p:nvSpPr>
          <p:cNvPr id="37" name="Choice a  red"/>
          <p:cNvSpPr/>
          <p:nvPr/>
        </p:nvSpPr>
        <p:spPr>
          <a:xfrm>
            <a:off x="1709928" y="35570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ctr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sunny</a:t>
            </a:r>
          </a:p>
        </p:txBody>
      </p:sp>
      <p:pic>
        <p:nvPicPr>
          <p:cNvPr id="38" name="Rainy picture" descr="rainy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2944368" y="2807208"/>
            <a:ext cx="1097280" cy="768096"/>
          </a:xfrm>
          <a:prstGeom prst="rect">
            <a:avLst/>
          </a:prstGeom>
        </p:spPr>
      </p:pic>
      <p:pic>
        <p:nvPicPr>
          <p:cNvPr id="47" name="Hot picture" descr="hot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5321808" y="2807208"/>
            <a:ext cx="1097280" cy="768096"/>
          </a:xfrm>
          <a:prstGeom prst="rect">
            <a:avLst/>
          </a:prstGeom>
        </p:spPr>
      </p:pic>
      <p:pic>
        <p:nvPicPr>
          <p:cNvPr id="46" name="Cold picture" descr="cold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4133088" y="2807208"/>
            <a:ext cx="1097280" cy="768096"/>
          </a:xfrm>
          <a:prstGeom prst="rect">
            <a:avLst/>
          </a:prstGeom>
        </p:spPr>
      </p:pic>
      <p:sp>
        <p:nvSpPr>
          <p:cNvPr id="39" name="Choice b  blue"/>
          <p:cNvSpPr/>
          <p:nvPr/>
        </p:nvSpPr>
        <p:spPr>
          <a:xfrm>
            <a:off x="2898648" y="35570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ctr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rainy</a:t>
            </a:r>
          </a:p>
        </p:txBody>
      </p:sp>
      <p:sp>
        <p:nvSpPr>
          <p:cNvPr id="49" name="Choice b  blue"/>
          <p:cNvSpPr/>
          <p:nvPr/>
        </p:nvSpPr>
        <p:spPr>
          <a:xfrm>
            <a:off x="5276088" y="35570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ctr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 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hot</a:t>
            </a:r>
          </a:p>
        </p:txBody>
      </p:sp>
      <p:sp>
        <p:nvSpPr>
          <p:cNvPr id="48" name="Choice b  blue"/>
          <p:cNvSpPr/>
          <p:nvPr/>
        </p:nvSpPr>
        <p:spPr>
          <a:xfrm>
            <a:off x="4087368" y="35570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ctr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 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798064"/>
            <a:ext cx="4526280" cy="34290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5217566" y="2806294"/>
            <a:ext cx="5440680" cy="34290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2606040"/>
            <a:ext cx="4526280" cy="3429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5349240" y="2606040"/>
            <a:ext cx="5440680" cy="3429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Cold picture" descr="cold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9124406" y="1188720"/>
            <a:ext cx="1959429" cy="1371600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2697480"/>
            <a:ext cx="40233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577840" y="2697480"/>
            <a:ext cx="49377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20040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makes cold.</a:t>
            </a:r>
          </a:p>
        </p:txBody>
      </p:sp>
      <p:sp>
        <p:nvSpPr>
          <p:cNvPr id="25" name="Good 1"/>
          <p:cNvSpPr/>
          <p:nvPr/>
        </p:nvSpPr>
        <p:spPr>
          <a:xfrm>
            <a:off x="5577840" y="320040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cold.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370332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cold.</a:t>
            </a:r>
          </a:p>
        </p:txBody>
      </p:sp>
      <p:sp>
        <p:nvSpPr>
          <p:cNvPr id="27" name="Good 2"/>
          <p:cNvSpPr/>
          <p:nvPr/>
        </p:nvSpPr>
        <p:spPr>
          <a:xfrm>
            <a:off x="5577840" y="370332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cold. / It's cold.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20624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May 5th</a:t>
            </a:r>
          </a:p>
        </p:txBody>
      </p:sp>
      <p:sp>
        <p:nvSpPr>
          <p:cNvPr id="29" name="Good 3"/>
          <p:cNvSpPr/>
          <p:nvPr/>
        </p:nvSpPr>
        <p:spPr>
          <a:xfrm>
            <a:off x="5577840" y="420624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 5th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470916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May</a:t>
            </a:r>
          </a:p>
        </p:txBody>
      </p:sp>
      <p:sp>
        <p:nvSpPr>
          <p:cNvPr id="61" name="Good 4"/>
          <p:cNvSpPr/>
          <p:nvPr/>
        </p:nvSpPr>
        <p:spPr>
          <a:xfrm>
            <a:off x="5577840" y="470916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Birthday cake picture" descr="birthday cake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502920" y="3168396"/>
            <a:ext cx="4663440" cy="3264408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Birthday Line</a:t>
            </a:r>
          </a:p>
        </p:txBody>
      </p:sp>
      <p:sp>
        <p:nvSpPr>
          <p:cNvPr id="8" name="Text 6"/>
          <p:cNvSpPr/>
          <p:nvPr/>
        </p:nvSpPr>
        <p:spPr>
          <a:xfrm>
            <a:off x="6035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Whole class.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Stand up. Ask only.</a:t>
            </a:r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Ask: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your birthday?</a:t>
            </a:r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Answer: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on ___. / It's in ___.</a:t>
            </a:r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Line up by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month and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pic>
        <p:nvPicPr>
          <p:cNvPr id="16" name="Calendar: today picture" descr="calendar: today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birthday is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___.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say: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on ___.</a:t>
            </a:r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Today, tomorrow.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in, on, or at.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months.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Today's date 2 ways.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One food you like.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5/10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tenth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C: write today's date.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D: A says, B points.</a:t>
            </a:r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Real-World Reading  ·  Tasks C + D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the Date</a:t>
            </a:r>
          </a:p>
        </p:txBody>
      </p:sp>
      <p:sp>
        <p:nvSpPr>
          <p:cNvPr id="8" name="Text 6"/>
          <p:cNvSpPr/>
          <p:nvPr/>
        </p:nvSpPr>
        <p:spPr>
          <a:xfrm>
            <a:off x="498348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NUMBERS</a:t>
            </a:r>
          </a:p>
        </p:txBody>
      </p:sp>
      <p:sp>
        <p:nvSpPr>
          <p:cNvPr id="11" name="Text 9"/>
          <p:cNvSpPr/>
          <p:nvPr/>
        </p:nvSpPr>
        <p:spPr>
          <a:xfrm>
            <a:off x="80467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</a:p>
        </p:txBody>
      </p:sp>
      <p:sp>
        <p:nvSpPr>
          <p:cNvPr id="18" name="Highlight 1"/>
          <p:cNvSpPr/>
          <p:nvPr/>
        </p:nvSpPr>
        <p:spPr>
          <a:xfrm>
            <a:off x="4937760" y="2697479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4937760" y="2651760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5/10</a:t>
            </a:r>
          </a:p>
        </p:txBody>
      </p:sp>
      <p:sp>
        <p:nvSpPr>
          <p:cNvPr id="22" name="Answer bg 1"/>
          <p:cNvSpPr/>
          <p:nvPr/>
        </p:nvSpPr>
        <p:spPr>
          <a:xfrm>
            <a:off x="8001000" y="2651760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001000" y="2651760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tenth</a:t>
            </a:r>
          </a:p>
        </p:txBody>
      </p:sp>
      <p:sp>
        <p:nvSpPr>
          <p:cNvPr id="23" name="Highlight 2"/>
          <p:cNvSpPr/>
          <p:nvPr/>
        </p:nvSpPr>
        <p:spPr>
          <a:xfrm>
            <a:off x="4937760" y="3465575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4937760" y="3419856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10/5</a:t>
            </a:r>
          </a:p>
        </p:txBody>
      </p:sp>
      <p:sp>
        <p:nvSpPr>
          <p:cNvPr id="27" name="Answer bg 2"/>
          <p:cNvSpPr/>
          <p:nvPr/>
        </p:nvSpPr>
        <p:spPr>
          <a:xfrm>
            <a:off x="8001000" y="3419856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001000" y="3419856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October fifth</a:t>
            </a:r>
          </a:p>
        </p:txBody>
      </p:sp>
      <p:sp>
        <p:nvSpPr>
          <p:cNvPr id="132" name="Highlight 3"/>
          <p:cNvSpPr/>
          <p:nvPr/>
        </p:nvSpPr>
        <p:spPr>
          <a:xfrm>
            <a:off x="4937760" y="4233672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4937760" y="4187952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12/25</a:t>
            </a:r>
          </a:p>
        </p:txBody>
      </p:sp>
      <p:sp>
        <p:nvSpPr>
          <p:cNvPr id="162" name="Answer bg 3"/>
          <p:cNvSpPr/>
          <p:nvPr/>
        </p:nvSpPr>
        <p:spPr>
          <a:xfrm>
            <a:off x="8001000" y="4187952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001000" y="4187952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December twenty-fifth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Match the question</a:t>
            </a:r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When is your birthday?</a:t>
            </a:r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It's on May 5th.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How's the weather?</a:t>
            </a:r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It's sunny.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When is your appointment?</a:t>
            </a:r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On Tuesday at 3:00.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What's the date today?</a:t>
            </a:r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It's October 20th.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Sunny picture" descr="sunny">    </p:cNvPr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 Work!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When is your birthday?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It's on May 5th. It's in May.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It's sunny. It's cold.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 use Twemoji graphics by Twitter, Inc. and other contributors (https://github.com/jdecked/twemoji), licensed under CC BY 4.0 (https://creativecommons.org/licenses/by/4.0/). The graphics were resized and combined, and labels were added. The calendar, month, months, ordinals, and appointment-card pictures are drawn in code. Labels on the pictures use the DejaVu Sans font. The review picture (the fish) is from Lesson 8.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(the faces on the Progress Check) are standard emoji characters shown with the computer's emoji font.</a:t>
            </a:r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All names, places, and dates on the slides (Kim, Marco, Riverside Clinic, the appointment) are invented.</a:t>
            </a:r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(Narrator, Receptionist, Kim, Marco) made with Chatterbox TTS (Resemble AI, MIT License), copied from short reference clips made with Kokoro-82M (Apache 2.0); no recordings of real people were used. Each file carries an inaudible Perth watermark. Font: Lexend Deca (OFL 1.1).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and write.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 one. Kim calls the clinic.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Day: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   Thursday   Friday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Date: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________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Time: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Date and time: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4983480" y="2523744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</a:p>
        </p:txBody>
      </p:sp>
      <p:sp>
        <p:nvSpPr>
          <p:cNvPr id="35" name="Answer 2"/>
          <p:cNvSpPr/>
          <p:nvPr/>
        </p:nvSpPr>
        <p:spPr>
          <a:xfrm>
            <a:off x="4983480" y="3310128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10</a:t>
            </a:r>
          </a:p>
        </p:txBody>
      </p:sp>
      <p:sp>
        <p:nvSpPr>
          <p:cNvPr id="36" name="Answer 3"/>
          <p:cNvSpPr/>
          <p:nvPr/>
        </p:nvSpPr>
        <p:spPr>
          <a:xfrm>
            <a:off x="4983480" y="4096511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10:30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Appointment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  ·  PART 2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receptionist.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is the patient.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3931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When is my appointment?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On Thursday, at 10:30.</a:t>
            </a:r>
          </a:p>
        </p:txBody>
      </p:sp>
      <p:sp>
        <p:nvSpPr>
          <p:cNvPr id="139" name="List shadow"/>
          <p:cNvSpPr/>
          <p:nvPr/>
        </p:nvSpPr>
        <p:spPr>
          <a:xfrm>
            <a:off x="6053328" y="1298448"/>
            <a:ext cx="5760720" cy="31546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0" name="List card"/>
          <p:cNvSpPr/>
          <p:nvPr/>
        </p:nvSpPr>
        <p:spPr>
          <a:xfrm>
            <a:off x="5989320" y="1234440"/>
            <a:ext cx="5760720" cy="3154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Question list"/>
          <p:cNvSpPr/>
          <p:nvPr/>
        </p:nvSpPr>
        <p:spPr>
          <a:xfrm>
            <a:off x="6263640" y="146304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says: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appointment is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___, at ___.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repeats: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___, at ___.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OK.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Thank you!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switch.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in, on, at, or a weather word.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Grammar Boxes 1–4.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birthday is ____ May 5th.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birthday is ____ May.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is ____ 6:00.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How's the weather?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________.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appointment is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Tuesday.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in, on, at?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month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date or day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sunny</a:t>
            </a:r>
          </a:p>
        </p:txBody>
      </p:sp>
      <p:sp>
        <p:nvSpPr>
          <p:cNvPr id="54" name="Answer 5"/>
          <p:cNvSpPr/>
          <p:nvPr/>
        </p:nvSpPr>
        <p:spPr>
          <a:xfrm>
            <a:off x="5486400" y="566928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Match. Draw a line.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U.S. dates: month / day.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5/10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10/5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12/25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U.S. Dates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October 5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10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December 25</a:t>
            </a:r>
          </a:p>
        </p:txBody>
      </p:sp>
      <p:sp>
        <p:nvSpPr>
          <p:cNvPr id="34" name="Answer 1"/>
          <p:cNvSpPr/>
          <p:nvPr/>
        </p:nvSpPr>
        <p:spPr>
          <a:xfrm>
            <a:off x="4754880" y="2523744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May 10</a:t>
            </a:r>
          </a:p>
        </p:txBody>
      </p:sp>
      <p:sp>
        <p:nvSpPr>
          <p:cNvPr id="35" name="Answer 2"/>
          <p:cNvSpPr/>
          <p:nvPr/>
        </p:nvSpPr>
        <p:spPr>
          <a:xfrm>
            <a:off x="4754880" y="3310128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October 5</a:t>
            </a:r>
          </a:p>
        </p:txBody>
      </p:sp>
      <p:sp>
        <p:nvSpPr>
          <p:cNvPr id="36" name="Answer 3"/>
          <p:cNvSpPr/>
          <p:nvPr/>
        </p:nvSpPr>
        <p:spPr>
          <a:xfrm>
            <a:off x="4754880" y="4096512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December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7: How Much Is It?</dc:title>
  <dc:subject>Adult ESL Level 1, Lesson 7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