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2.xml" ContentType="application/vnd.openxmlformats-officedocument.presentationml.notesSlide+xml"/>
  <Override PartName="/ppt/slides/slide27.xml" ContentType="application/vnd.openxmlformats-officedocument.presentationml.slide+xml"/>
  <Override PartName="/ppt/notesSlides/notesSlide33.xml" ContentType="application/vnd.openxmlformats-officedocument.presentationml.notesSlide+xml"/>
  <Override PartName="/ppt/slides/slide28.xml" ContentType="application/vnd.openxmlformats-officedocument.presentationml.slide+xml"/>
  <Override PartName="/ppt/notesSlides/notesSlide34.xml" ContentType="application/vnd.openxmlformats-officedocument.presentationml.notesSlide+xml"/>
  <Override PartName="/ppt/slides/slide29.xml" ContentType="application/vnd.openxmlformats-officedocument.presentationml.slide+xml"/>
  <Override PartName="/ppt/notesSlides/notesSlide36.xml" ContentType="application/vnd.openxmlformats-officedocument.presentationml.notesSlide+xml"/>
  <Override PartName="/ppt/slides/slide31.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67" r:id="rId13"/>
    <p:sldId id="257" r:id="rId3"/>
    <p:sldId id="265" r:id="rId11"/>
    <p:sldId id="276" r:id="rId27"/>
    <p:sldId id="264" r:id="rId10"/>
    <p:sldId id="287" r:id="rId38"/>
    <p:sldId id="280" r:id="rId31"/>
    <p:sldId id="260" r:id="rId6"/>
    <p:sldId id="266" r:id="rId12"/>
    <p:sldId id="277" r:id="rId28"/>
    <p:sldId id="259" r:id="rId5"/>
    <p:sldId id="289" r:id="rId40"/>
    <p:sldId id="278" r:id="rId29"/>
    <p:sldId id="270" r:id="rId16"/>
    <p:sldId id="288" r:id="rId39"/>
    <p:sldId id="271" r:id="rId17"/>
    <p:sldId id="279" r:id="rId30"/>
    <p:sldId id="291" r:id="rId42"/>
    <p:sldId id="281" r:id="rId32"/>
    <p:sldId id="261" r:id="rId7"/>
    <p:sldId id="283" r:id="rId34"/>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21.xml"/><Relationship Id="rId10" Type="http://schemas.openxmlformats.org/officeDocument/2006/relationships/slide" Target="slides/slide8.xml"/><Relationship Id="rId11" Type="http://schemas.openxmlformats.org/officeDocument/2006/relationships/slide" Target="slides/slide5.xml"/><Relationship Id="rId12" Type="http://schemas.openxmlformats.org/officeDocument/2006/relationships/slide" Target="slides/slide14.xml"/><Relationship Id="rId13" Type="http://schemas.openxmlformats.org/officeDocument/2006/relationships/slide" Target="slides/slide2.xml"/><Relationship Id="rId16" Type="http://schemas.openxmlformats.org/officeDocument/2006/relationships/slide" Target="slides/slide17.xml"/><Relationship Id="rId17" Type="http://schemas.openxmlformats.org/officeDocument/2006/relationships/slide" Target="slides/slide18.xml"/><Relationship Id="rId20" Type="http://schemas.openxmlformats.org/officeDocument/2006/relationships/slide" Target="slides/slide23.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6.xml"/><Relationship Id="rId28" Type="http://schemas.openxmlformats.org/officeDocument/2006/relationships/slide" Target="slides/slide11.xml"/><Relationship Id="rId29" Type="http://schemas.openxmlformats.org/officeDocument/2006/relationships/slide" Target="slides/slide16.xml"/><Relationship Id="rId30" Type="http://schemas.openxmlformats.org/officeDocument/2006/relationships/slide" Target="slides/slide4.xml"/><Relationship Id="rId31" Type="http://schemas.openxmlformats.org/officeDocument/2006/relationships/slide" Target="slides/slide15.xml"/><Relationship Id="rId32" Type="http://schemas.openxmlformats.org/officeDocument/2006/relationships/slide" Target="slides/slide19.xml"/><Relationship Id="rId34" Type="http://schemas.openxmlformats.org/officeDocument/2006/relationships/slide" Target="slides/slide22.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2"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Say: "Today: places in town." Point to the map: "Bank. Pharmacy. Park. School."</a:t>
            </a:r>
          </a:p>
          <a:p>
            <a:r>
              <a:rPr lang="en-US"/>
              <a:t>Before class: print the Student Pages (number expected + 3 spares), one set of picture cards per group of 3–4, the map for Talk Time and Real-World Reading, and the left / right cards. Have the phone + small speaker and L1_L11_listening.mp3 ready. Prep time: 30 min.</a:t>
            </a:r>
          </a:p>
          <a:p>
            <a:r>
              <a:rPr lang="en-US"/>
              <a:t>Streets are invented (Main Street). Homework uses a map on paper or a phone; do not ask learners to walk alone.</a:t>
            </a:r>
          </a:p>
          <a:p>
            <a:r>
              <a:rPr lang="en-US"/>
              <a:t>Left / right: stand with the class, all facing the same way, before you mime.</a:t>
            </a:r>
          </a:p>
          <a:p>
            <a:r>
              <a:rPr lang="en-US"/>
              <a:t>Class plan: 6:00 Hello + Review, 6:10 New Words, 6:20 Listening, 6:32 Grammar, 6:45 Break, 7:00 Talk Time, 7:10 Exit Ticket + Homework, 7:15 Real-World Reading, 7:25 Progress Check.</a:t>
            </a:r>
          </a:p>
          <a:p>
            <a:r>
              <a:rPr lang="en-US"/>
              <a:t>Source: level1_curriculum/lesson11/Level1_Lesson11.md (At a glance, Clock-time plan, Teacher notes).</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Pairs. 15 learners: 7 pairs + 1 group of 3. 7–8 learners: 3–4 pairs. Late arrivals join any pair.</a:t>
            </a:r>
          </a:p>
          <a:p>
            <a:r>
              <a:rPr lang="en-US"/>
              <a:t>Before class, write on the board: Is there a kitchen? Where's the bank? Go straight.</a:t>
            </a:r>
          </a:p>
          <a:p>
            <a:r>
              <a:rPr lang="en-US"/>
              <a:t>Model with one learner: "Is there a kitchen?" "Yes, there is." Then mime: "Turn left."</a:t>
            </a:r>
          </a:p>
          <a:p>
            <a:r>
              <a:rPr lang="en-US"/>
              <a:t>Click to show the A question. Click again for the B answers. Pairs use the Hello + Review page: 1 Is there a kitchen in your home? 2 How many bedrooms are there? There are ___. 3 Is there a sofa in your home? Switch. Then find a new partner.</a:t>
            </a:r>
          </a:p>
          <a:p>
            <a:r>
              <a:rPr lang="en-US"/>
              <a:t>Homework check (last 3 min): partners show last week's homework. Walk around and look.</a:t>
            </a:r>
          </a:p>
          <a:p>
            <a:r>
              <a:rPr lang="en-US"/>
              <a:t>New learners: pair them with a strong partner. If behind: one partner only.</a:t>
            </a:r>
          </a:p>
          <a:p>
            <a:r>
              <a:rPr lang="en-US"/>
              <a:t>Source: level1_curriculum/lesson11/Level1_Lesson11.md (Step 1: Hello + Review; Student Pages: Hello + Review).</a:t>
            </a:r>
          </a:p>
          <a:p>
            <a:r>
              <a:rPr lang="en-US"/>
              <a:t>Review picture: the kitchen from Lesson 10 (lesson10/images/L1_L10_kitchen.png). Twemoji graphics by Twitter, Inc. and other contributors (https://github.com/jdecked/twemoji), CC BY 4.0 (https://creativecommons.org/licenses/by/4.0/); resized and combined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5: read each DON'T SAY line. Shake your head. Click to show the SAY line. Learners repeat it.</a:t>
            </a:r>
          </a:p>
          <a:p>
            <a:r>
              <a:rPr lang="en-US"/>
              <a:t>It's near the school (not nearly). It's on Main Street (not in Main Street).</a:t>
            </a:r>
          </a:p>
          <a:p>
            <a:r>
              <a:rPr lang="en-US"/>
              <a:t>Side card: on or in the street? on Main Street. Turn left: no "to the". Where's = Where is.</a:t>
            </a:r>
          </a:p>
          <a:p>
            <a:r>
              <a:rPr lang="en-US"/>
              <a:t>Big mistake this week: in the left / mixing next to and across from. Mime and point.</a:t>
            </a:r>
          </a:p>
          <a:p>
            <a:r>
              <a:rPr lang="en-US"/>
              <a:t>Source: level1_curriculum/lesson11/Level1_Lesson11.md (Grammar Box 5; Questions and answers; Teacher notes).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the Grammar page. Left = question. Right = answer. Point left, then right.</a:t>
            </a:r>
          </a:p>
          <a:p>
            <a:r>
              <a:rPr lang="en-US"/>
              <a:t>Box 1: "Excuse me, where's the bank?" Click: "It's on Main Street." / "It's next to the pharmacy."</a:t>
            </a:r>
          </a:p>
          <a:p>
            <a:r>
              <a:rPr lang="en-US"/>
              <a:t>Box 2: "Where's the park?" Click: "It's across from the bank." "Where's the store?" Click: "It's between the bank and the school."</a:t>
            </a:r>
          </a:p>
          <a:p>
            <a:r>
              <a:rPr lang="en-US"/>
              <a:t>Use 3 learners or 3 chairs to show next to, across from, and between.</a:t>
            </a:r>
          </a:p>
          <a:p>
            <a:r>
              <a:rPr lang="en-US"/>
              <a:t>Where is or Where's? Both OK. Where's = Where is (fast speech).</a:t>
            </a:r>
          </a:p>
          <a:p>
            <a:r>
              <a:rPr lang="en-US"/>
              <a:t>Check question: "The pharmacy is ___ the bank." (next to)</a:t>
            </a:r>
          </a:p>
          <a:p>
            <a:r>
              <a:rPr lang="en-US"/>
              <a:t>Source: level1_curriculum/lesson11/Level1_Lesson11.md (Step 4: Grammar Q&amp;A, Boxes 1–2; Grammar Boxes 1 and 2; Questions and answers).</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Progress Check (5 min). Individuals. Open the Progress Check page.</a:t>
            </a:r>
          </a:p>
          <a:p>
            <a:r>
              <a:rPr lang="en-US"/>
              <a:t>Part A: read each word slowly, 2 times: 1 bank, 2 left, 3 park, 4 pharmacy, 5 school. Learners circle.</a:t>
            </a:r>
          </a:p>
          <a:p>
            <a:r>
              <a:rPr lang="en-US"/>
              <a:t>Parts B and C: learners match and write on their own. Help with the instructions only. Click to show the Part B answers when you check together: 1 c, 2 d, 3 b, 4 a.</a:t>
            </a:r>
          </a:p>
          <a:p>
            <a:r>
              <a:rPr lang="en-US"/>
              <a:t>Part C answers: 1 across from, 2 between, 3 next to.</a:t>
            </a:r>
          </a:p>
          <a:p>
            <a:r>
              <a:rPr lang="en-US"/>
              <a:t>Part D: read each "I can…" line and point to the 3 faces. Learners check one.</a:t>
            </a:r>
          </a:p>
          <a:p>
            <a:r>
              <a:rPr lang="en-US"/>
              <a:t>Score: A /5 + B /4 + C /3 = /12. Not a test grade. Collect if you want. If behind: do it next week at 6:00.</a:t>
            </a:r>
          </a:p>
          <a:p>
            <a:r>
              <a:rPr lang="en-US"/>
              <a:t>Source: level1_curriculum/lesson11/Level1_Lesson11.md (Progress Check step; Student Pages: Progress Check; Answer key).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you listen (1 min). Say: "Ana is on the street. She asks Marco for directions to the pharmacy."</a:t>
            </a:r>
          </a:p>
          <a:p>
            <a:r>
              <a:rPr lang="en-US"/>
              <a:t>Click to show each listen. Listen 1: Task A (circle: turn left or right, next to, across from). Listen 2: Task B (write the street name). Listen 3: Task C (check the directions you hear).</a:t>
            </a:r>
          </a:p>
          <a:p>
            <a:r>
              <a:rPr lang="en-US"/>
              <a:t>Say it!: read each line. Learners repeat: "Go straight two blocks." "It's next to the bank."</a:t>
            </a:r>
          </a:p>
          <a:p>
            <a:r>
              <a:rPr lang="en-US"/>
              <a:t>The audio L1_L11_listening.mp3 (about 1:10) plays the conversation once. Press play again for the next listen. Pairs compare after each task. Write answers on the board.</a:t>
            </a:r>
          </a:p>
          <a:p>
            <a:r>
              <a:rPr lang="en-US"/>
              <a:t>No speaker? Read the script with a volunteer. Streets are invented (Main Street).</a:t>
            </a:r>
          </a:p>
          <a:p>
            <a:r>
              <a:rPr lang="en-US"/>
              <a:t>Voices: Narrator, Ana, Marco. Synthetic voices made with Chatterbox TTS (MIT), copied from short reference clips made with Kokoro-82M (Apache 2.0); no recordings of real people.</a:t>
            </a:r>
          </a:p>
          <a:p>
            <a:r>
              <a:rPr lang="en-US"/>
              <a:t>If behind: play 2 times; do Task C together.</a:t>
            </a:r>
          </a:p>
          <a:p>
            <a:r>
              <a:rPr lang="en-US"/>
              <a:t>Source: level1_curriculum/lesson11/Level1_Lesson11.md (Step 3: Listening; Listening script).</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to the places on the map: "Bank. Pharmacy. Park. School."</a:t>
            </a:r>
          </a:p>
          <a:p>
            <a:r>
              <a:rPr lang="en-US"/>
              <a:t>Click to show each picture. Point and say the word. Learners repeat 2 times. ★ words 2 more times.</a:t>
            </a:r>
          </a:p>
          <a:p>
            <a:r>
              <a:rPr lang="en-US"/>
              <a:t>★ = most important words (as on the New Words page). If behind: teach the ★ words only.</a:t>
            </a:r>
          </a:p>
          <a:p>
            <a:r>
              <a:rPr lang="en-US"/>
              <a:t>Source: level1_curriculum/lesson11/Level1_Lesson11.md (Step 2: New Words; Student Pages: New Words).</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3: mime each one. "Go straight." Click. "Turn left. Turn right. It's on your left." Click.</a:t>
            </a:r>
          </a:p>
          <a:p>
            <a:r>
              <a:rPr lang="en-US"/>
              <a:t>Stand with the class, all facing the same way. Learners point and say: left, right, straight.</a:t>
            </a:r>
          </a:p>
          <a:p>
            <a:r>
              <a:rPr lang="en-US"/>
              <a:t>Turn left (not Turn to the left in this class).</a:t>
            </a:r>
          </a:p>
          <a:p>
            <a:r>
              <a:rPr lang="en-US"/>
              <a:t>Check question: "Turn ___ at the corner." (left)</a:t>
            </a:r>
          </a:p>
          <a:p>
            <a:r>
              <a:rPr lang="en-US"/>
              <a:t>Source: level1_curriculum/lesson11/Level1_Lesson11.md (Step 4: Grammar Q&amp;A, Box 3; Grammar Box 3; Questions and answers; Teacher notes).</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Click to show each goal, one at a time. Read it aloud. Learners repeat.</a:t>
            </a:r>
          </a:p>
          <a:p>
            <a:r>
              <a:rPr lang="en-US"/>
              <a:t>Goal 1: places in town: bank, pharmacy, school, hospital, bus stop, store, park, restaurant, street, corner.</a:t>
            </a:r>
          </a:p>
          <a:p>
            <a:r>
              <a:rPr lang="en-US"/>
              <a:t>Goal 2: "Where's the bank?" "It's on Main Street."</a:t>
            </a:r>
          </a:p>
          <a:p>
            <a:r>
              <a:rPr lang="en-US"/>
              <a:t>Goal 3: "It's next to / across from / between…"</a:t>
            </a:r>
          </a:p>
          <a:p>
            <a:r>
              <a:rPr lang="en-US"/>
              <a:t>Goal 4: "Go straight. Turn left. Turn right." Understand a short directions dialogue.</a:t>
            </a:r>
          </a:p>
          <a:p>
            <a:r>
              <a:rPr lang="en-US"/>
              <a:t>Goal 5: read a simple map and street signs (EXIT, ONE WAY, PUSH) at 7:15.</a:t>
            </a:r>
          </a:p>
          <a:p>
            <a:r>
              <a:rPr lang="en-US"/>
              <a:t>Source: level1_curriculum/lesson11/Level1_Lesson11.md (At a glance: Objectives).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1 (5 min). A–B pairs with the map. Student A has the map and answers: It's next to / across from / between… Student B asks about 3 places and writes: Where's the bank? Where's the pharmacy? Where's the school?</a:t>
            </a:r>
          </a:p>
          <a:p>
            <a:r>
              <a:rPr lang="en-US"/>
              <a:t>Click to show each step. Then switch.</a:t>
            </a:r>
          </a:p>
          <a:p>
            <a:r>
              <a:rPr lang="en-US"/>
              <a:t>Learners who can't read yet: they point on the map and say the place names.</a:t>
            </a:r>
          </a:p>
          <a:p>
            <a:r>
              <a:rPr lang="en-US"/>
              <a:t>If behind: one round only.</a:t>
            </a:r>
          </a:p>
          <a:p>
            <a:r>
              <a:rPr lang="en-US"/>
              <a:t>Source: level1_curriculum/lesson11/Level1_Lesson11.md (Step 5: Talk Time, Part 1; Student Pages: Talk Time A and B; Teacher notes).</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Exit ticket (never skip): each learner says "Where's the ___?" or "Go straight / Turn left."</a:t>
            </a:r>
          </a:p>
          <a:p>
            <a:r>
              <a:rPr lang="en-US"/>
              <a:t>Homework (10 minutes): open the Homework page. Do item 1, line 1 together. Point to each instruction.</a:t>
            </a:r>
          </a:p>
          <a:p>
            <a:r>
              <a:rPr lang="en-US"/>
              <a:t>Homework: 1) write with next to, across from, or between; 2) write directions (2–3 short sentences); 3) look at a map (paper or phone) and write 3 places; do not walk alone for this homework; 4) ask a family member "Where's the store?" and write the answer in English if you can; 5) review: write There is… or There are… about your home (Lesson 10).</a:t>
            </a:r>
          </a:p>
          <a:p>
            <a:r>
              <a:rPr lang="en-US"/>
              <a:t>Source: level1_curriculum/lesson11/Level1_Lesson11.md (Step 6: Exit Ticket + Homework; Student Pages: Homework; Teacher notes).</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Credits for the pictures, audio, and font.</a:t>
            </a:r>
          </a:p>
          <a:p>
            <a:r>
              <a:rPr lang="en-US"/>
              <a:t>Pictures: Twemoji (CC BY 4.0), https://github.com/jdecked/twemoji; resized, labels added; corner, left, right, map, and signs drawn in code. Review picture (kitchen) from Lesson 10. Audio: Chatterbox TTS (MIT) voices copied from short Kokoro-82M (Apache 2.0) reference clips; no recordings of real people.</a:t>
            </a:r>
          </a:p>
          <a:p>
            <a:r>
              <a:rPr lang="en-US"/>
              <a:t>Sources: Level1_Lesson11.md (Picture Credits), lesson11/images/CREDITS.md, lesson11/audio/README.md.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Mime: "Go straight. Turn left. Turn right." Stand with the class, all facing the same way.</a:t>
            </a:r>
          </a:p>
          <a:p>
            <a:r>
              <a:rPr lang="en-US"/>
              <a:t>Click to show each picture. Say the word. Learners repeat 2 times.</a:t>
            </a:r>
          </a:p>
          <a:p>
            <a:r>
              <a:rPr lang="en-US"/>
              <a:t>Pairs (4 min): A points to a picture, B says the word. Then A asks "Where's the ___?" B answers with next to / across from.</a:t>
            </a:r>
          </a:p>
          <a:p>
            <a:r>
              <a:rPr lang="en-US"/>
              <a:t>★ = most important words. restaurant has no ★ on the New Words page. If behind: teach the ★ words only.</a:t>
            </a:r>
          </a:p>
          <a:p>
            <a:r>
              <a:rPr lang="en-US"/>
              <a:t>Source: level1_curriculum/lesson11/Level1_Lesson11.md (Step 2: New Words; Student Pages: New Words).</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4: "Excuse me. Where's the pharmacy?" Click: "It's on Main Street."</a:t>
            </a:r>
          </a:p>
          <a:p>
            <a:r>
              <a:rPr lang="en-US"/>
              <a:t>Right box: "How do I get there?" Click: "Go straight two blocks. Turn left."</a:t>
            </a:r>
          </a:p>
          <a:p>
            <a:r>
              <a:rPr lang="en-US"/>
              <a:t>Pairs: A asks, B is the helper. Then switch.</a:t>
            </a:r>
          </a:p>
          <a:p>
            <a:r>
              <a:rPr lang="en-US"/>
              <a:t>Pair drill (last 3–4 min): A asks Where's the…? B answers from the map; then A gives one direction. If behind: skip the pair drill; Talk Time practices the same language.</a:t>
            </a:r>
          </a:p>
          <a:p>
            <a:r>
              <a:rPr lang="en-US"/>
              <a:t>Source: level1_curriculum/lesson11/Level1_Lesson11.md (Step 4: Grammar Q&amp;A, pair drill; Grammar Box 4).</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each "Don't say" line. Shake your head. Click to show the correct line. Learners repeat it.</a:t>
            </a:r>
          </a:p>
          <a:p>
            <a:r>
              <a:rPr lang="en-US"/>
              <a:t>in Main Street → on Main Street. Turn to the left → Turn left. It's near of the bank → It's next to the bank.</a:t>
            </a:r>
          </a:p>
          <a:p>
            <a:r>
              <a:rPr lang="en-US"/>
              <a:t>Spanish speakers: Turn left (no "to the"); on Main Street (not in); next to = al lado de. Learners can read the Spanish note on their Grammar page.</a:t>
            </a:r>
          </a:p>
          <a:p>
            <a:r>
              <a:rPr lang="en-US"/>
              <a:t>Source: level1_curriculum/lesson11/Level1_Lesson11.md (Grammar: Common mistakes; Teacher notes).</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Real-World Reading (10 min). Whole class, then pairs. Use the Real-World Reading page.</a:t>
            </a:r>
          </a:p>
          <a:p>
            <a:r>
              <a:rPr lang="en-US"/>
              <a:t>See it (2 min), Task A: find the places on the map. Learners answer.</a:t>
            </a:r>
          </a:p>
          <a:p>
            <a:r>
              <a:rPr lang="en-US"/>
              <a:t>Then click to show each answer: 1 pharmacy (next to the bank), 2 pharmacy (across from the park), as in the answer key.</a:t>
            </a:r>
          </a:p>
          <a:p>
            <a:r>
              <a:rPr lang="en-US"/>
              <a:t>Hear it (2 min): say "Turn left"; learners point to the LEFT picture.</a:t>
            </a:r>
          </a:p>
          <a:p>
            <a:r>
              <a:rPr lang="en-US"/>
              <a:t>Learners who can't read yet: they point on the map and say place names.</a:t>
            </a:r>
          </a:p>
          <a:p>
            <a:r>
              <a:rPr lang="en-US"/>
              <a:t>Source: level1_curriculum/lesson11/Level1_Lesson11.md (Real-World Reading step; Student Pages: Real-World Reading A; Listening script).</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Listen 2 (Task B): learners write the street name. Listen 3 (Task C): learners check the directions they hear.</a:t>
            </a:r>
          </a:p>
          <a:p>
            <a:r>
              <a:rPr lang="en-US"/>
              <a:t>Pairs compare. Then click to show each answer.</a:t>
            </a:r>
          </a:p>
          <a:p>
            <a:r>
              <a:rPr lang="en-US"/>
              <a:t>Task B: Main Street ("It's on Main Street.").</a:t>
            </a:r>
          </a:p>
          <a:p>
            <a:r>
              <a:rPr lang="en-US"/>
              <a:t>Task C: Go straight ✓ ("Go straight two blocks.") and Turn left ✓ ("Then turn left at the corner."). Turn right is not in the audio.</a:t>
            </a:r>
          </a:p>
          <a:p>
            <a:r>
              <a:rPr lang="en-US"/>
              <a:t>Also from the audio: the pharmacy is near the school (yes); the school is between the park and the store.</a:t>
            </a:r>
          </a:p>
          <a:p>
            <a:r>
              <a:rPr lang="en-US"/>
              <a:t>Say it with a partner (page D): "Excuse me. Where's the pharmacy?" "Go straight two blocks. Turn left. It's next to the bank." "Thank you!" "You're welcome."</a:t>
            </a:r>
          </a:p>
          <a:p>
            <a:r>
              <a:rPr lang="en-US"/>
              <a:t>If behind: play the audio 2 times, and do Task C together.</a:t>
            </a:r>
          </a:p>
          <a:p>
            <a:r>
              <a:rPr lang="en-US"/>
              <a:t>Source: level1_curriculum/lesson11/Level1_Lesson11.md (Step 3: Listening; Student Pages: Listening B, C, D; Answer key).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Task C: read each line. Learners circle the correct word. Click to show each answer: 1 Go straight (two blocks), 2 Turn left (at the corner).</a:t>
            </a:r>
          </a:p>
          <a:p>
            <a:r>
              <a:rPr lang="en-US"/>
              <a:t>Task D (pairs): A gives a direction; B points on the map. Then switch.</a:t>
            </a:r>
          </a:p>
          <a:p>
            <a:r>
              <a:rPr lang="en-US"/>
              <a:t>Source: level1_curriculum/lesson11/Level1_Lesson11.md (Real-World Reading step; Student Pages: Real-World Reading C and 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"Great work! See you next week!" Remind learners: bring the homework next week. Homework uses a map on paper or a phone; no walking alone.</a:t>
            </a:r>
          </a:p>
          <a:p>
            <a:r>
              <a:rPr lang="en-US"/>
              <a:t>Collect the Progress Check pages if you want.</a:t>
            </a:r>
          </a:p>
          <a:p>
            <a:r>
              <a:rPr lang="en-US"/>
              <a:t>Source: level1_curriculum/lesson11/Level1_Lesson11.md (At a glance: Objectives; Teacher notes).</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Listen 1 (Task A). Learners circle: 1 turn left or right; 2 the pharmacy is next to the bank or the school; 3 the pharmacy is across from the park or the hospital.</a:t>
            </a:r>
          </a:p>
          <a:p>
            <a:r>
              <a:rPr lang="en-US"/>
              <a:t>Pairs compare. Then click to show each answer: 1 left, 2 bank, 3 park.</a:t>
            </a:r>
          </a:p>
          <a:p>
            <a:r>
              <a:rPr lang="en-US"/>
              <a:t>In the audio: "Then turn left at the corner. It's next to the bank." "It's across from the park."</a:t>
            </a:r>
          </a:p>
          <a:p>
            <a:r>
              <a:rPr lang="en-US"/>
              <a:t>Source: level1_curriculum/lesson11/Level1_Lesson11.md (Step 3: Listening; Student Pages: Listening A; Answer key; Listening script).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2 (4 min). B asks for directions to one place; A says "Go straight… Turn…" Then switch.</a:t>
            </a:r>
          </a:p>
          <a:p>
            <a:r>
              <a:rPr lang="en-US"/>
              <a:t>Model it: "How do I get there?" Click: "Go straight. Turn left."</a:t>
            </a:r>
          </a:p>
          <a:p>
            <a:r>
              <a:rPr lang="en-US"/>
              <a:t>Page E: draw the route from the school to the pharmacy (simple arrows OK).</a:t>
            </a:r>
          </a:p>
          <a:p>
            <a:r>
              <a:rPr lang="en-US"/>
              <a:t>If behind: half of Talk Time only.</a:t>
            </a:r>
          </a:p>
          <a:p>
            <a:r>
              <a:rPr lang="en-US"/>
              <a:t>Source: level1_curriculum/lesson11/Level1_Lesson11.md (Step 5: Talk Time, Part 2; Student Pages: Talk Time B and 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Learners write next to, across from, between, left, or right. Then pairs check.</a:t>
            </a:r>
          </a:p>
          <a:p>
            <a:r>
              <a:rPr lang="en-US"/>
              <a:t>Click to show each answer: 1 across from (next to is also OK), 2 across from, 3 between, 4 left, 5 left (right is also OK).</a:t>
            </a:r>
          </a:p>
          <a:p>
            <a:r>
              <a:rPr lang="en-US"/>
              <a:t>Line 6 on the page: learners write one direction (answers will vary).</a:t>
            </a:r>
          </a:p>
          <a:p>
            <a:r>
              <a:rPr lang="en-US"/>
              <a:t>Source: level1_curriculum/lesson11/Level1_Lesson11.md (Grammar: Practice; Answer key: Grammar practice).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it (4 min), Task B: signs. Point to each sign picture and read it. Learners match each sign to a, b, or c.</a:t>
            </a:r>
          </a:p>
          <a:p>
            <a:r>
              <a:rPr lang="en-US"/>
              <a:t>Then click to show each answer: EXIT → b leave this way; ONE WAY → c cars go one way; PUSH → a push the door.</a:t>
            </a:r>
          </a:p>
          <a:p>
            <a:r>
              <a:rPr lang="en-US"/>
              <a:t>If behind: do Tasks A and B only.</a:t>
            </a:r>
          </a:p>
          <a:p>
            <a:r>
              <a:rPr lang="en-US"/>
              <a:t>Source: level1_curriculum/lesson11/Level1_Lesson11.md (Real-World Reading step; Student Pages: Real-World Reading B).</a:t>
            </a:r>
          </a:p>
          <a:p>
            <a:r>
              <a:rPr lang="en-US"/>
              <a:t>Pictures: Twemoji graphics by Twitter, Inc. and other contributors (https://github.com/jdecked/twemoji), CC BY 4.0 (https://creativecommons.org/licenses/by/4.0/); resized, labels added. Corner, left, right, the map, and the signs are drawn in code (see lesson11/images/CREDITS.md).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1.xml"/><Relationship Id="rIdImg2" Type="http://schemas.openxmlformats.org/officeDocument/2006/relationships/image" Target="../media/L1_L11_map.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Img2" Type="http://schemas.openxmlformats.org/officeDocument/2006/relationships/image" Target="../media/L1_L10_kitchen.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Img2" Type="http://schemas.openxmlformats.org/officeDocument/2006/relationships/image" Target="../media/L1_L11_map.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Img7" Type="http://schemas.openxmlformats.org/officeDocument/2006/relationships/image" Target="../media/L1_L11_bank.png"/><Relationship Id="rIdImg8" Type="http://schemas.openxmlformats.org/officeDocument/2006/relationships/image" Target="../media/L1_L11_pharmacy.png"/><Relationship Id="rIdImg9" Type="http://schemas.openxmlformats.org/officeDocument/2006/relationships/image" Target="../media/L1_L11_school.png"/><Relationship Id="rIdImg10" Type="http://schemas.openxmlformats.org/officeDocument/2006/relationships/image" Target="../media/L1_L11_hospital.png"/><Relationship Id="rIdImg11" Type="http://schemas.openxmlformats.org/officeDocument/2006/relationships/image" Target="../media/L1_L11_bus_stop.png"/><Relationship Id="rIdImg12" Type="http://schemas.openxmlformats.org/officeDocument/2006/relationships/image" Target="../media/L1_L11_store.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Img7" Type="http://schemas.openxmlformats.org/officeDocument/2006/relationships/image" Target="../media/L1_L11_park.png"/><Relationship Id="rIdImg8" Type="http://schemas.openxmlformats.org/officeDocument/2006/relationships/image" Target="../media/L1_L11_restaurant.png"/><Relationship Id="rIdImg9" Type="http://schemas.openxmlformats.org/officeDocument/2006/relationships/image" Target="../media/L1_L11_street.png"/><Relationship Id="rIdImg10" Type="http://schemas.openxmlformats.org/officeDocument/2006/relationships/image" Target="../media/L1_L11_corner.png"/><Relationship Id="rIdImg11" Type="http://schemas.openxmlformats.org/officeDocument/2006/relationships/image" Target="../media/L1_L11_left.png"/><Relationship Id="rIdImg12" Type="http://schemas.openxmlformats.org/officeDocument/2006/relationships/image" Target="../media/L1_L11_right.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Img3" Type="http://schemas.openxmlformats.org/officeDocument/2006/relationships/image" Target="../media/L1_L11_pharmacy.png"/><Relationship Id="rIdImg4" Type="http://schemas.openxmlformats.org/officeDocument/2006/relationships/image" Target="../media/L1_L11_bank.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2.xml"/><Relationship Id="rIdImg2" Type="http://schemas.openxmlformats.org/officeDocument/2006/relationships/image" Target="../media/L1_L11_pharmacy.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Img3" Type="http://schemas.openxmlformats.org/officeDocument/2006/relationships/image" Target="../media/L1_L11_bank.png"/><Relationship Id="rIdImg4" Type="http://schemas.openxmlformats.org/officeDocument/2006/relationships/image" Target="../media/L1_L11_park.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Img3" Type="http://schemas.openxmlformats.org/officeDocument/2006/relationships/image" Target="../media/L1_L11_left.png"/><Relationship Id="rIdImg4" Type="http://schemas.openxmlformats.org/officeDocument/2006/relationships/image" Target="../media/L1_L11_right.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Img2" Type="http://schemas.openxmlformats.org/officeDocument/2006/relationships/image" Target="../media/L1_L11_left.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Img2" Type="http://schemas.openxmlformats.org/officeDocument/2006/relationships/image" Target="../media/L1_L11_map.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Img2" Type="http://schemas.openxmlformats.org/officeDocument/2006/relationships/image" Target="../media/L1_L11_bus_stop.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28.xml"/><Relationship Id="rIdImg2" Type="http://schemas.openxmlformats.org/officeDocument/2006/relationships/image" Target="../media/L1_L11_park.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Img1" Type="http://schemas.openxmlformats.org/officeDocument/2006/relationships/image" Target="../media/L1_L11_sign_exit.png"/><Relationship Id="rIdImg2" Type="http://schemas.openxmlformats.org/officeDocument/2006/relationships/image" Target="../media/L1_L11_sign_one_way.png"/><Relationship Id="rIdImg3" Type="http://schemas.openxmlformats.org/officeDocument/2006/relationships/image" Target="../media/L1_L11_sign_push.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Street map: bank, pharmacy, school, park picture" descr="street map: bank, pharmacy, school, park, Main St">    </p:cNvPr>
          <p:cNvPicPr>
            <a:picLocks noChangeAspect="1"/>
          </p:cNvPicPr>
          <p:nvPr/>
        </p:nvPicPr>
        <p:blipFill>
          <a:blip r:embed="rIdImg2"/>
          <a:stretch>
            <a:fillRect/>
          </a:stretch>
        </p:blipFill>
        <p:spPr>
          <a:xfrm>
            <a:off x="7726680" y="1664208"/>
            <a:ext cx="3474720" cy="2432304"/>
          </a:xfrm>
          <a:prstGeom prst="rect">
            <a:avLst/>
          </a:prstGeom>
        </p:spPr>
      </p:pic>
      <p:sp>
        <p:nvSpPr>
          <p:cNvPr id="5" name="Text 2"/>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11  ·  Level 1</a:t>
            </a:r>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ext 5"/>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Around Town</a:t>
            </a:r>
          </a:p>
        </p:txBody>
      </p:sp>
      <p:sp>
        <p:nvSpPr>
          <p:cNvPr id="9" name="Text 6"/>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p>
        </p:txBody>
      </p:sp>
      <p:sp>
        <p:nvSpPr>
          <p:cNvPr id="10" name="Text 7"/>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Where's the bank?</a:t>
            </a:r>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It's next to the store.</a:t>
            </a:r>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Go straight. Turn left.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2093062"/>
            <a:ext cx="6227064" cy="983894"/>
          </a:xfrm>
          <a:prstGeom prst="round1Rect">
            <a:avLst>
              <a:gd name="adj" fmla="val 23087"/>
            </a:avLst>
          </a:prstGeom>
          <a:solidFill>
            <a:srgbClr val="8FAFE3"/>
          </a:solidFill>
          <a:ln/>
        </p:spPr>
        <p:txBody>
          <a:bodyPr/>
          <a:p/>
        </p:txBody>
      </p:sp>
      <p:sp>
        <p:nvSpPr>
          <p:cNvPr id="3" name="Shape 1"/>
          <p:cNvSpPr/>
          <p:nvPr/>
        </p:nvSpPr>
        <p:spPr>
          <a:xfrm>
            <a:off x="1583741" y="2035454"/>
            <a:ext cx="5130698" cy="983894"/>
          </a:xfrm>
          <a:prstGeom prst="round1Rect">
            <a:avLst>
              <a:gd name="adj" fmla="val 23087"/>
            </a:avLst>
          </a:prstGeom>
          <a:solidFill>
            <a:srgbClr val="FFFFFF"/>
          </a:solidFill>
          <a:ln/>
        </p:spPr>
        <p:txBody>
          <a:bodyPr/>
          <a:p/>
        </p:txBody>
      </p:sp>
      <p:sp>
        <p:nvSpPr>
          <p:cNvPr id="4" name="Shape 2"/>
          <p:cNvSpPr/>
          <p:nvPr/>
        </p:nvSpPr>
        <p:spPr>
          <a:xfrm>
            <a:off x="1583741" y="3127248"/>
            <a:ext cx="5130698" cy="602590"/>
          </a:xfrm>
          <a:prstGeom prst="round1Rect">
            <a:avLst>
              <a:gd name="adj" fmla="val 23087"/>
            </a:avLst>
          </a:prstGeom>
          <a:solidFill>
            <a:srgbClr val="FFFFFF"/>
          </a:solidFill>
          <a:ln/>
        </p:spPr>
        <p:txBody>
          <a:bodyPr/>
          <a:p/>
        </p:txBody>
      </p:sp>
      <p:sp>
        <p:nvSpPr>
          <p:cNvPr id="5" name="Shape 3"/>
          <p:cNvSpPr/>
          <p:nvPr/>
        </p:nvSpPr>
        <p:spPr>
          <a:xfrm>
            <a:off x="1583741" y="3838651"/>
            <a:ext cx="5130698" cy="602590"/>
          </a:xfrm>
          <a:prstGeom prst="round1Rect">
            <a:avLst>
              <a:gd name="adj" fmla="val 23087"/>
            </a:avLst>
          </a:prstGeom>
          <a:solidFill>
            <a:srgbClr val="FFFFFF"/>
          </a:solidFill>
          <a:ln/>
        </p:spPr>
        <p:txBody>
          <a:bodyPr/>
          <a:p/>
        </p:txBody>
      </p:sp>
      <p:sp>
        <p:nvSpPr>
          <p:cNvPr id="6" name="Shape 4"/>
          <p:cNvSpPr/>
          <p:nvPr/>
        </p:nvSpPr>
        <p:spPr>
          <a:xfrm>
            <a:off x="1583741" y="4550054"/>
            <a:ext cx="5130698" cy="602590"/>
          </a:xfrm>
          <a:prstGeom prst="round1Rect">
            <a:avLst>
              <a:gd name="adj" fmla="val 23087"/>
            </a:avLst>
          </a:prstGeom>
          <a:solidFill>
            <a:srgbClr val="FFFFFF"/>
          </a:solidFill>
          <a:ln/>
        </p:spPr>
        <p:txBody>
          <a:bodyPr/>
          <a:p/>
        </p:txBody>
      </p:sp>
      <p:sp>
        <p:nvSpPr>
          <p:cNvPr id="7" name="Shape 5"/>
          <p:cNvSpPr/>
          <p:nvPr/>
        </p:nvSpPr>
        <p:spPr>
          <a:xfrm>
            <a:off x="1583741" y="5261458"/>
            <a:ext cx="5130698" cy="602590"/>
          </a:xfrm>
          <a:prstGeom prst="round1Rect">
            <a:avLst>
              <a:gd name="adj" fmla="val 23087"/>
            </a:avLst>
          </a:prstGeom>
          <a:solidFill>
            <a:srgbClr val="FFFFFF"/>
          </a:solidFill>
          <a:ln/>
        </p:spPr>
        <p:txBody>
          <a:bodyPr/>
          <a:p/>
        </p:txBody>
      </p:sp>
      <p:sp>
        <p:nvSpPr>
          <p:cNvPr id="8" name="Text 6"/>
          <p:cNvSpPr/>
          <p:nvPr/>
        </p:nvSpPr>
        <p:spPr>
          <a:xfrm>
            <a:off x="1810512" y="2103120"/>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name places in town.</a:t>
            </a:r>
          </a:p>
        </p:txBody>
      </p:sp>
      <p:sp>
        <p:nvSpPr>
          <p:cNvPr id="9" name="Text 7"/>
          <p:cNvSpPr/>
          <p:nvPr/>
        </p:nvSpPr>
        <p:spPr>
          <a:xfrm>
            <a:off x="1901952" y="2505456"/>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bank, pharmacy, park, school</a:t>
            </a:r>
          </a:p>
        </p:txBody>
      </p:sp>
      <p:sp>
        <p:nvSpPr>
          <p:cNvPr id="11" name="Text 9"/>
          <p:cNvSpPr/>
          <p:nvPr/>
        </p:nvSpPr>
        <p:spPr>
          <a:xfrm>
            <a:off x="1810512" y="3127248"/>
            <a:ext cx="4434840" cy="602590"/>
          </a:xfrm>
          <a:prstGeom prst="rect">
            <a:avLst/>
          </a:prstGeom>
          <a:noFill/>
          <a:ln/>
        </p:spPr>
        <p:txBody>
          <a:bodyPr wrap="square" rtlCol="0" anchor="ct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I can ask: Where's the…?</a:t>
            </a:r>
          </a:p>
        </p:txBody>
      </p:sp>
      <p:sp>
        <p:nvSpPr>
          <p:cNvPr id="13" name="Text 11"/>
          <p:cNvSpPr/>
          <p:nvPr/>
        </p:nvSpPr>
        <p:spPr>
          <a:xfrm>
            <a:off x="1810512" y="3838651"/>
            <a:ext cx="4434840" cy="602590"/>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say next to, across from, between.</a:t>
            </a:r>
          </a:p>
        </p:txBody>
      </p:sp>
      <p:sp>
        <p:nvSpPr>
          <p:cNvPr id="15" name="Text 13"/>
          <p:cNvSpPr/>
          <p:nvPr/>
        </p:nvSpPr>
        <p:spPr>
          <a:xfrm>
            <a:off x="1810512" y="4550054"/>
            <a:ext cx="4434840" cy="602590"/>
          </a:xfrm>
          <a:prstGeom prst="rect">
            <a:avLst/>
          </a:prstGeom>
          <a:noFill/>
          <a:ln/>
        </p:spPr>
        <p:txBody>
          <a:bodyPr wrap="square" rtlCol="0" anchor="ct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I can give simple directions.</a:t>
            </a:r>
          </a:p>
        </p:txBody>
      </p:sp>
      <p:sp>
        <p:nvSpPr>
          <p:cNvPr id="17" name="Text 15"/>
          <p:cNvSpPr/>
          <p:nvPr/>
        </p:nvSpPr>
        <p:spPr>
          <a:xfrm>
            <a:off x="1810512" y="5261458"/>
            <a:ext cx="4434840" cy="602590"/>
          </a:xfrm>
          <a:prstGeom prst="rect">
            <a:avLst/>
          </a:prstGeom>
          <a:noFill/>
          <a:ln/>
        </p:spPr>
        <p:txBody>
          <a:bodyPr wrap="square" rtlCol="0" anchor="ct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I can read a map and signs.</a:t>
            </a:r>
          </a:p>
        </p:txBody>
      </p:sp>
      <p:sp>
        <p:nvSpPr>
          <p:cNvPr id="19" name="Shape 17"/>
          <p:cNvSpPr/>
          <p:nvPr/>
        </p:nvSpPr>
        <p:spPr>
          <a:xfrm>
            <a:off x="544982" y="2035454"/>
            <a:ext cx="1039673" cy="983894"/>
          </a:xfrm>
          <a:prstGeom prst="rect">
            <a:avLst/>
          </a:prstGeom>
          <a:solidFill>
            <a:srgbClr val="B9D2F7"/>
          </a:solidFill>
          <a:ln/>
        </p:spPr>
        <p:txBody>
          <a:bodyPr/>
          <a:p/>
        </p:txBody>
      </p:sp>
      <p:sp>
        <p:nvSpPr>
          <p:cNvPr id="20" name="Text 18"/>
          <p:cNvSpPr/>
          <p:nvPr/>
        </p:nvSpPr>
        <p:spPr>
          <a:xfrm>
            <a:off x="686714" y="2166214"/>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dirty="0"/>
          </a:p>
        </p:txBody>
      </p:sp>
      <p:sp>
        <p:nvSpPr>
          <p:cNvPr id="21" name="Shape 19"/>
          <p:cNvSpPr/>
          <p:nvPr/>
        </p:nvSpPr>
        <p:spPr>
          <a:xfrm>
            <a:off x="544982" y="3127248"/>
            <a:ext cx="1039673" cy="602590"/>
          </a:xfrm>
          <a:prstGeom prst="rect">
            <a:avLst/>
          </a:prstGeom>
          <a:solidFill>
            <a:srgbClr val="B9D2F7"/>
          </a:solidFill>
          <a:ln/>
        </p:spPr>
        <p:txBody>
          <a:bodyPr/>
          <a:p/>
        </p:txBody>
      </p:sp>
      <p:sp>
        <p:nvSpPr>
          <p:cNvPr id="22" name="Text 20"/>
          <p:cNvSpPr/>
          <p:nvPr/>
        </p:nvSpPr>
        <p:spPr>
          <a:xfrm>
            <a:off x="686714" y="3112618"/>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dirty="0"/>
          </a:p>
        </p:txBody>
      </p:sp>
      <p:sp>
        <p:nvSpPr>
          <p:cNvPr id="23" name="Shape 21"/>
          <p:cNvSpPr/>
          <p:nvPr/>
        </p:nvSpPr>
        <p:spPr>
          <a:xfrm>
            <a:off x="544982" y="3838651"/>
            <a:ext cx="1039673" cy="602590"/>
          </a:xfrm>
          <a:prstGeom prst="rect">
            <a:avLst/>
          </a:prstGeom>
          <a:solidFill>
            <a:srgbClr val="B9D2F7"/>
          </a:solidFill>
          <a:ln/>
        </p:spPr>
        <p:txBody>
          <a:bodyPr/>
          <a:p/>
        </p:txBody>
      </p:sp>
      <p:sp>
        <p:nvSpPr>
          <p:cNvPr id="24" name="Text 22"/>
          <p:cNvSpPr/>
          <p:nvPr/>
        </p:nvSpPr>
        <p:spPr>
          <a:xfrm>
            <a:off x="686714" y="3816706"/>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dirty="0"/>
          </a:p>
        </p:txBody>
      </p:sp>
      <p:sp>
        <p:nvSpPr>
          <p:cNvPr id="25" name="Shape 23"/>
          <p:cNvSpPr/>
          <p:nvPr/>
        </p:nvSpPr>
        <p:spPr>
          <a:xfrm>
            <a:off x="544982" y="4550054"/>
            <a:ext cx="1039673" cy="602590"/>
          </a:xfrm>
          <a:prstGeom prst="rect">
            <a:avLst/>
          </a:prstGeom>
          <a:solidFill>
            <a:srgbClr val="B9D2F7"/>
          </a:solidFill>
          <a:ln/>
        </p:spPr>
        <p:txBody>
          <a:bodyPr/>
          <a:p/>
        </p:txBody>
      </p:sp>
      <p:sp>
        <p:nvSpPr>
          <p:cNvPr id="26" name="Text 24"/>
          <p:cNvSpPr/>
          <p:nvPr/>
        </p:nvSpPr>
        <p:spPr>
          <a:xfrm>
            <a:off x="686714" y="4543654"/>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dirty="0"/>
          </a:p>
        </p:txBody>
      </p:sp>
      <p:sp>
        <p:nvSpPr>
          <p:cNvPr id="27" name="Shape 25"/>
          <p:cNvSpPr/>
          <p:nvPr/>
        </p:nvSpPr>
        <p:spPr>
          <a:xfrm>
            <a:off x="544982" y="5279746"/>
            <a:ext cx="1039673" cy="602590"/>
          </a:xfrm>
          <a:prstGeom prst="rect">
            <a:avLst/>
          </a:prstGeom>
          <a:solidFill>
            <a:srgbClr val="B9D2F7"/>
          </a:solidFill>
          <a:ln/>
        </p:spPr>
        <p:txBody>
          <a:bodyPr/>
          <a:p/>
        </p:txBody>
      </p:sp>
      <p:sp>
        <p:nvSpPr>
          <p:cNvPr id="28" name="Text 26"/>
          <p:cNvSpPr/>
          <p:nvPr/>
        </p:nvSpPr>
        <p:spPr>
          <a:xfrm>
            <a:off x="686714" y="5269687"/>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Tonight you learn these things.</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Places in town</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Go straight. Turn left.</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Progress Check at 7:25!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400"/>
                                        <p:tgtEl>
                                          <p:spTgt spid="4"/>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400"/>
                                        <p:tgtEl>
                                          <p:spTgt spid="5"/>
                                        </p:tgtEl>
                                      </p:cBhvr>
                                    </p:animEffect>
                                  </p:childTnLst>
                                </p:cTn>
                              </p:par>
                              <p:par>
                                <p:cTn id="42" presetID="10"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00"/>
                                        <p:tgtEl>
                                          <p:spTgt spid="13"/>
                                        </p:tgtEl>
                                      </p:cBhvr>
                                    </p:animEffect>
                                  </p:childTnLst>
                                </p:cTn>
                              </p:par>
                              <p:par>
                                <p:cTn id="45" presetID="10"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400"/>
                                        <p:tgtEl>
                                          <p:spTgt spid="6"/>
                                        </p:tgtEl>
                                      </p:cBhvr>
                                    </p:animEffect>
                                  </p:childTnLst>
                                </p:cTn>
                              </p:par>
                              <p:par>
                                <p:cTn id="56" presetID="10" presetClass="entr" presetSubtype="0"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400"/>
                                        <p:tgtEl>
                                          <p:spTgt spid="15"/>
                                        </p:tgtEl>
                                      </p:cBhvr>
                                    </p:animEffect>
                                  </p:childTnLst>
                                </p:cTn>
                              </p:par>
                              <p:par>
                                <p:cTn id="59" presetID="10" presetClass="entr" presetSubtype="0" fill="hold"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fade">
                                      <p:cBhvr>
                                        <p:cTn id="69" dur="400"/>
                                        <p:tgtEl>
                                          <p:spTgt spid="7"/>
                                        </p:tgtEl>
                                      </p:cBhvr>
                                    </p:animEffect>
                                  </p:childTnLst>
                                </p:cTn>
                              </p:par>
                              <p:par>
                                <p:cTn id="70" presetID="10"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00"/>
                                        <p:tgtEl>
                                          <p:spTgt spid="17"/>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487604" y="1352535"/>
            <a:ext cx="5246827" cy="1277417"/>
          </a:xfrm>
          <a:prstGeom prst="roundRect">
            <a:avLst>
              <a:gd name="adj" fmla="val 16667"/>
            </a:avLst>
          </a:prstGeom>
          <a:solidFill>
            <a:srgbClr val="8FAFE3"/>
          </a:solidFill>
          <a:ln/>
        </p:spPr>
        <p:txBody>
          <a:bodyPr/>
          <a:p/>
        </p:txBody>
      </p:sp>
      <p:sp>
        <p:nvSpPr>
          <p:cNvPr id="3" name="Shape 1"/>
          <p:cNvSpPr/>
          <p:nvPr/>
        </p:nvSpPr>
        <p:spPr>
          <a:xfrm>
            <a:off x="518465" y="1300277"/>
            <a:ext cx="5246827" cy="1277417"/>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Kitchen (from Lesson 10) picture" descr="kitchen (from Lesson 10)"/>
          <p:cNvPicPr>
            <a:picLocks noChangeAspect="1"/>
          </p:cNvPicPr>
          <p:nvPr/>
        </p:nvPicPr>
        <p:blipFill>
          <a:blip r:embed="rIdImg2"/>
          <a:stretch>
            <a:fillRect/>
          </a:stretch>
        </p:blipFill>
        <p:spPr>
          <a:xfrm>
            <a:off x="6799936" y="2104034"/>
            <a:ext cx="4754880" cy="3328416"/>
          </a:xfrm>
          <a:prstGeom prst="rect">
            <a:avLst/>
          </a:prstGeom>
        </p:spPr>
      </p:pic>
      <p:sp>
        <p:nvSpPr>
          <p:cNvPr id="7" name="Text 5"/>
          <p:cNvSpPr/>
          <p:nvPr/>
        </p:nvSpPr>
        <p:spPr>
          <a:xfrm>
            <a:off x="548640" y="1764792"/>
            <a:ext cx="5120640" cy="777240"/>
          </a:xfrm>
          <a:prstGeom prst="rect">
            <a:avLst/>
          </a:prstGeom>
          <a:noFill/>
          <a:ln/>
        </p:spPr>
        <p:txBody>
          <a:bodyPr wrap="square" rtlCol="0" anchor="ctr"/>
          <a:lstStyle/>
          <a:p>
            <a:pPr algn="l" indent="0" marL="0">
              <a:buNone/>
            </a:pPr>
            <a:r>
              <a:rPr lang="en-US" sz="4600" dirty="0" b="1">
                <a:solidFill>
                  <a:srgbClr val="1B2236"/>
                </a:solidFill>
                <a:latin typeface="Lexend Deca" pitchFamily="34" charset="0"/>
                <a:ea typeface="Lexend Deca" pitchFamily="34" charset="-122"/>
                <a:cs typeface="Lexend Deca" pitchFamily="34" charset="-120"/>
              </a:rPr>
              <a:t>Hello + Review</a:t>
            </a:r>
          </a:p>
        </p:txBody>
      </p:sp>
      <p:sp>
        <p:nvSpPr>
          <p:cNvPr id="8" name="Text 6"/>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WARM-UP  ·  6:00</a:t>
            </a:r>
          </a:p>
        </p:txBody>
      </p:sp>
      <p:sp>
        <p:nvSpPr>
          <p:cNvPr id="9" name="Text 7"/>
          <p:cNvSpPr/>
          <p:nvPr/>
        </p:nvSpPr>
        <p:spPr>
          <a:xfrm>
            <a:off x="599846" y="3017520"/>
            <a:ext cx="4846320" cy="868680"/>
          </a:xfrm>
          <a:prstGeom prst="rect">
            <a:avLst/>
          </a:prstGeom>
          <a:noFill/>
          <a:ln/>
        </p:spPr>
        <p:txBody>
          <a:bodyPr wrap="square" lIns="0" tIns="0" rIns="0" bIns="0" rtlCol="0" anchor="t"/>
          <a:lstStyle/>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How many bedrooms are there?</a:t>
            </a:r>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Is there a sofa in your home?</a:t>
            </a:r>
          </a:p>
        </p:txBody>
      </p:sp>
      <p:sp>
        <p:nvSpPr>
          <p:cNvPr id="13" name="Model A"/>
          <p:cNvSpPr/>
          <p:nvPr/>
        </p:nvSpPr>
        <p:spPr>
          <a:xfrm>
            <a:off x="599846" y="4023360"/>
            <a:ext cx="4846320" cy="502920"/>
          </a:xfrm>
          <a:prstGeom prst="rect">
            <a:avLst/>
          </a:prstGeom>
          <a:noFill/>
          <a:ln/>
        </p:spPr>
        <p:txBody>
          <a:bodyPr wrap="square" lIns="0" tIns="0" rIns="0" bIns="0" rtlCol="0" anchor="t"/>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 Is there a kitchen?</a:t>
            </a:r>
          </a:p>
        </p:txBody>
      </p:sp>
      <p:sp>
        <p:nvSpPr>
          <p:cNvPr id="14" name="Model B"/>
          <p:cNvSpPr/>
          <p:nvPr/>
        </p:nvSpPr>
        <p:spPr>
          <a:xfrm>
            <a:off x="599846" y="4709160"/>
            <a:ext cx="4846320" cy="146304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B: Yes, there is.</a:t>
            </a:r>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No, there isn't.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8640" y="2414015"/>
            <a:ext cx="6163056" cy="603504"/>
          </a:xfrm>
          <a:prstGeom prst="round1Rect">
            <a:avLst>
              <a:gd name="adj" fmla="val 23087"/>
            </a:avLst>
          </a:prstGeom>
          <a:solidFill>
            <a:srgbClr val="8FAFE3"/>
          </a:solidFill>
          <a:ln/>
        </p:spPr>
        <p:txBody>
          <a:bodyPr/>
          <a:p/>
        </p:txBody>
      </p:sp>
      <p:sp>
        <p:nvSpPr>
          <p:cNvPr id="3" name="Shape 1"/>
          <p:cNvSpPr/>
          <p:nvPr/>
        </p:nvSpPr>
        <p:spPr>
          <a:xfrm>
            <a:off x="1583741" y="2414015"/>
            <a:ext cx="5130698" cy="603504"/>
          </a:xfrm>
          <a:prstGeom prst="round1Rect">
            <a:avLst>
              <a:gd name="adj" fmla="val 23087"/>
            </a:avLst>
          </a:prstGeom>
          <a:solidFill>
            <a:srgbClr val="FFFFFF"/>
          </a:solidFill>
          <a:ln/>
        </p:spPr>
        <p:txBody>
          <a:bodyPr/>
          <a:p/>
        </p:txBody>
      </p:sp>
      <p:sp>
        <p:nvSpPr>
          <p:cNvPr id="4" name="Shape 2"/>
          <p:cNvSpPr/>
          <p:nvPr/>
        </p:nvSpPr>
        <p:spPr>
          <a:xfrm>
            <a:off x="1583741" y="3127248"/>
            <a:ext cx="5130698" cy="602590"/>
          </a:xfrm>
          <a:prstGeom prst="round1Rect">
            <a:avLst>
              <a:gd name="adj" fmla="val 23087"/>
            </a:avLst>
          </a:prstGeom>
          <a:solidFill>
            <a:srgbClr val="FFFFFF"/>
          </a:solidFill>
          <a:ln/>
        </p:spPr>
        <p:txBody>
          <a:bodyPr/>
          <a:p/>
        </p:txBody>
      </p:sp>
      <p:sp>
        <p:nvSpPr>
          <p:cNvPr id="8" name="Text 6"/>
          <p:cNvSpPr/>
          <p:nvPr/>
        </p:nvSpPr>
        <p:spPr>
          <a:xfrm>
            <a:off x="1810512" y="2414015"/>
            <a:ext cx="3154680" cy="603504"/>
          </a:xfrm>
          <a:prstGeom prst="rect">
            <a:avLst/>
          </a:prstGeom>
          <a:noFill/>
          <a:ln/>
        </p:spPr>
        <p:txBody>
          <a:bodyPr wrap="square" rtlCol="0" anchor="ct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What is next to the bank?</a:t>
            </a:r>
            <a:endParaRPr lang="en-US" sz="1700" dirty="0"/>
          </a:p>
        </p:txBody>
      </p:sp>
      <p:sp>
        <p:nvSpPr>
          <p:cNvPr id="11" name="Text 9"/>
          <p:cNvSpPr/>
          <p:nvPr/>
        </p:nvSpPr>
        <p:spPr>
          <a:xfrm>
            <a:off x="1810512" y="3127248"/>
            <a:ext cx="315468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What is across from the park?</a:t>
            </a:r>
            <a:endParaRPr lang="en-US" sz="1700" dirty="0"/>
          </a:p>
        </p:txBody>
      </p:sp>
      <p:sp>
        <p:nvSpPr>
          <p:cNvPr id="19" name="Shape 17"/>
          <p:cNvSpPr/>
          <p:nvPr/>
        </p:nvSpPr>
        <p:spPr>
          <a:xfrm>
            <a:off x="544982" y="2414015"/>
            <a:ext cx="1039673" cy="603504"/>
          </a:xfrm>
          <a:prstGeom prst="rect">
            <a:avLst/>
          </a:prstGeom>
          <a:solidFill>
            <a:srgbClr val="B9D2F7"/>
          </a:solidFill>
          <a:ln/>
        </p:spPr>
        <p:txBody>
          <a:bodyPr/>
          <a:p/>
        </p:txBody>
      </p:sp>
      <p:sp>
        <p:nvSpPr>
          <p:cNvPr id="20" name="Text 18"/>
          <p:cNvSpPr/>
          <p:nvPr/>
        </p:nvSpPr>
        <p:spPr>
          <a:xfrm>
            <a:off x="686714" y="2395727"/>
            <a:ext cx="1109167" cy="585216"/>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1</a:t>
            </a:r>
            <a:endParaRPr lang="en-US" sz="3600" dirty="0"/>
          </a:p>
        </p:txBody>
      </p:sp>
      <p:sp>
        <p:nvSpPr>
          <p:cNvPr id="21" name="Shape 19"/>
          <p:cNvSpPr/>
          <p:nvPr/>
        </p:nvSpPr>
        <p:spPr>
          <a:xfrm>
            <a:off x="544982" y="3127248"/>
            <a:ext cx="1039673" cy="602590"/>
          </a:xfrm>
          <a:prstGeom prst="rect">
            <a:avLst/>
          </a:prstGeom>
          <a:solidFill>
            <a:srgbClr val="B9D2F7"/>
          </a:solidFill>
          <a:ln/>
        </p:spPr>
        <p:txBody>
          <a:bodyPr/>
          <a:p/>
        </p:txBody>
      </p:sp>
      <p:sp>
        <p:nvSpPr>
          <p:cNvPr id="22" name="Text 20"/>
          <p:cNvSpPr/>
          <p:nvPr/>
        </p:nvSpPr>
        <p:spPr>
          <a:xfrm>
            <a:off x="686714" y="3112618"/>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2</a:t>
            </a:r>
            <a:endParaRPr lang="en-US" sz="3200" dirty="0"/>
          </a:p>
        </p:txBody>
      </p:sp>
      <p:sp>
        <p:nvSpPr>
          <p:cNvPr id="29" name="Text 27"/>
          <p:cNvSpPr/>
          <p:nvPr/>
        </p:nvSpPr>
        <p:spPr>
          <a:xfrm>
            <a:off x="7634326" y="685800"/>
            <a:ext cx="4229100" cy="914400"/>
          </a:xfrm>
          <a:prstGeom prst="rect">
            <a:avLst/>
          </a:prstGeom>
          <a:noFill/>
          <a:ln/>
        </p:spPr>
        <p:txBody>
          <a:bodyPr wrap="square" rtlCol="0" anchor="b"/>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Read the Map</a:t>
            </a:r>
            <a:endParaRPr lang="en-US" sz="3600" dirty="0"/>
          </a:p>
        </p:txBody>
      </p:sp>
      <p:sp>
        <p:nvSpPr>
          <p:cNvPr id="30" name="Text 28"/>
          <p:cNvSpPr/>
          <p:nvPr/>
        </p:nvSpPr>
        <p:spPr>
          <a:xfrm>
            <a:off x="7751369" y="4800600"/>
            <a:ext cx="3931920" cy="1280160"/>
          </a:xfrm>
          <a:prstGeom prst="rect">
            <a:avLst/>
          </a:prstGeom>
          <a:noFill/>
          <a:ln/>
        </p:spPr>
        <p:txBody>
          <a:bodyPr wrap="square" lIns="0" tIns="0" rIns="0" bIns="0" rtlCol="0" anchor="t"/>
          <a:lstStyle/>
          <a:p>
            <a:pPr algn="l" indent="0" marL="0">
              <a:lnSpc>
                <a:spcPct val="120000"/>
              </a:lnSpc>
              <a:spcAft>
                <a:spcPts val="1400"/>
              </a:spcAft>
              <a:buNone/>
            </a:pPr>
            <a:r>
              <a:rPr lang="en-US" sz="1900" dirty="0" b="0">
                <a:solidFill>
                  <a:srgbClr val="1B2236"/>
                </a:solidFill>
                <a:latin typeface="Lexend Deca" pitchFamily="34" charset="0"/>
                <a:ea typeface="Lexend Deca" pitchFamily="34" charset="-122"/>
                <a:cs typeface="Lexend Deca" pitchFamily="34" charset="-120"/>
              </a:rPr>
              <a:t>Real-World Reading</a:t>
            </a:r>
          </a:p>
          <a:p>
            <a:pPr algn="l" indent="0" marL="0">
              <a:lnSpc>
                <a:spcPct val="120000"/>
              </a:lnSpc>
              <a:spcAft>
                <a:spcPts val="1400"/>
              </a:spcAft>
              <a:buNone/>
            </a:pPr>
            <a:r>
              <a:rPr lang="en-US" sz="1900" dirty="0" b="1">
                <a:solidFill>
                  <a:srgbClr val="5B3FC4"/>
                </a:solidFill>
                <a:latin typeface="Lexend Deca" pitchFamily="34" charset="0"/>
                <a:ea typeface="Lexend Deca" pitchFamily="34" charset="-122"/>
                <a:cs typeface="Lexend Deca" pitchFamily="34" charset="-120"/>
              </a:rPr>
              <a:t>Task A:</a:t>
            </a:r>
            <a:r>
              <a:rPr lang="en-US" sz="1900" dirty="0" b="0">
                <a:solidFill>
                  <a:srgbClr val="1B2236"/>
                </a:solidFill>
                <a:latin typeface="Lexend Deca" pitchFamily="34" charset="0"/>
                <a:ea typeface="Lexend Deca" pitchFamily="34" charset="-122"/>
                <a:cs typeface="Lexend Deca" pitchFamily="34" charset="-120"/>
              </a:rPr>
              <a:t> answer.</a:t>
            </a:r>
          </a:p>
        </p:txBody>
      </p:sp>
      <p:sp>
        <p:nvSpPr>
          <p:cNvPr id="160" name="Answer 1"/>
          <p:cNvSpPr/>
          <p:nvPr/>
        </p:nvSpPr>
        <p:spPr>
          <a:xfrm>
            <a:off x="4983480" y="2487168"/>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pharmacy</a:t>
            </a:r>
          </a:p>
        </p:txBody>
      </p:sp>
      <p:sp>
        <p:nvSpPr>
          <p:cNvPr id="161" name="Answer 2"/>
          <p:cNvSpPr/>
          <p:nvPr/>
        </p:nvSpPr>
        <p:spPr>
          <a:xfrm>
            <a:off x="4983480" y="3200400"/>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pharmacy</a:t>
            </a:r>
          </a:p>
        </p:txBody>
      </p:sp>
      <p:pic>
        <p:nvPicPr>
          <p:cNvPr id="170" name="Street map: bank and pharmacy on Main St picture" descr="street map: bank and pharmacy on Main St, school and park"/>
          <p:cNvPicPr>
            <a:picLocks noChangeAspect="1"/>
          </p:cNvPicPr>
          <p:nvPr/>
        </p:nvPicPr>
        <p:blipFill>
          <a:blip r:embed="rIdImg2"/>
          <a:stretch>
            <a:fillRect/>
          </a:stretch>
        </p:blipFill>
        <p:spPr>
          <a:xfrm>
            <a:off x="7726679" y="1783080"/>
            <a:ext cx="4023360" cy="28163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400"/>
                                        <p:tgtEl>
                                          <p:spTgt spid="1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1"/>
                                        </p:tgtEl>
                                        <p:attrNameLst>
                                          <p:attrName>style.visibility</p:attrName>
                                        </p:attrNameLst>
                                      </p:cBhvr>
                                      <p:to>
                                        <p:strVal val="visible"/>
                                      </p:to>
                                    </p:set>
                                    <p:animEffect transition="in" filter="fade">
                                      <p:cBhvr>
                                        <p:cTn id="12" dur="4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ext 6"/>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p>
        </p:txBody>
      </p:sp>
      <p:sp>
        <p:nvSpPr>
          <p:cNvPr id="9" name="Shape 7"/>
          <p:cNvSpPr/>
          <p:nvPr/>
        </p:nvSpPr>
        <p:spPr>
          <a:xfrm>
            <a:off x="1121969" y="587045"/>
            <a:ext cx="3557930" cy="1143000"/>
          </a:xfrm>
          <a:prstGeom prst="round1Rect">
            <a:avLst>
              <a:gd name="adj" fmla="val 23087"/>
            </a:avLst>
          </a:prstGeom>
          <a:solidFill>
            <a:srgbClr val="FFFFFF"/>
          </a:solidFill>
          <a:ln/>
        </p:spPr>
        <p:txBody>
          <a:bodyPr/>
          <a:p/>
        </p:txBody>
      </p:sp>
      <p:sp>
        <p:nvSpPr>
          <p:cNvPr id="13" name="Text 11"/>
          <p:cNvSpPr/>
          <p:nvPr/>
        </p:nvSpPr>
        <p:spPr>
          <a:xfrm>
            <a:off x="1325880" y="685800"/>
            <a:ext cx="320040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p>
        </p:txBody>
      </p:sp>
      <p:pic>
        <p:nvPicPr>
          <p:cNvPr id="17" name="Bank picture" descr="bank"/>
          <p:cNvPicPr>
            <a:picLocks noChangeAspect="1"/>
          </p:cNvPicPr>
          <p:nvPr/>
        </p:nvPicPr>
        <p:blipFill>
          <a:blip r:embed="rIdImg7"/>
          <a:stretch>
            <a:fillRect/>
          </a:stretch>
        </p:blipFill>
        <p:spPr>
          <a:xfrm>
            <a:off x="950976" y="2286000"/>
            <a:ext cx="1920240" cy="1344168"/>
          </a:xfrm>
          <a:prstGeom prst="rect">
            <a:avLst/>
          </a:prstGeom>
        </p:spPr>
      </p:pic>
      <p:sp>
        <p:nvSpPr>
          <p:cNvPr id="18" name="Word label 1"/>
          <p:cNvSpPr/>
          <p:nvPr/>
        </p:nvSpPr>
        <p:spPr>
          <a:xfrm>
            <a:off x="5394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bank</a:t>
            </a:r>
          </a:p>
        </p:txBody>
      </p:sp>
      <p:pic>
        <p:nvPicPr>
          <p:cNvPr id="19" name="Pharmacy picture" descr="pharmacy"/>
          <p:cNvPicPr>
            <a:picLocks noChangeAspect="1"/>
          </p:cNvPicPr>
          <p:nvPr/>
        </p:nvPicPr>
        <p:blipFill>
          <a:blip r:embed="rIdImg8"/>
          <a:stretch>
            <a:fillRect/>
          </a:stretch>
        </p:blipFill>
        <p:spPr>
          <a:xfrm>
            <a:off x="3694176" y="2286000"/>
            <a:ext cx="1920240" cy="1344168"/>
          </a:xfrm>
          <a:prstGeom prst="rect">
            <a:avLst/>
          </a:prstGeom>
        </p:spPr>
      </p:pic>
      <p:sp>
        <p:nvSpPr>
          <p:cNvPr id="20" name="Word label 2"/>
          <p:cNvSpPr/>
          <p:nvPr/>
        </p:nvSpPr>
        <p:spPr>
          <a:xfrm>
            <a:off x="32826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pharmacy</a:t>
            </a:r>
          </a:p>
        </p:txBody>
      </p:sp>
      <p:pic>
        <p:nvPicPr>
          <p:cNvPr id="21" name="School picture" descr="school"/>
          <p:cNvPicPr>
            <a:picLocks noChangeAspect="1"/>
          </p:cNvPicPr>
          <p:nvPr/>
        </p:nvPicPr>
        <p:blipFill>
          <a:blip r:embed="rIdImg9"/>
          <a:stretch>
            <a:fillRect/>
          </a:stretch>
        </p:blipFill>
        <p:spPr>
          <a:xfrm>
            <a:off x="6428232" y="2286000"/>
            <a:ext cx="1920240" cy="1344168"/>
          </a:xfrm>
          <a:prstGeom prst="rect">
            <a:avLst/>
          </a:prstGeom>
        </p:spPr>
      </p:pic>
      <p:sp>
        <p:nvSpPr>
          <p:cNvPr id="22" name="Word label 3"/>
          <p:cNvSpPr/>
          <p:nvPr/>
        </p:nvSpPr>
        <p:spPr>
          <a:xfrm>
            <a:off x="60167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school</a:t>
            </a:r>
          </a:p>
        </p:txBody>
      </p:sp>
      <p:pic>
        <p:nvPicPr>
          <p:cNvPr id="23" name="Hospital picture" descr="hospital"/>
          <p:cNvPicPr>
            <a:picLocks noChangeAspect="1"/>
          </p:cNvPicPr>
          <p:nvPr/>
        </p:nvPicPr>
        <p:blipFill>
          <a:blip r:embed="rIdImg10"/>
          <a:stretch>
            <a:fillRect/>
          </a:stretch>
        </p:blipFill>
        <p:spPr>
          <a:xfrm>
            <a:off x="9171432" y="2286000"/>
            <a:ext cx="1920240" cy="1344168"/>
          </a:xfrm>
          <a:prstGeom prst="rect">
            <a:avLst/>
          </a:prstGeom>
        </p:spPr>
      </p:pic>
      <p:sp>
        <p:nvSpPr>
          <p:cNvPr id="24" name="Word label 4"/>
          <p:cNvSpPr/>
          <p:nvPr/>
        </p:nvSpPr>
        <p:spPr>
          <a:xfrm>
            <a:off x="87599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hospital</a:t>
            </a:r>
          </a:p>
        </p:txBody>
      </p:sp>
      <p:pic>
        <p:nvPicPr>
          <p:cNvPr id="25" name="Bus stop picture" descr="bus stop"/>
          <p:cNvPicPr>
            <a:picLocks noChangeAspect="1"/>
          </p:cNvPicPr>
          <p:nvPr/>
        </p:nvPicPr>
        <p:blipFill>
          <a:blip r:embed="rIdImg11"/>
          <a:stretch>
            <a:fillRect/>
          </a:stretch>
        </p:blipFill>
        <p:spPr>
          <a:xfrm>
            <a:off x="3685032" y="4315968"/>
            <a:ext cx="1920240" cy="1344168"/>
          </a:xfrm>
          <a:prstGeom prst="rect">
            <a:avLst/>
          </a:prstGeom>
        </p:spPr>
      </p:pic>
      <p:sp>
        <p:nvSpPr>
          <p:cNvPr id="26" name="Word label 5"/>
          <p:cNvSpPr/>
          <p:nvPr/>
        </p:nvSpPr>
        <p:spPr>
          <a:xfrm>
            <a:off x="32735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bus stop</a:t>
            </a:r>
          </a:p>
        </p:txBody>
      </p:sp>
      <p:pic>
        <p:nvPicPr>
          <p:cNvPr id="27" name="Store picture" descr="store"/>
          <p:cNvPicPr>
            <a:picLocks noChangeAspect="1"/>
          </p:cNvPicPr>
          <p:nvPr/>
        </p:nvPicPr>
        <p:blipFill>
          <a:blip r:embed="rIdImg12"/>
          <a:stretch>
            <a:fillRect/>
          </a:stretch>
        </p:blipFill>
        <p:spPr>
          <a:xfrm>
            <a:off x="6428232" y="4315968"/>
            <a:ext cx="1920240" cy="1344168"/>
          </a:xfrm>
          <a:prstGeom prst="rect">
            <a:avLst/>
          </a:prstGeom>
        </p:spPr>
      </p:pic>
      <p:sp>
        <p:nvSpPr>
          <p:cNvPr id="28" name="Word label 6"/>
          <p:cNvSpPr/>
          <p:nvPr/>
        </p:nvSpPr>
        <p:spPr>
          <a:xfrm>
            <a:off x="60167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store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4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4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ext 6"/>
          <p:cNvSpPr/>
          <p:nvPr/>
        </p:nvSpPr>
        <p:spPr>
          <a:xfrm>
            <a:off x="5938114" y="594360"/>
            <a:ext cx="5669280" cy="114300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More New Words</a:t>
            </a:r>
          </a:p>
        </p:txBody>
      </p:sp>
      <p:sp>
        <p:nvSpPr>
          <p:cNvPr id="9" name="Shape 7"/>
          <p:cNvSpPr/>
          <p:nvPr/>
        </p:nvSpPr>
        <p:spPr>
          <a:xfrm>
            <a:off x="1121969" y="587045"/>
            <a:ext cx="4106570" cy="1143000"/>
          </a:xfrm>
          <a:prstGeom prst="round1Rect">
            <a:avLst>
              <a:gd name="adj" fmla="val 23087"/>
            </a:avLst>
          </a:prstGeom>
          <a:solidFill>
            <a:srgbClr val="FFFFFF"/>
          </a:solidFill>
          <a:ln/>
        </p:spPr>
        <p:txBody>
          <a:bodyPr/>
          <a:p/>
        </p:txBody>
      </p:sp>
      <p:sp>
        <p:nvSpPr>
          <p:cNvPr id="13" name="Text 11"/>
          <p:cNvSpPr/>
          <p:nvPr/>
        </p:nvSpPr>
        <p:spPr>
          <a:xfrm>
            <a:off x="1325880" y="685800"/>
            <a:ext cx="3749039"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Partners:</a:t>
            </a:r>
          </a:p>
          <a:p>
            <a:pPr algn="l" indent="0" marL="0">
              <a:buNone/>
            </a:pPr>
            <a:r>
              <a:rPr lang="en-US" sz="2200" dirty="0" b="1">
                <a:solidFill>
                  <a:srgbClr val="1B2236"/>
                </a:solidFill>
                <a:latin typeface="Lexend Deca" pitchFamily="34" charset="0"/>
                <a:ea typeface="Lexend Deca" pitchFamily="34" charset="-122"/>
                <a:cs typeface="Lexend Deca" pitchFamily="34" charset="-120"/>
              </a:rPr>
              <a:t>A points. B says.</a:t>
            </a:r>
          </a:p>
        </p:txBody>
      </p:sp>
      <p:pic>
        <p:nvPicPr>
          <p:cNvPr id="17" name="Park picture" descr="park"/>
          <p:cNvPicPr>
            <a:picLocks noChangeAspect="1"/>
          </p:cNvPicPr>
          <p:nvPr/>
        </p:nvPicPr>
        <p:blipFill>
          <a:blip r:embed="rIdImg7"/>
          <a:stretch>
            <a:fillRect/>
          </a:stretch>
        </p:blipFill>
        <p:spPr>
          <a:xfrm>
            <a:off x="950976" y="2286000"/>
            <a:ext cx="1920240" cy="1344168"/>
          </a:xfrm>
          <a:prstGeom prst="rect">
            <a:avLst/>
          </a:prstGeom>
        </p:spPr>
      </p:pic>
      <p:sp>
        <p:nvSpPr>
          <p:cNvPr id="18" name="Word label 1"/>
          <p:cNvSpPr/>
          <p:nvPr/>
        </p:nvSpPr>
        <p:spPr>
          <a:xfrm>
            <a:off x="5394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park</a:t>
            </a:r>
          </a:p>
        </p:txBody>
      </p:sp>
      <p:pic>
        <p:nvPicPr>
          <p:cNvPr id="19" name="Restaurant picture" descr="restaurant"/>
          <p:cNvPicPr>
            <a:picLocks noChangeAspect="1"/>
          </p:cNvPicPr>
          <p:nvPr/>
        </p:nvPicPr>
        <p:blipFill>
          <a:blip r:embed="rIdImg8"/>
          <a:stretch>
            <a:fillRect/>
          </a:stretch>
        </p:blipFill>
        <p:spPr>
          <a:xfrm>
            <a:off x="3694176" y="2286000"/>
            <a:ext cx="1920240" cy="1344168"/>
          </a:xfrm>
          <a:prstGeom prst="rect">
            <a:avLst/>
          </a:prstGeom>
        </p:spPr>
      </p:pic>
      <p:sp>
        <p:nvSpPr>
          <p:cNvPr id="20" name="Word label 2"/>
          <p:cNvSpPr/>
          <p:nvPr/>
        </p:nvSpPr>
        <p:spPr>
          <a:xfrm>
            <a:off x="32826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restaurant</a:t>
            </a:r>
          </a:p>
        </p:txBody>
      </p:sp>
      <p:pic>
        <p:nvPicPr>
          <p:cNvPr id="21" name="Street picture" descr="street"/>
          <p:cNvPicPr>
            <a:picLocks noChangeAspect="1"/>
          </p:cNvPicPr>
          <p:nvPr/>
        </p:nvPicPr>
        <p:blipFill>
          <a:blip r:embed="rIdImg9"/>
          <a:stretch>
            <a:fillRect/>
          </a:stretch>
        </p:blipFill>
        <p:spPr>
          <a:xfrm>
            <a:off x="6428232" y="2286000"/>
            <a:ext cx="1920240" cy="1344168"/>
          </a:xfrm>
          <a:prstGeom prst="rect">
            <a:avLst/>
          </a:prstGeom>
        </p:spPr>
      </p:pic>
      <p:sp>
        <p:nvSpPr>
          <p:cNvPr id="22" name="Word label 3"/>
          <p:cNvSpPr/>
          <p:nvPr/>
        </p:nvSpPr>
        <p:spPr>
          <a:xfrm>
            <a:off x="60167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street</a:t>
            </a:r>
          </a:p>
        </p:txBody>
      </p:sp>
      <p:pic>
        <p:nvPicPr>
          <p:cNvPr id="23" name="Corner picture" descr="corner"/>
          <p:cNvPicPr>
            <a:picLocks noChangeAspect="1"/>
          </p:cNvPicPr>
          <p:nvPr/>
        </p:nvPicPr>
        <p:blipFill>
          <a:blip r:embed="rIdImg10"/>
          <a:stretch>
            <a:fillRect/>
          </a:stretch>
        </p:blipFill>
        <p:spPr>
          <a:xfrm>
            <a:off x="9171432" y="2286000"/>
            <a:ext cx="1920240" cy="1344168"/>
          </a:xfrm>
          <a:prstGeom prst="rect">
            <a:avLst/>
          </a:prstGeom>
        </p:spPr>
      </p:pic>
      <p:sp>
        <p:nvSpPr>
          <p:cNvPr id="24" name="Word label 4"/>
          <p:cNvSpPr/>
          <p:nvPr/>
        </p:nvSpPr>
        <p:spPr>
          <a:xfrm>
            <a:off x="87599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corner</a:t>
            </a:r>
          </a:p>
        </p:txBody>
      </p:sp>
      <p:pic>
        <p:nvPicPr>
          <p:cNvPr id="25" name="Left picture" descr="left"/>
          <p:cNvPicPr>
            <a:picLocks noChangeAspect="1"/>
          </p:cNvPicPr>
          <p:nvPr/>
        </p:nvPicPr>
        <p:blipFill>
          <a:blip r:embed="rIdImg11"/>
          <a:stretch>
            <a:fillRect/>
          </a:stretch>
        </p:blipFill>
        <p:spPr>
          <a:xfrm>
            <a:off x="3685032" y="4315968"/>
            <a:ext cx="1920240" cy="1344168"/>
          </a:xfrm>
          <a:prstGeom prst="rect">
            <a:avLst/>
          </a:prstGeom>
        </p:spPr>
      </p:pic>
      <p:sp>
        <p:nvSpPr>
          <p:cNvPr id="26" name="Word label 5"/>
          <p:cNvSpPr/>
          <p:nvPr/>
        </p:nvSpPr>
        <p:spPr>
          <a:xfrm>
            <a:off x="32735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left</a:t>
            </a:r>
          </a:p>
        </p:txBody>
      </p:sp>
      <p:pic>
        <p:nvPicPr>
          <p:cNvPr id="27" name="Right picture" descr="right"/>
          <p:cNvPicPr>
            <a:picLocks noChangeAspect="1"/>
          </p:cNvPicPr>
          <p:nvPr/>
        </p:nvPicPr>
        <p:blipFill>
          <a:blip r:embed="rIdImg12"/>
          <a:stretch>
            <a:fillRect/>
          </a:stretch>
        </p:blipFill>
        <p:spPr>
          <a:xfrm>
            <a:off x="6428232" y="4315968"/>
            <a:ext cx="1920240" cy="1344168"/>
          </a:xfrm>
          <a:prstGeom prst="rect">
            <a:avLst/>
          </a:prstGeom>
        </p:spPr>
      </p:pic>
      <p:sp>
        <p:nvSpPr>
          <p:cNvPr id="28" name="Word label 6"/>
          <p:cNvSpPr/>
          <p:nvPr/>
        </p:nvSpPr>
        <p:spPr>
          <a:xfrm>
            <a:off x="60167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right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4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4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ext 6"/>
          <p:cNvSpPr/>
          <p:nvPr/>
        </p:nvSpPr>
        <p:spPr>
          <a:xfrm>
            <a:off x="3566160" y="1078992"/>
            <a:ext cx="4114800" cy="157276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 Listen</a:t>
            </a:r>
          </a:p>
        </p:txBody>
      </p:sp>
      <p:sp>
        <p:nvSpPr>
          <p:cNvPr id="10" name="Text 8"/>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Ana asks for the pharmacy.</a:t>
            </a:r>
          </a:p>
        </p:txBody>
      </p:sp>
      <p:sp>
        <p:nvSpPr>
          <p:cNvPr id="11" name="Text 9"/>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Text 11"/>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Text 13"/>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Shape 15"/>
          <p:cNvSpPr/>
          <p:nvPr/>
        </p:nvSpPr>
        <p:spPr>
          <a:xfrm>
            <a:off x="3503066" y="4928616"/>
            <a:ext cx="4480560" cy="0"/>
          </a:xfrm>
          <a:prstGeom prst="line">
            <a:avLst/>
          </a:prstGeom>
          <a:noFill/>
          <a:ln w="6350">
            <a:solidFill>
              <a:srgbClr val="1B2236"/>
            </a:solidFill>
            <a:prstDash val="solid"/>
          </a:ln>
        </p:spPr>
        <p:txBody>
          <a:bodyPr/>
          <a:p/>
        </p:txBody>
      </p:sp>
      <p:sp>
        <p:nvSpPr>
          <p:cNvPr id="18" name="Shape 16"/>
          <p:cNvSpPr/>
          <p:nvPr/>
        </p:nvSpPr>
        <p:spPr>
          <a:xfrm>
            <a:off x="3503066" y="5733288"/>
            <a:ext cx="4480560" cy="0"/>
          </a:xfrm>
          <a:prstGeom prst="line">
            <a:avLst/>
          </a:prstGeom>
          <a:noFill/>
          <a:ln w="6350">
            <a:solidFill>
              <a:srgbClr val="1B2236"/>
            </a:solidFill>
            <a:prstDash val="solid"/>
          </a:ln>
        </p:spPr>
        <p:txBody>
          <a:bodyPr/>
          <a:p/>
        </p:txBody>
      </p:sp>
      <p:pic>
        <p:nvPicPr>
          <p:cNvPr id="24" name="Pharmacy picture" descr="pharmacy"/>
          <p:cNvPicPr>
            <a:picLocks noChangeAspect="1"/>
          </p:cNvPicPr>
          <p:nvPr/>
        </p:nvPicPr>
        <p:blipFill>
          <a:blip r:embed="rIdImg3"/>
          <a:stretch>
            <a:fillRect/>
          </a:stretch>
        </p:blipFill>
        <p:spPr>
          <a:xfrm>
            <a:off x="284378" y="1138930"/>
            <a:ext cx="2493568" cy="1745498"/>
          </a:xfrm>
          <a:prstGeom prst="rect">
            <a:avLst/>
          </a:prstGeom>
        </p:spPr>
      </p:pic>
      <p:sp>
        <p:nvSpPr>
          <p:cNvPr id="25" name="Highlight 1"/>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1"/>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1: Where is it?</a:t>
            </a:r>
          </a:p>
        </p:txBody>
      </p:sp>
      <p:sp>
        <p:nvSpPr>
          <p:cNvPr id="29" name="Highlight 2"/>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Helper 2"/>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2: The street.</a:t>
            </a:r>
          </a:p>
        </p:txBody>
      </p:sp>
      <p:sp>
        <p:nvSpPr>
          <p:cNvPr id="33" name="Highlight 3"/>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Helper 3"/>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3: The directions.</a:t>
            </a:r>
          </a:p>
        </p:txBody>
      </p:sp>
      <p:sp>
        <p:nvSpPr>
          <p:cNvPr id="37" name="Order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Say it!</a:t>
            </a:r>
          </a:p>
        </p:txBody>
      </p:sp>
      <p:sp>
        <p:nvSpPr>
          <p:cNvPr id="39" name="Step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Go straight two blocks.</a:t>
            </a:r>
          </a:p>
        </p:txBody>
      </p:sp>
      <p:sp>
        <p:nvSpPr>
          <p:cNvPr id="41" name="Step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It's next to the bank.</a:t>
            </a:r>
          </a:p>
        </p:txBody>
      </p:sp>
      <p:sp>
        <p:nvSpPr>
          <p:cNvPr id="43" name="Step 3"/>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Turn left at the corner.</a:t>
            </a:r>
          </a:p>
        </p:txBody>
      </p:sp>
      <p:sp>
        <p:nvSpPr>
          <p:cNvPr id="46" name="Example"/>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a:solidFill>
                  <a:srgbClr val="1B2236"/>
                </a:solidFill>
                <a:latin typeface="Lexend Deca" pitchFamily="34" charset="0"/>
                <a:ea typeface="Lexend Deca" pitchFamily="34" charset="-122"/>
                <a:cs typeface="Lexend Deca" pitchFamily="34" charset="-120"/>
              </a:rPr>
              <a:t>Listen and </a:t>
            </a:r>
            <a:r>
              <a:rPr lang="en-US" sz="2200" dirty="0" b="1">
                <a:solidFill>
                  <a:srgbClr val="5B3FC4"/>
                </a:solidFill>
                <a:latin typeface="Lexend Deca" pitchFamily="34" charset="0"/>
                <a:ea typeface="Lexend Deca" pitchFamily="34" charset="-122"/>
                <a:cs typeface="Lexend Deca" pitchFamily="34" charset="-120"/>
              </a:rPr>
              <a:t>repeat.</a:t>
            </a:r>
          </a:p>
        </p:txBody>
      </p:sp>
      <p:pic>
        <p:nvPicPr>
          <p:cNvPr id="90" name="Bank picture" descr="bank"/>
          <p:cNvPicPr>
            <a:picLocks noChangeAspect="1"/>
          </p:cNvPicPr>
          <p:nvPr/>
        </p:nvPicPr>
        <p:blipFill>
          <a:blip r:embed="rIdImg4"/>
          <a:stretch>
            <a:fillRect/>
          </a:stretch>
        </p:blipFill>
        <p:spPr>
          <a:xfrm>
            <a:off x="284378" y="3973570"/>
            <a:ext cx="2493568" cy="17454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4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8266176" y="3721608"/>
            <a:ext cx="3566160" cy="2331720"/>
          </a:xfrm>
          <a:prstGeom prst="round1Rect">
            <a:avLst>
              <a:gd name="adj" fmla="val 23087"/>
            </a:avLst>
          </a:prstGeom>
          <a:solidFill>
            <a:srgbClr val="8FAFE3"/>
          </a:solidFill>
          <a:ln/>
        </p:spPr>
        <p:txBody>
          <a:bodyPr/>
          <a:p/>
        </p:txBody>
      </p:sp>
      <p:sp>
        <p:nvSpPr>
          <p:cNvPr id="3" name="Shape 1"/>
          <p:cNvSpPr/>
          <p:nvPr/>
        </p:nvSpPr>
        <p:spPr>
          <a:xfrm>
            <a:off x="8229600" y="3657600"/>
            <a:ext cx="3566160" cy="2331720"/>
          </a:xfrm>
          <a:prstGeom prst="round1Rect">
            <a:avLst>
              <a:gd name="adj" fmla="val 23087"/>
            </a:avLst>
          </a:prstGeom>
          <a:solidFill>
            <a:srgbClr val="FFFFFF"/>
          </a:solidFill>
          <a:ln/>
        </p:spPr>
        <p:txBody>
          <a:bodyPr/>
          <a:p/>
        </p:txBody>
      </p:sp>
      <p:sp>
        <p:nvSpPr>
          <p:cNvPr id="8" name="Text 6"/>
          <p:cNvSpPr/>
          <p:nvPr/>
        </p:nvSpPr>
        <p:spPr>
          <a:xfrm>
            <a:off x="8412480" y="3794760"/>
            <a:ext cx="3200400" cy="731520"/>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How do I get there?</a:t>
            </a:r>
          </a:p>
        </p:txBody>
      </p:sp>
      <p:sp>
        <p:nvSpPr>
          <p:cNvPr id="9" name="Text 7"/>
          <p:cNvSpPr/>
          <p:nvPr/>
        </p:nvSpPr>
        <p:spPr>
          <a:xfrm>
            <a:off x="8412480" y="4572000"/>
            <a:ext cx="3200400" cy="1371600"/>
          </a:xfrm>
          <a:prstGeom prst="rect">
            <a:avLst/>
          </a:prstGeom>
          <a:noFill/>
          <a:ln/>
        </p:spPr>
        <p:txBody>
          <a:bodyPr wrap="square" lIns="0" tIns="0" rIns="0" bIns="0"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Go straight two blocks. Turn left.</a:t>
            </a:r>
          </a:p>
        </p:txBody>
      </p:sp>
      <p:sp>
        <p:nvSpPr>
          <p:cNvPr id="29" name="Text 27"/>
          <p:cNvSpPr/>
          <p:nvPr/>
        </p:nvSpPr>
        <p:spPr>
          <a:xfrm>
            <a:off x="8229600" y="640080"/>
            <a:ext cx="3657600" cy="822960"/>
          </a:xfrm>
          <a:prstGeom prst="rect">
            <a:avLst/>
          </a:prstGeom>
          <a:noFill/>
          <a:ln/>
        </p:spPr>
        <p:txBody>
          <a:bodyPr wrap="square" rtlCol="0" anchor="b"/>
          <a:lstStyle/>
          <a:p>
            <a:pPr algn="l" indent="0" marL="0">
              <a:buNone/>
            </a:pPr>
            <a:r>
              <a:rPr lang="en-US" sz="3200" dirty="0" b="1">
                <a:solidFill>
                  <a:srgbClr val="1B2236"/>
                </a:solidFill>
                <a:latin typeface="Lexend Deca" pitchFamily="34" charset="0"/>
                <a:ea typeface="Lexend Deca" pitchFamily="34" charset="-122"/>
                <a:cs typeface="Lexend Deca" pitchFamily="34" charset="-120"/>
              </a:rPr>
              <a:t>Grammar Box 4</a:t>
            </a:r>
          </a:p>
        </p:txBody>
      </p:sp>
      <p:sp>
        <p:nvSpPr>
          <p:cNvPr id="30" name="Text 28"/>
          <p:cNvSpPr/>
          <p:nvPr/>
        </p:nvSpPr>
        <p:spPr>
          <a:xfrm>
            <a:off x="8229600" y="1554480"/>
            <a:ext cx="3657600" cy="173736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You ask.</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Helper answers.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switch.</a:t>
            </a:r>
          </a:p>
        </p:txBody>
      </p:sp>
      <p:pic>
        <p:nvPicPr>
          <p:cNvPr id="60" name="Pharmacy picture" descr="pharmacy"/>
          <p:cNvPicPr>
            <a:picLocks noChangeAspect="1"/>
          </p:cNvPicPr>
          <p:nvPr/>
        </p:nvPicPr>
        <p:blipFill>
          <a:blip r:embed="rIdImg2"/>
          <a:stretch>
            <a:fillRect/>
          </a:stretch>
        </p:blipFill>
        <p:spPr>
          <a:xfrm>
            <a:off x="1645919" y="502920"/>
            <a:ext cx="5029200" cy="3520440"/>
          </a:xfrm>
          <a:prstGeom prst="rect">
            <a:avLst/>
          </a:prstGeom>
        </p:spPr>
      </p:pic>
      <p:sp>
        <p:nvSpPr>
          <p:cNvPr id="34" name="Answer 1"/>
          <p:cNvSpPr/>
          <p:nvPr/>
        </p:nvSpPr>
        <p:spPr>
          <a:xfrm>
            <a:off x="548640" y="5074920"/>
            <a:ext cx="7315200" cy="77724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It's on </a:t>
            </a:r>
            <a:r>
              <a:rPr lang="en-US" sz="2800" dirty="0" b="1">
                <a:solidFill>
                  <a:srgbClr val="5B3FC4"/>
                </a:solidFill>
                <a:latin typeface="Lexend Deca" pitchFamily="34" charset="0"/>
                <a:ea typeface="Lexend Deca" pitchFamily="34" charset="-122"/>
                <a:cs typeface="Lexend Deca" pitchFamily="34" charset="-120"/>
              </a:rPr>
              <a:t>Main Street.</a:t>
            </a:r>
          </a:p>
        </p:txBody>
      </p:sp>
      <p:sp>
        <p:nvSpPr>
          <p:cNvPr id="130" name="Preview question"/>
          <p:cNvSpPr/>
          <p:nvPr/>
        </p:nvSpPr>
        <p:spPr>
          <a:xfrm>
            <a:off x="548640" y="4251960"/>
            <a:ext cx="7315200" cy="685800"/>
          </a:xfrm>
          <a:prstGeom prst="rect">
            <a:avLst/>
          </a:prstGeom>
          <a:noFill/>
          <a:ln/>
        </p:spPr>
        <p:txBody>
          <a:bodyPr wrap="square" lIns="0" tIns="0" rIns="0" bIns="0" rtlCol="0" anchor="t"/>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Excuse me. Where's the pharmacy?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076429" y="533095"/>
            <a:ext cx="5814670" cy="1554480"/>
          </a:xfrm>
          <a:prstGeom prst="roundRect">
            <a:avLst>
              <a:gd name="adj" fmla="val 16667"/>
            </a:avLst>
          </a:prstGeom>
          <a:solidFill>
            <a:srgbClr val="8FAFE3"/>
          </a:solidFill>
          <a:ln/>
        </p:spPr>
        <p:txBody>
          <a:bodyPr/>
          <a:p/>
        </p:txBody>
      </p:sp>
      <p:sp>
        <p:nvSpPr>
          <p:cNvPr id="3" name="Shape 1"/>
          <p:cNvSpPr/>
          <p:nvPr/>
        </p:nvSpPr>
        <p:spPr>
          <a:xfrm>
            <a:off x="5110582" y="457200"/>
            <a:ext cx="5814670" cy="1554480"/>
          </a:xfrm>
          <a:prstGeom prst="roundRect">
            <a:avLst>
              <a:gd name="adj" fmla="val 16667"/>
            </a:avLst>
          </a:prstGeom>
          <a:solidFill>
            <a:srgbClr val="FFFFFF"/>
          </a:solidFill>
          <a:ln/>
        </p:spPr>
        <p:txBody>
          <a:bodyPr/>
          <a:p/>
        </p:txBody>
      </p:sp>
      <p:sp>
        <p:nvSpPr>
          <p:cNvPr id="4" name="Shape 2"/>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Bank picture" descr="bank"/>
          <p:cNvPicPr>
            <a:picLocks noChangeAspect="1"/>
          </p:cNvPicPr>
          <p:nvPr/>
        </p:nvPicPr>
        <p:blipFill>
          <a:blip r:embed="rIdImg3"/>
          <a:stretch>
            <a:fillRect/>
          </a:stretch>
        </p:blipFill>
        <p:spPr>
          <a:xfrm>
            <a:off x="182880" y="811530"/>
            <a:ext cx="3429000" cy="2400300"/>
          </a:xfrm>
          <a:prstGeom prst="rect">
            <a:avLst/>
          </a:prstGeom>
        </p:spPr>
      </p:pic>
      <p:sp>
        <p:nvSpPr>
          <p:cNvPr id="7" name="Text 5"/>
          <p:cNvSpPr/>
          <p:nvPr/>
        </p:nvSpPr>
        <p:spPr>
          <a:xfrm>
            <a:off x="5333695" y="566928"/>
            <a:ext cx="4846320" cy="13258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Boxes 1 + 2</a:t>
            </a:r>
          </a:p>
          <a:p>
            <a:pPr algn="l" indent="0" marL="0">
              <a:spcAft>
                <a:spcPts val="400"/>
              </a:spcAft>
              <a:buNone/>
            </a:pPr>
            <a:r>
              <a:rPr lang="en-US" sz="3000" dirty="0" b="1">
                <a:solidFill>
                  <a:srgbClr val="1B2236"/>
                </a:solidFill>
                <a:latin typeface="Lexend Deca" pitchFamily="34" charset="0"/>
                <a:ea typeface="Lexend Deca" pitchFamily="34" charset="-122"/>
                <a:cs typeface="Lexend Deca" pitchFamily="34" charset="-120"/>
              </a:rPr>
              <a:t>Where's the…?</a:t>
            </a:r>
          </a:p>
        </p:txBody>
      </p:sp>
      <p:sp>
        <p:nvSpPr>
          <p:cNvPr id="8" name="Text 6"/>
          <p:cNvSpPr/>
          <p:nvPr/>
        </p:nvSpPr>
        <p:spPr>
          <a:xfrm>
            <a:off x="516636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a:p>
        </p:txBody>
      </p:sp>
      <p:sp>
        <p:nvSpPr>
          <p:cNvPr id="11" name="Text 9"/>
          <p:cNvSpPr/>
          <p:nvPr/>
        </p:nvSpPr>
        <p:spPr>
          <a:xfrm>
            <a:off x="832104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a:p>
        </p:txBody>
      </p:sp>
      <p:sp>
        <p:nvSpPr>
          <p:cNvPr id="20" name="Question 1"/>
          <p:cNvSpPr/>
          <p:nvPr/>
        </p:nvSpPr>
        <p:spPr>
          <a:xfrm>
            <a:off x="5138928" y="2697480"/>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Excuse me, where's the bank?</a:t>
            </a:r>
          </a:p>
        </p:txBody>
      </p:sp>
      <p:sp>
        <p:nvSpPr>
          <p:cNvPr id="22" name="Answer bg 1"/>
          <p:cNvSpPr/>
          <p:nvPr/>
        </p:nvSpPr>
        <p:spPr>
          <a:xfrm>
            <a:off x="8321040" y="2697480"/>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1" name="Answer 1"/>
          <p:cNvSpPr/>
          <p:nvPr/>
        </p:nvSpPr>
        <p:spPr>
          <a:xfrm>
            <a:off x="8321040" y="2697480"/>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It's </a:t>
            </a:r>
            <a:r>
              <a:rPr lang="en-US" sz="1900" dirty="0" b="1">
                <a:solidFill>
                  <a:srgbClr val="5B3FC4"/>
                </a:solidFill>
                <a:latin typeface="Lexend Deca" pitchFamily="34" charset="0"/>
                <a:ea typeface="Lexend Deca" pitchFamily="34" charset="-122"/>
                <a:cs typeface="Lexend Deca" pitchFamily="34" charset="-120"/>
              </a:rPr>
              <a:t>on</a:t>
            </a:r>
            <a:r>
              <a:rPr lang="en-US" sz="1900" dirty="0" b="1">
                <a:solidFill>
                  <a:srgbClr val="1B2236"/>
                </a:solidFill>
                <a:latin typeface="Lexend Deca" pitchFamily="34" charset="0"/>
                <a:ea typeface="Lexend Deca" pitchFamily="34" charset="-122"/>
                <a:cs typeface="Lexend Deca" pitchFamily="34" charset="-120"/>
              </a:rPr>
              <a:t> Main Street.</a:t>
            </a:r>
          </a:p>
        </p:txBody>
      </p:sp>
      <p:sp>
        <p:nvSpPr>
          <p:cNvPr id="25" name="Question 2"/>
          <p:cNvSpPr/>
          <p:nvPr/>
        </p:nvSpPr>
        <p:spPr>
          <a:xfrm>
            <a:off x="5138928" y="3675888"/>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Where's the bank?</a:t>
            </a:r>
          </a:p>
        </p:txBody>
      </p:sp>
      <p:sp>
        <p:nvSpPr>
          <p:cNvPr id="27" name="Answer bg 2"/>
          <p:cNvSpPr/>
          <p:nvPr/>
        </p:nvSpPr>
        <p:spPr>
          <a:xfrm>
            <a:off x="8321040" y="3675888"/>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8321040" y="3675888"/>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It's </a:t>
            </a:r>
            <a:r>
              <a:rPr lang="en-US" sz="1900" dirty="0" b="1">
                <a:solidFill>
                  <a:srgbClr val="5B3FC4"/>
                </a:solidFill>
                <a:latin typeface="Lexend Deca" pitchFamily="34" charset="0"/>
                <a:ea typeface="Lexend Deca" pitchFamily="34" charset="-122"/>
                <a:cs typeface="Lexend Deca" pitchFamily="34" charset="-120"/>
              </a:rPr>
              <a:t>next to</a:t>
            </a:r>
            <a:r>
              <a:rPr lang="en-US" sz="1900" dirty="0" b="1">
                <a:solidFill>
                  <a:srgbClr val="1B2236"/>
                </a:solidFill>
                <a:latin typeface="Lexend Deca" pitchFamily="34" charset="0"/>
                <a:ea typeface="Lexend Deca" pitchFamily="34" charset="-122"/>
                <a:cs typeface="Lexend Deca" pitchFamily="34" charset="-120"/>
              </a:rPr>
              <a:t> the pharmacy.</a:t>
            </a:r>
          </a:p>
        </p:txBody>
      </p:sp>
      <p:sp>
        <p:nvSpPr>
          <p:cNvPr id="72" name="Answer bg 3"/>
          <p:cNvSpPr/>
          <p:nvPr/>
        </p:nvSpPr>
        <p:spPr>
          <a:xfrm>
            <a:off x="8321040" y="4654296"/>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82" name="Answer 3"/>
          <p:cNvSpPr/>
          <p:nvPr/>
        </p:nvSpPr>
        <p:spPr>
          <a:xfrm>
            <a:off x="8321040" y="4654296"/>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It's </a:t>
            </a:r>
            <a:r>
              <a:rPr lang="en-US" sz="1900" dirty="0" b="1">
                <a:solidFill>
                  <a:srgbClr val="5B3FC4"/>
                </a:solidFill>
                <a:latin typeface="Lexend Deca" pitchFamily="34" charset="0"/>
                <a:ea typeface="Lexend Deca" pitchFamily="34" charset="-122"/>
                <a:cs typeface="Lexend Deca" pitchFamily="34" charset="-120"/>
              </a:rPr>
              <a:t>across from</a:t>
            </a:r>
            <a:r>
              <a:rPr lang="en-US" sz="1900" dirty="0" b="1">
                <a:solidFill>
                  <a:srgbClr val="1B2236"/>
                </a:solidFill>
                <a:latin typeface="Lexend Deca" pitchFamily="34" charset="0"/>
                <a:ea typeface="Lexend Deca" pitchFamily="34" charset="-122"/>
                <a:cs typeface="Lexend Deca" pitchFamily="34" charset="-120"/>
              </a:rPr>
              <a:t> the bank.</a:t>
            </a:r>
          </a:p>
        </p:txBody>
      </p:sp>
      <p:sp>
        <p:nvSpPr>
          <p:cNvPr id="73" name="Answer bg 4"/>
          <p:cNvSpPr/>
          <p:nvPr/>
        </p:nvSpPr>
        <p:spPr>
          <a:xfrm>
            <a:off x="8321040" y="5632704"/>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83" name="Answer 4"/>
          <p:cNvSpPr/>
          <p:nvPr/>
        </p:nvSpPr>
        <p:spPr>
          <a:xfrm>
            <a:off x="8321040" y="5632704"/>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It's </a:t>
            </a:r>
            <a:r>
              <a:rPr lang="en-US" sz="1900" dirty="0" b="1">
                <a:solidFill>
                  <a:srgbClr val="5B3FC4"/>
                </a:solidFill>
                <a:latin typeface="Lexend Deca" pitchFamily="34" charset="0"/>
                <a:ea typeface="Lexend Deca" pitchFamily="34" charset="-122"/>
                <a:cs typeface="Lexend Deca" pitchFamily="34" charset="-120"/>
              </a:rPr>
              <a:t>between</a:t>
            </a:r>
            <a:r>
              <a:rPr lang="en-US" sz="1900" dirty="0" b="1">
                <a:solidFill>
                  <a:srgbClr val="1B2236"/>
                </a:solidFill>
                <a:latin typeface="Lexend Deca" pitchFamily="34" charset="0"/>
                <a:ea typeface="Lexend Deca" pitchFamily="34" charset="-122"/>
                <a:cs typeface="Lexend Deca" pitchFamily="34" charset="-120"/>
              </a:rPr>
              <a:t> the bank</a:t>
            </a:r>
          </a:p>
          <a:p>
            <a:pPr algn="l" indent="0" marL="0">
              <a:buNone/>
            </a:pPr>
            <a:r>
              <a:rPr lang="en-US" sz="1900" dirty="0" b="1">
                <a:solidFill>
                  <a:srgbClr val="1B2236"/>
                </a:solidFill>
                <a:latin typeface="Lexend Deca" pitchFamily="34" charset="0"/>
                <a:ea typeface="Lexend Deca" pitchFamily="34" charset="-122"/>
                <a:cs typeface="Lexend Deca" pitchFamily="34" charset="-120"/>
              </a:rPr>
              <a:t>and the school.</a:t>
            </a:r>
          </a:p>
        </p:txBody>
      </p:sp>
      <p:sp>
        <p:nvSpPr>
          <p:cNvPr id="93" name="Question 4"/>
          <p:cNvSpPr/>
          <p:nvPr/>
        </p:nvSpPr>
        <p:spPr>
          <a:xfrm>
            <a:off x="5138928" y="5632704"/>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Where's the store?</a:t>
            </a:r>
          </a:p>
        </p:txBody>
      </p:sp>
      <p:sp>
        <p:nvSpPr>
          <p:cNvPr id="92" name="Question 3"/>
          <p:cNvSpPr/>
          <p:nvPr/>
        </p:nvSpPr>
        <p:spPr>
          <a:xfrm>
            <a:off x="5138928" y="4654296"/>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Where's the park?</a:t>
            </a:r>
          </a:p>
        </p:txBody>
      </p:sp>
      <p:pic>
        <p:nvPicPr>
          <p:cNvPr id="95" name="Park picture" descr="park"/>
          <p:cNvPicPr>
            <a:picLocks noChangeAspect="1"/>
          </p:cNvPicPr>
          <p:nvPr/>
        </p:nvPicPr>
        <p:blipFill>
          <a:blip r:embed="rIdImg4"/>
          <a:stretch>
            <a:fillRect/>
          </a:stretch>
        </p:blipFill>
        <p:spPr>
          <a:xfrm>
            <a:off x="182880" y="3646170"/>
            <a:ext cx="3429000" cy="2400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4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400"/>
                                        <p:tgtEl>
                                          <p:spTgt spid="72"/>
                                        </p:tgtEl>
                                      </p:cBhvr>
                                    </p:animEffect>
                                  </p:childTnLst>
                                </p:cTn>
                              </p:par>
                              <p:par>
                                <p:cTn id="24" presetID="10" presetClass="entr" presetSubtype="0" fill="hold" nodeType="withEffect">
                                  <p:stCondLst>
                                    <p:cond delay="0"/>
                                  </p:stCondLst>
                                  <p:childTnLst>
                                    <p:set>
                                      <p:cBhvr>
                                        <p:cTn id="25" dur="1" fill="hold">
                                          <p:stCondLst>
                                            <p:cond delay="0"/>
                                          </p:stCondLst>
                                        </p:cTn>
                                        <p:tgtEl>
                                          <p:spTgt spid="82"/>
                                        </p:tgtEl>
                                        <p:attrNameLst>
                                          <p:attrName>style.visibility</p:attrName>
                                        </p:attrNameLst>
                                      </p:cBhvr>
                                      <p:to>
                                        <p:strVal val="visible"/>
                                      </p:to>
                                    </p:set>
                                    <p:animEffect transition="in" filter="fade">
                                      <p:cBhvr>
                                        <p:cTn id="26" dur="400"/>
                                        <p:tgtEl>
                                          <p:spTgt spid="8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3"/>
                                        </p:tgtEl>
                                        <p:attrNameLst>
                                          <p:attrName>style.visibility</p:attrName>
                                        </p:attrNameLst>
                                      </p:cBhvr>
                                      <p:to>
                                        <p:strVal val="visible"/>
                                      </p:to>
                                    </p:set>
                                    <p:animEffect transition="in" filter="fade">
                                      <p:cBhvr>
                                        <p:cTn id="31" dur="400"/>
                                        <p:tgtEl>
                                          <p:spTgt spid="73"/>
                                        </p:tgtEl>
                                      </p:cBhvr>
                                    </p:animEffect>
                                  </p:childTnLst>
                                </p:cTn>
                              </p:par>
                              <p:par>
                                <p:cTn id="32" presetID="10" presetClass="entr" presetSubtype="0" fill="hold" nodeType="withEffect">
                                  <p:stCondLst>
                                    <p:cond delay="0"/>
                                  </p:stCondLst>
                                  <p:childTnLst>
                                    <p:set>
                                      <p:cBhvr>
                                        <p:cTn id="33" dur="1" fill="hold">
                                          <p:stCondLst>
                                            <p:cond delay="0"/>
                                          </p:stCondLst>
                                        </p:cTn>
                                        <p:tgtEl>
                                          <p:spTgt spid="83"/>
                                        </p:tgtEl>
                                        <p:attrNameLst>
                                          <p:attrName>style.visibility</p:attrName>
                                        </p:attrNameLst>
                                      </p:cBhvr>
                                      <p:to>
                                        <p:strVal val="visible"/>
                                      </p:to>
                                    </p:set>
                                    <p:animEffect transition="in" filter="fade">
                                      <p:cBhvr>
                                        <p:cTn id="34" dur="4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6742786" y="3649370"/>
            <a:ext cx="4912157" cy="2561234"/>
          </a:xfrm>
          <a:prstGeom prst="round1Rect">
            <a:avLst>
              <a:gd name="adj" fmla="val 23087"/>
            </a:avLst>
          </a:prstGeom>
          <a:solidFill>
            <a:srgbClr val="B9D2F7"/>
          </a:solidFill>
          <a:ln w="76200">
            <a:solidFill>
              <a:srgbClr val="FFFFFF"/>
            </a:solidFill>
            <a:prstDash val="solid"/>
          </a:ln>
        </p:spPr>
        <p:txBody>
          <a:bodyPr/>
          <a:p/>
        </p:txBody>
      </p:sp>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40" name="Optional shadow"/>
          <p:cNvSpPr/>
          <p:nvPr/>
        </p:nvSpPr>
        <p:spPr>
          <a:xfrm>
            <a:off x="6709867" y="1350569"/>
            <a:ext cx="4937760" cy="2011680"/>
          </a:xfrm>
          <a:prstGeom prst="roundRect">
            <a:avLst>
              <a:gd name="adj" fmla="val 16667"/>
            </a:avLst>
          </a:prstGeom>
          <a:solidFill>
            <a:srgbClr val="8FAFE3"/>
          </a:solidFill>
          <a:ln/>
        </p:spPr>
        <p:txBody>
          <a:bodyPr/>
          <a:p/>
        </p:txBody>
      </p:sp>
      <p:sp>
        <p:nvSpPr>
          <p:cNvPr id="41" name="Optional card"/>
          <p:cNvSpPr/>
          <p:nvPr/>
        </p:nvSpPr>
        <p:spPr>
          <a:xfrm>
            <a:off x="6742786" y="1286561"/>
            <a:ext cx="4937760" cy="2011680"/>
          </a:xfrm>
          <a:prstGeom prst="roundRect">
            <a:avLst>
              <a:gd name="adj" fmla="val 16667"/>
            </a:avLst>
          </a:prstGeom>
          <a:solidFill>
            <a:srgbClr val="FFFFFF"/>
          </a:solidFill>
          <a:ln/>
        </p:spPr>
        <p:txBody>
          <a:bodyPr/>
          <a:p/>
        </p:txBody>
      </p:sp>
      <p:sp>
        <p:nvSpPr>
          <p:cNvPr id="42" name="Optional text"/>
          <p:cNvSpPr/>
          <p:nvPr/>
        </p:nvSpPr>
        <p:spPr>
          <a:xfrm>
            <a:off x="6949440" y="1371600"/>
            <a:ext cx="4572000" cy="1828800"/>
          </a:xfrm>
          <a:prstGeom prst="rect">
            <a:avLst/>
          </a:prstGeom>
          <a:noFill/>
          <a:ln/>
        </p:spPr>
        <p:txBody>
          <a:bodyPr wrap="square"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Questions and answers</a:t>
            </a:r>
          </a:p>
          <a:p>
            <a:pPr algn="l" indent="0" marL="0">
              <a:buNone/>
            </a:pPr>
            <a:r>
              <a:rPr lang="en-US" sz="1900" dirty="0" b="1">
                <a:solidFill>
                  <a:srgbClr val="5B3FC4"/>
                </a:solidFill>
                <a:latin typeface="Lexend Deca" pitchFamily="34" charset="0"/>
                <a:ea typeface="Lexend Deca" pitchFamily="34" charset="-122"/>
                <a:cs typeface="Lexend Deca" pitchFamily="34" charset="-120"/>
              </a:rPr>
              <a:t>on</a:t>
            </a:r>
            <a:r>
              <a:rPr lang="en-US" sz="1900" dirty="0" b="1">
                <a:solidFill>
                  <a:srgbClr val="1B2236"/>
                </a:solidFill>
                <a:latin typeface="Lexend Deca" pitchFamily="34" charset="0"/>
                <a:ea typeface="Lexend Deca" pitchFamily="34" charset="-122"/>
                <a:cs typeface="Lexend Deca" pitchFamily="34" charset="-120"/>
              </a:rPr>
              <a:t> Main Street (not in)</a:t>
            </a:r>
          </a:p>
          <a:p>
            <a:pPr algn="l" indent="0" marL="0">
              <a:buNone/>
            </a:pPr>
            <a:r>
              <a:rPr lang="en-US" sz="1900" dirty="0" b="1">
                <a:solidFill>
                  <a:srgbClr val="1B2236"/>
                </a:solidFill>
                <a:latin typeface="Lexend Deca" pitchFamily="34" charset="0"/>
                <a:ea typeface="Lexend Deca" pitchFamily="34" charset="-122"/>
                <a:cs typeface="Lexend Deca" pitchFamily="34" charset="-120"/>
              </a:rPr>
              <a:t>Turn </a:t>
            </a:r>
            <a:r>
              <a:rPr lang="en-US" sz="1900" dirty="0" b="1">
                <a:solidFill>
                  <a:srgbClr val="5B3FC4"/>
                </a:solidFill>
                <a:latin typeface="Lexend Deca" pitchFamily="34" charset="0"/>
                <a:ea typeface="Lexend Deca" pitchFamily="34" charset="-122"/>
                <a:cs typeface="Lexend Deca" pitchFamily="34" charset="-120"/>
              </a:rPr>
              <a:t>left.</a:t>
            </a:r>
            <a:r>
              <a:rPr lang="en-US" sz="1900" dirty="0" b="1">
                <a:solidFill>
                  <a:srgbClr val="1B2236"/>
                </a:solidFill>
                <a:latin typeface="Lexend Deca" pitchFamily="34" charset="0"/>
                <a:ea typeface="Lexend Deca" pitchFamily="34" charset="-122"/>
                <a:cs typeface="Lexend Deca" pitchFamily="34" charset="-120"/>
              </a:rPr>
              <a:t> (not to the left)</a:t>
            </a:r>
          </a:p>
          <a:p>
            <a:pPr algn="l" indent="0" marL="0">
              <a:buNone/>
            </a:pPr>
            <a:r>
              <a:rPr lang="en-US" sz="1900" dirty="0" b="1">
                <a:solidFill>
                  <a:srgbClr val="5B3FC4"/>
                </a:solidFill>
                <a:latin typeface="Lexend Deca" pitchFamily="34" charset="0"/>
                <a:ea typeface="Lexend Deca" pitchFamily="34" charset="-122"/>
                <a:cs typeface="Lexend Deca" pitchFamily="34" charset="-120"/>
              </a:rPr>
              <a:t>Where's</a:t>
            </a:r>
            <a:r>
              <a:rPr lang="en-US" sz="1900" dirty="0" b="0">
                <a:solidFill>
                  <a:srgbClr val="1B2236"/>
                </a:solidFill>
                <a:latin typeface="Lexend Deca" pitchFamily="34" charset="0"/>
                <a:ea typeface="Lexend Deca" pitchFamily="34" charset="-122"/>
                <a:cs typeface="Lexend Deca" pitchFamily="34" charset="-120"/>
              </a:rPr>
              <a:t> = Where is</a:t>
            </a:r>
          </a:p>
        </p:txBody>
      </p:sp>
      <p:sp>
        <p:nvSpPr>
          <p:cNvPr id="7" name="Text 5"/>
          <p:cNvSpPr/>
          <p:nvPr/>
        </p:nvSpPr>
        <p:spPr>
          <a:xfrm>
            <a:off x="832104" y="1371600"/>
            <a:ext cx="5257800" cy="141732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5</a:t>
            </a:r>
          </a:p>
          <a:p>
            <a:pPr algn="l" indent="0" marL="0">
              <a:buNone/>
            </a:pPr>
            <a:r>
              <a:rPr lang="en-US" sz="2800" dirty="0" b="1">
                <a:solidFill>
                  <a:srgbClr val="1B2236"/>
                </a:solidFill>
                <a:latin typeface="Lexend Deca" pitchFamily="34" charset="0"/>
                <a:ea typeface="Lexend Deca" pitchFamily="34" charset="-122"/>
                <a:cs typeface="Lexend Deca" pitchFamily="34" charset="-120"/>
              </a:rPr>
              <a:t>near / on the street</a:t>
            </a:r>
          </a:p>
        </p:txBody>
      </p:sp>
      <p:sp>
        <p:nvSpPr>
          <p:cNvPr id="8" name="Shape 6"/>
          <p:cNvSpPr/>
          <p:nvPr/>
        </p:nvSpPr>
        <p:spPr>
          <a:xfrm>
            <a:off x="1305763" y="3649370"/>
            <a:ext cx="4790542" cy="2599639"/>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79476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DON'T SAY</a:t>
            </a:r>
            <a:endParaRPr lang="en-US" sz="2000" dirty="0"/>
          </a:p>
        </p:txBody>
      </p:sp>
      <p:sp>
        <p:nvSpPr>
          <p:cNvPr id="20" name="A head"/>
          <p:cNvSpPr/>
          <p:nvPr/>
        </p:nvSpPr>
        <p:spPr>
          <a:xfrm>
            <a:off x="7040880" y="379476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a:p>
        </p:txBody>
      </p:sp>
      <p:sp>
        <p:nvSpPr>
          <p:cNvPr id="21" name="Highlight 1"/>
          <p:cNvSpPr/>
          <p:nvPr/>
        </p:nvSpPr>
        <p:spPr>
          <a:xfrm>
            <a:off x="1481328" y="4453128"/>
            <a:ext cx="14173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4315968"/>
            <a:ext cx="1417320" cy="822960"/>
          </a:xfrm>
          <a:prstGeom prst="rect">
            <a:avLst/>
          </a:prstGeom>
          <a:noFill/>
          <a:ln w="38100">
            <a:noFill/>
          </a:ln>
        </p:spPr>
        <p:txBody>
          <a:bodyPr wrap="square" lIns="73152" tIns="36576" rIns="73152" bIns="36576" rtlCol="0" anchor="ctr">
            <a:noAutofit/>
          </a:bodyPr>
          <a:lstStyle/>
          <a:p>
            <a:pPr algn="ctr" indent="0" marL="0">
              <a:buNone/>
            </a:pPr>
            <a:r>
              <a:rPr lang="en-US" sz="2600" dirty="0" b="1">
                <a:solidFill>
                  <a:srgbClr val="1B2236"/>
                </a:solidFill>
                <a:latin typeface="Lexend Deca" pitchFamily="34" charset="0"/>
                <a:ea typeface="Lexend Deca" pitchFamily="34" charset="-122"/>
                <a:cs typeface="Lexend Deca" pitchFamily="34" charset="-120"/>
              </a:rPr>
              <a:t>1</a:t>
            </a:r>
          </a:p>
        </p:txBody>
      </p:sp>
      <p:sp>
        <p:nvSpPr>
          <p:cNvPr id="23" name="Question 1"/>
          <p:cNvSpPr/>
          <p:nvPr/>
        </p:nvSpPr>
        <p:spPr>
          <a:xfrm>
            <a:off x="2944368" y="4315968"/>
            <a:ext cx="3063240" cy="822960"/>
          </a:xfrm>
          <a:prstGeom prst="rect">
            <a:avLst/>
          </a:prstGeom>
          <a:noFill/>
          <a:ln w="38100">
            <a:noFill/>
          </a:ln>
        </p:spPr>
        <p:txBody>
          <a:bodyPr wrap="square" lIns="73152" tIns="36576" rIns="73152" bIns="36576" rtlCol="0" anchor="ctr">
            <a:noAutofit/>
          </a:bodyP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It's nearly the school.</a:t>
            </a:r>
          </a:p>
        </p:txBody>
      </p:sp>
      <p:sp>
        <p:nvSpPr>
          <p:cNvPr id="25" name="Answer bg 1"/>
          <p:cNvSpPr/>
          <p:nvPr/>
        </p:nvSpPr>
        <p:spPr>
          <a:xfrm>
            <a:off x="6949440" y="4334256"/>
            <a:ext cx="4526280" cy="786384"/>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Answer 1"/>
          <p:cNvSpPr/>
          <p:nvPr/>
        </p:nvSpPr>
        <p:spPr>
          <a:xfrm>
            <a:off x="6949440" y="4315968"/>
            <a:ext cx="4526280" cy="822960"/>
          </a:xfrm>
          <a:prstGeom prst="rect">
            <a:avLst/>
          </a:prstGeom>
          <a:noFill/>
          <a:ln w="38100">
            <a:noFill/>
          </a:ln>
        </p:spPr>
        <p:txBody>
          <a:bodyPr wrap="square" lIns="73152" tIns="36576" rIns="73152" bIns="36576" rtlCol="0" anchor="ctr">
            <a:noAutofit/>
          </a:bodyPr>
          <a:lstStyle/>
          <a:p>
            <a:pPr algn="l" indent="0" marL="0">
              <a:buNone/>
            </a:pPr>
            <a:r>
              <a:rPr lang="en-US" sz="2000" dirty="0" b="0">
                <a:solidFill>
                  <a:srgbClr val="1B2236"/>
                </a:solidFill>
                <a:latin typeface="Lexend Deca" pitchFamily="34" charset="0"/>
                <a:ea typeface="Lexend Deca" pitchFamily="34" charset="-122"/>
                <a:cs typeface="Lexend Deca" pitchFamily="34" charset="-120"/>
              </a:rPr>
              <a:t>It's </a:t>
            </a:r>
            <a:r>
              <a:rPr lang="en-US" sz="2000" dirty="0" b="1">
                <a:solidFill>
                  <a:srgbClr val="5B3FC4"/>
                </a:solidFill>
                <a:latin typeface="Lexend Deca" pitchFamily="34" charset="0"/>
                <a:ea typeface="Lexend Deca" pitchFamily="34" charset="-122"/>
                <a:cs typeface="Lexend Deca" pitchFamily="34" charset="-120"/>
              </a:rPr>
              <a:t>near</a:t>
            </a:r>
            <a:r>
              <a:rPr lang="en-US" sz="2000" dirty="0" b="0">
                <a:solidFill>
                  <a:srgbClr val="1B2236"/>
                </a:solidFill>
                <a:latin typeface="Lexend Deca" pitchFamily="34" charset="0"/>
                <a:ea typeface="Lexend Deca" pitchFamily="34" charset="-122"/>
                <a:cs typeface="Lexend Deca" pitchFamily="34" charset="-120"/>
              </a:rPr>
              <a:t> the school.</a:t>
            </a:r>
          </a:p>
        </p:txBody>
      </p:sp>
      <p:sp>
        <p:nvSpPr>
          <p:cNvPr id="26" name="Highlight 2"/>
          <p:cNvSpPr/>
          <p:nvPr/>
        </p:nvSpPr>
        <p:spPr>
          <a:xfrm>
            <a:off x="1481328" y="5367528"/>
            <a:ext cx="14173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5230368"/>
            <a:ext cx="1417320" cy="822960"/>
          </a:xfrm>
          <a:prstGeom prst="rect">
            <a:avLst/>
          </a:prstGeom>
          <a:noFill/>
          <a:ln w="38100">
            <a:noFill/>
          </a:ln>
        </p:spPr>
        <p:txBody>
          <a:bodyPr wrap="square" lIns="73152" tIns="36576" rIns="73152" bIns="36576" rtlCol="0" anchor="ctr">
            <a:noAutofit/>
          </a:bodyPr>
          <a:lstStyle/>
          <a:p>
            <a:pPr algn="ctr" indent="0" marL="0">
              <a:buNone/>
            </a:pPr>
            <a:r>
              <a:rPr lang="en-US" sz="2600" dirty="0" b="1">
                <a:solidFill>
                  <a:srgbClr val="1B2236"/>
                </a:solidFill>
                <a:latin typeface="Lexend Deca" pitchFamily="34" charset="0"/>
                <a:ea typeface="Lexend Deca" pitchFamily="34" charset="-122"/>
                <a:cs typeface="Lexend Deca" pitchFamily="34" charset="-120"/>
              </a:rPr>
              <a:t>2</a:t>
            </a:r>
          </a:p>
        </p:txBody>
      </p:sp>
      <p:sp>
        <p:nvSpPr>
          <p:cNvPr id="28" name="Question 2"/>
          <p:cNvSpPr/>
          <p:nvPr/>
        </p:nvSpPr>
        <p:spPr>
          <a:xfrm>
            <a:off x="2944368" y="5230368"/>
            <a:ext cx="3063240" cy="822960"/>
          </a:xfrm>
          <a:prstGeom prst="rect">
            <a:avLst/>
          </a:prstGeom>
          <a:noFill/>
          <a:ln w="38100">
            <a:noFill/>
          </a:ln>
        </p:spPr>
        <p:txBody>
          <a:bodyPr wrap="square" lIns="73152" tIns="36576" rIns="73152" bIns="36576" rtlCol="0" anchor="ctr">
            <a:noAutofit/>
          </a:bodyP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It's in Main Street.</a:t>
            </a:r>
          </a:p>
        </p:txBody>
      </p:sp>
      <p:sp>
        <p:nvSpPr>
          <p:cNvPr id="30" name="Answer bg 2"/>
          <p:cNvSpPr/>
          <p:nvPr/>
        </p:nvSpPr>
        <p:spPr>
          <a:xfrm>
            <a:off x="6949440" y="5248656"/>
            <a:ext cx="4526280" cy="786384"/>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2"/>
          <p:cNvSpPr/>
          <p:nvPr/>
        </p:nvSpPr>
        <p:spPr>
          <a:xfrm>
            <a:off x="6949440" y="5230368"/>
            <a:ext cx="4526280" cy="82296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5B3FC4"/>
                </a:solidFill>
                <a:latin typeface="Lexend Deca" pitchFamily="34" charset="0"/>
                <a:ea typeface="Lexend Deca" pitchFamily="34" charset="-122"/>
                <a:cs typeface="Lexend Deca" pitchFamily="34" charset="-120"/>
              </a:rPr>
              <a:t>on</a:t>
            </a:r>
            <a:r>
              <a:rPr lang="en-US" sz="2000" dirty="0" b="1">
                <a:solidFill>
                  <a:srgbClr val="1B2236"/>
                </a:solidFill>
                <a:latin typeface="Lexend Deca" pitchFamily="34" charset="0"/>
                <a:ea typeface="Lexend Deca" pitchFamily="34" charset="-122"/>
                <a:cs typeface="Lexend Deca" pitchFamily="34" charset="-120"/>
              </a:rPr>
              <a:t> Main Street.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39496" y="1360627"/>
            <a:ext cx="3045866" cy="4995367"/>
          </a:xfrm>
          <a:prstGeom prst="rect">
            <a:avLst/>
          </a:prstGeom>
          <a:solidFill>
            <a:srgbClr val="B9D2F7"/>
          </a:solidFill>
          <a:ln/>
        </p:spPr>
        <p:txBody>
          <a:bodyPr/>
          <a:p/>
        </p:txBody>
      </p:sp>
      <p:pic>
        <p:nvPicPr>
          <p:cNvPr id="21" name="Left arrow picture" descr="left arrow"/>
          <p:cNvPicPr>
            <a:picLocks noChangeAspect="1"/>
          </p:cNvPicPr>
          <p:nvPr/>
        </p:nvPicPr>
        <p:blipFill>
          <a:blip r:embed="rIdImg3"/>
          <a:stretch>
            <a:fillRect/>
          </a:stretch>
        </p:blipFill>
        <p:spPr>
          <a:xfrm>
            <a:off x="649224" y="1616796"/>
            <a:ext cx="2826410" cy="1978487"/>
          </a:xfrm>
          <a:prstGeom prst="rect">
            <a:avLst/>
          </a:prstGeom>
        </p:spPr>
      </p:pic>
      <p:sp>
        <p:nvSpPr>
          <p:cNvPr id="4" name="Shape 2"/>
          <p:cNvSpPr/>
          <p:nvPr/>
        </p:nvSpPr>
        <p:spPr>
          <a:xfrm>
            <a:off x="4582058" y="4619549"/>
            <a:ext cx="4033418" cy="1492301"/>
          </a:xfrm>
          <a:prstGeom prst="round1Rect">
            <a:avLst>
              <a:gd name="adj" fmla="val 23087"/>
            </a:avLst>
          </a:prstGeom>
          <a:solidFill>
            <a:srgbClr val="8FAFE3"/>
          </a:solidFill>
          <a:ln/>
        </p:spPr>
        <p:txBody>
          <a:bodyPr/>
          <a:p/>
        </p:txBody>
      </p:sp>
      <p:sp>
        <p:nvSpPr>
          <p:cNvPr id="5" name="Shape 3"/>
          <p:cNvSpPr/>
          <p:nvPr/>
        </p:nvSpPr>
        <p:spPr>
          <a:xfrm>
            <a:off x="4508906" y="4572000"/>
            <a:ext cx="4033418" cy="1492301"/>
          </a:xfrm>
          <a:prstGeom prst="round1Rect">
            <a:avLst>
              <a:gd name="adj" fmla="val 23087"/>
            </a:avLst>
          </a:prstGeom>
          <a:solidFill>
            <a:srgbClr val="B9D2F7"/>
          </a:solidFill>
          <a:ln/>
        </p:spPr>
        <p:txBody>
          <a:bodyPr/>
          <a:p/>
        </p:txBody>
      </p:sp>
      <p:sp>
        <p:nvSpPr>
          <p:cNvPr id="6" name="Shape 4"/>
          <p:cNvSpPr/>
          <p:nvPr/>
        </p:nvSpPr>
        <p:spPr>
          <a:xfrm>
            <a:off x="4395201" y="1473464"/>
            <a:ext cx="7210044" cy="1331366"/>
          </a:xfrm>
          <a:prstGeom prst="roundRect">
            <a:avLst>
              <a:gd name="adj" fmla="val 16667"/>
            </a:avLst>
          </a:prstGeom>
          <a:solidFill>
            <a:srgbClr val="8FAFE3"/>
          </a:solidFill>
          <a:ln/>
        </p:spPr>
        <p:txBody>
          <a:bodyPr/>
          <a:p/>
        </p:txBody>
      </p:sp>
      <p:sp>
        <p:nvSpPr>
          <p:cNvPr id="7" name="Shape 5"/>
          <p:cNvSpPr/>
          <p:nvPr/>
        </p:nvSpPr>
        <p:spPr>
          <a:xfrm>
            <a:off x="4437583" y="1419149"/>
            <a:ext cx="7210044" cy="1331366"/>
          </a:xfrm>
          <a:prstGeom prst="roundRect">
            <a:avLst>
              <a:gd name="adj" fmla="val 16667"/>
            </a:avLst>
          </a:prstGeom>
          <a:solidFill>
            <a:srgbClr val="FFFFFF"/>
          </a:solidFill>
          <a:ln/>
        </p:spPr>
        <p:txBody>
          <a:bodyPr/>
          <a:p/>
        </p:txBody>
      </p:sp>
      <p:sp>
        <p:nvSpPr>
          <p:cNvPr id="8" name="Text 6"/>
          <p:cNvSpPr/>
          <p:nvPr/>
        </p:nvSpPr>
        <p:spPr>
          <a:xfrm>
            <a:off x="4800600" y="1481328"/>
            <a:ext cx="6583680" cy="123444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3</a:t>
            </a:r>
          </a:p>
          <a:p>
            <a:pPr algn="l" indent="0" marL="0">
              <a:buNone/>
            </a:pPr>
            <a:r>
              <a:rPr lang="en-US" sz="3400" dirty="0" b="1">
                <a:solidFill>
                  <a:srgbClr val="1B2236"/>
                </a:solidFill>
                <a:latin typeface="Lexend Deca" pitchFamily="34" charset="0"/>
                <a:ea typeface="Lexend Deca" pitchFamily="34" charset="-122"/>
                <a:cs typeface="Lexend Deca" pitchFamily="34" charset="-120"/>
              </a:rPr>
              <a:t>Directions</a:t>
            </a:r>
          </a:p>
        </p:txBody>
      </p:sp>
      <p:sp>
        <p:nvSpPr>
          <p:cNvPr id="9" name="Text 7"/>
          <p:cNvSpPr/>
          <p:nvPr/>
        </p:nvSpPr>
        <p:spPr>
          <a:xfrm>
            <a:off x="4713732" y="3063240"/>
            <a:ext cx="4206240" cy="502920"/>
          </a:xfrm>
          <a:prstGeom prst="rect">
            <a:avLst/>
          </a:prstGeom>
          <a:noFill/>
          <a:ln/>
        </p:spPr>
        <p:txBody>
          <a:bodyPr wrap="square" lIns="0" tIns="0" rIns="0" bIns="0" rtlCol="0" anchor="ctr"/>
          <a:lstStyle/>
          <a:p>
            <a:pPr algn="l" indent="0" marL="0">
              <a:buNone/>
            </a:pPr>
            <a:r>
              <a:rPr lang="en-US" sz="2100" dirty="0" b="1">
                <a:solidFill>
                  <a:srgbClr val="1B2236"/>
                </a:solidFill>
                <a:latin typeface="Lexend Deca" pitchFamily="34" charset="0"/>
                <a:ea typeface="Lexend Deca" pitchFamily="34" charset="-122"/>
                <a:cs typeface="Lexend Deca" pitchFamily="34" charset="-120"/>
              </a:rPr>
              <a:t>Go:</a:t>
            </a:r>
          </a:p>
        </p:txBody>
      </p:sp>
      <p:sp>
        <p:nvSpPr>
          <p:cNvPr id="10" name="Text 8"/>
          <p:cNvSpPr/>
          <p:nvPr/>
        </p:nvSpPr>
        <p:spPr>
          <a:xfrm>
            <a:off x="4713732" y="3611880"/>
            <a:ext cx="4206240" cy="868680"/>
          </a:xfrm>
          <a:prstGeom prst="rect">
            <a:avLst/>
          </a:prstGeom>
          <a:noFill/>
          <a:ln/>
        </p:spPr>
        <p:txBody>
          <a:bodyPr wrap="square" lIns="0" tIns="0" rIns="0" bIns="0" rtlCol="0" anchor="t"/>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Go straight.</a:t>
            </a:r>
          </a:p>
          <a:p>
            <a:pPr algn="l" indent="0" marL="0">
              <a:buNone/>
            </a:pPr>
            <a:r>
              <a:rPr lang="en-US" sz="2200" dirty="0" b="0">
                <a:solidFill>
                  <a:srgbClr val="1B2236"/>
                </a:solidFill>
                <a:latin typeface="Lexend Deca" pitchFamily="34" charset="0"/>
                <a:ea typeface="Lexend Deca" pitchFamily="34" charset="-122"/>
                <a:cs typeface="Lexend Deca" pitchFamily="34" charset="-120"/>
              </a:rPr>
              <a:t>Go straight two blocks.</a:t>
            </a:r>
          </a:p>
        </p:txBody>
      </p:sp>
      <p:sp>
        <p:nvSpPr>
          <p:cNvPr id="11" name="Text 9"/>
          <p:cNvSpPr/>
          <p:nvPr/>
        </p:nvSpPr>
        <p:spPr>
          <a:xfrm>
            <a:off x="4713732" y="4663440"/>
            <a:ext cx="3840480" cy="502920"/>
          </a:xfrm>
          <a:prstGeom prst="rect">
            <a:avLst/>
          </a:prstGeom>
          <a:noFill/>
          <a:ln/>
        </p:spPr>
        <p:txBody>
          <a:bodyPr wrap="square" lIns="0" tIns="0" rIns="0" bIns="0"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Turn:</a:t>
            </a:r>
          </a:p>
        </p:txBody>
      </p:sp>
      <p:sp>
        <p:nvSpPr>
          <p:cNvPr id="12" name="Text 10"/>
          <p:cNvSpPr/>
          <p:nvPr/>
        </p:nvSpPr>
        <p:spPr>
          <a:xfrm>
            <a:off x="4713732" y="5193792"/>
            <a:ext cx="3749040" cy="822960"/>
          </a:xfrm>
          <a:prstGeom prst="rect">
            <a:avLst/>
          </a:prstGeom>
          <a:noFill/>
          <a:ln/>
        </p:spPr>
        <p:txBody>
          <a:bodyPr wrap="square" lIns="0" tIns="0" rIns="0" bIns="0" rtlCol="0" anchor="t"/>
          <a:lstStyle/>
          <a:p>
            <a:pPr algn="l" indent="0" marL="0">
              <a:buNone/>
            </a:pPr>
            <a:r>
              <a:rPr lang="en-US" sz="2000" dirty="0" b="0">
                <a:solidFill>
                  <a:srgbClr val="1B2236"/>
                </a:solidFill>
                <a:latin typeface="Lexend Deca" pitchFamily="34" charset="0"/>
                <a:ea typeface="Lexend Deca" pitchFamily="34" charset="-122"/>
                <a:cs typeface="Lexend Deca" pitchFamily="34" charset="-120"/>
              </a:rPr>
              <a:t>Turn </a:t>
            </a:r>
            <a:r>
              <a:rPr lang="en-US" sz="2000" dirty="0" b="1">
                <a:solidFill>
                  <a:srgbClr val="5B3FC4"/>
                </a:solidFill>
                <a:latin typeface="Lexend Deca" pitchFamily="34" charset="0"/>
                <a:ea typeface="Lexend Deca" pitchFamily="34" charset="-122"/>
                <a:cs typeface="Lexend Deca" pitchFamily="34" charset="-120"/>
              </a:rPr>
              <a:t>left.</a:t>
            </a:r>
            <a:r>
              <a:rPr lang="en-US" sz="2000" dirty="0" b="0">
                <a:solidFill>
                  <a:srgbClr val="1B2236"/>
                </a:solidFill>
                <a:latin typeface="Lexend Deca" pitchFamily="34" charset="0"/>
                <a:ea typeface="Lexend Deca" pitchFamily="34" charset="-122"/>
                <a:cs typeface="Lexend Deca" pitchFamily="34" charset="-120"/>
              </a:rPr>
              <a:t>  Turn </a:t>
            </a:r>
            <a:r>
              <a:rPr lang="en-US" sz="2000" dirty="0" b="1">
                <a:solidFill>
                  <a:srgbClr val="5B3FC4"/>
                </a:solidFill>
                <a:latin typeface="Lexend Deca" pitchFamily="34" charset="0"/>
                <a:ea typeface="Lexend Deca" pitchFamily="34" charset="-122"/>
                <a:cs typeface="Lexend Deca" pitchFamily="34" charset="-120"/>
              </a:rPr>
              <a:t>right.</a:t>
            </a:r>
          </a:p>
          <a:p>
            <a:pPr algn="l" indent="0" marL="0">
              <a:buNone/>
            </a:pPr>
            <a:r>
              <a:rPr lang="en-US" sz="2000" dirty="0" b="0">
                <a:solidFill>
                  <a:srgbClr val="1B2236"/>
                </a:solidFill>
                <a:latin typeface="Lexend Deca" pitchFamily="34" charset="0"/>
                <a:ea typeface="Lexend Deca" pitchFamily="34" charset="-122"/>
                <a:cs typeface="Lexend Deca" pitchFamily="34" charset="-120"/>
              </a:rPr>
              <a:t>It's on your </a:t>
            </a:r>
            <a:r>
              <a:rPr lang="en-US" sz="2000" dirty="0" b="1">
                <a:solidFill>
                  <a:srgbClr val="5B3FC4"/>
                </a:solidFill>
                <a:latin typeface="Lexend Deca" pitchFamily="34" charset="0"/>
                <a:ea typeface="Lexend Deca" pitchFamily="34" charset="-122"/>
                <a:cs typeface="Lexend Deca" pitchFamily="34" charset="-120"/>
              </a:rPr>
              <a:t>left.</a:t>
            </a:r>
          </a:p>
        </p:txBody>
      </p:sp>
      <p:sp>
        <p:nvSpPr>
          <p:cNvPr id="13" name="Text 11"/>
          <p:cNvSpPr/>
          <p:nvPr/>
        </p:nvSpPr>
        <p:spPr>
          <a:xfrm>
            <a:off x="8915400" y="3108960"/>
            <a:ext cx="2697480" cy="1234440"/>
          </a:xfrm>
          <a:prstGeom prst="rect">
            <a:avLst/>
          </a:prstGeom>
          <a:noFill/>
          <a:ln/>
        </p:spPr>
        <p:txBody>
          <a:bodyPr wrap="square" lIns="0" tIns="0" rIns="0" bIns="0" rtlCol="0" anchor="ctr"/>
          <a:lstStyle/>
          <a:p>
            <a:pPr algn="ctr" indent="0" marL="0">
              <a:buNone/>
            </a:pPr>
            <a:r>
              <a:rPr lang="en-US" sz="3800" dirty="0" b="1">
                <a:solidFill>
                  <a:srgbClr val="5B3FC4"/>
                </a:solidFill>
                <a:latin typeface="Lexend Deca" pitchFamily="34" charset="0"/>
                <a:ea typeface="Lexend Deca" pitchFamily="34" charset="-122"/>
                <a:cs typeface="Lexend Deca" pitchFamily="34" charset="-120"/>
              </a:rPr>
              <a:t>straight</a:t>
            </a:r>
          </a:p>
          <a:p>
            <a:pPr algn="ctr" indent="0" marL="0">
              <a:buNone/>
            </a:pPr>
            <a:r>
              <a:rPr lang="en-US" sz="2000" dirty="0" b="1">
                <a:solidFill>
                  <a:srgbClr val="1B2236"/>
                </a:solidFill>
                <a:latin typeface="Lexend Deca" pitchFamily="34" charset="0"/>
                <a:ea typeface="Lexend Deca" pitchFamily="34" charset="-122"/>
                <a:cs typeface="Lexend Deca" pitchFamily="34" charset="-120"/>
              </a:rPr>
              <a:t>+ Go</a:t>
            </a:r>
          </a:p>
        </p:txBody>
      </p:sp>
      <p:sp>
        <p:nvSpPr>
          <p:cNvPr id="17" name="Text 15"/>
          <p:cNvSpPr/>
          <p:nvPr/>
        </p:nvSpPr>
        <p:spPr>
          <a:xfrm>
            <a:off x="8915400" y="4709160"/>
            <a:ext cx="2697480" cy="1234440"/>
          </a:xfrm>
          <a:prstGeom prst="rect">
            <a:avLst/>
          </a:prstGeom>
          <a:noFill/>
          <a:ln/>
        </p:spPr>
        <p:txBody>
          <a:bodyPr wrap="square" lIns="0" tIns="0" rIns="0" bIns="0" rtlCol="0" anchor="ctr"/>
          <a:lstStyle/>
          <a:p>
            <a:pPr algn="ctr" indent="0" marL="0">
              <a:buNone/>
            </a:pPr>
            <a:r>
              <a:rPr lang="en-US" sz="3000" dirty="0" b="1">
                <a:solidFill>
                  <a:srgbClr val="5B3FC4"/>
                </a:solidFill>
                <a:latin typeface="Lexend Deca" pitchFamily="34" charset="0"/>
                <a:ea typeface="Lexend Deca" pitchFamily="34" charset="-122"/>
                <a:cs typeface="Lexend Deca" pitchFamily="34" charset="-120"/>
              </a:rPr>
              <a:t>left / right</a:t>
            </a:r>
          </a:p>
          <a:p>
            <a:pPr algn="ctr" indent="0" marL="0">
              <a:buNone/>
            </a:pPr>
            <a:r>
              <a:rPr lang="en-US" sz="3000" dirty="0" b="1">
                <a:solidFill>
                  <a:srgbClr val="5B3FC4"/>
                </a:solidFill>
                <a:latin typeface="Lexend Deca" pitchFamily="34" charset="0"/>
                <a:ea typeface="Lexend Deca" pitchFamily="34" charset="-122"/>
                <a:cs typeface="Lexend Deca" pitchFamily="34" charset="-120"/>
              </a:rPr>
              <a:t>+ Turn</a:t>
            </a:r>
          </a:p>
        </p:txBody>
      </p:sp>
      <p:pic>
        <p:nvPicPr>
          <p:cNvPr id="96" name="Right arrow picture" descr="right arrow"/>
          <p:cNvPicPr>
            <a:picLocks noChangeAspect="1"/>
          </p:cNvPicPr>
          <p:nvPr/>
        </p:nvPicPr>
        <p:blipFill>
          <a:blip r:embed="rIdImg4"/>
          <a:stretch>
            <a:fillRect/>
          </a:stretch>
        </p:blipFill>
        <p:spPr>
          <a:xfrm>
            <a:off x="649224" y="4039956"/>
            <a:ext cx="2826410" cy="19784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1508760"/>
          </a:xfrm>
          <a:prstGeom prst="round1Rect">
            <a:avLst>
              <a:gd name="adj" fmla="val 23087"/>
            </a:avLst>
          </a:prstGeom>
          <a:solidFill>
            <a:srgbClr val="FFFFFF"/>
          </a:solidFill>
          <a:ln/>
        </p:spPr>
        <p:txBody>
          <a:bodyPr/>
          <a:p/>
        </p:txBody>
      </p:sp>
      <p:sp>
        <p:nvSpPr>
          <p:cNvPr id="5" name="Shape 3"/>
          <p:cNvSpPr/>
          <p:nvPr/>
        </p:nvSpPr>
        <p:spPr>
          <a:xfrm>
            <a:off x="1583741" y="4041648"/>
            <a:ext cx="5130698" cy="1508760"/>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 Write. Check.</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street and the directions.</a:t>
            </a:r>
          </a:p>
        </p:txBody>
      </p:sp>
      <p:sp>
        <p:nvSpPr>
          <p:cNvPr id="11" name="Text 9"/>
          <p:cNvSpPr/>
          <p:nvPr/>
        </p:nvSpPr>
        <p:spPr>
          <a:xfrm>
            <a:off x="1810512" y="2423160"/>
            <a:ext cx="2651760" cy="914400"/>
          </a:xfrm>
          <a:prstGeom prst="rect">
            <a:avLst/>
          </a:prstGeom>
          <a:noFill/>
          <a:ln/>
        </p:spPr>
        <p:txBody>
          <a:bodyPr wrap="square" rtlCol="0" anchor="ctr" tIns="0" bIns="0"/>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 The street name:</a:t>
            </a:r>
          </a:p>
          <a:p>
            <a:pPr algn="l" indent="0" marL="0">
              <a:buNone/>
            </a:pPr>
            <a:r>
              <a:rPr lang="en-US" sz="1900" dirty="0" b="1">
                <a:solidFill>
                  <a:srgbClr val="1B2236"/>
                </a:solidFill>
                <a:latin typeface="Lexend Deca" pitchFamily="34" charset="0"/>
                <a:ea typeface="Lexend Deca" pitchFamily="34" charset="-122"/>
                <a:cs typeface="Lexend Deca" pitchFamily="34" charset="-120"/>
              </a:rPr>
              <a:t>____________</a:t>
            </a:r>
          </a:p>
        </p:txBody>
      </p:sp>
      <p:sp>
        <p:nvSpPr>
          <p:cNvPr id="13" name="Text 11"/>
          <p:cNvSpPr/>
          <p:nvPr/>
        </p:nvSpPr>
        <p:spPr>
          <a:xfrm>
            <a:off x="1810512" y="4041648"/>
            <a:ext cx="2651760" cy="1463040"/>
          </a:xfrm>
          <a:prstGeom prst="rect">
            <a:avLst/>
          </a:prstGeom>
          <a:noFill/>
          <a:ln/>
        </p:spPr>
        <p:txBody>
          <a:bodyPr wrap="square" rtlCol="0" anchor="ctr" tIns="0" bIns="0"/>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 Check ✓:</a:t>
            </a:r>
          </a:p>
          <a:p>
            <a:pPr algn="l" indent="0" marL="0">
              <a:buNone/>
            </a:pPr>
            <a:r>
              <a:rPr lang="en-US" sz="1700" dirty="0" b="1">
                <a:solidFill>
                  <a:srgbClr val="1B2236"/>
                </a:solidFill>
                <a:latin typeface="Lexend Deca" pitchFamily="34" charset="0"/>
                <a:ea typeface="Lexend Deca" pitchFamily="34" charset="-122"/>
                <a:cs typeface="Lexend Deca" pitchFamily="34" charset="-120"/>
              </a:rPr>
              <a:t>Go straight</a:t>
            </a:r>
          </a:p>
          <a:p>
            <a:pPr algn="l" indent="0" marL="0">
              <a:buNone/>
            </a:pPr>
            <a:r>
              <a:rPr lang="en-US" sz="1700" dirty="0" b="1">
                <a:solidFill>
                  <a:srgbClr val="1B2236"/>
                </a:solidFill>
                <a:latin typeface="Lexend Deca" pitchFamily="34" charset="0"/>
                <a:ea typeface="Lexend Deca" pitchFamily="34" charset="-122"/>
                <a:cs typeface="Lexend Deca" pitchFamily="34" charset="-120"/>
              </a:rPr>
              <a:t>Turn left</a:t>
            </a:r>
          </a:p>
          <a:p>
            <a:pPr algn="l" indent="0" marL="0">
              <a:buNone/>
            </a:pPr>
            <a:r>
              <a:rPr lang="en-US" sz="1700" dirty="0" b="1">
                <a:solidFill>
                  <a:srgbClr val="1B2236"/>
                </a:solidFill>
                <a:latin typeface="Lexend Deca" pitchFamily="34" charset="0"/>
                <a:ea typeface="Lexend Deca" pitchFamily="34" charset="-122"/>
                <a:cs typeface="Lexend Deca" pitchFamily="34" charset="-120"/>
              </a:rPr>
              <a:t>Turn right</a:t>
            </a:r>
          </a:p>
        </p:txBody>
      </p:sp>
      <p:sp>
        <p:nvSpPr>
          <p:cNvPr id="21" name="Shape 19"/>
          <p:cNvSpPr/>
          <p:nvPr/>
        </p:nvSpPr>
        <p:spPr>
          <a:xfrm>
            <a:off x="544982" y="2395728"/>
            <a:ext cx="1039673" cy="1508760"/>
          </a:xfrm>
          <a:prstGeom prst="rect">
            <a:avLst/>
          </a:prstGeom>
          <a:solidFill>
            <a:srgbClr val="B9D2F7"/>
          </a:solidFill>
          <a:ln/>
        </p:spPr>
        <p:txBody>
          <a:bodyPr/>
          <a:p/>
        </p:txBody>
      </p:sp>
      <p:sp>
        <p:nvSpPr>
          <p:cNvPr id="22" name="Text 20"/>
          <p:cNvSpPr/>
          <p:nvPr/>
        </p:nvSpPr>
        <p:spPr>
          <a:xfrm>
            <a:off x="686714" y="285292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4041648"/>
            <a:ext cx="1039673" cy="1508760"/>
          </a:xfrm>
          <a:prstGeom prst="rect">
            <a:avLst/>
          </a:prstGeom>
          <a:solidFill>
            <a:srgbClr val="B9D2F7"/>
          </a:solidFill>
          <a:ln/>
        </p:spPr>
        <p:txBody>
          <a:bodyPr/>
          <a:p/>
        </p:txBody>
      </p:sp>
      <p:sp>
        <p:nvSpPr>
          <p:cNvPr id="24" name="Text 22"/>
          <p:cNvSpPr/>
          <p:nvPr/>
        </p:nvSpPr>
        <p:spPr>
          <a:xfrm>
            <a:off x="686714" y="449884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 + C</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B: </a:t>
            </a:r>
            <a:r>
              <a:rPr lang="en-US" sz="2000" dirty="0" b="1">
                <a:solidFill>
                  <a:srgbClr val="5B3FC4"/>
                </a:solidFill>
                <a:latin typeface="Lexend Deca" pitchFamily="34" charset="0"/>
                <a:ea typeface="Lexend Deca" pitchFamily="34" charset="-122"/>
                <a:cs typeface="Lexend Deca" pitchFamily="34" charset="-120"/>
              </a:rPr>
              <a:t>write the street.</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 </a:t>
            </a:r>
            <a:r>
              <a:rPr lang="en-US" sz="2000" dirty="0" b="1">
                <a:solidFill>
                  <a:srgbClr val="5B3FC4"/>
                </a:solidFill>
                <a:latin typeface="Lexend Deca" pitchFamily="34" charset="0"/>
                <a:ea typeface="Lexend Deca" pitchFamily="34" charset="-122"/>
                <a:cs typeface="Lexend Deca" pitchFamily="34" charset="-120"/>
              </a:rPr>
              <a:t>check ✓ the directions.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show your partner.</a:t>
            </a:r>
          </a:p>
        </p:txBody>
      </p:sp>
      <p:sp>
        <p:nvSpPr>
          <p:cNvPr id="34" name="Answer 1"/>
          <p:cNvSpPr/>
          <p:nvPr/>
        </p:nvSpPr>
        <p:spPr>
          <a:xfrm>
            <a:off x="4526280" y="2697480"/>
            <a:ext cx="2103120" cy="50292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Main Street</a:t>
            </a:r>
          </a:p>
        </p:txBody>
      </p:sp>
      <p:sp>
        <p:nvSpPr>
          <p:cNvPr id="35" name="Answer 2"/>
          <p:cNvSpPr/>
          <p:nvPr/>
        </p:nvSpPr>
        <p:spPr>
          <a:xfrm>
            <a:off x="4526280" y="4343400"/>
            <a:ext cx="2103120" cy="82296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 Go straight</a:t>
            </a:r>
          </a:p>
          <a:p>
            <a:pPr algn="ctr" indent="0" marL="0">
              <a:buNone/>
            </a:pPr>
            <a:r>
              <a:rPr lang="en-US" sz="1800" dirty="0" b="1">
                <a:solidFill>
                  <a:srgbClr val="1B2236"/>
                </a:solidFill>
                <a:latin typeface="Lexend Deca" pitchFamily="34" charset="0"/>
                <a:ea typeface="Lexend Deca" pitchFamily="34" charset="-122"/>
                <a:cs typeface="Lexend Deca" pitchFamily="34" charset="-120"/>
              </a:rPr>
              <a:t>✓ Turn left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3429000"/>
          </a:xfrm>
          <a:prstGeom prst="rect">
            <a:avLst/>
          </a:prstGeom>
          <a:solidFill>
            <a:srgbClr val="B9D2F7"/>
          </a:solidFill>
          <a:ln/>
        </p:spPr>
        <p:txBody>
          <a:bodyPr/>
          <a:p/>
        </p:txBody>
      </p:sp>
      <p:sp>
        <p:nvSpPr>
          <p:cNvPr id="5" name="Shape 3"/>
          <p:cNvSpPr/>
          <p:nvPr/>
        </p:nvSpPr>
        <p:spPr>
          <a:xfrm flipH="1">
            <a:off x="501091" y="2798064"/>
            <a:ext cx="4526280" cy="3429000"/>
          </a:xfrm>
          <a:prstGeom prst="round1Rect">
            <a:avLst>
              <a:gd name="adj" fmla="val 23087"/>
            </a:avLst>
          </a:prstGeom>
          <a:solidFill>
            <a:srgbClr val="8FAFE3"/>
          </a:solidFill>
          <a:ln/>
        </p:spPr>
        <p:txBody>
          <a:bodyPr/>
          <a:p/>
        </p:txBody>
      </p:sp>
      <p:sp>
        <p:nvSpPr>
          <p:cNvPr id="6" name="Shape 4"/>
          <p:cNvSpPr/>
          <p:nvPr/>
        </p:nvSpPr>
        <p:spPr>
          <a:xfrm flipH="1">
            <a:off x="5217566" y="2806294"/>
            <a:ext cx="5440680" cy="3429000"/>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2606040"/>
            <a:ext cx="4526280" cy="3429000"/>
          </a:xfrm>
          <a:prstGeom prst="round1Rect">
            <a:avLst>
              <a:gd name="adj" fmla="val 23087"/>
            </a:avLst>
          </a:prstGeom>
          <a:solidFill>
            <a:srgbClr val="FFFFFF"/>
          </a:solidFill>
          <a:ln/>
        </p:spPr>
        <p:txBody>
          <a:bodyPr/>
          <a:p/>
        </p:txBody>
      </p:sp>
      <p:sp>
        <p:nvSpPr>
          <p:cNvPr id="10" name="Shape 8"/>
          <p:cNvSpPr/>
          <p:nvPr/>
        </p:nvSpPr>
        <p:spPr>
          <a:xfrm flipH="1">
            <a:off x="5349240" y="2606040"/>
            <a:ext cx="5440680" cy="3429000"/>
          </a:xfrm>
          <a:prstGeom prst="round1Rect">
            <a:avLst>
              <a:gd name="adj" fmla="val 23087"/>
            </a:avLst>
          </a:prstGeom>
          <a:solidFill>
            <a:srgbClr val="FFFFFF"/>
          </a:solidFill>
          <a:ln/>
        </p:spPr>
        <p:txBody>
          <a:bodyPr/>
          <a:p/>
        </p:txBody>
      </p:sp>
      <p:sp>
        <p:nvSpPr>
          <p:cNvPr id="11" name="Text 9"/>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a:p>
        </p:txBody>
      </p:sp>
      <p:pic>
        <p:nvPicPr>
          <p:cNvPr id="21" name="Left arrow picture" descr="left arrow"/>
          <p:cNvPicPr>
            <a:picLocks noChangeAspect="1"/>
          </p:cNvPicPr>
          <p:nvPr/>
        </p:nvPicPr>
        <p:blipFill>
          <a:blip r:embed="rIdImg2"/>
          <a:stretch>
            <a:fillRect/>
          </a:stretch>
        </p:blipFill>
        <p:spPr>
          <a:xfrm>
            <a:off x="9124406" y="1188720"/>
            <a:ext cx="1959429" cy="1371600"/>
          </a:xfrm>
          <a:prstGeom prst="rect">
            <a:avLst/>
          </a:prstGeom>
        </p:spPr>
      </p:pic>
      <p:sp>
        <p:nvSpPr>
          <p:cNvPr id="22" name="Dont head"/>
          <p:cNvSpPr/>
          <p:nvPr/>
        </p:nvSpPr>
        <p:spPr>
          <a:xfrm>
            <a:off x="914400" y="2697480"/>
            <a:ext cx="40233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5577840" y="2697480"/>
            <a:ext cx="49377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320040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in Main Street</a:t>
            </a:r>
          </a:p>
        </p:txBody>
      </p:sp>
      <p:sp>
        <p:nvSpPr>
          <p:cNvPr id="25" name="Good 1"/>
          <p:cNvSpPr/>
          <p:nvPr/>
        </p:nvSpPr>
        <p:spPr>
          <a:xfrm>
            <a:off x="5577840" y="320040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on</a:t>
            </a:r>
            <a:r>
              <a:rPr lang="en-US" sz="2000" dirty="0" b="1">
                <a:solidFill>
                  <a:srgbClr val="1B2236"/>
                </a:solidFill>
                <a:latin typeface="Lexend Deca" pitchFamily="34" charset="0"/>
                <a:ea typeface="Lexend Deca" pitchFamily="34" charset="-122"/>
                <a:cs typeface="Lexend Deca" pitchFamily="34" charset="-120"/>
              </a:rPr>
              <a:t> Main Street</a:t>
            </a:r>
          </a:p>
        </p:txBody>
      </p:sp>
      <p:sp>
        <p:nvSpPr>
          <p:cNvPr id="26" name="Bad 2"/>
          <p:cNvSpPr/>
          <p:nvPr/>
        </p:nvSpPr>
        <p:spPr>
          <a:xfrm>
            <a:off x="914400" y="370332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Turn to the left.</a:t>
            </a:r>
          </a:p>
        </p:txBody>
      </p:sp>
      <p:sp>
        <p:nvSpPr>
          <p:cNvPr id="27" name="Good 2"/>
          <p:cNvSpPr/>
          <p:nvPr/>
        </p:nvSpPr>
        <p:spPr>
          <a:xfrm>
            <a:off x="5577840" y="370332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Turn </a:t>
            </a:r>
            <a:r>
              <a:rPr lang="en-US" sz="2000" dirty="0" b="1">
                <a:solidFill>
                  <a:srgbClr val="5B3FC4"/>
                </a:solidFill>
                <a:latin typeface="Lexend Deca" pitchFamily="34" charset="0"/>
                <a:ea typeface="Lexend Deca" pitchFamily="34" charset="-122"/>
                <a:cs typeface="Lexend Deca" pitchFamily="34" charset="-120"/>
              </a:rPr>
              <a:t>left.</a:t>
            </a:r>
          </a:p>
        </p:txBody>
      </p:sp>
      <p:sp>
        <p:nvSpPr>
          <p:cNvPr id="28" name="Bad 3"/>
          <p:cNvSpPr/>
          <p:nvPr/>
        </p:nvSpPr>
        <p:spPr>
          <a:xfrm>
            <a:off x="914400" y="420624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It's near of the bank.</a:t>
            </a:r>
          </a:p>
        </p:txBody>
      </p:sp>
      <p:sp>
        <p:nvSpPr>
          <p:cNvPr id="29" name="Good 3"/>
          <p:cNvSpPr/>
          <p:nvPr/>
        </p:nvSpPr>
        <p:spPr>
          <a:xfrm>
            <a:off x="5577840" y="420624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5B3FC4"/>
                </a:solidFill>
                <a:latin typeface="Lexend Deca" pitchFamily="34" charset="0"/>
                <a:ea typeface="Lexend Deca" pitchFamily="34" charset="-122"/>
                <a:cs typeface="Lexend Deca" pitchFamily="34" charset="-120"/>
              </a:rPr>
              <a:t>next to</a:t>
            </a:r>
            <a:r>
              <a:rPr lang="en-US" sz="2000" dirty="0" b="1">
                <a:solidFill>
                  <a:srgbClr val="1B2236"/>
                </a:solidFill>
                <a:latin typeface="Lexend Deca" pitchFamily="34" charset="0"/>
                <a:ea typeface="Lexend Deca" pitchFamily="34" charset="-122"/>
                <a:cs typeface="Lexend Deca" pitchFamily="34" charset="-120"/>
              </a:rPr>
              <a:t> the bank.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Street map: bank, pharmacy, school, park picture" descr="street map: bank, pharmacy, school, park, Main St"/>
          <p:cNvPicPr>
            <a:picLocks noChangeAspect="1"/>
          </p:cNvPicPr>
          <p:nvPr/>
        </p:nvPicPr>
        <p:blipFill>
          <a:blip r:embed="rIdImg2"/>
          <a:stretch>
            <a:fillRect/>
          </a:stretch>
        </p:blipFill>
        <p:spPr>
          <a:xfrm>
            <a:off x="502920" y="3168396"/>
            <a:ext cx="4663440" cy="3264408"/>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Text 5"/>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Where's the…?</a:t>
            </a:r>
          </a:p>
        </p:txBody>
      </p:sp>
      <p:sp>
        <p:nvSpPr>
          <p:cNvPr id="8" name="Text 6"/>
          <p:cNvSpPr/>
          <p:nvPr/>
        </p:nvSpPr>
        <p:spPr>
          <a:xfrm>
            <a:off x="6035040" y="1783080"/>
            <a:ext cx="356616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A–B pairs.</a:t>
            </a:r>
          </a:p>
          <a:p>
            <a:pPr algn="l" indent="0" marL="0">
              <a:buNone/>
            </a:pPr>
            <a:r>
              <a:rPr lang="en-US" sz="1800" dirty="0">
                <a:solidFill>
                  <a:srgbClr val="1B2236"/>
                </a:solidFill>
                <a:latin typeface="Lexend Deca" pitchFamily="34" charset="0"/>
                <a:ea typeface="Lexend Deca" pitchFamily="34" charset="-122"/>
                <a:cs typeface="Lexend Deca" pitchFamily="34" charset="-120"/>
              </a:rPr>
              <a:t>A has the map.</a:t>
            </a:r>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ext 9"/>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7:00–7:10</a:t>
            </a:r>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 asks:</a:t>
            </a:r>
          </a:p>
          <a:p>
            <a:pPr algn="l" indent="0" marL="0">
              <a:buNone/>
            </a:pPr>
            <a:r>
              <a:rPr lang="en-US" sz="1900" dirty="0" b="0">
                <a:solidFill>
                  <a:srgbClr val="5B3FC4"/>
                </a:solidFill>
                <a:latin typeface="Lexend Deca" pitchFamily="34" charset="0"/>
                <a:ea typeface="Lexend Deca" pitchFamily="34" charset="-122"/>
                <a:cs typeface="Lexend Deca" pitchFamily="34" charset="-120"/>
              </a:rPr>
              <a:t>Where's the bank?</a:t>
            </a:r>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answers from the map:</a:t>
            </a:r>
          </a:p>
          <a:p>
            <a:pPr algn="l" indent="0" marL="0">
              <a:buNone/>
            </a:pPr>
            <a:r>
              <a:rPr lang="en-US" sz="1800" dirty="0" b="0">
                <a:solidFill>
                  <a:srgbClr val="1B2236"/>
                </a:solidFill>
                <a:latin typeface="Lexend Deca" pitchFamily="34" charset="0"/>
                <a:ea typeface="Lexend Deca" pitchFamily="34" charset="-122"/>
                <a:cs typeface="Lexend Deca" pitchFamily="34" charset="-120"/>
              </a:rPr>
              <a:t>It's next to / across from…</a:t>
            </a:r>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 writes.</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Ask about 3 places.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ext 4"/>
          <p:cNvSpPr/>
          <p:nvPr/>
        </p:nvSpPr>
        <p:spPr>
          <a:xfrm>
            <a:off x="4343400" y="2103120"/>
            <a:ext cx="54864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a:t>
            </a:r>
            <a:r>
              <a:rPr lang="en-US" sz="2200" dirty="0" b="1">
                <a:solidFill>
                  <a:srgbClr val="5B3FC4"/>
                </a:solidFill>
                <a:latin typeface="Lexend Deca" pitchFamily="34" charset="0"/>
                <a:ea typeface="Lexend Deca" pitchFamily="34" charset="-122"/>
                <a:cs typeface="Lexend Deca" pitchFamily="34" charset="-120"/>
              </a:rPr>
              <a:t>   7:10–7:15</a:t>
            </a:r>
            <a:endParaRPr lang="en-US" sz="4000" dirty="0"/>
          </a:p>
        </p:txBody>
      </p:sp>
      <p:pic>
        <p:nvPicPr>
          <p:cNvPr id="16" name="Bus stop picture" descr="bus stop"/>
          <p:cNvPicPr>
            <a:picLocks noChangeAspect="1"/>
          </p:cNvPicPr>
          <p:nvPr/>
        </p:nvPicPr>
        <p:blipFill>
          <a:blip r:embed="rIdImg2"/>
          <a:stretch>
            <a:fillRect/>
          </a:stretch>
        </p:blipFill>
        <p:spPr>
          <a:xfrm>
            <a:off x="777240" y="2651760"/>
            <a:ext cx="3017520" cy="2112264"/>
          </a:xfrm>
          <a:prstGeom prst="rect">
            <a:avLst/>
          </a:prstGeom>
        </p:spPr>
      </p:pic>
      <p:sp>
        <p:nvSpPr>
          <p:cNvPr id="17" name="Num 01"/>
          <p:cNvSpPr/>
          <p:nvPr/>
        </p:nvSpPr>
        <p:spPr>
          <a:xfrm>
            <a:off x="4343400" y="333756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333756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a:p>
        </p:txBody>
      </p:sp>
      <p:sp>
        <p:nvSpPr>
          <p:cNvPr id="19" name="Body 01"/>
          <p:cNvSpPr/>
          <p:nvPr/>
        </p:nvSpPr>
        <p:spPr>
          <a:xfrm>
            <a:off x="4343400" y="3977640"/>
            <a:ext cx="3520440" cy="20116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Say:</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Where's the ___?</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Or say:</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Go straight.</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Turn left.</a:t>
            </a:r>
          </a:p>
        </p:txBody>
      </p:sp>
      <p:sp>
        <p:nvSpPr>
          <p:cNvPr id="20" name="Num 02"/>
          <p:cNvSpPr/>
          <p:nvPr/>
        </p:nvSpPr>
        <p:spPr>
          <a:xfrm>
            <a:off x="8001000" y="333756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333756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a:p>
        </p:txBody>
      </p:sp>
      <p:sp>
        <p:nvSpPr>
          <p:cNvPr id="22" name="Body 02"/>
          <p:cNvSpPr/>
          <p:nvPr/>
        </p:nvSpPr>
        <p:spPr>
          <a:xfrm>
            <a:off x="8001000" y="3977640"/>
            <a:ext cx="3611880" cy="20116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next to, across from…</a:t>
            </a:r>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Write directions.</a:t>
            </a:r>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3. A map: 3 places.</a:t>
            </a:r>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4. Ask: Where's the store?</a:t>
            </a:r>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5. There is… / There are…</a:t>
            </a:r>
          </a:p>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Bring it next week!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076429" y="533095"/>
            <a:ext cx="5814670" cy="1554480"/>
          </a:xfrm>
          <a:prstGeom prst="roundRect">
            <a:avLst>
              <a:gd name="adj" fmla="val 16667"/>
            </a:avLst>
          </a:prstGeom>
          <a:solidFill>
            <a:srgbClr val="8FAFE3"/>
          </a:solidFill>
          <a:ln/>
        </p:spPr>
        <p:txBody>
          <a:bodyPr/>
          <a:p/>
        </p:txBody>
      </p:sp>
      <p:sp>
        <p:nvSpPr>
          <p:cNvPr id="3" name="Shape 1"/>
          <p:cNvSpPr/>
          <p:nvPr/>
        </p:nvSpPr>
        <p:spPr>
          <a:xfrm>
            <a:off x="5110582" y="457200"/>
            <a:ext cx="5814670" cy="1554480"/>
          </a:xfrm>
          <a:prstGeom prst="roundRect">
            <a:avLst>
              <a:gd name="adj" fmla="val 16667"/>
            </a:avLst>
          </a:prstGeom>
          <a:solidFill>
            <a:srgbClr val="FFFFFF"/>
          </a:solidFill>
          <a:ln/>
        </p:spPr>
        <p:txBody>
          <a:bodyPr/>
          <a:p/>
        </p:txBody>
      </p:sp>
      <p:sp>
        <p:nvSpPr>
          <p:cNvPr id="4" name="Shape 2"/>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sp>
        <p:nvSpPr>
          <p:cNvPr id="120" name="Alphabet"/>
          <p:cNvSpPr/>
          <p:nvPr/>
        </p:nvSpPr>
        <p:spPr>
          <a:xfrm>
            <a:off x="228600" y="1737360"/>
            <a:ext cx="3337560" cy="3291840"/>
          </a:xfrm>
          <a:prstGeom prst="rect">
            <a:avLst/>
          </a:prstGeom>
          <a:noFill/>
          <a:ln/>
        </p:spPr>
        <p:txBody>
          <a:bodyPr wrap="square" rtlCol="0" anchor="ctr"/>
          <a:lstStyle/>
          <a:p>
            <a:pPr algn="ctr" indent="0" marL="0">
              <a:spcBef>
                <a:spcPts val="900"/>
              </a:spcBef>
              <a:buNone/>
            </a:pPr>
            <a:r>
              <a:rPr lang="en-US" sz="2800" dirty="0" b="1">
                <a:solidFill>
                  <a:srgbClr val="1B2236"/>
                </a:solidFill>
                <a:latin typeface="Lexend Deca" pitchFamily="34" charset="0"/>
                <a:ea typeface="Lexend Deca" pitchFamily="34" charset="-122"/>
                <a:cs typeface="Lexend Deca" pitchFamily="34" charset="-120"/>
              </a:rPr>
              <a:t>Go straight</a:t>
            </a:r>
          </a:p>
          <a:p>
            <a:pPr algn="ctr" indent="0" marL="0">
              <a:spcBef>
                <a:spcPts val="900"/>
              </a:spcBef>
              <a:buNone/>
            </a:pPr>
            <a:r>
              <a:rPr lang="en-US" sz="2200" dirty="0" b="1">
                <a:solidFill>
                  <a:srgbClr val="5B3FC4"/>
                </a:solidFill>
                <a:latin typeface="Lexend Deca" pitchFamily="34" charset="0"/>
                <a:ea typeface="Lexend Deca" pitchFamily="34" charset="-122"/>
                <a:cs typeface="Lexend Deca" pitchFamily="34" charset="-120"/>
              </a:rPr>
              <a:t>two blocks.</a:t>
            </a:r>
          </a:p>
          <a:p>
            <a:pPr algn="ctr" indent="0" marL="0">
              <a:spcBef>
                <a:spcPts val="900"/>
              </a:spcBef>
              <a:buNone/>
            </a:pPr>
            <a:r>
              <a:rPr lang="en-US" sz="2000" dirty="0" b="1">
                <a:solidFill>
                  <a:srgbClr val="1B2236"/>
                </a:solidFill>
                <a:latin typeface="Lexend Deca" pitchFamily="34" charset="0"/>
                <a:ea typeface="Lexend Deca" pitchFamily="34" charset="-122"/>
                <a:cs typeface="Lexend Deca" pitchFamily="34" charset="-120"/>
              </a:rPr>
              <a:t>C: circle.</a:t>
            </a:r>
          </a:p>
          <a:p>
            <a:pPr algn="ctr" indent="0" marL="0">
              <a:spcBef>
                <a:spcPts val="900"/>
              </a:spcBef>
              <a:buNone/>
            </a:pPr>
            <a:r>
              <a:rPr lang="en-US" sz="2000" dirty="0" b="1">
                <a:solidFill>
                  <a:srgbClr val="1B2236"/>
                </a:solidFill>
                <a:latin typeface="Lexend Deca" pitchFamily="34" charset="0"/>
                <a:ea typeface="Lexend Deca" pitchFamily="34" charset="-122"/>
                <a:cs typeface="Lexend Deca" pitchFamily="34" charset="-120"/>
              </a:rPr>
              <a:t>D: A says, B points.</a:t>
            </a:r>
          </a:p>
        </p:txBody>
      </p:sp>
      <p:sp>
        <p:nvSpPr>
          <p:cNvPr id="7" name="Text 5"/>
          <p:cNvSpPr/>
          <p:nvPr/>
        </p:nvSpPr>
        <p:spPr>
          <a:xfrm>
            <a:off x="5333695" y="566928"/>
            <a:ext cx="4846320" cy="13258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Real-World Reading  ·  Tasks C + D</a:t>
            </a:r>
          </a:p>
          <a:p>
            <a:pPr algn="l" indent="0" marL="0">
              <a:spcAft>
                <a:spcPts val="400"/>
              </a:spcAft>
              <a:buNone/>
            </a:pPr>
            <a:r>
              <a:rPr lang="en-US" sz="3400" dirty="0" b="1">
                <a:solidFill>
                  <a:srgbClr val="1B2236"/>
                </a:solidFill>
                <a:latin typeface="Lexend Deca" pitchFamily="34" charset="0"/>
                <a:ea typeface="Lexend Deca" pitchFamily="34" charset="-122"/>
                <a:cs typeface="Lexend Deca" pitchFamily="34" charset="-120"/>
              </a:rPr>
              <a:t>Circle the Word</a:t>
            </a:r>
          </a:p>
        </p:txBody>
      </p:sp>
      <p:sp>
        <p:nvSpPr>
          <p:cNvPr id="8" name="Text 6"/>
          <p:cNvSpPr/>
          <p:nvPr/>
        </p:nvSpPr>
        <p:spPr>
          <a:xfrm>
            <a:off x="4983480" y="214884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READ</a:t>
            </a:r>
          </a:p>
        </p:txBody>
      </p:sp>
      <p:sp>
        <p:nvSpPr>
          <p:cNvPr id="11" name="Text 9"/>
          <p:cNvSpPr/>
          <p:nvPr/>
        </p:nvSpPr>
        <p:spPr>
          <a:xfrm>
            <a:off x="8046720" y="214884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CIRCLE</a:t>
            </a:r>
          </a:p>
        </p:txBody>
      </p:sp>
      <p:sp>
        <p:nvSpPr>
          <p:cNvPr id="18" name="Highlight 1"/>
          <p:cNvSpPr/>
          <p:nvPr/>
        </p:nvSpPr>
        <p:spPr>
          <a:xfrm>
            <a:off x="4937760" y="2697479"/>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9" name="Helper 1"/>
          <p:cNvSpPr/>
          <p:nvPr/>
        </p:nvSpPr>
        <p:spPr>
          <a:xfrm>
            <a:off x="4937760" y="2651760"/>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Go straight / Go left</a:t>
            </a:r>
          </a:p>
        </p:txBody>
      </p:sp>
      <p:sp>
        <p:nvSpPr>
          <p:cNvPr id="22" name="Answer bg 1"/>
          <p:cNvSpPr/>
          <p:nvPr/>
        </p:nvSpPr>
        <p:spPr>
          <a:xfrm>
            <a:off x="8001000" y="2651760"/>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1" name="Answer 1"/>
          <p:cNvSpPr/>
          <p:nvPr/>
        </p:nvSpPr>
        <p:spPr>
          <a:xfrm>
            <a:off x="8001000" y="2651760"/>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Go straight two blocks.</a:t>
            </a:r>
          </a:p>
        </p:txBody>
      </p:sp>
      <p:sp>
        <p:nvSpPr>
          <p:cNvPr id="23" name="Highlight 2"/>
          <p:cNvSpPr/>
          <p:nvPr/>
        </p:nvSpPr>
        <p:spPr>
          <a:xfrm>
            <a:off x="4937760" y="3465575"/>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Helper 2"/>
          <p:cNvSpPr/>
          <p:nvPr/>
        </p:nvSpPr>
        <p:spPr>
          <a:xfrm>
            <a:off x="4937760" y="3419856"/>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Turn left / Turn park</a:t>
            </a:r>
          </a:p>
        </p:txBody>
      </p:sp>
      <p:sp>
        <p:nvSpPr>
          <p:cNvPr id="27" name="Answer bg 2"/>
          <p:cNvSpPr/>
          <p:nvPr/>
        </p:nvSpPr>
        <p:spPr>
          <a:xfrm>
            <a:off x="8001000" y="3419856"/>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8001000" y="3419856"/>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Turn left at the corner.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40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3429000"/>
          </a:xfrm>
          <a:prstGeom prst="rect">
            <a:avLst/>
          </a:prstGeom>
          <a:solidFill>
            <a:srgbClr val="B9D2F7"/>
          </a:solidFill>
          <a:ln/>
        </p:spPr>
        <p:txBody>
          <a:bodyPr/>
          <a:p/>
        </p:txBody>
      </p:sp>
      <p:sp>
        <p:nvSpPr>
          <p:cNvPr id="62" name="I can"/>
          <p:cNvSpPr/>
          <p:nvPr/>
        </p:nvSpPr>
        <p:spPr>
          <a:xfrm>
            <a:off x="8503920" y="1234440"/>
            <a:ext cx="3291840" cy="17373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200" dirty="0"/>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2200" dirty="0"/>
          </a:p>
          <a:p>
            <a:pPr algn="ctr" indent="0" marL="0">
              <a:buNone/>
            </a:pPr>
            <a:r>
              <a:rPr lang="en-US" sz="2000" dirty="0" b="0">
                <a:solidFill>
                  <a:srgbClr val="1B2236"/>
                </a:solidFill>
                <a:latin typeface="Lexend Deca" pitchFamily="34" charset="0"/>
                <a:ea typeface="Lexend Deca" pitchFamily="34" charset="-122"/>
                <a:cs typeface="Lexend Deca" pitchFamily="34" charset="-120"/>
              </a:rPr>
              <a:t>Check one face.</a:t>
            </a:r>
            <a:endParaRPr lang="en-US" sz="2200" dirty="0"/>
          </a:p>
        </p:txBody>
      </p:sp>
      <p:sp>
        <p:nvSpPr>
          <p:cNvPr id="5" name="Shape 3"/>
          <p:cNvSpPr/>
          <p:nvPr/>
        </p:nvSpPr>
        <p:spPr>
          <a:xfrm flipH="1">
            <a:off x="501091" y="3255264"/>
            <a:ext cx="4000500" cy="3258921"/>
          </a:xfrm>
          <a:prstGeom prst="round1Rect">
            <a:avLst>
              <a:gd name="adj" fmla="val 23087"/>
            </a:avLst>
          </a:prstGeom>
          <a:solidFill>
            <a:srgbClr val="8FAFE3"/>
          </a:solidFill>
          <a:ln/>
        </p:spPr>
        <p:txBody>
          <a:bodyPr/>
          <a:p/>
        </p:txBody>
      </p:sp>
      <p:sp>
        <p:nvSpPr>
          <p:cNvPr id="6" name="Shape 4"/>
          <p:cNvSpPr/>
          <p:nvPr/>
        </p:nvSpPr>
        <p:spPr>
          <a:xfrm flipH="1">
            <a:off x="4845406" y="3263494"/>
            <a:ext cx="586039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4068165" cy="3258921"/>
          </a:xfrm>
          <a:prstGeom prst="round1Rect">
            <a:avLst>
              <a:gd name="adj" fmla="val 23087"/>
            </a:avLst>
          </a:prstGeom>
          <a:solidFill>
            <a:srgbClr val="FFFFFF"/>
          </a:solidFill>
          <a:ln/>
        </p:spPr>
        <p:txBody>
          <a:bodyPr/>
          <a:p/>
        </p:txBody>
      </p:sp>
      <p:sp>
        <p:nvSpPr>
          <p:cNvPr id="10" name="Shape 8"/>
          <p:cNvSpPr/>
          <p:nvPr/>
        </p:nvSpPr>
        <p:spPr>
          <a:xfrm flipH="1">
            <a:off x="4977079" y="3063240"/>
            <a:ext cx="5860390" cy="3258921"/>
          </a:xfrm>
          <a:prstGeom prst="round1Rect">
            <a:avLst>
              <a:gd name="adj" fmla="val 23087"/>
            </a:avLst>
          </a:prstGeom>
          <a:solidFill>
            <a:srgbClr val="FFFFFF"/>
          </a:solidFill>
          <a:ln/>
        </p:spPr>
        <p:txBody>
          <a:bodyPr/>
          <a:p/>
        </p:txBody>
      </p:sp>
      <p:sp>
        <p:nvSpPr>
          <p:cNvPr id="11" name="Text 9"/>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a:t>
            </a:r>
            <a:r>
              <a:rPr lang="en-US" sz="2400" dirty="0" b="1">
                <a:solidFill>
                  <a:srgbClr val="5B3FC4"/>
                </a:solidFill>
                <a:latin typeface="Lexend Deca" pitchFamily="34" charset="0"/>
                <a:ea typeface="Lexend Deca" pitchFamily="34" charset="-122"/>
                <a:cs typeface="Lexend Deca" pitchFamily="34" charset="-120"/>
              </a:rPr>
              <a:t>   7:25</a:t>
            </a:r>
            <a:endParaRPr lang="en-US" sz="4300" dirty="0"/>
          </a:p>
        </p:txBody>
      </p:sp>
      <p:sp>
        <p:nvSpPr>
          <p:cNvPr id="22" name="Dont head"/>
          <p:cNvSpPr/>
          <p:nvPr/>
        </p:nvSpPr>
        <p:spPr>
          <a:xfrm>
            <a:off x="914400" y="3246120"/>
            <a:ext cx="310896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B. Match the question</a:t>
            </a:r>
          </a:p>
        </p:txBody>
      </p:sp>
      <p:sp>
        <p:nvSpPr>
          <p:cNvPr id="23" name="Say head"/>
          <p:cNvSpPr/>
          <p:nvPr/>
        </p:nvSpPr>
        <p:spPr>
          <a:xfrm>
            <a:off x="5257800" y="3246120"/>
            <a:ext cx="48463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Answer</a:t>
            </a:r>
            <a:endParaRPr lang="en-US" sz="2200" dirty="0"/>
          </a:p>
        </p:txBody>
      </p:sp>
      <p:sp>
        <p:nvSpPr>
          <p:cNvPr id="24" name="Bad 1"/>
          <p:cNvSpPr/>
          <p:nvPr/>
        </p:nvSpPr>
        <p:spPr>
          <a:xfrm>
            <a:off x="914400" y="3840480"/>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1. Where's the bank?</a:t>
            </a:r>
          </a:p>
        </p:txBody>
      </p:sp>
      <p:sp>
        <p:nvSpPr>
          <p:cNvPr id="25" name="Good 1"/>
          <p:cNvSpPr/>
          <p:nvPr/>
        </p:nvSpPr>
        <p:spPr>
          <a:xfrm>
            <a:off x="5257800" y="3840480"/>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c. It's next to the store.</a:t>
            </a:r>
          </a:p>
        </p:txBody>
      </p:sp>
      <p:sp>
        <p:nvSpPr>
          <p:cNvPr id="26" name="Bad 2"/>
          <p:cNvSpPr/>
          <p:nvPr/>
        </p:nvSpPr>
        <p:spPr>
          <a:xfrm>
            <a:off x="914400" y="4407408"/>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2. How do I get there?</a:t>
            </a:r>
          </a:p>
        </p:txBody>
      </p:sp>
      <p:sp>
        <p:nvSpPr>
          <p:cNvPr id="27" name="Good 2"/>
          <p:cNvSpPr/>
          <p:nvPr/>
        </p:nvSpPr>
        <p:spPr>
          <a:xfrm>
            <a:off x="5257800" y="4407408"/>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d. Go straight two blocks.</a:t>
            </a:r>
          </a:p>
        </p:txBody>
      </p:sp>
      <p:sp>
        <p:nvSpPr>
          <p:cNvPr id="28" name="Bad 3"/>
          <p:cNvSpPr/>
          <p:nvPr/>
        </p:nvSpPr>
        <p:spPr>
          <a:xfrm>
            <a:off x="914400" y="4974336"/>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3. Where's the pharmacy?</a:t>
            </a:r>
          </a:p>
        </p:txBody>
      </p:sp>
      <p:sp>
        <p:nvSpPr>
          <p:cNvPr id="29" name="Good 3"/>
          <p:cNvSpPr/>
          <p:nvPr/>
        </p:nvSpPr>
        <p:spPr>
          <a:xfrm>
            <a:off x="5257800" y="4974336"/>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 It's across from the park.</a:t>
            </a:r>
          </a:p>
        </p:txBody>
      </p:sp>
      <p:sp>
        <p:nvSpPr>
          <p:cNvPr id="60" name="Bad 4"/>
          <p:cNvSpPr/>
          <p:nvPr/>
        </p:nvSpPr>
        <p:spPr>
          <a:xfrm>
            <a:off x="914400" y="5541264"/>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4. Go straight. Then…</a:t>
            </a:r>
          </a:p>
        </p:txBody>
      </p:sp>
      <p:sp>
        <p:nvSpPr>
          <p:cNvPr id="61" name="Good 4"/>
          <p:cNvSpPr/>
          <p:nvPr/>
        </p:nvSpPr>
        <p:spPr>
          <a:xfrm>
            <a:off x="5257800" y="5541264"/>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 Turn left.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ark picture" descr="park">    </p:cNvPr>
          <p:cNvPicPr>
            <a:picLocks noChangeAspect="1"/>
          </p:cNvPicPr>
          <p:nvPr/>
        </p:nvPicPr>
        <p:blipFill>
          <a:blip r:embed="rIdImg2"/>
          <a:stretch>
            <a:fillRect/>
          </a:stretch>
        </p:blipFill>
        <p:spPr>
          <a:xfrm>
            <a:off x="7726680" y="1664208"/>
            <a:ext cx="3474720" cy="2432304"/>
          </a:xfrm>
          <a:prstGeom prst="rect">
            <a:avLst/>
          </a:prstGeom>
        </p:spPr>
      </p:pic>
      <p:sp>
        <p:nvSpPr>
          <p:cNvPr id="5" name="Text 2"/>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11  ·  Level 1</a:t>
            </a:r>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ext 5"/>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Great Work! See You Next Week!</a:t>
            </a:r>
            <a:endParaRPr lang="en-US" sz="5000" dirty="0"/>
          </a:p>
        </p:txBody>
      </p:sp>
      <p:sp>
        <p:nvSpPr>
          <p:cNvPr id="9" name="Text 6"/>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p>
        </p:txBody>
      </p:sp>
      <p:sp>
        <p:nvSpPr>
          <p:cNvPr id="10" name="Text 7"/>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Ask: Where's the bank?</a:t>
            </a:r>
          </a:p>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Say: It's across from the park.</a:t>
            </a:r>
          </a:p>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Say: Go straight. Turn left.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C9B8F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ext 5"/>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Twemoji credit"/>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1500" dirty="0" b="1">
                <a:solidFill>
                  <a:srgbClr val="5B3FC4"/>
                </a:solidFill>
                <a:latin typeface="Lexend Deca" pitchFamily="34" charset="0"/>
                <a:ea typeface="Lexend Deca" pitchFamily="34" charset="-122"/>
                <a:cs typeface="Lexend Deca" pitchFamily="34" charset="-120"/>
              </a:rPr>
              <a:t>Pictures</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Pictures use Twemoji graphics by Twitter, Inc. and other contributors (https://github.com/jdecked/twemoji), licensed under CC BY 4.0 (https://creativecommons.org/licenses/by/4.0/). The graphics were resized and labels were added. The corner, left, and right cards, the street map, and the EXIT, ONE WAY, and PUSH signs are drawn in code. Labels use the DejaVu Sans font. The review picture (the kitchen) is from Lesson 10.</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Other small pictures (the faces on the Progress Check) are standard emoji characters shown with the computer's emoji font.</a:t>
            </a:r>
          </a:p>
        </p:txBody>
      </p:sp>
      <p:sp>
        <p:nvSpPr>
          <p:cNvPr id="16" name="Deck license"/>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All names and places on the slides (Ana, Marco, Main Street, the map) are invented.</a:t>
            </a:r>
          </a:p>
        </p:txBody>
      </p:sp>
      <p:sp>
        <p:nvSpPr>
          <p:cNvPr id="17" name="AudioFontCredits"/>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(Narrator, Ana, Marco) made with Chatterbox TTS (Resemble AI, MIT License), copied from short reference clips made with Kokoro-82M (Apache 2.0); no recordings of real people were used. Each file carries an inaudible Perth watermark. Font: Lexend Deca (OFL 1.1).</a:t>
            </a:r>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Listen. Circle.</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Ana asks for the pharmacy.</a:t>
            </a:r>
          </a:p>
        </p:txBody>
      </p:sp>
      <p:sp>
        <p:nvSpPr>
          <p:cNvPr id="11" name="Text 9"/>
          <p:cNvSpPr/>
          <p:nvPr/>
        </p:nvSpPr>
        <p:spPr>
          <a:xfrm>
            <a:off x="1810512" y="2395728"/>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Turn:</a:t>
            </a:r>
          </a:p>
          <a:p>
            <a:pPr algn="l" indent="0" marL="0">
              <a:buNone/>
            </a:pPr>
            <a:r>
              <a:rPr lang="en-US" sz="1700" dirty="0">
                <a:solidFill>
                  <a:srgbClr val="1B2236"/>
                </a:solidFill>
                <a:latin typeface="Lexend Deca" pitchFamily="34" charset="0"/>
                <a:ea typeface="Lexend Deca" pitchFamily="34" charset="-122"/>
                <a:cs typeface="Lexend Deca" pitchFamily="34" charset="-120"/>
              </a:rPr>
              <a:t>left   right</a:t>
            </a:r>
          </a:p>
        </p:txBody>
      </p:sp>
      <p:sp>
        <p:nvSpPr>
          <p:cNvPr id="13" name="Text 11"/>
          <p:cNvSpPr/>
          <p:nvPr/>
        </p:nvSpPr>
        <p:spPr>
          <a:xfrm>
            <a:off x="1810512" y="3182112"/>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Next to the:</a:t>
            </a:r>
          </a:p>
          <a:p>
            <a:pPr algn="l" indent="0" marL="0">
              <a:buNone/>
            </a:pPr>
            <a:r>
              <a:rPr lang="en-US" sz="1700" dirty="0">
                <a:solidFill>
                  <a:srgbClr val="1B2236"/>
                </a:solidFill>
                <a:latin typeface="Lexend Deca" pitchFamily="34" charset="0"/>
                <a:ea typeface="Lexend Deca" pitchFamily="34" charset="-122"/>
                <a:cs typeface="Lexend Deca" pitchFamily="34" charset="-120"/>
              </a:rPr>
              <a:t>bank   school</a:t>
            </a:r>
          </a:p>
        </p:txBody>
      </p:sp>
      <p:sp>
        <p:nvSpPr>
          <p:cNvPr id="15" name="Text 13"/>
          <p:cNvSpPr/>
          <p:nvPr/>
        </p:nvSpPr>
        <p:spPr>
          <a:xfrm>
            <a:off x="1810512" y="3968496"/>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Across from the:</a:t>
            </a:r>
          </a:p>
          <a:p>
            <a:pPr algn="l" indent="0" marL="0">
              <a:buNone/>
            </a:pPr>
            <a:r>
              <a:rPr lang="en-US" sz="1700" dirty="0">
                <a:solidFill>
                  <a:srgbClr val="1B2236"/>
                </a:solidFill>
                <a:latin typeface="Lexend Deca" pitchFamily="34" charset="0"/>
                <a:ea typeface="Lexend Deca" pitchFamily="34" charset="-122"/>
                <a:cs typeface="Lexend Deca" pitchFamily="34" charset="-120"/>
              </a:rPr>
              <a:t>park   hospital</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A</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Circle: </a:t>
            </a:r>
            <a:r>
              <a:rPr lang="en-US" sz="2000" dirty="0" b="1">
                <a:solidFill>
                  <a:srgbClr val="5B3FC4"/>
                </a:solidFill>
                <a:latin typeface="Lexend Deca" pitchFamily="34" charset="0"/>
                <a:ea typeface="Lexend Deca" pitchFamily="34" charset="-122"/>
                <a:cs typeface="Lexend Deca" pitchFamily="34" charset="-120"/>
              </a:rPr>
              <a:t>one word.</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show your partner.</a:t>
            </a:r>
          </a:p>
        </p:txBody>
      </p:sp>
      <p:sp>
        <p:nvSpPr>
          <p:cNvPr id="34" name="Answer 1"/>
          <p:cNvSpPr/>
          <p:nvPr/>
        </p:nvSpPr>
        <p:spPr>
          <a:xfrm>
            <a:off x="4983480" y="2523744"/>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left</a:t>
            </a:r>
          </a:p>
        </p:txBody>
      </p:sp>
      <p:sp>
        <p:nvSpPr>
          <p:cNvPr id="35" name="Answer 2"/>
          <p:cNvSpPr/>
          <p:nvPr/>
        </p:nvSpPr>
        <p:spPr>
          <a:xfrm>
            <a:off x="4983480" y="3310128"/>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bank</a:t>
            </a:r>
          </a:p>
        </p:txBody>
      </p:sp>
      <p:sp>
        <p:nvSpPr>
          <p:cNvPr id="36" name="Answer 3"/>
          <p:cNvSpPr/>
          <p:nvPr/>
        </p:nvSpPr>
        <p:spPr>
          <a:xfrm>
            <a:off x="4983480" y="4096511"/>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park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487604" y="1352535"/>
            <a:ext cx="5246827" cy="1277417"/>
          </a:xfrm>
          <a:prstGeom prst="roundRect">
            <a:avLst>
              <a:gd name="adj" fmla="val 16667"/>
            </a:avLst>
          </a:prstGeom>
          <a:solidFill>
            <a:srgbClr val="8FAFE3"/>
          </a:solidFill>
          <a:ln/>
        </p:spPr>
        <p:txBody>
          <a:bodyPr/>
          <a:p/>
        </p:txBody>
      </p:sp>
      <p:sp>
        <p:nvSpPr>
          <p:cNvPr id="3" name="Shape 1"/>
          <p:cNvSpPr/>
          <p:nvPr/>
        </p:nvSpPr>
        <p:spPr>
          <a:xfrm>
            <a:off x="518465" y="1300277"/>
            <a:ext cx="5246827" cy="1277417"/>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sp>
        <p:nvSpPr>
          <p:cNvPr id="7" name="Text 5"/>
          <p:cNvSpPr/>
          <p:nvPr/>
        </p:nvSpPr>
        <p:spPr>
          <a:xfrm>
            <a:off x="548640" y="1764792"/>
            <a:ext cx="5120640" cy="777240"/>
          </a:xfrm>
          <a:prstGeom prst="rect">
            <a:avLst/>
          </a:prstGeom>
          <a:noFill/>
          <a:ln/>
        </p:spPr>
        <p:txBody>
          <a:bodyPr wrap="square" rtlCol="0" anchor="ctr"/>
          <a:lstStyle/>
          <a:p>
            <a:pPr algn="l" indent="0" marL="0">
              <a:buNone/>
            </a:pPr>
            <a:r>
              <a:rPr lang="en-US" sz="3400" dirty="0" b="1">
                <a:solidFill>
                  <a:srgbClr val="1B2236"/>
                </a:solidFill>
                <a:latin typeface="Lexend Deca" pitchFamily="34" charset="0"/>
                <a:ea typeface="Lexend Deca" pitchFamily="34" charset="-122"/>
                <a:cs typeface="Lexend Deca" pitchFamily="34" charset="-120"/>
              </a:rPr>
              <a:t>Directions</a:t>
            </a:r>
          </a:p>
        </p:txBody>
      </p:sp>
      <p:sp>
        <p:nvSpPr>
          <p:cNvPr id="8" name="Text 6"/>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TALK TIME  ·  PART 2</a:t>
            </a:r>
          </a:p>
        </p:txBody>
      </p:sp>
      <p:sp>
        <p:nvSpPr>
          <p:cNvPr id="9" name="Text 7"/>
          <p:cNvSpPr/>
          <p:nvPr/>
        </p:nvSpPr>
        <p:spPr>
          <a:xfrm>
            <a:off x="599846" y="3017520"/>
            <a:ext cx="4114800" cy="868680"/>
          </a:xfrm>
          <a:prstGeom prst="rect">
            <a:avLst/>
          </a:prstGeom>
          <a:noFill/>
          <a:ln/>
        </p:spPr>
        <p:txBody>
          <a:bodyPr wrap="square" lIns="0" tIns="0" rIns="0" bIns="0" rtlCol="0" anchor="t"/>
          <a:lstStyle/>
          <a:p>
            <a:pPr algn="l" indent="0" marL="0">
              <a:lnSpc>
                <a:spcPct val="110000"/>
              </a:lnSpc>
              <a:buNone/>
            </a:pPr>
            <a:r>
              <a:rPr lang="en-US" sz="2200" dirty="0">
                <a:solidFill>
                  <a:srgbClr val="1B2236"/>
                </a:solidFill>
                <a:latin typeface="Lexend Deca" pitchFamily="34" charset="0"/>
                <a:ea typeface="Lexend Deca" pitchFamily="34" charset="-122"/>
                <a:cs typeface="Lexend Deca" pitchFamily="34" charset="-120"/>
              </a:rPr>
              <a:t>B asks the way.</a:t>
            </a:r>
          </a:p>
          <a:p>
            <a:pPr algn="l" indent="0" marL="0">
              <a:lnSpc>
                <a:spcPct val="110000"/>
              </a:lnSpc>
              <a:buNone/>
            </a:pPr>
            <a:r>
              <a:rPr lang="en-US" sz="2200" dirty="0">
                <a:solidFill>
                  <a:srgbClr val="1B2236"/>
                </a:solidFill>
                <a:latin typeface="Lexend Deca" pitchFamily="34" charset="0"/>
                <a:ea typeface="Lexend Deca" pitchFamily="34" charset="-122"/>
                <a:cs typeface="Lexend Deca" pitchFamily="34" charset="-120"/>
              </a:rPr>
              <a:t>A gives directions.</a:t>
            </a:r>
          </a:p>
        </p:txBody>
      </p:sp>
      <p:sp>
        <p:nvSpPr>
          <p:cNvPr id="13" name="Model A"/>
          <p:cNvSpPr/>
          <p:nvPr/>
        </p:nvSpPr>
        <p:spPr>
          <a:xfrm>
            <a:off x="599846" y="3931920"/>
            <a:ext cx="4754880" cy="731520"/>
          </a:xfrm>
          <a:prstGeom prst="rect">
            <a:avLst/>
          </a:prstGeom>
          <a:noFill/>
          <a:ln/>
        </p:spPr>
        <p:txBody>
          <a:bodyPr wrap="square" lIns="0" tIns="0" rIns="0" bIns="0" rtlCol="0" anchor="t"/>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 How do I get there?</a:t>
            </a:r>
          </a:p>
        </p:txBody>
      </p:sp>
      <p:sp>
        <p:nvSpPr>
          <p:cNvPr id="14" name="Model B"/>
          <p:cNvSpPr/>
          <p:nvPr/>
        </p:nvSpPr>
        <p:spPr>
          <a:xfrm>
            <a:off x="599846" y="4709160"/>
            <a:ext cx="4754880" cy="54864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Go straight. Turn left.</a:t>
            </a:r>
          </a:p>
        </p:txBody>
      </p:sp>
      <p:sp>
        <p:nvSpPr>
          <p:cNvPr id="139" name="List shadow"/>
          <p:cNvSpPr/>
          <p:nvPr/>
        </p:nvSpPr>
        <p:spPr>
          <a:xfrm>
            <a:off x="6053328" y="1298448"/>
            <a:ext cx="5760720" cy="3154680"/>
          </a:xfrm>
          <a:prstGeom prst="roundRect">
            <a:avLst>
              <a:gd name="adj" fmla="val 16667"/>
            </a:avLst>
          </a:prstGeom>
          <a:solidFill>
            <a:srgbClr val="8FAFE3"/>
          </a:solidFill>
          <a:ln/>
        </p:spPr>
        <p:txBody>
          <a:bodyPr/>
          <a:p/>
        </p:txBody>
      </p:sp>
      <p:sp>
        <p:nvSpPr>
          <p:cNvPr id="140" name="List card"/>
          <p:cNvSpPr/>
          <p:nvPr/>
        </p:nvSpPr>
        <p:spPr>
          <a:xfrm>
            <a:off x="5989320" y="1234440"/>
            <a:ext cx="5760720" cy="3154680"/>
          </a:xfrm>
          <a:prstGeom prst="roundRect">
            <a:avLst>
              <a:gd name="adj" fmla="val 16667"/>
            </a:avLst>
          </a:prstGeom>
          <a:solidFill>
            <a:srgbClr val="FFFFFF"/>
          </a:solidFill>
          <a:ln/>
        </p:spPr>
        <p:txBody>
          <a:bodyPr/>
          <a:p/>
        </p:txBody>
      </p:sp>
      <p:sp>
        <p:nvSpPr>
          <p:cNvPr id="141" name="Question list"/>
          <p:cNvSpPr/>
          <p:nvPr/>
        </p:nvSpPr>
        <p:spPr>
          <a:xfrm>
            <a:off x="6263640" y="1463040"/>
            <a:ext cx="5303520" cy="2834640"/>
          </a:xfrm>
          <a:prstGeom prst="rect">
            <a:avLst/>
          </a:prstGeom>
          <a:noFill/>
          <a:ln/>
        </p:spPr>
        <p:txBody>
          <a:bodyPr wrap="square" lIns="0" tIns="0" rIns="0" bIns="0" rtlCol="0" anchor="t"/>
          <a:lstStyle/>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A says:</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Go straight.</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Turn left. / Turn right.</a:t>
            </a:r>
          </a:p>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Draw the route:</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school → </a:t>
            </a:r>
            <a:r>
              <a:rPr lang="en-US" sz="2200" dirty="0" b="1">
                <a:solidFill>
                  <a:srgbClr val="5B3FC4"/>
                </a:solidFill>
                <a:latin typeface="Lexend Deca" pitchFamily="34" charset="0"/>
                <a:ea typeface="Lexend Deca" pitchFamily="34" charset="-122"/>
                <a:cs typeface="Lexend Deca" pitchFamily="34" charset="-120"/>
              </a:rPr>
              <a:t>pharmacy</a:t>
            </a:r>
          </a:p>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Then:</a:t>
            </a:r>
            <a:r>
              <a:rPr lang="en-US" sz="2200" dirty="0" b="0">
                <a:solidFill>
                  <a:srgbClr val="1B2236"/>
                </a:solidFill>
                <a:latin typeface="Lexend Deca" pitchFamily="34" charset="0"/>
                <a:ea typeface="Lexend Deca" pitchFamily="34" charset="-122"/>
                <a:cs typeface="Lexend Deca" pitchFamily="34" charset="-120"/>
              </a:rPr>
              <a:t> switch.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7" name="Shape 5"/>
          <p:cNvSpPr/>
          <p:nvPr/>
        </p:nvSpPr>
        <p:spPr>
          <a:xfrm>
            <a:off x="1583741" y="4754880"/>
            <a:ext cx="5130698" cy="713232"/>
          </a:xfrm>
          <a:prstGeom prst="round1Rect">
            <a:avLst>
              <a:gd name="adj" fmla="val 23087"/>
            </a:avLst>
          </a:prstGeom>
          <a:solidFill>
            <a:srgbClr val="FFFFFF"/>
          </a:solidFill>
          <a:ln/>
        </p:spPr>
        <p:txBody>
          <a:bodyPr/>
          <a:p/>
        </p:txBody>
      </p:sp>
      <p:sp>
        <p:nvSpPr>
          <p:cNvPr id="50" name="Row card 5"/>
          <p:cNvSpPr/>
          <p:nvPr/>
        </p:nvSpPr>
        <p:spPr>
          <a:xfrm>
            <a:off x="1583741" y="5541264"/>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669280" cy="384048"/>
          </a:xfrm>
          <a:prstGeom prst="rect">
            <a:avLst/>
          </a:prstGeom>
          <a:noFill/>
          <a:ln/>
        </p:spPr>
        <p:txBody>
          <a:bodyPr wrap="square" rtlCol="0" anchor="t"/>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next to, across from, between, left, right.</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Look at the map and Grammar Boxes 1–3.</a:t>
            </a:r>
          </a:p>
        </p:txBody>
      </p:sp>
      <p:sp>
        <p:nvSpPr>
          <p:cNvPr id="11" name="Text 9"/>
          <p:cNvSpPr/>
          <p:nvPr/>
        </p:nvSpPr>
        <p:spPr>
          <a:xfrm>
            <a:off x="1810512" y="2395728"/>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The bank is</a:t>
            </a:r>
          </a:p>
          <a:p>
            <a:pPr algn="l" indent="0" marL="0">
              <a:buNone/>
            </a:pPr>
            <a:r>
              <a:rPr lang="en-US" sz="1700" dirty="0">
                <a:solidFill>
                  <a:srgbClr val="1B2236"/>
                </a:solidFill>
                <a:latin typeface="Lexend Deca" pitchFamily="34" charset="0"/>
                <a:ea typeface="Lexend Deca" pitchFamily="34" charset="-122"/>
                <a:cs typeface="Lexend Deca" pitchFamily="34" charset="-120"/>
              </a:rPr>
              <a:t>____ the store.</a:t>
            </a:r>
          </a:p>
        </p:txBody>
      </p:sp>
      <p:sp>
        <p:nvSpPr>
          <p:cNvPr id="13" name="Text 11"/>
          <p:cNvSpPr/>
          <p:nvPr/>
        </p:nvSpPr>
        <p:spPr>
          <a:xfrm>
            <a:off x="1810512" y="3182112"/>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The park is</a:t>
            </a:r>
          </a:p>
          <a:p>
            <a:pPr algn="l" indent="0" marL="0">
              <a:buNone/>
            </a:pPr>
            <a:r>
              <a:rPr lang="en-US" sz="1700" dirty="0">
                <a:solidFill>
                  <a:srgbClr val="1B2236"/>
                </a:solidFill>
                <a:latin typeface="Lexend Deca" pitchFamily="34" charset="0"/>
                <a:ea typeface="Lexend Deca" pitchFamily="34" charset="-122"/>
                <a:cs typeface="Lexend Deca" pitchFamily="34" charset="-120"/>
              </a:rPr>
              <a:t>____ the school.</a:t>
            </a:r>
          </a:p>
        </p:txBody>
      </p:sp>
      <p:sp>
        <p:nvSpPr>
          <p:cNvPr id="15" name="Text 13"/>
          <p:cNvSpPr/>
          <p:nvPr/>
        </p:nvSpPr>
        <p:spPr>
          <a:xfrm>
            <a:off x="1810512" y="3968496"/>
            <a:ext cx="310896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pharmacy is ____</a:t>
            </a:r>
          </a:p>
          <a:p>
            <a:pPr algn="l" indent="0" marL="0">
              <a:buNone/>
            </a:pPr>
            <a:r>
              <a:rPr lang="en-US" sz="1800" dirty="0">
                <a:solidFill>
                  <a:srgbClr val="1B2236"/>
                </a:solidFill>
                <a:latin typeface="Lexend Deca" pitchFamily="34" charset="0"/>
                <a:ea typeface="Lexend Deca" pitchFamily="34" charset="-122"/>
                <a:cs typeface="Lexend Deca" pitchFamily="34" charset="-120"/>
              </a:rPr>
              <a:t>the bank and the restaurant.</a:t>
            </a:r>
          </a:p>
        </p:txBody>
      </p:sp>
      <p:sp>
        <p:nvSpPr>
          <p:cNvPr id="17" name="Text 15"/>
          <p:cNvSpPr/>
          <p:nvPr/>
        </p:nvSpPr>
        <p:spPr>
          <a:xfrm>
            <a:off x="1810512" y="4754880"/>
            <a:ext cx="310896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Turn ____ at the corner.</a:t>
            </a:r>
          </a:p>
        </p:txBody>
      </p:sp>
      <p:sp>
        <p:nvSpPr>
          <p:cNvPr id="51" name="Row text 5"/>
          <p:cNvSpPr/>
          <p:nvPr/>
        </p:nvSpPr>
        <p:spPr>
          <a:xfrm>
            <a:off x="1810512" y="5541264"/>
            <a:ext cx="310896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Go straight.</a:t>
            </a:r>
          </a:p>
          <a:p>
            <a:pPr algn="l" indent="0" marL="0">
              <a:buNone/>
            </a:pPr>
            <a:r>
              <a:rPr lang="en-US" sz="1800" dirty="0">
                <a:solidFill>
                  <a:srgbClr val="1B2236"/>
                </a:solidFill>
                <a:latin typeface="Lexend Deca" pitchFamily="34" charset="0"/>
                <a:ea typeface="Lexend Deca" pitchFamily="34" charset="-122"/>
                <a:cs typeface="Lexend Deca" pitchFamily="34" charset="-120"/>
              </a:rPr>
              <a:t>Then turn ____.</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7" name="Shape 25"/>
          <p:cNvSpPr/>
          <p:nvPr/>
        </p:nvSpPr>
        <p:spPr>
          <a:xfrm>
            <a:off x="544982" y="4754880"/>
            <a:ext cx="1039673" cy="713232"/>
          </a:xfrm>
          <a:prstGeom prst="rect">
            <a:avLst/>
          </a:prstGeom>
          <a:solidFill>
            <a:srgbClr val="B9D2F7"/>
          </a:solidFill>
          <a:ln/>
        </p:spPr>
        <p:txBody>
          <a:bodyPr/>
          <a:p/>
        </p:txBody>
      </p:sp>
      <p:sp>
        <p:nvSpPr>
          <p:cNvPr id="28" name="Text 26"/>
          <p:cNvSpPr/>
          <p:nvPr/>
        </p:nvSpPr>
        <p:spPr>
          <a:xfrm>
            <a:off x="686714" y="481888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a:p>
        </p:txBody>
      </p:sp>
      <p:sp>
        <p:nvSpPr>
          <p:cNvPr id="52" name="Row chip 5"/>
          <p:cNvSpPr/>
          <p:nvPr/>
        </p:nvSpPr>
        <p:spPr>
          <a:xfrm>
            <a:off x="544982" y="5541264"/>
            <a:ext cx="1039673" cy="713232"/>
          </a:xfrm>
          <a:prstGeom prst="rect">
            <a:avLst/>
          </a:prstGeom>
          <a:solidFill>
            <a:srgbClr val="B9D2F7"/>
          </a:solidFill>
          <a:ln/>
        </p:spPr>
        <p:txBody>
          <a:bodyPr/>
          <a:p/>
        </p:txBody>
      </p:sp>
      <p:sp>
        <p:nvSpPr>
          <p:cNvPr id="53" name="Row number 5"/>
          <p:cNvSpPr/>
          <p:nvPr/>
        </p:nvSpPr>
        <p:spPr>
          <a:xfrm>
            <a:off x="686714" y="56052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next to, across from?</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next to</a:t>
            </a:r>
            <a:r>
              <a:rPr lang="en-US" sz="2000" dirty="0" b="0">
                <a:solidFill>
                  <a:srgbClr val="1B2236"/>
                </a:solidFill>
                <a:latin typeface="Lexend Deca" pitchFamily="34" charset="0"/>
                <a:ea typeface="Lexend Deca" pitchFamily="34" charset="-122"/>
                <a:cs typeface="Lexend Deca" pitchFamily="34" charset="-120"/>
              </a:rPr>
              <a:t>  ·  </a:t>
            </a:r>
            <a:r>
              <a:rPr lang="en-US" sz="2000" dirty="0" b="1">
                <a:solidFill>
                  <a:srgbClr val="5B3FC4"/>
                </a:solidFill>
                <a:latin typeface="Lexend Deca" pitchFamily="34" charset="0"/>
                <a:ea typeface="Lexend Deca" pitchFamily="34" charset="-122"/>
                <a:cs typeface="Lexend Deca" pitchFamily="34" charset="-120"/>
              </a:rPr>
              <a:t>across from</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between</a:t>
            </a:r>
            <a:r>
              <a:rPr lang="en-US" sz="2000" dirty="0" b="0">
                <a:solidFill>
                  <a:srgbClr val="1B2236"/>
                </a:solidFill>
                <a:latin typeface="Lexend Deca" pitchFamily="34" charset="0"/>
                <a:ea typeface="Lexend Deca" pitchFamily="34" charset="-122"/>
                <a:cs typeface="Lexend Deca" pitchFamily="34" charset="-120"/>
              </a:rPr>
              <a:t>  ·  </a:t>
            </a:r>
            <a:r>
              <a:rPr lang="en-US" sz="2000" dirty="0" b="1">
                <a:solidFill>
                  <a:srgbClr val="5B3FC4"/>
                </a:solidFill>
                <a:latin typeface="Lexend Deca" pitchFamily="34" charset="0"/>
                <a:ea typeface="Lexend Deca" pitchFamily="34" charset="-122"/>
                <a:cs typeface="Lexend Deca" pitchFamily="34" charset="-120"/>
              </a:rPr>
              <a:t>left</a:t>
            </a:r>
            <a:r>
              <a:rPr lang="en-US" sz="2000" dirty="0" b="0">
                <a:solidFill>
                  <a:srgbClr val="1B2236"/>
                </a:solidFill>
                <a:latin typeface="Lexend Deca" pitchFamily="34" charset="0"/>
                <a:ea typeface="Lexend Deca" pitchFamily="34" charset="-122"/>
                <a:cs typeface="Lexend Deca" pitchFamily="34" charset="-120"/>
              </a:rPr>
              <a:t>  ·  </a:t>
            </a:r>
            <a:r>
              <a:rPr lang="en-US" sz="2000" dirty="0" b="1">
                <a:solidFill>
                  <a:srgbClr val="5B3FC4"/>
                </a:solidFill>
                <a:latin typeface="Lexend Deca" pitchFamily="34" charset="0"/>
                <a:ea typeface="Lexend Deca" pitchFamily="34" charset="-122"/>
                <a:cs typeface="Lexend Deca" pitchFamily="34" charset="-120"/>
              </a:rPr>
              <a:t>right</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check your answers.</a:t>
            </a:r>
          </a:p>
        </p:txBody>
      </p:sp>
      <p:sp>
        <p:nvSpPr>
          <p:cNvPr id="34" name="Answer 1"/>
          <p:cNvSpPr/>
          <p:nvPr/>
        </p:nvSpPr>
        <p:spPr>
          <a:xfrm>
            <a:off x="4983480" y="2523744"/>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across from</a:t>
            </a:r>
          </a:p>
        </p:txBody>
      </p:sp>
      <p:sp>
        <p:nvSpPr>
          <p:cNvPr id="35" name="Answer 2"/>
          <p:cNvSpPr/>
          <p:nvPr/>
        </p:nvSpPr>
        <p:spPr>
          <a:xfrm>
            <a:off x="4983480" y="3310128"/>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across from</a:t>
            </a:r>
          </a:p>
        </p:txBody>
      </p:sp>
      <p:sp>
        <p:nvSpPr>
          <p:cNvPr id="36" name="Answer 3"/>
          <p:cNvSpPr/>
          <p:nvPr/>
        </p:nvSpPr>
        <p:spPr>
          <a:xfrm>
            <a:off x="4983480" y="4096511"/>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between</a:t>
            </a:r>
          </a:p>
        </p:txBody>
      </p:sp>
      <p:sp>
        <p:nvSpPr>
          <p:cNvPr id="37" name="Answer 4"/>
          <p:cNvSpPr/>
          <p:nvPr/>
        </p:nvSpPr>
        <p:spPr>
          <a:xfrm>
            <a:off x="4983480" y="4882896"/>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left</a:t>
            </a:r>
          </a:p>
        </p:txBody>
      </p:sp>
      <p:sp>
        <p:nvSpPr>
          <p:cNvPr id="54" name="Answer 5"/>
          <p:cNvSpPr/>
          <p:nvPr/>
        </p:nvSpPr>
        <p:spPr>
          <a:xfrm>
            <a:off x="4983480" y="5669280"/>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left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Signs. Match.</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does the sign say?</a:t>
            </a:r>
          </a:p>
        </p:txBody>
      </p:sp>
      <p:sp>
        <p:nvSpPr>
          <p:cNvPr id="11" name="Text 9"/>
          <p:cNvSpPr/>
          <p:nvPr/>
        </p:nvSpPr>
        <p:spPr>
          <a:xfrm>
            <a:off x="1810512" y="2395728"/>
            <a:ext cx="2560320" cy="713232"/>
          </a:xfrm>
          <a:prstGeom prst="rect">
            <a:avLst/>
          </a:prstGeom>
          <a:noFill/>
          <a:ln/>
        </p:spPr>
        <p:txBody>
          <a:bodyPr wrap="square" rtlCol="0" anchor="ctr" tIns="0" bIns="0"/>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EXIT</a:t>
            </a:r>
          </a:p>
        </p:txBody>
      </p:sp>
      <p:sp>
        <p:nvSpPr>
          <p:cNvPr id="13" name="Text 11"/>
          <p:cNvSpPr/>
          <p:nvPr/>
        </p:nvSpPr>
        <p:spPr>
          <a:xfrm>
            <a:off x="1810512" y="3182112"/>
            <a:ext cx="2560320" cy="713232"/>
          </a:xfrm>
          <a:prstGeom prst="rect">
            <a:avLst/>
          </a:prstGeom>
          <a:noFill/>
          <a:ln/>
        </p:spPr>
        <p:txBody>
          <a:bodyPr wrap="square" rtlCol="0" anchor="ctr" tIns="0" bIns="0"/>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ONE WAY</a:t>
            </a:r>
          </a:p>
        </p:txBody>
      </p:sp>
      <p:sp>
        <p:nvSpPr>
          <p:cNvPr id="15" name="Text 13"/>
          <p:cNvSpPr/>
          <p:nvPr/>
        </p:nvSpPr>
        <p:spPr>
          <a:xfrm>
            <a:off x="1810512" y="3968496"/>
            <a:ext cx="2560320" cy="713232"/>
          </a:xfrm>
          <a:prstGeom prst="rect">
            <a:avLst/>
          </a:prstGeom>
          <a:noFill/>
          <a:ln/>
        </p:spPr>
        <p:txBody>
          <a:bodyPr wrap="square" rtlCol="0" anchor="ctr" tIns="0" bIns="0"/>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PUSH</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Signs</a:t>
            </a:r>
          </a:p>
        </p:txBody>
      </p:sp>
      <p:sp>
        <p:nvSpPr>
          <p:cNvPr id="30" name="Text 28"/>
          <p:cNvSpPr/>
          <p:nvPr/>
        </p:nvSpPr>
        <p:spPr>
          <a:xfrm>
            <a:off x="7751369" y="3611880"/>
            <a:ext cx="3931920" cy="137160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a. </a:t>
            </a:r>
            <a:r>
              <a:rPr lang="en-US" sz="2000" dirty="0" b="1">
                <a:solidFill>
                  <a:srgbClr val="5B3FC4"/>
                </a:solidFill>
                <a:latin typeface="Lexend Deca" pitchFamily="34" charset="0"/>
                <a:ea typeface="Lexend Deca" pitchFamily="34" charset="-122"/>
                <a:cs typeface="Lexend Deca" pitchFamily="34" charset="-120"/>
              </a:rPr>
              <a:t>push the door</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b. </a:t>
            </a:r>
            <a:r>
              <a:rPr lang="en-US" sz="2000" dirty="0" b="1">
                <a:solidFill>
                  <a:srgbClr val="5B3FC4"/>
                </a:solidFill>
                <a:latin typeface="Lexend Deca" pitchFamily="34" charset="0"/>
                <a:ea typeface="Lexend Deca" pitchFamily="34" charset="-122"/>
                <a:cs typeface="Lexend Deca" pitchFamily="34" charset="-120"/>
              </a:rPr>
              <a:t>leave this way</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c. </a:t>
            </a:r>
            <a:r>
              <a:rPr lang="en-US" sz="2000" dirty="0" b="1">
                <a:solidFill>
                  <a:srgbClr val="5B3FC4"/>
                </a:solidFill>
                <a:latin typeface="Lexend Deca" pitchFamily="34" charset="0"/>
                <a:ea typeface="Lexend Deca" pitchFamily="34" charset="-122"/>
                <a:cs typeface="Lexend Deca" pitchFamily="34" charset="-120"/>
              </a:rPr>
              <a:t>cars go one way</a:t>
            </a:r>
          </a:p>
        </p:txBody>
      </p:sp>
      <p:sp>
        <p:nvSpPr>
          <p:cNvPr id="34" name="Answer 1"/>
          <p:cNvSpPr/>
          <p:nvPr/>
        </p:nvSpPr>
        <p:spPr>
          <a:xfrm>
            <a:off x="4526280" y="2523744"/>
            <a:ext cx="2148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b. leave this way</a:t>
            </a:r>
          </a:p>
        </p:txBody>
      </p:sp>
      <p:sp>
        <p:nvSpPr>
          <p:cNvPr id="35" name="Answer 2"/>
          <p:cNvSpPr/>
          <p:nvPr/>
        </p:nvSpPr>
        <p:spPr>
          <a:xfrm>
            <a:off x="4526280" y="3310128"/>
            <a:ext cx="2148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c. cars go one way</a:t>
            </a:r>
          </a:p>
        </p:txBody>
      </p:sp>
      <p:sp>
        <p:nvSpPr>
          <p:cNvPr id="36" name="Answer 3"/>
          <p:cNvSpPr/>
          <p:nvPr/>
        </p:nvSpPr>
        <p:spPr>
          <a:xfrm>
            <a:off x="4526280" y="4096512"/>
            <a:ext cx="2148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a. push the door</a:t>
            </a:r>
          </a:p>
        </p:txBody>
      </p:sp>
      <p:pic>
        <p:nvPicPr>
          <p:cNvPr id="37" name="EXIT sign picture" descr="EXIT sign"/>
          <p:cNvPicPr>
            <a:picLocks noChangeAspect="1"/>
          </p:cNvPicPr>
          <p:nvPr/>
        </p:nvPicPr>
        <p:blipFill>
          <a:blip r:embed="rIdImg1"/>
          <a:stretch>
            <a:fillRect/>
          </a:stretch>
        </p:blipFill>
        <p:spPr>
          <a:xfrm>
            <a:off x="7754112" y="5303520"/>
            <a:ext cx="1261872" cy="886968"/>
          </a:xfrm>
          <a:prstGeom prst="rect">
            <a:avLst/>
          </a:prstGeom>
        </p:spPr>
      </p:pic>
      <p:pic>
        <p:nvPicPr>
          <p:cNvPr id="38" name="ONE WAY sign picture" descr="ONE WAY sign"/>
          <p:cNvPicPr>
            <a:picLocks noChangeAspect="1"/>
          </p:cNvPicPr>
          <p:nvPr/>
        </p:nvPicPr>
        <p:blipFill>
          <a:blip r:embed="rIdImg2"/>
          <a:stretch>
            <a:fillRect/>
          </a:stretch>
        </p:blipFill>
        <p:spPr>
          <a:xfrm>
            <a:off x="9079992" y="5303520"/>
            <a:ext cx="1261872" cy="886968"/>
          </a:xfrm>
          <a:prstGeom prst="rect">
            <a:avLst/>
          </a:prstGeom>
        </p:spPr>
      </p:pic>
      <p:pic>
        <p:nvPicPr>
          <p:cNvPr id="39" name="PUSH / PULL sign picture" descr="PUSH / PULL sign"/>
          <p:cNvPicPr>
            <a:picLocks noChangeAspect="1"/>
          </p:cNvPicPr>
          <p:nvPr/>
        </p:nvPicPr>
        <p:blipFill>
          <a:blip r:embed="rIdImg3"/>
          <a:stretch>
            <a:fillRect/>
          </a:stretch>
        </p:blipFill>
        <p:spPr>
          <a:xfrm>
            <a:off x="10405872" y="5303520"/>
            <a:ext cx="1261872" cy="8869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Lesson 7: How Much Is It?</dc:title>
  <dc:subject>Adult ESL Level 1, Lesson 7</dc:subject>
  <dc:creator>Level 1 ESL</dc:creator>
  <cp:lastModifiedBy>Level 1 ESL</cp:lastModifiedBy>
  <cp:revision>1</cp:revision>
  <dcterms:created xsi:type="dcterms:W3CDTF">2026-10-15T20:54:31Z</dcterms:created>
  <dcterms:modified xsi:type="dcterms:W3CDTF">2026-10-15T20:54:31Z</dcterms:modified>
</cp:coreProperties>
</file>