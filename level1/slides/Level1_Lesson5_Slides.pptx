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0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65" r:id="rId11"/>
    <p:sldId id="276" r:id="rId27"/>
    <p:sldId id="264" r:id="rId10"/>
    <p:sldId id="286" r:id="rId37"/>
    <p:sldId id="280" r:id="rId31"/>
    <p:sldId id="287" r:id="rId38"/>
    <p:sldId id="260" r:id="rId6"/>
    <p:sldId id="266" r:id="rId12"/>
    <p:sldId id="259" r:id="rId5"/>
    <p:sldId id="277" r:id="rId28"/>
    <p:sldId id="289" r:id="rId40"/>
    <p:sldId id="278" r:id="rId29"/>
    <p:sldId id="270" r:id="rId16"/>
    <p:sldId id="288" r:id="rId39"/>
    <p:sldId id="271" r:id="rId17"/>
    <p:sldId id="281" r:id="rId32"/>
    <p:sldId id="285" r:id="rId36"/>
    <p:sldId id="279" r:id="rId30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4" Type="http://schemas.openxmlformats.org/officeDocument/2006/relationships/slide" Target="slides/slide22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Say: "Today: jobs." Point to the picture: "He is a cook."</a:t>
            </a:r>
          </a:p>
          <a:p>
            <a:r>
              <a:rPr lang="en-US"/>
              <a:t>Say at the start: "Everyone has an answer. You can say: I'm a student. I'm a homemaker. I don't work now." Write these 3 answers on the board and leave them there.</a:t>
            </a:r>
          </a:p>
          <a:p>
            <a:r>
              <a:rPr lang="en-US"/>
              <a:t>Never ask about pay, bosses, or work papers. Never ask where someone works if they don't offer it.</a:t>
            </a:r>
          </a:p>
          <a:p>
            <a:r>
              <a:rPr lang="en-US"/>
              <a:t>Class plan: 6:00 Hello + Review, 6:10 New Words, 6:20 Listening, 6:32 Grammar, 6:45 Break, 7:00 Talk Time, 7:10 Exit Ticket + Homework, 7:15 Letters &amp; Numbers, 7:25 Progress Check.</a:t>
            </a:r>
          </a:p>
          <a:p>
            <a:r>
              <a:rPr lang="en-US"/>
              <a:t>Source: level1_curriculum/lesson5/Level1_Lesson5.md (At a glance, How to Use This Plan, Clock-time plan).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Pairs. Review of last week (family). 15 learners: 7 pairs + 1 group of 3. 7–8 learners: 3–4 pairs. Late arrivals join any pair.</a:t>
            </a:r>
          </a:p>
          <a:p>
            <a:r>
              <a:rPr lang="en-US"/>
              <a:t>Model with one learner: "Do you have brothers or sisters?" Learner: "Yes, I do. I have two brothers."</a:t>
            </a:r>
          </a:p>
          <a:p>
            <a:r>
              <a:rPr lang="en-US"/>
              <a:t>Point to the picture: "Who's this?" Click: "This is my mother." Click again for the next line. Learners can use their family or Ana's family.</a:t>
            </a:r>
          </a:p>
          <a:p>
            <a:r>
              <a:rPr lang="en-US"/>
              <a:t>Partners switch, then find a new partner. Help: "Can you repeat, please?" "How do you spell it?"</a:t>
            </a:r>
          </a:p>
          <a:p>
            <a:r>
              <a:rPr lang="en-US"/>
              <a:t>Last 3 minutes: homework check. Partners show each other the Lesson 4 homework. Look at item 2 (do / don't).</a:t>
            </a:r>
          </a:p>
          <a:p>
            <a:r>
              <a:rPr lang="en-US"/>
              <a:t>If behind: one partner only.</a:t>
            </a:r>
          </a:p>
          <a:p>
            <a:r>
              <a:rPr lang="en-US"/>
              <a:t>Source: level1_curriculum/lesson5/Level1_Lesson5.md (Step 1: Hello + Review; Student Pages: Hello + Review). Picture from the Lesson 4 deck.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3: ask "Do you work at night?" Nod: "Yes, I do." Shake your head: "No, I don't." The same as "Do you have kids?" in Lesson 4.</a:t>
            </a:r>
          </a:p>
          <a:p>
            <a:r>
              <a:rPr lang="en-US"/>
              <a:t>Click to show each answer.</a:t>
            </a:r>
          </a:p>
          <a:p>
            <a:r>
              <a:rPr lang="en-US"/>
              <a:t>Box 4 (top right): "I work at night. I don't work in the morning." Use the board: ✓ work / ✗ don't work.</a:t>
            </a:r>
          </a:p>
          <a:p>
            <a:r>
              <a:rPr lang="en-US"/>
              <a:t>Check question: "Do you work on weekends?" (Yes, I do. / No, I don't.)</a:t>
            </a:r>
          </a:p>
          <a:p>
            <a:r>
              <a:rPr lang="en-US"/>
              <a:t>Common mistake: "I no work." Say: "I don't work."</a:t>
            </a:r>
          </a:p>
          <a:p>
            <a:r>
              <a:rPr lang="en-US"/>
              <a:t>Source: level1_curriculum/lesson5/Level1_Lesson5.md (Step 4: Grammar Q&amp;A, Boxes 3 and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Grammar page. The left side is the question. The right side is the answer. Point left, then right.</a:t>
            </a:r>
          </a:p>
          <a:p>
            <a:r>
              <a:rPr lang="en-US"/>
              <a:t>Ask: "What do you do?" Click: "I'm a cook." Write on the board: a cook, a driver / an office worker.</a:t>
            </a:r>
          </a:p>
          <a:p>
            <a:r>
              <a:rPr lang="en-US"/>
              <a:t>Say: before a, e, i, o, u → an. Hold up one finger: "a cook."</a:t>
            </a:r>
          </a:p>
          <a:p>
            <a:r>
              <a:rPr lang="en-US"/>
              <a:t>Click for each answer. Point to the 3 "everyone" answers: I'm a student. I'm a homemaker. I don't work now. These are good answers.</a:t>
            </a:r>
          </a:p>
          <a:p>
            <a:r>
              <a:rPr lang="en-US"/>
              <a:t>The big mistake: "I'm cook." In English a job needs a or an: I'm a cook.</a:t>
            </a:r>
          </a:p>
          <a:p>
            <a:r>
              <a:rPr lang="en-US"/>
              <a:t>Source: level1_curriculum/lesson5/Level1_Lesson5.md (Step 4: Grammar Q&amp;A, Box 1;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Progress Check (5 min). Individuals. Open the Progress Check page.</a:t>
            </a:r>
          </a:p>
          <a:p>
            <a:r>
              <a:rPr lang="en-US"/>
              <a:t>Part A: read the 5 words slowly, 2 times each: 1 cashier, 2 mechanic, 3 nurse, 4 factory, 5 server. Learners circle.</a:t>
            </a:r>
          </a:p>
          <a:p>
            <a:r>
              <a:rPr lang="en-US"/>
              <a:t>Parts B and C: learners match and write on their own. Help with the instructions only. Click to show the Part B answers when you check together: 1 c, 2 a, 3 d, 4 b.</a:t>
            </a:r>
          </a:p>
          <a:p>
            <a:r>
              <a:rPr lang="en-US"/>
              <a:t>Part C answers: 1 a, 2 an, 3 don't.</a:t>
            </a:r>
          </a:p>
          <a:p>
            <a:r>
              <a:rPr lang="en-US"/>
              <a:t>Part D: read each "I can…" line and point to the 3 faces: 😀 "I can do it." 🙂 "A little." 😐 "Not yet." Learners check one.</a:t>
            </a:r>
          </a:p>
          <a:p>
            <a:r>
              <a:rPr lang="en-US"/>
              <a:t>Score: A /5 + B /4 + C /3 = /12. This is not a test grade. Collect the pages. If behind: do it in Week 6 at 6:00.</a:t>
            </a:r>
          </a:p>
          <a:p>
            <a:r>
              <a:rPr lang="en-US"/>
              <a:t>Source: level1_curriculum/lesson5/Level1_Lesson5.md (Progress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you listen (1 min). Say: "This is Rosa. This is Marco. They are neighbors." Draw two houses on the board, side by side. "They talk about their jobs."</a:t>
            </a:r>
          </a:p>
          <a:p>
            <a:r>
              <a:rPr lang="en-US"/>
              <a:t>Click to show each listen. Listen 1: Task A (write the letter of the job). Listen 2: Task B (Yes or No). Listen 3: Task C (do, don't, or does).</a:t>
            </a:r>
          </a:p>
          <a:p>
            <a:r>
              <a:rPr lang="en-US"/>
              <a:t>Say it!: read each line. Learners repeat.</a:t>
            </a:r>
          </a:p>
          <a:p>
            <a:r>
              <a:rPr lang="en-US"/>
              <a:t>The audio L1_L5_listening.mp3 (about 1:10) plays the conversation once. Press play again for the next listen. Pairs compare after each task.</a:t>
            </a:r>
          </a:p>
          <a:p>
            <a:r>
              <a:rPr lang="en-US"/>
              <a:t>No speaker? Read the script with a volunteer.</a:t>
            </a:r>
          </a:p>
          <a:p>
            <a:r>
              <a:rPr lang="en-US"/>
              <a:t>Voices: Narrator, Rosa, Marco. Synthetic voices made with Chatterbox TTS (MIT), copied from short reference clips made with Kokoro-82M (Apache 2.0); no recordings of real people.</a:t>
            </a:r>
          </a:p>
          <a:p>
            <a:r>
              <a:rPr lang="en-US"/>
              <a:t>Source: level1_curriculum/lesson5/Level1_Lesson5.md (Step 3: Listening; Listening script).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first: "Today: jobs. What do you do? You can say: I'm a student. I'm a homemaker. I don't work now."</a:t>
            </a:r>
          </a:p>
          <a:p>
            <a:r>
              <a:rPr lang="en-US"/>
              <a:t>Click to show each picture. Point and say the word. Learners repeat 2 times.</a:t>
            </a:r>
          </a:p>
          <a:p>
            <a:r>
              <a:rPr lang="en-US"/>
              <a:t>Act out each job. Learners copy the action. Cook: stir a pot. Cashier: scan and count money. Driver: turn a wheel. Cleaner: sweep.</a:t>
            </a:r>
          </a:p>
          <a:p>
            <a:r>
              <a:rPr lang="en-US"/>
              <a:t>cleaner = housekeeper. Both words are OK.</a:t>
            </a:r>
          </a:p>
          <a:p>
            <a:r>
              <a:rPr lang="en-US"/>
              <a:t>★ = most important words. If behind: teach the ★ words only.</a:t>
            </a:r>
          </a:p>
          <a:p>
            <a:r>
              <a:rPr lang="en-US"/>
              <a:t>Source: level1_curriculum/lesson5/Level1_Lesson5.md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Ask: "Where do you work?" Click: "I work at a restaurant. I work at a factory." Point to the place pictures.</a:t>
            </a:r>
          </a:p>
          <a:p>
            <a:r>
              <a:rPr lang="en-US"/>
              <a:t>Click again: at a store, at home. "I work at home" is a good answer.</a:t>
            </a:r>
          </a:p>
          <a:p>
            <a:r>
              <a:rPr lang="en-US"/>
              <a:t>Right side: an office (o is a vowel, so an). "In an office" is also fine; don't correct it.</a:t>
            </a:r>
          </a:p>
          <a:p>
            <a:r>
              <a:rPr lang="en-US"/>
              <a:t>Questions need do: Where do you work? (not "Where you work?").</a:t>
            </a:r>
          </a:p>
          <a:p>
            <a:r>
              <a:rPr lang="en-US"/>
              <a:t>Source: level1_curriculum/lesson5/Level1_Lesson5.md (Step 4: Grammar Q&amp;A, Box 2;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goal, one at a time. Read it aloud. Learners repeat.</a:t>
            </a:r>
          </a:p>
          <a:p>
            <a:r>
              <a:rPr lang="en-US"/>
              <a:t>Goal 1: point to the job pictures: "I'm a cook. I'm an office worker."</a:t>
            </a:r>
          </a:p>
          <a:p>
            <a:r>
              <a:rPr lang="en-US"/>
              <a:t>Goal 4: nod for "Yes, I do." Shake your head for "No, I don't."</a:t>
            </a:r>
          </a:p>
          <a:p>
            <a:r>
              <a:rPr lang="en-US"/>
              <a:t>Goal 5: "I'm a student" and "I'm a homemaker" are good answers too.</a:t>
            </a:r>
          </a:p>
          <a:p>
            <a:r>
              <a:rPr lang="en-US"/>
              <a:t>Letters &amp; Numbers at 7:15: a or an, the sh sound (cashier), and job signs.</a:t>
            </a:r>
          </a:p>
          <a:p>
            <a:r>
              <a:rPr lang="en-US"/>
              <a:t>Source: level1_curriculum/lesson5/Level1_Lesson5.md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1, guessing game (4 min). Groups of 3–4. Each group has a set of job picture cards.</a:t>
            </a:r>
          </a:p>
          <a:p>
            <a:r>
              <a:rPr lang="en-US"/>
              <a:t>Model it first: you act out "driver"; the class guesses. "Are you a cook?" "No, I'm not." "Are you a driver?" "Yes, I am!"</a:t>
            </a:r>
          </a:p>
          <a:p>
            <a:r>
              <a:rPr lang="en-US"/>
              <a:t>Click to show each step. One learner takes a card (don't show it) and acts out the job. The others ask: "Are you a ___?" The winner takes the next card.</a:t>
            </a:r>
          </a:p>
          <a:p>
            <a:r>
              <a:rPr lang="en-US"/>
              <a:t>Learners who can't read or write yet can play this game fully.</a:t>
            </a:r>
          </a:p>
          <a:p>
            <a:r>
              <a:rPr lang="en-US"/>
              <a:t>If behind: do only the guessing game.</a:t>
            </a:r>
          </a:p>
          <a:p>
            <a:r>
              <a:rPr lang="en-US"/>
              <a:t>Source: level1_curriculum/lesson5/Level1_Lesson5.md (Step 5: Talk Time, Part 1; Student Pages: Talk Time 1).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each learner says one sentence about work: "I'm a cook." / "I work at a factory." / "I'm a student." / "I don't work now."</a:t>
            </a:r>
          </a:p>
          <a:p>
            <a:r>
              <a:rPr lang="en-US"/>
              <a:t>Or learners write a or an for two words on the board: ___ cook, ___ office worker (a cook, an office worker).</a:t>
            </a:r>
          </a:p>
          <a:p>
            <a:r>
              <a:rPr lang="en-US"/>
              <a:t>Homework (10 minutes): open the Homework page. Do item 1 together (the first sentence). Point to each instruction.</a:t>
            </a:r>
          </a:p>
          <a:p>
            <a:r>
              <a:rPr lang="en-US"/>
              <a:t>Homework: 1) I'm a / an ___. I work at ___. (or I'm a student / I'm a homemaker / I don't work now); 2) a or an; 3) do or don't; 4) ask a family member or a friend: What do you do? Where do you work?; 5) review: one sentence about your family (or Ana's family).</a:t>
            </a:r>
          </a:p>
          <a:p>
            <a:r>
              <a:rPr lang="en-US"/>
              <a:t>Homework answers: item 2: 1 a, 2 an, 3 a, 4 an, 5 a. Item 3: do or don't, if it matches the learner's Yes / No.</a:t>
            </a:r>
          </a:p>
          <a:p>
            <a:r>
              <a:rPr lang="en-US"/>
              <a:t>Source: level1_curriculum/lesson5/Level1_Lesson5.md (Step 6: Exit Ticket + Homework; Student Pages: Homework; Answer key).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 for the pictures, audio, and font.</a:t>
            </a:r>
          </a:p>
          <a:p>
            <a:r>
              <a:rPr lang="en-US"/>
              <a:t>Pictures: Twemoji (CC BY 4.0), https://github.com/jdecked/twemoji. Signs drawn in code. Audio: Chatterbox TTS (MIT) voices copied from short Kokoro-82M (Apache 2.0) reference clips; no recordings of real people.</a:t>
            </a:r>
          </a:p>
          <a:p>
            <a:r>
              <a:rPr lang="en-US"/>
              <a:t>Sources: Level1_Lesson5.md (Picture Credits),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picture. Say the word. Learners repeat 2 times.</a:t>
            </a:r>
          </a:p>
          <a:p>
            <a:r>
              <a:rPr lang="en-US"/>
              <a:t>factory, office, restaurant are places. Say: "A cook works at a restaurant."</a:t>
            </a:r>
          </a:p>
          <a:p>
            <a:r>
              <a:rPr lang="en-US"/>
              <a:t>student and homemaker: good answers for learners who don't work now.</a:t>
            </a:r>
          </a:p>
          <a:p>
            <a:r>
              <a:rPr lang="en-US"/>
              <a:t>Pairs (4 min): A acts out a job, B says it. Then switch. Then A points to a picture, B says it.</a:t>
            </a:r>
          </a:p>
          <a:p>
            <a:r>
              <a:rPr lang="en-US"/>
              <a:t>★ = most important words.</a:t>
            </a:r>
          </a:p>
          <a:p>
            <a:r>
              <a:rPr lang="en-US"/>
              <a:t>Source: level1_curriculum/lesson5/Level1_Lesson5.md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Preview box (1–2 min, no practice needed). Read the question. Click: "Yes, she does. She's a nurse." The class repeats once.</a:t>
            </a:r>
          </a:p>
          <a:p>
            <a:r>
              <a:rPr lang="en-US"/>
              <a:t>Click again for the other answers. Read them once. The class repeats.</a:t>
            </a:r>
          </a:p>
          <a:p>
            <a:r>
              <a:rPr lang="en-US"/>
              <a:t>Say: "Level 2. Only listen today." Don't test it and don't explain the -s in works.</a:t>
            </a:r>
          </a:p>
          <a:p>
            <a:r>
              <a:rPr lang="en-US"/>
              <a:t>If a learner says "She work at a hospital," just repeat it correctly: "Yes, she works at a hospital."</a:t>
            </a:r>
          </a:p>
          <a:p>
            <a:r>
              <a:rPr lang="en-US"/>
              <a:t>Source: level1_curriculum/lesson5/Level1_Lesson5.md (Step 4: Preview box; Grammar: Preview;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"Don't say" line. Shake your head. Click to show the correct line. Learners repeat it.</a:t>
            </a:r>
          </a:p>
          <a:p>
            <a:r>
              <a:rPr lang="en-US"/>
              <a:t>The big mistake this week: "I'm cook." A job needs a or an: I'm a cook. Correct by holding up one finger: "a cook."</a:t>
            </a:r>
          </a:p>
          <a:p>
            <a:r>
              <a:rPr lang="en-US"/>
              <a:t>Questions need do: Where do you work? "No" is don't: I don't work on Sunday.</a:t>
            </a:r>
          </a:p>
          <a:p>
            <a:r>
              <a:rPr lang="en-US"/>
              <a:t>Workplaces use at: at a restaurant, at a factory, at home. Streets use on: on Main Street.</a:t>
            </a:r>
          </a:p>
          <a:p>
            <a:r>
              <a:rPr lang="en-US"/>
              <a:t>Source: level1_curriculum/lesson5/Level1_Lesson5.md (Grammar: Common mistakes;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D (3 min). Point to each sign and read it: NOW HIRING. EMPLOYEES ONLY. Learners repeat.</a:t>
            </a:r>
          </a:p>
          <a:p>
            <a:r>
              <a:rPr lang="en-US"/>
              <a:t>Read each line. Learners circle Yes or No. Then click to show each answer: 1 Yes, 2 No, 3 No, 4 Yes.</a:t>
            </a:r>
          </a:p>
          <a:p>
            <a:r>
              <a:rPr lang="en-US"/>
              <a:t>Ask: "Where do you see this sign?" (a store window; a door at work).</a:t>
            </a:r>
          </a:p>
          <a:p>
            <a:r>
              <a:rPr lang="en-US"/>
              <a:t>Learners who can't read yet: read the signs aloud for them and let them answer by pointing.</a:t>
            </a:r>
          </a:p>
          <a:p>
            <a:r>
              <a:rPr lang="en-US"/>
              <a:t>If behind: do Tasks A and B only (skip this slide).</a:t>
            </a:r>
          </a:p>
          <a:p>
            <a:r>
              <a:rPr lang="en-US"/>
              <a:t>Source: level1_curriculum/lesson5/Level1_Lesson5.md (Letters &amp; Numbers, Task D; Answer key, Task D).</a:t>
            </a:r>
          </a:p>
          <a:p>
            <a:r>
              <a:rPr lang="en-US"/>
              <a:t>Pictures: the two signs are drawn in code for this curriculum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B). Learners circle Yes or No.</a:t>
            </a:r>
          </a:p>
          <a:p>
            <a:r>
              <a:rPr lang="en-US"/>
              <a:t>Pairs compare. Then click to show each answer: 1 Yes, 2 Yes, 3 No (he doesn't work in the morning), 4 No (at a store), 5 Yes.</a:t>
            </a:r>
          </a:p>
          <a:p>
            <a:r>
              <a:rPr lang="en-US"/>
              <a:t>Ask: "Where does Rosa work?" Point to the cashier picture: "At a store."</a:t>
            </a:r>
          </a:p>
          <a:p>
            <a:r>
              <a:rPr lang="en-US"/>
              <a:t>Source: level1_curriculum/lesson5/Level1_Lesson5.md (Answer key, Listening Task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Letters &amp; Numbers (10 min). Whole class, then pairs. Use the Letters &amp; Numbers page.</a:t>
            </a:r>
          </a:p>
          <a:p>
            <a:r>
              <a:rPr lang="en-US"/>
              <a:t>Task A (2 min): point to the vowel letters a e i o u. Read the a column. Click to show each an word. Learners repeat.</a:t>
            </a:r>
          </a:p>
          <a:p>
            <a:r>
              <a:rPr lang="en-US"/>
              <a:t>An goes before a vowel sound: an office, an apartment. More from the page: a server, an ID card.</a:t>
            </a:r>
          </a:p>
          <a:p>
            <a:r>
              <a:rPr lang="en-US"/>
              <a:t>Task C (2 min): say sh like "Quiet!" (finger on lips). Then: she, shoe, cashier, English, wash. Learners repeat each word 2 times.</a:t>
            </a:r>
          </a:p>
          <a:p>
            <a:r>
              <a:rPr lang="en-US"/>
              <a:t>Spanish speakers often say ch (as in chair): show the difference with a long, soft "shhh."</a:t>
            </a:r>
          </a:p>
          <a:p>
            <a:r>
              <a:rPr lang="en-US"/>
              <a:t>Partners: A says a job, B says a or an + the job. Switch.</a:t>
            </a:r>
          </a:p>
          <a:p>
            <a:r>
              <a:rPr lang="en-US"/>
              <a:t>Source: level1_curriculum/lesson5/Level1_Lesson5.md (Letters &amp; Numbers, Tasks A and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Remind learners: bring the homework next week.</a:t>
            </a:r>
          </a:p>
          <a:p>
            <a:r>
              <a:rPr lang="en-US"/>
              <a:t>Collect the Progress Check pages (or check them at the start of Week 6).</a:t>
            </a:r>
          </a:p>
          <a:p>
            <a:r>
              <a:rPr lang="en-US"/>
              <a:t>Looking ahead: Lesson 6 (time and days) uses "I work on Monday… at 6:00" and "When do you work?"</a:t>
            </a:r>
          </a:p>
          <a:p>
            <a:r>
              <a:rPr lang="en-US"/>
              <a:t>Source: level1_curriculum/lesson5/Level1_Lesson5.md (Teacher notes: Looking ahead).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B (2 min). Learners write a or an before each word. Then pairs check.</a:t>
            </a:r>
          </a:p>
          <a:p>
            <a:r>
              <a:rPr lang="en-US"/>
              <a:t>Click to show each answer circle: 1 a mechanic, 2 an office worker, 3 a factory, 4 an apartment, 5 a painter, 6 an email.</a:t>
            </a:r>
          </a:p>
          <a:p>
            <a:r>
              <a:rPr lang="en-US"/>
              <a:t>Say each answer. Learners repeat: "a mechanic."</a:t>
            </a:r>
          </a:p>
          <a:p>
            <a:r>
              <a:rPr lang="en-US"/>
              <a:t>Learners who can't read or write yet say the words with everyone and point.</a:t>
            </a:r>
          </a:p>
          <a:p>
            <a:r>
              <a:rPr lang="en-US"/>
              <a:t>Source: level1_curriculum/lesson5/Level1_Lesson5.md (Letters &amp; Numbers, Task B; Answer key, Task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1. Learners match each person to a job picture. They write the letter: 1 Rosa ___, 2 Marco ___, 3 Marco's wife ___, 4 Rosa's husband ___.</a:t>
            </a:r>
          </a:p>
          <a:p>
            <a:r>
              <a:rPr lang="en-US"/>
              <a:t>Pairs compare: "Show your partner." Then click to show each number on its picture: 1 Rosa = b (cashier), 2 Marco = a (cook), 3 Marco's wife = d (nurse), 4 Rosa's husband = c (mechanic).</a:t>
            </a:r>
          </a:p>
          <a:p>
            <a:r>
              <a:rPr lang="en-US"/>
              <a:t>Answer key: 1 b, 2 a, 3 d, 4 c.</a:t>
            </a:r>
          </a:p>
          <a:p>
            <a:r>
              <a:rPr lang="en-US"/>
              <a:t>Source: level1_curriculum/lesson5/Level1_Lesson5.md (Step 3: Listening; Answer key, Listening Task A).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3 (Task C). Learners write do, don't, or does.</a:t>
            </a:r>
          </a:p>
          <a:p>
            <a:r>
              <a:rPr lang="en-US"/>
              <a:t>Pairs compare. Then click to show each answer: 1 do, 2 don't, 3 do, 4 does.</a:t>
            </a:r>
          </a:p>
          <a:p>
            <a:r>
              <a:rPr lang="en-US"/>
              <a:t>The preview line: play the end again or read it: "Does your wife work, too? Yes, she does. She's a nurse."</a:t>
            </a:r>
          </a:p>
          <a:p>
            <a:r>
              <a:rPr lang="en-US"/>
              <a:t>Say: "Does = a question about he or she. Level 2 practices it. Today: only listen."</a:t>
            </a:r>
          </a:p>
          <a:p>
            <a:r>
              <a:rPr lang="en-US"/>
              <a:t>If behind: play the audio 2 times, and do Task C together.</a:t>
            </a:r>
          </a:p>
          <a:p>
            <a:r>
              <a:rPr lang="en-US"/>
              <a:t>Source: level1_curriculum/lesson5/Level1_Lesson5.md (Step 3: Listening; Answer key, Listening Task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2, Find Someone Who (6 min). Everyone stands with the Talk Time page.</a:t>
            </a:r>
          </a:p>
          <a:p>
            <a:r>
              <a:rPr lang="en-US"/>
              <a:t>Model it: "Do you work at night?" → "No, I don't." → ask someone else → "Yes, I do." → write that name. Click to show the B line.</a:t>
            </a:r>
          </a:p>
          <a:p>
            <a:r>
              <a:rPr lang="en-US"/>
              <a:t>Learners write a name when someone says "Yes, I do." For line 6 (Do you work now?), write a name for "No, I don't." One name per line; a different person for each line if possible.</a:t>
            </a:r>
          </a:p>
          <a:p>
            <a:r>
              <a:rPr lang="en-US"/>
              <a:t>Finish: 2–3 learners report one line: "Ana works at night." (A preview of works; accept "Ana work at night" too.)</a:t>
            </a:r>
          </a:p>
          <a:p>
            <a:r>
              <a:rPr lang="en-US"/>
              <a:t>Learners who can't write yet ask the questions while a partner writes names, or they draw a check.</a:t>
            </a:r>
          </a:p>
          <a:p>
            <a:r>
              <a:rPr lang="en-US"/>
              <a:t>Source: level1_curriculum/lesson5/Level1_Lesson5.md (Step 5: Talk Time, Part 2; Student Pages: Talk Time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one word on each line. Then pairs check.</a:t>
            </a:r>
          </a:p>
          <a:p>
            <a:r>
              <a:rPr lang="en-US"/>
              <a:t>Click to show each answer: 1 a, 2 an, 3 at, 4 do, 5 don't.</a:t>
            </a:r>
          </a:p>
          <a:p>
            <a:r>
              <a:rPr lang="en-US"/>
              <a:t>Pair drill (last 3–4 min): A asks from the left side of the Grammar page; B answers from the right side about a picture card (or about themselves). Then switch.</a:t>
            </a:r>
          </a:p>
          <a:p>
            <a:r>
              <a:rPr lang="en-US"/>
              <a:t>If behind: skip the pair drill. It becomes homework, and Talk Time practices the same questions.</a:t>
            </a:r>
          </a:p>
          <a:p>
            <a:r>
              <a:rPr lang="en-US"/>
              <a:t>Source: level1_curriculum/lesson5/Level1_Lesson5.md (Grammar: Practice; Answer key, Grammar practice; Step 4: pair drill).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5_1" Type="http://schemas.openxmlformats.org/officeDocument/2006/relationships/image" Target="../media/L1_L5_cook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L4_1" Type="http://schemas.openxmlformats.org/officeDocument/2006/relationships/image" Target="../media/L1_L4_parents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L5_1" Type="http://schemas.openxmlformats.org/officeDocument/2006/relationships/image" Target="../media/L1_L5_sign_now_hiring.png"/><Relationship Id="rIdL5_2" Type="http://schemas.openxmlformats.org/officeDocument/2006/relationships/image" Target="../media/L1_L5_sign_employees_only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L5_1" Type="http://schemas.openxmlformats.org/officeDocument/2006/relationships/image" Target="../media/L1_L5_cook.png"/><Relationship Id="rIdL5_2" Type="http://schemas.openxmlformats.org/officeDocument/2006/relationships/image" Target="../media/L1_L5_cashier.png"/><Relationship Id="rIdL5_3" Type="http://schemas.openxmlformats.org/officeDocument/2006/relationships/image" Target="../media/L1_L5_driver.png"/><Relationship Id="rIdL5_4" Type="http://schemas.openxmlformats.org/officeDocument/2006/relationships/image" Target="../media/L1_L5_mechanic.png"/><Relationship Id="rIdL5_5" Type="http://schemas.openxmlformats.org/officeDocument/2006/relationships/image" Target="../media/L1_L5_cleaner.png"/><Relationship Id="rIdL5_6" Type="http://schemas.openxmlformats.org/officeDocument/2006/relationships/image" Target="../media/L1_L5_construction_worker.png"/><Relationship Id="rIdL5_7" Type="http://schemas.openxmlformats.org/officeDocument/2006/relationships/image" Target="../media/L1_L5_server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L5_1" Type="http://schemas.openxmlformats.org/officeDocument/2006/relationships/image" Target="../media/L1_L5_nurse.png"/><Relationship Id="rIdL5_2" Type="http://schemas.openxmlformats.org/officeDocument/2006/relationships/image" Target="../media/L1_L5_painter.png"/><Relationship Id="rIdL5_3" Type="http://schemas.openxmlformats.org/officeDocument/2006/relationships/image" Target="../media/L1_L5_factory.png"/><Relationship Id="rIdL5_4" Type="http://schemas.openxmlformats.org/officeDocument/2006/relationships/image" Target="../media/L1_L5_office.png"/><Relationship Id="rIdL5_5" Type="http://schemas.openxmlformats.org/officeDocument/2006/relationships/image" Target="../media/L1_L5_restaurant.png"/><Relationship Id="rIdL5_6" Type="http://schemas.openxmlformats.org/officeDocument/2006/relationships/image" Target="../media/L1_L5_student.png"/><Relationship Id="rIdL5_7" Type="http://schemas.openxmlformats.org/officeDocument/2006/relationships/image" Target="../media/L1_L5_homemaker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5_1" Type="http://schemas.openxmlformats.org/officeDocument/2006/relationships/image" Target="../media/L1_L5_cook.png"/><Relationship Id="rIdL5_2" Type="http://schemas.openxmlformats.org/officeDocument/2006/relationships/image" Target="../media/L1_L5_cashier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Relationship Id="rIdL5_1" Type="http://schemas.openxmlformats.org/officeDocument/2006/relationships/image" Target="../media/L1_L5_nurs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L5_1" Type="http://schemas.openxmlformats.org/officeDocument/2006/relationships/image" Target="../media/L1_L5_cook.png"/><Relationship Id="rIdL5_2" Type="http://schemas.openxmlformats.org/officeDocument/2006/relationships/image" Target="../media/L1_L5_office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5_1" Type="http://schemas.openxmlformats.org/officeDocument/2006/relationships/image" Target="../media/L1_L5_restaurant.png"/><Relationship Id="rIdL5_2" Type="http://schemas.openxmlformats.org/officeDocument/2006/relationships/image" Target="../media/L1_L5_factory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L5_1" Type="http://schemas.openxmlformats.org/officeDocument/2006/relationships/image" Target="../media/L1_L5_cook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L5_1" Type="http://schemas.openxmlformats.org/officeDocument/2006/relationships/image" Target="../media/L1_L5_driver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L5_1" Type="http://schemas.openxmlformats.org/officeDocument/2006/relationships/image" Target="../media/L1_L5_student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5_1" Type="http://schemas.openxmlformats.org/officeDocument/2006/relationships/image" Target="../media/L1_L5_mechanic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5_1" Type="http://schemas.openxmlformats.org/officeDocument/2006/relationships/image" Target="../media/L1_L5_cook.png"/><Relationship Id="rIdL5_2" Type="http://schemas.openxmlformats.org/officeDocument/2006/relationships/image" Target="../media/L1_L5_cashier.png"/><Relationship Id="rIdL5_3" Type="http://schemas.openxmlformats.org/officeDocument/2006/relationships/image" Target="../media/L1_L5_mechanic.png"/><Relationship Id="rIdL5_4" Type="http://schemas.openxmlformats.org/officeDocument/2006/relationships/image" Target="../media/L1_L5_nurse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Cook picture" descr="cook">    </p:cNvPr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Job?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your job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 work at a restaurant.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 do you 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my job.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cook, an office worker…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I work at a factory.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What do you do?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answer: Yes, I do. / No, I don't.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I don't work now.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or an?  The sh sound: cashier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arents picture" descr="parents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brothers or sisters?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Who's this?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This is my mother.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name is ___.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37490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HIRING: the store wants new workers.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749039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HIRING: the store wants doctors.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749039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EMPLOYEES ONLY: customers can go in.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749039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EMPLOYEES ONLY: workers can go in.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Signs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5120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see this sign?</a:t>
            </a:r>
          </a:p>
        </p:txBody>
      </p:sp>
      <p:sp>
        <p:nvSpPr>
          <p:cNvPr id="160" name="Answer 1"/>
          <p:cNvSpPr/>
          <p:nvPr/>
        </p:nvSpPr>
        <p:spPr>
          <a:xfrm>
            <a:off x="5623560" y="2487168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  <p:sp>
        <p:nvSpPr>
          <p:cNvPr id="161" name="Answer 2"/>
          <p:cNvSpPr/>
          <p:nvPr/>
        </p:nvSpPr>
        <p:spPr>
          <a:xfrm>
            <a:off x="5623560" y="3200400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</a:p>
        </p:txBody>
      </p:sp>
      <p:sp>
        <p:nvSpPr>
          <p:cNvPr id="162" name="Answer 3"/>
          <p:cNvSpPr/>
          <p:nvPr/>
        </p:nvSpPr>
        <p:spPr>
          <a:xfrm>
            <a:off x="5623560" y="3911803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</a:p>
        </p:txBody>
      </p:sp>
      <p:sp>
        <p:nvSpPr>
          <p:cNvPr id="163" name="Answer 4"/>
          <p:cNvSpPr/>
          <p:nvPr/>
        </p:nvSpPr>
        <p:spPr>
          <a:xfrm>
            <a:off x="5623560" y="4623206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  <p:pic>
        <p:nvPicPr>
          <p:cNvPr id="170" name="NOW HIRING sign picture" descr="NOW HIRING sign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635240" y="3520440"/>
            <a:ext cx="2011680" cy="1408176"/>
          </a:xfrm>
          <a:prstGeom prst="rect">
            <a:avLst/>
          </a:prstGeom>
        </p:spPr>
      </p:pic>
      <p:pic>
        <p:nvPicPr>
          <p:cNvPr id="171" name="EMPLOYEES ONLY sign picture" descr="EMPLOYEES ONLY sign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9784080" y="3520440"/>
            <a:ext cx="2011680" cy="1408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17" name="Cook picture" descr="coo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</p:txBody>
      </p:sp>
      <p:pic>
        <p:nvPicPr>
          <p:cNvPr id="19" name="Cashier picture" descr="cashier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cashier</a:t>
            </a:r>
          </a:p>
        </p:txBody>
      </p:sp>
      <p:pic>
        <p:nvPicPr>
          <p:cNvPr id="21" name="Driver picture" descr="driver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driver</a:t>
            </a:r>
          </a:p>
        </p:txBody>
      </p:sp>
      <p:pic>
        <p:nvPicPr>
          <p:cNvPr id="23" name="Mechanic picture" descr="mechanic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mechanic</a:t>
            </a:r>
          </a:p>
        </p:txBody>
      </p:sp>
      <p:pic>
        <p:nvPicPr>
          <p:cNvPr id="25" name="Cleaner (housekeeper) picture" descr="cleaner (housekeeper)"/>
          <p:cNvPicPr>
            <a:picLocks noChangeAspect="1"/>
          </p:cNvPicPr>
          <p:nvPr/>
        </p:nvPicPr>
        <p:blipFill>
          <a:blip r:embed="rIdL5_5"/>
          <a:stretch>
            <a:fillRect/>
          </a:stretch>
        </p:blipFill>
        <p:spPr>
          <a:xfrm>
            <a:off x="2322576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1911096" y="5733288"/>
            <a:ext cx="274320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cleaner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(housekeeper)</a:t>
            </a:r>
          </a:p>
        </p:txBody>
      </p:sp>
      <p:pic>
        <p:nvPicPr>
          <p:cNvPr id="27" name="Construction worker picture" descr="construction worker"/>
          <p:cNvPicPr>
            <a:picLocks noChangeAspect="1"/>
          </p:cNvPicPr>
          <p:nvPr/>
        </p:nvPicPr>
        <p:blipFill>
          <a:blip r:embed="rIdL5_6"/>
          <a:stretch>
            <a:fillRect/>
          </a:stretch>
        </p:blipFill>
        <p:spPr>
          <a:xfrm>
            <a:off x="50566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4645152" y="5733288"/>
            <a:ext cx="274320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construction</a:t>
            </a:r>
          </a:p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worker</a:t>
            </a:r>
          </a:p>
        </p:txBody>
      </p:sp>
      <p:pic>
        <p:nvPicPr>
          <p:cNvPr id="40" name="Server picture" descr="server"/>
          <p:cNvPicPr>
            <a:picLocks noChangeAspect="1"/>
          </p:cNvPicPr>
          <p:nvPr/>
        </p:nvPicPr>
        <p:blipFill>
          <a:blip r:embed="rIdL5_7"/>
          <a:stretch>
            <a:fillRect/>
          </a:stretch>
        </p:blipFill>
        <p:spPr>
          <a:xfrm>
            <a:off x="7799832" y="4315968"/>
            <a:ext cx="1920240" cy="1344168"/>
          </a:xfrm>
          <a:prstGeom prst="rect">
            <a:avLst/>
          </a:prstGeom>
        </p:spPr>
      </p:pic>
      <p:sp>
        <p:nvSpPr>
          <p:cNvPr id="41" name="Word label 7"/>
          <p:cNvSpPr/>
          <p:nvPr/>
        </p:nvSpPr>
        <p:spPr>
          <a:xfrm>
            <a:off x="73883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acts out. B says.</a:t>
            </a:r>
          </a:p>
        </p:txBody>
      </p:sp>
      <p:pic>
        <p:nvPicPr>
          <p:cNvPr id="17" name="Nurse picture" descr="nurse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nurse</a:t>
            </a:r>
          </a:p>
        </p:txBody>
      </p:sp>
      <p:pic>
        <p:nvPicPr>
          <p:cNvPr id="19" name="Painter picture" descr="painter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painter</a:t>
            </a:r>
          </a:p>
        </p:txBody>
      </p:sp>
      <p:pic>
        <p:nvPicPr>
          <p:cNvPr id="21" name="Factory picture" descr="factory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factory</a:t>
            </a:r>
          </a:p>
        </p:txBody>
      </p:sp>
      <p:pic>
        <p:nvPicPr>
          <p:cNvPr id="23" name="Office picture" descr="office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office</a:t>
            </a:r>
          </a:p>
        </p:txBody>
      </p:sp>
      <p:pic>
        <p:nvPicPr>
          <p:cNvPr id="25" name="Restaurant picture" descr="restaurant"/>
          <p:cNvPicPr>
            <a:picLocks noChangeAspect="1"/>
          </p:cNvPicPr>
          <p:nvPr/>
        </p:nvPicPr>
        <p:blipFill>
          <a:blip r:embed="rIdL5_5"/>
          <a:stretch>
            <a:fillRect/>
          </a:stretch>
        </p:blipFill>
        <p:spPr>
          <a:xfrm>
            <a:off x="2322576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1911096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</a:t>
            </a:r>
          </a:p>
        </p:txBody>
      </p:sp>
      <p:pic>
        <p:nvPicPr>
          <p:cNvPr id="27" name="Student picture" descr="student"/>
          <p:cNvPicPr>
            <a:picLocks noChangeAspect="1"/>
          </p:cNvPicPr>
          <p:nvPr/>
        </p:nvPicPr>
        <p:blipFill>
          <a:blip r:embed="rIdL5_6"/>
          <a:stretch>
            <a:fillRect/>
          </a:stretch>
        </p:blipFill>
        <p:spPr>
          <a:xfrm>
            <a:off x="50566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46451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student</a:t>
            </a:r>
          </a:p>
        </p:txBody>
      </p:sp>
      <p:pic>
        <p:nvPicPr>
          <p:cNvPr id="40" name="Homemaker picture" descr="homemaker"/>
          <p:cNvPicPr>
            <a:picLocks noChangeAspect="1"/>
          </p:cNvPicPr>
          <p:nvPr/>
        </p:nvPicPr>
        <p:blipFill>
          <a:blip r:embed="rIdL5_7"/>
          <a:stretch>
            <a:fillRect/>
          </a:stretch>
        </p:blipFill>
        <p:spPr>
          <a:xfrm>
            <a:off x="7799832" y="4315968"/>
            <a:ext cx="1920240" cy="1344168"/>
          </a:xfrm>
          <a:prstGeom prst="rect">
            <a:avLst/>
          </a:prstGeom>
        </p:spPr>
      </p:pic>
      <p:sp>
        <p:nvSpPr>
          <p:cNvPr id="41" name="Word label 7"/>
          <p:cNvSpPr/>
          <p:nvPr/>
        </p:nvSpPr>
        <p:spPr>
          <a:xfrm>
            <a:off x="73883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homemaker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and Marco are neighbors.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Cook picture" descr="coo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284378" y="1138930"/>
            <a:ext cx="2493568" cy="1745498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The jobs.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Yes or No.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do / don't.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cook.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at night?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90" name="Cashier picture" descr="cashier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284378" y="3973570"/>
            <a:ext cx="2493568" cy="1745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6176" y="3721608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657600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your husband</a:t>
            </a:r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work, too?</a:t>
            </a:r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does.</a:t>
            </a:r>
          </a:p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he doesn't.</a:t>
            </a:r>
          </a:p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doesn't.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Preview</a:t>
            </a:r>
          </a:p>
        </p:txBody>
      </p:sp>
      <p:sp>
        <p:nvSpPr>
          <p:cNvPr id="30" name="Text 28"/>
          <p:cNvSpPr/>
          <p:nvPr/>
        </p:nvSpPr>
        <p:spPr>
          <a:xfrm>
            <a:off x="82296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Level 2 teaches this.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Just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repeat.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need to write it.</a:t>
            </a:r>
          </a:p>
        </p:txBody>
      </p:sp>
      <p:pic>
        <p:nvPicPr>
          <p:cNvPr id="60" name="Nurse picture" descr="nurse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1645919" y="502920"/>
            <a:ext cx="5029200" cy="3520440"/>
          </a:xfrm>
          <a:prstGeom prst="rect">
            <a:avLst/>
          </a:prstGeom>
        </p:spPr>
      </p:pic>
      <p:sp>
        <p:nvSpPr>
          <p:cNvPr id="34" name="Answer 1"/>
          <p:cNvSpPr/>
          <p:nvPr/>
        </p:nvSpPr>
        <p:spPr>
          <a:xfrm>
            <a:off x="548640" y="5074920"/>
            <a:ext cx="7315200" cy="77724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does.</a:t>
            </a:r>
            <a:r>
              <a:rPr lang="en-US" sz="2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She's a nurse.</a:t>
            </a:r>
          </a:p>
        </p:txBody>
      </p:sp>
      <p:sp>
        <p:nvSpPr>
          <p:cNvPr id="130" name="Preview question"/>
          <p:cNvSpPr/>
          <p:nvPr/>
        </p:nvSpPr>
        <p:spPr>
          <a:xfrm>
            <a:off x="548640" y="4251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your wife work, too?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Cook picture" descr="coo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182880" y="811530"/>
            <a:ext cx="3429000" cy="24003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office worker.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student.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homemaker.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work now.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</p:txBody>
      </p:sp>
      <p:pic>
        <p:nvPicPr>
          <p:cNvPr id="95" name="Office picture" descr="office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182880" y="3646170"/>
            <a:ext cx="342900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Optional shadow"/>
          <p:cNvSpPr/>
          <p:nvPr/>
        </p:nvSpPr>
        <p:spPr>
          <a:xfrm>
            <a:off x="6709867" y="1350569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1" name="Optional card"/>
          <p:cNvSpPr/>
          <p:nvPr/>
        </p:nvSpPr>
        <p:spPr>
          <a:xfrm>
            <a:off x="6742786" y="1286561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Optional text"/>
          <p:cNvSpPr/>
          <p:nvPr/>
        </p:nvSpPr>
        <p:spPr>
          <a:xfrm>
            <a:off x="694944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</a:p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at night.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in the morning.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/ They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on weekends.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at night?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work at night?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work on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weekends?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do.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Restaurant picture" descr="restaurant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649224" y="1616796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work?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work?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at a restaurant.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at a factory.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at…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store.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home.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home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an office</a:t>
            </a:r>
          </a:p>
        </p:txBody>
      </p:sp>
      <p:pic>
        <p:nvPicPr>
          <p:cNvPr id="96" name="Factory picture" descr="factory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649224" y="4039956"/>
            <a:ext cx="2826410" cy="1978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Circle Yes or No.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and Marco.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works at a restaurant.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works at night.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works in the morning.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works at a factory.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works on weekends.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/ No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798064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5217566" y="2806294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2606040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5349240" y="2606040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Cook picture" descr="coo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124406" y="1188720"/>
            <a:ext cx="1959429" cy="1371600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2697480"/>
            <a:ext cx="40233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577840" y="2697480"/>
            <a:ext cx="49377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20040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cook.</a:t>
            </a:r>
          </a:p>
        </p:txBody>
      </p:sp>
      <p:sp>
        <p:nvSpPr>
          <p:cNvPr id="25" name="Good 1"/>
          <p:cNvSpPr/>
          <p:nvPr/>
        </p:nvSpPr>
        <p:spPr>
          <a:xfrm>
            <a:off x="5577840" y="32004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370332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office worker.</a:t>
            </a:r>
          </a:p>
        </p:txBody>
      </p:sp>
      <p:sp>
        <p:nvSpPr>
          <p:cNvPr id="27" name="Good 2"/>
          <p:cNvSpPr/>
          <p:nvPr/>
        </p:nvSpPr>
        <p:spPr>
          <a:xfrm>
            <a:off x="5577840" y="370332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office worker.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20624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you work?</a:t>
            </a:r>
          </a:p>
        </p:txBody>
      </p:sp>
      <p:sp>
        <p:nvSpPr>
          <p:cNvPr id="29" name="Good 3"/>
          <p:cNvSpPr/>
          <p:nvPr/>
        </p:nvSpPr>
        <p:spPr>
          <a:xfrm>
            <a:off x="5577840" y="420624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work?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470916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at night? Yes, I work.</a:t>
            </a:r>
          </a:p>
        </p:txBody>
      </p:sp>
      <p:sp>
        <p:nvSpPr>
          <p:cNvPr id="61" name="Good 4"/>
          <p:cNvSpPr/>
          <p:nvPr/>
        </p:nvSpPr>
        <p:spPr>
          <a:xfrm>
            <a:off x="5577840" y="470916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do.</a:t>
            </a:r>
          </a:p>
        </p:txBody>
      </p:sp>
      <p:sp>
        <p:nvSpPr>
          <p:cNvPr id="62" name="Bad 5"/>
          <p:cNvSpPr/>
          <p:nvPr/>
        </p:nvSpPr>
        <p:spPr>
          <a:xfrm>
            <a:off x="914400" y="521208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no work on Sunday.</a:t>
            </a:r>
          </a:p>
        </p:txBody>
      </p:sp>
      <p:sp>
        <p:nvSpPr>
          <p:cNvPr id="63" name="Good 5"/>
          <p:cNvSpPr/>
          <p:nvPr/>
        </p:nvSpPr>
        <p:spPr>
          <a:xfrm>
            <a:off x="5577840" y="521208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on Sunday.</a:t>
            </a:r>
          </a:p>
        </p:txBody>
      </p:sp>
      <p:sp>
        <p:nvSpPr>
          <p:cNvPr id="64" name="Bad 6"/>
          <p:cNvSpPr/>
          <p:nvPr/>
        </p:nvSpPr>
        <p:spPr>
          <a:xfrm>
            <a:off x="914400" y="5715000"/>
            <a:ext cx="416052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in a restaurant at night</a:t>
            </a:r>
          </a:p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Main Street.</a:t>
            </a:r>
          </a:p>
        </p:txBody>
      </p:sp>
      <p:sp>
        <p:nvSpPr>
          <p:cNvPr id="65" name="Good 6"/>
          <p:cNvSpPr/>
          <p:nvPr/>
        </p:nvSpPr>
        <p:spPr>
          <a:xfrm>
            <a:off x="5577840" y="57150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restaurant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Main Street.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Driver picture" descr="driver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502920" y="3168396"/>
            <a:ext cx="4663440" cy="3264408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Guessing Game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3–4.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a card.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 out the job.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the card.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group asks: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a cook?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answer: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not. / Yes, I am!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Student picture" descr="student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cook.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at a factory.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work now.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 a or an: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cook,  ___ office worker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about you.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a or an.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do or don't.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Ask: What do you do?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Write about your family.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Vowels: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 e  i  o  u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sh!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· shoe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cashier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 · wash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or an?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+ consonant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+ vowel sound</a:t>
            </a:r>
          </a:p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office</a:t>
            </a:r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cashier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</a:t>
            </a:r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driver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001000" y="4187952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001000" y="4187952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address</a:t>
            </a:r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nurse</a:t>
            </a:r>
          </a:p>
        </p:txBody>
      </p:sp>
      <p:sp>
        <p:nvSpPr>
          <p:cNvPr id="163" name="Answer bg 4"/>
          <p:cNvSpPr/>
          <p:nvPr/>
        </p:nvSpPr>
        <p:spPr>
          <a:xfrm>
            <a:off x="8001000" y="4956048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001000" y="4956048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 do you do?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I'm a driver.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Where do you work?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 work at a factory.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Do you work on weekends?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No, I don't.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Are you a cook?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No, I'm not.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Mechanic picture" descr="mechanic">    </p:cNvPr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I'm a cook.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Where do you work?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 don't work at night.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signs, a register screen, a painted wall, and labels were added. The two job signs are drawn in code. Labels on the pictures use the DejaVu Sans font. The review picture is from Lesson 4.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All names on the slides (Rosa and Marco)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Rosa, Marco) made with Chatterbox TTS (Resemble AI, MIT License), copied from short reference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Letters: Task B</a:t>
            </a:r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or an.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say it.</a:t>
            </a:r>
          </a:p>
        </p:txBody>
      </p:sp>
      <p:sp>
        <p:nvSpPr>
          <p:cNvPr id="27" name="Statement 1"/>
          <p:cNvSpPr/>
          <p:nvPr/>
        </p:nvSpPr>
        <p:spPr>
          <a:xfrm>
            <a:off x="502920" y="324612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mechanic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566160" y="324612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29" name="False 1"/>
          <p:cNvSpPr/>
          <p:nvPr/>
        </p:nvSpPr>
        <p:spPr>
          <a:xfrm>
            <a:off x="4754880" y="324612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30" name="Circle 1"/>
          <p:cNvSpPr/>
          <p:nvPr/>
        </p:nvSpPr>
        <p:spPr>
          <a:xfrm>
            <a:off x="3438144" y="318211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425196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office worker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566160" y="425196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33" name="False 2"/>
          <p:cNvSpPr/>
          <p:nvPr/>
        </p:nvSpPr>
        <p:spPr>
          <a:xfrm>
            <a:off x="4754880" y="425196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34" name="Circle 2"/>
          <p:cNvSpPr/>
          <p:nvPr/>
        </p:nvSpPr>
        <p:spPr>
          <a:xfrm>
            <a:off x="4626864" y="418795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502920" y="525780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factory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566160" y="525780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38" name="False 3"/>
          <p:cNvSpPr/>
          <p:nvPr/>
        </p:nvSpPr>
        <p:spPr>
          <a:xfrm>
            <a:off x="4754880" y="525780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39" name="Circle 3"/>
          <p:cNvSpPr/>
          <p:nvPr/>
        </p:nvSpPr>
        <p:spPr>
          <a:xfrm>
            <a:off x="3438144" y="519379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943600" y="324612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apartment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9006840" y="324612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42" name="False 4"/>
          <p:cNvSpPr/>
          <p:nvPr/>
        </p:nvSpPr>
        <p:spPr>
          <a:xfrm>
            <a:off x="10195560" y="324612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43" name="Circle 4"/>
          <p:cNvSpPr/>
          <p:nvPr/>
        </p:nvSpPr>
        <p:spPr>
          <a:xfrm>
            <a:off x="10067544" y="318211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5943600" y="425196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 painter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9006840" y="425196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47" name="False 5"/>
          <p:cNvSpPr/>
          <p:nvPr/>
        </p:nvSpPr>
        <p:spPr>
          <a:xfrm>
            <a:off x="10195560" y="425196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48" name="Circle 5"/>
          <p:cNvSpPr/>
          <p:nvPr/>
        </p:nvSpPr>
        <p:spPr>
          <a:xfrm>
            <a:off x="8878824" y="418795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50" name="Row6 150"/>
          <p:cNvSpPr/>
          <p:nvPr/>
        </p:nvSpPr>
        <p:spPr>
          <a:xfrm>
            <a:off x="5943600" y="5257800"/>
            <a:ext cx="29718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 email</a:t>
            </a:r>
            <a:endParaRPr lang="en-US" sz="2200" dirty="0"/>
          </a:p>
        </p:txBody>
      </p:sp>
      <p:sp>
        <p:nvSpPr>
          <p:cNvPr id="151" name="Row6 151"/>
          <p:cNvSpPr/>
          <p:nvPr/>
        </p:nvSpPr>
        <p:spPr>
          <a:xfrm>
            <a:off x="9006840" y="525780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152" name="Row6 152"/>
          <p:cNvSpPr/>
          <p:nvPr/>
        </p:nvSpPr>
        <p:spPr>
          <a:xfrm>
            <a:off x="10195560" y="5257800"/>
            <a:ext cx="10058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153" name="Row6 153"/>
          <p:cNvSpPr/>
          <p:nvPr/>
        </p:nvSpPr>
        <p:spPr>
          <a:xfrm>
            <a:off x="10067544" y="5193792"/>
            <a:ext cx="12618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Write the letter of the job.</a:t>
            </a:r>
          </a:p>
        </p:txBody>
      </p:sp>
      <p:sp>
        <p:nvSpPr>
          <p:cNvPr id="4" name="Shape 2"/>
          <p:cNvSpPr/>
          <p:nvPr/>
        </p:nvSpPr>
        <p:spPr>
          <a:xfrm>
            <a:off x="62179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1" name="Cook picture" descr="coo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685800" y="3383280"/>
            <a:ext cx="2331720" cy="1632204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345643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2044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</a:p>
        </p:txBody>
      </p:sp>
      <p:sp>
        <p:nvSpPr>
          <p:cNvPr id="14" name="Text 12"/>
          <p:cNvSpPr/>
          <p:nvPr/>
        </p:nvSpPr>
        <p:spPr>
          <a:xfrm>
            <a:off x="425196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2" name="Cashier picture" descr="cashier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520440" y="3383280"/>
            <a:ext cx="2331720" cy="1632204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629107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0" name="Card4 30"/>
          <p:cNvSpPr/>
          <p:nvPr/>
        </p:nvSpPr>
        <p:spPr>
          <a:xfrm>
            <a:off x="912571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31" name="Card4 31"/>
          <p:cNvSpPr/>
          <p:nvPr/>
        </p:nvSpPr>
        <p:spPr>
          <a:xfrm>
            <a:off x="905256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2" name="Card4 32"/>
          <p:cNvSpPr/>
          <p:nvPr/>
        </p:nvSpPr>
        <p:spPr>
          <a:xfrm>
            <a:off x="918972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</a:p>
        </p:txBody>
      </p:sp>
      <p:sp>
        <p:nvSpPr>
          <p:cNvPr id="33" name="Card4 33"/>
          <p:cNvSpPr/>
          <p:nvPr/>
        </p:nvSpPr>
        <p:spPr>
          <a:xfrm>
            <a:off x="9189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</a:p>
        </p:txBody>
      </p:sp>
      <p:sp>
        <p:nvSpPr>
          <p:cNvPr id="20" name="Text 18"/>
          <p:cNvSpPr/>
          <p:nvPr/>
        </p:nvSpPr>
        <p:spPr>
          <a:xfrm>
            <a:off x="708660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sp>
        <p:nvSpPr>
          <p:cNvPr id="34" name="Card4 34"/>
          <p:cNvSpPr/>
          <p:nvPr/>
        </p:nvSpPr>
        <p:spPr>
          <a:xfrm>
            <a:off x="992124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3" name="Mechanic picture" descr="mechanic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355080" y="3383280"/>
            <a:ext cx="2331720" cy="1632204"/>
          </a:xfrm>
          <a:prstGeom prst="rect">
            <a:avLst/>
          </a:prstGeom>
        </p:spPr>
      </p:pic>
      <p:pic>
        <p:nvPicPr>
          <p:cNvPr id="104" name="Nurse picture" descr="nurse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89720" y="3383280"/>
            <a:ext cx="2331720" cy="1632204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141732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6" name="Answer are"/>
          <p:cNvSpPr/>
          <p:nvPr/>
        </p:nvSpPr>
        <p:spPr>
          <a:xfrm>
            <a:off x="425196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7" name="Answer does"/>
          <p:cNvSpPr/>
          <p:nvPr/>
        </p:nvSpPr>
        <p:spPr>
          <a:xfrm>
            <a:off x="708660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</a:p>
        </p:txBody>
      </p:sp>
      <p:sp>
        <p:nvSpPr>
          <p:cNvPr id="35" name="Card4 35"/>
          <p:cNvSpPr/>
          <p:nvPr/>
        </p:nvSpPr>
        <p:spPr>
          <a:xfrm>
            <a:off x="992124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120" name="People line"/>
          <p:cNvSpPr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 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Marco's wife 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Rosa's husband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do, don't, or does.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Use one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at night?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work in the morning.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on weekends?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your wife work, too?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____.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is a preview: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=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Someone Who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  ·  PART 2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up. Ask.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name.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Do you work at night?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Yes, I do.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name.</a:t>
            </a:r>
          </a:p>
        </p:txBody>
      </p:sp>
      <p:sp>
        <p:nvSpPr>
          <p:cNvPr id="139" name="List shadow"/>
          <p:cNvSpPr/>
          <p:nvPr/>
        </p:nvSpPr>
        <p:spPr>
          <a:xfrm>
            <a:off x="6053328" y="1298448"/>
            <a:ext cx="5760720" cy="3611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0" name="List card"/>
          <p:cNvSpPr/>
          <p:nvPr/>
        </p:nvSpPr>
        <p:spPr>
          <a:xfrm>
            <a:off x="5989320" y="1234440"/>
            <a:ext cx="5760720" cy="3611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Question list"/>
          <p:cNvSpPr/>
          <p:nvPr/>
        </p:nvSpPr>
        <p:spPr>
          <a:xfrm>
            <a:off x="6263640" y="14630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someone who…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Do you work at night?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Do you work on weekends?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Do you work at a restaurant?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Do you work in the morning?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Are you a student?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Do you work now?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a, an, at, do, or don't.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____ cashier.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____ office worker.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____ a factory.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 at night?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work on weekends.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a, an, at,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do, don't?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office worker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answer: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/ don't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4: This Is My Family</dc:title>
  <dc:subject>Adult ESL Level 1, Lesson 4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