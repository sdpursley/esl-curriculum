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2.xml" ContentType="application/vnd.openxmlformats-officedocument.presentationml.notesSlide+xml"/>
  <Override PartName="/ppt/slides/slide27.xml" ContentType="application/vnd.openxmlformats-officedocument.presentationml.slide+xml"/>
  <Override PartName="/ppt/notesSlides/notesSlide33.xml" ContentType="application/vnd.openxmlformats-officedocument.presentationml.notesSlide+xml"/>
  <Override PartName="/ppt/slides/slide28.xml" ContentType="application/vnd.openxmlformats-officedocument.presentationml.slide+xml"/>
  <Override PartName="/ppt/notesSlides/notesSlide34.xml" ContentType="application/vnd.openxmlformats-officedocument.presentationml.notesSlide+xml"/>
  <Override PartName="/ppt/slides/slide29.xml" ContentType="application/vnd.openxmlformats-officedocument.presentationml.slide+xml"/>
  <Override PartName="/ppt/notesSlides/notesSlide36.xml" ContentType="application/vnd.openxmlformats-officedocument.presentationml.notesSlide+xml"/>
  <Override PartName="/ppt/slides/slide31.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67" r:id="rId13"/>
    <p:sldId id="257" r:id="rId3"/>
    <p:sldId id="265" r:id="rId11"/>
    <p:sldId id="276" r:id="rId27"/>
    <p:sldId id="264" r:id="rId10"/>
    <p:sldId id="287" r:id="rId38"/>
    <p:sldId id="280" r:id="rId31"/>
    <p:sldId id="260" r:id="rId6"/>
    <p:sldId id="266" r:id="rId12"/>
    <p:sldId id="277" r:id="rId28"/>
    <p:sldId id="259" r:id="rId5"/>
    <p:sldId id="289" r:id="rId40"/>
    <p:sldId id="278" r:id="rId29"/>
    <p:sldId id="270" r:id="rId16"/>
    <p:sldId id="288" r:id="rId39"/>
    <p:sldId id="271" r:id="rId17"/>
    <p:sldId id="279" r:id="rId30"/>
    <p:sldId id="291" r:id="rId42"/>
    <p:sldId id="281" r:id="rId32"/>
    <p:sldId id="261" r:id="rId7"/>
    <p:sldId id="283" r:id="rId34"/>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21.xml"/><Relationship Id="rId10" Type="http://schemas.openxmlformats.org/officeDocument/2006/relationships/slide" Target="slides/slide8.xml"/><Relationship Id="rId11" Type="http://schemas.openxmlformats.org/officeDocument/2006/relationships/slide" Target="slides/slide5.xml"/><Relationship Id="rId12" Type="http://schemas.openxmlformats.org/officeDocument/2006/relationships/slide" Target="slides/slide14.xml"/><Relationship Id="rId13" Type="http://schemas.openxmlformats.org/officeDocument/2006/relationships/slide" Target="slides/slide2.xml"/><Relationship Id="rId16" Type="http://schemas.openxmlformats.org/officeDocument/2006/relationships/slide" Target="slides/slide17.xml"/><Relationship Id="rId17" Type="http://schemas.openxmlformats.org/officeDocument/2006/relationships/slide" Target="slides/slide18.xml"/><Relationship Id="rId20" Type="http://schemas.openxmlformats.org/officeDocument/2006/relationships/slide" Target="slides/slide23.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6.xml"/><Relationship Id="rId28" Type="http://schemas.openxmlformats.org/officeDocument/2006/relationships/slide" Target="slides/slide11.xml"/><Relationship Id="rId29" Type="http://schemas.openxmlformats.org/officeDocument/2006/relationships/slide" Target="slides/slide16.xml"/><Relationship Id="rId30" Type="http://schemas.openxmlformats.org/officeDocument/2006/relationships/slide" Target="slides/slide4.xml"/><Relationship Id="rId31" Type="http://schemas.openxmlformats.org/officeDocument/2006/relationships/slide" Target="slides/slide15.xml"/><Relationship Id="rId32" Type="http://schemas.openxmlformats.org/officeDocument/2006/relationships/slide" Target="slides/slide19.xml"/><Relationship Id="rId34" Type="http://schemas.openxmlformats.org/officeDocument/2006/relationships/slide" Target="slides/slide22.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2"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Say: "Today: I feel sick. Body parts. Getting help." Mime "I feel sick."</a:t>
            </a:r>
          </a:p>
          <a:p>
            <a:r>
              <a:rPr lang="en-US"/>
              <a:t>Before class: print the Student Pages (number expected + 3 spares), one set of picture cards per group of 3–4, body-part picture cards, the emergency card and medicine label, mini whiteboards or scrap paper. Have the phone + small speaker and L1_L12_listening.mp3 ready. Prep time: 30 min.</a:t>
            </a:r>
          </a:p>
          <a:p>
            <a:r>
              <a:rPr lang="en-US"/>
              <a:t>Practice only. Never ask learners to share real medical details. If a learner starts a real medical story, stop gently and return to the picture. The 911 dialogue is not a real emergency.</a:t>
            </a:r>
          </a:p>
          <a:p>
            <a:r>
              <a:rPr lang="en-US"/>
              <a:t>Class plan: 6:00 Hello + Review, 6:10 New Words, 6:20 Listening, 6:32 Grammar, 6:45 Break, 7:00 Talk Time, 7:10 Exit Ticket + Homework, 7:15 Real-World Reading, 7:25 Progress Check.</a:t>
            </a:r>
          </a:p>
          <a:p>
            <a:r>
              <a:rPr lang="en-US"/>
              <a:t>Source: level1_curriculum/lesson12/Level1_Lesson12.md (At a glance, Clock-time plan, How to Use This Plan).</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Pairs. 15 learners: 7 pairs + 1 group of 3. 7–8 learners: 3–4 pairs. Late arrivals join any pair.</a:t>
            </a:r>
          </a:p>
          <a:p>
            <a:r>
              <a:rPr lang="en-US"/>
              <a:t>Before class, write on the board: Where's the pharmacy? How do you feel? Are you OK?</a:t>
            </a:r>
          </a:p>
          <a:p>
            <a:r>
              <a:rPr lang="en-US"/>
              <a:t>Model with one learner: "Where's the pharmacy?" → "It's next to the bank." Then "How do you feel?" → "I feel sick."</a:t>
            </a:r>
          </a:p>
          <a:p>
            <a:r>
              <a:rPr lang="en-US"/>
              <a:t>Click to show the A question. Click again for the answers. Pairs use the Hello + Review page: 1 Where's the pharmacy? → It's ___. 2 Turn left or turn right? 3 Where's the pharmacy? → It's ___. Switch. Then find a new partner.</a:t>
            </a:r>
          </a:p>
          <a:p>
            <a:r>
              <a:rPr lang="en-US"/>
              <a:t>Homework check (last 3 min): partners show last week's homework. Walk around and look.</a:t>
            </a:r>
          </a:p>
          <a:p>
            <a:r>
              <a:rPr lang="en-US"/>
              <a:t>New learners: pair them with a strong partner. If behind: one partner only.</a:t>
            </a:r>
          </a:p>
          <a:p>
            <a:r>
              <a:rPr lang="en-US"/>
              <a:t>Source: level1_curriculum/lesson12/Level1_Lesson12.md (Step 1: Hello + Review; Student Pages: Hello + Review).</a:t>
            </a:r>
          </a:p>
          <a:p>
            <a:r>
              <a:rPr lang="en-US"/>
              <a:t>Review picture: the street map from Lesson 11 (lesson11/images/L1_L11_map.png), drawn in code for the curriculum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each left line. Click to show the right line. Learners repeat it.</a:t>
            </a:r>
          </a:p>
          <a:p>
            <a:r>
              <a:rPr lang="en-US"/>
              <a:t>Line 1: "I'm sick or I have sick?" Say "I'm sick. I'm tired. I'm cold." (not "I have sick").</a:t>
            </a:r>
          </a:p>
          <a:p>
            <a:r>
              <a:rPr lang="en-US"/>
              <a:t>Line 2: "Do we say My head hurts in Level 1?" Learners may hear it. In this lesson, say "It hurts here" and point. Level 2 practices "My ___ hurts".</a:t>
            </a:r>
          </a:p>
          <a:p>
            <a:r>
              <a:rPr lang="en-US"/>
              <a:t>Side card: "Do I say real medical problems in class?" No. Use the pictures. Point and say "Here."</a:t>
            </a:r>
          </a:p>
          <a:p>
            <a:r>
              <a:rPr lang="en-US"/>
              <a:t>Practice only. Never ask learners to share real medical details. If a learner starts a real medical story, stop gently and return to the picture.</a:t>
            </a:r>
          </a:p>
          <a:p>
            <a:r>
              <a:rPr lang="en-US"/>
              <a:t>Source: level1_curriculum/lesson12/Level1_Lesson12.md (Grammar: Questions and answers; Teacher notes).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the Grammar page. Left = question. Right = answer. Point left, then right.</a:t>
            </a:r>
          </a:p>
          <a:p>
            <a:r>
              <a:rPr lang="en-US"/>
              <a:t>Box 1: "How do you feel?" Click: "I feel sick. / I feel tired." "Are you OK?" Click: "No, I'm not. I'm sick."</a:t>
            </a:r>
          </a:p>
          <a:p>
            <a:r>
              <a:rPr lang="en-US"/>
              <a:t>Box 2: "What's wrong?" Click: "I'm hurt." "Where does it hurt?" Click: "It hurts here." Point to a picture, not to a real problem.</a:t>
            </a:r>
          </a:p>
          <a:p>
            <a:r>
              <a:rPr lang="en-US"/>
              <a:t>Check question: "I ___ sick." (feel / am)</a:t>
            </a:r>
          </a:p>
          <a:p>
            <a:r>
              <a:rPr lang="en-US"/>
              <a:t>Level 1 says "It hurts here" + point. "My head hurts" is for Level 2.</a:t>
            </a:r>
          </a:p>
          <a:p>
            <a:r>
              <a:rPr lang="en-US"/>
              <a:t>Source: level1_curriculum/lesson12/Level1_Lesson12.md (Step 4: Grammar Q&amp;A, Boxes 1–3; Grammar Boxes 1 and 2; Teacher notes).</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Progress Check (5 min). Individuals. Open the Progress Check page.</a:t>
            </a:r>
          </a:p>
          <a:p>
            <a:r>
              <a:rPr lang="en-US"/>
              <a:t>Part A: read each word slowly, 2 times: 1 sick, 2 head, 3 doctor, 4 arm, 5 stomach. Learners circle.</a:t>
            </a:r>
          </a:p>
          <a:p>
            <a:r>
              <a:rPr lang="en-US"/>
              <a:t>Parts B and C: learners match and write on their own. Help with the instructions only. Click to show the Part B answers when you check together: 1 b, 2 a, 3 c, 4 d.</a:t>
            </a:r>
          </a:p>
          <a:p>
            <a:r>
              <a:rPr lang="en-US"/>
              <a:t>Part C answers: 1 feel (I feel sick.), 2 hurts (It hurts here.), 3 Call (Call 911.).</a:t>
            </a:r>
          </a:p>
          <a:p>
            <a:r>
              <a:rPr lang="en-US"/>
              <a:t>Part D: read each "I can…" line and point to the 3 faces. Learners check one.</a:t>
            </a:r>
          </a:p>
          <a:p>
            <a:r>
              <a:rPr lang="en-US"/>
              <a:t>Score: A /5 + B /4 + C /3 = /12. Not a test grade. Collect if you want. If behind: do it next week at 6:00.</a:t>
            </a:r>
          </a:p>
          <a:p>
            <a:r>
              <a:rPr lang="en-US"/>
              <a:t>Source: level1_curriculum/lesson12/Level1_Lesson12.md (Progress Check step; Student Pages: Progress Check; Answer key).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you listen (1 min). Say: "Part one: Rosa and Marco are at work. Part two: practice only — a call to 9 1 1. Not a real emergency."</a:t>
            </a:r>
          </a:p>
          <a:p>
            <a:r>
              <a:rPr lang="en-US"/>
              <a:t>Click to show each listen. Listen 1: Task A (how Marco feels; where it hurts). Listen 2: Task B (write the address number). Listen 3: Task C (check what Rosa says).</a:t>
            </a:r>
          </a:p>
          <a:p>
            <a:r>
              <a:rPr lang="en-US"/>
              <a:t>Say it!: class repeats: "I feel sick." "Where does it hurt?" "It hurts here."</a:t>
            </a:r>
          </a:p>
          <a:p>
            <a:r>
              <a:rPr lang="en-US"/>
              <a:t>The audio L1_L12_listening.mp3 (about 1:10) plays the conversation once. Press play again for the next listen. Pairs compare after each task. Write answers on the board.</a:t>
            </a:r>
          </a:p>
          <a:p>
            <a:r>
              <a:rPr lang="en-US"/>
              <a:t>No speaker? Read the script with a volunteer. Say "practice only" before you play part two.</a:t>
            </a:r>
          </a:p>
          <a:p>
            <a:r>
              <a:rPr lang="en-US"/>
              <a:t>Voices: Narrator, Rosa, Marco, Operator, Ana. Synthetic voices made with Chatterbox TTS (MIT), copied from short reference clips made with Kokoro-82M (Apache 2.0); no recordings of real people.</a:t>
            </a:r>
          </a:p>
          <a:p>
            <a:r>
              <a:rPr lang="en-US"/>
              <a:t>If behind: play 2 times; do Task C together.</a:t>
            </a:r>
          </a:p>
          <a:p>
            <a:r>
              <a:rPr lang="en-US"/>
              <a:t>Source: level1_curriculum/lesson12/Level1_Lesson12.md (Step 3: Listening; Listening script).</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to the body pictures: "Head. Stomach. Arm. Leg." Point to your own head, eye, ear, mouth, arm, hand.</a:t>
            </a:r>
          </a:p>
          <a:p>
            <a:r>
              <a:rPr lang="en-US"/>
              <a:t>Click to show each picture. Point and say the word. Learners repeat 2 times. ★ words 2 more times.</a:t>
            </a:r>
          </a:p>
          <a:p>
            <a:r>
              <a:rPr lang="en-US"/>
              <a:t>★ = most important words (as on the New Words page). eye, ear, and mouth have no ★. If behind: teach the ★ words only.</a:t>
            </a:r>
          </a:p>
          <a:p>
            <a:r>
              <a:rPr lang="en-US"/>
              <a:t>Source: level1_curriculum/lesson12/Level1_Lesson12.md (Step 2: New Words; Student Pages: New Words).</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3 (help commands): say each one and mime. "Call 911." "Sit down." Click. "Go to the doctor." "I need help. / I need a doctor." Click.</a:t>
            </a:r>
          </a:p>
          <a:p>
            <a:r>
              <a:rPr lang="en-US"/>
              <a:t>Learners repeat each command 2 times.</a:t>
            </a:r>
          </a:p>
          <a:p>
            <a:r>
              <a:rPr lang="en-US"/>
              <a:t>Call 911 (not "Call to 911").</a:t>
            </a:r>
          </a:p>
          <a:p>
            <a:r>
              <a:rPr lang="en-US"/>
              <a:t>Check question: "Call ___" (911)</a:t>
            </a:r>
          </a:p>
          <a:p>
            <a:r>
              <a:rPr lang="en-US"/>
              <a:t>Practice only: this is not a real emergency.</a:t>
            </a:r>
          </a:p>
          <a:p>
            <a:r>
              <a:rPr lang="en-US"/>
              <a:t>Source: level1_curriculum/lesson12/Level1_Lesson12.md (Step 4: Grammar Q&amp;A, Box 4; Grammar Box 3; Common mistakes).</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Click to show each goal, one at a time. Read it aloud. Learners repeat.</a:t>
            </a:r>
          </a:p>
          <a:p>
            <a:r>
              <a:rPr lang="en-US"/>
              <a:t>Goal 1: name basic body parts.</a:t>
            </a:r>
          </a:p>
          <a:p>
            <a:r>
              <a:rPr lang="en-US"/>
              <a:t>Goal 2: say "How do you feel? I feel sick. / I'm hurt."</a:t>
            </a:r>
          </a:p>
          <a:p>
            <a:r>
              <a:rPr lang="en-US"/>
              <a:t>Goal 3: ask "Are you OK? What's wrong? Where does it hurt?"</a:t>
            </a:r>
          </a:p>
          <a:p>
            <a:r>
              <a:rPr lang="en-US"/>
              <a:t>Goal 4: use help commands: "Call 911. Sit down. Go to the doctor."</a:t>
            </a:r>
          </a:p>
          <a:p>
            <a:r>
              <a:rPr lang="en-US"/>
              <a:t>Goal 5: read a simple medicine label and emergency card (7:15).</a:t>
            </a:r>
          </a:p>
          <a:p>
            <a:r>
              <a:rPr lang="en-US"/>
              <a:t>Source: level1_curriculum/lesson12/Level1_Lesson12.md (At a glance: Objectives).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1 (4 min). Pairs. B mimes sick or hurt. A asks: "Are you OK? What's wrong? Where does it hurt?" B points: "Here. My ___." Then switch.</a:t>
            </a:r>
          </a:p>
          <a:p>
            <a:r>
              <a:rPr lang="en-US"/>
              <a:t>Click to show each step. A can also say: "Sit down." "Do you need water?"</a:t>
            </a:r>
          </a:p>
          <a:p>
            <a:r>
              <a:rPr lang="en-US"/>
              <a:t>Learners who can't write yet: they point to body pictures and say "Here."</a:t>
            </a:r>
          </a:p>
          <a:p>
            <a:r>
              <a:rPr lang="en-US"/>
              <a:t>Practice only. Never ask learners to share real medical details. If a learner starts a real medical story, stop gently and return to the picture. If behind: one round only.</a:t>
            </a:r>
          </a:p>
          <a:p>
            <a:r>
              <a:rPr lang="en-US"/>
              <a:t>Source: level1_curriculum/lesson12/Level1_Lesson12.md (Step 5: Talk Time, Part 1; Student Pages: Talk Time A and B; Teacher notes).</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Exit ticket (never skip): each learner says "I feel sick." or "It hurts here." or "Call 911."</a:t>
            </a:r>
          </a:p>
          <a:p>
            <a:r>
              <a:rPr lang="en-US"/>
              <a:t>Homework (10 minutes): open the Homework page. Do item 1, line 1 together. Point to each instruction.</a:t>
            </a:r>
          </a:p>
          <a:p>
            <a:r>
              <a:rPr lang="en-US"/>
              <a:t>Homework: 1) write the body part (head, arm, stomach, leg); 2) unscramble: feel / I / sick; you / Are / OK; hurts / It / here; 3) copy the emergency card: write your name and a phone number you choose to share (or invent); 4) ask a family member "How do you feel?" and write the answer; 5) review: write one direction (Lesson 11).</a:t>
            </a:r>
          </a:p>
          <a:p>
            <a:r>
              <a:rPr lang="en-US"/>
              <a:t>Source: level1_curriculum/lesson12/Level1_Lesson12.md (Step 6: Exit Ticket + Homework; Student Pages: Homework).</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Credits for the pictures, audio, and font.</a:t>
            </a:r>
          </a:p>
          <a:p>
            <a:r>
              <a:rPr lang="en-US"/>
              <a:t>Pictures: Twemoji (CC BY 4.0), https://github.com/jdecked/twemoji; resized, labels added; back, stomach, medicine label, and emergency card drawn in code. Review picture (street map) from Lesson 11. Audio: Chatterbox TTS (MIT) voices copied from short Kokoro-82M (Apache 2.0) reference clips; no recordings of real people.</a:t>
            </a:r>
          </a:p>
          <a:p>
            <a:r>
              <a:rPr lang="en-US"/>
              <a:t>Sources: Level1_Lesson12.md (Picture Credits), lesson12/images/CREDITS.md, lesson12/audio/README.md.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Mime: "I feel sick. It hurts here." Point to your stomach.</a:t>
            </a:r>
          </a:p>
          <a:p>
            <a:r>
              <a:rPr lang="en-US"/>
              <a:t>Click to show each picture. Say the word. Learners repeat 2 times.</a:t>
            </a:r>
          </a:p>
          <a:p>
            <a:r>
              <a:rPr lang="en-US"/>
              <a:t>Pairs (4 min): A points to a picture, B says the word. Then A asks "Are you OK?" B answers "No, I'm not. I feel sick."</a:t>
            </a:r>
          </a:p>
          <a:p>
            <a:r>
              <a:rPr lang="en-US"/>
              <a:t>★ = most important words. If behind: teach the ★ words only.</a:t>
            </a:r>
          </a:p>
          <a:p>
            <a:r>
              <a:rPr lang="en-US"/>
              <a:t>Source: level1_curriculum/lesson12/Level1_Lesson12.md (Step 2: New Words; Student Pages: New Words).</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5: I need… + a doctor. / help. / water. Example: I need to go home.</a:t>
            </a:r>
          </a:p>
          <a:p>
            <a:r>
              <a:rPr lang="en-US"/>
              <a:t>"Do you need a doctor?" Click: "Yes. I need a doctor." (as in the audio).</a:t>
            </a:r>
          </a:p>
          <a:p>
            <a:r>
              <a:rPr lang="en-US"/>
              <a:t>Right box: "What do you need?" Click: "I need help. / I need water. / I need to go home."</a:t>
            </a:r>
          </a:p>
          <a:p>
            <a:r>
              <a:rPr lang="en-US"/>
              <a:t>Pair drill (last 3–4 min): A mimes a body part; B asks "Where does it hurt?" A points: "Here. My ___." If behind: skip the pair drill; Talk Time practices the same language.</a:t>
            </a:r>
          </a:p>
          <a:p>
            <a:r>
              <a:rPr lang="en-US"/>
              <a:t>Source: level1_curriculum/lesson12/Level1_Lesson12.md (Step 4: Grammar Q&amp;A, pair drill; Grammar Box 5; Listening script).</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each "Don't say" line. Shake your head. Click to show the correct line. Learners repeat it.</a:t>
            </a:r>
          </a:p>
          <a:p>
            <a:r>
              <a:rPr lang="en-US"/>
              <a:t>I have sick → I'm sick. I have hungry → I'm hungry. Call to 911 → Call 911.</a:t>
            </a:r>
          </a:p>
          <a:p>
            <a:r>
              <a:rPr lang="en-US"/>
              <a:t>Spanish speakers: I'm sick / I'm tired / I'm cold (no "I have…"). My head hurts = Me duele la cabeza (Level 2 practices it). Learners can read the Spanish note on their Grammar page.</a:t>
            </a:r>
          </a:p>
          <a:p>
            <a:r>
              <a:rPr lang="en-US"/>
              <a:t>Tip for speakers of other languages: read the grammar boxes left to right. Copy one question and one answer.</a:t>
            </a:r>
          </a:p>
          <a:p>
            <a:r>
              <a:rPr lang="en-US"/>
              <a:t>Source: level1_curriculum/lesson12/Level1_Lesson12.md (Grammar: Common mistakes).</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Real-World Reading (10 min). Whole class, then pairs. Use the Real-World Reading page. The label is invented.</a:t>
            </a:r>
          </a:p>
          <a:p>
            <a:r>
              <a:rPr lang="en-US"/>
              <a:t>See it (2 min), Task A: point to the dose and the times on the medicine label: "Take 2 tablets. Every 6 hours. With water."</a:t>
            </a:r>
          </a:p>
          <a:p>
            <a:r>
              <a:rPr lang="en-US"/>
              <a:t>Ask: "How often?" "Take with?" Learners find the answer on the label. Then click to show each answer: 1 Every 6 hours. 2 water ("With water.").</a:t>
            </a:r>
          </a:p>
          <a:p>
            <a:r>
              <a:rPr lang="en-US"/>
              <a:t>Hear it (2 min): say "Take with water"; learners point.</a:t>
            </a:r>
          </a:p>
          <a:p>
            <a:r>
              <a:rPr lang="en-US"/>
              <a:t>Learners who can't read yet: they point to the pictures and say key words with everyone.</a:t>
            </a:r>
          </a:p>
          <a:p>
            <a:r>
              <a:rPr lang="en-US"/>
              <a:t>Source: level1_curriculum/lesson12/Level1_Lesson12.md (Real-World Reading step; Student Pages: Real-World Reading A).</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 3 (Task C): learners check what Rosa says. Pairs compare. Then click to show the answer.</a:t>
            </a:r>
          </a:p>
          <a:p>
            <a:r>
              <a:rPr lang="en-US"/>
              <a:t>Task C: Sit down ✓, Go home ✓, Call the doctor ✓ ("Sit down. Do you need water?" "OK. Go home. Call the doctor."). Rosa does not say "Call 911" (as in the answer key).</a:t>
            </a:r>
          </a:p>
          <a:p>
            <a:r>
              <a:rPr lang="en-US"/>
              <a:t>Part two of the audio (practice only): Ana says "It hurts here. My arm." The address is 210 Pine Street. The operator says "Help is coming."</a:t>
            </a:r>
          </a:p>
          <a:p>
            <a:r>
              <a:rPr lang="en-US"/>
              <a:t>Task D (practice only — not a real emergency): A asks "Are you OK?" "Where does it hurt?" Click to show B's answers: "No, I'm not. I feel sick." "Here. My stomach." Then switch.</a:t>
            </a:r>
          </a:p>
          <a:p>
            <a:r>
              <a:rPr lang="en-US"/>
              <a:t>If behind: play the audio 2 times, and do Task C together.</a:t>
            </a:r>
          </a:p>
          <a:p>
            <a:r>
              <a:rPr lang="en-US"/>
              <a:t>Source: level1_curriculum/lesson12/Level1_Lesson12.md (Step 3: Listening; Student Pages: Listening C and D; Answer key; Listening script).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 C: read each choice. Learners circle what you do in an emergency (practice ideas).</a:t>
            </a:r>
          </a:p>
          <a:p>
            <a:r>
              <a:rPr lang="en-US"/>
              <a:t>Click to show each answer: Call 911 ✓, Sit down ✓, Go to the doctor ✓. "Run away from help" is not a good idea: do not circle it (answer key).</a:t>
            </a:r>
          </a:p>
          <a:p>
            <a:r>
              <a:rPr lang="en-US"/>
              <a:t>Task D (pairs): A reads one line from the medicine label ("Take 2 tablets." "Every 6 hours." "With water."); B repeats. Then switch.</a:t>
            </a:r>
          </a:p>
          <a:p>
            <a:r>
              <a:rPr lang="en-US"/>
              <a:t>Source: level1_curriculum/lesson12/Level1_Lesson12.md (Real-World Reading step; Student Pages: Real-World Reading C and 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"Great work! See you next week!" Remind learners: bring the homework next week.</a:t>
            </a:r>
          </a:p>
          <a:p>
            <a:r>
              <a:rPr lang="en-US"/>
              <a:t>Remind: today's 911 call was practice only. In a real emergency, call 911.</a:t>
            </a:r>
          </a:p>
          <a:p>
            <a:r>
              <a:rPr lang="en-US"/>
              <a:t>Collect the Progress Check pages if you want.</a:t>
            </a:r>
          </a:p>
          <a:p>
            <a:r>
              <a:rPr lang="en-US"/>
              <a:t>Source: level1_curriculum/lesson12/Level1_Lesson12.md (At a glance: Objectives; Student Pages).</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 1 (Task A). Learners circle: 1 Marco feels sick or tired; 2 it hurts: head, stomach, or arm.</a:t>
            </a:r>
          </a:p>
          <a:p>
            <a:r>
              <a:rPr lang="en-US"/>
              <a:t>Listen 2 (Task B, part two, practice only): learners write the address number.</a:t>
            </a:r>
          </a:p>
          <a:p>
            <a:r>
              <a:rPr lang="en-US"/>
              <a:t>Pairs compare. Then click to show each answer: 1 sick, 2 stomach, 3 210 (210 Pine Street).</a:t>
            </a:r>
          </a:p>
          <a:p>
            <a:r>
              <a:rPr lang="en-US"/>
              <a:t>In the audio: "No, I'm not. I feel sick." "It hurts here. My stomach." "Two ten Pine Street."</a:t>
            </a:r>
          </a:p>
          <a:p>
            <a:r>
              <a:rPr lang="en-US"/>
              <a:t>The address is invented (210 Pine Street). Part two is practice only — not a real emergency.</a:t>
            </a:r>
          </a:p>
          <a:p>
            <a:r>
              <a:rPr lang="en-US"/>
              <a:t>Source: level1_curriculum/lesson12/Level1_Lesson12.md (Step 3: Listening; Student Pages: Listening A and B; Answer key; Teacher notes).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2 (5 min). Groups of 3: practice 911 role play from the emergency card. This is not a real call. Switch roles.</a:t>
            </a:r>
          </a:p>
          <a:p>
            <a:r>
              <a:rPr lang="en-US"/>
              <a:t>Model it: "911. What's your emergency?" Click: "I need help. I'm hurt."</a:t>
            </a:r>
          </a:p>
          <a:p>
            <a:r>
              <a:rPr lang="en-US"/>
              <a:t>Then: "It hurts here. My ___." "What's the address?" Learners read the street from the card (practice address: 210 Pine St).</a:t>
            </a:r>
          </a:p>
          <a:p>
            <a:r>
              <a:rPr lang="en-US"/>
              <a:t>Remind: in a real emergency, call 911. Today is practice only.</a:t>
            </a:r>
          </a:p>
          <a:p>
            <a:r>
              <a:rPr lang="en-US"/>
              <a:t>Practice only. Never ask learners to share real medical details. If a learner starts a real medical story, stop gently and return to the picture. If behind: half of Talk Time only.</a:t>
            </a:r>
          </a:p>
          <a:p>
            <a:r>
              <a:rPr lang="en-US"/>
              <a:t>Source: level1_curriculum/lesson12/Level1_Lesson12.md (Step 5: Talk Time, Part 2; Student Pages: Talk Time B + 911 practice).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Learners write feel, hurts, OK, or Call. Then pairs check.</a:t>
            </a:r>
          </a:p>
          <a:p>
            <a:r>
              <a:rPr lang="en-US"/>
              <a:t>Click to show each answer: 1 feel, 2 OK, 3 hurts, 4 Call, 5 feel.</a:t>
            </a:r>
          </a:p>
          <a:p>
            <a:r>
              <a:rPr lang="en-US"/>
              <a:t>Line 6 on the page: learners write one sentence (answers will vary).</a:t>
            </a:r>
          </a:p>
          <a:p>
            <a:r>
              <a:rPr lang="en-US"/>
              <a:t>Source: level1_curriculum/lesson12/Level1_Lesson12.md (Grammar: Practice; Answer key: Grammar practice).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it (4 min), Task B: look at the emergency card. Learners find the name and the phone.</a:t>
            </a:r>
          </a:p>
          <a:p>
            <a:r>
              <a:rPr lang="en-US"/>
              <a:t>Then click to show each answer: Name: ANA RUIZ. Phone: 555-0142. (The card also shows Address: 210 Pine St and Emergency: 555-0199.)</a:t>
            </a:r>
          </a:p>
          <a:p>
            <a:r>
              <a:rPr lang="en-US"/>
              <a:t>All names, addresses, and phone numbers are invented.</a:t>
            </a:r>
          </a:p>
          <a:p>
            <a:r>
              <a:rPr lang="en-US"/>
              <a:t>If behind: do Tasks A and B only.</a:t>
            </a:r>
          </a:p>
          <a:p>
            <a:r>
              <a:rPr lang="en-US"/>
              <a:t>Source: level1_curriculum/lesson12/Level1_Lesson12.md (Real-World Reading step; Student Pages: Real-World Reading B).</a:t>
            </a:r>
          </a:p>
          <a:p>
            <a:r>
              <a:rPr lang="en-US"/>
              <a:t>Pictures: Twemoji graphics by Twitter, Inc. and other contributors (https://github.com/jdecked/twemoji), CC BY 4.0 (https://creativecommons.org/licenses/by/4.0/); resized, labels added. Back, stomach, the medicine label, and the emergency card are drawn in code (see lesson12/images/CREDITS.md).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xml"/><Relationship Id="rIdImg1" Type="http://schemas.openxmlformats.org/officeDocument/2006/relationships/image" Target="../media/L1_L12_sick.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Img1" Type="http://schemas.openxmlformats.org/officeDocument/2006/relationships/image" Target="../media/L1_L11_map.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Img1" Type="http://schemas.openxmlformats.org/officeDocument/2006/relationships/image" Target="../media/L1_L12_medicine_label.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Img1" Type="http://schemas.openxmlformats.org/officeDocument/2006/relationships/image" Target="../media/L1_L12_head.png"/><Relationship Id="rIdImg2" Type="http://schemas.openxmlformats.org/officeDocument/2006/relationships/image" Target="../media/L1_L12_eye.png"/><Relationship Id="rIdImg3" Type="http://schemas.openxmlformats.org/officeDocument/2006/relationships/image" Target="../media/L1_L12_ear.png"/><Relationship Id="rIdImg4" Type="http://schemas.openxmlformats.org/officeDocument/2006/relationships/image" Target="../media/L1_L12_mouth.png"/><Relationship Id="rIdImg5" Type="http://schemas.openxmlformats.org/officeDocument/2006/relationships/image" Target="../media/L1_L12_arm.png"/><Relationship Id="rIdImg6" Type="http://schemas.openxmlformats.org/officeDocument/2006/relationships/image" Target="../media/L1_L12_hand.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Img1" Type="http://schemas.openxmlformats.org/officeDocument/2006/relationships/image" Target="../media/L1_L12_leg.png"/><Relationship Id="rIdImg2" Type="http://schemas.openxmlformats.org/officeDocument/2006/relationships/image" Target="../media/L1_L12_foot.png"/><Relationship Id="rIdImg3" Type="http://schemas.openxmlformats.org/officeDocument/2006/relationships/image" Target="../media/L1_L12_back.png"/><Relationship Id="rIdImg4" Type="http://schemas.openxmlformats.org/officeDocument/2006/relationships/image" Target="../media/L1_L12_stomach.png"/><Relationship Id="rIdImg5" Type="http://schemas.openxmlformats.org/officeDocument/2006/relationships/image" Target="../media/L1_L12_sick.png"/><Relationship Id="rIdImg6" Type="http://schemas.openxmlformats.org/officeDocument/2006/relationships/image" Target="../media/L1_L12_doctor.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Img1" Type="http://schemas.openxmlformats.org/officeDocument/2006/relationships/image" Target="../media/L1_L12_sick.png"/><Relationship Id="rIdImg2" Type="http://schemas.openxmlformats.org/officeDocument/2006/relationships/image" Target="../media/L1_L12_doctor.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2.xml"/><Relationship Id="rIdImg1" Type="http://schemas.openxmlformats.org/officeDocument/2006/relationships/image" Target="../media/L1_L12_doctor.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Img1" Type="http://schemas.openxmlformats.org/officeDocument/2006/relationships/image" Target="../media/L1_L12_sick.png"/><Relationship Id="rIdImg2" Type="http://schemas.openxmlformats.org/officeDocument/2006/relationships/image" Target="../media/L1_L12_stomach.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Img1" Type="http://schemas.openxmlformats.org/officeDocument/2006/relationships/image" Target="../media/L1_L12_doctor.png"/><Relationship Id="rIdImg2" Type="http://schemas.openxmlformats.org/officeDocument/2006/relationships/image" Target="../media/L1_L12_sick.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Img1" Type="http://schemas.openxmlformats.org/officeDocument/2006/relationships/image" Target="../media/L1_L12_sick.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Img1" Type="http://schemas.openxmlformats.org/officeDocument/2006/relationships/image" Target="../media/L1_L12_sick.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Img1" Type="http://schemas.openxmlformats.org/officeDocument/2006/relationships/image" Target="../media/L1_L12_doctor.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28.xml"/><Relationship Id="rIdImg1" Type="http://schemas.openxmlformats.org/officeDocument/2006/relationships/image" Target="../media/L1_L12_hand.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Img4" Type="http://schemas.openxmlformats.org/officeDocument/2006/relationships/image" Target="../media/L1_L12_emergency_card.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Face with thermometer (sick) picture" descr="face with thermometer (sick)">    </p:cNvPr>
          <p:cNvPicPr>
            <a:picLocks noChangeAspect="1"/>
          </p:cNvPicPr>
          <p:nvPr/>
        </p:nvPicPr>
        <p:blipFill>
          <a:blip r:embed="rIdImg1"/>
          <a:stretch>
            <a:fillRect/>
          </a:stretch>
        </p:blipFill>
        <p:spPr>
          <a:xfrm>
            <a:off x="7726680" y="1664208"/>
            <a:ext cx="3474720" cy="2432304"/>
          </a:xfrm>
          <a:prstGeom prst="rect">
            <a:avLst/>
          </a:prstGeom>
        </p:spPr>
      </p:pic>
      <p:sp>
        <p:nvSpPr>
          <p:cNvPr id="5" name="Text 2"/>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12  ·  Level 1</a:t>
            </a:r>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ext 5"/>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I Don't Feel Well</a:t>
            </a:r>
          </a:p>
        </p:txBody>
      </p:sp>
      <p:sp>
        <p:nvSpPr>
          <p:cNvPr id="9" name="Text 6"/>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p>
        </p:txBody>
      </p:sp>
      <p:sp>
        <p:nvSpPr>
          <p:cNvPr id="10" name="Text 7"/>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I feel sick.</a:t>
            </a:r>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Where does it hurt?</a:t>
            </a:r>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Call 911. (practice)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2093062"/>
            <a:ext cx="6227064" cy="983894"/>
          </a:xfrm>
          <a:prstGeom prst="round1Rect">
            <a:avLst>
              <a:gd name="adj" fmla="val 23087"/>
            </a:avLst>
          </a:prstGeom>
          <a:solidFill>
            <a:srgbClr val="8FAFE3"/>
          </a:solidFill>
          <a:ln/>
        </p:spPr>
        <p:txBody>
          <a:bodyPr/>
          <a:p/>
        </p:txBody>
      </p:sp>
      <p:sp>
        <p:nvSpPr>
          <p:cNvPr id="3" name="Shape 1"/>
          <p:cNvSpPr/>
          <p:nvPr/>
        </p:nvSpPr>
        <p:spPr>
          <a:xfrm>
            <a:off x="1583741" y="2035454"/>
            <a:ext cx="5130698" cy="983894"/>
          </a:xfrm>
          <a:prstGeom prst="round1Rect">
            <a:avLst>
              <a:gd name="adj" fmla="val 23087"/>
            </a:avLst>
          </a:prstGeom>
          <a:solidFill>
            <a:srgbClr val="FFFFFF"/>
          </a:solidFill>
          <a:ln/>
        </p:spPr>
        <p:txBody>
          <a:bodyPr/>
          <a:p/>
        </p:txBody>
      </p:sp>
      <p:sp>
        <p:nvSpPr>
          <p:cNvPr id="4" name="Shape 2"/>
          <p:cNvSpPr/>
          <p:nvPr/>
        </p:nvSpPr>
        <p:spPr>
          <a:xfrm>
            <a:off x="1583741" y="3127248"/>
            <a:ext cx="5130698" cy="602590"/>
          </a:xfrm>
          <a:prstGeom prst="round1Rect">
            <a:avLst>
              <a:gd name="adj" fmla="val 23087"/>
            </a:avLst>
          </a:prstGeom>
          <a:solidFill>
            <a:srgbClr val="FFFFFF"/>
          </a:solidFill>
          <a:ln/>
        </p:spPr>
        <p:txBody>
          <a:bodyPr/>
          <a:p/>
        </p:txBody>
      </p:sp>
      <p:sp>
        <p:nvSpPr>
          <p:cNvPr id="5" name="Shape 3"/>
          <p:cNvSpPr/>
          <p:nvPr/>
        </p:nvSpPr>
        <p:spPr>
          <a:xfrm>
            <a:off x="1583741" y="3838651"/>
            <a:ext cx="5130698" cy="602590"/>
          </a:xfrm>
          <a:prstGeom prst="round1Rect">
            <a:avLst>
              <a:gd name="adj" fmla="val 23087"/>
            </a:avLst>
          </a:prstGeom>
          <a:solidFill>
            <a:srgbClr val="FFFFFF"/>
          </a:solidFill>
          <a:ln/>
        </p:spPr>
        <p:txBody>
          <a:bodyPr/>
          <a:p/>
        </p:txBody>
      </p:sp>
      <p:sp>
        <p:nvSpPr>
          <p:cNvPr id="6" name="Shape 4"/>
          <p:cNvSpPr/>
          <p:nvPr/>
        </p:nvSpPr>
        <p:spPr>
          <a:xfrm>
            <a:off x="1583741" y="4550054"/>
            <a:ext cx="5130698" cy="602590"/>
          </a:xfrm>
          <a:prstGeom prst="round1Rect">
            <a:avLst>
              <a:gd name="adj" fmla="val 23087"/>
            </a:avLst>
          </a:prstGeom>
          <a:solidFill>
            <a:srgbClr val="FFFFFF"/>
          </a:solidFill>
          <a:ln/>
        </p:spPr>
        <p:txBody>
          <a:bodyPr/>
          <a:p/>
        </p:txBody>
      </p:sp>
      <p:sp>
        <p:nvSpPr>
          <p:cNvPr id="7" name="Shape 5"/>
          <p:cNvSpPr/>
          <p:nvPr/>
        </p:nvSpPr>
        <p:spPr>
          <a:xfrm>
            <a:off x="1583741" y="5261458"/>
            <a:ext cx="5130698" cy="602590"/>
          </a:xfrm>
          <a:prstGeom prst="round1Rect">
            <a:avLst>
              <a:gd name="adj" fmla="val 23087"/>
            </a:avLst>
          </a:prstGeom>
          <a:solidFill>
            <a:srgbClr val="FFFFFF"/>
          </a:solidFill>
          <a:ln/>
        </p:spPr>
        <p:txBody>
          <a:bodyPr/>
          <a:p/>
        </p:txBody>
      </p:sp>
      <p:sp>
        <p:nvSpPr>
          <p:cNvPr id="8" name="Text 6"/>
          <p:cNvSpPr/>
          <p:nvPr/>
        </p:nvSpPr>
        <p:spPr>
          <a:xfrm>
            <a:off x="1810512" y="2103120"/>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name body parts.</a:t>
            </a:r>
          </a:p>
        </p:txBody>
      </p:sp>
      <p:sp>
        <p:nvSpPr>
          <p:cNvPr id="9" name="Text 7"/>
          <p:cNvSpPr/>
          <p:nvPr/>
        </p:nvSpPr>
        <p:spPr>
          <a:xfrm>
            <a:off x="1901952" y="2505456"/>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head, stomach, arm, leg, hand</a:t>
            </a:r>
          </a:p>
        </p:txBody>
      </p:sp>
      <p:sp>
        <p:nvSpPr>
          <p:cNvPr id="11" name="Text 9"/>
          <p:cNvSpPr/>
          <p:nvPr/>
        </p:nvSpPr>
        <p:spPr>
          <a:xfrm>
            <a:off x="1810512" y="3127248"/>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say: I feel sick. / I'm hurt.</a:t>
            </a:r>
          </a:p>
        </p:txBody>
      </p:sp>
      <p:sp>
        <p:nvSpPr>
          <p:cNvPr id="13" name="Text 11"/>
          <p:cNvSpPr/>
          <p:nvPr/>
        </p:nvSpPr>
        <p:spPr>
          <a:xfrm>
            <a:off x="1810512" y="3838651"/>
            <a:ext cx="4434840" cy="602590"/>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ask: Are you OK? Where does it hurt?</a:t>
            </a:r>
          </a:p>
        </p:txBody>
      </p:sp>
      <p:sp>
        <p:nvSpPr>
          <p:cNvPr id="15" name="Text 13"/>
          <p:cNvSpPr/>
          <p:nvPr/>
        </p:nvSpPr>
        <p:spPr>
          <a:xfrm>
            <a:off x="1810512" y="4550054"/>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Call 911. Sit down.</a:t>
            </a:r>
          </a:p>
        </p:txBody>
      </p:sp>
      <p:sp>
        <p:nvSpPr>
          <p:cNvPr id="17" name="Text 15"/>
          <p:cNvSpPr/>
          <p:nvPr/>
        </p:nvSpPr>
        <p:spPr>
          <a:xfrm>
            <a:off x="1810512" y="5261458"/>
            <a:ext cx="4434840" cy="602590"/>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read a medicine label and a card.</a:t>
            </a:r>
          </a:p>
        </p:txBody>
      </p:sp>
      <p:sp>
        <p:nvSpPr>
          <p:cNvPr id="19" name="Shape 17"/>
          <p:cNvSpPr/>
          <p:nvPr/>
        </p:nvSpPr>
        <p:spPr>
          <a:xfrm>
            <a:off x="544982" y="2035454"/>
            <a:ext cx="1039673" cy="983894"/>
          </a:xfrm>
          <a:prstGeom prst="rect">
            <a:avLst/>
          </a:prstGeom>
          <a:solidFill>
            <a:srgbClr val="B9D2F7"/>
          </a:solidFill>
          <a:ln/>
        </p:spPr>
        <p:txBody>
          <a:bodyPr/>
          <a:p/>
        </p:txBody>
      </p:sp>
      <p:sp>
        <p:nvSpPr>
          <p:cNvPr id="20" name="Text 18"/>
          <p:cNvSpPr/>
          <p:nvPr/>
        </p:nvSpPr>
        <p:spPr>
          <a:xfrm>
            <a:off x="686714" y="2166214"/>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dirty="0"/>
          </a:p>
        </p:txBody>
      </p:sp>
      <p:sp>
        <p:nvSpPr>
          <p:cNvPr id="21" name="Shape 19"/>
          <p:cNvSpPr/>
          <p:nvPr/>
        </p:nvSpPr>
        <p:spPr>
          <a:xfrm>
            <a:off x="544982" y="3127248"/>
            <a:ext cx="1039673" cy="602590"/>
          </a:xfrm>
          <a:prstGeom prst="rect">
            <a:avLst/>
          </a:prstGeom>
          <a:solidFill>
            <a:srgbClr val="B9D2F7"/>
          </a:solidFill>
          <a:ln/>
        </p:spPr>
        <p:txBody>
          <a:bodyPr/>
          <a:p/>
        </p:txBody>
      </p:sp>
      <p:sp>
        <p:nvSpPr>
          <p:cNvPr id="22" name="Text 20"/>
          <p:cNvSpPr/>
          <p:nvPr/>
        </p:nvSpPr>
        <p:spPr>
          <a:xfrm>
            <a:off x="686714" y="311261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dirty="0"/>
          </a:p>
        </p:txBody>
      </p:sp>
      <p:sp>
        <p:nvSpPr>
          <p:cNvPr id="23" name="Shape 21"/>
          <p:cNvSpPr/>
          <p:nvPr/>
        </p:nvSpPr>
        <p:spPr>
          <a:xfrm>
            <a:off x="544982" y="3838651"/>
            <a:ext cx="1039673" cy="602590"/>
          </a:xfrm>
          <a:prstGeom prst="rect">
            <a:avLst/>
          </a:prstGeom>
          <a:solidFill>
            <a:srgbClr val="B9D2F7"/>
          </a:solidFill>
          <a:ln/>
        </p:spPr>
        <p:txBody>
          <a:bodyPr/>
          <a:p/>
        </p:txBody>
      </p:sp>
      <p:sp>
        <p:nvSpPr>
          <p:cNvPr id="24" name="Text 22"/>
          <p:cNvSpPr/>
          <p:nvPr/>
        </p:nvSpPr>
        <p:spPr>
          <a:xfrm>
            <a:off x="686714" y="3816706"/>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dirty="0"/>
          </a:p>
        </p:txBody>
      </p:sp>
      <p:sp>
        <p:nvSpPr>
          <p:cNvPr id="25" name="Shape 23"/>
          <p:cNvSpPr/>
          <p:nvPr/>
        </p:nvSpPr>
        <p:spPr>
          <a:xfrm>
            <a:off x="544982" y="4550054"/>
            <a:ext cx="1039673" cy="602590"/>
          </a:xfrm>
          <a:prstGeom prst="rect">
            <a:avLst/>
          </a:prstGeom>
          <a:solidFill>
            <a:srgbClr val="B9D2F7"/>
          </a:solidFill>
          <a:ln/>
        </p:spPr>
        <p:txBody>
          <a:bodyPr/>
          <a:p/>
        </p:txBody>
      </p:sp>
      <p:sp>
        <p:nvSpPr>
          <p:cNvPr id="26" name="Text 24"/>
          <p:cNvSpPr/>
          <p:nvPr/>
        </p:nvSpPr>
        <p:spPr>
          <a:xfrm>
            <a:off x="686714" y="4543654"/>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dirty="0"/>
          </a:p>
        </p:txBody>
      </p:sp>
      <p:sp>
        <p:nvSpPr>
          <p:cNvPr id="27" name="Shape 25"/>
          <p:cNvSpPr/>
          <p:nvPr/>
        </p:nvSpPr>
        <p:spPr>
          <a:xfrm>
            <a:off x="544982" y="5279746"/>
            <a:ext cx="1039673" cy="602590"/>
          </a:xfrm>
          <a:prstGeom prst="rect">
            <a:avLst/>
          </a:prstGeom>
          <a:solidFill>
            <a:srgbClr val="B9D2F7"/>
          </a:solidFill>
          <a:ln/>
        </p:spPr>
        <p:txBody>
          <a:bodyPr/>
          <a:p/>
        </p:txBody>
      </p:sp>
      <p:sp>
        <p:nvSpPr>
          <p:cNvPr id="28" name="Text 26"/>
          <p:cNvSpPr/>
          <p:nvPr/>
        </p:nvSpPr>
        <p:spPr>
          <a:xfrm>
            <a:off x="686714" y="5269687"/>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Tonight you learn these things.</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Body parts</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Getting help</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Progress Check at 7:25!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400"/>
                                        <p:tgtEl>
                                          <p:spTgt spid="4"/>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400"/>
                                        <p:tgtEl>
                                          <p:spTgt spid="5"/>
                                        </p:tgtEl>
                                      </p:cBhvr>
                                    </p:animEffect>
                                  </p:childTnLst>
                                </p:cTn>
                              </p:par>
                              <p:par>
                                <p:cTn id="42" presetID="10"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00"/>
                                        <p:tgtEl>
                                          <p:spTgt spid="13"/>
                                        </p:tgtEl>
                                      </p:cBhvr>
                                    </p:animEffect>
                                  </p:childTnLst>
                                </p:cTn>
                              </p:par>
                              <p:par>
                                <p:cTn id="45" presetID="10"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400"/>
                                        <p:tgtEl>
                                          <p:spTgt spid="6"/>
                                        </p:tgtEl>
                                      </p:cBhvr>
                                    </p:animEffect>
                                  </p:childTnLst>
                                </p:cTn>
                              </p:par>
                              <p:par>
                                <p:cTn id="56" presetID="10" presetClass="entr" presetSubtype="0"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400"/>
                                        <p:tgtEl>
                                          <p:spTgt spid="15"/>
                                        </p:tgtEl>
                                      </p:cBhvr>
                                    </p:animEffect>
                                  </p:childTnLst>
                                </p:cTn>
                              </p:par>
                              <p:par>
                                <p:cTn id="59" presetID="10" presetClass="entr" presetSubtype="0" fill="hold"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fade">
                                      <p:cBhvr>
                                        <p:cTn id="69" dur="400"/>
                                        <p:tgtEl>
                                          <p:spTgt spid="7"/>
                                        </p:tgtEl>
                                      </p:cBhvr>
                                    </p:animEffect>
                                  </p:childTnLst>
                                </p:cTn>
                              </p:par>
                              <p:par>
                                <p:cTn id="70" presetID="10"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00"/>
                                        <p:tgtEl>
                                          <p:spTgt spid="17"/>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487604" y="1352535"/>
            <a:ext cx="5246827" cy="1277417"/>
          </a:xfrm>
          <a:prstGeom prst="roundRect">
            <a:avLst>
              <a:gd name="adj" fmla="val 16667"/>
            </a:avLst>
          </a:prstGeom>
          <a:solidFill>
            <a:srgbClr val="8FAFE3"/>
          </a:solidFill>
          <a:ln/>
        </p:spPr>
        <p:txBody>
          <a:bodyPr/>
          <a:p/>
        </p:txBody>
      </p:sp>
      <p:sp>
        <p:nvSpPr>
          <p:cNvPr id="3" name="Shape 1"/>
          <p:cNvSpPr/>
          <p:nvPr/>
        </p:nvSpPr>
        <p:spPr>
          <a:xfrm>
            <a:off x="518465" y="1300277"/>
            <a:ext cx="5246827" cy="1277417"/>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Street map (from Lesson 11) picture" descr="street map (from Lesson 11)"/>
          <p:cNvPicPr>
            <a:picLocks noChangeAspect="1"/>
          </p:cNvPicPr>
          <p:nvPr/>
        </p:nvPicPr>
        <p:blipFill>
          <a:blip r:embed="rIdImg1"/>
          <a:stretch>
            <a:fillRect/>
          </a:stretch>
        </p:blipFill>
        <p:spPr>
          <a:xfrm>
            <a:off x="6799936" y="2104034"/>
            <a:ext cx="4754880" cy="3328416"/>
          </a:xfrm>
          <a:prstGeom prst="rect">
            <a:avLst/>
          </a:prstGeom>
        </p:spPr>
      </p:pic>
      <p:sp>
        <p:nvSpPr>
          <p:cNvPr id="7" name="Text 5"/>
          <p:cNvSpPr/>
          <p:nvPr/>
        </p:nvSpPr>
        <p:spPr>
          <a:xfrm>
            <a:off x="548640" y="1764792"/>
            <a:ext cx="5120640" cy="777240"/>
          </a:xfrm>
          <a:prstGeom prst="rect">
            <a:avLst/>
          </a:prstGeom>
          <a:noFill/>
          <a:ln/>
        </p:spPr>
        <p:txBody>
          <a:bodyPr wrap="square" rtlCol="0" anchor="ctr"/>
          <a:lstStyle/>
          <a:p>
            <a:pPr algn="l" indent="0" marL="0">
              <a:buNone/>
            </a:pPr>
            <a:r>
              <a:rPr lang="en-US" sz="4600" dirty="0" b="1">
                <a:solidFill>
                  <a:srgbClr val="1B2236"/>
                </a:solidFill>
                <a:latin typeface="Lexend Deca" pitchFamily="34" charset="0"/>
                <a:ea typeface="Lexend Deca" pitchFamily="34" charset="-122"/>
                <a:cs typeface="Lexend Deca" pitchFamily="34" charset="-120"/>
              </a:rPr>
              <a:t>Hello + Review</a:t>
            </a:r>
          </a:p>
        </p:txBody>
      </p:sp>
      <p:sp>
        <p:nvSpPr>
          <p:cNvPr id="8" name="Text 6"/>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WARM-UP  ·  6:00</a:t>
            </a:r>
          </a:p>
        </p:txBody>
      </p:sp>
      <p:sp>
        <p:nvSpPr>
          <p:cNvPr id="9" name="Text 7"/>
          <p:cNvSpPr/>
          <p:nvPr/>
        </p:nvSpPr>
        <p:spPr>
          <a:xfrm>
            <a:off x="599846" y="3017520"/>
            <a:ext cx="4846320" cy="868680"/>
          </a:xfrm>
          <a:prstGeom prst="rect">
            <a:avLst/>
          </a:prstGeom>
          <a:noFill/>
          <a:ln/>
        </p:spPr>
        <p:txBody>
          <a:bodyPr wrap="square" lIns="0" tIns="0" rIns="0" bIns="0" rtlCol="0" anchor="t"/>
          <a:lstStyle/>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Where's the pharmacy?</a:t>
            </a:r>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Turn left or turn right?</a:t>
            </a:r>
          </a:p>
        </p:txBody>
      </p:sp>
      <p:sp>
        <p:nvSpPr>
          <p:cNvPr id="13" name="Model A"/>
          <p:cNvSpPr/>
          <p:nvPr/>
        </p:nvSpPr>
        <p:spPr>
          <a:xfrm>
            <a:off x="599846" y="4023360"/>
            <a:ext cx="4846320" cy="50292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 Where's the pharmacy?</a:t>
            </a:r>
          </a:p>
        </p:txBody>
      </p:sp>
      <p:sp>
        <p:nvSpPr>
          <p:cNvPr id="14" name="Model B"/>
          <p:cNvSpPr/>
          <p:nvPr/>
        </p:nvSpPr>
        <p:spPr>
          <a:xfrm>
            <a:off x="599846" y="4709160"/>
            <a:ext cx="4846320" cy="146304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B: It's next to the bank.</a:t>
            </a:r>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A: How do you feel?</a:t>
            </a:r>
          </a:p>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B: I feel sick.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8640" y="2414015"/>
            <a:ext cx="6163056" cy="603504"/>
          </a:xfrm>
          <a:prstGeom prst="round1Rect">
            <a:avLst>
              <a:gd name="adj" fmla="val 23087"/>
            </a:avLst>
          </a:prstGeom>
          <a:solidFill>
            <a:srgbClr val="8FAFE3"/>
          </a:solidFill>
          <a:ln/>
        </p:spPr>
        <p:txBody>
          <a:bodyPr/>
          <a:p/>
        </p:txBody>
      </p:sp>
      <p:sp>
        <p:nvSpPr>
          <p:cNvPr id="3" name="Shape 1"/>
          <p:cNvSpPr/>
          <p:nvPr/>
        </p:nvSpPr>
        <p:spPr>
          <a:xfrm>
            <a:off x="1583741" y="2414015"/>
            <a:ext cx="5130698" cy="603504"/>
          </a:xfrm>
          <a:prstGeom prst="round1Rect">
            <a:avLst>
              <a:gd name="adj" fmla="val 23087"/>
            </a:avLst>
          </a:prstGeom>
          <a:solidFill>
            <a:srgbClr val="FFFFFF"/>
          </a:solidFill>
          <a:ln/>
        </p:spPr>
        <p:txBody>
          <a:bodyPr/>
          <a:p/>
        </p:txBody>
      </p:sp>
      <p:sp>
        <p:nvSpPr>
          <p:cNvPr id="4" name="Shape 2"/>
          <p:cNvSpPr/>
          <p:nvPr/>
        </p:nvSpPr>
        <p:spPr>
          <a:xfrm>
            <a:off x="1583741" y="3127248"/>
            <a:ext cx="5130698" cy="602590"/>
          </a:xfrm>
          <a:prstGeom prst="round1Rect">
            <a:avLst>
              <a:gd name="adj" fmla="val 23087"/>
            </a:avLst>
          </a:prstGeom>
          <a:solidFill>
            <a:srgbClr val="FFFFFF"/>
          </a:solidFill>
          <a:ln/>
        </p:spPr>
        <p:txBody>
          <a:bodyPr/>
          <a:p/>
        </p:txBody>
      </p:sp>
      <p:sp>
        <p:nvSpPr>
          <p:cNvPr id="8" name="Text 6"/>
          <p:cNvSpPr/>
          <p:nvPr/>
        </p:nvSpPr>
        <p:spPr>
          <a:xfrm>
            <a:off x="1810512" y="2414015"/>
            <a:ext cx="3154680" cy="603504"/>
          </a:xfrm>
          <a:prstGeom prst="rect">
            <a:avLst/>
          </a:prstGeom>
          <a:noFill/>
          <a:ln/>
        </p:spPr>
        <p:txBody>
          <a:bodyPr wrap="square" rtlCol="0" anchor="ctr"/>
          <a:lstStyle/>
          <a:p>
            <a:pPr algn="l" indent="0" marL="0">
              <a:buNone/>
            </a:pPr>
            <a:r>
              <a:rPr lang="en-US" sz="2000" dirty="0" b="0">
                <a:solidFill>
                  <a:srgbClr val="1B2236"/>
                </a:solidFill>
                <a:latin typeface="Lexend Deca" pitchFamily="34" charset="0"/>
                <a:ea typeface="Lexend Deca" pitchFamily="34" charset="-122"/>
                <a:cs typeface="Lexend Deca" pitchFamily="34" charset="-120"/>
              </a:rPr>
              <a:t>How often?</a:t>
            </a:r>
            <a:endParaRPr lang="en-US" sz="2000" dirty="0"/>
          </a:p>
        </p:txBody>
      </p:sp>
      <p:sp>
        <p:nvSpPr>
          <p:cNvPr id="11" name="Text 9"/>
          <p:cNvSpPr/>
          <p:nvPr/>
        </p:nvSpPr>
        <p:spPr>
          <a:xfrm>
            <a:off x="1810512" y="3127248"/>
            <a:ext cx="315468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Take with?</a:t>
            </a:r>
            <a:endParaRPr lang="en-US" sz="2000" dirty="0"/>
          </a:p>
        </p:txBody>
      </p:sp>
      <p:sp>
        <p:nvSpPr>
          <p:cNvPr id="19" name="Shape 17"/>
          <p:cNvSpPr/>
          <p:nvPr/>
        </p:nvSpPr>
        <p:spPr>
          <a:xfrm>
            <a:off x="544982" y="2414015"/>
            <a:ext cx="1039673" cy="603504"/>
          </a:xfrm>
          <a:prstGeom prst="rect">
            <a:avLst/>
          </a:prstGeom>
          <a:solidFill>
            <a:srgbClr val="B9D2F7"/>
          </a:solidFill>
          <a:ln/>
        </p:spPr>
        <p:txBody>
          <a:bodyPr/>
          <a:p/>
        </p:txBody>
      </p:sp>
      <p:sp>
        <p:nvSpPr>
          <p:cNvPr id="20" name="Text 18"/>
          <p:cNvSpPr/>
          <p:nvPr/>
        </p:nvSpPr>
        <p:spPr>
          <a:xfrm>
            <a:off x="686714" y="2395727"/>
            <a:ext cx="1109167" cy="585216"/>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1</a:t>
            </a:r>
            <a:endParaRPr lang="en-US" sz="3600" dirty="0"/>
          </a:p>
        </p:txBody>
      </p:sp>
      <p:sp>
        <p:nvSpPr>
          <p:cNvPr id="21" name="Shape 19"/>
          <p:cNvSpPr/>
          <p:nvPr/>
        </p:nvSpPr>
        <p:spPr>
          <a:xfrm>
            <a:off x="544982" y="3127248"/>
            <a:ext cx="1039673" cy="602590"/>
          </a:xfrm>
          <a:prstGeom prst="rect">
            <a:avLst/>
          </a:prstGeom>
          <a:solidFill>
            <a:srgbClr val="B9D2F7"/>
          </a:solidFill>
          <a:ln/>
        </p:spPr>
        <p:txBody>
          <a:bodyPr/>
          <a:p/>
        </p:txBody>
      </p:sp>
      <p:sp>
        <p:nvSpPr>
          <p:cNvPr id="22" name="Text 20"/>
          <p:cNvSpPr/>
          <p:nvPr/>
        </p:nvSpPr>
        <p:spPr>
          <a:xfrm>
            <a:off x="686714" y="311261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2</a:t>
            </a:r>
            <a:endParaRPr lang="en-US" sz="3200" dirty="0"/>
          </a:p>
        </p:txBody>
      </p:sp>
      <p:sp>
        <p:nvSpPr>
          <p:cNvPr id="29" name="Text 27"/>
          <p:cNvSpPr/>
          <p:nvPr/>
        </p:nvSpPr>
        <p:spPr>
          <a:xfrm>
            <a:off x="7634326" y="685800"/>
            <a:ext cx="4229100" cy="914400"/>
          </a:xfrm>
          <a:prstGeom prst="rect">
            <a:avLst/>
          </a:prstGeom>
          <a:noFill/>
          <a:ln/>
        </p:spPr>
        <p:txBody>
          <a:bodyPr wrap="square" rtlCol="0" anchor="b"/>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Medicine Label</a:t>
            </a:r>
            <a:endParaRPr lang="en-US" sz="3600" dirty="0"/>
          </a:p>
        </p:txBody>
      </p:sp>
      <p:sp>
        <p:nvSpPr>
          <p:cNvPr id="30" name="Text 28"/>
          <p:cNvSpPr/>
          <p:nvPr/>
        </p:nvSpPr>
        <p:spPr>
          <a:xfrm>
            <a:off x="7751369" y="4800600"/>
            <a:ext cx="3931920" cy="1280160"/>
          </a:xfrm>
          <a:prstGeom prst="rect">
            <a:avLst/>
          </a:prstGeom>
          <a:noFill/>
          <a:ln/>
        </p:spPr>
        <p:txBody>
          <a:bodyPr wrap="square" lIns="0" tIns="0" rIns="0" bIns="0" rtlCol="0" anchor="t"/>
          <a:lstStyle/>
          <a:p>
            <a:pPr algn="l" indent="0" marL="0">
              <a:lnSpc>
                <a:spcPct val="120000"/>
              </a:lnSpc>
              <a:spcAft>
                <a:spcPts val="1400"/>
              </a:spcAft>
              <a:buNone/>
            </a:pPr>
            <a:r>
              <a:rPr lang="en-US" sz="1900" dirty="0" b="0">
                <a:solidFill>
                  <a:srgbClr val="1B2236"/>
                </a:solidFill>
                <a:latin typeface="Lexend Deca" pitchFamily="34" charset="0"/>
                <a:ea typeface="Lexend Deca" pitchFamily="34" charset="-122"/>
                <a:cs typeface="Lexend Deca" pitchFamily="34" charset="-120"/>
              </a:rPr>
              <a:t>Real-World Reading</a:t>
            </a:r>
          </a:p>
          <a:p>
            <a:pPr algn="l" indent="0" marL="0">
              <a:lnSpc>
                <a:spcPct val="120000"/>
              </a:lnSpc>
              <a:spcAft>
                <a:spcPts val="1400"/>
              </a:spcAft>
              <a:buNone/>
            </a:pPr>
            <a:r>
              <a:rPr lang="en-US" sz="1900" dirty="0" b="1">
                <a:solidFill>
                  <a:srgbClr val="5B3FC4"/>
                </a:solidFill>
                <a:latin typeface="Lexend Deca" pitchFamily="34" charset="0"/>
                <a:ea typeface="Lexend Deca" pitchFamily="34" charset="-122"/>
                <a:cs typeface="Lexend Deca" pitchFamily="34" charset="-120"/>
              </a:rPr>
              <a:t>Task A:</a:t>
            </a:r>
            <a:r>
              <a:rPr lang="en-US" sz="1900" dirty="0" b="0">
                <a:solidFill>
                  <a:srgbClr val="1B2236"/>
                </a:solidFill>
                <a:latin typeface="Lexend Deca" pitchFamily="34" charset="0"/>
                <a:ea typeface="Lexend Deca" pitchFamily="34" charset="-122"/>
                <a:cs typeface="Lexend Deca" pitchFamily="34" charset="-120"/>
              </a:rPr>
              <a:t> answer.</a:t>
            </a:r>
          </a:p>
          <a:p>
            <a:pPr algn="l" indent="0" marL="0">
              <a:lnSpc>
                <a:spcPct val="120000"/>
              </a:lnSpc>
              <a:spcAft>
                <a:spcPts val="1400"/>
              </a:spcAft>
              <a:buNone/>
            </a:pPr>
            <a:r>
              <a:rPr lang="en-US" sz="1900" dirty="0" b="0">
                <a:solidFill>
                  <a:srgbClr val="1B2236"/>
                </a:solidFill>
                <a:latin typeface="Lexend Deca" pitchFamily="34" charset="0"/>
                <a:ea typeface="Lexend Deca" pitchFamily="34" charset="-122"/>
                <a:cs typeface="Lexend Deca" pitchFamily="34" charset="-120"/>
              </a:rPr>
              <a:t>Invented label.</a:t>
            </a:r>
          </a:p>
        </p:txBody>
      </p:sp>
      <p:sp>
        <p:nvSpPr>
          <p:cNvPr id="160" name="Answer 1"/>
          <p:cNvSpPr/>
          <p:nvPr/>
        </p:nvSpPr>
        <p:spPr>
          <a:xfrm>
            <a:off x="4983480" y="2487168"/>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Every 6 hours</a:t>
            </a:r>
          </a:p>
        </p:txBody>
      </p:sp>
      <p:sp>
        <p:nvSpPr>
          <p:cNvPr id="161" name="Answer 2"/>
          <p:cNvSpPr/>
          <p:nvPr/>
        </p:nvSpPr>
        <p:spPr>
          <a:xfrm>
            <a:off x="4983480" y="3200400"/>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water</a:t>
            </a:r>
          </a:p>
        </p:txBody>
      </p:sp>
      <p:pic>
        <p:nvPicPr>
          <p:cNvPr id="170" name="Medicine label: Take 2 tablets. Every 6  picture" descr="medicine label: Take 2 tablets. Every 6 hours. With water."/>
          <p:cNvPicPr>
            <a:picLocks noChangeAspect="1"/>
          </p:cNvPicPr>
          <p:nvPr/>
        </p:nvPicPr>
        <p:blipFill>
          <a:blip r:embed="rIdImg1"/>
          <a:stretch>
            <a:fillRect/>
          </a:stretch>
        </p:blipFill>
        <p:spPr>
          <a:xfrm>
            <a:off x="7726679" y="1783080"/>
            <a:ext cx="4023360" cy="28163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400"/>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1"/>
                                        </p:tgtEl>
                                        <p:attrNameLst>
                                          <p:attrName>style.visibility</p:attrName>
                                        </p:attrNameLst>
                                      </p:cBhvr>
                                      <p:to>
                                        <p:strVal val="visible"/>
                                      </p:to>
                                    </p:set>
                                    <p:animEffect transition="in" filter="fade">
                                      <p:cBhvr>
                                        <p:cTn id="12" dur="4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ext 6"/>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p>
        </p:txBody>
      </p:sp>
      <p:sp>
        <p:nvSpPr>
          <p:cNvPr id="9" name="Shape 7"/>
          <p:cNvSpPr/>
          <p:nvPr/>
        </p:nvSpPr>
        <p:spPr>
          <a:xfrm>
            <a:off x="1121969" y="587045"/>
            <a:ext cx="3557930" cy="1143000"/>
          </a:xfrm>
          <a:prstGeom prst="round1Rect">
            <a:avLst>
              <a:gd name="adj" fmla="val 23087"/>
            </a:avLst>
          </a:prstGeom>
          <a:solidFill>
            <a:srgbClr val="FFFFFF"/>
          </a:solidFill>
          <a:ln/>
        </p:spPr>
        <p:txBody>
          <a:bodyPr/>
          <a:p/>
        </p:txBody>
      </p:sp>
      <p:sp>
        <p:nvSpPr>
          <p:cNvPr id="13" name="Text 11"/>
          <p:cNvSpPr/>
          <p:nvPr/>
        </p:nvSpPr>
        <p:spPr>
          <a:xfrm>
            <a:off x="1325880" y="685800"/>
            <a:ext cx="320040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p>
        </p:txBody>
      </p:sp>
      <p:pic>
        <p:nvPicPr>
          <p:cNvPr id="17" name="Head picture" descr="head"/>
          <p:cNvPicPr>
            <a:picLocks noChangeAspect="1"/>
          </p:cNvPicPr>
          <p:nvPr/>
        </p:nvPicPr>
        <p:blipFill>
          <a:blip r:embed="rIdImg1"/>
          <a:stretch>
            <a:fillRect/>
          </a:stretch>
        </p:blipFill>
        <p:spPr>
          <a:xfrm>
            <a:off x="950976" y="2286000"/>
            <a:ext cx="1920240" cy="1344168"/>
          </a:xfrm>
          <a:prstGeom prst="rect">
            <a:avLst/>
          </a:prstGeom>
        </p:spPr>
      </p:pic>
      <p:sp>
        <p:nvSpPr>
          <p:cNvPr id="18" name="Word label 1"/>
          <p:cNvSpPr/>
          <p:nvPr/>
        </p:nvSpPr>
        <p:spPr>
          <a:xfrm>
            <a:off x="5394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head</a:t>
            </a:r>
          </a:p>
        </p:txBody>
      </p:sp>
      <p:pic>
        <p:nvPicPr>
          <p:cNvPr id="19" name="Eye picture" descr="eye"/>
          <p:cNvPicPr>
            <a:picLocks noChangeAspect="1"/>
          </p:cNvPicPr>
          <p:nvPr/>
        </p:nvPicPr>
        <p:blipFill>
          <a:blip r:embed="rIdImg2"/>
          <a:stretch>
            <a:fillRect/>
          </a:stretch>
        </p:blipFill>
        <p:spPr>
          <a:xfrm>
            <a:off x="3694176" y="2286000"/>
            <a:ext cx="1920240" cy="1344168"/>
          </a:xfrm>
          <a:prstGeom prst="rect">
            <a:avLst/>
          </a:prstGeom>
        </p:spPr>
      </p:pic>
      <p:sp>
        <p:nvSpPr>
          <p:cNvPr id="20" name="Word label 2"/>
          <p:cNvSpPr/>
          <p:nvPr/>
        </p:nvSpPr>
        <p:spPr>
          <a:xfrm>
            <a:off x="32826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eye</a:t>
            </a:r>
          </a:p>
        </p:txBody>
      </p:sp>
      <p:pic>
        <p:nvPicPr>
          <p:cNvPr id="21" name="Ear picture" descr="ear"/>
          <p:cNvPicPr>
            <a:picLocks noChangeAspect="1"/>
          </p:cNvPicPr>
          <p:nvPr/>
        </p:nvPicPr>
        <p:blipFill>
          <a:blip r:embed="rIdImg3"/>
          <a:stretch>
            <a:fillRect/>
          </a:stretch>
        </p:blipFill>
        <p:spPr>
          <a:xfrm>
            <a:off x="6428232" y="2286000"/>
            <a:ext cx="1920240" cy="1344168"/>
          </a:xfrm>
          <a:prstGeom prst="rect">
            <a:avLst/>
          </a:prstGeom>
        </p:spPr>
      </p:pic>
      <p:sp>
        <p:nvSpPr>
          <p:cNvPr id="22" name="Word label 3"/>
          <p:cNvSpPr/>
          <p:nvPr/>
        </p:nvSpPr>
        <p:spPr>
          <a:xfrm>
            <a:off x="60167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ear</a:t>
            </a:r>
          </a:p>
        </p:txBody>
      </p:sp>
      <p:pic>
        <p:nvPicPr>
          <p:cNvPr id="23" name="Mouth picture" descr="mouth"/>
          <p:cNvPicPr>
            <a:picLocks noChangeAspect="1"/>
          </p:cNvPicPr>
          <p:nvPr/>
        </p:nvPicPr>
        <p:blipFill>
          <a:blip r:embed="rIdImg4"/>
          <a:stretch>
            <a:fillRect/>
          </a:stretch>
        </p:blipFill>
        <p:spPr>
          <a:xfrm>
            <a:off x="9171432" y="2286000"/>
            <a:ext cx="1920240" cy="1344168"/>
          </a:xfrm>
          <a:prstGeom prst="rect">
            <a:avLst/>
          </a:prstGeom>
        </p:spPr>
      </p:pic>
      <p:sp>
        <p:nvSpPr>
          <p:cNvPr id="24" name="Word label 4"/>
          <p:cNvSpPr/>
          <p:nvPr/>
        </p:nvSpPr>
        <p:spPr>
          <a:xfrm>
            <a:off x="87599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mouth</a:t>
            </a:r>
          </a:p>
        </p:txBody>
      </p:sp>
      <p:pic>
        <p:nvPicPr>
          <p:cNvPr id="25" name="Arm picture" descr="arm"/>
          <p:cNvPicPr>
            <a:picLocks noChangeAspect="1"/>
          </p:cNvPicPr>
          <p:nvPr/>
        </p:nvPicPr>
        <p:blipFill>
          <a:blip r:embed="rIdImg5"/>
          <a:stretch>
            <a:fillRect/>
          </a:stretch>
        </p:blipFill>
        <p:spPr>
          <a:xfrm>
            <a:off x="3685032" y="4315968"/>
            <a:ext cx="1920240" cy="1344168"/>
          </a:xfrm>
          <a:prstGeom prst="rect">
            <a:avLst/>
          </a:prstGeom>
        </p:spPr>
      </p:pic>
      <p:sp>
        <p:nvSpPr>
          <p:cNvPr id="26" name="Word label 5"/>
          <p:cNvSpPr/>
          <p:nvPr/>
        </p:nvSpPr>
        <p:spPr>
          <a:xfrm>
            <a:off x="32735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arm</a:t>
            </a:r>
          </a:p>
        </p:txBody>
      </p:sp>
      <p:pic>
        <p:nvPicPr>
          <p:cNvPr id="27" name="Hand picture" descr="hand"/>
          <p:cNvPicPr>
            <a:picLocks noChangeAspect="1"/>
          </p:cNvPicPr>
          <p:nvPr/>
        </p:nvPicPr>
        <p:blipFill>
          <a:blip r:embed="rIdImg6"/>
          <a:stretch>
            <a:fillRect/>
          </a:stretch>
        </p:blipFill>
        <p:spPr>
          <a:xfrm>
            <a:off x="6428232" y="4315968"/>
            <a:ext cx="1920240" cy="1344168"/>
          </a:xfrm>
          <a:prstGeom prst="rect">
            <a:avLst/>
          </a:prstGeom>
        </p:spPr>
      </p:pic>
      <p:sp>
        <p:nvSpPr>
          <p:cNvPr id="28" name="Word label 6"/>
          <p:cNvSpPr/>
          <p:nvPr/>
        </p:nvSpPr>
        <p:spPr>
          <a:xfrm>
            <a:off x="60167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hand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4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ext 6"/>
          <p:cNvSpPr/>
          <p:nvPr/>
        </p:nvSpPr>
        <p:spPr>
          <a:xfrm>
            <a:off x="5938114" y="594360"/>
            <a:ext cx="5669280" cy="114300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More New Words</a:t>
            </a:r>
          </a:p>
        </p:txBody>
      </p:sp>
      <p:sp>
        <p:nvSpPr>
          <p:cNvPr id="9" name="Shape 7"/>
          <p:cNvSpPr/>
          <p:nvPr/>
        </p:nvSpPr>
        <p:spPr>
          <a:xfrm>
            <a:off x="1121969" y="587045"/>
            <a:ext cx="4106570" cy="1143000"/>
          </a:xfrm>
          <a:prstGeom prst="round1Rect">
            <a:avLst>
              <a:gd name="adj" fmla="val 23087"/>
            </a:avLst>
          </a:prstGeom>
          <a:solidFill>
            <a:srgbClr val="FFFFFF"/>
          </a:solidFill>
          <a:ln/>
        </p:spPr>
        <p:txBody>
          <a:bodyPr/>
          <a:p/>
        </p:txBody>
      </p:sp>
      <p:sp>
        <p:nvSpPr>
          <p:cNvPr id="13" name="Text 11"/>
          <p:cNvSpPr/>
          <p:nvPr/>
        </p:nvSpPr>
        <p:spPr>
          <a:xfrm>
            <a:off x="1325880" y="685800"/>
            <a:ext cx="3749039"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Partners:</a:t>
            </a:r>
          </a:p>
          <a:p>
            <a:pPr algn="l" indent="0" marL="0">
              <a:buNone/>
            </a:pPr>
            <a:r>
              <a:rPr lang="en-US" sz="2200" dirty="0" b="1">
                <a:solidFill>
                  <a:srgbClr val="1B2236"/>
                </a:solidFill>
                <a:latin typeface="Lexend Deca" pitchFamily="34" charset="0"/>
                <a:ea typeface="Lexend Deca" pitchFamily="34" charset="-122"/>
                <a:cs typeface="Lexend Deca" pitchFamily="34" charset="-120"/>
              </a:rPr>
              <a:t>A points. B says.</a:t>
            </a:r>
          </a:p>
        </p:txBody>
      </p:sp>
      <p:pic>
        <p:nvPicPr>
          <p:cNvPr id="17" name="Leg picture" descr="leg"/>
          <p:cNvPicPr>
            <a:picLocks noChangeAspect="1"/>
          </p:cNvPicPr>
          <p:nvPr/>
        </p:nvPicPr>
        <p:blipFill>
          <a:blip r:embed="rIdImg1"/>
          <a:stretch>
            <a:fillRect/>
          </a:stretch>
        </p:blipFill>
        <p:spPr>
          <a:xfrm>
            <a:off x="950976" y="2286000"/>
            <a:ext cx="1920240" cy="1344168"/>
          </a:xfrm>
          <a:prstGeom prst="rect">
            <a:avLst/>
          </a:prstGeom>
        </p:spPr>
      </p:pic>
      <p:sp>
        <p:nvSpPr>
          <p:cNvPr id="18" name="Word label 1"/>
          <p:cNvSpPr/>
          <p:nvPr/>
        </p:nvSpPr>
        <p:spPr>
          <a:xfrm>
            <a:off x="5394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leg</a:t>
            </a:r>
          </a:p>
        </p:txBody>
      </p:sp>
      <p:pic>
        <p:nvPicPr>
          <p:cNvPr id="19" name="Foot picture" descr="foot"/>
          <p:cNvPicPr>
            <a:picLocks noChangeAspect="1"/>
          </p:cNvPicPr>
          <p:nvPr/>
        </p:nvPicPr>
        <p:blipFill>
          <a:blip r:embed="rIdImg2"/>
          <a:stretch>
            <a:fillRect/>
          </a:stretch>
        </p:blipFill>
        <p:spPr>
          <a:xfrm>
            <a:off x="3694176" y="2286000"/>
            <a:ext cx="1920240" cy="1344168"/>
          </a:xfrm>
          <a:prstGeom prst="rect">
            <a:avLst/>
          </a:prstGeom>
        </p:spPr>
      </p:pic>
      <p:sp>
        <p:nvSpPr>
          <p:cNvPr id="20" name="Word label 2"/>
          <p:cNvSpPr/>
          <p:nvPr/>
        </p:nvSpPr>
        <p:spPr>
          <a:xfrm>
            <a:off x="32826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foot</a:t>
            </a:r>
          </a:p>
        </p:txBody>
      </p:sp>
      <p:pic>
        <p:nvPicPr>
          <p:cNvPr id="21" name="Back picture" descr="back"/>
          <p:cNvPicPr>
            <a:picLocks noChangeAspect="1"/>
          </p:cNvPicPr>
          <p:nvPr/>
        </p:nvPicPr>
        <p:blipFill>
          <a:blip r:embed="rIdImg3"/>
          <a:stretch>
            <a:fillRect/>
          </a:stretch>
        </p:blipFill>
        <p:spPr>
          <a:xfrm>
            <a:off x="6428232" y="2286000"/>
            <a:ext cx="1920240" cy="1344168"/>
          </a:xfrm>
          <a:prstGeom prst="rect">
            <a:avLst/>
          </a:prstGeom>
        </p:spPr>
      </p:pic>
      <p:sp>
        <p:nvSpPr>
          <p:cNvPr id="22" name="Word label 3"/>
          <p:cNvSpPr/>
          <p:nvPr/>
        </p:nvSpPr>
        <p:spPr>
          <a:xfrm>
            <a:off x="60167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back</a:t>
            </a:r>
          </a:p>
        </p:txBody>
      </p:sp>
      <p:pic>
        <p:nvPicPr>
          <p:cNvPr id="23" name="Stomach picture" descr="stomach"/>
          <p:cNvPicPr>
            <a:picLocks noChangeAspect="1"/>
          </p:cNvPicPr>
          <p:nvPr/>
        </p:nvPicPr>
        <p:blipFill>
          <a:blip r:embed="rIdImg4"/>
          <a:stretch>
            <a:fillRect/>
          </a:stretch>
        </p:blipFill>
        <p:spPr>
          <a:xfrm>
            <a:off x="9171432" y="2286000"/>
            <a:ext cx="1920240" cy="1344168"/>
          </a:xfrm>
          <a:prstGeom prst="rect">
            <a:avLst/>
          </a:prstGeom>
        </p:spPr>
      </p:pic>
      <p:sp>
        <p:nvSpPr>
          <p:cNvPr id="24" name="Word label 4"/>
          <p:cNvSpPr/>
          <p:nvPr/>
        </p:nvSpPr>
        <p:spPr>
          <a:xfrm>
            <a:off x="87599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stomach</a:t>
            </a:r>
          </a:p>
        </p:txBody>
      </p:sp>
      <p:pic>
        <p:nvPicPr>
          <p:cNvPr id="25" name="Sick picture" descr="sick"/>
          <p:cNvPicPr>
            <a:picLocks noChangeAspect="1"/>
          </p:cNvPicPr>
          <p:nvPr/>
        </p:nvPicPr>
        <p:blipFill>
          <a:blip r:embed="rIdImg5"/>
          <a:stretch>
            <a:fillRect/>
          </a:stretch>
        </p:blipFill>
        <p:spPr>
          <a:xfrm>
            <a:off x="3685032" y="4315968"/>
            <a:ext cx="1920240" cy="1344168"/>
          </a:xfrm>
          <a:prstGeom prst="rect">
            <a:avLst/>
          </a:prstGeom>
        </p:spPr>
      </p:pic>
      <p:sp>
        <p:nvSpPr>
          <p:cNvPr id="26" name="Word label 5"/>
          <p:cNvSpPr/>
          <p:nvPr/>
        </p:nvSpPr>
        <p:spPr>
          <a:xfrm>
            <a:off x="32735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sick</a:t>
            </a:r>
          </a:p>
        </p:txBody>
      </p:sp>
      <p:pic>
        <p:nvPicPr>
          <p:cNvPr id="27" name="Doctor picture" descr="doctor"/>
          <p:cNvPicPr>
            <a:picLocks noChangeAspect="1"/>
          </p:cNvPicPr>
          <p:nvPr/>
        </p:nvPicPr>
        <p:blipFill>
          <a:blip r:embed="rIdImg6"/>
          <a:stretch>
            <a:fillRect/>
          </a:stretch>
        </p:blipFill>
        <p:spPr>
          <a:xfrm>
            <a:off x="6428232" y="4315968"/>
            <a:ext cx="1920240" cy="1344168"/>
          </a:xfrm>
          <a:prstGeom prst="rect">
            <a:avLst/>
          </a:prstGeom>
        </p:spPr>
      </p:pic>
      <p:sp>
        <p:nvSpPr>
          <p:cNvPr id="28" name="Word label 6"/>
          <p:cNvSpPr/>
          <p:nvPr/>
        </p:nvSpPr>
        <p:spPr>
          <a:xfrm>
            <a:off x="60167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doctor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4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ext 6"/>
          <p:cNvSpPr/>
          <p:nvPr/>
        </p:nvSpPr>
        <p:spPr>
          <a:xfrm>
            <a:off x="3566160" y="1078992"/>
            <a:ext cx="4114800" cy="157276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 Listen</a:t>
            </a:r>
          </a:p>
        </p:txBody>
      </p:sp>
      <p:sp>
        <p:nvSpPr>
          <p:cNvPr id="10" name="Text 8"/>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Part 1: Rosa and Marco at work.</a:t>
            </a:r>
          </a:p>
          <a:p>
            <a:pPr algn="l" indent="0" marL="0">
              <a:buNone/>
            </a:pPr>
            <a:r>
              <a:rPr lang="en-US" sz="1700" dirty="0">
                <a:solidFill>
                  <a:srgbClr val="1B2236"/>
                </a:solidFill>
                <a:latin typeface="Lexend Deca" pitchFamily="34" charset="0"/>
                <a:ea typeface="Lexend Deca" pitchFamily="34" charset="-122"/>
                <a:cs typeface="Lexend Deca" pitchFamily="34" charset="-120"/>
              </a:rPr>
              <a:t>Part 2: </a:t>
            </a:r>
            <a:r>
              <a:rPr lang="en-US" sz="1700" dirty="0">
                <a:solidFill>
                  <a:srgbClr val="5B3FC4"/>
                </a:solidFill>
                <a:latin typeface="Lexend Deca" pitchFamily="34" charset="0"/>
                <a:ea typeface="Lexend Deca" pitchFamily="34" charset="-122"/>
                <a:cs typeface="Lexend Deca" pitchFamily="34" charset="-120"/>
              </a:rPr>
              <a:t>practice only.</a:t>
            </a:r>
          </a:p>
        </p:txBody>
      </p:sp>
      <p:sp>
        <p:nvSpPr>
          <p:cNvPr id="11" name="Text 9"/>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Text 11"/>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Text 13"/>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Shape 15"/>
          <p:cNvSpPr/>
          <p:nvPr/>
        </p:nvSpPr>
        <p:spPr>
          <a:xfrm>
            <a:off x="3503066" y="4928616"/>
            <a:ext cx="4480560" cy="0"/>
          </a:xfrm>
          <a:prstGeom prst="line">
            <a:avLst/>
          </a:prstGeom>
          <a:noFill/>
          <a:ln w="6350">
            <a:solidFill>
              <a:srgbClr val="1B2236"/>
            </a:solidFill>
            <a:prstDash val="solid"/>
          </a:ln>
        </p:spPr>
        <p:txBody>
          <a:bodyPr/>
          <a:p/>
        </p:txBody>
      </p:sp>
      <p:sp>
        <p:nvSpPr>
          <p:cNvPr id="18" name="Shape 16"/>
          <p:cNvSpPr/>
          <p:nvPr/>
        </p:nvSpPr>
        <p:spPr>
          <a:xfrm>
            <a:off x="3503066" y="5733288"/>
            <a:ext cx="4480560" cy="0"/>
          </a:xfrm>
          <a:prstGeom prst="line">
            <a:avLst/>
          </a:prstGeom>
          <a:noFill/>
          <a:ln w="6350">
            <a:solidFill>
              <a:srgbClr val="1B2236"/>
            </a:solidFill>
            <a:prstDash val="solid"/>
          </a:ln>
        </p:spPr>
        <p:txBody>
          <a:bodyPr/>
          <a:p/>
        </p:txBody>
      </p:sp>
      <p:pic>
        <p:nvPicPr>
          <p:cNvPr id="24" name="Sick picture" descr="sick"/>
          <p:cNvPicPr>
            <a:picLocks noChangeAspect="1"/>
          </p:cNvPicPr>
          <p:nvPr/>
        </p:nvPicPr>
        <p:blipFill>
          <a:blip r:embed="rIdImg1"/>
          <a:stretch>
            <a:fillRect/>
          </a:stretch>
        </p:blipFill>
        <p:spPr>
          <a:xfrm>
            <a:off x="284378" y="1138930"/>
            <a:ext cx="2493568" cy="1745498"/>
          </a:xfrm>
          <a:prstGeom prst="rect">
            <a:avLst/>
          </a:prstGeom>
        </p:spPr>
      </p:pic>
      <p:sp>
        <p:nvSpPr>
          <p:cNvPr id="25" name="Highlight 1"/>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1"/>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Listen 1: How does he feel?</a:t>
            </a:r>
          </a:p>
        </p:txBody>
      </p:sp>
      <p:sp>
        <p:nvSpPr>
          <p:cNvPr id="29" name="Highlight 2"/>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Helper 2"/>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2: The address.</a:t>
            </a:r>
          </a:p>
        </p:txBody>
      </p:sp>
      <p:sp>
        <p:nvSpPr>
          <p:cNvPr id="33" name="Highlight 3"/>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Helper 3"/>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Listen 3: What Rosa says.</a:t>
            </a:r>
          </a:p>
        </p:txBody>
      </p:sp>
      <p:sp>
        <p:nvSpPr>
          <p:cNvPr id="37" name="Order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Say it!</a:t>
            </a:r>
          </a:p>
        </p:txBody>
      </p:sp>
      <p:sp>
        <p:nvSpPr>
          <p:cNvPr id="39" name="Step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feel sick.</a:t>
            </a:r>
          </a:p>
        </p:txBody>
      </p:sp>
      <p:sp>
        <p:nvSpPr>
          <p:cNvPr id="41" name="Step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Where does it hurt?</a:t>
            </a:r>
          </a:p>
        </p:txBody>
      </p:sp>
      <p:sp>
        <p:nvSpPr>
          <p:cNvPr id="43" name="Step 3"/>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It hurts here.</a:t>
            </a:r>
          </a:p>
        </p:txBody>
      </p:sp>
      <p:sp>
        <p:nvSpPr>
          <p:cNvPr id="46" name="Example"/>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a:solidFill>
                  <a:srgbClr val="1B2236"/>
                </a:solidFill>
                <a:latin typeface="Lexend Deca" pitchFamily="34" charset="0"/>
                <a:ea typeface="Lexend Deca" pitchFamily="34" charset="-122"/>
                <a:cs typeface="Lexend Deca" pitchFamily="34" charset="-120"/>
              </a:rPr>
              <a:t>Listen and </a:t>
            </a:r>
            <a:r>
              <a:rPr lang="en-US" sz="2200" dirty="0" b="1">
                <a:solidFill>
                  <a:srgbClr val="5B3FC4"/>
                </a:solidFill>
                <a:latin typeface="Lexend Deca" pitchFamily="34" charset="0"/>
                <a:ea typeface="Lexend Deca" pitchFamily="34" charset="-122"/>
                <a:cs typeface="Lexend Deca" pitchFamily="34" charset="-120"/>
              </a:rPr>
              <a:t>repeat.</a:t>
            </a:r>
          </a:p>
        </p:txBody>
      </p:sp>
      <p:pic>
        <p:nvPicPr>
          <p:cNvPr id="90" name="Doctor picture" descr="doctor"/>
          <p:cNvPicPr>
            <a:picLocks noChangeAspect="1"/>
          </p:cNvPicPr>
          <p:nvPr/>
        </p:nvPicPr>
        <p:blipFill>
          <a:blip r:embed="rIdImg2"/>
          <a:stretch>
            <a:fillRect/>
          </a:stretch>
        </p:blipFill>
        <p:spPr>
          <a:xfrm>
            <a:off x="284378" y="3973570"/>
            <a:ext cx="2493568" cy="17454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4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8266176" y="3721608"/>
            <a:ext cx="3566160" cy="2331720"/>
          </a:xfrm>
          <a:prstGeom prst="round1Rect">
            <a:avLst>
              <a:gd name="adj" fmla="val 23087"/>
            </a:avLst>
          </a:prstGeom>
          <a:solidFill>
            <a:srgbClr val="8FAFE3"/>
          </a:solidFill>
          <a:ln/>
        </p:spPr>
        <p:txBody>
          <a:bodyPr/>
          <a:p/>
        </p:txBody>
      </p:sp>
      <p:sp>
        <p:nvSpPr>
          <p:cNvPr id="3" name="Shape 1"/>
          <p:cNvSpPr/>
          <p:nvPr/>
        </p:nvSpPr>
        <p:spPr>
          <a:xfrm>
            <a:off x="8229600" y="3657600"/>
            <a:ext cx="3566160" cy="2331720"/>
          </a:xfrm>
          <a:prstGeom prst="round1Rect">
            <a:avLst>
              <a:gd name="adj" fmla="val 23087"/>
            </a:avLst>
          </a:prstGeom>
          <a:solidFill>
            <a:srgbClr val="FFFFFF"/>
          </a:solidFill>
          <a:ln/>
        </p:spPr>
        <p:txBody>
          <a:bodyPr/>
          <a:p/>
        </p:txBody>
      </p:sp>
      <p:sp>
        <p:nvSpPr>
          <p:cNvPr id="8" name="Text 6"/>
          <p:cNvSpPr/>
          <p:nvPr/>
        </p:nvSpPr>
        <p:spPr>
          <a:xfrm>
            <a:off x="8412480" y="3794760"/>
            <a:ext cx="3200400" cy="731520"/>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What do you need?</a:t>
            </a:r>
          </a:p>
        </p:txBody>
      </p:sp>
      <p:sp>
        <p:nvSpPr>
          <p:cNvPr id="9" name="Text 7"/>
          <p:cNvSpPr/>
          <p:nvPr/>
        </p:nvSpPr>
        <p:spPr>
          <a:xfrm>
            <a:off x="8412480" y="4572000"/>
            <a:ext cx="3200400" cy="1371600"/>
          </a:xfrm>
          <a:prstGeom prst="rect">
            <a:avLst/>
          </a:prstGeom>
          <a:noFill/>
          <a:ln/>
        </p:spPr>
        <p:txBody>
          <a:bodyPr wrap="square" lIns="0" tIns="0" rIns="0" bIns="0"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need </a:t>
            </a:r>
            <a:r>
              <a:rPr lang="en-US" sz="2000" dirty="0" b="1">
                <a:solidFill>
                  <a:srgbClr val="5B3FC4"/>
                </a:solidFill>
                <a:latin typeface="Lexend Deca" pitchFamily="34" charset="0"/>
                <a:ea typeface="Lexend Deca" pitchFamily="34" charset="-122"/>
                <a:cs typeface="Lexend Deca" pitchFamily="34" charset="-120"/>
              </a:rPr>
              <a:t>help.</a:t>
            </a:r>
            <a:r>
              <a:rPr lang="en-US" sz="2000" dirty="0" b="1">
                <a:solidFill>
                  <a:srgbClr val="1B2236"/>
                </a:solidFill>
                <a:latin typeface="Lexend Deca" pitchFamily="34" charset="0"/>
                <a:ea typeface="Lexend Deca" pitchFamily="34" charset="-122"/>
                <a:cs typeface="Lexend Deca" pitchFamily="34" charset="-120"/>
              </a:rPr>
              <a:t> / </a:t>
            </a:r>
            <a:r>
              <a:rPr lang="en-US" sz="2000" dirty="0" b="1">
                <a:solidFill>
                  <a:srgbClr val="5B3FC4"/>
                </a:solidFill>
                <a:latin typeface="Lexend Deca" pitchFamily="34" charset="0"/>
                <a:ea typeface="Lexend Deca" pitchFamily="34" charset="-122"/>
                <a:cs typeface="Lexend Deca" pitchFamily="34" charset="-120"/>
              </a:rPr>
              <a:t>water.</a:t>
            </a:r>
          </a:p>
          <a:p>
            <a:pPr algn="l" indent="0" marL="0">
              <a:buNone/>
            </a:pPr>
            <a:r>
              <a:rPr lang="en-US" sz="2000" dirty="0" b="1">
                <a:solidFill>
                  <a:srgbClr val="1B2236"/>
                </a:solidFill>
                <a:latin typeface="Lexend Deca" pitchFamily="34" charset="0"/>
                <a:ea typeface="Lexend Deca" pitchFamily="34" charset="-122"/>
                <a:cs typeface="Lexend Deca" pitchFamily="34" charset="-120"/>
              </a:rPr>
              <a:t>I need </a:t>
            </a:r>
            <a:r>
              <a:rPr lang="en-US" sz="2000" dirty="0" b="1">
                <a:solidFill>
                  <a:srgbClr val="5B3FC4"/>
                </a:solidFill>
                <a:latin typeface="Lexend Deca" pitchFamily="34" charset="0"/>
                <a:ea typeface="Lexend Deca" pitchFamily="34" charset="-122"/>
                <a:cs typeface="Lexend Deca" pitchFamily="34" charset="-120"/>
              </a:rPr>
              <a:t>to go home.</a:t>
            </a:r>
          </a:p>
        </p:txBody>
      </p:sp>
      <p:sp>
        <p:nvSpPr>
          <p:cNvPr id="29" name="Text 27"/>
          <p:cNvSpPr/>
          <p:nvPr/>
        </p:nvSpPr>
        <p:spPr>
          <a:xfrm>
            <a:off x="8229600" y="640080"/>
            <a:ext cx="3657600" cy="822960"/>
          </a:xfrm>
          <a:prstGeom prst="rect">
            <a:avLst/>
          </a:prstGeom>
          <a:noFill/>
          <a:ln/>
        </p:spPr>
        <p:txBody>
          <a:bodyPr wrap="square" rtlCol="0" anchor="b"/>
          <a:lstStyle/>
          <a:p>
            <a:pPr algn="l" indent="0" marL="0">
              <a:buNone/>
            </a:pPr>
            <a:r>
              <a:rPr lang="en-US" sz="3200" dirty="0" b="1">
                <a:solidFill>
                  <a:srgbClr val="1B2236"/>
                </a:solidFill>
                <a:latin typeface="Lexend Deca" pitchFamily="34" charset="0"/>
                <a:ea typeface="Lexend Deca" pitchFamily="34" charset="-122"/>
                <a:cs typeface="Lexend Deca" pitchFamily="34" charset="-120"/>
              </a:rPr>
              <a:t>Grammar Box 5</a:t>
            </a:r>
          </a:p>
        </p:txBody>
      </p:sp>
      <p:sp>
        <p:nvSpPr>
          <p:cNvPr id="30" name="Text 28"/>
          <p:cNvSpPr/>
          <p:nvPr/>
        </p:nvSpPr>
        <p:spPr>
          <a:xfrm>
            <a:off x="8229600" y="1554480"/>
            <a:ext cx="3657600" cy="173736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I need…</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Partner answers.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switch.</a:t>
            </a:r>
          </a:p>
        </p:txBody>
      </p:sp>
      <p:pic>
        <p:nvPicPr>
          <p:cNvPr id="60" name="Doctor picture" descr="doctor"/>
          <p:cNvPicPr>
            <a:picLocks noChangeAspect="1"/>
          </p:cNvPicPr>
          <p:nvPr/>
        </p:nvPicPr>
        <p:blipFill>
          <a:blip r:embed="rIdImg1"/>
          <a:stretch>
            <a:fillRect/>
          </a:stretch>
        </p:blipFill>
        <p:spPr>
          <a:xfrm>
            <a:off x="1645919" y="502920"/>
            <a:ext cx="5029200" cy="3520440"/>
          </a:xfrm>
          <a:prstGeom prst="rect">
            <a:avLst/>
          </a:prstGeom>
        </p:spPr>
      </p:pic>
      <p:sp>
        <p:nvSpPr>
          <p:cNvPr id="34" name="Answer 1"/>
          <p:cNvSpPr/>
          <p:nvPr/>
        </p:nvSpPr>
        <p:spPr>
          <a:xfrm>
            <a:off x="548640" y="5074920"/>
            <a:ext cx="7315200" cy="77724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Yes. I need </a:t>
            </a:r>
            <a:r>
              <a:rPr lang="en-US" sz="2800" dirty="0" b="1">
                <a:solidFill>
                  <a:srgbClr val="5B3FC4"/>
                </a:solidFill>
                <a:latin typeface="Lexend Deca" pitchFamily="34" charset="0"/>
                <a:ea typeface="Lexend Deca" pitchFamily="34" charset="-122"/>
                <a:cs typeface="Lexend Deca" pitchFamily="34" charset="-120"/>
              </a:rPr>
              <a:t>a doctor.</a:t>
            </a:r>
          </a:p>
        </p:txBody>
      </p:sp>
      <p:sp>
        <p:nvSpPr>
          <p:cNvPr id="130" name="Preview question"/>
          <p:cNvSpPr/>
          <p:nvPr/>
        </p:nvSpPr>
        <p:spPr>
          <a:xfrm>
            <a:off x="548640" y="4251960"/>
            <a:ext cx="7315200" cy="685800"/>
          </a:xfrm>
          <a:prstGeom prst="rect">
            <a:avLst/>
          </a:prstGeom>
          <a:noFill/>
          <a:ln/>
        </p:spPr>
        <p:txBody>
          <a:bodyPr wrap="square" lIns="0" tIns="0" rIns="0" bIns="0" rtlCol="0" anchor="t"/>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Do you need a doctor?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Sick picture" descr="sick"/>
          <p:cNvPicPr>
            <a:picLocks noChangeAspect="1"/>
          </p:cNvPicPr>
          <p:nvPr/>
        </p:nvPicPr>
        <p:blipFill>
          <a:blip r:embed="rIdImg1"/>
          <a:stretch>
            <a:fillRect/>
          </a:stretch>
        </p:blipFill>
        <p:spPr>
          <a:xfrm>
            <a:off x="182880" y="811530"/>
            <a:ext cx="3429000" cy="2400300"/>
          </a:xfrm>
          <a:prstGeom prst="rect">
            <a:avLst/>
          </a:prstGeom>
        </p:spPr>
      </p:pic>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Boxes 1 + 2</a:t>
            </a:r>
          </a:p>
          <a:p>
            <a:pPr algn="l" indent="0" marL="0">
              <a:spcAft>
                <a:spcPts val="400"/>
              </a:spcAft>
              <a:buNone/>
            </a:pPr>
            <a:r>
              <a:rPr lang="en-US" sz="3000" dirty="0" b="1">
                <a:solidFill>
                  <a:srgbClr val="1B2236"/>
                </a:solidFill>
                <a:latin typeface="Lexend Deca" pitchFamily="34" charset="0"/>
                <a:ea typeface="Lexend Deca" pitchFamily="34" charset="-122"/>
                <a:cs typeface="Lexend Deca" pitchFamily="34" charset="-120"/>
              </a:rPr>
              <a:t>How do you feel?</a:t>
            </a:r>
          </a:p>
        </p:txBody>
      </p:sp>
      <p:sp>
        <p:nvSpPr>
          <p:cNvPr id="8" name="Text 6"/>
          <p:cNvSpPr/>
          <p:nvPr/>
        </p:nvSpPr>
        <p:spPr>
          <a:xfrm>
            <a:off x="516636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a:p>
        </p:txBody>
      </p:sp>
      <p:sp>
        <p:nvSpPr>
          <p:cNvPr id="11" name="Text 9"/>
          <p:cNvSpPr/>
          <p:nvPr/>
        </p:nvSpPr>
        <p:spPr>
          <a:xfrm>
            <a:off x="832104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a:p>
        </p:txBody>
      </p:sp>
      <p:sp>
        <p:nvSpPr>
          <p:cNvPr id="20" name="Question 1"/>
          <p:cNvSpPr/>
          <p:nvPr/>
        </p:nvSpPr>
        <p:spPr>
          <a:xfrm>
            <a:off x="5138928" y="2697480"/>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How do you feel?</a:t>
            </a:r>
          </a:p>
        </p:txBody>
      </p:sp>
      <p:sp>
        <p:nvSpPr>
          <p:cNvPr id="22" name="Answer bg 1"/>
          <p:cNvSpPr/>
          <p:nvPr/>
        </p:nvSpPr>
        <p:spPr>
          <a:xfrm>
            <a:off x="8321040" y="2697480"/>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321040" y="2697480"/>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 feel </a:t>
            </a:r>
            <a:r>
              <a:rPr lang="en-US" sz="1900" dirty="0" b="1">
                <a:solidFill>
                  <a:srgbClr val="5B3FC4"/>
                </a:solidFill>
                <a:latin typeface="Lexend Deca" pitchFamily="34" charset="0"/>
                <a:ea typeface="Lexend Deca" pitchFamily="34" charset="-122"/>
                <a:cs typeface="Lexend Deca" pitchFamily="34" charset="-120"/>
              </a:rPr>
              <a:t>sick.</a:t>
            </a:r>
            <a:r>
              <a:rPr lang="en-US" sz="1900" dirty="0" b="1">
                <a:solidFill>
                  <a:srgbClr val="1B2236"/>
                </a:solidFill>
                <a:latin typeface="Lexend Deca" pitchFamily="34" charset="0"/>
                <a:ea typeface="Lexend Deca" pitchFamily="34" charset="-122"/>
                <a:cs typeface="Lexend Deca" pitchFamily="34" charset="-120"/>
              </a:rPr>
              <a:t> / </a:t>
            </a:r>
            <a:r>
              <a:rPr lang="en-US" sz="1900" dirty="0" b="1">
                <a:solidFill>
                  <a:srgbClr val="5B3FC4"/>
                </a:solidFill>
                <a:latin typeface="Lexend Deca" pitchFamily="34" charset="0"/>
                <a:ea typeface="Lexend Deca" pitchFamily="34" charset="-122"/>
                <a:cs typeface="Lexend Deca" pitchFamily="34" charset="-120"/>
              </a:rPr>
              <a:t>tired.</a:t>
            </a:r>
          </a:p>
        </p:txBody>
      </p:sp>
      <p:sp>
        <p:nvSpPr>
          <p:cNvPr id="25" name="Question 2"/>
          <p:cNvSpPr/>
          <p:nvPr/>
        </p:nvSpPr>
        <p:spPr>
          <a:xfrm>
            <a:off x="5138928" y="3675888"/>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Are you OK?</a:t>
            </a:r>
          </a:p>
        </p:txBody>
      </p:sp>
      <p:sp>
        <p:nvSpPr>
          <p:cNvPr id="27" name="Answer bg 2"/>
          <p:cNvSpPr/>
          <p:nvPr/>
        </p:nvSpPr>
        <p:spPr>
          <a:xfrm>
            <a:off x="8321040" y="3675888"/>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321040" y="3675888"/>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No, I'm not. I'm </a:t>
            </a:r>
            <a:r>
              <a:rPr lang="en-US" sz="1900" dirty="0" b="1">
                <a:solidFill>
                  <a:srgbClr val="5B3FC4"/>
                </a:solidFill>
                <a:latin typeface="Lexend Deca" pitchFamily="34" charset="0"/>
                <a:ea typeface="Lexend Deca" pitchFamily="34" charset="-122"/>
                <a:cs typeface="Lexend Deca" pitchFamily="34" charset="-120"/>
              </a:rPr>
              <a:t>sick.</a:t>
            </a:r>
          </a:p>
        </p:txBody>
      </p:sp>
      <p:sp>
        <p:nvSpPr>
          <p:cNvPr id="72" name="Answer bg 3"/>
          <p:cNvSpPr/>
          <p:nvPr/>
        </p:nvSpPr>
        <p:spPr>
          <a:xfrm>
            <a:off x="8321040" y="4654296"/>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2" name="Answer 3"/>
          <p:cNvSpPr/>
          <p:nvPr/>
        </p:nvSpPr>
        <p:spPr>
          <a:xfrm>
            <a:off x="8321040" y="4654296"/>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I'm </a:t>
            </a:r>
            <a:r>
              <a:rPr lang="en-US" sz="1900" dirty="0" b="1">
                <a:solidFill>
                  <a:srgbClr val="5B3FC4"/>
                </a:solidFill>
                <a:latin typeface="Lexend Deca" pitchFamily="34" charset="0"/>
                <a:ea typeface="Lexend Deca" pitchFamily="34" charset="-122"/>
                <a:cs typeface="Lexend Deca" pitchFamily="34" charset="-120"/>
              </a:rPr>
              <a:t>hurt.</a:t>
            </a:r>
          </a:p>
        </p:txBody>
      </p:sp>
      <p:sp>
        <p:nvSpPr>
          <p:cNvPr id="73" name="Answer bg 4"/>
          <p:cNvSpPr/>
          <p:nvPr/>
        </p:nvSpPr>
        <p:spPr>
          <a:xfrm>
            <a:off x="8321040" y="5632704"/>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3" name="Answer 4"/>
          <p:cNvSpPr/>
          <p:nvPr/>
        </p:nvSpPr>
        <p:spPr>
          <a:xfrm>
            <a:off x="8321040" y="5632704"/>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It hurts </a:t>
            </a:r>
            <a:r>
              <a:rPr lang="en-US" sz="1900" dirty="0" b="1">
                <a:solidFill>
                  <a:srgbClr val="5B3FC4"/>
                </a:solidFill>
                <a:latin typeface="Lexend Deca" pitchFamily="34" charset="0"/>
                <a:ea typeface="Lexend Deca" pitchFamily="34" charset="-122"/>
                <a:cs typeface="Lexend Deca" pitchFamily="34" charset="-120"/>
              </a:rPr>
              <a:t>here.</a:t>
            </a:r>
          </a:p>
          <a:p>
            <a:pPr algn="l" indent="0" marL="0">
              <a:buNone/>
            </a:pPr>
            <a:r>
              <a:rPr lang="en-US" sz="1900" dirty="0" b="1">
                <a:solidFill>
                  <a:srgbClr val="1B2236"/>
                </a:solidFill>
                <a:latin typeface="Lexend Deca" pitchFamily="34" charset="0"/>
                <a:ea typeface="Lexend Deca" pitchFamily="34" charset="-122"/>
                <a:cs typeface="Lexend Deca" pitchFamily="34" charset="-120"/>
              </a:rPr>
              <a:t>(point)</a:t>
            </a:r>
          </a:p>
        </p:txBody>
      </p:sp>
      <p:sp>
        <p:nvSpPr>
          <p:cNvPr id="93" name="Question 4"/>
          <p:cNvSpPr/>
          <p:nvPr/>
        </p:nvSpPr>
        <p:spPr>
          <a:xfrm>
            <a:off x="5138928" y="5632704"/>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Where does it hurt?</a:t>
            </a:r>
          </a:p>
        </p:txBody>
      </p:sp>
      <p:sp>
        <p:nvSpPr>
          <p:cNvPr id="92" name="Question 3"/>
          <p:cNvSpPr/>
          <p:nvPr/>
        </p:nvSpPr>
        <p:spPr>
          <a:xfrm>
            <a:off x="5138928" y="4654296"/>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What's wrong?</a:t>
            </a:r>
          </a:p>
        </p:txBody>
      </p:sp>
      <p:pic>
        <p:nvPicPr>
          <p:cNvPr id="95" name="Stomach picture" descr="stomach"/>
          <p:cNvPicPr>
            <a:picLocks noChangeAspect="1"/>
          </p:cNvPicPr>
          <p:nvPr/>
        </p:nvPicPr>
        <p:blipFill>
          <a:blip r:embed="rIdImg2"/>
          <a:stretch>
            <a:fillRect/>
          </a:stretch>
        </p:blipFill>
        <p:spPr>
          <a:xfrm>
            <a:off x="182880" y="3646170"/>
            <a:ext cx="3429000" cy="240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4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400"/>
                                        <p:tgtEl>
                                          <p:spTgt spid="72"/>
                                        </p:tgtEl>
                                      </p:cBhvr>
                                    </p:animEffect>
                                  </p:childTnLst>
                                </p:cTn>
                              </p:par>
                              <p:par>
                                <p:cTn id="24" presetID="10" presetClass="entr" presetSubtype="0" fill="hold" nodeType="withEffect">
                                  <p:stCondLst>
                                    <p:cond delay="0"/>
                                  </p:stCondLst>
                                  <p:childTnLst>
                                    <p:set>
                                      <p:cBhvr>
                                        <p:cTn id="25" dur="1" fill="hold">
                                          <p:stCondLst>
                                            <p:cond delay="0"/>
                                          </p:stCondLst>
                                        </p:cTn>
                                        <p:tgtEl>
                                          <p:spTgt spid="82"/>
                                        </p:tgtEl>
                                        <p:attrNameLst>
                                          <p:attrName>style.visibility</p:attrName>
                                        </p:attrNameLst>
                                      </p:cBhvr>
                                      <p:to>
                                        <p:strVal val="visible"/>
                                      </p:to>
                                    </p:set>
                                    <p:animEffect transition="in" filter="fade">
                                      <p:cBhvr>
                                        <p:cTn id="26" dur="400"/>
                                        <p:tgtEl>
                                          <p:spTgt spid="8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fade">
                                      <p:cBhvr>
                                        <p:cTn id="31" dur="400"/>
                                        <p:tgtEl>
                                          <p:spTgt spid="73"/>
                                        </p:tgtEl>
                                      </p:cBhvr>
                                    </p:animEffect>
                                  </p:childTnLst>
                                </p:cTn>
                              </p:par>
                              <p:par>
                                <p:cTn id="32" presetID="10" presetClass="entr" presetSubtype="0" fill="hold" nodeType="withEffect">
                                  <p:stCondLst>
                                    <p:cond delay="0"/>
                                  </p:stCondLst>
                                  <p:childTnLst>
                                    <p:set>
                                      <p:cBhvr>
                                        <p:cTn id="33" dur="1" fill="hold">
                                          <p:stCondLst>
                                            <p:cond delay="0"/>
                                          </p:stCondLst>
                                        </p:cTn>
                                        <p:tgtEl>
                                          <p:spTgt spid="83"/>
                                        </p:tgtEl>
                                        <p:attrNameLst>
                                          <p:attrName>style.visibility</p:attrName>
                                        </p:attrNameLst>
                                      </p:cBhvr>
                                      <p:to>
                                        <p:strVal val="visible"/>
                                      </p:to>
                                    </p:set>
                                    <p:animEffect transition="in" filter="fade">
                                      <p:cBhvr>
                                        <p:cTn id="34"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6742786" y="3649370"/>
            <a:ext cx="4912157" cy="2561234"/>
          </a:xfrm>
          <a:prstGeom prst="round1Rect">
            <a:avLst>
              <a:gd name="adj" fmla="val 23087"/>
            </a:avLst>
          </a:prstGeom>
          <a:solidFill>
            <a:srgbClr val="B9D2F7"/>
          </a:solidFill>
          <a:ln w="76200">
            <a:solidFill>
              <a:srgbClr val="FFFFFF"/>
            </a:solidFill>
            <a:prstDash val="solid"/>
          </a:ln>
        </p:spPr>
        <p:txBody>
          <a:bodyPr/>
          <a:p/>
        </p:txBody>
      </p:sp>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40" name="Optional shadow"/>
          <p:cNvSpPr/>
          <p:nvPr/>
        </p:nvSpPr>
        <p:spPr>
          <a:xfrm>
            <a:off x="6709867" y="1350569"/>
            <a:ext cx="4937760" cy="2011680"/>
          </a:xfrm>
          <a:prstGeom prst="roundRect">
            <a:avLst>
              <a:gd name="adj" fmla="val 16667"/>
            </a:avLst>
          </a:prstGeom>
          <a:solidFill>
            <a:srgbClr val="8FAFE3"/>
          </a:solidFill>
          <a:ln/>
        </p:spPr>
        <p:txBody>
          <a:bodyPr/>
          <a:p/>
        </p:txBody>
      </p:sp>
      <p:sp>
        <p:nvSpPr>
          <p:cNvPr id="41" name="Optional card"/>
          <p:cNvSpPr/>
          <p:nvPr/>
        </p:nvSpPr>
        <p:spPr>
          <a:xfrm>
            <a:off x="6742786" y="1286561"/>
            <a:ext cx="4937760" cy="2011680"/>
          </a:xfrm>
          <a:prstGeom prst="roundRect">
            <a:avLst>
              <a:gd name="adj" fmla="val 16667"/>
            </a:avLst>
          </a:prstGeom>
          <a:solidFill>
            <a:srgbClr val="FFFFFF"/>
          </a:solidFill>
          <a:ln/>
        </p:spPr>
        <p:txBody>
          <a:bodyPr/>
          <a:p/>
        </p:txBody>
      </p:sp>
      <p:sp>
        <p:nvSpPr>
          <p:cNvPr id="42" name="Optional text"/>
          <p:cNvSpPr/>
          <p:nvPr/>
        </p:nvSpPr>
        <p:spPr>
          <a:xfrm>
            <a:off x="6949440" y="1371600"/>
            <a:ext cx="4572000" cy="1828800"/>
          </a:xfrm>
          <a:prstGeom prst="rect">
            <a:avLst/>
          </a:prstGeom>
          <a:noFill/>
          <a:ln/>
        </p:spPr>
        <p:txBody>
          <a:bodyPr wrap="square"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Real problems in class?</a:t>
            </a:r>
          </a:p>
          <a:p>
            <a:pPr algn="l" indent="0" marL="0">
              <a:buNone/>
            </a:pPr>
            <a:r>
              <a:rPr lang="en-US" sz="1900" dirty="0" b="1">
                <a:solidFill>
                  <a:srgbClr val="5B3FC4"/>
                </a:solidFill>
                <a:latin typeface="Lexend Deca" pitchFamily="34" charset="0"/>
                <a:ea typeface="Lexend Deca" pitchFamily="34" charset="-122"/>
                <a:cs typeface="Lexend Deca" pitchFamily="34" charset="-120"/>
              </a:rPr>
              <a:t>No.</a:t>
            </a:r>
            <a:r>
              <a:rPr lang="en-US" sz="1900" dirty="0" b="1">
                <a:solidFill>
                  <a:srgbClr val="1B2236"/>
                </a:solidFill>
                <a:latin typeface="Lexend Deca" pitchFamily="34" charset="0"/>
                <a:ea typeface="Lexend Deca" pitchFamily="34" charset="-122"/>
                <a:cs typeface="Lexend Deca" pitchFamily="34" charset="-120"/>
              </a:rPr>
              <a:t> Use the pictures.</a:t>
            </a:r>
          </a:p>
          <a:p>
            <a:pPr algn="l" indent="0" marL="0">
              <a:buNone/>
            </a:pPr>
            <a:r>
              <a:rPr lang="en-US" sz="1900" dirty="0" b="1">
                <a:solidFill>
                  <a:srgbClr val="1B2236"/>
                </a:solidFill>
                <a:latin typeface="Lexend Deca" pitchFamily="34" charset="0"/>
                <a:ea typeface="Lexend Deca" pitchFamily="34" charset="-122"/>
                <a:cs typeface="Lexend Deca" pitchFamily="34" charset="-120"/>
              </a:rPr>
              <a:t>Point and say </a:t>
            </a:r>
            <a:r>
              <a:rPr lang="en-US" sz="1900" dirty="0" b="1">
                <a:solidFill>
                  <a:srgbClr val="5B3FC4"/>
                </a:solidFill>
                <a:latin typeface="Lexend Deca" pitchFamily="34" charset="0"/>
                <a:ea typeface="Lexend Deca" pitchFamily="34" charset="-122"/>
                <a:cs typeface="Lexend Deca" pitchFamily="34" charset="-120"/>
              </a:rPr>
              <a:t>Here.</a:t>
            </a:r>
          </a:p>
        </p:txBody>
      </p:sp>
      <p:sp>
        <p:nvSpPr>
          <p:cNvPr id="7" name="Text 5"/>
          <p:cNvSpPr/>
          <p:nvPr/>
        </p:nvSpPr>
        <p:spPr>
          <a:xfrm>
            <a:off x="832104" y="1371600"/>
            <a:ext cx="5257800" cy="141732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Questions and answers</a:t>
            </a:r>
          </a:p>
          <a:p>
            <a:pPr algn="l" indent="0" marL="0">
              <a:buNone/>
            </a:pPr>
            <a:r>
              <a:rPr lang="en-US" sz="2800" dirty="0" b="1">
                <a:solidFill>
                  <a:srgbClr val="1B2236"/>
                </a:solidFill>
                <a:latin typeface="Lexend Deca" pitchFamily="34" charset="0"/>
                <a:ea typeface="Lexend Deca" pitchFamily="34" charset="-122"/>
                <a:cs typeface="Lexend Deca" pitchFamily="34" charset="-120"/>
              </a:rPr>
              <a:t>I'm sick. / It hurts here.</a:t>
            </a:r>
          </a:p>
        </p:txBody>
      </p:sp>
      <p:sp>
        <p:nvSpPr>
          <p:cNvPr id="8" name="Shape 6"/>
          <p:cNvSpPr/>
          <p:nvPr/>
        </p:nvSpPr>
        <p:spPr>
          <a:xfrm>
            <a:off x="1305763" y="3649370"/>
            <a:ext cx="4790542" cy="2599639"/>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79476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NOT TODAY</a:t>
            </a:r>
            <a:endParaRPr lang="en-US" sz="2000" dirty="0"/>
          </a:p>
        </p:txBody>
      </p:sp>
      <p:sp>
        <p:nvSpPr>
          <p:cNvPr id="20" name="A head"/>
          <p:cNvSpPr/>
          <p:nvPr/>
        </p:nvSpPr>
        <p:spPr>
          <a:xfrm>
            <a:off x="7040880" y="379476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 TODAY</a:t>
            </a:r>
            <a:endParaRPr lang="en-US" sz="2000" dirty="0"/>
          </a:p>
        </p:txBody>
      </p:sp>
      <p:sp>
        <p:nvSpPr>
          <p:cNvPr id="21" name="Highlight 1"/>
          <p:cNvSpPr/>
          <p:nvPr/>
        </p:nvSpPr>
        <p:spPr>
          <a:xfrm>
            <a:off x="1481328" y="4453128"/>
            <a:ext cx="14173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4315968"/>
            <a:ext cx="1417320" cy="822960"/>
          </a:xfrm>
          <a:prstGeom prst="rect">
            <a:avLst/>
          </a:prstGeom>
          <a:noFill/>
          <a:ln w="38100">
            <a:noFill/>
          </a:ln>
        </p:spPr>
        <p:txBody>
          <a:bodyPr wrap="square" lIns="73152" tIns="36576" rIns="73152" bIns="36576" rtlCol="0" anchor="ctr">
            <a:noAutofit/>
          </a:bodyPr>
          <a:lstStyle/>
          <a:p>
            <a:pPr algn="ctr" indent="0" marL="0">
              <a:buNone/>
            </a:pPr>
            <a:r>
              <a:rPr lang="en-US" sz="2600" dirty="0" b="1">
                <a:solidFill>
                  <a:srgbClr val="1B2236"/>
                </a:solidFill>
                <a:latin typeface="Lexend Deca" pitchFamily="34" charset="0"/>
                <a:ea typeface="Lexend Deca" pitchFamily="34" charset="-122"/>
                <a:cs typeface="Lexend Deca" pitchFamily="34" charset="-120"/>
              </a:rPr>
              <a:t>1</a:t>
            </a:r>
          </a:p>
        </p:txBody>
      </p:sp>
      <p:sp>
        <p:nvSpPr>
          <p:cNvPr id="23" name="Question 1"/>
          <p:cNvSpPr/>
          <p:nvPr/>
        </p:nvSpPr>
        <p:spPr>
          <a:xfrm>
            <a:off x="2944368" y="4315968"/>
            <a:ext cx="3063240" cy="822960"/>
          </a:xfrm>
          <a:prstGeom prst="rect">
            <a:avLst/>
          </a:prstGeom>
          <a:noFill/>
          <a:ln w="38100">
            <a:noFill/>
          </a:ln>
        </p:spPr>
        <p:txBody>
          <a:bodyPr wrap="square" lIns="73152" tIns="36576" rIns="73152" bIns="36576" rtlCol="0" anchor="ctr">
            <a:noAutofit/>
          </a:bodyP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 have sick.</a:t>
            </a:r>
          </a:p>
        </p:txBody>
      </p:sp>
      <p:sp>
        <p:nvSpPr>
          <p:cNvPr id="25" name="Answer bg 1"/>
          <p:cNvSpPr/>
          <p:nvPr/>
        </p:nvSpPr>
        <p:spPr>
          <a:xfrm>
            <a:off x="6949440" y="4334256"/>
            <a:ext cx="4526280" cy="786384"/>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Answer 1"/>
          <p:cNvSpPr/>
          <p:nvPr/>
        </p:nvSpPr>
        <p:spPr>
          <a:xfrm>
            <a:off x="6949440" y="4315968"/>
            <a:ext cx="4526280" cy="822960"/>
          </a:xfrm>
          <a:prstGeom prst="rect">
            <a:avLst/>
          </a:prstGeom>
          <a:noFill/>
          <a:ln w="38100">
            <a:noFill/>
          </a:ln>
        </p:spPr>
        <p:txBody>
          <a:bodyPr wrap="square" lIns="73152" tIns="36576" rIns="73152" bIns="36576" rtlCol="0" anchor="ctr">
            <a:noAutofit/>
          </a:bodyPr>
          <a:lstStyle/>
          <a:p>
            <a:pPr algn="l" indent="0" marL="0">
              <a:buNone/>
            </a:pPr>
            <a:r>
              <a:rPr lang="en-US" sz="2000" dirty="0" b="0">
                <a:solidFill>
                  <a:srgbClr val="1B2236"/>
                </a:solidFill>
                <a:latin typeface="Lexend Deca" pitchFamily="34" charset="0"/>
                <a:ea typeface="Lexend Deca" pitchFamily="34" charset="-122"/>
                <a:cs typeface="Lexend Deca" pitchFamily="34" charset="-120"/>
              </a:rPr>
              <a:t>I'm </a:t>
            </a:r>
            <a:r>
              <a:rPr lang="en-US" sz="2000" dirty="0" b="1">
                <a:solidFill>
                  <a:srgbClr val="5B3FC4"/>
                </a:solidFill>
                <a:latin typeface="Lexend Deca" pitchFamily="34" charset="0"/>
                <a:ea typeface="Lexend Deca" pitchFamily="34" charset="-122"/>
                <a:cs typeface="Lexend Deca" pitchFamily="34" charset="-120"/>
              </a:rPr>
              <a:t>sick.</a:t>
            </a:r>
            <a:r>
              <a:rPr lang="en-US" sz="2000" dirty="0" b="0">
                <a:solidFill>
                  <a:srgbClr val="1B2236"/>
                </a:solidFill>
                <a:latin typeface="Lexend Deca" pitchFamily="34" charset="0"/>
                <a:ea typeface="Lexend Deca" pitchFamily="34" charset="-122"/>
                <a:cs typeface="Lexend Deca" pitchFamily="34" charset="-120"/>
              </a:rPr>
              <a:t> I'm </a:t>
            </a:r>
            <a:r>
              <a:rPr lang="en-US" sz="2000" dirty="0" b="1">
                <a:solidFill>
                  <a:srgbClr val="5B3FC4"/>
                </a:solidFill>
                <a:latin typeface="Lexend Deca" pitchFamily="34" charset="0"/>
                <a:ea typeface="Lexend Deca" pitchFamily="34" charset="-122"/>
                <a:cs typeface="Lexend Deca" pitchFamily="34" charset="-120"/>
              </a:rPr>
              <a:t>tired.</a:t>
            </a:r>
          </a:p>
        </p:txBody>
      </p:sp>
      <p:sp>
        <p:nvSpPr>
          <p:cNvPr id="26" name="Highlight 2"/>
          <p:cNvSpPr/>
          <p:nvPr/>
        </p:nvSpPr>
        <p:spPr>
          <a:xfrm>
            <a:off x="1481328" y="5367528"/>
            <a:ext cx="14173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5230368"/>
            <a:ext cx="1417320" cy="822960"/>
          </a:xfrm>
          <a:prstGeom prst="rect">
            <a:avLst/>
          </a:prstGeom>
          <a:noFill/>
          <a:ln w="38100">
            <a:noFill/>
          </a:ln>
        </p:spPr>
        <p:txBody>
          <a:bodyPr wrap="square" lIns="73152" tIns="36576" rIns="73152" bIns="36576" rtlCol="0" anchor="ctr">
            <a:noAutofit/>
          </a:bodyPr>
          <a:lstStyle/>
          <a:p>
            <a:pPr algn="ctr" indent="0" marL="0">
              <a:buNone/>
            </a:pPr>
            <a:r>
              <a:rPr lang="en-US" sz="2600" dirty="0" b="1">
                <a:solidFill>
                  <a:srgbClr val="1B2236"/>
                </a:solidFill>
                <a:latin typeface="Lexend Deca" pitchFamily="34" charset="0"/>
                <a:ea typeface="Lexend Deca" pitchFamily="34" charset="-122"/>
                <a:cs typeface="Lexend Deca" pitchFamily="34" charset="-120"/>
              </a:rPr>
              <a:t>2</a:t>
            </a:r>
          </a:p>
        </p:txBody>
      </p:sp>
      <p:sp>
        <p:nvSpPr>
          <p:cNvPr id="28" name="Question 2"/>
          <p:cNvSpPr/>
          <p:nvPr/>
        </p:nvSpPr>
        <p:spPr>
          <a:xfrm>
            <a:off x="2944368" y="5230368"/>
            <a:ext cx="3063240" cy="822960"/>
          </a:xfrm>
          <a:prstGeom prst="rect">
            <a:avLst/>
          </a:prstGeom>
          <a:noFill/>
          <a:ln w="38100">
            <a:noFill/>
          </a:ln>
        </p:spPr>
        <p:txBody>
          <a:bodyPr wrap="square" lIns="73152" tIns="36576" rIns="73152" bIns="36576" rtlCol="0" anchor="ctr">
            <a:noAutofit/>
          </a:bodyP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My head hurts.</a:t>
            </a:r>
          </a:p>
        </p:txBody>
      </p:sp>
      <p:sp>
        <p:nvSpPr>
          <p:cNvPr id="30" name="Answer bg 2"/>
          <p:cNvSpPr/>
          <p:nvPr/>
        </p:nvSpPr>
        <p:spPr>
          <a:xfrm>
            <a:off x="6949440" y="5248656"/>
            <a:ext cx="4526280" cy="786384"/>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2"/>
          <p:cNvSpPr/>
          <p:nvPr/>
        </p:nvSpPr>
        <p:spPr>
          <a:xfrm>
            <a:off x="6949440" y="5230368"/>
            <a:ext cx="4526280" cy="82296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 hurts </a:t>
            </a:r>
            <a:r>
              <a:rPr lang="en-US" sz="2000" dirty="0" b="1">
                <a:solidFill>
                  <a:srgbClr val="5B3FC4"/>
                </a:solidFill>
                <a:latin typeface="Lexend Deca" pitchFamily="34" charset="0"/>
                <a:ea typeface="Lexend Deca" pitchFamily="34" charset="-122"/>
                <a:cs typeface="Lexend Deca" pitchFamily="34" charset="-120"/>
              </a:rPr>
              <a:t>here.</a:t>
            </a:r>
            <a:r>
              <a:rPr lang="en-US" sz="2000" dirty="0" b="1">
                <a:solidFill>
                  <a:srgbClr val="1B2236"/>
                </a:solidFill>
                <a:latin typeface="Lexend Deca" pitchFamily="34" charset="0"/>
                <a:ea typeface="Lexend Deca" pitchFamily="34" charset="-122"/>
                <a:cs typeface="Lexend Deca" pitchFamily="34" charset="-120"/>
              </a:rPr>
              <a:t> (point)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39496" y="1360627"/>
            <a:ext cx="3045866" cy="4995367"/>
          </a:xfrm>
          <a:prstGeom prst="rect">
            <a:avLst/>
          </a:prstGeom>
          <a:solidFill>
            <a:srgbClr val="B9D2F7"/>
          </a:solidFill>
          <a:ln/>
        </p:spPr>
        <p:txBody>
          <a:bodyPr/>
          <a:p/>
        </p:txBody>
      </p:sp>
      <p:pic>
        <p:nvPicPr>
          <p:cNvPr id="21" name="Doctor picture" descr="doctor"/>
          <p:cNvPicPr>
            <a:picLocks noChangeAspect="1"/>
          </p:cNvPicPr>
          <p:nvPr/>
        </p:nvPicPr>
        <p:blipFill>
          <a:blip r:embed="rIdImg1"/>
          <a:stretch>
            <a:fillRect/>
          </a:stretch>
        </p:blipFill>
        <p:spPr>
          <a:xfrm>
            <a:off x="649224" y="1616796"/>
            <a:ext cx="2826410" cy="1978487"/>
          </a:xfrm>
          <a:prstGeom prst="rect">
            <a:avLst/>
          </a:prstGeom>
        </p:spPr>
      </p:pic>
      <p:sp>
        <p:nvSpPr>
          <p:cNvPr id="4" name="Shape 2"/>
          <p:cNvSpPr/>
          <p:nvPr/>
        </p:nvSpPr>
        <p:spPr>
          <a:xfrm>
            <a:off x="4582058" y="4619549"/>
            <a:ext cx="4033418" cy="1492301"/>
          </a:xfrm>
          <a:prstGeom prst="round1Rect">
            <a:avLst>
              <a:gd name="adj" fmla="val 23087"/>
            </a:avLst>
          </a:prstGeom>
          <a:solidFill>
            <a:srgbClr val="8FAFE3"/>
          </a:solidFill>
          <a:ln/>
        </p:spPr>
        <p:txBody>
          <a:bodyPr/>
          <a:p/>
        </p:txBody>
      </p:sp>
      <p:sp>
        <p:nvSpPr>
          <p:cNvPr id="5" name="Shape 3"/>
          <p:cNvSpPr/>
          <p:nvPr/>
        </p:nvSpPr>
        <p:spPr>
          <a:xfrm>
            <a:off x="4508906" y="4572000"/>
            <a:ext cx="4033418" cy="1492301"/>
          </a:xfrm>
          <a:prstGeom prst="round1Rect">
            <a:avLst>
              <a:gd name="adj" fmla="val 23087"/>
            </a:avLst>
          </a:prstGeom>
          <a:solidFill>
            <a:srgbClr val="B9D2F7"/>
          </a:solidFill>
          <a:ln/>
        </p:spPr>
        <p:txBody>
          <a:bodyPr/>
          <a:p/>
        </p:txBody>
      </p:sp>
      <p:sp>
        <p:nvSpPr>
          <p:cNvPr id="6" name="Shape 4"/>
          <p:cNvSpPr/>
          <p:nvPr/>
        </p:nvSpPr>
        <p:spPr>
          <a:xfrm>
            <a:off x="4395201" y="1473464"/>
            <a:ext cx="7210044" cy="1331366"/>
          </a:xfrm>
          <a:prstGeom prst="roundRect">
            <a:avLst>
              <a:gd name="adj" fmla="val 16667"/>
            </a:avLst>
          </a:prstGeom>
          <a:solidFill>
            <a:srgbClr val="8FAFE3"/>
          </a:solidFill>
          <a:ln/>
        </p:spPr>
        <p:txBody>
          <a:bodyPr/>
          <a:p/>
        </p:txBody>
      </p:sp>
      <p:sp>
        <p:nvSpPr>
          <p:cNvPr id="7" name="Shape 5"/>
          <p:cNvSpPr/>
          <p:nvPr/>
        </p:nvSpPr>
        <p:spPr>
          <a:xfrm>
            <a:off x="4437583" y="1419149"/>
            <a:ext cx="7210044" cy="1331366"/>
          </a:xfrm>
          <a:prstGeom prst="roundRect">
            <a:avLst>
              <a:gd name="adj" fmla="val 16667"/>
            </a:avLst>
          </a:prstGeom>
          <a:solidFill>
            <a:srgbClr val="FFFFFF"/>
          </a:solidFill>
          <a:ln/>
        </p:spPr>
        <p:txBody>
          <a:bodyPr/>
          <a:p/>
        </p:txBody>
      </p:sp>
      <p:sp>
        <p:nvSpPr>
          <p:cNvPr id="8" name="Text 6"/>
          <p:cNvSpPr/>
          <p:nvPr/>
        </p:nvSpPr>
        <p:spPr>
          <a:xfrm>
            <a:off x="4800600" y="1481328"/>
            <a:ext cx="6583680" cy="123444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3</a:t>
            </a:r>
          </a:p>
          <a:p>
            <a:pPr algn="l" indent="0" marL="0">
              <a:buNone/>
            </a:pPr>
            <a:r>
              <a:rPr lang="en-US" sz="3400" dirty="0" b="1">
                <a:solidFill>
                  <a:srgbClr val="1B2236"/>
                </a:solidFill>
                <a:latin typeface="Lexend Deca" pitchFamily="34" charset="0"/>
                <a:ea typeface="Lexend Deca" pitchFamily="34" charset="-122"/>
                <a:cs typeface="Lexend Deca" pitchFamily="34" charset="-120"/>
              </a:rPr>
              <a:t>Help Commands</a:t>
            </a:r>
          </a:p>
        </p:txBody>
      </p:sp>
      <p:sp>
        <p:nvSpPr>
          <p:cNvPr id="9" name="Text 7"/>
          <p:cNvSpPr/>
          <p:nvPr/>
        </p:nvSpPr>
        <p:spPr>
          <a:xfrm>
            <a:off x="4713732" y="3063240"/>
            <a:ext cx="4206240" cy="502920"/>
          </a:xfrm>
          <a:prstGeom prst="rect">
            <a:avLst/>
          </a:prstGeom>
          <a:noFill/>
          <a:ln/>
        </p:spPr>
        <p:txBody>
          <a:bodyPr wrap="square" lIns="0" tIns="0" rIns="0" bIns="0" rtlCol="0" anchor="ctr"/>
          <a:lstStyle/>
          <a:p>
            <a:pPr algn="l" indent="0" marL="0">
              <a:buNone/>
            </a:pPr>
            <a:r>
              <a:rPr lang="en-US" sz="2100" dirty="0" b="1">
                <a:solidFill>
                  <a:srgbClr val="1B2236"/>
                </a:solidFill>
                <a:latin typeface="Lexend Deca" pitchFamily="34" charset="0"/>
                <a:ea typeface="Lexend Deca" pitchFamily="34" charset="-122"/>
                <a:cs typeface="Lexend Deca" pitchFamily="34" charset="-120"/>
              </a:rPr>
              <a:t>Say:</a:t>
            </a:r>
          </a:p>
        </p:txBody>
      </p:sp>
      <p:sp>
        <p:nvSpPr>
          <p:cNvPr id="10" name="Text 8"/>
          <p:cNvSpPr/>
          <p:nvPr/>
        </p:nvSpPr>
        <p:spPr>
          <a:xfrm>
            <a:off x="4713732" y="3611880"/>
            <a:ext cx="4206240" cy="868680"/>
          </a:xfrm>
          <a:prstGeom prst="rect">
            <a:avLst/>
          </a:prstGeom>
          <a:noFill/>
          <a:ln/>
        </p:spPr>
        <p:txBody>
          <a:bodyPr wrap="square" lIns="0" tIns="0" rIns="0" bIns="0" rtlCol="0" anchor="t"/>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Call 911.</a:t>
            </a:r>
          </a:p>
          <a:p>
            <a:pPr algn="l" indent="0" marL="0">
              <a:buNone/>
            </a:pPr>
            <a:r>
              <a:rPr lang="en-US" sz="2200" dirty="0" b="1">
                <a:solidFill>
                  <a:srgbClr val="5B3FC4"/>
                </a:solidFill>
                <a:latin typeface="Lexend Deca" pitchFamily="34" charset="0"/>
                <a:ea typeface="Lexend Deca" pitchFamily="34" charset="-122"/>
                <a:cs typeface="Lexend Deca" pitchFamily="34" charset="-120"/>
              </a:rPr>
              <a:t>Sit down.</a:t>
            </a:r>
          </a:p>
        </p:txBody>
      </p:sp>
      <p:sp>
        <p:nvSpPr>
          <p:cNvPr id="11" name="Text 9"/>
          <p:cNvSpPr/>
          <p:nvPr/>
        </p:nvSpPr>
        <p:spPr>
          <a:xfrm>
            <a:off x="4713732" y="4663440"/>
            <a:ext cx="3840480" cy="502920"/>
          </a:xfrm>
          <a:prstGeom prst="rect">
            <a:avLst/>
          </a:prstGeom>
          <a:noFill/>
          <a:ln/>
        </p:spPr>
        <p:txBody>
          <a:bodyPr wrap="square" lIns="0" tIns="0" rIns="0" bIns="0"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Say:</a:t>
            </a:r>
          </a:p>
        </p:txBody>
      </p:sp>
      <p:sp>
        <p:nvSpPr>
          <p:cNvPr id="12" name="Text 10"/>
          <p:cNvSpPr/>
          <p:nvPr/>
        </p:nvSpPr>
        <p:spPr>
          <a:xfrm>
            <a:off x="4713732" y="5193792"/>
            <a:ext cx="3749040" cy="822960"/>
          </a:xfrm>
          <a:prstGeom prst="rect">
            <a:avLst/>
          </a:prstGeom>
          <a:noFill/>
          <a:ln/>
        </p:spPr>
        <p:txBody>
          <a:bodyPr wrap="square" lIns="0" tIns="0" rIns="0" bIns="0" rtlCol="0" anchor="t"/>
          <a:lstStyle/>
          <a:p>
            <a:pPr algn="l" indent="0" marL="0">
              <a:buNone/>
            </a:pPr>
            <a:r>
              <a:rPr lang="en-US" sz="2000" dirty="0" b="0">
                <a:solidFill>
                  <a:srgbClr val="1B2236"/>
                </a:solidFill>
                <a:latin typeface="Lexend Deca" pitchFamily="34" charset="0"/>
                <a:ea typeface="Lexend Deca" pitchFamily="34" charset="-122"/>
                <a:cs typeface="Lexend Deca" pitchFamily="34" charset="-120"/>
              </a:rPr>
              <a:t>Go to the </a:t>
            </a:r>
            <a:r>
              <a:rPr lang="en-US" sz="2000" dirty="0" b="1">
                <a:solidFill>
                  <a:srgbClr val="5B3FC4"/>
                </a:solidFill>
                <a:latin typeface="Lexend Deca" pitchFamily="34" charset="0"/>
                <a:ea typeface="Lexend Deca" pitchFamily="34" charset="-122"/>
                <a:cs typeface="Lexend Deca" pitchFamily="34" charset="-120"/>
              </a:rPr>
              <a:t>doctor.</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I need </a:t>
            </a:r>
            <a:r>
              <a:rPr lang="en-US" sz="2000" dirty="0" b="1">
                <a:solidFill>
                  <a:srgbClr val="5B3FC4"/>
                </a:solidFill>
                <a:latin typeface="Lexend Deca" pitchFamily="34" charset="0"/>
                <a:ea typeface="Lexend Deca" pitchFamily="34" charset="-122"/>
                <a:cs typeface="Lexend Deca" pitchFamily="34" charset="-120"/>
              </a:rPr>
              <a:t>help.</a:t>
            </a:r>
            <a:r>
              <a:rPr lang="en-US" sz="2000" dirty="0" b="0">
                <a:solidFill>
                  <a:srgbClr val="1B2236"/>
                </a:solidFill>
                <a:latin typeface="Lexend Deca" pitchFamily="34" charset="0"/>
                <a:ea typeface="Lexend Deca" pitchFamily="34" charset="-122"/>
                <a:cs typeface="Lexend Deca" pitchFamily="34" charset="-120"/>
              </a:rPr>
              <a:t> / </a:t>
            </a:r>
            <a:r>
              <a:rPr lang="en-US" sz="2000" dirty="0" b="1">
                <a:solidFill>
                  <a:srgbClr val="5B3FC4"/>
                </a:solidFill>
                <a:latin typeface="Lexend Deca" pitchFamily="34" charset="0"/>
                <a:ea typeface="Lexend Deca" pitchFamily="34" charset="-122"/>
                <a:cs typeface="Lexend Deca" pitchFamily="34" charset="-120"/>
              </a:rPr>
              <a:t>a doctor.</a:t>
            </a:r>
          </a:p>
        </p:txBody>
      </p:sp>
      <p:sp>
        <p:nvSpPr>
          <p:cNvPr id="13" name="Text 11"/>
          <p:cNvSpPr/>
          <p:nvPr/>
        </p:nvSpPr>
        <p:spPr>
          <a:xfrm>
            <a:off x="8915400" y="3108960"/>
            <a:ext cx="2697480" cy="1234440"/>
          </a:xfrm>
          <a:prstGeom prst="rect">
            <a:avLst/>
          </a:prstGeom>
          <a:noFill/>
          <a:ln/>
        </p:spPr>
        <p:txBody>
          <a:bodyPr wrap="square" lIns="0" tIns="0" rIns="0" bIns="0" rtlCol="0" anchor="ctr"/>
          <a:lstStyle/>
          <a:p>
            <a:pPr algn="ctr" indent="0" marL="0">
              <a:buNone/>
            </a:pPr>
            <a:r>
              <a:rPr lang="en-US" sz="3800" dirty="0" b="1">
                <a:solidFill>
                  <a:srgbClr val="5B3FC4"/>
                </a:solidFill>
                <a:latin typeface="Lexend Deca" pitchFamily="34" charset="0"/>
                <a:ea typeface="Lexend Deca" pitchFamily="34" charset="-122"/>
                <a:cs typeface="Lexend Deca" pitchFamily="34" charset="-120"/>
              </a:rPr>
              <a:t>Call 911.</a:t>
            </a:r>
          </a:p>
          <a:p>
            <a:pPr algn="ctr" indent="0" marL="0">
              <a:buNone/>
            </a:pPr>
            <a:r>
              <a:rPr lang="en-US" sz="2000" dirty="0" b="1">
                <a:solidFill>
                  <a:srgbClr val="1B2236"/>
                </a:solidFill>
                <a:latin typeface="Lexend Deca" pitchFamily="34" charset="0"/>
                <a:ea typeface="Lexend Deca" pitchFamily="34" charset="-122"/>
                <a:cs typeface="Lexend Deca" pitchFamily="34" charset="-120"/>
              </a:rPr>
              <a:t>Sit down.</a:t>
            </a:r>
          </a:p>
        </p:txBody>
      </p:sp>
      <p:sp>
        <p:nvSpPr>
          <p:cNvPr id="17" name="Text 15"/>
          <p:cNvSpPr/>
          <p:nvPr/>
        </p:nvSpPr>
        <p:spPr>
          <a:xfrm>
            <a:off x="8915400" y="4709160"/>
            <a:ext cx="2697480" cy="1234440"/>
          </a:xfrm>
          <a:prstGeom prst="rect">
            <a:avLst/>
          </a:prstGeom>
          <a:noFill/>
          <a:ln/>
        </p:spPr>
        <p:txBody>
          <a:bodyPr wrap="square" lIns="0" tIns="0" rIns="0" bIns="0" rtlCol="0" anchor="ctr"/>
          <a:lstStyle/>
          <a:p>
            <a:pPr algn="ctr" indent="0" marL="0">
              <a:buNone/>
            </a:pPr>
            <a:r>
              <a:rPr lang="en-US" sz="3000" dirty="0" b="1">
                <a:solidFill>
                  <a:srgbClr val="5B3FC4"/>
                </a:solidFill>
                <a:latin typeface="Lexend Deca" pitchFamily="34" charset="0"/>
                <a:ea typeface="Lexend Deca" pitchFamily="34" charset="-122"/>
                <a:cs typeface="Lexend Deca" pitchFamily="34" charset="-120"/>
              </a:rPr>
              <a:t>Go to</a:t>
            </a:r>
          </a:p>
          <a:p>
            <a:pPr algn="ctr" indent="0" marL="0">
              <a:buNone/>
            </a:pPr>
            <a:r>
              <a:rPr lang="en-US" sz="3000" dirty="0" b="1">
                <a:solidFill>
                  <a:srgbClr val="5B3FC4"/>
                </a:solidFill>
                <a:latin typeface="Lexend Deca" pitchFamily="34" charset="0"/>
                <a:ea typeface="Lexend Deca" pitchFamily="34" charset="-122"/>
                <a:cs typeface="Lexend Deca" pitchFamily="34" charset="-120"/>
              </a:rPr>
              <a:t>the doctor.</a:t>
            </a:r>
          </a:p>
        </p:txBody>
      </p:sp>
      <p:pic>
        <p:nvPicPr>
          <p:cNvPr id="96" name="Sick picture" descr="sick"/>
          <p:cNvPicPr>
            <a:picLocks noChangeAspect="1"/>
          </p:cNvPicPr>
          <p:nvPr/>
        </p:nvPicPr>
        <p:blipFill>
          <a:blip r:embed="rIdImg2"/>
          <a:stretch>
            <a:fillRect/>
          </a:stretch>
        </p:blipFill>
        <p:spPr>
          <a:xfrm>
            <a:off x="649224" y="4039956"/>
            <a:ext cx="2826410" cy="19784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1508760"/>
          </a:xfrm>
          <a:prstGeom prst="round1Rect">
            <a:avLst>
              <a:gd name="adj" fmla="val 23087"/>
            </a:avLst>
          </a:prstGeom>
          <a:solidFill>
            <a:srgbClr val="FFFFFF"/>
          </a:solidFill>
          <a:ln/>
        </p:spPr>
        <p:txBody>
          <a:bodyPr/>
          <a:p/>
        </p:txBody>
      </p:sp>
      <p:sp>
        <p:nvSpPr>
          <p:cNvPr id="5" name="Shape 3"/>
          <p:cNvSpPr/>
          <p:nvPr/>
        </p:nvSpPr>
        <p:spPr>
          <a:xfrm>
            <a:off x="1583741" y="4041648"/>
            <a:ext cx="5130698" cy="1508760"/>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 Check. Say.</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does Rosa say?</a:t>
            </a:r>
          </a:p>
        </p:txBody>
      </p:sp>
      <p:sp>
        <p:nvSpPr>
          <p:cNvPr id="11" name="Text 9"/>
          <p:cNvSpPr/>
          <p:nvPr/>
        </p:nvSpPr>
        <p:spPr>
          <a:xfrm>
            <a:off x="1810512" y="2423160"/>
            <a:ext cx="2560320" cy="1417320"/>
          </a:xfrm>
          <a:prstGeom prst="rect">
            <a:avLst/>
          </a:prstGeom>
          <a:noFill/>
          <a:ln/>
        </p:spPr>
        <p:txBody>
          <a:bodyPr wrap="square" rtlCol="0" anchor="ctr" tIns="0" bIns="0"/>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C. Check ✓:</a:t>
            </a:r>
          </a:p>
          <a:p>
            <a:pPr algn="l" indent="0" marL="0">
              <a:buNone/>
            </a:pPr>
            <a:r>
              <a:rPr lang="en-US" sz="1600" dirty="0" b="1">
                <a:solidFill>
                  <a:srgbClr val="1B2236"/>
                </a:solidFill>
                <a:latin typeface="Lexend Deca" pitchFamily="34" charset="0"/>
                <a:ea typeface="Lexend Deca" pitchFamily="34" charset="-122"/>
                <a:cs typeface="Lexend Deca" pitchFamily="34" charset="-120"/>
              </a:rPr>
              <a:t>Sit down   Go home</a:t>
            </a:r>
          </a:p>
          <a:p>
            <a:pPr algn="l" indent="0" marL="0">
              <a:buNone/>
            </a:pPr>
            <a:r>
              <a:rPr lang="en-US" sz="1600" dirty="0" b="1">
                <a:solidFill>
                  <a:srgbClr val="1B2236"/>
                </a:solidFill>
                <a:latin typeface="Lexend Deca" pitchFamily="34" charset="0"/>
                <a:ea typeface="Lexend Deca" pitchFamily="34" charset="-122"/>
                <a:cs typeface="Lexend Deca" pitchFamily="34" charset="-120"/>
              </a:rPr>
              <a:t>Call the doctor</a:t>
            </a:r>
          </a:p>
          <a:p>
            <a:pPr algn="l" indent="0" marL="0">
              <a:buNone/>
            </a:pPr>
            <a:r>
              <a:rPr lang="en-US" sz="1600" dirty="0" b="1">
                <a:solidFill>
                  <a:srgbClr val="1B2236"/>
                </a:solidFill>
                <a:latin typeface="Lexend Deca" pitchFamily="34" charset="0"/>
                <a:ea typeface="Lexend Deca" pitchFamily="34" charset="-122"/>
                <a:cs typeface="Lexend Deca" pitchFamily="34" charset="-120"/>
              </a:rPr>
              <a:t>Call 911</a:t>
            </a:r>
          </a:p>
        </p:txBody>
      </p:sp>
      <p:sp>
        <p:nvSpPr>
          <p:cNvPr id="13" name="Text 11"/>
          <p:cNvSpPr/>
          <p:nvPr/>
        </p:nvSpPr>
        <p:spPr>
          <a:xfrm>
            <a:off x="1810512" y="4041648"/>
            <a:ext cx="2560320" cy="1417320"/>
          </a:xfrm>
          <a:prstGeom prst="rect">
            <a:avLst/>
          </a:prstGeom>
          <a:noFill/>
          <a:ln/>
        </p:spPr>
        <p:txBody>
          <a:bodyPr wrap="square" rtlCol="0" anchor="ctr" tIns="0" bIns="0"/>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D. A asks:</a:t>
            </a:r>
          </a:p>
          <a:p>
            <a:pPr algn="l" indent="0" marL="0">
              <a:buNone/>
            </a:pPr>
            <a:r>
              <a:rPr lang="en-US" sz="1600" dirty="0" b="1">
                <a:solidFill>
                  <a:srgbClr val="1B2236"/>
                </a:solidFill>
                <a:latin typeface="Lexend Deca" pitchFamily="34" charset="0"/>
                <a:ea typeface="Lexend Deca" pitchFamily="34" charset="-122"/>
                <a:cs typeface="Lexend Deca" pitchFamily="34" charset="-120"/>
              </a:rPr>
              <a:t>Are you OK?</a:t>
            </a:r>
          </a:p>
          <a:p>
            <a:pPr algn="l" indent="0" marL="0">
              <a:buNone/>
            </a:pPr>
            <a:r>
              <a:rPr lang="en-US" sz="1600" dirty="0" b="1">
                <a:solidFill>
                  <a:srgbClr val="1B2236"/>
                </a:solidFill>
                <a:latin typeface="Lexend Deca" pitchFamily="34" charset="0"/>
                <a:ea typeface="Lexend Deca" pitchFamily="34" charset="-122"/>
                <a:cs typeface="Lexend Deca" pitchFamily="34" charset="-120"/>
              </a:rPr>
              <a:t>Where does it hurt?</a:t>
            </a:r>
          </a:p>
        </p:txBody>
      </p:sp>
      <p:sp>
        <p:nvSpPr>
          <p:cNvPr id="21" name="Shape 19"/>
          <p:cNvSpPr/>
          <p:nvPr/>
        </p:nvSpPr>
        <p:spPr>
          <a:xfrm>
            <a:off x="544982" y="2395728"/>
            <a:ext cx="1039673" cy="1508760"/>
          </a:xfrm>
          <a:prstGeom prst="rect">
            <a:avLst/>
          </a:prstGeom>
          <a:solidFill>
            <a:srgbClr val="B9D2F7"/>
          </a:solidFill>
          <a:ln/>
        </p:spPr>
        <p:txBody>
          <a:bodyPr/>
          <a:p/>
        </p:txBody>
      </p:sp>
      <p:sp>
        <p:nvSpPr>
          <p:cNvPr id="22" name="Text 20"/>
          <p:cNvSpPr/>
          <p:nvPr/>
        </p:nvSpPr>
        <p:spPr>
          <a:xfrm>
            <a:off x="686714" y="285292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4041648"/>
            <a:ext cx="1039673" cy="1508760"/>
          </a:xfrm>
          <a:prstGeom prst="rect">
            <a:avLst/>
          </a:prstGeom>
          <a:solidFill>
            <a:srgbClr val="B9D2F7"/>
          </a:solidFill>
          <a:ln/>
        </p:spPr>
        <p:txBody>
          <a:bodyPr/>
          <a:p/>
        </p:txBody>
      </p:sp>
      <p:sp>
        <p:nvSpPr>
          <p:cNvPr id="24" name="Text 22"/>
          <p:cNvSpPr/>
          <p:nvPr/>
        </p:nvSpPr>
        <p:spPr>
          <a:xfrm>
            <a:off x="686714" y="449884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 + D</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 </a:t>
            </a:r>
            <a:r>
              <a:rPr lang="en-US" sz="2000" dirty="0" b="1">
                <a:solidFill>
                  <a:srgbClr val="5B3FC4"/>
                </a:solidFill>
                <a:latin typeface="Lexend Deca" pitchFamily="34" charset="0"/>
                <a:ea typeface="Lexend Deca" pitchFamily="34" charset="-122"/>
                <a:cs typeface="Lexend Deca" pitchFamily="34" charset="-120"/>
              </a:rPr>
              <a:t>check ✓ what Rosa says.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D: </a:t>
            </a:r>
            <a:r>
              <a:rPr lang="en-US" sz="2000" dirty="0" b="1">
                <a:solidFill>
                  <a:srgbClr val="5B3FC4"/>
                </a:solidFill>
                <a:latin typeface="Lexend Deca" pitchFamily="34" charset="0"/>
                <a:ea typeface="Lexend Deca" pitchFamily="34" charset="-122"/>
                <a:cs typeface="Lexend Deca" pitchFamily="34" charset="-120"/>
              </a:rPr>
              <a:t>A asks. B answers.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then switch.</a:t>
            </a:r>
          </a:p>
        </p:txBody>
      </p:sp>
      <p:sp>
        <p:nvSpPr>
          <p:cNvPr id="34" name="Answer 1"/>
          <p:cNvSpPr/>
          <p:nvPr/>
        </p:nvSpPr>
        <p:spPr>
          <a:xfrm>
            <a:off x="4434840" y="2514600"/>
            <a:ext cx="2240280" cy="128016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 Sit down</a:t>
            </a:r>
          </a:p>
          <a:p>
            <a:pPr algn="ctr" indent="0" marL="0">
              <a:buNone/>
            </a:pPr>
            <a:r>
              <a:rPr lang="en-US" sz="1600" dirty="0" b="1">
                <a:solidFill>
                  <a:srgbClr val="1B2236"/>
                </a:solidFill>
                <a:latin typeface="Lexend Deca" pitchFamily="34" charset="0"/>
                <a:ea typeface="Lexend Deca" pitchFamily="34" charset="-122"/>
                <a:cs typeface="Lexend Deca" pitchFamily="34" charset="-120"/>
              </a:rPr>
              <a:t>✓ Go home</a:t>
            </a:r>
          </a:p>
          <a:p>
            <a:pPr algn="ctr" indent="0" marL="0">
              <a:buNone/>
            </a:pPr>
            <a:r>
              <a:rPr lang="en-US" sz="1600" dirty="0" b="1">
                <a:solidFill>
                  <a:srgbClr val="1B2236"/>
                </a:solidFill>
                <a:latin typeface="Lexend Deca" pitchFamily="34" charset="0"/>
                <a:ea typeface="Lexend Deca" pitchFamily="34" charset="-122"/>
                <a:cs typeface="Lexend Deca" pitchFamily="34" charset="-120"/>
              </a:rPr>
              <a:t>✓ Call the doctor</a:t>
            </a:r>
          </a:p>
        </p:txBody>
      </p:sp>
      <p:sp>
        <p:nvSpPr>
          <p:cNvPr id="35" name="Answer 2"/>
          <p:cNvSpPr/>
          <p:nvPr/>
        </p:nvSpPr>
        <p:spPr>
          <a:xfrm>
            <a:off x="4434840" y="4160520"/>
            <a:ext cx="2240280" cy="128016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No, I'm not.</a:t>
            </a:r>
          </a:p>
          <a:p>
            <a:pPr algn="ctr" indent="0" marL="0">
              <a:buNone/>
            </a:pPr>
            <a:r>
              <a:rPr lang="en-US" sz="1600" dirty="0" b="1">
                <a:solidFill>
                  <a:srgbClr val="1B2236"/>
                </a:solidFill>
                <a:latin typeface="Lexend Deca" pitchFamily="34" charset="0"/>
                <a:ea typeface="Lexend Deca" pitchFamily="34" charset="-122"/>
                <a:cs typeface="Lexend Deca" pitchFamily="34" charset="-120"/>
              </a:rPr>
              <a:t>I feel sick.</a:t>
            </a:r>
          </a:p>
          <a:p>
            <a:pPr algn="ctr" indent="0" marL="0">
              <a:buNone/>
            </a:pPr>
            <a:r>
              <a:rPr lang="en-US" sz="1600" dirty="0" b="1">
                <a:solidFill>
                  <a:srgbClr val="1B2236"/>
                </a:solidFill>
                <a:latin typeface="Lexend Deca" pitchFamily="34" charset="0"/>
                <a:ea typeface="Lexend Deca" pitchFamily="34" charset="-122"/>
                <a:cs typeface="Lexend Deca" pitchFamily="34" charset="-120"/>
              </a:rPr>
              <a:t>Here. My stomach.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3429000"/>
          </a:xfrm>
          <a:prstGeom prst="rect">
            <a:avLst/>
          </a:prstGeom>
          <a:solidFill>
            <a:srgbClr val="B9D2F7"/>
          </a:solidFill>
          <a:ln/>
        </p:spPr>
        <p:txBody>
          <a:bodyPr/>
          <a:p/>
        </p:txBody>
      </p:sp>
      <p:sp>
        <p:nvSpPr>
          <p:cNvPr id="5" name="Shape 3"/>
          <p:cNvSpPr/>
          <p:nvPr/>
        </p:nvSpPr>
        <p:spPr>
          <a:xfrm flipH="1">
            <a:off x="501091" y="2798064"/>
            <a:ext cx="4526280" cy="3429000"/>
          </a:xfrm>
          <a:prstGeom prst="round1Rect">
            <a:avLst>
              <a:gd name="adj" fmla="val 23087"/>
            </a:avLst>
          </a:prstGeom>
          <a:solidFill>
            <a:srgbClr val="8FAFE3"/>
          </a:solidFill>
          <a:ln/>
        </p:spPr>
        <p:txBody>
          <a:bodyPr/>
          <a:p/>
        </p:txBody>
      </p:sp>
      <p:sp>
        <p:nvSpPr>
          <p:cNvPr id="6" name="Shape 4"/>
          <p:cNvSpPr/>
          <p:nvPr/>
        </p:nvSpPr>
        <p:spPr>
          <a:xfrm flipH="1">
            <a:off x="5217566" y="2806294"/>
            <a:ext cx="5440680" cy="3429000"/>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2606040"/>
            <a:ext cx="4526280" cy="3429000"/>
          </a:xfrm>
          <a:prstGeom prst="round1Rect">
            <a:avLst>
              <a:gd name="adj" fmla="val 23087"/>
            </a:avLst>
          </a:prstGeom>
          <a:solidFill>
            <a:srgbClr val="FFFFFF"/>
          </a:solidFill>
          <a:ln/>
        </p:spPr>
        <p:txBody>
          <a:bodyPr/>
          <a:p/>
        </p:txBody>
      </p:sp>
      <p:sp>
        <p:nvSpPr>
          <p:cNvPr id="10" name="Shape 8"/>
          <p:cNvSpPr/>
          <p:nvPr/>
        </p:nvSpPr>
        <p:spPr>
          <a:xfrm flipH="1">
            <a:off x="5349240" y="2606040"/>
            <a:ext cx="5440680" cy="3429000"/>
          </a:xfrm>
          <a:prstGeom prst="round1Rect">
            <a:avLst>
              <a:gd name="adj" fmla="val 23087"/>
            </a:avLst>
          </a:prstGeom>
          <a:solidFill>
            <a:srgbClr val="FFFFFF"/>
          </a:solidFill>
          <a:ln/>
        </p:spPr>
        <p:txBody>
          <a:bodyPr/>
          <a:p/>
        </p:txBody>
      </p:sp>
      <p:sp>
        <p:nvSpPr>
          <p:cNvPr id="11" name="Text 9"/>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a:p>
        </p:txBody>
      </p:sp>
      <p:pic>
        <p:nvPicPr>
          <p:cNvPr id="21" name="Sick picture" descr="sick"/>
          <p:cNvPicPr>
            <a:picLocks noChangeAspect="1"/>
          </p:cNvPicPr>
          <p:nvPr/>
        </p:nvPicPr>
        <p:blipFill>
          <a:blip r:embed="rIdImg1"/>
          <a:stretch>
            <a:fillRect/>
          </a:stretch>
        </p:blipFill>
        <p:spPr>
          <a:xfrm>
            <a:off x="9124406" y="1188720"/>
            <a:ext cx="1959429" cy="1371600"/>
          </a:xfrm>
          <a:prstGeom prst="rect">
            <a:avLst/>
          </a:prstGeom>
        </p:spPr>
      </p:pic>
      <p:sp>
        <p:nvSpPr>
          <p:cNvPr id="22" name="Dont head"/>
          <p:cNvSpPr/>
          <p:nvPr/>
        </p:nvSpPr>
        <p:spPr>
          <a:xfrm>
            <a:off x="914400" y="2697480"/>
            <a:ext cx="40233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5577840" y="2697480"/>
            <a:ext cx="49377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320040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have sick.</a:t>
            </a:r>
          </a:p>
        </p:txBody>
      </p:sp>
      <p:sp>
        <p:nvSpPr>
          <p:cNvPr id="25" name="Good 1"/>
          <p:cNvSpPr/>
          <p:nvPr/>
        </p:nvSpPr>
        <p:spPr>
          <a:xfrm>
            <a:off x="5577840" y="320040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I'm </a:t>
            </a:r>
            <a:r>
              <a:rPr lang="en-US" sz="2000" dirty="0" b="1">
                <a:solidFill>
                  <a:srgbClr val="5B3FC4"/>
                </a:solidFill>
                <a:latin typeface="Lexend Deca" pitchFamily="34" charset="0"/>
                <a:ea typeface="Lexend Deca" pitchFamily="34" charset="-122"/>
                <a:cs typeface="Lexend Deca" pitchFamily="34" charset="-120"/>
              </a:rPr>
              <a:t>sick.</a:t>
            </a:r>
          </a:p>
        </p:txBody>
      </p:sp>
      <p:sp>
        <p:nvSpPr>
          <p:cNvPr id="26" name="Bad 2"/>
          <p:cNvSpPr/>
          <p:nvPr/>
        </p:nvSpPr>
        <p:spPr>
          <a:xfrm>
            <a:off x="914400" y="370332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have hungry.</a:t>
            </a:r>
          </a:p>
        </p:txBody>
      </p:sp>
      <p:sp>
        <p:nvSpPr>
          <p:cNvPr id="27" name="Good 2"/>
          <p:cNvSpPr/>
          <p:nvPr/>
        </p:nvSpPr>
        <p:spPr>
          <a:xfrm>
            <a:off x="5577840" y="370332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I'm </a:t>
            </a:r>
            <a:r>
              <a:rPr lang="en-US" sz="2000" dirty="0" b="1">
                <a:solidFill>
                  <a:srgbClr val="5B3FC4"/>
                </a:solidFill>
                <a:latin typeface="Lexend Deca" pitchFamily="34" charset="0"/>
                <a:ea typeface="Lexend Deca" pitchFamily="34" charset="-122"/>
                <a:cs typeface="Lexend Deca" pitchFamily="34" charset="-120"/>
              </a:rPr>
              <a:t>hungry.</a:t>
            </a:r>
          </a:p>
        </p:txBody>
      </p:sp>
      <p:sp>
        <p:nvSpPr>
          <p:cNvPr id="28" name="Bad 3"/>
          <p:cNvSpPr/>
          <p:nvPr/>
        </p:nvSpPr>
        <p:spPr>
          <a:xfrm>
            <a:off x="914400" y="420624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Call to 911.</a:t>
            </a:r>
          </a:p>
        </p:txBody>
      </p:sp>
      <p:sp>
        <p:nvSpPr>
          <p:cNvPr id="29" name="Good 3"/>
          <p:cNvSpPr/>
          <p:nvPr/>
        </p:nvSpPr>
        <p:spPr>
          <a:xfrm>
            <a:off x="5577840" y="420624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Call </a:t>
            </a:r>
            <a:r>
              <a:rPr lang="en-US" sz="2000" dirty="0" b="1">
                <a:solidFill>
                  <a:srgbClr val="5B3FC4"/>
                </a:solidFill>
                <a:latin typeface="Lexend Deca" pitchFamily="34" charset="0"/>
                <a:ea typeface="Lexend Deca" pitchFamily="34" charset="-122"/>
                <a:cs typeface="Lexend Deca" pitchFamily="34" charset="-120"/>
              </a:rPr>
              <a:t>911.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Sick picture" descr="sick"/>
          <p:cNvPicPr>
            <a:picLocks noChangeAspect="1"/>
          </p:cNvPicPr>
          <p:nvPr/>
        </p:nvPicPr>
        <p:blipFill>
          <a:blip r:embed="rIdImg1"/>
          <a:stretch>
            <a:fillRect/>
          </a:stretch>
        </p:blipFill>
        <p:spPr>
          <a:xfrm>
            <a:off x="502920" y="3168396"/>
            <a:ext cx="4663440" cy="3264408"/>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Text 5"/>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Are you OK?</a:t>
            </a:r>
          </a:p>
        </p:txBody>
      </p:sp>
      <p:sp>
        <p:nvSpPr>
          <p:cNvPr id="8" name="Text 6"/>
          <p:cNvSpPr/>
          <p:nvPr/>
        </p:nvSpPr>
        <p:spPr>
          <a:xfrm>
            <a:off x="6035040" y="1783080"/>
            <a:ext cx="356616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A–B pairs.</a:t>
            </a:r>
          </a:p>
          <a:p>
            <a:pPr algn="l" indent="0" marL="0">
              <a:buNone/>
            </a:pPr>
            <a:r>
              <a:rPr lang="en-US" sz="1800" dirty="0">
                <a:solidFill>
                  <a:srgbClr val="1B2236"/>
                </a:solidFill>
                <a:latin typeface="Lexend Deca" pitchFamily="34" charset="0"/>
                <a:ea typeface="Lexend Deca" pitchFamily="34" charset="-122"/>
                <a:cs typeface="Lexend Deca" pitchFamily="34" charset="-120"/>
              </a:rPr>
              <a:t>B mimes sick or hurt.</a:t>
            </a:r>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ext 9"/>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7:00–7:10</a:t>
            </a:r>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asks:</a:t>
            </a:r>
          </a:p>
          <a:p>
            <a:pPr algn="l" indent="0" marL="0">
              <a:buNone/>
            </a:pPr>
            <a:r>
              <a:rPr lang="en-US" sz="1800" dirty="0" b="0">
                <a:solidFill>
                  <a:srgbClr val="5B3FC4"/>
                </a:solidFill>
                <a:latin typeface="Lexend Deca" pitchFamily="34" charset="0"/>
                <a:ea typeface="Lexend Deca" pitchFamily="34" charset="-122"/>
                <a:cs typeface="Lexend Deca" pitchFamily="34" charset="-120"/>
              </a:rPr>
              <a:t>Are you OK? What's wrong?</a:t>
            </a:r>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B points:</a:t>
            </a:r>
          </a:p>
          <a:p>
            <a:pPr algn="l" indent="0" marL="0">
              <a:buNone/>
            </a:pPr>
            <a:r>
              <a:rPr lang="en-US" sz="1800" dirty="0" b="0">
                <a:solidFill>
                  <a:srgbClr val="5B3FC4"/>
                </a:solidFill>
                <a:latin typeface="Lexend Deca" pitchFamily="34" charset="0"/>
                <a:ea typeface="Lexend Deca" pitchFamily="34" charset="-122"/>
                <a:cs typeface="Lexend Deca" pitchFamily="34" charset="-120"/>
              </a:rPr>
              <a:t>Here. My ___.</a:t>
            </a:r>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A asks:</a:t>
            </a:r>
          </a:p>
          <a:p>
            <a:pPr algn="l" indent="0" marL="0">
              <a:buNone/>
            </a:pPr>
            <a:r>
              <a:rPr lang="en-US" sz="1900" dirty="0" b="0">
                <a:solidFill>
                  <a:srgbClr val="5B3FC4"/>
                </a:solidFill>
                <a:latin typeface="Lexend Deca" pitchFamily="34" charset="0"/>
                <a:ea typeface="Lexend Deca" pitchFamily="34" charset="-122"/>
                <a:cs typeface="Lexend Deca" pitchFamily="34" charset="-120"/>
              </a:rPr>
              <a:t>Where does it hurt?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ext 4"/>
          <p:cNvSpPr/>
          <p:nvPr/>
        </p:nvSpPr>
        <p:spPr>
          <a:xfrm>
            <a:off x="4343400" y="2103120"/>
            <a:ext cx="54864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a:t>
            </a:r>
            <a:r>
              <a:rPr lang="en-US" sz="2200" dirty="0" b="1">
                <a:solidFill>
                  <a:srgbClr val="5B3FC4"/>
                </a:solidFill>
                <a:latin typeface="Lexend Deca" pitchFamily="34" charset="0"/>
                <a:ea typeface="Lexend Deca" pitchFamily="34" charset="-122"/>
                <a:cs typeface="Lexend Deca" pitchFamily="34" charset="-120"/>
              </a:rPr>
              <a:t>   7:10–7:15</a:t>
            </a:r>
            <a:endParaRPr lang="en-US" sz="4000" dirty="0"/>
          </a:p>
        </p:txBody>
      </p:sp>
      <p:pic>
        <p:nvPicPr>
          <p:cNvPr id="16" name="Doctor picture" descr="doctor"/>
          <p:cNvPicPr>
            <a:picLocks noChangeAspect="1"/>
          </p:cNvPicPr>
          <p:nvPr/>
        </p:nvPicPr>
        <p:blipFill>
          <a:blip r:embed="rIdImg1"/>
          <a:stretch>
            <a:fillRect/>
          </a:stretch>
        </p:blipFill>
        <p:spPr>
          <a:xfrm>
            <a:off x="777240" y="2651760"/>
            <a:ext cx="3017520" cy="2112264"/>
          </a:xfrm>
          <a:prstGeom prst="rect">
            <a:avLst/>
          </a:prstGeom>
        </p:spPr>
      </p:pic>
      <p:sp>
        <p:nvSpPr>
          <p:cNvPr id="17" name="Num 01"/>
          <p:cNvSpPr/>
          <p:nvPr/>
        </p:nvSpPr>
        <p:spPr>
          <a:xfrm>
            <a:off x="4343400" y="333756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333756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a:p>
        </p:txBody>
      </p:sp>
      <p:sp>
        <p:nvSpPr>
          <p:cNvPr id="19" name="Body 01"/>
          <p:cNvSpPr/>
          <p:nvPr/>
        </p:nvSpPr>
        <p:spPr>
          <a:xfrm>
            <a:off x="4343400" y="3977640"/>
            <a:ext cx="3520440" cy="20116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Say:</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I feel sick.</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Or say:</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It hurts here.</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Call 911.</a:t>
            </a:r>
          </a:p>
        </p:txBody>
      </p:sp>
      <p:sp>
        <p:nvSpPr>
          <p:cNvPr id="20" name="Num 02"/>
          <p:cNvSpPr/>
          <p:nvPr/>
        </p:nvSpPr>
        <p:spPr>
          <a:xfrm>
            <a:off x="8001000" y="333756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333756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a:p>
        </p:txBody>
      </p:sp>
      <p:sp>
        <p:nvSpPr>
          <p:cNvPr id="22" name="Body 02"/>
          <p:cNvSpPr/>
          <p:nvPr/>
        </p:nvSpPr>
        <p:spPr>
          <a:xfrm>
            <a:off x="8001000" y="3977640"/>
            <a:ext cx="3611880" cy="20116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Write the body part.</a:t>
            </a:r>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Unscramble.</a:t>
            </a:r>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Copy the card.</a:t>
            </a:r>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Ask: How do you feel?</a:t>
            </a:r>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5. Write one direction.</a:t>
            </a:r>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next week!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sp>
        <p:nvSpPr>
          <p:cNvPr id="120" name="Alphabet"/>
          <p:cNvSpPr/>
          <p:nvPr/>
        </p:nvSpPr>
        <p:spPr>
          <a:xfrm>
            <a:off x="228600" y="1737360"/>
            <a:ext cx="3337560" cy="3291840"/>
          </a:xfrm>
          <a:prstGeom prst="rect">
            <a:avLst/>
          </a:prstGeom>
          <a:noFill/>
          <a:ln/>
        </p:spPr>
        <p:txBody>
          <a:bodyPr wrap="square" rtlCol="0" anchor="ctr"/>
          <a:lstStyle/>
          <a:p>
            <a:pPr algn="ctr" indent="0" marL="0">
              <a:spcBef>
                <a:spcPts val="900"/>
              </a:spcBef>
              <a:buNone/>
            </a:pPr>
            <a:r>
              <a:rPr lang="en-US" sz="2800" dirty="0" b="1">
                <a:solidFill>
                  <a:srgbClr val="1B2236"/>
                </a:solidFill>
                <a:latin typeface="Lexend Deca" pitchFamily="34" charset="0"/>
                <a:ea typeface="Lexend Deca" pitchFamily="34" charset="-122"/>
                <a:cs typeface="Lexend Deca" pitchFamily="34" charset="-120"/>
              </a:rPr>
              <a:t>Practice</a:t>
            </a:r>
          </a:p>
          <a:p>
            <a:pPr algn="ctr" indent="0" marL="0">
              <a:spcBef>
                <a:spcPts val="900"/>
              </a:spcBef>
              <a:buNone/>
            </a:pPr>
            <a:r>
              <a:rPr lang="en-US" sz="2200" dirty="0" b="1">
                <a:solidFill>
                  <a:srgbClr val="5B3FC4"/>
                </a:solidFill>
                <a:latin typeface="Lexend Deca" pitchFamily="34" charset="0"/>
                <a:ea typeface="Lexend Deca" pitchFamily="34" charset="-122"/>
                <a:cs typeface="Lexend Deca" pitchFamily="34" charset="-120"/>
              </a:rPr>
              <a:t>ideas.</a:t>
            </a:r>
          </a:p>
          <a:p>
            <a:pPr algn="ctr" indent="0" marL="0">
              <a:spcBef>
                <a:spcPts val="900"/>
              </a:spcBef>
              <a:buNone/>
            </a:pPr>
            <a:r>
              <a:rPr lang="en-US" sz="2000" dirty="0" b="1">
                <a:solidFill>
                  <a:srgbClr val="1B2236"/>
                </a:solidFill>
                <a:latin typeface="Lexend Deca" pitchFamily="34" charset="0"/>
                <a:ea typeface="Lexend Deca" pitchFamily="34" charset="-122"/>
                <a:cs typeface="Lexend Deca" pitchFamily="34" charset="-120"/>
              </a:rPr>
              <a:t>C: circle.</a:t>
            </a:r>
          </a:p>
          <a:p>
            <a:pPr algn="ctr" indent="0" marL="0">
              <a:spcBef>
                <a:spcPts val="900"/>
              </a:spcBef>
              <a:buNone/>
            </a:pPr>
            <a:r>
              <a:rPr lang="en-US" sz="2000" dirty="0" b="1">
                <a:solidFill>
                  <a:srgbClr val="1B2236"/>
                </a:solidFill>
                <a:latin typeface="Lexend Deca" pitchFamily="34" charset="0"/>
                <a:ea typeface="Lexend Deca" pitchFamily="34" charset="-122"/>
                <a:cs typeface="Lexend Deca" pitchFamily="34" charset="-120"/>
              </a:rPr>
              <a:t>D: A reads, B repeats.</a:t>
            </a:r>
          </a:p>
        </p:txBody>
      </p:sp>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Real-World Reading  ·  Tasks C + D</a:t>
            </a:r>
          </a:p>
          <a:p>
            <a:pPr algn="l" indent="0" marL="0">
              <a:spcAft>
                <a:spcPts val="400"/>
              </a:spcAft>
              <a:buNone/>
            </a:pPr>
            <a:r>
              <a:rPr lang="en-US" sz="3400" dirty="0" b="1">
                <a:solidFill>
                  <a:srgbClr val="1B2236"/>
                </a:solidFill>
                <a:latin typeface="Lexend Deca" pitchFamily="34" charset="0"/>
                <a:ea typeface="Lexend Deca" pitchFamily="34" charset="-122"/>
                <a:cs typeface="Lexend Deca" pitchFamily="34" charset="-120"/>
              </a:rPr>
              <a:t>In an Emergency</a:t>
            </a:r>
          </a:p>
        </p:txBody>
      </p:sp>
      <p:sp>
        <p:nvSpPr>
          <p:cNvPr id="8" name="Text 6"/>
          <p:cNvSpPr/>
          <p:nvPr/>
        </p:nvSpPr>
        <p:spPr>
          <a:xfrm>
            <a:off x="4983480" y="214884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READ</a:t>
            </a:r>
          </a:p>
        </p:txBody>
      </p:sp>
      <p:sp>
        <p:nvSpPr>
          <p:cNvPr id="11" name="Text 9"/>
          <p:cNvSpPr/>
          <p:nvPr/>
        </p:nvSpPr>
        <p:spPr>
          <a:xfrm>
            <a:off x="8046720" y="214884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CIRCLE</a:t>
            </a:r>
          </a:p>
        </p:txBody>
      </p:sp>
      <p:sp>
        <p:nvSpPr>
          <p:cNvPr id="18" name="Highlight 1"/>
          <p:cNvSpPr/>
          <p:nvPr/>
        </p:nvSpPr>
        <p:spPr>
          <a:xfrm>
            <a:off x="4937760" y="2697479"/>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9" name="Helper 1"/>
          <p:cNvSpPr/>
          <p:nvPr/>
        </p:nvSpPr>
        <p:spPr>
          <a:xfrm>
            <a:off x="4937760" y="2651760"/>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Call 911  /  Sit down</a:t>
            </a:r>
          </a:p>
        </p:txBody>
      </p:sp>
      <p:sp>
        <p:nvSpPr>
          <p:cNvPr id="22" name="Answer bg 1"/>
          <p:cNvSpPr/>
          <p:nvPr/>
        </p:nvSpPr>
        <p:spPr>
          <a:xfrm>
            <a:off x="8001000" y="2651760"/>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001000" y="2651760"/>
            <a:ext cx="3794760" cy="6583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 Call 911   ✓ Sit down</a:t>
            </a:r>
          </a:p>
        </p:txBody>
      </p:sp>
      <p:sp>
        <p:nvSpPr>
          <p:cNvPr id="23" name="Highlight 2"/>
          <p:cNvSpPr/>
          <p:nvPr/>
        </p:nvSpPr>
        <p:spPr>
          <a:xfrm>
            <a:off x="4937760" y="3465575"/>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Helper 2"/>
          <p:cNvSpPr/>
          <p:nvPr/>
        </p:nvSpPr>
        <p:spPr>
          <a:xfrm>
            <a:off x="4937760" y="3419856"/>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Go to the doctor /</a:t>
            </a:r>
          </a:p>
          <a:p>
            <a:pPr algn="ctr" indent="0" marL="0">
              <a:buNone/>
            </a:pPr>
            <a:r>
              <a:rPr lang="en-US" sz="1600" dirty="0" b="1">
                <a:solidFill>
                  <a:srgbClr val="1B2236"/>
                </a:solidFill>
                <a:latin typeface="Lexend Deca" pitchFamily="34" charset="0"/>
                <a:ea typeface="Lexend Deca" pitchFamily="34" charset="-122"/>
                <a:cs typeface="Lexend Deca" pitchFamily="34" charset="-120"/>
              </a:rPr>
              <a:t>Run away from help</a:t>
            </a:r>
          </a:p>
        </p:txBody>
      </p:sp>
      <p:sp>
        <p:nvSpPr>
          <p:cNvPr id="27" name="Answer bg 2"/>
          <p:cNvSpPr/>
          <p:nvPr/>
        </p:nvSpPr>
        <p:spPr>
          <a:xfrm>
            <a:off x="8001000" y="3419856"/>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001000" y="3419856"/>
            <a:ext cx="3794760" cy="6583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 Go to the doctor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40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3429000"/>
          </a:xfrm>
          <a:prstGeom prst="rect">
            <a:avLst/>
          </a:prstGeom>
          <a:solidFill>
            <a:srgbClr val="B9D2F7"/>
          </a:solidFill>
          <a:ln/>
        </p:spPr>
        <p:txBody>
          <a:bodyPr/>
          <a:p/>
        </p:txBody>
      </p:sp>
      <p:sp>
        <p:nvSpPr>
          <p:cNvPr id="62" name="I can"/>
          <p:cNvSpPr/>
          <p:nvPr/>
        </p:nvSpPr>
        <p:spPr>
          <a:xfrm>
            <a:off x="8503920" y="1234440"/>
            <a:ext cx="3291840" cy="17373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200" dirty="0"/>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2200" dirty="0"/>
          </a:p>
          <a:p>
            <a:pPr algn="ctr" indent="0" marL="0">
              <a:buNone/>
            </a:pPr>
            <a:r>
              <a:rPr lang="en-US" sz="2000" dirty="0" b="0">
                <a:solidFill>
                  <a:srgbClr val="1B2236"/>
                </a:solidFill>
                <a:latin typeface="Lexend Deca" pitchFamily="34" charset="0"/>
                <a:ea typeface="Lexend Deca" pitchFamily="34" charset="-122"/>
                <a:cs typeface="Lexend Deca" pitchFamily="34" charset="-120"/>
              </a:rPr>
              <a:t>Check one face.</a:t>
            </a:r>
            <a:endParaRPr lang="en-US" sz="2200" dirty="0"/>
          </a:p>
        </p:txBody>
      </p:sp>
      <p:sp>
        <p:nvSpPr>
          <p:cNvPr id="5" name="Shape 3"/>
          <p:cNvSpPr/>
          <p:nvPr/>
        </p:nvSpPr>
        <p:spPr>
          <a:xfrm flipH="1">
            <a:off x="501091" y="3255264"/>
            <a:ext cx="4000500" cy="3258921"/>
          </a:xfrm>
          <a:prstGeom prst="round1Rect">
            <a:avLst>
              <a:gd name="adj" fmla="val 23087"/>
            </a:avLst>
          </a:prstGeom>
          <a:solidFill>
            <a:srgbClr val="8FAFE3"/>
          </a:solidFill>
          <a:ln/>
        </p:spPr>
        <p:txBody>
          <a:bodyPr/>
          <a:p/>
        </p:txBody>
      </p:sp>
      <p:sp>
        <p:nvSpPr>
          <p:cNvPr id="6" name="Shape 4"/>
          <p:cNvSpPr/>
          <p:nvPr/>
        </p:nvSpPr>
        <p:spPr>
          <a:xfrm flipH="1">
            <a:off x="4845406" y="3263494"/>
            <a:ext cx="586039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4068165" cy="3258921"/>
          </a:xfrm>
          <a:prstGeom prst="round1Rect">
            <a:avLst>
              <a:gd name="adj" fmla="val 23087"/>
            </a:avLst>
          </a:prstGeom>
          <a:solidFill>
            <a:srgbClr val="FFFFFF"/>
          </a:solidFill>
          <a:ln/>
        </p:spPr>
        <p:txBody>
          <a:bodyPr/>
          <a:p/>
        </p:txBody>
      </p:sp>
      <p:sp>
        <p:nvSpPr>
          <p:cNvPr id="10" name="Shape 8"/>
          <p:cNvSpPr/>
          <p:nvPr/>
        </p:nvSpPr>
        <p:spPr>
          <a:xfrm flipH="1">
            <a:off x="4977079" y="3063240"/>
            <a:ext cx="5860390" cy="3258921"/>
          </a:xfrm>
          <a:prstGeom prst="round1Rect">
            <a:avLst>
              <a:gd name="adj" fmla="val 23087"/>
            </a:avLst>
          </a:prstGeom>
          <a:solidFill>
            <a:srgbClr val="FFFFFF"/>
          </a:solidFill>
          <a:ln/>
        </p:spPr>
        <p:txBody>
          <a:bodyPr/>
          <a:p/>
        </p:txBody>
      </p:sp>
      <p:sp>
        <p:nvSpPr>
          <p:cNvPr id="11" name="Text 9"/>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a:t>
            </a:r>
            <a:r>
              <a:rPr lang="en-US" sz="2400" dirty="0" b="1">
                <a:solidFill>
                  <a:srgbClr val="5B3FC4"/>
                </a:solidFill>
                <a:latin typeface="Lexend Deca" pitchFamily="34" charset="0"/>
                <a:ea typeface="Lexend Deca" pitchFamily="34" charset="-122"/>
                <a:cs typeface="Lexend Deca" pitchFamily="34" charset="-120"/>
              </a:rPr>
              <a:t>   7:25</a:t>
            </a:r>
            <a:endParaRPr lang="en-US" sz="4300" dirty="0"/>
          </a:p>
        </p:txBody>
      </p:sp>
      <p:sp>
        <p:nvSpPr>
          <p:cNvPr id="22" name="Dont head"/>
          <p:cNvSpPr/>
          <p:nvPr/>
        </p:nvSpPr>
        <p:spPr>
          <a:xfrm>
            <a:off x="914400" y="3246120"/>
            <a:ext cx="310896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B. Match the question</a:t>
            </a:r>
          </a:p>
        </p:txBody>
      </p:sp>
      <p:sp>
        <p:nvSpPr>
          <p:cNvPr id="23" name="Say head"/>
          <p:cNvSpPr/>
          <p:nvPr/>
        </p:nvSpPr>
        <p:spPr>
          <a:xfrm>
            <a:off x="5257800" y="3246120"/>
            <a:ext cx="48463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Answer</a:t>
            </a:r>
            <a:endParaRPr lang="en-US" sz="2200" dirty="0"/>
          </a:p>
        </p:txBody>
      </p:sp>
      <p:sp>
        <p:nvSpPr>
          <p:cNvPr id="24" name="Bad 1"/>
          <p:cNvSpPr/>
          <p:nvPr/>
        </p:nvSpPr>
        <p:spPr>
          <a:xfrm>
            <a:off x="914400" y="3840480"/>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1. How do you feel?</a:t>
            </a:r>
          </a:p>
        </p:txBody>
      </p:sp>
      <p:sp>
        <p:nvSpPr>
          <p:cNvPr id="25" name="Good 1"/>
          <p:cNvSpPr/>
          <p:nvPr/>
        </p:nvSpPr>
        <p:spPr>
          <a:xfrm>
            <a:off x="5257800" y="3840480"/>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 I feel sick.</a:t>
            </a:r>
          </a:p>
        </p:txBody>
      </p:sp>
      <p:sp>
        <p:nvSpPr>
          <p:cNvPr id="26" name="Bad 2"/>
          <p:cNvSpPr/>
          <p:nvPr/>
        </p:nvSpPr>
        <p:spPr>
          <a:xfrm>
            <a:off x="914400" y="4407408"/>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2. Are you OK?</a:t>
            </a:r>
          </a:p>
        </p:txBody>
      </p:sp>
      <p:sp>
        <p:nvSpPr>
          <p:cNvPr id="27" name="Good 2"/>
          <p:cNvSpPr/>
          <p:nvPr/>
        </p:nvSpPr>
        <p:spPr>
          <a:xfrm>
            <a:off x="5257800" y="4407408"/>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 No, I'm not.</a:t>
            </a:r>
          </a:p>
        </p:txBody>
      </p:sp>
      <p:sp>
        <p:nvSpPr>
          <p:cNvPr id="28" name="Bad 3"/>
          <p:cNvSpPr/>
          <p:nvPr/>
        </p:nvSpPr>
        <p:spPr>
          <a:xfrm>
            <a:off x="914400" y="4974336"/>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3. Where does it hurt?</a:t>
            </a:r>
          </a:p>
        </p:txBody>
      </p:sp>
      <p:sp>
        <p:nvSpPr>
          <p:cNvPr id="29" name="Good 3"/>
          <p:cNvSpPr/>
          <p:nvPr/>
        </p:nvSpPr>
        <p:spPr>
          <a:xfrm>
            <a:off x="5257800" y="4974336"/>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c. Here.</a:t>
            </a:r>
          </a:p>
        </p:txBody>
      </p:sp>
      <p:sp>
        <p:nvSpPr>
          <p:cNvPr id="60" name="Bad 4"/>
          <p:cNvSpPr/>
          <p:nvPr/>
        </p:nvSpPr>
        <p:spPr>
          <a:xfrm>
            <a:off x="914400" y="5541264"/>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4. What do you need?</a:t>
            </a:r>
          </a:p>
        </p:txBody>
      </p:sp>
      <p:sp>
        <p:nvSpPr>
          <p:cNvPr id="61" name="Good 4"/>
          <p:cNvSpPr/>
          <p:nvPr/>
        </p:nvSpPr>
        <p:spPr>
          <a:xfrm>
            <a:off x="5257800" y="5541264"/>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d. I need a doctor.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Raised hand picture" descr="raised hand">    </p:cNvPr>
          <p:cNvPicPr>
            <a:picLocks noChangeAspect="1"/>
          </p:cNvPicPr>
          <p:nvPr/>
        </p:nvPicPr>
        <p:blipFill>
          <a:blip r:embed="rIdImg1"/>
          <a:stretch>
            <a:fillRect/>
          </a:stretch>
        </p:blipFill>
        <p:spPr>
          <a:xfrm>
            <a:off x="7726680" y="1664208"/>
            <a:ext cx="3474720" cy="2432304"/>
          </a:xfrm>
          <a:prstGeom prst="rect">
            <a:avLst/>
          </a:prstGeom>
        </p:spPr>
      </p:pic>
      <p:sp>
        <p:nvSpPr>
          <p:cNvPr id="5" name="Text 2"/>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12  ·  Level 1</a:t>
            </a:r>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ext 5"/>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Great Work! See You Next Week!</a:t>
            </a:r>
            <a:endParaRPr lang="en-US" sz="5000" dirty="0"/>
          </a:p>
        </p:txBody>
      </p:sp>
      <p:sp>
        <p:nvSpPr>
          <p:cNvPr id="9" name="Text 6"/>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p>
        </p:txBody>
      </p:sp>
      <p:sp>
        <p:nvSpPr>
          <p:cNvPr id="10" name="Text 7"/>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Say: I feel sick.</a:t>
            </a:r>
          </a:p>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Ask: Where does it hurt?</a:t>
            </a:r>
          </a:p>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Say: Call 911. (practice)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C9B8F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ext 5"/>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Twemoji credit"/>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1500" dirty="0" b="1">
                <a:solidFill>
                  <a:srgbClr val="5B3FC4"/>
                </a:solidFill>
                <a:latin typeface="Lexend Deca" pitchFamily="34" charset="0"/>
                <a:ea typeface="Lexend Deca" pitchFamily="34" charset="-122"/>
                <a:cs typeface="Lexend Deca" pitchFamily="34" charset="-120"/>
              </a:rPr>
              <a:t>Pictures</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Pictures use Twemoji graphics by Twitter, Inc. and other contributors (https://github.com/jdecked/twemoji), licensed under CC BY 4.0 (https://creativecommons.org/licenses/by/4.0/). The graphics were resized and combined, and drawings and labels were added. The back and stomach cards, the medicine label, and the emergency card are drawn in code. Labels use the DejaVu Sans font. The review picture (the street map) is from Lesson 11.</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Other small pictures (the faces on the Progress Check) are standard emoji characters shown with the computer's emoji font.</a:t>
            </a:r>
          </a:p>
        </p:txBody>
      </p:sp>
      <p:sp>
        <p:nvSpPr>
          <p:cNvPr id="16" name="Deck license"/>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All names, addresses, and phone numbers on the slides (Rosa, Marco, Ana, Ana Ruiz, 210 Pine Street) are invented.</a:t>
            </a:r>
          </a:p>
        </p:txBody>
      </p:sp>
      <p:sp>
        <p:nvSpPr>
          <p:cNvPr id="17" name="AudioFontCredits"/>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(Narrator, Rosa, Marco, Operator, Ana) made with Chatterbox TTS (Resemble AI, MIT License), copied from short reference clips made with Kokoro-82M (Apache 2.0); no recordings of real people were used. Each file carries an inaudible Perth watermark. Font: Lexend Deca (OFL 1.1).</a:t>
            </a:r>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Listen. Circle. Write.</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Part 1: Marco. Part 2: practice only.</a:t>
            </a:r>
          </a:p>
        </p:txBody>
      </p:sp>
      <p:sp>
        <p:nvSpPr>
          <p:cNvPr id="11" name="Text 9"/>
          <p:cNvSpPr/>
          <p:nvPr/>
        </p:nvSpPr>
        <p:spPr>
          <a:xfrm>
            <a:off x="1810512" y="2395728"/>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Marco feels:</a:t>
            </a:r>
          </a:p>
          <a:p>
            <a:pPr algn="l" indent="0" marL="0">
              <a:buNone/>
            </a:pPr>
            <a:r>
              <a:rPr lang="en-US" sz="1700" dirty="0">
                <a:solidFill>
                  <a:srgbClr val="1B2236"/>
                </a:solidFill>
                <a:latin typeface="Lexend Deca" pitchFamily="34" charset="0"/>
                <a:ea typeface="Lexend Deca" pitchFamily="34" charset="-122"/>
                <a:cs typeface="Lexend Deca" pitchFamily="34" charset="-120"/>
              </a:rPr>
              <a:t>sick   tired</a:t>
            </a:r>
          </a:p>
        </p:txBody>
      </p:sp>
      <p:sp>
        <p:nvSpPr>
          <p:cNvPr id="13" name="Text 11"/>
          <p:cNvSpPr/>
          <p:nvPr/>
        </p:nvSpPr>
        <p:spPr>
          <a:xfrm>
            <a:off x="1810512" y="3182112"/>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 hurts:</a:t>
            </a:r>
          </a:p>
          <a:p>
            <a:pPr algn="l" indent="0" marL="0">
              <a:buNone/>
            </a:pPr>
            <a:r>
              <a:rPr lang="en-US" sz="1700" dirty="0">
                <a:solidFill>
                  <a:srgbClr val="1B2236"/>
                </a:solidFill>
                <a:latin typeface="Lexend Deca" pitchFamily="34" charset="0"/>
                <a:ea typeface="Lexend Deca" pitchFamily="34" charset="-122"/>
                <a:cs typeface="Lexend Deca" pitchFamily="34" charset="-120"/>
              </a:rPr>
              <a:t>head   stomach   arm</a:t>
            </a:r>
          </a:p>
        </p:txBody>
      </p:sp>
      <p:sp>
        <p:nvSpPr>
          <p:cNvPr id="15" name="Text 13"/>
          <p:cNvSpPr/>
          <p:nvPr/>
        </p:nvSpPr>
        <p:spPr>
          <a:xfrm>
            <a:off x="1810512" y="3968496"/>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Part 2: the number.</a:t>
            </a:r>
          </a:p>
          <a:p>
            <a:pPr algn="l" indent="0" marL="0">
              <a:buNone/>
            </a:pPr>
            <a:r>
              <a:rPr lang="en-US" sz="1700" dirty="0">
                <a:solidFill>
                  <a:srgbClr val="1B2236"/>
                </a:solidFill>
                <a:latin typeface="Lexend Deca" pitchFamily="34" charset="0"/>
                <a:ea typeface="Lexend Deca" pitchFamily="34" charset="-122"/>
                <a:cs typeface="Lexend Deca" pitchFamily="34" charset="-120"/>
              </a:rPr>
              <a:t>____ Pine Street</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A + B</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A: </a:t>
            </a:r>
            <a:r>
              <a:rPr lang="en-US" sz="2000" dirty="0" b="1">
                <a:solidFill>
                  <a:srgbClr val="5B3FC4"/>
                </a:solidFill>
                <a:latin typeface="Lexend Deca" pitchFamily="34" charset="0"/>
                <a:ea typeface="Lexend Deca" pitchFamily="34" charset="-122"/>
                <a:cs typeface="Lexend Deca" pitchFamily="34" charset="-120"/>
              </a:rPr>
              <a:t>circle one word.</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B: </a:t>
            </a:r>
            <a:r>
              <a:rPr lang="en-US" sz="2000" dirty="0" b="1">
                <a:solidFill>
                  <a:srgbClr val="5B3FC4"/>
                </a:solidFill>
                <a:latin typeface="Lexend Deca" pitchFamily="34" charset="0"/>
                <a:ea typeface="Lexend Deca" pitchFamily="34" charset="-122"/>
                <a:cs typeface="Lexend Deca" pitchFamily="34" charset="-120"/>
              </a:rPr>
              <a:t>write the number.</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show your partner.</a:t>
            </a:r>
          </a:p>
        </p:txBody>
      </p:sp>
      <p:sp>
        <p:nvSpPr>
          <p:cNvPr id="34" name="Answer 1"/>
          <p:cNvSpPr/>
          <p:nvPr/>
        </p:nvSpPr>
        <p:spPr>
          <a:xfrm>
            <a:off x="4983480" y="2523744"/>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sick</a:t>
            </a:r>
          </a:p>
        </p:txBody>
      </p:sp>
      <p:sp>
        <p:nvSpPr>
          <p:cNvPr id="35" name="Answer 2"/>
          <p:cNvSpPr/>
          <p:nvPr/>
        </p:nvSpPr>
        <p:spPr>
          <a:xfrm>
            <a:off x="4983480" y="3310128"/>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stomach</a:t>
            </a:r>
          </a:p>
        </p:txBody>
      </p:sp>
      <p:sp>
        <p:nvSpPr>
          <p:cNvPr id="36" name="Answer 3"/>
          <p:cNvSpPr/>
          <p:nvPr/>
        </p:nvSpPr>
        <p:spPr>
          <a:xfrm>
            <a:off x="4983480" y="4096511"/>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210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487604" y="1352535"/>
            <a:ext cx="5246827" cy="1277417"/>
          </a:xfrm>
          <a:prstGeom prst="roundRect">
            <a:avLst>
              <a:gd name="adj" fmla="val 16667"/>
            </a:avLst>
          </a:prstGeom>
          <a:solidFill>
            <a:srgbClr val="8FAFE3"/>
          </a:solidFill>
          <a:ln/>
        </p:spPr>
        <p:txBody>
          <a:bodyPr/>
          <a:p/>
        </p:txBody>
      </p:sp>
      <p:sp>
        <p:nvSpPr>
          <p:cNvPr id="3" name="Shape 1"/>
          <p:cNvSpPr/>
          <p:nvPr/>
        </p:nvSpPr>
        <p:spPr>
          <a:xfrm>
            <a:off x="518465" y="1300277"/>
            <a:ext cx="5246827" cy="1277417"/>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sp>
        <p:nvSpPr>
          <p:cNvPr id="7" name="Text 5"/>
          <p:cNvSpPr/>
          <p:nvPr/>
        </p:nvSpPr>
        <p:spPr>
          <a:xfrm>
            <a:off x="548640" y="1764792"/>
            <a:ext cx="5120640" cy="777240"/>
          </a:xfrm>
          <a:prstGeom prst="rect">
            <a:avLst/>
          </a:prstGeom>
          <a:noFill/>
          <a:ln/>
        </p:spPr>
        <p:txBody>
          <a:bodyPr wrap="square" rtlCol="0" anchor="ctr"/>
          <a:lstStyle/>
          <a:p>
            <a:pPr algn="l" indent="0" marL="0">
              <a:buNone/>
            </a:pPr>
            <a:r>
              <a:rPr lang="en-US" sz="3400" dirty="0" b="1">
                <a:solidFill>
                  <a:srgbClr val="1B2236"/>
                </a:solidFill>
                <a:latin typeface="Lexend Deca" pitchFamily="34" charset="0"/>
                <a:ea typeface="Lexend Deca" pitchFamily="34" charset="-122"/>
                <a:cs typeface="Lexend Deca" pitchFamily="34" charset="-120"/>
              </a:rPr>
              <a:t>911 Practice</a:t>
            </a:r>
          </a:p>
        </p:txBody>
      </p:sp>
      <p:sp>
        <p:nvSpPr>
          <p:cNvPr id="8" name="Text 6"/>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TALK TIME  ·  PART 2</a:t>
            </a:r>
          </a:p>
        </p:txBody>
      </p:sp>
      <p:sp>
        <p:nvSpPr>
          <p:cNvPr id="9" name="Text 7"/>
          <p:cNvSpPr/>
          <p:nvPr/>
        </p:nvSpPr>
        <p:spPr>
          <a:xfrm>
            <a:off x="599846" y="3017520"/>
            <a:ext cx="4114800" cy="868680"/>
          </a:xfrm>
          <a:prstGeom prst="rect">
            <a:avLst/>
          </a:prstGeom>
          <a:noFill/>
          <a:ln/>
        </p:spPr>
        <p:txBody>
          <a:bodyPr wrap="square" lIns="0" tIns="0" rIns="0" bIns="0" rtlCol="0" anchor="t"/>
          <a:lstStyle/>
          <a:p>
            <a:pPr algn="l" indent="0" marL="0">
              <a:lnSpc>
                <a:spcPct val="110000"/>
              </a:lnSpc>
              <a:buNone/>
            </a:pPr>
            <a:r>
              <a:rPr lang="en-US" sz="2200" dirty="0">
                <a:solidFill>
                  <a:srgbClr val="1B2236"/>
                </a:solidFill>
                <a:latin typeface="Lexend Deca" pitchFamily="34" charset="0"/>
                <a:ea typeface="Lexend Deca" pitchFamily="34" charset="-122"/>
                <a:cs typeface="Lexend Deca" pitchFamily="34" charset="-120"/>
              </a:rPr>
              <a:t>Practice only.</a:t>
            </a:r>
          </a:p>
          <a:p>
            <a:pPr algn="l" indent="0" marL="0">
              <a:lnSpc>
                <a:spcPct val="110000"/>
              </a:lnSpc>
              <a:buNone/>
            </a:pPr>
            <a:r>
              <a:rPr lang="en-US" sz="2200" dirty="0">
                <a:solidFill>
                  <a:srgbClr val="1B2236"/>
                </a:solidFill>
                <a:latin typeface="Lexend Deca" pitchFamily="34" charset="0"/>
                <a:ea typeface="Lexend Deca" pitchFamily="34" charset="-122"/>
                <a:cs typeface="Lexend Deca" pitchFamily="34" charset="-120"/>
              </a:rPr>
              <a:t>Not a real call.</a:t>
            </a:r>
          </a:p>
        </p:txBody>
      </p:sp>
      <p:sp>
        <p:nvSpPr>
          <p:cNvPr id="13" name="Model A"/>
          <p:cNvSpPr/>
          <p:nvPr/>
        </p:nvSpPr>
        <p:spPr>
          <a:xfrm>
            <a:off x="599846" y="3931920"/>
            <a:ext cx="4754880" cy="731520"/>
          </a:xfrm>
          <a:prstGeom prst="rect">
            <a:avLst/>
          </a:prstGeom>
          <a:noFill/>
          <a:ln/>
        </p:spPr>
        <p:txBody>
          <a:bodyPr wrap="square" lIns="0" tIns="0" rIns="0" bIns="0" rtlCol="0" anchor="t"/>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Operator: 911. What's your emergency?</a:t>
            </a:r>
          </a:p>
        </p:txBody>
      </p:sp>
      <p:sp>
        <p:nvSpPr>
          <p:cNvPr id="14" name="Model B"/>
          <p:cNvSpPr/>
          <p:nvPr/>
        </p:nvSpPr>
        <p:spPr>
          <a:xfrm>
            <a:off x="599846" y="4709160"/>
            <a:ext cx="4754880" cy="548640"/>
          </a:xfrm>
          <a:prstGeom prst="rect">
            <a:avLst/>
          </a:prstGeom>
          <a:noFill/>
          <a:ln/>
        </p:spPr>
        <p:txBody>
          <a:bodyPr wrap="square" lIns="0" tIns="0" rIns="0" bIns="0" rtlCol="0" anchor="t"/>
          <a:lstStyle/>
          <a:p>
            <a:pPr algn="l" indent="0" marL="0">
              <a:spcAft>
                <a:spcPts val="400"/>
              </a:spcAft>
              <a:buNone/>
            </a:pPr>
            <a:r>
              <a:rPr lang="en-US" sz="1700" dirty="0" b="1">
                <a:solidFill>
                  <a:srgbClr val="5B3FC4"/>
                </a:solidFill>
                <a:latin typeface="Lexend Deca" pitchFamily="34" charset="0"/>
                <a:ea typeface="Lexend Deca" pitchFamily="34" charset="-122"/>
                <a:cs typeface="Lexend Deca" pitchFamily="34" charset="-120"/>
              </a:rPr>
              <a:t>Caller: I need help. I'm hurt.</a:t>
            </a:r>
          </a:p>
        </p:txBody>
      </p:sp>
      <p:sp>
        <p:nvSpPr>
          <p:cNvPr id="139" name="List shadow"/>
          <p:cNvSpPr/>
          <p:nvPr/>
        </p:nvSpPr>
        <p:spPr>
          <a:xfrm>
            <a:off x="6053328" y="1298448"/>
            <a:ext cx="5760720" cy="3154680"/>
          </a:xfrm>
          <a:prstGeom prst="roundRect">
            <a:avLst>
              <a:gd name="adj" fmla="val 16667"/>
            </a:avLst>
          </a:prstGeom>
          <a:solidFill>
            <a:srgbClr val="8FAFE3"/>
          </a:solidFill>
          <a:ln/>
        </p:spPr>
        <p:txBody>
          <a:bodyPr/>
          <a:p/>
        </p:txBody>
      </p:sp>
      <p:sp>
        <p:nvSpPr>
          <p:cNvPr id="140" name="List card"/>
          <p:cNvSpPr/>
          <p:nvPr/>
        </p:nvSpPr>
        <p:spPr>
          <a:xfrm>
            <a:off x="5989320" y="1234440"/>
            <a:ext cx="5760720" cy="3154680"/>
          </a:xfrm>
          <a:prstGeom prst="roundRect">
            <a:avLst>
              <a:gd name="adj" fmla="val 16667"/>
            </a:avLst>
          </a:prstGeom>
          <a:solidFill>
            <a:srgbClr val="FFFFFF"/>
          </a:solidFill>
          <a:ln/>
        </p:spPr>
        <p:txBody>
          <a:bodyPr/>
          <a:p/>
        </p:txBody>
      </p:sp>
      <p:sp>
        <p:nvSpPr>
          <p:cNvPr id="141" name="Question list"/>
          <p:cNvSpPr/>
          <p:nvPr/>
        </p:nvSpPr>
        <p:spPr>
          <a:xfrm>
            <a:off x="6263640" y="1463040"/>
            <a:ext cx="5303520" cy="2834640"/>
          </a:xfrm>
          <a:prstGeom prst="rect">
            <a:avLst/>
          </a:prstGeom>
          <a:noFill/>
          <a:ln/>
        </p:spPr>
        <p:txBody>
          <a:bodyPr wrap="square" lIns="0" tIns="0" rIns="0" bIns="0" rtlCol="0" anchor="t"/>
          <a:lstStyle/>
          <a:p>
            <a:pPr algn="l" indent="0" marL="0">
              <a:lnSpc>
                <a:spcPct val="110000"/>
              </a:lnSpc>
              <a:buNone/>
            </a:pPr>
            <a:r>
              <a:rPr lang="en-US" sz="1800" dirty="0" b="1">
                <a:solidFill>
                  <a:srgbClr val="5B3FC4"/>
                </a:solidFill>
                <a:latin typeface="Lexend Deca" pitchFamily="34" charset="0"/>
                <a:ea typeface="Lexend Deca" pitchFamily="34" charset="-122"/>
                <a:cs typeface="Lexend Deca" pitchFamily="34" charset="-120"/>
              </a:rPr>
              <a:t>Caller:</a:t>
            </a:r>
            <a:r>
              <a:rPr lang="en-US" sz="1800" dirty="0" b="1">
                <a:solidFill>
                  <a:srgbClr val="5B3FC4"/>
                </a:solidFill>
                <a:latin typeface="Lexend Deca" pitchFamily="34" charset="0"/>
                <a:ea typeface="Lexend Deca" pitchFamily="34" charset="-122"/>
                <a:cs typeface="Lexend Deca" pitchFamily="34" charset="-120"/>
              </a:rPr>
              <a:t> It hurts here.</a:t>
            </a:r>
          </a:p>
          <a:p>
            <a:pPr algn="l" indent="0" marL="0">
              <a:lnSpc>
                <a:spcPct val="110000"/>
              </a:lnSpc>
              <a:buNone/>
            </a:pPr>
            <a:r>
              <a:rPr lang="en-US" sz="1800" dirty="0" b="0">
                <a:solidFill>
                  <a:srgbClr val="1B2236"/>
                </a:solidFill>
                <a:latin typeface="Lexend Deca" pitchFamily="34" charset="0"/>
                <a:ea typeface="Lexend Deca" pitchFamily="34" charset="-122"/>
                <a:cs typeface="Lexend Deca" pitchFamily="34" charset="-120"/>
              </a:rPr>
              <a:t>My ______.</a:t>
            </a:r>
          </a:p>
          <a:p>
            <a:pPr algn="l" indent="0" marL="0">
              <a:lnSpc>
                <a:spcPct val="110000"/>
              </a:lnSpc>
              <a:buNone/>
            </a:pPr>
            <a:r>
              <a:rPr lang="en-US" sz="1800" dirty="0" b="1">
                <a:solidFill>
                  <a:srgbClr val="5B3FC4"/>
                </a:solidFill>
                <a:latin typeface="Lexend Deca" pitchFamily="34" charset="0"/>
                <a:ea typeface="Lexend Deca" pitchFamily="34" charset="-122"/>
                <a:cs typeface="Lexend Deca" pitchFamily="34" charset="-120"/>
              </a:rPr>
              <a:t>Operator:</a:t>
            </a:r>
            <a:r>
              <a:rPr lang="en-US" sz="1800" dirty="0" b="0">
                <a:solidFill>
                  <a:srgbClr val="1B2236"/>
                </a:solidFill>
                <a:latin typeface="Lexend Deca" pitchFamily="34" charset="0"/>
                <a:ea typeface="Lexend Deca" pitchFamily="34" charset="-122"/>
                <a:cs typeface="Lexend Deca" pitchFamily="34" charset="-120"/>
              </a:rPr>
              <a:t> What's the address?</a:t>
            </a:r>
          </a:p>
          <a:p>
            <a:pPr algn="l" indent="0" marL="0">
              <a:lnSpc>
                <a:spcPct val="110000"/>
              </a:lnSpc>
              <a:buNone/>
            </a:pPr>
            <a:r>
              <a:rPr lang="en-US" sz="1800" dirty="0" b="1">
                <a:solidFill>
                  <a:srgbClr val="5B3FC4"/>
                </a:solidFill>
                <a:latin typeface="Lexend Deca" pitchFamily="34" charset="0"/>
                <a:ea typeface="Lexend Deca" pitchFamily="34" charset="-122"/>
                <a:cs typeface="Lexend Deca" pitchFamily="34" charset="-120"/>
              </a:rPr>
              <a:t>Caller:</a:t>
            </a:r>
            <a:r>
              <a:rPr lang="en-US" sz="1800" dirty="0" b="1">
                <a:solidFill>
                  <a:srgbClr val="5B3FC4"/>
                </a:solidFill>
                <a:latin typeface="Lexend Deca" pitchFamily="34" charset="0"/>
                <a:ea typeface="Lexend Deca" pitchFamily="34" charset="-122"/>
                <a:cs typeface="Lexend Deca" pitchFamily="34" charset="-120"/>
              </a:rPr>
              <a:t> ______ Street.</a:t>
            </a:r>
          </a:p>
          <a:p>
            <a:pPr algn="l" indent="0" marL="0">
              <a:lnSpc>
                <a:spcPct val="110000"/>
              </a:lnSpc>
              <a:buNone/>
            </a:pPr>
            <a:r>
              <a:rPr lang="en-US" sz="1800" dirty="0" b="1">
                <a:solidFill>
                  <a:srgbClr val="5B3FC4"/>
                </a:solidFill>
                <a:latin typeface="Lexend Deca" pitchFamily="34" charset="0"/>
                <a:ea typeface="Lexend Deca" pitchFamily="34" charset="-122"/>
                <a:cs typeface="Lexend Deca" pitchFamily="34" charset="-120"/>
              </a:rPr>
              <a:t>Use the card. Then switch.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7" name="Shape 5"/>
          <p:cNvSpPr/>
          <p:nvPr/>
        </p:nvSpPr>
        <p:spPr>
          <a:xfrm>
            <a:off x="1583741" y="4754880"/>
            <a:ext cx="5130698" cy="713232"/>
          </a:xfrm>
          <a:prstGeom prst="round1Rect">
            <a:avLst>
              <a:gd name="adj" fmla="val 23087"/>
            </a:avLst>
          </a:prstGeom>
          <a:solidFill>
            <a:srgbClr val="FFFFFF"/>
          </a:solidFill>
          <a:ln/>
        </p:spPr>
        <p:txBody>
          <a:bodyPr/>
          <a:p/>
        </p:txBody>
      </p:sp>
      <p:sp>
        <p:nvSpPr>
          <p:cNvPr id="50" name="Row card 5"/>
          <p:cNvSpPr/>
          <p:nvPr/>
        </p:nvSpPr>
        <p:spPr>
          <a:xfrm>
            <a:off x="1583741" y="5541264"/>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6692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Write feel, hurts, OK, or Call.</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Look at Grammar Boxes 1–3.</a:t>
            </a:r>
          </a:p>
        </p:txBody>
      </p:sp>
      <p:sp>
        <p:nvSpPr>
          <p:cNvPr id="11" name="Text 9"/>
          <p:cNvSpPr/>
          <p:nvPr/>
        </p:nvSpPr>
        <p:spPr>
          <a:xfrm>
            <a:off x="1810512" y="2395728"/>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How do you ____?</a:t>
            </a:r>
          </a:p>
        </p:txBody>
      </p:sp>
      <p:sp>
        <p:nvSpPr>
          <p:cNvPr id="13" name="Text 11"/>
          <p:cNvSpPr/>
          <p:nvPr/>
        </p:nvSpPr>
        <p:spPr>
          <a:xfrm>
            <a:off x="1810512" y="3182112"/>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Are you ____?</a:t>
            </a:r>
          </a:p>
        </p:txBody>
      </p:sp>
      <p:sp>
        <p:nvSpPr>
          <p:cNvPr id="15" name="Text 13"/>
          <p:cNvSpPr/>
          <p:nvPr/>
        </p:nvSpPr>
        <p:spPr>
          <a:xfrm>
            <a:off x="1810512" y="3968496"/>
            <a:ext cx="310896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It ____ here.</a:t>
            </a:r>
          </a:p>
        </p:txBody>
      </p:sp>
      <p:sp>
        <p:nvSpPr>
          <p:cNvPr id="17" name="Text 15"/>
          <p:cNvSpPr/>
          <p:nvPr/>
        </p:nvSpPr>
        <p:spPr>
          <a:xfrm>
            <a:off x="1810512" y="4754880"/>
            <a:ext cx="310896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911.</a:t>
            </a:r>
          </a:p>
        </p:txBody>
      </p:sp>
      <p:sp>
        <p:nvSpPr>
          <p:cNvPr id="51" name="Row text 5"/>
          <p:cNvSpPr/>
          <p:nvPr/>
        </p:nvSpPr>
        <p:spPr>
          <a:xfrm>
            <a:off x="1810512" y="5541264"/>
            <a:ext cx="310896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____ sick.</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7" name="Shape 25"/>
          <p:cNvSpPr/>
          <p:nvPr/>
        </p:nvSpPr>
        <p:spPr>
          <a:xfrm>
            <a:off x="544982" y="4754880"/>
            <a:ext cx="1039673" cy="713232"/>
          </a:xfrm>
          <a:prstGeom prst="rect">
            <a:avLst/>
          </a:prstGeom>
          <a:solidFill>
            <a:srgbClr val="B9D2F7"/>
          </a:solidFill>
          <a:ln/>
        </p:spPr>
        <p:txBody>
          <a:bodyPr/>
          <a:p/>
        </p:txBody>
      </p:sp>
      <p:sp>
        <p:nvSpPr>
          <p:cNvPr id="28" name="Text 26"/>
          <p:cNvSpPr/>
          <p:nvPr/>
        </p:nvSpPr>
        <p:spPr>
          <a:xfrm>
            <a:off x="686714" y="481888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a:p>
        </p:txBody>
      </p:sp>
      <p:sp>
        <p:nvSpPr>
          <p:cNvPr id="52" name="Row chip 5"/>
          <p:cNvSpPr/>
          <p:nvPr/>
        </p:nvSpPr>
        <p:spPr>
          <a:xfrm>
            <a:off x="544982" y="5541264"/>
            <a:ext cx="1039673" cy="713232"/>
          </a:xfrm>
          <a:prstGeom prst="rect">
            <a:avLst/>
          </a:prstGeom>
          <a:solidFill>
            <a:srgbClr val="B9D2F7"/>
          </a:solidFill>
          <a:ln/>
        </p:spPr>
        <p:txBody>
          <a:bodyPr/>
          <a:p/>
        </p:txBody>
      </p:sp>
      <p:sp>
        <p:nvSpPr>
          <p:cNvPr id="53" name="Row number 5"/>
          <p:cNvSpPr/>
          <p:nvPr/>
        </p:nvSpPr>
        <p:spPr>
          <a:xfrm>
            <a:off x="686714" y="56052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Practice</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feel</a:t>
            </a:r>
            <a:r>
              <a:rPr lang="en-US" sz="2000" dirty="0" b="0">
                <a:solidFill>
                  <a:srgbClr val="1B2236"/>
                </a:solidFill>
                <a:latin typeface="Lexend Deca" pitchFamily="34" charset="0"/>
                <a:ea typeface="Lexend Deca" pitchFamily="34" charset="-122"/>
                <a:cs typeface="Lexend Deca" pitchFamily="34" charset="-120"/>
              </a:rPr>
              <a:t>  ·  </a:t>
            </a:r>
            <a:r>
              <a:rPr lang="en-US" sz="2000" dirty="0" b="1">
                <a:solidFill>
                  <a:srgbClr val="5B3FC4"/>
                </a:solidFill>
                <a:latin typeface="Lexend Deca" pitchFamily="34" charset="0"/>
                <a:ea typeface="Lexend Deca" pitchFamily="34" charset="-122"/>
                <a:cs typeface="Lexend Deca" pitchFamily="34" charset="-120"/>
              </a:rPr>
              <a:t>hurts</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OK</a:t>
            </a:r>
            <a:r>
              <a:rPr lang="en-US" sz="2000" dirty="0" b="0">
                <a:solidFill>
                  <a:srgbClr val="1B2236"/>
                </a:solidFill>
                <a:latin typeface="Lexend Deca" pitchFamily="34" charset="0"/>
                <a:ea typeface="Lexend Deca" pitchFamily="34" charset="-122"/>
                <a:cs typeface="Lexend Deca" pitchFamily="34" charset="-120"/>
              </a:rPr>
              <a:t>  ·  </a:t>
            </a:r>
            <a:r>
              <a:rPr lang="en-US" sz="2000" dirty="0" b="1">
                <a:solidFill>
                  <a:srgbClr val="5B3FC4"/>
                </a:solidFill>
                <a:latin typeface="Lexend Deca" pitchFamily="34" charset="0"/>
                <a:ea typeface="Lexend Deca" pitchFamily="34" charset="-122"/>
                <a:cs typeface="Lexend Deca" pitchFamily="34" charset="-120"/>
              </a:rPr>
              <a:t>Call</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check your answers.</a:t>
            </a:r>
          </a:p>
        </p:txBody>
      </p:sp>
      <p:sp>
        <p:nvSpPr>
          <p:cNvPr id="34" name="Answer 1"/>
          <p:cNvSpPr/>
          <p:nvPr/>
        </p:nvSpPr>
        <p:spPr>
          <a:xfrm>
            <a:off x="4983480" y="2523744"/>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feel</a:t>
            </a:r>
          </a:p>
        </p:txBody>
      </p:sp>
      <p:sp>
        <p:nvSpPr>
          <p:cNvPr id="35" name="Answer 2"/>
          <p:cNvSpPr/>
          <p:nvPr/>
        </p:nvSpPr>
        <p:spPr>
          <a:xfrm>
            <a:off x="4983480" y="3310128"/>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OK</a:t>
            </a:r>
          </a:p>
        </p:txBody>
      </p:sp>
      <p:sp>
        <p:nvSpPr>
          <p:cNvPr id="36" name="Answer 3"/>
          <p:cNvSpPr/>
          <p:nvPr/>
        </p:nvSpPr>
        <p:spPr>
          <a:xfrm>
            <a:off x="4983480" y="4096511"/>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hurts</a:t>
            </a:r>
          </a:p>
        </p:txBody>
      </p:sp>
      <p:sp>
        <p:nvSpPr>
          <p:cNvPr id="37" name="Answer 4"/>
          <p:cNvSpPr/>
          <p:nvPr/>
        </p:nvSpPr>
        <p:spPr>
          <a:xfrm>
            <a:off x="4983480" y="4882896"/>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Call</a:t>
            </a:r>
          </a:p>
        </p:txBody>
      </p:sp>
      <p:sp>
        <p:nvSpPr>
          <p:cNvPr id="54" name="Answer 5"/>
          <p:cNvSpPr/>
          <p:nvPr/>
        </p:nvSpPr>
        <p:spPr>
          <a:xfrm>
            <a:off x="4983480" y="5669280"/>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feel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Emergency card. Answer.</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Look at the card.</a:t>
            </a:r>
          </a:p>
        </p:txBody>
      </p:sp>
      <p:sp>
        <p:nvSpPr>
          <p:cNvPr id="11" name="Text 9"/>
          <p:cNvSpPr/>
          <p:nvPr/>
        </p:nvSpPr>
        <p:spPr>
          <a:xfrm>
            <a:off x="1810512" y="2395728"/>
            <a:ext cx="2560320" cy="713232"/>
          </a:xfrm>
          <a:prstGeom prst="rect">
            <a:avLst/>
          </a:prstGeom>
          <a:noFill/>
          <a:ln/>
        </p:spPr>
        <p:txBody>
          <a:bodyPr wrap="square" rtlCol="0" anchor="ctr" tIns="0" bIns="0"/>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Name:</a:t>
            </a:r>
          </a:p>
        </p:txBody>
      </p:sp>
      <p:sp>
        <p:nvSpPr>
          <p:cNvPr id="13" name="Text 11"/>
          <p:cNvSpPr/>
          <p:nvPr/>
        </p:nvSpPr>
        <p:spPr>
          <a:xfrm>
            <a:off x="1810512" y="3182112"/>
            <a:ext cx="2560320" cy="713232"/>
          </a:xfrm>
          <a:prstGeom prst="rect">
            <a:avLst/>
          </a:prstGeom>
          <a:noFill/>
          <a:ln/>
        </p:spPr>
        <p:txBody>
          <a:bodyPr wrap="square" rtlCol="0" anchor="ctr" tIns="0" bIns="0"/>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Phone:</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Emergency Card</a:t>
            </a:r>
          </a:p>
        </p:txBody>
      </p:sp>
      <p:sp>
        <p:nvSpPr>
          <p:cNvPr id="30" name="Text 28"/>
          <p:cNvSpPr/>
          <p:nvPr/>
        </p:nvSpPr>
        <p:spPr>
          <a:xfrm>
            <a:off x="7751369" y="3611880"/>
            <a:ext cx="3931920" cy="128016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Real-World Reading</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Task B:</a:t>
            </a:r>
            <a:r>
              <a:rPr lang="en-US" sz="2000" dirty="0" b="0">
                <a:solidFill>
                  <a:srgbClr val="1B2236"/>
                </a:solidFill>
                <a:latin typeface="Lexend Deca" pitchFamily="34" charset="0"/>
                <a:ea typeface="Lexend Deca" pitchFamily="34" charset="-122"/>
                <a:cs typeface="Lexend Deca" pitchFamily="34" charset="-120"/>
              </a:rPr>
              <a:t> answer.</a:t>
            </a:r>
          </a:p>
        </p:txBody>
      </p:sp>
      <p:sp>
        <p:nvSpPr>
          <p:cNvPr id="34" name="Answer 1"/>
          <p:cNvSpPr/>
          <p:nvPr/>
        </p:nvSpPr>
        <p:spPr>
          <a:xfrm>
            <a:off x="4526280" y="2523744"/>
            <a:ext cx="2148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ANA RUIZ</a:t>
            </a:r>
          </a:p>
        </p:txBody>
      </p:sp>
      <p:sp>
        <p:nvSpPr>
          <p:cNvPr id="35" name="Answer 2"/>
          <p:cNvSpPr/>
          <p:nvPr/>
        </p:nvSpPr>
        <p:spPr>
          <a:xfrm>
            <a:off x="4526280" y="3310128"/>
            <a:ext cx="2148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555-0142</a:t>
            </a:r>
          </a:p>
        </p:txBody>
      </p:sp>
      <p:pic>
        <p:nvPicPr>
          <p:cNvPr id="36" name="Emergency card: Name Ana Ruiz, Address 2 picture" descr="emergency card: Name Ana Ruiz, Address 210 Pine St, Phone 555-0142, Emergency 555-0199"/>
          <p:cNvPicPr>
            <a:picLocks noChangeAspect="1"/>
          </p:cNvPicPr>
          <p:nvPr/>
        </p:nvPicPr>
        <p:blipFill>
          <a:blip r:embed="rIdImg4"/>
          <a:stretch>
            <a:fillRect/>
          </a:stretch>
        </p:blipFill>
        <p:spPr>
          <a:xfrm>
            <a:off x="1600200" y="3840480"/>
            <a:ext cx="3840480" cy="26883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Lesson 7: How Much Is It?</dc:title>
  <dc:subject>Adult ESL Level 1, Lesson 7</dc:subject>
  <dc:creator>Level 1 ESL</dc:creator>
  <cp:lastModifiedBy>Level 1 ESL</cp:lastModifiedBy>
  <cp:revision>1</cp:revision>
  <dcterms:created xsi:type="dcterms:W3CDTF">2026-10-15T20:54:31Z</dcterms:created>
  <dcterms:modified xsi:type="dcterms:W3CDTF">2026-10-15T20:54:31Z</dcterms:modified>
</cp:coreProperties>
</file>