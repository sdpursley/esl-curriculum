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32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65" r:id="rId11"/>
    <p:sldId id="276" r:id="rId27"/>
    <p:sldId id="264" r:id="rId10"/>
    <p:sldId id="287" r:id="rId38"/>
    <p:sldId id="280" r:id="rId31"/>
    <p:sldId id="260" r:id="rId6"/>
    <p:sldId id="266" r:id="rId12"/>
    <p:sldId id="259" r:id="rId5"/>
    <p:sldId id="277" r:id="rId28"/>
    <p:sldId id="289" r:id="rId40"/>
    <p:sldId id="278" r:id="rId29"/>
    <p:sldId id="270" r:id="rId16"/>
    <p:sldId id="288" r:id="rId39"/>
    <p:sldId id="271" r:id="rId17"/>
    <p:sldId id="279" r:id="rId30"/>
    <p:sldId id="291" r:id="rId42"/>
    <p:sldId id="281" r:id="rId32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4" Type="http://schemas.openxmlformats.org/officeDocument/2006/relationships/slide" Target="slides/slide22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2" Type="http://schemas.openxmlformats.org/officeDocument/2006/relationships/slide" Target="slides/slide3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Welcome. Say: "Today: can and can't. Job skills. A job interview." Mime: "I can cook."</a:t>
            </a:r>
          </a:p>
          <a:p>
            <a:r>
              <a:rPr lang="en-US"/>
              <a:t>Before class: print the Student Pages (number expected + 3 spares), one set of picture cards per group of 3–4, skill picture cards (cook, drive, clean…), the job-interview picture and the job application, mini whiteboards or scrap paper. Have the phone + small speaker and L1_L13_listening.mp3 ready. Prep time: 30 min.</a:t>
            </a:r>
          </a:p>
          <a:p>
            <a:r>
              <a:rPr lang="en-US"/>
              <a:t>Invented interview: learners may invent skills. Graduation talk (Week 16): learners prepare 3 sentences this week; reading from paper is fine.</a:t>
            </a:r>
          </a:p>
          <a:p>
            <a:r>
              <a:rPr lang="en-US"/>
              <a:t>Class plan: 6:00 Hello + Review, 6:10 New Words, 6:20 Listening, 6:32 Grammar, 6:45 Break, 7:00 Talk Time, 7:10 Exit Ticket + Homework, 7:15 Real-World Reading, 7:25 Progress Check.</a:t>
            </a:r>
          </a:p>
          <a:p>
            <a:r>
              <a:rPr lang="en-US"/>
              <a:t>Source: level1_curriculum/lesson13/Level1_Lesson13.md (At a glance, Clock-time plan, How to Use This Plan,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Pairs. 15 learners: 7 pairs + 1 group of 3. 7–8 learners: 3–4 pairs. Late arrivals join any pair.</a:t>
            </a:r>
          </a:p>
          <a:p>
            <a:r>
              <a:rPr lang="en-US"/>
              <a:t>Before class, write on the board: How do you feel? Can you cook? Can you drive?</a:t>
            </a:r>
          </a:p>
          <a:p>
            <a:r>
              <a:rPr lang="en-US"/>
              <a:t>Model with one learner: "How do you feel?" → "I feel fine." Then "Can you cook?" → "Yes, I can."</a:t>
            </a:r>
          </a:p>
          <a:p>
            <a:r>
              <a:rPr lang="en-US"/>
              <a:t>Click to show the A question. Click again for the answers. Pairs use the Hello + Review page: 1 Are you OK? → Yes, I am. / No, I'm not. 2 What's wrong? → ___. 3 Are you OK? Switch. Then find a new partner.</a:t>
            </a:r>
          </a:p>
          <a:p>
            <a:r>
              <a:rPr lang="en-US"/>
              <a:t>Homework check (last 3 min): partners show last week's homework. Walk around and look.</a:t>
            </a:r>
          </a:p>
          <a:p>
            <a:r>
              <a:rPr lang="en-US"/>
              <a:t>New learners: pair them with a strong partner. If behind: one partner only.</a:t>
            </a:r>
          </a:p>
          <a:p>
            <a:r>
              <a:rPr lang="en-US"/>
              <a:t>Source: level1_curriculum/lesson13/Level1_Lesson13.md (Step 1: Hello + Review; Student Pages: Hello + Review).</a:t>
            </a:r>
          </a:p>
          <a:p>
            <a:r>
              <a:rPr lang="en-US"/>
              <a:t>Review picture: "sick" from Lesson 12 (lesson12/images/L1_L12_sick.png). Twemoji graphics by Twitter, Inc. and other contributors (https://github.com/jdecked/twemoji), CC BY 4.0 (https://creativecommons.org/licenses/by/4.0/); resized (see lesson12/images/CREDITS.md).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each DON'T SAY line. Shake your head. Cross it out on the board. Click to show the SAY line. Learners repeat it.</a:t>
            </a:r>
          </a:p>
          <a:p>
            <a:r>
              <a:rPr lang="en-US"/>
              <a:t>"Does can take to or -s?" No. I can drive (not I can to drive or I can drives).</a:t>
            </a:r>
          </a:p>
          <a:p>
            <a:r>
              <a:rPr lang="en-US"/>
              <a:t>Side card: "How do can and can't sound?" can is often short and soft. can't is longer and clear: stress it so people hear the t.</a:t>
            </a:r>
          </a:p>
          <a:p>
            <a:r>
              <a:rPr lang="en-US"/>
              <a:t>Big mistake this week: I can to cook / I can cooking. Point to Grammar Box 2.</a:t>
            </a:r>
          </a:p>
          <a:p>
            <a:r>
              <a:rPr lang="en-US"/>
              <a:t>Source: level1_curriculum/lesson13/Level1_Lesson13.md (Grammar Box 2; Questions and answers; Step 4;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Grammar page. Left = question. Right = answer. Point left, then right.</a:t>
            </a:r>
          </a:p>
          <a:p>
            <a:r>
              <a:rPr lang="en-US"/>
              <a:t>New words: I can / I can't (the two pictures). Point to the green card: "I can." Point to the red card: "I can't."</a:t>
            </a:r>
          </a:p>
          <a:p>
            <a:r>
              <a:rPr lang="en-US"/>
              <a:t>Box 1: "Can you drive?" Click: "Yes, I can." "Can you cook?" Click: "No, I can't." "Can you swim?" Click: "Yes, I can. / No, I can't."</a:t>
            </a:r>
          </a:p>
          <a:p>
            <a:r>
              <a:rPr lang="en-US"/>
              <a:t>Check question: "___ you drive?" Click: Can. Then: "No, I ___." (can't)</a:t>
            </a:r>
          </a:p>
          <a:p>
            <a:r>
              <a:rPr lang="en-US"/>
              <a:t>can is often short and soft. can't is longer and clear: stress it so people hear the t.</a:t>
            </a:r>
          </a:p>
          <a:p>
            <a:r>
              <a:rPr lang="en-US"/>
              <a:t>Source: level1_curriculum/lesson13/Level1_Lesson13.md (Step 4: Grammar Q&amp;A, Box 1; Grammar Box 1; New Words; Questions and answers).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Progress Check (5 min). Individuals. Open the Progress Check page.</a:t>
            </a:r>
          </a:p>
          <a:p>
            <a:r>
              <a:rPr lang="en-US"/>
              <a:t>Part A: read each word slowly, 2 times: 1 cook, 2 drive, 3 computer, 4 clean, 5 swim. Learners circle.</a:t>
            </a:r>
          </a:p>
          <a:p>
            <a:r>
              <a:rPr lang="en-US"/>
              <a:t>Parts B and C: learners match and write on their own. Help with the instructions only. Click to show the Part B answers when you check together: 1 b, 2 a, 3 c, 4 d.</a:t>
            </a:r>
          </a:p>
          <a:p>
            <a:r>
              <a:rPr lang="en-US"/>
              <a:t>Part C answers: 1 can (I can cook.), 2 can't (I can't fly.), 3 Can (Can you drive?).</a:t>
            </a:r>
          </a:p>
          <a:p>
            <a:r>
              <a:rPr lang="en-US"/>
              <a:t>Part D: read each "I can…" line and point to the 3 faces. Learners check one.</a:t>
            </a:r>
          </a:p>
          <a:p>
            <a:r>
              <a:rPr lang="en-US"/>
              <a:t>Score: A /5 + B /4 + C /3 = /12. Not a test grade. Collect if you want. If behind: do it next week at 6:00.</a:t>
            </a:r>
          </a:p>
          <a:p>
            <a:r>
              <a:rPr lang="en-US"/>
              <a:t>Source: level1_curriculum/lesson13/Level1_Lesson13.md (Progress Check step; Student Pages: Progress Check;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you listen (1 min). Say: "Ana has a job interview at a restaurant. The manager asks: Can you…?"</a:t>
            </a:r>
          </a:p>
          <a:p>
            <a:r>
              <a:rPr lang="en-US"/>
              <a:t>Click to show each listen. Listen 1: Task A (check what she can do). Listen 2: Task B (what can't she do?). Listen 3: Task C (days and time).</a:t>
            </a:r>
          </a:p>
          <a:p>
            <a:r>
              <a:rPr lang="en-US"/>
              <a:t>Say it!: class repeats: "Can you work on weekends?" "Yes, I can." "No, I can't."</a:t>
            </a:r>
          </a:p>
          <a:p>
            <a:r>
              <a:rPr lang="en-US"/>
              <a:t>The audio L1_L13_listening.mp3 (about 1:10) plays the conversation once. Press play again for the next listen. Pairs compare after each task. Write answers on the board.</a:t>
            </a:r>
          </a:p>
          <a:p>
            <a:r>
              <a:rPr lang="en-US"/>
              <a:t>No speaker? Read the script with a volunteer. The restaurant interview is invented.</a:t>
            </a:r>
          </a:p>
          <a:p>
            <a:r>
              <a:rPr lang="en-US"/>
              <a:t>Voices: Narrator, Manager, Ana. Synthetic voices made with Chatterbox TTS (MIT), copied from short reference clips made with Kokoro-82M (Apache 2.0); no recordings of real people.</a:t>
            </a:r>
          </a:p>
          <a:p>
            <a:r>
              <a:rPr lang="en-US"/>
              <a:t>If behind: play 2 times; do Task C together.</a:t>
            </a:r>
          </a:p>
          <a:p>
            <a:r>
              <a:rPr lang="en-US"/>
              <a:t>Source: level1_curriculum/lesson13/Level1_Lesson13.md (Step 3: Listening; Listening script).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Mime the skills: "Cook. Drive. Clean." Hold up a picture: "Computer."</a:t>
            </a:r>
          </a:p>
          <a:p>
            <a:r>
              <a:rPr lang="en-US"/>
              <a:t>Click to show each picture. Point and say the word. Learners repeat 2 times. ★ words 2 more times.</a:t>
            </a:r>
          </a:p>
          <a:p>
            <a:r>
              <a:rPr lang="en-US"/>
              <a:t>★ = most important words (as on the New Words page). If behind: teach the ★ words only.</a:t>
            </a:r>
          </a:p>
          <a:p>
            <a:r>
              <a:rPr lang="en-US"/>
              <a:t>Source: level1_curriculum/lesson13/Level1_Lesson13.md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2: "I can cook. I can drive." Click. "I can't use a computer. I can't swim." Click.</a:t>
            </a:r>
          </a:p>
          <a:p>
            <a:r>
              <a:rPr lang="en-US"/>
              <a:t>Mime each one. Learners repeat 2 times.</a:t>
            </a:r>
          </a:p>
          <a:p>
            <a:r>
              <a:rPr lang="en-US"/>
              <a:t>can + verb: no "to", no "-s". I can cook (not I can to cook, not I can cooks).</a:t>
            </a:r>
          </a:p>
          <a:p>
            <a:r>
              <a:rPr lang="en-US"/>
              <a:t>Check question: "No, I ___." (can't)</a:t>
            </a:r>
          </a:p>
          <a:p>
            <a:r>
              <a:rPr lang="en-US"/>
              <a:t>Source: level1_curriculum/lesson13/Level1_Lesson13.md (Step 4: Grammar Q&amp;A, Box 2; Grammar Box 2).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goal, one at a time. Read it aloud. Learners repeat.</a:t>
            </a:r>
          </a:p>
          <a:p>
            <a:r>
              <a:rPr lang="en-US"/>
              <a:t>Goal 1: ask and answer "Can you…? Yes, I can. / No, I can't."</a:t>
            </a:r>
          </a:p>
          <a:p>
            <a:r>
              <a:rPr lang="en-US"/>
              <a:t>Goal 2: say "I can… / I can't…" for job and life skills.</a:t>
            </a:r>
          </a:p>
          <a:p>
            <a:r>
              <a:rPr lang="en-US"/>
              <a:t>Goal 3: understand a short job interview.</a:t>
            </a:r>
          </a:p>
          <a:p>
            <a:r>
              <a:rPr lang="en-US"/>
              <a:t>Goal 4: fill a simple job application (name, phone, skills).</a:t>
            </a:r>
          </a:p>
          <a:p>
            <a:r>
              <a:rPr lang="en-US"/>
              <a:t>Goal 5: prepare 3 sentences for the graduation "All About Me" talk.</a:t>
            </a:r>
          </a:p>
          <a:p>
            <a:r>
              <a:rPr lang="en-US"/>
              <a:t>Source: level1_curriculum/lesson13/Level1_Lesson13.md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1 — Skills survey (4 min). Learners ask 3 classmates "Can you…?" and write ✓ or ✗ in the table: cook, drive, use a computer, speak English.</a:t>
            </a:r>
          </a:p>
          <a:p>
            <a:r>
              <a:rPr lang="en-US"/>
              <a:t>Click to show each step. Model with one learner first.</a:t>
            </a:r>
          </a:p>
          <a:p>
            <a:r>
              <a:rPr lang="en-US"/>
              <a:t>Learners who can't write yet: they say "Yes, I can" and check boxes.</a:t>
            </a:r>
          </a:p>
          <a:p>
            <a:r>
              <a:rPr lang="en-US"/>
              <a:t>If behind: one round only.</a:t>
            </a:r>
          </a:p>
          <a:p>
            <a:r>
              <a:rPr lang="en-US"/>
              <a:t>Source: level1_curriculum/lesson13/Level1_Lesson13.md (Step 5: Talk Time, Part 1; Student Pages: Talk Time Skills Survey;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Exit ticket (never skip): each learner says "I can ___." or "I can't ___."</a:t>
            </a:r>
          </a:p>
          <a:p>
            <a:r>
              <a:rPr lang="en-US"/>
              <a:t>Homework (10 minutes): open the Homework page. Do item 1, line 1 together. Point to each instruction.</a:t>
            </a:r>
          </a:p>
          <a:p>
            <a:r>
              <a:rPr lang="en-US"/>
              <a:t>Homework: 1) write about you: I can ___ (2 times), I can't ___, Can you drive? → ___; 2) unscramble: can / I / cook; can't / I / swim; you / Can / drive; 3) prepare your graduation talk (3 sentences): My name is ___. I can ___. I ___. Reading from paper is fine; 4) ask a family member "Can you cook?" and write the answer; 5) review: write I feel… or Call 911 (Lesson 12).</a:t>
            </a:r>
          </a:p>
          <a:p>
            <a:r>
              <a:rPr lang="en-US"/>
              <a:t>Graduation talk is in Week 16.</a:t>
            </a:r>
          </a:p>
          <a:p>
            <a:r>
              <a:rPr lang="en-US"/>
              <a:t>Source: level1_curriculum/lesson13/Level1_Lesson13.md (Step 6: Exit Ticket + Homework; Student Pages: Homework;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Credits for the pictures, audio, and font.</a:t>
            </a:r>
          </a:p>
          <a:p>
            <a:r>
              <a:rPr lang="en-US"/>
              <a:t>Pictures: Twemoji (CC BY 4.0), https://github.com/jdecked/twemoji; resized and combined, labels added; I can / I can't cards and the job application drawn in code. Review picture (sick) from Lesson 12. Audio: Chatterbox TTS (MIT) voices copied from short Kokoro-82M (Apache 2.0) reference clips; no recordings of real people.</a:t>
            </a:r>
          </a:p>
          <a:p>
            <a:r>
              <a:rPr lang="en-US"/>
              <a:t>Sources: Level1_Lesson13.md (Picture Credits), lesson13/images/CREDITS.md, lesson13/audio/README.md.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Mime: "Lift. Swim." Hold up a picture: "Speak English."</a:t>
            </a:r>
          </a:p>
          <a:p>
            <a:r>
              <a:rPr lang="en-US"/>
              <a:t>Click to show each picture. Say the word. Learners repeat 2 times.</a:t>
            </a:r>
          </a:p>
          <a:p>
            <a:r>
              <a:rPr lang="en-US"/>
              <a:t>Pairs (4 min): A points to a picture, B says the word. Then A asks "Can you ___?" B answers "Yes, I can. / No, I can't."</a:t>
            </a:r>
          </a:p>
          <a:p>
            <a:r>
              <a:rPr lang="en-US"/>
              <a:t>★ = most important words. If behind: teach the ★ words only. I can / I can't are on the Grammar slide.</a:t>
            </a:r>
          </a:p>
          <a:p>
            <a:r>
              <a:rPr lang="en-US"/>
              <a:t>Source: level1_curriculum/lesson13/Level1_Lesson13.md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3 (interview questions): "Can you work on weekends?" Click: "Yes, I can. / No, I can't."</a:t>
            </a:r>
          </a:p>
          <a:p>
            <a:r>
              <a:rPr lang="en-US"/>
              <a:t>Right box: "Can you start on Monday?" Click: "Yes, I can."</a:t>
            </a:r>
          </a:p>
          <a:p>
            <a:r>
              <a:rPr lang="en-US"/>
              <a:t>Pairs: A is the manager, B answers. Then switch. Invented interview: learners may invent skills.</a:t>
            </a:r>
          </a:p>
          <a:p>
            <a:r>
              <a:rPr lang="en-US"/>
              <a:t>Pair drill (last 3–4 min): A asks 4 "Can you…?" questions from the skill cards; B answers; switch. If behind: skip the pair drill; Talk Time practices the same language.</a:t>
            </a:r>
          </a:p>
          <a:p>
            <a:r>
              <a:rPr lang="en-US"/>
              <a:t>Source: level1_curriculum/lesson13/Level1_Lesson13.md (Step 4: Grammar Q&amp;A, Box 3 and pair drill; Grammar Box 3).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each "Don't say" line. Shake your head. Click to show the correct line. Learners repeat it.</a:t>
            </a:r>
          </a:p>
          <a:p>
            <a:r>
              <a:rPr lang="en-US"/>
              <a:t>I can to drive → I can drive. I can drives → I can drive. I no can cook → I can't cook.</a:t>
            </a:r>
          </a:p>
          <a:p>
            <a:r>
              <a:rPr lang="en-US"/>
              <a:t>Spanish speakers: can has no "to" and no "-s". can sounds short; can't sounds clear and long. Learners can read the Spanish note on their Grammar page.</a:t>
            </a:r>
          </a:p>
          <a:p>
            <a:r>
              <a:rPr lang="en-US"/>
              <a:t>Tip for speakers of other languages: read the grammar boxes left to right. Copy one question and one answer.</a:t>
            </a:r>
          </a:p>
          <a:p>
            <a:r>
              <a:rPr lang="en-US"/>
              <a:t>Source: level1_curriculum/lesson13/Level1_Lesson13.md (Grammar: Common mistakes).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Real-World Reading (10 min). Whole class, then pairs. Use the Real-World Reading page. The form is invented.</a:t>
            </a:r>
          </a:p>
          <a:p>
            <a:r>
              <a:rPr lang="en-US"/>
              <a:t>See it (2 min), Task A: point to Name / Phone / Skills on the form.</a:t>
            </a:r>
          </a:p>
          <a:p>
            <a:r>
              <a:rPr lang="en-US"/>
              <a:t>Click to show each answer: 1 the Name line, 2 the Phone line. Point to each line on the form.</a:t>
            </a:r>
          </a:p>
          <a:p>
            <a:r>
              <a:rPr lang="en-US"/>
              <a:t>Hear it (2 min): spell a short name; learners write letters they know.</a:t>
            </a:r>
          </a:p>
          <a:p>
            <a:r>
              <a:rPr lang="en-US"/>
              <a:t>Learners who can't read yet: they point to pictures and say key words with everyone.</a:t>
            </a:r>
          </a:p>
          <a:p>
            <a:r>
              <a:rPr lang="en-US"/>
              <a:t>Source: level1_curriculum/lesson13/Level1_Lesson13.md (Real-World Reading step; Student Pages: Real-World Reading A).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2 (Task B): what can't Ana do? Listen 3 (Task C): circle the days and write the time.</a:t>
            </a:r>
          </a:p>
          <a:p>
            <a:r>
              <a:rPr lang="en-US"/>
              <a:t>Pairs compare. Then click to show each answer.</a:t>
            </a:r>
          </a:p>
          <a:p>
            <a:r>
              <a:rPr lang="en-US"/>
              <a:t>Task B: use a computer ("No, I can't. But I can learn.").</a:t>
            </a:r>
          </a:p>
          <a:p>
            <a:r>
              <a:rPr lang="en-US"/>
              <a:t>Task C: she can work on Saturday and Sunday; she starts on Monday at nine ("See you Monday at nine.").</a:t>
            </a:r>
          </a:p>
          <a:p>
            <a:r>
              <a:rPr lang="en-US"/>
              <a:t>If behind: play the audio 2 times, and do Task C together.</a:t>
            </a:r>
          </a:p>
          <a:p>
            <a:r>
              <a:rPr lang="en-US"/>
              <a:t>Source: level1_curriculum/lesson13/Level1_Lesson13.md (Step 3: Listening; Student Pages: Listening B and C; Answer key; Listening script).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C: learners write 2 sentences about themselves: I can ___. I can't ___. Answers will vary.</a:t>
            </a:r>
          </a:p>
          <a:p>
            <a:r>
              <a:rPr lang="en-US"/>
              <a:t>Click to show an example for each line (from Grammar Box 2): I can cook. I can't use a computer. These are examples only.</a:t>
            </a:r>
          </a:p>
          <a:p>
            <a:r>
              <a:rPr lang="en-US"/>
              <a:t>Task D (pairs): A asks one question from the form ("Can you cook?" "Can you drive?"); B answers. Then switch.</a:t>
            </a:r>
          </a:p>
          <a:p>
            <a:r>
              <a:rPr lang="en-US"/>
              <a:t>Source: level1_curriculum/lesson13/Level1_Lesson13.md (Real-World Reading step; Student Pages: Real-World Reading C and D; Grammar Box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"Great work! See you next week!" Remind learners: bring the homework next week and practice the 3 sentences for the graduation talk (Week 16).</a:t>
            </a:r>
          </a:p>
          <a:p>
            <a:r>
              <a:rPr lang="en-US"/>
              <a:t>Collect the Progress Check pages if you want.</a:t>
            </a:r>
          </a:p>
          <a:p>
            <a:r>
              <a:rPr lang="en-US"/>
              <a:t>Source: level1_curriculum/lesson13/Level1_Lesson13.md (At a glance: Objectives;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1 (Task A). Learners check what Ana can do.</a:t>
            </a:r>
          </a:p>
          <a:p>
            <a:r>
              <a:rPr lang="en-US"/>
              <a:t>Pairs compare. Then click to show each answer: cook ✓, clean tables ✓; use a computer ✗ (but she can learn), work on weekends ✓; work at night ✓, start on Monday ✓.</a:t>
            </a:r>
          </a:p>
          <a:p>
            <a:r>
              <a:rPr lang="en-US"/>
              <a:t>In the audio: "I can cook rice, beans, and tacos." "Can you use a computer?" "No, I can't. But I can learn."</a:t>
            </a:r>
          </a:p>
          <a:p>
            <a:r>
              <a:rPr lang="en-US"/>
              <a:t>Source: level1_curriculum/lesson13/Level1_Lesson13.md (Step 3: Listening; Student Pages: Listening A; Answer key; Listening script).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 — Interview (5 min). A = manager, B = applicant; then switch. Use the job-interview page.</a:t>
            </a:r>
          </a:p>
          <a:p>
            <a:r>
              <a:rPr lang="en-US"/>
              <a:t>Model it: "Can you work on weekends?" Click: "Yes, I can."</a:t>
            </a:r>
          </a:p>
          <a:p>
            <a:r>
              <a:rPr lang="en-US"/>
              <a:t>Student A asks: 1 Can you cook? 2 Can you work on weekends? 3 Can you work at night? 4 Can you start on Monday? and writes the answers.</a:t>
            </a:r>
          </a:p>
          <a:p>
            <a:r>
              <a:rPr lang="en-US"/>
              <a:t>Student B says: Yes, I can. / No, I can't. • I can ___. • I can't ___. • Thank you! Remind: invent answers OK.</a:t>
            </a:r>
          </a:p>
          <a:p>
            <a:r>
              <a:rPr lang="en-US"/>
              <a:t>If behind: half of Talk Time only.</a:t>
            </a:r>
          </a:p>
          <a:p>
            <a:r>
              <a:rPr lang="en-US"/>
              <a:t>Source: level1_curriculum/lesson13/Level1_Lesson13.md (Step 5: Talk Time, Part 2; Student Pages: Talk Time Interview A and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Learners write can or can't. Then pairs check.</a:t>
            </a:r>
          </a:p>
          <a:p>
            <a:r>
              <a:rPr lang="en-US"/>
              <a:t>Click to show each answer: 1 can, 2 can't, 3 Can, 4 can, 5 can't.</a:t>
            </a:r>
          </a:p>
          <a:p>
            <a:r>
              <a:rPr lang="en-US"/>
              <a:t>Lines 6–7 on the page: learners write I can ___ and I can't ___ (answers will vary).</a:t>
            </a:r>
          </a:p>
          <a:p>
            <a:r>
              <a:rPr lang="en-US"/>
              <a:t>Source: level1_curriculum/lesson13/Level1_Lesson13.md (Grammar: Practice; Answer key: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it (4 min), Task B: learners check ✓ skills on the form, about themselves. Invented answers are OK.</a:t>
            </a:r>
          </a:p>
          <a:p>
            <a:r>
              <a:rPr lang="en-US"/>
              <a:t>There is no right answer. Walk around and help. Ask: "Can you cook?" "Can you drive?"</a:t>
            </a:r>
          </a:p>
          <a:p>
            <a:r>
              <a:rPr lang="en-US"/>
              <a:t>Learners who can't write yet: they say "Yes, I can" and check boxes on the form.</a:t>
            </a:r>
          </a:p>
          <a:p>
            <a:r>
              <a:rPr lang="en-US"/>
              <a:t>If behind: do Tasks A and B only.</a:t>
            </a:r>
          </a:p>
          <a:p>
            <a:r>
              <a:rPr lang="en-US"/>
              <a:t>Source: level1_curriculum/lesson13/Level1_Lesson13.md (Real-World Reading step; Student Pages: Real-World Reading B;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combined, labels added. The I can / I can't cards and the job application are drawn in code (see lesson13/images/CREDITS.md).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Img2" Type="http://schemas.openxmlformats.org/officeDocument/2006/relationships/image" Target="../media/L1_L13_job_interview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Img2" Type="http://schemas.openxmlformats.org/officeDocument/2006/relationships/image" Target="../media/L1_L12_sick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Img2" Type="http://schemas.openxmlformats.org/officeDocument/2006/relationships/image" Target="../media/L1_L13_job_application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Img7" Type="http://schemas.openxmlformats.org/officeDocument/2006/relationships/image" Target="../media/L1_L13_drive.png"/><Relationship Id="rIdImg8" Type="http://schemas.openxmlformats.org/officeDocument/2006/relationships/image" Target="../media/L1_L13_cook.png"/><Relationship Id="rIdImg9" Type="http://schemas.openxmlformats.org/officeDocument/2006/relationships/image" Target="../media/L1_L13_clean.png"/><Relationship Id="rIdImg10" Type="http://schemas.openxmlformats.org/officeDocument/2006/relationships/image" Target="../media/L1_L13_fix.png"/><Relationship Id="rIdImg11" Type="http://schemas.openxmlformats.org/officeDocument/2006/relationships/image" Target="../media/L1_L13_paint.png"/><Relationship Id="rIdImg12" Type="http://schemas.openxmlformats.org/officeDocument/2006/relationships/image" Target="../media/L1_L13_computer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Img7" Type="http://schemas.openxmlformats.org/officeDocument/2006/relationships/image" Target="../media/L1_L13_speak_english.png"/><Relationship Id="rIdImg8" Type="http://schemas.openxmlformats.org/officeDocument/2006/relationships/image" Target="../media/L1_L13_take_care.png"/><Relationship Id="rIdImg9" Type="http://schemas.openxmlformats.org/officeDocument/2006/relationships/image" Target="../media/L1_L13_lift.png"/><Relationship Id="rIdImg10" Type="http://schemas.openxmlformats.org/officeDocument/2006/relationships/image" Target="../media/L1_L13_swim.png"/><Relationship Id="rIdImg11" Type="http://schemas.openxmlformats.org/officeDocument/2006/relationships/image" Target="../media/L1_L13_job_interview.png"/><Relationship Id="rIdImg12" Type="http://schemas.openxmlformats.org/officeDocument/2006/relationships/image" Target="../media/L1_L13_skill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Img3" Type="http://schemas.openxmlformats.org/officeDocument/2006/relationships/image" Target="../media/L1_L13_job_interview.png"/><Relationship Id="rIdImg4" Type="http://schemas.openxmlformats.org/officeDocument/2006/relationships/image" Target="../media/L1_L13_cook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Relationship Id="rIdImg2" Type="http://schemas.openxmlformats.org/officeDocument/2006/relationships/image" Target="../media/L1_L13_job_interview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Img3" Type="http://schemas.openxmlformats.org/officeDocument/2006/relationships/image" Target="../media/L1_L13_can.png"/><Relationship Id="rIdImg4" Type="http://schemas.openxmlformats.org/officeDocument/2006/relationships/image" Target="../media/L1_L13_cant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Img3" Type="http://schemas.openxmlformats.org/officeDocument/2006/relationships/image" Target="../media/L1_L13_cook.png"/><Relationship Id="rIdImg4" Type="http://schemas.openxmlformats.org/officeDocument/2006/relationships/image" Target="../media/L1_L13_computer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Img2" Type="http://schemas.openxmlformats.org/officeDocument/2006/relationships/image" Target="../media/L1_L13_drive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Img2" Type="http://schemas.openxmlformats.org/officeDocument/2006/relationships/image" Target="../media/L1_L13_skill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Img2" Type="http://schemas.openxmlformats.org/officeDocument/2006/relationships/image" Target="../media/L1_L13_can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Img2" Type="http://schemas.openxmlformats.org/officeDocument/2006/relationships/image" Target="../media/L1_L13_can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Img1" Type="http://schemas.openxmlformats.org/officeDocument/2006/relationships/image" Target="../media/L1_L13_job_applicati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Job interview: office worker and clipboa picture" descr="job interview: office worker and clipboard">    </p:cNvPr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Can!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 drive?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 can cook. I can't swim.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Practice a job interview.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Can you…?</a:t>
            </a:r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can. / No, I can't.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say: I can… / I can't…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understand a job interview.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fill a job application.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prepare 3 sentences about me.</a:t>
            </a:r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you learn these things.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 skills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job interview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at 7:25!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Face with thermometer (from Lesson 12) picture" descr="face with thermometer (from Lesson 12)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+ Review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OK?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wrong?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4023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How do you feel?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I feel fine.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Can you cook?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Yes, I can.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write your name?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1546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write your phone?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685800"/>
            <a:ext cx="42291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 Application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751369" y="48006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Real-World Reading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point. Answer.</a:t>
            </a:r>
          </a:p>
        </p:txBody>
      </p:sp>
      <p:sp>
        <p:nvSpPr>
          <p:cNvPr id="160" name="Answer 1"/>
          <p:cNvSpPr/>
          <p:nvPr/>
        </p:nvSpPr>
        <p:spPr>
          <a:xfrm>
            <a:off x="4983480" y="2487168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Name line</a:t>
            </a:r>
          </a:p>
        </p:txBody>
      </p:sp>
      <p:sp>
        <p:nvSpPr>
          <p:cNvPr id="161" name="Answer 2"/>
          <p:cNvSpPr/>
          <p:nvPr/>
        </p:nvSpPr>
        <p:spPr>
          <a:xfrm>
            <a:off x="4983480" y="3200400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Phone line</a:t>
            </a:r>
          </a:p>
        </p:txBody>
      </p:sp>
      <p:pic>
        <p:nvPicPr>
          <p:cNvPr id="170" name="Job application form: Name, Phone, Days, picture" descr="job application form: Name, Phone, Days, Skills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26679" y="1783080"/>
            <a:ext cx="4023360" cy="281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17" name="Drive picture" descr="drive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</a:t>
            </a:r>
          </a:p>
        </p:txBody>
      </p:sp>
      <p:pic>
        <p:nvPicPr>
          <p:cNvPr id="19" name="Cook picture" descr="cook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</a:p>
        </p:txBody>
      </p:sp>
      <p:pic>
        <p:nvPicPr>
          <p:cNvPr id="21" name="Clean picture" descr="clean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</a:t>
            </a:r>
          </a:p>
        </p:txBody>
      </p:sp>
      <p:pic>
        <p:nvPicPr>
          <p:cNvPr id="23" name="Fix (cars) picture" descr="fix (cars)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(cars)</a:t>
            </a:r>
          </a:p>
        </p:txBody>
      </p:sp>
      <p:pic>
        <p:nvPicPr>
          <p:cNvPr id="25" name="Paint picture" descr="paint"/>
          <p:cNvPicPr>
            <a:picLocks noChangeAspect="1"/>
          </p:cNvPicPr>
          <p:nvPr/>
        </p:nvPicPr>
        <p:blipFill>
          <a:blip r:embed="rIdImg11"/>
          <a:stretch>
            <a:fillRect/>
          </a:stretch>
        </p:blipFill>
        <p:spPr>
          <a:xfrm>
            <a:off x="3685032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32735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paint</a:t>
            </a:r>
          </a:p>
        </p:txBody>
      </p:sp>
      <p:pic>
        <p:nvPicPr>
          <p:cNvPr id="27" name="Use a computer picture" descr="use a computer"/>
          <p:cNvPicPr>
            <a:picLocks noChangeAspect="1"/>
          </p:cNvPicPr>
          <p:nvPr/>
        </p:nvPicPr>
        <p:blipFill>
          <a:blip r:embed="rIdImg12"/>
          <a:stretch>
            <a:fillRect/>
          </a:stretch>
        </p:blipFill>
        <p:spPr>
          <a:xfrm>
            <a:off x="64282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60167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a computer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7490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Partners: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</a:p>
        </p:txBody>
      </p:sp>
      <p:pic>
        <p:nvPicPr>
          <p:cNvPr id="17" name="Speak English picture" descr="speak English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speak English</a:t>
            </a:r>
          </a:p>
        </p:txBody>
      </p:sp>
      <p:pic>
        <p:nvPicPr>
          <p:cNvPr id="19" name="Take care of (kids) picture" descr="take care of (kids)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 care of (kids)</a:t>
            </a:r>
          </a:p>
        </p:txBody>
      </p:sp>
      <p:pic>
        <p:nvPicPr>
          <p:cNvPr id="21" name="Lift picture" descr="lift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lift</a:t>
            </a:r>
          </a:p>
        </p:txBody>
      </p:sp>
      <p:pic>
        <p:nvPicPr>
          <p:cNvPr id="23" name="Swim picture" descr="swim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swim</a:t>
            </a:r>
          </a:p>
        </p:txBody>
      </p:sp>
      <p:pic>
        <p:nvPicPr>
          <p:cNvPr id="25" name="Job interview picture" descr="job interview"/>
          <p:cNvPicPr>
            <a:picLocks noChangeAspect="1"/>
          </p:cNvPicPr>
          <p:nvPr/>
        </p:nvPicPr>
        <p:blipFill>
          <a:blip r:embed="rIdImg11"/>
          <a:stretch>
            <a:fillRect/>
          </a:stretch>
        </p:blipFill>
        <p:spPr>
          <a:xfrm>
            <a:off x="3685032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32735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 interview</a:t>
            </a:r>
          </a:p>
        </p:txBody>
      </p:sp>
      <p:pic>
        <p:nvPicPr>
          <p:cNvPr id="27" name="Skill picture" descr="skill"/>
          <p:cNvPicPr>
            <a:picLocks noChangeAspect="1"/>
          </p:cNvPicPr>
          <p:nvPr/>
        </p:nvPicPr>
        <p:blipFill>
          <a:blip r:embed="rIdImg12"/>
          <a:stretch>
            <a:fillRect/>
          </a:stretch>
        </p:blipFill>
        <p:spPr>
          <a:xfrm>
            <a:off x="64282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60167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skill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Listen</a:t>
            </a:r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has a job interview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a restaurant.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Job interview picture" descr="job interview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284378" y="1138930"/>
            <a:ext cx="2493568" cy="1745498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1: What can she do?</a:t>
            </a:r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2: What can't she do?</a:t>
            </a:r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3: Days and time.</a:t>
            </a:r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it!</a:t>
            </a:r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work on weekends?</a:t>
            </a:r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can.</a:t>
            </a:r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can't.</a:t>
            </a:r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90" name="Cook picture" descr="cook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284378" y="3973570"/>
            <a:ext cx="2493568" cy="1745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66176" y="3721608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0" y="3657600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start on Monday?</a:t>
            </a:r>
          </a:p>
        </p:txBody>
      </p:sp>
      <p:sp>
        <p:nvSpPr>
          <p:cNvPr id="9" name="Text 7"/>
          <p:cNvSpPr/>
          <p:nvPr/>
        </p:nvSpPr>
        <p:spPr>
          <a:xfrm>
            <a:off x="8412480" y="4572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can.</a:t>
            </a:r>
          </a:p>
        </p:txBody>
      </p:sp>
      <p:sp>
        <p:nvSpPr>
          <p:cNvPr id="29" name="Text 27"/>
          <p:cNvSpPr/>
          <p:nvPr/>
        </p:nvSpPr>
        <p:spPr>
          <a:xfrm>
            <a:off x="8229600" y="640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</a:p>
        </p:txBody>
      </p:sp>
      <p:sp>
        <p:nvSpPr>
          <p:cNvPr id="30" name="Text 28"/>
          <p:cNvSpPr/>
          <p:nvPr/>
        </p:nvSpPr>
        <p:spPr>
          <a:xfrm>
            <a:off x="822960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Manager asks.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answer.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</a:p>
        </p:txBody>
      </p:sp>
      <p:pic>
        <p:nvPicPr>
          <p:cNvPr id="60" name="Job interview picture" descr="job interview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1645919" y="502920"/>
            <a:ext cx="5029200" cy="3520440"/>
          </a:xfrm>
          <a:prstGeom prst="rect">
            <a:avLst/>
          </a:prstGeom>
        </p:spPr>
      </p:pic>
      <p:sp>
        <p:nvSpPr>
          <p:cNvPr id="34" name="Answer 1"/>
          <p:cNvSpPr/>
          <p:nvPr/>
        </p:nvSpPr>
        <p:spPr>
          <a:xfrm>
            <a:off x="548640" y="5074920"/>
            <a:ext cx="7315200" cy="77724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can.</a:t>
            </a: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No, I </a:t>
            </a: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can't.</a:t>
            </a:r>
          </a:p>
        </p:txBody>
      </p:sp>
      <p:sp>
        <p:nvSpPr>
          <p:cNvPr id="130" name="Preview question"/>
          <p:cNvSpPr/>
          <p:nvPr/>
        </p:nvSpPr>
        <p:spPr>
          <a:xfrm>
            <a:off x="548640" y="4251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work on weekends?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I can picture" descr="I can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182880" y="811530"/>
            <a:ext cx="3429000" cy="24003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you…?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drive?</a:t>
            </a:r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can.</a:t>
            </a:r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cook?</a:t>
            </a:r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can't.</a:t>
            </a:r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can.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can't.</a:t>
            </a:r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drive?</a:t>
            </a:r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drive?</a:t>
            </a:r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swim?</a:t>
            </a:r>
          </a:p>
        </p:txBody>
      </p:sp>
      <p:pic>
        <p:nvPicPr>
          <p:cNvPr id="95" name="I can't picture" descr="I can't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182880" y="3646170"/>
            <a:ext cx="342900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Optional shadow"/>
          <p:cNvSpPr/>
          <p:nvPr/>
        </p:nvSpPr>
        <p:spPr>
          <a:xfrm>
            <a:off x="6709867" y="1350569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1" name="Optional card"/>
          <p:cNvSpPr/>
          <p:nvPr/>
        </p:nvSpPr>
        <p:spPr>
          <a:xfrm>
            <a:off x="6742786" y="1286561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Optional text"/>
          <p:cNvSpPr/>
          <p:nvPr/>
        </p:nvSpPr>
        <p:spPr>
          <a:xfrm>
            <a:off x="694944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 and answers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short, soft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long, clear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</a:t>
            </a:r>
          </a:p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to. No -s.</a:t>
            </a:r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to cook.</a:t>
            </a:r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cook.</a:t>
            </a:r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cooks.</a:t>
            </a:r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Cook picture" descr="cook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649224" y="1616796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</a:p>
          <a:p>
            <a:pPr algn="l" indent="0" marL="0"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can… / I can't…</a:t>
            </a:r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can:</a:t>
            </a:r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drive.</a:t>
            </a:r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can't:</a:t>
            </a:r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a computer.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swim.</a:t>
            </a:r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cook.</a:t>
            </a:r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can't</a:t>
            </a:r>
          </a:p>
          <a:p>
            <a:pPr algn="ctr" indent="0" marL="0">
              <a:buNone/>
            </a:pPr>
            <a:r>
              <a:rPr lang="en-US" sz="3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swim.</a:t>
            </a:r>
          </a:p>
        </p:txBody>
      </p:sp>
      <p:pic>
        <p:nvPicPr>
          <p:cNvPr id="96" name="Computer picture" descr="computer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649224" y="4039956"/>
            <a:ext cx="2826410" cy="19784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15087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4041648"/>
            <a:ext cx="5130698" cy="15087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Check. Circle.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can't she do? Days and time.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414016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She can't:</a:t>
            </a:r>
          </a:p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</a:p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a computer</a:t>
            </a:r>
          </a:p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on Saturday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4059936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Work on:</a:t>
            </a:r>
          </a:p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 Sunday Friday</a:t>
            </a:r>
          </a:p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Starts on:</a:t>
            </a:r>
          </a:p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 Tuesday at ___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15087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85292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4041648"/>
            <a:ext cx="1039673" cy="15087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449884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 + C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she can't do.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days and time.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4663440" y="2880360"/>
            <a:ext cx="2011680" cy="54864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a computer</a:t>
            </a:r>
          </a:p>
        </p:txBody>
      </p:sp>
      <p:sp>
        <p:nvSpPr>
          <p:cNvPr id="35" name="Answer 2"/>
          <p:cNvSpPr/>
          <p:nvPr/>
        </p:nvSpPr>
        <p:spPr>
          <a:xfrm>
            <a:off x="4663440" y="4251960"/>
            <a:ext cx="2011680" cy="10972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</a:t>
            </a:r>
          </a:p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Sunday</a:t>
            </a:r>
          </a:p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 at nine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798064"/>
            <a:ext cx="4526280" cy="34290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5217566" y="2806294"/>
            <a:ext cx="5440680" cy="34290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2606040"/>
            <a:ext cx="4526280" cy="3429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5349240" y="2606040"/>
            <a:ext cx="5440680" cy="3429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Drive picture" descr="drive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9124406" y="1188720"/>
            <a:ext cx="1959429" cy="1371600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2697480"/>
            <a:ext cx="40233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577840" y="2697480"/>
            <a:ext cx="49377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20040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to drive.</a:t>
            </a:r>
          </a:p>
        </p:txBody>
      </p:sp>
      <p:sp>
        <p:nvSpPr>
          <p:cNvPr id="25" name="Good 1"/>
          <p:cNvSpPr/>
          <p:nvPr/>
        </p:nvSpPr>
        <p:spPr>
          <a:xfrm>
            <a:off x="5577840" y="320040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drive.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370332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drives.</a:t>
            </a:r>
          </a:p>
        </p:txBody>
      </p:sp>
      <p:sp>
        <p:nvSpPr>
          <p:cNvPr id="27" name="Good 2"/>
          <p:cNvSpPr/>
          <p:nvPr/>
        </p:nvSpPr>
        <p:spPr>
          <a:xfrm>
            <a:off x="5577840" y="370332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20624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no can cook.</a:t>
            </a:r>
          </a:p>
        </p:txBody>
      </p:sp>
      <p:sp>
        <p:nvSpPr>
          <p:cNvPr id="29" name="Good 3"/>
          <p:cNvSpPr/>
          <p:nvPr/>
        </p:nvSpPr>
        <p:spPr>
          <a:xfrm>
            <a:off x="5577840" y="420624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Skill picture" descr="skill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502920" y="3168396"/>
            <a:ext cx="4663440" cy="3264408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Skills Survey</a:t>
            </a:r>
          </a:p>
        </p:txBody>
      </p:sp>
      <p:sp>
        <p:nvSpPr>
          <p:cNvPr id="8" name="Text 6"/>
          <p:cNvSpPr/>
          <p:nvPr/>
        </p:nvSpPr>
        <p:spPr>
          <a:xfrm>
            <a:off x="6035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3 classmates.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✓ or ✗.</a:t>
            </a:r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Ask:</a:t>
            </a:r>
          </a:p>
          <a:p>
            <a:pPr algn="l" indent="0" marL="0">
              <a:buNone/>
            </a:pPr>
            <a:r>
              <a:rPr lang="en-US" sz="18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cook?</a:t>
            </a:r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answers:</a:t>
            </a:r>
          </a:p>
          <a:p>
            <a:pPr algn="l" indent="0" marL="0">
              <a:buNone/>
            </a:pPr>
            <a:r>
              <a:rPr lang="en-US" sz="18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can. / No, I can't.</a:t>
            </a:r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✓ or ✗:</a:t>
            </a:r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cook, drive, computer, English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pic>
        <p:nvPicPr>
          <p:cNvPr id="16" name="I can picture" descr="I can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___.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say: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can't ___.</a:t>
            </a:r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about you.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Unscramble.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Talk: 3 sentences.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Ask: Can you cook?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I feel… / Call 911.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you.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C: write.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D: A asks, B answers.</a:t>
            </a:r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Real-World Reading  ·  Tasks C + D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2 Sentences</a:t>
            </a:r>
          </a:p>
        </p:txBody>
      </p:sp>
      <p:sp>
        <p:nvSpPr>
          <p:cNvPr id="8" name="Text 6"/>
          <p:cNvSpPr/>
          <p:nvPr/>
        </p:nvSpPr>
        <p:spPr>
          <a:xfrm>
            <a:off x="498348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</a:p>
        </p:txBody>
      </p:sp>
      <p:sp>
        <p:nvSpPr>
          <p:cNvPr id="11" name="Text 9"/>
          <p:cNvSpPr/>
          <p:nvPr/>
        </p:nvSpPr>
        <p:spPr>
          <a:xfrm>
            <a:off x="80467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</a:p>
        </p:txBody>
      </p:sp>
      <p:sp>
        <p:nvSpPr>
          <p:cNvPr id="18" name="Highlight 1"/>
          <p:cNvSpPr/>
          <p:nvPr/>
        </p:nvSpPr>
        <p:spPr>
          <a:xfrm>
            <a:off x="4937760" y="2697479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4937760" y="2651760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____.</a:t>
            </a:r>
          </a:p>
        </p:txBody>
      </p:sp>
      <p:sp>
        <p:nvSpPr>
          <p:cNvPr id="22" name="Answer bg 1"/>
          <p:cNvSpPr/>
          <p:nvPr/>
        </p:nvSpPr>
        <p:spPr>
          <a:xfrm>
            <a:off x="8001000" y="2651760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001000" y="2651760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cook.</a:t>
            </a:r>
          </a:p>
        </p:txBody>
      </p:sp>
      <p:sp>
        <p:nvSpPr>
          <p:cNvPr id="23" name="Highlight 2"/>
          <p:cNvSpPr/>
          <p:nvPr/>
        </p:nvSpPr>
        <p:spPr>
          <a:xfrm>
            <a:off x="4937760" y="3465575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4937760" y="3419856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can't ____.</a:t>
            </a:r>
          </a:p>
        </p:txBody>
      </p:sp>
      <p:sp>
        <p:nvSpPr>
          <p:cNvPr id="27" name="Answer bg 2"/>
          <p:cNvSpPr/>
          <p:nvPr/>
        </p:nvSpPr>
        <p:spPr>
          <a:xfrm>
            <a:off x="8001000" y="3419856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001000" y="3419856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can't use a computer.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Match the question</a:t>
            </a:r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Can you cook?</a:t>
            </a:r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Yes, I can.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Can you swim?</a:t>
            </a:r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No, I can't.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Can you work on weekends?</a:t>
            </a:r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Yes, I can. On Saturday.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Can you start on Monday?</a:t>
            </a:r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Yes, I can. See you Monday.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I can picture" descr="I can">    </p:cNvPr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 Work!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 cook?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Yes, I can. / No, I can't.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 can drive. I can't swim.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 use Twemoji graphics by Twitter, Inc. and other contributors (https://github.com/jdecked/twemoji), licensed under CC BY 4.0 (https://creativecommons.org/licenses/by/4.0/). The graphics were resized and combined, and drawings and labels were added. The I can and I can't cards and the job application are drawn in code. Labels use the DejaVu Sans font. The review picture (sick) is from Lesson 12.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(the faces on the Progress Check) are standard emoji characters shown with the computer's emoji font.</a:t>
            </a:r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All names and places on the slides (Ana, the restaurant, the manager) are invented.</a:t>
            </a:r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(Narrator, Manager, Ana) made with Chatterbox TTS (Resemble AI, MIT License), copied from short reference clips made with Kokoro-82M (Apache 2.0); no recordings of real people were used. Each file carries an inaudible Perth watermark. Font: Lexend Deca (OFL 1.1).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Check ✓.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can Ana do?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 tables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a computer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on weekends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at night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 on Monday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she can do.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4663440" y="2432304"/>
            <a:ext cx="201168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 cook</a:t>
            </a:r>
          </a:p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 clean tables</a:t>
            </a:r>
          </a:p>
        </p:txBody>
      </p:sp>
      <p:sp>
        <p:nvSpPr>
          <p:cNvPr id="35" name="Answer 2"/>
          <p:cNvSpPr/>
          <p:nvPr/>
        </p:nvSpPr>
        <p:spPr>
          <a:xfrm>
            <a:off x="4663440" y="3218688"/>
            <a:ext cx="201168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 computer</a:t>
            </a:r>
          </a:p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 weekends</a:t>
            </a:r>
          </a:p>
        </p:txBody>
      </p:sp>
      <p:sp>
        <p:nvSpPr>
          <p:cNvPr id="36" name="Answer 3"/>
          <p:cNvSpPr/>
          <p:nvPr/>
        </p:nvSpPr>
        <p:spPr>
          <a:xfrm>
            <a:off x="4663440" y="4005072"/>
            <a:ext cx="201168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 night</a:t>
            </a:r>
          </a:p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 Monday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 Interview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  ·  PART 2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= manager.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= applicant.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3931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Can you work on weekends?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Yes, I can.</a:t>
            </a:r>
          </a:p>
        </p:txBody>
      </p:sp>
      <p:sp>
        <p:nvSpPr>
          <p:cNvPr id="139" name="List shadow"/>
          <p:cNvSpPr/>
          <p:nvPr/>
        </p:nvSpPr>
        <p:spPr>
          <a:xfrm>
            <a:off x="6053328" y="1298448"/>
            <a:ext cx="5760720" cy="31546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0" name="List card"/>
          <p:cNvSpPr/>
          <p:nvPr/>
        </p:nvSpPr>
        <p:spPr>
          <a:xfrm>
            <a:off x="5989320" y="1234440"/>
            <a:ext cx="5760720" cy="3154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Question list"/>
          <p:cNvSpPr/>
          <p:nvPr/>
        </p:nvSpPr>
        <p:spPr>
          <a:xfrm>
            <a:off x="6263640" y="146304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asks: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cook?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work at night?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start on Monday?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invent skills OK.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Then: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switch.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can or can't.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Grammar Boxes 1–2.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cook.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fly.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drive?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____.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____.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write: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___. I can't ___.</a:t>
            </a:r>
          </a:p>
        </p:txBody>
      </p:sp>
      <p:sp>
        <p:nvSpPr>
          <p:cNvPr id="34" name="Answer 1"/>
          <p:cNvSpPr/>
          <p:nvPr/>
        </p:nvSpPr>
        <p:spPr>
          <a:xfrm>
            <a:off x="4983480" y="2523744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</a:p>
        </p:txBody>
      </p:sp>
      <p:sp>
        <p:nvSpPr>
          <p:cNvPr id="35" name="Answer 2"/>
          <p:cNvSpPr/>
          <p:nvPr/>
        </p:nvSpPr>
        <p:spPr>
          <a:xfrm>
            <a:off x="4983480" y="3310128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</a:p>
        </p:txBody>
      </p:sp>
      <p:sp>
        <p:nvSpPr>
          <p:cNvPr id="36" name="Answer 3"/>
          <p:cNvSpPr/>
          <p:nvPr/>
        </p:nvSpPr>
        <p:spPr>
          <a:xfrm>
            <a:off x="4983480" y="4096511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</a:p>
        </p:txBody>
      </p:sp>
      <p:sp>
        <p:nvSpPr>
          <p:cNvPr id="37" name="Answer 4"/>
          <p:cNvSpPr/>
          <p:nvPr/>
        </p:nvSpPr>
        <p:spPr>
          <a:xfrm>
            <a:off x="4983480" y="4882896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</a:p>
        </p:txBody>
      </p:sp>
      <p:sp>
        <p:nvSpPr>
          <p:cNvPr id="54" name="Answer 5"/>
          <p:cNvSpPr/>
          <p:nvPr/>
        </p:nvSpPr>
        <p:spPr>
          <a:xfrm>
            <a:off x="4983480" y="5669280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your skills.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you. Invented OK.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   drive   clean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a computer   speak English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Skills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Real-World Reading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check ✓.</a:t>
            </a:r>
          </a:p>
        </p:txBody>
      </p:sp>
      <p:pic>
        <p:nvPicPr>
          <p:cNvPr id="36" name="Job application form picture" descr="job application form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600200" y="3840480"/>
            <a:ext cx="3840480" cy="2688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7: How Much Is It?</dc:title>
  <dc:subject>Adult ESL Level 1, Lesson 7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