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72" r:id="rId18"/>
    <p:sldId id="268" r:id="rId14"/>
    <p:sldId id="277" r:id="rId28"/>
    <p:sldId id="260" r:id="rId6"/>
    <p:sldId id="259" r:id="rId5"/>
    <p:sldId id="266" r:id="rId12"/>
    <p:sldId id="280" r:id="rId31"/>
    <p:sldId id="278" r:id="rId29"/>
    <p:sldId id="270" r:id="rId16"/>
    <p:sldId id="271" r:id="rId17"/>
    <p:sldId id="281" r:id="rId32"/>
    <p:sldId id="282" r:id="rId33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4" Type="http://schemas.openxmlformats.org/officeDocument/2006/relationships/slide" Target="slides/slide10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Smile, wave, and say: "Hello! Welcome to English class."</a:t>
            </a:r>
          </a:p>
          <a:p>
            <a:r>
              <a:rPr lang="en-US" dirty="0"/>
              <a:t>Point to the title. Read it slowly: "Hello! What's your name?" Learners repeat.</a:t>
            </a:r>
          </a:p>
          <a:p>
            <a:r>
              <a:rPr lang="en-US" dirty="0"/>
              <a:t>Read the three goals, one at a time. Learners repeat each one. Use gestures: wave for hello and goodbye, point to yourself for your name, write in the air for spell.</a:t>
            </a:r>
          </a:p>
          <a:p>
            <a:r>
              <a:rPr lang="en-US" dirty="0"/>
              <a:t>Keep it short. Don't explain. Show and smile.</a:t>
            </a:r>
          </a:p>
          <a:p>
            <a:r>
              <a:rPr lang="en-US" dirty="0"/>
              <a:t>Source: Level1_Lesson1.md, Lesson 1 (Topic; At a glance: Objectives).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6:00-6:10 (10 minutes). Everyone stands. 15 learners: two circles. 7-8 learners: one circle.</a:t>
            </a:r>
          </a:p>
          <a:p>
            <a:r>
              <a:rPr lang="en-US" dirty="0"/>
              <a:t>Before class: write on the board "Hello! My name is ___." Each learner writes a first name on a name tag.</a:t>
            </a:r>
          </a:p>
          <a:p>
            <a:r>
              <a:rPr lang="en-US" dirty="0"/>
              <a:t>Model: wave and say "Hello! My name is" and your name. Point to yourself. Then point to a learner and wait. Help with "My name is...".</a:t>
            </a:r>
          </a:p>
          <a:p>
            <a:r>
              <a:rPr lang="en-US" dirty="0"/>
              <a:t>Click 1: Ana says "Hello! My name is Ana."</a:t>
            </a:r>
          </a:p>
          <a:p>
            <a:r>
              <a:rPr lang="en-US" dirty="0"/>
              <a:t>Click 2: Carlos answers "Hello, Ana!" and says "I'm Carlos."</a:t>
            </a:r>
          </a:p>
          <a:p>
            <a:r>
              <a:rPr lang="en-US" dirty="0"/>
              <a:t>Round 1: around the circle, each person says "Hello! My name is ___." The group answers "Hello, ___!"</a:t>
            </a:r>
          </a:p>
          <a:p>
            <a:r>
              <a:rPr lang="en-US" dirty="0"/>
              <a:t>Round 2: the same with "I'm ___." Point to the board: My name is = I'm.</a:t>
            </a:r>
          </a:p>
          <a:p>
            <a:r>
              <a:rPr lang="en-US" dirty="0"/>
              <a:t>Late arrivals: they join a circle. Give them a name tag.</a:t>
            </a:r>
          </a:p>
          <a:p>
            <a:r>
              <a:rPr lang="en-US" dirty="0"/>
              <a:t>If you are behind: go around once only.</a:t>
            </a:r>
          </a:p>
          <a:p>
            <a:r>
              <a:rPr lang="en-US" dirty="0"/>
              <a:t>Source: Level1_Lesson1.md, Lesson 1 (Step 1: Welcome + Hello Circle).</a:t>
            </a:r>
          </a:p>
          <a:p>
            <a:r>
              <a:rPr lang="en-US" dirty="0"/>
              <a:t>Picture: name tag drawn for this curriculum (no outside source).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Q&amp;A (6:35-6:45). Whole class.</a:t>
            </a:r>
          </a:p>
          <a:p>
            <a:r>
              <a:rPr lang="en-US" dirty="0"/>
              <a:t>Point left: "Question." Point right: "Answer."</a:t>
            </a:r>
          </a:p>
          <a:p>
            <a:r>
              <a:rPr lang="en-US" dirty="0"/>
              <a:t>Read the question in row 1. Wait. Click to show the answer. The class reads it: "My name is Ana." or "I'm Ana." Do row 2 the same way (2 clicks).</a:t>
            </a:r>
          </a:p>
          <a:p>
            <a:r>
              <a:rPr lang="en-US" dirty="0"/>
              <a:t>Point to the picture: Ana = first name. Ruiz = last name. In English, the first name comes first: Ana Ruiz.</a:t>
            </a:r>
          </a:p>
          <a:p>
            <a:r>
              <a:rPr lang="en-US" dirty="0"/>
              <a:t>Some learners have two last names. That is fine.</a:t>
            </a:r>
          </a:p>
          <a:p>
            <a:r>
              <a:rPr lang="en-US" dirty="0"/>
              <a:t>Then ask a few learners: "What's your name?" "What's your last name?" A practice name is OK.</a:t>
            </a:r>
          </a:p>
          <a:p>
            <a:r>
              <a:rPr lang="en-US" dirty="0"/>
              <a:t>Source: Level1_Lesson1.md, Lesson 1 (Step 5: Grammar Q&amp;A; Student Pages: 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ID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6:35-6:45 for all the grammar boxes. Whole class, then pairs.</a:t>
            </a:r>
          </a:p>
          <a:p>
            <a:r>
              <a:rPr lang="en-US" dirty="0"/>
              <a:t>Point left: "Say." Point right: "Answer."</a:t>
            </a:r>
          </a:p>
          <a:p>
            <a:r>
              <a:rPr lang="en-US" dirty="0"/>
              <a:t>Read the left side. Wait. Click to show the answer. The class reads the answer. Do all 4 rows like this (4 clicks).</a:t>
            </a:r>
          </a:p>
          <a:p>
            <a:r>
              <a:rPr lang="en-US" dirty="0"/>
              <a:t>Act it out: wave for Hello and Goodbye. Shake hands for Nice to meet you. Smile for How are you?</a:t>
            </a:r>
          </a:p>
          <a:p>
            <a:r>
              <a:rPr lang="en-US" dirty="0"/>
              <a:t>Then do it again: you read the left side, the class answers without looking.</a:t>
            </a:r>
          </a:p>
          <a:p>
            <a:r>
              <a:rPr lang="en-US" dirty="0"/>
              <a:t>Source: Level1_Lesson1.md, Lesson 1 (Step 5: Grammar Q&amp;A; Student Pages: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7:25-7:30 (5 minutes). Learners work alone. Open the Progress Check page.</a:t>
            </a:r>
          </a:p>
          <a:p>
            <a:r>
              <a:rPr lang="en-US" dirty="0"/>
              <a:t>Part A: read the 5 letters slowly, 2 times each: 1 I, 2 J, 3 E, 4 H, 5 G. Learners circle.</a:t>
            </a:r>
          </a:p>
          <a:p>
            <a:r>
              <a:rPr lang="en-US" dirty="0"/>
              <a:t>Part B (this slide): learners match each question to an answer on their page. Then click once for each answer: 1 c, 2 d, 3 a, 4 b.</a:t>
            </a:r>
          </a:p>
          <a:p>
            <a:r>
              <a:rPr lang="en-US" dirty="0"/>
              <a:t>Part C: learners write their first and last name.</a:t>
            </a:r>
          </a:p>
          <a:p>
            <a:r>
              <a:rPr lang="en-US" dirty="0"/>
              <a:t>Part D: read each "I can..." line aloud and point to the 3 faces: 😀 "I can do it." 🙂 "A little." 😐 "Not yet." Learners check one. "Not yet" is OK.</a:t>
            </a:r>
          </a:p>
          <a:p>
            <a:r>
              <a:rPr lang="en-US" dirty="0"/>
              <a:t>This is not a test grade. Collect the pages, or check them at the start of Week 2. It shows who needs more help with letters.</a:t>
            </a:r>
          </a:p>
          <a:p>
            <a:r>
              <a:rPr lang="en-US" dirty="0"/>
              <a:t>If you are behind: do the Progress Check in Week 2 at 6:00, while learners arrive.</a:t>
            </a:r>
          </a:p>
          <a:p>
            <a:r>
              <a:rPr lang="en-US" dirty="0"/>
              <a:t>Source: Level1_Lesson1.md, Lesson 1 (Progress Check step; Answer key: Progress Check Parts A, B, scoring; Student Pages: Progress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of the new words (about 2 minutes). Whole class.</a:t>
            </a:r>
          </a:p>
          <a:p>
            <a:r>
              <a:rPr lang="en-US" dirty="0"/>
              <a:t>Point to picture 1. Ask: "What's this?" Wait. Learners say the word. Then click to show it. Learners repeat 2 times.</a:t>
            </a:r>
          </a:p>
          <a:p>
            <a:r>
              <a:rPr lang="en-US" dirty="0"/>
              <a:t>Do the same with pictures 2 and 3. Answers: 1 goodbye, 2 teacher, 3 book.</a:t>
            </a:r>
          </a:p>
          <a:p>
            <a:r>
              <a:rPr lang="en-US" dirty="0"/>
              <a:t>Wave and walk to the door for goodbye. Point to yourself for teacher. Hold up a real book.</a:t>
            </a:r>
          </a:p>
          <a:p>
            <a:r>
              <a:rPr lang="en-US" dirty="0"/>
              <a:t>Source: Level1_Lesson1.md, Lesson 1 (Key vocabulary; Step 3: New Words).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combined, with drawn speech bubbles and borders.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2 minutes, at the end of New Words. Whole class.</a:t>
            </a:r>
          </a:p>
          <a:p>
            <a:r>
              <a:rPr lang="en-US" dirty="0"/>
              <a:t>Click once for each row. Say the word with its gesture. Learners repeat.</a:t>
            </a:r>
          </a:p>
          <a:p>
            <a:r>
              <a:rPr lang="en-US" dirty="0"/>
              <a:t>Hand to your ear: "Listen."  Point to your mouth: "Repeat."  Mime writing: "Write."</a:t>
            </a:r>
          </a:p>
          <a:p>
            <a:r>
              <a:rPr lang="en-US" dirty="0"/>
              <a:t>Help box: say each phrase slowly. Learners repeat 2 times. Shrug for "I don't understand."</a:t>
            </a:r>
          </a:p>
          <a:p>
            <a:r>
              <a:rPr lang="en-US" dirty="0"/>
              <a:t>Practice "Can you repeat, please?" right away: say a word very fast, and wait for someone to ask. Smile and say it again slowly.</a:t>
            </a:r>
          </a:p>
          <a:p>
            <a:r>
              <a:rPr lang="en-US" dirty="0"/>
              <a:t>Use these phrases every week. Point to this slide when someone is stuck.</a:t>
            </a:r>
          </a:p>
          <a:p>
            <a:r>
              <a:rPr lang="en-US" dirty="0"/>
              <a:t>Source: Level1_Lesson1.md, Lesson 1 (Classroom phrases; Step 3: New Words; Student Pages: Classroom Phrases).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6:15-6:25 (10 minutes, with the next slide). Whole class.</a:t>
            </a:r>
          </a:p>
          <a:p>
            <a:r>
              <a:rPr lang="en-US" dirty="0"/>
              <a:t>★ = the most important words. Teach these first.</a:t>
            </a:r>
          </a:p>
          <a:p>
            <a:r>
              <a:rPr lang="en-US" dirty="0"/>
              <a:t>Click once for each word. Point to the picture and say the word slowly. Learners repeat 2 times.</a:t>
            </a:r>
          </a:p>
          <a:p>
            <a:r>
              <a:rPr lang="en-US" dirty="0"/>
              <a:t>Act it out: hello (wave), goodbye (wave and walk to the door), spell (write A-N-A in the air).</a:t>
            </a:r>
          </a:p>
          <a:p>
            <a:r>
              <a:rPr lang="en-US" dirty="0"/>
              <a:t>First name / last name: write your own name on the board. Point to the first part: "First name." Point to the second part: "Last name." Do the same with 2 learners' names.</a:t>
            </a:r>
          </a:p>
          <a:p>
            <a:r>
              <a:rPr lang="en-US" dirty="0"/>
              <a:t>If you are behind: teach the ★ words only.</a:t>
            </a:r>
          </a:p>
          <a:p>
            <a:r>
              <a:rPr lang="en-US" dirty="0"/>
              <a:t>Source: Level1_Lesson1.md, Lesson 1 (Key vocabulary; Step 3: New Words; Student Pages: New Words).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combined. ID cards, the name tag, speech bubbles, letter tiles, the table, and labels were drawn for this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Q&amp;A (6:35-6:45). Whole class.</a:t>
            </a:r>
          </a:p>
          <a:p>
            <a:r>
              <a:rPr lang="en-US" dirty="0"/>
              <a:t>Read: "How do you spell it?" Click 1: the class spells R-U-I-Z and V-E-G-A with you. Say each letter in English, with a short stop.</a:t>
            </a:r>
          </a:p>
          <a:p>
            <a:r>
              <a:rPr lang="en-US" dirty="0"/>
              <a:t>Read: "Can you repeat, please?" Click 2: the class answers "Yes. V-E-G-A." and "Sure. R-U-I-Z."</a:t>
            </a:r>
          </a:p>
          <a:p>
            <a:r>
              <a:rPr lang="en-US" dirty="0"/>
              <a:t>Point to the big words and write them on the board: What's = What is. I'm = I am.</a:t>
            </a:r>
          </a:p>
          <a:p>
            <a:r>
              <a:rPr lang="en-US" dirty="0"/>
              <a:t>Check question: "How do you ___ it?" (spell).</a:t>
            </a:r>
          </a:p>
          <a:p>
            <a:r>
              <a:rPr lang="en-US" dirty="0"/>
              <a:t>Watch the letters learners mix up: A / E / I, G / J, V / B. Say them slowly and point.</a:t>
            </a:r>
          </a:p>
          <a:p>
            <a:r>
              <a:rPr lang="en-US" dirty="0"/>
              <a:t>Source: Level1_Lesson1.md, Lesson 1 (Step 5: Grammar Q&amp;A; Student Pages: Grammar Box 3;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drawn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for each line. Read it slowly. Learners repeat.</a:t>
            </a:r>
          </a:p>
          <a:p>
            <a:r>
              <a:rPr lang="en-US" dirty="0"/>
              <a:t>1: Wave and say "Hello!" Walk to the door, wave, and say "Goodbye!"</a:t>
            </a:r>
          </a:p>
          <a:p>
            <a:r>
              <a:rPr lang="en-US" dirty="0"/>
              <a:t>2: Write your name on the board. Point to the first part: "First name." Point to the second part: "Last name."</a:t>
            </a:r>
          </a:p>
          <a:p>
            <a:r>
              <a:rPr lang="en-US" dirty="0"/>
              <a:t>3: Write A-N-A in the air and say "A-N-A."</a:t>
            </a:r>
          </a:p>
          <a:p>
            <a:r>
              <a:rPr lang="en-US" dirty="0"/>
              <a:t>4: Say a word very fast. Then ask: "Can you repeat, please?"</a:t>
            </a:r>
          </a:p>
          <a:p>
            <a:r>
              <a:rPr lang="en-US" dirty="0"/>
              <a:t>5: Point to the alphabet on the board.</a:t>
            </a:r>
          </a:p>
          <a:p>
            <a:r>
              <a:rPr lang="en-US" dirty="0"/>
              <a:t>Say: "At 7:25 we check. 'Not yet' is OK."</a:t>
            </a:r>
          </a:p>
          <a:p>
            <a:r>
              <a:rPr lang="en-US" dirty="0"/>
              <a:t>Source: Level1_Lesson1.md, Lesson 1 (At a glance: Objectives; Progress Check, Part 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(Task B). Learners work alone, then check with a partner.</a:t>
            </a:r>
          </a:p>
          <a:p>
            <a:r>
              <a:rPr lang="en-US" dirty="0"/>
              <a:t>Say: "Listen again. Circle the letters." R (Ana) and A (Carlos) are already there.</a:t>
            </a:r>
          </a:p>
          <a:p>
            <a:r>
              <a:rPr lang="en-US" dirty="0"/>
              <a:t>Play the audio. Then: "Show your partner."</a:t>
            </a:r>
          </a:p>
          <a:p>
            <a:r>
              <a:rPr lang="en-US" dirty="0"/>
              <a:t>Click once for each answer (6 clicks). Ana: R-U-I-Z (U, I, Z). Carlos: V-E-G-A (V, E, G).</a:t>
            </a:r>
          </a:p>
          <a:p>
            <a:r>
              <a:rPr lang="en-US" dirty="0"/>
              <a:t>Say each letter slowly. Learners repeat. Watch E / I and G / J: many learners mix them up.</a:t>
            </a:r>
          </a:p>
          <a:p>
            <a:r>
              <a:rPr lang="en-US" dirty="0"/>
              <a:t>Source: Level1_Lesson1.md, Lesson 1 (Step 4: Listening; Answer key: Listening Task B; Student Pages: Listening B).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drawn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7:00-7:10 (10 minutes). Everyone stands and mingles.</a:t>
            </a:r>
          </a:p>
          <a:p>
            <a:r>
              <a:rPr lang="en-US" dirty="0"/>
              <a:t>15 learners: each person talks to 5-6 people. 7-8 learners: talk to everyone. 5 or fewer: sit at one table and go around; everyone writes everyone's name.</a:t>
            </a:r>
          </a:p>
          <a:p>
            <a:r>
              <a:rPr lang="en-US" dirty="0"/>
              <a:t>Model with one learner first: "Hello! What's your name?" "Rosa." "How do you spell it?" "R-O-S-A." Write R-O-S-A on the board as you hear it. Show the learner: "Is this right?" "Yes!"</a:t>
            </a:r>
          </a:p>
          <a:p>
            <a:r>
              <a:rPr lang="en-US" dirty="0"/>
              <a:t>Click once for each step. Learners greet, ask, and write the first and last name on the sign-in sheet. The partner looks and checks ✓ the spelling. Then "Goodbye!" and a new person.</a:t>
            </a:r>
          </a:p>
          <a:p>
            <a:r>
              <a:rPr lang="en-US" dirty="0"/>
              <a:t>When someone is stuck, point to the board: "Can you repeat, please?"</a:t>
            </a:r>
          </a:p>
          <a:p>
            <a:r>
              <a:rPr lang="en-US" dirty="0"/>
              <a:t>Baseline snapshot: while learners mingle, you (or a second volunteer) call about 5 learners, one at a time, for 2 minutes. Use the checklist in the answer key. Do the rest in Weeks 2 and 3.</a:t>
            </a:r>
          </a:p>
          <a:p>
            <a:r>
              <a:rPr lang="en-US" dirty="0"/>
              <a:t>A practice name is fine. Practice phone numbers only (555-0100 to 555-0199).</a:t>
            </a:r>
          </a:p>
          <a:p>
            <a:r>
              <a:rPr lang="en-US" dirty="0"/>
              <a:t>If you are behind: learners talk to 3 people.</a:t>
            </a:r>
          </a:p>
          <a:p>
            <a:r>
              <a:rPr lang="en-US" dirty="0"/>
              <a:t>Source: Level1_Lesson1.md, Lesson 1 (Step 6: Talk Time; Student Pages: Talk Time; Baseline snapshot checklist;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7:10-7:15 (5 minutes). Never skip this step.</a:t>
            </a:r>
          </a:p>
          <a:p>
            <a:r>
              <a:rPr lang="en-US" dirty="0"/>
              <a:t>Exit ticket: each learner says one sentence to you at the door: "My name is ___." and a practice phone number (555-01__). Or they write one sentence on a slip: "My name is ___." Copying from the grammar box is fine.</a:t>
            </a:r>
          </a:p>
          <a:p>
            <a:r>
              <a:rPr lang="en-US" dirty="0"/>
              <a:t>15 learners: stand at the door and listen to each person quickly. 7-8 learners: each person says it to the whole group.</a:t>
            </a:r>
          </a:p>
          <a:p>
            <a:r>
              <a:rPr lang="en-US" dirty="0"/>
              <a:t>Homework (10 minutes): open the Homework page. Do item 1 together. Point to each instruction so learners know what to do at home.</a:t>
            </a:r>
          </a:p>
          <a:p>
            <a:r>
              <a:rPr lang="en-US" dirty="0"/>
              <a:t>Say: "Bring it next week!"</a:t>
            </a:r>
          </a:p>
          <a:p>
            <a:r>
              <a:rPr lang="en-US" dirty="0"/>
              <a:t>Source: Level1_Lesson1.md, Lesson 1 (Step 7: Exit Ticket + Homework; Student Pages: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resized, with a drawn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6:25-6:35 for all of Listening (Tasks A, B, C). Learners work alone, then check with a partner.</a:t>
            </a:r>
          </a:p>
          <a:p>
            <a:r>
              <a:rPr lang="en-US" dirty="0"/>
              <a:t>Before you listen (1 minute): point to the names. Say: "This is Ana. This is Carlos. First night. They say their names. They spell their names."</a:t>
            </a:r>
          </a:p>
          <a:p>
            <a:r>
              <a:rPr lang="en-US" dirty="0"/>
              <a:t>Listen 1 (Task A): play the audio. Pause after Ana spells her name and ask: "Ana or Carlos?" Learners point.</a:t>
            </a:r>
          </a:p>
          <a:p>
            <a:r>
              <a:rPr lang="en-US" dirty="0"/>
              <a:t>Learners check Ana or Carlos for each line. Then: "Show your partner."</a:t>
            </a:r>
          </a:p>
          <a:p>
            <a:r>
              <a:rPr lang="en-US" dirty="0"/>
              <a:t>Click once for each answer: 1 Ana, 2 Carlos, 3 Carlos, 4 Carlos.</a:t>
            </a:r>
          </a:p>
          <a:p>
            <a:r>
              <a:rPr lang="en-US" dirty="0"/>
              <a:t>The audio plays the conversation once. Press play again for the next listen. No speaker? Read the script with a volunteer, slowly.</a:t>
            </a:r>
          </a:p>
          <a:p>
            <a:r>
              <a:rPr lang="en-US" dirty="0"/>
              <a:t>If you are behind: play the audio 2 times in total, not 3.</a:t>
            </a:r>
          </a:p>
          <a:p>
            <a:r>
              <a:rPr lang="en-US" dirty="0"/>
              <a:t>Source: Level1_Lesson1.md, Lesson 1 (Step 4: Listening; Listening script; Answer key: Listening Task A; Student Pages: Listening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the record. You don't need to show it in class.</a:t>
            </a:r>
          </a:p>
          <a:p>
            <a:r>
              <a:rPr lang="en-US" dirty="0"/>
              <a:t>Pictures: 12 vocabulary cards (hello, goodbye, name, first name, last name, spell, letter, teacher, student, classmate, book, pen) made from Twemoji graphics, CC BY 4.0, with drawn ID cards, a name tag, speech bubbles, letter tiles, a table, and labels. The file-by-file list is in images/CREDITS.md.</a:t>
            </a:r>
          </a:p>
          <a:p>
            <a:r>
              <a:rPr lang="en-US" dirty="0"/>
              <a:t>Audio: L1_listening.mp3, synthetic voices (Chatterbox TTS, MIT License) with an inaudible Perth watermark.</a:t>
            </a:r>
          </a:p>
          <a:p>
            <a:r>
              <a:rPr lang="en-US" dirty="0"/>
              <a:t>Source: Level1_Lesson1.md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a real book and a real pen first.</a:t>
            </a:r>
          </a:p>
          <a:p>
            <a:r>
              <a:rPr lang="en-US" dirty="0"/>
              <a:t>Click once for each word. Point to the picture and say the word. Learners repeat 2 times.</a:t>
            </a:r>
          </a:p>
          <a:p>
            <a:r>
              <a:rPr lang="en-US" dirty="0"/>
              <a:t>Partner game (4 minutes): A points to a picture. B says the word. Then switch.</a:t>
            </a:r>
          </a:p>
          <a:p>
            <a:r>
              <a:rPr lang="en-US" dirty="0"/>
              <a:t>Pairs: 15 learners = 7 pairs + 1 group of 3. 7-8 learners = 3-4 pairs.</a:t>
            </a:r>
          </a:p>
          <a:p>
            <a:r>
              <a:rPr lang="en-US" dirty="0"/>
              <a:t>Show it: point to two people ("Partner"), point to a picture ("Point"), and say the word ("Say").</a:t>
            </a:r>
          </a:p>
          <a:p>
            <a:r>
              <a:rPr lang="en-US" dirty="0"/>
              <a:t>If you are behind: teach the ★ words only (teacher, student). The other words stay on the page for home study.</a:t>
            </a:r>
          </a:p>
          <a:p>
            <a:r>
              <a:rPr lang="en-US" dirty="0"/>
              <a:t>Source: Level1_Lesson1.md, Lesson 1 (Key vocabulary; Step 3: New Words; Student Pages: New Words, Partner game).</a:t>
            </a:r>
          </a:p>
          <a:p>
            <a:r>
              <a:rPr lang="en-US" dirty="0"/>
              <a:t>Pictures: Twemoji graphics by Twitter, Inc. and other contributors (https://github.com/jdecked/twemoji), CC BY 4.0 (https://creativecommons.org/licenses/by/4.0/); resized and combined. ID cards, the name tag, speech bubbles, letter tiles, the table, and labels were drawn for this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(Task C). Learners write the two last names. Then: "Show your partner."</a:t>
            </a:r>
          </a:p>
          <a:p>
            <a:r>
              <a:rPr lang="en-US" dirty="0"/>
              <a:t>Click 1: RUIZ (Ana). Click 2: VEGA (Carlos). Spell each name slowly. Learners repeat.</a:t>
            </a:r>
          </a:p>
          <a:p>
            <a:r>
              <a:rPr lang="en-US" dirty="0"/>
              <a:t>Say it (2 minutes): play or read the 2 lines: "How do you spell it?" and "Can you repeat, please?" The class repeats each line 2 times.</a:t>
            </a:r>
          </a:p>
          <a:p>
            <a:r>
              <a:rPr lang="en-US" dirty="0"/>
              <a:t>Use a flat, clear voice first. Then make it friendly.</a:t>
            </a:r>
          </a:p>
          <a:p>
            <a:r>
              <a:rPr lang="en-US" dirty="0"/>
              <a:t>If you are behind: play the audio 2 times in total, and do Task C together on the board.</a:t>
            </a:r>
          </a:p>
          <a:p>
            <a:r>
              <a:rPr lang="en-US" dirty="0"/>
              <a:t>Source: Level1_Lesson1.md, Lesson 1 (Step 4: Listening; Answer key: Listening Task C; Student Pages: Listening C,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after the grammar boxes, or any time you hear these mistakes.</a:t>
            </a:r>
          </a:p>
          <a:p>
            <a:r>
              <a:rPr lang="en-US" dirty="0"/>
              <a:t>Read the left side. Ask: "OK?" Shake your head: "No." Click to show the right answer. The class repeats it 2 times.</a:t>
            </a:r>
          </a:p>
          <a:p>
            <a:r>
              <a:rPr lang="en-US" dirty="0"/>
              <a:t>4 clicks: My name is Ana. / I'm Ana. / What's your name? / How do you spell it?</a:t>
            </a:r>
          </a:p>
          <a:p>
            <a:r>
              <a:rPr lang="en-US" dirty="0"/>
              <a:t>Correct by saying the right form clearly. The learner repeats. Don't explain the grammar.</a:t>
            </a:r>
          </a:p>
          <a:p>
            <a:r>
              <a:rPr lang="en-US" dirty="0"/>
              <a:t>Also listen for Spanish letter names: E said as "eh", I said as "ee". Say the English letter slowly and point to it.</a:t>
            </a:r>
          </a:p>
          <a:p>
            <a:r>
              <a:rPr lang="en-US" dirty="0"/>
              <a:t>Source: Level1_Lesson1.md, Lesson 1 (Student Pages: Common mistakes; Teacher notes: Typical mistakes this week).</a:t>
            </a:r>
          </a:p>
          <a:p>
            <a:r>
              <a:rPr lang="en-US" dirty="0"/>
              <a:t>Picture: name tag drawn for this curriculum (no outside source).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6:10-6:15 (5 minutes). Whole class.</a:t>
            </a:r>
          </a:p>
          <a:p>
            <a:r>
              <a:rPr lang="en-US" dirty="0"/>
              <a:t>Click once for each row. Say each word and do the action. Learners copy your gesture.</a:t>
            </a:r>
          </a:p>
          <a:p>
            <a:r>
              <a:rPr lang="en-US" dirty="0"/>
              <a:t>Hand to your ear: "Listen."  "Say."  Mime writing: "Write."  Point to two people: "Partner."  Walk a few steps: "Walk and talk."</a:t>
            </a:r>
          </a:p>
          <a:p>
            <a:r>
              <a:rPr lang="en-US" dirty="0"/>
              <a:t>Point to the clock: class at 6:00, break at 6:45, back at 7:00, end at 7:30.</a:t>
            </a:r>
          </a:p>
          <a:p>
            <a:r>
              <a:rPr lang="en-US" dirty="0"/>
              <a:t>Say the 3 rules: (1) "English in class. A classmate can help you for a few seconds. Then back to English." (2) "Homework every week. It's short." (3) "Phones are OK for the audio and a dictionary."</a:t>
            </a:r>
          </a:p>
          <a:p>
            <a:r>
              <a:rPr lang="en-US" dirty="0"/>
              <a:t>Also say: "You can use a real name or a practice name."</a:t>
            </a:r>
          </a:p>
          <a:p>
            <a:r>
              <a:rPr lang="en-US" dirty="0"/>
              <a:t>If you are behind: say the 3 rules only.</a:t>
            </a:r>
          </a:p>
          <a:p>
            <a:r>
              <a:rPr lang="en-US" dirty="0"/>
              <a:t>Source: Level1_Lesson1.md, Lesson 1 (Step 2: Orientation; Student Pages: How Our Class 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Grammar (6:35-6:45). Learners write alone first.</a:t>
            </a:r>
          </a:p>
          <a:p>
            <a:r>
              <a:rPr lang="en-US" dirty="0"/>
              <a:t>Say: "Write one word." Do number 1 together.</a:t>
            </a:r>
          </a:p>
          <a:p>
            <a:r>
              <a:rPr lang="en-US" dirty="0"/>
              <a:t>Pairs check: "Show your partner."</a:t>
            </a:r>
          </a:p>
          <a:p>
            <a:r>
              <a:rPr lang="en-US" dirty="0"/>
              <a:t>Click once for each answer: 1 name, 2 What's, 3 spell, 4 repeat, 5 am.</a:t>
            </a:r>
          </a:p>
          <a:p>
            <a:r>
              <a:rPr lang="en-US" dirty="0"/>
              <a:t>Number 5 is a first look at Box 4: "Are you a student?" "Yes, I am." Point to yourself: "Am I a student?" Class: "No, you're not. You're a teacher!" Don't teach more; Lesson 2 does.</a:t>
            </a:r>
          </a:p>
          <a:p>
            <a:r>
              <a:rPr lang="en-US" dirty="0"/>
              <a:t>Pair drill (last 3-4 minutes): A asks a question, B answers with real information or a practice name. Then switch.</a:t>
            </a:r>
          </a:p>
          <a:p>
            <a:r>
              <a:rPr lang="en-US" dirty="0"/>
              <a:t>If you are behind: skip the pair drill. Talk Time practices the same questions.</a:t>
            </a:r>
          </a:p>
          <a:p>
            <a:r>
              <a:rPr lang="en-US" dirty="0"/>
              <a:t>Source: Level1_Lesson1.md, Lesson 1 (Step 5: Grammar Q&amp;A; Student Pages: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7:15-7:25 (10 minutes). Whole class, then pairs. Write A to Z on the board before class.</a:t>
            </a:r>
          </a:p>
          <a:p>
            <a:r>
              <a:rPr lang="en-US" dirty="0"/>
              <a:t>See it (2 minutes): point to each letter, A to Z. Say each letter once. Point to a capital and its small letter: "Big A, small a."</a:t>
            </a:r>
          </a:p>
          <a:p>
            <a:r>
              <a:rPr lang="en-US" dirty="0"/>
              <a:t>Say it (4 minutes): learners repeat after you in groups of 4-5 letters (A B C D, E F G, H I J K...).</a:t>
            </a:r>
          </a:p>
          <a:p>
            <a:r>
              <a:rPr lang="en-US" dirty="0"/>
              <a:t>Tricky letters: say each letter 3 times, slowly. Click to show the example word. Spend the most time on A / E / I and G / J.</a:t>
            </a:r>
          </a:p>
          <a:p>
            <a:r>
              <a:rPr lang="en-US" dirty="0"/>
              <a:t>Quick check (1 minute): say a tricky letter; learners point to it. "E." (E, not I.) "G." (G, not J.)</a:t>
            </a:r>
          </a:p>
          <a:p>
            <a:r>
              <a:rPr lang="en-US" dirty="0"/>
              <a:t>Learners who can't read or write yet: they say the letters with everyone and point instead of writing.</a:t>
            </a:r>
          </a:p>
          <a:p>
            <a:r>
              <a:rPr lang="en-US" dirty="0"/>
              <a:t>If you are behind: do the tricky letters and Task D (spell your name to a partner) only.</a:t>
            </a:r>
          </a:p>
          <a:p>
            <a:r>
              <a:rPr lang="en-US" dirty="0"/>
              <a:t>Source: Level1_Lesson1.md, Lesson 1 (Letters &amp; Numbers step; Student Pages: Letters &amp; Numbers A, Tricky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B (3 minutes). Learners listen and circle on their page.</a:t>
            </a:r>
          </a:p>
          <a:p>
            <a:r>
              <a:rPr lang="en-US" dirty="0"/>
              <a:t>Say each letter 2 times, slowly: 1 E, 2 G, 3 I, 4 J, 5 A.</a:t>
            </a:r>
          </a:p>
          <a:p>
            <a:r>
              <a:rPr lang="en-US" dirty="0"/>
              <a:t>Click once for each answer (5 clicks). Learners check their page.</a:t>
            </a:r>
          </a:p>
          <a:p>
            <a:r>
              <a:rPr lang="en-US" dirty="0"/>
              <a:t>Then Task C: learners write their name in capital letters and small letters.</a:t>
            </a:r>
          </a:p>
          <a:p>
            <a:r>
              <a:rPr lang="en-US" dirty="0"/>
              <a:t>Then Task D (pairs): A spells their name; B writes it. A checks. Switch.</a:t>
            </a:r>
          </a:p>
          <a:p>
            <a:r>
              <a:rPr lang="en-US" dirty="0"/>
              <a:t>Learners who can't read or write yet: they point instead of circle, and copy their name from their name tag.</a:t>
            </a:r>
          </a:p>
          <a:p>
            <a:r>
              <a:rPr lang="en-US" dirty="0"/>
              <a:t>Source: Level1_Lesson1.md, Lesson 1 (Letters &amp; Numbers step; Answer key: Letters &amp; Numbers Task B; Student Pages: Letters &amp; Numbers B-D).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and say: "Goodbye! See you next week!" Learners answer: "Goodbye!" or "Bye!"</a:t>
            </a:r>
          </a:p>
          <a:p>
            <a:r>
              <a:rPr lang="en-US" dirty="0"/>
              <a:t>Read the three lines. Learners repeat. Say: "Great work tonight!"</a:t>
            </a:r>
          </a:p>
          <a:p>
            <a:r>
              <a:rPr lang="en-US" dirty="0"/>
              <a:t>Remind them: "Homework. Bring it next week!"</a:t>
            </a:r>
          </a:p>
          <a:p>
            <a:r>
              <a:rPr lang="en-US" dirty="0"/>
              <a:t>Source: Level1_Lesson1.md, Lesson 1 (Objectives; Grammar Box 1; Step 7).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combined, with a drawn speech bubble.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g1_L1_hell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G1img" Type="http://schemas.openxmlformats.org/officeDocument/2006/relationships/image" Target="../media/g1_L1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G1" Type="http://schemas.openxmlformats.org/officeDocument/2006/relationships/image" Target="../media/g2_L1_hello.png"/><Relationship Id="rIdG2" Type="http://schemas.openxmlformats.org/officeDocument/2006/relationships/image" Target="../media/g2_L1_goodbye.png"/><Relationship Id="rIdG3" Type="http://schemas.openxmlformats.org/officeDocument/2006/relationships/image" Target="../media/g2_L1_name.png"/><Relationship Id="rIdG4" Type="http://schemas.openxmlformats.org/officeDocument/2006/relationships/image" Target="../media/g2_L1_first_name.png"/><Relationship Id="rIdG5" Type="http://schemas.openxmlformats.org/officeDocument/2006/relationships/image" Target="../media/g2_L1_last_name.png"/><Relationship Id="rIdG6" Type="http://schemas.openxmlformats.org/officeDocument/2006/relationships/image" Target="../media/g2_L1_spe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G1" Type="http://schemas.openxmlformats.org/officeDocument/2006/relationships/image" Target="../media/g2_L1_letter.png"/><Relationship Id="rIdG2" Type="http://schemas.openxmlformats.org/officeDocument/2006/relationships/image" Target="../media/g2_L1_teacher.png"/><Relationship Id="rIdG3" Type="http://schemas.openxmlformats.org/officeDocument/2006/relationships/image" Target="../media/g2_L1_student.png"/><Relationship Id="rIdG4" Type="http://schemas.openxmlformats.org/officeDocument/2006/relationships/image" Target="../media/g2_L1_classmate.png"/><Relationship Id="rIdG5" Type="http://schemas.openxmlformats.org/officeDocument/2006/relationships/image" Target="../media/g2_L1_book.png"/><Relationship Id="rIdG6" Type="http://schemas.openxmlformats.org/officeDocument/2006/relationships/image" Target="../media/g2_L1_pe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7.xml.rels><?xml version='1.0' encoding='UTF-8' standalone='yes'?>
<Relationships xmlns="http://schemas.openxmlformats.org/package/2006/relationships"><Relationship Id="rIdG3w1" Type="http://schemas.openxmlformats.org/officeDocument/2006/relationships/image" Target="../media/g2_L1_goodbye.png"/><Relationship Id="rIdG3w2" Type="http://schemas.openxmlformats.org/officeDocument/2006/relationships/image" Target="../media/g2_L1_teacher.png"/><Relationship Id="rIdG3w3" Type="http://schemas.openxmlformats.org/officeDocument/2006/relationships/image" Target="../media/g2_L1_boo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G1" Type="http://schemas.openxmlformats.org/officeDocument/2006/relationships/image" Target="../media/g2_L1_teach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0.xml.rels><?xml version='1.0' encoding='UTF-8' standalone='yes'?>
<Relationships xmlns="http://schemas.openxmlformats.org/package/2006/relationships"><Relationship Id="rIdG1" Type="http://schemas.openxmlformats.org/officeDocument/2006/relationships/image" Target="../media/g4_L1_spe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2.xml.rels><?xml version='1.0' encoding='UTF-8' standalone='yes'?>
<Relationships xmlns="http://schemas.openxmlformats.org/package/2006/relationships"><Relationship Id="rIdG1" Type="http://schemas.openxmlformats.org/officeDocument/2006/relationships/image" Target="../media/g4_L1_goodby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G1" Type="http://schemas.openxmlformats.org/officeDocument/2006/relationships/image" Target="../media/g5_L1_first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G1" Type="http://schemas.openxmlformats.org/officeDocument/2006/relationships/image" Target="../media/g5_L1_lett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'1.0' encoding='UTF-8' standalone='yes'?>
<Relationships xmlns="http://schemas.openxmlformats.org/package/2006/relationships"><Relationship Id="rIdG1" Type="http://schemas.openxmlformats.org/officeDocument/2006/relationships/image" Target="../media/g2_L1_na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G1" Type="http://schemas.openxmlformats.org/officeDocument/2006/relationships/image" Target="../media/g2_L1_classm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G1" Type="http://schemas.openxmlformats.org/officeDocument/2006/relationships/image" Target="../media/g2_L1_pe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g4_L1_goodby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Smiling face and waving hand saying Hi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What's Your Name?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hello and goodbye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and spell your name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repeat, please?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hello and goodbye.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 ·  Hi!  ·  Goodbye!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2302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my first and last name.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spell my name.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Can you repeat, please?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and write A to Z.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Repeat.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Name tag" descr="Name tag: HELLO my name is Ana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Circle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My name is ___.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___.</a:t>
            </a:r>
            <a:endParaRPr lang="en-US" sz="2200" dirty="0"/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Ana: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My name is Ana.</a:t>
            </a:r>
            <a:endParaRPr lang="en-US" sz="2200" dirty="0"/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Carlos: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Hello, Ana!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Carlos.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55117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Say. Repeat.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 and talk.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Our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Works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  <a:b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 in class.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every week.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Phones OK: audio, dictionary.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217627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216712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38658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Smiling face and waving hand saying Hi!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</a:t>
            </a:r>
            <a:endParaRPr lang="en-US" sz="2000" dirty="0"/>
          </a:p>
        </p:txBody>
      </p:sp>
      <p:pic>
        <p:nvPicPr>
          <p:cNvPr id="19" name="Word picture 2" descr="Person walking to a door, waving, saying Bye!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</a:t>
            </a:r>
            <a:endParaRPr lang="en-US" sz="2000" dirty="0"/>
          </a:p>
        </p:txBody>
      </p:sp>
      <p:pic>
        <p:nvPicPr>
          <p:cNvPr id="21" name="Word picture 3" descr="Name tag: HELLO my name is Ana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endParaRPr lang="en-US" sz="2000" dirty="0"/>
          </a:p>
        </p:txBody>
      </p:sp>
      <p:pic>
        <p:nvPicPr>
          <p:cNvPr id="23" name="Word picture 4" descr="ID card with FIRST NAME highlighted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</a:t>
            </a:r>
            <a:endParaRPr lang="en-US" sz="2000" dirty="0"/>
          </a:p>
        </p:txBody>
      </p:sp>
      <p:pic>
        <p:nvPicPr>
          <p:cNvPr id="25" name="Word picture 5" descr="ID card with LAST NAME highlighted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name</a:t>
            </a:r>
            <a:endParaRPr lang="en-US" sz="2000" dirty="0"/>
          </a:p>
        </p:txBody>
      </p:sp>
      <p:pic>
        <p:nvPicPr>
          <p:cNvPr id="27" name="Word picture 6" descr="Speaking head and letter tiles A-N-A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  <a:endParaRPr lang="en-US" sz="2200" dirty="0"/>
          </a:p>
        </p:txBody>
      </p:sp>
      <p:pic>
        <p:nvPicPr>
          <p:cNvPr id="17" name="Word picture 1" descr="Capital and small letters: A 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</a:t>
            </a:r>
            <a:endParaRPr lang="en-US" sz="2000" dirty="0"/>
          </a:p>
        </p:txBody>
      </p:sp>
      <p:pic>
        <p:nvPicPr>
          <p:cNvPr id="19" name="Word picture 2" descr="Teacher at a board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2000" dirty="0"/>
          </a:p>
        </p:txBody>
      </p:sp>
      <p:pic>
        <p:nvPicPr>
          <p:cNvPr id="21" name="Word picture 3" descr="Student with paper and pencil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student</a:t>
            </a:r>
            <a:endParaRPr lang="en-US" sz="2000" dirty="0"/>
          </a:p>
        </p:txBody>
      </p:sp>
      <p:pic>
        <p:nvPicPr>
          <p:cNvPr id="23" name="Word picture 4" descr="Two learners at one table with books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classmate</a:t>
            </a:r>
            <a:endParaRPr lang="en-US" sz="2000" dirty="0"/>
          </a:p>
        </p:txBody>
      </p:sp>
      <p:pic>
        <p:nvPicPr>
          <p:cNvPr id="25" name="Word picture 5" descr="Open book and closed book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book</a:t>
            </a:r>
            <a:endParaRPr lang="en-US" sz="2000" dirty="0"/>
          </a:p>
        </p:txBody>
      </p:sp>
      <p:pic>
        <p:nvPicPr>
          <p:cNvPr id="27" name="Word picture 6" descr="Pen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Word?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Say the word.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1" name="Quiz picture 1" descr="Person walking to a door, waving, saying Bye!"/>
          <p:cNvPicPr>
            <a:picLocks noChangeAspect="1"/>
          </p:cNvPicPr>
          <p:nvPr/>
        </p:nvPicPr>
        <p:blipFill>
          <a:blip r:embed="rIdG3w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2" name="Quiz picture 2" descr="Teacher at a board"/>
          <p:cNvPicPr>
            <a:picLocks noChangeAspect="1"/>
          </p:cNvPicPr>
          <p:nvPr/>
        </p:nvPicPr>
        <p:blipFill>
          <a:blip r:embed="rIdG3w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3" name="Quiz picture 3" descr="Open book and closed book"/>
          <p:cNvPicPr>
            <a:picLocks noChangeAspect="1"/>
          </p:cNvPicPr>
          <p:nvPr/>
        </p:nvPicPr>
        <p:blipFill>
          <a:blip r:embed="rIdG3w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5" name="Answer do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</a:t>
            </a:r>
            <a:endParaRPr lang="en-US" sz="2800" dirty="0"/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2800" dirty="0"/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book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Classroom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Phrases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Repeat. Use these phrases in class.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ture teacher" descr="Teacher at a boar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200" dirty="0"/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200" dirty="0"/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Help!</a:t>
            </a:r>
            <a:endParaRPr lang="en-US" sz="2400" dirty="0"/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200" dirty="0"/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understand.</a:t>
            </a:r>
            <a:endParaRPr lang="en-US" sz="2200" dirty="0"/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say ___ in English?</a:t>
            </a:r>
            <a:endParaRPr lang="en-US" sz="2200" dirty="0"/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in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Ana or Carlos.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7" name="Statement 1"/>
          <p:cNvSpPr/>
          <p:nvPr/>
        </p:nvSpPr>
        <p:spPr>
          <a:xfrm>
            <a:off x="502920" y="320040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Last name: Ruiz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658368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20040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13639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00507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Last name: Vega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658368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400507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8193024" y="394106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809743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“I'm fine, thanks.”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658368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4809743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8193024" y="4745735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614415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Gets a book and a pen.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658368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8321040" y="5614415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8193024" y="5550407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spell" descr="Speaking head and letter tiles A-N-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274739" y="3680460"/>
            <a:ext cx="3449900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👩 Ana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👨 Carlos</a:t>
            </a:r>
            <a:endParaRPr lang="en-US" sz="2200" dirty="0"/>
          </a:p>
        </p:txBody>
      </p:sp>
      <p:sp>
        <p:nvSpPr>
          <p:cNvPr id="60" name="Letter 60"/>
          <p:cNvSpPr/>
          <p:nvPr/>
        </p:nvSpPr>
        <p:spPr>
          <a:xfrm>
            <a:off x="68351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</a:t>
            </a:r>
            <a:endParaRPr lang="en-US" sz="2200" dirty="0"/>
          </a:p>
        </p:txBody>
      </p:sp>
      <p:sp>
        <p:nvSpPr>
          <p:cNvPr id="61" name="Letter 61"/>
          <p:cNvSpPr/>
          <p:nvPr/>
        </p:nvSpPr>
        <p:spPr>
          <a:xfrm>
            <a:off x="75209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</a:t>
            </a:r>
            <a:endParaRPr lang="en-US" sz="2200" dirty="0"/>
          </a:p>
        </p:txBody>
      </p:sp>
      <p:sp>
        <p:nvSpPr>
          <p:cNvPr id="63" name="Letter 63"/>
          <p:cNvSpPr/>
          <p:nvPr/>
        </p:nvSpPr>
        <p:spPr>
          <a:xfrm>
            <a:off x="806958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</a:t>
            </a:r>
            <a:endParaRPr lang="en-US" sz="2200" dirty="0"/>
          </a:p>
        </p:txBody>
      </p:sp>
      <p:sp>
        <p:nvSpPr>
          <p:cNvPr id="64" name="Letter 64"/>
          <p:cNvSpPr/>
          <p:nvPr/>
        </p:nvSpPr>
        <p:spPr>
          <a:xfrm>
            <a:off x="884682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200" dirty="0"/>
          </a:p>
        </p:txBody>
      </p:sp>
      <p:sp>
        <p:nvSpPr>
          <p:cNvPr id="66" name="Letter 66"/>
          <p:cNvSpPr/>
          <p:nvPr/>
        </p:nvSpPr>
        <p:spPr>
          <a:xfrm>
            <a:off x="939546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200" dirty="0"/>
          </a:p>
        </p:txBody>
      </p:sp>
      <p:sp>
        <p:nvSpPr>
          <p:cNvPr id="67" name="Letter 67"/>
          <p:cNvSpPr/>
          <p:nvPr/>
        </p:nvSpPr>
        <p:spPr>
          <a:xfrm>
            <a:off x="1017270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</a:t>
            </a:r>
            <a:endParaRPr lang="en-US" sz="2200" dirty="0"/>
          </a:p>
        </p:txBody>
      </p:sp>
      <p:sp>
        <p:nvSpPr>
          <p:cNvPr id="69" name="Letter 69"/>
          <p:cNvSpPr/>
          <p:nvPr/>
        </p:nvSpPr>
        <p:spPr>
          <a:xfrm>
            <a:off x="10721340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endParaRPr lang="en-US" sz="2200" dirty="0"/>
          </a:p>
        </p:txBody>
      </p:sp>
      <p:sp>
        <p:nvSpPr>
          <p:cNvPr id="70" name="Letter 70"/>
          <p:cNvSpPr/>
          <p:nvPr/>
        </p:nvSpPr>
        <p:spPr>
          <a:xfrm>
            <a:off x="692658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</a:t>
            </a:r>
            <a:endParaRPr lang="en-US" sz="2200" dirty="0"/>
          </a:p>
        </p:txBody>
      </p:sp>
      <p:sp>
        <p:nvSpPr>
          <p:cNvPr id="72" name="Letter 72"/>
          <p:cNvSpPr/>
          <p:nvPr/>
        </p:nvSpPr>
        <p:spPr>
          <a:xfrm>
            <a:off x="747522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200" dirty="0"/>
          </a:p>
        </p:txBody>
      </p:sp>
      <p:sp>
        <p:nvSpPr>
          <p:cNvPr id="73" name="Letter 73"/>
          <p:cNvSpPr/>
          <p:nvPr/>
        </p:nvSpPr>
        <p:spPr>
          <a:xfrm>
            <a:off x="825246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200" dirty="0"/>
          </a:p>
        </p:txBody>
      </p:sp>
      <p:sp>
        <p:nvSpPr>
          <p:cNvPr id="75" name="Letter 75"/>
          <p:cNvSpPr/>
          <p:nvPr/>
        </p:nvSpPr>
        <p:spPr>
          <a:xfrm>
            <a:off x="880110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200" dirty="0"/>
          </a:p>
        </p:txBody>
      </p:sp>
      <p:sp>
        <p:nvSpPr>
          <p:cNvPr id="76" name="Letter 76"/>
          <p:cNvSpPr/>
          <p:nvPr/>
        </p:nvSpPr>
        <p:spPr>
          <a:xfrm>
            <a:off x="957834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200" dirty="0"/>
          </a:p>
        </p:txBody>
      </p:sp>
      <p:sp>
        <p:nvSpPr>
          <p:cNvPr id="78" name="Letter 78"/>
          <p:cNvSpPr/>
          <p:nvPr/>
        </p:nvSpPr>
        <p:spPr>
          <a:xfrm>
            <a:off x="1012698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200" dirty="0"/>
          </a:p>
        </p:txBody>
      </p:sp>
      <p:sp>
        <p:nvSpPr>
          <p:cNvPr id="79" name="Letter 79"/>
          <p:cNvSpPr/>
          <p:nvPr/>
        </p:nvSpPr>
        <p:spPr>
          <a:xfrm>
            <a:off x="10904220" y="4526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5" name="Subtitle"/>
          <p:cNvSpPr/>
          <p:nvPr/>
        </p:nvSpPr>
        <p:spPr>
          <a:xfrm>
            <a:off x="771754" y="2148840"/>
            <a:ext cx="457200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letters.</a:t>
            </a:r>
            <a:endParaRPr lang="en-US" sz="2000" dirty="0"/>
          </a:p>
        </p:txBody>
      </p:sp>
      <p:sp>
        <p:nvSpPr>
          <p:cNvPr id="28" name="Circle 1"/>
          <p:cNvSpPr/>
          <p:nvPr/>
        </p:nvSpPr>
        <p:spPr>
          <a:xfrm>
            <a:off x="747064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Circle 2"/>
          <p:cNvSpPr/>
          <p:nvPr/>
        </p:nvSpPr>
        <p:spPr>
          <a:xfrm>
            <a:off x="879652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Circle 3"/>
          <p:cNvSpPr/>
          <p:nvPr/>
        </p:nvSpPr>
        <p:spPr>
          <a:xfrm>
            <a:off x="10122408" y="230428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687628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4" name="Circle 5"/>
          <p:cNvSpPr/>
          <p:nvPr/>
        </p:nvSpPr>
        <p:spPr>
          <a:xfrm>
            <a:off x="820216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Circle 6"/>
          <p:cNvSpPr/>
          <p:nvPr/>
        </p:nvSpPr>
        <p:spPr>
          <a:xfrm>
            <a:off x="9528048" y="4636008"/>
            <a:ext cx="512064" cy="512064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4550054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5261458"/>
            <a:ext cx="6163056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last names.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👩 Ana:  __  __  __  __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👨 Carlos:  __  __  __  __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550054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5261458"/>
            <a:ext cx="57607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repeat.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468112" y="3200400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RUIZ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468112" y="3911803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VEGA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ture goodbye" descr="Person walking to a door, waving, saying Bye!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and Goodbye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1335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1323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1622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/ Hi!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/ Hi!</a:t>
            </a:r>
            <a:endParaRPr lang="en-US" sz="2200" dirty="0"/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you.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you, too.</a:t>
            </a:r>
            <a:endParaRPr lang="en-US" sz="2200" dirty="0"/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fine, thanks. And you?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good, thanks. And you?</a:t>
            </a:r>
            <a:endParaRPr lang="en-US" sz="2200" dirty="0"/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See you next week!</a:t>
            </a:r>
            <a:endParaRPr lang="en-US" sz="2200" dirty="0"/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/ Bye!</a:t>
            </a:r>
            <a:endParaRPr lang="en-US" sz="2200" dirty="0"/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are you?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ID card with FIRST NAME highlighte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598664" y="1217386"/>
            <a:ext cx="3254350" cy="227804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name?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name? /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/ I'm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Ana. / Carlos.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last name?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/ My last name is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Ruiz. / Vega.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ture letter" descr="Capital and small letters: A 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R-U-I-Z.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R-U-I-Z.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What is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endParaRPr lang="en-US" sz="6000" dirty="0"/>
          </a:p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I am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____?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Ana.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your last name?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Vega.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____ it?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V-E-G-A.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____, please?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V-E-G-A.</a:t>
            </a:r>
            <a:endParaRPr lang="en-US" sz="2000" dirty="0"/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a student?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Missing Word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answer. It helps you find the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1183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1092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13217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376672" y="2523744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376672" y="3310128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5376672" y="4096511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5376672" y="4882896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</a:t>
            </a:r>
            <a:endParaRPr lang="en-US" sz="2200" dirty="0"/>
          </a:p>
        </p:txBody>
      </p:sp>
      <p:sp>
        <p:nvSpPr>
          <p:cNvPr id="54" name="Answer 5"/>
          <p:cNvSpPr/>
          <p:nvPr/>
        </p:nvSpPr>
        <p:spPr>
          <a:xfrm>
            <a:off x="5376672" y="5669280"/>
            <a:ext cx="1261872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35433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3610966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274685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273405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03306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1" name="Picture name tag" descr="Name tag: HELLO my name is Ana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Ana.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4800600" y="384048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Ana.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Ana.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4800600" y="440740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Ana.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your name?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4800600" y="4974336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name?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you spell it?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4800600" y="55412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spell it?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ture classmates" descr="Two learners at one table with books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Mingle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 and talk.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5–6 classmates.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Hello! What's your name?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spell it?</a:t>
            </a:r>
            <a:endParaRPr lang="en-US" sz="2200" dirty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name.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 and last name.</a:t>
            </a:r>
            <a:endParaRPr lang="en-US" sz="2200" dirty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checks.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Find a new person.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6" name="Picture pen" descr="Pe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name is ___.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 it on paper.</a:t>
            </a:r>
            <a:endParaRPr lang="en-US" sz="2000" dirty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your name.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Ask a friend's name.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the words.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Say A to Z, 2 times.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alphabet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 C D E F G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 I J K L M N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 P Q R S T U</a:t>
            </a:r>
            <a:endParaRPr lang="en-US" sz="2000" dirty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 W X Y 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Tricky Letters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  ·  SAY 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1335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1323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1622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</a:t>
            </a:r>
            <a:endParaRPr lang="en-US" sz="2600" dirty="0"/>
          </a:p>
        </p:txBody>
      </p:sp>
      <p:sp>
        <p:nvSpPr>
          <p:cNvPr id="20" name="Question 1"/>
          <p:cNvSpPr/>
          <p:nvPr/>
        </p:nvSpPr>
        <p:spPr>
          <a:xfrm>
            <a:off x="6263640" y="2651760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“ay” (like day)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668512" y="2651760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668512" y="2651760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-N-A</a:t>
            </a:r>
            <a:endParaRPr lang="en-US" sz="2200" dirty="0"/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 e</a:t>
            </a:r>
            <a:endParaRPr lang="en-US" sz="2600" dirty="0"/>
          </a:p>
        </p:txBody>
      </p:sp>
      <p:sp>
        <p:nvSpPr>
          <p:cNvPr id="25" name="Question 2"/>
          <p:cNvSpPr/>
          <p:nvPr/>
        </p:nvSpPr>
        <p:spPr>
          <a:xfrm>
            <a:off x="6263640" y="3419856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“ee” (like see)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668512" y="3419856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668512" y="3419856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-G-A</a:t>
            </a:r>
            <a:endParaRPr lang="en-US" sz="2200" dirty="0"/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i</a:t>
            </a:r>
            <a:endParaRPr lang="en-US" sz="2600" dirty="0"/>
          </a:p>
        </p:txBody>
      </p:sp>
      <p:sp>
        <p:nvSpPr>
          <p:cNvPr id="152" name="Question 3"/>
          <p:cNvSpPr/>
          <p:nvPr/>
        </p:nvSpPr>
        <p:spPr>
          <a:xfrm>
            <a:off x="6263640" y="4187952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“eye”</a:t>
            </a:r>
            <a:endParaRPr lang="en-US" sz="2200" dirty="0"/>
          </a:p>
        </p:txBody>
      </p:sp>
      <p:sp>
        <p:nvSpPr>
          <p:cNvPr id="162" name="Answer bg 3"/>
          <p:cNvSpPr/>
          <p:nvPr/>
        </p:nvSpPr>
        <p:spPr>
          <a:xfrm>
            <a:off x="8668512" y="418795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668512" y="4187952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R-U-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-Z</a:t>
            </a:r>
            <a:endParaRPr lang="en-US" sz="2200" dirty="0"/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 g</a:t>
            </a:r>
            <a:endParaRPr lang="en-US" sz="2600" dirty="0"/>
          </a:p>
        </p:txBody>
      </p:sp>
      <p:sp>
        <p:nvSpPr>
          <p:cNvPr id="153" name="Question 4"/>
          <p:cNvSpPr/>
          <p:nvPr/>
        </p:nvSpPr>
        <p:spPr>
          <a:xfrm>
            <a:off x="6263640" y="4956048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“jee”</a:t>
            </a:r>
            <a:endParaRPr lang="en-US" sz="2200" dirty="0"/>
          </a:p>
        </p:txBody>
      </p:sp>
      <p:sp>
        <p:nvSpPr>
          <p:cNvPr id="163" name="Answer bg 4"/>
          <p:cNvSpPr/>
          <p:nvPr/>
        </p:nvSpPr>
        <p:spPr>
          <a:xfrm>
            <a:off x="8668512" y="4956048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668512" y="4956048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V-E-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-A</a:t>
            </a:r>
            <a:endParaRPr lang="en-US" sz="2200" dirty="0"/>
          </a:p>
        </p:txBody>
      </p:sp>
      <p:sp>
        <p:nvSpPr>
          <p:cNvPr id="134" name="Highlight 5"/>
          <p:cNvSpPr/>
          <p:nvPr/>
        </p:nvSpPr>
        <p:spPr>
          <a:xfrm>
            <a:off x="5138928" y="5769864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4" name="Helper 5"/>
          <p:cNvSpPr/>
          <p:nvPr/>
        </p:nvSpPr>
        <p:spPr>
          <a:xfrm>
            <a:off x="5138928" y="5724144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 j</a:t>
            </a:r>
            <a:endParaRPr lang="en-US" sz="2600" dirty="0"/>
          </a:p>
        </p:txBody>
      </p:sp>
      <p:sp>
        <p:nvSpPr>
          <p:cNvPr id="154" name="Question 5"/>
          <p:cNvSpPr/>
          <p:nvPr/>
        </p:nvSpPr>
        <p:spPr>
          <a:xfrm>
            <a:off x="6263640" y="5724144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“jay”</a:t>
            </a:r>
            <a:endParaRPr lang="en-US" sz="2200" dirty="0"/>
          </a:p>
        </p:txBody>
      </p:sp>
      <p:sp>
        <p:nvSpPr>
          <p:cNvPr id="164" name="Answer bg 5"/>
          <p:cNvSpPr/>
          <p:nvPr/>
        </p:nvSpPr>
        <p:spPr>
          <a:xfrm>
            <a:off x="8668512" y="5724144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4" name="Answer 5"/>
          <p:cNvSpPr/>
          <p:nvPr/>
        </p:nvSpPr>
        <p:spPr>
          <a:xfrm>
            <a:off x="8668512" y="5724144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r>
              <a:rPr lang="en-US" sz="24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-U-A-N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Letters: Task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teacher.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letter.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7" name="Statement 1"/>
          <p:cNvSpPr/>
          <p:nvPr/>
        </p:nvSpPr>
        <p:spPr>
          <a:xfrm>
            <a:off x="1463040" y="3127248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29184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548640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200" name="Option C 1"/>
          <p:cNvSpPr/>
          <p:nvPr/>
        </p:nvSpPr>
        <p:spPr>
          <a:xfrm>
            <a:off x="768096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5358384" y="3063240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1463040" y="3785616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29184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548640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000" dirty="0"/>
          </a:p>
        </p:txBody>
      </p:sp>
      <p:sp>
        <p:nvSpPr>
          <p:cNvPr id="201" name="Option C 2"/>
          <p:cNvSpPr/>
          <p:nvPr/>
        </p:nvSpPr>
        <p:spPr>
          <a:xfrm>
            <a:off x="768096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3163823" y="372160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1463040" y="4443984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29184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548640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202" name="Option C 3"/>
          <p:cNvSpPr/>
          <p:nvPr/>
        </p:nvSpPr>
        <p:spPr>
          <a:xfrm>
            <a:off x="768096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5358384" y="4379976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1463040" y="5102352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329184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548640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</a:t>
            </a:r>
            <a:endParaRPr lang="en-US" sz="2000" dirty="0"/>
          </a:p>
        </p:txBody>
      </p:sp>
      <p:sp>
        <p:nvSpPr>
          <p:cNvPr id="203" name="Option C 4"/>
          <p:cNvSpPr/>
          <p:nvPr/>
        </p:nvSpPr>
        <p:spPr>
          <a:xfrm>
            <a:off x="768096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5358384" y="503834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1463040" y="5760720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329184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/>
          </a:p>
        </p:txBody>
      </p:sp>
      <p:sp>
        <p:nvSpPr>
          <p:cNvPr id="47" name="False 5"/>
          <p:cNvSpPr/>
          <p:nvPr/>
        </p:nvSpPr>
        <p:spPr>
          <a:xfrm>
            <a:off x="548640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2000" dirty="0"/>
          </a:p>
        </p:txBody>
      </p:sp>
      <p:sp>
        <p:nvSpPr>
          <p:cNvPr id="204" name="Option C 5"/>
          <p:cNvSpPr/>
          <p:nvPr/>
        </p:nvSpPr>
        <p:spPr>
          <a:xfrm>
            <a:off x="768096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endParaRPr lang="en-US" sz="2000" dirty="0"/>
          </a:p>
        </p:txBody>
      </p:sp>
      <p:sp>
        <p:nvSpPr>
          <p:cNvPr id="48" name="Circle 5"/>
          <p:cNvSpPr/>
          <p:nvPr/>
        </p:nvSpPr>
        <p:spPr>
          <a:xfrm>
            <a:off x="3163823" y="569671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274685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273405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03306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the question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What's your name?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name is Ana.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What's your last name?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Ruiz.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do you spell it?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R-U-I-Z.</a:t>
            </a:r>
            <a:endParaRPr lang="en-US" sz="2200" dirty="0"/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749039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How are you?</a:t>
            </a:r>
            <a:endParaRPr lang="en-US" sz="2200" dirty="0"/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fine, thanks.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Person walking to a door, waving, saying Bye!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hello and goodbye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and spell your name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repeat, please?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ID cards, a name tag, speech bubbles, letters, and labels were added.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(for example, the faces on the Progress Check) are standard emoji characters shown with the computer's emoji font.</a:t>
            </a:r>
            <a:endParaRPr lang="en-US" sz="22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numbers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Ruiz and Carlos Vega are invented names. Practice phone numbers start with 555-01.</a:t>
            </a:r>
            <a:endParaRPr lang="en-US" sz="22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License); each file carries an inaudible Perth watermark marking it as AI-generated. Ana's voice is based on LibriTTS-R speaker 1580 (Koizumi et al. 2023, CC BY 4.0), from LibriVox public-domain readings. Font: Lexend Deca (OFL 1.1).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1: Hello! What's Your Name?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