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547" r:id="rId32"/>
    <p:sldId id="548" r:id="rId21"/>
    <p:sldId id="549" r:id="rId19"/>
    <p:sldId id="550" r:id="rId15"/>
    <p:sldId id="551" r:id="rId37"/>
    <p:sldId id="552" r:id="rId38"/>
    <p:sldId id="553" r:id="rId39"/>
    <p:sldId id="554" r:id="rId40"/>
    <p:sldId id="555" r:id="rId41"/>
    <p:sldId id="556" r:id="rId42"/>
    <p:sldId id="557" r:id="rId43"/>
    <p:sldId id="558" r:id="rId44"/>
    <p:sldId id="559" r:id="rId45"/>
    <p:sldId id="560" r:id="rId46"/>
    <p:sldId id="561" r:id="rId47"/>
    <p:sldId id="562" r:id="rId48"/>
    <p:sldId id="563" r:id="rId49"/>
    <p:sldId id="564" r:id="rId50"/>
    <p:sldId id="565" r:id="rId51"/>
    <p:sldId id="566" r:id="rId52"/>
    <p:sldId id="567" r:id="rId53"/>
    <p:sldId id="568" r:id="rId54"/>
    <p:sldId id="569" r:id="rId55"/>
    <p:sldId id="570" r:id="rId56"/>
    <p:sldId id="571" r:id="rId9"/>
    <p:sldId id="57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 Ask one learner: "Is anything wrong with the lights in this room?" and wait for an answer.</a:t>
            </a:r>
          </a:p>
          <a:p>
            <a:r>
              <a:t>Remind learners: homework is about 15 minutes. Bring it next week.</a:t>
            </a:r>
          </a:p>
          <a:p>
            <a:r>
              <a:t>Lesson plan: At a glance: Objectives; Step 6.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with 2–3 sentences. A asks one follow-up question (follow-ups on the right). Then switch.</a:t>
            </a:r>
          </a:p>
          <a:p>
            <a:r>
              <a:t>Homework Check (4 min, last click): partners read their Lesson 11 Homework item 2 to each other. The partner asks one question about it. Walk around. Write 2 common errors on the board (often I was boring or It was excited) and correct them together.</a:t>
            </a:r>
          </a:p>
          <a:p>
            <a:r>
              <a:t>Lesson plan: Step 1; Opening Talk page: cards, follow-ups,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6:00–6:10 · Opening Talk + Homework Check · 10 min. Pairs (7 pairs + 1 trio with 15 learners; 3–4 pairs with 7–8).</a:t>
            </a:r>
          </a:p>
          <a:p>
            <a:r>
              <a:t>Before class, write on the board: How was it? It was… -ing / I was… -ed</a:t>
            </a:r>
          </a:p>
          <a:p>
            <a:r>
              <a:t>Model with one learner: "What was the last movie you saw? How was it?" → (answer) → "How did you feel at the end?" (Click to show the follow-up.)</a:t>
            </a:r>
          </a:p>
          <a:p>
            <a:r>
              <a:t>Opening Talk (6 min): learners open the Opening Talk page. A asks a card question; B answers with 2–3 sentences; A asks one follow-up. Switch after each card. The cards are on the next slide.</a:t>
            </a:r>
          </a:p>
          <a:p>
            <a:r>
              <a:t>If behind: one card only, then the homework check.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Goal 1: Something is wrong with the heater. The sink is leaking. Goal 2: something / anything / nothing and someone / anyone / no one. Goal 3: Can you send someone? Is anyone home on Tuesday?</a:t>
            </a:r>
          </a:p>
          <a:p>
            <a:r>
              <a:t>Goal 4: I didn't see anything. (not I didn't see nothing) Goal 5: read a maintenance request and write a short one (3–5 sentences).</a:t>
            </a:r>
          </a:p>
          <a:p>
            <a:r>
              <a:t>"We check at 7:25" = the Progress Check. It is not a test grade.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"Something's wrong." Say: "Tonight we talk about problems in a home and how to ask for a repair."</a:t>
            </a:r>
          </a:p>
          <a:p>
            <a:r>
              <a:t>Read the three lines under "Today you will". Give one quick example of each: "The sink is leaking." • "Is anything wrong? No, nothing is wrong." • "Can you send someone on Tuesday?"</a:t>
            </a:r>
          </a:p>
          <a:p>
            <a:r>
              <a:t>Keep it practical and invented (important): never ask about learners' real rent, landlord, or living situation. Use the cards and invented apartments. Tenant rights are a Level 5 topic; if a learner asks, point to the local resources on the "Keep practicing" sheet.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6:10–6:18 · New Words · 8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landlord and repair person: "The landlord owns the building. The repair person fixes things." Mime water drops from a leak.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 Mime: try a door with a broken lock; cover your ears for a smoke alarm: "Beep! Beep!"</a:t>
            </a:r>
          </a:p>
          <a:p>
            <a:r>
              <a:t>Partner game (2 min): A says a word. B points to the picture and makes a sentence (A: sink. B: The sink is leaking. Something is wrong with it.). Switch.</a:t>
            </a:r>
          </a:p>
          <a:p>
            <a:r>
              <a:t>If behind: teach the ★ words only.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"Water is coming from the pipe. It's a…?" (leak) • 2. "The room is cold. What's wrong?" (the heater) • 3. "You write about a problem on a…?" (maintenance request)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6:18–6:30 · Listening + "Say it" · 12 min (slides 8 to 12). Individuals, then pairs check.</a:t>
            </a:r>
          </a:p>
          <a:p>
            <a:r>
              <a:t>Before you listen (1 min). Say: "Sara lives in an apartment. She's calling the building office. What problems does she have? Listen."</a:t>
            </a:r>
          </a:p>
          <a:p>
            <a:r>
              <a:t>There are three voices: a Narrator, Sara, and Mr. Grant (the building manager). Each click highlights the next voice.</a:t>
            </a:r>
          </a:p>
          <a:p>
            <a:r>
              <a:t>The audio (about 1:15)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normal, friendly speed.</a:t>
            </a:r>
          </a:p>
          <a:p>
            <a:r>
              <a:t>Audio: the listening audio for this lesson (about 1:15)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twelve. Listening. Sara lives in an apartment. She's calling the building office about some problems. Listen.</a:t>
            </a:r>
          </a:p>
          <a:p>
            <a:r>
              <a:t>Mr. Grant: Maple Court Apartments, this is Mr. Grant. How can I help you?</a:t>
            </a:r>
          </a:p>
          <a:p>
            <a:r>
              <a:t>Sara: Hi, this is Sara in apartment 4B. Something is wrong with my kitchen sink. It's leaking.</a:t>
            </a:r>
          </a:p>
          <a:p>
            <a:r>
              <a:t>Mr. Grant: Oh no. Is there any water on the floor?</a:t>
            </a:r>
          </a:p>
          <a:p>
            <a:r>
              <a:t>Sara: Yes, a little. I put a towel under it. And there's something else. The heater doesn't work.</a:t>
            </a:r>
          </a:p>
          <a:p>
            <a:r>
              <a:t>Mr. Grant: Do you see anything on the screen?</a:t>
            </a:r>
          </a:p>
          <a:p>
            <a:r>
              <a:t>Sara: No, I don't see anything. The screen is black, and the apartment is really cold.</a:t>
            </a:r>
          </a:p>
          <a:p>
            <a:r>
              <a:t>Mr. Grant: OK. I'll send someone tomorrow morning. Is anyone home at nine?</a:t>
            </a:r>
          </a:p>
          <a:p>
            <a:r>
              <a:t>Sara: No, no one is home in the morning. I work until two.</a:t>
            </a:r>
          </a:p>
          <a:p>
            <a:r>
              <a:t>Mr. Grant: How about Tuesday at three?</a:t>
            </a:r>
          </a:p>
          <a:p>
            <a:r>
              <a:t>Sara: Tuesday at three is fine. If it gets worse tonight, I'll call you.</a:t>
            </a:r>
          </a:p>
          <a:p>
            <a:r>
              <a:t>Mr. Grant: Great. The repair person will fix both things. Until then, don't use the sink.</a:t>
            </a:r>
          </a:p>
          <a:p>
            <a:r>
              <a:t>Sara: OK, I won't. Thank you so much.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(which problems?). Pairs compare. Check together.</a:t>
            </a:r>
          </a:p>
          <a:p>
            <a:r>
              <a:t>Click to circle each answer (one click per item, top to bottom): ✓ the kitchen sink (it's leaking) • ✗ the toilet • ✓ the heater (it doesn't work) • ✗ the lock • ✗ a mouse.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show each answer (one click per item, 1 to 5): 1 4B • 2 a little water • 3 black • 4 Tuesday • 5 3:00.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7): 1 Something, 2 any, 3 something, 4 anything, 5 someone, 6 anyone, 7 no one.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"Say it" (2 min). Say: "Stress the first part: SOMEthing, ANyone, NO one." Then thing: tongue between the teeth, th (not ting).</a:t>
            </a:r>
          </a:p>
          <a:p>
            <a:r>
              <a:t>The class repeats each word twice, then the line in the box.</a:t>
            </a:r>
          </a:p>
          <a:p>
            <a:r>
              <a:t>Lesson plan: Step 3: "Say it"; Listening page: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21). Whole class, then pairs. Show the Grammar page. The left side is the question. The right side is the answer.</a:t>
            </a:r>
          </a:p>
          <a:p>
            <a:r>
              <a:t>Show it (2 min): look into an empty cup: "Is there anything in it? No, there isn't anything. There's nothing in it." Look at the door: "Is anyone at the door? No, no one is there."</a:t>
            </a:r>
          </a:p>
          <a:p>
            <a:r>
              <a:t>Boxes 1, 2, and 3 (5 min): read a question from the left; the class answers from the right. Each click shows the answer side of one row.</a:t>
            </a:r>
          </a:p>
          <a:p>
            <a:r>
              <a:t>Something is wrong with… is the most useful sentence today. Practice it with many nouns.</a:t>
            </a:r>
          </a:p>
          <a:p>
            <a:r>
              <a:t>Lesson plan: Step 4; Grammar Box 1;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Is anyone home? Each click shows the answer side of one row.</a:t>
            </a:r>
          </a:p>
          <a:p>
            <a:r>
              <a:t>Review: If it gets worse, I'll call you (Lesson 6) and I'll send someone (Lesson 5). Accept both; don't teach them again.</a:t>
            </a:r>
          </a:p>
          <a:p>
            <a:r>
              <a:t>Lesson plan: Step 4; Grammar Box 2; Teacher notes: Review.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one negative only: I didn't see anything or I saw nothing (not I didn't see nothing). Each click shows the answer side of one row.</a:t>
            </a:r>
          </a:p>
          <a:p>
            <a:r>
              <a:t>Lesson plan: Step 4; Grammar Box 3; Teacher notes: One negative only.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 (2 min): the table: some- in + sentences, any- in questions and with not, no- alone. Each click shows one row.</a:t>
            </a:r>
          </a:p>
          <a:p>
            <a:r>
              <a:t>Point to the one-negative rule: I didn't see anything = I saw nothing.</a:t>
            </a:r>
          </a:p>
          <a:p>
            <a:r>
              <a:t>Check questions: "Is ___ wrong?" (anything) • "Yes, ___ is wrong with the sink." (something) • "No, ___ is home." (no one) • "I didn't hear ___." (anything)</a:t>
            </a:r>
          </a:p>
          <a:p>
            <a:r>
              <a:t>Lesson plan: Step 4; Grammar Box 4; Teacher notes: The rule in one line.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Something, 2 anything, 3 nothing, 4 someone, 5 anyone, 6 No one.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right word. Pairs check.</a:t>
            </a:r>
          </a:p>
          <a:p>
            <a:r>
              <a:t>Click to circle each answer (one click per item, 1 to 5): 1 anything, 2 someone, 3 anything, 4 nothing, 5 anyone.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 (never skip this table). Read a line from Don't say. Ask: "What's the right way?" Learners try first. Then click to show the right form. Each click shows one line, in order 1 to 4.</a:t>
            </a:r>
          </a:p>
          <a:p>
            <a:r>
              <a:t>1 and 3: one negative only • 2: + sentences use some- • 4: questions use any-, and someone is one word. Is something wrong? is OK in real life, but teach anything first.</a:t>
            </a:r>
          </a:p>
          <a:p>
            <a:r>
              <a:t>Say the right form clearly; the learner repeats. Learners can read the Spanish note and the tip on their Grammar page themselves; you don't need to explain them.</a:t>
            </a:r>
          </a:p>
          <a:p>
            <a:r>
              <a:t>Lesson plan: Grammar: Common mistakes; Teacher notes: Typical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drill (last 2 min of Step 4). Pairs.</a:t>
            </a:r>
          </a:p>
          <a:p>
            <a:r>
              <a:t>A points to a picture on the New Words page: "Is anything wrong with the ___?" B answers: Yes, something is wrong with it. It's… or No, nothing is wrong. Switch.</a:t>
            </a:r>
          </a:p>
          <a:p>
            <a:r>
              <a:t>If behind: skip the pair drill. Talk Time practices it.</a:t>
            </a:r>
          </a:p>
          <a:p>
            <a:r>
              <a:t>Lesson plan: Step 4: Pair drill.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7:00–7:12 · Talk Time: The Repair Call · 12 min. Round 1 is back to back.</a:t>
            </a:r>
          </a:p>
          <a:p>
            <a:r>
              <a:t>Round 1 (7 min): A is a tenant with a Tenant Card; B is the building manager with the Repair Schedule. A calls: says what's wrong and since when. B asks one question (Is there any water on the floor?) and finds an open time when someone is home. They agree on a day and time; B writes it in the schedule. Switch roles with a new card. Each click shows the next step.</a:t>
            </a:r>
          </a:p>
          <a:p>
            <a:r>
              <a:t>Model with one learner (1 min): you are the tenant with card 1: "Hi, this is apartment 3A. Something is wrong with my toilet. It's leaking." The manager: "Is anyone home on Monday at 4:00?" → "Yes, someone is home after 3."</a:t>
            </a:r>
          </a:p>
          <a:p>
            <a:r>
              <a:t>Possible open times: card 1 → Mon 4:00 or Tue 4:00 • card 2 → Tue 9:00 or Fri 1:00 • card 3 → Thu 9:00 or Thu 1:00 • card 4 → Mon 1:00, Mon 4:00, or Fri 1:00. The conversations will vary.</a:t>
            </a:r>
          </a:p>
          <a:p>
            <a:r>
              <a:t>Keep it practical and invented (important): never ask about learners' real rent, landlord, or living situation. Use the cards and invented apartments. Tenant rights are a Level 5 topic; if a learner asks, point to the local resources on the "Keep practicing" sheet.</a:t>
            </a:r>
          </a:p>
          <a:p>
            <a:r>
              <a:t>Lesson plan: Step 5; Talk Time: The Repair Call;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2, Find Something (4 min): pairs look at the apartment picture and find 7 problems. The first pair to find all 7 wins. Each click shows the next step.</a:t>
            </a:r>
          </a:p>
          <a:p>
            <a:r>
              <a:t>7 problems: the smoke alarm is beeping • the light bulb is out (off) • the sink is leaking • the heater doesn't work (it's cold) • the door lock is open / broken • a cockroach on the wall • a mouse on the floor. (Nothing is wrong with the plant, the chair, or the picture.)</a:t>
            </a:r>
          </a:p>
          <a:p>
            <a:r>
              <a:t>If behind: Round 1 only.</a:t>
            </a:r>
          </a:p>
          <a:p>
            <a:r>
              <a:t>Lesson plan: Step 5; Talk Time: Find Something;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7:12–7:17 · Exit Ticket + Homework · 5 min · NEVER SKIP.</a:t>
            </a:r>
          </a:p>
          <a:p>
            <a:r>
              <a:t>Exit ticket: each learner writes two sentences on a slip: one with something / anything / nothing or someone / anyone / no one (Something is wrong with my heater.), and one with if or so (No one is home in the morning, so please come at 3.). Collect at the door.</a:t>
            </a:r>
          </a:p>
          <a:p>
            <a:r>
              <a:t>Homework: open the Homework page. Do item 1 together (one sentence on the board). Say: "About 15 minutes. Bring it next week."</a:t>
            </a:r>
          </a:p>
          <a:p>
            <a:r>
              <a:t>Homework items: 1 write the sentence again with something, anything, nothing, someone, anyone, or no one • 2 look around your home (or imagine an apartment): 3 sentences, what's OK and what's wrong • 3 with a family member, practice a repair call; write the day and time you agreed on • 4 review (Lesson 11): 2 sentences about a TV show or an event, one -ing word and one -ed word.</a:t>
            </a:r>
          </a:p>
          <a:p>
            <a:r>
              <a:t>Read &amp; Write (7:17–7:25, on the Student Pages): a request form and Ken's note; questions 1–5; then a 3–5 sentence maintenance request. Say: "Invent the apartment, the problem, and a 555 number." If behind: questions 1–5 only; the request becomes homework.</a:t>
            </a:r>
          </a:p>
          <a:p>
            <a:r>
              <a:t>Lesson plan: Step 6; Homework page; Read &amp; Write step.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Check · 7:25–7:30 · 5 min. Individuals. Open the Progress Check page.</a:t>
            </a:r>
          </a:p>
          <a:p>
            <a:r>
              <a:t>Part A: read each sentence slowly, 2 times. Learners circle a or b. Then click to show the answer (one click per item, 1 to 4).</a:t>
            </a:r>
          </a:p>
          <a:p>
            <a:r>
              <a:t>Say: 1 "Something is wrong with the sink." (a) • 2 "No one is home on Monday." (b) • 3 "I didn't see anything." (b) • 4 "I'll send someone on Friday." (a)</a:t>
            </a:r>
          </a:p>
          <a:p>
            <a:r>
              <a:t>Parts B and C: learners do them alone. Walk around and help with the instructions only. B answers: 1 anything, 2 Someone, 3 anything, 4 no one. C: answers will vary (for example Something is wrong with my heater. It doesn't work. / Can you send someone on Tuesday after 3:00?).</a:t>
            </a:r>
          </a:p>
          <a:p>
            <a:r>
              <a:t>Part D: read each "I can…" line aloud and point to the 3 faces: 😀 "I can do it." 🙂 "With a little help." 😐 "Not yet."</a:t>
            </a:r>
          </a:p>
          <a:p>
            <a:r>
              <a:t>Scoring: A /4 + B /4 + C /2 = /10. This is not a test grade. It shows who needs more help hearing some- / any- / no- (A) and with the forms (B, C).</a:t>
            </a:r>
          </a:p>
          <a:p>
            <a:r>
              <a:t>Collect the pages (or check them at the start of Week 14). If behind: do the Progress Check in Week 14 at 6:00, while learners arrive.</a:t>
            </a:r>
          </a:p>
          <a:p>
            <a:r>
              <a:t>Lesson plan: Progress Check step; Progress Check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1:15)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1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Leak: a drawn pipe with water drop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Something's Wrong</a:t>
            </a:r>
            <a:endParaRPr lang="en-US" sz="5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what's wrong in a home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something / anything / nothing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a repair and set a time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apartments are invented.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what's wrong in a home.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something / anything / nothing.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a repair and set a time.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one negative only.</a:t>
            </a:r>
            <a:endParaRPr lang="en-US" sz="20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read and write a maintenance request.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Landlord: a man in work clothes and an apartment bui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1828800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the last movie you saw? How was it?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2–3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did you feel at the end?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Then switch.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did you feel? Why? Who were you with?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the last movie you saw? How was it?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a relaxing place in your town?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the most exciting day this year?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boring for you? Why?</a:t>
            </a:r>
            <a:endParaRPr lang="en-US" sz="20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11, item 2.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Landlord: a man in work clothes and an apartment buildi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landlord</a:t>
            </a:r>
            <a:endParaRPr lang="en-US" sz="2000" dirty="0" b="1"/>
          </a:p>
        </p:txBody>
      </p:sp>
      <p:pic>
        <p:nvPicPr>
          <p:cNvPr id="19" name="Word picture 2" descr="Repair person: a mechanic and a toolbox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repair person</a:t>
            </a:r>
            <a:endParaRPr lang="en-US" sz="2000" dirty="0" b="1"/>
          </a:p>
        </p:txBody>
      </p:sp>
      <p:pic>
        <p:nvPicPr>
          <p:cNvPr id="21" name="Word picture 3" descr="Maintenance request: a drawn request form with &quot;Problem&quot; highligh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maintenance request</a:t>
            </a:r>
            <a:endParaRPr lang="en-US" sz="1800" dirty="0" b="1"/>
          </a:p>
        </p:txBody>
      </p:sp>
      <p:pic>
        <p:nvPicPr>
          <p:cNvPr id="23" name="Word picture 4" descr="Leak: a drawn pipe with water drop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leak</a:t>
            </a:r>
            <a:endParaRPr lang="en-US" sz="2000" dirty="0" b="1"/>
          </a:p>
        </p:txBody>
      </p:sp>
      <p:pic>
        <p:nvPicPr>
          <p:cNvPr id="25" name="Word picture 5" descr="Sink: a drawn sink and fauce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sink</a:t>
            </a:r>
            <a:endParaRPr lang="en-US" sz="2000" dirty="0" b="1"/>
          </a:p>
        </p:txBody>
      </p:sp>
      <p:pic>
        <p:nvPicPr>
          <p:cNvPr id="27" name="Word picture 6" descr="Toilet: a toilet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toilet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 B points.</a:t>
            </a:r>
            <a:endParaRPr lang="en-US" sz="2200" dirty="0" b="1"/>
          </a:p>
        </p:txBody>
      </p:sp>
      <p:pic>
        <p:nvPicPr>
          <p:cNvPr id="17" name="Word picture 1" descr="Heater: a drawn heater and a thermomet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heater</a:t>
            </a:r>
            <a:endParaRPr lang="en-US" sz="2000" dirty="0" b="1"/>
          </a:p>
        </p:txBody>
      </p:sp>
      <p:pic>
        <p:nvPicPr>
          <p:cNvPr id="19" name="Word picture 2" descr="Light bulb: a light bulb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light bulb</a:t>
            </a:r>
            <a:endParaRPr lang="en-US" sz="2000" dirty="0" b="1"/>
          </a:p>
        </p:txBody>
      </p:sp>
      <p:pic>
        <p:nvPicPr>
          <p:cNvPr id="21" name="Word picture 3" descr="Lock: a lock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lock</a:t>
            </a:r>
            <a:endParaRPr lang="en-US" sz="2000" dirty="0" b="1"/>
          </a:p>
        </p:txBody>
      </p:sp>
      <p:pic>
        <p:nvPicPr>
          <p:cNvPr id="23" name="Word picture 4" descr="Smoke alarm: a drawn smoke alarm &quot;BEEP!&quot; and a puff of smok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smoke alarm</a:t>
            </a:r>
            <a:endParaRPr lang="en-US" sz="2000" dirty="0" b="1"/>
          </a:p>
        </p:txBody>
      </p:sp>
      <p:pic>
        <p:nvPicPr>
          <p:cNvPr id="25" name="Word picture 5" descr="Mouse: a mous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mouse</a:t>
            </a:r>
            <a:endParaRPr lang="en-US" sz="2000" dirty="0" b="1"/>
          </a:p>
        </p:txBody>
      </p:sp>
      <p:pic>
        <p:nvPicPr>
          <p:cNvPr id="27" name="Word picture 6" descr="Cockroach: a cockroach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cockroach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Water is coming from the pipe. It's a…?</a:t>
            </a:r>
            <a:endParaRPr lang="en-US" sz="1800" dirty="0" b="1"/>
          </a:p>
        </p:txBody>
      </p:sp>
      <p:pic>
        <p:nvPicPr>
          <p:cNvPr id="101" name="R1 pic" descr="Leak: a drawn pipe with water drop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is cold. What's wrong?</a:t>
            </a:r>
            <a:endParaRPr lang="en-US" sz="1800" dirty="0" b="1"/>
          </a:p>
        </p:txBody>
      </p:sp>
      <p:pic>
        <p:nvPicPr>
          <p:cNvPr id="102" name="R2 pic" descr="Heater: a drawn heater and a thermomete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write about a problem on a…?</a:t>
            </a:r>
            <a:endParaRPr lang="en-US" sz="1800" dirty="0" b="1"/>
          </a:p>
        </p:txBody>
      </p:sp>
      <p:pic>
        <p:nvPicPr>
          <p:cNvPr id="103" name="R3 pic" descr="Maintenance request: a drawn request form with &quot;Problem&quot; highlight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leak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heater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maintenance request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Sara lives in an apartment. She's calling the building office. Mr. Grant is the building manager.</a:t>
            </a:r>
            <a:endParaRPr lang="en-US" sz="17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Sink: a drawn sink and fauc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Sara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Grant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problems does Sara have?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day? What time?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1:15.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problems does Sara have?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✓.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80924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kitchen sink</a:t>
            </a: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8778240" y="3108960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10" name="R1 opt2"/>
          <p:cNvSpPr/>
          <p:nvPr/>
        </p:nvSpPr>
        <p:spPr>
          <a:xfrm>
            <a:off x="10058400" y="3108960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11" name="R1 circle"/>
          <p:cNvSpPr/>
          <p:nvPr/>
        </p:nvSpPr>
        <p:spPr>
          <a:xfrm>
            <a:off x="8650224" y="3054096"/>
            <a:ext cx="11704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767328"/>
            <a:ext cx="80924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toilet</a:t>
            </a:r>
            <a:endParaRPr lang="en-US" sz="2000" dirty="0"/>
          </a:p>
        </p:txBody>
      </p:sp>
      <p:sp>
        <p:nvSpPr>
          <p:cNvPr id="13" name="R2 opt1"/>
          <p:cNvSpPr/>
          <p:nvPr/>
        </p:nvSpPr>
        <p:spPr>
          <a:xfrm>
            <a:off x="8778240" y="3767328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14" name="R2 opt2"/>
          <p:cNvSpPr/>
          <p:nvPr/>
        </p:nvSpPr>
        <p:spPr>
          <a:xfrm>
            <a:off x="10058400" y="3767328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15" name="R2 circle"/>
          <p:cNvSpPr/>
          <p:nvPr/>
        </p:nvSpPr>
        <p:spPr>
          <a:xfrm>
            <a:off x="9930384" y="3712464"/>
            <a:ext cx="11704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425696"/>
            <a:ext cx="80924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heater</a:t>
            </a:r>
            <a:endParaRPr lang="en-US" sz="2000" dirty="0"/>
          </a:p>
        </p:txBody>
      </p:sp>
      <p:sp>
        <p:nvSpPr>
          <p:cNvPr id="17" name="R3 opt1"/>
          <p:cNvSpPr/>
          <p:nvPr/>
        </p:nvSpPr>
        <p:spPr>
          <a:xfrm>
            <a:off x="8778240" y="4425696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18" name="R3 opt2"/>
          <p:cNvSpPr/>
          <p:nvPr/>
        </p:nvSpPr>
        <p:spPr>
          <a:xfrm>
            <a:off x="10058400" y="4425696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19" name="R3 circle"/>
          <p:cNvSpPr/>
          <p:nvPr/>
        </p:nvSpPr>
        <p:spPr>
          <a:xfrm>
            <a:off x="8650224" y="4370832"/>
            <a:ext cx="11704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5084064"/>
            <a:ext cx="80924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lock</a:t>
            </a:r>
            <a:endParaRPr lang="en-US" sz="2000" dirty="0"/>
          </a:p>
        </p:txBody>
      </p:sp>
      <p:sp>
        <p:nvSpPr>
          <p:cNvPr id="21" name="R4 opt1"/>
          <p:cNvSpPr/>
          <p:nvPr/>
        </p:nvSpPr>
        <p:spPr>
          <a:xfrm>
            <a:off x="8778240" y="5084064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22" name="R4 opt2"/>
          <p:cNvSpPr/>
          <p:nvPr/>
        </p:nvSpPr>
        <p:spPr>
          <a:xfrm>
            <a:off x="10058400" y="5084064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23" name="R4 circle"/>
          <p:cNvSpPr/>
          <p:nvPr/>
        </p:nvSpPr>
        <p:spPr>
          <a:xfrm>
            <a:off x="9930384" y="5029200"/>
            <a:ext cx="11704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742432"/>
            <a:ext cx="80924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mouse</a:t>
            </a:r>
            <a:endParaRPr lang="en-US" sz="2000" dirty="0"/>
          </a:p>
        </p:txBody>
      </p:sp>
      <p:sp>
        <p:nvSpPr>
          <p:cNvPr id="25" name="R5 opt1"/>
          <p:cNvSpPr/>
          <p:nvPr/>
        </p:nvSpPr>
        <p:spPr>
          <a:xfrm>
            <a:off x="8778240" y="5742432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26" name="R5 opt2"/>
          <p:cNvSpPr/>
          <p:nvPr/>
        </p:nvSpPr>
        <p:spPr>
          <a:xfrm>
            <a:off x="10058400" y="5742432"/>
            <a:ext cx="9144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27" name="R5 circle"/>
          <p:cNvSpPr/>
          <p:nvPr/>
        </p:nvSpPr>
        <p:spPr>
          <a:xfrm>
            <a:off x="9930384" y="5687568"/>
            <a:ext cx="11704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31596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Apartment: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4B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4D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52557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4B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431596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Water on the floor: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little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lot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3311957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little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431596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heater screen is: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black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blue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4098341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black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431596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Day: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Monday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Tuesday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884725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Tuesday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431596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Time: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9:00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3:00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67110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3:00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something, anything, any, someone, anyone, no one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55099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550991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0612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3950208" cy="550991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is wrong with my kitchen sink.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833872" y="2170132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endParaRPr lang="en-US" sz="17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747380"/>
            <a:ext cx="6035040" cy="55099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747380"/>
            <a:ext cx="1039673" cy="550991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73026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747380"/>
            <a:ext cx="3950208" cy="550991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 ____ water on the floor?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833872" y="2794276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endParaRPr lang="en-US" sz="17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371523"/>
            <a:ext cx="6035040" cy="55099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371523"/>
            <a:ext cx="1039673" cy="550991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35441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371523"/>
            <a:ext cx="3950208" cy="550991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 there's ____ else. The heater doesn't work.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833872" y="3418419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endParaRPr lang="en-US" sz="17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3995667"/>
            <a:ext cx="6035040" cy="55099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3995667"/>
            <a:ext cx="1039673" cy="550991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39785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3995667"/>
            <a:ext cx="3950208" cy="550991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don't see ____.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833872" y="4042562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endParaRPr lang="en-US" sz="17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4619810"/>
            <a:ext cx="6035040" cy="55099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4619810"/>
            <a:ext cx="1039673" cy="550991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460269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4619810"/>
            <a:ext cx="3950208" cy="550991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I'll send ____ tomorrow morning.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833872" y="4666706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</a:t>
            </a:r>
            <a:endParaRPr lang="en-US" sz="17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243953"/>
            <a:ext cx="6035040" cy="55099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243953"/>
            <a:ext cx="1039673" cy="550991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22684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243953"/>
            <a:ext cx="3950208" cy="550991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____ home at nine?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833872" y="5290849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endParaRPr lang="en-US" sz="1700" dirty="0" b="1"/>
          </a:p>
        </p:txBody>
      </p:sp>
      <p:sp>
        <p:nvSpPr>
          <p:cNvPr id="61" name="R7 card"/>
          <p:cNvSpPr/>
          <p:nvPr/>
        </p:nvSpPr>
        <p:spPr>
          <a:xfrm>
            <a:off x="1583741" y="5868097"/>
            <a:ext cx="6035040" cy="55099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" name="R7 chip"/>
          <p:cNvSpPr/>
          <p:nvPr/>
        </p:nvSpPr>
        <p:spPr>
          <a:xfrm>
            <a:off x="544982" y="5868097"/>
            <a:ext cx="1039673" cy="550991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3" name="R7 num"/>
          <p:cNvSpPr/>
          <p:nvPr/>
        </p:nvSpPr>
        <p:spPr>
          <a:xfrm>
            <a:off x="686714" y="585098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7</a:t>
            </a:r>
            <a:endParaRPr lang="en-US" sz="3200" dirty="0" b="1"/>
          </a:p>
        </p:txBody>
      </p:sp>
      <p:sp>
        <p:nvSpPr>
          <p:cNvPr id="64" name="R7 text"/>
          <p:cNvSpPr/>
          <p:nvPr/>
        </p:nvSpPr>
        <p:spPr>
          <a:xfrm>
            <a:off x="1810512" y="5868097"/>
            <a:ext cx="3950208" cy="550991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____ is home in the morning.</a:t>
            </a:r>
            <a:endParaRPr lang="en-US" sz="1600" dirty="0"/>
          </a:p>
        </p:txBody>
      </p:sp>
      <p:sp>
        <p:nvSpPr>
          <p:cNvPr id="65" name="R7 ans"/>
          <p:cNvSpPr/>
          <p:nvPr/>
        </p:nvSpPr>
        <p:spPr>
          <a:xfrm>
            <a:off x="5833872" y="5914992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stress and th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repeats each line.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Stress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part.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thing: tongue between the teeth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(not ting).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thing  ·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yone  ·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one</a:t>
            </a:r>
            <a:endParaRPr lang="en-US" sz="22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601822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601822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 (not ting)</a:t>
            </a:r>
            <a:endParaRPr lang="en-US" sz="22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487875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487875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 is wrong with my sink.</a:t>
            </a:r>
            <a:endParaRPr lang="en-US" sz="22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Heater: a drawn heater and a thermome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anything wrong?</a:t>
            </a:r>
            <a:endParaRPr lang="en-US" sz="28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772400" y="182880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5603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anything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wrong?</a:t>
            </a:r>
            <a:endParaRPr lang="en-US" sz="2000" dirty="0" b="1"/>
          </a:p>
        </p:txBody>
      </p:sp>
      <p:sp>
        <p:nvSpPr>
          <p:cNvPr id="19" name="Answer bg 1"/>
          <p:cNvSpPr/>
          <p:nvPr/>
        </p:nvSpPr>
        <p:spPr>
          <a:xfrm>
            <a:off x="7772400" y="2286000"/>
            <a:ext cx="416052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772400" y="2286000"/>
            <a:ext cx="41605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wrong with the heater. / with the sink.</a:t>
            </a:r>
            <a:endParaRPr lang="en-US" sz="1800" dirty="0" b="1"/>
          </a:p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wrong. It's fine.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566160"/>
            <a:ext cx="25603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anything wrong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the lock?</a:t>
            </a:r>
            <a:endParaRPr lang="en-US" sz="2000" dirty="0" b="1"/>
          </a:p>
        </p:txBody>
      </p:sp>
      <p:sp>
        <p:nvSpPr>
          <p:cNvPr id="22" name="Answer bg 2"/>
          <p:cNvSpPr/>
          <p:nvPr/>
        </p:nvSpPr>
        <p:spPr>
          <a:xfrm>
            <a:off x="7772400" y="3566160"/>
            <a:ext cx="416052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772400" y="3566160"/>
            <a:ext cx="41605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It doesn't close. The door is open.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epair person: a mechanic and a tool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anyone home?</a:t>
            </a:r>
            <a:endParaRPr lang="en-US" sz="28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772400" y="182880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5603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anyone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home on Tuesday?</a:t>
            </a:r>
            <a:endParaRPr lang="en-US" sz="2000" dirty="0" b="1"/>
          </a:p>
        </p:txBody>
      </p:sp>
      <p:sp>
        <p:nvSpPr>
          <p:cNvPr id="19" name="Answer bg 1"/>
          <p:cNvSpPr/>
          <p:nvPr/>
        </p:nvSpPr>
        <p:spPr>
          <a:xfrm>
            <a:off x="7772400" y="2286000"/>
            <a:ext cx="416052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772400" y="2286000"/>
            <a:ext cx="41605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home after 3:00.</a:t>
            </a:r>
            <a:endParaRPr lang="en-US" sz="1800" dirty="0" b="1"/>
          </a:p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home. We work all day.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566160"/>
            <a:ext cx="25603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send someone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today?</a:t>
            </a:r>
            <a:endParaRPr lang="en-US" sz="2000" dirty="0" b="1"/>
          </a:p>
        </p:txBody>
      </p:sp>
      <p:sp>
        <p:nvSpPr>
          <p:cNvPr id="22" name="Answer bg 2"/>
          <p:cNvSpPr/>
          <p:nvPr/>
        </p:nvSpPr>
        <p:spPr>
          <a:xfrm>
            <a:off x="7772400" y="3566160"/>
            <a:ext cx="416052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772400" y="3566160"/>
            <a:ext cx="41605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I'll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 someone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tomorrow morning.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Mouse: a mou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see anything?</a:t>
            </a:r>
            <a:endParaRPr lang="en-US" sz="28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772400" y="182880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5603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see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000" dirty="0" b="1"/>
          </a:p>
        </p:txBody>
      </p:sp>
      <p:sp>
        <p:nvSpPr>
          <p:cNvPr id="19" name="Answer bg 1"/>
          <p:cNvSpPr/>
          <p:nvPr/>
        </p:nvSpPr>
        <p:spPr>
          <a:xfrm>
            <a:off x="7772400" y="2286000"/>
            <a:ext cx="416052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772400" y="2286000"/>
            <a:ext cx="41605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see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(= I saw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.)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566160"/>
            <a:ext cx="25603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anyone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call?</a:t>
            </a:r>
            <a:endParaRPr lang="en-US" sz="2000" dirty="0" b="1"/>
          </a:p>
        </p:txBody>
      </p:sp>
      <p:sp>
        <p:nvSpPr>
          <p:cNvPr id="22" name="Answer bg 2"/>
          <p:cNvSpPr/>
          <p:nvPr/>
        </p:nvSpPr>
        <p:spPr>
          <a:xfrm>
            <a:off x="7772400" y="3566160"/>
            <a:ext cx="416052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772400" y="3566160"/>
            <a:ext cx="416052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called.</a:t>
            </a:r>
            <a:endParaRPr lang="en-US" sz="1800" dirty="0" b="1"/>
          </a:p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called at 2:00.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moke alarm: a drawn smoke alarm &quot;BEEP!&quot; and a puff of smok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some- / any- / no-</a:t>
            </a:r>
            <a:endParaRPr lang="en-US" sz="28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WHERE?</a:t>
            </a:r>
            <a:endParaRPr lang="en-US" sz="1600" dirty="0" b="1"/>
          </a:p>
        </p:txBody>
      </p:sp>
      <p:sp>
        <p:nvSpPr>
          <p:cNvPr id="11" name="A head"/>
          <p:cNvSpPr/>
          <p:nvPr/>
        </p:nvSpPr>
        <p:spPr>
          <a:xfrm>
            <a:off x="7223760" y="182880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THINGS  ·  PEOPLE  ·  EXAMPLE</a:t>
            </a:r>
            <a:endParaRPr lang="en-US" sz="16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01168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sentence</a:t>
            </a:r>
            <a:endParaRPr lang="en-US" sz="1900" dirty="0" b="1"/>
          </a:p>
        </p:txBody>
      </p:sp>
      <p:sp>
        <p:nvSpPr>
          <p:cNvPr id="19" name="Answer bg 1"/>
          <p:cNvSpPr/>
          <p:nvPr/>
        </p:nvSpPr>
        <p:spPr>
          <a:xfrm>
            <a:off x="7223760" y="2286000"/>
            <a:ext cx="470916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223760" y="2286000"/>
            <a:ext cx="470916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</a:t>
            </a:r>
            <a:b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 is wrong.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00400"/>
            <a:ext cx="201168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1900" dirty="0" b="1"/>
          </a:p>
        </p:txBody>
      </p:sp>
      <p:sp>
        <p:nvSpPr>
          <p:cNvPr id="22" name="Answer bg 2"/>
          <p:cNvSpPr/>
          <p:nvPr/>
        </p:nvSpPr>
        <p:spPr>
          <a:xfrm>
            <a:off x="7223760" y="3200400"/>
            <a:ext cx="470916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223760" y="3200400"/>
            <a:ext cx="470916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b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anyone home?</a:t>
            </a:r>
            <a:endParaRPr lang="en-US" sz="18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114800"/>
            <a:ext cx="201168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with not</a:t>
            </a:r>
            <a:endParaRPr lang="en-US" sz="1900" dirty="0" b="1"/>
          </a:p>
        </p:txBody>
      </p:sp>
      <p:sp>
        <p:nvSpPr>
          <p:cNvPr id="25" name="Answer bg 3"/>
          <p:cNvSpPr/>
          <p:nvPr/>
        </p:nvSpPr>
        <p:spPr>
          <a:xfrm>
            <a:off x="7223760" y="4114800"/>
            <a:ext cx="470916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223760" y="4114800"/>
            <a:ext cx="470916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not…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not…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b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didn't see anything.</a:t>
            </a:r>
            <a:endParaRPr lang="en-US" sz="18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029200"/>
            <a:ext cx="201168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alone</a:t>
            </a:r>
            <a:endParaRPr lang="en-US" sz="1900" dirty="0" b="1"/>
          </a:p>
        </p:txBody>
      </p:sp>
      <p:sp>
        <p:nvSpPr>
          <p:cNvPr id="28" name="Answer bg 4"/>
          <p:cNvSpPr/>
          <p:nvPr/>
        </p:nvSpPr>
        <p:spPr>
          <a:xfrm>
            <a:off x="7223760" y="5029200"/>
            <a:ext cx="470916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223760" y="5029200"/>
            <a:ext cx="470916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nothing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</a:t>
            </a:r>
            <a:b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 is home.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something, anything, nothing, someone, anyone, no one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395020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is wrong with my toilet.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5833872" y="2222144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endParaRPr lang="en-US" sz="17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395020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____ wrong with the light?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5833872" y="2950312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endParaRPr lang="en-US" sz="17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395020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box is empty. There's ____ in it.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5833872" y="3678479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nothing</a:t>
            </a:r>
            <a:endParaRPr lang="en-US" sz="17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395020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hear ____ at the door.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5833872" y="4406646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</a:t>
            </a:r>
            <a:endParaRPr lang="en-US" sz="17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395020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____ home on Friday?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5833872" y="5134813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endParaRPr lang="en-US" sz="17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395020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is home. We're at work.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5833872" y="5862980"/>
            <a:ext cx="17373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right word.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I didn't hear ____.</a:t>
            </a: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7269480" y="3108960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endParaRPr lang="en-US" sz="1700" dirty="0" b="1"/>
          </a:p>
        </p:txBody>
      </p:sp>
      <p:sp>
        <p:nvSpPr>
          <p:cNvPr id="10" name="R1 opt2"/>
          <p:cNvSpPr/>
          <p:nvPr/>
        </p:nvSpPr>
        <p:spPr>
          <a:xfrm>
            <a:off x="9235440" y="3108960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nothing</a:t>
            </a:r>
            <a:endParaRPr lang="en-US" sz="1700" dirty="0" b="1"/>
          </a:p>
        </p:txBody>
      </p:sp>
      <p:sp>
        <p:nvSpPr>
          <p:cNvPr id="11" name="R1 circle"/>
          <p:cNvSpPr/>
          <p:nvPr/>
        </p:nvSpPr>
        <p:spPr>
          <a:xfrm>
            <a:off x="7141464" y="3054096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767328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Can you send ____ today?</a:t>
            </a:r>
            <a:endParaRPr lang="en-US" sz="2000" dirty="0"/>
          </a:p>
        </p:txBody>
      </p:sp>
      <p:sp>
        <p:nvSpPr>
          <p:cNvPr id="13" name="R2 opt1"/>
          <p:cNvSpPr/>
          <p:nvPr/>
        </p:nvSpPr>
        <p:spPr>
          <a:xfrm>
            <a:off x="7269480" y="3767328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</a:t>
            </a:r>
            <a:endParaRPr lang="en-US" sz="1700" dirty="0" b="1"/>
          </a:p>
        </p:txBody>
      </p:sp>
      <p:sp>
        <p:nvSpPr>
          <p:cNvPr id="14" name="R2 opt2"/>
          <p:cNvSpPr/>
          <p:nvPr/>
        </p:nvSpPr>
        <p:spPr>
          <a:xfrm>
            <a:off x="9235440" y="3767328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endParaRPr lang="en-US" sz="1700" dirty="0" b="1"/>
          </a:p>
        </p:txBody>
      </p:sp>
      <p:sp>
        <p:nvSpPr>
          <p:cNvPr id="15" name="R2 circle"/>
          <p:cNvSpPr/>
          <p:nvPr/>
        </p:nvSpPr>
        <p:spPr>
          <a:xfrm>
            <a:off x="7141464" y="3712464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425696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Is ____ wrong with the heater?</a:t>
            </a:r>
            <a:endParaRPr lang="en-US" sz="2000" dirty="0"/>
          </a:p>
        </p:txBody>
      </p:sp>
      <p:sp>
        <p:nvSpPr>
          <p:cNvPr id="17" name="R3 opt1"/>
          <p:cNvSpPr/>
          <p:nvPr/>
        </p:nvSpPr>
        <p:spPr>
          <a:xfrm>
            <a:off x="7269480" y="4425696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endParaRPr lang="en-US" sz="1700" dirty="0" b="1"/>
          </a:p>
        </p:txBody>
      </p:sp>
      <p:sp>
        <p:nvSpPr>
          <p:cNvPr id="18" name="R3 opt2"/>
          <p:cNvSpPr/>
          <p:nvPr/>
        </p:nvSpPr>
        <p:spPr>
          <a:xfrm>
            <a:off x="9235440" y="4425696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endParaRPr lang="en-US" sz="1700" dirty="0" b="1"/>
          </a:p>
        </p:txBody>
      </p:sp>
      <p:sp>
        <p:nvSpPr>
          <p:cNvPr id="19" name="R3 circle"/>
          <p:cNvSpPr/>
          <p:nvPr/>
        </p:nvSpPr>
        <p:spPr>
          <a:xfrm>
            <a:off x="9107424" y="4370832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5084064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There's ____ in the fridge.</a:t>
            </a:r>
            <a:endParaRPr lang="en-US" sz="2000" dirty="0"/>
          </a:p>
        </p:txBody>
      </p:sp>
      <p:sp>
        <p:nvSpPr>
          <p:cNvPr id="21" name="R4 opt1"/>
          <p:cNvSpPr/>
          <p:nvPr/>
        </p:nvSpPr>
        <p:spPr>
          <a:xfrm>
            <a:off x="7269480" y="5084064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nothing</a:t>
            </a:r>
            <a:endParaRPr lang="en-US" sz="1700" dirty="0" b="1"/>
          </a:p>
        </p:txBody>
      </p:sp>
      <p:sp>
        <p:nvSpPr>
          <p:cNvPr id="22" name="R4 opt2"/>
          <p:cNvSpPr/>
          <p:nvPr/>
        </p:nvSpPr>
        <p:spPr>
          <a:xfrm>
            <a:off x="9235440" y="5084064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endParaRPr lang="en-US" sz="1700" dirty="0" b="1"/>
          </a:p>
        </p:txBody>
      </p:sp>
      <p:sp>
        <p:nvSpPr>
          <p:cNvPr id="23" name="R4 circle"/>
          <p:cNvSpPr/>
          <p:nvPr/>
        </p:nvSpPr>
        <p:spPr>
          <a:xfrm>
            <a:off x="7141464" y="5029200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742432"/>
            <a:ext cx="6583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Did ____ call?</a:t>
            </a:r>
            <a:endParaRPr lang="en-US" sz="2000" dirty="0"/>
          </a:p>
        </p:txBody>
      </p:sp>
      <p:sp>
        <p:nvSpPr>
          <p:cNvPr id="25" name="R5 opt1"/>
          <p:cNvSpPr/>
          <p:nvPr/>
        </p:nvSpPr>
        <p:spPr>
          <a:xfrm>
            <a:off x="7269480" y="5742432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endParaRPr lang="en-US" sz="1700" dirty="0" b="1"/>
          </a:p>
        </p:txBody>
      </p:sp>
      <p:sp>
        <p:nvSpPr>
          <p:cNvPr id="26" name="R5 opt2"/>
          <p:cNvSpPr/>
          <p:nvPr/>
        </p:nvSpPr>
        <p:spPr>
          <a:xfrm>
            <a:off x="9235440" y="5742432"/>
            <a:ext cx="173736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</a:t>
            </a:r>
            <a:endParaRPr lang="en-US" sz="1700" dirty="0" b="1"/>
          </a:p>
        </p:txBody>
      </p:sp>
      <p:sp>
        <p:nvSpPr>
          <p:cNvPr id="27" name="R5 circle"/>
          <p:cNvSpPr/>
          <p:nvPr/>
        </p:nvSpPr>
        <p:spPr>
          <a:xfrm>
            <a:off x="7141464" y="5687568"/>
            <a:ext cx="199339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Lock: a 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didn't see nothing.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didn't see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 is wrong with the sink.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wrong with the sink.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87705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 is not home.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87705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home.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some one home?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home?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Toilet: a toil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Drill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and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anything wrong with the ____?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Yes, something is wrong with it. It's…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No, nothing is wrong.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on the New Words page. B answers.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Repair person: a mechanic and a tool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Repair Call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Round 1: back to back.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= tenant. B = manager.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calls and says what's wrong.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 is wrong with my toilet. It's leaking.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asks one question.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 any water on the floor?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 on an open day and time.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anyone home on Monday at 4:00?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An apartment with 7 problems: a drawn room: smoke alarm &quot;BEEP!&quot;, a light bulb recolored grey, a leaking sink, a heater and a snowflake, a door with an open lock, a cockroach, a mouse, a plant, a chair, a pic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3483559"/>
            <a:ext cx="3882542" cy="2588362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Something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Round 2: 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7 problems.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apartment picture.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7 problems.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There's something wrong with the…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There's a… on the…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what is OK, too.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isn't anything wrong with the chair.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7:12–7:17</a:t>
            </a:r>
            <a:endParaRPr lang="en-US" sz="4000" dirty="0"/>
          </a:p>
        </p:txBody>
      </p:sp>
      <p:pic>
        <p:nvPicPr>
          <p:cNvPr id="16" name="pic" descr="Maintenance request: a drawn request form with &quot;Problem&quot; highligh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two sentences: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One with something / anything / nothing or someone / anyone / no one.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One with if or so: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one is home in the morning, so please come at 3.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7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 minutes.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it again with something….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3 sentences: what's OK and what's wrong.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Practice a repair call.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one -ing and one -ed word.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700" dirty="0" b="1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progres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51206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can"/>
          <p:cNvSpPr/>
          <p:nvPr/>
        </p:nvSpPr>
        <p:spPr>
          <a:xfrm>
            <a:off x="8503920" y="1280160"/>
            <a:ext cx="3429000" cy="49377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I can…</a:t>
            </a:r>
            <a:endParaRPr lang="en-US" sz="2400" dirty="0" b="1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3200" dirty="0" b="0"/>
          </a:p>
          <a:p>
            <a:pPr algn="ctr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18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what's wrong in my home.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something / anything / nothing.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a repair and set a time.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short maintenance request.</a:t>
            </a:r>
            <a:endParaRPr lang="en-US" sz="1600" dirty="0" b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557784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6400800" y="3263494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566928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6537960" y="3063240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 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</a:t>
            </a:r>
            <a:endParaRPr lang="en-US" sz="4300" dirty="0"/>
          </a:p>
        </p:txBody>
      </p:sp>
      <p:sp>
        <p:nvSpPr>
          <p:cNvPr id="22" name="A head"/>
          <p:cNvSpPr/>
          <p:nvPr/>
        </p:nvSpPr>
        <p:spPr>
          <a:xfrm>
            <a:off x="9144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Listen to the teacher. Circle a or b.</a:t>
            </a:r>
            <a:endParaRPr lang="en-US" sz="1800" dirty="0" b="1"/>
          </a:p>
        </p:txBody>
      </p:sp>
      <p:sp>
        <p:nvSpPr>
          <p:cNvPr id="23" name="Ans head"/>
          <p:cNvSpPr/>
          <p:nvPr/>
        </p:nvSpPr>
        <p:spPr>
          <a:xfrm>
            <a:off x="6766560" y="3246120"/>
            <a:ext cx="155448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63" name="Bad 1"/>
          <p:cNvSpPr/>
          <p:nvPr/>
        </p:nvSpPr>
        <p:spPr>
          <a:xfrm>
            <a:off x="868680" y="3840480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 sink has a problem.   b. The sink is fine.</a:t>
            </a:r>
            <a:endParaRPr lang="en-US" sz="1500" dirty="0" b="1"/>
          </a:p>
        </p:txBody>
      </p:sp>
      <p:sp>
        <p:nvSpPr>
          <p:cNvPr id="64" name="Good 1"/>
          <p:cNvSpPr/>
          <p:nvPr/>
        </p:nvSpPr>
        <p:spPr>
          <a:xfrm>
            <a:off x="6766560" y="3840480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5" name="Bad 2"/>
          <p:cNvSpPr/>
          <p:nvPr/>
        </p:nvSpPr>
        <p:spPr>
          <a:xfrm>
            <a:off x="868680" y="4407408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People are home on Monday.   b. The apartment is empty on Monday.</a:t>
            </a:r>
            <a:endParaRPr lang="en-US" sz="1500" dirty="0" b="1"/>
          </a:p>
        </p:txBody>
      </p:sp>
      <p:sp>
        <p:nvSpPr>
          <p:cNvPr id="66" name="Good 2"/>
          <p:cNvSpPr/>
          <p:nvPr/>
        </p:nvSpPr>
        <p:spPr>
          <a:xfrm>
            <a:off x="6766560" y="4407408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67" name="Bad 3"/>
          <p:cNvSpPr/>
          <p:nvPr/>
        </p:nvSpPr>
        <p:spPr>
          <a:xfrm>
            <a:off x="868680" y="4974336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I saw something.   b. I saw nothing.</a:t>
            </a:r>
            <a:endParaRPr lang="en-US" sz="1500" dirty="0" b="1"/>
          </a:p>
        </p:txBody>
      </p:sp>
      <p:sp>
        <p:nvSpPr>
          <p:cNvPr id="68" name="Good 3"/>
          <p:cNvSpPr/>
          <p:nvPr/>
        </p:nvSpPr>
        <p:spPr>
          <a:xfrm>
            <a:off x="6766560" y="4974336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69" name="Bad 4"/>
          <p:cNvSpPr/>
          <p:nvPr/>
        </p:nvSpPr>
        <p:spPr>
          <a:xfrm>
            <a:off x="868680" y="5541264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A repair person will come.   b. No repair person will come.</a:t>
            </a:r>
            <a:endParaRPr lang="en-US" sz="1500" dirty="0" b="1"/>
          </a:p>
        </p:txBody>
      </p:sp>
      <p:sp>
        <p:nvSpPr>
          <p:cNvPr id="70" name="Good 4"/>
          <p:cNvSpPr/>
          <p:nvPr/>
        </p:nvSpPr>
        <p:spPr>
          <a:xfrm>
            <a:off x="6766560" y="5541264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Light bulb: a 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what's wrong in a home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something / anything / nothing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a repair and set a time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speech bubbles, signs, and labels were added.</a:t>
            </a:r>
            <a:endParaRPr lang="en-US" sz="160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faces on the Progress Check are standard emoji characters shown with the computer's emoji font.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Sara, Mr. Grant, and Ken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3 Lesson 12: Something's Wrong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