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4.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2.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444" r:id="rId32"/>
    <p:sldId id="445" r:id="rId21"/>
    <p:sldId id="446" r:id="rId19"/>
    <p:sldId id="447" r:id="rId37"/>
    <p:sldId id="448" r:id="rId38"/>
    <p:sldId id="449" r:id="rId39"/>
    <p:sldId id="450" r:id="rId40"/>
    <p:sldId id="451" r:id="rId41"/>
    <p:sldId id="452" r:id="rId42"/>
    <p:sldId id="453" r:id="rId43"/>
    <p:sldId id="454" r:id="rId44"/>
    <p:sldId id="455" r:id="rId45"/>
    <p:sldId id="456" r:id="rId46"/>
    <p:sldId id="457" r:id="rId47"/>
    <p:sldId id="458" r:id="rId48"/>
    <p:sldId id="459" r:id="rId49"/>
    <p:sldId id="460" r:id="rId50"/>
    <p:sldId id="461" r:id="rId51"/>
    <p:sldId id="462" r:id="rId52"/>
    <p:sldId id="463" r:id="rId53"/>
    <p:sldId id="464" r:id="rId54"/>
    <p:sldId id="465" r:id="rId55"/>
    <p:sldId id="466" r:id="rId56"/>
    <p:sldId id="467" r:id="rId15"/>
    <p:sldId id="468" r:id="rId58"/>
    <p:sldId id="469"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53.xml"/><Relationship Id="rId15" Type="http://schemas.openxmlformats.org/officeDocument/2006/relationships/slide" Target="slides/slide51.xml"/><Relationship Id="rId19" Type="http://schemas.openxmlformats.org/officeDocument/2006/relationships/slide" Target="slides/slide30.xml"/><Relationship Id="rId21" Type="http://schemas.openxmlformats.org/officeDocument/2006/relationships/slide" Target="slides/slide29.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32" Type="http://schemas.openxmlformats.org/officeDocument/2006/relationships/slide" Target="slides/slide28.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the listening audio for this lesson (about 1:15) is coming soon. It will use computer-generated voices (Chatterbox TTS cloned from synthetic Kokoro-82M reference clips); no recordings of real people. Until it is ready, read the listening script (in the notes of the Before You Listen slide) with a volunteer. The names and the story are invented.</a:t>
            </a:r>
          </a:p>
          <a:p>
            <a:r>
              <a:t>Course materials: © 2026 the authors, licensed under CC BY-NC-SA 4.0 (https://creativecommons.org/licenses/by-nc-sa/4.0/).</a:t>
            </a:r>
          </a:p>
          <a:p>
            <a:r>
              <a:t>Lesson plan: Picture Credits. Picture list: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Progress Check · 7:25–7:30 · 5 min. Individuals. Open the Progress Check page.</a:t>
            </a:r>
          </a:p>
          <a:p>
            <a:r>
              <a:t>Part A: read each sentence slowly, 2 times. Learners circle a or b. Then click to show the answer (one click per item, 1 to 4).</a:t>
            </a:r>
          </a:p>
          <a:p>
            <a:r>
              <a:t>Say: 1 "Whose keys are these? They're mine." (a) • 2 "Is this your umbrella? No, it's hers." (b) • 3 "I lost a small black wallet." (a) • 4 "These gloves aren't ours. They're theirs." (b)</a:t>
            </a:r>
          </a:p>
          <a:p>
            <a:r>
              <a:t>Parts B and C: learners do them alone. Walk around and help with the instructions only. B answers: 1 Whose, 2 mine, 3 Their, 4 yours. C: answers will vary (for example I lost a big red backpack with a zipper. / It's mine. / It's Ana's.).</a:t>
            </a:r>
          </a:p>
          <a:p>
            <a:r>
              <a:t>Part D: read each "I can…" line aloud and point to the 3 faces: 😀 "I can do it." 🙂 "With a little help." 😐 "Not yet."</a:t>
            </a:r>
          </a:p>
          <a:p>
            <a:r>
              <a:t>Scoring: A /4 + B /4 + C /2 = /10. This is not a test grade. It shows who needs more help hearing possessives (A) and with the forms (B, C).</a:t>
            </a:r>
          </a:p>
          <a:p>
            <a:r>
              <a:t>Collect the pages (or check them at the start of Week 10). If behind: do the Progress Check in Week 10 at 6:00, while learners arrive.</a:t>
            </a:r>
          </a:p>
          <a:p>
            <a:r>
              <a:t>Lesson plan: Progress Check step; Progress Check page; Answer key.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6:00–6:10 · Opening Talk + Midterm check-in · 10 min. Pairs (7 pairs + 1 trio with 15 learners; 3–4 pairs with 7–8).</a:t>
            </a:r>
          </a:p>
          <a:p>
            <a:r>
              <a:t>Before class, write on the board: I'd like to… / Could I…? / May I…?</a:t>
            </a:r>
          </a:p>
          <a:p>
            <a:r>
              <a:t>Model with one learner: "What did you do last weekend?" → (answer) → "Really? How was it?" (Click to show the follow-up.)</a:t>
            </a:r>
          </a:p>
          <a:p>
            <a:r>
              <a:t>Opening Talk (6 min): learners open the Opening Talk page. A asks a card question; B answers with 2–3 sentences; A asks one follow-up. Switch after each card. The cards are on the next slide.</a:t>
            </a:r>
          </a:p>
          <a:p>
            <a:r>
              <a:t>If behind: one card only, then the check-in.</a:t>
            </a:r>
          </a:p>
          <a:p>
            <a:r>
              <a:t>Lesson plan: Step 1; Opening Talk page.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Goal 1: Whose… is this? / Whose… are these? Goal 2: mine, yours, his, hers, ours, theirs or a name + 's (It's Ana's.). Goal 3: Is this yours? → Yes, it's mine. / No, it isn't mine.</a:t>
            </a:r>
          </a:p>
          <a:p>
            <a:r>
              <a:t>Goal 4: size, color, and details (a small black wallet with a zipper). Goal 5: I was waiting for the bus when I lost it. Goal 6: read a FOUND notice, fill out a lost-item report, and write a short FOUND notice.</a:t>
            </a:r>
          </a:p>
          <a:p>
            <a:r>
              <a:t>"We check at 7:25" = the Progress Check. It is not a test grade.</a:t>
            </a:r>
          </a:p>
          <a:p>
            <a:r>
              <a:t>Lesson plan: At a glance: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 This is Lesson 8 (Week 9), the first class after the midterm.</a:t>
            </a:r>
          </a:p>
          <a:p>
            <a:r>
              <a:t>Point to the title and read it: "Lost and found." Say: "Tonight we talk about things people lose, and whose things they are."</a:t>
            </a:r>
          </a:p>
          <a:p>
            <a:r>
              <a:t>Read the three lines under "Today you will". Give one quick example of each: "Whose keys are these?" • "It's mine. / It's Ana's." • "It's a small black wallet with a zipper."</a:t>
            </a:r>
          </a:p>
          <a:p>
            <a:r>
              <a:t>Picture cards, not real things (important): use the pictures and Owner Cards, not learners' real wallets, purses, or phones. Remind learners never to write real ID numbers, bank card numbers, or addresses on any form, in class or in real life on a public notice.</a:t>
            </a:r>
          </a:p>
          <a:p>
            <a:r>
              <a:t>Lesson plan: Topic; At a glance: Objectives; Teacher notes.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with 2–3 sentences. A asks one follow-up question (follow-ups on the right). Then switch.</a:t>
            </a:r>
          </a:p>
          <a:p>
            <a:r>
              <a:t>Midterm check-in (4 min, last click): give back the midterms (if they are marked). Partners say one thing that was easy and one thing that was hard (The listening was easy. Part C was hard, because…). Write 2 common errors from the midterm on the board and correct them together.</a:t>
            </a:r>
          </a:p>
          <a:p>
            <a:r>
              <a:t>Lesson plan: Step 1; Opening Talk page: cards, follow-ups, midterm check-in.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6:10–6:18 · New Words · 8 min (this slide and the next). Whole class, then pairs.</a:t>
            </a:r>
          </a:p>
          <a:p>
            <a:r>
              <a:t>Point to each picture and say the word. Learners repeat once. ★ = the most important words. Each click shows the next word.</a:t>
            </a:r>
          </a:p>
          <a:p>
            <a:r>
              <a:t>Look for your keys in your pockets: "Where are my keys? I lost them!"</a:t>
            </a:r>
          </a:p>
          <a:p>
            <a:r>
              <a:t>If behind: teach the ★ words only.</a:t>
            </a:r>
          </a:p>
          <a:p>
            <a:r>
              <a:t>Lesson plan: Step 2; Key vocabulary; New Words page.</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 Put on imaginary gloves and a scarf.</a:t>
            </a:r>
          </a:p>
          <a:p>
            <a:r>
              <a:t>Show belong to: hold up your own pen. "This pen belongs to me. It's mine." Point to a learner's book (don't take it): "That book belongs to you. It's yours."</a:t>
            </a:r>
          </a:p>
          <a:p>
            <a:r>
              <a:t>Partner game (2 min): A says a word. B points to the picture and makes a sentence (A: umbrella. B: My umbrella is black. It's small.). Switch.</a:t>
            </a:r>
          </a:p>
          <a:p>
            <a:r>
              <a:t>If behind: teach the ★ words only.</a:t>
            </a:r>
          </a:p>
          <a:p>
            <a:r>
              <a:t>Lesson plan: Step 2; New Words page; Partner game.</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"Where do you keep money?" (a wallet / a purse) • 2. "You listen to music with…?" (headphones) • 3. "At the bus station, where do they keep lost things?" (the lost and found)</a:t>
            </a:r>
          </a:p>
          <a:p>
            <a:r>
              <a:t>Lesson plan: Step 2: Check meaning.</a:t>
            </a:r>
          </a:p>
          <a:p>
            <a:r>
              <a:t>Pictures: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6:18–6:30 · Listening + "Say it" · 12 min (slides 8 to 12). Individuals, then pairs check.</a:t>
            </a:r>
          </a:p>
          <a:p>
            <a:r>
              <a:t>Before you listen (1 min). Say: "David lost something on the bus. He's calling the lost and found. What did he lose? Listen."</a:t>
            </a:r>
          </a:p>
          <a:p>
            <a:r>
              <a:t>There are three voices: a Narrator, Joan (the lost and found at City Bus), and David. Each click highlights the next voice.</a:t>
            </a:r>
          </a:p>
          <a:p>
            <a:r>
              <a:t>The audio (about 1:15) is coming soon. When it is ready, it plays the conversation once; press play again for play 2. Until then, read the listening script (at the end of these notes) with a volunteer.</a:t>
            </a:r>
          </a:p>
          <a:p>
            <a:r>
              <a:t>No speaker? Read the script with a volunteer at a normal, friendly speed.</a:t>
            </a:r>
          </a:p>
          <a:p>
            <a:r>
              <a:t>Audio: the listening audio for this lesson (about 1:15) is coming soon. It will use computer-generated voices (Chatterbox TTS cloned from synthetic Kokoro-82M reference clips); no recordings of real people. Until it is ready, read the listening script (in the notes of the Before You Listen slide) with a volunteer. The names and the story are invented.</a:t>
            </a:r>
          </a:p>
          <a:p>
            <a:r>
              <a:t>Lesson plan: Step 3; Listening script; Listening page.</a:t>
            </a:r>
          </a:p>
          <a:p>
            <a:r>
              <a:t>Picture: Twemoji graphics by Twitter, Inc. and other contributors (https://github.com/jdecked/twemoji), CC BY 4.0 (https://creativecommons.org/licenses/by/4.0/); resized and combined, with speech bubbles, signs, and labels (images/CREDITS.md).</a:t>
            </a:r>
          </a:p>
          <a:p>
            <a:r>
              <a:t>Listening script (the audio is coming soon; until then, read it aloud with a volunteer at a normal, friendly speed):</a:t>
            </a:r>
          </a:p>
          <a:p>
            <a:r>
              <a:t>Narrator: Lesson eight. Listening. David lost something on the bus. He's calling the lost and found. Listen.</a:t>
            </a:r>
          </a:p>
          <a:p>
            <a:r>
              <a:t>Joan: City Bus, Lost and Found. How can I help you?</a:t>
            </a:r>
          </a:p>
          <a:p>
            <a:r>
              <a:t>David: Hi. I lost my backpack on the bus this morning.</a:t>
            </a:r>
          </a:p>
          <a:p>
            <a:r>
              <a:t>Joan: OK. Can you describe it?</a:t>
            </a:r>
          </a:p>
          <a:p>
            <a:r>
              <a:t>David: It's a big blue backpack with a black zipper. My brother has the same one, but his is green.</a:t>
            </a:r>
          </a:p>
          <a:p>
            <a:r>
              <a:t>Joan: What was inside?</a:t>
            </a:r>
          </a:p>
          <a:p>
            <a:r>
              <a:t>David: My headphones, a red scarf, and some gloves.</a:t>
            </a:r>
          </a:p>
          <a:p>
            <a:r>
              <a:t>Joan: And what were you doing when you lost it?</a:t>
            </a:r>
          </a:p>
          <a:p>
            <a:r>
              <a:t>David: I was talking on the phone. I got off at Park Street, and I left it on the seat.</a:t>
            </a:r>
          </a:p>
          <a:p>
            <a:r>
              <a:t>Joan: Let me check. We have two blue backpacks. One is small, and one is big.</a:t>
            </a:r>
          </a:p>
          <a:p>
            <a:r>
              <a:t>David: The big one is mine.</a:t>
            </a:r>
          </a:p>
          <a:p>
            <a:r>
              <a:t>Joan: There are white headphones inside. Are they yours?</a:t>
            </a:r>
          </a:p>
          <a:p>
            <a:r>
              <a:t>David: No, mine are black. Those aren't mine.</a:t>
            </a:r>
          </a:p>
          <a:p>
            <a:r>
              <a:t>Joan: Wait. Here's another big one, with black headphones and a red scarf.</a:t>
            </a:r>
          </a:p>
          <a:p>
            <a:r>
              <a:t>David: Yes! That's mine. Thank you!</a:t>
            </a:r>
          </a:p>
          <a:p>
            <a:r>
              <a:t>Joan: You're welcome. You can pick it up today before five.</a:t>
            </a:r>
          </a:p>
          <a:p>
            <a:r>
              <a:t>Narrator: That's the end of the listening.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(what did he lose?). Pairs compare. Check together.</a:t>
            </a:r>
          </a:p>
          <a:p>
            <a:r>
              <a:t>Click to show the answer: b (a backpack).</a:t>
            </a:r>
          </a:p>
          <a:p>
            <a:r>
              <a:t>Then read Tasks B and C together (1 min) so learners know what to listen for.</a:t>
            </a:r>
          </a:p>
          <a:p>
            <a:r>
              <a:t>Lesson plan: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show each answer (one click per item, 1 to 5): 1 blue • 2 big • 3 ✓ headphones, ✓ a scarf, ✓ gloves, ✗ a wallet, ✗ keys • 4 Park Street • 5 5:00.</a:t>
            </a:r>
          </a:p>
          <a:p>
            <a:r>
              <a:t>Lesson plan: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5): 1 his, 2 mine, 3 yours, 4 mine, 5 mine.</a:t>
            </a:r>
          </a:p>
          <a:p>
            <a:r>
              <a:t>If behind: do Task C together on the board, reading the lines yourself.</a:t>
            </a:r>
          </a:p>
          <a:p>
            <a:r>
              <a:t>Lesson plan: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 (2 min). Say: "yours, hers, ours, theirs end with a z sound." Read them; the class repeats.</a:t>
            </a:r>
          </a:p>
          <a:p>
            <a:r>
              <a:t>Then: "Whose and who's sound the same: hooz." Read the line in the "Say it" box (Whose bag is this?). The class repeats each line twice.</a:t>
            </a:r>
          </a:p>
          <a:p>
            <a:r>
              <a:t>Whose = which person owns it (Whose bag is this?). Who's = who is (Who's that?).</a:t>
            </a:r>
          </a:p>
          <a:p>
            <a:r>
              <a:t>Lesson plan: Step 3: "Say it"; Listening page: Say it; Teacher notes: Whose and who's.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21). Whole class, then pairs. Show the Grammar page. The left side is the question. The right side is the answer.</a:t>
            </a:r>
          </a:p>
          <a:p>
            <a:r>
              <a:t>Show it (2 min): put three things on your desk: your pen, a cup, a book. Point to the pen: "Whose pen is this? It's my pen. It's mine." Give the cup to a woman: "It's her cup. It's hers." Give the book to a man: "It's his."</a:t>
            </a:r>
          </a:p>
          <a:p>
            <a:r>
              <a:t>Boxes 1 and 2 (4 min): read a question from the left; the class answers from the right. Point out is this / are these (one / more than one). Each click shows the answer side of one row.</a:t>
            </a:r>
          </a:p>
          <a:p>
            <a:r>
              <a:t>Lesson plan: Step 4; Grammar Box 1.</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Is this yours? Read across. Each click shows the answer side of one row.</a:t>
            </a:r>
          </a:p>
          <a:p>
            <a:r>
              <a:t>No the: It's mine (not It's the mine). No apostrophe: yours, hers, ours, theirs (not your's).</a:t>
            </a:r>
          </a:p>
          <a:p>
            <a:r>
              <a:t>Lesson plan: Step 4; Grammar Box 2; Teacher notes: No the.</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(2 min): read across: my bag → mine. In each pair, the first column needs a noun; the second stands alone. Each click shows one row.</a:t>
            </a:r>
          </a:p>
          <a:p>
            <a:r>
              <a:t>my, your, his, her, our, their need a noun (my bag). mine, yours, his, hers, ours, theirs stand alone (It's mine). his is the same in both.</a:t>
            </a:r>
          </a:p>
          <a:p>
            <a:r>
              <a:t>Lesson plan: Step 4; Grammar Box 3; Teacher notes: Two kinds of words.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(2 min): describing: size → color → item → with… Hold up something: "It's a small blue pen with a cap." Each click shows the detail of one row.</a:t>
            </a:r>
          </a:p>
          <a:p>
            <a:r>
              <a:t>Describing order: size → color → item → with… (a small black wallet with a zipper). Don't teach a long rule; this one order is enough.</a:t>
            </a:r>
          </a:p>
          <a:p>
            <a:r>
              <a:t>Check questions: "This is my book. It's ___." (mine) • "___ keys are these?" (Whose) • "It's her umbrella. It's ___." (hers) • "a ___ wallet: black / small" (small black)</a:t>
            </a:r>
          </a:p>
          <a:p>
            <a:r>
              <a:t>Lesson plan: Step 4; Grammar Box 4; Teacher notes: Describing order.</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6): 1 mine, 2 hers, 3 ours, 4 yours, 5 theirs, 6 his.</a:t>
            </a:r>
          </a:p>
          <a:p>
            <a:r>
              <a:t>Lesson plan: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right words. Pairs check.</a:t>
            </a:r>
          </a:p>
          <a:p>
            <a:r>
              <a:t>Click to circle each answer (one click per item, 1 to 5): 1 Whose, 2 mine, 3 your, 4 hers, 5 small black.</a:t>
            </a:r>
          </a:p>
          <a:p>
            <a:r>
              <a:t>Lesson plan: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(never skip this table). Read a line from Don't say. Ask: "What's the right way?" Learners try first. Then click to show the right form. Each click shows one line, in order 1 to 4.</a:t>
            </a:r>
          </a:p>
          <a:p>
            <a:r>
              <a:t>1: no the before mine • 2: yours stands alone • 3: Whose = which person owns it • 4: color before the item. Also listen for It's mine bag and his for a woman (It's Maria's. It's hers.).</a:t>
            </a:r>
          </a:p>
          <a:p>
            <a:r>
              <a:t>Say the right form clearly; the learner repeats. Learners can read the Spanish note and the tip on their Grammar page themselves; you don't need to explain them.</a:t>
            </a:r>
          </a:p>
          <a:p>
            <a:r>
              <a:t>Lesson plan: Grammar: Common mistakes; Teacher notes: Typical mistakes.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drill (last 2 min of Step 4). Pairs.</a:t>
            </a:r>
          </a:p>
          <a:p>
            <a:r>
              <a:t>A points to something in a picture on the New Words page: "Whose ___ is this?" B answers with a pronoun or a classmate's name + 's. Switch.</a:t>
            </a:r>
          </a:p>
          <a:p>
            <a:r>
              <a:t>If behind: skip the pair drill. Talk Time practices it.</a:t>
            </a:r>
          </a:p>
          <a:p>
            <a:r>
              <a:t>Lesson plan: Step 4: Pair drill.</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7:00–7:12 · Talk Time: The Lost and Found Box · 12 min.</a:t>
            </a:r>
          </a:p>
          <a:p>
            <a:r>
              <a:t>Round 1 (7 min): each owner takes an Owner Card (the teacher gives one number, 1–8; use the cards in order). The owner fills in the short lost-item form on the card. Then the owner describes the item to the clerk. The clerk looks at the Lost and Found picture and asks Is this yours? (pointing to a number). The owner answers. Then switch with a new card. Each click shows the next step.</a:t>
            </a:r>
          </a:p>
          <a:p>
            <a:r>
              <a:t>Model with one learner (1 min): you are the owner with card 1: "I lost my backpack. It's big and blue." The learner points: "Is number 1 yours?" → "Yes, it's mine! Thank you!"</a:t>
            </a:r>
          </a:p>
          <a:p>
            <a:r>
              <a:t>Answers (Owner Card → picture number): 1 → 1 (big blue backpack) • 2 → 4 (red umbrella) • 3 → 6 (keys with a heart) • 4 → 10 (brown wallet) • 5 → 12 (green scarf) • 6 → 8 (glasses with blue lenses) • 7 → 2 (small red backpack) • 8 → 9 (black wallet). Items 3, 5, 7, and 11 have no owner.</a:t>
            </a:r>
          </a:p>
          <a:p>
            <a:r>
              <a:t>Useful: Whose… is this? Is this yours? What color is it? Is it big or small? Does it have…?</a:t>
            </a:r>
          </a:p>
          <a:p>
            <a:r>
              <a:t>Picture cards, not real things (important): use the pictures and Owner Cards, not learners' real wallets, purses, or phones. Remind learners never to write real ID numbers, bank card numbers, or addresses on any form, in class or in real life on a public notice.</a:t>
            </a:r>
          </a:p>
          <a:p>
            <a:r>
              <a:t>Lesson plan: Step 5; Talk Time pages; Answer key.</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groups (4 min): each person keeps their last Owner Card. The group looks at the picture together and says whose each item is: Number 3 is Maria's. It's hers. Number 9 is mine. If no one has the card, say It isn't ours. Maybe it's theirs (another group's). Each click shows the next step.</a:t>
            </a:r>
          </a:p>
          <a:p>
            <a:r>
              <a:t>Round 2: answers will vary. Mixed levels: stronger learners add when and where they lost the item with the past continuous. Newer learners use Boxes 1 and 2 as a script.</a:t>
            </a:r>
          </a:p>
          <a:p>
            <a:r>
              <a:t>If behind: Round 1 only.</a:t>
            </a:r>
          </a:p>
          <a:p>
            <a:r>
              <a:t>Lesson plan: Step 5; Talk Time: Owner Cards, Round 2; Teacher notes: Mixed levels.</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7:12–7:17 · Exit Ticket + Homework · 5 min · NEVER SKIP.</a:t>
            </a:r>
          </a:p>
          <a:p>
            <a:r>
              <a:t>Exit ticket: each learner writes two sentences on a slip: one with a possessive pronoun (This umbrella isn't mine. It's hers.), and one about losing something with when and because or so (I was waiting for the bus when I lost my keys, so I called the lost and found.). Collect at the door.</a:t>
            </a:r>
          </a:p>
          <a:p>
            <a:r>
              <a:t>Homework: open the Homework page. Do item 1 together (one sentence on the board). Say: "About 15 minutes. Bring it next week."</a:t>
            </a:r>
          </a:p>
          <a:p>
            <a:r>
              <a:t>Homework items: 1 write the sentence again with mine, yours, his, hers, ours, or theirs • 2 describe 2 things (size → color → item → with…) • 3 at home, find 3 things and write whose they are • 4 review (Lesson 7): 2 sentences with I'd like to… and because.</a:t>
            </a:r>
          </a:p>
          <a:p>
            <a:r>
              <a:t>Read &amp; Write (7:17–7:25, on the Student Pages): a FOUND notice and a lost-item report; questions 1–5; then a short FOUND notice. Say: "Invent a first name and use a 555 phone number." If behind: questions 1–5 only; the notice becomes homework.</a:t>
            </a:r>
          </a:p>
          <a:p>
            <a:r>
              <a:t>Lesson plan: Step 6; Homework page; Read &amp; Write step.</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 Hold up your pen: "Whose pen is this?" Wait for "It's yours."</a:t>
            </a:r>
          </a:p>
          <a:p>
            <a:r>
              <a:t>Remind learners: homework is about 15 minutes. Bring it next week.</a:t>
            </a:r>
          </a:p>
          <a:p>
            <a:r>
              <a:t>Lesson plan: At a glance: Objectives; Step 6.</a:t>
            </a:r>
          </a:p>
          <a:p>
            <a:r>
              <a:t>Picture: Twemoji graphics by Twitter, Inc. and other contributors (https://github.com/jdecked/twemoji), CC BY 4.0 (https://creativecommons.org/licenses/by/4.0/); resized and combined, with speech bubbles,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4"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3.png"/><Relationship Id="rId9" Type="http://schemas.openxmlformats.org/officeDocument/2006/relationships/image" Target="../media/image4.png"/><Relationship Id="rId10" Type="http://schemas.openxmlformats.org/officeDocument/2006/relationships/image" Target="../media/image5.png"/><Relationship Id="rId11" Type="http://schemas.openxmlformats.org/officeDocument/2006/relationships/image" Target="../media/image2.png"/><Relationship Id="rId12" Type="http://schemas.openxmlformats.org/officeDocument/2006/relationships/image" Target="../media/image6.png"/><Relationship Id="rId13" Type="http://schemas.openxmlformats.org/officeDocument/2006/relationships/image" Target="../media/image7.png"/><Relationship Id="rId1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3.png"/><Relationship Id="rId6" Type="http://schemas.openxmlformats.org/officeDocument/2006/relationships/image" Target="../media/image8.png"/><Relationship Id="rId7" Type="http://schemas.openxmlformats.org/officeDocument/2006/relationships/image" Target="../media/image1.png"/><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6.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5.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1.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0.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9.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3.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3.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5.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28.xml><?xml version="1.0" encoding="utf-8"?>
<p:sld xmlns:a="http://schemas.openxmlformats.org/drawingml/2006/main" xmlns:p="http://schemas.openxmlformats.org/presentationml/2006/main" xmlns:r="http://schemas.openxmlformats.org/officeDocument/2006/relationships">
  <p:cSld name="L3: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Lost and found: a drawn box &quot;LOST &amp; FOUND&quot; with an umbrella, a backpack, a scarf">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8  ·  Level 3</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5000" b="1" dirty="0">
                <a:solidFill>
                  <a:srgbClr val="1B2236"/>
                </a:solidFill>
                <a:latin typeface="Lexend Deca" pitchFamily="34" charset="0"/>
                <a:ea typeface="Lexend Deca" pitchFamily="34" charset="-122"/>
                <a:cs typeface="Lexend Deca" pitchFamily="34" charset="-120"/>
              </a:rPr>
              <a:t>Lost and Found</a:t>
            </a:r>
            <a:endParaRPr lang="en-US" sz="50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Whose… is this?</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It's mine / It's hers</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Describe a lost item</a:t>
            </a:r>
            <a:endParaRPr lang="en-US" sz="220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name="L3: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six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We use picture cards.</a:t>
            </a:r>
            <a:endParaRPr lang="en-US" sz="2000" dirty="0" b="1"/>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We check at 7:25!</a:t>
            </a:r>
            <a:endParaRPr lang="en-US" sz="2000" dirty="0" b="1"/>
          </a:p>
        </p:txBody>
      </p:sp>
      <p:sp>
        <p:nvSpPr>
          <p:cNvPr id="31" name="R1 shadow"/>
          <p:cNvSpPr/>
          <p:nvPr/>
        </p:nvSpPr>
        <p:spPr>
          <a:xfrm>
            <a:off x="544982" y="1383487"/>
            <a:ext cx="6227064" cy="983894"/>
          </a:xfrm>
          <a:prstGeom prst="round1Rect">
            <a:avLst>
              <a:gd name="adj" fmla="val 23087"/>
            </a:avLst>
          </a:prstGeom>
          <a:solidFill>
            <a:srgbClr val="8FAFE3"/>
          </a:solidFill>
          <a:ln/>
        </p:spPr>
        <p:txBody>
          <a:bodyPr/>
          <a:p/>
        </p:txBody>
      </p:sp>
      <p:sp>
        <p:nvSpPr>
          <p:cNvPr id="32" name="R1 card"/>
          <p:cNvSpPr/>
          <p:nvPr/>
        </p:nvSpPr>
        <p:spPr>
          <a:xfrm>
            <a:off x="1583741" y="1325880"/>
            <a:ext cx="5130698" cy="983894"/>
          </a:xfrm>
          <a:prstGeom prst="round1Rect">
            <a:avLst>
              <a:gd name="adj" fmla="val 23087"/>
            </a:avLst>
          </a:prstGeom>
          <a:solidFill>
            <a:srgbClr val="FFFFFF"/>
          </a:solidFill>
          <a:ln/>
        </p:spPr>
        <p:txBody>
          <a:bodyPr/>
          <a:p/>
        </p:txBody>
      </p:sp>
      <p:sp>
        <p:nvSpPr>
          <p:cNvPr id="33" name="R1 chip"/>
          <p:cNvSpPr/>
          <p:nvPr/>
        </p:nvSpPr>
        <p:spPr>
          <a:xfrm>
            <a:off x="544982" y="1325880"/>
            <a:ext cx="1039673" cy="983894"/>
          </a:xfrm>
          <a:prstGeom prst="rect">
            <a:avLst/>
          </a:prstGeom>
          <a:solidFill>
            <a:srgbClr val="B9D2F7"/>
          </a:solidFill>
          <a:ln/>
        </p:spPr>
        <p:txBody>
          <a:bodyPr/>
          <a:p/>
        </p:txBody>
      </p:sp>
      <p:sp>
        <p:nvSpPr>
          <p:cNvPr id="34" name="R1 num"/>
          <p:cNvSpPr/>
          <p:nvPr/>
        </p:nvSpPr>
        <p:spPr>
          <a:xfrm>
            <a:off x="686714" y="1494587"/>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1393546"/>
            <a:ext cx="443484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 can ask Whose… is this?</a:t>
            </a:r>
            <a:endParaRPr lang="en-US" sz="2000" dirty="0" b="1"/>
          </a:p>
        </p:txBody>
      </p:sp>
      <p:sp>
        <p:nvSpPr>
          <p:cNvPr id="36" name="R1 sub"/>
          <p:cNvSpPr/>
          <p:nvPr/>
        </p:nvSpPr>
        <p:spPr>
          <a:xfrm>
            <a:off x="1901952" y="1795882"/>
            <a:ext cx="434340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Whose keys are these?</a:t>
            </a:r>
            <a:endParaRPr lang="en-US" sz="2000" dirty="0"/>
          </a:p>
        </p:txBody>
      </p:sp>
      <p:sp>
        <p:nvSpPr>
          <p:cNvPr id="37" name="R1 dot"/>
          <p:cNvSpPr/>
          <p:nvPr/>
        </p:nvSpPr>
        <p:spPr>
          <a:xfrm rot="10800000">
            <a:off x="6361481" y="1459382"/>
            <a:ext cx="88697" cy="76810"/>
          </a:xfrm>
          <a:prstGeom prst="triangle">
            <a:avLst/>
          </a:prstGeom>
          <a:solidFill>
            <a:srgbClr val="8FAFE3"/>
          </a:solidFill>
          <a:ln/>
        </p:spPr>
        <p:txBody>
          <a:bodyPr/>
          <a:p/>
        </p:txBody>
      </p:sp>
      <p:sp>
        <p:nvSpPr>
          <p:cNvPr id="38" name="R2 card"/>
          <p:cNvSpPr/>
          <p:nvPr/>
        </p:nvSpPr>
        <p:spPr>
          <a:xfrm>
            <a:off x="1583741" y="2418588"/>
            <a:ext cx="5130698" cy="602590"/>
          </a:xfrm>
          <a:prstGeom prst="round1Rect">
            <a:avLst>
              <a:gd name="adj" fmla="val 23087"/>
            </a:avLst>
          </a:prstGeom>
          <a:solidFill>
            <a:srgbClr val="FFFFFF"/>
          </a:solidFill>
          <a:ln/>
        </p:spPr>
        <p:txBody>
          <a:bodyPr/>
          <a:p/>
        </p:txBody>
      </p:sp>
      <p:sp>
        <p:nvSpPr>
          <p:cNvPr id="39" name="R2 chip"/>
          <p:cNvSpPr/>
          <p:nvPr/>
        </p:nvSpPr>
        <p:spPr>
          <a:xfrm>
            <a:off x="544982" y="2418588"/>
            <a:ext cx="1039673" cy="602590"/>
          </a:xfrm>
          <a:prstGeom prst="rect">
            <a:avLst/>
          </a:prstGeom>
          <a:solidFill>
            <a:srgbClr val="B9D2F7"/>
          </a:solidFill>
          <a:ln/>
        </p:spPr>
        <p:txBody>
          <a:bodyPr/>
          <a:p/>
        </p:txBody>
      </p:sp>
      <p:sp>
        <p:nvSpPr>
          <p:cNvPr id="40" name="R2 num"/>
          <p:cNvSpPr/>
          <p:nvPr/>
        </p:nvSpPr>
        <p:spPr>
          <a:xfrm>
            <a:off x="686714" y="2418588"/>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1" name="R2 text"/>
          <p:cNvSpPr/>
          <p:nvPr/>
        </p:nvSpPr>
        <p:spPr>
          <a:xfrm>
            <a:off x="1810512" y="2418588"/>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say mine, yours, hers, or Ana's.</a:t>
            </a:r>
            <a:endParaRPr lang="en-US" sz="1800" dirty="0"/>
          </a:p>
        </p:txBody>
      </p:sp>
      <p:sp>
        <p:nvSpPr>
          <p:cNvPr id="42" name="R2 dot"/>
          <p:cNvSpPr/>
          <p:nvPr/>
        </p:nvSpPr>
        <p:spPr>
          <a:xfrm rot="10800000">
            <a:off x="6361481" y="2552090"/>
            <a:ext cx="88697" cy="76810"/>
          </a:xfrm>
          <a:prstGeom prst="triangle">
            <a:avLst/>
          </a:prstGeom>
          <a:solidFill>
            <a:srgbClr val="8FAFE3"/>
          </a:solidFill>
          <a:ln/>
        </p:spPr>
        <p:txBody>
          <a:bodyPr/>
          <a:p/>
        </p:txBody>
      </p:sp>
      <p:sp>
        <p:nvSpPr>
          <p:cNvPr id="43" name="R3 card"/>
          <p:cNvSpPr/>
          <p:nvPr/>
        </p:nvSpPr>
        <p:spPr>
          <a:xfrm>
            <a:off x="1583741" y="3129991"/>
            <a:ext cx="5130698" cy="602590"/>
          </a:xfrm>
          <a:prstGeom prst="round1Rect">
            <a:avLst>
              <a:gd name="adj" fmla="val 23087"/>
            </a:avLst>
          </a:prstGeom>
          <a:solidFill>
            <a:srgbClr val="FFFFFF"/>
          </a:solidFill>
          <a:ln/>
        </p:spPr>
        <p:txBody>
          <a:bodyPr/>
          <a:p/>
        </p:txBody>
      </p:sp>
      <p:sp>
        <p:nvSpPr>
          <p:cNvPr id="44" name="R3 chip"/>
          <p:cNvSpPr/>
          <p:nvPr/>
        </p:nvSpPr>
        <p:spPr>
          <a:xfrm>
            <a:off x="544982" y="3129991"/>
            <a:ext cx="1039673" cy="602590"/>
          </a:xfrm>
          <a:prstGeom prst="rect">
            <a:avLst/>
          </a:prstGeom>
          <a:solidFill>
            <a:srgbClr val="B9D2F7"/>
          </a:solidFill>
          <a:ln/>
        </p:spPr>
        <p:txBody>
          <a:bodyPr/>
          <a:p/>
        </p:txBody>
      </p:sp>
      <p:sp>
        <p:nvSpPr>
          <p:cNvPr id="45" name="R3 num"/>
          <p:cNvSpPr/>
          <p:nvPr/>
        </p:nvSpPr>
        <p:spPr>
          <a:xfrm>
            <a:off x="686714" y="3129991"/>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6" name="R3 text"/>
          <p:cNvSpPr/>
          <p:nvPr/>
        </p:nvSpPr>
        <p:spPr>
          <a:xfrm>
            <a:off x="1810512" y="3129991"/>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ask Is this yours? → Yes, it's mine.</a:t>
            </a:r>
            <a:endParaRPr lang="en-US" sz="1800" dirty="0"/>
          </a:p>
        </p:txBody>
      </p:sp>
      <p:sp>
        <p:nvSpPr>
          <p:cNvPr id="47" name="R3 dot"/>
          <p:cNvSpPr/>
          <p:nvPr/>
        </p:nvSpPr>
        <p:spPr>
          <a:xfrm rot="10800000">
            <a:off x="6361481" y="3263494"/>
            <a:ext cx="88697" cy="76810"/>
          </a:xfrm>
          <a:prstGeom prst="triangle">
            <a:avLst/>
          </a:prstGeom>
          <a:solidFill>
            <a:srgbClr val="8FAFE3"/>
          </a:solidFill>
          <a:ln/>
        </p:spPr>
        <p:txBody>
          <a:bodyPr/>
          <a:p/>
        </p:txBody>
      </p:sp>
      <p:sp>
        <p:nvSpPr>
          <p:cNvPr id="48" name="R4 card"/>
          <p:cNvSpPr/>
          <p:nvPr/>
        </p:nvSpPr>
        <p:spPr>
          <a:xfrm>
            <a:off x="1583741" y="3841394"/>
            <a:ext cx="5130698" cy="602590"/>
          </a:xfrm>
          <a:prstGeom prst="round1Rect">
            <a:avLst>
              <a:gd name="adj" fmla="val 23087"/>
            </a:avLst>
          </a:prstGeom>
          <a:solidFill>
            <a:srgbClr val="FFFFFF"/>
          </a:solidFill>
          <a:ln/>
        </p:spPr>
        <p:txBody>
          <a:bodyPr/>
          <a:p/>
        </p:txBody>
      </p:sp>
      <p:sp>
        <p:nvSpPr>
          <p:cNvPr id="49" name="R4 chip"/>
          <p:cNvSpPr/>
          <p:nvPr/>
        </p:nvSpPr>
        <p:spPr>
          <a:xfrm>
            <a:off x="544982" y="3841394"/>
            <a:ext cx="1039673" cy="602590"/>
          </a:xfrm>
          <a:prstGeom prst="rect">
            <a:avLst/>
          </a:prstGeom>
          <a:solidFill>
            <a:srgbClr val="B9D2F7"/>
          </a:solidFill>
          <a:ln/>
        </p:spPr>
        <p:txBody>
          <a:bodyPr/>
          <a:p/>
        </p:txBody>
      </p:sp>
      <p:sp>
        <p:nvSpPr>
          <p:cNvPr id="50" name="R4 num"/>
          <p:cNvSpPr/>
          <p:nvPr/>
        </p:nvSpPr>
        <p:spPr>
          <a:xfrm>
            <a:off x="686714" y="3841394"/>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1" name="R4 text"/>
          <p:cNvSpPr/>
          <p:nvPr/>
        </p:nvSpPr>
        <p:spPr>
          <a:xfrm>
            <a:off x="1810512" y="3841394"/>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I can describe a lost item.</a:t>
            </a:r>
            <a:endParaRPr lang="en-US" sz="2000" dirty="0"/>
          </a:p>
        </p:txBody>
      </p:sp>
      <p:sp>
        <p:nvSpPr>
          <p:cNvPr id="52" name="R4 dot"/>
          <p:cNvSpPr/>
          <p:nvPr/>
        </p:nvSpPr>
        <p:spPr>
          <a:xfrm rot="10800000">
            <a:off x="6361481" y="3974897"/>
            <a:ext cx="88697" cy="76810"/>
          </a:xfrm>
          <a:prstGeom prst="triangle">
            <a:avLst/>
          </a:prstGeom>
          <a:solidFill>
            <a:srgbClr val="8FAFE3"/>
          </a:solidFill>
          <a:ln/>
        </p:spPr>
        <p:txBody>
          <a:bodyPr/>
          <a:p/>
        </p:txBody>
      </p:sp>
      <p:sp>
        <p:nvSpPr>
          <p:cNvPr id="53" name="R5 card"/>
          <p:cNvSpPr/>
          <p:nvPr/>
        </p:nvSpPr>
        <p:spPr>
          <a:xfrm>
            <a:off x="1583741" y="4552798"/>
            <a:ext cx="5130698" cy="602590"/>
          </a:xfrm>
          <a:prstGeom prst="round1Rect">
            <a:avLst>
              <a:gd name="adj" fmla="val 23087"/>
            </a:avLst>
          </a:prstGeom>
          <a:solidFill>
            <a:srgbClr val="FFFFFF"/>
          </a:solidFill>
          <a:ln/>
        </p:spPr>
        <p:txBody>
          <a:bodyPr/>
          <a:p/>
        </p:txBody>
      </p:sp>
      <p:sp>
        <p:nvSpPr>
          <p:cNvPr id="54" name="R5 chip"/>
          <p:cNvSpPr/>
          <p:nvPr/>
        </p:nvSpPr>
        <p:spPr>
          <a:xfrm>
            <a:off x="544982" y="4552798"/>
            <a:ext cx="1039673" cy="602590"/>
          </a:xfrm>
          <a:prstGeom prst="rect">
            <a:avLst/>
          </a:prstGeom>
          <a:solidFill>
            <a:srgbClr val="B9D2F7"/>
          </a:solidFill>
          <a:ln/>
        </p:spPr>
        <p:txBody>
          <a:bodyPr/>
          <a:p/>
        </p:txBody>
      </p:sp>
      <p:sp>
        <p:nvSpPr>
          <p:cNvPr id="55" name="R5 num"/>
          <p:cNvSpPr/>
          <p:nvPr/>
        </p:nvSpPr>
        <p:spPr>
          <a:xfrm>
            <a:off x="686714" y="4552798"/>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6" name="R5 text"/>
          <p:cNvSpPr/>
          <p:nvPr/>
        </p:nvSpPr>
        <p:spPr>
          <a:xfrm>
            <a:off x="1810512" y="4552798"/>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say what I was doing when I lost it.</a:t>
            </a:r>
            <a:endParaRPr lang="en-US" sz="1800" dirty="0"/>
          </a:p>
        </p:txBody>
      </p:sp>
      <p:sp>
        <p:nvSpPr>
          <p:cNvPr id="57" name="R5 dot"/>
          <p:cNvSpPr/>
          <p:nvPr/>
        </p:nvSpPr>
        <p:spPr>
          <a:xfrm rot="10800000">
            <a:off x="6361481" y="4686300"/>
            <a:ext cx="88697" cy="76810"/>
          </a:xfrm>
          <a:prstGeom prst="triangle">
            <a:avLst/>
          </a:prstGeom>
          <a:solidFill>
            <a:srgbClr val="8FAFE3"/>
          </a:solidFill>
          <a:ln/>
        </p:spPr>
        <p:txBody>
          <a:bodyPr/>
          <a:p/>
        </p:txBody>
      </p:sp>
      <p:sp>
        <p:nvSpPr>
          <p:cNvPr id="58" name="R6 card"/>
          <p:cNvSpPr/>
          <p:nvPr/>
        </p:nvSpPr>
        <p:spPr>
          <a:xfrm>
            <a:off x="1583741" y="5264201"/>
            <a:ext cx="5130698" cy="602590"/>
          </a:xfrm>
          <a:prstGeom prst="round1Rect">
            <a:avLst>
              <a:gd name="adj" fmla="val 23087"/>
            </a:avLst>
          </a:prstGeom>
          <a:solidFill>
            <a:srgbClr val="FFFFFF"/>
          </a:solidFill>
          <a:ln/>
        </p:spPr>
        <p:txBody>
          <a:bodyPr/>
          <a:p/>
        </p:txBody>
      </p:sp>
      <p:sp>
        <p:nvSpPr>
          <p:cNvPr id="59" name="R6 chip"/>
          <p:cNvSpPr/>
          <p:nvPr/>
        </p:nvSpPr>
        <p:spPr>
          <a:xfrm>
            <a:off x="544982" y="5264201"/>
            <a:ext cx="1039673" cy="602590"/>
          </a:xfrm>
          <a:prstGeom prst="rect">
            <a:avLst/>
          </a:prstGeom>
          <a:solidFill>
            <a:srgbClr val="B9D2F7"/>
          </a:solidFill>
          <a:ln/>
        </p:spPr>
        <p:txBody>
          <a:bodyPr/>
          <a:p/>
        </p:txBody>
      </p:sp>
      <p:sp>
        <p:nvSpPr>
          <p:cNvPr id="60" name="R6 num"/>
          <p:cNvSpPr/>
          <p:nvPr/>
        </p:nvSpPr>
        <p:spPr>
          <a:xfrm>
            <a:off x="686714" y="5264201"/>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06</a:t>
            </a:r>
            <a:endParaRPr lang="en-US" sz="3200" b="1" dirty="0"/>
          </a:p>
        </p:txBody>
      </p:sp>
      <p:sp>
        <p:nvSpPr>
          <p:cNvPr id="61" name="R6 text"/>
          <p:cNvSpPr/>
          <p:nvPr/>
        </p:nvSpPr>
        <p:spPr>
          <a:xfrm>
            <a:off x="1810512" y="5264201"/>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can read and write a FOUND notice.</a:t>
            </a:r>
            <a:endParaRPr lang="en-US" sz="1800" dirty="0"/>
          </a:p>
        </p:txBody>
      </p:sp>
      <p:sp>
        <p:nvSpPr>
          <p:cNvPr id="62" name="R6 dot"/>
          <p:cNvSpPr/>
          <p:nvPr/>
        </p:nvSpPr>
        <p:spPr>
          <a:xfrm rot="10800000">
            <a:off x="6361481" y="5397703"/>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par>
                                <p:cTn id="23" presetID="10" presetClass="entr" presetSubtype="0" fill="hold"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400"/>
                                        <p:tgtEl>
                                          <p:spTgt spid="3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par>
                                <p:cTn id="40" presetID="10" presetClass="entr" presetSubtype="0" fill="hold"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400"/>
                                        <p:tgtEl>
                                          <p:spTgt spid="4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par>
                                <p:cTn id="57" presetID="10" presetClass="entr" presetSubtype="0" fill="hold" nodeType="withEffect">
                                  <p:stCondLst>
                                    <p:cond delay="0"/>
                                  </p:stCondLst>
                                  <p:childTnLst>
                                    <p:set>
                                      <p:cBhvr>
                                        <p:cTn id="58" dur="1" fill="hold">
                                          <p:stCondLst>
                                            <p:cond delay="0"/>
                                          </p:stCondLst>
                                        </p:cTn>
                                        <p:tgtEl>
                                          <p:spTgt spid="47"/>
                                        </p:tgtEl>
                                        <p:attrNameLst>
                                          <p:attrName>style.visibility</p:attrName>
                                        </p:attrNameLst>
                                      </p:cBhvr>
                                      <p:to>
                                        <p:strVal val="visible"/>
                                      </p:to>
                                    </p:set>
                                    <p:animEffect transition="in" filter="fade">
                                      <p:cBhvr>
                                        <p:cTn id="59" dur="400"/>
                                        <p:tgtEl>
                                          <p:spTgt spid="47"/>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par>
                                <p:cTn id="74" presetID="10" presetClass="entr" presetSubtype="0" fill="hold" nodeType="withEffect">
                                  <p:stCondLst>
                                    <p:cond delay="0"/>
                                  </p:stCondLst>
                                  <p:childTnLst>
                                    <p:set>
                                      <p:cBhvr>
                                        <p:cTn id="75" dur="1" fill="hold">
                                          <p:stCondLst>
                                            <p:cond delay="0"/>
                                          </p:stCondLst>
                                        </p:cTn>
                                        <p:tgtEl>
                                          <p:spTgt spid="52"/>
                                        </p:tgtEl>
                                        <p:attrNameLst>
                                          <p:attrName>style.visibility</p:attrName>
                                        </p:attrNameLst>
                                      </p:cBhvr>
                                      <p:to>
                                        <p:strVal val="visible"/>
                                      </p:to>
                                    </p:set>
                                    <p:animEffect transition="in" filter="fade">
                                      <p:cBhvr>
                                        <p:cTn id="76" dur="400"/>
                                        <p:tgtEl>
                                          <p:spTgt spid="52"/>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par>
                                <p:cTn id="91" presetID="10" presetClass="entr" presetSubtype="0" fill="hold" nodeType="withEffect">
                                  <p:stCondLst>
                                    <p:cond delay="0"/>
                                  </p:stCondLst>
                                  <p:childTnLst>
                                    <p:set>
                                      <p:cBhvr>
                                        <p:cTn id="92" dur="1" fill="hold">
                                          <p:stCondLst>
                                            <p:cond delay="0"/>
                                          </p:stCondLst>
                                        </p:cTn>
                                        <p:tgtEl>
                                          <p:spTgt spid="57"/>
                                        </p:tgtEl>
                                        <p:attrNameLst>
                                          <p:attrName>style.visibility</p:attrName>
                                        </p:attrNameLst>
                                      </p:cBhvr>
                                      <p:to>
                                        <p:strVal val="visible"/>
                                      </p:to>
                                    </p:set>
                                    <p:animEffect transition="in" filter="fade">
                                      <p:cBhvr>
                                        <p:cTn id="93" dur="400"/>
                                        <p:tgtEl>
                                          <p:spTgt spid="57"/>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58"/>
                                        </p:tgtEl>
                                        <p:attrNameLst>
                                          <p:attrName>style.visibility</p:attrName>
                                        </p:attrNameLst>
                                      </p:cBhvr>
                                      <p:to>
                                        <p:strVal val="visible"/>
                                      </p:to>
                                    </p:set>
                                    <p:animEffect transition="in" filter="fade">
                                      <p:cBhvr>
                                        <p:cTn id="98" dur="400"/>
                                        <p:tgtEl>
                                          <p:spTgt spid="58"/>
                                        </p:tgtEl>
                                      </p:cBhvr>
                                    </p:animEffect>
                                  </p:childTnLst>
                                </p:cTn>
                              </p:par>
                              <p:par>
                                <p:cTn id="99" presetID="10" presetClass="entr" presetSubtype="0" fill="hold" nodeType="withEffect">
                                  <p:stCondLst>
                                    <p:cond delay="0"/>
                                  </p:stCondLst>
                                  <p:childTnLst>
                                    <p:set>
                                      <p:cBhvr>
                                        <p:cTn id="100" dur="1" fill="hold">
                                          <p:stCondLst>
                                            <p:cond delay="0"/>
                                          </p:stCondLst>
                                        </p:cTn>
                                        <p:tgtEl>
                                          <p:spTgt spid="59"/>
                                        </p:tgtEl>
                                        <p:attrNameLst>
                                          <p:attrName>style.visibility</p:attrName>
                                        </p:attrNameLst>
                                      </p:cBhvr>
                                      <p:to>
                                        <p:strVal val="visible"/>
                                      </p:to>
                                    </p:set>
                                    <p:animEffect transition="in" filter="fade">
                                      <p:cBhvr>
                                        <p:cTn id="101" dur="400"/>
                                        <p:tgtEl>
                                          <p:spTgt spid="59"/>
                                        </p:tgtEl>
                                      </p:cBhvr>
                                    </p:animEffect>
                                  </p:childTnLst>
                                </p:cTn>
                              </p:par>
                              <p:par>
                                <p:cTn id="102" presetID="10" presetClass="entr" presetSubtype="0" fill="hold" nodeType="withEffect">
                                  <p:stCondLst>
                                    <p:cond delay="0"/>
                                  </p:stCondLst>
                                  <p:childTnLst>
                                    <p:set>
                                      <p:cBhvr>
                                        <p:cTn id="103" dur="1" fill="hold">
                                          <p:stCondLst>
                                            <p:cond delay="0"/>
                                          </p:stCondLst>
                                        </p:cTn>
                                        <p:tgtEl>
                                          <p:spTgt spid="60"/>
                                        </p:tgtEl>
                                        <p:attrNameLst>
                                          <p:attrName>style.visibility</p:attrName>
                                        </p:attrNameLst>
                                      </p:cBhvr>
                                      <p:to>
                                        <p:strVal val="visible"/>
                                      </p:to>
                                    </p:set>
                                    <p:animEffect transition="in" filter="fade">
                                      <p:cBhvr>
                                        <p:cTn id="104" dur="400"/>
                                        <p:tgtEl>
                                          <p:spTgt spid="60"/>
                                        </p:tgtEl>
                                      </p:cBhvr>
                                    </p:animEffect>
                                  </p:childTnLst>
                                </p:cTn>
                              </p:par>
                              <p:par>
                                <p:cTn id="105" presetID="10" presetClass="entr" presetSubtype="0" fill="hold" nodeType="withEffect">
                                  <p:stCondLst>
                                    <p:cond delay="0"/>
                                  </p:stCondLst>
                                  <p:childTnLst>
                                    <p:set>
                                      <p:cBhvr>
                                        <p:cTn id="106" dur="1" fill="hold">
                                          <p:stCondLst>
                                            <p:cond delay="0"/>
                                          </p:stCondLst>
                                        </p:cTn>
                                        <p:tgtEl>
                                          <p:spTgt spid="61"/>
                                        </p:tgtEl>
                                        <p:attrNameLst>
                                          <p:attrName>style.visibility</p:attrName>
                                        </p:attrNameLst>
                                      </p:cBhvr>
                                      <p:to>
                                        <p:strVal val="visible"/>
                                      </p:to>
                                    </p:set>
                                    <p:animEffect transition="in" filter="fade">
                                      <p:cBhvr>
                                        <p:cTn id="107" dur="400"/>
                                        <p:tgtEl>
                                          <p:spTgt spid="61"/>
                                        </p:tgtEl>
                                      </p:cBhvr>
                                    </p:animEffect>
                                  </p:childTnLst>
                                </p:cTn>
                              </p:par>
                              <p:par>
                                <p:cTn id="108" presetID="10" presetClass="entr" presetSubtype="0" fill="hold" nodeType="withEffect">
                                  <p:stCondLst>
                                    <p:cond delay="0"/>
                                  </p:stCondLst>
                                  <p:childTnLst>
                                    <p:set>
                                      <p:cBhvr>
                                        <p:cTn id="109" dur="1" fill="hold">
                                          <p:stCondLst>
                                            <p:cond delay="0"/>
                                          </p:stCondLst>
                                        </p:cTn>
                                        <p:tgtEl>
                                          <p:spTgt spid="62"/>
                                        </p:tgtEl>
                                        <p:attrNameLst>
                                          <p:attrName>style.visibility</p:attrName>
                                        </p:attrNameLst>
                                      </p:cBhvr>
                                      <p:to>
                                        <p:strVal val="visible"/>
                                      </p:to>
                                    </p:set>
                                    <p:animEffect transition="in" filter="fade">
                                      <p:cBhvr>
                                        <p:cTn id="110"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name="L3: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Umbrella: an umbrella"/>
          <p:cNvPicPr>
            <a:picLocks noChangeAspect="1"/>
          </p:cNvPicPr>
          <p:nvPr/>
        </p:nvPicPr>
        <p:blipFill>
          <a:blip r:embed="rId3"/>
          <a:stretch>
            <a:fillRect/>
          </a:stretch>
        </p:blipFill>
        <p:spPr>
          <a:xfrm>
            <a:off x="6800393" y="1828800"/>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What did you do last weekend?</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with 2–3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asks one follow-up.</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Really? How was it?</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3: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Work with a partner. Then switch.</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Follow-ups:</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Really? How was it? Why? What did they say?</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What did you do last weekend?</a:t>
            </a:r>
            <a:endParaRPr lang="en-US" sz="20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will you do if it's sunny next Saturday?</a:t>
            </a:r>
            <a:endParaRPr lang="en-US" sz="18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You bought shoes, and they're too small. What do you say at the store?</a:t>
            </a:r>
            <a:endParaRPr lang="en-US" sz="18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You'd like to change an appointment. What do you say on the phone?</a:t>
            </a:r>
            <a:endParaRPr lang="en-US" sz="18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Midterm check-in: one easy part, one hard part.</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3: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Wallet: a drawn brown wallet"/>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wallet</a:t>
            </a:r>
            <a:endParaRPr lang="en-US" sz="2000" dirty="0" b="1"/>
          </a:p>
        </p:txBody>
      </p:sp>
      <p:pic>
        <p:nvPicPr>
          <p:cNvPr id="19" name="Word picture 2" descr="Purse: a handbag"/>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purse</a:t>
            </a:r>
            <a:endParaRPr lang="en-US" sz="2000" dirty="0" b="1"/>
          </a:p>
        </p:txBody>
      </p:sp>
      <p:pic>
        <p:nvPicPr>
          <p:cNvPr id="21" name="Word picture 3" descr="Keys: two keys"/>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keys</a:t>
            </a:r>
            <a:endParaRPr lang="en-US" sz="2000" dirty="0" b="1"/>
          </a:p>
        </p:txBody>
      </p:sp>
      <p:pic>
        <p:nvPicPr>
          <p:cNvPr id="23" name="Word picture 4" descr="Umbrella: an umbrella"/>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umbrella</a:t>
            </a:r>
            <a:endParaRPr lang="en-US" sz="2000" dirty="0" b="1"/>
          </a:p>
        </p:txBody>
      </p:sp>
      <p:pic>
        <p:nvPicPr>
          <p:cNvPr id="25" name="Word picture 5" descr="Backpack: a backpack"/>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backpack</a:t>
            </a:r>
            <a:endParaRPr lang="en-US" sz="2000" dirty="0" b="1"/>
          </a:p>
        </p:txBody>
      </p:sp>
      <p:pic>
        <p:nvPicPr>
          <p:cNvPr id="27" name="Word picture 6" descr="Sunglasses: sunglasses"/>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sunglasses</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3: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A says. B points.</a:t>
            </a:r>
            <a:endParaRPr lang="en-US" sz="2200" dirty="0" b="1"/>
          </a:p>
        </p:txBody>
      </p:sp>
      <p:pic>
        <p:nvPicPr>
          <p:cNvPr id="17" name="Word picture 1" descr="Headphones: headphones"/>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headphones</a:t>
            </a:r>
            <a:endParaRPr lang="en-US" sz="2000" dirty="0" b="1"/>
          </a:p>
        </p:txBody>
      </p:sp>
      <p:pic>
        <p:nvPicPr>
          <p:cNvPr id="19" name="Word picture 2" descr="Gloves: gloves"/>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gloves</a:t>
            </a:r>
            <a:endParaRPr lang="en-US" sz="2000" dirty="0" b="1"/>
          </a:p>
        </p:txBody>
      </p:sp>
      <p:pic>
        <p:nvPicPr>
          <p:cNvPr id="21" name="Word picture 3" descr="Scarf: a scarf"/>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scarf</a:t>
            </a:r>
            <a:endParaRPr lang="en-US" sz="2000" dirty="0" b="1"/>
          </a:p>
        </p:txBody>
      </p:sp>
      <p:pic>
        <p:nvPicPr>
          <p:cNvPr id="23" name="Word picture 4" descr="Lost and found: a drawn box &quot;LOST &amp; FOUND&quot; with an umbrella, a backpack, a scarf"/>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lost and found</a:t>
            </a:r>
            <a:endParaRPr lang="en-US" sz="2000" dirty="0" b="1"/>
          </a:p>
        </p:txBody>
      </p:sp>
      <p:pic>
        <p:nvPicPr>
          <p:cNvPr id="25" name="Word picture 5" descr="Belong to: a woman, bubble &quot;It's mine.&quot;, an arrow to a handbag"/>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belong to</a:t>
            </a:r>
            <a:endParaRPr lang="en-US" sz="2000" dirty="0" b="1"/>
          </a:p>
        </p:txBody>
      </p:sp>
      <p:pic>
        <p:nvPicPr>
          <p:cNvPr id="27" name="Word picture 6" descr="Describe: a person; bubble &quot;It's big and blue, with a zipper.&quot;; a backpack (recolored blue)"/>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describe</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3: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Where do you keep money?</a:t>
            </a:r>
            <a:endParaRPr lang="en-US" sz="1800" dirty="0" b="1"/>
          </a:p>
        </p:txBody>
      </p:sp>
      <p:pic>
        <p:nvPicPr>
          <p:cNvPr id="101" name="R1 pic" descr="Wallet: a drawn brown wallet"/>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You listen to music with…?</a:t>
            </a:r>
            <a:endParaRPr lang="en-US" sz="1800" dirty="0" b="1"/>
          </a:p>
        </p:txBody>
      </p:sp>
      <p:pic>
        <p:nvPicPr>
          <p:cNvPr id="102" name="R2 pic" descr="Headphones: headphones"/>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Where do they keep lost things?</a:t>
            </a:r>
            <a:endParaRPr lang="en-US" sz="1800" dirty="0" b="1"/>
          </a:p>
        </p:txBody>
      </p:sp>
      <p:pic>
        <p:nvPicPr>
          <p:cNvPr id="103" name="R3 pic" descr="Lost and found: a drawn box &quot;LOST &amp; FOUND&quot; with an umbrella, a backpack, a scarf"/>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a wallet / a purse</a:t>
            </a:r>
            <a:endParaRPr lang="en-US" sz="18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headphones</a:t>
            </a:r>
            <a:endParaRPr lang="en-US" sz="22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1800" dirty="0" b="1">
                <a:solidFill>
                  <a:srgbClr val="1B2236"/>
                </a:solidFill>
                <a:latin typeface="Lexend Deca" pitchFamily="34" charset="0"/>
                <a:ea typeface="Lexend Deca" pitchFamily="34" charset="-122"/>
                <a:cs typeface="Lexend Deca" pitchFamily="34" charset="-120"/>
              </a:rPr>
              <a:t>the lost and found</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3: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David lost something on the bus. He's calling the lost and found at City Bus. Joan answers the phone.</a:t>
            </a:r>
            <a:endParaRPr lang="en-US" sz="17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Backpack: a backpack"/>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Narrator</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Joan</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David</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did David lose?</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color? What size?</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1:15. It plays once.</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What did David lose?</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Circle.</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Pairs: compare your answers.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0"/>
          </a:p>
        </p:txBody>
      </p:sp>
      <p:sp>
        <p:nvSpPr>
          <p:cNvPr id="31" name="R1 card"/>
          <p:cNvSpPr/>
          <p:nvPr/>
        </p:nvSpPr>
        <p:spPr>
          <a:xfrm>
            <a:off x="1583741" y="2397557"/>
            <a:ext cx="6035040" cy="1737360"/>
          </a:xfrm>
          <a:prstGeom prst="round1Rect">
            <a:avLst>
              <a:gd name="adj" fmla="val 23087"/>
            </a:avLst>
          </a:prstGeom>
          <a:solidFill>
            <a:srgbClr val="FFFFFF"/>
          </a:solidFill>
          <a:ln/>
        </p:spPr>
        <p:txBody>
          <a:bodyPr/>
          <a:p/>
        </p:txBody>
      </p:sp>
      <p:sp>
        <p:nvSpPr>
          <p:cNvPr id="32" name="R1 chip"/>
          <p:cNvSpPr/>
          <p:nvPr/>
        </p:nvSpPr>
        <p:spPr>
          <a:xfrm>
            <a:off x="544982" y="2397557"/>
            <a:ext cx="1039673" cy="1737360"/>
          </a:xfrm>
          <a:prstGeom prst="rect">
            <a:avLst/>
          </a:prstGeom>
          <a:solidFill>
            <a:srgbClr val="B9D2F7"/>
          </a:solidFill>
          <a:ln/>
        </p:spPr>
        <p:txBody>
          <a:bodyPr/>
          <a:p/>
        </p:txBody>
      </p:sp>
      <p:sp>
        <p:nvSpPr>
          <p:cNvPr id="33" name="R1 num"/>
          <p:cNvSpPr/>
          <p:nvPr/>
        </p:nvSpPr>
        <p:spPr>
          <a:xfrm>
            <a:off x="686714" y="2973629"/>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397557"/>
            <a:ext cx="4224528" cy="1737360"/>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 did David lose?</a:t>
            </a:r>
            <a:br>
              <a:rPr lang="en-US" sz="1800" dirty="0">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a.</a:t>
            </a:r>
            <a:r>
              <a:rPr lang="en-US" sz="1800" dirty="0">
                <a:solidFill>
                  <a:srgbClr val="1B2236"/>
                </a:solidFill>
                <a:latin typeface="Lexend Deca" pitchFamily="34" charset="0"/>
                <a:ea typeface="Lexend Deca" pitchFamily="34" charset="-122"/>
                <a:cs typeface="Lexend Deca" pitchFamily="34" charset="-120"/>
              </a:rPr>
              <a:t> a wallet</a:t>
            </a:r>
            <a:br>
              <a:rPr lang="en-US" sz="1800" dirty="0">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b.</a:t>
            </a:r>
            <a:r>
              <a:rPr lang="en-US" sz="1800" dirty="0">
                <a:solidFill>
                  <a:srgbClr val="1B2236"/>
                </a:solidFill>
                <a:latin typeface="Lexend Deca" pitchFamily="34" charset="0"/>
                <a:ea typeface="Lexend Deca" pitchFamily="34" charset="-122"/>
                <a:cs typeface="Lexend Deca" pitchFamily="34" charset="-120"/>
              </a:rPr>
              <a:t> a backpack</a:t>
            </a:r>
            <a:br>
              <a:rPr lang="en-US" sz="1800" dirty="0">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c.</a:t>
            </a:r>
            <a:r>
              <a:rPr lang="en-US" sz="1800" dirty="0">
                <a:solidFill>
                  <a:srgbClr val="1B2236"/>
                </a:solidFill>
                <a:latin typeface="Lexend Deca" pitchFamily="34" charset="0"/>
                <a:ea typeface="Lexend Deca" pitchFamily="34" charset="-122"/>
                <a:cs typeface="Lexend Deca" pitchFamily="34" charset="-120"/>
              </a:rPr>
              <a:t> an umbrella</a:t>
            </a:r>
            <a:endParaRPr lang="en-US" sz="1800" dirty="0"/>
          </a:p>
        </p:txBody>
      </p:sp>
      <p:sp>
        <p:nvSpPr>
          <p:cNvPr id="35" name="R1 ans"/>
          <p:cNvSpPr/>
          <p:nvPr/>
        </p:nvSpPr>
        <p:spPr>
          <a:xfrm>
            <a:off x="6108192" y="3037637"/>
            <a:ext cx="146304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b</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Circle or check ✓ the details.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B</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Pairs: compare your answers.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0"/>
          </a:p>
        </p:txBody>
      </p:sp>
      <p:sp>
        <p:nvSpPr>
          <p:cNvPr id="31" name="R1 card"/>
          <p:cNvSpPr/>
          <p:nvPr/>
        </p:nvSpPr>
        <p:spPr>
          <a:xfrm>
            <a:off x="1583741" y="2397557"/>
            <a:ext cx="6035040" cy="566928"/>
          </a:xfrm>
          <a:prstGeom prst="round1Rect">
            <a:avLst>
              <a:gd name="adj" fmla="val 23087"/>
            </a:avLst>
          </a:prstGeom>
          <a:solidFill>
            <a:srgbClr val="FFFFFF"/>
          </a:solidFill>
          <a:ln/>
        </p:spPr>
        <p:txBody>
          <a:bodyPr/>
          <a:p/>
        </p:txBody>
      </p:sp>
      <p:sp>
        <p:nvSpPr>
          <p:cNvPr id="32" name="R1 chip"/>
          <p:cNvSpPr/>
          <p:nvPr/>
        </p:nvSpPr>
        <p:spPr>
          <a:xfrm>
            <a:off x="544982" y="2397557"/>
            <a:ext cx="1039673" cy="566928"/>
          </a:xfrm>
          <a:prstGeom prst="rect">
            <a:avLst/>
          </a:prstGeom>
          <a:solidFill>
            <a:srgbClr val="B9D2F7"/>
          </a:solidFill>
          <a:ln/>
        </p:spPr>
        <p:txBody>
          <a:bodyPr/>
          <a:p/>
        </p:txBody>
      </p:sp>
      <p:sp>
        <p:nvSpPr>
          <p:cNvPr id="33" name="R1 num"/>
          <p:cNvSpPr/>
          <p:nvPr/>
        </p:nvSpPr>
        <p:spPr>
          <a:xfrm>
            <a:off x="686714" y="2388413"/>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397557"/>
            <a:ext cx="3858768" cy="566928"/>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Color:  </a:t>
            </a:r>
            <a:r>
              <a:rPr lang="en-US" sz="1600" dirty="0" b="1">
                <a:solidFill>
                  <a:srgbClr val="1B2236"/>
                </a:solidFill>
                <a:latin typeface="Lexend Deca" pitchFamily="34" charset="0"/>
                <a:ea typeface="Lexend Deca" pitchFamily="34" charset="-122"/>
                <a:cs typeface="Lexend Deca" pitchFamily="34" charset="-120"/>
              </a:rPr>
              <a:t>blue</a:t>
            </a:r>
            <a:r>
              <a:rPr lang="en-US" sz="1600" dirty="0">
                <a:solidFill>
                  <a:srgbClr val="1B2236"/>
                </a:solidFill>
                <a:latin typeface="Lexend Deca" pitchFamily="34" charset="0"/>
                <a:ea typeface="Lexend Deca" pitchFamily="34" charset="-122"/>
                <a:cs typeface="Lexend Deca" pitchFamily="34" charset="-120"/>
              </a:rPr>
              <a:t> / </a:t>
            </a:r>
            <a:r>
              <a:rPr lang="en-US" sz="1600" dirty="0" b="1">
                <a:solidFill>
                  <a:srgbClr val="1B2236"/>
                </a:solidFill>
                <a:latin typeface="Lexend Deca" pitchFamily="34" charset="0"/>
                <a:ea typeface="Lexend Deca" pitchFamily="34" charset="-122"/>
                <a:cs typeface="Lexend Deca" pitchFamily="34" charset="-120"/>
              </a:rPr>
              <a:t>green</a:t>
            </a:r>
            <a:r>
              <a:rPr lang="en-US" sz="1600" dirty="0">
                <a:solidFill>
                  <a:srgbClr val="1B2236"/>
                </a:solidFill>
                <a:latin typeface="Lexend Deca" pitchFamily="34" charset="0"/>
                <a:ea typeface="Lexend Deca" pitchFamily="34" charset="-122"/>
                <a:cs typeface="Lexend Deca" pitchFamily="34" charset="-120"/>
              </a:rPr>
              <a:t> / </a:t>
            </a:r>
            <a:r>
              <a:rPr lang="en-US" sz="1600" dirty="0" b="1">
                <a:solidFill>
                  <a:srgbClr val="1B2236"/>
                </a:solidFill>
                <a:latin typeface="Lexend Deca" pitchFamily="34" charset="0"/>
                <a:ea typeface="Lexend Deca" pitchFamily="34" charset="-122"/>
                <a:cs typeface="Lexend Deca" pitchFamily="34" charset="-120"/>
              </a:rPr>
              <a:t>black</a:t>
            </a:r>
            <a:endParaRPr lang="en-US" sz="1600" dirty="0"/>
          </a:p>
        </p:txBody>
      </p:sp>
      <p:sp>
        <p:nvSpPr>
          <p:cNvPr id="35" name="R1 ans"/>
          <p:cNvSpPr/>
          <p:nvPr/>
        </p:nvSpPr>
        <p:spPr>
          <a:xfrm>
            <a:off x="5742432" y="2452421"/>
            <a:ext cx="18288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blue</a:t>
            </a:r>
            <a:endParaRPr lang="en-US" sz="1600" dirty="0" b="1"/>
          </a:p>
        </p:txBody>
      </p:sp>
      <p:sp>
        <p:nvSpPr>
          <p:cNvPr id="36" name="R2 card"/>
          <p:cNvSpPr/>
          <p:nvPr/>
        </p:nvSpPr>
        <p:spPr>
          <a:xfrm>
            <a:off x="1583741" y="3037637"/>
            <a:ext cx="6035040" cy="566928"/>
          </a:xfrm>
          <a:prstGeom prst="round1Rect">
            <a:avLst>
              <a:gd name="adj" fmla="val 23087"/>
            </a:avLst>
          </a:prstGeom>
          <a:solidFill>
            <a:srgbClr val="FFFFFF"/>
          </a:solidFill>
          <a:ln/>
        </p:spPr>
        <p:txBody>
          <a:bodyPr/>
          <a:p/>
        </p:txBody>
      </p:sp>
      <p:sp>
        <p:nvSpPr>
          <p:cNvPr id="37" name="R2 chip"/>
          <p:cNvSpPr/>
          <p:nvPr/>
        </p:nvSpPr>
        <p:spPr>
          <a:xfrm>
            <a:off x="544982" y="3037637"/>
            <a:ext cx="1039673" cy="566928"/>
          </a:xfrm>
          <a:prstGeom prst="rect">
            <a:avLst/>
          </a:prstGeom>
          <a:solidFill>
            <a:srgbClr val="B9D2F7"/>
          </a:solidFill>
          <a:ln/>
        </p:spPr>
        <p:txBody>
          <a:bodyPr/>
          <a:p/>
        </p:txBody>
      </p:sp>
      <p:sp>
        <p:nvSpPr>
          <p:cNvPr id="38" name="R2 num"/>
          <p:cNvSpPr/>
          <p:nvPr/>
        </p:nvSpPr>
        <p:spPr>
          <a:xfrm>
            <a:off x="686714" y="3028493"/>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b="1"/>
          </a:p>
        </p:txBody>
      </p:sp>
      <p:sp>
        <p:nvSpPr>
          <p:cNvPr id="39" name="R2 text"/>
          <p:cNvSpPr/>
          <p:nvPr/>
        </p:nvSpPr>
        <p:spPr>
          <a:xfrm>
            <a:off x="1810512" y="3037637"/>
            <a:ext cx="3858768" cy="566928"/>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Size:  </a:t>
            </a:r>
            <a:r>
              <a:rPr lang="en-US" sz="1600" dirty="0" b="1">
                <a:solidFill>
                  <a:srgbClr val="1B2236"/>
                </a:solidFill>
                <a:latin typeface="Lexend Deca" pitchFamily="34" charset="0"/>
                <a:ea typeface="Lexend Deca" pitchFamily="34" charset="-122"/>
                <a:cs typeface="Lexend Deca" pitchFamily="34" charset="-120"/>
              </a:rPr>
              <a:t>big</a:t>
            </a:r>
            <a:r>
              <a:rPr lang="en-US" sz="1600" dirty="0">
                <a:solidFill>
                  <a:srgbClr val="1B2236"/>
                </a:solidFill>
                <a:latin typeface="Lexend Deca" pitchFamily="34" charset="0"/>
                <a:ea typeface="Lexend Deca" pitchFamily="34" charset="-122"/>
                <a:cs typeface="Lexend Deca" pitchFamily="34" charset="-120"/>
              </a:rPr>
              <a:t> / </a:t>
            </a:r>
            <a:r>
              <a:rPr lang="en-US" sz="1600" dirty="0" b="1">
                <a:solidFill>
                  <a:srgbClr val="1B2236"/>
                </a:solidFill>
                <a:latin typeface="Lexend Deca" pitchFamily="34" charset="0"/>
                <a:ea typeface="Lexend Deca" pitchFamily="34" charset="-122"/>
                <a:cs typeface="Lexend Deca" pitchFamily="34" charset="-120"/>
              </a:rPr>
              <a:t>small</a:t>
            </a:r>
            <a:endParaRPr lang="en-US" sz="1600" dirty="0"/>
          </a:p>
        </p:txBody>
      </p:sp>
      <p:sp>
        <p:nvSpPr>
          <p:cNvPr id="40" name="R2 ans"/>
          <p:cNvSpPr/>
          <p:nvPr/>
        </p:nvSpPr>
        <p:spPr>
          <a:xfrm>
            <a:off x="5742432" y="3092501"/>
            <a:ext cx="18288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big</a:t>
            </a:r>
            <a:endParaRPr lang="en-US" sz="1600" dirty="0" b="1"/>
          </a:p>
        </p:txBody>
      </p:sp>
      <p:sp>
        <p:nvSpPr>
          <p:cNvPr id="41" name="R3 card"/>
          <p:cNvSpPr/>
          <p:nvPr/>
        </p:nvSpPr>
        <p:spPr>
          <a:xfrm>
            <a:off x="1583741" y="3677717"/>
            <a:ext cx="6035040" cy="1005840"/>
          </a:xfrm>
          <a:prstGeom prst="round1Rect">
            <a:avLst>
              <a:gd name="adj" fmla="val 23087"/>
            </a:avLst>
          </a:prstGeom>
          <a:solidFill>
            <a:srgbClr val="FFFFFF"/>
          </a:solidFill>
          <a:ln/>
        </p:spPr>
        <p:txBody>
          <a:bodyPr/>
          <a:p/>
        </p:txBody>
      </p:sp>
      <p:sp>
        <p:nvSpPr>
          <p:cNvPr id="42" name="R3 chip"/>
          <p:cNvSpPr/>
          <p:nvPr/>
        </p:nvSpPr>
        <p:spPr>
          <a:xfrm>
            <a:off x="544982" y="3677717"/>
            <a:ext cx="1039673" cy="1005840"/>
          </a:xfrm>
          <a:prstGeom prst="rect">
            <a:avLst/>
          </a:prstGeom>
          <a:solidFill>
            <a:srgbClr val="B9D2F7"/>
          </a:solidFill>
          <a:ln/>
        </p:spPr>
        <p:txBody>
          <a:bodyPr/>
          <a:p/>
        </p:txBody>
      </p:sp>
      <p:sp>
        <p:nvSpPr>
          <p:cNvPr id="43" name="R3 num"/>
          <p:cNvSpPr/>
          <p:nvPr/>
        </p:nvSpPr>
        <p:spPr>
          <a:xfrm>
            <a:off x="686714" y="3888029"/>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b="1"/>
          </a:p>
        </p:txBody>
      </p:sp>
      <p:sp>
        <p:nvSpPr>
          <p:cNvPr id="44" name="R3 text"/>
          <p:cNvSpPr/>
          <p:nvPr/>
        </p:nvSpPr>
        <p:spPr>
          <a:xfrm>
            <a:off x="1810512" y="3677717"/>
            <a:ext cx="3858768" cy="1005840"/>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What was inside?</a:t>
            </a:r>
            <a:br>
              <a:rPr lang="en-US" sz="1600" dirty="0">
                <a:solidFill>
                  <a:srgbClr val="1B2236"/>
                </a:solidFill>
                <a:latin typeface="Lexend Deca" pitchFamily="34" charset="0"/>
                <a:ea typeface="Lexend Deca" pitchFamily="34" charset="-122"/>
                <a:cs typeface="Lexend Deca" pitchFamily="34" charset="-120"/>
              </a:rPr>
            </a:br>
            <a:r>
              <a:rPr lang="en-US" sz="1600" dirty="0">
                <a:solidFill>
                  <a:srgbClr val="1B2236"/>
                </a:solidFill>
                <a:latin typeface="Lexend Deca" pitchFamily="34" charset="0"/>
                <a:ea typeface="Lexend Deca" pitchFamily="34" charset="-122"/>
                <a:cs typeface="Lexend Deca" pitchFamily="34" charset="-120"/>
              </a:rPr>
              <a:t>☐ headphones  ☐ a scarf  ☐ gloves</a:t>
            </a:r>
            <a:br>
              <a:rPr lang="en-US" sz="1600" dirty="0">
                <a:solidFill>
                  <a:srgbClr val="1B2236"/>
                </a:solidFill>
                <a:latin typeface="Lexend Deca" pitchFamily="34" charset="0"/>
                <a:ea typeface="Lexend Deca" pitchFamily="34" charset="-122"/>
                <a:cs typeface="Lexend Deca" pitchFamily="34" charset="-120"/>
              </a:rPr>
            </a:br>
            <a:r>
              <a:rPr lang="en-US" sz="1600" dirty="0">
                <a:solidFill>
                  <a:srgbClr val="1B2236"/>
                </a:solidFill>
                <a:latin typeface="Lexend Deca" pitchFamily="34" charset="0"/>
                <a:ea typeface="Lexend Deca" pitchFamily="34" charset="-122"/>
                <a:cs typeface="Lexend Deca" pitchFamily="34" charset="-120"/>
              </a:rPr>
              <a:t>☐ a wallet  ☐ keys</a:t>
            </a:r>
            <a:endParaRPr lang="en-US" sz="1600" dirty="0"/>
          </a:p>
        </p:txBody>
      </p:sp>
      <p:sp>
        <p:nvSpPr>
          <p:cNvPr id="45" name="R3 ans"/>
          <p:cNvSpPr/>
          <p:nvPr/>
        </p:nvSpPr>
        <p:spPr>
          <a:xfrm>
            <a:off x="5742432" y="3952037"/>
            <a:ext cx="18288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 headphones, a scarf, gloves</a:t>
            </a:r>
            <a:endParaRPr lang="en-US" sz="1600" dirty="0" b="1"/>
          </a:p>
        </p:txBody>
      </p:sp>
      <p:sp>
        <p:nvSpPr>
          <p:cNvPr id="46" name="R4 card"/>
          <p:cNvSpPr/>
          <p:nvPr/>
        </p:nvSpPr>
        <p:spPr>
          <a:xfrm>
            <a:off x="1583741" y="4756709"/>
            <a:ext cx="6035040" cy="566928"/>
          </a:xfrm>
          <a:prstGeom prst="round1Rect">
            <a:avLst>
              <a:gd name="adj" fmla="val 23087"/>
            </a:avLst>
          </a:prstGeom>
          <a:solidFill>
            <a:srgbClr val="FFFFFF"/>
          </a:solidFill>
          <a:ln/>
        </p:spPr>
        <p:txBody>
          <a:bodyPr/>
          <a:p/>
        </p:txBody>
      </p:sp>
      <p:sp>
        <p:nvSpPr>
          <p:cNvPr id="47" name="R4 chip"/>
          <p:cNvSpPr/>
          <p:nvPr/>
        </p:nvSpPr>
        <p:spPr>
          <a:xfrm>
            <a:off x="544982" y="4756709"/>
            <a:ext cx="1039673" cy="566928"/>
          </a:xfrm>
          <a:prstGeom prst="rect">
            <a:avLst/>
          </a:prstGeom>
          <a:solidFill>
            <a:srgbClr val="B9D2F7"/>
          </a:solidFill>
          <a:ln/>
        </p:spPr>
        <p:txBody>
          <a:bodyPr/>
          <a:p/>
        </p:txBody>
      </p:sp>
      <p:sp>
        <p:nvSpPr>
          <p:cNvPr id="48" name="R4 num"/>
          <p:cNvSpPr/>
          <p:nvPr/>
        </p:nvSpPr>
        <p:spPr>
          <a:xfrm>
            <a:off x="686714" y="4747565"/>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b="1"/>
          </a:p>
        </p:txBody>
      </p:sp>
      <p:sp>
        <p:nvSpPr>
          <p:cNvPr id="49" name="R4 text"/>
          <p:cNvSpPr/>
          <p:nvPr/>
        </p:nvSpPr>
        <p:spPr>
          <a:xfrm>
            <a:off x="1810512" y="4756709"/>
            <a:ext cx="3858768" cy="566928"/>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Where did he get off the bus?</a:t>
            </a:r>
            <a:br>
              <a:rPr lang="en-US" sz="1600" dirty="0">
                <a:solidFill>
                  <a:srgbClr val="1B2236"/>
                </a:solidFill>
                <a:latin typeface="Lexend Deca" pitchFamily="34" charset="0"/>
                <a:ea typeface="Lexend Deca" pitchFamily="34" charset="-122"/>
                <a:cs typeface="Lexend Deca" pitchFamily="34" charset="-120"/>
              </a:rPr>
            </a:br>
            <a:r>
              <a:rPr lang="en-US" sz="1600" dirty="0" b="1">
                <a:solidFill>
                  <a:srgbClr val="1B2236"/>
                </a:solidFill>
                <a:latin typeface="Lexend Deca" pitchFamily="34" charset="0"/>
                <a:ea typeface="Lexend Deca" pitchFamily="34" charset="-122"/>
                <a:cs typeface="Lexend Deca" pitchFamily="34" charset="-120"/>
              </a:rPr>
              <a:t>Park Street</a:t>
            </a:r>
            <a:r>
              <a:rPr lang="en-US" sz="1600" dirty="0">
                <a:solidFill>
                  <a:srgbClr val="1B2236"/>
                </a:solidFill>
                <a:latin typeface="Lexend Deca" pitchFamily="34" charset="0"/>
                <a:ea typeface="Lexend Deca" pitchFamily="34" charset="-122"/>
                <a:cs typeface="Lexend Deca" pitchFamily="34" charset="-120"/>
              </a:rPr>
              <a:t> / </a:t>
            </a:r>
            <a:r>
              <a:rPr lang="en-US" sz="1600" dirty="0" b="1">
                <a:solidFill>
                  <a:srgbClr val="1B2236"/>
                </a:solidFill>
                <a:latin typeface="Lexend Deca" pitchFamily="34" charset="0"/>
                <a:ea typeface="Lexend Deca" pitchFamily="34" charset="-122"/>
                <a:cs typeface="Lexend Deca" pitchFamily="34" charset="-120"/>
              </a:rPr>
              <a:t>Main Street</a:t>
            </a:r>
            <a:endParaRPr lang="en-US" sz="1600" dirty="0"/>
          </a:p>
        </p:txBody>
      </p:sp>
      <p:sp>
        <p:nvSpPr>
          <p:cNvPr id="50" name="R4 ans"/>
          <p:cNvSpPr/>
          <p:nvPr/>
        </p:nvSpPr>
        <p:spPr>
          <a:xfrm>
            <a:off x="5742432" y="4811573"/>
            <a:ext cx="18288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Park Street</a:t>
            </a:r>
            <a:endParaRPr lang="en-US" sz="1600" dirty="0" b="1"/>
          </a:p>
        </p:txBody>
      </p:sp>
      <p:sp>
        <p:nvSpPr>
          <p:cNvPr id="51" name="R5 card"/>
          <p:cNvSpPr/>
          <p:nvPr/>
        </p:nvSpPr>
        <p:spPr>
          <a:xfrm>
            <a:off x="1583741" y="5396789"/>
            <a:ext cx="6035040" cy="566928"/>
          </a:xfrm>
          <a:prstGeom prst="round1Rect">
            <a:avLst>
              <a:gd name="adj" fmla="val 23087"/>
            </a:avLst>
          </a:prstGeom>
          <a:solidFill>
            <a:srgbClr val="FFFFFF"/>
          </a:solidFill>
          <a:ln/>
        </p:spPr>
        <p:txBody>
          <a:bodyPr/>
          <a:p/>
        </p:txBody>
      </p:sp>
      <p:sp>
        <p:nvSpPr>
          <p:cNvPr id="52" name="R5 chip"/>
          <p:cNvSpPr/>
          <p:nvPr/>
        </p:nvSpPr>
        <p:spPr>
          <a:xfrm>
            <a:off x="544982" y="5396789"/>
            <a:ext cx="1039673" cy="566928"/>
          </a:xfrm>
          <a:prstGeom prst="rect">
            <a:avLst/>
          </a:prstGeom>
          <a:solidFill>
            <a:srgbClr val="B9D2F7"/>
          </a:solidFill>
          <a:ln/>
        </p:spPr>
        <p:txBody>
          <a:bodyPr/>
          <a:p/>
        </p:txBody>
      </p:sp>
      <p:sp>
        <p:nvSpPr>
          <p:cNvPr id="53" name="R5 num"/>
          <p:cNvSpPr/>
          <p:nvPr/>
        </p:nvSpPr>
        <p:spPr>
          <a:xfrm>
            <a:off x="686714" y="5387645"/>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b="1"/>
          </a:p>
        </p:txBody>
      </p:sp>
      <p:sp>
        <p:nvSpPr>
          <p:cNvPr id="54" name="R5 text"/>
          <p:cNvSpPr/>
          <p:nvPr/>
        </p:nvSpPr>
        <p:spPr>
          <a:xfrm>
            <a:off x="1810512" y="5396789"/>
            <a:ext cx="3858768" cy="566928"/>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Pick it up today before:  </a:t>
            </a:r>
            <a:r>
              <a:rPr lang="en-US" sz="1600" dirty="0" b="1">
                <a:solidFill>
                  <a:srgbClr val="1B2236"/>
                </a:solidFill>
                <a:latin typeface="Lexend Deca" pitchFamily="34" charset="0"/>
                <a:ea typeface="Lexend Deca" pitchFamily="34" charset="-122"/>
                <a:cs typeface="Lexend Deca" pitchFamily="34" charset="-120"/>
              </a:rPr>
              <a:t>5:00</a:t>
            </a:r>
            <a:r>
              <a:rPr lang="en-US" sz="1600" dirty="0">
                <a:solidFill>
                  <a:srgbClr val="1B2236"/>
                </a:solidFill>
                <a:latin typeface="Lexend Deca" pitchFamily="34" charset="0"/>
                <a:ea typeface="Lexend Deca" pitchFamily="34" charset="-122"/>
                <a:cs typeface="Lexend Deca" pitchFamily="34" charset="-120"/>
              </a:rPr>
              <a:t> / </a:t>
            </a:r>
            <a:r>
              <a:rPr lang="en-US" sz="1600" dirty="0" b="1">
                <a:solidFill>
                  <a:srgbClr val="1B2236"/>
                </a:solidFill>
                <a:latin typeface="Lexend Deca" pitchFamily="34" charset="0"/>
                <a:ea typeface="Lexend Deca" pitchFamily="34" charset="-122"/>
                <a:cs typeface="Lexend Deca" pitchFamily="34" charset="-120"/>
              </a:rPr>
              <a:t>9:00</a:t>
            </a:r>
            <a:endParaRPr lang="en-US" sz="1600" dirty="0"/>
          </a:p>
        </p:txBody>
      </p:sp>
      <p:sp>
        <p:nvSpPr>
          <p:cNvPr id="55" name="R5 ans"/>
          <p:cNvSpPr/>
          <p:nvPr/>
        </p:nvSpPr>
        <p:spPr>
          <a:xfrm>
            <a:off x="5742432" y="5451653"/>
            <a:ext cx="18288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600" dirty="0" b="1">
                <a:solidFill>
                  <a:srgbClr val="1B2236"/>
                </a:solidFill>
                <a:latin typeface="Lexend Deca" pitchFamily="34" charset="0"/>
                <a:ea typeface="Lexend Deca" pitchFamily="34" charset="-122"/>
                <a:cs typeface="Lexend Deca" pitchFamily="34" charset="-120"/>
              </a:rPr>
              <a:t>5:00</a:t>
            </a:r>
            <a:endParaRPr lang="en-US" sz="16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his, mine, or yours.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Pairs: compare your answers.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0"/>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397557"/>
            <a:ext cx="44074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My brother has the same one, but ____ is green.</a:t>
            </a:r>
            <a:endParaRPr lang="en-US" sz="1800" dirty="0"/>
          </a:p>
        </p:txBody>
      </p:sp>
      <p:sp>
        <p:nvSpPr>
          <p:cNvPr id="35" name="R1 ans"/>
          <p:cNvSpPr/>
          <p:nvPr/>
        </p:nvSpPr>
        <p:spPr>
          <a:xfrm>
            <a:off x="6291072" y="2525573"/>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his</a:t>
            </a:r>
            <a:endParaRPr lang="en-US" sz="20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b="1"/>
          </a:p>
        </p:txBody>
      </p:sp>
      <p:sp>
        <p:nvSpPr>
          <p:cNvPr id="39" name="R2 text"/>
          <p:cNvSpPr/>
          <p:nvPr/>
        </p:nvSpPr>
        <p:spPr>
          <a:xfrm>
            <a:off x="1810512" y="3183941"/>
            <a:ext cx="44074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 big one is ____.</a:t>
            </a:r>
            <a:endParaRPr lang="en-US" sz="1800" dirty="0"/>
          </a:p>
        </p:txBody>
      </p:sp>
      <p:sp>
        <p:nvSpPr>
          <p:cNvPr id="40" name="R2 ans"/>
          <p:cNvSpPr/>
          <p:nvPr/>
        </p:nvSpPr>
        <p:spPr>
          <a:xfrm>
            <a:off x="6291072" y="3311957"/>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mine</a:t>
            </a:r>
            <a:endParaRPr lang="en-US" sz="20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b="1"/>
          </a:p>
        </p:txBody>
      </p:sp>
      <p:sp>
        <p:nvSpPr>
          <p:cNvPr id="44" name="R3 text"/>
          <p:cNvSpPr/>
          <p:nvPr/>
        </p:nvSpPr>
        <p:spPr>
          <a:xfrm>
            <a:off x="1810512" y="3970325"/>
            <a:ext cx="44074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There are white headphones inside. Are they ____?</a:t>
            </a:r>
            <a:endParaRPr lang="en-US" sz="1800" dirty="0"/>
          </a:p>
        </p:txBody>
      </p:sp>
      <p:sp>
        <p:nvSpPr>
          <p:cNvPr id="45" name="R3 ans"/>
          <p:cNvSpPr/>
          <p:nvPr/>
        </p:nvSpPr>
        <p:spPr>
          <a:xfrm>
            <a:off x="6291072" y="4098341"/>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yours</a:t>
            </a:r>
            <a:endParaRPr lang="en-US" sz="20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b="1"/>
          </a:p>
        </p:txBody>
      </p:sp>
      <p:sp>
        <p:nvSpPr>
          <p:cNvPr id="49" name="R4 text"/>
          <p:cNvSpPr/>
          <p:nvPr/>
        </p:nvSpPr>
        <p:spPr>
          <a:xfrm>
            <a:off x="1810512" y="4756709"/>
            <a:ext cx="44074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No, ____ are black.</a:t>
            </a:r>
            <a:endParaRPr lang="en-US" sz="1800" dirty="0"/>
          </a:p>
        </p:txBody>
      </p:sp>
      <p:sp>
        <p:nvSpPr>
          <p:cNvPr id="50" name="R4 ans"/>
          <p:cNvSpPr/>
          <p:nvPr/>
        </p:nvSpPr>
        <p:spPr>
          <a:xfrm>
            <a:off x="6291072" y="4884725"/>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mine</a:t>
            </a:r>
            <a:endParaRPr lang="en-US" sz="20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b="1"/>
          </a:p>
        </p:txBody>
      </p:sp>
      <p:sp>
        <p:nvSpPr>
          <p:cNvPr id="54" name="R5 text"/>
          <p:cNvSpPr/>
          <p:nvPr/>
        </p:nvSpPr>
        <p:spPr>
          <a:xfrm>
            <a:off x="1810512" y="5543093"/>
            <a:ext cx="4407408" cy="713232"/>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Yes! That's ____. Thank you!</a:t>
            </a:r>
            <a:endParaRPr lang="en-US" sz="1800" dirty="0"/>
          </a:p>
        </p:txBody>
      </p:sp>
      <p:sp>
        <p:nvSpPr>
          <p:cNvPr id="55" name="R5 ans"/>
          <p:cNvSpPr/>
          <p:nvPr/>
        </p:nvSpPr>
        <p:spPr>
          <a:xfrm>
            <a:off x="6291072" y="5671109"/>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mine</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name="L3: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Say it: the z sound</a:t>
            </a:r>
            <a:endParaRPr lang="en-US" sz="20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The class repeats each line.</a:t>
            </a:r>
            <a:endParaRPr lang="en-US" sz="20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yours, hers, ours, theirs: a </a:t>
            </a:r>
            <a:r>
              <a:rPr lang="en-US" sz="2000" dirty="0" b="1">
                <a:solidFill>
                  <a:srgbClr val="5B3FC4"/>
                </a:solidFill>
                <a:latin typeface="Lexend Deca" pitchFamily="34" charset="0"/>
                <a:ea typeface="Lexend Deca" pitchFamily="34" charset="-122"/>
                <a:cs typeface="Lexend Deca" pitchFamily="34" charset="-120"/>
              </a:rPr>
              <a:t>z</a:t>
            </a:r>
            <a:r>
              <a:rPr lang="en-US" sz="2000" dirty="0">
                <a:solidFill>
                  <a:srgbClr val="1B2236"/>
                </a:solidFill>
                <a:latin typeface="Lexend Deca" pitchFamily="34" charset="0"/>
                <a:ea typeface="Lexend Deca" pitchFamily="34" charset="-122"/>
                <a:cs typeface="Lexend Deca" pitchFamily="34" charset="-120"/>
              </a:rPr>
              <a:t> sound.</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Whose = who's: </a:t>
            </a:r>
            <a:r>
              <a:rPr lang="en-US" sz="2000" dirty="0" b="1">
                <a:solidFill>
                  <a:srgbClr val="5B3FC4"/>
                </a:solidFill>
                <a:latin typeface="Lexend Deca" pitchFamily="34" charset="0"/>
                <a:ea typeface="Lexend Deca" pitchFamily="34" charset="-122"/>
                <a:cs typeface="Lexend Deca" pitchFamily="34" charset="-120"/>
              </a:rPr>
              <a:t>hooz.</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each line </a:t>
            </a:r>
            <a:r>
              <a:rPr lang="en-US" sz="2000" dirty="0" b="1">
                <a:solidFill>
                  <a:srgbClr val="5B3FC4"/>
                </a:solidFill>
                <a:latin typeface="Lexend Deca" pitchFamily="34" charset="0"/>
                <a:ea typeface="Lexend Deca" pitchFamily="34" charset="-122"/>
                <a:cs typeface="Lexend Deca" pitchFamily="34" charset="-120"/>
              </a:rPr>
              <a:t>two times.</a:t>
            </a:r>
            <a:endParaRPr lang="en-US" sz="2000" dirty="0" b="0"/>
          </a:p>
        </p:txBody>
      </p:sp>
      <p:sp>
        <p:nvSpPr>
          <p:cNvPr id="31" name="S1 card"/>
          <p:cNvSpPr/>
          <p:nvPr/>
        </p:nvSpPr>
        <p:spPr>
          <a:xfrm>
            <a:off x="548640" y="2715768"/>
            <a:ext cx="6766560" cy="777240"/>
          </a:xfrm>
          <a:prstGeom prst="round1Rect">
            <a:avLst>
              <a:gd name="adj" fmla="val 23087"/>
            </a:avLst>
          </a:prstGeom>
          <a:solidFill>
            <a:srgbClr val="FFFFFF"/>
          </a:solidFill>
          <a:ln/>
        </p:spPr>
        <p:txBody>
          <a:bodyPr/>
          <a:p/>
        </p:txBody>
      </p:sp>
      <p:sp>
        <p:nvSpPr>
          <p:cNvPr id="32" name="S1 text"/>
          <p:cNvSpPr/>
          <p:nvPr/>
        </p:nvSpPr>
        <p:spPr>
          <a:xfrm>
            <a:off x="777240" y="2715768"/>
            <a:ext cx="6355080" cy="777240"/>
          </a:xfrm>
          <a:prstGeom prst="rect">
            <a:avLst/>
          </a:prstGeom>
          <a:noFill/>
          <a:ln/>
        </p:spPr>
        <p:txBody>
          <a:bodyPr wrap="square" rtlCol="0" anchor="ctr"/>
          <a:lstStyle/>
          <a:p>
            <a:pPr algn="l" indent="0" marL="0">
              <a:buNone/>
            </a:pPr>
            <a:r>
              <a:rPr lang="en-US" sz="2200" dirty="0" b="1">
                <a:solidFill>
                  <a:srgbClr val="5B3FC4"/>
                </a:solidFill>
                <a:latin typeface="Lexend Deca" pitchFamily="34" charset="0"/>
                <a:ea typeface="Lexend Deca" pitchFamily="34" charset="-122"/>
                <a:cs typeface="Lexend Deca" pitchFamily="34" charset="-120"/>
              </a:rPr>
              <a:t>yours</a:t>
            </a:r>
            <a:r>
              <a:rPr lang="en-US" sz="2200" dirty="0" b="1">
                <a:solidFill>
                  <a:srgbClr val="1B2236"/>
                </a:solidFill>
                <a:latin typeface="Lexend Deca" pitchFamily="34" charset="0"/>
                <a:ea typeface="Lexend Deca" pitchFamily="34" charset="-122"/>
                <a:cs typeface="Lexend Deca" pitchFamily="34" charset="-120"/>
              </a:rPr>
              <a:t>  ·  </a:t>
            </a:r>
            <a:r>
              <a:rPr lang="en-US" sz="2200" dirty="0" b="1">
                <a:solidFill>
                  <a:srgbClr val="5B3FC4"/>
                </a:solidFill>
                <a:latin typeface="Lexend Deca" pitchFamily="34" charset="0"/>
                <a:ea typeface="Lexend Deca" pitchFamily="34" charset="-122"/>
                <a:cs typeface="Lexend Deca" pitchFamily="34" charset="-120"/>
              </a:rPr>
              <a:t>hers</a:t>
            </a:r>
            <a:r>
              <a:rPr lang="en-US" sz="2200" dirty="0" b="1">
                <a:solidFill>
                  <a:srgbClr val="1B2236"/>
                </a:solidFill>
                <a:latin typeface="Lexend Deca" pitchFamily="34" charset="0"/>
                <a:ea typeface="Lexend Deca" pitchFamily="34" charset="-122"/>
                <a:cs typeface="Lexend Deca" pitchFamily="34" charset="-120"/>
              </a:rPr>
              <a:t>  ·  </a:t>
            </a:r>
            <a:r>
              <a:rPr lang="en-US" sz="2200" dirty="0" b="1">
                <a:solidFill>
                  <a:srgbClr val="5B3FC4"/>
                </a:solidFill>
                <a:latin typeface="Lexend Deca" pitchFamily="34" charset="0"/>
                <a:ea typeface="Lexend Deca" pitchFamily="34" charset="-122"/>
                <a:cs typeface="Lexend Deca" pitchFamily="34" charset="-120"/>
              </a:rPr>
              <a:t>ours</a:t>
            </a:r>
            <a:r>
              <a:rPr lang="en-US" sz="2200" dirty="0" b="1">
                <a:solidFill>
                  <a:srgbClr val="1B2236"/>
                </a:solidFill>
                <a:latin typeface="Lexend Deca" pitchFamily="34" charset="0"/>
                <a:ea typeface="Lexend Deca" pitchFamily="34" charset="-122"/>
                <a:cs typeface="Lexend Deca" pitchFamily="34" charset="-120"/>
              </a:rPr>
              <a:t>  ·  </a:t>
            </a:r>
            <a:r>
              <a:rPr lang="en-US" sz="2200" dirty="0" b="1">
                <a:solidFill>
                  <a:srgbClr val="5B3FC4"/>
                </a:solidFill>
                <a:latin typeface="Lexend Deca" pitchFamily="34" charset="0"/>
                <a:ea typeface="Lexend Deca" pitchFamily="34" charset="-122"/>
                <a:cs typeface="Lexend Deca" pitchFamily="34" charset="-120"/>
              </a:rPr>
              <a:t>theirs</a:t>
            </a:r>
            <a:endParaRPr lang="en-US" sz="2200" dirty="0" b="1"/>
          </a:p>
        </p:txBody>
      </p:sp>
      <p:sp>
        <p:nvSpPr>
          <p:cNvPr id="33" name="S2 card"/>
          <p:cNvSpPr/>
          <p:nvPr/>
        </p:nvSpPr>
        <p:spPr>
          <a:xfrm>
            <a:off x="548640" y="3601822"/>
            <a:ext cx="6766560" cy="777240"/>
          </a:xfrm>
          <a:prstGeom prst="round1Rect">
            <a:avLst>
              <a:gd name="adj" fmla="val 23087"/>
            </a:avLst>
          </a:prstGeom>
          <a:solidFill>
            <a:srgbClr val="FFFFFF"/>
          </a:solidFill>
          <a:ln/>
        </p:spPr>
        <p:txBody>
          <a:bodyPr/>
          <a:p/>
        </p:txBody>
      </p:sp>
      <p:sp>
        <p:nvSpPr>
          <p:cNvPr id="34" name="S2 text"/>
          <p:cNvSpPr/>
          <p:nvPr/>
        </p:nvSpPr>
        <p:spPr>
          <a:xfrm>
            <a:off x="777240" y="3601822"/>
            <a:ext cx="6355080" cy="777240"/>
          </a:xfrm>
          <a:prstGeom prst="rect">
            <a:avLst/>
          </a:prstGeom>
          <a:noFill/>
          <a:ln/>
        </p:spPr>
        <p:txBody>
          <a:bodyPr wrap="square" rtlCol="0" anchor="ctr"/>
          <a:lstStyle/>
          <a:p>
            <a:pPr algn="l" indent="0" marL="0">
              <a:buNone/>
            </a:pPr>
            <a:r>
              <a:rPr lang="en-US" sz="2200" dirty="0" b="1">
                <a:solidFill>
                  <a:srgbClr val="5B3FC4"/>
                </a:solidFill>
                <a:latin typeface="Lexend Deca" pitchFamily="34" charset="0"/>
                <a:ea typeface="Lexend Deca" pitchFamily="34" charset="-122"/>
                <a:cs typeface="Lexend Deca" pitchFamily="34" charset="-120"/>
              </a:rPr>
              <a:t>Whose</a:t>
            </a:r>
            <a:r>
              <a:rPr lang="en-US" sz="2200" dirty="0" b="1">
                <a:solidFill>
                  <a:srgbClr val="1B2236"/>
                </a:solidFill>
                <a:latin typeface="Lexend Deca" pitchFamily="34" charset="0"/>
                <a:ea typeface="Lexend Deca" pitchFamily="34" charset="-122"/>
                <a:cs typeface="Lexend Deca" pitchFamily="34" charset="-120"/>
              </a:rPr>
              <a:t> = </a:t>
            </a:r>
            <a:r>
              <a:rPr lang="en-US" sz="2200" dirty="0" b="1">
                <a:solidFill>
                  <a:srgbClr val="5B3FC4"/>
                </a:solidFill>
                <a:latin typeface="Lexend Deca" pitchFamily="34" charset="0"/>
                <a:ea typeface="Lexend Deca" pitchFamily="34" charset="-122"/>
                <a:cs typeface="Lexend Deca" pitchFamily="34" charset="-120"/>
              </a:rPr>
              <a:t>who's</a:t>
            </a:r>
            <a:r>
              <a:rPr lang="en-US" sz="2200" dirty="0" b="1">
                <a:solidFill>
                  <a:srgbClr val="1B2236"/>
                </a:solidFill>
                <a:latin typeface="Lexend Deca" pitchFamily="34" charset="0"/>
                <a:ea typeface="Lexend Deca" pitchFamily="34" charset="-122"/>
                <a:cs typeface="Lexend Deca" pitchFamily="34" charset="-120"/>
              </a:rPr>
              <a:t> (hooz)</a:t>
            </a:r>
            <a:endParaRPr lang="en-US" sz="2200" dirty="0" b="1"/>
          </a:p>
        </p:txBody>
      </p:sp>
      <p:sp>
        <p:nvSpPr>
          <p:cNvPr id="35" name="S3 card"/>
          <p:cNvSpPr/>
          <p:nvPr/>
        </p:nvSpPr>
        <p:spPr>
          <a:xfrm>
            <a:off x="548640" y="4487875"/>
            <a:ext cx="6766560" cy="777240"/>
          </a:xfrm>
          <a:prstGeom prst="round1Rect">
            <a:avLst>
              <a:gd name="adj" fmla="val 23087"/>
            </a:avLst>
          </a:prstGeom>
          <a:solidFill>
            <a:srgbClr val="FFFFFF"/>
          </a:solidFill>
          <a:ln/>
        </p:spPr>
        <p:txBody>
          <a:bodyPr/>
          <a:p/>
        </p:txBody>
      </p:sp>
      <p:sp>
        <p:nvSpPr>
          <p:cNvPr id="36" name="S3 text"/>
          <p:cNvSpPr/>
          <p:nvPr/>
        </p:nvSpPr>
        <p:spPr>
          <a:xfrm>
            <a:off x="777240" y="4487875"/>
            <a:ext cx="6355080" cy="777240"/>
          </a:xfrm>
          <a:prstGeom prst="rect">
            <a:avLst/>
          </a:prstGeom>
          <a:noFill/>
          <a:ln/>
        </p:spPr>
        <p:txBody>
          <a:bodyPr wrap="square" rtlCol="0" anchor="ctr"/>
          <a:lstStyle/>
          <a:p>
            <a:pPr algn="l" indent="0" marL="0">
              <a:buNone/>
            </a:pPr>
            <a:r>
              <a:rPr lang="en-US" sz="2200" dirty="0" b="1">
                <a:solidFill>
                  <a:srgbClr val="5B3FC4"/>
                </a:solidFill>
                <a:latin typeface="Lexend Deca" pitchFamily="34" charset="0"/>
                <a:ea typeface="Lexend Deca" pitchFamily="34" charset="-122"/>
                <a:cs typeface="Lexend Deca" pitchFamily="34" charset="-120"/>
              </a:rPr>
              <a:t>Whose</a:t>
            </a:r>
            <a:r>
              <a:rPr lang="en-US" sz="2200" dirty="0" b="1">
                <a:solidFill>
                  <a:srgbClr val="1B2236"/>
                </a:solidFill>
                <a:latin typeface="Lexend Deca" pitchFamily="34" charset="0"/>
                <a:ea typeface="Lexend Deca" pitchFamily="34" charset="-122"/>
                <a:cs typeface="Lexend Deca" pitchFamily="34" charset="-120"/>
              </a:rPr>
              <a:t> bag is this?</a:t>
            </a:r>
            <a:endParaRPr lang="en-US" sz="2200" dirty="0" b="1"/>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name="L3:qa">
    <p:bg>
      <p:bgPr>
        <a:solidFill>
          <a:srgbClr val="F1F5FB"/>
        </a:solidFill>
      </p:bgPr>
    </p:bg>
    <p:spTree>
      <p:nvGrpSpPr>
        <p:cNvPr id="1" name=""/>
        <p:cNvGrpSpPr/>
        <p:nvPr/>
      </p:nvGrpSpPr>
      <p:grpSpPr/>
      <p:sp>
        <p:nvSpPr>
          <p:cNvPr id="2" name="right panel"/>
          <p:cNvSpPr/>
          <p:nvPr/>
        </p:nvSpPr>
        <p:spPr>
          <a:xfrm>
            <a:off x="6742786" y="3291840"/>
            <a:ext cx="4912157" cy="3108960"/>
          </a:xfrm>
          <a:prstGeom prst="round1Rect">
            <a:avLst>
              <a:gd name="adj" fmla="val 23087"/>
            </a:avLst>
          </a:prstGeom>
          <a:solidFill>
            <a:srgbClr val="B9D2F7"/>
          </a:solidFill>
          <a:ln w="76200">
            <a:solidFill>
              <a:srgbClr val="FFFFFF"/>
            </a:solidFill>
            <a:prstDash val="solid"/>
          </a:ln>
        </p:spPr>
        <p:txBody>
          <a:bodyPr/>
          <a:p/>
        </p:txBody>
      </p:sp>
      <p:pic>
        <p:nvPicPr>
          <p:cNvPr id="18" name="pic" descr="Keys: two keys"/>
          <p:cNvPicPr>
            <a:picLocks noChangeAspect="1"/>
          </p:cNvPicPr>
          <p:nvPr/>
        </p:nvPicPr>
        <p:blipFill>
          <a:blip r:embed="rId3"/>
          <a:stretch>
            <a:fillRect/>
          </a:stretch>
        </p:blipFill>
        <p:spPr>
          <a:xfrm>
            <a:off x="7818120" y="1143000"/>
            <a:ext cx="2743200" cy="1920240"/>
          </a:xfrm>
          <a:prstGeom prst="rect">
            <a:avLst/>
          </a:prstGeom>
        </p:spPr>
      </p:pic>
      <p:sp>
        <p:nvSpPr>
          <p:cNvPr id="5" name="Shape 3"/>
          <p:cNvSpPr/>
          <p:nvPr/>
        </p:nvSpPr>
        <p:spPr>
          <a:xfrm>
            <a:off x="560116" y="1350752"/>
            <a:ext cx="5663794" cy="1566367"/>
          </a:xfrm>
          <a:prstGeom prst="roundRect">
            <a:avLst>
              <a:gd name="adj" fmla="val 16667"/>
            </a:avLst>
          </a:prstGeom>
          <a:solidFill>
            <a:srgbClr val="8FAFE3"/>
          </a:solidFill>
          <a:ln/>
        </p:spPr>
        <p:txBody>
          <a:bodyPr/>
          <a:p/>
        </p:txBody>
      </p:sp>
      <p:sp>
        <p:nvSpPr>
          <p:cNvPr id="6" name="Shape 4"/>
          <p:cNvSpPr/>
          <p:nvPr/>
        </p:nvSpPr>
        <p:spPr>
          <a:xfrm>
            <a:off x="593446" y="1286561"/>
            <a:ext cx="5663794" cy="1566367"/>
          </a:xfrm>
          <a:prstGeom prst="roundRect">
            <a:avLst>
              <a:gd name="adj" fmla="val 16667"/>
            </a:avLst>
          </a:prstGeom>
          <a:solidFill>
            <a:srgbClr val="FFFFFF"/>
          </a:solidFill>
          <a:ln/>
        </p:spPr>
        <p:txBody>
          <a:bodyPr/>
          <a:p/>
        </p:txBody>
      </p:sp>
      <p:sp>
        <p:nvSpPr>
          <p:cNvPr id="7" name="head"/>
          <p:cNvSpPr/>
          <p:nvPr/>
        </p:nvSpPr>
        <p:spPr>
          <a:xfrm>
            <a:off x="832104" y="1325880"/>
            <a:ext cx="5257800" cy="150876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buNone/>
            </a:pPr>
            <a:r>
              <a:rPr lang="en-US" sz="2800" dirty="0" b="1">
                <a:solidFill>
                  <a:srgbClr val="1B2236"/>
                </a:solidFill>
                <a:latin typeface="Lexend Deca" pitchFamily="34" charset="0"/>
                <a:ea typeface="Lexend Deca" pitchFamily="34" charset="-122"/>
                <a:cs typeface="Lexend Deca" pitchFamily="34" charset="-120"/>
              </a:rPr>
              <a:t>Whose…?</a:t>
            </a:r>
            <a:endParaRPr lang="en-US" sz="2800" dirty="0" b="1"/>
          </a:p>
          <a:p>
            <a:pPr algn="l" indent="0" marL="0">
              <a:buNone/>
            </a:pPr>
            <a:r>
              <a:rPr lang="en-US" sz="1800" dirty="0" b="0">
                <a:solidFill>
                  <a:srgbClr val="1B2236"/>
                </a:solidFill>
                <a:latin typeface="Lexend Deca" pitchFamily="34" charset="0"/>
                <a:ea typeface="Lexend Deca" pitchFamily="34" charset="-122"/>
                <a:cs typeface="Lexend Deca" pitchFamily="34" charset="-120"/>
              </a:rPr>
              <a:t>is this (one)  ·  are these (more than one)</a:t>
            </a:r>
            <a:endParaRPr lang="en-US" sz="1800" dirty="0" b="0"/>
          </a:p>
        </p:txBody>
      </p:sp>
      <p:sp>
        <p:nvSpPr>
          <p:cNvPr id="8" name="left panel"/>
          <p:cNvSpPr/>
          <p:nvPr/>
        </p:nvSpPr>
        <p:spPr>
          <a:xfrm>
            <a:off x="1305763" y="3291840"/>
            <a:ext cx="4790542" cy="3108960"/>
          </a:xfrm>
          <a:prstGeom prst="round1Rect">
            <a:avLst>
              <a:gd name="adj" fmla="val 23087"/>
            </a:avLst>
          </a:prstGeom>
          <a:solidFill>
            <a:srgbClr val="FFFFFF"/>
          </a:solidFill>
          <a:ln w="25400">
            <a:solidFill>
              <a:srgbClr val="8FAFE3"/>
            </a:solidFill>
            <a:prstDash val="solid"/>
          </a:ln>
        </p:spPr>
        <p:txBody>
          <a:bodyPr/>
          <a:p/>
        </p:txBody>
      </p:sp>
      <p:sp>
        <p:nvSpPr>
          <p:cNvPr id="19" name="Q head"/>
          <p:cNvSpPr/>
          <p:nvPr/>
        </p:nvSpPr>
        <p:spPr>
          <a:xfrm>
            <a:off x="1920240" y="342900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20" name="A head"/>
          <p:cNvSpPr/>
          <p:nvPr/>
        </p:nvSpPr>
        <p:spPr>
          <a:xfrm>
            <a:off x="7040880" y="3429000"/>
            <a:ext cx="2743200" cy="45720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21" name="Highlight 1"/>
          <p:cNvSpPr/>
          <p:nvPr/>
        </p:nvSpPr>
        <p:spPr>
          <a:xfrm>
            <a:off x="1481328" y="4069080"/>
            <a:ext cx="118872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2" name="Helper 1"/>
          <p:cNvSpPr/>
          <p:nvPr/>
        </p:nvSpPr>
        <p:spPr>
          <a:xfrm>
            <a:off x="1481328" y="3977640"/>
            <a:ext cx="1188720" cy="731520"/>
          </a:xfrm>
          <a:prstGeom prst="rect">
            <a:avLst/>
          </a:prstGeom>
          <a:no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Whose</a:t>
            </a:r>
            <a:endParaRPr lang="en-US" sz="2200" dirty="0" b="1"/>
          </a:p>
        </p:txBody>
      </p:sp>
      <p:sp>
        <p:nvSpPr>
          <p:cNvPr id="23" name="Question 1"/>
          <p:cNvSpPr/>
          <p:nvPr/>
        </p:nvSpPr>
        <p:spPr>
          <a:xfrm>
            <a:off x="2761488" y="3977640"/>
            <a:ext cx="3246120" cy="7315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umbrella / wallet </a:t>
            </a:r>
            <a:r>
              <a:rPr lang="en-US" sz="1700" dirty="0" b="1">
                <a:solidFill>
                  <a:srgbClr val="1B2236"/>
                </a:solidFill>
                <a:latin typeface="Lexend Deca" pitchFamily="34" charset="0"/>
                <a:ea typeface="Lexend Deca" pitchFamily="34" charset="-122"/>
                <a:cs typeface="Lexend Deca" pitchFamily="34" charset="-120"/>
              </a:rPr>
              <a:t>is this?</a:t>
            </a:r>
            <a:endParaRPr lang="en-US" sz="1700" dirty="0" b="1"/>
          </a:p>
        </p:txBody>
      </p:sp>
      <p:sp>
        <p:nvSpPr>
          <p:cNvPr id="24" name="Answer bg 1"/>
          <p:cNvSpPr/>
          <p:nvPr/>
        </p:nvSpPr>
        <p:spPr>
          <a:xfrm>
            <a:off x="6949440" y="3977640"/>
            <a:ext cx="452628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5" name="Answer 1"/>
          <p:cNvSpPr/>
          <p:nvPr/>
        </p:nvSpPr>
        <p:spPr>
          <a:xfrm>
            <a:off x="6949440" y="397764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It's mine</a:t>
            </a:r>
            <a:r>
              <a:rPr lang="en-US" sz="1800" dirty="0" b="1">
                <a:solidFill>
                  <a:srgbClr val="1B2236"/>
                </a:solidFill>
                <a:latin typeface="Lexend Deca" pitchFamily="34" charset="0"/>
                <a:ea typeface="Lexend Deca" pitchFamily="34" charset="-122"/>
                <a:cs typeface="Lexend Deca" pitchFamily="34" charset="-120"/>
              </a:rPr>
              <a:t>. / </a:t>
            </a:r>
            <a:r>
              <a:rPr lang="en-US" sz="1800" dirty="0" b="1">
                <a:solidFill>
                  <a:srgbClr val="1B2236"/>
                </a:solidFill>
                <a:latin typeface="Lexend Deca" pitchFamily="34" charset="0"/>
                <a:ea typeface="Lexend Deca" pitchFamily="34" charset="-122"/>
                <a:cs typeface="Lexend Deca" pitchFamily="34" charset="-120"/>
              </a:rPr>
              <a:t>hers</a:t>
            </a:r>
            <a:r>
              <a:rPr lang="en-US" sz="1800" dirty="0" b="1">
                <a:solidFill>
                  <a:srgbClr val="1B2236"/>
                </a:solidFill>
                <a:latin typeface="Lexend Deca" pitchFamily="34" charset="0"/>
                <a:ea typeface="Lexend Deca" pitchFamily="34" charset="-122"/>
                <a:cs typeface="Lexend Deca" pitchFamily="34" charset="-120"/>
              </a:rPr>
              <a:t>. / Ana's.</a:t>
            </a:r>
            <a:endParaRPr lang="en-US" sz="1800" dirty="0" b="1"/>
          </a:p>
        </p:txBody>
      </p:sp>
      <p:sp>
        <p:nvSpPr>
          <p:cNvPr id="26" name="Highlight 2"/>
          <p:cNvSpPr/>
          <p:nvPr/>
        </p:nvSpPr>
        <p:spPr>
          <a:xfrm>
            <a:off x="1481328" y="4846320"/>
            <a:ext cx="118872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Helper 2"/>
          <p:cNvSpPr/>
          <p:nvPr/>
        </p:nvSpPr>
        <p:spPr>
          <a:xfrm>
            <a:off x="1481328" y="4754880"/>
            <a:ext cx="1188720" cy="731520"/>
          </a:xfrm>
          <a:prstGeom prst="rect">
            <a:avLst/>
          </a:prstGeom>
          <a:no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Whose</a:t>
            </a:r>
            <a:endParaRPr lang="en-US" sz="2200" dirty="0" b="1"/>
          </a:p>
        </p:txBody>
      </p:sp>
      <p:sp>
        <p:nvSpPr>
          <p:cNvPr id="28" name="Question 2"/>
          <p:cNvSpPr/>
          <p:nvPr/>
        </p:nvSpPr>
        <p:spPr>
          <a:xfrm>
            <a:off x="2761488" y="4754880"/>
            <a:ext cx="3246120" cy="7315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keys / gloves </a:t>
            </a:r>
            <a:r>
              <a:rPr lang="en-US" sz="1700" dirty="0" b="1">
                <a:solidFill>
                  <a:srgbClr val="1B2236"/>
                </a:solidFill>
                <a:latin typeface="Lexend Deca" pitchFamily="34" charset="0"/>
                <a:ea typeface="Lexend Deca" pitchFamily="34" charset="-122"/>
                <a:cs typeface="Lexend Deca" pitchFamily="34" charset="-120"/>
              </a:rPr>
              <a:t>are these?</a:t>
            </a:r>
            <a:endParaRPr lang="en-US" sz="1700" dirty="0" b="1"/>
          </a:p>
        </p:txBody>
      </p:sp>
      <p:sp>
        <p:nvSpPr>
          <p:cNvPr id="29" name="Answer bg 2"/>
          <p:cNvSpPr/>
          <p:nvPr/>
        </p:nvSpPr>
        <p:spPr>
          <a:xfrm>
            <a:off x="6949440" y="4754880"/>
            <a:ext cx="452628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0" name="Answer 2"/>
          <p:cNvSpPr/>
          <p:nvPr/>
        </p:nvSpPr>
        <p:spPr>
          <a:xfrm>
            <a:off x="6949440" y="475488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They're ours</a:t>
            </a:r>
            <a:r>
              <a:rPr lang="en-US" sz="1800" dirty="0" b="1">
                <a:solidFill>
                  <a:srgbClr val="1B2236"/>
                </a:solidFill>
                <a:latin typeface="Lexend Deca" pitchFamily="34" charset="0"/>
                <a:ea typeface="Lexend Deca" pitchFamily="34" charset="-122"/>
                <a:cs typeface="Lexend Deca" pitchFamily="34" charset="-120"/>
              </a:rPr>
              <a:t>. / </a:t>
            </a:r>
            <a:r>
              <a:rPr lang="en-US" sz="1800" dirty="0" b="1">
                <a:solidFill>
                  <a:srgbClr val="1B2236"/>
                </a:solidFill>
                <a:latin typeface="Lexend Deca" pitchFamily="34" charset="0"/>
                <a:ea typeface="Lexend Deca" pitchFamily="34" charset="-122"/>
                <a:cs typeface="Lexend Deca" pitchFamily="34" charset="-120"/>
              </a:rPr>
              <a:t>his</a:t>
            </a:r>
            <a:r>
              <a:rPr lang="en-US" sz="1800" dirty="0" b="1">
                <a:solidFill>
                  <a:srgbClr val="1B2236"/>
                </a:solidFill>
                <a:latin typeface="Lexend Deca" pitchFamily="34" charset="0"/>
                <a:ea typeface="Lexend Deca" pitchFamily="34" charset="-122"/>
                <a:cs typeface="Lexend Deca" pitchFamily="34" charset="-120"/>
              </a:rPr>
              <a:t>. / Tom's.</a:t>
            </a:r>
            <a:endParaRPr lang="en-US" sz="1800" dirty="0" b="1"/>
          </a:p>
        </p:txBody>
      </p:sp>
      <p:sp>
        <p:nvSpPr>
          <p:cNvPr id="31" name="Highlight 3"/>
          <p:cNvSpPr/>
          <p:nvPr/>
        </p:nvSpPr>
        <p:spPr>
          <a:xfrm>
            <a:off x="1481328" y="5623560"/>
            <a:ext cx="118872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2" name="Helper 3"/>
          <p:cNvSpPr/>
          <p:nvPr/>
        </p:nvSpPr>
        <p:spPr>
          <a:xfrm>
            <a:off x="1481328" y="5532120"/>
            <a:ext cx="1188720" cy="731520"/>
          </a:xfrm>
          <a:prstGeom prst="rect">
            <a:avLst/>
          </a:prstGeom>
          <a:no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Whose</a:t>
            </a:r>
            <a:endParaRPr lang="en-US" sz="2200" dirty="0" b="1"/>
          </a:p>
        </p:txBody>
      </p:sp>
      <p:sp>
        <p:nvSpPr>
          <p:cNvPr id="33" name="Question 3"/>
          <p:cNvSpPr/>
          <p:nvPr/>
        </p:nvSpPr>
        <p:spPr>
          <a:xfrm>
            <a:off x="2761488" y="5532120"/>
            <a:ext cx="3246120" cy="7315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backpack </a:t>
            </a:r>
            <a:r>
              <a:rPr lang="en-US" sz="1700" dirty="0" b="1">
                <a:solidFill>
                  <a:srgbClr val="1B2236"/>
                </a:solidFill>
                <a:latin typeface="Lexend Deca" pitchFamily="34" charset="0"/>
                <a:ea typeface="Lexend Deca" pitchFamily="34" charset="-122"/>
                <a:cs typeface="Lexend Deca" pitchFamily="34" charset="-120"/>
              </a:rPr>
              <a:t>is that?</a:t>
            </a:r>
            <a:endParaRPr lang="en-US" sz="1700" dirty="0" b="1"/>
          </a:p>
        </p:txBody>
      </p:sp>
      <p:sp>
        <p:nvSpPr>
          <p:cNvPr id="34" name="Answer bg 3"/>
          <p:cNvSpPr/>
          <p:nvPr/>
        </p:nvSpPr>
        <p:spPr>
          <a:xfrm>
            <a:off x="6949440" y="5532120"/>
            <a:ext cx="452628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Answer 3"/>
          <p:cNvSpPr/>
          <p:nvPr/>
        </p:nvSpPr>
        <p:spPr>
          <a:xfrm>
            <a:off x="6949440" y="5532120"/>
            <a:ext cx="4526280" cy="7315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think it's </a:t>
            </a:r>
            <a:r>
              <a:rPr lang="en-US" sz="1800" dirty="0" b="1">
                <a:solidFill>
                  <a:srgbClr val="1B2236"/>
                </a:solidFill>
                <a:latin typeface="Lexend Deca" pitchFamily="34" charset="0"/>
                <a:ea typeface="Lexend Deca" pitchFamily="34" charset="-122"/>
                <a:cs typeface="Lexend Deca" pitchFamily="34" charset="-120"/>
              </a:rPr>
              <a:t>theirs</a:t>
            </a:r>
            <a:r>
              <a:rPr lang="en-US" sz="1800" dirty="0" b="1">
                <a:solidFill>
                  <a:srgbClr val="1B2236"/>
                </a:solidFill>
                <a:latin typeface="Lexend Deca" pitchFamily="34" charset="0"/>
                <a:ea typeface="Lexend Deca" pitchFamily="34" charset="-122"/>
                <a:cs typeface="Lexend Deca" pitchFamily="34" charset="-120"/>
              </a:rPr>
              <a:t>. / </a:t>
            </a:r>
            <a:r>
              <a:rPr lang="en-US" sz="1800" dirty="0" b="1">
                <a:solidFill>
                  <a:srgbClr val="1B2236"/>
                </a:solidFill>
                <a:latin typeface="Lexend Deca" pitchFamily="34" charset="0"/>
                <a:ea typeface="Lexend Deca" pitchFamily="34" charset="-122"/>
                <a:cs typeface="Lexend Deca" pitchFamily="34" charset="-120"/>
              </a:rPr>
              <a:t>yours</a:t>
            </a:r>
            <a:r>
              <a:rPr lang="en-US" sz="1800" dirty="0" b="1">
                <a:solidFill>
                  <a:srgbClr val="1B2236"/>
                </a:solidFill>
                <a:latin typeface="Lexend Deca" pitchFamily="34" charset="0"/>
                <a:ea typeface="Lexend Deca" pitchFamily="34" charset="-122"/>
                <a:cs typeface="Lexend Deca" pitchFamily="34" charset="-120"/>
              </a:rPr>
              <a:t>.</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4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400"/>
                                        <p:tgtEl>
                                          <p:spTgt spid="30"/>
                                        </p:tgtEl>
                                      </p:cBhvr>
                                    </p:animEffect>
                                  </p:childTnLst>
                                </p:cTn>
                              </p:par>
                              <p:par>
                                <p:cTn id="16" presetID="10" presetClass="entr" presetSubtype="0" fill="hold"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400"/>
                                        <p:tgtEl>
                                          <p:spTgt spid="2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400"/>
                                        <p:tgtEl>
                                          <p:spTgt spid="35"/>
                                        </p:tgtEl>
                                      </p:cBhvr>
                                    </p:animEffect>
                                  </p:childTnLst>
                                </p:cTn>
                              </p:par>
                              <p:par>
                                <p:cTn id="24" presetID="10" presetClass="entr" presetSubtype="0" fill="hold"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Sunglasses: sunglasses"/>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2</a:t>
            </a:r>
            <a:endParaRPr lang="en-US" sz="2000" dirty="0" b="1"/>
          </a:p>
          <a:p>
            <a:pPr algn="l" indent="0" marL="0">
              <a:spcAft>
                <a:spcPts val="400"/>
              </a:spcAft>
              <a:buNone/>
            </a:pPr>
            <a:r>
              <a:rPr lang="en-US" sz="2600" dirty="0" b="1">
                <a:solidFill>
                  <a:srgbClr val="1B2236"/>
                </a:solidFill>
                <a:latin typeface="Lexend Deca" pitchFamily="34" charset="0"/>
                <a:ea typeface="Lexend Deca" pitchFamily="34" charset="-122"/>
                <a:cs typeface="Lexend Deca" pitchFamily="34" charset="-120"/>
              </a:rPr>
              <a:t>Is this yours?</a:t>
            </a:r>
            <a:endParaRPr lang="en-US" sz="26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111556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Is this yours</a:t>
            </a:r>
            <a:r>
              <a:rPr lang="en-US" sz="2000" dirty="0" b="1">
                <a:solidFill>
                  <a:srgbClr val="1B2236"/>
                </a:solidFill>
                <a:latin typeface="Lexend Deca" pitchFamily="34" charset="0"/>
                <a:ea typeface="Lexend Deca" pitchFamily="34" charset="-122"/>
                <a:cs typeface="Lexend Deca" pitchFamily="34" charset="-120"/>
              </a:rPr>
              <a:t>? / </a:t>
            </a:r>
            <a:r>
              <a:rPr lang="en-US" sz="2000" dirty="0" b="1">
                <a:solidFill>
                  <a:srgbClr val="1B2236"/>
                </a:solidFill>
                <a:latin typeface="Lexend Deca" pitchFamily="34" charset="0"/>
                <a:ea typeface="Lexend Deca" pitchFamily="34" charset="-122"/>
                <a:cs typeface="Lexend Deca" pitchFamily="34" charset="-120"/>
              </a:rPr>
              <a:t>his</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19" name="Answer bg 1"/>
          <p:cNvSpPr/>
          <p:nvPr/>
        </p:nvSpPr>
        <p:spPr>
          <a:xfrm>
            <a:off x="7863840" y="2286000"/>
            <a:ext cx="406908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Yes, it's </a:t>
            </a:r>
            <a:r>
              <a:rPr lang="en-US" sz="1800" dirty="0" b="1">
                <a:solidFill>
                  <a:srgbClr val="1B2236"/>
                </a:solidFill>
                <a:latin typeface="Lexend Deca" pitchFamily="34" charset="0"/>
                <a:ea typeface="Lexend Deca" pitchFamily="34" charset="-122"/>
                <a:cs typeface="Lexend Deca" pitchFamily="34" charset="-120"/>
              </a:rPr>
              <a:t>mine</a:t>
            </a:r>
            <a:r>
              <a:rPr lang="en-US" sz="1800" dirty="0" b="1">
                <a:solidFill>
                  <a:srgbClr val="1B2236"/>
                </a:solidFill>
                <a:latin typeface="Lexend Deca" pitchFamily="34" charset="0"/>
                <a:ea typeface="Lexend Deca" pitchFamily="34" charset="-122"/>
                <a:cs typeface="Lexend Deca" pitchFamily="34" charset="-120"/>
              </a:rPr>
              <a:t>. / Yes, it's </a:t>
            </a:r>
            <a:r>
              <a:rPr lang="en-US" sz="1800" dirty="0" b="1">
                <a:solidFill>
                  <a:srgbClr val="1B2236"/>
                </a:solidFill>
                <a:latin typeface="Lexend Deca" pitchFamily="34" charset="0"/>
                <a:ea typeface="Lexend Deca" pitchFamily="34" charset="-122"/>
                <a:cs typeface="Lexend Deca" pitchFamily="34" charset="-120"/>
              </a:rPr>
              <a:t>his</a:t>
            </a:r>
            <a:r>
              <a:rPr lang="en-US" sz="1800" dirty="0" b="1">
                <a:solidFill>
                  <a:srgbClr val="1B2236"/>
                </a:solidFill>
                <a:latin typeface="Lexend Deca" pitchFamily="34" charset="0"/>
                <a:ea typeface="Lexend Deca" pitchFamily="34" charset="-122"/>
                <a:cs typeface="Lexend Deca" pitchFamily="34" charset="-120"/>
              </a:rPr>
              <a:t>. Thank you!</a:t>
            </a:r>
            <a:endParaRPr lang="en-US" sz="1800" dirty="0" b="1"/>
          </a:p>
          <a:p>
            <a:pPr algn="l" indent="0" marL="0">
              <a:buNone/>
            </a:pPr>
            <a:r>
              <a:rPr lang="en-US" sz="1800" dirty="0" b="1">
                <a:solidFill>
                  <a:srgbClr val="1B2236"/>
                </a:solidFill>
                <a:latin typeface="Lexend Deca" pitchFamily="34" charset="0"/>
                <a:ea typeface="Lexend Deca" pitchFamily="34" charset="-122"/>
                <a:cs typeface="Lexend Deca" pitchFamily="34" charset="-120"/>
              </a:rPr>
              <a:t>No, it isn't </a:t>
            </a:r>
            <a:r>
              <a:rPr lang="en-US" sz="1800" dirty="0" b="1">
                <a:solidFill>
                  <a:srgbClr val="1B2236"/>
                </a:solidFill>
                <a:latin typeface="Lexend Deca" pitchFamily="34" charset="0"/>
                <a:ea typeface="Lexend Deca" pitchFamily="34" charset="-122"/>
                <a:cs typeface="Lexend Deca" pitchFamily="34" charset="-120"/>
              </a:rPr>
              <a:t>mine</a:t>
            </a:r>
            <a:r>
              <a:rPr lang="en-US" sz="1800" dirty="0" b="1">
                <a:solidFill>
                  <a:srgbClr val="1B2236"/>
                </a:solidFill>
                <a:latin typeface="Lexend Deca" pitchFamily="34" charset="0"/>
                <a:ea typeface="Lexend Deca" pitchFamily="34" charset="-122"/>
                <a:cs typeface="Lexend Deca" pitchFamily="34" charset="-120"/>
              </a:rPr>
              <a:t>. Maybe it's </a:t>
            </a:r>
            <a:r>
              <a:rPr lang="en-US" sz="1800" dirty="0" b="1">
                <a:solidFill>
                  <a:srgbClr val="1B2236"/>
                </a:solidFill>
                <a:latin typeface="Lexend Deca" pitchFamily="34" charset="0"/>
                <a:ea typeface="Lexend Deca" pitchFamily="34" charset="-122"/>
                <a:cs typeface="Lexend Deca" pitchFamily="34" charset="-120"/>
              </a:rPr>
              <a:t>hers</a:t>
            </a:r>
            <a:r>
              <a:rPr lang="en-US" sz="1800" dirty="0" b="1">
                <a:solidFill>
                  <a:srgbClr val="1B2236"/>
                </a:solidFill>
                <a:latin typeface="Lexend Deca" pitchFamily="34" charset="0"/>
                <a:ea typeface="Lexend Deca" pitchFamily="34" charset="-122"/>
                <a:cs typeface="Lexend Deca" pitchFamily="34" charset="-120"/>
              </a:rPr>
              <a:t>.</a:t>
            </a:r>
            <a:endParaRPr lang="en-US" sz="1800" dirty="0" b="1"/>
          </a:p>
        </p:txBody>
      </p:sp>
      <p:sp>
        <p:nvSpPr>
          <p:cNvPr id="21" name="Question 2"/>
          <p:cNvSpPr/>
          <p:nvPr/>
        </p:nvSpPr>
        <p:spPr>
          <a:xfrm>
            <a:off x="5138928" y="3474720"/>
            <a:ext cx="2651760" cy="111556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Are these yours</a:t>
            </a:r>
            <a:r>
              <a:rPr lang="en-US" sz="2000" dirty="0" b="1">
                <a:solidFill>
                  <a:srgbClr val="1B2236"/>
                </a:solidFill>
                <a:latin typeface="Lexend Deca" pitchFamily="34" charset="0"/>
                <a:ea typeface="Lexend Deca" pitchFamily="34" charset="-122"/>
                <a:cs typeface="Lexend Deca" pitchFamily="34" charset="-120"/>
              </a:rPr>
              <a:t>? / </a:t>
            </a:r>
            <a:r>
              <a:rPr lang="en-US" sz="2000" dirty="0" b="1">
                <a:solidFill>
                  <a:srgbClr val="1B2236"/>
                </a:solidFill>
                <a:latin typeface="Lexend Deca" pitchFamily="34" charset="0"/>
                <a:ea typeface="Lexend Deca" pitchFamily="34" charset="-122"/>
                <a:cs typeface="Lexend Deca" pitchFamily="34" charset="-120"/>
              </a:rPr>
              <a:t>theirs</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22" name="Answer bg 2"/>
          <p:cNvSpPr/>
          <p:nvPr/>
        </p:nvSpPr>
        <p:spPr>
          <a:xfrm>
            <a:off x="7863840" y="3474720"/>
            <a:ext cx="406908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474720"/>
            <a:ext cx="406908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No, they aren't </a:t>
            </a:r>
            <a:r>
              <a:rPr lang="en-US" sz="1800" dirty="0" b="1">
                <a:solidFill>
                  <a:srgbClr val="1B2236"/>
                </a:solidFill>
                <a:latin typeface="Lexend Deca" pitchFamily="34" charset="0"/>
                <a:ea typeface="Lexend Deca" pitchFamily="34" charset="-122"/>
                <a:cs typeface="Lexend Deca" pitchFamily="34" charset="-120"/>
              </a:rPr>
              <a:t>ours</a:t>
            </a:r>
            <a:r>
              <a:rPr lang="en-US" sz="1800" dirty="0" b="1">
                <a:solidFill>
                  <a:srgbClr val="1B2236"/>
                </a:solidFill>
                <a:latin typeface="Lexend Deca" pitchFamily="34" charset="0"/>
                <a:ea typeface="Lexend Deca" pitchFamily="34" charset="-122"/>
                <a:cs typeface="Lexend Deca" pitchFamily="34" charset="-120"/>
              </a:rPr>
              <a:t>. </a:t>
            </a:r>
            <a:r>
              <a:rPr lang="en-US" sz="1800" dirty="0" b="1">
                <a:solidFill>
                  <a:srgbClr val="1B2236"/>
                </a:solidFill>
                <a:latin typeface="Lexend Deca" pitchFamily="34" charset="0"/>
                <a:ea typeface="Lexend Deca" pitchFamily="34" charset="-122"/>
                <a:cs typeface="Lexend Deca" pitchFamily="34" charset="-120"/>
              </a:rPr>
              <a:t>Ours</a:t>
            </a:r>
            <a:r>
              <a:rPr lang="en-US" sz="1800" dirty="0" b="1">
                <a:solidFill>
                  <a:srgbClr val="1B2236"/>
                </a:solidFill>
                <a:latin typeface="Lexend Deca" pitchFamily="34" charset="0"/>
                <a:ea typeface="Lexend Deca" pitchFamily="34" charset="-122"/>
                <a:cs typeface="Lexend Deca" pitchFamily="34" charset="-120"/>
              </a:rPr>
              <a:t> are black.</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Belong to: a woman, bubble &quot;It's mine.&quot;, an arrow to a handbag"/>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600" dirty="0" b="1">
                <a:solidFill>
                  <a:srgbClr val="1B2236"/>
                </a:solidFill>
                <a:latin typeface="Lexend Deca" pitchFamily="34" charset="0"/>
                <a:ea typeface="Lexend Deca" pitchFamily="34" charset="-122"/>
                <a:cs typeface="Lexend Deca" pitchFamily="34" charset="-120"/>
              </a:rPr>
              <a:t>my bag → mine</a:t>
            </a:r>
            <a:endParaRPr lang="en-US" sz="2600" dirty="0" b="1"/>
          </a:p>
        </p:txBody>
      </p:sp>
      <p:sp>
        <p:nvSpPr>
          <p:cNvPr id="8" name="Q head"/>
          <p:cNvSpPr/>
          <p:nvPr/>
        </p:nvSpPr>
        <p:spPr>
          <a:xfrm>
            <a:off x="5166360" y="1828800"/>
            <a:ext cx="23774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 A NOUN</a:t>
            </a:r>
            <a:endParaRPr lang="en-US" sz="2000" dirty="0" b="1"/>
          </a:p>
        </p:txBody>
      </p:sp>
      <p:sp>
        <p:nvSpPr>
          <p:cNvPr id="11" name="A head"/>
          <p:cNvSpPr/>
          <p:nvPr/>
        </p:nvSpPr>
        <p:spPr>
          <a:xfrm>
            <a:off x="7589520" y="1828800"/>
            <a:ext cx="43434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NO NOUN</a:t>
            </a:r>
            <a:endParaRPr lang="en-US" sz="2000" dirty="0" b="1"/>
          </a:p>
        </p:txBody>
      </p:sp>
      <p:sp>
        <p:nvSpPr>
          <p:cNvPr id="18" name="Question 1"/>
          <p:cNvSpPr/>
          <p:nvPr/>
        </p:nvSpPr>
        <p:spPr>
          <a:xfrm>
            <a:off x="5138928" y="2286000"/>
            <a:ext cx="237744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my</a:t>
            </a:r>
            <a:r>
              <a:rPr lang="en-US" sz="2000" dirty="0" b="1">
                <a:solidFill>
                  <a:srgbClr val="1B2236"/>
                </a:solidFill>
                <a:latin typeface="Lexend Deca" pitchFamily="34" charset="0"/>
                <a:ea typeface="Lexend Deca" pitchFamily="34" charset="-122"/>
                <a:cs typeface="Lexend Deca" pitchFamily="34" charset="-120"/>
              </a:rPr>
              <a:t> bag.</a:t>
            </a:r>
            <a:endParaRPr lang="en-US" sz="2000" dirty="0" b="1"/>
          </a:p>
        </p:txBody>
      </p:sp>
      <p:sp>
        <p:nvSpPr>
          <p:cNvPr id="19" name="Answer bg 1"/>
          <p:cNvSpPr/>
          <p:nvPr/>
        </p:nvSpPr>
        <p:spPr>
          <a:xfrm>
            <a:off x="7589520" y="2286000"/>
            <a:ext cx="4343400" cy="643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589520" y="2286000"/>
            <a:ext cx="434340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mine</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21" name="Question 2"/>
          <p:cNvSpPr/>
          <p:nvPr/>
        </p:nvSpPr>
        <p:spPr>
          <a:xfrm>
            <a:off x="5138928" y="3002280"/>
            <a:ext cx="237744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your</a:t>
            </a:r>
            <a:r>
              <a:rPr lang="en-US" sz="2000" dirty="0" b="1">
                <a:solidFill>
                  <a:srgbClr val="1B2236"/>
                </a:solidFill>
                <a:latin typeface="Lexend Deca" pitchFamily="34" charset="0"/>
                <a:ea typeface="Lexend Deca" pitchFamily="34" charset="-122"/>
                <a:cs typeface="Lexend Deca" pitchFamily="34" charset="-120"/>
              </a:rPr>
              <a:t> bag.</a:t>
            </a:r>
            <a:endParaRPr lang="en-US" sz="2000" dirty="0" b="1"/>
          </a:p>
        </p:txBody>
      </p:sp>
      <p:sp>
        <p:nvSpPr>
          <p:cNvPr id="22" name="Answer bg 2"/>
          <p:cNvSpPr/>
          <p:nvPr/>
        </p:nvSpPr>
        <p:spPr>
          <a:xfrm>
            <a:off x="7589520" y="3002280"/>
            <a:ext cx="4343400" cy="643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589520" y="3002280"/>
            <a:ext cx="434340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yours</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24" name="Question 3"/>
          <p:cNvSpPr/>
          <p:nvPr/>
        </p:nvSpPr>
        <p:spPr>
          <a:xfrm>
            <a:off x="5138928" y="3718560"/>
            <a:ext cx="237744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his</a:t>
            </a:r>
            <a:r>
              <a:rPr lang="en-US" sz="2000" dirty="0" b="1">
                <a:solidFill>
                  <a:srgbClr val="1B2236"/>
                </a:solidFill>
                <a:latin typeface="Lexend Deca" pitchFamily="34" charset="0"/>
                <a:ea typeface="Lexend Deca" pitchFamily="34" charset="-122"/>
                <a:cs typeface="Lexend Deca" pitchFamily="34" charset="-120"/>
              </a:rPr>
              <a:t> bag.</a:t>
            </a:r>
            <a:endParaRPr lang="en-US" sz="2000" dirty="0" b="1"/>
          </a:p>
        </p:txBody>
      </p:sp>
      <p:sp>
        <p:nvSpPr>
          <p:cNvPr id="25" name="Answer bg 3"/>
          <p:cNvSpPr/>
          <p:nvPr/>
        </p:nvSpPr>
        <p:spPr>
          <a:xfrm>
            <a:off x="7589520" y="3718560"/>
            <a:ext cx="4343400" cy="643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589520" y="3718560"/>
            <a:ext cx="434340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his</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27" name="Question 4"/>
          <p:cNvSpPr/>
          <p:nvPr/>
        </p:nvSpPr>
        <p:spPr>
          <a:xfrm>
            <a:off x="5138928" y="4434840"/>
            <a:ext cx="237744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her</a:t>
            </a:r>
            <a:r>
              <a:rPr lang="en-US" sz="2000" dirty="0" b="1">
                <a:solidFill>
                  <a:srgbClr val="1B2236"/>
                </a:solidFill>
                <a:latin typeface="Lexend Deca" pitchFamily="34" charset="0"/>
                <a:ea typeface="Lexend Deca" pitchFamily="34" charset="-122"/>
                <a:cs typeface="Lexend Deca" pitchFamily="34" charset="-120"/>
              </a:rPr>
              <a:t> bag.</a:t>
            </a:r>
            <a:endParaRPr lang="en-US" sz="2000" dirty="0" b="1"/>
          </a:p>
        </p:txBody>
      </p:sp>
      <p:sp>
        <p:nvSpPr>
          <p:cNvPr id="28" name="Answer bg 4"/>
          <p:cNvSpPr/>
          <p:nvPr/>
        </p:nvSpPr>
        <p:spPr>
          <a:xfrm>
            <a:off x="7589520" y="4434840"/>
            <a:ext cx="4343400" cy="643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9" name="Answer 4"/>
          <p:cNvSpPr/>
          <p:nvPr/>
        </p:nvSpPr>
        <p:spPr>
          <a:xfrm>
            <a:off x="7589520" y="4434840"/>
            <a:ext cx="434340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hers</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30" name="Question 5"/>
          <p:cNvSpPr/>
          <p:nvPr/>
        </p:nvSpPr>
        <p:spPr>
          <a:xfrm>
            <a:off x="5138928" y="5151120"/>
            <a:ext cx="237744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our</a:t>
            </a:r>
            <a:r>
              <a:rPr lang="en-US" sz="2000" dirty="0" b="1">
                <a:solidFill>
                  <a:srgbClr val="1B2236"/>
                </a:solidFill>
                <a:latin typeface="Lexend Deca" pitchFamily="34" charset="0"/>
                <a:ea typeface="Lexend Deca" pitchFamily="34" charset="-122"/>
                <a:cs typeface="Lexend Deca" pitchFamily="34" charset="-120"/>
              </a:rPr>
              <a:t> bag.</a:t>
            </a:r>
            <a:endParaRPr lang="en-US" sz="2000" dirty="0" b="1"/>
          </a:p>
        </p:txBody>
      </p:sp>
      <p:sp>
        <p:nvSpPr>
          <p:cNvPr id="31" name="Answer bg 5"/>
          <p:cNvSpPr/>
          <p:nvPr/>
        </p:nvSpPr>
        <p:spPr>
          <a:xfrm>
            <a:off x="7589520" y="5151120"/>
            <a:ext cx="4343400" cy="643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2" name="Answer 5"/>
          <p:cNvSpPr/>
          <p:nvPr/>
        </p:nvSpPr>
        <p:spPr>
          <a:xfrm>
            <a:off x="7589520" y="5151120"/>
            <a:ext cx="434340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ours</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
        <p:nvSpPr>
          <p:cNvPr id="33" name="Question 6"/>
          <p:cNvSpPr/>
          <p:nvPr/>
        </p:nvSpPr>
        <p:spPr>
          <a:xfrm>
            <a:off x="5138928" y="5867400"/>
            <a:ext cx="237744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their</a:t>
            </a:r>
            <a:r>
              <a:rPr lang="en-US" sz="2000" dirty="0" b="1">
                <a:solidFill>
                  <a:srgbClr val="1B2236"/>
                </a:solidFill>
                <a:latin typeface="Lexend Deca" pitchFamily="34" charset="0"/>
                <a:ea typeface="Lexend Deca" pitchFamily="34" charset="-122"/>
                <a:cs typeface="Lexend Deca" pitchFamily="34" charset="-120"/>
              </a:rPr>
              <a:t> bag.</a:t>
            </a:r>
            <a:endParaRPr lang="en-US" sz="2000" dirty="0" b="1"/>
          </a:p>
        </p:txBody>
      </p:sp>
      <p:sp>
        <p:nvSpPr>
          <p:cNvPr id="34" name="Answer bg 6"/>
          <p:cNvSpPr/>
          <p:nvPr/>
        </p:nvSpPr>
        <p:spPr>
          <a:xfrm>
            <a:off x="7589520" y="5867400"/>
            <a:ext cx="4343400" cy="643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Answer 6"/>
          <p:cNvSpPr/>
          <p:nvPr/>
        </p:nvSpPr>
        <p:spPr>
          <a:xfrm>
            <a:off x="7589520" y="5867400"/>
            <a:ext cx="4343400" cy="643128"/>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It's </a:t>
            </a:r>
            <a:r>
              <a:rPr lang="en-US" sz="2000" dirty="0" b="1">
                <a:solidFill>
                  <a:srgbClr val="1B2236"/>
                </a:solidFill>
                <a:latin typeface="Lexend Deca" pitchFamily="34" charset="0"/>
                <a:ea typeface="Lexend Deca" pitchFamily="34" charset="-122"/>
                <a:cs typeface="Lexend Deca" pitchFamily="34" charset="-120"/>
              </a:rPr>
              <a:t>theirs</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par>
                                <p:cTn id="40" presetID="10" presetClass="entr" presetSubtype="0" fill="hold"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nodeType="with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3: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Wallet: a drawn brown wallet"/>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spcAft>
                <a:spcPts val="400"/>
              </a:spcAft>
              <a:buNone/>
            </a:pPr>
            <a:r>
              <a:rPr lang="en-US" sz="2600" dirty="0" b="1">
                <a:solidFill>
                  <a:srgbClr val="1B2236"/>
                </a:solidFill>
                <a:latin typeface="Lexend Deca" pitchFamily="34" charset="0"/>
                <a:ea typeface="Lexend Deca" pitchFamily="34" charset="-122"/>
                <a:cs typeface="Lexend Deca" pitchFamily="34" charset="-120"/>
              </a:rPr>
              <a:t>Describing an Item</a:t>
            </a:r>
            <a:endParaRPr lang="en-US" sz="2600" dirty="0" b="1"/>
          </a:p>
        </p:txBody>
      </p:sp>
      <p:sp>
        <p:nvSpPr>
          <p:cNvPr id="8" name="Q head"/>
          <p:cNvSpPr/>
          <p:nvPr/>
        </p:nvSpPr>
        <p:spPr>
          <a:xfrm>
            <a:off x="5166360" y="1828800"/>
            <a:ext cx="329184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SIZE → COLOR → ITEM</a:t>
            </a:r>
            <a:endParaRPr lang="en-US" sz="2000" dirty="0" b="1"/>
          </a:p>
        </p:txBody>
      </p:sp>
      <p:sp>
        <p:nvSpPr>
          <p:cNvPr id="11" name="A head"/>
          <p:cNvSpPr/>
          <p:nvPr/>
        </p:nvSpPr>
        <p:spPr>
          <a:xfrm>
            <a:off x="8503920" y="1828800"/>
            <a:ext cx="342900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DETAIL</a:t>
            </a:r>
            <a:endParaRPr lang="en-US" sz="2000" dirty="0" b="1"/>
          </a:p>
        </p:txBody>
      </p:sp>
      <p:sp>
        <p:nvSpPr>
          <p:cNvPr id="18" name="Question 1"/>
          <p:cNvSpPr/>
          <p:nvPr/>
        </p:nvSpPr>
        <p:spPr>
          <a:xfrm>
            <a:off x="5138928" y="2286000"/>
            <a:ext cx="329184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It's a </a:t>
            </a:r>
            <a:r>
              <a:rPr lang="en-US" sz="1800" dirty="0" b="1">
                <a:solidFill>
                  <a:srgbClr val="1B2236"/>
                </a:solidFill>
                <a:latin typeface="Lexend Deca" pitchFamily="34" charset="0"/>
                <a:ea typeface="Lexend Deca" pitchFamily="34" charset="-122"/>
                <a:cs typeface="Lexend Deca" pitchFamily="34" charset="-120"/>
              </a:rPr>
              <a:t>small</a:t>
            </a:r>
            <a:r>
              <a:rPr lang="en-US" sz="1800" dirty="0" b="1">
                <a:solidFill>
                  <a:srgbClr val="1B2236"/>
                </a:solidFill>
                <a:latin typeface="Lexend Deca" pitchFamily="34" charset="0"/>
                <a:ea typeface="Lexend Deca" pitchFamily="34" charset="-122"/>
                <a:cs typeface="Lexend Deca" pitchFamily="34" charset="-120"/>
              </a:rPr>
              <a:t> / </a:t>
            </a:r>
            <a:r>
              <a:rPr lang="en-US" sz="1800" dirty="0" b="1">
                <a:solidFill>
                  <a:srgbClr val="1B2236"/>
                </a:solidFill>
                <a:latin typeface="Lexend Deca" pitchFamily="34" charset="0"/>
                <a:ea typeface="Lexend Deca" pitchFamily="34" charset="-122"/>
                <a:cs typeface="Lexend Deca" pitchFamily="34" charset="-120"/>
              </a:rPr>
              <a:t>big</a:t>
            </a:r>
            <a:r>
              <a:rPr lang="en-US" sz="1800" dirty="0" b="1">
                <a:solidFill>
                  <a:srgbClr val="1B2236"/>
                </a:solidFill>
                <a:latin typeface="Lexend Deca" pitchFamily="34" charset="0"/>
                <a:ea typeface="Lexend Deca" pitchFamily="34" charset="-122"/>
                <a:cs typeface="Lexend Deca" pitchFamily="34" charset="-120"/>
              </a:rPr>
              <a:t> </a:t>
            </a:r>
            <a:r>
              <a:rPr lang="en-US" sz="1800" dirty="0" b="1">
                <a:solidFill>
                  <a:srgbClr val="1B2236"/>
                </a:solidFill>
                <a:latin typeface="Lexend Deca" pitchFamily="34" charset="0"/>
                <a:ea typeface="Lexend Deca" pitchFamily="34" charset="-122"/>
                <a:cs typeface="Lexend Deca" pitchFamily="34" charset="-120"/>
              </a:rPr>
              <a:t>black</a:t>
            </a:r>
            <a:r>
              <a:rPr lang="en-US" sz="1800" dirty="0" b="1">
                <a:solidFill>
                  <a:srgbClr val="1B2236"/>
                </a:solidFill>
                <a:latin typeface="Lexend Deca" pitchFamily="34" charset="0"/>
                <a:ea typeface="Lexend Deca" pitchFamily="34" charset="-122"/>
                <a:cs typeface="Lexend Deca" pitchFamily="34" charset="-120"/>
              </a:rPr>
              <a:t> / </a:t>
            </a:r>
            <a:r>
              <a:rPr lang="en-US" sz="1800" dirty="0" b="1">
                <a:solidFill>
                  <a:srgbClr val="1B2236"/>
                </a:solidFill>
                <a:latin typeface="Lexend Deca" pitchFamily="34" charset="0"/>
                <a:ea typeface="Lexend Deca" pitchFamily="34" charset="-122"/>
                <a:cs typeface="Lexend Deca" pitchFamily="34" charset="-120"/>
              </a:rPr>
              <a:t>blue</a:t>
            </a:r>
            <a:r>
              <a:rPr lang="en-US" sz="1800" dirty="0" b="1">
                <a:solidFill>
                  <a:srgbClr val="1B2236"/>
                </a:solidFill>
                <a:latin typeface="Lexend Deca" pitchFamily="34" charset="0"/>
                <a:ea typeface="Lexend Deca" pitchFamily="34" charset="-122"/>
                <a:cs typeface="Lexend Deca" pitchFamily="34" charset="-120"/>
              </a:rPr>
              <a:t> wallet. / backpack.</a:t>
            </a:r>
            <a:endParaRPr lang="en-US" sz="1800" dirty="0" b="1"/>
          </a:p>
        </p:txBody>
      </p:sp>
      <p:sp>
        <p:nvSpPr>
          <p:cNvPr id="19" name="Answer bg 1"/>
          <p:cNvSpPr/>
          <p:nvPr/>
        </p:nvSpPr>
        <p:spPr>
          <a:xfrm>
            <a:off x="8503920" y="2286000"/>
            <a:ext cx="342900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8503920" y="2286000"/>
            <a:ext cx="342900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with a zipper. / with two pockets.</a:t>
            </a:r>
            <a:endParaRPr lang="en-US" sz="1800" dirty="0" b="1"/>
          </a:p>
        </p:txBody>
      </p:sp>
      <p:sp>
        <p:nvSpPr>
          <p:cNvPr id="21" name="Question 2"/>
          <p:cNvSpPr/>
          <p:nvPr/>
        </p:nvSpPr>
        <p:spPr>
          <a:xfrm>
            <a:off x="5138928" y="3474720"/>
            <a:ext cx="329184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They're </a:t>
            </a:r>
            <a:r>
              <a:rPr lang="en-US" sz="1800" dirty="0" b="1">
                <a:solidFill>
                  <a:srgbClr val="1B2236"/>
                </a:solidFill>
                <a:latin typeface="Lexend Deca" pitchFamily="34" charset="0"/>
                <a:ea typeface="Lexend Deca" pitchFamily="34" charset="-122"/>
                <a:cs typeface="Lexend Deca" pitchFamily="34" charset="-120"/>
              </a:rPr>
              <a:t>brown</a:t>
            </a:r>
            <a:r>
              <a:rPr lang="en-US" sz="1800" dirty="0" b="1">
                <a:solidFill>
                  <a:srgbClr val="1B2236"/>
                </a:solidFill>
                <a:latin typeface="Lexend Deca" pitchFamily="34" charset="0"/>
                <a:ea typeface="Lexend Deca" pitchFamily="34" charset="-122"/>
                <a:cs typeface="Lexend Deca" pitchFamily="34" charset="-120"/>
              </a:rPr>
              <a:t> / </a:t>
            </a:r>
            <a:r>
              <a:rPr lang="en-US" sz="1800" dirty="0" b="1">
                <a:solidFill>
                  <a:srgbClr val="1B2236"/>
                </a:solidFill>
                <a:latin typeface="Lexend Deca" pitchFamily="34" charset="0"/>
                <a:ea typeface="Lexend Deca" pitchFamily="34" charset="-122"/>
                <a:cs typeface="Lexend Deca" pitchFamily="34" charset="-120"/>
              </a:rPr>
              <a:t>red</a:t>
            </a:r>
            <a:r>
              <a:rPr lang="en-US" sz="1800" dirty="0" b="1">
                <a:solidFill>
                  <a:srgbClr val="1B2236"/>
                </a:solidFill>
                <a:latin typeface="Lexend Deca" pitchFamily="34" charset="0"/>
                <a:ea typeface="Lexend Deca" pitchFamily="34" charset="-122"/>
                <a:cs typeface="Lexend Deca" pitchFamily="34" charset="-120"/>
              </a:rPr>
              <a:t> gloves. / sunglasses.</a:t>
            </a:r>
            <a:endParaRPr lang="en-US" sz="1800" dirty="0" b="1"/>
          </a:p>
        </p:txBody>
      </p:sp>
      <p:sp>
        <p:nvSpPr>
          <p:cNvPr id="22" name="Answer bg 2"/>
          <p:cNvSpPr/>
          <p:nvPr/>
        </p:nvSpPr>
        <p:spPr>
          <a:xfrm>
            <a:off x="8503920" y="3474720"/>
            <a:ext cx="3429000" cy="111556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8503920" y="3474720"/>
            <a:ext cx="3429000" cy="111556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with a star. / in a black case.</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3: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 write the words.</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mine · yours · his · hers · ours · theirs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a:solidFill>
                  <a:srgbClr val="1B2236"/>
                </a:solidFill>
                <a:latin typeface="Lexend Deca" pitchFamily="34" charset="0"/>
                <a:ea typeface="Lexend Deca" pitchFamily="34" charset="-122"/>
                <a:cs typeface="Lexend Deca" pitchFamily="34" charset="-120"/>
              </a:rPr>
              <a:t>Write mine, yours, his, hers, ours, or theirs.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0"/>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1</a:t>
            </a:r>
            <a:endParaRPr lang="en-US" sz="3200" dirty="0" b="1"/>
          </a:p>
        </p:txBody>
      </p:sp>
      <p:sp>
        <p:nvSpPr>
          <p:cNvPr id="34" name="R1 text"/>
          <p:cNvSpPr/>
          <p:nvPr/>
        </p:nvSpPr>
        <p:spPr>
          <a:xfrm>
            <a:off x="1810512" y="2123237"/>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This is my bag. It's ____.</a:t>
            </a:r>
            <a:endParaRPr lang="en-US" sz="1800" dirty="0"/>
          </a:p>
        </p:txBody>
      </p:sp>
      <p:sp>
        <p:nvSpPr>
          <p:cNvPr id="35" name="R1 ans"/>
          <p:cNvSpPr/>
          <p:nvPr/>
        </p:nvSpPr>
        <p:spPr>
          <a:xfrm>
            <a:off x="6291072" y="2222144"/>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mine</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2</a:t>
            </a:r>
            <a:endParaRPr lang="en-US" sz="3200" dirty="0" b="1"/>
          </a:p>
        </p:txBody>
      </p:sp>
      <p:sp>
        <p:nvSpPr>
          <p:cNvPr id="39" name="R2 text"/>
          <p:cNvSpPr/>
          <p:nvPr/>
        </p:nvSpPr>
        <p:spPr>
          <a:xfrm>
            <a:off x="1810512" y="2851404"/>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That's her umbrella. It's ____.</a:t>
            </a:r>
            <a:endParaRPr lang="en-US" sz="1800" dirty="0"/>
          </a:p>
        </p:txBody>
      </p:sp>
      <p:sp>
        <p:nvSpPr>
          <p:cNvPr id="40" name="R2 ans"/>
          <p:cNvSpPr/>
          <p:nvPr/>
        </p:nvSpPr>
        <p:spPr>
          <a:xfrm>
            <a:off x="6291072" y="2950312"/>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hers</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3</a:t>
            </a:r>
            <a:endParaRPr lang="en-US" sz="3200" dirty="0" b="1"/>
          </a:p>
        </p:txBody>
      </p:sp>
      <p:sp>
        <p:nvSpPr>
          <p:cNvPr id="44" name="R3 text"/>
          <p:cNvSpPr/>
          <p:nvPr/>
        </p:nvSpPr>
        <p:spPr>
          <a:xfrm>
            <a:off x="1810512" y="3579571"/>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These are our keys. They're ____.</a:t>
            </a:r>
            <a:endParaRPr lang="en-US" sz="1800" dirty="0"/>
          </a:p>
        </p:txBody>
      </p:sp>
      <p:sp>
        <p:nvSpPr>
          <p:cNvPr id="45" name="R3 ans"/>
          <p:cNvSpPr/>
          <p:nvPr/>
        </p:nvSpPr>
        <p:spPr>
          <a:xfrm>
            <a:off x="6291072" y="3678479"/>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ours</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4</a:t>
            </a:r>
            <a:endParaRPr lang="en-US" sz="3200" dirty="0" b="1"/>
          </a:p>
        </p:txBody>
      </p:sp>
      <p:sp>
        <p:nvSpPr>
          <p:cNvPr id="49" name="R4 text"/>
          <p:cNvSpPr/>
          <p:nvPr/>
        </p:nvSpPr>
        <p:spPr>
          <a:xfrm>
            <a:off x="1810512" y="4307738"/>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Is this your scarf? Is it ____?</a:t>
            </a:r>
            <a:endParaRPr lang="en-US" sz="1800" dirty="0"/>
          </a:p>
        </p:txBody>
      </p:sp>
      <p:sp>
        <p:nvSpPr>
          <p:cNvPr id="50" name="R4 ans"/>
          <p:cNvSpPr/>
          <p:nvPr/>
        </p:nvSpPr>
        <p:spPr>
          <a:xfrm>
            <a:off x="6291072" y="4406646"/>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yours</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5</a:t>
            </a:r>
            <a:endParaRPr lang="en-US" sz="3200" dirty="0" b="1"/>
          </a:p>
        </p:txBody>
      </p:sp>
      <p:sp>
        <p:nvSpPr>
          <p:cNvPr id="54" name="R5 text"/>
          <p:cNvSpPr/>
          <p:nvPr/>
        </p:nvSpPr>
        <p:spPr>
          <a:xfrm>
            <a:off x="1810512" y="5035906"/>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Those are their gloves. They're ____.</a:t>
            </a:r>
            <a:endParaRPr lang="en-US" sz="1800" dirty="0"/>
          </a:p>
        </p:txBody>
      </p:sp>
      <p:sp>
        <p:nvSpPr>
          <p:cNvPr id="55" name="R5 ans"/>
          <p:cNvSpPr/>
          <p:nvPr/>
        </p:nvSpPr>
        <p:spPr>
          <a:xfrm>
            <a:off x="6291072" y="5134813"/>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theirs</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solidFill>
                  <a:srgbClr val="1B2236"/>
                </a:solidFill>
                <a:latin typeface="Lexend Deca" pitchFamily="34" charset="0"/>
                <a:ea typeface="Lexend Deca" pitchFamily="34" charset="-122"/>
                <a:cs typeface="Lexend Deca" pitchFamily="34" charset="-120"/>
              </a:rPr>
              <a:t>6</a:t>
            </a:r>
            <a:endParaRPr lang="en-US" sz="3200" dirty="0" b="1"/>
          </a:p>
        </p:txBody>
      </p:sp>
      <p:sp>
        <p:nvSpPr>
          <p:cNvPr id="59" name="R6 text"/>
          <p:cNvSpPr/>
          <p:nvPr/>
        </p:nvSpPr>
        <p:spPr>
          <a:xfrm>
            <a:off x="1810512" y="5764073"/>
            <a:ext cx="440740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That's his wallet. It's ____.</a:t>
            </a:r>
            <a:endParaRPr lang="en-US" sz="1800" dirty="0"/>
          </a:p>
        </p:txBody>
      </p:sp>
      <p:sp>
        <p:nvSpPr>
          <p:cNvPr id="60" name="R6 ans"/>
          <p:cNvSpPr/>
          <p:nvPr/>
        </p:nvSpPr>
        <p:spPr>
          <a:xfrm>
            <a:off x="6291072" y="5862980"/>
            <a:ext cx="128016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his</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3: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Practice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right words.</a:t>
            </a:r>
            <a:endParaRPr lang="en-US" sz="2000" dirty="0"/>
          </a:p>
        </p:txBody>
      </p:sp>
      <p:sp>
        <p:nvSpPr>
          <p:cNvPr id="8" name="R1 stmt"/>
          <p:cNvSpPr/>
          <p:nvPr/>
        </p:nvSpPr>
        <p:spPr>
          <a:xfrm>
            <a:off x="502920" y="3108960"/>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1. ____ bag is this?</a:t>
            </a:r>
            <a:endParaRPr lang="en-US" sz="2000" dirty="0"/>
          </a:p>
        </p:txBody>
      </p:sp>
      <p:sp>
        <p:nvSpPr>
          <p:cNvPr id="9" name="R1 opt1"/>
          <p:cNvSpPr/>
          <p:nvPr/>
        </p:nvSpPr>
        <p:spPr>
          <a:xfrm>
            <a:off x="7269480" y="3108960"/>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Whose</a:t>
            </a:r>
            <a:endParaRPr lang="en-US" sz="1700" dirty="0" b="1"/>
          </a:p>
        </p:txBody>
      </p:sp>
      <p:sp>
        <p:nvSpPr>
          <p:cNvPr id="10" name="R1 opt2"/>
          <p:cNvSpPr/>
          <p:nvPr/>
        </p:nvSpPr>
        <p:spPr>
          <a:xfrm>
            <a:off x="9235440" y="3108960"/>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Who's</a:t>
            </a:r>
            <a:endParaRPr lang="en-US" sz="1700" dirty="0" b="1"/>
          </a:p>
        </p:txBody>
      </p:sp>
      <p:sp>
        <p:nvSpPr>
          <p:cNvPr id="11" name="R1 circle"/>
          <p:cNvSpPr/>
          <p:nvPr/>
        </p:nvSpPr>
        <p:spPr>
          <a:xfrm>
            <a:off x="7141464" y="3054096"/>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767328"/>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2. It's ____.</a:t>
            </a:r>
            <a:endParaRPr lang="en-US" sz="2000" dirty="0"/>
          </a:p>
        </p:txBody>
      </p:sp>
      <p:sp>
        <p:nvSpPr>
          <p:cNvPr id="13" name="R2 opt1"/>
          <p:cNvSpPr/>
          <p:nvPr/>
        </p:nvSpPr>
        <p:spPr>
          <a:xfrm>
            <a:off x="7269480" y="3767328"/>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my</a:t>
            </a:r>
            <a:endParaRPr lang="en-US" sz="1700" dirty="0" b="1"/>
          </a:p>
        </p:txBody>
      </p:sp>
      <p:sp>
        <p:nvSpPr>
          <p:cNvPr id="14" name="R2 opt2"/>
          <p:cNvSpPr/>
          <p:nvPr/>
        </p:nvSpPr>
        <p:spPr>
          <a:xfrm>
            <a:off x="9235440" y="3767328"/>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mine</a:t>
            </a:r>
            <a:endParaRPr lang="en-US" sz="1700" dirty="0" b="1"/>
          </a:p>
        </p:txBody>
      </p:sp>
      <p:sp>
        <p:nvSpPr>
          <p:cNvPr id="15" name="R2 circle"/>
          <p:cNvSpPr/>
          <p:nvPr/>
        </p:nvSpPr>
        <p:spPr>
          <a:xfrm>
            <a:off x="9107424" y="3712464"/>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425696"/>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3. Is this ____ umbrella?</a:t>
            </a:r>
            <a:endParaRPr lang="en-US" sz="2000" dirty="0"/>
          </a:p>
        </p:txBody>
      </p:sp>
      <p:sp>
        <p:nvSpPr>
          <p:cNvPr id="17" name="R3 opt1"/>
          <p:cNvSpPr/>
          <p:nvPr/>
        </p:nvSpPr>
        <p:spPr>
          <a:xfrm>
            <a:off x="7269480" y="4425696"/>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your</a:t>
            </a:r>
            <a:endParaRPr lang="en-US" sz="1700" dirty="0" b="1"/>
          </a:p>
        </p:txBody>
      </p:sp>
      <p:sp>
        <p:nvSpPr>
          <p:cNvPr id="18" name="R3 opt2"/>
          <p:cNvSpPr/>
          <p:nvPr/>
        </p:nvSpPr>
        <p:spPr>
          <a:xfrm>
            <a:off x="9235440" y="4425696"/>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yours</a:t>
            </a:r>
            <a:endParaRPr lang="en-US" sz="1700" dirty="0" b="1"/>
          </a:p>
        </p:txBody>
      </p:sp>
      <p:sp>
        <p:nvSpPr>
          <p:cNvPr id="19" name="R3 circle"/>
          <p:cNvSpPr/>
          <p:nvPr/>
        </p:nvSpPr>
        <p:spPr>
          <a:xfrm>
            <a:off x="7141464" y="4370832"/>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5084064"/>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4. Those sunglasses are ____.</a:t>
            </a:r>
            <a:endParaRPr lang="en-US" sz="2000" dirty="0"/>
          </a:p>
        </p:txBody>
      </p:sp>
      <p:sp>
        <p:nvSpPr>
          <p:cNvPr id="21" name="R4 opt1"/>
          <p:cNvSpPr/>
          <p:nvPr/>
        </p:nvSpPr>
        <p:spPr>
          <a:xfrm>
            <a:off x="7269480" y="5084064"/>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her</a:t>
            </a:r>
            <a:endParaRPr lang="en-US" sz="1700" dirty="0" b="1"/>
          </a:p>
        </p:txBody>
      </p:sp>
      <p:sp>
        <p:nvSpPr>
          <p:cNvPr id="22" name="R4 opt2"/>
          <p:cNvSpPr/>
          <p:nvPr/>
        </p:nvSpPr>
        <p:spPr>
          <a:xfrm>
            <a:off x="9235440" y="5084064"/>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hers</a:t>
            </a:r>
            <a:endParaRPr lang="en-US" sz="1700" dirty="0" b="1"/>
          </a:p>
        </p:txBody>
      </p:sp>
      <p:sp>
        <p:nvSpPr>
          <p:cNvPr id="23" name="R4 circle"/>
          <p:cNvSpPr/>
          <p:nvPr/>
        </p:nvSpPr>
        <p:spPr>
          <a:xfrm>
            <a:off x="9107424" y="5029200"/>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742432"/>
            <a:ext cx="6583680" cy="530352"/>
          </a:xfrm>
          <a:prstGeom prst="rect">
            <a:avLst/>
          </a:prstGeom>
          <a:no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5. It's a ____ wallet.</a:t>
            </a:r>
            <a:endParaRPr lang="en-US" sz="2000" dirty="0"/>
          </a:p>
        </p:txBody>
      </p:sp>
      <p:sp>
        <p:nvSpPr>
          <p:cNvPr id="25" name="R5 opt1"/>
          <p:cNvSpPr/>
          <p:nvPr/>
        </p:nvSpPr>
        <p:spPr>
          <a:xfrm>
            <a:off x="7269480" y="5742432"/>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black small</a:t>
            </a:r>
            <a:endParaRPr lang="en-US" sz="1700" dirty="0" b="1"/>
          </a:p>
        </p:txBody>
      </p:sp>
      <p:sp>
        <p:nvSpPr>
          <p:cNvPr id="26" name="R5 opt2"/>
          <p:cNvSpPr/>
          <p:nvPr/>
        </p:nvSpPr>
        <p:spPr>
          <a:xfrm>
            <a:off x="9235440" y="5742432"/>
            <a:ext cx="173736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700" dirty="0" b="1">
                <a:solidFill>
                  <a:srgbClr val="1B2236"/>
                </a:solidFill>
                <a:latin typeface="Lexend Deca" pitchFamily="34" charset="0"/>
                <a:ea typeface="Lexend Deca" pitchFamily="34" charset="-122"/>
                <a:cs typeface="Lexend Deca" pitchFamily="34" charset="-120"/>
              </a:rPr>
              <a:t>small black</a:t>
            </a:r>
            <a:endParaRPr lang="en-US" sz="1700" dirty="0" b="1"/>
          </a:p>
        </p:txBody>
      </p:sp>
      <p:sp>
        <p:nvSpPr>
          <p:cNvPr id="27" name="R5 circle"/>
          <p:cNvSpPr/>
          <p:nvPr/>
        </p:nvSpPr>
        <p:spPr>
          <a:xfrm>
            <a:off x="9107424" y="5687568"/>
            <a:ext cx="199339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name="L3: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Scarf: a scarf"/>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It's the mine.</a:t>
            </a:r>
            <a:endParaRPr lang="en-US" sz="1700" dirty="0"/>
          </a:p>
        </p:txBody>
      </p:sp>
      <p:sp>
        <p:nvSpPr>
          <p:cNvPr id="25" name="Good 1"/>
          <p:cNvSpPr/>
          <p:nvPr/>
        </p:nvSpPr>
        <p:spPr>
          <a:xfrm>
            <a:off x="4800600" y="2468880"/>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It's </a:t>
            </a:r>
            <a:r>
              <a:rPr lang="en-US" sz="1700" dirty="0" b="1">
                <a:solidFill>
                  <a:srgbClr val="1B2236"/>
                </a:solidFill>
                <a:latin typeface="Lexend Deca" pitchFamily="34" charset="0"/>
                <a:ea typeface="Lexend Deca" pitchFamily="34" charset="-122"/>
                <a:cs typeface="Lexend Deca" pitchFamily="34" charset="-120"/>
              </a:rPr>
              <a:t>mine</a:t>
            </a:r>
            <a:r>
              <a:rPr lang="en-US" sz="1700" dirty="0" b="0">
                <a:solidFill>
                  <a:srgbClr val="1B2236"/>
                </a:solidFill>
                <a:latin typeface="Lexend Deca" pitchFamily="34" charset="0"/>
                <a:ea typeface="Lexend Deca" pitchFamily="34" charset="-122"/>
                <a:cs typeface="Lexend Deca" pitchFamily="34" charset="-120"/>
              </a:rPr>
              <a:t>.</a:t>
            </a:r>
            <a:endParaRPr lang="en-US" sz="1700" dirty="0" b="0"/>
          </a:p>
        </p:txBody>
      </p:sp>
      <p:sp>
        <p:nvSpPr>
          <p:cNvPr id="26" name="Bad 2"/>
          <p:cNvSpPr/>
          <p:nvPr/>
        </p:nvSpPr>
        <p:spPr>
          <a:xfrm>
            <a:off x="914400" y="3035808"/>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Is this your?</a:t>
            </a:r>
            <a:endParaRPr lang="en-US" sz="1700" dirty="0"/>
          </a:p>
        </p:txBody>
      </p:sp>
      <p:sp>
        <p:nvSpPr>
          <p:cNvPr id="27" name="Good 2"/>
          <p:cNvSpPr/>
          <p:nvPr/>
        </p:nvSpPr>
        <p:spPr>
          <a:xfrm>
            <a:off x="4800600" y="3035808"/>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Is this </a:t>
            </a:r>
            <a:r>
              <a:rPr lang="en-US" sz="1700" dirty="0" b="1">
                <a:solidFill>
                  <a:srgbClr val="1B2236"/>
                </a:solidFill>
                <a:latin typeface="Lexend Deca" pitchFamily="34" charset="0"/>
                <a:ea typeface="Lexend Deca" pitchFamily="34" charset="-122"/>
                <a:cs typeface="Lexend Deca" pitchFamily="34" charset="-120"/>
              </a:rPr>
              <a:t>yours</a:t>
            </a:r>
            <a:r>
              <a:rPr lang="en-US" sz="1700" dirty="0" b="0">
                <a:solidFill>
                  <a:srgbClr val="1B2236"/>
                </a:solidFill>
                <a:latin typeface="Lexend Deca" pitchFamily="34" charset="0"/>
                <a:ea typeface="Lexend Deca" pitchFamily="34" charset="-122"/>
                <a:cs typeface="Lexend Deca" pitchFamily="34" charset="-120"/>
              </a:rPr>
              <a:t>?</a:t>
            </a:r>
            <a:endParaRPr lang="en-US" sz="1700" dirty="0" b="0"/>
          </a:p>
        </p:txBody>
      </p:sp>
      <p:sp>
        <p:nvSpPr>
          <p:cNvPr id="28" name="Bad 3"/>
          <p:cNvSpPr/>
          <p:nvPr/>
        </p:nvSpPr>
        <p:spPr>
          <a:xfrm>
            <a:off x="914400" y="3602736"/>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Who's bag is this?</a:t>
            </a:r>
            <a:endParaRPr lang="en-US" sz="1700" dirty="0"/>
          </a:p>
        </p:txBody>
      </p:sp>
      <p:sp>
        <p:nvSpPr>
          <p:cNvPr id="29" name="Good 3"/>
          <p:cNvSpPr/>
          <p:nvPr/>
        </p:nvSpPr>
        <p:spPr>
          <a:xfrm>
            <a:off x="4800600" y="3602736"/>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Whose</a:t>
            </a:r>
            <a:r>
              <a:rPr lang="en-US" sz="1700" dirty="0" b="0">
                <a:solidFill>
                  <a:srgbClr val="1B2236"/>
                </a:solidFill>
                <a:latin typeface="Lexend Deca" pitchFamily="34" charset="0"/>
                <a:ea typeface="Lexend Deca" pitchFamily="34" charset="-122"/>
                <a:cs typeface="Lexend Deca" pitchFamily="34" charset="-120"/>
              </a:rPr>
              <a:t> bag is this?</a:t>
            </a:r>
            <a:endParaRPr lang="en-US" sz="1700" dirty="0" b="0"/>
          </a:p>
        </p:txBody>
      </p:sp>
      <p:sp>
        <p:nvSpPr>
          <p:cNvPr id="30" name="Bad 4"/>
          <p:cNvSpPr/>
          <p:nvPr/>
        </p:nvSpPr>
        <p:spPr>
          <a:xfrm>
            <a:off x="914400" y="4169664"/>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It's a wallet black.</a:t>
            </a:r>
            <a:endParaRPr lang="en-US" sz="1700" dirty="0"/>
          </a:p>
        </p:txBody>
      </p:sp>
      <p:sp>
        <p:nvSpPr>
          <p:cNvPr id="31" name="Good 4"/>
          <p:cNvSpPr/>
          <p:nvPr/>
        </p:nvSpPr>
        <p:spPr>
          <a:xfrm>
            <a:off x="4800600" y="4169664"/>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0">
                <a:solidFill>
                  <a:srgbClr val="1B2236"/>
                </a:solidFill>
                <a:latin typeface="Lexend Deca" pitchFamily="34" charset="0"/>
                <a:ea typeface="Lexend Deca" pitchFamily="34" charset="-122"/>
                <a:cs typeface="Lexend Deca" pitchFamily="34" charset="-120"/>
              </a:rPr>
              <a:t>It's a </a:t>
            </a:r>
            <a:r>
              <a:rPr lang="en-US" sz="1700" dirty="0" b="1">
                <a:solidFill>
                  <a:srgbClr val="1B2236"/>
                </a:solidFill>
                <a:latin typeface="Lexend Deca" pitchFamily="34" charset="0"/>
                <a:ea typeface="Lexend Deca" pitchFamily="34" charset="-122"/>
                <a:cs typeface="Lexend Deca" pitchFamily="34" charset="-120"/>
              </a:rPr>
              <a:t>black wallet</a:t>
            </a:r>
            <a:r>
              <a:rPr lang="en-US" sz="1700" dirty="0" b="0">
                <a:solidFill>
                  <a:srgbClr val="1B2236"/>
                </a:solidFill>
                <a:latin typeface="Lexend Deca" pitchFamily="34" charset="0"/>
                <a:ea typeface="Lexend Deca" pitchFamily="34" charset="-122"/>
                <a:cs typeface="Lexend Deca" pitchFamily="34" charset="-120"/>
              </a:rPr>
              <a:t>.</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name="L3:drill">
    <p:bg>
      <p:bgPr>
        <a:solidFill>
          <a:srgbClr val="F1F5FB"/>
        </a:solidFill>
      </p:bgPr>
    </p:bg>
    <p:spTree>
      <p:nvGrpSpPr>
        <p:cNvPr id="1" name=""/>
        <p:cNvGrpSpPr/>
        <p:nvPr/>
      </p:nvGrpSpPr>
      <p:grpSpPr/>
      <p:pic>
        <p:nvPicPr>
          <p:cNvPr id="26" name="pic" descr="Gloves: gloves"/>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Drill</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points and asks.</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answers.</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r>
              <a:rPr lang="en-US" sz="2000" dirty="0" b="0">
                <a:solidFill>
                  <a:srgbClr val="1B2236"/>
                </a:solidFill>
                <a:latin typeface="Lexend Deca" pitchFamily="34" charset="0"/>
                <a:ea typeface="Lexend Deca" pitchFamily="34" charset="-122"/>
                <a:cs typeface="Lexend Deca" pitchFamily="34" charset="-120"/>
              </a:rPr>
              <a:t> Whose ____ is this?</a:t>
            </a:r>
            <a:endParaRPr lang="en-US" sz="20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r>
              <a:rPr lang="en-US" sz="2000" dirty="0" b="0">
                <a:solidFill>
                  <a:srgbClr val="1B2236"/>
                </a:solidFill>
                <a:latin typeface="Lexend Deca" pitchFamily="34" charset="0"/>
                <a:ea typeface="Lexend Deca" pitchFamily="34" charset="-122"/>
                <a:cs typeface="Lexend Deca" pitchFamily="34" charset="-120"/>
              </a:rPr>
              <a:t> It's mine. / It's hers. / It's Ana's.</a:t>
            </a:r>
            <a:endParaRPr lang="en-US" sz="2000" dirty="0" b="0"/>
          </a:p>
          <a:p>
            <a:pPr algn="l" indent="0" marL="0">
              <a:buNone/>
            </a:pPr>
            <a:r>
              <a:rPr lang="en-US" sz="2000" dirty="0" b="1">
                <a:solidFill>
                  <a:srgbClr val="1B2236"/>
                </a:solidFill>
                <a:latin typeface="Lexend Deca" pitchFamily="34" charset="0"/>
                <a:ea typeface="Lexend Deca" pitchFamily="34" charset="-122"/>
                <a:cs typeface="Lexend Deca" pitchFamily="34" charset="-120"/>
              </a:rPr>
              <a:t>Then switch roles.</a:t>
            </a:r>
            <a:endParaRPr lang="en-US" sz="20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 points to a picture. B answers. Then switch.</a:t>
            </a:r>
            <a:endParaRPr lang="en-US" sz="200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name="L3: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The Lost and Found box: 12 items: 12 numbered items: backpacks, umbrellas, keys, sunglasses, glasses, wallets, scarves"/>
          <p:cNvPicPr>
            <a:picLocks noChangeAspect="1"/>
          </p:cNvPicPr>
          <p:nvPr/>
        </p:nvPicPr>
        <p:blipFill>
          <a:blip r:embed="rId3"/>
          <a:stretch>
            <a:fillRect/>
          </a:stretch>
        </p:blipFill>
        <p:spPr>
          <a:xfrm>
            <a:off x="855574" y="3418942"/>
            <a:ext cx="3623462"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The Lost and Found Box</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Round 1: pairs.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A = clerk. B = owner.</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7:00–7:12</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 fills in the form on an Owner Card.</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small, red, backpack…</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B describes the item.</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 lost my backpack. It's big and blue.</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points: Is this yours?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Yes, it's mine! / No, it isn't mine. Mine is…</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name="L3: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The Lost and Found box: 12 items: 12 numbered items: backpacks, umbrellas, keys, sunglasses, glasses, wallets, scarves"/>
          <p:cNvPicPr>
            <a:picLocks noChangeAspect="1"/>
          </p:cNvPicPr>
          <p:nvPr/>
        </p:nvPicPr>
        <p:blipFill>
          <a:blip r:embed="rId3"/>
          <a:stretch>
            <a:fillRect/>
          </a:stretch>
        </p:blipFill>
        <p:spPr>
          <a:xfrm>
            <a:off x="855574" y="3418942"/>
            <a:ext cx="3623462"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Whose Is It?</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Round 2: groups of 3–4.</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Keep your last card.</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7:00–7:12</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Look at the picture together.</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Keep your last Owner Card.</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Say whose each item is.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Number 3 is Maria's. It's hers.</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 card for it?</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It isn't ours. Maybe it's theirs.</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name="L3: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7:12–7:17</a:t>
            </a:r>
            <a:endParaRPr lang="en-US" sz="4000" dirty="0"/>
          </a:p>
        </p:txBody>
      </p:sp>
      <p:pic>
        <p:nvPicPr>
          <p:cNvPr id="16" name="pic" descr="Purse: a handbag"/>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Write two sentences:</a:t>
            </a:r>
            <a:endParaRPr lang="en-US" sz="1700" dirty="0" b="1"/>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1. One with mine, yours, hers…</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2. One with when and because or so:</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I was waiting for the bus when I lost my keys, so I called the lost and found.</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Give it to me at the door.</a:t>
            </a:r>
            <a:endParaRPr lang="en-US" sz="17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About 15 minutes.</a:t>
            </a:r>
            <a:endParaRPr lang="en-US" sz="1700" dirty="0" b="1"/>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1. Write it again with mine, yours….</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2. Describe 2 things.</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3. At home, find 3 things. Whose are they?</a:t>
            </a:r>
            <a:endParaRPr lang="en-US" sz="1700" dirty="0" b="0"/>
          </a:p>
          <a:p>
            <a:pPr algn="l" indent="0" marL="0">
              <a:spcAft>
                <a:spcPts val="200"/>
              </a:spcAft>
              <a:buNone/>
            </a:pPr>
            <a:r>
              <a:rPr lang="en-US" sz="1700" dirty="0" b="0">
                <a:solidFill>
                  <a:srgbClr val="1B2236"/>
                </a:solidFill>
                <a:latin typeface="Lexend Deca" pitchFamily="34" charset="0"/>
                <a:ea typeface="Lexend Deca" pitchFamily="34" charset="-122"/>
                <a:cs typeface="Lexend Deca" pitchFamily="34" charset="-120"/>
              </a:rPr>
              <a:t>4. Review: 2 sentences with I'd like to….</a:t>
            </a:r>
            <a:endParaRPr lang="en-US" sz="1700" dirty="0" b="0"/>
          </a:p>
          <a:p>
            <a:pPr algn="l" indent="0" marL="0">
              <a:spcAft>
                <a:spcPts val="200"/>
              </a:spcAft>
              <a:buNone/>
            </a:pPr>
            <a:r>
              <a:rPr lang="en-US" sz="1700" dirty="0" b="1">
                <a:solidFill>
                  <a:srgbClr val="1B2236"/>
                </a:solidFill>
                <a:latin typeface="Lexend Deca" pitchFamily="34" charset="0"/>
                <a:ea typeface="Lexend Deca" pitchFamily="34" charset="-122"/>
                <a:cs typeface="Lexend Deca" pitchFamily="34" charset="-120"/>
              </a:rPr>
              <a:t>Bring it next week!</a:t>
            </a:r>
            <a:endParaRPr lang="en-US" sz="1700" dirty="0" b="1"/>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name="L3:progres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8126273" y="1165860"/>
            <a:ext cx="4132174" cy="5120640"/>
          </a:xfrm>
          <a:prstGeom prst="rect">
            <a:avLst/>
          </a:prstGeom>
          <a:solidFill>
            <a:srgbClr val="B9D2F7"/>
          </a:solidFill>
          <a:ln/>
        </p:spPr>
        <p:txBody>
          <a:bodyPr/>
          <a:p/>
        </p:txBody>
      </p:sp>
      <p:sp>
        <p:nvSpPr>
          <p:cNvPr id="62" name="ican"/>
          <p:cNvSpPr/>
          <p:nvPr/>
        </p:nvSpPr>
        <p:spPr>
          <a:xfrm>
            <a:off x="8503920" y="1280160"/>
            <a:ext cx="3429000" cy="4937760"/>
          </a:xfrm>
          <a:prstGeom prst="rect">
            <a:avLst/>
          </a:prstGeom>
          <a:noFill/>
          <a:ln w="38100">
            <a:noFill/>
          </a:ln>
        </p:spPr>
        <p:txBody>
          <a:bodyPr wrap="square" lIns="73152" tIns="36576" rIns="73152" bIns="36576" rtlCol="0" anchor="ctr">
            <a:noAutofit/>
          </a:bodyPr>
          <a:lstStyle/>
          <a:p>
            <a:pPr algn="ctr" indent="0" marL="0">
              <a:buNone/>
            </a:pPr>
            <a:r>
              <a:rPr lang="en-US" sz="2400" dirty="0" b="1">
                <a:solidFill>
                  <a:srgbClr val="1B2236"/>
                </a:solidFill>
                <a:latin typeface="Lexend Deca" pitchFamily="34" charset="0"/>
                <a:ea typeface="Lexend Deca" pitchFamily="34" charset="-122"/>
                <a:cs typeface="Lexend Deca" pitchFamily="34" charset="-120"/>
              </a:rPr>
              <a:t>D. I can…</a:t>
            </a:r>
            <a:endParaRPr lang="en-US" sz="2400" dirty="0" b="1"/>
          </a:p>
          <a:p>
            <a:pPr algn="ctr" indent="0" marL="0">
              <a:buNone/>
            </a:pPr>
            <a:r>
              <a:rPr lang="en-US" sz="3200" dirty="0" b="0">
                <a:solidFill>
                  <a:srgbClr val="1B2236"/>
                </a:solidFill>
                <a:latin typeface="Lexend Deca" pitchFamily="34" charset="0"/>
                <a:ea typeface="Lexend Deca" pitchFamily="34" charset="-122"/>
                <a:cs typeface="Lexend Deca" pitchFamily="34" charset="-120"/>
              </a:rPr>
              <a:t>😀   🙂   😐</a:t>
            </a:r>
            <a:endParaRPr lang="en-US" sz="3200" dirty="0" b="0"/>
          </a:p>
          <a:p>
            <a:pPr algn="ctr" indent="0" marL="0">
              <a:buNone/>
            </a:pPr>
            <a:r>
              <a:rPr lang="en-US" sz="1800" dirty="0" b="0">
                <a:solidFill>
                  <a:srgbClr val="1B2236"/>
                </a:solidFill>
                <a:latin typeface="Lexend Deca" pitchFamily="34" charset="0"/>
                <a:ea typeface="Lexend Deca" pitchFamily="34" charset="-122"/>
                <a:cs typeface="Lexend Deca" pitchFamily="34" charset="-120"/>
              </a:rPr>
              <a:t>Check one face.</a:t>
            </a:r>
            <a:endParaRPr lang="en-US" sz="18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ask Whose… is this?</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say It's mine / It's hers.</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describe a lost item.</a:t>
            </a:r>
            <a:endParaRPr lang="en-US" sz="1600" dirty="0" b="0"/>
          </a:p>
          <a:p>
            <a:pPr algn="ctr" indent="0" marL="0">
              <a:spcBef>
                <a:spcPts val="900"/>
              </a:spcBef>
              <a:buNone/>
            </a:pPr>
            <a:r>
              <a:rPr lang="en-US" sz="1600" dirty="0" b="0">
                <a:solidFill>
                  <a:srgbClr val="1B2236"/>
                </a:solidFill>
                <a:latin typeface="Lexend Deca" pitchFamily="34" charset="0"/>
                <a:ea typeface="Lexend Deca" pitchFamily="34" charset="-122"/>
                <a:cs typeface="Lexend Deca" pitchFamily="34" charset="-120"/>
              </a:rPr>
              <a:t>I can fill out a lost-item report.</a:t>
            </a:r>
            <a:endParaRPr lang="en-US" sz="1600" dirty="0" b="0"/>
          </a:p>
        </p:txBody>
      </p:sp>
      <p:sp>
        <p:nvSpPr>
          <p:cNvPr id="5" name="Shape 3"/>
          <p:cNvSpPr/>
          <p:nvPr/>
        </p:nvSpPr>
        <p:spPr>
          <a:xfrm flipH="1">
            <a:off x="501091" y="3255264"/>
            <a:ext cx="5577840" cy="3258921"/>
          </a:xfrm>
          <a:prstGeom prst="round1Rect">
            <a:avLst>
              <a:gd name="adj" fmla="val 23087"/>
            </a:avLst>
          </a:prstGeom>
          <a:solidFill>
            <a:srgbClr val="8FAFE3"/>
          </a:solidFill>
          <a:ln/>
        </p:spPr>
        <p:txBody>
          <a:bodyPr/>
          <a:p/>
        </p:txBody>
      </p:sp>
      <p:sp>
        <p:nvSpPr>
          <p:cNvPr id="6" name="Shape 4"/>
          <p:cNvSpPr/>
          <p:nvPr/>
        </p:nvSpPr>
        <p:spPr>
          <a:xfrm flipH="1">
            <a:off x="6400800" y="3263494"/>
            <a:ext cx="1828800" cy="3258921"/>
          </a:xfrm>
          <a:prstGeom prst="round1Rect">
            <a:avLst>
              <a:gd name="adj" fmla="val 23087"/>
            </a:avLst>
          </a:prstGeom>
          <a:solidFill>
            <a:srgbClr val="8FAFE3"/>
          </a:solidFill>
          <a:ln/>
        </p:spPr>
        <p:txBody>
          <a:bodyPr/>
          <a:p/>
        </p:txBody>
      </p:sp>
      <p:sp>
        <p:nvSpPr>
          <p:cNvPr id="7" name="Shape 5"/>
          <p:cNvSpPr/>
          <p:nvPr/>
        </p:nvSpPr>
        <p:spPr>
          <a:xfrm>
            <a:off x="479328" y="885322"/>
            <a:ext cx="7295083" cy="1566367"/>
          </a:xfrm>
          <a:prstGeom prst="roundRect">
            <a:avLst>
              <a:gd name="adj" fmla="val 16667"/>
            </a:avLst>
          </a:prstGeom>
          <a:solidFill>
            <a:srgbClr val="8FAFE3"/>
          </a:solidFill>
          <a:ln/>
        </p:spPr>
        <p:txBody>
          <a:bodyPr/>
          <a:p/>
        </p:txBody>
      </p:sp>
      <p:sp>
        <p:nvSpPr>
          <p:cNvPr id="8" name="Shape 6"/>
          <p:cNvSpPr/>
          <p:nvPr/>
        </p:nvSpPr>
        <p:spPr>
          <a:xfrm>
            <a:off x="522122" y="821131"/>
            <a:ext cx="7295083" cy="1566367"/>
          </a:xfrm>
          <a:prstGeom prst="roundRect">
            <a:avLst>
              <a:gd name="adj" fmla="val 16667"/>
            </a:avLst>
          </a:prstGeom>
          <a:solidFill>
            <a:srgbClr val="FFFFFF"/>
          </a:solidFill>
          <a:ln/>
        </p:spPr>
        <p:txBody>
          <a:bodyPr/>
          <a:p/>
        </p:txBody>
      </p:sp>
      <p:sp>
        <p:nvSpPr>
          <p:cNvPr id="9" name="Shape 7"/>
          <p:cNvSpPr/>
          <p:nvPr/>
        </p:nvSpPr>
        <p:spPr>
          <a:xfrm flipH="1">
            <a:off x="658368" y="3063240"/>
            <a:ext cx="5669280" cy="3258921"/>
          </a:xfrm>
          <a:prstGeom prst="round1Rect">
            <a:avLst>
              <a:gd name="adj" fmla="val 23087"/>
            </a:avLst>
          </a:prstGeom>
          <a:solidFill>
            <a:srgbClr val="FFFFFF"/>
          </a:solidFill>
          <a:ln/>
        </p:spPr>
        <p:txBody>
          <a:bodyPr/>
          <a:p/>
        </p:txBody>
      </p:sp>
      <p:sp>
        <p:nvSpPr>
          <p:cNvPr id="10" name="Shape 8"/>
          <p:cNvSpPr/>
          <p:nvPr/>
        </p:nvSpPr>
        <p:spPr>
          <a:xfrm flipH="1">
            <a:off x="6537960" y="3063240"/>
            <a:ext cx="1828800" cy="3258921"/>
          </a:xfrm>
          <a:prstGeom prst="round1Rect">
            <a:avLst>
              <a:gd name="adj" fmla="val 23087"/>
            </a:avLst>
          </a:prstGeom>
          <a:solidFill>
            <a:srgbClr val="FFFFFF"/>
          </a:solidFill>
          <a:ln/>
        </p:spPr>
        <p:txBody>
          <a:bodyPr/>
          <a:p/>
        </p:txBody>
      </p:sp>
      <p:sp>
        <p:nvSpPr>
          <p:cNvPr id="11" name="title"/>
          <p:cNvSpPr/>
          <p:nvPr/>
        </p:nvSpPr>
        <p:spPr>
          <a:xfrm>
            <a:off x="608076" y="118872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Progress Check   </a:t>
            </a:r>
            <a:r>
              <a:rPr lang="en-US" sz="2400" dirty="0" b="1">
                <a:solidFill>
                  <a:srgbClr val="5B3FC4"/>
                </a:solidFill>
                <a:latin typeface="Lexend Deca" pitchFamily="34" charset="0"/>
                <a:ea typeface="Lexend Deca" pitchFamily="34" charset="-122"/>
                <a:cs typeface="Lexend Deca" pitchFamily="34" charset="-120"/>
              </a:rPr>
              <a:t>7:25</a:t>
            </a:r>
            <a:endParaRPr lang="en-US" sz="4300" dirty="0"/>
          </a:p>
        </p:txBody>
      </p:sp>
      <p:sp>
        <p:nvSpPr>
          <p:cNvPr id="22" name="A head"/>
          <p:cNvSpPr/>
          <p:nvPr/>
        </p:nvSpPr>
        <p:spPr>
          <a:xfrm>
            <a:off x="914400" y="3246120"/>
            <a:ext cx="5303520" cy="502920"/>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A. Listen to the teacher. Circle a or b.</a:t>
            </a:r>
            <a:endParaRPr lang="en-US" sz="1800" dirty="0" b="1"/>
          </a:p>
        </p:txBody>
      </p:sp>
      <p:sp>
        <p:nvSpPr>
          <p:cNvPr id="23" name="Ans head"/>
          <p:cNvSpPr/>
          <p:nvPr/>
        </p:nvSpPr>
        <p:spPr>
          <a:xfrm>
            <a:off x="6766560" y="3246120"/>
            <a:ext cx="1554480" cy="502920"/>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1E6B45"/>
                </a:solidFill>
                <a:latin typeface="Lexend Deca" pitchFamily="34" charset="0"/>
                <a:ea typeface="Lexend Deca" pitchFamily="34" charset="-122"/>
                <a:cs typeface="Lexend Deca" pitchFamily="34" charset="-120"/>
              </a:rPr>
              <a:t>Answer</a:t>
            </a:r>
            <a:endParaRPr lang="en-US" sz="2000" dirty="0" b="1"/>
          </a:p>
        </p:txBody>
      </p:sp>
      <p:sp>
        <p:nvSpPr>
          <p:cNvPr id="63" name="Bad 1"/>
          <p:cNvSpPr/>
          <p:nvPr/>
        </p:nvSpPr>
        <p:spPr>
          <a:xfrm>
            <a:off x="868680" y="3840480"/>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1. </a:t>
            </a:r>
            <a:r>
              <a:rPr lang="en-US" sz="1500" dirty="0" b="0">
                <a:solidFill>
                  <a:srgbClr val="1B2236"/>
                </a:solidFill>
                <a:latin typeface="Lexend Deca" pitchFamily="34" charset="0"/>
                <a:ea typeface="Lexend Deca" pitchFamily="34" charset="-122"/>
                <a:cs typeface="Lexend Deca" pitchFamily="34" charset="-120"/>
              </a:rPr>
              <a:t>a. They're the speaker's keys.   b. They're someone else's keys.</a:t>
            </a:r>
            <a:endParaRPr lang="en-US" sz="1500" dirty="0" b="1"/>
          </a:p>
        </p:txBody>
      </p:sp>
      <p:sp>
        <p:nvSpPr>
          <p:cNvPr id="64" name="Good 1"/>
          <p:cNvSpPr/>
          <p:nvPr/>
        </p:nvSpPr>
        <p:spPr>
          <a:xfrm>
            <a:off x="6766560" y="3840480"/>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endParaRPr lang="en-US" sz="2000" dirty="0" b="1"/>
          </a:p>
        </p:txBody>
      </p:sp>
      <p:sp>
        <p:nvSpPr>
          <p:cNvPr id="65" name="Bad 2"/>
          <p:cNvSpPr/>
          <p:nvPr/>
        </p:nvSpPr>
        <p:spPr>
          <a:xfrm>
            <a:off x="868680" y="4407408"/>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2. </a:t>
            </a:r>
            <a:r>
              <a:rPr lang="en-US" sz="1500" dirty="0" b="0">
                <a:solidFill>
                  <a:srgbClr val="1B2236"/>
                </a:solidFill>
                <a:latin typeface="Lexend Deca" pitchFamily="34" charset="0"/>
                <a:ea typeface="Lexend Deca" pitchFamily="34" charset="-122"/>
                <a:cs typeface="Lexend Deca" pitchFamily="34" charset="-120"/>
              </a:rPr>
              <a:t>a. It's his umbrella.   b. It's her umbrella.</a:t>
            </a:r>
            <a:endParaRPr lang="en-US" sz="1500" dirty="0" b="1"/>
          </a:p>
        </p:txBody>
      </p:sp>
      <p:sp>
        <p:nvSpPr>
          <p:cNvPr id="66" name="Good 2"/>
          <p:cNvSpPr/>
          <p:nvPr/>
        </p:nvSpPr>
        <p:spPr>
          <a:xfrm>
            <a:off x="6766560" y="4407408"/>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endParaRPr lang="en-US" sz="2000" dirty="0" b="1"/>
          </a:p>
        </p:txBody>
      </p:sp>
      <p:sp>
        <p:nvSpPr>
          <p:cNvPr id="67" name="Bad 3"/>
          <p:cNvSpPr/>
          <p:nvPr/>
        </p:nvSpPr>
        <p:spPr>
          <a:xfrm>
            <a:off x="868680" y="4974336"/>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3. </a:t>
            </a:r>
            <a:r>
              <a:rPr lang="en-US" sz="1500" dirty="0" b="0">
                <a:solidFill>
                  <a:srgbClr val="1B2236"/>
                </a:solidFill>
                <a:latin typeface="Lexend Deca" pitchFamily="34" charset="0"/>
                <a:ea typeface="Lexend Deca" pitchFamily="34" charset="-122"/>
                <a:cs typeface="Lexend Deca" pitchFamily="34" charset="-120"/>
              </a:rPr>
              <a:t>a. a small black wallet   b. a big brown wallet</a:t>
            </a:r>
            <a:endParaRPr lang="en-US" sz="1500" dirty="0" b="1"/>
          </a:p>
        </p:txBody>
      </p:sp>
      <p:sp>
        <p:nvSpPr>
          <p:cNvPr id="68" name="Good 3"/>
          <p:cNvSpPr/>
          <p:nvPr/>
        </p:nvSpPr>
        <p:spPr>
          <a:xfrm>
            <a:off x="6766560" y="4974336"/>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a:t>
            </a:r>
            <a:endParaRPr lang="en-US" sz="2000" dirty="0" b="1"/>
          </a:p>
        </p:txBody>
      </p:sp>
      <p:sp>
        <p:nvSpPr>
          <p:cNvPr id="69" name="Bad 4"/>
          <p:cNvSpPr/>
          <p:nvPr/>
        </p:nvSpPr>
        <p:spPr>
          <a:xfrm>
            <a:off x="868680" y="5541264"/>
            <a:ext cx="5440680" cy="530352"/>
          </a:xfrm>
          <a:prstGeom prst="rect">
            <a:avLst/>
          </a:prstGeom>
          <a:noFill/>
          <a:ln w="38100">
            <a:noFill/>
          </a:ln>
        </p:spPr>
        <p:txBody>
          <a:bodyPr wrap="square" lIns="73152" tIns="36576" rIns="73152" bIns="36576" rtlCol="0" anchor="ctr">
            <a:noAutofit/>
          </a:bodyPr>
          <a:lstStyle/>
          <a:p>
            <a:pPr algn="l" indent="0" marL="0">
              <a:buNone/>
            </a:pPr>
            <a:r>
              <a:rPr lang="en-US" sz="1500" dirty="0" b="1">
                <a:solidFill>
                  <a:srgbClr val="1B2236"/>
                </a:solidFill>
                <a:latin typeface="Lexend Deca" pitchFamily="34" charset="0"/>
                <a:ea typeface="Lexend Deca" pitchFamily="34" charset="-122"/>
                <a:cs typeface="Lexend Deca" pitchFamily="34" charset="-120"/>
              </a:rPr>
              <a:t>4. </a:t>
            </a:r>
            <a:r>
              <a:rPr lang="en-US" sz="1500" dirty="0" b="0">
                <a:solidFill>
                  <a:srgbClr val="1B2236"/>
                </a:solidFill>
                <a:latin typeface="Lexend Deca" pitchFamily="34" charset="0"/>
                <a:ea typeface="Lexend Deca" pitchFamily="34" charset="-122"/>
                <a:cs typeface="Lexend Deca" pitchFamily="34" charset="-120"/>
              </a:rPr>
              <a:t>a. The gloves are ours.   b. The gloves are theirs.</a:t>
            </a:r>
            <a:endParaRPr lang="en-US" sz="1500" dirty="0" b="1"/>
          </a:p>
        </p:txBody>
      </p:sp>
      <p:sp>
        <p:nvSpPr>
          <p:cNvPr id="70" name="Good 4"/>
          <p:cNvSpPr/>
          <p:nvPr/>
        </p:nvSpPr>
        <p:spPr>
          <a:xfrm>
            <a:off x="6766560" y="5541264"/>
            <a:ext cx="1463040" cy="530352"/>
          </a:xfrm>
          <a:prstGeom prst="rect">
            <a:avLst/>
          </a:prstGeom>
          <a:noFill/>
          <a:ln w="38100">
            <a:noFill/>
          </a:ln>
        </p:spPr>
        <p:txBody>
          <a:bodyPr wrap="square" lIns="73152" tIns="36576" rIns="73152" bIns="36576" rtlCol="0" anchor="ctr">
            <a:noAutofit/>
          </a:bodyP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b</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400"/>
                                        <p:tgtEl>
                                          <p:spTgt spid="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fade">
                                      <p:cBhvr>
                                        <p:cTn id="12" dur="4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fade">
                                      <p:cBhvr>
                                        <p:cTn id="17" dur="400"/>
                                        <p:tgtEl>
                                          <p:spTgt spid="6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fade">
                                      <p:cBhvr>
                                        <p:cTn id="22"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name="L3: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Keys: two keys">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8  ·  Level 3</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Whose… is this?</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It's mine / It's hers</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Describe a lost item</a:t>
            </a:r>
            <a:endParaRPr lang="en-US" sz="2200" dirty="0"/>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name="L3: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speech bubbles, signs, and labels were added.</a:t>
            </a:r>
            <a:endParaRPr lang="en-US" sz="1600" dirty="0" b="0"/>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The faces on the Progress Check are standard emoji characters shown with the computer's emoji font.</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David, Joan, and City Bus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(coming soon): synthetic voices made with Chatterbox TTS (MIT License), cloned from short synthetic reference clips made with Kokoro-82M (Apache License 2.0). No recordings of real people. Each file will carry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3 Lesson 8: Lost and Found</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