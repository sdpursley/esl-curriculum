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37" r:id="rId32"/>
    <p:sldId id="338" r:id="rId21"/>
    <p:sldId id="339" r:id="rId19"/>
    <p:sldId id="340" r:id="rId15"/>
    <p:sldId id="341" r:id="rId9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50" r:id="rId45"/>
    <p:sldId id="351" r:id="rId46"/>
    <p:sldId id="352" r:id="rId47"/>
    <p:sldId id="353" r:id="rId48"/>
    <p:sldId id="354" r:id="rId49"/>
    <p:sldId id="355" r:id="rId50"/>
    <p:sldId id="356" r:id="rId51"/>
    <p:sldId id="357" r:id="rId52"/>
    <p:sldId id="358" r:id="rId53"/>
    <p:sldId id="359" r:id="rId54"/>
    <p:sldId id="360" r:id="rId55"/>
    <p:sldId id="361" r:id="rId56"/>
    <p:sldId id="362" r:id="rId4"/>
    <p:sldId id="363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51.xml"/><Relationship Id="rId9" Type="http://schemas.openxmlformats.org/officeDocument/2006/relationships/slide" Target="slides/slide30.xml"/><Relationship Id="rId15" Type="http://schemas.openxmlformats.org/officeDocument/2006/relationships/slide" Target="slides/slide29.xml"/><Relationship Id="rId19" Type="http://schemas.openxmlformats.org/officeDocument/2006/relationships/slide" Target="slides/slide28.xml"/><Relationship Id="rId21" Type="http://schemas.openxmlformats.org/officeDocument/2006/relationships/slide" Target="slides/slide27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"What were you doing at 8:00 this morning?" and wait for a short answer.</a:t>
            </a:r>
          </a:p>
          <a:p>
            <a:r>
              <a:t>Remind learners: homework is about 15 minutes. Bring it next week.</a:t>
            </a:r>
          </a:p>
          <a:p>
            <a:r>
              <a:t>Lesson plan: At a glance: Objectives; Step 6.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hit and dent with two toy cars or two books: move one into the other ("hit"), then point to a small spot ("a dent, a small problem").</a:t>
            </a:r>
          </a:p>
          <a:p>
            <a:r>
              <a:t>Keep it light: say "a small accident. No one is hurt. Only a dent." Use only the pictures; don't ask about learners' own accidents.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3 Homework item 1 (3 sentences about their childhood or a place they used to live) to each other. The partner asks one question about it. Walk around. Write 2 common errors on the board (often I use to live… or Did you used to…?) and correct them together.</a:t>
            </a:r>
          </a:p>
          <a:p>
            <a:r>
              <a:t>Lesson plan: Step 1; Opening Talk page: cards, follow-ups,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Did you use to…? What did you use to do?</a:t>
            </a:r>
          </a:p>
          <a:p>
            <a:r>
              <a:t>Model with one learner: "Did you use to walk to school?" → (answer) → "Really? How far was it?"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was / were + -ing (At 8:00 I was driving to work.). Goal 2: Were you…? → Yes, I was. / No, I wasn't. and Was anyone hurt? Goal 3: when and while (I was waiting at the light when a car hit my car.).</a:t>
            </a:r>
          </a:p>
          <a:p>
            <a:r>
              <a:t>Goal 4: answer an insurance agent's questions about a small car accident. Goal 5: describe what people were doing in a picture (a witness). Goal 6: read a short accident story and fill out a simple accident report.</a:t>
            </a:r>
          </a:p>
          <a:p>
            <a:r>
              <a:t>"We check at 7:25" = the Progress Check. It is not a test grade.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"It happened so fast." Say: "Tonight we talk about a small car accident. No one is hurt. Only a dent."</a:t>
            </a:r>
          </a:p>
          <a:p>
            <a:r>
              <a:t>Read the three lines under "Today you will". Give one quick example of each: "At 8:00 I was driving to work." • "I was waiting at the light when a car hit my car." • "Was anyone hurt? No, everyone was OK."</a:t>
            </a:r>
          </a:p>
          <a:p>
            <a:r>
              <a:t>Keep it simple and non-graphic: this lesson is about dents, not injuries. Never ask about real accidents, injuries, or experiences with the police. Use the pictures and the invented stories. If a learner starts a personal story, thank them and go back to the picture. Say once, clearly: "In a real emergency, call 911."</a:t>
            </a:r>
          </a:p>
          <a:p>
            <a:r>
              <a:t>Lesson plan: Topic; At a glance: Objectives; Teacher notes: Keep it simple and non-graphic.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wet floor (no ★) is for the workplace option in the teacher notes.</a:t>
            </a:r>
          </a:p>
          <a:p>
            <a:r>
              <a:t>Partner game (2 min): A says a word. B points to the picture and makes a sentence (A: witness. B: The witness saw the accident. / The driver stopped at the stop sign.). Switch.</a:t>
            </a:r>
          </a:p>
          <a:p>
            <a:r>
              <a:t>If behind: teach the ★ words only.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"Who saw the accident?" (a witness) • 2. "Who writes the report?" (a police officer) • 3. "Red light: stop or go?" (stop)</a:t>
            </a:r>
          </a:p>
          <a:p>
            <a:r>
              <a:t>One more question for the class: "Where do two streets meet?" (an intersection)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Point to the accident picture and say: "This is Elena's car. She had a small accident. No one was hurt. Now she's calling her insurance company. Where did it happen? Listen."</a:t>
            </a:r>
          </a:p>
          <a:p>
            <a:r>
              <a:t>There are three voices: a Narrator, Mark (Safe Road Insurance), and Elena. Each click highlights the next voice.</a:t>
            </a:r>
          </a:p>
          <a:p>
            <a:r>
              <a:t>The audio (L3_L4_listening.mp3, about 1:18)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(where? was anyone hurt?). Pairs compare. Check together.</a:t>
            </a:r>
          </a:p>
          <a:p>
            <a:r>
              <a:t>Click to show each answer (one click per item): 1 b (at the intersection of Oak Street and Second Avenue) • 2 No (everyone was OK).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show each number (one click per line, top to bottom): 4, 1, 3, 2, 5.</a:t>
            </a:r>
          </a:p>
          <a:p>
            <a:r>
              <a:t>The order: 1 Elena was driving to work. • 2 She stopped at the red light. • 3 The other car hit her car. • 4 A police officer wrote a report. • 5 Elena called her insurance company.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Was, 2 were, 3 was, 4 was, 5 wasn't, 6 were.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"In a sentence, was and were are short and quiet: I was driving (wuz). In a short answer, they're strong: Yes, I WAS."</a:t>
            </a:r>
          </a:p>
          <a:p>
            <a:r>
              <a:t>Read the lines in the "Say it" box. The class repeats each line twice.</a:t>
            </a:r>
          </a:p>
          <a:p>
            <a:r>
              <a:t>Lesson plan: Step 3: "Say it"; Listening page: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21). Whole class, then pairs. Show the Grammar page. The left side is the question. The right side is the answer.</a:t>
            </a:r>
          </a:p>
          <a:p>
            <a:r>
              <a:t>Draw a timeline on the board: a long wavy line labeled I was driving (8:00–8:30) and a short arrow in the middle labeled a car hit my car (8:15). Say: "The long action is was + -ing. The short action is the simple past."</a:t>
            </a:r>
          </a:p>
          <a:p>
            <a:r>
              <a:t>Box 1 (3 min): ask: "What were you doing at 8:00 this morning?" Learners answer: I was working. I was sleeping. Then read Box 1 across; the class answers from the right side. Each click shows the answer side of one row.</a:t>
            </a:r>
          </a:p>
          <a:p>
            <a:r>
              <a:t>Lesson plan: Step 4; Grammar Box 1; Teacher notes: What the past continuous means.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 (2 min): questions and short answers: Were you driving? → Yes, I was. / No, I wasn't. Was anyone hurt? → No, everyone was OK.</a:t>
            </a:r>
          </a:p>
          <a:p>
            <a:r>
              <a:t>In the short answer, was is strong: Yes, I WAS. Each click shows the answer side of one row.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Boxes 3 and 4 (4 min): when + the short action; while + the long action. Point to the timeline each time.</a:t>
            </a:r>
          </a:p>
          <a:p>
            <a:r>
              <a:t>A reads the long action; B reads the when part. Each click shows the right side of one row.</a:t>
            </a:r>
          </a:p>
          <a:p>
            <a:r>
              <a:t>when usually goes with the short action (…when a car hit my car). Don't spend a long time on exceptions.</a:t>
            </a:r>
          </a:p>
          <a:p>
            <a:r>
              <a:t>Lesson plan: Step 4; Grammar Box 3; Teacher notes: when or while.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while goes with the long action (While I was waiting…). Point to the timeline. Each click shows the right side of one row.</a:t>
            </a:r>
          </a:p>
          <a:p>
            <a:r>
              <a:t>Check questions: "At 7:00 I ___ eating." (was) • "They ___ crossing the street." (were) • "I was cooking when the phone ___." (rang, a short action) • "___ I was walking home, it started to rain." (While)</a:t>
            </a:r>
          </a:p>
          <a:p>
            <a:r>
              <a:t>Lesson plan: Step 4; Grammar Box 4; check questions.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5 is a quick should review (You should take a picture.). A reads the question; B answers from the right side. The click shows the answers.</a:t>
            </a:r>
          </a:p>
          <a:p>
            <a:r>
              <a:t>Error to watch: You should to call. Say: "You should call."</a:t>
            </a:r>
          </a:p>
          <a:p>
            <a:r>
              <a:t>Lesson plan: Step 4; Grammar Box 5.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was eating, 2 were waiting, 3 Were … working, 4 wasn't looking, 5 were watching, 6 was … doing.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words. Pairs check.</a:t>
            </a:r>
          </a:p>
          <a:p>
            <a:r>
              <a:t>Click to circle each answer (one click per item, 1 to 6): 1 hit, 2 was cooking, 3 rang, 4 when, 5 While, 6 should.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6.</a:t>
            </a:r>
          </a:p>
          <a:p>
            <a:r>
              <a:t>1 and 4: was / were + verb-ing • 2: they / we / you = were • 3: the short action is the simple past (hit) • 5: don't forget was / were • 6: should + verb (no to).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Lesson plan: Grammar: Common mistakes; Teacher notes: Typical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says a time (Yesterday at 6:00?); B answers I was…ing (for example I was cooking dinner.). Switch.</a:t>
            </a:r>
          </a:p>
          <a:p>
            <a:r>
              <a:t>If behind: skip the pair drill. Talk Time practices it.</a:t>
            </a:r>
          </a:p>
          <a:p>
            <a:r>
              <a:t>Lesson plan: Step 4: Pair drill.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Witness · 12 min. Pairs (one group of 3 with an odd number).</a:t>
            </a:r>
          </a:p>
          <a:p>
            <a:r>
              <a:t>Before Talk Time (at the break), write on the board: What was he / she doing? He / She was…ing. Was anyone…? Yes, … was… / No, no one was…</a:t>
            </a:r>
          </a:p>
          <a:p>
            <a:r>
              <a:t>Model with one learner (1 min): show Picture 1 to one learner for 30 seconds. Then ask: "Was anyone crossing the street?" → "Yes, a woman was crossing." Write it on the board.</a:t>
            </a:r>
          </a:p>
          <a:p>
            <a:r>
              <a:t>Round 1 (5 min): A opens Picture 1 (Main Street). B does not look. Start the timer: A looks for 30 seconds and then turns the page over. B opens the Witness Form and asks the Round 1 questions. A answers from memory (I think… I'm not sure. I didn't see.). B writes short answers. Each click shows the next step.</a:t>
            </a:r>
          </a:p>
          <a:p>
            <a:r>
              <a:t>Round 1 questions: 1 Was anyone crossing the street? 2 What was the man with the dog doing? 3 What was the woman at the bus stop doing? 4 What was the man with the phone doing? 5 What was the girl doing? 6 What was the man on the bike doing?</a:t>
            </a:r>
          </a:p>
          <a:p>
            <a:r>
              <a:t>Answers: 1 Yes. A woman was crossing the street. • 2 He was walking (with his dog). • 3 She was waiting for the bus. • 4 He was talking on the phone. • 5 She was eating ice cream. • 6 He was riding a bike.</a:t>
            </a:r>
          </a:p>
          <a:p>
            <a:r>
              <a:t>Check (1 min): A and B look at the picture together. B checks ✓ the right answers.</a:t>
            </a:r>
          </a:p>
          <a:p>
            <a:r>
              <a:t>Keep it simple and non-graphic: this lesson is about dents, not injuries. Never ask about real accidents, injuries, or experiences with the police. Use the pictures and the invented stories. If a learner starts a personal story, thank them and go back to the picture. Say once, clearly: "In a real emergency, call 911."</a:t>
            </a:r>
          </a:p>
          <a:p>
            <a:r>
              <a:t>Lesson plan: Step 5; Talk Time pages; Answer key.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(5 min): switch. B looks at Picture 2 (the parking lot) for 30 seconds; A asks the Round 2 questions. Each click shows the next step.</a:t>
            </a:r>
          </a:p>
          <a:p>
            <a:r>
              <a:t>Round 2 questions: 1 What was the woman with the cart doing? 2 What was the man carrying? 3 Was anyone running? 4 What was the person with the cup doing? 5 Which car had a dent? 6 My question: (a question of their own).</a:t>
            </a:r>
          </a:p>
          <a:p>
            <a:r>
              <a:t>Answers: 1 She was shopping / pushing a shopping cart. • 2 He was carrying a box. • 3 Yes. A woman was running. • 4 He / She was drinking coffee. • 5 The blue car (at the top). • 6 answers will vary.</a:t>
            </a:r>
          </a:p>
          <a:p>
            <a:r>
              <a:t>Score: Round 1 ___ / 6, Round 2 ___ / 6. Fast pairs: add one question of their own (What was the man wearing?). If behind: one picture only.</a:t>
            </a:r>
          </a:p>
          <a:p>
            <a:r>
              <a:t>Workplace option: use a small workplace incident instead (I was carrying a box when I slipped on the wet floor.) with the wet floor card. The grammar is the same.</a:t>
            </a:r>
          </a:p>
          <a:p>
            <a:r>
              <a:t>Lesson plan: Step 5; Talk Time pages; Answer key; Teacher notes: Workplace option.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was / were + -ing (At 7:00 last night I was cooking dinner.), and one with when or while and because or so (I was walking home when it started to rain, so I ran.). Collect at the door.</a:t>
            </a:r>
          </a:p>
          <a:p>
            <a:r>
              <a:t>Homework: open the Homework page. Do item 1 together (one sentence on the board: Yesterday at 7:00 a.m., I was…). Say: "About 15 minutes. Bring it next week."</a:t>
            </a:r>
          </a:p>
          <a:p>
            <a:r>
              <a:t>Homework items: 1 what were you doing yesterday at these times? (I was…ing) • 2 make one sentence with when (I was walking. It started to rain. → I was walking when it started to rain.) • 3 ask a family member, a neighbor, or a friend: What were you doing at 8:00 last night? • 4 review (Lesson 3): 2 sentences with used to or didn't use to.</a:t>
            </a:r>
          </a:p>
          <a:p>
            <a:r>
              <a:t>Read &amp; Write (7:17–7:25, on the Student Pages): a 4-picture story and Lee's story; questions 1–5; then the Accident Report for Lee. If behind: questions 1–5 only; the report becomes homework.</a:t>
            </a:r>
          </a:p>
          <a:p>
            <a:r>
              <a:t>Lesson plan: Step 6; Homework page; Read &amp; Write step.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"At eight o'clock this morning, I was driving to work." (a) • 2 "She was waiting for the bus when it started to rain." (b) • 3 "Was anyone hurt? No, everyone was OK." (b) • 4 "The other driver was talking on the phone." (a)</a:t>
            </a:r>
          </a:p>
          <a:p>
            <a:r>
              <a:t>Parts B and C: learners do them alone. Walk around and help with the instructions only. B answers: 1 was, 2 were, 3 Were, 4 wasn't. C: answers will vary (for example I was cooking dinner when my friend called. / While I was walking to work, I saw an accident.).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the past continuous (A), with was / were (B), and with when / while (C).</a:t>
            </a:r>
          </a:p>
          <a:p>
            <a:r>
              <a:t>Collect the pages (or check them at the start of Week 5). If behind: do the Progress Check in Week 5 at 6:00, while learners arrive.</a:t>
            </a:r>
          </a:p>
          <a:p>
            <a:r>
              <a:t>Lesson plan: Progress Check step; Progress Check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2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Accident: two cars touching, a small dent circled, labels &quot;a small accident&quot;, &quot;no one is hurt&quot;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4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Happened So Fast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 were doing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what happened with when / while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Answer questions about a small accident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small accident. No one is hurt.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was doing.</a:t>
            </a:r>
            <a:endParaRPr lang="en-US" sz="20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8:00 I was driving to work.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Were you…? and Was anyone hurt?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tell what happened with when and while.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 an insurance agent's questions.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people were doing in a picture.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 story and fill out a report.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Stop sign: a stop sign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 to walk to school?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How far was it?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Why? Where? Do you miss it? What about now?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use to walk to school? How far was it?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use to do on weekends as a child?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use to eat for breakfast? What about now?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do now that you didn't use to do?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3, item 1.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Accident: two cars touching, a small dent circled, labels &quot;a small accident&quot;, &quot;no one is hurt&quot;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accident</a:t>
            </a:r>
            <a:endParaRPr lang="en-US" sz="2000" dirty="0" b="1"/>
          </a:p>
        </p:txBody>
      </p:sp>
      <p:pic>
        <p:nvPicPr>
          <p:cNvPr id="19" name="Word picture 2" descr="Intersection: two crossing roads seen from above, a car and a traffic ligh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intersection</a:t>
            </a:r>
            <a:endParaRPr lang="en-US" sz="2000" dirty="0" b="1"/>
          </a:p>
        </p:txBody>
      </p:sp>
      <p:pic>
        <p:nvPicPr>
          <p:cNvPr id="21" name="Word picture 3" descr="Traffic light: a traffic light; &quot;red = stop&quot;, &quot;yellow = slow&quot;, &quot;green = go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traffic light</a:t>
            </a:r>
            <a:endParaRPr lang="en-US" sz="2000" dirty="0" b="1"/>
          </a:p>
        </p:txBody>
      </p:sp>
      <p:pic>
        <p:nvPicPr>
          <p:cNvPr id="23" name="Word picture 4" descr="Stop sign: a stop sign, labe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stop sign</a:t>
            </a:r>
            <a:endParaRPr lang="en-US" sz="2000" dirty="0" b="1"/>
          </a:p>
        </p:txBody>
      </p:sp>
      <p:pic>
        <p:nvPicPr>
          <p:cNvPr id="25" name="Word picture 5" descr="Hit (a car): one car moves into another car, labe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hit (a car)</a:t>
            </a:r>
            <a:endParaRPr lang="en-US" sz="2000" dirty="0" b="1"/>
          </a:p>
        </p:txBody>
      </p:sp>
      <p:pic>
        <p:nvPicPr>
          <p:cNvPr id="27" name="Word picture 6" descr="Dent: a car with a small dent circled, label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dent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Driver: a person in a car, labe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driver</a:t>
            </a:r>
            <a:endParaRPr lang="en-US" sz="2000" dirty="0" b="1"/>
          </a:p>
        </p:txBody>
      </p:sp>
      <p:pic>
        <p:nvPicPr>
          <p:cNvPr id="19" name="Word picture 2" descr="Police officer: a police officer and a police car, labe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police officer</a:t>
            </a:r>
            <a:endParaRPr lang="en-US" sz="2000" dirty="0" b="1"/>
          </a:p>
        </p:txBody>
      </p:sp>
      <p:pic>
        <p:nvPicPr>
          <p:cNvPr id="21" name="Word picture 3" descr="Witness: a woman, eyes, two cars; bubble &quot;I saw it.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witness</a:t>
            </a:r>
            <a:endParaRPr lang="en-US" sz="2000" dirty="0" b="1"/>
          </a:p>
        </p:txBody>
      </p:sp>
      <p:pic>
        <p:nvPicPr>
          <p:cNvPr id="23" name="Word picture 4" descr="Insurance card: a drawn card &quot;INSURANCE CARD&quot; with Name / Policy # / Car lines + a ca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insurance card</a:t>
            </a:r>
            <a:endParaRPr lang="en-US" sz="2000" dirty="0" b="1"/>
          </a:p>
        </p:txBody>
      </p:sp>
      <p:pic>
        <p:nvPicPr>
          <p:cNvPr id="25" name="Word picture 5" descr="Report: a drawn form &quot;ACCIDENT REPORT&quot; (Date, Time, Place, What happened?) + a pencil and pape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report</a:t>
            </a:r>
            <a:endParaRPr lang="en-US" sz="2000" dirty="0" b="1"/>
          </a:p>
        </p:txBody>
      </p:sp>
      <p:pic>
        <p:nvPicPr>
          <p:cNvPr id="27" name="Word picture 6" descr="Wet floor: a yellow &quot;WET FLOOR&quot; sign, a puddle and water drop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wet floor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saw the accident?</a:t>
            </a:r>
            <a:endParaRPr lang="en-US" sz="1800" dirty="0" b="1"/>
          </a:p>
        </p:txBody>
      </p:sp>
      <p:pic>
        <p:nvPicPr>
          <p:cNvPr id="101" name="R1 pic" descr="Witness: a woman, eyes, two cars; bubble &quot;I saw it.&quot;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writes the report?</a:t>
            </a:r>
            <a:endParaRPr lang="en-US" sz="1800" dirty="0" b="1"/>
          </a:p>
        </p:txBody>
      </p:sp>
      <p:pic>
        <p:nvPicPr>
          <p:cNvPr id="102" name="R2 pic" descr="Police officer: a police officer and a police car, labe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Red light: stop or go?</a:t>
            </a:r>
            <a:endParaRPr lang="en-US" sz="1800" dirty="0" b="1"/>
          </a:p>
        </p:txBody>
      </p:sp>
      <p:pic>
        <p:nvPicPr>
          <p:cNvPr id="103" name="R3 pic" descr="Traffic light: a traffic light; &quot;red = stop&quot;, &quot;yellow = slow&quot;, &quot;green = go&quot;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witness</a:t>
            </a:r>
            <a:endParaRPr lang="en-US" sz="22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police officer</a:t>
            </a:r>
            <a:endParaRPr lang="en-US" sz="1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stop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 had a small car accident. No one was hurt. Now she's calling Mark at her insurance company.</a:t>
            </a:r>
            <a:endParaRPr lang="en-US" sz="17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Accident: two cars touching, a small dent circled, labels &quot;a small accident&quot;, &quot;no one is hurt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Mark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 it happen?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anyone hurt?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1:18.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the answer.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17373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173736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97362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590288" cy="173736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did it happen?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a parking lot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the intersection of Oak Street and Second Avenue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the highway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473952" y="3037637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420806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420806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427207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4208069"/>
            <a:ext cx="4590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anyone hurt? 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473952" y="4336085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Put the events in order.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1–5.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8646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police officer wrote a report.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748272" y="2525573"/>
            <a:ext cx="8229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8646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 was driving to work.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748272" y="3311957"/>
            <a:ext cx="8229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8646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other car hit her car.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748272" y="4098341"/>
            <a:ext cx="8229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8646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 stopped at the red light.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748272" y="4884725"/>
            <a:ext cx="8229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86460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 called her insurance company.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748272" y="5671109"/>
            <a:ext cx="8229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was, were, or wasn't.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anyone hurt?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____ you doing when it happened?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driving to work.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____ talking on his phone.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____ looking, and he hit my car.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people ____ crossing the street.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was and were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a sentence: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and quiet.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a short answer: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strong.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driving. (wuz, short)</a:t>
            </a:r>
            <a:endParaRPr lang="en-US" sz="24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crossing. (wer, short)</a:t>
            </a:r>
            <a:endParaRPr lang="en-US" sz="24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(strong)</a:t>
            </a:r>
            <a:endParaRPr lang="en-US" sz="2400" dirty="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Driver: a person in a car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were you doing?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/ were + -ing = a long action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000" dirty="0" b="1"/>
          </a:p>
        </p:txBody>
      </p:sp>
      <p:sp>
        <p:nvSpPr>
          <p:cNvPr id="23" name="Question 1"/>
          <p:cNvSpPr/>
          <p:nvPr/>
        </p:nvSpPr>
        <p:spPr>
          <a:xfrm>
            <a:off x="3310128" y="397764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doing at 8:00? / last night?</a:t>
            </a:r>
            <a:endParaRPr lang="en-US" sz="1600" dirty="0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driving / walking to work. / home.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000" dirty="0" b="1"/>
          </a:p>
        </p:txBody>
      </p:sp>
      <p:sp>
        <p:nvSpPr>
          <p:cNvPr id="28" name="Question 2"/>
          <p:cNvSpPr/>
          <p:nvPr/>
        </p:nvSpPr>
        <p:spPr>
          <a:xfrm>
            <a:off x="3310128" y="475488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doing at the corner?</a:t>
            </a:r>
            <a:endParaRPr lang="en-US" sz="1600" dirty="0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waiting for the bus. / at the light.</a:t>
            </a:r>
            <a:endParaRPr lang="en-US" sz="1700" dirty="0" b="1"/>
          </a:p>
        </p:txBody>
      </p:sp>
      <p:sp>
        <p:nvSpPr>
          <p:cNvPr id="31" name="Highlight 3"/>
          <p:cNvSpPr/>
          <p:nvPr/>
        </p:nvSpPr>
        <p:spPr>
          <a:xfrm>
            <a:off x="1481328" y="562356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000" dirty="0" b="1"/>
          </a:p>
        </p:txBody>
      </p:sp>
      <p:sp>
        <p:nvSpPr>
          <p:cNvPr id="33" name="Question 3"/>
          <p:cNvSpPr/>
          <p:nvPr/>
        </p:nvSpPr>
        <p:spPr>
          <a:xfrm>
            <a:off x="3310128" y="553212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/ she doing in the parking lot?</a:t>
            </a:r>
            <a:endParaRPr lang="en-US" sz="1600" dirty="0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She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carrying a box. / some bags.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olice officer: a police officer and a police car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  ·  short answers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you…? Was anyone…?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86968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65760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driving? / working?</a:t>
            </a:r>
            <a:endParaRPr lang="en-US" sz="1900" dirty="0" b="1"/>
          </a:p>
        </p:txBody>
      </p:sp>
      <p:sp>
        <p:nvSpPr>
          <p:cNvPr id="19" name="Answer bg 1"/>
          <p:cNvSpPr/>
          <p:nvPr/>
        </p:nvSpPr>
        <p:spPr>
          <a:xfrm>
            <a:off x="8869680" y="2286000"/>
            <a:ext cx="306324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869680" y="2286000"/>
            <a:ext cx="306324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0"/>
          </a:p>
        </p:txBody>
      </p:sp>
      <p:sp>
        <p:nvSpPr>
          <p:cNvPr id="21" name="Question 2"/>
          <p:cNvSpPr/>
          <p:nvPr/>
        </p:nvSpPr>
        <p:spPr>
          <a:xfrm>
            <a:off x="5138928" y="3383280"/>
            <a:ext cx="365760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 / she talking on the phone?</a:t>
            </a:r>
            <a:endParaRPr lang="en-US" sz="1900" dirty="0" b="1"/>
          </a:p>
        </p:txBody>
      </p:sp>
      <p:sp>
        <p:nvSpPr>
          <p:cNvPr id="22" name="Answer bg 2"/>
          <p:cNvSpPr/>
          <p:nvPr/>
        </p:nvSpPr>
        <p:spPr>
          <a:xfrm>
            <a:off x="8869680" y="3383280"/>
            <a:ext cx="306324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8869680" y="3383280"/>
            <a:ext cx="306324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he / she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he / she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0"/>
          </a:p>
        </p:txBody>
      </p:sp>
      <p:sp>
        <p:nvSpPr>
          <p:cNvPr id="24" name="Question 3"/>
          <p:cNvSpPr/>
          <p:nvPr/>
        </p:nvSpPr>
        <p:spPr>
          <a:xfrm>
            <a:off x="5138928" y="4480560"/>
            <a:ext cx="365760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anyone hurt?</a:t>
            </a:r>
            <a:endParaRPr lang="en-US" sz="1900" dirty="0" b="1"/>
          </a:p>
        </p:txBody>
      </p:sp>
      <p:sp>
        <p:nvSpPr>
          <p:cNvPr id="25" name="Answer bg 3"/>
          <p:cNvSpPr/>
          <p:nvPr/>
        </p:nvSpPr>
        <p:spPr>
          <a:xfrm>
            <a:off x="8869680" y="4480560"/>
            <a:ext cx="306324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8869680" y="4480560"/>
            <a:ext cx="306324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everyone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OK.</a:t>
            </a:r>
            <a:endParaRPr lang="en-US" sz="19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Hit (a car): one car moves into another car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Long Action + when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+ a short action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481328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LONG ACTION (was / were + -ing)</a:t>
            </a:r>
            <a:endParaRPr lang="en-US" sz="1500" dirty="0" b="1"/>
          </a:p>
        </p:txBody>
      </p:sp>
      <p:sp>
        <p:nvSpPr>
          <p:cNvPr id="20" name="A head"/>
          <p:cNvSpPr/>
          <p:nvPr/>
        </p:nvSpPr>
        <p:spPr>
          <a:xfrm>
            <a:off x="6949440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+ SHORT ACTION (simple past)</a:t>
            </a:r>
            <a:endParaRPr lang="en-US" sz="1500" dirty="0" b="1"/>
          </a:p>
        </p:txBody>
      </p:sp>
      <p:sp>
        <p:nvSpPr>
          <p:cNvPr id="21" name="Question 1"/>
          <p:cNvSpPr/>
          <p:nvPr/>
        </p:nvSpPr>
        <p:spPr>
          <a:xfrm>
            <a:off x="1481328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waiting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the light</a:t>
            </a:r>
            <a:endParaRPr lang="en-US" sz="2000" dirty="0"/>
          </a:p>
        </p:txBody>
      </p:sp>
      <p:sp>
        <p:nvSpPr>
          <p:cNvPr id="22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car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car.</a:t>
            </a:r>
            <a:endParaRPr lang="en-US" sz="1900" dirty="0" b="1"/>
          </a:p>
        </p:txBody>
      </p:sp>
      <p:sp>
        <p:nvSpPr>
          <p:cNvPr id="24" name="Question 2"/>
          <p:cNvSpPr/>
          <p:nvPr/>
        </p:nvSpPr>
        <p:spPr>
          <a:xfrm>
            <a:off x="1481328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eating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dinner</a:t>
            </a:r>
            <a:endParaRPr lang="en-US" sz="2000" dirty="0"/>
          </a:p>
        </p:txBody>
      </p:sp>
      <p:sp>
        <p:nvSpPr>
          <p:cNvPr id="25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phone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rang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1"/>
          </a:p>
        </p:txBody>
      </p:sp>
      <p:sp>
        <p:nvSpPr>
          <p:cNvPr id="27" name="Question 3"/>
          <p:cNvSpPr/>
          <p:nvPr/>
        </p:nvSpPr>
        <p:spPr>
          <a:xfrm>
            <a:off x="1481328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crossing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street</a:t>
            </a:r>
            <a:endParaRPr lang="en-US" sz="2000" dirty="0"/>
          </a:p>
        </p:txBody>
      </p:sp>
      <p:sp>
        <p:nvSpPr>
          <p:cNvPr id="28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light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changed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Intersection: two crossing roads seen from above, a car and a traffic l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 + a Long Action</a:t>
            </a:r>
            <a:endParaRPr lang="en-US" sz="28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 + LONG ACTION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503920" y="18288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HAPPENED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29184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turning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left,</a:t>
            </a:r>
            <a:endParaRPr lang="en-US" sz="1800" dirty="0" b="1"/>
          </a:p>
        </p:txBody>
      </p:sp>
      <p:sp>
        <p:nvSpPr>
          <p:cNvPr id="19" name="Answer bg 1"/>
          <p:cNvSpPr/>
          <p:nvPr/>
        </p:nvSpPr>
        <p:spPr>
          <a:xfrm>
            <a:off x="8503920" y="2286000"/>
            <a:ext cx="342900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503920" y="2286000"/>
            <a:ext cx="342900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other driver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talking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the phone.</a:t>
            </a:r>
            <a:endParaRPr lang="en-US" sz="1800" dirty="0" b="0"/>
          </a:p>
        </p:txBody>
      </p:sp>
      <p:sp>
        <p:nvSpPr>
          <p:cNvPr id="21" name="Question 2"/>
          <p:cNvSpPr/>
          <p:nvPr/>
        </p:nvSpPr>
        <p:spPr>
          <a:xfrm>
            <a:off x="5138928" y="3383280"/>
            <a:ext cx="329184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walking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work,</a:t>
            </a:r>
            <a:endParaRPr lang="en-US" sz="1800" dirty="0" b="1"/>
          </a:p>
        </p:txBody>
      </p:sp>
      <p:sp>
        <p:nvSpPr>
          <p:cNvPr id="22" name="Answer bg 2"/>
          <p:cNvSpPr/>
          <p:nvPr/>
        </p:nvSpPr>
        <p:spPr>
          <a:xfrm>
            <a:off x="8503920" y="3383280"/>
            <a:ext cx="342900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8503920" y="3383280"/>
            <a:ext cx="342900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started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rain.</a:t>
            </a:r>
            <a:endParaRPr lang="en-US" sz="1800" dirty="0" b="0"/>
          </a:p>
        </p:txBody>
      </p:sp>
      <p:sp>
        <p:nvSpPr>
          <p:cNvPr id="24" name="Question 3"/>
          <p:cNvSpPr/>
          <p:nvPr/>
        </p:nvSpPr>
        <p:spPr>
          <a:xfrm>
            <a:off x="5138928" y="4480560"/>
            <a:ext cx="329184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waiting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the bus,</a:t>
            </a:r>
            <a:endParaRPr lang="en-US" sz="1800" dirty="0" b="1"/>
          </a:p>
        </p:txBody>
      </p:sp>
      <p:sp>
        <p:nvSpPr>
          <p:cNvPr id="25" name="Answer bg 3"/>
          <p:cNvSpPr/>
          <p:nvPr/>
        </p:nvSpPr>
        <p:spPr>
          <a:xfrm>
            <a:off x="8503920" y="4480560"/>
            <a:ext cx="342900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8503920" y="4480560"/>
            <a:ext cx="342900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saw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 accident.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Insurance card: a drawn card &quot;INSURANCE CARD&quot; with Name / Policy # / Car lines + a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5  ·  review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should I do?</a:t>
            </a:r>
            <a:endParaRPr lang="en-US" sz="3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321040" y="18288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10896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do? (after a small accident)</a:t>
            </a:r>
            <a:endParaRPr lang="en-US" sz="1900" dirty="0" b="1"/>
          </a:p>
        </p:txBody>
      </p:sp>
      <p:sp>
        <p:nvSpPr>
          <p:cNvPr id="19" name="Answer bg 1"/>
          <p:cNvSpPr/>
          <p:nvPr/>
        </p:nvSpPr>
        <p:spPr>
          <a:xfrm>
            <a:off x="8321040" y="2286000"/>
            <a:ext cx="361188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321040" y="2286000"/>
            <a:ext cx="361188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your insurance company. / take a picture. / tell your supervisor.</a:t>
            </a:r>
            <a:endParaRPr lang="en-US" sz="1800" dirty="0" b="0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shouldn't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leave. / get angry.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words.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/ were + -ing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was or were + the verb with -ing.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36758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7:00 I ____ (eat) breakfast.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5559552" y="2222144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eating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36758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____ (wait) for the bus.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5559552" y="2950312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waiting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36758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you ____ (work) at 9:00 last night?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5559552" y="3678479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… working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36758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 (not / look) at the road.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5559552" y="4406646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 looking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36758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____ (watch) TV when the lights went out.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5559552" y="5134813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watching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36758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____ he ____ (do)?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5559552" y="5862980"/>
            <a:ext cx="20116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… doing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words.</a:t>
            </a:r>
            <a:endParaRPr lang="en-US" sz="22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8580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 was driving when a car ____ my car.</a:t>
            </a:r>
            <a:endParaRPr lang="en-US" sz="1700" dirty="0"/>
          </a:p>
        </p:txBody>
      </p:sp>
      <p:sp>
        <p:nvSpPr>
          <p:cNvPr id="9" name="R1 opt1"/>
          <p:cNvSpPr/>
          <p:nvPr/>
        </p:nvSpPr>
        <p:spPr>
          <a:xfrm>
            <a:off x="7543800" y="310896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hit</a:t>
            </a:r>
            <a:endParaRPr lang="en-US" sz="1700" dirty="0" b="1"/>
          </a:p>
        </p:txBody>
      </p:sp>
      <p:sp>
        <p:nvSpPr>
          <p:cNvPr id="10" name="R1 opt2"/>
          <p:cNvSpPr/>
          <p:nvPr/>
        </p:nvSpPr>
        <p:spPr>
          <a:xfrm>
            <a:off x="9372600" y="310896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hitting</a:t>
            </a:r>
            <a:endParaRPr lang="en-US" sz="1700" dirty="0" b="1"/>
          </a:p>
        </p:txBody>
      </p:sp>
      <p:sp>
        <p:nvSpPr>
          <p:cNvPr id="11" name="R1 circle"/>
          <p:cNvSpPr/>
          <p:nvPr/>
        </p:nvSpPr>
        <p:spPr>
          <a:xfrm>
            <a:off x="7415784" y="3054096"/>
            <a:ext cx="18562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8580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While I ____, the phone rang.</a:t>
            </a:r>
            <a:endParaRPr lang="en-US" sz="1700" dirty="0"/>
          </a:p>
        </p:txBody>
      </p:sp>
      <p:sp>
        <p:nvSpPr>
          <p:cNvPr id="13" name="R2 opt1"/>
          <p:cNvSpPr/>
          <p:nvPr/>
        </p:nvSpPr>
        <p:spPr>
          <a:xfrm>
            <a:off x="7543800" y="365760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cooked</a:t>
            </a:r>
            <a:endParaRPr lang="en-US" sz="1700" dirty="0" b="1"/>
          </a:p>
        </p:txBody>
      </p:sp>
      <p:sp>
        <p:nvSpPr>
          <p:cNvPr id="14" name="R2 opt2"/>
          <p:cNvSpPr/>
          <p:nvPr/>
        </p:nvSpPr>
        <p:spPr>
          <a:xfrm>
            <a:off x="9372600" y="365760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cooking</a:t>
            </a:r>
            <a:endParaRPr lang="en-US" sz="1700" dirty="0" b="1"/>
          </a:p>
        </p:txBody>
      </p:sp>
      <p:sp>
        <p:nvSpPr>
          <p:cNvPr id="15" name="R2 circle"/>
          <p:cNvSpPr/>
          <p:nvPr/>
        </p:nvSpPr>
        <p:spPr>
          <a:xfrm>
            <a:off x="9244584" y="3602736"/>
            <a:ext cx="18562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8580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The phone ____ when I was taking a shower.</a:t>
            </a:r>
            <a:endParaRPr lang="en-US" sz="1700" dirty="0"/>
          </a:p>
        </p:txBody>
      </p:sp>
      <p:sp>
        <p:nvSpPr>
          <p:cNvPr id="17" name="R3 opt1"/>
          <p:cNvSpPr/>
          <p:nvPr/>
        </p:nvSpPr>
        <p:spPr>
          <a:xfrm>
            <a:off x="7543800" y="420624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rang</a:t>
            </a:r>
            <a:endParaRPr lang="en-US" sz="1700" dirty="0" b="1"/>
          </a:p>
        </p:txBody>
      </p:sp>
      <p:sp>
        <p:nvSpPr>
          <p:cNvPr id="18" name="R3 opt2"/>
          <p:cNvSpPr/>
          <p:nvPr/>
        </p:nvSpPr>
        <p:spPr>
          <a:xfrm>
            <a:off x="9372600" y="420624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ringing</a:t>
            </a:r>
            <a:endParaRPr lang="en-US" sz="1700" dirty="0" b="1"/>
          </a:p>
        </p:txBody>
      </p:sp>
      <p:sp>
        <p:nvSpPr>
          <p:cNvPr id="19" name="R3 circle"/>
          <p:cNvSpPr/>
          <p:nvPr/>
        </p:nvSpPr>
        <p:spPr>
          <a:xfrm>
            <a:off x="7415784" y="4151376"/>
            <a:ext cx="18562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8580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I was sleeping ____ the alarm rang.</a:t>
            </a:r>
            <a:endParaRPr lang="en-US" sz="1700" dirty="0"/>
          </a:p>
        </p:txBody>
      </p:sp>
      <p:sp>
        <p:nvSpPr>
          <p:cNvPr id="21" name="R4 opt1"/>
          <p:cNvSpPr/>
          <p:nvPr/>
        </p:nvSpPr>
        <p:spPr>
          <a:xfrm>
            <a:off x="7543800" y="475488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1700" dirty="0" b="1"/>
          </a:p>
        </p:txBody>
      </p:sp>
      <p:sp>
        <p:nvSpPr>
          <p:cNvPr id="22" name="R4 opt2"/>
          <p:cNvSpPr/>
          <p:nvPr/>
        </p:nvSpPr>
        <p:spPr>
          <a:xfrm>
            <a:off x="9372600" y="475488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</a:t>
            </a:r>
            <a:endParaRPr lang="en-US" sz="1700" dirty="0" b="1"/>
          </a:p>
        </p:txBody>
      </p:sp>
      <p:sp>
        <p:nvSpPr>
          <p:cNvPr id="23" name="R4 circle"/>
          <p:cNvSpPr/>
          <p:nvPr/>
        </p:nvSpPr>
        <p:spPr>
          <a:xfrm>
            <a:off x="7415784" y="4700016"/>
            <a:ext cx="18562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8580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____ I was turning left, the other driver was talking on the phone.</a:t>
            </a:r>
            <a:endParaRPr lang="en-US" sz="1700" dirty="0"/>
          </a:p>
        </p:txBody>
      </p:sp>
      <p:sp>
        <p:nvSpPr>
          <p:cNvPr id="25" name="R5 opt1"/>
          <p:cNvSpPr/>
          <p:nvPr/>
        </p:nvSpPr>
        <p:spPr>
          <a:xfrm>
            <a:off x="7543800" y="530352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1700" dirty="0" b="1"/>
          </a:p>
        </p:txBody>
      </p:sp>
      <p:sp>
        <p:nvSpPr>
          <p:cNvPr id="26" name="R5 opt2"/>
          <p:cNvSpPr/>
          <p:nvPr/>
        </p:nvSpPr>
        <p:spPr>
          <a:xfrm>
            <a:off x="9372600" y="530352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</a:t>
            </a:r>
            <a:endParaRPr lang="en-US" sz="1700" dirty="0" b="1"/>
          </a:p>
        </p:txBody>
      </p:sp>
      <p:sp>
        <p:nvSpPr>
          <p:cNvPr id="27" name="R5 circle"/>
          <p:cNvSpPr/>
          <p:nvPr/>
        </p:nvSpPr>
        <p:spPr>
          <a:xfrm>
            <a:off x="9244584" y="5248656"/>
            <a:ext cx="18562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8580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You ____ call your insurance company.</a:t>
            </a:r>
            <a:endParaRPr lang="en-US" sz="1700" dirty="0"/>
          </a:p>
        </p:txBody>
      </p:sp>
      <p:sp>
        <p:nvSpPr>
          <p:cNvPr id="29" name="R6 opt1"/>
          <p:cNvSpPr/>
          <p:nvPr/>
        </p:nvSpPr>
        <p:spPr>
          <a:xfrm>
            <a:off x="7543800" y="585216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endParaRPr lang="en-US" sz="1700" dirty="0" b="1"/>
          </a:p>
        </p:txBody>
      </p:sp>
      <p:sp>
        <p:nvSpPr>
          <p:cNvPr id="30" name="R6 opt2"/>
          <p:cNvSpPr/>
          <p:nvPr/>
        </p:nvSpPr>
        <p:spPr>
          <a:xfrm>
            <a:off x="9372600" y="5852160"/>
            <a:ext cx="16002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to</a:t>
            </a:r>
            <a:endParaRPr lang="en-US" sz="1700" dirty="0" b="1"/>
          </a:p>
        </p:txBody>
      </p:sp>
      <p:sp>
        <p:nvSpPr>
          <p:cNvPr id="31" name="R6 circle"/>
          <p:cNvSpPr/>
          <p:nvPr/>
        </p:nvSpPr>
        <p:spPr>
          <a:xfrm>
            <a:off x="7415784" y="5797296"/>
            <a:ext cx="18562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Dent: a car with a small dent circled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drive to work.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driving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work.</a:t>
            </a:r>
            <a:endParaRPr lang="en-US" sz="17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was crossing the street.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crossing the street.</a:t>
            </a:r>
            <a:endParaRPr lang="en-US" sz="17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waiting when a car was hitting my car.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waiting when a car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hit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car.</a:t>
            </a:r>
            <a:endParaRPr lang="en-US" sz="17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44398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you work at 9:00?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44398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9:00?</a:t>
            </a:r>
            <a:endParaRPr lang="en-US" sz="1700" dirty="0" b="0"/>
          </a:p>
        </p:txBody>
      </p:sp>
      <p:sp>
        <p:nvSpPr>
          <p:cNvPr id="32" name="Bad 5"/>
          <p:cNvSpPr/>
          <p:nvPr/>
        </p:nvSpPr>
        <p:spPr>
          <a:xfrm>
            <a:off x="914400" y="5010912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 I cooking, the phone rang.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010912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While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cooking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the phone rang.</a:t>
            </a:r>
            <a:endParaRPr lang="en-US" sz="1700" dirty="0" b="0"/>
          </a:p>
        </p:txBody>
      </p:sp>
      <p:sp>
        <p:nvSpPr>
          <p:cNvPr id="34" name="Bad 6"/>
          <p:cNvSpPr/>
          <p:nvPr/>
        </p:nvSpPr>
        <p:spPr>
          <a:xfrm>
            <a:off x="914400" y="585216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should to call the police.</a:t>
            </a:r>
            <a:endParaRPr lang="en-US" sz="1700" dirty="0"/>
          </a:p>
        </p:txBody>
      </p:sp>
      <p:sp>
        <p:nvSpPr>
          <p:cNvPr id="35" name="Good 6"/>
          <p:cNvSpPr/>
          <p:nvPr/>
        </p:nvSpPr>
        <p:spPr>
          <a:xfrm>
            <a:off x="4800600" y="585216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call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police.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Driver: a person in a car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a time.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Yesterday at 6:00?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was…ing.</a:t>
            </a:r>
            <a:endParaRPr lang="en-US" sz="20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says a time.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answers: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was…ing.</a:t>
            </a:r>
            <a:endParaRPr lang="en-US" sz="20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a time. B answers with I was…ing.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Picture 1: Main Street: a street corner: two cars, a traffic light, a woman crossing, a man on a bike, a man with a dog, a woman at the bus stop, a man on the phone, a girl with ice cre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3483559"/>
            <a:ext cx="3882542" cy="2588362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Witness: Round 1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looks. B asks.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looks at Picture 1 for 30 seconds.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does not look.</a:t>
            </a:r>
            <a:endParaRPr lang="en-US" sz="20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turns the page over.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asks: Was anyone crossing the street?</a:t>
            </a:r>
            <a:endParaRPr lang="en-US" sz="20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answers from memory.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A woman was crossing.</a:t>
            </a:r>
            <a:endParaRPr lang="en-US" sz="20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Picture 2: a parking lot: a store parking lot: cars, a truck, a woman with a shopping cart, a man with a box, a woman running, a person with coffee, a dog, a small d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3483559"/>
            <a:ext cx="3882542" cy="2588362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Witness: Round 2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Switch.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looks. A asks.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looks at Picture 2 for 30 seconds.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does not look.</a:t>
            </a:r>
            <a:endParaRPr lang="en-US" sz="20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the Round 2 questions.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the man carrying?</a:t>
            </a:r>
            <a:endParaRPr lang="en-US" sz="20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 together.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the right answers.</a:t>
            </a:r>
            <a:endParaRPr lang="en-US" sz="20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Report: a drawn form &quot;ACCIDENT REPORT&quot; (Date, Time, Place, What happened?) + a pencil and pa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with was / were + -ing.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One with when or while and because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walking home when it started to rain, so I ran.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What were you doing yesterday?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Make one sentence with when.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Ask: What were you doing at 8:00 last night?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2 sentences with used to.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was doing at a time in the past.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tell what happened with when and while.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 questions about a small car accident.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fill out a simple accident report.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driving to work   b. waiting at the light</a:t>
            </a:r>
            <a:endParaRPr lang="en-US" sz="17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driving to work   b. waiting for the bus</a:t>
            </a:r>
            <a:endParaRPr lang="en-US" sz="17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Someone was hurt.   b. No one was hurt.</a:t>
            </a:r>
            <a:endParaRPr lang="en-US" sz="17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talking on the phone   b. crossing the street</a:t>
            </a:r>
            <a:endParaRPr lang="en-US" sz="17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Insurance card: a drawn card &quot;INSURANCE CARD&quot; with Name / Policy # / Car lines + a 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4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 were doing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what happened with when / while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Answer questions about a small accident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Elena, Mark, and Lee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4: It Happened So Fast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