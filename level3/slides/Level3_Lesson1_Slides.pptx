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29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79" r:id="rId30"/>
    <p:sldId id="265" r:id="rId11"/>
    <p:sldId id="276" r:id="rId27"/>
    <p:sldId id="262" r:id="rId8"/>
    <p:sldId id="264" r:id="rId10"/>
    <p:sldId id="272" r:id="rId18"/>
    <p:sldId id="282" r:id="rId33"/>
    <p:sldId id="280" r:id="rId31"/>
    <p:sldId id="277" r:id="rId28"/>
    <p:sldId id="259" r:id="rId5"/>
    <p:sldId id="260" r:id="rId6"/>
    <p:sldId id="284" r:id="rId35"/>
    <p:sldId id="266" r:id="rId12"/>
    <p:sldId id="285" r:id="rId36"/>
    <p:sldId id="278" r:id="rId29"/>
    <p:sldId id="268" r:id="rId14"/>
    <p:sldId id="270" r:id="rId16"/>
    <p:sldId id="271" r:id="rId17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4" Type="http://schemas.openxmlformats.org/officeDocument/2006/relationships/slide" Target="slides/slide10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9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3" Type="http://schemas.openxmlformats.org/officeDocument/2006/relationships/slide" Target="slides/slide20.xml"/><Relationship Id="rId34" Type="http://schemas.openxmlformats.org/officeDocument/2006/relationships/slide" Target="slides/slide22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as they arrive. Each learner writes a first name on a name tag.</a:t>
            </a:r>
          </a:p>
          <a:p>
            <a:r>
              <a:rPr lang="en-US" dirty="0"/>
              <a:t>Point to the title and read it: "Tell me more." Say: "Tonight we keep a conversation going. We don't stop at one word."</a:t>
            </a:r>
          </a:p>
          <a:p>
            <a:r>
              <a:rPr lang="en-US" dirty="0"/>
              <a:t>Read the three lines under "Today you will". Give one quick example of each: "Really? Why?" (a follow-up question) • "I take the bus because it's cheap." (a reason) • "My car broke down, so I took the bus." (a result).</a:t>
            </a:r>
          </a:p>
          <a:p>
            <a:r>
              <a:rPr lang="en-US" dirty="0"/>
              <a:t>Keep it short. Don't explain the grammar now. Go straight to the warm-up.</a:t>
            </a:r>
          </a:p>
          <a:p>
            <a:r>
              <a:rPr lang="en-US" dirty="0"/>
              <a:t>Source: Level3_Lesson1.md (Topic; At a glance: Objectives; 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speech bubbles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10 min. Pairs. 15 learners: 7 pairs + 1 group of 3. 7–8 learners: 3–4 pairs.</a:t>
            </a:r>
          </a:p>
          <a:p>
            <a:r>
              <a:rPr lang="en-US" dirty="0"/>
              <a:t>Before class, write on the board: What did you do last weekend? → Really? How was it?</a:t>
            </a:r>
          </a:p>
          <a:p>
            <a:r>
              <a:rPr lang="en-US" dirty="0"/>
              <a:t>Model with one learner: ask "What did you do last weekend?" The learner answers. Then say "Really? How was it?" Point to the second question and say: "This is a follow-up question. It asks for more."</a:t>
            </a:r>
          </a:p>
          <a:p>
            <a:r>
              <a:rPr lang="en-US" dirty="0"/>
              <a:t>Round 1 (4 min): A asks the question, B answers, A asks one follow-up. Switch.</a:t>
            </a:r>
          </a:p>
          <a:p>
            <a:r>
              <a:rPr lang="en-US" dirty="0"/>
              <a:t>Round 2 (4 min): new partner. Add to the board: What are you going to do this weekend? → Why?</a:t>
            </a:r>
          </a:p>
          <a:p>
            <a:r>
              <a:rPr lang="en-US" dirty="0"/>
              <a:t>Late arrivals join any pair as a group of 3. If behind: one round only.</a:t>
            </a:r>
          </a:p>
          <a:p>
            <a:r>
              <a:rPr lang="en-US" dirty="0"/>
              <a:t>Privacy: learners choose what to share. Any answer can be invented. "I don't want to say" is always OK.</a:t>
            </a:r>
          </a:p>
          <a:p>
            <a:r>
              <a:rPr lang="en-US" dirty="0"/>
              <a:t>Source: Level3_Lesson1.md (Step 1; Teacher notes: Privacy).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speech bubbles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6:34–6:45 · Grammar Q&amp;A · 11 min (slides 13 to 18). Whole class, then pairs.</a:t>
            </a:r>
          </a:p>
          <a:p>
            <a:r>
              <a:rPr lang="en-US" dirty="0"/>
              <a:t>Show the Grammar page. The left side is the question. The right side is the answer.</a:t>
            </a:r>
          </a:p>
          <a:p>
            <a:r>
              <a:rPr lang="en-US" dirty="0"/>
              <a:t>Box 1 (review, 2 min): read a question. The class answers from the right side. Then click to show the answer. Each click shows one answer, in order 1, 2, 3.</a:t>
            </a:r>
          </a:p>
          <a:p>
            <a:r>
              <a:rPr lang="en-US" dirty="0"/>
              <a:t>Point to the time words: on weekends (now), last weekend (the past), this weekend (the future). do = now, did = the past, going to = the future.</a:t>
            </a:r>
          </a:p>
          <a:p>
            <a:r>
              <a:rPr lang="en-US" dirty="0"/>
              <a:t>Don't re-teach. Level 2 taught these.</a:t>
            </a:r>
          </a:p>
          <a:p>
            <a:r>
              <a:rPr lang="en-US" dirty="0"/>
              <a:t>Source: Level3_Lesson1.md (Step 5;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speech bubbles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2 (3 min). A follow-up question is a second question about the same topic. It shows you are listening and keeps the conversation going.</a:t>
            </a:r>
          </a:p>
          <a:p>
            <a:r>
              <a:rPr lang="en-US" dirty="0"/>
              <a:t>Read a sentence from the left. The class says a follow-up question. Then click to show the follow-ups for that line. Each click shows one row, in order 1 to 6.</a:t>
            </a:r>
          </a:p>
          <a:p>
            <a:r>
              <a:rPr lang="en-US" dirty="0"/>
              <a:t>Then say your own news ("I have a new cat!") and wait for follow-ups.</a:t>
            </a:r>
          </a:p>
          <a:p>
            <a:r>
              <a:rPr lang="en-US" dirty="0"/>
              <a:t>To ask the question back, say: "What about you?" or "And you?"</a:t>
            </a:r>
          </a:p>
          <a:p>
            <a:r>
              <a:rPr lang="en-US" dirty="0"/>
              <a:t>Learners who are new to the class can use Box 2 on their page as a script.</a:t>
            </a:r>
          </a:p>
          <a:p>
            <a:r>
              <a:rPr lang="en-US" dirty="0"/>
              <a:t>Source: Level3_Lesson1.md (Step 5; Grammar Box 2;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speech bubbles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Check · 7:25–7:30 · first can-do self-check · 5 min. Individuals. Open the Progress Check page.</a:t>
            </a:r>
          </a:p>
          <a:p>
            <a:r>
              <a:rPr lang="en-US" dirty="0"/>
              <a:t>Part A: read each sentence slowly, 2 times. Learners circle the best follow-up on their page. Then click to show the answer (one click per item, 1 to 4).</a:t>
            </a:r>
          </a:p>
          <a:p>
            <a:r>
              <a:rPr lang="en-US" dirty="0"/>
              <a:t>Say: 1 "I'm really tired today." (a, Why?) • 2 "I went to a wedding on Saturday." (b, How was it?) • 3 "I have good news!" (a, Really? What is it?) • 4 "My phone is broken." (b, Oh no! What happened?)</a:t>
            </a:r>
          </a:p>
          <a:p>
            <a:r>
              <a:rPr lang="en-US" dirty="0"/>
              <a:t>Parts B and C: learners do them alone. Walk around and help with the instructions only. B answers: 1 because, 2 so, 3 so, 4 because. C: any good follow-up question (for example Really? Where? / How was it?).</a:t>
            </a:r>
          </a:p>
          <a:p>
            <a:r>
              <a:rPr lang="en-US" dirty="0"/>
              <a:t>Part D: read each "I can…" line aloud and point to the 3 faces: 😀 "I can do it." 🙂 "With a little help." 😐 "Not yet."</a:t>
            </a:r>
          </a:p>
          <a:p>
            <a:r>
              <a:rPr lang="en-US" dirty="0"/>
              <a:t>Scoring: A /4 + B /4 + C /2 = /10. This is not a test grade. It shows who needs more help with follow-ups (A, C) and with because / so (B).</a:t>
            </a:r>
          </a:p>
          <a:p>
            <a:r>
              <a:rPr lang="en-US" dirty="0"/>
              <a:t>Collect the pages (or check them at the start of Week 2). If behind: do the Progress Check in Week 2 at 6:00, while learners arrive.</a:t>
            </a:r>
          </a:p>
          <a:p>
            <a:r>
              <a:rPr lang="en-US" dirty="0"/>
              <a:t>Source: Level3_Lesson1.md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Check meaning · 1 min. Whole class.</a:t>
            </a:r>
          </a:p>
          <a:p>
            <a:r>
              <a:rPr lang="en-US" dirty="0"/>
              <a:t>The answers are hidden. Ask each question and wait for the class to answer. Then click to show the answer. Each click shows one answer, in order: 1, 2, 3.</a:t>
            </a:r>
          </a:p>
          <a:p>
            <a:r>
              <a:rPr lang="en-US" dirty="0"/>
              <a:t>1. "Is your coworker at home or at work?" (at work) • 2. "Is a new job good news or bad news?" (good news) • 3. "Does a volunteer get money?" (no)</a:t>
            </a:r>
          </a:p>
          <a:p>
            <a:r>
              <a:rPr lang="en-US" dirty="0"/>
              <a:t>If a learner is stuck, point to the picture and give one more short example.</a:t>
            </a:r>
          </a:p>
          <a:p>
            <a:r>
              <a:rPr lang="en-US" dirty="0"/>
              <a:t>Source: Level3_Lesson1.md (Step 3: Check meaning).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6:22–6:34 · Listening + "Say it" · 12 min (slides 8 to 12). Individuals, then pairs check.</a:t>
            </a:r>
          </a:p>
          <a:p>
            <a:r>
              <a:rPr lang="en-US" dirty="0"/>
              <a:t>Before you listen (1 min). Point to the picture and say: "This is Elena. This is David. They're neighbors. They're at the laundromat. One person has good news. One person has bad news."</a:t>
            </a:r>
          </a:p>
          <a:p>
            <a:r>
              <a:rPr lang="en-US" dirty="0"/>
              <a:t>There are three voices: a Narrator, Elena, and David.</a:t>
            </a:r>
          </a:p>
          <a:p>
            <a:r>
              <a:rPr lang="en-US" dirty="0"/>
              <a:t>The audio (L3_L1_listening.mp3, about 1:31) plays the conversation once. Press play again for play 2. A third play is fine if the class needs it.</a:t>
            </a:r>
          </a:p>
          <a:p>
            <a:r>
              <a:rPr lang="en-US" dirty="0"/>
              <a:t>No speaker? Read the script with a volunteer at a normal, friendly speed.</a:t>
            </a:r>
          </a:p>
          <a:p>
            <a:r>
              <a:rPr lang="en-US" dirty="0"/>
              <a:t>Next slide: play 1, Task A.</a:t>
            </a:r>
          </a:p>
          <a:p>
            <a:r>
              <a:rPr lang="en-US" dirty="0"/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rPr lang="en-US" dirty="0"/>
              <a:t>Source: Level3_Lesson1.md (Step 4; Listening script; Picture Credits).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6:15–6:22 · New Words · 7 min (this slide and the next). Whole class, then pairs.</a:t>
            </a:r>
          </a:p>
          <a:p>
            <a:r>
              <a:rPr lang="en-US" dirty="0"/>
              <a:t>Point to each picture and say the word. Learners repeat once. ★ = the most important words.</a:t>
            </a:r>
          </a:p>
          <a:p>
            <a:r>
              <a:rPr lang="en-US" dirty="0"/>
              <a:t>Act out small talk: say "Nice day, isn't it?" to a learner.</a:t>
            </a:r>
          </a:p>
          <a:p>
            <a:r>
              <a:rPr lang="en-US" dirty="0"/>
              <a:t>Follow-up question: point to the picture. "I got a new job." → "Really? Where?" The second question asks for more.</a:t>
            </a:r>
          </a:p>
          <a:p>
            <a:r>
              <a:rPr lang="en-US" dirty="0"/>
              <a:t>Reason: ask "Why?" and answer "Because it's cheap." Say: "That's the reason."</a:t>
            </a:r>
          </a:p>
          <a:p>
            <a:r>
              <a:rPr lang="en-US" dirty="0"/>
              <a:t>If behind: teach the ★ words only.</a:t>
            </a:r>
          </a:p>
          <a:p>
            <a:r>
              <a:rPr lang="en-US" dirty="0"/>
              <a:t>Source: Level3_Lesson1.md (Step 3; Key vocabulary; New Words page).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combined, with drawn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4 (with Box 3, 3 min). Write on the board: because + reason, so + result.</a:t>
            </a:r>
          </a:p>
          <a:p>
            <a:r>
              <a:rPr lang="en-US" dirty="0"/>
              <a:t>Read one row from each box. Click to show the result lines (2 clicks: the white box, then the blue box).</a:t>
            </a:r>
          </a:p>
          <a:p>
            <a:r>
              <a:rPr lang="en-US" dirty="0"/>
              <a:t>Ask: "My car broke down. Is that the reason or the result?" (reason) "I took the bus." (result).</a:t>
            </a:r>
          </a:p>
          <a:p>
            <a:r>
              <a:rPr lang="en-US" dirty="0"/>
              <a:t>because comes before the reason; so comes before the result. Put a comma before so. Use one word, not both: "I was tired, so I stayed home." or "I stayed home because I was tired."</a:t>
            </a:r>
          </a:p>
          <a:p>
            <a:r>
              <a:rPr lang="en-US" dirty="0"/>
              <a:t>Quick test: "Why?" is answered by the because part.</a:t>
            </a:r>
          </a:p>
          <a:p>
            <a:r>
              <a:rPr lang="en-US" dirty="0"/>
              <a:t>Check question: "I was sick, ___ I stayed home." (so)</a:t>
            </a:r>
          </a:p>
          <a:p>
            <a:r>
              <a:rPr lang="en-US" dirty="0"/>
              <a:t>Pair drill (last 3 min): A asks a Why…? question. B answers with because. A asks one follow-up. Switch. If behind: skip the pair drill; Talk Time practices it.</a:t>
            </a:r>
          </a:p>
          <a:p>
            <a:r>
              <a:rPr lang="en-US" dirty="0"/>
              <a:t>Source: Level3_Lesson1.md (Step 5; Grammar Box 4;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slowly. Learners repeat.</a:t>
            </a:r>
          </a:p>
          <a:p>
            <a:r>
              <a:rPr lang="en-US" dirty="0"/>
              <a:t>Goal 1 is review from Level 2: do = now (What do you do on weekends?), did = the past (What did you do last weekend?), going to = the future (What are you going to do this weekend?).</a:t>
            </a:r>
          </a:p>
          <a:p>
            <a:r>
              <a:rPr lang="en-US" dirty="0"/>
              <a:t>Goals 2 to 4 are new tonight: follow-up questions (Really? Why? What happened? How was it? What about you?), because + a reason, so + a result.</a:t>
            </a:r>
          </a:p>
          <a:p>
            <a:r>
              <a:rPr lang="en-US" dirty="0"/>
              <a:t>Goal 5: later tonight, learners read a community center flyer and write 3 sentences about a classmate.</a:t>
            </a:r>
          </a:p>
          <a:p>
            <a:r>
              <a:rPr lang="en-US" dirty="0"/>
              <a:t>Say: "In Level 3, don't stop at one word. Give a reason. Ask a question back."</a:t>
            </a:r>
          </a:p>
          <a:p>
            <a:r>
              <a:rPr lang="en-US" dirty="0"/>
              <a:t>"We check at 7:25" = the Progress Check, the first can-do self-check. It is not a test grade.</a:t>
            </a:r>
          </a:p>
          <a:p>
            <a:r>
              <a:rPr lang="en-US" dirty="0"/>
              <a:t>Source: Level3_Lesson1.md (At a glance: Objectives; How Our Class Works; Progress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drill (last 3 min of Step 5). Pairs.</a:t>
            </a:r>
          </a:p>
          <a:p>
            <a:r>
              <a:rPr lang="en-US" dirty="0"/>
              <a:t>A asks a Why…? question (use Box 3). B answers with because. A asks one follow-up question (use Box 2). Then switch.</a:t>
            </a:r>
          </a:p>
          <a:p>
            <a:r>
              <a:rPr lang="en-US" dirty="0"/>
              <a:t>Model it with one learner first: "Why did you stay home?" → "Because I was tired." → "Are you OK?"</a:t>
            </a:r>
          </a:p>
          <a:p>
            <a:r>
              <a:rPr lang="en-US" dirty="0"/>
              <a:t>Check it: ask "Do you write or speak?" (speak) "How many follow-up questions?" (one). Then go.</a:t>
            </a:r>
          </a:p>
          <a:p>
            <a:r>
              <a:rPr lang="en-US" dirty="0"/>
              <a:t>Mixed levels: stronger learners ask more follow-ups and give two reasons. New learners read Box 2 and Box 3 on their page as a script.</a:t>
            </a:r>
          </a:p>
          <a:p>
            <a:r>
              <a:rPr lang="en-US" dirty="0"/>
              <a:t>If behind: skip the pair drill. Talk Time practices it.</a:t>
            </a:r>
          </a:p>
          <a:p>
            <a:r>
              <a:rPr lang="en-US" dirty="0"/>
              <a:t>Source: Level3_Lesson1.md (Step 5: Pair drill; Grammar Boxes 2 and 3; How to Use This Plan;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7:00–7:12 · Talk Time: The Three-Question Rule · 12 min. Inside–outside circles: the inner circle faces out, the outer circle faces in.</a:t>
            </a:r>
          </a:p>
          <a:p>
            <a:r>
              <a:rPr lang="en-US" dirty="0"/>
              <a:t>15 learners: two circles of 7–8 (the teacher or one trio fills a gap). 7–8 learners: one circle. 5 or fewer: sit at one table and rotate seats.</a:t>
            </a:r>
          </a:p>
          <a:p>
            <a:r>
              <a:rPr lang="en-US" dirty="0"/>
              <a:t>The rule: the inner circle has a question card. A asks the card question. B answers. A must ask two follow-up questions. B must use because or so at least once. Then switch roles, and the outer circle moves one person to the right.</a:t>
            </a:r>
          </a:p>
          <a:p>
            <a:r>
              <a:rPr lang="en-US" dirty="0"/>
              <a:t>Model with one learner (1 min): "What do you do on weekends?" → "I play soccer." → "Really? Where?" → "In the park, because it's free." → "Who do you play with?" (Each click shows the next step.)</a:t>
            </a:r>
          </a:p>
          <a:p>
            <a:r>
              <a:rPr lang="en-US" dirty="0"/>
              <a:t>Do 3–4 rounds of about 2 minutes. Learners write one answer on their Talk Time page after each round.</a:t>
            </a:r>
          </a:p>
          <a:p>
            <a:r>
              <a:rPr lang="en-US" dirty="0"/>
              <a:t>Follow-ups on the board: Really? Why? What happened? How was it? What about you?</a:t>
            </a:r>
          </a:p>
          <a:p>
            <a:r>
              <a:rPr lang="en-US" dirty="0"/>
              <a:t>Baseline snapshot: while learners talk, call about 5 learners, one at a time, for 2 minutes, and use the checklist after the answer key. Do the rest in Weeks 2 and 3.</a:t>
            </a:r>
          </a:p>
          <a:p>
            <a:r>
              <a:rPr lang="en-US" dirty="0"/>
              <a:t>Privacy: learners choose what to share; any answer can be invented. Praise every follow-up you hear, even a simple "Really?"</a:t>
            </a:r>
          </a:p>
          <a:p>
            <a:r>
              <a:rPr lang="en-US" dirty="0"/>
              <a:t>If behind: two rounds only.</a:t>
            </a:r>
          </a:p>
          <a:p>
            <a:r>
              <a:rPr lang="en-US" dirty="0"/>
              <a:t>Source: Level3_Lesson1.md (Step 6; Talk Time page; Grouping toolkit;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· 7:12–7:17 · Exit Ticket + Homework · 5 min · NEVER SKIP.</a:t>
            </a:r>
          </a:p>
          <a:p>
            <a:r>
              <a:rPr lang="en-US" dirty="0"/>
              <a:t>Exit ticket: each learner writes two sentences on a slip: one about a classmate ("Rosa takes the bus because she doesn't have a car.") and one with so. Collect the slips at the door.</a:t>
            </a:r>
          </a:p>
          <a:p>
            <a:r>
              <a:rPr lang="en-US" dirty="0"/>
              <a:t>Homework: open the Homework page. Do item 1 together. Say: "About 15 minutes. Bring it next week."</a:t>
            </a:r>
          </a:p>
          <a:p>
            <a:r>
              <a:rPr lang="en-US" dirty="0"/>
              <a:t>Homework items: 1 answer 3 Why questions with because; 2 ask a friend, family member, or coworker 2 questions, with one follow-up each, and write the answers; 3 join two sentences with so; 4 review: write 2 sentences about last weekend.</a:t>
            </a:r>
          </a:p>
          <a:p>
            <a:r>
              <a:rPr lang="en-US" dirty="0"/>
              <a:t>Source: Level3_Lesson1.md (Step 7; Homework page).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A. Read the 4 lines with the class first: has good news, has bad news, is very tired, has a new job.</a:t>
            </a:r>
          </a:p>
          <a:p>
            <a:r>
              <a:rPr lang="en-US" dirty="0"/>
              <a:t>Play 1: play the whole audio (about 1:31). Learners check Elena or David on their page.</a:t>
            </a:r>
          </a:p>
          <a:p>
            <a:r>
              <a:rPr lang="en-US" dirty="0"/>
              <a:t>Pairs compare. Then check together: click to show the answer. Each click circles one answer, in order 1 to 4: 1 Elena, 2 David, 3 David, 4 Elena.</a:t>
            </a:r>
          </a:p>
          <a:p>
            <a:r>
              <a:rPr lang="en-US" dirty="0"/>
              <a:t>Then read Tasks B and C together (1 min), so learners know what to listen for in play 2.</a:t>
            </a:r>
          </a:p>
          <a:p>
            <a:r>
              <a:rPr lang="en-US" dirty="0"/>
              <a:t>Source: Level3_Lesson1.md (Step 4;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You don't need to read this slide in class.</a:t>
            </a:r>
          </a:p>
          <a:p>
            <a:r>
              <a:rPr lang="en-US" dirty="0"/>
              <a:t>Pictures: Twemoji graphics by Twitter, Inc. and other contributors, CC BY 4.0; the file-by-file list is in images/CREDITS.md.</a:t>
            </a:r>
          </a:p>
          <a:p>
            <a:r>
              <a:rPr lang="en-US" dirty="0"/>
              <a:t>Audio: L3_L1_listening.mp3 uses computer-generated voices (Chatterbox TTS, MIT License, cloned from synthetic Kokoro-82M reference clips, Apache License 2.0). No recordings of real people. The names and the story are invented.</a:t>
            </a:r>
          </a:p>
          <a:p>
            <a:r>
              <a:rPr lang="en-US" dirty="0"/>
              <a:t>Course materials: © 2026 the authors, licensed under CC BY-NC-SA 4.0 (https://creativecommons.org/licenses/by-nc-sa/4.0/).</a:t>
            </a:r>
          </a:p>
          <a:p>
            <a:r>
              <a:rPr lang="en-US" dirty="0"/>
              <a:t>Source: Level3_Lesson1.md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3, continued. Point to each picture and say the word. Learners repeat once.</a:t>
            </a:r>
          </a:p>
          <a:p>
            <a:r>
              <a:rPr lang="en-US" dirty="0"/>
              <a:t>Act out introduce: introduce one learner to another ("Rosa, this is Ana"). Act out get along: smile and shake hands with a learner.</a:t>
            </a:r>
          </a:p>
          <a:p>
            <a:r>
              <a:rPr lang="en-US" dirty="0"/>
              <a:t>Partner game (2 min): A says a word. B points to the picture and makes a short sentence ("My neighbor is friendly." / "My coworker is very friendly."). Switch.</a:t>
            </a:r>
          </a:p>
          <a:p>
            <a:r>
              <a:rPr lang="en-US" dirty="0"/>
              <a:t>My language column: learners may write each word in their language at home. Don't spend class time on it.</a:t>
            </a:r>
          </a:p>
          <a:p>
            <a:r>
              <a:rPr lang="en-US" dirty="0"/>
              <a:t>If behind: teach the ★ words only (bad news, chat, introduce).</a:t>
            </a:r>
          </a:p>
          <a:p>
            <a:r>
              <a:rPr lang="en-US" dirty="0"/>
              <a:t>Source: Level3_Lesson1.md (Step 3; New Words page; Partner game).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combined, with drawn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check. Three sentences in Task B are false. Ask: "What's the right answer?" Learners say it first. Then click to show the answer. Each click shows one answer, in order 2, 4, 6.</a:t>
            </a:r>
          </a:p>
          <a:p>
            <a:r>
              <a:rPr lang="en-US" dirty="0"/>
              <a:t>2: David took the bus (not a taxi). • 4: Elena's new job is at a hospital (not a school). • 6: David starts at six (not seven).</a:t>
            </a:r>
          </a:p>
          <a:p>
            <a:r>
              <a:rPr lang="en-US" dirty="0"/>
              <a:t>"Say it" (2 min): read the 2 lines: "Really? Why?" and "What about you? How was your week?" The class repeats each line twice.</a:t>
            </a:r>
          </a:p>
          <a:p>
            <a:r>
              <a:rPr lang="en-US" dirty="0"/>
              <a:t>Make Really? go up and sound interested.</a:t>
            </a:r>
          </a:p>
          <a:p>
            <a:r>
              <a:rPr lang="en-US" dirty="0"/>
              <a:t>Source: Level3_Lesson1.md (Step 4: "Say it"; Answer key: Listening Task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rPr lang="en-US" dirty="0"/>
              <a:t>1: use because or so, not both. • 2: Why do you…? (add do) • 3: What did you do…? (did before you) • 4: Because + reason (no of) • 5: I'm going to… (add am) • 6: don't give one-word answers; add a detail and ask the question back.</a:t>
            </a:r>
          </a:p>
          <a:p>
            <a:r>
              <a:rPr lang="en-US" dirty="0"/>
              <a:t>Say the right form clearly; the learner repeats.</a:t>
            </a:r>
          </a:p>
          <a:p>
            <a:r>
              <a:rPr lang="en-US" dirty="0"/>
              <a:t>Tip: in English, a one-word answer can sound unfriendly or bored. Add a reason (because…) or ask a question back (What about you?).</a:t>
            </a:r>
          </a:p>
          <a:p>
            <a:r>
              <a:rPr lang="en-US" dirty="0"/>
              <a:t>Source: Level3_Lesson1.md (Grammar: Common mistakes; Tip for speakers of other languages; Teacher notes: Typical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6:10–6:15 · Orientation · 5 min. Whole class. Learners open the Student Pages to How Our Class Works.</a:t>
            </a:r>
          </a:p>
          <a:p>
            <a:r>
              <a:rPr lang="en-US" dirty="0"/>
              <a:t>Show the times: class 6:00, break 6:45, back 7:00, end 7:30.</a:t>
            </a:r>
          </a:p>
          <a:p>
            <a:r>
              <a:rPr lang="en-US" dirty="0"/>
              <a:t>Say and show the 3 rules: (1) "English in class. A classmate can help you for a few seconds. Then back to English." (2) "Homework every week. About 15 minutes." (3) "Phones are OK for the audio and a dictionary."</a:t>
            </a:r>
          </a:p>
          <a:p>
            <a:r>
              <a:rPr lang="en-US" dirty="0"/>
              <a:t>Left side: the task words. We use the same short task words every week. Read each line; act it out (hand to ear for Listen, write in the air for Write, draw a circle for Circle).</a:t>
            </a:r>
          </a:p>
          <a:p>
            <a:r>
              <a:rPr lang="en-US" dirty="0"/>
              <a:t>Point to the Task Words page and say: "You can write them in your language here." Point to the My language column. No one has to.</a:t>
            </a:r>
          </a:p>
          <a:p>
            <a:r>
              <a:rPr lang="en-US" dirty="0"/>
              <a:t>Also say: "In this class, we don't give one-word answers. We give a reason, and we ask a question back."</a:t>
            </a:r>
          </a:p>
          <a:p>
            <a:r>
              <a:rPr lang="en-US" dirty="0"/>
              <a:t>If behind: show the times and say the 3 rules only.</a:t>
            </a:r>
          </a:p>
          <a:p>
            <a:r>
              <a:rPr lang="en-US" dirty="0"/>
              <a:t>Source: Level3_Lesson1.md (Step 2; How to Use This Plan: Instructions; Task Words; How Our Class Works).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C (play 2, with Task B). Learners write because or so in each line.</a:t>
            </a:r>
          </a:p>
          <a:p>
            <a:r>
              <a:rPr lang="en-US" dirty="0"/>
              <a:t>Pairs compare. Then check together: click to show the answer. Each click shows one answer, in order 1 to 5.</a:t>
            </a:r>
          </a:p>
          <a:p>
            <a:r>
              <a:rPr lang="en-US" dirty="0"/>
              <a:t>Answers: 1 Because • 2 so • 3 because • 4 so • 5 because.</a:t>
            </a:r>
          </a:p>
          <a:p>
            <a:r>
              <a:rPr lang="en-US" dirty="0"/>
              <a:t>Line 2 is short on the slide. The full line on the page is: "Now it's at the mechanic, so I took the bus to work every day this week."</a:t>
            </a:r>
          </a:p>
          <a:p>
            <a:r>
              <a:rPr lang="en-US" dirty="0"/>
              <a:t>If behind: do Task C together on the board, reading the lines yourself.</a:t>
            </a:r>
          </a:p>
          <a:p>
            <a:r>
              <a:rPr lang="en-US" dirty="0"/>
              <a:t>Source: Level3_Lesson1.md (Step 4;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B (play 2). Before play 2, read Tasks B and C together (1 min) so learners know what to listen for.</a:t>
            </a:r>
          </a:p>
          <a:p>
            <a:r>
              <a:rPr lang="en-US" dirty="0"/>
              <a:t>Play 2: play the whole audio again. Learners check True or False on their page (and write because or so for Task C).</a:t>
            </a:r>
          </a:p>
          <a:p>
            <a:r>
              <a:rPr lang="en-US" dirty="0"/>
              <a:t>Pairs compare. Then check together: click to show the answer. Each click circles one answer, in order 1 to 6.</a:t>
            </a:r>
          </a:p>
          <a:p>
            <a:r>
              <a:rPr lang="en-US" dirty="0"/>
              <a:t>Answers: 1 True • 2 False (he took the bus) • 3 True • 4 False (at a hospital) • 5 True • 6 False (he starts at six).</a:t>
            </a:r>
          </a:p>
          <a:p>
            <a:r>
              <a:rPr lang="en-US" dirty="0"/>
              <a:t>A third play is fine if the class needs it.</a:t>
            </a:r>
          </a:p>
          <a:p>
            <a:r>
              <a:rPr lang="en-US" dirty="0"/>
              <a:t>Source: Level3_Lesson1.md (Step 4;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title: "Goodbye! See you next week!" Learners repeat.</a:t>
            </a:r>
          </a:p>
          <a:p>
            <a:r>
              <a:rPr lang="en-US" dirty="0"/>
              <a:t>Read the three "Now you can" lines. Ask one learner a quick question and wait for a follow-up from the class ("I'm tired." → "Really? Why?").</a:t>
            </a:r>
          </a:p>
          <a:p>
            <a:r>
              <a:rPr lang="en-US" dirty="0"/>
              <a:t>Remind learners: homework is about 15 minutes. Bring it next week.</a:t>
            </a:r>
          </a:p>
          <a:p>
            <a:r>
              <a:rPr lang="en-US" dirty="0"/>
              <a:t>Praise every follow-up question you heard tonight, even a simple "Really?"</a:t>
            </a:r>
          </a:p>
          <a:p>
            <a:r>
              <a:rPr lang="en-US" dirty="0"/>
              <a:t>Source: Level3_Lesson1.md (At a glance: Objectives; Step 7;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3 (with Box 4, 3 min). Write on the board: because + reason.</a:t>
            </a:r>
          </a:p>
          <a:p>
            <a:r>
              <a:rPr lang="en-US" dirty="0"/>
              <a:t>Read a question from the left. The class answers with Because. Then click to show the answer. Each click shows one answer, in order 1, 2, 3.</a:t>
            </a:r>
          </a:p>
          <a:p>
            <a:r>
              <a:rPr lang="en-US" dirty="0"/>
              <a:t>Point to do / does / did: Why do you…? (now) • Why does she…? (she, now) • Why did you…? (the past). Don't forget do / did in the question.</a:t>
            </a:r>
          </a:p>
          <a:p>
            <a:r>
              <a:rPr lang="en-US" dirty="0"/>
              <a:t>In a conversation, after Why?, you can start with Because: "Why? Because I was tired." In writing, join it to the other sentence: "I stayed home because I was tired."</a:t>
            </a:r>
          </a:p>
          <a:p>
            <a:r>
              <a:rPr lang="en-US" dirty="0"/>
              <a:t>Check questions: "I stayed home ___ I was sick." (because) • "Why ___ you take the bus?" (do)</a:t>
            </a:r>
          </a:p>
          <a:p>
            <a:r>
              <a:rPr lang="en-US" dirty="0"/>
              <a:t>Typical mistake: "Why you take the bus?" Say the right form clearly: "Why do you take the bus?" The learner repeats.</a:t>
            </a:r>
          </a:p>
          <a:p>
            <a:r>
              <a:rPr lang="en-US" dirty="0"/>
              <a:t>Source: Level3_Lesson1.md (Step 5; Grammar Box 3;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speech bubbles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(part of Step 5). Learners write because or so in each sentence on their Grammar page.</a:t>
            </a:r>
          </a:p>
          <a:p>
            <a:r>
              <a:rPr lang="en-US" dirty="0"/>
              <a:t>Ask for each line: "Is the next part the reason or the result?" Reason = because. Result = so.</a:t>
            </a:r>
          </a:p>
          <a:p>
            <a:r>
              <a:rPr lang="en-US" dirty="0"/>
              <a:t>Pairs check. Then click to show the answer. Each click shows one answer, in order 1 to 6.</a:t>
            </a:r>
          </a:p>
          <a:p>
            <a:r>
              <a:rPr lang="en-US" dirty="0"/>
              <a:t>Answers: 1 because • 2 so • 3 because • 4 so • 5 because • 6 so.</a:t>
            </a:r>
          </a:p>
          <a:p>
            <a:r>
              <a:rPr lang="en-US" dirty="0"/>
              <a:t>Source: Level3_Lesson1.md (Grammar: Practice; Answer key: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g1_L3_small_talk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G1img" Type="http://schemas.openxmlformats.org/officeDocument/2006/relationships/image" Target="../media/g1_L3_follow_up_questio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"1.0" encoding="UTF-8" standalone="yes"?>
<Relationships xmlns="http://schemas.openxmlformats.org/package/2006/relationships"><Relationship Id="rIdG1" Type="http://schemas.openxmlformats.org/officeDocument/2006/relationships/image" Target="../media/g2_L3_neighbor.png"/><Relationship Id="rIdG2" Type="http://schemas.openxmlformats.org/officeDocument/2006/relationships/image" Target="../media/g2_L3_coworker.png"/><Relationship Id="rIdG3" Type="http://schemas.openxmlformats.org/officeDocument/2006/relationships/image" Target="../media/g2_L3_small_talk.png"/><Relationship Id="rIdG4" Type="http://schemas.openxmlformats.org/officeDocument/2006/relationships/image" Target="../media/g2_L3_follow_up_question.png"/><Relationship Id="rIdG5" Type="http://schemas.openxmlformats.org/officeDocument/2006/relationships/image" Target="../media/g2_L3_reason.png"/><Relationship Id="rIdG6" Type="http://schemas.openxmlformats.org/officeDocument/2006/relationships/image" Target="../media/g2_L3_good_new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"1.0" encoding="UTF-8" standalone="yes"?>
<Relationships xmlns="http://schemas.openxmlformats.org/package/2006/relationships"><Relationship Id="rIdG1" Type="http://schemas.openxmlformats.org/officeDocument/2006/relationships/image" Target="../media/g2_L3_bad_news.png"/><Relationship Id="rIdG2" Type="http://schemas.openxmlformats.org/officeDocument/2006/relationships/image" Target="../media/g2_L3_chat.png"/><Relationship Id="rIdG3" Type="http://schemas.openxmlformats.org/officeDocument/2006/relationships/image" Target="../media/g2_L3_introduce.png"/><Relationship Id="rIdG4" Type="http://schemas.openxmlformats.org/officeDocument/2006/relationships/image" Target="../media/g2_L3_community_center.png"/><Relationship Id="rIdG5" Type="http://schemas.openxmlformats.org/officeDocument/2006/relationships/image" Target="../media/g2_L3_volunteer.png"/><Relationship Id="rIdG6" Type="http://schemas.openxmlformats.org/officeDocument/2006/relationships/image" Target="../media/g2_L3_get_alo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7.xml.rels><?xml version="1.0" encoding="UTF-8" standalone="yes"?>
<Relationships xmlns="http://schemas.openxmlformats.org/package/2006/relationships"><Relationship Id="rIdG3w1" Type="http://schemas.openxmlformats.org/officeDocument/2006/relationships/image" Target="../media/g3_L3_coworker.png"/><Relationship Id="rIdG3w2" Type="http://schemas.openxmlformats.org/officeDocument/2006/relationships/image" Target="../media/g3_L3_good_news.png"/><Relationship Id="rIdG3w3" Type="http://schemas.openxmlformats.org/officeDocument/2006/relationships/image" Target="../media/g3_L3_volunte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G1" Type="http://schemas.openxmlformats.org/officeDocument/2006/relationships/image" Target="../media/g3_L3_neighbo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0.xml.rels><?xml version="1.0" encoding="UTF-8" standalone="yes"?>
<Relationships xmlns="http://schemas.openxmlformats.org/package/2006/relationships"><Relationship Id="rIdG1" Type="http://schemas.openxmlformats.org/officeDocument/2006/relationships/image" Target="../media/g7_L3_get_alo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2.xml.rels><?xml version="1.0" encoding="UTF-8" standalone="yes"?>
<Relationships xmlns="http://schemas.openxmlformats.org/package/2006/relationships"><Relationship Id="rIdG1" Type="http://schemas.openxmlformats.org/officeDocument/2006/relationships/image" Target="../media/g5_L3_follow_up_questio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G1" Type="http://schemas.openxmlformats.org/officeDocument/2006/relationships/image" Target="../media/g5_L3_cha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G1" Type="http://schemas.openxmlformats.org/officeDocument/2006/relationships/image" Target="../media/g6_L3_bad_new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G1" Type="http://schemas.openxmlformats.org/officeDocument/2006/relationships/image" Target="../media/g6_L3_reaso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"1.0" encoding="UTF-8" standalone="yes"?>
<Relationships xmlns="http://schemas.openxmlformats.org/package/2006/relationships"><Relationship Id="rIdG1" Type="http://schemas.openxmlformats.org/officeDocument/2006/relationships/image" Target="../media/g7_L3_cha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
<Relationships xmlns="http://schemas.openxmlformats.org/package/2006/relationships"><Relationship Id="rIdG1" Type="http://schemas.openxmlformats.org/officeDocument/2006/relationships/image" Target="../media/g7_L3_introduc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g8_L3_get_along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
<Relationships xmlns="http://schemas.openxmlformats.org/package/2006/relationships"><Relationship Id="rIdG1" Type="http://schemas.openxmlformats.org/officeDocument/2006/relationships/image" Target="../media/g5_L3_reaso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Small talk: two people say 'Nice day, isn't it?' and 'Yes, it is!'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3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More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follow-up questions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reason with because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 result with so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about my week.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 ·  did  ·  going to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2302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 follow-up question.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reason with because.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 result with so.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about a classmate.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stop at one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Name tag" descr="Follow-up question: 'I got a new job.' then 'Really? Where?'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Question,</a:t>
            </a:r>
            <a:endParaRPr lang="en-US" sz="54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Follow-Up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do last weekend?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How was it?</a:t>
            </a:r>
            <a:endParaRPr lang="en-US" sz="2200" dirty="0"/>
          </a:p>
        </p:txBody>
      </p:sp>
      <p:sp>
        <p:nvSpPr>
          <p:cNvPr id="14" name="Model Carlos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new partner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 ·  Listen again.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55117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  ·  Write.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  ·  Check.  ·  Match.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 or a group.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a follow-up. Give a reason.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Our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Works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Class: 6:00–7:30</a:t>
            </a:r>
            <a:b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 in class.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every week.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Phones OK: audio, dictionary.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17" name="Word picture 1" descr="Neighbor: two houses side by side; a woman and a man wave to each other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neighbor</a:t>
            </a:r>
            <a:endParaRPr lang="en-US" sz="2000" dirty="0"/>
          </a:p>
        </p:txBody>
      </p:sp>
      <p:pic>
        <p:nvPicPr>
          <p:cNvPr id="19" name="Word picture 2" descr="Coworker: two cooks at the same counter, 'same job, same place'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coworker</a:t>
            </a:r>
            <a:endParaRPr lang="en-US" sz="2000" dirty="0"/>
          </a:p>
        </p:txBody>
      </p:sp>
      <p:pic>
        <p:nvPicPr>
          <p:cNvPr id="21" name="Word picture 3" descr="Small talk: 'Nice day, isn't it?' 'Yes, it is!'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small talk</a:t>
            </a:r>
            <a:endParaRPr lang="en-US" sz="2000" dirty="0"/>
          </a:p>
        </p:txBody>
      </p:sp>
      <p:pic>
        <p:nvPicPr>
          <p:cNvPr id="23" name="Word picture 4" descr="Follow-up question: 'I got a new job.' then 'Really? Where?'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 question</a:t>
            </a:r>
            <a:endParaRPr lang="en-US" sz="2000" dirty="0"/>
          </a:p>
        </p:txBody>
      </p:sp>
      <p:pic>
        <p:nvPicPr>
          <p:cNvPr id="25" name="Word picture 5" descr="Reason: thinking face and light bulb; 'Why?' 'Because it's cheap. = the reason'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reason</a:t>
            </a:r>
            <a:endParaRPr lang="en-US" sz="2000" dirty="0"/>
          </a:p>
        </p:txBody>
      </p:sp>
      <p:pic>
        <p:nvPicPr>
          <p:cNvPr id="27" name="Word picture 6" descr="Good news: happy face and party popper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news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/>
          </a:p>
        </p:txBody>
      </p:sp>
      <p:pic>
        <p:nvPicPr>
          <p:cNvPr id="17" name="Word picture 1" descr="Bad news: worried face and rain clou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bad news</a:t>
            </a:r>
            <a:endParaRPr lang="en-US" sz="2000" dirty="0"/>
          </a:p>
        </p:txBody>
      </p:sp>
      <p:pic>
        <p:nvPicPr>
          <p:cNvPr id="19" name="Word picture 2" descr="Chat: two people, a speech balloon, and a coffee cup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chat</a:t>
            </a:r>
            <a:endParaRPr lang="en-US" sz="2000" dirty="0"/>
          </a:p>
        </p:txBody>
      </p:sp>
      <p:pic>
        <p:nvPicPr>
          <p:cNvPr id="21" name="Word picture 3" descr="Introduce: a man introduces a woman: 'This is Ana.' 'Nice to meet you!'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introduce</a:t>
            </a:r>
            <a:endParaRPr lang="en-US" sz="2000" dirty="0"/>
          </a:p>
        </p:txBody>
      </p:sp>
      <p:pic>
        <p:nvPicPr>
          <p:cNvPr id="23" name="Word picture 4" descr="Community center: building with a sign, 'classes and events'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community center</a:t>
            </a:r>
            <a:endParaRPr lang="en-US" sz="2000" dirty="0"/>
          </a:p>
        </p:txBody>
      </p:sp>
      <p:pic>
        <p:nvPicPr>
          <p:cNvPr id="25" name="Word picture 5" descr="Volunteer: a person raises a hand, 'helps for free'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volunteer</a:t>
            </a:r>
            <a:endParaRPr lang="en-US" sz="2000" dirty="0"/>
          </a:p>
        </p:txBody>
      </p:sp>
      <p:pic>
        <p:nvPicPr>
          <p:cNvPr id="27" name="Word picture 6" descr="Get along: two smiling faces and a handshake, 'friendly together'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 along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coworker at home or at work?</a:t>
            </a:r>
            <a:endParaRPr lang="en-US" sz="2600" dirty="0"/>
          </a:p>
        </p:txBody>
      </p:sp>
      <p:pic>
        <p:nvPicPr>
          <p:cNvPr id="101" name="Quiz picture 1" descr="Coworker: two cooks at the same counter"/>
          <p:cNvPicPr>
            <a:picLocks noChangeAspect="1"/>
          </p:cNvPicPr>
          <p:nvPr/>
        </p:nvPicPr>
        <p:blipFill>
          <a:blip r:embed="rIdG3w1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new job good news or bad news?</a:t>
            </a:r>
            <a:endParaRPr lang="en-US" sz="2600" dirty="0"/>
          </a:p>
        </p:txBody>
      </p:sp>
      <p:pic>
        <p:nvPicPr>
          <p:cNvPr id="102" name="Quiz picture 2" descr="Good news: happy face and party popper"/>
          <p:cNvPicPr>
            <a:picLocks noChangeAspect="1"/>
          </p:cNvPicPr>
          <p:nvPr/>
        </p:nvPicPr>
        <p:blipFill>
          <a:blip r:embed="rIdG3w2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a volunteer get money?</a:t>
            </a:r>
            <a:endParaRPr lang="en-US" sz="2600" dirty="0"/>
          </a:p>
        </p:txBody>
      </p:sp>
      <p:pic>
        <p:nvPicPr>
          <p:cNvPr id="103" name="Quiz picture 3" descr="Volunteer: a person raises a hand, 'helps for free'"/>
          <p:cNvPicPr>
            <a:picLocks noChangeAspect="1"/>
          </p:cNvPicPr>
          <p:nvPr/>
        </p:nvPicPr>
        <p:blipFill>
          <a:blip r:embed="rIdG3w3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work</a:t>
            </a:r>
            <a:endParaRPr lang="en-US" sz="2800" dirty="0"/>
          </a:p>
        </p:txBody>
      </p:sp>
      <p:sp>
        <p:nvSpPr>
          <p:cNvPr id="26" name="Answer are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news</a:t>
            </a:r>
            <a:endParaRPr lang="en-US" sz="2800" dirty="0"/>
          </a:p>
        </p:txBody>
      </p:sp>
      <p:sp>
        <p:nvSpPr>
          <p:cNvPr id="27" name="Answer doe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and David are neighbors. It's Saturday morning, at the laundromat.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ture teacher" descr="Neighbors: two houses side by side; a woman and a man wave to each other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/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200" dirty="0"/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</a:t>
            </a:r>
            <a:endParaRPr lang="en-US" sz="2200" dirty="0"/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/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has good news?</a:t>
            </a:r>
            <a:endParaRPr lang="en-US" sz="2200" dirty="0"/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has bad news?</a:t>
            </a:r>
            <a:endParaRPr lang="en-US" sz="2200" dirty="0"/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1:31. It plays once.</a:t>
            </a:r>
            <a:endParaRPr lang="en-US" sz="2200" dirty="0"/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Elena or David.</a:t>
            </a:r>
            <a:endParaRPr lang="en-US" sz="2200" dirty="0"/>
          </a:p>
        </p:txBody>
      </p:sp>
      <p:sp>
        <p:nvSpPr>
          <p:cNvPr id="27" name="Statement 1"/>
          <p:cNvSpPr/>
          <p:nvPr/>
        </p:nvSpPr>
        <p:spPr>
          <a:xfrm>
            <a:off x="502920" y="320040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has good news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658368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832104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6455664" y="313639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4005072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has bad news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658368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832104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8193024" y="394106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809743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is very tired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658368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832104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8193024" y="4745735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5614415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has a new job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658368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832104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6455664" y="5550407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spell" descr="Get along: two smiling faces and a handshake, 'friendly together'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274739" y="3680460"/>
            <a:ext cx="3449900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 B gives a reason.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200" dirty="0"/>
          </a:p>
        </p:txBody>
      </p:sp>
      <p:sp>
        <p:nvSpPr>
          <p:cNvPr id="60" name="Letter 60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did you stay home?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I was tired.</a:t>
            </a:r>
            <a:endParaRPr lang="en-US" sz="2200" dirty="0"/>
          </a:p>
        </p:txBody>
      </p:sp>
      <p:sp>
        <p:nvSpPr>
          <p:cNvPr id="70" name="Letter 70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OK?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200" dirty="0"/>
          </a:p>
        </p:txBody>
      </p:sp>
      <p:sp>
        <p:nvSpPr>
          <p:cNvPr id="25" name="Subtitle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Why…? Answer with because. Ask one follow-up. Switch.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162397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71576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42717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4849977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556138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169164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 false sentences.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0939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B: 2, 4, 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2715768"/>
            <a:ext cx="35204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 took the ____ to work.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427171"/>
            <a:ext cx="35204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Elena's job is at a ____.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849977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556138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 you? How was your week?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162397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175473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271576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7011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42717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40522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and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Really? go up.</a:t>
            </a:r>
            <a:endParaRPr lang="en-US" sz="2000" dirty="0"/>
          </a:p>
        </p:txBody>
      </p:sp>
      <p:sp>
        <p:nvSpPr>
          <p:cNvPr id="34" name="Answer 1"/>
          <p:cNvSpPr/>
          <p:nvPr/>
        </p:nvSpPr>
        <p:spPr>
          <a:xfrm>
            <a:off x="5358384" y="2788920"/>
            <a:ext cx="1298448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358384" y="3500323"/>
            <a:ext cx="1298448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hospital</a:t>
            </a:r>
            <a:endParaRPr lang="en-US" sz="2200" dirty="0"/>
          </a:p>
        </p:txBody>
      </p:sp>
      <p:sp>
        <p:nvSpPr>
          <p:cNvPr id="36" name="Row card 3"/>
          <p:cNvSpPr/>
          <p:nvPr/>
        </p:nvSpPr>
        <p:spPr>
          <a:xfrm>
            <a:off x="1583741" y="413857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ow chip 3"/>
          <p:cNvSpPr/>
          <p:nvPr/>
        </p:nvSpPr>
        <p:spPr>
          <a:xfrm>
            <a:off x="544982" y="413857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ow number 3"/>
          <p:cNvSpPr/>
          <p:nvPr/>
        </p:nvSpPr>
        <p:spPr>
          <a:xfrm>
            <a:off x="686714" y="4116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/>
          </a:p>
        </p:txBody>
      </p:sp>
      <p:sp>
        <p:nvSpPr>
          <p:cNvPr id="39" name="Row text 3"/>
          <p:cNvSpPr/>
          <p:nvPr/>
        </p:nvSpPr>
        <p:spPr>
          <a:xfrm>
            <a:off x="1810512" y="4138574"/>
            <a:ext cx="35204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 starts work at ____.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358384" y="4211726"/>
            <a:ext cx="1298448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ture goodbye" descr="Follow-up question: 'I got a new job.' then 'Really? Where?'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99516" y="2265152"/>
            <a:ext cx="3326587" cy="2328611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 Questions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 SAYS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010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ASK A FOLLOW-UP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286000"/>
            <a:ext cx="2788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got a new job.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001000" y="2286000"/>
            <a:ext cx="393192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286000"/>
            <a:ext cx="3931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Where?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great! When do you start?</a:t>
            </a:r>
            <a:endParaRPr lang="en-US" sz="2200" dirty="0"/>
          </a:p>
        </p:txBody>
      </p:sp>
      <p:sp>
        <p:nvSpPr>
          <p:cNvPr id="25" name="Question 2"/>
          <p:cNvSpPr/>
          <p:nvPr/>
        </p:nvSpPr>
        <p:spPr>
          <a:xfrm>
            <a:off x="5138928" y="2999232"/>
            <a:ext cx="2788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car broke down.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001000" y="2999232"/>
            <a:ext cx="393192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2999232"/>
            <a:ext cx="3931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Oh no! What happened?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it now?</a:t>
            </a:r>
            <a:endParaRPr lang="en-US" sz="2200" dirty="0"/>
          </a:p>
        </p:txBody>
      </p:sp>
      <p:sp>
        <p:nvSpPr>
          <p:cNvPr id="72" name="Answer bg 3"/>
          <p:cNvSpPr/>
          <p:nvPr/>
        </p:nvSpPr>
        <p:spPr>
          <a:xfrm>
            <a:off x="8001000" y="3712464"/>
            <a:ext cx="393192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001000" y="3712464"/>
            <a:ext cx="3931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it?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did you go with?</a:t>
            </a:r>
            <a:endParaRPr lang="en-US" sz="2200" dirty="0"/>
          </a:p>
        </p:txBody>
      </p:sp>
      <p:sp>
        <p:nvSpPr>
          <p:cNvPr id="73" name="Answer bg 4"/>
          <p:cNvSpPr/>
          <p:nvPr/>
        </p:nvSpPr>
        <p:spPr>
          <a:xfrm>
            <a:off x="8001000" y="4425696"/>
            <a:ext cx="393192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001000" y="4425696"/>
            <a:ext cx="3931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OK?</a:t>
            </a:r>
            <a:endParaRPr lang="en-US" sz="2200" dirty="0"/>
          </a:p>
        </p:txBody>
      </p:sp>
      <p:sp>
        <p:nvSpPr>
          <p:cNvPr id="93" name="Question 4"/>
          <p:cNvSpPr/>
          <p:nvPr/>
        </p:nvSpPr>
        <p:spPr>
          <a:xfrm>
            <a:off x="5138928" y="4425696"/>
            <a:ext cx="2788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really tired today.</a:t>
            </a:r>
            <a:endParaRPr lang="en-US" sz="2200" dirty="0"/>
          </a:p>
        </p:txBody>
      </p:sp>
      <p:sp>
        <p:nvSpPr>
          <p:cNvPr id="92" name="Question 3"/>
          <p:cNvSpPr/>
          <p:nvPr/>
        </p:nvSpPr>
        <p:spPr>
          <a:xfrm>
            <a:off x="5138928" y="3712464"/>
            <a:ext cx="2788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went to a party.</a:t>
            </a:r>
            <a:endParaRPr lang="en-US" sz="2200" dirty="0"/>
          </a:p>
        </p:txBody>
      </p:sp>
      <p:sp>
        <p:nvSpPr>
          <p:cNvPr id="94" name="Question 5"/>
          <p:cNvSpPr/>
          <p:nvPr/>
        </p:nvSpPr>
        <p:spPr>
          <a:xfrm>
            <a:off x="5138928" y="5138928"/>
            <a:ext cx="2788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my neighborhood.</a:t>
            </a:r>
            <a:endParaRPr lang="en-US" sz="2200" dirty="0"/>
          </a:p>
        </p:txBody>
      </p:sp>
      <p:sp>
        <p:nvSpPr>
          <p:cNvPr id="95" name="Question 6"/>
          <p:cNvSpPr/>
          <p:nvPr/>
        </p:nvSpPr>
        <p:spPr>
          <a:xfrm>
            <a:off x="5138928" y="5852160"/>
            <a:ext cx="2788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week was busy. How was your week?</a:t>
            </a:r>
            <a:endParaRPr lang="en-US" sz="2200" dirty="0"/>
          </a:p>
        </p:txBody>
      </p:sp>
      <p:sp>
        <p:nvSpPr>
          <p:cNvPr id="96" name="Answer bg 5"/>
          <p:cNvSpPr/>
          <p:nvPr/>
        </p:nvSpPr>
        <p:spPr>
          <a:xfrm>
            <a:off x="8001000" y="5138928"/>
            <a:ext cx="393192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7" name="Answer bg 6"/>
          <p:cNvSpPr/>
          <p:nvPr/>
        </p:nvSpPr>
        <p:spPr>
          <a:xfrm>
            <a:off x="8001000" y="5852160"/>
            <a:ext cx="393192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8" name="Answer 5"/>
          <p:cNvSpPr/>
          <p:nvPr/>
        </p:nvSpPr>
        <p:spPr>
          <a:xfrm>
            <a:off x="8001000" y="5138928"/>
            <a:ext cx="3931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like about it?</a:t>
            </a:r>
            <a:endParaRPr lang="en-US" sz="2200" dirty="0"/>
          </a:p>
        </p:txBody>
      </p:sp>
      <p:sp>
        <p:nvSpPr>
          <p:cNvPr id="99" name="Answer 6"/>
          <p:cNvSpPr/>
          <p:nvPr/>
        </p:nvSpPr>
        <p:spPr>
          <a:xfrm>
            <a:off x="8001000" y="5852160"/>
            <a:ext cx="393192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good, thanks.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 you?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ture first name" descr="Chat: two people, a speech balloon, and a coffee cup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 · review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Now, Past, Future</a:t>
            </a:r>
            <a:endParaRPr lang="en-US" sz="20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= now  ·  did = past  ·  going to = future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069079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39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</a:t>
            </a:r>
            <a:endParaRPr lang="en-US" sz="2600" dirty="0"/>
          </a:p>
        </p:txBody>
      </p:sp>
      <p:sp>
        <p:nvSpPr>
          <p:cNvPr id="23" name="Question 1"/>
          <p:cNvSpPr/>
          <p:nvPr/>
        </p:nvSpPr>
        <p:spPr>
          <a:xfrm>
            <a:off x="3310128" y="3977639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 on weekends?</a:t>
            </a:r>
            <a:endParaRPr lang="en-US" sz="2200" dirty="0"/>
          </a:p>
        </p:txBody>
      </p:sp>
      <p:sp>
        <p:nvSpPr>
          <p:cNvPr id="25" name="Answer bg 1"/>
          <p:cNvSpPr/>
          <p:nvPr/>
        </p:nvSpPr>
        <p:spPr>
          <a:xfrm>
            <a:off x="6949440" y="3977639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3977639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usually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soccer.</a:t>
            </a:r>
            <a:endParaRPr lang="en-US" sz="2200" dirty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usually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 my family.</a:t>
            </a:r>
            <a:endParaRPr lang="en-US" sz="2200" dirty="0"/>
          </a:p>
        </p:txBody>
      </p:sp>
      <p:sp>
        <p:nvSpPr>
          <p:cNvPr id="26" name="Highlight 2"/>
          <p:cNvSpPr/>
          <p:nvPr/>
        </p:nvSpPr>
        <p:spPr>
          <a:xfrm>
            <a:off x="1481328" y="4846319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79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600" dirty="0"/>
          </a:p>
        </p:txBody>
      </p:sp>
      <p:sp>
        <p:nvSpPr>
          <p:cNvPr id="28" name="Question 2"/>
          <p:cNvSpPr/>
          <p:nvPr/>
        </p:nvSpPr>
        <p:spPr>
          <a:xfrm>
            <a:off x="3310128" y="4754879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 last weekend?</a:t>
            </a:r>
            <a:endParaRPr lang="en-US" sz="2200" dirty="0"/>
          </a:p>
        </p:txBody>
      </p:sp>
      <p:sp>
        <p:nvSpPr>
          <p:cNvPr id="30" name="Answer bg 2"/>
          <p:cNvSpPr/>
          <p:nvPr/>
        </p:nvSpPr>
        <p:spPr>
          <a:xfrm>
            <a:off x="6949440" y="4754879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4754879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watched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movie.</a:t>
            </a:r>
            <a:endParaRPr lang="en-US" sz="2200" dirty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cleaned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house.</a:t>
            </a:r>
            <a:endParaRPr lang="en-US" sz="2200" dirty="0"/>
          </a:p>
        </p:txBody>
      </p:sp>
      <p:sp>
        <p:nvSpPr>
          <p:cNvPr id="31" name="Highlight 3"/>
          <p:cNvSpPr/>
          <p:nvPr/>
        </p:nvSpPr>
        <p:spPr>
          <a:xfrm>
            <a:off x="1481328" y="5623559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</a:t>
            </a:r>
            <a:endParaRPr lang="en-US" sz="2600" dirty="0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going to do this weekend?</a:t>
            </a:r>
            <a:endParaRPr lang="en-US" sz="22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rest.</a:t>
            </a:r>
            <a:endParaRPr lang="en-US" sz="2200" dirty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 for my family.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2377440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ture letter" descr="Bad news: worried face and rain clou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40080" y="3081528"/>
            <a:ext cx="2176272" cy="1524304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410712" y="4619549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37560" y="4572000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46120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91840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1188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…, so… (the result)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2044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REASON,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RESULT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car broke down,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I took the bus.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only ten minutes away,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I walk.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4663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Put a comma before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51937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tired,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I stayed home.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job is far away,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I need a car.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reason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result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because or so.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David: ____ my car broke down on Tuesday.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it's at the mechanic, ____ I took the bus to work.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love it, ____ the people are really friendly.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only ten minutes from my apartment, ____ I don't need a car.</a:t>
            </a:r>
            <a:endParaRPr lang="en-US" sz="2000" dirty="0"/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really need my car, ____ my job is far away.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/>
          </a:p>
        </p:txBody>
      </p:sp>
      <p:sp>
        <p:nvSpPr>
          <p:cNvPr id="34" name="Answer 1"/>
          <p:cNvSpPr/>
          <p:nvPr/>
        </p:nvSpPr>
        <p:spPr>
          <a:xfrm>
            <a:off x="6108192" y="25237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6108192" y="3310128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2200" dirty="0"/>
          </a:p>
        </p:txBody>
      </p:sp>
      <p:sp>
        <p:nvSpPr>
          <p:cNvPr id="36" name="Answer 3"/>
          <p:cNvSpPr/>
          <p:nvPr/>
        </p:nvSpPr>
        <p:spPr>
          <a:xfrm>
            <a:off x="6108192" y="409651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2200" dirty="0"/>
          </a:p>
        </p:txBody>
      </p:sp>
      <p:sp>
        <p:nvSpPr>
          <p:cNvPr id="37" name="Answer 4"/>
          <p:cNvSpPr/>
          <p:nvPr/>
        </p:nvSpPr>
        <p:spPr>
          <a:xfrm>
            <a:off x="6108192" y="488289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2200" dirty="0"/>
          </a:p>
        </p:txBody>
      </p:sp>
      <p:sp>
        <p:nvSpPr>
          <p:cNvPr id="54" name="Answer 5"/>
          <p:cNvSpPr/>
          <p:nvPr/>
        </p:nvSpPr>
        <p:spPr>
          <a:xfrm>
            <a:off x="6108192" y="56692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Picture name tag" descr="Reason: thinking face and light bulb; 'Why?' 'Because it's cheap. = the reason'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I was tired, so I stayed home.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tired,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stayed home.</a:t>
            </a:r>
            <a:endParaRPr lang="en-US" sz="2200" dirty="0"/>
          </a:p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stayed home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was tired.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340156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you take the bus?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4800600" y="340156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take the bus?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396849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you did last weekend?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4800600" y="396849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do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last weekend?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453542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of it's cheap.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4800600" y="453542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cheap.</a:t>
            </a:r>
            <a:endParaRPr lang="en-US" sz="2200" dirty="0"/>
          </a:p>
        </p:txBody>
      </p:sp>
      <p:sp>
        <p:nvSpPr>
          <p:cNvPr id="62" name="Bad 5"/>
          <p:cNvSpPr/>
          <p:nvPr/>
        </p:nvSpPr>
        <p:spPr>
          <a:xfrm>
            <a:off x="914400" y="510235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going to rest.</a:t>
            </a:r>
            <a:endParaRPr lang="en-US" sz="2200" dirty="0"/>
          </a:p>
        </p:txBody>
      </p:sp>
      <p:sp>
        <p:nvSpPr>
          <p:cNvPr id="63" name="Bad 6"/>
          <p:cNvSpPr/>
          <p:nvPr/>
        </p:nvSpPr>
        <p:spPr>
          <a:xfrm>
            <a:off x="914400" y="5669280"/>
            <a:ext cx="3246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(one word) "Good."</a:t>
            </a:r>
            <a:endParaRPr lang="en-US" sz="2200" dirty="0"/>
          </a:p>
        </p:txBody>
      </p:sp>
      <p:sp>
        <p:nvSpPr>
          <p:cNvPr id="64" name="Good 5"/>
          <p:cNvSpPr/>
          <p:nvPr/>
        </p:nvSpPr>
        <p:spPr>
          <a:xfrm>
            <a:off x="4800600" y="510235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going to rest.</a:t>
            </a:r>
            <a:endParaRPr lang="en-US" sz="2200" dirty="0"/>
          </a:p>
        </p:txBody>
      </p:sp>
      <p:sp>
        <p:nvSpPr>
          <p:cNvPr id="65" name="Good 6"/>
          <p:cNvSpPr/>
          <p:nvPr/>
        </p:nvSpPr>
        <p:spPr>
          <a:xfrm>
            <a:off x="4800600" y="5669280"/>
            <a:ext cx="539496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"Good, thanks. I played soccer.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 you?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ture classmates" descr="Chat: two people, a speech balloon, and a coffee cup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25707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Three-Question Rule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Inside–outside circles.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3–4 rounds, 2 min each.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the card question.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 on weekends?</a:t>
            </a:r>
            <a:endParaRPr lang="en-US" sz="2200" dirty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uses because or so.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park, because it's free.</a:t>
            </a:r>
            <a:endParaRPr lang="en-US" sz="2200" dirty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two follow-ups.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Where?  ·  Who with?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7:12–7:17</a:t>
            </a:r>
            <a:endParaRPr lang="en-US" sz="4000" dirty="0"/>
          </a:p>
        </p:txBody>
      </p:sp>
      <p:pic>
        <p:nvPicPr>
          <p:cNvPr id="16" name="Picture pen" descr="Introduce: a man introduces a woman: 'This is Ana.' 'Nice to meet you!'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194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About a classmate: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takes the bus because she doesn't have a car.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sentence with so.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2000" dirty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57600" cy="2194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Answer with because.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Ask 2 people. Follow up.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sentences with so.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Last weekend: 2 sentences.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True or False.</a:t>
            </a:r>
            <a:endParaRPr lang="en-US" sz="2200" dirty="0"/>
          </a:p>
        </p:txBody>
      </p:sp>
      <p:sp>
        <p:nvSpPr>
          <p:cNvPr id="27" name="Statement 1"/>
          <p:cNvSpPr/>
          <p:nvPr/>
        </p:nvSpPr>
        <p:spPr>
          <a:xfrm>
            <a:off x="502920" y="3063240"/>
            <a:ext cx="7132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David's car broke down on Tuesday.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7818120" y="3063240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9555480" y="3063240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7690104" y="3008376"/>
            <a:ext cx="1627632" cy="61264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3630168"/>
            <a:ext cx="7132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David took a taxi to work this week.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7818120" y="3630168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9555480" y="3630168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9427464" y="3575304"/>
            <a:ext cx="1627632" cy="61264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197096"/>
            <a:ext cx="7132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The car is maybe going to be ready next Friday.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7818120" y="4197096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9555480" y="4197096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7690104" y="4142232"/>
            <a:ext cx="1627632" cy="61264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4764024"/>
            <a:ext cx="7132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Elena's new job is at a school.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7818120" y="4764024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9555480" y="4764024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9427464" y="4709160"/>
            <a:ext cx="1627632" cy="61264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502920" y="5330952"/>
            <a:ext cx="7132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Elena walks to work.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7818120" y="5330952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47" name="False 5"/>
          <p:cNvSpPr/>
          <p:nvPr/>
        </p:nvSpPr>
        <p:spPr>
          <a:xfrm>
            <a:off x="9555480" y="5330952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48" name="Circle 5"/>
          <p:cNvSpPr/>
          <p:nvPr/>
        </p:nvSpPr>
        <p:spPr>
          <a:xfrm>
            <a:off x="7690104" y="5276088"/>
            <a:ext cx="1627632" cy="61264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9" name="Statement 6"/>
          <p:cNvSpPr/>
          <p:nvPr/>
        </p:nvSpPr>
        <p:spPr>
          <a:xfrm>
            <a:off x="502920" y="5897880"/>
            <a:ext cx="7132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David starts work at seven.</a:t>
            </a:r>
            <a:endParaRPr lang="en-US" sz="2200" dirty="0"/>
          </a:p>
        </p:txBody>
      </p:sp>
      <p:sp>
        <p:nvSpPr>
          <p:cNvPr id="50" name="True 6"/>
          <p:cNvSpPr/>
          <p:nvPr/>
        </p:nvSpPr>
        <p:spPr>
          <a:xfrm>
            <a:off x="7818120" y="5897880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51" name="False 6"/>
          <p:cNvSpPr/>
          <p:nvPr/>
        </p:nvSpPr>
        <p:spPr>
          <a:xfrm>
            <a:off x="9555480" y="5897880"/>
            <a:ext cx="13716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52" name="Circle 6"/>
          <p:cNvSpPr/>
          <p:nvPr/>
        </p:nvSpPr>
        <p:spPr>
          <a:xfrm>
            <a:off x="9427464" y="5843016"/>
            <a:ext cx="1627632" cy="61264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 follow-up question.</a:t>
            </a:r>
            <a:endParaRPr lang="en-US" sz="22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reason with because.</a:t>
            </a:r>
            <a:endParaRPr lang="en-US" sz="22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 result with so.</a:t>
            </a:r>
            <a:endParaRPr lang="en-US" sz="22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talk about my week, my past, and my plans.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Listen. Circle the best follow-up.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868680" y="3840480"/>
            <a:ext cx="544068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Where?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6766560" y="3840480"/>
            <a:ext cx="14630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868680" y="4407408"/>
            <a:ext cx="544068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are you? 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it?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6766560" y="4407408"/>
            <a:ext cx="14630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868680" y="4974336"/>
            <a:ext cx="544068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What is it? 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Oh no! I'm sorry.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6766560" y="4974336"/>
            <a:ext cx="14630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868680" y="5541264"/>
            <a:ext cx="544068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great! 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Oh no! What happened?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6766560" y="5541264"/>
            <a:ext cx="14630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Get along: two smiling faces and a handshake, 'friendly together'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3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follow-up questions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reason with because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 result with so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22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Elena, David, Rosa, and Ana are invented names. The listening story is invented.</a:t>
            </a:r>
            <a:endParaRPr lang="en-US" sz="22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ture first name" descr="Reason: thinking face and light bulb; 'Why?' 'Because it's cheap. = the reason'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Why…? Because…</a:t>
            </a:r>
            <a:endParaRPr lang="en-US" sz="2000" dirty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+ the reason. It answers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069079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39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</a:t>
            </a:r>
            <a:endParaRPr lang="en-US" sz="2600" dirty="0"/>
          </a:p>
        </p:txBody>
      </p:sp>
      <p:sp>
        <p:nvSpPr>
          <p:cNvPr id="23" name="Question 1"/>
          <p:cNvSpPr/>
          <p:nvPr/>
        </p:nvSpPr>
        <p:spPr>
          <a:xfrm>
            <a:off x="3310128" y="3977639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take the bus?</a:t>
            </a:r>
            <a:endParaRPr lang="en-US" sz="2200" dirty="0"/>
          </a:p>
        </p:txBody>
      </p:sp>
      <p:sp>
        <p:nvSpPr>
          <p:cNvPr id="25" name="Answer bg 1"/>
          <p:cNvSpPr/>
          <p:nvPr/>
        </p:nvSpPr>
        <p:spPr>
          <a:xfrm>
            <a:off x="6949440" y="3977639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3977639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cheap.</a:t>
            </a:r>
            <a:endParaRPr lang="en-US" sz="2200" dirty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have a car.</a:t>
            </a:r>
            <a:endParaRPr lang="en-US" sz="2200" dirty="0"/>
          </a:p>
        </p:txBody>
      </p:sp>
      <p:sp>
        <p:nvSpPr>
          <p:cNvPr id="26" name="Highlight 2"/>
          <p:cNvSpPr/>
          <p:nvPr/>
        </p:nvSpPr>
        <p:spPr>
          <a:xfrm>
            <a:off x="1481328" y="4846319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79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does</a:t>
            </a:r>
            <a:endParaRPr lang="en-US" sz="2600" dirty="0"/>
          </a:p>
        </p:txBody>
      </p:sp>
      <p:sp>
        <p:nvSpPr>
          <p:cNvPr id="28" name="Question 2"/>
          <p:cNvSpPr/>
          <p:nvPr/>
        </p:nvSpPr>
        <p:spPr>
          <a:xfrm>
            <a:off x="3310128" y="4754879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like her job?</a:t>
            </a:r>
            <a:endParaRPr lang="en-US" sz="2200" dirty="0"/>
          </a:p>
        </p:txBody>
      </p:sp>
      <p:sp>
        <p:nvSpPr>
          <p:cNvPr id="30" name="Answer bg 2"/>
          <p:cNvSpPr/>
          <p:nvPr/>
        </p:nvSpPr>
        <p:spPr>
          <a:xfrm>
            <a:off x="6949440" y="4754879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4754879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people are friendly.</a:t>
            </a:r>
            <a:endParaRPr lang="en-US" sz="2200" dirty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near her home.</a:t>
            </a:r>
            <a:endParaRPr lang="en-US" sz="2200" dirty="0"/>
          </a:p>
        </p:txBody>
      </p:sp>
      <p:sp>
        <p:nvSpPr>
          <p:cNvPr id="31" name="Highlight 3"/>
          <p:cNvSpPr/>
          <p:nvPr/>
        </p:nvSpPr>
        <p:spPr>
          <a:xfrm>
            <a:off x="1481328" y="5623559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did</a:t>
            </a:r>
            <a:endParaRPr lang="en-US" sz="2600" dirty="0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stay home?</a:t>
            </a:r>
            <a:endParaRPr lang="en-US" sz="22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tired.</a:t>
            </a:r>
            <a:endParaRPr lang="en-US" sz="2200" dirty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cold.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148840"/>
            <a:ext cx="6035040" cy="6583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2862072"/>
            <a:ext cx="6035040" cy="6583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575304"/>
            <a:ext cx="6035040" cy="6583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288536"/>
            <a:ext cx="6035040" cy="6583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001768"/>
            <a:ext cx="6035040" cy="6583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Practice: write because or so.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reason  ·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result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214884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learning English ____ I want a better job.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286207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raining, ____ I took an umbrella.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357530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likes her neighbors ____ they are very friendly.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428853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was closed, ____ we went home.</a:t>
            </a:r>
            <a:endParaRPr lang="en-US" sz="2000" dirty="0"/>
          </a:p>
        </p:txBody>
      </p:sp>
      <p:sp>
        <p:nvSpPr>
          <p:cNvPr id="51" name="Row text 5"/>
          <p:cNvSpPr/>
          <p:nvPr/>
        </p:nvSpPr>
        <p:spPr>
          <a:xfrm>
            <a:off x="1810512" y="500176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drinks coffee every morning ____ he starts work at 6:00.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4982" y="2148840"/>
            <a:ext cx="1039673" cy="6583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18541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2862072"/>
            <a:ext cx="1039673" cy="6583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289864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575304"/>
            <a:ext cx="1039673" cy="6583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361188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288536"/>
            <a:ext cx="1039673" cy="6583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32511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001768"/>
            <a:ext cx="1039673" cy="6583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03834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So?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 the reason or the result?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/>
          </a:p>
        </p:txBody>
      </p:sp>
      <p:sp>
        <p:nvSpPr>
          <p:cNvPr id="34" name="Answer 1"/>
          <p:cNvSpPr/>
          <p:nvPr/>
        </p:nvSpPr>
        <p:spPr>
          <a:xfrm>
            <a:off x="6108192" y="224942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6108192" y="296265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2200" dirty="0"/>
          </a:p>
        </p:txBody>
      </p:sp>
      <p:sp>
        <p:nvSpPr>
          <p:cNvPr id="36" name="Answer 3"/>
          <p:cNvSpPr/>
          <p:nvPr/>
        </p:nvSpPr>
        <p:spPr>
          <a:xfrm>
            <a:off x="6108192" y="3675888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2200" dirty="0"/>
          </a:p>
        </p:txBody>
      </p:sp>
      <p:sp>
        <p:nvSpPr>
          <p:cNvPr id="37" name="Answer 4"/>
          <p:cNvSpPr/>
          <p:nvPr/>
        </p:nvSpPr>
        <p:spPr>
          <a:xfrm>
            <a:off x="6108192" y="438912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2200" dirty="0"/>
          </a:p>
        </p:txBody>
      </p:sp>
      <p:sp>
        <p:nvSpPr>
          <p:cNvPr id="54" name="Answer 5"/>
          <p:cNvSpPr/>
          <p:nvPr/>
        </p:nvSpPr>
        <p:spPr>
          <a:xfrm>
            <a:off x="6108192" y="510235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2200" dirty="0"/>
          </a:p>
        </p:txBody>
      </p:sp>
      <p:sp>
        <p:nvSpPr>
          <p:cNvPr id="55" name="Row card 6"/>
          <p:cNvSpPr/>
          <p:nvPr/>
        </p:nvSpPr>
        <p:spPr>
          <a:xfrm>
            <a:off x="1583741" y="5715000"/>
            <a:ext cx="6035040" cy="6583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Row chip 6"/>
          <p:cNvSpPr/>
          <p:nvPr/>
        </p:nvSpPr>
        <p:spPr>
          <a:xfrm>
            <a:off x="544982" y="5715000"/>
            <a:ext cx="1039673" cy="6583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7" name="Row number 6"/>
          <p:cNvSpPr/>
          <p:nvPr/>
        </p:nvSpPr>
        <p:spPr>
          <a:xfrm>
            <a:off x="686714" y="575157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/>
          </a:p>
        </p:txBody>
      </p:sp>
      <p:sp>
        <p:nvSpPr>
          <p:cNvPr id="58" name="Row text 6"/>
          <p:cNvSpPr/>
          <p:nvPr/>
        </p:nvSpPr>
        <p:spPr>
          <a:xfrm>
            <a:off x="1810512" y="571500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coworker was sick, ____ I worked late.</a:t>
            </a:r>
            <a:endParaRPr lang="en-US" sz="2000" dirty="0"/>
          </a:p>
        </p:txBody>
      </p:sp>
      <p:sp>
        <p:nvSpPr>
          <p:cNvPr id="59" name="Answer 6"/>
          <p:cNvSpPr/>
          <p:nvPr/>
        </p:nvSpPr>
        <p:spPr>
          <a:xfrm>
            <a:off x="6108192" y="581558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1: Hello! What's Your Name?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