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470" r:id="rId33"/>
    <p:sldId id="471" r:id="rId34"/>
    <p:sldId id="472" r:id="rId35"/>
    <p:sldId id="473" r:id="rId36"/>
    <p:sldId id="474" r:id="rId31"/>
    <p:sldId id="475" r:id="rId30"/>
    <p:sldId id="476" r:id="rId29"/>
    <p:sldId id="477" r:id="rId28"/>
    <p:sldId id="478" r:id="rId27"/>
    <p:sldId id="479" r:id="rId20"/>
    <p:sldId id="480" r:id="rId18"/>
    <p:sldId id="481" r:id="rId17"/>
    <p:sldId id="482" r:id="rId16"/>
    <p:sldId id="483" r:id="rId14"/>
    <p:sldId id="484" r:id="rId13"/>
    <p:sldId id="485" r:id="rId12"/>
    <p:sldId id="486" r:id="rId11"/>
    <p:sldId id="487" r:id="rId10"/>
    <p:sldId id="488" r:id="rId8"/>
    <p:sldId id="489" r:id="rId7"/>
    <p:sldId id="490" r:id="rId6"/>
    <p:sldId id="491" r:id="rId5"/>
    <p:sldId id="492" r:id="rId4"/>
    <p:sldId id="493" r:id="rId3"/>
    <p:sldId id="494" r:id="rId57"/>
    <p:sldId id="495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52.xml"/><Relationship Id="rId3" Type="http://schemas.openxmlformats.org/officeDocument/2006/relationships/slide" Target="slides/slide50.xml"/><Relationship Id="rId4" Type="http://schemas.openxmlformats.org/officeDocument/2006/relationships/slide" Target="slides/slide49.xml"/><Relationship Id="rId5" Type="http://schemas.openxmlformats.org/officeDocument/2006/relationships/slide" Target="slides/slide48.xml"/><Relationship Id="rId6" Type="http://schemas.openxmlformats.org/officeDocument/2006/relationships/slide" Target="slides/slide47.xml"/><Relationship Id="rId7" Type="http://schemas.openxmlformats.org/officeDocument/2006/relationships/slide" Target="slides/slide46.xml"/><Relationship Id="rId8" Type="http://schemas.openxmlformats.org/officeDocument/2006/relationships/slide" Target="slides/slide45.xml"/><Relationship Id="rId10" Type="http://schemas.openxmlformats.org/officeDocument/2006/relationships/slide" Target="slides/slide44.xml"/><Relationship Id="rId11" Type="http://schemas.openxmlformats.org/officeDocument/2006/relationships/slide" Target="slides/slide43.xml"/><Relationship Id="rId12" Type="http://schemas.openxmlformats.org/officeDocument/2006/relationships/slide" Target="slides/slide42.xml"/><Relationship Id="rId13" Type="http://schemas.openxmlformats.org/officeDocument/2006/relationships/slide" Target="slides/slide41.xml"/><Relationship Id="rId14" Type="http://schemas.openxmlformats.org/officeDocument/2006/relationships/slide" Target="slides/slide40.xml"/><Relationship Id="rId16" Type="http://schemas.openxmlformats.org/officeDocument/2006/relationships/slide" Target="slides/slide39.xml"/><Relationship Id="rId17" Type="http://schemas.openxmlformats.org/officeDocument/2006/relationships/slide" Target="slides/slide38.xml"/><Relationship Id="rId18" Type="http://schemas.openxmlformats.org/officeDocument/2006/relationships/slide" Target="slides/slide37.xml"/><Relationship Id="rId20" Type="http://schemas.openxmlformats.org/officeDocument/2006/relationships/slide" Target="slides/slide36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35.xml"/><Relationship Id="rId28" Type="http://schemas.openxmlformats.org/officeDocument/2006/relationships/slide" Target="slides/slide34.xml"/><Relationship Id="rId29" Type="http://schemas.openxmlformats.org/officeDocument/2006/relationships/slide" Target="slides/slide33.xml"/><Relationship Id="rId30" Type="http://schemas.openxmlformats.org/officeDocument/2006/relationships/slide" Target="slides/slide32.xml"/><Relationship Id="rId31" Type="http://schemas.openxmlformats.org/officeDocument/2006/relationships/slide" Target="slides/slide31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57" Type="http://schemas.openxmlformats.org/officeDocument/2006/relationships/slide" Target="slides/slide5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Credits. You don't need to read this slide in class.</a:t>
            </a:r>
          </a:p>
          <a:p>
            <a:r>
              <a:t>Pictures: Twemoji graphics by Twitter, Inc. and other contributors, CC BY 4.0; the file-by-file list is in images/CREDITS.md.</a:t>
            </a:r>
          </a:p>
          <a:p>
            <a:r>
              <a:t>Audio: synthetic voices, computer-generated (Chatterbox TTS cloned from Kokoro-82M reference clips). No recordings of real people. The names and the story are invented.</a:t>
            </a:r>
          </a:p>
          <a:p>
            <a:r>
              <a:t>Course materials: © 2026 the authors, licensed under CC BY-NC-SA 4.0 (https://creativecommons.org/licenses/by-nc-sa/4.0/).</a:t>
            </a:r>
          </a:p>
          <a:p>
            <a:r>
              <a:t>Lesson plan: Picture Credits. Picture list: images/CREDITS.md.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Progress Check · 7:25–7:30 · 5 min. Individuals. Open the Progress Check page.</a:t>
            </a:r>
          </a:p>
          <a:p>
            <a:r>
              <a:t>Part A: read each sentence slowly, 2 times. Learners circle a or b. Then click to show the answer (one click per item, 1 to 4).</a:t>
            </a:r>
          </a:p>
          <a:p>
            <a:r>
              <a:t>Say: 1 "He's good at fixing cars." (a) • 2 "She's interested in working with children." (b) • 3 "He doesn't mind working at night." (a) • 4 "He enjoys cooking for his family." (b)</a:t>
            </a:r>
          </a:p>
          <a:p>
            <a:r>
              <a:t>Parts B and C: learners do them alone. Walk around and help with the instructions only. B answers: 1 at, 2 in, 3 working, 4 helping. C: answers will vary (for example I'm good at organizing. I organize the shelves at my job. / I'm interested in learning about computers.).</a:t>
            </a:r>
          </a:p>
          <a:p>
            <a:r>
              <a:t>Part D: read each "I can…" line aloud and point to the 3 faces: 😀 "I can do it." 🙂 "With a little help." 😐 "Not yet."</a:t>
            </a:r>
          </a:p>
          <a:p>
            <a:r>
              <a:t>Scoring: A /4 + B /4 + C /2 = /10. This is not a test grade. It shows who needs more help hearing the phrases (A) and with at / in + -ing (B, C).</a:t>
            </a:r>
          </a:p>
          <a:p>
            <a:r>
              <a:t>Collect the pages (or check them at the start of Week 11). If behind: do the Progress Check in Week 11 at 6:00, while learners arrive.</a:t>
            </a:r>
          </a:p>
          <a:p>
            <a:r>
              <a:t>Lesson plan: Progress Check step; Progress Check page;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6 · 7:12–7:17 · Exit Ticket + Homework · 5 min · NEVER SKIP.</a:t>
            </a:r>
          </a:p>
          <a:p>
            <a:r>
              <a:t>Exit ticket: each learner writes two sentences on a slip: one with good at or interested in + -ing (I'm good at organizing things.), and one with an example and because or so (I'm reliable, so I'm never late.). Collect at the door.</a:t>
            </a:r>
          </a:p>
          <a:p>
            <a:r>
              <a:t>Homework: open the Homework page. Do item 1 together (one sentence on the board). Say: "About 15 minutes. Bring it next week."</a:t>
            </a:r>
          </a:p>
          <a:p>
            <a:r>
              <a:t>Homework items: 1 write the sentence with the -ing word (I / good at / drive → I'm good at driving.) • 2 a manager says Tell me about yourself: write 3–4 sentences (you can invent the details) • 3 ask a family member or a coworker: What are you good at? Write the answer and one example • 4 review (Lesson 8): 2 sentences with mine, yours, his, hers, ours, or theirs.</a:t>
            </a:r>
          </a:p>
          <a:p>
            <a:r>
              <a:t>Read &amp; Write (7:17–7:25, on the Student Pages): two job ads; questions 1–5; then a 3-sentence skills summary for themselves or an invented person. If behind: questions 1–5 only; the summary becomes homework.</a:t>
            </a:r>
          </a:p>
          <a:p>
            <a:r>
              <a:t>Lesson plan: Step 6; Homework page; Read &amp; Write step.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5, continued. The Manager Questions from the Talk Time page. Each click shows the next question.</a:t>
            </a:r>
          </a:p>
          <a:p>
            <a:r>
              <a:t>Applicants answer with good at / interested in / enjoy / don't mind and give an example. Managers write one strength after each interview. Do they get a second interview? Why?</a:t>
            </a:r>
          </a:p>
          <a:p>
            <a:r>
              <a:t>Lesson plan: Talk Time: Manager Questions; My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5 · 7:00–7:12 · Talk Time: Interview Rotation · 12 min. Two circles: the inner circle are managers; the outer circle are applicants.</a:t>
            </a:r>
          </a:p>
          <a:p>
            <a:r>
              <a:t>Before (2 min): each manager chooses a job card (1–4: warehouse, hotel, kitchen, childcare) and the Manager Questions. Each applicant fills in the "My answers" box on their page (strengths, experience, shifts). Invented details are fine.</a:t>
            </a:r>
          </a:p>
          <a:p>
            <a:r>
              <a:t>Model with one learner (1 min): you are the manager at the hotel (card 2). "Tell me about yourself." → (answer) → "What are you good at?" → (answer) → follow-up: "Can you give me an example?"</a:t>
            </a:r>
          </a:p>
          <a:p>
            <a:r>
              <a:t>Rotation (6 min): each interview is about 2 minutes: the manager asks 3 questions from the card and one follow-up, then writes one strength in the notes table. Then say "Move!" The outer circle moves one person to the right. 3 rotations. Each click shows the next step.</a:t>
            </a:r>
          </a:p>
          <a:p>
            <a:r>
              <a:t>Switch (3 min): managers and applicants change places for one or two more rotations. Finish: ask 2 managers: "Who gets a second interview? Why?" (Ana, because she's good at organizing.) If behind: 2 rotations, no role switch.</a:t>
            </a:r>
          </a:p>
          <a:p>
            <a:r>
              <a:t>Invented job histories are fine (important): invite, don't require, real job details. Learners can talk about home, family, or volunteer work, or invent a job history. Never ask about immigration or work status, papers, or pay.</a:t>
            </a:r>
          </a:p>
          <a:p>
            <a:r>
              <a:t>Lesson plan: Step 5; Talk Time pages.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Pair drill (last 2 min of Step 4). Pairs.</a:t>
            </a:r>
          </a:p>
          <a:p>
            <a:r>
              <a:t>A asks "What are you good at?" B answers and gives one example (I'm good at cooking. I cook for my family every day.). Switch.</a:t>
            </a:r>
          </a:p>
          <a:p>
            <a:r>
              <a:t>If behind: skip the pair drill. Talk Time practices it.</a:t>
            </a:r>
          </a:p>
          <a:p>
            <a:r>
              <a:t>Lesson plan: Step 4: Pair drill.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Common mistakes (never skip this table). Read a line from Don't say. Ask: "What's the right way?" Learners try first. Then click to show the right form. Each click shows one line, in order 1 to 4.</a:t>
            </a:r>
          </a:p>
          <a:p>
            <a:r>
              <a:t>1, 3, 4: after at, enjoy, and don't mind, use -ing • 2: interested in (not on). Save bored / boring for Lesson 11.</a:t>
            </a:r>
          </a:p>
          <a:p>
            <a:r>
              <a:t>Say the right form clearly; the learner repeats. Learners can read the Spanish note and the tip on their Grammar page themselves; you don't need to explain them.</a:t>
            </a:r>
          </a:p>
          <a:p>
            <a:r>
              <a:t>Lesson plan: Grammar: Common mistakes; Teacher notes: Typical mistakes.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B. Learners circle the right words. Pairs check.</a:t>
            </a:r>
          </a:p>
          <a:p>
            <a:r>
              <a:t>Click to circle each answer (one click per item, 1 to 5): 1 at, 2 in, 3 helping, 4 working, 5 good with.</a:t>
            </a:r>
          </a:p>
          <a:p>
            <a:r>
              <a:t>Lesson plan: Step 4; Grammar Practice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A and B (3 min): learners write, then pairs check. Go over the answers.</a:t>
            </a:r>
          </a:p>
          <a:p>
            <a:r>
              <a:t>Click to show each answer (one click per item, 1 to 6): 1 cooking, 2 learning, 3 working, 4 organizing, 5 shopping, 6 fixing.</a:t>
            </a:r>
          </a:p>
          <a:p>
            <a:r>
              <a:t>Lesson plan: Step 4; Grammar Practice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4 (2 min): read the spelling rows: fix → fixing, organize → organizing (no e), shop → shopping (double letter). Each click shows one row.</a:t>
            </a:r>
          </a:p>
          <a:p>
            <a:r>
              <a:t>Spelling: most verbs add -ing. Drop a final e (organize → organizing). Short words like shop, run double the last letter (shopping, running). Don't teach more rules than this.</a:t>
            </a:r>
          </a:p>
          <a:p>
            <a:r>
              <a:t>Check questions: "I'm interested ___ learning." (in) • "I enjoy ___ (help) people." (helping) • "I'm good ___ cooking." (at) • "I don't mind ___ (work) at night." (working)</a:t>
            </a:r>
          </a:p>
          <a:p>
            <a:r>
              <a:t>Lesson plan: Step 4; Grammar Box 4; Teacher notes: Spelling.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3: enjoy / don't mind + -ing. Each click shows the answer side of one row.</a:t>
            </a:r>
          </a:p>
          <a:p>
            <a:r>
              <a:t>Give an example: in a real interview, a strength is stronger with an example: I'm reliable. I was never late at my last job. Praise every example.</a:t>
            </a:r>
          </a:p>
          <a:p>
            <a:r>
              <a:t>Lesson plan: Step 4; Grammar Box 3; Teacher notes: Give an example.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2: interested in + -ing. Each click shows the answer side of one row.</a:t>
            </a:r>
          </a:p>
          <a:p>
            <a:r>
              <a:t>The one rule: after at, in, about (and after enjoy and don't mind), use -ing: good at fixing, interested in learning, enjoy helping, don't mind working.</a:t>
            </a:r>
          </a:p>
          <a:p>
            <a:r>
              <a:t>Lesson plan: Step 4; Grammar Box 2; Teacher notes: The one rule.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4 · 6:30–6:45 · Grammar Q&amp;A · 15 min (slides 13 to 20). Whole class, then pairs. Show the Grammar page. The left side is the question. The right side is the answer.</a:t>
            </a:r>
          </a:p>
          <a:p>
            <a:r>
              <a:t>Show it (2 min): write on the board: good at + fixing. Say: "After at, in, about, the verb gets -ing." Write I'm good at fix. and cross it out.</a:t>
            </a:r>
          </a:p>
          <a:p>
            <a:r>
              <a:t>Boxes 1, 2, and 3 (5 min): read a question from the left; the class answers from the right. Each click shows the answer side of one row. Then ask 3 learners: "What are you good at?" Help them finish with an -ing word.</a:t>
            </a:r>
          </a:p>
          <a:p>
            <a:r>
              <a:t>good at + an activity (good at cooking). good with + people or things (good with people, good with numbers, good with my hands).</a:t>
            </a:r>
          </a:p>
          <a:p>
            <a:r>
              <a:t>Lesson plan: Step 4; Grammar Box 1; Teacher notes: good at or good with.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"Say it" (2 min). Say: "The end of -ing is in the nose: fix-ing, help-ing, work-ing." Don't add a g or k sound at the end.</a:t>
            </a:r>
          </a:p>
          <a:p>
            <a:r>
              <a:t>Then stress: INterested, exPERience. The class repeats each word twice.</a:t>
            </a:r>
          </a:p>
          <a:p>
            <a:r>
              <a:t>Lesson plan: Step 3: "Say it"; Listening page: Say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Task C (play 2). Click to show each answer (one click per item, 1 to 6): 1 fixing, 2 solving, 3 working, 4 helping, 5 learning, 6 working.</a:t>
            </a:r>
          </a:p>
          <a:p>
            <a:r>
              <a:t>If behind: do Task C together on the board, reading the lines yourself.</a:t>
            </a:r>
          </a:p>
          <a:p>
            <a:r>
              <a:t>Lesson plan: Step 3; Listening Task C;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2 → Tasks B and C. Pairs compare. Then show the answers.</a:t>
            </a:r>
          </a:p>
          <a:p>
            <a:r>
              <a:t>Click to show each answer (one click per item, 1 to 5): 1 three years • 2 ✓ fixing things, ✓ solving problems, ✓ helping people, ✗ cooking, ✗ driving • 3 the day shift • 4 Yes, she doesn't mind working weekends. • 5 Thursday.</a:t>
            </a:r>
          </a:p>
          <a:p>
            <a:r>
              <a:t>Lesson plan: Step 3; Listening Task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1 → Task A (a second interview?). Pairs compare. Check together.</a:t>
            </a:r>
          </a:p>
          <a:p>
            <a:r>
              <a:t>Click to show the answer: Yes (on Thursday).</a:t>
            </a:r>
          </a:p>
          <a:p>
            <a:r>
              <a:t>Then read Tasks B and C together (1 min) so learners know what to listen for.</a:t>
            </a:r>
          </a:p>
          <a:p>
            <a:r>
              <a:t>Lesson plan: Step 3; Listening Task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3 · 6:18–6:30 · Listening + "Say it" · 12 min (slides 8 to 12). Individuals, then pairs check.</a:t>
            </a:r>
          </a:p>
          <a:p>
            <a:r>
              <a:t>Before you listen (1 min). Say: "Lucia has a job interview at a hotel. She wants a maintenance job. Does she get a second interview? Listen."</a:t>
            </a:r>
          </a:p>
          <a:p>
            <a:r>
              <a:t>There are three voices: a Narrator, Mr. Hall (the manager), and Lucia. Each click highlights the next voice.</a:t>
            </a:r>
          </a:p>
          <a:p>
            <a:r>
              <a:t>The audio (L3_L9_listening.mp3, about 1:20) plays the conversation once. Press play again for play 2. A third play is fine if the class needs it.</a:t>
            </a:r>
          </a:p>
          <a:p>
            <a:r>
              <a:t>No speaker? Read the script with a volunteer at a normal, friendly speed.</a:t>
            </a:r>
          </a:p>
          <a:p>
            <a:r>
              <a:t>Audio: synthetic voices, computer-generated (Chatterbox TTS cloned from Kokoro-82M reference clips). No recordings of real people. The names and the story are invented.</a:t>
            </a:r>
          </a:p>
          <a:p>
            <a:r>
              <a:t>Lesson plan: Step 3; Listening script; Listening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 · Check meaning · 1 min. Whole class.</a:t>
            </a:r>
          </a:p>
          <a:p>
            <a:r>
              <a:t>The answers are hidden. Ask each question and wait for the class to answer. Then click to show the answer. Each click shows one answer, in order: 1, 2, 3.</a:t>
            </a:r>
          </a:p>
          <a:p>
            <a:r>
              <a:t>1. "A paper with your jobs and skills is a…?" (résumé) • 2. "Morning, evening, or night work time is a…?" (shift) • 3. "A class at work for new workers is…?" (training)</a:t>
            </a:r>
          </a:p>
          <a:p>
            <a:r>
              <a:t>Lesson plan: Step 2: Check meaning.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2, continued. Point to each picture and say the word. Learners repeat once.</a:t>
            </a:r>
          </a:p>
          <a:p>
            <a:r>
              <a:t>Partner game (2 min): A says a word. B points to the picture and makes a sentence (A: reliable. B: I'm reliable. I'm always on time. / I'm good at solving problems.). Switch.</a:t>
            </a:r>
          </a:p>
          <a:p>
            <a:r>
              <a:t>If behind: teach the ★ words only.</a:t>
            </a:r>
          </a:p>
          <a:p>
            <a:r>
              <a:t>Lesson plan: Step 2; New Words page; Partner game.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 · 6:10–6:18 · New Words · 8 min (this slide and the next). Whole class, then pairs.</a:t>
            </a:r>
          </a:p>
          <a:p>
            <a:r>
              <a:t>Point to each picture and say the word. Learners repeat once. ★ = the most important words. Each click shows the next word.</a:t>
            </a:r>
          </a:p>
          <a:p>
            <a:r>
              <a:t>Show strength: make a strong arm. Show reliable: point to the clock, "always on time." Show good at: "I'm good at cooking. I'm not good at singing!" Mime both.</a:t>
            </a:r>
          </a:p>
          <a:p>
            <a:r>
              <a:t>If behind: teach the ★ words only.</a:t>
            </a:r>
          </a:p>
          <a:p>
            <a:r>
              <a:t>Lesson plan: Step 2; Key vocabulary; New Words page.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learners as they arrive.</a:t>
            </a:r>
          </a:p>
          <a:p>
            <a:r>
              <a:t>Point to the title and read it: "My strengths." Say: "Tonight we talk about what we are good at, for a job interview."</a:t>
            </a:r>
          </a:p>
          <a:p>
            <a:r>
              <a:t>Read the three lines under "Today you will". Give one quick example of each: "I'm good at fixing things." • "I'm interested in learning new skills." • "Tell me about yourself." → 3–4 sentences.</a:t>
            </a:r>
          </a:p>
          <a:p>
            <a:r>
              <a:t>Invented job histories are fine (important): invite, don't require, real job details. Learners can talk about home, family, or volunteer work, or invent a job history. Never ask about immigration or work status, papers, or pay.</a:t>
            </a:r>
          </a:p>
          <a:p>
            <a:r>
              <a:t>Lesson plan: Topic; At a glance: Objectives; Teacher notes.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each goal slowly. Learners repeat.</a:t>
            </a:r>
          </a:p>
          <a:p>
            <a:r>
              <a:t>Goal 1: I'm good at fixing things. / I'm good with people. Goal 2: I'm interested in learning new skills. Goal 3: I enjoy helping people. I don't mind working weekends.</a:t>
            </a:r>
          </a:p>
          <a:p>
            <a:r>
              <a:t>Goal 4: I'm reliable. I was never late at my last job. Goal 5: answer Tell me about yourself in 3–4 sentences. Goal 6: read two short job ads and write a 3-sentence skills summary.</a:t>
            </a:r>
          </a:p>
          <a:p>
            <a:r>
              <a:t>"We check at 7:25" = the Progress Check. It is not a test grade.</a:t>
            </a:r>
          </a:p>
          <a:p>
            <a:r>
              <a:t>Lesson plan: At a glance: Objectives.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 · 6:00–6:10 · Opening Talk + Homework Check · 10 min. Pairs (7 pairs + 1 trio with 15 learners; 3–4 pairs with 7–8).</a:t>
            </a:r>
          </a:p>
          <a:p>
            <a:r>
              <a:t>Before class, write on the board: Whose… is this? It's mine. / It's hers.</a:t>
            </a:r>
          </a:p>
          <a:p>
            <a:r>
              <a:t>Model with one learner: "Did you ever lose something important?" → (answer) → "Really? Where did you find it?" (Click to show the follow-up.)</a:t>
            </a:r>
          </a:p>
          <a:p>
            <a:r>
              <a:t>Opening Talk (6 min): learners open the Opening Talk page. A asks a card question; B answers with 2–3 sentences; A asks one follow-up. Switch after each card. The cards are on the next slide.</a:t>
            </a:r>
          </a:p>
          <a:p>
            <a:r>
              <a:t>If behind: one card only, then the homework check.</a:t>
            </a:r>
          </a:p>
          <a:p>
            <a:r>
              <a:t>Lesson plan: Step 1; Opening Talk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1, continued. The four cards from the Opening Talk page. Each click shows the next card.</a:t>
            </a:r>
          </a:p>
          <a:p>
            <a:r>
              <a:t>A asks a card question. B answers with 2–3 sentences. A asks one follow-up question (follow-ups on the right). Then switch.</a:t>
            </a:r>
          </a:p>
          <a:p>
            <a:r>
              <a:t>Homework Check (4 min, last click): partners read their Lesson 8 Homework item 3 (The blue cup is mine…) to each other. The partner asks one question about it. Walk around. Write 2 common errors on the board (often It's the mine or his for a woman) and correct them together.</a:t>
            </a:r>
          </a:p>
          <a:p>
            <a:r>
              <a:t>Lesson plan: Step 1; Opening Talk page: cards, follow-ups, homework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title: "Goodbye! See you next week!" Learners repeat.</a:t>
            </a:r>
          </a:p>
          <a:p>
            <a:r>
              <a:t>Read the three "Now you can" lines. Ask one learner: "What are you good at?" and wait for an answer with an example.</a:t>
            </a:r>
          </a:p>
          <a:p>
            <a:r>
              <a:t>Remind learners: homework is about 15 minutes. Bring it next week.</a:t>
            </a:r>
          </a:p>
          <a:p>
            <a:r>
              <a:t>Lesson plan: At a glance: Objectives; Step 6.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speech bubbles, signs,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Relationship Id="rId11" Type="http://schemas.openxmlformats.org/officeDocument/2006/relationships/image" Target="../media/image17.png"/><Relationship Id="rId12" Type="http://schemas.openxmlformats.org/officeDocument/2006/relationships/image" Target="../media/image18.png"/><Relationship Id="rId13" Type="http://schemas.openxmlformats.org/officeDocument/2006/relationships/image" Target="../media/image19.png"/><Relationship Id="rId14" Type="http://schemas.openxmlformats.org/officeDocument/2006/relationships/notesSlide" Target="../notesSlides/notesSlide2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20.png"/><Relationship Id="rId9" Type="http://schemas.openxmlformats.org/officeDocument/2006/relationships/image" Target="../media/image21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Relationship Id="rId12" Type="http://schemas.openxmlformats.org/officeDocument/2006/relationships/image" Target="../media/image24.png"/><Relationship Id="rId13" Type="http://schemas.openxmlformats.org/officeDocument/2006/relationships/image" Target="../media/image25.png"/><Relationship Id="rId14" Type="http://schemas.openxmlformats.org/officeDocument/2006/relationships/notesSlide" Target="../notesSlides/notesSlide2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6" Type="http://schemas.openxmlformats.org/officeDocument/2006/relationships/image" Target="../media/image25.png"/><Relationship Id="rId7" Type="http://schemas.openxmlformats.org/officeDocument/2006/relationships/image" Target="../media/image24.png"/><Relationship Id="rId8" Type="http://schemas.openxmlformats.org/officeDocument/2006/relationships/notesSlide" Target="../notesSlides/notesSlide2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1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1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1.png"/><Relationship Id="rId4" Type="http://schemas.openxmlformats.org/officeDocument/2006/relationships/notesSlide" Target="../notesSlides/notesSlide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6.png"/><Relationship Id="rId4" Type="http://schemas.openxmlformats.org/officeDocument/2006/relationships/notesSlide" Target="../notesSlides/notesSlide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2.png"/><Relationship Id="rId4" Type="http://schemas.openxmlformats.org/officeDocument/2006/relationships/notesSlide" Target="../notesSlides/notesSlide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3.png"/><Relationship Id="rId4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tit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Strength: a flexed arm and a st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9  ·  Level 3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50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My Strengths</a:t>
            </a:r>
            <a:endParaRPr lang="en-US" sz="50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 you will: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Say what you're good at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Say what you're interested in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Answer Tell me about yourself</a:t>
            </a:r>
            <a:endParaRPr lang="en-US" sz="2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goal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Today's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Goals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the end of class, you can do these six things.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can invent your job history.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 check at 7:25!</a:t>
            </a:r>
            <a:endParaRPr lang="en-US" sz="2000" dirty="0" b="1"/>
          </a:p>
        </p:txBody>
      </p:sp>
      <p:sp>
        <p:nvSpPr>
          <p:cNvPr id="31" name="R1 shadow"/>
          <p:cNvSpPr/>
          <p:nvPr/>
        </p:nvSpPr>
        <p:spPr>
          <a:xfrm>
            <a:off x="544982" y="1383487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1325880"/>
            <a:ext cx="5130698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1325880"/>
            <a:ext cx="1039673" cy="983894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1494587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1393546"/>
            <a:ext cx="4434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say what I'm good at.</a:t>
            </a:r>
            <a:endParaRPr lang="en-US" sz="2000" dirty="0" b="1"/>
          </a:p>
        </p:txBody>
      </p:sp>
      <p:sp>
        <p:nvSpPr>
          <p:cNvPr id="36" name="R1 sub"/>
          <p:cNvSpPr/>
          <p:nvPr/>
        </p:nvSpPr>
        <p:spPr>
          <a:xfrm>
            <a:off x="1901952" y="179588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good at fixing things.</a:t>
            </a:r>
            <a:endParaRPr lang="en-US" sz="2000" dirty="0"/>
          </a:p>
        </p:txBody>
      </p:sp>
      <p:sp>
        <p:nvSpPr>
          <p:cNvPr id="37" name="R1 dot"/>
          <p:cNvSpPr/>
          <p:nvPr/>
        </p:nvSpPr>
        <p:spPr>
          <a:xfrm rot="10800000">
            <a:off x="6361481" y="145938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8" name="R2 card"/>
          <p:cNvSpPr/>
          <p:nvPr/>
        </p:nvSpPr>
        <p:spPr>
          <a:xfrm>
            <a:off x="1583741" y="241858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9" name="R2 chip"/>
          <p:cNvSpPr/>
          <p:nvPr/>
        </p:nvSpPr>
        <p:spPr>
          <a:xfrm>
            <a:off x="544982" y="2418588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0" name="R2 num"/>
          <p:cNvSpPr/>
          <p:nvPr/>
        </p:nvSpPr>
        <p:spPr>
          <a:xfrm>
            <a:off x="686714" y="2418588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1" name="R2 text"/>
          <p:cNvSpPr/>
          <p:nvPr/>
        </p:nvSpPr>
        <p:spPr>
          <a:xfrm>
            <a:off x="1810512" y="2418588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say what I'm interested in.</a:t>
            </a:r>
            <a:endParaRPr lang="en-US" sz="1800" dirty="0"/>
          </a:p>
        </p:txBody>
      </p:sp>
      <p:sp>
        <p:nvSpPr>
          <p:cNvPr id="42" name="R2 dot"/>
          <p:cNvSpPr/>
          <p:nvPr/>
        </p:nvSpPr>
        <p:spPr>
          <a:xfrm rot="10800000">
            <a:off x="6361481" y="2552090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3" name="R3 card"/>
          <p:cNvSpPr/>
          <p:nvPr/>
        </p:nvSpPr>
        <p:spPr>
          <a:xfrm>
            <a:off x="1583741" y="3129991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4" name="R3 chip"/>
          <p:cNvSpPr/>
          <p:nvPr/>
        </p:nvSpPr>
        <p:spPr>
          <a:xfrm>
            <a:off x="544982" y="3129991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5" name="R3 num"/>
          <p:cNvSpPr/>
          <p:nvPr/>
        </p:nvSpPr>
        <p:spPr>
          <a:xfrm>
            <a:off x="686714" y="3129991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6" name="R3 text"/>
          <p:cNvSpPr/>
          <p:nvPr/>
        </p:nvSpPr>
        <p:spPr>
          <a:xfrm>
            <a:off x="1810512" y="3129991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say what I enjoy and don't mind.</a:t>
            </a:r>
            <a:endParaRPr lang="en-US" sz="1800" dirty="0"/>
          </a:p>
        </p:txBody>
      </p:sp>
      <p:sp>
        <p:nvSpPr>
          <p:cNvPr id="47" name="R3 dot"/>
          <p:cNvSpPr/>
          <p:nvPr/>
        </p:nvSpPr>
        <p:spPr>
          <a:xfrm rot="10800000">
            <a:off x="6361481" y="3263494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8" name="R4 card"/>
          <p:cNvSpPr/>
          <p:nvPr/>
        </p:nvSpPr>
        <p:spPr>
          <a:xfrm>
            <a:off x="1583741" y="3841394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9" name="R4 chip"/>
          <p:cNvSpPr/>
          <p:nvPr/>
        </p:nvSpPr>
        <p:spPr>
          <a:xfrm>
            <a:off x="544982" y="3841394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0" name="R4 num"/>
          <p:cNvSpPr/>
          <p:nvPr/>
        </p:nvSpPr>
        <p:spPr>
          <a:xfrm>
            <a:off x="686714" y="3841394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1" name="R4 text"/>
          <p:cNvSpPr/>
          <p:nvPr/>
        </p:nvSpPr>
        <p:spPr>
          <a:xfrm>
            <a:off x="1810512" y="3841394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give an example after a strength.</a:t>
            </a:r>
            <a:endParaRPr lang="en-US" sz="1800" dirty="0"/>
          </a:p>
        </p:txBody>
      </p:sp>
      <p:sp>
        <p:nvSpPr>
          <p:cNvPr id="52" name="R4 dot"/>
          <p:cNvSpPr/>
          <p:nvPr/>
        </p:nvSpPr>
        <p:spPr>
          <a:xfrm rot="10800000">
            <a:off x="6361481" y="3974897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3" name="R5 card"/>
          <p:cNvSpPr/>
          <p:nvPr/>
        </p:nvSpPr>
        <p:spPr>
          <a:xfrm>
            <a:off x="1583741" y="455279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4" name="R5 chip"/>
          <p:cNvSpPr/>
          <p:nvPr/>
        </p:nvSpPr>
        <p:spPr>
          <a:xfrm>
            <a:off x="544982" y="4552798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5" name="R5 num"/>
          <p:cNvSpPr/>
          <p:nvPr/>
        </p:nvSpPr>
        <p:spPr>
          <a:xfrm>
            <a:off x="686714" y="4552798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05</a:t>
            </a:r>
            <a:endParaRPr lang="en-US" sz="3200" b="1" dirty="0"/>
          </a:p>
        </p:txBody>
      </p:sp>
      <p:sp>
        <p:nvSpPr>
          <p:cNvPr id="56" name="R5 text"/>
          <p:cNvSpPr/>
          <p:nvPr/>
        </p:nvSpPr>
        <p:spPr>
          <a:xfrm>
            <a:off x="1810512" y="4552798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answer Tell me about yourself.</a:t>
            </a:r>
            <a:endParaRPr lang="en-US" sz="1800" dirty="0"/>
          </a:p>
        </p:txBody>
      </p:sp>
      <p:sp>
        <p:nvSpPr>
          <p:cNvPr id="57" name="R5 dot"/>
          <p:cNvSpPr/>
          <p:nvPr/>
        </p:nvSpPr>
        <p:spPr>
          <a:xfrm rot="10800000">
            <a:off x="6361481" y="4686300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8" name="R6 card"/>
          <p:cNvSpPr/>
          <p:nvPr/>
        </p:nvSpPr>
        <p:spPr>
          <a:xfrm>
            <a:off x="1583741" y="5264201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9" name="R6 chip"/>
          <p:cNvSpPr/>
          <p:nvPr/>
        </p:nvSpPr>
        <p:spPr>
          <a:xfrm>
            <a:off x="544982" y="5264201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0" name="R6 num"/>
          <p:cNvSpPr/>
          <p:nvPr/>
        </p:nvSpPr>
        <p:spPr>
          <a:xfrm>
            <a:off x="686714" y="5264201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06</a:t>
            </a:r>
            <a:endParaRPr lang="en-US" sz="3200" b="1" dirty="0"/>
          </a:p>
        </p:txBody>
      </p:sp>
      <p:sp>
        <p:nvSpPr>
          <p:cNvPr id="61" name="R6 text"/>
          <p:cNvSpPr/>
          <p:nvPr/>
        </p:nvSpPr>
        <p:spPr>
          <a:xfrm>
            <a:off x="1810512" y="5264201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read job ads and write a skills summary.</a:t>
            </a:r>
            <a:endParaRPr lang="en-US" sz="1800" dirty="0"/>
          </a:p>
        </p:txBody>
      </p:sp>
      <p:sp>
        <p:nvSpPr>
          <p:cNvPr id="62" name="R6 dot"/>
          <p:cNvSpPr/>
          <p:nvPr/>
        </p:nvSpPr>
        <p:spPr>
          <a:xfrm rot="10800000">
            <a:off x="6361481" y="5397703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warmup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87604" y="1352535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8465" y="1300277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 flipH="1">
            <a:off x="5503774" y="3276295"/>
            <a:ext cx="6847942" cy="3931006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5" name="pic" descr="Good at: a mechanic; bubble &quot;I'm good at fixing things.&quot;; a check mar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393" y="1828800"/>
            <a:ext cx="4754880" cy="3328416"/>
          </a:xfrm>
          <a:prstGeom prst="rect">
            <a:avLst/>
          </a:prstGeom>
        </p:spPr>
      </p:pic>
      <p:sp>
        <p:nvSpPr>
          <p:cNvPr id="7" name="title"/>
          <p:cNvSpPr/>
          <p:nvPr/>
        </p:nvSpPr>
        <p:spPr>
          <a:xfrm>
            <a:off x="548640" y="1764792"/>
            <a:ext cx="5120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</p:txBody>
      </p:sp>
      <p:sp>
        <p:nvSpPr>
          <p:cNvPr id="8" name="kicker"/>
          <p:cNvSpPr/>
          <p:nvPr/>
        </p:nvSpPr>
        <p:spPr>
          <a:xfrm>
            <a:off x="599846" y="137160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  ·  6:00</a:t>
            </a:r>
            <a:endParaRPr lang="en-US" sz="2000" dirty="0" b="1"/>
          </a:p>
        </p:txBody>
      </p:sp>
      <p:sp>
        <p:nvSpPr>
          <p:cNvPr id="9" name="box1"/>
          <p:cNvSpPr/>
          <p:nvPr/>
        </p:nvSpPr>
        <p:spPr>
          <a:xfrm>
            <a:off x="599846" y="33832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asks a card question.</a:t>
            </a:r>
            <a:endParaRPr lang="en-US" sz="2000" dirty="0" b="1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Did you ever lose something important?</a:t>
            </a:r>
            <a:endParaRPr lang="en-US" sz="2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 with 2–3 sentences.</a:t>
            </a:r>
            <a:endParaRPr lang="en-US" sz="2000" dirty="0" b="1"/>
          </a:p>
        </p:txBody>
      </p:sp>
      <p:sp>
        <p:nvSpPr>
          <p:cNvPr id="14" name="box2"/>
          <p:cNvSpPr/>
          <p:nvPr/>
        </p:nvSpPr>
        <p:spPr>
          <a:xfrm>
            <a:off x="599846" y="4754880"/>
            <a:ext cx="4846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asks one follow-up.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Really? Where did you find it?</a:t>
            </a:r>
            <a:endParaRPr lang="en-US" sz="2000" dirty="0" b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switch.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numlist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Cards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 with a partner. Then switch.</a:t>
            </a:r>
            <a:endParaRPr lang="en-US" sz="18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Follow-ups:</a:t>
            </a:r>
            <a:endParaRPr lang="en-US" sz="1800" dirty="0" b="1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Really? Where did you find it? Whose is it? What color is it?</a:t>
            </a:r>
            <a:endParaRPr lang="en-US" sz="1800" dirty="0" b="1"/>
          </a:p>
        </p:txBody>
      </p:sp>
      <p:sp>
        <p:nvSpPr>
          <p:cNvPr id="31" name="R1 shadow"/>
          <p:cNvSpPr/>
          <p:nvPr/>
        </p:nvSpPr>
        <p:spPr>
          <a:xfrm>
            <a:off x="544982" y="2471623"/>
            <a:ext cx="6227064" cy="60259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241401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241401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241401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241401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Did you ever lose something important? What was it?</a:t>
            </a:r>
            <a:endParaRPr lang="en-US" sz="1800" dirty="0"/>
          </a:p>
        </p:txBody>
      </p:sp>
      <p:sp>
        <p:nvSpPr>
          <p:cNvPr id="36" name="R1 dot"/>
          <p:cNvSpPr/>
          <p:nvPr/>
        </p:nvSpPr>
        <p:spPr>
          <a:xfrm rot="10800000">
            <a:off x="6361481" y="254751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7" name="R2 card"/>
          <p:cNvSpPr/>
          <p:nvPr/>
        </p:nvSpPr>
        <p:spPr>
          <a:xfrm>
            <a:off x="1583741" y="3125419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R2 chip"/>
          <p:cNvSpPr/>
          <p:nvPr/>
        </p:nvSpPr>
        <p:spPr>
          <a:xfrm>
            <a:off x="544982" y="3125419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9" name="R2 num"/>
          <p:cNvSpPr/>
          <p:nvPr/>
        </p:nvSpPr>
        <p:spPr>
          <a:xfrm>
            <a:off x="686714" y="3125419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0" name="R2 text"/>
          <p:cNvSpPr/>
          <p:nvPr/>
        </p:nvSpPr>
        <p:spPr>
          <a:xfrm>
            <a:off x="1810512" y="3125419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 at your bag. What is in it? Is it all yours?</a:t>
            </a:r>
            <a:endParaRPr lang="en-US" sz="1800" dirty="0"/>
          </a:p>
        </p:txBody>
      </p:sp>
      <p:sp>
        <p:nvSpPr>
          <p:cNvPr id="41" name="R2 dot"/>
          <p:cNvSpPr/>
          <p:nvPr/>
        </p:nvSpPr>
        <p:spPr>
          <a:xfrm rot="10800000">
            <a:off x="6361481" y="325892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2" name="R3 card"/>
          <p:cNvSpPr/>
          <p:nvPr/>
        </p:nvSpPr>
        <p:spPr>
          <a:xfrm>
            <a:off x="1583741" y="3836822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R3 chip"/>
          <p:cNvSpPr/>
          <p:nvPr/>
        </p:nvSpPr>
        <p:spPr>
          <a:xfrm>
            <a:off x="544982" y="3836822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4" name="R3 num"/>
          <p:cNvSpPr/>
          <p:nvPr/>
        </p:nvSpPr>
        <p:spPr>
          <a:xfrm>
            <a:off x="686714" y="3836822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5" name="R3 text"/>
          <p:cNvSpPr/>
          <p:nvPr/>
        </p:nvSpPr>
        <p:spPr>
          <a:xfrm>
            <a:off x="1810512" y="3836822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Your friend finds a phone in class. What does she say?</a:t>
            </a:r>
            <a:endParaRPr lang="en-US" sz="1800" dirty="0"/>
          </a:p>
        </p:txBody>
      </p:sp>
      <p:sp>
        <p:nvSpPr>
          <p:cNvPr id="46" name="R3 dot"/>
          <p:cNvSpPr/>
          <p:nvPr/>
        </p:nvSpPr>
        <p:spPr>
          <a:xfrm rot="10800000">
            <a:off x="6361481" y="3970325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7" name="R4 card"/>
          <p:cNvSpPr/>
          <p:nvPr/>
        </p:nvSpPr>
        <p:spPr>
          <a:xfrm>
            <a:off x="1583741" y="454822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" name="R4 chip"/>
          <p:cNvSpPr/>
          <p:nvPr/>
        </p:nvSpPr>
        <p:spPr>
          <a:xfrm>
            <a:off x="544982" y="454822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9" name="R4 num"/>
          <p:cNvSpPr/>
          <p:nvPr/>
        </p:nvSpPr>
        <p:spPr>
          <a:xfrm>
            <a:off x="686714" y="454822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0" name="R4 text"/>
          <p:cNvSpPr/>
          <p:nvPr/>
        </p:nvSpPr>
        <p:spPr>
          <a:xfrm>
            <a:off x="1810512" y="454822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Describe your favorite jacket or bag.</a:t>
            </a:r>
            <a:endParaRPr lang="en-US" sz="1800" dirty="0"/>
          </a:p>
        </p:txBody>
      </p:sp>
      <p:sp>
        <p:nvSpPr>
          <p:cNvPr id="51" name="R4 dot"/>
          <p:cNvSpPr/>
          <p:nvPr/>
        </p:nvSpPr>
        <p:spPr>
          <a:xfrm rot="10800000">
            <a:off x="6361481" y="468172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2" name="R5 card"/>
          <p:cNvSpPr/>
          <p:nvPr/>
        </p:nvSpPr>
        <p:spPr>
          <a:xfrm>
            <a:off x="1583741" y="5259629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3" name="R5 chip"/>
          <p:cNvSpPr/>
          <p:nvPr/>
        </p:nvSpPr>
        <p:spPr>
          <a:xfrm>
            <a:off x="544982" y="5259629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4" name="R5 num"/>
          <p:cNvSpPr/>
          <p:nvPr/>
        </p:nvSpPr>
        <p:spPr>
          <a:xfrm>
            <a:off x="686714" y="5259629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05</a:t>
            </a:r>
            <a:endParaRPr lang="en-US" sz="3200" b="1" dirty="0"/>
          </a:p>
        </p:txBody>
      </p:sp>
      <p:sp>
        <p:nvSpPr>
          <p:cNvPr id="55" name="R5 text"/>
          <p:cNvSpPr/>
          <p:nvPr/>
        </p:nvSpPr>
        <p:spPr>
          <a:xfrm>
            <a:off x="1810512" y="5259629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 check: Lesson 8, item 3.</a:t>
            </a:r>
            <a:endParaRPr lang="en-US" sz="1800" dirty="0"/>
          </a:p>
        </p:txBody>
      </p:sp>
      <p:sp>
        <p:nvSpPr>
          <p:cNvPr id="56" name="R5 dot"/>
          <p:cNvSpPr/>
          <p:nvPr/>
        </p:nvSpPr>
        <p:spPr>
          <a:xfrm rot="10800000">
            <a:off x="6361481" y="5393131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Look. Listen.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Repeat.</a:t>
            </a:r>
            <a:endParaRPr lang="en-US" sz="2200" dirty="0" b="1"/>
          </a:p>
        </p:txBody>
      </p:sp>
      <p:pic>
        <p:nvPicPr>
          <p:cNvPr id="17" name="Word picture 1" descr="Strength: a flexed arm and a star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strength</a:t>
            </a:r>
            <a:endParaRPr lang="en-US" sz="2000" dirty="0" b="1"/>
          </a:p>
        </p:txBody>
      </p:sp>
      <p:pic>
        <p:nvPicPr>
          <p:cNvPr id="19" name="Word picture 2" descr="Good at: a mechanic; bubble &quot;I'm good at fixing things.&quot;; a check mark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good at</a:t>
            </a:r>
            <a:endParaRPr lang="en-US" sz="2000" dirty="0" b="1"/>
          </a:p>
        </p:txBody>
      </p:sp>
      <p:pic>
        <p:nvPicPr>
          <p:cNvPr id="21" name="Word picture 3" descr="Interested in: a person, a light bulb, an arrow to a laptop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interested in</a:t>
            </a:r>
            <a:endParaRPr lang="en-US" sz="2000" dirty="0" b="1"/>
          </a:p>
        </p:txBody>
      </p:sp>
      <p:pic>
        <p:nvPicPr>
          <p:cNvPr id="23" name="Word picture 4" descr="Experience: a toolbox and a sign &quot;5 years&quot;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experience</a:t>
            </a:r>
            <a:endParaRPr lang="en-US" sz="2000" dirty="0" b="1"/>
          </a:p>
        </p:txBody>
      </p:sp>
      <p:pic>
        <p:nvPicPr>
          <p:cNvPr id="25" name="Word picture 5" descr="Reliable: an alarm clock and &quot;on time every day&quot;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reliable</a:t>
            </a:r>
            <a:endParaRPr lang="en-US" sz="2000" dirty="0" b="1"/>
          </a:p>
        </p:txBody>
      </p:sp>
      <p:pic>
        <p:nvPicPr>
          <p:cNvPr id="27" name="Word picture 6" descr="Teamwork: a woman, a handshake, a man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teamwork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 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Partner game: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says. B points.</a:t>
            </a:r>
            <a:endParaRPr lang="en-US" sz="2200" dirty="0" b="1"/>
          </a:p>
        </p:txBody>
      </p:sp>
      <p:pic>
        <p:nvPicPr>
          <p:cNvPr id="17" name="Word picture 1" descr="Organize: three drawn labeled binders (our drawing)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organize</a:t>
            </a:r>
            <a:endParaRPr lang="en-US" sz="2000" dirty="0" b="1"/>
          </a:p>
        </p:txBody>
      </p:sp>
      <p:pic>
        <p:nvPicPr>
          <p:cNvPr id="19" name="Word picture 2" descr="Solve problems: two puzzle pieces (one mirrored), an arrow, a check mark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solve problems</a:t>
            </a:r>
            <a:endParaRPr lang="en-US" sz="2000" dirty="0" b="1"/>
          </a:p>
        </p:txBody>
      </p:sp>
      <p:pic>
        <p:nvPicPr>
          <p:cNvPr id="21" name="Word picture 3" descr="Résumé: a drawn résumé form (name, experience, skills, training)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résumé</a:t>
            </a:r>
            <a:endParaRPr lang="en-US" sz="2000" dirty="0" b="1"/>
          </a:p>
        </p:txBody>
      </p:sp>
      <p:pic>
        <p:nvPicPr>
          <p:cNvPr id="23" name="Word picture 4" descr="Apply: a drawn job application form and a pencil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apply</a:t>
            </a:r>
            <a:endParaRPr lang="en-US" sz="2000" dirty="0" b="1"/>
          </a:p>
        </p:txBody>
      </p:sp>
      <p:pic>
        <p:nvPicPr>
          <p:cNvPr id="25" name="Word picture 5" descr="Training: a teacher and two learners (one mirrored)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training</a:t>
            </a:r>
            <a:endParaRPr lang="en-US" sz="2000" dirty="0" b="1"/>
          </a:p>
        </p:txBody>
      </p:sp>
      <p:pic>
        <p:nvPicPr>
          <p:cNvPr id="27" name="Word picture 6" descr="Shift: a sun &quot;7 a.m.–3 p.m.&quot; and a moon &quot;3 p.m.–11 p.m.&quot;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shift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chec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the Meaning</a:t>
            </a:r>
            <a:endParaRPr lang="en-US" sz="4300" dirty="0" b="1"/>
          </a:p>
        </p:txBody>
      </p:sp>
      <p:sp>
        <p:nvSpPr>
          <p:cNvPr id="3" name="sub"/>
          <p:cNvSpPr/>
          <p:nvPr/>
        </p:nvSpPr>
        <p:spPr>
          <a:xfrm>
            <a:off x="685800" y="15544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 at the picture. Answer the question.</a:t>
            </a:r>
            <a:endParaRPr lang="en-US" sz="2400" dirty="0"/>
          </a:p>
        </p:txBody>
      </p:sp>
      <p:sp>
        <p:nvSpPr>
          <p:cNvPr id="4" name="R1 shadow"/>
          <p:cNvSpPr/>
          <p:nvPr/>
        </p:nvSpPr>
        <p:spPr>
          <a:xfrm>
            <a:off x="7589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R1 card"/>
          <p:cNvSpPr/>
          <p:nvPr/>
        </p:nvSpPr>
        <p:spPr>
          <a:xfrm>
            <a:off x="6858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6" name="R1 circle"/>
          <p:cNvSpPr/>
          <p:nvPr/>
        </p:nvSpPr>
        <p:spPr>
          <a:xfrm>
            <a:off x="9601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7" name="R1 num"/>
          <p:cNvSpPr/>
          <p:nvPr/>
        </p:nvSpPr>
        <p:spPr>
          <a:xfrm>
            <a:off x="9601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500" dirty="0"/>
          </a:p>
        </p:txBody>
      </p:sp>
      <p:sp>
        <p:nvSpPr>
          <p:cNvPr id="8" name="R1 q"/>
          <p:cNvSpPr/>
          <p:nvPr/>
        </p:nvSpPr>
        <p:spPr>
          <a:xfrm>
            <a:off x="9601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paper with your jobs and skills is a…?</a:t>
            </a:r>
            <a:endParaRPr lang="en-US" sz="1800" dirty="0" b="1"/>
          </a:p>
        </p:txBody>
      </p:sp>
      <p:pic>
        <p:nvPicPr>
          <p:cNvPr id="101" name="R1 pic" descr="Résumé: a drawn résumé form (name, experience, skills, training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3080" y="2560320"/>
            <a:ext cx="1920240" cy="1344168"/>
          </a:xfrm>
          <a:prstGeom prst="rect">
            <a:avLst/>
          </a:prstGeom>
        </p:spPr>
      </p:pic>
      <p:sp>
        <p:nvSpPr>
          <p:cNvPr id="10" name="R2 shadow"/>
          <p:cNvSpPr/>
          <p:nvPr/>
        </p:nvSpPr>
        <p:spPr>
          <a:xfrm>
            <a:off x="44165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R2 card"/>
          <p:cNvSpPr/>
          <p:nvPr/>
        </p:nvSpPr>
        <p:spPr>
          <a:xfrm>
            <a:off x="43434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C9B8F2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2" name="R2 circle"/>
          <p:cNvSpPr/>
          <p:nvPr/>
        </p:nvSpPr>
        <p:spPr>
          <a:xfrm>
            <a:off x="46177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3" name="R2 num"/>
          <p:cNvSpPr/>
          <p:nvPr/>
        </p:nvSpPr>
        <p:spPr>
          <a:xfrm>
            <a:off x="46177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500" dirty="0"/>
          </a:p>
        </p:txBody>
      </p:sp>
      <p:sp>
        <p:nvSpPr>
          <p:cNvPr id="14" name="R2 q"/>
          <p:cNvSpPr/>
          <p:nvPr/>
        </p:nvSpPr>
        <p:spPr>
          <a:xfrm>
            <a:off x="46177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Morning, evening, or night work time is a…?</a:t>
            </a:r>
            <a:endParaRPr lang="en-US" sz="1800" dirty="0" b="1"/>
          </a:p>
        </p:txBody>
      </p:sp>
      <p:pic>
        <p:nvPicPr>
          <p:cNvPr id="102" name="R2 pic" descr="Shift: a sun &quot;7 a.m.–3 p.m.&quot; and a moon &quot;3 p.m.–11 p.m.&quot;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0680" y="2560320"/>
            <a:ext cx="1920240" cy="1344168"/>
          </a:xfrm>
          <a:prstGeom prst="rect">
            <a:avLst/>
          </a:prstGeom>
        </p:spPr>
      </p:pic>
      <p:sp>
        <p:nvSpPr>
          <p:cNvPr id="16" name="R3 shadow"/>
          <p:cNvSpPr/>
          <p:nvPr/>
        </p:nvSpPr>
        <p:spPr>
          <a:xfrm>
            <a:off x="80741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7" name="R3 card"/>
          <p:cNvSpPr/>
          <p:nvPr/>
        </p:nvSpPr>
        <p:spPr>
          <a:xfrm>
            <a:off x="80010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8" name="R3 circle"/>
          <p:cNvSpPr/>
          <p:nvPr/>
        </p:nvSpPr>
        <p:spPr>
          <a:xfrm>
            <a:off x="82753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9" name="R3 num"/>
          <p:cNvSpPr/>
          <p:nvPr/>
        </p:nvSpPr>
        <p:spPr>
          <a:xfrm>
            <a:off x="82753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500" dirty="0"/>
          </a:p>
        </p:txBody>
      </p:sp>
      <p:sp>
        <p:nvSpPr>
          <p:cNvPr id="20" name="R3 q"/>
          <p:cNvSpPr/>
          <p:nvPr/>
        </p:nvSpPr>
        <p:spPr>
          <a:xfrm>
            <a:off x="82753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class at work for new workers is…?</a:t>
            </a:r>
            <a:endParaRPr lang="en-US" sz="1800" dirty="0" b="1"/>
          </a:p>
        </p:txBody>
      </p:sp>
      <p:pic>
        <p:nvPicPr>
          <p:cNvPr id="103" name="R3 pic" descr="Training: a teacher and two learners (one mirrored)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98280" y="2560320"/>
            <a:ext cx="1920240" cy="1344168"/>
          </a:xfrm>
          <a:prstGeom prst="rect">
            <a:avLst/>
          </a:prstGeom>
        </p:spPr>
      </p:pic>
      <p:sp>
        <p:nvSpPr>
          <p:cNvPr id="25" name="R1 ans"/>
          <p:cNvSpPr/>
          <p:nvPr/>
        </p:nvSpPr>
        <p:spPr>
          <a:xfrm>
            <a:off x="9601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résumé</a:t>
            </a:r>
            <a:endParaRPr lang="en-US" sz="2800" dirty="0" b="1"/>
          </a:p>
        </p:txBody>
      </p:sp>
      <p:sp>
        <p:nvSpPr>
          <p:cNvPr id="26" name="R2 ans"/>
          <p:cNvSpPr/>
          <p:nvPr/>
        </p:nvSpPr>
        <p:spPr>
          <a:xfrm>
            <a:off x="46177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shift</a:t>
            </a:r>
            <a:endParaRPr lang="en-US" sz="2800" dirty="0" b="1"/>
          </a:p>
        </p:txBody>
      </p:sp>
      <p:sp>
        <p:nvSpPr>
          <p:cNvPr id="27" name="R3 ans"/>
          <p:cNvSpPr/>
          <p:nvPr/>
        </p:nvSpPr>
        <p:spPr>
          <a:xfrm>
            <a:off x="82753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training</a:t>
            </a:r>
            <a:endParaRPr lang="en-US" sz="28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befor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3063240" cy="6858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156448" y="1289304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321040" y="1097280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94847" y="1032586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20770" y="956462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1"/>
          <p:cNvSpPr/>
          <p:nvPr/>
        </p:nvSpPr>
        <p:spPr>
          <a:xfrm>
            <a:off x="3566160" y="1078992"/>
            <a:ext cx="4114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</a:t>
            </a:r>
            <a:endParaRPr lang="en-US" sz="4400" dirty="0" b="1"/>
          </a:p>
        </p:txBody>
      </p:sp>
      <p:sp>
        <p:nvSpPr>
          <p:cNvPr id="9" name="title2"/>
          <p:cNvSpPr/>
          <p:nvPr/>
        </p:nvSpPr>
        <p:spPr>
          <a:xfrm>
            <a:off x="3566160" y="182880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</a:t>
            </a:r>
            <a:endParaRPr lang="en-US" sz="4400" dirty="0" b="1"/>
          </a:p>
        </p:txBody>
      </p:sp>
      <p:sp>
        <p:nvSpPr>
          <p:cNvPr id="10" name="context"/>
          <p:cNvSpPr/>
          <p:nvPr/>
        </p:nvSpPr>
        <p:spPr>
          <a:xfrm>
            <a:off x="3487522" y="310896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Lucia has a job interview at a hotel. She wants a maintenance job. Mr. Hall is the manager.</a:t>
            </a:r>
            <a:endParaRPr lang="en-US" sz="1700" dirty="0"/>
          </a:p>
        </p:txBody>
      </p:sp>
      <p:sp>
        <p:nvSpPr>
          <p:cNvPr id="11" name="R1 num"/>
          <p:cNvSpPr/>
          <p:nvPr/>
        </p:nvSpPr>
        <p:spPr>
          <a:xfrm>
            <a:off x="3383280" y="411480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dirty="0"/>
          </a:p>
        </p:txBody>
      </p:sp>
      <p:sp>
        <p:nvSpPr>
          <p:cNvPr id="13" name="R2 num"/>
          <p:cNvSpPr/>
          <p:nvPr/>
        </p:nvSpPr>
        <p:spPr>
          <a:xfrm>
            <a:off x="3383280" y="4919472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600" dirty="0"/>
          </a:p>
        </p:txBody>
      </p:sp>
      <p:sp>
        <p:nvSpPr>
          <p:cNvPr id="15" name="R3 num"/>
          <p:cNvSpPr/>
          <p:nvPr/>
        </p:nvSpPr>
        <p:spPr>
          <a:xfrm>
            <a:off x="3383280" y="572414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600" dirty="0"/>
          </a:p>
        </p:txBody>
      </p:sp>
      <p:sp>
        <p:nvSpPr>
          <p:cNvPr id="17" name="line 1"/>
          <p:cNvSpPr/>
          <p:nvPr/>
        </p:nvSpPr>
        <p:spPr>
          <a:xfrm>
            <a:off x="3503066" y="4928616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8" name="line 2"/>
          <p:cNvSpPr/>
          <p:nvPr/>
        </p:nvSpPr>
        <p:spPr>
          <a:xfrm>
            <a:off x="3503066" y="5733288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pic>
        <p:nvPicPr>
          <p:cNvPr id="24" name="pic" descr="Experience: a toolbox and a sign &quot;5 years&quot;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" y="2423160"/>
            <a:ext cx="2743200" cy="1920240"/>
          </a:xfrm>
          <a:prstGeom prst="rect">
            <a:avLst/>
          </a:prstGeom>
        </p:spPr>
      </p:pic>
      <p:sp>
        <p:nvSpPr>
          <p:cNvPr id="25" name="R1 hl"/>
          <p:cNvSpPr/>
          <p:nvPr/>
        </p:nvSpPr>
        <p:spPr>
          <a:xfrm>
            <a:off x="4389120" y="4251960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7" name="R1 voice"/>
          <p:cNvSpPr/>
          <p:nvPr/>
        </p:nvSpPr>
        <p:spPr>
          <a:xfrm>
            <a:off x="4389120" y="4251960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Narrator</a:t>
            </a:r>
            <a:endParaRPr lang="en-US" sz="2200" dirty="0" b="1"/>
          </a:p>
        </p:txBody>
      </p:sp>
      <p:sp>
        <p:nvSpPr>
          <p:cNvPr id="29" name="R2 hl"/>
          <p:cNvSpPr/>
          <p:nvPr/>
        </p:nvSpPr>
        <p:spPr>
          <a:xfrm>
            <a:off x="4389120" y="5056632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1" name="R2 voice"/>
          <p:cNvSpPr/>
          <p:nvPr/>
        </p:nvSpPr>
        <p:spPr>
          <a:xfrm>
            <a:off x="4389120" y="5056632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Mr. Hall</a:t>
            </a:r>
            <a:endParaRPr lang="en-US" sz="2200" dirty="0" b="1"/>
          </a:p>
        </p:txBody>
      </p:sp>
      <p:sp>
        <p:nvSpPr>
          <p:cNvPr id="33" name="R3 hl"/>
          <p:cNvSpPr/>
          <p:nvPr/>
        </p:nvSpPr>
        <p:spPr>
          <a:xfrm>
            <a:off x="4389120" y="5861304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5" name="R3 voice"/>
          <p:cNvSpPr/>
          <p:nvPr/>
        </p:nvSpPr>
        <p:spPr>
          <a:xfrm>
            <a:off x="4389120" y="5861304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Lucia</a:t>
            </a:r>
            <a:endParaRPr lang="en-US" sz="2200" dirty="0" b="1"/>
          </a:p>
        </p:txBody>
      </p:sp>
      <p:sp>
        <p:nvSpPr>
          <p:cNvPr id="37" name="listen head"/>
          <p:cNvSpPr/>
          <p:nvPr/>
        </p:nvSpPr>
        <p:spPr>
          <a:xfrm>
            <a:off x="8549640" y="1280160"/>
            <a:ext cx="3017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for:</a:t>
            </a:r>
            <a:endParaRPr lang="en-US" sz="2400" dirty="0" b="1"/>
          </a:p>
        </p:txBody>
      </p:sp>
      <p:sp>
        <p:nvSpPr>
          <p:cNvPr id="39" name="listen 1"/>
          <p:cNvSpPr/>
          <p:nvPr/>
        </p:nvSpPr>
        <p:spPr>
          <a:xfrm>
            <a:off x="8549640" y="196596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 she get a second interview?</a:t>
            </a:r>
            <a:endParaRPr lang="en-US" sz="2200" dirty="0"/>
          </a:p>
        </p:txBody>
      </p:sp>
      <p:sp>
        <p:nvSpPr>
          <p:cNvPr id="41" name="listen 2"/>
          <p:cNvSpPr/>
          <p:nvPr/>
        </p:nvSpPr>
        <p:spPr>
          <a:xfrm>
            <a:off x="8549640" y="301752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is she good at?</a:t>
            </a:r>
            <a:endParaRPr lang="en-US" sz="2200" dirty="0"/>
          </a:p>
        </p:txBody>
      </p:sp>
      <p:sp>
        <p:nvSpPr>
          <p:cNvPr id="43" name="audio"/>
          <p:cNvSpPr/>
          <p:nvPr/>
        </p:nvSpPr>
        <p:spPr>
          <a:xfrm>
            <a:off x="8549640" y="406908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Audio: about 1:20. It plays once.</a:t>
            </a:r>
            <a:endParaRPr lang="en-US" sz="2200" dirty="0"/>
          </a:p>
        </p:txBody>
      </p:sp>
      <p:sp>
        <p:nvSpPr>
          <p:cNvPr id="46" name="play"/>
          <p:cNvSpPr/>
          <p:nvPr/>
        </p:nvSpPr>
        <p:spPr>
          <a:xfrm>
            <a:off x="8549640" y="5029200"/>
            <a:ext cx="301752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Play 1: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Task A</a:t>
            </a:r>
            <a:endParaRPr lang="en-US" sz="22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40726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34965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41732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81965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A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compare your answers.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together.</a:t>
            </a:r>
            <a:endParaRPr lang="en-US" sz="2000" dirty="0" b="0"/>
          </a:p>
        </p:txBody>
      </p:sp>
      <p:sp>
        <p:nvSpPr>
          <p:cNvPr id="31" name="R1 card"/>
          <p:cNvSpPr/>
          <p:nvPr/>
        </p:nvSpPr>
        <p:spPr>
          <a:xfrm>
            <a:off x="1583741" y="2397557"/>
            <a:ext cx="6035040" cy="8686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397557"/>
            <a:ext cx="1039673" cy="86868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539289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397557"/>
            <a:ext cx="4590288" cy="868680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 Lucia get a second interview?</a:t>
            </a:r>
            <a:b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</a:t>
            </a: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 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</a:t>
            </a:r>
            <a:endParaRPr lang="en-US" sz="1800" dirty="0"/>
          </a:p>
        </p:txBody>
      </p:sp>
      <p:sp>
        <p:nvSpPr>
          <p:cNvPr id="35" name="R1 ans"/>
          <p:cNvSpPr/>
          <p:nvPr/>
        </p:nvSpPr>
        <p:spPr>
          <a:xfrm>
            <a:off x="6473952" y="2603297"/>
            <a:ext cx="1097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40726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34965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41732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81965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 or check ✓.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B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compare your answers.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together.</a:t>
            </a:r>
            <a:endParaRPr lang="en-US" sz="2000" dirty="0" b="0"/>
          </a:p>
        </p:txBody>
      </p:sp>
      <p:sp>
        <p:nvSpPr>
          <p:cNvPr id="31" name="R1 card"/>
          <p:cNvSpPr/>
          <p:nvPr/>
        </p:nvSpPr>
        <p:spPr>
          <a:xfrm>
            <a:off x="1583741" y="2397557"/>
            <a:ext cx="6035040" cy="56692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397557"/>
            <a:ext cx="1039673" cy="56692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388413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397557"/>
            <a:ext cx="3767328" cy="566928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Experience:  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three years</a:t>
            </a: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/ 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five years</a:t>
            </a:r>
            <a:endParaRPr lang="en-US" sz="1600" dirty="0"/>
          </a:p>
        </p:txBody>
      </p:sp>
      <p:sp>
        <p:nvSpPr>
          <p:cNvPr id="35" name="R1 ans"/>
          <p:cNvSpPr/>
          <p:nvPr/>
        </p:nvSpPr>
        <p:spPr>
          <a:xfrm>
            <a:off x="5650992" y="2452421"/>
            <a:ext cx="192024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three years</a:t>
            </a:r>
            <a:endParaRPr lang="en-US" sz="15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3037637"/>
            <a:ext cx="6035040" cy="10058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3037637"/>
            <a:ext cx="1039673" cy="100584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3247949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3037637"/>
            <a:ext cx="3767328" cy="1005840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She's good at… / She enjoys…</a:t>
            </a:r>
            <a:b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☐ fixing things  ☐ solving problems  ☐ helping people</a:t>
            </a:r>
            <a:b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☐ cooking  ☐ driving</a:t>
            </a:r>
            <a:endParaRPr lang="en-US" sz="1600" dirty="0"/>
          </a:p>
        </p:txBody>
      </p:sp>
      <p:sp>
        <p:nvSpPr>
          <p:cNvPr id="40" name="R2 ans"/>
          <p:cNvSpPr/>
          <p:nvPr/>
        </p:nvSpPr>
        <p:spPr>
          <a:xfrm>
            <a:off x="5650992" y="3311957"/>
            <a:ext cx="192024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✓ fixing things, solving problems, helping people</a:t>
            </a:r>
            <a:endParaRPr lang="en-US" sz="15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4116629"/>
            <a:ext cx="6035040" cy="56692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4116629"/>
            <a:ext cx="1039673" cy="56692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410748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4116629"/>
            <a:ext cx="3767328" cy="566928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Shift:  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day shift</a:t>
            </a: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/ 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night shift</a:t>
            </a:r>
            <a:endParaRPr lang="en-US" sz="1600" dirty="0"/>
          </a:p>
        </p:txBody>
      </p:sp>
      <p:sp>
        <p:nvSpPr>
          <p:cNvPr id="45" name="R3 ans"/>
          <p:cNvSpPr/>
          <p:nvPr/>
        </p:nvSpPr>
        <p:spPr>
          <a:xfrm>
            <a:off x="5650992" y="4171493"/>
            <a:ext cx="192024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day shift</a:t>
            </a:r>
            <a:endParaRPr lang="en-US" sz="15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756709"/>
            <a:ext cx="6035040" cy="56692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756709"/>
            <a:ext cx="1039673" cy="56692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74756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756709"/>
            <a:ext cx="3767328" cy="566928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 she work weekends?  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</a:t>
            </a: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/ 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</a:t>
            </a:r>
            <a:endParaRPr lang="en-US" sz="1600" dirty="0"/>
          </a:p>
        </p:txBody>
      </p:sp>
      <p:sp>
        <p:nvSpPr>
          <p:cNvPr id="50" name="R4 ans"/>
          <p:cNvSpPr/>
          <p:nvPr/>
        </p:nvSpPr>
        <p:spPr>
          <a:xfrm>
            <a:off x="5650992" y="4811573"/>
            <a:ext cx="192024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</a:t>
            </a:r>
            <a:endParaRPr lang="en-US" sz="15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396789"/>
            <a:ext cx="6035040" cy="56692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396789"/>
            <a:ext cx="1039673" cy="56692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38764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396789"/>
            <a:ext cx="3767328" cy="566928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second interview is on:  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Tuesday</a:t>
            </a: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/ 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Thursday</a:t>
            </a:r>
            <a:endParaRPr lang="en-US" sz="1600" dirty="0"/>
          </a:p>
        </p:txBody>
      </p:sp>
      <p:sp>
        <p:nvSpPr>
          <p:cNvPr id="55" name="R5 ans"/>
          <p:cNvSpPr/>
          <p:nvPr/>
        </p:nvSpPr>
        <p:spPr>
          <a:xfrm>
            <a:off x="5650992" y="5451653"/>
            <a:ext cx="192024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Thursday</a:t>
            </a:r>
            <a:endParaRPr lang="en-US" sz="15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13294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07533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14300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54533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-ing word.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C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compare your answers.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together.</a:t>
            </a:r>
            <a:endParaRPr lang="en-US" sz="2000" dirty="0" b="0"/>
          </a:p>
        </p:txBody>
      </p:sp>
      <p:sp>
        <p:nvSpPr>
          <p:cNvPr id="31" name="R1 card"/>
          <p:cNvSpPr/>
          <p:nvPr/>
        </p:nvSpPr>
        <p:spPr>
          <a:xfrm>
            <a:off x="1583741" y="2123237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123237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1581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123237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good at ____ things.</a:t>
            </a:r>
            <a:endParaRPr lang="en-US" sz="1800" dirty="0"/>
          </a:p>
        </p:txBody>
      </p:sp>
      <p:sp>
        <p:nvSpPr>
          <p:cNvPr id="35" name="R1 ans"/>
          <p:cNvSpPr/>
          <p:nvPr/>
        </p:nvSpPr>
        <p:spPr>
          <a:xfrm>
            <a:off x="6199632" y="2222144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fixing</a:t>
            </a:r>
            <a:endParaRPr lang="en-US" sz="20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2851404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2851404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28863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2851404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good at ____ problems.</a:t>
            </a:r>
            <a:endParaRPr lang="en-US" sz="1800" dirty="0"/>
          </a:p>
        </p:txBody>
      </p:sp>
      <p:sp>
        <p:nvSpPr>
          <p:cNvPr id="40" name="R2 ans"/>
          <p:cNvSpPr/>
          <p:nvPr/>
        </p:nvSpPr>
        <p:spPr>
          <a:xfrm>
            <a:off x="6199632" y="2950312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solving</a:t>
            </a:r>
            <a:endParaRPr lang="en-US" sz="20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579571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579571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361447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579571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enjoy ____ on a team?</a:t>
            </a:r>
            <a:endParaRPr lang="en-US" sz="1800" dirty="0"/>
          </a:p>
        </p:txBody>
      </p:sp>
      <p:sp>
        <p:nvSpPr>
          <p:cNvPr id="45" name="R3 ans"/>
          <p:cNvSpPr/>
          <p:nvPr/>
        </p:nvSpPr>
        <p:spPr>
          <a:xfrm>
            <a:off x="6199632" y="3678479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working</a:t>
            </a:r>
            <a:endParaRPr lang="en-US" sz="20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307738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307738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34263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307738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I enjoy ____ people.</a:t>
            </a:r>
            <a:endParaRPr lang="en-US" sz="1800" dirty="0"/>
          </a:p>
        </p:txBody>
      </p:sp>
      <p:sp>
        <p:nvSpPr>
          <p:cNvPr id="50" name="R4 ans"/>
          <p:cNvSpPr/>
          <p:nvPr/>
        </p:nvSpPr>
        <p:spPr>
          <a:xfrm>
            <a:off x="6199632" y="4406646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helping</a:t>
            </a:r>
            <a:endParaRPr lang="en-US" sz="20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035906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035906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07080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035906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very interested in ____ about the machines here.</a:t>
            </a:r>
            <a:endParaRPr lang="en-US" sz="1800" dirty="0"/>
          </a:p>
        </p:txBody>
      </p:sp>
      <p:sp>
        <p:nvSpPr>
          <p:cNvPr id="55" name="R5 ans"/>
          <p:cNvSpPr/>
          <p:nvPr/>
        </p:nvSpPr>
        <p:spPr>
          <a:xfrm>
            <a:off x="6199632" y="5134813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learning</a:t>
            </a:r>
            <a:endParaRPr lang="en-US" sz="2000" dirty="0" b="1"/>
          </a:p>
        </p:txBody>
      </p:sp>
      <p:sp>
        <p:nvSpPr>
          <p:cNvPr id="56" name="R6 card"/>
          <p:cNvSpPr/>
          <p:nvPr/>
        </p:nvSpPr>
        <p:spPr>
          <a:xfrm>
            <a:off x="1583741" y="5764073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R6 chip"/>
          <p:cNvSpPr/>
          <p:nvPr/>
        </p:nvSpPr>
        <p:spPr>
          <a:xfrm>
            <a:off x="544982" y="5764073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8" name="R6 num"/>
          <p:cNvSpPr/>
          <p:nvPr/>
        </p:nvSpPr>
        <p:spPr>
          <a:xfrm>
            <a:off x="686714" y="57989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6</a:t>
            </a:r>
            <a:endParaRPr lang="en-US" sz="3200" dirty="0" b="1"/>
          </a:p>
        </p:txBody>
      </p:sp>
      <p:sp>
        <p:nvSpPr>
          <p:cNvPr id="59" name="R6 text"/>
          <p:cNvSpPr/>
          <p:nvPr/>
        </p:nvSpPr>
        <p:spPr>
          <a:xfrm>
            <a:off x="1810512" y="5764073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don't mind ____ weekends.</a:t>
            </a:r>
            <a:endParaRPr lang="en-US" sz="1800" dirty="0"/>
          </a:p>
        </p:txBody>
      </p:sp>
      <p:sp>
        <p:nvSpPr>
          <p:cNvPr id="60" name="R6 ans"/>
          <p:cNvSpPr/>
          <p:nvPr/>
        </p:nvSpPr>
        <p:spPr>
          <a:xfrm>
            <a:off x="6199632" y="5862980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working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checksay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68158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4982" y="1623974"/>
            <a:ext cx="6169457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691640"/>
            <a:ext cx="56692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it: -ing and stress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2093976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class repeats each word.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end of -ing is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 the nose.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 g or k sound at the end.</a:t>
            </a:r>
            <a:endParaRPr lang="en-US" sz="2000" dirty="0" b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each word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two times.</a:t>
            </a:r>
            <a:endParaRPr lang="en-US" sz="2000" dirty="0" b="0"/>
          </a:p>
        </p:txBody>
      </p:sp>
      <p:sp>
        <p:nvSpPr>
          <p:cNvPr id="31" name="S1 card"/>
          <p:cNvSpPr/>
          <p:nvPr/>
        </p:nvSpPr>
        <p:spPr>
          <a:xfrm>
            <a:off x="548640" y="2715768"/>
            <a:ext cx="6766560" cy="777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S1 text"/>
          <p:cNvSpPr/>
          <p:nvPr/>
        </p:nvSpPr>
        <p:spPr>
          <a:xfrm>
            <a:off x="777240" y="2715768"/>
            <a:ext cx="6355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fix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ing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 ·  help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ing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 ·  work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ing</a:t>
            </a:r>
            <a:endParaRPr lang="en-US" sz="2200" dirty="0" b="1"/>
          </a:p>
        </p:txBody>
      </p:sp>
      <p:sp>
        <p:nvSpPr>
          <p:cNvPr id="33" name="S2 card"/>
          <p:cNvSpPr/>
          <p:nvPr/>
        </p:nvSpPr>
        <p:spPr>
          <a:xfrm>
            <a:off x="548640" y="3601822"/>
            <a:ext cx="6766560" cy="777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4" name="S2 text"/>
          <p:cNvSpPr/>
          <p:nvPr/>
        </p:nvSpPr>
        <p:spPr>
          <a:xfrm>
            <a:off x="777240" y="3601822"/>
            <a:ext cx="6355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terested</a:t>
            </a:r>
            <a:endParaRPr lang="en-US" sz="2200" dirty="0" b="1"/>
          </a:p>
        </p:txBody>
      </p:sp>
      <p:sp>
        <p:nvSpPr>
          <p:cNvPr id="35" name="S3 card"/>
          <p:cNvSpPr/>
          <p:nvPr/>
        </p:nvSpPr>
        <p:spPr>
          <a:xfrm>
            <a:off x="548640" y="4487875"/>
            <a:ext cx="6766560" cy="777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" name="S3 text"/>
          <p:cNvSpPr/>
          <p:nvPr/>
        </p:nvSpPr>
        <p:spPr>
          <a:xfrm>
            <a:off x="777240" y="4487875"/>
            <a:ext cx="6355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PER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ience</a:t>
            </a:r>
            <a:endParaRPr lang="en-US" sz="2200" dirty="0" b="1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qa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right panel"/>
          <p:cNvSpPr/>
          <p:nvPr/>
        </p:nvSpPr>
        <p:spPr>
          <a:xfrm>
            <a:off x="6742786" y="3291840"/>
            <a:ext cx="4912157" cy="310896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8" name="pic" descr="Good at: a mechanic; bubble &quot;I'm good at fixing things.&quot;; a check mar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1143000"/>
            <a:ext cx="2743200" cy="1920240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560116" y="1350752"/>
            <a:ext cx="5663794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93446" y="1286561"/>
            <a:ext cx="5663794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832104" y="1325880"/>
            <a:ext cx="52578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1</a:t>
            </a:r>
            <a:endParaRPr lang="en-US" sz="2000" dirty="0" b="1"/>
          </a:p>
          <a:p>
            <a:pPr algn="l" indent="0" marL="0">
              <a:buNone/>
            </a:pPr>
            <a:r>
              <a:rPr lang="en-US" sz="3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 at</a:t>
            </a:r>
            <a:endParaRPr lang="en-US" sz="3000" dirty="0" b="1"/>
          </a:p>
          <a:p>
            <a:pPr algn="l" indent="0" marL="0">
              <a:buNone/>
            </a:pP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 at + -ing  ·  good with + people or things</a:t>
            </a:r>
            <a:endParaRPr lang="en-US" sz="1800" dirty="0" b="0"/>
          </a:p>
        </p:txBody>
      </p:sp>
      <p:sp>
        <p:nvSpPr>
          <p:cNvPr id="8" name="left panel"/>
          <p:cNvSpPr/>
          <p:nvPr/>
        </p:nvSpPr>
        <p:spPr>
          <a:xfrm>
            <a:off x="1305763" y="3291840"/>
            <a:ext cx="4790542" cy="31089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2540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9" name="Q head"/>
          <p:cNvSpPr/>
          <p:nvPr/>
        </p:nvSpPr>
        <p:spPr>
          <a:xfrm>
            <a:off x="1920240" y="3429000"/>
            <a:ext cx="274320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 b="1"/>
          </a:p>
        </p:txBody>
      </p:sp>
      <p:sp>
        <p:nvSpPr>
          <p:cNvPr id="20" name="A head"/>
          <p:cNvSpPr/>
          <p:nvPr/>
        </p:nvSpPr>
        <p:spPr>
          <a:xfrm>
            <a:off x="7040880" y="3429000"/>
            <a:ext cx="274320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21" name="Highlight 1"/>
          <p:cNvSpPr/>
          <p:nvPr/>
        </p:nvSpPr>
        <p:spPr>
          <a:xfrm>
            <a:off x="1481328" y="4069080"/>
            <a:ext cx="182880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2" name="Helper 1"/>
          <p:cNvSpPr/>
          <p:nvPr/>
        </p:nvSpPr>
        <p:spPr>
          <a:xfrm>
            <a:off x="1481328" y="3977640"/>
            <a:ext cx="182880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are you</a:t>
            </a:r>
            <a:endParaRPr lang="en-US" sz="1500" dirty="0" b="1"/>
          </a:p>
        </p:txBody>
      </p:sp>
      <p:sp>
        <p:nvSpPr>
          <p:cNvPr id="23" name="Question 1"/>
          <p:cNvSpPr/>
          <p:nvPr/>
        </p:nvSpPr>
        <p:spPr>
          <a:xfrm>
            <a:off x="3401568" y="3977640"/>
            <a:ext cx="260604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 at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?</a:t>
            </a:r>
            <a:endParaRPr lang="en-US" sz="1700" dirty="0" b="1"/>
          </a:p>
        </p:txBody>
      </p:sp>
      <p:sp>
        <p:nvSpPr>
          <p:cNvPr id="24" name="Answer bg 1"/>
          <p:cNvSpPr/>
          <p:nvPr/>
        </p:nvSpPr>
        <p:spPr>
          <a:xfrm>
            <a:off x="6949440" y="3977640"/>
            <a:ext cx="452628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5" name="Answer 1"/>
          <p:cNvSpPr/>
          <p:nvPr/>
        </p:nvSpPr>
        <p:spPr>
          <a:xfrm>
            <a:off x="6949440" y="3977640"/>
            <a:ext cx="452628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 at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fix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ing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things. / cook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ing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700" dirty="0" b="1"/>
          </a:p>
        </p:txBody>
      </p:sp>
      <p:sp>
        <p:nvSpPr>
          <p:cNvPr id="26" name="Highlight 2"/>
          <p:cNvSpPr/>
          <p:nvPr/>
        </p:nvSpPr>
        <p:spPr>
          <a:xfrm>
            <a:off x="1481328" y="4846320"/>
            <a:ext cx="182880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7" name="Helper 2"/>
          <p:cNvSpPr/>
          <p:nvPr/>
        </p:nvSpPr>
        <p:spPr>
          <a:xfrm>
            <a:off x="1481328" y="4754880"/>
            <a:ext cx="182880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 you</a:t>
            </a:r>
            <a:endParaRPr lang="en-US" sz="1500" dirty="0" b="1"/>
          </a:p>
        </p:txBody>
      </p:sp>
      <p:sp>
        <p:nvSpPr>
          <p:cNvPr id="28" name="Question 2"/>
          <p:cNvSpPr/>
          <p:nvPr/>
        </p:nvSpPr>
        <p:spPr>
          <a:xfrm>
            <a:off x="3401568" y="4754880"/>
            <a:ext cx="260604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 at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organiz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ing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?</a:t>
            </a:r>
            <a:endParaRPr lang="en-US" sz="1700" dirty="0" b="1"/>
          </a:p>
        </p:txBody>
      </p:sp>
      <p:sp>
        <p:nvSpPr>
          <p:cNvPr id="29" name="Answer bg 2"/>
          <p:cNvSpPr/>
          <p:nvPr/>
        </p:nvSpPr>
        <p:spPr>
          <a:xfrm>
            <a:off x="6949440" y="4754880"/>
            <a:ext cx="452628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0" name="Answer 2"/>
          <p:cNvSpPr/>
          <p:nvPr/>
        </p:nvSpPr>
        <p:spPr>
          <a:xfrm>
            <a:off x="6949440" y="4754880"/>
            <a:ext cx="452628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I am. I'm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 at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organiz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ing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shelves.</a:t>
            </a:r>
            <a:endParaRPr lang="en-US" sz="1700" dirty="0" b="1"/>
          </a:p>
        </p:txBody>
      </p:sp>
      <p:sp>
        <p:nvSpPr>
          <p:cNvPr id="31" name="Highlight 3"/>
          <p:cNvSpPr/>
          <p:nvPr/>
        </p:nvSpPr>
        <p:spPr>
          <a:xfrm>
            <a:off x="1481328" y="5623560"/>
            <a:ext cx="182880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2" name="Helper 3"/>
          <p:cNvSpPr/>
          <p:nvPr/>
        </p:nvSpPr>
        <p:spPr>
          <a:xfrm>
            <a:off x="1481328" y="5532120"/>
            <a:ext cx="182880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 you</a:t>
            </a:r>
            <a:endParaRPr lang="en-US" sz="1500" dirty="0" b="1"/>
          </a:p>
        </p:txBody>
      </p:sp>
      <p:sp>
        <p:nvSpPr>
          <p:cNvPr id="33" name="Question 3"/>
          <p:cNvSpPr/>
          <p:nvPr/>
        </p:nvSpPr>
        <p:spPr>
          <a:xfrm>
            <a:off x="3401568" y="5532120"/>
            <a:ext cx="260604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 with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people?</a:t>
            </a:r>
            <a:endParaRPr lang="en-US" sz="1700" dirty="0" b="1"/>
          </a:p>
        </p:txBody>
      </p:sp>
      <p:sp>
        <p:nvSpPr>
          <p:cNvPr id="34" name="Answer bg 3"/>
          <p:cNvSpPr/>
          <p:nvPr/>
        </p:nvSpPr>
        <p:spPr>
          <a:xfrm>
            <a:off x="6949440" y="5532120"/>
            <a:ext cx="452628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5" name="Answer 3"/>
          <p:cNvSpPr/>
          <p:nvPr/>
        </p:nvSpPr>
        <p:spPr>
          <a:xfrm>
            <a:off x="6949440" y="5532120"/>
            <a:ext cx="4526280" cy="7315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I'm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 with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people. / numbers. / my hands.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qa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right panel"/>
          <p:cNvSpPr/>
          <p:nvPr/>
        </p:nvSpPr>
        <p:spPr>
          <a:xfrm>
            <a:off x="6742786" y="3291840"/>
            <a:ext cx="4912157" cy="310896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8" name="pic" descr="Interested in: a person, a light bulb, an arrow to a lapto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1143000"/>
            <a:ext cx="2743200" cy="1920240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560116" y="1350752"/>
            <a:ext cx="5663794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93446" y="1286561"/>
            <a:ext cx="5663794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832104" y="1325880"/>
            <a:ext cx="52578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2</a:t>
            </a:r>
            <a:endParaRPr lang="en-US" sz="2000" dirty="0" b="1"/>
          </a:p>
          <a:p>
            <a:pPr algn="l" indent="0" marL="0">
              <a:buNone/>
            </a:pPr>
            <a:r>
              <a:rPr lang="en-US" sz="3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interested in</a:t>
            </a:r>
            <a:endParaRPr lang="en-US" sz="3000" dirty="0" b="1"/>
          </a:p>
          <a:p>
            <a:pPr algn="l" indent="0" marL="0">
              <a:buNone/>
            </a:pP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interested in + -ing</a:t>
            </a:r>
            <a:endParaRPr lang="en-US" sz="1800" dirty="0" b="0"/>
          </a:p>
        </p:txBody>
      </p:sp>
      <p:sp>
        <p:nvSpPr>
          <p:cNvPr id="8" name="left panel"/>
          <p:cNvSpPr/>
          <p:nvPr/>
        </p:nvSpPr>
        <p:spPr>
          <a:xfrm>
            <a:off x="1305763" y="3291840"/>
            <a:ext cx="4790542" cy="31089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2540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9" name="Q head"/>
          <p:cNvSpPr/>
          <p:nvPr/>
        </p:nvSpPr>
        <p:spPr>
          <a:xfrm>
            <a:off x="1920240" y="3429000"/>
            <a:ext cx="274320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 b="1"/>
          </a:p>
        </p:txBody>
      </p:sp>
      <p:sp>
        <p:nvSpPr>
          <p:cNvPr id="20" name="A head"/>
          <p:cNvSpPr/>
          <p:nvPr/>
        </p:nvSpPr>
        <p:spPr>
          <a:xfrm>
            <a:off x="7040880" y="3429000"/>
            <a:ext cx="274320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21" name="Highlight 1"/>
          <p:cNvSpPr/>
          <p:nvPr/>
        </p:nvSpPr>
        <p:spPr>
          <a:xfrm>
            <a:off x="1481328" y="4293108"/>
            <a:ext cx="182880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2" name="Helper 1"/>
          <p:cNvSpPr/>
          <p:nvPr/>
        </p:nvSpPr>
        <p:spPr>
          <a:xfrm>
            <a:off x="1481328" y="3977640"/>
            <a:ext cx="1828800" cy="1179576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are you</a:t>
            </a:r>
            <a:endParaRPr lang="en-US" sz="1500" dirty="0" b="1"/>
          </a:p>
        </p:txBody>
      </p:sp>
      <p:sp>
        <p:nvSpPr>
          <p:cNvPr id="23" name="Question 1"/>
          <p:cNvSpPr/>
          <p:nvPr/>
        </p:nvSpPr>
        <p:spPr>
          <a:xfrm>
            <a:off x="3401568" y="3977640"/>
            <a:ext cx="2606040" cy="1179576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interested in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?</a:t>
            </a:r>
            <a:endParaRPr lang="en-US" sz="1700" dirty="0" b="1"/>
          </a:p>
        </p:txBody>
      </p:sp>
      <p:sp>
        <p:nvSpPr>
          <p:cNvPr id="24" name="Answer bg 1"/>
          <p:cNvSpPr/>
          <p:nvPr/>
        </p:nvSpPr>
        <p:spPr>
          <a:xfrm>
            <a:off x="6949440" y="3977640"/>
            <a:ext cx="4526280" cy="1179576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5" name="Answer 1"/>
          <p:cNvSpPr/>
          <p:nvPr/>
        </p:nvSpPr>
        <p:spPr>
          <a:xfrm>
            <a:off x="6949440" y="3977640"/>
            <a:ext cx="4526280" cy="1179576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interested in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learn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ing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new skills.</a:t>
            </a:r>
            <a:endParaRPr lang="en-US" sz="1700" dirty="0" b="1"/>
          </a:p>
        </p:txBody>
      </p:sp>
      <p:sp>
        <p:nvSpPr>
          <p:cNvPr id="26" name="Highlight 2"/>
          <p:cNvSpPr/>
          <p:nvPr/>
        </p:nvSpPr>
        <p:spPr>
          <a:xfrm>
            <a:off x="1481328" y="5518404"/>
            <a:ext cx="182880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7" name="Helper 2"/>
          <p:cNvSpPr/>
          <p:nvPr/>
        </p:nvSpPr>
        <p:spPr>
          <a:xfrm>
            <a:off x="1481328" y="5202936"/>
            <a:ext cx="1828800" cy="1179576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 you</a:t>
            </a:r>
            <a:endParaRPr lang="en-US" sz="1500" dirty="0" b="1"/>
          </a:p>
        </p:txBody>
      </p:sp>
      <p:sp>
        <p:nvSpPr>
          <p:cNvPr id="28" name="Question 2"/>
          <p:cNvSpPr/>
          <p:nvPr/>
        </p:nvSpPr>
        <p:spPr>
          <a:xfrm>
            <a:off x="3401568" y="5202936"/>
            <a:ext cx="2606040" cy="1179576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interested in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training?</a:t>
            </a:r>
            <a:endParaRPr lang="en-US" sz="1700" dirty="0" b="1"/>
          </a:p>
        </p:txBody>
      </p:sp>
      <p:sp>
        <p:nvSpPr>
          <p:cNvPr id="29" name="Answer bg 2"/>
          <p:cNvSpPr/>
          <p:nvPr/>
        </p:nvSpPr>
        <p:spPr>
          <a:xfrm>
            <a:off x="6949440" y="5202936"/>
            <a:ext cx="4526280" cy="1179576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0" name="Answer 2"/>
          <p:cNvSpPr/>
          <p:nvPr/>
        </p:nvSpPr>
        <p:spPr>
          <a:xfrm>
            <a:off x="6949440" y="5202936"/>
            <a:ext cx="4526280" cy="1179576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I'm very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interested in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work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ing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with computers.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qa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right panel"/>
          <p:cNvSpPr/>
          <p:nvPr/>
        </p:nvSpPr>
        <p:spPr>
          <a:xfrm>
            <a:off x="6742786" y="3291840"/>
            <a:ext cx="4912157" cy="310896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8" name="pic" descr="Teamwork: a woman, a handshake, a m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1143000"/>
            <a:ext cx="2743200" cy="1920240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560116" y="1350752"/>
            <a:ext cx="5663794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93446" y="1286561"/>
            <a:ext cx="5663794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832104" y="1325880"/>
            <a:ext cx="525780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3</a:t>
            </a:r>
            <a:endParaRPr lang="en-US" sz="2000" dirty="0" b="1"/>
          </a:p>
          <a:p>
            <a:pPr algn="l" indent="0" marL="0">
              <a:buNone/>
            </a:pPr>
            <a:r>
              <a:rPr lang="en-US" sz="3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enjoy / don't mind</a:t>
            </a:r>
            <a:endParaRPr lang="en-US" sz="3000" dirty="0" b="1"/>
          </a:p>
          <a:p>
            <a:pPr algn="l" indent="0" marL="0">
              <a:buNone/>
            </a:pP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enjoy + -ing  ·  don't mind + -ing</a:t>
            </a:r>
            <a:endParaRPr lang="en-US" sz="1800" dirty="0" b="0"/>
          </a:p>
        </p:txBody>
      </p:sp>
      <p:sp>
        <p:nvSpPr>
          <p:cNvPr id="8" name="left panel"/>
          <p:cNvSpPr/>
          <p:nvPr/>
        </p:nvSpPr>
        <p:spPr>
          <a:xfrm>
            <a:off x="1305763" y="3291840"/>
            <a:ext cx="4790542" cy="31089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2540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9" name="Q head"/>
          <p:cNvSpPr/>
          <p:nvPr/>
        </p:nvSpPr>
        <p:spPr>
          <a:xfrm>
            <a:off x="1920240" y="3429000"/>
            <a:ext cx="274320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 b="1"/>
          </a:p>
        </p:txBody>
      </p:sp>
      <p:sp>
        <p:nvSpPr>
          <p:cNvPr id="20" name="A head"/>
          <p:cNvSpPr/>
          <p:nvPr/>
        </p:nvSpPr>
        <p:spPr>
          <a:xfrm>
            <a:off x="7040880" y="3429000"/>
            <a:ext cx="274320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21" name="Highlight 1"/>
          <p:cNvSpPr/>
          <p:nvPr/>
        </p:nvSpPr>
        <p:spPr>
          <a:xfrm>
            <a:off x="1481328" y="4293108"/>
            <a:ext cx="182880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2" name="Helper 1"/>
          <p:cNvSpPr/>
          <p:nvPr/>
        </p:nvSpPr>
        <p:spPr>
          <a:xfrm>
            <a:off x="1481328" y="3977640"/>
            <a:ext cx="1828800" cy="1179576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</a:t>
            </a:r>
            <a:endParaRPr lang="en-US" sz="1500" dirty="0" b="1"/>
          </a:p>
        </p:txBody>
      </p:sp>
      <p:sp>
        <p:nvSpPr>
          <p:cNvPr id="23" name="Question 1"/>
          <p:cNvSpPr/>
          <p:nvPr/>
        </p:nvSpPr>
        <p:spPr>
          <a:xfrm>
            <a:off x="3401568" y="3977640"/>
            <a:ext cx="2606040" cy="1179576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enjoy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working on a team?</a:t>
            </a:r>
            <a:endParaRPr lang="en-US" sz="1700" dirty="0" b="1"/>
          </a:p>
        </p:txBody>
      </p:sp>
      <p:sp>
        <p:nvSpPr>
          <p:cNvPr id="24" name="Answer bg 1"/>
          <p:cNvSpPr/>
          <p:nvPr/>
        </p:nvSpPr>
        <p:spPr>
          <a:xfrm>
            <a:off x="6949440" y="3977640"/>
            <a:ext cx="4526280" cy="1179576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5" name="Answer 1"/>
          <p:cNvSpPr/>
          <p:nvPr/>
        </p:nvSpPr>
        <p:spPr>
          <a:xfrm>
            <a:off x="6949440" y="3977640"/>
            <a:ext cx="4526280" cy="1179576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I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enjoy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help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ing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people.</a:t>
            </a:r>
            <a:endParaRPr lang="en-US" sz="1700" dirty="0" b="1"/>
          </a:p>
        </p:txBody>
      </p:sp>
      <p:sp>
        <p:nvSpPr>
          <p:cNvPr id="26" name="Highlight 2"/>
          <p:cNvSpPr/>
          <p:nvPr/>
        </p:nvSpPr>
        <p:spPr>
          <a:xfrm>
            <a:off x="1481328" y="5518404"/>
            <a:ext cx="182880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7" name="Helper 2"/>
          <p:cNvSpPr/>
          <p:nvPr/>
        </p:nvSpPr>
        <p:spPr>
          <a:xfrm>
            <a:off x="1481328" y="5202936"/>
            <a:ext cx="1828800" cy="1179576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 you</a:t>
            </a:r>
            <a:endParaRPr lang="en-US" sz="1500" dirty="0" b="1"/>
          </a:p>
        </p:txBody>
      </p:sp>
      <p:sp>
        <p:nvSpPr>
          <p:cNvPr id="28" name="Question 2"/>
          <p:cNvSpPr/>
          <p:nvPr/>
        </p:nvSpPr>
        <p:spPr>
          <a:xfrm>
            <a:off x="3401568" y="5202936"/>
            <a:ext cx="2606040" cy="1179576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 weekends?</a:t>
            </a:r>
            <a:endParaRPr lang="en-US" sz="1700" dirty="0" b="1"/>
          </a:p>
        </p:txBody>
      </p:sp>
      <p:sp>
        <p:nvSpPr>
          <p:cNvPr id="29" name="Answer bg 2"/>
          <p:cNvSpPr/>
          <p:nvPr/>
        </p:nvSpPr>
        <p:spPr>
          <a:xfrm>
            <a:off x="6949440" y="5202936"/>
            <a:ext cx="4526280" cy="1179576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0" name="Answer 2"/>
          <p:cNvSpPr/>
          <p:nvPr/>
        </p:nvSpPr>
        <p:spPr>
          <a:xfrm>
            <a:off x="6949440" y="5202936"/>
            <a:ext cx="4526280" cy="1179576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I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mind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work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ing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weekends. / work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ing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at night.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Organize: three drawn labeled binders (our drawing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4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-ing Spelling</a:t>
            </a:r>
            <a:endParaRPr lang="en-US" sz="26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RULE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86384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EXAMPLES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651760" cy="102412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MOST VERBS: + -ing</a:t>
            </a:r>
            <a:endParaRPr lang="en-US" sz="1800" dirty="0" b="1"/>
          </a:p>
        </p:txBody>
      </p:sp>
      <p:sp>
        <p:nvSpPr>
          <p:cNvPr id="19" name="Answer bg 1"/>
          <p:cNvSpPr/>
          <p:nvPr/>
        </p:nvSpPr>
        <p:spPr>
          <a:xfrm>
            <a:off x="7863840" y="2286000"/>
            <a:ext cx="4069080" cy="102412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863840" y="2286000"/>
            <a:ext cx="4069080" cy="102412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fix →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fixing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 ·  help →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helping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 ·  work →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working</a:t>
            </a:r>
            <a:endParaRPr lang="en-US" sz="18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383280"/>
            <a:ext cx="2651760" cy="102412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END IN e: no e + -ing</a:t>
            </a:r>
            <a:endParaRPr lang="en-US" sz="1800" dirty="0" b="1"/>
          </a:p>
        </p:txBody>
      </p:sp>
      <p:sp>
        <p:nvSpPr>
          <p:cNvPr id="22" name="Answer bg 2"/>
          <p:cNvSpPr/>
          <p:nvPr/>
        </p:nvSpPr>
        <p:spPr>
          <a:xfrm>
            <a:off x="7863840" y="3383280"/>
            <a:ext cx="4069080" cy="102412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863840" y="3383280"/>
            <a:ext cx="4069080" cy="102412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organize →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organizing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 ·  solve →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solving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 ·  drive →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driving</a:t>
            </a:r>
            <a:endParaRPr lang="en-US" sz="18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480560"/>
            <a:ext cx="2651760" cy="102412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SHORT WORDS: double + -ing</a:t>
            </a:r>
            <a:endParaRPr lang="en-US" sz="1800" dirty="0" b="1"/>
          </a:p>
        </p:txBody>
      </p:sp>
      <p:sp>
        <p:nvSpPr>
          <p:cNvPr id="25" name="Answer bg 3"/>
          <p:cNvSpPr/>
          <p:nvPr/>
        </p:nvSpPr>
        <p:spPr>
          <a:xfrm>
            <a:off x="7863840" y="4480560"/>
            <a:ext cx="4069080" cy="102412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7863840" y="4480560"/>
            <a:ext cx="4069080" cy="102412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shop →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shopping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 ·  run →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running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 ·  plan → 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planning</a:t>
            </a:r>
            <a:endParaRPr lang="en-US" sz="18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13294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07533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14300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A: write the -ing word.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54533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 at  ·  interested in  ·  enjoy  ·  don't mind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-ing word.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your answers.</a:t>
            </a:r>
            <a:endParaRPr lang="en-US" sz="2000" dirty="0" b="0"/>
          </a:p>
        </p:txBody>
      </p:sp>
      <p:sp>
        <p:nvSpPr>
          <p:cNvPr id="31" name="R1 card"/>
          <p:cNvSpPr/>
          <p:nvPr/>
        </p:nvSpPr>
        <p:spPr>
          <a:xfrm>
            <a:off x="1583741" y="2123237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123237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1581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123237"/>
            <a:ext cx="422452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good at ____ (cook).</a:t>
            </a:r>
            <a:endParaRPr lang="en-US" sz="1800" dirty="0"/>
          </a:p>
        </p:txBody>
      </p:sp>
      <p:sp>
        <p:nvSpPr>
          <p:cNvPr id="35" name="R1 ans"/>
          <p:cNvSpPr/>
          <p:nvPr/>
        </p:nvSpPr>
        <p:spPr>
          <a:xfrm>
            <a:off x="6108192" y="2222144"/>
            <a:ext cx="146304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cooking</a:t>
            </a:r>
            <a:endParaRPr lang="en-US" sz="20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2851404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2851404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28863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2851404"/>
            <a:ext cx="422452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She's interested in ____ (learn) English.</a:t>
            </a:r>
            <a:endParaRPr lang="en-US" sz="1800" dirty="0"/>
          </a:p>
        </p:txBody>
      </p:sp>
      <p:sp>
        <p:nvSpPr>
          <p:cNvPr id="40" name="R2 ans"/>
          <p:cNvSpPr/>
          <p:nvPr/>
        </p:nvSpPr>
        <p:spPr>
          <a:xfrm>
            <a:off x="6108192" y="2950312"/>
            <a:ext cx="146304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learning</a:t>
            </a:r>
            <a:endParaRPr lang="en-US" sz="20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579571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579571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361447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579571"/>
            <a:ext cx="422452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enjoy ____ (work) outside?</a:t>
            </a:r>
            <a:endParaRPr lang="en-US" sz="1800" dirty="0"/>
          </a:p>
        </p:txBody>
      </p:sp>
      <p:sp>
        <p:nvSpPr>
          <p:cNvPr id="45" name="R3 ans"/>
          <p:cNvSpPr/>
          <p:nvPr/>
        </p:nvSpPr>
        <p:spPr>
          <a:xfrm>
            <a:off x="6108192" y="3678479"/>
            <a:ext cx="146304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working</a:t>
            </a:r>
            <a:endParaRPr lang="en-US" sz="20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307738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307738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34263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307738"/>
            <a:ext cx="422452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He's good at ____ (organize) things.</a:t>
            </a:r>
            <a:endParaRPr lang="en-US" sz="1800" dirty="0"/>
          </a:p>
        </p:txBody>
      </p:sp>
      <p:sp>
        <p:nvSpPr>
          <p:cNvPr id="50" name="R4 ans"/>
          <p:cNvSpPr/>
          <p:nvPr/>
        </p:nvSpPr>
        <p:spPr>
          <a:xfrm>
            <a:off x="6108192" y="4406646"/>
            <a:ext cx="146304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organizing</a:t>
            </a:r>
            <a:endParaRPr lang="en-US" sz="17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035906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035906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07080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035906"/>
            <a:ext cx="422452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They don't mind ____ (shop) for the office.</a:t>
            </a:r>
            <a:endParaRPr lang="en-US" sz="1800" dirty="0"/>
          </a:p>
        </p:txBody>
      </p:sp>
      <p:sp>
        <p:nvSpPr>
          <p:cNvPr id="55" name="R5 ans"/>
          <p:cNvSpPr/>
          <p:nvPr/>
        </p:nvSpPr>
        <p:spPr>
          <a:xfrm>
            <a:off x="6108192" y="5134813"/>
            <a:ext cx="146304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shopping</a:t>
            </a:r>
            <a:endParaRPr lang="en-US" sz="2000" dirty="0" b="1"/>
          </a:p>
        </p:txBody>
      </p:sp>
      <p:sp>
        <p:nvSpPr>
          <p:cNvPr id="56" name="R6 card"/>
          <p:cNvSpPr/>
          <p:nvPr/>
        </p:nvSpPr>
        <p:spPr>
          <a:xfrm>
            <a:off x="1583741" y="5764073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R6 chip"/>
          <p:cNvSpPr/>
          <p:nvPr/>
        </p:nvSpPr>
        <p:spPr>
          <a:xfrm>
            <a:off x="544982" y="5764073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8" name="R6 num"/>
          <p:cNvSpPr/>
          <p:nvPr/>
        </p:nvSpPr>
        <p:spPr>
          <a:xfrm>
            <a:off x="686714" y="57989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6</a:t>
            </a:r>
            <a:endParaRPr lang="en-US" sz="3200" dirty="0" b="1"/>
          </a:p>
        </p:txBody>
      </p:sp>
      <p:sp>
        <p:nvSpPr>
          <p:cNvPr id="59" name="R6 text"/>
          <p:cNvSpPr/>
          <p:nvPr/>
        </p:nvSpPr>
        <p:spPr>
          <a:xfrm>
            <a:off x="1810512" y="5764073"/>
            <a:ext cx="422452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good at ____ (fix) bikes.</a:t>
            </a:r>
            <a:endParaRPr lang="en-US" sz="1800" dirty="0"/>
          </a:p>
        </p:txBody>
      </p:sp>
      <p:sp>
        <p:nvSpPr>
          <p:cNvPr id="60" name="R6 ans"/>
          <p:cNvSpPr/>
          <p:nvPr/>
        </p:nvSpPr>
        <p:spPr>
          <a:xfrm>
            <a:off x="6108192" y="5862980"/>
            <a:ext cx="146304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fixing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B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 the right words.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676656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I'm good ____ solving problems.</a:t>
            </a:r>
            <a:endParaRPr lang="en-US" sz="2000" dirty="0"/>
          </a:p>
        </p:txBody>
      </p:sp>
      <p:sp>
        <p:nvSpPr>
          <p:cNvPr id="9" name="R1 opt1"/>
          <p:cNvSpPr/>
          <p:nvPr/>
        </p:nvSpPr>
        <p:spPr>
          <a:xfrm>
            <a:off x="7452360" y="3108960"/>
            <a:ext cx="164592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at</a:t>
            </a:r>
            <a:endParaRPr lang="en-US" sz="1700" dirty="0" b="1"/>
          </a:p>
        </p:txBody>
      </p:sp>
      <p:sp>
        <p:nvSpPr>
          <p:cNvPr id="10" name="R1 opt2"/>
          <p:cNvSpPr/>
          <p:nvPr/>
        </p:nvSpPr>
        <p:spPr>
          <a:xfrm>
            <a:off x="9326880" y="3108960"/>
            <a:ext cx="164592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</a:t>
            </a:r>
            <a:endParaRPr lang="en-US" sz="1700" dirty="0" b="1"/>
          </a:p>
        </p:txBody>
      </p:sp>
      <p:sp>
        <p:nvSpPr>
          <p:cNvPr id="11" name="R1 circle"/>
          <p:cNvSpPr/>
          <p:nvPr/>
        </p:nvSpPr>
        <p:spPr>
          <a:xfrm>
            <a:off x="7324344" y="3054096"/>
            <a:ext cx="190195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2" name="R2 stmt"/>
          <p:cNvSpPr/>
          <p:nvPr/>
        </p:nvSpPr>
        <p:spPr>
          <a:xfrm>
            <a:off x="502920" y="3767328"/>
            <a:ext cx="676656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Are you interested ____ training?</a:t>
            </a:r>
            <a:endParaRPr lang="en-US" sz="2000" dirty="0"/>
          </a:p>
        </p:txBody>
      </p:sp>
      <p:sp>
        <p:nvSpPr>
          <p:cNvPr id="13" name="R2 opt1"/>
          <p:cNvSpPr/>
          <p:nvPr/>
        </p:nvSpPr>
        <p:spPr>
          <a:xfrm>
            <a:off x="7452360" y="3767328"/>
            <a:ext cx="164592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on</a:t>
            </a:r>
            <a:endParaRPr lang="en-US" sz="1700" dirty="0" b="1"/>
          </a:p>
        </p:txBody>
      </p:sp>
      <p:sp>
        <p:nvSpPr>
          <p:cNvPr id="14" name="R2 opt2"/>
          <p:cNvSpPr/>
          <p:nvPr/>
        </p:nvSpPr>
        <p:spPr>
          <a:xfrm>
            <a:off x="9326880" y="3767328"/>
            <a:ext cx="164592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</a:t>
            </a:r>
            <a:endParaRPr lang="en-US" sz="1700" dirty="0" b="1"/>
          </a:p>
        </p:txBody>
      </p:sp>
      <p:sp>
        <p:nvSpPr>
          <p:cNvPr id="15" name="R2 circle"/>
          <p:cNvSpPr/>
          <p:nvPr/>
        </p:nvSpPr>
        <p:spPr>
          <a:xfrm>
            <a:off x="9198864" y="3712464"/>
            <a:ext cx="190195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6" name="R3 stmt"/>
          <p:cNvSpPr/>
          <p:nvPr/>
        </p:nvSpPr>
        <p:spPr>
          <a:xfrm>
            <a:off x="502920" y="4425696"/>
            <a:ext cx="676656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I enjoy ____ customers.</a:t>
            </a:r>
            <a:endParaRPr lang="en-US" sz="2000" dirty="0"/>
          </a:p>
        </p:txBody>
      </p:sp>
      <p:sp>
        <p:nvSpPr>
          <p:cNvPr id="17" name="R3 opt1"/>
          <p:cNvSpPr/>
          <p:nvPr/>
        </p:nvSpPr>
        <p:spPr>
          <a:xfrm>
            <a:off x="7452360" y="4425696"/>
            <a:ext cx="164592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help</a:t>
            </a:r>
            <a:endParaRPr lang="en-US" sz="1700" dirty="0" b="1"/>
          </a:p>
        </p:txBody>
      </p:sp>
      <p:sp>
        <p:nvSpPr>
          <p:cNvPr id="18" name="R3 opt2"/>
          <p:cNvSpPr/>
          <p:nvPr/>
        </p:nvSpPr>
        <p:spPr>
          <a:xfrm>
            <a:off x="9326880" y="4425696"/>
            <a:ext cx="164592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helping</a:t>
            </a:r>
            <a:endParaRPr lang="en-US" sz="1700" dirty="0" b="1"/>
          </a:p>
        </p:txBody>
      </p:sp>
      <p:sp>
        <p:nvSpPr>
          <p:cNvPr id="19" name="R3 circle"/>
          <p:cNvSpPr/>
          <p:nvPr/>
        </p:nvSpPr>
        <p:spPr>
          <a:xfrm>
            <a:off x="9198864" y="4370832"/>
            <a:ext cx="190195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R4 stmt"/>
          <p:cNvSpPr/>
          <p:nvPr/>
        </p:nvSpPr>
        <p:spPr>
          <a:xfrm>
            <a:off x="502920" y="5084064"/>
            <a:ext cx="676656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I don't mind ____ at night.</a:t>
            </a:r>
            <a:endParaRPr lang="en-US" sz="2000" dirty="0"/>
          </a:p>
        </p:txBody>
      </p:sp>
      <p:sp>
        <p:nvSpPr>
          <p:cNvPr id="21" name="R4 opt1"/>
          <p:cNvSpPr/>
          <p:nvPr/>
        </p:nvSpPr>
        <p:spPr>
          <a:xfrm>
            <a:off x="7452360" y="5084064"/>
            <a:ext cx="164592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</a:t>
            </a:r>
            <a:endParaRPr lang="en-US" sz="1700" dirty="0" b="1"/>
          </a:p>
        </p:txBody>
      </p:sp>
      <p:sp>
        <p:nvSpPr>
          <p:cNvPr id="22" name="R4 opt2"/>
          <p:cNvSpPr/>
          <p:nvPr/>
        </p:nvSpPr>
        <p:spPr>
          <a:xfrm>
            <a:off x="9326880" y="5084064"/>
            <a:ext cx="164592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working</a:t>
            </a:r>
            <a:endParaRPr lang="en-US" sz="1700" dirty="0" b="1"/>
          </a:p>
        </p:txBody>
      </p:sp>
      <p:sp>
        <p:nvSpPr>
          <p:cNvPr id="23" name="R4 circle"/>
          <p:cNvSpPr/>
          <p:nvPr/>
        </p:nvSpPr>
        <p:spPr>
          <a:xfrm>
            <a:off x="9198864" y="5029200"/>
            <a:ext cx="190195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R5 stmt"/>
          <p:cNvSpPr/>
          <p:nvPr/>
        </p:nvSpPr>
        <p:spPr>
          <a:xfrm>
            <a:off x="502920" y="5742432"/>
            <a:ext cx="676656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5. She's ____ people.</a:t>
            </a:r>
            <a:endParaRPr lang="en-US" sz="2000" dirty="0"/>
          </a:p>
        </p:txBody>
      </p:sp>
      <p:sp>
        <p:nvSpPr>
          <p:cNvPr id="25" name="R5 opt1"/>
          <p:cNvSpPr/>
          <p:nvPr/>
        </p:nvSpPr>
        <p:spPr>
          <a:xfrm>
            <a:off x="7452360" y="5742432"/>
            <a:ext cx="164592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 at</a:t>
            </a:r>
            <a:endParaRPr lang="en-US" sz="1700" dirty="0" b="1"/>
          </a:p>
        </p:txBody>
      </p:sp>
      <p:sp>
        <p:nvSpPr>
          <p:cNvPr id="26" name="R5 opt2"/>
          <p:cNvSpPr/>
          <p:nvPr/>
        </p:nvSpPr>
        <p:spPr>
          <a:xfrm>
            <a:off x="9326880" y="5742432"/>
            <a:ext cx="164592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 with</a:t>
            </a:r>
            <a:endParaRPr lang="en-US" sz="1700" dirty="0" b="1"/>
          </a:p>
        </p:txBody>
      </p:sp>
      <p:sp>
        <p:nvSpPr>
          <p:cNvPr id="27" name="R5 circle"/>
          <p:cNvSpPr/>
          <p:nvPr/>
        </p:nvSpPr>
        <p:spPr>
          <a:xfrm>
            <a:off x="9198864" y="5687568"/>
            <a:ext cx="190195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mistake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442448" y="1188720"/>
            <a:ext cx="1691640" cy="13716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H="1">
            <a:off x="501091" y="2020824"/>
            <a:ext cx="354330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4388206" y="2020824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457200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393192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1828800"/>
            <a:ext cx="3610966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4519879" y="1828800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itle"/>
          <p:cNvSpPr/>
          <p:nvPr/>
        </p:nvSpPr>
        <p:spPr>
          <a:xfrm>
            <a:off x="608076" y="45720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Common Mistakes</a:t>
            </a:r>
            <a:endParaRPr lang="en-US" sz="4300" dirty="0" b="1"/>
          </a:p>
        </p:txBody>
      </p:sp>
      <p:pic>
        <p:nvPicPr>
          <p:cNvPr id="21" name="pic" descr="Reliable: an alarm clock and &quot;on time every day&quot;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0" y="1325880"/>
            <a:ext cx="1554480" cy="1088136"/>
          </a:xfrm>
          <a:prstGeom prst="rect">
            <a:avLst/>
          </a:prstGeom>
        </p:spPr>
      </p:pic>
      <p:sp>
        <p:nvSpPr>
          <p:cNvPr id="22" name="Dont head"/>
          <p:cNvSpPr/>
          <p:nvPr/>
        </p:nvSpPr>
        <p:spPr>
          <a:xfrm>
            <a:off x="914400" y="1938528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23" name="Say head"/>
          <p:cNvSpPr/>
          <p:nvPr/>
        </p:nvSpPr>
        <p:spPr>
          <a:xfrm>
            <a:off x="4800600" y="1938528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24" name="Bad 1"/>
          <p:cNvSpPr/>
          <p:nvPr/>
        </p:nvSpPr>
        <p:spPr>
          <a:xfrm>
            <a:off x="914400" y="2468880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good at cook.</a:t>
            </a:r>
            <a:endParaRPr lang="en-US" sz="1700" dirty="0"/>
          </a:p>
        </p:txBody>
      </p:sp>
      <p:sp>
        <p:nvSpPr>
          <p:cNvPr id="25" name="Good 1"/>
          <p:cNvSpPr/>
          <p:nvPr/>
        </p:nvSpPr>
        <p:spPr>
          <a:xfrm>
            <a:off x="4800600" y="2468880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good at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cooking</a:t>
            </a: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700" dirty="0" b="0"/>
          </a:p>
        </p:txBody>
      </p:sp>
      <p:sp>
        <p:nvSpPr>
          <p:cNvPr id="26" name="Bad 2"/>
          <p:cNvSpPr/>
          <p:nvPr/>
        </p:nvSpPr>
        <p:spPr>
          <a:xfrm>
            <a:off x="914400" y="3035808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interested on computers.</a:t>
            </a:r>
            <a:endParaRPr lang="en-US" sz="1700" dirty="0"/>
          </a:p>
        </p:txBody>
      </p:sp>
      <p:sp>
        <p:nvSpPr>
          <p:cNvPr id="27" name="Good 2"/>
          <p:cNvSpPr/>
          <p:nvPr/>
        </p:nvSpPr>
        <p:spPr>
          <a:xfrm>
            <a:off x="4800600" y="3035808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interested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</a:t>
            </a: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computers.</a:t>
            </a:r>
            <a:endParaRPr lang="en-US" sz="1700" dirty="0" b="0"/>
          </a:p>
        </p:txBody>
      </p:sp>
      <p:sp>
        <p:nvSpPr>
          <p:cNvPr id="28" name="Bad 3"/>
          <p:cNvSpPr/>
          <p:nvPr/>
        </p:nvSpPr>
        <p:spPr>
          <a:xfrm>
            <a:off x="914400" y="3602736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enjoy to work on a team.</a:t>
            </a:r>
            <a:endParaRPr lang="en-US" sz="1700" dirty="0"/>
          </a:p>
        </p:txBody>
      </p:sp>
      <p:sp>
        <p:nvSpPr>
          <p:cNvPr id="29" name="Good 3"/>
          <p:cNvSpPr/>
          <p:nvPr/>
        </p:nvSpPr>
        <p:spPr>
          <a:xfrm>
            <a:off x="4800600" y="3602736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enjoy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working</a:t>
            </a: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on a team.</a:t>
            </a:r>
            <a:endParaRPr lang="en-US" sz="1700" dirty="0" b="0"/>
          </a:p>
        </p:txBody>
      </p:sp>
      <p:sp>
        <p:nvSpPr>
          <p:cNvPr id="30" name="Bad 4"/>
          <p:cNvSpPr/>
          <p:nvPr/>
        </p:nvSpPr>
        <p:spPr>
          <a:xfrm>
            <a:off x="914400" y="4169664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don't mind work weekends.</a:t>
            </a:r>
            <a:endParaRPr lang="en-US" sz="1700" dirty="0"/>
          </a:p>
        </p:txBody>
      </p:sp>
      <p:sp>
        <p:nvSpPr>
          <p:cNvPr id="31" name="Good 4"/>
          <p:cNvSpPr/>
          <p:nvPr/>
        </p:nvSpPr>
        <p:spPr>
          <a:xfrm>
            <a:off x="4800600" y="4169664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don't mind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working</a:t>
            </a: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weekends.</a:t>
            </a:r>
            <a:endParaRPr lang="en-US" sz="17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drill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pic>
        <p:nvPicPr>
          <p:cNvPr id="26" name="pic" descr="Solve problems: two puzzle pieces (one mirrored), an arrow, a check mar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4739" y="3680460"/>
            <a:ext cx="3449901" cy="2414930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560984" y="1342842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89788" y="1277417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771754" y="14173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 Drill</a:t>
            </a:r>
            <a:endParaRPr lang="en-US" sz="4000" dirty="0" b="1"/>
          </a:p>
        </p:txBody>
      </p:sp>
      <p:sp>
        <p:nvSpPr>
          <p:cNvPr id="7" name="Shape 5"/>
          <p:cNvSpPr/>
          <p:nvPr/>
        </p:nvSpPr>
        <p:spPr>
          <a:xfrm>
            <a:off x="6107278" y="138257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107278" y="371429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035040" y="132588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172200" y="1946757"/>
            <a:ext cx="678485" cy="678485"/>
          </a:xfrm>
          <a:prstGeom prst="star32">
            <a:avLst>
              <a:gd name="adj" fmla="val 43755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172200" y="194675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2000" dirty="0"/>
          </a:p>
        </p:txBody>
      </p:sp>
      <p:sp>
        <p:nvSpPr>
          <p:cNvPr id="13" name="s1 label"/>
          <p:cNvSpPr/>
          <p:nvPr/>
        </p:nvSpPr>
        <p:spPr>
          <a:xfrm>
            <a:off x="6995160" y="150876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asks.</a:t>
            </a:r>
            <a:endParaRPr lang="en-US" sz="2200" dirty="0" b="1"/>
          </a:p>
        </p:txBody>
      </p:sp>
      <p:sp>
        <p:nvSpPr>
          <p:cNvPr id="14" name="Shape 12"/>
          <p:cNvSpPr/>
          <p:nvPr/>
        </p:nvSpPr>
        <p:spPr>
          <a:xfrm>
            <a:off x="6035040" y="365760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172200" y="4278477"/>
            <a:ext cx="678485" cy="678485"/>
          </a:xfrm>
          <a:prstGeom prst="star32">
            <a:avLst>
              <a:gd name="adj" fmla="val 4375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72200" y="427847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s2 label"/>
          <p:cNvSpPr/>
          <p:nvPr/>
        </p:nvSpPr>
        <p:spPr>
          <a:xfrm>
            <a:off x="6995160" y="384048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 + one example.</a:t>
            </a:r>
            <a:endParaRPr lang="en-US" sz="2200" dirty="0" b="1"/>
          </a:p>
        </p:txBody>
      </p:sp>
      <p:sp>
        <p:nvSpPr>
          <p:cNvPr id="60" name="s1 body"/>
          <p:cNvSpPr/>
          <p:nvPr/>
        </p:nvSpPr>
        <p:spPr>
          <a:xfrm>
            <a:off x="6995160" y="210312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A:</a:t>
            </a: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What are you good at?</a:t>
            </a:r>
            <a:endParaRPr lang="en-US" sz="1900" dirty="0" b="0"/>
          </a:p>
        </p:txBody>
      </p:sp>
      <p:sp>
        <p:nvSpPr>
          <p:cNvPr id="70" name="s2 body"/>
          <p:cNvSpPr/>
          <p:nvPr/>
        </p:nvSpPr>
        <p:spPr>
          <a:xfrm>
            <a:off x="6995160" y="44348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B:</a:t>
            </a: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I'm good at cooking. I cook for my family every day.</a:t>
            </a:r>
            <a:endParaRPr lang="en-US" sz="1900" dirty="0" b="0"/>
          </a:p>
          <a:p>
            <a:pPr algn="l" indent="0" marL="0">
              <a:buNone/>
            </a:pP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switch roles.</a:t>
            </a:r>
            <a:endParaRPr lang="en-US" sz="1900" dirty="0" b="1"/>
          </a:p>
        </p:txBody>
      </p:sp>
      <p:sp>
        <p:nvSpPr>
          <p:cNvPr id="25" name="sub"/>
          <p:cNvSpPr/>
          <p:nvPr/>
        </p:nvSpPr>
        <p:spPr>
          <a:xfrm>
            <a:off x="771754" y="2148840"/>
            <a:ext cx="4572000" cy="685800"/>
          </a:xfrm>
          <a:prstGeom prst="rect">
            <a:avLst/>
          </a:prstGeom>
          <a:noFill/>
          <a:ln w="38100">
            <a:noFill/>
          </a:ln>
        </p:spPr>
        <p:txBody>
          <a:bodyPr wrap="square" lIns="91440" tIns="36576" rIns="9144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asks What are you good at? B answers and gives one example.</a:t>
            </a:r>
            <a:endParaRPr lang="en-US" sz="2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Four job cards: 1 warehouse, 2 hotel, 3 kitchen, 4 childcare: four numbered cards: boxes (warehouse), a hotel, a frying pan (kitchen), a teddy bear (childcare); cards and text draw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034" y="3871813"/>
            <a:ext cx="3882542" cy="1811853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Interview Rotation</a:t>
            </a:r>
            <a:endParaRPr lang="en-US" sz="26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Two circles.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Inside = managers.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7:00–7:12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Managers choose a job card.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Applicants fill in "My answers."</a:t>
            </a:r>
            <a:endParaRPr lang="en-US" sz="1700" dirty="0" b="0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Ask 3 questions + 1 follow-up.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 you give me an example?</a:t>
            </a:r>
            <a:endParaRPr lang="en-US" sz="1700" dirty="0" b="0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one strength. Then: Move!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outer circle moves one to the right.</a:t>
            </a:r>
            <a:endParaRPr lang="en-US" sz="17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numlist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Manager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Ask 3 questions + 1 follow-up.</a:t>
            </a:r>
            <a:endParaRPr lang="en-US" sz="18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Follow-ups:</a:t>
            </a:r>
            <a:endParaRPr lang="en-US" sz="1800" dirty="0" b="1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 you give me an example? Why? Where did you learn that?</a:t>
            </a:r>
            <a:endParaRPr lang="en-US" sz="1800" dirty="0" b="1"/>
          </a:p>
        </p:txBody>
      </p:sp>
      <p:sp>
        <p:nvSpPr>
          <p:cNvPr id="31" name="R1 shadow"/>
          <p:cNvSpPr/>
          <p:nvPr/>
        </p:nvSpPr>
        <p:spPr>
          <a:xfrm>
            <a:off x="544982" y="2069287"/>
            <a:ext cx="6227064" cy="60259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2011680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2011680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2011680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2011680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Tell me about yourself.</a:t>
            </a:r>
            <a:endParaRPr lang="en-US" sz="2000" dirty="0"/>
          </a:p>
        </p:txBody>
      </p:sp>
      <p:sp>
        <p:nvSpPr>
          <p:cNvPr id="36" name="R1 dot"/>
          <p:cNvSpPr/>
          <p:nvPr/>
        </p:nvSpPr>
        <p:spPr>
          <a:xfrm rot="10800000">
            <a:off x="6361481" y="214518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7" name="R2 card"/>
          <p:cNvSpPr/>
          <p:nvPr/>
        </p:nvSpPr>
        <p:spPr>
          <a:xfrm>
            <a:off x="1583741" y="2723083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R2 chip"/>
          <p:cNvSpPr/>
          <p:nvPr/>
        </p:nvSpPr>
        <p:spPr>
          <a:xfrm>
            <a:off x="544982" y="2723083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9" name="R2 num"/>
          <p:cNvSpPr/>
          <p:nvPr/>
        </p:nvSpPr>
        <p:spPr>
          <a:xfrm>
            <a:off x="686714" y="2723083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0" name="R2 text"/>
          <p:cNvSpPr/>
          <p:nvPr/>
        </p:nvSpPr>
        <p:spPr>
          <a:xfrm>
            <a:off x="1810512" y="2723083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are you good at?</a:t>
            </a:r>
            <a:endParaRPr lang="en-US" sz="2000" dirty="0"/>
          </a:p>
        </p:txBody>
      </p:sp>
      <p:sp>
        <p:nvSpPr>
          <p:cNvPr id="41" name="R2 dot"/>
          <p:cNvSpPr/>
          <p:nvPr/>
        </p:nvSpPr>
        <p:spPr>
          <a:xfrm rot="10800000">
            <a:off x="6361481" y="2856586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2" name="R3 card"/>
          <p:cNvSpPr/>
          <p:nvPr/>
        </p:nvSpPr>
        <p:spPr>
          <a:xfrm>
            <a:off x="1583741" y="343448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R3 chip"/>
          <p:cNvSpPr/>
          <p:nvPr/>
        </p:nvSpPr>
        <p:spPr>
          <a:xfrm>
            <a:off x="544982" y="343448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4" name="R3 num"/>
          <p:cNvSpPr/>
          <p:nvPr/>
        </p:nvSpPr>
        <p:spPr>
          <a:xfrm>
            <a:off x="686714" y="343448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5" name="R3 text"/>
          <p:cNvSpPr/>
          <p:nvPr/>
        </p:nvSpPr>
        <p:spPr>
          <a:xfrm>
            <a:off x="1810512" y="343448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 you interested in training?</a:t>
            </a:r>
            <a:endParaRPr lang="en-US" sz="1800" dirty="0"/>
          </a:p>
        </p:txBody>
      </p:sp>
      <p:sp>
        <p:nvSpPr>
          <p:cNvPr id="46" name="R3 dot"/>
          <p:cNvSpPr/>
          <p:nvPr/>
        </p:nvSpPr>
        <p:spPr>
          <a:xfrm rot="10800000">
            <a:off x="6361481" y="3567989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7" name="R4 card"/>
          <p:cNvSpPr/>
          <p:nvPr/>
        </p:nvSpPr>
        <p:spPr>
          <a:xfrm>
            <a:off x="1583741" y="4145890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" name="R4 chip"/>
          <p:cNvSpPr/>
          <p:nvPr/>
        </p:nvSpPr>
        <p:spPr>
          <a:xfrm>
            <a:off x="544982" y="4145890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9" name="R4 num"/>
          <p:cNvSpPr/>
          <p:nvPr/>
        </p:nvSpPr>
        <p:spPr>
          <a:xfrm>
            <a:off x="686714" y="4145890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0" name="R4 text"/>
          <p:cNvSpPr/>
          <p:nvPr/>
        </p:nvSpPr>
        <p:spPr>
          <a:xfrm>
            <a:off x="1810512" y="4145890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enjoy working on a team?</a:t>
            </a:r>
            <a:endParaRPr lang="en-US" sz="1800" dirty="0"/>
          </a:p>
        </p:txBody>
      </p:sp>
      <p:sp>
        <p:nvSpPr>
          <p:cNvPr id="51" name="R4 dot"/>
          <p:cNvSpPr/>
          <p:nvPr/>
        </p:nvSpPr>
        <p:spPr>
          <a:xfrm rot="10800000">
            <a:off x="6361481" y="427939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2" name="R5 card"/>
          <p:cNvSpPr/>
          <p:nvPr/>
        </p:nvSpPr>
        <p:spPr>
          <a:xfrm>
            <a:off x="1583741" y="4857293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3" name="R5 chip"/>
          <p:cNvSpPr/>
          <p:nvPr/>
        </p:nvSpPr>
        <p:spPr>
          <a:xfrm>
            <a:off x="544982" y="4857293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4" name="R5 num"/>
          <p:cNvSpPr/>
          <p:nvPr/>
        </p:nvSpPr>
        <p:spPr>
          <a:xfrm>
            <a:off x="686714" y="4857293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05</a:t>
            </a:r>
            <a:endParaRPr lang="en-US" sz="3200" b="1" dirty="0"/>
          </a:p>
        </p:txBody>
      </p:sp>
      <p:sp>
        <p:nvSpPr>
          <p:cNvPr id="55" name="R5 text"/>
          <p:cNvSpPr/>
          <p:nvPr/>
        </p:nvSpPr>
        <p:spPr>
          <a:xfrm>
            <a:off x="1810512" y="4857293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Which shift can you work?</a:t>
            </a:r>
            <a:endParaRPr lang="en-US" sz="2000" dirty="0"/>
          </a:p>
        </p:txBody>
      </p:sp>
      <p:sp>
        <p:nvSpPr>
          <p:cNvPr id="56" name="R5 dot"/>
          <p:cNvSpPr/>
          <p:nvPr/>
        </p:nvSpPr>
        <p:spPr>
          <a:xfrm rot="10800000">
            <a:off x="6361481" y="4990795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7" name="R6 card"/>
          <p:cNvSpPr/>
          <p:nvPr/>
        </p:nvSpPr>
        <p:spPr>
          <a:xfrm>
            <a:off x="1583741" y="556869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8" name="R6 chip"/>
          <p:cNvSpPr/>
          <p:nvPr/>
        </p:nvSpPr>
        <p:spPr>
          <a:xfrm>
            <a:off x="544982" y="556869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9" name="R6 num"/>
          <p:cNvSpPr/>
          <p:nvPr/>
        </p:nvSpPr>
        <p:spPr>
          <a:xfrm>
            <a:off x="686714" y="556869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06</a:t>
            </a:r>
            <a:endParaRPr lang="en-US" sz="3200" b="1" dirty="0"/>
          </a:p>
        </p:txBody>
      </p:sp>
      <p:sp>
        <p:nvSpPr>
          <p:cNvPr id="60" name="R6 text"/>
          <p:cNvSpPr/>
          <p:nvPr/>
        </p:nvSpPr>
        <p:spPr>
          <a:xfrm>
            <a:off x="1810512" y="556869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mind working weekends?</a:t>
            </a:r>
            <a:endParaRPr lang="en-US" sz="2000" dirty="0"/>
          </a:p>
        </p:txBody>
      </p:sp>
      <p:sp>
        <p:nvSpPr>
          <p:cNvPr id="61" name="R6 dot"/>
          <p:cNvSpPr/>
          <p:nvPr/>
        </p:nvSpPr>
        <p:spPr>
          <a:xfrm rot="10800000">
            <a:off x="6361481" y="570219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go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44982" y="786384"/>
            <a:ext cx="5486400" cy="5731459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147718" y="2196389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992270" y="1937614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343400" y="210312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 Go  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7:12–7:17</a:t>
            </a:r>
            <a:endParaRPr lang="en-US" sz="4000" dirty="0"/>
          </a:p>
        </p:txBody>
      </p:sp>
      <p:pic>
        <p:nvPicPr>
          <p:cNvPr id="16" name="pic" descr="Résumé: a drawn résumé form (name, experience, skills, training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51760"/>
            <a:ext cx="3017520" cy="2112264"/>
          </a:xfrm>
          <a:prstGeom prst="rect">
            <a:avLst/>
          </a:prstGeom>
        </p:spPr>
      </p:pic>
      <p:sp>
        <p:nvSpPr>
          <p:cNvPr id="17" name="Num 01"/>
          <p:cNvSpPr/>
          <p:nvPr/>
        </p:nvSpPr>
        <p:spPr>
          <a:xfrm>
            <a:off x="43434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000" dirty="0"/>
          </a:p>
        </p:txBody>
      </p:sp>
      <p:sp>
        <p:nvSpPr>
          <p:cNvPr id="18" name="Label 01"/>
          <p:cNvSpPr/>
          <p:nvPr/>
        </p:nvSpPr>
        <p:spPr>
          <a:xfrm>
            <a:off x="51206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Exit ticket</a:t>
            </a:r>
            <a:endParaRPr lang="en-US" sz="2200" dirty="0" b="1"/>
          </a:p>
        </p:txBody>
      </p:sp>
      <p:sp>
        <p:nvSpPr>
          <p:cNvPr id="19" name="Body 01"/>
          <p:cNvSpPr/>
          <p:nvPr/>
        </p:nvSpPr>
        <p:spPr>
          <a:xfrm>
            <a:off x="4343400" y="3520440"/>
            <a:ext cx="352044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two sentences:</a:t>
            </a:r>
            <a:endParaRPr lang="en-US" sz="17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One with good at or interested in + -ing.</a:t>
            </a:r>
            <a:endParaRPr lang="en-US" sz="17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One with an example and because or so:</a:t>
            </a:r>
            <a:endParaRPr lang="en-US" sz="17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reliable, so I'm never late.</a:t>
            </a:r>
            <a:endParaRPr lang="en-US" sz="17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Give it to me at the door.</a:t>
            </a:r>
            <a:endParaRPr lang="en-US" sz="1700" dirty="0" b="0"/>
          </a:p>
        </p:txBody>
      </p:sp>
      <p:sp>
        <p:nvSpPr>
          <p:cNvPr id="20" name="Num 02"/>
          <p:cNvSpPr/>
          <p:nvPr/>
        </p:nvSpPr>
        <p:spPr>
          <a:xfrm>
            <a:off x="80010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000" dirty="0"/>
          </a:p>
        </p:txBody>
      </p:sp>
      <p:sp>
        <p:nvSpPr>
          <p:cNvPr id="21" name="Label 02"/>
          <p:cNvSpPr/>
          <p:nvPr/>
        </p:nvSpPr>
        <p:spPr>
          <a:xfrm>
            <a:off x="87782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</a:t>
            </a:r>
            <a:endParaRPr lang="en-US" sz="2200" dirty="0" b="1"/>
          </a:p>
        </p:txBody>
      </p:sp>
      <p:sp>
        <p:nvSpPr>
          <p:cNvPr id="22" name="Body 02"/>
          <p:cNvSpPr/>
          <p:nvPr/>
        </p:nvSpPr>
        <p:spPr>
          <a:xfrm>
            <a:off x="8001000" y="3520440"/>
            <a:ext cx="365760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About 15 minutes.</a:t>
            </a:r>
            <a:endParaRPr lang="en-US" sz="17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Write the sentence with -ing.</a:t>
            </a:r>
            <a:endParaRPr lang="en-US" sz="17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Tell me about yourself: 3–4 sentences.</a:t>
            </a:r>
            <a:endParaRPr lang="en-US" sz="17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Ask: What are you good at?</a:t>
            </a:r>
            <a:endParaRPr lang="en-US" sz="17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Review: 2 sentences with mine, yours….</a:t>
            </a:r>
            <a:endParaRPr lang="en-US" sz="17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Bring it next week!</a:t>
            </a:r>
            <a:endParaRPr lang="en-US" sz="1700" dirty="0" b="1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progres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126273" y="1165860"/>
            <a:ext cx="4132174" cy="512064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2" name="ican"/>
          <p:cNvSpPr/>
          <p:nvPr/>
        </p:nvSpPr>
        <p:spPr>
          <a:xfrm>
            <a:off x="8503920" y="1280160"/>
            <a:ext cx="3429000" cy="49377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D. I can…</a:t>
            </a:r>
            <a:endParaRPr lang="en-US" sz="2400" dirty="0" b="1"/>
          </a:p>
          <a:p>
            <a:pPr algn="ctr" indent="0" marL="0">
              <a:buNone/>
            </a:pPr>
            <a:r>
              <a:rPr lang="en-US" sz="3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😀   🙂   😐</a:t>
            </a:r>
            <a:endParaRPr lang="en-US" sz="3200" dirty="0" b="0"/>
          </a:p>
          <a:p>
            <a:pPr algn="ctr" indent="0" marL="0">
              <a:buNone/>
            </a:pP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one face.</a:t>
            </a:r>
            <a:endParaRPr lang="en-US" sz="1800" dirty="0" b="0"/>
          </a:p>
          <a:p>
            <a:pPr algn="ctr" indent="0" marL="0">
              <a:spcBef>
                <a:spcPts val="900"/>
              </a:spcBef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say what I'm good at.</a:t>
            </a:r>
            <a:endParaRPr lang="en-US" sz="1600" dirty="0" b="0"/>
          </a:p>
          <a:p>
            <a:pPr algn="ctr" indent="0" marL="0">
              <a:spcBef>
                <a:spcPts val="900"/>
              </a:spcBef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say what I'm interested in.</a:t>
            </a:r>
            <a:endParaRPr lang="en-US" sz="1600" dirty="0" b="0"/>
          </a:p>
          <a:p>
            <a:pPr algn="ctr" indent="0" marL="0">
              <a:spcBef>
                <a:spcPts val="900"/>
              </a:spcBef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talk about my experience.</a:t>
            </a:r>
            <a:endParaRPr lang="en-US" sz="1600" dirty="0" b="0"/>
          </a:p>
          <a:p>
            <a:pPr algn="ctr" indent="0" marL="0">
              <a:spcBef>
                <a:spcPts val="900"/>
              </a:spcBef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answer Tell me about yourself.</a:t>
            </a:r>
            <a:endParaRPr lang="en-US" sz="1600" dirty="0" b="0"/>
          </a:p>
        </p:txBody>
      </p:sp>
      <p:sp>
        <p:nvSpPr>
          <p:cNvPr id="5" name="Shape 3"/>
          <p:cNvSpPr/>
          <p:nvPr/>
        </p:nvSpPr>
        <p:spPr>
          <a:xfrm flipH="1">
            <a:off x="501091" y="3255264"/>
            <a:ext cx="5577840" cy="3258921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6400800" y="3263494"/>
            <a:ext cx="1828800" cy="3258921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885322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821131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3063240"/>
            <a:ext cx="5669280" cy="3258921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6537960" y="3063240"/>
            <a:ext cx="1828800" cy="3258921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itle"/>
          <p:cNvSpPr/>
          <p:nvPr/>
        </p:nvSpPr>
        <p:spPr>
          <a:xfrm>
            <a:off x="608076" y="118872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Progress Check   </a:t>
            </a:r>
            <a:r>
              <a:rPr lang="en-US" sz="24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7:25</a:t>
            </a:r>
            <a:endParaRPr lang="en-US" sz="4300" dirty="0"/>
          </a:p>
        </p:txBody>
      </p:sp>
      <p:sp>
        <p:nvSpPr>
          <p:cNvPr id="22" name="A head"/>
          <p:cNvSpPr/>
          <p:nvPr/>
        </p:nvSpPr>
        <p:spPr>
          <a:xfrm>
            <a:off x="914400" y="3246120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 Listen to the teacher. Circle a or b.</a:t>
            </a:r>
            <a:endParaRPr lang="en-US" sz="1800" dirty="0" b="1"/>
          </a:p>
        </p:txBody>
      </p:sp>
      <p:sp>
        <p:nvSpPr>
          <p:cNvPr id="23" name="Ans head"/>
          <p:cNvSpPr/>
          <p:nvPr/>
        </p:nvSpPr>
        <p:spPr>
          <a:xfrm>
            <a:off x="6766560" y="3246120"/>
            <a:ext cx="155448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63" name="Bad 1"/>
          <p:cNvSpPr/>
          <p:nvPr/>
        </p:nvSpPr>
        <p:spPr>
          <a:xfrm>
            <a:off x="868680" y="3840480"/>
            <a:ext cx="544068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</a:t>
            </a: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 He can fix cars.   b. He wants to learn about cars.</a:t>
            </a:r>
            <a:endParaRPr lang="en-US" sz="1500" dirty="0" b="1"/>
          </a:p>
        </p:txBody>
      </p:sp>
      <p:sp>
        <p:nvSpPr>
          <p:cNvPr id="64" name="Good 1"/>
          <p:cNvSpPr/>
          <p:nvPr/>
        </p:nvSpPr>
        <p:spPr>
          <a:xfrm>
            <a:off x="6766560" y="3840480"/>
            <a:ext cx="146304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</a:t>
            </a:r>
            <a:endParaRPr lang="en-US" sz="2000" dirty="0" b="1"/>
          </a:p>
        </p:txBody>
      </p:sp>
      <p:sp>
        <p:nvSpPr>
          <p:cNvPr id="65" name="Bad 2"/>
          <p:cNvSpPr/>
          <p:nvPr/>
        </p:nvSpPr>
        <p:spPr>
          <a:xfrm>
            <a:off x="868680" y="4407408"/>
            <a:ext cx="544068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</a:t>
            </a: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 She works with children now.   b. She wants to work with children.</a:t>
            </a:r>
            <a:endParaRPr lang="en-US" sz="1500" dirty="0" b="1"/>
          </a:p>
        </p:txBody>
      </p:sp>
      <p:sp>
        <p:nvSpPr>
          <p:cNvPr id="66" name="Good 2"/>
          <p:cNvSpPr/>
          <p:nvPr/>
        </p:nvSpPr>
        <p:spPr>
          <a:xfrm>
            <a:off x="6766560" y="4407408"/>
            <a:ext cx="146304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</a:t>
            </a:r>
            <a:endParaRPr lang="en-US" sz="2000" dirty="0" b="1"/>
          </a:p>
        </p:txBody>
      </p:sp>
      <p:sp>
        <p:nvSpPr>
          <p:cNvPr id="67" name="Bad 3"/>
          <p:cNvSpPr/>
          <p:nvPr/>
        </p:nvSpPr>
        <p:spPr>
          <a:xfrm>
            <a:off x="868680" y="4974336"/>
            <a:ext cx="544068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</a:t>
            </a: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 Night work is OK for him.   b. Night work is a problem for him.</a:t>
            </a:r>
            <a:endParaRPr lang="en-US" sz="1500" dirty="0" b="1"/>
          </a:p>
        </p:txBody>
      </p:sp>
      <p:sp>
        <p:nvSpPr>
          <p:cNvPr id="68" name="Good 3"/>
          <p:cNvSpPr/>
          <p:nvPr/>
        </p:nvSpPr>
        <p:spPr>
          <a:xfrm>
            <a:off x="6766560" y="4974336"/>
            <a:ext cx="146304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</a:t>
            </a:r>
            <a:endParaRPr lang="en-US" sz="2000" dirty="0" b="1"/>
          </a:p>
        </p:txBody>
      </p:sp>
      <p:sp>
        <p:nvSpPr>
          <p:cNvPr id="69" name="Bad 4"/>
          <p:cNvSpPr/>
          <p:nvPr/>
        </p:nvSpPr>
        <p:spPr>
          <a:xfrm>
            <a:off x="868680" y="5541264"/>
            <a:ext cx="544068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</a:t>
            </a: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 He doesn't like cooking.   b. He likes cooking for his family.</a:t>
            </a:r>
            <a:endParaRPr lang="en-US" sz="1500" dirty="0" b="1"/>
          </a:p>
        </p:txBody>
      </p:sp>
      <p:sp>
        <p:nvSpPr>
          <p:cNvPr id="70" name="Good 4"/>
          <p:cNvSpPr/>
          <p:nvPr/>
        </p:nvSpPr>
        <p:spPr>
          <a:xfrm>
            <a:off x="6766560" y="5541264"/>
            <a:ext cx="146304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goodby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Apply: a drawn job application form and a penci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9  ·  Level 3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Goodbye! See You Next Week!</a:t>
            </a:r>
            <a:endParaRPr lang="en-US" sz="44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Now you can: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Say what you're good at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Say what you're interested in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Answer Tell me about yourself</a:t>
            </a:r>
            <a:endParaRPr lang="en-US" sz="22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3:credits">
    <p:bg>
      <p:bgPr>
        <a:solidFill>
          <a:srgbClr val="C9B8F2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1371600"/>
            <a:ext cx="12191695" cy="5486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18465" y="431597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50469" y="365760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itle"/>
          <p:cNvSpPr/>
          <p:nvPr/>
        </p:nvSpPr>
        <p:spPr>
          <a:xfrm>
            <a:off x="674827" y="640080"/>
            <a:ext cx="5120640" cy="1024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Credits</a:t>
            </a:r>
            <a:endParaRPr lang="en-US" sz="5400" dirty="0"/>
          </a:p>
        </p:txBody>
      </p:sp>
      <p:sp>
        <p:nvSpPr>
          <p:cNvPr id="15" name="pictures"/>
          <p:cNvSpPr/>
          <p:nvPr/>
        </p:nvSpPr>
        <p:spPr>
          <a:xfrm>
            <a:off x="411480" y="2240280"/>
            <a:ext cx="11365992" cy="22402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Pictures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Vocabulary pictures use Twemoji graphics by Twitter, Inc. and other contributors (https://github.com/jdecked/twemoji), licensed under CC BY 4.0 (https://creativecommons.org/licenses/by/4.0/). The graphics were resized and combined, and speech bubbles, signs, and labels were added.</a:t>
            </a:r>
            <a:endParaRPr lang="en-US" sz="1600" dirty="0" b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faces on the Progress Check are standard emoji characters shown with the computer's emoji font.</a:t>
            </a:r>
            <a:endParaRPr lang="en-US" sz="1600" dirty="0" b="0"/>
          </a:p>
        </p:txBody>
      </p:sp>
      <p:sp>
        <p:nvSpPr>
          <p:cNvPr id="16" name="names"/>
          <p:cNvSpPr/>
          <p:nvPr/>
        </p:nvSpPr>
        <p:spPr>
          <a:xfrm>
            <a:off x="411480" y="4709160"/>
            <a:ext cx="4206240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Names and story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Lucia and Mr. Hall are invented names. The listening story is invented.</a:t>
            </a:r>
            <a:endParaRPr lang="en-US" sz="1600" dirty="0" b="0"/>
          </a:p>
        </p:txBody>
      </p:sp>
      <p:sp>
        <p:nvSpPr>
          <p:cNvPr id="17" name="audio"/>
          <p:cNvSpPr/>
          <p:nvPr/>
        </p:nvSpPr>
        <p:spPr>
          <a:xfrm>
            <a:off x="4846320" y="4709160"/>
            <a:ext cx="6931152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and font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Audio: synthetic voices made with Chatterbox TTS (MIT License), cloned from short synthetic reference clips made with Kokoro-82M (Apache License 2.0). No recordings of real people were used. Each file carries an inaudible Perth watermark marking it as AI-generated. Font: Lexend Deca (OFL 1.1).</a:t>
            </a:r>
            <a:endParaRPr lang="en-US" sz="1350" dirty="0" b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© 2026 the authors. The authors license this deck under CC BY-NC-SA 4.0.</a:t>
            </a:r>
            <a:endParaRPr lang="en-US" sz="1350" dirty="0" b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Level 3 Lesson 9: My Strengths</dc:title>
  <dc:subject>PptxGenJS Presentation</dc:subject>
  <dc:creator>Level 1 ESL</dc:creator>
  <cp:lastModifiedBy>Level 1 ESL</cp:lastModifiedBy>
  <cp:revision>1</cp:revision>
  <dcterms:created xsi:type="dcterms:W3CDTF">2026-10-15T20:54:31Z</dcterms:created>
  <dcterms:modified xsi:type="dcterms:W3CDTF">2026-10-15T20:54:31Z</dcterms:modified>
</cp:coreProperties>
</file>