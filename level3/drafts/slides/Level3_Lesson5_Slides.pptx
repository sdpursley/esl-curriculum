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364" r:id="rId34"/>
    <p:sldId id="365" r:id="rId35"/>
    <p:sldId id="366" r:id="rId36"/>
    <p:sldId id="367" r:id="rId33"/>
    <p:sldId id="368" r:id="rId31"/>
    <p:sldId id="369" r:id="rId30"/>
    <p:sldId id="370" r:id="rId29"/>
    <p:sldId id="371" r:id="rId28"/>
    <p:sldId id="372" r:id="rId27"/>
    <p:sldId id="373" r:id="rId20"/>
    <p:sldId id="374" r:id="rId18"/>
    <p:sldId id="375" r:id="rId17"/>
    <p:sldId id="376" r:id="rId16"/>
    <p:sldId id="377" r:id="rId14"/>
    <p:sldId id="378" r:id="rId13"/>
    <p:sldId id="379" r:id="rId12"/>
    <p:sldId id="380" r:id="rId11"/>
    <p:sldId id="381" r:id="rId10"/>
    <p:sldId id="382" r:id="rId8"/>
    <p:sldId id="383" r:id="rId7"/>
    <p:sldId id="384" r:id="rId6"/>
    <p:sldId id="385" r:id="rId5"/>
    <p:sldId id="386" r:id="rId3"/>
    <p:sldId id="387" r:id="rId57"/>
    <p:sldId id="388" r:id="rId2"/>
    <p:sldId id="389"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5" Type="http://schemas.openxmlformats.org/officeDocument/2006/relationships/slide" Target="slides/slide49.xml"/><Relationship Id="rId6" Type="http://schemas.openxmlformats.org/officeDocument/2006/relationships/slide" Target="slides/slide48.xml"/><Relationship Id="rId7" Type="http://schemas.openxmlformats.org/officeDocument/2006/relationships/slide" Target="slides/slide47.xml"/><Relationship Id="rId8" Type="http://schemas.openxmlformats.org/officeDocument/2006/relationships/slide" Target="slides/slide46.xml"/><Relationship Id="rId10" Type="http://schemas.openxmlformats.org/officeDocument/2006/relationships/slide" Target="slides/slide45.xml"/><Relationship Id="rId11" Type="http://schemas.openxmlformats.org/officeDocument/2006/relationships/slide" Target="slides/slide44.xml"/><Relationship Id="rId12" Type="http://schemas.openxmlformats.org/officeDocument/2006/relationships/slide" Target="slides/slide43.xml"/><Relationship Id="rId13" Type="http://schemas.openxmlformats.org/officeDocument/2006/relationships/slide" Target="slides/slide42.xml"/><Relationship Id="rId14" Type="http://schemas.openxmlformats.org/officeDocument/2006/relationships/slide" Target="slides/slide41.xml"/><Relationship Id="rId16" Type="http://schemas.openxmlformats.org/officeDocument/2006/relationships/slide" Target="slides/slide40.xml"/><Relationship Id="rId17" Type="http://schemas.openxmlformats.org/officeDocument/2006/relationships/slide" Target="slides/slide39.xml"/><Relationship Id="rId18" Type="http://schemas.openxmlformats.org/officeDocument/2006/relationships/slide" Target="slides/slide38.xml"/><Relationship Id="rId20" Type="http://schemas.openxmlformats.org/officeDocument/2006/relationships/slide" Target="slides/slide37.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6.xml"/><Relationship Id="rId28" Type="http://schemas.openxmlformats.org/officeDocument/2006/relationships/slide" Target="slides/slide35.xml"/><Relationship Id="rId29" Type="http://schemas.openxmlformats.org/officeDocument/2006/relationships/slide" Target="slides/slide34.xml"/><Relationship Id="rId30" Type="http://schemas.openxmlformats.org/officeDocument/2006/relationships/slide" Target="slides/slide33.xml"/><Relationship Id="rId31" Type="http://schemas.openxmlformats.org/officeDocument/2006/relationships/slide" Target="slides/slide32.xml"/><Relationship Id="rId33" Type="http://schemas.openxmlformats.org/officeDocument/2006/relationships/slide" Target="slides/slide31.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 Id="rId59"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Say: "My bag is heavy." Wait for an offer: "I'll carry it!"</a:t>
            </a:r>
          </a:p>
          <a:p>
            <a:r>
              <a:t>Remind learners: homework is about 15 minutes. Bring it next week.</a:t>
            </a:r>
          </a:p>
          <a:p>
            <a:r>
              <a:t>Source: Level3_Lesson5.md (At a glance: Objectives; Step 6).</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offer or promise with I'll or I won't, and one plan with going to and because or so (I'm going to visit my sister on Sunday, because it's her birthday.). Collect at the door.</a:t>
            </a:r>
          </a:p>
          <a:p>
            <a:r>
              <a:t>Homework: open the Homework page. Do item 1 together (one offer on the board). Say: "About 15 minutes. Bring it next week."</a:t>
            </a:r>
          </a:p>
          <a:p>
            <a:r>
              <a:t>Homework items: 1 write an offer with I'll for each problem • 2 write 'll, 'm going to, 're going to, won't, or Will • 3 ask a family member or a friend: What are you going to do this weekend? Then offer to help with one thing • 4 review (Lesson 4): 2 sentences with was / were + -ing and when.</a:t>
            </a:r>
          </a:p>
          <a:p>
            <a:r>
              <a:t>Read &amp; Write (7:17–7:25, on the Student Pages): a flyer and a volunteer sign-up sheet; questions 1–5; then a short text message to Carmen offering help with I'll. If behind: questions 1–5 only; the text message becomes homework.</a:t>
            </a:r>
          </a:p>
          <a:p>
            <a:r>
              <a:t>Source: Level3_Lesson5.md (Step 6; Homework page; Read &amp; Write step).</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groups (6 min): each group chooses one event on the Event Board: a park cleanup or a school family night. Each person volunteers for two jobs with I'll… and writes their name. Then each person says one plan with going to (something they planned before). Each click shows the next step.</a:t>
            </a:r>
          </a:p>
          <a:p>
            <a:r>
              <a:t>A Park Cleanup (Saturday, 9:00–12:00): bring trash bags • bring water for everyone • make a flyer • give rides to the park • pick up trash near the river • take photos • text everyone the time.</a:t>
            </a:r>
          </a:p>
          <a:p>
            <a:r>
              <a:t>A School Family Night (Friday, 6:00–8:00): set up the tables and chairs • bring food • bring drinks • play games with the children • play music • clean up after the event • text the families a reminder.</a:t>
            </a:r>
          </a:p>
          <a:p>
            <a:r>
              <a:t>Share (1 min): one person from each group reads their board: "Ana will bring water. Tom will set up the tables." If behind: Round 1 only.</a:t>
            </a:r>
          </a:p>
          <a:p>
            <a:r>
              <a:t>Invented events (important): every event, job, and sign-up sheet in this lesson is invented. Volunteering is an example, not a request: never ask learners to sign up for a real event, give a real phone number, or offer a real ride. "I can't help this time" is always an OK answer.</a:t>
            </a:r>
          </a:p>
          <a:p>
            <a:r>
              <a:t>Source: Level3_Lesson5.md (Step 5; Talk Time: Event Board).</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Problem / Offer Cards + Event Board · 12 min.</a:t>
            </a:r>
          </a:p>
          <a:p>
            <a:r>
              <a:t>Round 1, pairs (5 min): A reads a problem card (My car won't start.). B offers help with I'll… and one reason or detail. A says thank you. Switch after each card. Try to use all 8 cards. Each click shows the next step.</a:t>
            </a:r>
          </a:p>
          <a:p>
            <a:r>
              <a:t>Model with one learner (1 min): read card 1. Help the learner say "I'll give you a ride." Answer: "Really? Thank you so much!"</a:t>
            </a:r>
          </a:p>
          <a:p>
            <a:r>
              <a:t>Cards: 1 My car won't start, and I have to go to work. 2 I forgot my dictionary at home. 3 I have five heavy boxes in my car. 4 My boss called, but I was in a meeting. 5 My kitchen is a mess after the party. 6 Thirty people are coming, and we have no chairs. 7 It's raining, and I don't have an umbrella. 8 I don't know how to send a photo by text.</a:t>
            </a:r>
          </a:p>
          <a:p>
            <a:r>
              <a:t>Sample offers: 1 I'll give you a ride. 2 I'll lend you mine. 3 I'll help you carry them. 4 I'll call him for you. / I'll text him. 5 I'll help you clean up. 6 I'll set up the chairs. 7 I'll lend you an umbrella. 8 I'll show you. / I'll help you.</a:t>
            </a:r>
          </a:p>
          <a:p>
            <a:r>
              <a:t>Useful: Don't worry. No problem. I'll… Thanks! That's very kind. You're the best!</a:t>
            </a:r>
          </a:p>
          <a:p>
            <a:r>
              <a:t>Source: Level3_Lesson5.md (Step 5; Talk Time: Problem / Offer Cards; Answer key).</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says a problem (I'm hungry. / It's cold. / My bag is heavy.); B offers help with I'll…. Switch.</a:t>
            </a:r>
          </a:p>
          <a:p>
            <a:r>
              <a:t>If behind: skip the pair drill. Talk Time practices it.</a:t>
            </a:r>
          </a:p>
          <a:p>
            <a:r>
              <a:t>Source: Level3_Lesson5.md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6.</a:t>
            </a:r>
          </a:p>
          <a:p>
            <a:r>
              <a:t>1: an offer needs I'll • 2, 3, 5: will never changes: no to, no -s, no -ing after it • 4: a promise = won't • 6: planned before = going to.</a:t>
            </a:r>
          </a:p>
          <a:p>
            <a:r>
              <a:t>Say the right form clearly; the learner repeats. Learners can read the Spanish note and the tip on their Grammar page themselves; you don't need to explain them.</a:t>
            </a:r>
          </a:p>
          <a:p>
            <a:r>
              <a:t>Source: Level3_Lesson5.md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words. Pairs check.</a:t>
            </a:r>
          </a:p>
          <a:p>
            <a:r>
              <a:t>Click to show each answer (one click per item, 1 to 6): 1 I'll get, 2 am going to bake, 3 I'll do, 4 are going to see, 5 I'll share, 6 is going to.</a:t>
            </a:r>
          </a:p>
          <a:p>
            <a:r>
              <a:t>Source: Level3_Lesson5.md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'll, 2 won't, 3 'll, 4 won't, 5 'll, 6 Will.</a:t>
            </a:r>
          </a:p>
          <a:p>
            <a:r>
              <a:t>Source: Level3_Lesson5.md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(3 min): draw two pictures on the board: a light bulb (an idea now → I'll) and a calendar (planned before → I'm going to). Read Box 4 across. Each click shows the going to side of one row.</a:t>
            </a:r>
          </a:p>
          <a:p>
            <a:r>
              <a:t>I'll = I decide now (an offer, a promise, a quick decision). going to = I planned it before (I bought the ticket; I ordered the pizza). Don't spend a long time on cases where both are possible.</a:t>
            </a:r>
          </a:p>
          <a:p>
            <a:r>
              <a:t>Check questions: "The phone's ringing. I ___ get it." ('ll) • "I bought a ticket. I ___ visit my mom." ('m going to) • "Don't worry, I ___ forget." (won't)</a:t>
            </a:r>
          </a:p>
          <a:p>
            <a:r>
              <a:t>Source: Level3_Lesson5.md (Step 4; Grammar Box 4; Teacher notes: will or going to).</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(1 min): Do you want me to…? / Shall I…? are other ways to offer. Learners only need to understand them and answer Yes, please. / No, thanks.</a:t>
            </a:r>
          </a:p>
          <a:p>
            <a:r>
              <a:t>Each click shows the answer side of one row.</a:t>
            </a:r>
          </a:p>
          <a:p>
            <a:r>
              <a:t>Source: Level3_Lesson5.md (Step 4; Grammar Box 3; Teacher notes: Shall I…? / Do you want me to…?).</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(3 min): promises. Ask a learner: "Will you bring your homework next week?" → "Yes, I will." → "Promise?" → "I promise. I won't forget."</a:t>
            </a:r>
          </a:p>
          <a:p>
            <a:r>
              <a:t>Point to won't = will not. Each click shows the answer side of one row.</a:t>
            </a:r>
          </a:p>
          <a:p>
            <a:r>
              <a:t>Source: Level3_Lesson5.md (Step 4; Grammar Box 2).</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21). Whole class, then pairs. Show the Grammar page. Read across: A reads from the left side; B answers from the right side.</a:t>
            </a:r>
          </a:p>
          <a:p>
            <a:r>
              <a:t>Box 1 (3 min): act it out. Drop a pen: "Oh no!" A learner picks it up: "I'll get it." Read Box 1: you read the problem; the class answers with I'll…. Each click shows one offer.</a:t>
            </a:r>
          </a:p>
          <a:p>
            <a:r>
              <a:t>will never changes: I will, she will, they will. No -s, no to: She'll call (not She wills call, not She will to call).</a:t>
            </a:r>
          </a:p>
          <a:p>
            <a:r>
              <a:t>Source: Level3_Lesson5.md (Step 4; Grammar Box 1; Teacher notes: will never changes).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"I will is usually I'll: one short sound." Read I'll, you'll, we'll.</a:t>
            </a:r>
          </a:p>
          <a:p>
            <a:r>
              <a:t>Then contrast won't (like don't) and want: I won't forget. / I want pizza. The class repeats each line twice.</a:t>
            </a:r>
          </a:p>
          <a:p>
            <a:r>
              <a:t>Source: Level3_Lesson5.md (Step 3: "Say it"; Listening page: Say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'll, 2 going to, 3 'll, 4 going to, 5 'll, 6 going to.</a:t>
            </a:r>
          </a:p>
          <a:p>
            <a:r>
              <a:t>If behind: do Task C together on the board, reading the lines yourself.</a:t>
            </a:r>
          </a:p>
          <a:p>
            <a:r>
              <a:t>Source: Level3_Lesson5.md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job, 1 to 6): 1 D (set up the tables and chairs) • 2 R (bring pizza) • 3 D (bring drinks) • 4 S (make a flyer) • 5 D (call back tonight) • 6 C and D (clean up after the event: Carmen, and David helps).</a:t>
            </a:r>
          </a:p>
          <a:p>
            <a:r>
              <a:t>Source: Level3_Lesson5.md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(what is the event?). Pairs compare. Check together.</a:t>
            </a:r>
          </a:p>
          <a:p>
            <a:r>
              <a:t>Click to show the answer: b (a family night at a school).</a:t>
            </a:r>
          </a:p>
          <a:p>
            <a:r>
              <a:t>Then read Tasks B and C together (1 min) so learners know what to listen for. For Task B, show the letters: D = David, R = Rosa, S = David's sister, C = Carmen.</a:t>
            </a:r>
          </a:p>
          <a:p>
            <a:r>
              <a:t>Source: Level3_Lesson5.md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Point to the school event picture and say: "Carmen and David are parents. Their children go to Hillside School. Carmen is calling David. What is the event? Listen."</a:t>
            </a:r>
          </a:p>
          <a:p>
            <a:r>
              <a:t>There are three voices: a Narrator, Carmen, and David. Each click highlights the next voice.</a:t>
            </a:r>
          </a:p>
          <a:p>
            <a:r>
              <a:t>The audio (L3_L5_listening.mp3, about 1:17; the teacher steps say about 1:15) plays the conversation once. Press play again for play 2. A third play is fine if the class needs it.</a:t>
            </a:r>
          </a:p>
          <a:p>
            <a:r>
              <a:t>No speaker? Read the script with a volunteer at a normal, friendly speed.</a:t>
            </a:r>
          </a:p>
          <a:p>
            <a:r>
              <a:t>Audio: L3_L5_listening.mp3 uses computer-generated voices (Chatterbox TTS, MIT License, cloned from synthetic Kokoro-82M reference clips, Apache License 2.0). No recordings of real people. The names and the story are invented.</a:t>
            </a:r>
          </a:p>
          <a:p>
            <a:r>
              <a:t>Source: Level3_Lesson5.md (Step 3; Listening script; Listening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"You give your pen to a classmate for 5 minutes. Is that lend or give?" (lend) • 2. "You drive your neighbor to work. You…?" (give a ride) • 3. "Before a party, you put out the chairs. You…?" (set up)</a:t>
            </a:r>
          </a:p>
          <a:p>
            <a:r>
              <a:t>One more question: "After the party?" (clean up)</a:t>
            </a:r>
          </a:p>
          <a:p>
            <a:r>
              <a:t>Source: Level3_Lesson5.md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says a word. B points to the picture and makes a sentence (A: lend. B: I can lend you my pen. / I can give you a ride.). Switch.</a:t>
            </a:r>
          </a:p>
          <a:p>
            <a:r>
              <a:t>If behind: teach the ★ words only.</a:t>
            </a:r>
          </a:p>
          <a:p>
            <a:r>
              <a:t>Source: Level3_Lesson5.md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the word. Learners repeat once. ★ = the most important words. Each click shows the next word.</a:t>
            </a:r>
          </a:p>
          <a:p>
            <a:r>
              <a:t>Act out carry (pick up a bag), offer (raise your hand: "I'll help!"), promise (hand on your heart: "I promise"), and clean up (sweep).</a:t>
            </a:r>
          </a:p>
          <a:p>
            <a:r>
              <a:t>Show offer: pick up a heavy bag and look tired. Wait. When a learner says something, smile: "Thank you! That's an offer." Then say it for them: "I'll carry it."</a:t>
            </a:r>
          </a:p>
          <a:p>
            <a:r>
              <a:t>If behind: teach the ★ words only.</a:t>
            </a:r>
          </a:p>
          <a:p>
            <a:r>
              <a:t>Source: Level3_Lesson5.md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Homework Check (4 min, last click): partners read their Lesson 4 Homework item 1 (At 7:00 a.m., I was…) to each other. The partner asks one question about it. Walk around. Write 2 common errors on the board (often I was cook or They was…) and correct them together.</a:t>
            </a:r>
          </a:p>
          <a:p>
            <a:r>
              <a:t>Source: Level3_Lesson5.md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"Don't worry, I'll do it." Say: "Tonight we offer help and make promises: at work, with a neighbor, and at a school event."</a:t>
            </a:r>
          </a:p>
          <a:p>
            <a:r>
              <a:t>Read the three lines under "Today you will". Give one quick example of each: "The phone's ringing. I'll get it." • "I'll call you back. Don't worry, I won't forget." • "I'm going to visit my mom. I bought a ticket."</a:t>
            </a:r>
          </a:p>
          <a:p>
            <a:r>
              <a:t>Invented events (important): every event, job, and sign-up sheet in this lesson is invented. Volunteering is an example, not a request: never ask learners to sign up for a real event, give a real phone number, or offer a real ride. "I can't help this time" is always an OK answer.</a:t>
            </a:r>
          </a:p>
          <a:p>
            <a:r>
              <a:t>Source: Level3_Lesson5.md (Topic; At a glance: Objectives; Teacher notes: Invented events).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offers with I'll (The phone's ringing. I'll get it.). Goal 2: promises (I'll call you back. Don't worry, I won't forget.). Goal 3: Will you…? → Yes, I will. / No, I won't.</a:t>
            </a:r>
          </a:p>
          <a:p>
            <a:r>
              <a:t>Goal 4: understand Do you want me to…? and Shall I…? Goal 5: will (decided now) or going to (planned before). Goal 6: read a school flyer and a sign-up sheet, and write a short text message offering help.</a:t>
            </a:r>
          </a:p>
          <a:p>
            <a:r>
              <a:t>"We check at 7:25" = the Progress Check. It is not a test grade.</a:t>
            </a:r>
          </a:p>
          <a:p>
            <a:r>
              <a:t>Source: Level3_Lesson5.md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Homework Check · 10 min. Pairs (7 pairs + 1 trio with 15 learners; 3–4 pairs with 7–8).</a:t>
            </a:r>
          </a:p>
          <a:p>
            <a:r>
              <a:t>Before class, write on the board: What were you doing at…? I was…ing when…</a:t>
            </a:r>
          </a:p>
          <a:p>
            <a:r>
              <a:t>Model with one learner: "What were you doing at 8:00 last night?" → (answer) → "Really? Who were you with?" (Click to show the follow-up.)</a:t>
            </a:r>
          </a:p>
          <a:p>
            <a:r>
              <a:t>Opening Talk (6 min): learners open the Opening Talk page. A asks a card question; B answers with 2–3 sentences; A asks one follow-up. Switch after each card. The cards are on the next slide.</a:t>
            </a:r>
          </a:p>
          <a:p>
            <a:r>
              <a:t>If behind: one card only, then the homework check.</a:t>
            </a:r>
          </a:p>
          <a:p>
            <a:r>
              <a:t>Source: Level3_Lesson5.md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(decided now) or b (planned before). Then click to show the answer (one click per item, 1 to 4).</a:t>
            </a:r>
          </a:p>
          <a:p>
            <a:r>
              <a:t>Say: 1 "OK, I'll carry that box for you." (a) • 2 "I'm going to visit my sister on Sunday. I bought the bus ticket." (b) • 3 "Don't worry. I'll call you back in five minutes." (a) • 4 "We're going to have a party next week. We sent the invitations." (b)</a:t>
            </a:r>
          </a:p>
          <a:p>
            <a:r>
              <a:t>Parts B and C: learners do them alone. Walk around and help with the instructions only. B answers: 1 will, 2 won't, 3 open, 4 are going to. C: answers will vary (for example I'll carry it for you. / I'll give you a ride.).</a:t>
            </a:r>
          </a:p>
          <a:p>
            <a:r>
              <a:t>Part D: read each "I can…" line aloud and point to the 3 faces: 😀 "I can do it." 🙂 "With a little help." 😐 "Not yet."</a:t>
            </a:r>
          </a:p>
          <a:p>
            <a:r>
              <a:t>Scoring: A /4 + B /4 + C /2 = /10. This is not a test grade. It shows who needs more help hearing will vs. going to (A) and with the forms (B, C).</a:t>
            </a:r>
          </a:p>
          <a:p>
            <a:r>
              <a:t>Collect the pages (or check them at the start of Week 6). If behind: do the Progress Check in Week 6 at 6:00, while learners arrive.</a:t>
            </a:r>
          </a:p>
          <a:p>
            <a:r>
              <a:t>Source: Level3_Lesson5.md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L3_L5_listening.mp3 uses computer-generated voices (Chatterbox TTS, MIT License, cloned from synthetic Kokoro-82M reference clips, Apache License 2.0). No recordings of real people. The names and the story are invented.</a:t>
            </a:r>
          </a:p>
          <a:p>
            <a:r>
              <a:t>Course materials: © 2026 the authors, licensed under CC BY-NC-SA 4.0 (https://creativecommons.org/licenses/by-nc-sa/4.0/).</a:t>
            </a:r>
          </a:p>
          <a:p>
            <a:r>
              <a:t>Source: Level3_Lesson5.md (Picture Credits);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5.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16.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19.png"/><Relationship Id="rId8"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7.png"/><Relationship Id="rId4" Type="http://schemas.openxmlformats.org/officeDocument/2006/relationships/notesSlide" Target="../notesSlides/notes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28.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Offer: a woman raising her hand, a man with a box; bubble &quot;I'll help!&quot;">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5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Don't Worry, I'll Do It</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Offer help with I'll</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Make a promise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Choose will or going to</a:t>
            </a:r>
            <a:endParaRPr lang="en-US" sz="22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six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All the events are invented.</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1383487"/>
            <a:ext cx="6227064" cy="983894"/>
          </a:xfrm>
          <a:prstGeom prst="round1Rect">
            <a:avLst>
              <a:gd name="adj" fmla="val 23087"/>
            </a:avLst>
          </a:prstGeom>
          <a:solidFill>
            <a:srgbClr val="8FAFE3"/>
          </a:solidFill>
          <a:ln/>
        </p:spPr>
        <p:txBody>
          <a:bodyPr/>
          <a:p/>
        </p:txBody>
      </p:sp>
      <p:sp>
        <p:nvSpPr>
          <p:cNvPr id="32" name="R1 card"/>
          <p:cNvSpPr/>
          <p:nvPr/>
        </p:nvSpPr>
        <p:spPr>
          <a:xfrm>
            <a:off x="1583741" y="1325880"/>
            <a:ext cx="5130698" cy="983894"/>
          </a:xfrm>
          <a:prstGeom prst="round1Rect">
            <a:avLst>
              <a:gd name="adj" fmla="val 23087"/>
            </a:avLst>
          </a:prstGeom>
          <a:solidFill>
            <a:srgbClr val="FFFFFF"/>
          </a:solidFill>
          <a:ln/>
        </p:spPr>
        <p:txBody>
          <a:bodyPr/>
          <a:p/>
        </p:txBody>
      </p:sp>
      <p:sp>
        <p:nvSpPr>
          <p:cNvPr id="33" name="R1 chip"/>
          <p:cNvSpPr/>
          <p:nvPr/>
        </p:nvSpPr>
        <p:spPr>
          <a:xfrm>
            <a:off x="544982" y="1325880"/>
            <a:ext cx="1039673" cy="983894"/>
          </a:xfrm>
          <a:prstGeom prst="rect">
            <a:avLst/>
          </a:prstGeom>
          <a:solidFill>
            <a:srgbClr val="B9D2F7"/>
          </a:solidFill>
          <a:ln/>
        </p:spPr>
        <p:txBody>
          <a:bodyPr/>
          <a:p/>
        </p:txBody>
      </p:sp>
      <p:sp>
        <p:nvSpPr>
          <p:cNvPr id="34" name="R1 num"/>
          <p:cNvSpPr/>
          <p:nvPr/>
        </p:nvSpPr>
        <p:spPr>
          <a:xfrm>
            <a:off x="686714" y="1494587"/>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1393546"/>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offer help with I'll.</a:t>
            </a:r>
            <a:endParaRPr lang="en-US" sz="2000" dirty="0" b="1"/>
          </a:p>
        </p:txBody>
      </p:sp>
      <p:sp>
        <p:nvSpPr>
          <p:cNvPr id="36" name="R1 sub"/>
          <p:cNvSpPr/>
          <p:nvPr/>
        </p:nvSpPr>
        <p:spPr>
          <a:xfrm>
            <a:off x="1901952" y="1795882"/>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phone's ringing. I'll get it.</a:t>
            </a:r>
            <a:endParaRPr lang="en-US" sz="2000" dirty="0"/>
          </a:p>
        </p:txBody>
      </p:sp>
      <p:sp>
        <p:nvSpPr>
          <p:cNvPr id="37" name="R1 dot"/>
          <p:cNvSpPr/>
          <p:nvPr/>
        </p:nvSpPr>
        <p:spPr>
          <a:xfrm rot="10800000">
            <a:off x="6361481" y="1459382"/>
            <a:ext cx="88697" cy="76810"/>
          </a:xfrm>
          <a:prstGeom prst="triangle">
            <a:avLst/>
          </a:prstGeom>
          <a:solidFill>
            <a:srgbClr val="8FAFE3"/>
          </a:solidFill>
          <a:ln/>
        </p:spPr>
        <p:txBody>
          <a:bodyPr/>
          <a:p/>
        </p:txBody>
      </p:sp>
      <p:sp>
        <p:nvSpPr>
          <p:cNvPr id="38" name="R2 card"/>
          <p:cNvSpPr/>
          <p:nvPr/>
        </p:nvSpPr>
        <p:spPr>
          <a:xfrm>
            <a:off x="1583741" y="2418588"/>
            <a:ext cx="5130698" cy="602590"/>
          </a:xfrm>
          <a:prstGeom prst="round1Rect">
            <a:avLst>
              <a:gd name="adj" fmla="val 23087"/>
            </a:avLst>
          </a:prstGeom>
          <a:solidFill>
            <a:srgbClr val="FFFFFF"/>
          </a:solidFill>
          <a:ln/>
        </p:spPr>
        <p:txBody>
          <a:bodyPr/>
          <a:p/>
        </p:txBody>
      </p:sp>
      <p:sp>
        <p:nvSpPr>
          <p:cNvPr id="39" name="R2 chip"/>
          <p:cNvSpPr/>
          <p:nvPr/>
        </p:nvSpPr>
        <p:spPr>
          <a:xfrm>
            <a:off x="544982" y="2418588"/>
            <a:ext cx="1039673" cy="602590"/>
          </a:xfrm>
          <a:prstGeom prst="rect">
            <a:avLst/>
          </a:prstGeom>
          <a:solidFill>
            <a:srgbClr val="B9D2F7"/>
          </a:solidFill>
          <a:ln/>
        </p:spPr>
        <p:txBody>
          <a:bodyPr/>
          <a:p/>
        </p:txBody>
      </p:sp>
      <p:sp>
        <p:nvSpPr>
          <p:cNvPr id="40" name="R2 num"/>
          <p:cNvSpPr/>
          <p:nvPr/>
        </p:nvSpPr>
        <p:spPr>
          <a:xfrm>
            <a:off x="686714" y="241858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1" name="R2 text"/>
          <p:cNvSpPr/>
          <p:nvPr/>
        </p:nvSpPr>
        <p:spPr>
          <a:xfrm>
            <a:off x="1810512" y="2418588"/>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make a promise.</a:t>
            </a:r>
            <a:endParaRPr lang="en-US" sz="2000" dirty="0"/>
          </a:p>
        </p:txBody>
      </p:sp>
      <p:sp>
        <p:nvSpPr>
          <p:cNvPr id="42" name="R2 dot"/>
          <p:cNvSpPr/>
          <p:nvPr/>
        </p:nvSpPr>
        <p:spPr>
          <a:xfrm rot="10800000">
            <a:off x="6361481" y="2552090"/>
            <a:ext cx="88697" cy="76810"/>
          </a:xfrm>
          <a:prstGeom prst="triangle">
            <a:avLst/>
          </a:prstGeom>
          <a:solidFill>
            <a:srgbClr val="8FAFE3"/>
          </a:solidFill>
          <a:ln/>
        </p:spPr>
        <p:txBody>
          <a:bodyPr/>
          <a:p/>
        </p:txBody>
      </p:sp>
      <p:sp>
        <p:nvSpPr>
          <p:cNvPr id="43" name="R3 card"/>
          <p:cNvSpPr/>
          <p:nvPr/>
        </p:nvSpPr>
        <p:spPr>
          <a:xfrm>
            <a:off x="1583741" y="3129991"/>
            <a:ext cx="5130698" cy="602590"/>
          </a:xfrm>
          <a:prstGeom prst="round1Rect">
            <a:avLst>
              <a:gd name="adj" fmla="val 23087"/>
            </a:avLst>
          </a:prstGeom>
          <a:solidFill>
            <a:srgbClr val="FFFFFF"/>
          </a:solidFill>
          <a:ln/>
        </p:spPr>
        <p:txBody>
          <a:bodyPr/>
          <a:p/>
        </p:txBody>
      </p:sp>
      <p:sp>
        <p:nvSpPr>
          <p:cNvPr id="44" name="R3 chip"/>
          <p:cNvSpPr/>
          <p:nvPr/>
        </p:nvSpPr>
        <p:spPr>
          <a:xfrm>
            <a:off x="544982" y="3129991"/>
            <a:ext cx="1039673" cy="602590"/>
          </a:xfrm>
          <a:prstGeom prst="rect">
            <a:avLst/>
          </a:prstGeom>
          <a:solidFill>
            <a:srgbClr val="B9D2F7"/>
          </a:solidFill>
          <a:ln/>
        </p:spPr>
        <p:txBody>
          <a:bodyPr/>
          <a:p/>
        </p:txBody>
      </p:sp>
      <p:sp>
        <p:nvSpPr>
          <p:cNvPr id="45" name="R3 num"/>
          <p:cNvSpPr/>
          <p:nvPr/>
        </p:nvSpPr>
        <p:spPr>
          <a:xfrm>
            <a:off x="686714" y="312999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6" name="R3 text"/>
          <p:cNvSpPr/>
          <p:nvPr/>
        </p:nvSpPr>
        <p:spPr>
          <a:xfrm>
            <a:off x="1810512" y="312999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ask Will you…? → Yes, I will.</a:t>
            </a:r>
            <a:endParaRPr lang="en-US" sz="1800" dirty="0"/>
          </a:p>
        </p:txBody>
      </p:sp>
      <p:sp>
        <p:nvSpPr>
          <p:cNvPr id="47" name="R3 dot"/>
          <p:cNvSpPr/>
          <p:nvPr/>
        </p:nvSpPr>
        <p:spPr>
          <a:xfrm rot="10800000">
            <a:off x="6361481" y="3263494"/>
            <a:ext cx="88697" cy="76810"/>
          </a:xfrm>
          <a:prstGeom prst="triangle">
            <a:avLst/>
          </a:prstGeom>
          <a:solidFill>
            <a:srgbClr val="8FAFE3"/>
          </a:solidFill>
          <a:ln/>
        </p:spPr>
        <p:txBody>
          <a:bodyPr/>
          <a:p/>
        </p:txBody>
      </p:sp>
      <p:sp>
        <p:nvSpPr>
          <p:cNvPr id="48" name="R4 card"/>
          <p:cNvSpPr/>
          <p:nvPr/>
        </p:nvSpPr>
        <p:spPr>
          <a:xfrm>
            <a:off x="1583741" y="3841394"/>
            <a:ext cx="5130698" cy="602590"/>
          </a:xfrm>
          <a:prstGeom prst="round1Rect">
            <a:avLst>
              <a:gd name="adj" fmla="val 23087"/>
            </a:avLst>
          </a:prstGeom>
          <a:solidFill>
            <a:srgbClr val="FFFFFF"/>
          </a:solidFill>
          <a:ln/>
        </p:spPr>
        <p:txBody>
          <a:bodyPr/>
          <a:p/>
        </p:txBody>
      </p:sp>
      <p:sp>
        <p:nvSpPr>
          <p:cNvPr id="49" name="R4 chip"/>
          <p:cNvSpPr/>
          <p:nvPr/>
        </p:nvSpPr>
        <p:spPr>
          <a:xfrm>
            <a:off x="544982" y="3841394"/>
            <a:ext cx="1039673" cy="602590"/>
          </a:xfrm>
          <a:prstGeom prst="rect">
            <a:avLst/>
          </a:prstGeom>
          <a:solidFill>
            <a:srgbClr val="B9D2F7"/>
          </a:solidFill>
          <a:ln/>
        </p:spPr>
        <p:txBody>
          <a:bodyPr/>
          <a:p/>
        </p:txBody>
      </p:sp>
      <p:sp>
        <p:nvSpPr>
          <p:cNvPr id="50" name="R4 num"/>
          <p:cNvSpPr/>
          <p:nvPr/>
        </p:nvSpPr>
        <p:spPr>
          <a:xfrm>
            <a:off x="686714" y="3841394"/>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1" name="R4 text"/>
          <p:cNvSpPr/>
          <p:nvPr/>
        </p:nvSpPr>
        <p:spPr>
          <a:xfrm>
            <a:off x="1810512" y="3841394"/>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understand Do you want me to…?</a:t>
            </a:r>
            <a:endParaRPr lang="en-US" sz="1800" dirty="0"/>
          </a:p>
        </p:txBody>
      </p:sp>
      <p:sp>
        <p:nvSpPr>
          <p:cNvPr id="52" name="R4 dot"/>
          <p:cNvSpPr/>
          <p:nvPr/>
        </p:nvSpPr>
        <p:spPr>
          <a:xfrm rot="10800000">
            <a:off x="6361481" y="3974897"/>
            <a:ext cx="88697" cy="76810"/>
          </a:xfrm>
          <a:prstGeom prst="triangle">
            <a:avLst/>
          </a:prstGeom>
          <a:solidFill>
            <a:srgbClr val="8FAFE3"/>
          </a:solidFill>
          <a:ln/>
        </p:spPr>
        <p:txBody>
          <a:bodyPr/>
          <a:p/>
        </p:txBody>
      </p:sp>
      <p:sp>
        <p:nvSpPr>
          <p:cNvPr id="53" name="R5 card"/>
          <p:cNvSpPr/>
          <p:nvPr/>
        </p:nvSpPr>
        <p:spPr>
          <a:xfrm>
            <a:off x="1583741" y="4552798"/>
            <a:ext cx="5130698" cy="602590"/>
          </a:xfrm>
          <a:prstGeom prst="round1Rect">
            <a:avLst>
              <a:gd name="adj" fmla="val 23087"/>
            </a:avLst>
          </a:prstGeom>
          <a:solidFill>
            <a:srgbClr val="FFFFFF"/>
          </a:solidFill>
          <a:ln/>
        </p:spPr>
        <p:txBody>
          <a:bodyPr/>
          <a:p/>
        </p:txBody>
      </p:sp>
      <p:sp>
        <p:nvSpPr>
          <p:cNvPr id="54" name="R5 chip"/>
          <p:cNvSpPr/>
          <p:nvPr/>
        </p:nvSpPr>
        <p:spPr>
          <a:xfrm>
            <a:off x="544982" y="4552798"/>
            <a:ext cx="1039673" cy="602590"/>
          </a:xfrm>
          <a:prstGeom prst="rect">
            <a:avLst/>
          </a:prstGeom>
          <a:solidFill>
            <a:srgbClr val="B9D2F7"/>
          </a:solidFill>
          <a:ln/>
        </p:spPr>
        <p:txBody>
          <a:bodyPr/>
          <a:p/>
        </p:txBody>
      </p:sp>
      <p:sp>
        <p:nvSpPr>
          <p:cNvPr id="55" name="R5 num"/>
          <p:cNvSpPr/>
          <p:nvPr/>
        </p:nvSpPr>
        <p:spPr>
          <a:xfrm>
            <a:off x="686714" y="455279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6" name="R5 text"/>
          <p:cNvSpPr/>
          <p:nvPr/>
        </p:nvSpPr>
        <p:spPr>
          <a:xfrm>
            <a:off x="1810512" y="4552798"/>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choose will or going to.</a:t>
            </a:r>
            <a:endParaRPr lang="en-US" sz="2000" dirty="0"/>
          </a:p>
        </p:txBody>
      </p:sp>
      <p:sp>
        <p:nvSpPr>
          <p:cNvPr id="57" name="R5 dot"/>
          <p:cNvSpPr/>
          <p:nvPr/>
        </p:nvSpPr>
        <p:spPr>
          <a:xfrm rot="10800000">
            <a:off x="6361481" y="4686300"/>
            <a:ext cx="88697" cy="76810"/>
          </a:xfrm>
          <a:prstGeom prst="triangle">
            <a:avLst/>
          </a:prstGeom>
          <a:solidFill>
            <a:srgbClr val="8FAFE3"/>
          </a:solidFill>
          <a:ln/>
        </p:spPr>
        <p:txBody>
          <a:bodyPr/>
          <a:p/>
        </p:txBody>
      </p:sp>
      <p:sp>
        <p:nvSpPr>
          <p:cNvPr id="58" name="R6 card"/>
          <p:cNvSpPr/>
          <p:nvPr/>
        </p:nvSpPr>
        <p:spPr>
          <a:xfrm>
            <a:off x="1583741" y="5264201"/>
            <a:ext cx="5130698" cy="602590"/>
          </a:xfrm>
          <a:prstGeom prst="round1Rect">
            <a:avLst>
              <a:gd name="adj" fmla="val 23087"/>
            </a:avLst>
          </a:prstGeom>
          <a:solidFill>
            <a:srgbClr val="FFFFFF"/>
          </a:solidFill>
          <a:ln/>
        </p:spPr>
        <p:txBody>
          <a:bodyPr/>
          <a:p/>
        </p:txBody>
      </p:sp>
      <p:sp>
        <p:nvSpPr>
          <p:cNvPr id="59" name="R6 chip"/>
          <p:cNvSpPr/>
          <p:nvPr/>
        </p:nvSpPr>
        <p:spPr>
          <a:xfrm>
            <a:off x="544982" y="5264201"/>
            <a:ext cx="1039673" cy="602590"/>
          </a:xfrm>
          <a:prstGeom prst="rect">
            <a:avLst/>
          </a:prstGeom>
          <a:solidFill>
            <a:srgbClr val="B9D2F7"/>
          </a:solidFill>
          <a:ln/>
        </p:spPr>
        <p:txBody>
          <a:bodyPr/>
          <a:p/>
        </p:txBody>
      </p:sp>
      <p:sp>
        <p:nvSpPr>
          <p:cNvPr id="60" name="R6 num"/>
          <p:cNvSpPr/>
          <p:nvPr/>
        </p:nvSpPr>
        <p:spPr>
          <a:xfrm>
            <a:off x="686714" y="526420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06</a:t>
            </a:r>
            <a:endParaRPr lang="en-US" sz="3200" b="1" dirty="0"/>
          </a:p>
        </p:txBody>
      </p:sp>
      <p:sp>
        <p:nvSpPr>
          <p:cNvPr id="61" name="R6 text"/>
          <p:cNvSpPr/>
          <p:nvPr/>
        </p:nvSpPr>
        <p:spPr>
          <a:xfrm>
            <a:off x="1810512" y="526420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write a text message offering help.</a:t>
            </a:r>
            <a:endParaRPr lang="en-US" sz="1800" dirty="0"/>
          </a:p>
        </p:txBody>
      </p:sp>
      <p:sp>
        <p:nvSpPr>
          <p:cNvPr id="62" name="R6 dot"/>
          <p:cNvSpPr/>
          <p:nvPr/>
        </p:nvSpPr>
        <p:spPr>
          <a:xfrm rot="10800000">
            <a:off x="6361481" y="5397703"/>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par>
                                <p:cTn id="74" presetID="10" presetClass="entr" presetSubtype="0"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40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par>
                                <p:cTn id="91" presetID="10"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animEffect transition="in" filter="fade">
                                      <p:cBhvr>
                                        <p:cTn id="93" dur="400"/>
                                        <p:tgtEl>
                                          <p:spTgt spid="5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fade">
                                      <p:cBhvr>
                                        <p:cTn id="98" dur="400"/>
                                        <p:tgtEl>
                                          <p:spTgt spid="58"/>
                                        </p:tgtEl>
                                      </p:cBhvr>
                                    </p:animEffect>
                                  </p:childTnLst>
                                </p:cTn>
                              </p:par>
                              <p:par>
                                <p:cTn id="99" presetID="10" presetClass="entr" presetSubtype="0"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fade">
                                      <p:cBhvr>
                                        <p:cTn id="101" dur="400"/>
                                        <p:tgtEl>
                                          <p:spTgt spid="59"/>
                                        </p:tgtEl>
                                      </p:cBhvr>
                                    </p:animEffect>
                                  </p:childTnLst>
                                </p:cTn>
                              </p:par>
                              <p:par>
                                <p:cTn id="102" presetID="10" presetClass="entr" presetSubtype="0" fill="hold" nodeType="withEffect">
                                  <p:stCondLst>
                                    <p:cond delay="0"/>
                                  </p:stCondLst>
                                  <p:childTnLst>
                                    <p:set>
                                      <p:cBhvr>
                                        <p:cTn id="103" dur="1" fill="hold">
                                          <p:stCondLst>
                                            <p:cond delay="0"/>
                                          </p:stCondLst>
                                        </p:cTn>
                                        <p:tgtEl>
                                          <p:spTgt spid="60"/>
                                        </p:tgtEl>
                                        <p:attrNameLst>
                                          <p:attrName>style.visibility</p:attrName>
                                        </p:attrNameLst>
                                      </p:cBhvr>
                                      <p:to>
                                        <p:strVal val="visible"/>
                                      </p:to>
                                    </p:set>
                                    <p:animEffect transition="in" filter="fade">
                                      <p:cBhvr>
                                        <p:cTn id="104" dur="400"/>
                                        <p:tgtEl>
                                          <p:spTgt spid="60"/>
                                        </p:tgtEl>
                                      </p:cBhvr>
                                    </p:animEffect>
                                  </p:childTnLst>
                                </p:cTn>
                              </p:par>
                              <p:par>
                                <p:cTn id="105" presetID="10" presetClass="entr" presetSubtype="0" fill="hold" nodeType="with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400"/>
                                        <p:tgtEl>
                                          <p:spTgt spid="61"/>
                                        </p:tgtEl>
                                      </p:cBhvr>
                                    </p:animEffect>
                                  </p:childTnLst>
                                </p:cTn>
                              </p:par>
                              <p:par>
                                <p:cTn id="108" presetID="10" presetClass="entr" presetSubtype="0" fill="hold" nodeType="withEffect">
                                  <p:stCondLst>
                                    <p:cond delay="0"/>
                                  </p:stCondLst>
                                  <p:childTnLst>
                                    <p:set>
                                      <p:cBhvr>
                                        <p:cTn id="109" dur="1" fill="hold">
                                          <p:stCondLst>
                                            <p:cond delay="0"/>
                                          </p:stCondLst>
                                        </p:cTn>
                                        <p:tgtEl>
                                          <p:spTgt spid="62"/>
                                        </p:tgtEl>
                                        <p:attrNameLst>
                                          <p:attrName>style.visibility</p:attrName>
                                        </p:attrNameLst>
                                      </p:cBhvr>
                                      <p:to>
                                        <p:strVal val="visible"/>
                                      </p:to>
                                    </p:set>
                                    <p:animEffect transition="in" filter="fade">
                                      <p:cBhvr>
                                        <p:cTn id="11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Call back: a phone; bubble &quot;I'll call you back.&quot;"/>
          <p:cNvPicPr>
            <a:picLocks noChangeAspect="1"/>
          </p:cNvPicPr>
          <p:nvPr/>
        </p:nvPicPr>
        <p:blipFill>
          <a:blip r:embed="rId3"/>
          <a:stretch>
            <a:fillRect/>
          </a:stretch>
        </p:blipFill>
        <p:spPr>
          <a:xfrm>
            <a:off x="6800393" y="1828800"/>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were you doing at 8:00 last night?</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Really? Who were you with?</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Really? Who were you with? What happened then? What did you do?</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were you doing at 8:00 last night?</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were you doing when this class started last week?</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was your family doing at 7:00 this morning?</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Tell me about a time it started to rain while you were outside.</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4, item 1.</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Offer: a woman raising her hand, a man with a box; bubble &quot;I'll help!&quo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offer</a:t>
            </a:r>
            <a:endParaRPr lang="en-US" sz="2000" dirty="0" b="1"/>
          </a:p>
        </p:txBody>
      </p:sp>
      <p:pic>
        <p:nvPicPr>
          <p:cNvPr id="19" name="Word picture 2" descr="Promise: a handshake; bubble &quot;I promise.&quot;"/>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promise</a:t>
            </a:r>
            <a:endParaRPr lang="en-US" sz="2000" dirty="0" b="1"/>
          </a:p>
        </p:txBody>
      </p:sp>
      <p:pic>
        <p:nvPicPr>
          <p:cNvPr id="21" name="Word picture 3" descr="Carry: a person carrying a box"/>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carry</a:t>
            </a:r>
            <a:endParaRPr lang="en-US" sz="2000" dirty="0" b="1"/>
          </a:p>
        </p:txBody>
      </p:sp>
      <p:pic>
        <p:nvPicPr>
          <p:cNvPr id="23" name="Word picture 4" descr="Set up: stacked chairs, an arrow, chairs around a tabl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set up</a:t>
            </a:r>
            <a:endParaRPr lang="en-US" sz="2000" dirty="0" b="1"/>
          </a:p>
        </p:txBody>
      </p:sp>
      <p:pic>
        <p:nvPicPr>
          <p:cNvPr id="25" name="Word picture 5" descr="Clean up: a broom, a wastebasket, sparkles"/>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clean up</a:t>
            </a:r>
            <a:endParaRPr lang="en-US" sz="2000" dirty="0" b="1"/>
          </a:p>
        </p:txBody>
      </p:sp>
      <p:pic>
        <p:nvPicPr>
          <p:cNvPr id="27" name="Word picture 6" descr="Bring: a woman with a pizza, an arrow to a school"/>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bring</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says. B points.</a:t>
            </a:r>
            <a:endParaRPr lang="en-US" sz="2200" dirty="0" b="1"/>
          </a:p>
        </p:txBody>
      </p:sp>
      <p:pic>
        <p:nvPicPr>
          <p:cNvPr id="17" name="Word picture 1" descr="Lend: a man gives a wrench to a woman, label &quot;give for a short time&quo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lend</a:t>
            </a:r>
            <a:endParaRPr lang="en-US" sz="2000" dirty="0" b="1"/>
          </a:p>
        </p:txBody>
      </p:sp>
      <p:pic>
        <p:nvPicPr>
          <p:cNvPr id="19" name="Word picture 2" descr="Give a ride: a car with two people, an arrow to a building"/>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give a ride</a:t>
            </a:r>
            <a:endParaRPr lang="en-US" sz="2000" dirty="0" b="1"/>
          </a:p>
        </p:txBody>
      </p:sp>
      <p:pic>
        <p:nvPicPr>
          <p:cNvPr id="21" name="Word picture 3" descr="Call back: a phone; bubble &quot;I'll call you back.&quot;"/>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call back</a:t>
            </a:r>
            <a:endParaRPr lang="en-US" sz="2000" dirty="0" b="1"/>
          </a:p>
        </p:txBody>
      </p:sp>
      <p:pic>
        <p:nvPicPr>
          <p:cNvPr id="23" name="Word picture 4" descr="Text: a drawn phone with two text messages"/>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text</a:t>
            </a:r>
            <a:endParaRPr lang="en-US" sz="2000" dirty="0" b="1"/>
          </a:p>
        </p:txBody>
      </p:sp>
      <p:pic>
        <p:nvPicPr>
          <p:cNvPr id="25" name="Word picture 5" descr="School event: a school, balloons, a family, pizza"/>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school event</a:t>
            </a:r>
            <a:endParaRPr lang="en-US" sz="2000" dirty="0" b="1"/>
          </a:p>
        </p:txBody>
      </p:sp>
      <p:pic>
        <p:nvPicPr>
          <p:cNvPr id="27" name="Word picture 6" descr="Flyer: a drawn paper flyer &quot;FAMILY NIGHT Friday 6:00&quot; with a family"/>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flyer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Your pen, for 5 minutes: lend or give?</a:t>
            </a:r>
            <a:endParaRPr lang="en-US" sz="1800" dirty="0" b="1"/>
          </a:p>
        </p:txBody>
      </p:sp>
      <p:pic>
        <p:nvPicPr>
          <p:cNvPr id="101" name="R1 pic" descr="Lend: a man gives a wrench to a woman, label &quot;give for a short time&quot;"/>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Drive your neighbor to work. You…?</a:t>
            </a:r>
            <a:endParaRPr lang="en-US" sz="1800" dirty="0" b="1"/>
          </a:p>
        </p:txBody>
      </p:sp>
      <p:pic>
        <p:nvPicPr>
          <p:cNvPr id="102" name="R2 pic" descr="Give a ride: a car with two people, an arrow to a building"/>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Put out chairs before a party. You…?</a:t>
            </a:r>
            <a:endParaRPr lang="en-US" sz="1800" dirty="0" b="1"/>
          </a:p>
        </p:txBody>
      </p:sp>
      <p:pic>
        <p:nvPicPr>
          <p:cNvPr id="103" name="R3 pic" descr="Set up: stacked chairs, an arrow, chairs around a table"/>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lend</a:t>
            </a:r>
            <a:endParaRPr lang="en-US" sz="2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give a ride</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set up</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Carmen and David are parents. Their children go to Hillside School. Carmen is calling David.</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School event: a school, balloons, a family, pizza"/>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Carmen</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David</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the event?</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Who will do each job?</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1:17.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What is the event?</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1737360"/>
          </a:xfrm>
          <a:prstGeom prst="round1Rect">
            <a:avLst>
              <a:gd name="adj" fmla="val 23087"/>
            </a:avLst>
          </a:prstGeom>
          <a:solidFill>
            <a:srgbClr val="FFFFFF"/>
          </a:solidFill>
          <a:ln/>
        </p:spPr>
        <p:txBody>
          <a:bodyPr/>
          <a:p/>
        </p:txBody>
      </p:sp>
      <p:sp>
        <p:nvSpPr>
          <p:cNvPr id="32" name="R1 chip"/>
          <p:cNvSpPr/>
          <p:nvPr/>
        </p:nvSpPr>
        <p:spPr>
          <a:xfrm>
            <a:off x="544982" y="2397557"/>
            <a:ext cx="1039673" cy="1737360"/>
          </a:xfrm>
          <a:prstGeom prst="rect">
            <a:avLst/>
          </a:prstGeom>
          <a:solidFill>
            <a:srgbClr val="B9D2F7"/>
          </a:solidFill>
          <a:ln/>
        </p:spPr>
        <p:txBody>
          <a:bodyPr/>
          <a:p/>
        </p:txBody>
      </p:sp>
      <p:sp>
        <p:nvSpPr>
          <p:cNvPr id="33" name="R1 num"/>
          <p:cNvSpPr/>
          <p:nvPr/>
        </p:nvSpPr>
        <p:spPr>
          <a:xfrm>
            <a:off x="686714" y="297362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4590288" cy="1737360"/>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is the event?</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a.</a:t>
            </a:r>
            <a:r>
              <a:rPr lang="en-US" sz="1800" dirty="0">
                <a:solidFill>
                  <a:srgbClr val="1B2236"/>
                </a:solidFill>
                <a:latin typeface="Lexend Deca" pitchFamily="34" charset="0"/>
                <a:ea typeface="Lexend Deca" pitchFamily="34" charset="-122"/>
                <a:cs typeface="Lexend Deca" pitchFamily="34" charset="-120"/>
              </a:rPr>
              <a:t> a birthday party</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b.</a:t>
            </a:r>
            <a:r>
              <a:rPr lang="en-US" sz="1800" dirty="0">
                <a:solidFill>
                  <a:srgbClr val="1B2236"/>
                </a:solidFill>
                <a:latin typeface="Lexend Deca" pitchFamily="34" charset="0"/>
                <a:ea typeface="Lexend Deca" pitchFamily="34" charset="-122"/>
                <a:cs typeface="Lexend Deca" pitchFamily="34" charset="-120"/>
              </a:rPr>
              <a:t> a family night at a school</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c.</a:t>
            </a:r>
            <a:r>
              <a:rPr lang="en-US" sz="1800" dirty="0">
                <a:solidFill>
                  <a:srgbClr val="1B2236"/>
                </a:solidFill>
                <a:latin typeface="Lexend Deca" pitchFamily="34" charset="0"/>
                <a:ea typeface="Lexend Deca" pitchFamily="34" charset="-122"/>
                <a:cs typeface="Lexend Deca" pitchFamily="34" charset="-120"/>
              </a:rPr>
              <a:t> a park cleanup</a:t>
            </a:r>
            <a:endParaRPr lang="en-US" sz="1800" dirty="0"/>
          </a:p>
        </p:txBody>
      </p:sp>
      <p:sp>
        <p:nvSpPr>
          <p:cNvPr id="35" name="R1 ans"/>
          <p:cNvSpPr/>
          <p:nvPr/>
        </p:nvSpPr>
        <p:spPr>
          <a:xfrm>
            <a:off x="6473952" y="3037637"/>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 Who will do it?</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D, R, S, or C.</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D = David</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R = Rosa</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 = David's sister</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 = Carmen</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One job has </a:t>
            </a:r>
            <a:r>
              <a:rPr lang="en-US" sz="2000" dirty="0" b="1">
                <a:solidFill>
                  <a:srgbClr val="5B3FC4"/>
                </a:solidFill>
                <a:latin typeface="Lexend Deca" pitchFamily="34" charset="0"/>
                <a:ea typeface="Lexend Deca" pitchFamily="34" charset="-122"/>
                <a:cs typeface="Lexend Deca" pitchFamily="34" charset="-120"/>
              </a:rPr>
              <a:t>two letters.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set up the tables and chairs</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bring pizza</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R</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bring drinks</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make a flyer</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call back tonight</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clean up after the event</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 and 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'll or going to.</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No problem. I____ set them up.</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Rosa is ____ bring pizza.</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OK, I____ bring the drinks.</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I'm ____ be very busy at work this week.</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I____ ask her and call you back tonight.</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I'm ____ clean up after the event.</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I'll, won't, want</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each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I will = </a:t>
            </a:r>
            <a:r>
              <a:rPr lang="en-US" sz="2000" dirty="0" b="1">
                <a:solidFill>
                  <a:srgbClr val="5B3FC4"/>
                </a:solidFill>
                <a:latin typeface="Lexend Deca" pitchFamily="34" charset="0"/>
                <a:ea typeface="Lexend Deca" pitchFamily="34" charset="-122"/>
                <a:cs typeface="Lexend Deca" pitchFamily="34" charset="-120"/>
              </a:rPr>
              <a:t>I'll</a:t>
            </a:r>
            <a:r>
              <a:rPr lang="en-US" sz="2000" dirty="0">
                <a:solidFill>
                  <a:srgbClr val="1B2236"/>
                </a:solidFill>
                <a:latin typeface="Lexend Deca" pitchFamily="34" charset="0"/>
                <a:ea typeface="Lexend Deca" pitchFamily="34" charset="-122"/>
                <a:cs typeface="Lexend Deca" pitchFamily="34" charset="-120"/>
              </a:rPr>
              <a:t>: one short sound.</a:t>
            </a:r>
            <a:endParaRPr lang="en-US" sz="2000" dirty="0"/>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won't</a:t>
            </a:r>
            <a:r>
              <a:rPr lang="en-US" sz="2000" dirty="0" b="0">
                <a:solidFill>
                  <a:srgbClr val="1B2236"/>
                </a:solidFill>
                <a:latin typeface="Lexend Deca" pitchFamily="34" charset="0"/>
                <a:ea typeface="Lexend Deca" pitchFamily="34" charset="-122"/>
                <a:cs typeface="Lexend Deca" pitchFamily="34" charset="-120"/>
              </a:rPr>
              <a:t> sounds like don't.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777240"/>
          </a:xfrm>
          <a:prstGeom prst="round1Rect">
            <a:avLst>
              <a:gd name="adj" fmla="val 23087"/>
            </a:avLst>
          </a:prstGeom>
          <a:solidFill>
            <a:srgbClr val="FFFFFF"/>
          </a:solidFill>
          <a:ln/>
        </p:spPr>
        <p:txBody>
          <a:bodyPr/>
          <a:p/>
        </p:txBody>
      </p:sp>
      <p:sp>
        <p:nvSpPr>
          <p:cNvPr id="32" name="S1 text"/>
          <p:cNvSpPr/>
          <p:nvPr/>
        </p:nvSpPr>
        <p:spPr>
          <a:xfrm>
            <a:off x="777240" y="2715768"/>
            <a:ext cx="6355080" cy="777240"/>
          </a:xfrm>
          <a:prstGeom prst="rect">
            <a:avLst/>
          </a:prstGeom>
          <a:noFill/>
          <a:ln/>
        </p:spPr>
        <p:txBody>
          <a:bodyPr wrap="square" rtlCol="0" anchor="ctr"/>
          <a:lstStyle/>
          <a:p>
            <a:pPr algn="l" indent="0" marL="0">
              <a:buNone/>
            </a:pPr>
            <a:r>
              <a:rPr lang="en-US" sz="2400" dirty="0" b="1">
                <a:solidFill>
                  <a:srgbClr val="5B3FC4"/>
                </a:solidFill>
                <a:latin typeface="Lexend Deca" pitchFamily="34" charset="0"/>
                <a:ea typeface="Lexend Deca" pitchFamily="34" charset="-122"/>
                <a:cs typeface="Lexend Deca" pitchFamily="34" charset="-120"/>
              </a:rPr>
              <a:t>I'll</a:t>
            </a:r>
            <a:r>
              <a:rPr lang="en-US" sz="2400" dirty="0" b="1">
                <a:solidFill>
                  <a:srgbClr val="1B2236"/>
                </a:solidFill>
                <a:latin typeface="Lexend Deca" pitchFamily="34" charset="0"/>
                <a:ea typeface="Lexend Deca" pitchFamily="34" charset="-122"/>
                <a:cs typeface="Lexend Deca" pitchFamily="34" charset="-120"/>
              </a:rPr>
              <a:t>  ·  </a:t>
            </a:r>
            <a:r>
              <a:rPr lang="en-US" sz="2400" dirty="0" b="1">
                <a:solidFill>
                  <a:srgbClr val="5B3FC4"/>
                </a:solidFill>
                <a:latin typeface="Lexend Deca" pitchFamily="34" charset="0"/>
                <a:ea typeface="Lexend Deca" pitchFamily="34" charset="-122"/>
                <a:cs typeface="Lexend Deca" pitchFamily="34" charset="-120"/>
              </a:rPr>
              <a:t>you'll</a:t>
            </a:r>
            <a:r>
              <a:rPr lang="en-US" sz="2400" dirty="0" b="1">
                <a:solidFill>
                  <a:srgbClr val="1B2236"/>
                </a:solidFill>
                <a:latin typeface="Lexend Deca" pitchFamily="34" charset="0"/>
                <a:ea typeface="Lexend Deca" pitchFamily="34" charset="-122"/>
                <a:cs typeface="Lexend Deca" pitchFamily="34" charset="-120"/>
              </a:rPr>
              <a:t>  ·  </a:t>
            </a:r>
            <a:r>
              <a:rPr lang="en-US" sz="2400" dirty="0" b="1">
                <a:solidFill>
                  <a:srgbClr val="5B3FC4"/>
                </a:solidFill>
                <a:latin typeface="Lexend Deca" pitchFamily="34" charset="0"/>
                <a:ea typeface="Lexend Deca" pitchFamily="34" charset="-122"/>
                <a:cs typeface="Lexend Deca" pitchFamily="34" charset="-120"/>
              </a:rPr>
              <a:t>we'll</a:t>
            </a:r>
            <a:endParaRPr lang="en-US" sz="2400" dirty="0" b="1"/>
          </a:p>
        </p:txBody>
      </p:sp>
      <p:sp>
        <p:nvSpPr>
          <p:cNvPr id="33" name="S2 card"/>
          <p:cNvSpPr/>
          <p:nvPr/>
        </p:nvSpPr>
        <p:spPr>
          <a:xfrm>
            <a:off x="548640" y="3601822"/>
            <a:ext cx="6766560" cy="777240"/>
          </a:xfrm>
          <a:prstGeom prst="round1Rect">
            <a:avLst>
              <a:gd name="adj" fmla="val 23087"/>
            </a:avLst>
          </a:prstGeom>
          <a:solidFill>
            <a:srgbClr val="FFFFFF"/>
          </a:solidFill>
          <a:ln/>
        </p:spPr>
        <p:txBody>
          <a:bodyPr/>
          <a:p/>
        </p:txBody>
      </p:sp>
      <p:sp>
        <p:nvSpPr>
          <p:cNvPr id="34" name="S2 text"/>
          <p:cNvSpPr/>
          <p:nvPr/>
        </p:nvSpPr>
        <p:spPr>
          <a:xfrm>
            <a:off x="777240" y="3601822"/>
            <a:ext cx="6355080" cy="777240"/>
          </a:xfrm>
          <a:prstGeom prst="rect">
            <a:avLst/>
          </a:prstGeom>
          <a:noFill/>
          <a:ln/>
        </p:spPr>
        <p:txBody>
          <a:bodyPr wrap="square" rtlCol="0" anchor="ct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I </a:t>
            </a:r>
            <a:r>
              <a:rPr lang="en-US" sz="2400" dirty="0" b="1">
                <a:solidFill>
                  <a:srgbClr val="5B3FC4"/>
                </a:solidFill>
                <a:latin typeface="Lexend Deca" pitchFamily="34" charset="0"/>
                <a:ea typeface="Lexend Deca" pitchFamily="34" charset="-122"/>
                <a:cs typeface="Lexend Deca" pitchFamily="34" charset="-120"/>
              </a:rPr>
              <a:t>won't</a:t>
            </a:r>
            <a:r>
              <a:rPr lang="en-US" sz="2400" dirty="0" b="1">
                <a:solidFill>
                  <a:srgbClr val="1B2236"/>
                </a:solidFill>
                <a:latin typeface="Lexend Deca" pitchFamily="34" charset="0"/>
                <a:ea typeface="Lexend Deca" pitchFamily="34" charset="-122"/>
                <a:cs typeface="Lexend Deca" pitchFamily="34" charset="-120"/>
              </a:rPr>
              <a:t> forget. (like don't)</a:t>
            </a:r>
            <a:endParaRPr lang="en-US" sz="2400" dirty="0" b="1"/>
          </a:p>
        </p:txBody>
      </p:sp>
      <p:sp>
        <p:nvSpPr>
          <p:cNvPr id="35" name="S3 card"/>
          <p:cNvSpPr/>
          <p:nvPr/>
        </p:nvSpPr>
        <p:spPr>
          <a:xfrm>
            <a:off x="548640" y="4487875"/>
            <a:ext cx="6766560" cy="777240"/>
          </a:xfrm>
          <a:prstGeom prst="round1Rect">
            <a:avLst>
              <a:gd name="adj" fmla="val 23087"/>
            </a:avLst>
          </a:prstGeom>
          <a:solidFill>
            <a:srgbClr val="FFFFFF"/>
          </a:solidFill>
          <a:ln/>
        </p:spPr>
        <p:txBody>
          <a:bodyPr/>
          <a:p/>
        </p:txBody>
      </p:sp>
      <p:sp>
        <p:nvSpPr>
          <p:cNvPr id="36" name="S3 text"/>
          <p:cNvSpPr/>
          <p:nvPr/>
        </p:nvSpPr>
        <p:spPr>
          <a:xfrm>
            <a:off x="777240" y="4487875"/>
            <a:ext cx="6355080" cy="777240"/>
          </a:xfrm>
          <a:prstGeom prst="rect">
            <a:avLst/>
          </a:prstGeom>
          <a:noFill/>
          <a:ln/>
        </p:spPr>
        <p:txBody>
          <a:bodyPr wrap="square" rtlCol="0" anchor="ct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I </a:t>
            </a:r>
            <a:r>
              <a:rPr lang="en-US" sz="2400" dirty="0" b="1">
                <a:solidFill>
                  <a:srgbClr val="5B3FC4"/>
                </a:solidFill>
                <a:latin typeface="Lexend Deca" pitchFamily="34" charset="0"/>
                <a:ea typeface="Lexend Deca" pitchFamily="34" charset="-122"/>
                <a:cs typeface="Lexend Deca" pitchFamily="34" charset="-120"/>
              </a:rPr>
              <a:t>want</a:t>
            </a:r>
            <a:r>
              <a:rPr lang="en-US" sz="2400" dirty="0" b="1">
                <a:solidFill>
                  <a:srgbClr val="1B2236"/>
                </a:solidFill>
                <a:latin typeface="Lexend Deca" pitchFamily="34" charset="0"/>
                <a:ea typeface="Lexend Deca" pitchFamily="34" charset="-122"/>
                <a:cs typeface="Lexend Deca" pitchFamily="34" charset="-120"/>
              </a:rPr>
              <a:t> pizza.</a:t>
            </a:r>
            <a:endParaRPr lang="en-US" sz="2400" dirty="0" b="1"/>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arry: a person carrying a box"/>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Offers with I'll</a:t>
            </a:r>
            <a:endParaRPr lang="en-US" sz="2600" dirty="0" b="1"/>
          </a:p>
        </p:txBody>
      </p:sp>
      <p:sp>
        <p:nvSpPr>
          <p:cNvPr id="8" name="Q head"/>
          <p:cNvSpPr/>
          <p:nvPr/>
        </p:nvSpPr>
        <p:spPr>
          <a:xfrm>
            <a:off x="5166360" y="1828800"/>
            <a:ext cx="31089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PROBLEM</a:t>
            </a:r>
            <a:endParaRPr lang="en-US" sz="2000" dirty="0" b="1"/>
          </a:p>
        </p:txBody>
      </p:sp>
      <p:sp>
        <p:nvSpPr>
          <p:cNvPr id="11" name="A head"/>
          <p:cNvSpPr/>
          <p:nvPr/>
        </p:nvSpPr>
        <p:spPr>
          <a:xfrm>
            <a:off x="8321040" y="1828800"/>
            <a:ext cx="36118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OFFER (I'll = I will)</a:t>
            </a:r>
            <a:endParaRPr lang="en-US" sz="2000" dirty="0" b="1"/>
          </a:p>
        </p:txBody>
      </p:sp>
      <p:sp>
        <p:nvSpPr>
          <p:cNvPr id="18" name="Question 1"/>
          <p:cNvSpPr/>
          <p:nvPr/>
        </p:nvSpPr>
        <p:spPr>
          <a:xfrm>
            <a:off x="5138928" y="2286000"/>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 phone's ringing.</a:t>
            </a:r>
            <a:endParaRPr lang="en-US" sz="1800" dirty="0" b="1"/>
          </a:p>
        </p:txBody>
      </p:sp>
      <p:sp>
        <p:nvSpPr>
          <p:cNvPr id="19" name="Answer bg 1"/>
          <p:cNvSpPr/>
          <p:nvPr/>
        </p:nvSpPr>
        <p:spPr>
          <a:xfrm>
            <a:off x="8321040" y="2286000"/>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321040" y="2286000"/>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get it. / answer it.</a:t>
            </a:r>
            <a:endParaRPr lang="en-US" sz="1800" dirty="0" b="0"/>
          </a:p>
        </p:txBody>
      </p:sp>
      <p:sp>
        <p:nvSpPr>
          <p:cNvPr id="21" name="Question 2"/>
          <p:cNvSpPr/>
          <p:nvPr/>
        </p:nvSpPr>
        <p:spPr>
          <a:xfrm>
            <a:off x="5138928" y="3145536"/>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These boxes are heavy.</a:t>
            </a:r>
            <a:endParaRPr lang="en-US" sz="1800" dirty="0" b="1"/>
          </a:p>
        </p:txBody>
      </p:sp>
      <p:sp>
        <p:nvSpPr>
          <p:cNvPr id="22" name="Answer bg 2"/>
          <p:cNvSpPr/>
          <p:nvPr/>
        </p:nvSpPr>
        <p:spPr>
          <a:xfrm>
            <a:off x="8321040" y="3145536"/>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321040" y="3145536"/>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carry them. / help you.</a:t>
            </a:r>
            <a:endParaRPr lang="en-US" sz="1800" dirty="0" b="0"/>
          </a:p>
        </p:txBody>
      </p:sp>
      <p:sp>
        <p:nvSpPr>
          <p:cNvPr id="24" name="Question 3"/>
          <p:cNvSpPr/>
          <p:nvPr/>
        </p:nvSpPr>
        <p:spPr>
          <a:xfrm>
            <a:off x="5138928" y="4005072"/>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We need chairs for the party.</a:t>
            </a:r>
            <a:endParaRPr lang="en-US" sz="1800" dirty="0" b="1"/>
          </a:p>
        </p:txBody>
      </p:sp>
      <p:sp>
        <p:nvSpPr>
          <p:cNvPr id="25" name="Answer bg 3"/>
          <p:cNvSpPr/>
          <p:nvPr/>
        </p:nvSpPr>
        <p:spPr>
          <a:xfrm>
            <a:off x="8321040" y="4005072"/>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8321040" y="4005072"/>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bring them. / set them up.</a:t>
            </a:r>
            <a:endParaRPr lang="en-US" sz="1800" dirty="0" b="0"/>
          </a:p>
        </p:txBody>
      </p:sp>
      <p:sp>
        <p:nvSpPr>
          <p:cNvPr id="27" name="Question 4"/>
          <p:cNvSpPr/>
          <p:nvPr/>
        </p:nvSpPr>
        <p:spPr>
          <a:xfrm>
            <a:off x="5138928" y="4864608"/>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don't have a ride.</a:t>
            </a:r>
            <a:endParaRPr lang="en-US" sz="1800" dirty="0" b="1"/>
          </a:p>
        </p:txBody>
      </p:sp>
      <p:sp>
        <p:nvSpPr>
          <p:cNvPr id="28" name="Answer bg 4"/>
          <p:cNvSpPr/>
          <p:nvPr/>
        </p:nvSpPr>
        <p:spPr>
          <a:xfrm>
            <a:off x="8321040" y="4864608"/>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8321040" y="4864608"/>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give you a ride. / pick you up.</a:t>
            </a:r>
            <a:endParaRPr lang="en-US" sz="1800" dirty="0" b="0"/>
          </a:p>
        </p:txBody>
      </p:sp>
      <p:sp>
        <p:nvSpPr>
          <p:cNvPr id="30" name="Question 5"/>
          <p:cNvSpPr/>
          <p:nvPr/>
        </p:nvSpPr>
        <p:spPr>
          <a:xfrm>
            <a:off x="5138928" y="5724144"/>
            <a:ext cx="310896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forgot my pen.</a:t>
            </a:r>
            <a:endParaRPr lang="en-US" sz="1800" dirty="0" b="1"/>
          </a:p>
        </p:txBody>
      </p:sp>
      <p:sp>
        <p:nvSpPr>
          <p:cNvPr id="31" name="Answer bg 5"/>
          <p:cNvSpPr/>
          <p:nvPr/>
        </p:nvSpPr>
        <p:spPr>
          <a:xfrm>
            <a:off x="8321040" y="5724144"/>
            <a:ext cx="3611880" cy="786384"/>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8321040" y="5724144"/>
            <a:ext cx="3611880" cy="786384"/>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I'll</a:t>
            </a:r>
            <a:r>
              <a:rPr lang="en-US" sz="1800" dirty="0" b="0">
                <a:solidFill>
                  <a:srgbClr val="1B2236"/>
                </a:solidFill>
                <a:latin typeface="Lexend Deca" pitchFamily="34" charset="0"/>
                <a:ea typeface="Lexend Deca" pitchFamily="34" charset="-122"/>
                <a:cs typeface="Lexend Deca" pitchFamily="34" charset="-120"/>
              </a:rPr>
              <a:t> lend you one. / lend you mine.</a:t>
            </a:r>
            <a:endParaRPr lang="en-US" sz="18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Promise: a handshake; bubble &quot;I promise.&quo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  ·  promises</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Will you…?</a:t>
            </a:r>
            <a:endParaRPr lang="en-US" sz="2600" dirty="0" b="1"/>
          </a:p>
        </p:txBody>
      </p:sp>
      <p:sp>
        <p:nvSpPr>
          <p:cNvPr id="8" name="Q head"/>
          <p:cNvSpPr/>
          <p:nvPr/>
        </p:nvSpPr>
        <p:spPr>
          <a:xfrm>
            <a:off x="5166360" y="1828800"/>
            <a:ext cx="34747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8686800" y="1828800"/>
            <a:ext cx="32461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3474720" cy="111556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Will</a:t>
            </a:r>
            <a:r>
              <a:rPr lang="en-US" sz="1900" dirty="0" b="1">
                <a:solidFill>
                  <a:srgbClr val="1B2236"/>
                </a:solidFill>
                <a:latin typeface="Lexend Deca" pitchFamily="34" charset="0"/>
                <a:ea typeface="Lexend Deca" pitchFamily="34" charset="-122"/>
                <a:cs typeface="Lexend Deca" pitchFamily="34" charset="-120"/>
              </a:rPr>
              <a:t> you call me tonight? / be there at five?</a:t>
            </a:r>
            <a:endParaRPr lang="en-US" sz="1900" dirty="0" b="1"/>
          </a:p>
        </p:txBody>
      </p:sp>
      <p:sp>
        <p:nvSpPr>
          <p:cNvPr id="19" name="Answer bg 1"/>
          <p:cNvSpPr/>
          <p:nvPr/>
        </p:nvSpPr>
        <p:spPr>
          <a:xfrm>
            <a:off x="8686800" y="2286000"/>
            <a:ext cx="324612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686800" y="2286000"/>
            <a:ext cx="3246120" cy="1115568"/>
          </a:xfrm>
          <a:prstGeom prst="rect">
            <a:avLst/>
          </a:prstGeom>
          <a:noFill/>
          <a:ln w="38100">
            <a:noFill/>
          </a:ln>
        </p:spPr>
        <p:txBody>
          <a:bodyPr wrap="square" lIns="73152" tIns="36576" rIns="73152" bIns="36576" rtlCol="0" anchor="ctr">
            <a:noAutofit/>
          </a:bodyPr>
          <a:lstStyle/>
          <a:p>
            <a:pPr algn="l" indent="0" marL="0">
              <a:buNone/>
            </a:pPr>
            <a:r>
              <a:rPr lang="en-US" sz="1900" dirty="0" b="0">
                <a:solidFill>
                  <a:srgbClr val="1B2236"/>
                </a:solidFill>
                <a:latin typeface="Lexend Deca" pitchFamily="34" charset="0"/>
                <a:ea typeface="Lexend Deca" pitchFamily="34" charset="-122"/>
                <a:cs typeface="Lexend Deca" pitchFamily="34" charset="-120"/>
              </a:rPr>
              <a:t>Yes, I </a:t>
            </a:r>
            <a:r>
              <a:rPr lang="en-US" sz="1900" dirty="0" b="1">
                <a:solidFill>
                  <a:srgbClr val="1B2236"/>
                </a:solidFill>
                <a:latin typeface="Lexend Deca" pitchFamily="34" charset="0"/>
                <a:ea typeface="Lexend Deca" pitchFamily="34" charset="-122"/>
                <a:cs typeface="Lexend Deca" pitchFamily="34" charset="-120"/>
              </a:rPr>
              <a:t>will</a:t>
            </a:r>
            <a:r>
              <a:rPr lang="en-US" sz="1900" dirty="0" b="0">
                <a:solidFill>
                  <a:srgbClr val="1B2236"/>
                </a:solidFill>
                <a:latin typeface="Lexend Deca" pitchFamily="34" charset="0"/>
                <a:ea typeface="Lexend Deca" pitchFamily="34" charset="-122"/>
                <a:cs typeface="Lexend Deca" pitchFamily="34" charset="-120"/>
              </a:rPr>
              <a:t>. I promise.</a:t>
            </a:r>
            <a:endParaRPr lang="en-US" sz="1900" dirty="0" b="0"/>
          </a:p>
          <a:p>
            <a:pPr algn="l" indent="0" marL="0">
              <a:buNone/>
            </a:pPr>
            <a:r>
              <a:rPr lang="en-US" sz="1900" dirty="0" b="0">
                <a:solidFill>
                  <a:srgbClr val="1B2236"/>
                </a:solidFill>
                <a:latin typeface="Lexend Deca" pitchFamily="34" charset="0"/>
                <a:ea typeface="Lexend Deca" pitchFamily="34" charset="-122"/>
                <a:cs typeface="Lexend Deca" pitchFamily="34" charset="-120"/>
              </a:rPr>
              <a:t>No, I </a:t>
            </a:r>
            <a:r>
              <a:rPr lang="en-US" sz="1900" dirty="0" b="1">
                <a:solidFill>
                  <a:srgbClr val="1B2236"/>
                </a:solidFill>
                <a:latin typeface="Lexend Deca" pitchFamily="34" charset="0"/>
                <a:ea typeface="Lexend Deca" pitchFamily="34" charset="-122"/>
                <a:cs typeface="Lexend Deca" pitchFamily="34" charset="-120"/>
              </a:rPr>
              <a:t>won't</a:t>
            </a:r>
            <a:r>
              <a:rPr lang="en-US" sz="1900" dirty="0" b="0">
                <a:solidFill>
                  <a:srgbClr val="1B2236"/>
                </a:solidFill>
                <a:latin typeface="Lexend Deca" pitchFamily="34" charset="0"/>
                <a:ea typeface="Lexend Deca" pitchFamily="34" charset="-122"/>
                <a:cs typeface="Lexend Deca" pitchFamily="34" charset="-120"/>
              </a:rPr>
              <a:t>. Sorry, I'm busy.</a:t>
            </a:r>
            <a:endParaRPr lang="en-US" sz="1900" dirty="0" b="0"/>
          </a:p>
        </p:txBody>
      </p:sp>
      <p:sp>
        <p:nvSpPr>
          <p:cNvPr id="21" name="Question 2"/>
          <p:cNvSpPr/>
          <p:nvPr/>
        </p:nvSpPr>
        <p:spPr>
          <a:xfrm>
            <a:off x="5138928" y="3474720"/>
            <a:ext cx="3474720" cy="111556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Will</a:t>
            </a:r>
            <a:r>
              <a:rPr lang="en-US" sz="1900" dirty="0" b="1">
                <a:solidFill>
                  <a:srgbClr val="1B2236"/>
                </a:solidFill>
                <a:latin typeface="Lexend Deca" pitchFamily="34" charset="0"/>
                <a:ea typeface="Lexend Deca" pitchFamily="34" charset="-122"/>
                <a:cs typeface="Lexend Deca" pitchFamily="34" charset="-120"/>
              </a:rPr>
              <a:t> you remember? / be late?</a:t>
            </a:r>
            <a:endParaRPr lang="en-US" sz="1900" dirty="0" b="1"/>
          </a:p>
        </p:txBody>
      </p:sp>
      <p:sp>
        <p:nvSpPr>
          <p:cNvPr id="22" name="Answer bg 2"/>
          <p:cNvSpPr/>
          <p:nvPr/>
        </p:nvSpPr>
        <p:spPr>
          <a:xfrm>
            <a:off x="8686800" y="3474720"/>
            <a:ext cx="324612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686800" y="3474720"/>
            <a:ext cx="3246120" cy="1115568"/>
          </a:xfrm>
          <a:prstGeom prst="rect">
            <a:avLst/>
          </a:prstGeom>
          <a:noFill/>
          <a:ln w="38100">
            <a:noFill/>
          </a:ln>
        </p:spPr>
        <p:txBody>
          <a:bodyPr wrap="square" lIns="73152" tIns="36576" rIns="73152" bIns="36576" rtlCol="0" anchor="ctr">
            <a:noAutofit/>
          </a:bodyPr>
          <a:lstStyle/>
          <a:p>
            <a:pPr algn="l" indent="0" marL="0">
              <a:buNone/>
            </a:pPr>
            <a:r>
              <a:rPr lang="en-US" sz="1900" dirty="0" b="0">
                <a:solidFill>
                  <a:srgbClr val="1B2236"/>
                </a:solidFill>
                <a:latin typeface="Lexend Deca" pitchFamily="34" charset="0"/>
                <a:ea typeface="Lexend Deca" pitchFamily="34" charset="-122"/>
                <a:cs typeface="Lexend Deca" pitchFamily="34" charset="-120"/>
              </a:rPr>
              <a:t>Don't worry. I </a:t>
            </a:r>
            <a:r>
              <a:rPr lang="en-US" sz="1900" dirty="0" b="1">
                <a:solidFill>
                  <a:srgbClr val="1B2236"/>
                </a:solidFill>
                <a:latin typeface="Lexend Deca" pitchFamily="34" charset="0"/>
                <a:ea typeface="Lexend Deca" pitchFamily="34" charset="-122"/>
                <a:cs typeface="Lexend Deca" pitchFamily="34" charset="-120"/>
              </a:rPr>
              <a:t>won't</a:t>
            </a:r>
            <a:r>
              <a:rPr lang="en-US" sz="1900" dirty="0" b="0">
                <a:solidFill>
                  <a:srgbClr val="1B2236"/>
                </a:solidFill>
                <a:latin typeface="Lexend Deca" pitchFamily="34" charset="0"/>
                <a:ea typeface="Lexend Deca" pitchFamily="34" charset="-122"/>
                <a:cs typeface="Lexend Deca" pitchFamily="34" charset="-120"/>
              </a:rPr>
              <a:t> forget. / I </a:t>
            </a:r>
            <a:r>
              <a:rPr lang="en-US" sz="1900" dirty="0" b="1">
                <a:solidFill>
                  <a:srgbClr val="1B2236"/>
                </a:solidFill>
                <a:latin typeface="Lexend Deca" pitchFamily="34" charset="0"/>
                <a:ea typeface="Lexend Deca" pitchFamily="34" charset="-122"/>
                <a:cs typeface="Lexend Deca" pitchFamily="34" charset="-120"/>
              </a:rPr>
              <a:t>won't</a:t>
            </a:r>
            <a:r>
              <a:rPr lang="en-US" sz="1900" dirty="0" b="0">
                <a:solidFill>
                  <a:srgbClr val="1B2236"/>
                </a:solidFill>
                <a:latin typeface="Lexend Deca" pitchFamily="34" charset="0"/>
                <a:ea typeface="Lexend Deca" pitchFamily="34" charset="-122"/>
                <a:cs typeface="Lexend Deca" pitchFamily="34" charset="-120"/>
              </a:rPr>
              <a:t> be late.</a:t>
            </a:r>
            <a:endParaRPr lang="en-US" sz="19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Offer: a woman raising her hand, a man with a box; bubble &quot;I'll help!&quot;"/>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buNone/>
            </a:pPr>
            <a:r>
              <a:rPr lang="en-US" sz="2800" dirty="0" b="1">
                <a:solidFill>
                  <a:srgbClr val="1B2236"/>
                </a:solidFill>
                <a:latin typeface="Lexend Deca" pitchFamily="34" charset="0"/>
                <a:ea typeface="Lexend Deca" pitchFamily="34" charset="-122"/>
                <a:cs typeface="Lexend Deca" pitchFamily="34" charset="-120"/>
              </a:rPr>
              <a:t>Other Ways to Offer</a:t>
            </a:r>
            <a:endParaRPr lang="en-US" sz="28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understand and answer</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OFFER</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293108"/>
            <a:ext cx="17373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737360" cy="1179576"/>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 you want me to</a:t>
            </a:r>
            <a:endParaRPr lang="en-US" sz="2000" dirty="0" b="1"/>
          </a:p>
        </p:txBody>
      </p:sp>
      <p:sp>
        <p:nvSpPr>
          <p:cNvPr id="23" name="Question 1"/>
          <p:cNvSpPr/>
          <p:nvPr/>
        </p:nvSpPr>
        <p:spPr>
          <a:xfrm>
            <a:off x="3310128" y="3977640"/>
            <a:ext cx="2697480" cy="1179576"/>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carry that? / open the door?</a:t>
            </a:r>
            <a:endParaRPr lang="en-US" sz="2000" dirty="0"/>
          </a:p>
        </p:txBody>
      </p:sp>
      <p:sp>
        <p:nvSpPr>
          <p:cNvPr id="24" name="Answer bg 1"/>
          <p:cNvSpPr/>
          <p:nvPr/>
        </p:nvSpPr>
        <p:spPr>
          <a:xfrm>
            <a:off x="6949440" y="3977640"/>
            <a:ext cx="4526280" cy="1179576"/>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1179576"/>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please. Thanks!</a:t>
            </a:r>
            <a:endParaRPr lang="en-US" sz="1900" dirty="0" b="1"/>
          </a:p>
          <a:p>
            <a:pPr algn="l" indent="0" marL="0">
              <a:buNone/>
            </a:pPr>
            <a:r>
              <a:rPr lang="en-US" sz="1900" dirty="0" b="1">
                <a:solidFill>
                  <a:srgbClr val="1B2236"/>
                </a:solidFill>
                <a:latin typeface="Lexend Deca" pitchFamily="34" charset="0"/>
                <a:ea typeface="Lexend Deca" pitchFamily="34" charset="-122"/>
                <a:cs typeface="Lexend Deca" pitchFamily="34" charset="-120"/>
              </a:rPr>
              <a:t>No, thanks. I'm OK.</a:t>
            </a:r>
            <a:endParaRPr lang="en-US" sz="1900" dirty="0" b="1"/>
          </a:p>
        </p:txBody>
      </p:sp>
      <p:sp>
        <p:nvSpPr>
          <p:cNvPr id="26" name="Highlight 2"/>
          <p:cNvSpPr/>
          <p:nvPr/>
        </p:nvSpPr>
        <p:spPr>
          <a:xfrm>
            <a:off x="1481328" y="5518404"/>
            <a:ext cx="17373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02936"/>
            <a:ext cx="1737360" cy="1179576"/>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Shall I</a:t>
            </a:r>
            <a:endParaRPr lang="en-US" sz="2200" dirty="0" b="1"/>
          </a:p>
        </p:txBody>
      </p:sp>
      <p:sp>
        <p:nvSpPr>
          <p:cNvPr id="28" name="Question 2"/>
          <p:cNvSpPr/>
          <p:nvPr/>
        </p:nvSpPr>
        <p:spPr>
          <a:xfrm>
            <a:off x="3310128" y="5202936"/>
            <a:ext cx="2697480" cy="1179576"/>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call a taxi? / close the window?</a:t>
            </a:r>
            <a:endParaRPr lang="en-US" sz="2000" dirty="0"/>
          </a:p>
        </p:txBody>
      </p:sp>
      <p:sp>
        <p:nvSpPr>
          <p:cNvPr id="29" name="Answer bg 2"/>
          <p:cNvSpPr/>
          <p:nvPr/>
        </p:nvSpPr>
        <p:spPr>
          <a:xfrm>
            <a:off x="6949440" y="5202936"/>
            <a:ext cx="4526280" cy="1179576"/>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5202936"/>
            <a:ext cx="4526280" cy="1179576"/>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please. That's very kind.</a:t>
            </a:r>
            <a:endParaRPr lang="en-US" sz="1900" dirty="0" b="1"/>
          </a:p>
          <a:p>
            <a:pPr algn="l" indent="0" marL="0">
              <a:buNone/>
            </a:pPr>
            <a:r>
              <a:rPr lang="en-US" sz="1900" dirty="0" b="1">
                <a:solidFill>
                  <a:srgbClr val="1B2236"/>
                </a:solidFill>
                <a:latin typeface="Lexend Deca" pitchFamily="34" charset="0"/>
                <a:ea typeface="Lexend Deca" pitchFamily="34" charset="-122"/>
                <a:cs typeface="Lexend Deca" pitchFamily="34" charset="-120"/>
              </a:rPr>
              <a:t>No, thanks.</a:t>
            </a:r>
            <a:endParaRPr lang="en-US" sz="19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School event: a school, balloons, a family, pizza"/>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buNone/>
            </a:pPr>
            <a:r>
              <a:rPr lang="en-US" sz="2800" dirty="0" b="1">
                <a:solidFill>
                  <a:srgbClr val="1B2236"/>
                </a:solidFill>
                <a:latin typeface="Lexend Deca" pitchFamily="34" charset="0"/>
                <a:ea typeface="Lexend Deca" pitchFamily="34" charset="-122"/>
                <a:cs typeface="Lexend Deca" pitchFamily="34" charset="-120"/>
              </a:rPr>
              <a:t>will or going to?</a:t>
            </a:r>
            <a:endParaRPr lang="en-US" sz="28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decided now  ·  planned before</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481328" y="3429000"/>
            <a:ext cx="4480560" cy="45720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will: I decide NOW</a:t>
            </a:r>
            <a:endParaRPr lang="en-US" sz="1600" dirty="0" b="1"/>
          </a:p>
        </p:txBody>
      </p:sp>
      <p:sp>
        <p:nvSpPr>
          <p:cNvPr id="20" name="A head"/>
          <p:cNvSpPr/>
          <p:nvPr/>
        </p:nvSpPr>
        <p:spPr>
          <a:xfrm>
            <a:off x="6949440" y="3429000"/>
            <a:ext cx="4480560" cy="45720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going to: I PLANNED IT BEFORE</a:t>
            </a:r>
            <a:endParaRPr lang="en-US" sz="1600" dirty="0" b="1"/>
          </a:p>
        </p:txBody>
      </p:sp>
      <p:sp>
        <p:nvSpPr>
          <p:cNvPr id="21" name="Question 1"/>
          <p:cNvSpPr/>
          <p:nvPr/>
        </p:nvSpPr>
        <p:spPr>
          <a:xfrm>
            <a:off x="1481328"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 We need drinks.</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B: OK, </a:t>
            </a:r>
            <a:r>
              <a:rPr lang="en-US" sz="1600" dirty="0" b="1">
                <a:solidFill>
                  <a:srgbClr val="1B2236"/>
                </a:solidFill>
                <a:latin typeface="Lexend Deca" pitchFamily="34" charset="0"/>
                <a:ea typeface="Lexend Deca" pitchFamily="34" charset="-122"/>
                <a:cs typeface="Lexend Deca" pitchFamily="34" charset="-120"/>
              </a:rPr>
              <a:t>I'll bring</a:t>
            </a:r>
            <a:r>
              <a:rPr lang="en-US" sz="1600" dirty="0">
                <a:solidFill>
                  <a:srgbClr val="1B2236"/>
                </a:solidFill>
                <a:latin typeface="Lexend Deca" pitchFamily="34" charset="0"/>
                <a:ea typeface="Lexend Deca" pitchFamily="34" charset="-122"/>
                <a:cs typeface="Lexend Deca" pitchFamily="34" charset="-120"/>
              </a:rPr>
              <a:t> juice.</a:t>
            </a:r>
            <a:endParaRPr lang="en-US" sz="1600" dirty="0"/>
          </a:p>
        </p:txBody>
      </p:sp>
      <p:sp>
        <p:nvSpPr>
          <p:cNvPr id="22" name="Answer bg 1"/>
          <p:cNvSpPr/>
          <p:nvPr/>
        </p:nvSpPr>
        <p:spPr>
          <a:xfrm>
            <a:off x="6949440" y="397764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1"/>
          <p:cNvSpPr/>
          <p:nvPr/>
        </p:nvSpPr>
        <p:spPr>
          <a:xfrm>
            <a:off x="6949440"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I'm going to bake</a:t>
            </a:r>
            <a:r>
              <a:rPr lang="en-US" sz="1600" dirty="0" b="1">
                <a:solidFill>
                  <a:srgbClr val="1B2236"/>
                </a:solidFill>
                <a:latin typeface="Lexend Deca" pitchFamily="34" charset="0"/>
                <a:ea typeface="Lexend Deca" pitchFamily="34" charset="-122"/>
                <a:cs typeface="Lexend Deca" pitchFamily="34" charset="-120"/>
              </a:rPr>
              <a:t> a cake. (I bought eggs yesterday.)</a:t>
            </a:r>
            <a:endParaRPr lang="en-US" sz="1600" dirty="0" b="1"/>
          </a:p>
        </p:txBody>
      </p:sp>
      <p:sp>
        <p:nvSpPr>
          <p:cNvPr id="24" name="Question 2"/>
          <p:cNvSpPr/>
          <p:nvPr/>
        </p:nvSpPr>
        <p:spPr>
          <a:xfrm>
            <a:off x="1481328"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 The phone's ringing.</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B: </a:t>
            </a:r>
            <a:r>
              <a:rPr lang="en-US" sz="1600" dirty="0" b="1">
                <a:solidFill>
                  <a:srgbClr val="1B2236"/>
                </a:solidFill>
                <a:latin typeface="Lexend Deca" pitchFamily="34" charset="0"/>
                <a:ea typeface="Lexend Deca" pitchFamily="34" charset="-122"/>
                <a:cs typeface="Lexend Deca" pitchFamily="34" charset="-120"/>
              </a:rPr>
              <a:t>I'll get</a:t>
            </a:r>
            <a:r>
              <a:rPr lang="en-US" sz="1600" dirty="0">
                <a:solidFill>
                  <a:srgbClr val="1B2236"/>
                </a:solidFill>
                <a:latin typeface="Lexend Deca" pitchFamily="34" charset="0"/>
                <a:ea typeface="Lexend Deca" pitchFamily="34" charset="-122"/>
                <a:cs typeface="Lexend Deca" pitchFamily="34" charset="-120"/>
              </a:rPr>
              <a:t> it.</a:t>
            </a:r>
            <a:endParaRPr lang="en-US" sz="1600" dirty="0"/>
          </a:p>
        </p:txBody>
      </p:sp>
      <p:sp>
        <p:nvSpPr>
          <p:cNvPr id="25" name="Answer bg 2"/>
          <p:cNvSpPr/>
          <p:nvPr/>
        </p:nvSpPr>
        <p:spPr>
          <a:xfrm>
            <a:off x="6949440" y="475488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6949440"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We're going to visit</a:t>
            </a:r>
            <a:r>
              <a:rPr lang="en-US" sz="1600" dirty="0" b="1">
                <a:solidFill>
                  <a:srgbClr val="1B2236"/>
                </a:solidFill>
                <a:latin typeface="Lexend Deca" pitchFamily="34" charset="0"/>
                <a:ea typeface="Lexend Deca" pitchFamily="34" charset="-122"/>
                <a:cs typeface="Lexend Deca" pitchFamily="34" charset="-120"/>
              </a:rPr>
              <a:t> my mother. (We bought tickets.)</a:t>
            </a:r>
            <a:endParaRPr lang="en-US" sz="1600" dirty="0" b="1"/>
          </a:p>
        </p:txBody>
      </p:sp>
      <p:sp>
        <p:nvSpPr>
          <p:cNvPr id="27" name="Question 3"/>
          <p:cNvSpPr/>
          <p:nvPr/>
        </p:nvSpPr>
        <p:spPr>
          <a:xfrm>
            <a:off x="1481328"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 It's cold in here.</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B: </a:t>
            </a:r>
            <a:r>
              <a:rPr lang="en-US" sz="1600" dirty="0" b="1">
                <a:solidFill>
                  <a:srgbClr val="1B2236"/>
                </a:solidFill>
                <a:latin typeface="Lexend Deca" pitchFamily="34" charset="0"/>
                <a:ea typeface="Lexend Deca" pitchFamily="34" charset="-122"/>
                <a:cs typeface="Lexend Deca" pitchFamily="34" charset="-120"/>
              </a:rPr>
              <a:t>I'll close</a:t>
            </a:r>
            <a:r>
              <a:rPr lang="en-US" sz="1600" dirty="0">
                <a:solidFill>
                  <a:srgbClr val="1B2236"/>
                </a:solidFill>
                <a:latin typeface="Lexend Deca" pitchFamily="34" charset="0"/>
                <a:ea typeface="Lexend Deca" pitchFamily="34" charset="-122"/>
                <a:cs typeface="Lexend Deca" pitchFamily="34" charset="-120"/>
              </a:rPr>
              <a:t> the window.</a:t>
            </a:r>
            <a:endParaRPr lang="en-US" sz="1600" dirty="0"/>
          </a:p>
        </p:txBody>
      </p:sp>
      <p:sp>
        <p:nvSpPr>
          <p:cNvPr id="28" name="Answer bg 3"/>
          <p:cNvSpPr/>
          <p:nvPr/>
        </p:nvSpPr>
        <p:spPr>
          <a:xfrm>
            <a:off x="6949440" y="553212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3"/>
          <p:cNvSpPr/>
          <p:nvPr/>
        </p:nvSpPr>
        <p:spPr>
          <a:xfrm>
            <a:off x="6949440"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She's going to work</a:t>
            </a:r>
            <a:r>
              <a:rPr lang="en-US" sz="1600" dirty="0" b="1">
                <a:solidFill>
                  <a:srgbClr val="1B2236"/>
                </a:solidFill>
                <a:latin typeface="Lexend Deca" pitchFamily="34" charset="0"/>
                <a:ea typeface="Lexend Deca" pitchFamily="34" charset="-122"/>
                <a:cs typeface="Lexend Deca" pitchFamily="34" charset="-120"/>
              </a:rPr>
              <a:t> on Saturday. (It's on her schedule.)</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4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 write the words.</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'll  ·  won't  ·  Will</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Write 'll, won't, or Will.</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 It's cold in here. B: I____ close the window.</a:t>
            </a:r>
            <a:endParaRPr lang="en-US" sz="1800" dirty="0"/>
          </a:p>
        </p:txBody>
      </p:sp>
      <p:sp>
        <p:nvSpPr>
          <p:cNvPr id="35" name="R1 ans"/>
          <p:cNvSpPr/>
          <p:nvPr/>
        </p:nvSpPr>
        <p:spPr>
          <a:xfrm>
            <a:off x="6291072" y="2222144"/>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Don't worry, I ____ forget.</a:t>
            </a:r>
            <a:endParaRPr lang="en-US" sz="1800" dirty="0"/>
          </a:p>
        </p:txBody>
      </p:sp>
      <p:sp>
        <p:nvSpPr>
          <p:cNvPr id="40" name="R2 ans"/>
          <p:cNvSpPr/>
          <p:nvPr/>
        </p:nvSpPr>
        <p:spPr>
          <a:xfrm>
            <a:off x="6291072" y="2950312"/>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won't</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 I don't have a pen. B: I____ lend you one.</a:t>
            </a:r>
            <a:endParaRPr lang="en-US" sz="1800" dirty="0"/>
          </a:p>
        </p:txBody>
      </p:sp>
      <p:sp>
        <p:nvSpPr>
          <p:cNvPr id="45" name="R3 ans"/>
          <p:cNvSpPr/>
          <p:nvPr/>
        </p:nvSpPr>
        <p:spPr>
          <a:xfrm>
            <a:off x="6291072" y="3678479"/>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promise I ____ be late.</a:t>
            </a:r>
            <a:endParaRPr lang="en-US" sz="1800" dirty="0"/>
          </a:p>
        </p:txBody>
      </p:sp>
      <p:sp>
        <p:nvSpPr>
          <p:cNvPr id="50" name="R4 ans"/>
          <p:cNvSpPr/>
          <p:nvPr/>
        </p:nvSpPr>
        <p:spPr>
          <a:xfrm>
            <a:off x="6291072" y="4406646"/>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won't</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 Can someone help me? B: I____ help you!</a:t>
            </a:r>
            <a:endParaRPr lang="en-US" sz="1800" dirty="0"/>
          </a:p>
        </p:txBody>
      </p:sp>
      <p:sp>
        <p:nvSpPr>
          <p:cNvPr id="55" name="R5 ans"/>
          <p:cNvSpPr/>
          <p:nvPr/>
        </p:nvSpPr>
        <p:spPr>
          <a:xfrm>
            <a:off x="6291072" y="5134813"/>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you call me tonight?</a:t>
            </a:r>
            <a:endParaRPr lang="en-US" sz="1800" dirty="0"/>
          </a:p>
        </p:txBody>
      </p:sp>
      <p:sp>
        <p:nvSpPr>
          <p:cNvPr id="60" name="R6 ans"/>
          <p:cNvSpPr/>
          <p:nvPr/>
        </p:nvSpPr>
        <p:spPr>
          <a:xfrm>
            <a:off x="6291072" y="5862980"/>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Will</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B</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 the right words.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Decided now: </a:t>
            </a:r>
            <a:r>
              <a:rPr lang="en-US" sz="2000" dirty="0" b="1">
                <a:solidFill>
                  <a:srgbClr val="5B3FC4"/>
                </a:solidFill>
                <a:latin typeface="Lexend Deca" pitchFamily="34" charset="0"/>
                <a:ea typeface="Lexend Deca" pitchFamily="34" charset="-122"/>
                <a:cs typeface="Lexend Deca" pitchFamily="34" charset="-120"/>
              </a:rPr>
              <a:t>will.</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Planned before: </a:t>
            </a:r>
            <a:r>
              <a:rPr lang="en-US" sz="2000" dirty="0" b="1">
                <a:solidFill>
                  <a:srgbClr val="5B3FC4"/>
                </a:solidFill>
                <a:latin typeface="Lexend Deca" pitchFamily="34" charset="0"/>
                <a:ea typeface="Lexend Deca" pitchFamily="34" charset="-122"/>
                <a:cs typeface="Lexend Deca" pitchFamily="34" charset="-120"/>
              </a:rPr>
              <a:t>going to.</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A: The phone's ringing! B: OK, (I'll get / I'm going to get) it.</a:t>
            </a:r>
            <a:endParaRPr lang="en-US" sz="1500" dirty="0"/>
          </a:p>
        </p:txBody>
      </p:sp>
      <p:sp>
        <p:nvSpPr>
          <p:cNvPr id="35" name="R1 ans"/>
          <p:cNvSpPr/>
          <p:nvPr/>
        </p:nvSpPr>
        <p:spPr>
          <a:xfrm>
            <a:off x="5468112" y="2222144"/>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I'll get</a:t>
            </a:r>
            <a:endParaRPr lang="en-US" sz="15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bought eggs and flour yesterday. I (will bake / am going to bake) a cake on Saturday.</a:t>
            </a:r>
            <a:endParaRPr lang="en-US" sz="1500" dirty="0"/>
          </a:p>
        </p:txBody>
      </p:sp>
      <p:sp>
        <p:nvSpPr>
          <p:cNvPr id="40" name="R2 ans"/>
          <p:cNvSpPr/>
          <p:nvPr/>
        </p:nvSpPr>
        <p:spPr>
          <a:xfrm>
            <a:off x="5468112" y="2950312"/>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am going to bake</a:t>
            </a:r>
            <a:endParaRPr lang="en-US" sz="15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A: We need someone to clean up. B: (I'll do / I'm going to do) it!</a:t>
            </a:r>
            <a:endParaRPr lang="en-US" sz="1500" dirty="0"/>
          </a:p>
        </p:txBody>
      </p:sp>
      <p:sp>
        <p:nvSpPr>
          <p:cNvPr id="45" name="R3 ans"/>
          <p:cNvSpPr/>
          <p:nvPr/>
        </p:nvSpPr>
        <p:spPr>
          <a:xfrm>
            <a:off x="5468112" y="3678479"/>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I'll do</a:t>
            </a:r>
            <a:endParaRPr lang="en-US" sz="15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We have tickets. We (will see / are going to see) a movie tonight.</a:t>
            </a:r>
            <a:endParaRPr lang="en-US" sz="1500" dirty="0"/>
          </a:p>
        </p:txBody>
      </p:sp>
      <p:sp>
        <p:nvSpPr>
          <p:cNvPr id="50" name="R4 ans"/>
          <p:cNvSpPr/>
          <p:nvPr/>
        </p:nvSpPr>
        <p:spPr>
          <a:xfrm>
            <a:off x="5468112" y="4406646"/>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are going to see</a:t>
            </a:r>
            <a:endParaRPr lang="en-US" sz="15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A: Oh no, I forgot my lunch. B: (I'll share / I'm going to share) mine.</a:t>
            </a:r>
            <a:endParaRPr lang="en-US" sz="1500" dirty="0"/>
          </a:p>
        </p:txBody>
      </p:sp>
      <p:sp>
        <p:nvSpPr>
          <p:cNvPr id="55" name="R5 ans"/>
          <p:cNvSpPr/>
          <p:nvPr/>
        </p:nvSpPr>
        <p:spPr>
          <a:xfrm>
            <a:off x="5468112" y="5134813"/>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I'll share</a:t>
            </a:r>
            <a:endParaRPr lang="en-US" sz="15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3584448" cy="655015"/>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She (will / is going to) visit her mother next week. She bought the bus ticket.</a:t>
            </a:r>
            <a:endParaRPr lang="en-US" sz="1500" dirty="0"/>
          </a:p>
        </p:txBody>
      </p:sp>
      <p:sp>
        <p:nvSpPr>
          <p:cNvPr id="60" name="R6 ans"/>
          <p:cNvSpPr/>
          <p:nvPr/>
        </p:nvSpPr>
        <p:spPr>
          <a:xfrm>
            <a:off x="5468112" y="5862980"/>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is going to</a:t>
            </a:r>
            <a:endParaRPr lang="en-US" sz="15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Bring: a woman with a pizza, an arrow to a school"/>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The phone's ringing. I answer it.</a:t>
            </a:r>
            <a:endParaRPr lang="en-US" sz="1700" dirty="0"/>
          </a:p>
        </p:txBody>
      </p:sp>
      <p:sp>
        <p:nvSpPr>
          <p:cNvPr id="25" name="Good 1"/>
          <p:cNvSpPr/>
          <p:nvPr/>
        </p:nvSpPr>
        <p:spPr>
          <a:xfrm>
            <a:off x="4800600" y="2468880"/>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The phone's ringing. </a:t>
            </a:r>
            <a:r>
              <a:rPr lang="en-US" sz="1700" dirty="0" b="1">
                <a:solidFill>
                  <a:srgbClr val="1B2236"/>
                </a:solidFill>
                <a:latin typeface="Lexend Deca" pitchFamily="34" charset="0"/>
                <a:ea typeface="Lexend Deca" pitchFamily="34" charset="-122"/>
                <a:cs typeface="Lexend Deca" pitchFamily="34" charset="-120"/>
              </a:rPr>
              <a:t>I'll</a:t>
            </a:r>
            <a:r>
              <a:rPr lang="en-US" sz="1700" dirty="0" b="0">
                <a:solidFill>
                  <a:srgbClr val="1B2236"/>
                </a:solidFill>
                <a:latin typeface="Lexend Deca" pitchFamily="34" charset="0"/>
                <a:ea typeface="Lexend Deca" pitchFamily="34" charset="-122"/>
                <a:cs typeface="Lexend Deca" pitchFamily="34" charset="-120"/>
              </a:rPr>
              <a:t> answer it.</a:t>
            </a:r>
            <a:endParaRPr lang="en-US" sz="1700" dirty="0" b="0"/>
          </a:p>
        </p:txBody>
      </p:sp>
      <p:sp>
        <p:nvSpPr>
          <p:cNvPr id="26" name="Bad 2"/>
          <p:cNvSpPr/>
          <p:nvPr/>
        </p:nvSpPr>
        <p:spPr>
          <a:xfrm>
            <a:off x="914400" y="331012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will to bring the drinks.</a:t>
            </a:r>
            <a:endParaRPr lang="en-US" sz="1700" dirty="0"/>
          </a:p>
        </p:txBody>
      </p:sp>
      <p:sp>
        <p:nvSpPr>
          <p:cNvPr id="27" name="Good 2"/>
          <p:cNvSpPr/>
          <p:nvPr/>
        </p:nvSpPr>
        <p:spPr>
          <a:xfrm>
            <a:off x="4800600" y="331012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will bring</a:t>
            </a:r>
            <a:r>
              <a:rPr lang="en-US" sz="1700" dirty="0" b="0">
                <a:solidFill>
                  <a:srgbClr val="1B2236"/>
                </a:solidFill>
                <a:latin typeface="Lexend Deca" pitchFamily="34" charset="0"/>
                <a:ea typeface="Lexend Deca" pitchFamily="34" charset="-122"/>
                <a:cs typeface="Lexend Deca" pitchFamily="34" charset="-120"/>
              </a:rPr>
              <a:t> (I'll bring) the drinks.</a:t>
            </a:r>
            <a:endParaRPr lang="en-US" sz="1700" dirty="0" b="0"/>
          </a:p>
        </p:txBody>
      </p:sp>
      <p:sp>
        <p:nvSpPr>
          <p:cNvPr id="28" name="Bad 3"/>
          <p:cNvSpPr/>
          <p:nvPr/>
        </p:nvSpPr>
        <p:spPr>
          <a:xfrm>
            <a:off x="914400" y="387705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She wills call you.</a:t>
            </a:r>
            <a:endParaRPr lang="en-US" sz="1700" dirty="0"/>
          </a:p>
        </p:txBody>
      </p:sp>
      <p:sp>
        <p:nvSpPr>
          <p:cNvPr id="29" name="Good 3"/>
          <p:cNvSpPr/>
          <p:nvPr/>
        </p:nvSpPr>
        <p:spPr>
          <a:xfrm>
            <a:off x="4800600" y="387705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She </a:t>
            </a:r>
            <a:r>
              <a:rPr lang="en-US" sz="1700" dirty="0" b="1">
                <a:solidFill>
                  <a:srgbClr val="1B2236"/>
                </a:solidFill>
                <a:latin typeface="Lexend Deca" pitchFamily="34" charset="0"/>
                <a:ea typeface="Lexend Deca" pitchFamily="34" charset="-122"/>
                <a:cs typeface="Lexend Deca" pitchFamily="34" charset="-120"/>
              </a:rPr>
              <a:t>will</a:t>
            </a:r>
            <a:r>
              <a:rPr lang="en-US" sz="1700" dirty="0" b="0">
                <a:solidFill>
                  <a:srgbClr val="1B2236"/>
                </a:solidFill>
                <a:latin typeface="Lexend Deca" pitchFamily="34" charset="0"/>
                <a:ea typeface="Lexend Deca" pitchFamily="34" charset="-122"/>
                <a:cs typeface="Lexend Deca" pitchFamily="34" charset="-120"/>
              </a:rPr>
              <a:t> call you.</a:t>
            </a:r>
            <a:endParaRPr lang="en-US" sz="1700" dirty="0" b="0"/>
          </a:p>
        </p:txBody>
      </p:sp>
      <p:sp>
        <p:nvSpPr>
          <p:cNvPr id="30" name="Bad 4"/>
          <p:cNvSpPr/>
          <p:nvPr/>
        </p:nvSpPr>
        <p:spPr>
          <a:xfrm>
            <a:off x="914400" y="444398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Don't worry, I don't forget.</a:t>
            </a:r>
            <a:endParaRPr lang="en-US" sz="1700" dirty="0"/>
          </a:p>
        </p:txBody>
      </p:sp>
      <p:sp>
        <p:nvSpPr>
          <p:cNvPr id="31" name="Good 4"/>
          <p:cNvSpPr/>
          <p:nvPr/>
        </p:nvSpPr>
        <p:spPr>
          <a:xfrm>
            <a:off x="4800600" y="444398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Don't worry, I </a:t>
            </a:r>
            <a:r>
              <a:rPr lang="en-US" sz="1700" dirty="0" b="1">
                <a:solidFill>
                  <a:srgbClr val="1B2236"/>
                </a:solidFill>
                <a:latin typeface="Lexend Deca" pitchFamily="34" charset="0"/>
                <a:ea typeface="Lexend Deca" pitchFamily="34" charset="-122"/>
                <a:cs typeface="Lexend Deca" pitchFamily="34" charset="-120"/>
              </a:rPr>
              <a:t>won't</a:t>
            </a:r>
            <a:r>
              <a:rPr lang="en-US" sz="1700" dirty="0" b="0">
                <a:solidFill>
                  <a:srgbClr val="1B2236"/>
                </a:solidFill>
                <a:latin typeface="Lexend Deca" pitchFamily="34" charset="0"/>
                <a:ea typeface="Lexend Deca" pitchFamily="34" charset="-122"/>
                <a:cs typeface="Lexend Deca" pitchFamily="34" charset="-120"/>
              </a:rPr>
              <a:t> forget.</a:t>
            </a:r>
            <a:endParaRPr lang="en-US" sz="1700" dirty="0" b="0"/>
          </a:p>
        </p:txBody>
      </p:sp>
      <p:sp>
        <p:nvSpPr>
          <p:cNvPr id="32" name="Bad 5"/>
          <p:cNvSpPr/>
          <p:nvPr/>
        </p:nvSpPr>
        <p:spPr>
          <a:xfrm>
            <a:off x="914400" y="501091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Will you calling me?</a:t>
            </a:r>
            <a:endParaRPr lang="en-US" sz="1700" dirty="0"/>
          </a:p>
        </p:txBody>
      </p:sp>
      <p:sp>
        <p:nvSpPr>
          <p:cNvPr id="33" name="Good 5"/>
          <p:cNvSpPr/>
          <p:nvPr/>
        </p:nvSpPr>
        <p:spPr>
          <a:xfrm>
            <a:off x="4800600" y="501091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Will you </a:t>
            </a:r>
            <a:r>
              <a:rPr lang="en-US" sz="1700" dirty="0" b="1">
                <a:solidFill>
                  <a:srgbClr val="1B2236"/>
                </a:solidFill>
                <a:latin typeface="Lexend Deca" pitchFamily="34" charset="0"/>
                <a:ea typeface="Lexend Deca" pitchFamily="34" charset="-122"/>
                <a:cs typeface="Lexend Deca" pitchFamily="34" charset="-120"/>
              </a:rPr>
              <a:t>call</a:t>
            </a:r>
            <a:r>
              <a:rPr lang="en-US" sz="1700" dirty="0" b="0">
                <a:solidFill>
                  <a:srgbClr val="1B2236"/>
                </a:solidFill>
                <a:latin typeface="Lexend Deca" pitchFamily="34" charset="0"/>
                <a:ea typeface="Lexend Deca" pitchFamily="34" charset="-122"/>
                <a:cs typeface="Lexend Deca" pitchFamily="34" charset="-120"/>
              </a:rPr>
              <a:t> me?</a:t>
            </a:r>
            <a:endParaRPr lang="en-US" sz="1700" dirty="0" b="0"/>
          </a:p>
        </p:txBody>
      </p:sp>
      <p:sp>
        <p:nvSpPr>
          <p:cNvPr id="34" name="Bad 6"/>
          <p:cNvSpPr/>
          <p:nvPr/>
        </p:nvSpPr>
        <p:spPr>
          <a:xfrm>
            <a:off x="914400" y="5577840"/>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I'll visit my sister Sunday. (I bought the ticket.)</a:t>
            </a:r>
            <a:endParaRPr lang="en-US" sz="1700" dirty="0"/>
          </a:p>
        </p:txBody>
      </p:sp>
      <p:sp>
        <p:nvSpPr>
          <p:cNvPr id="35" name="Good 6"/>
          <p:cNvSpPr/>
          <p:nvPr/>
        </p:nvSpPr>
        <p:spPr>
          <a:xfrm>
            <a:off x="4800600" y="5577840"/>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m going to</a:t>
            </a:r>
            <a:r>
              <a:rPr lang="en-US" sz="1700" dirty="0" b="0">
                <a:solidFill>
                  <a:srgbClr val="1B2236"/>
                </a:solidFill>
                <a:latin typeface="Lexend Deca" pitchFamily="34" charset="0"/>
                <a:ea typeface="Lexend Deca" pitchFamily="34" charset="-122"/>
                <a:cs typeface="Lexend Deca" pitchFamily="34" charset="-120"/>
              </a:rPr>
              <a:t> visit my sister on Sunday.</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Carry: a person carrying a box"/>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says a problem.</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offers help with I'll….</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I'm hungry. / It's cold.</a:t>
            </a:r>
            <a:endParaRPr lang="en-US" sz="2000" dirty="0" b="0"/>
          </a:p>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My bag is heavy.</a:t>
            </a:r>
            <a:endParaRPr lang="en-US" sz="20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I'll…</a:t>
            </a:r>
            <a:endParaRPr lang="en-US" sz="2000" dirty="0" b="0"/>
          </a:p>
          <a:p>
            <a:pPr algn="l" indent="0" marL="0">
              <a:buNone/>
            </a:pPr>
            <a:r>
              <a:rPr lang="en-US" sz="2000" dirty="0" b="1">
                <a:solidFill>
                  <a:srgbClr val="1B2236"/>
                </a:solidFill>
                <a:latin typeface="Lexend Deca" pitchFamily="34" charset="0"/>
                <a:ea typeface="Lexend Deca" pitchFamily="34" charset="-122"/>
                <a:cs typeface="Lexend Deca" pitchFamily="34" charset="-120"/>
              </a:rPr>
              <a:t>Then switch roles.</a:t>
            </a:r>
            <a:endParaRPr lang="en-US" sz="20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says a problem. B offers help with I'll…. Then switch.</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Give a ride: a car with two people, an arrow to a building"/>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Problem / Offer Cards</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1: 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Try all 8 cards.</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reads a problem card.</a:t>
            </a:r>
            <a:endParaRPr lang="en-US" sz="2200" dirty="0" b="1"/>
          </a:p>
          <a:p>
            <a:pPr algn="l" indent="0" marL="0">
              <a:buNone/>
            </a:pPr>
            <a:r>
              <a:rPr lang="en-US" sz="2000" dirty="0" b="0">
                <a:solidFill>
                  <a:srgbClr val="5B3FC4"/>
                </a:solidFill>
                <a:latin typeface="Lexend Deca" pitchFamily="34" charset="0"/>
                <a:ea typeface="Lexend Deca" pitchFamily="34" charset="-122"/>
                <a:cs typeface="Lexend Deca" pitchFamily="34" charset="-120"/>
              </a:rPr>
              <a:t>My car won't start, and I have to go to work.</a:t>
            </a:r>
            <a:endParaRPr lang="en-US" sz="20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offers help with I'll….</a:t>
            </a:r>
            <a:endParaRPr lang="en-US" sz="2200" dirty="0" b="1"/>
          </a:p>
          <a:p>
            <a:pPr algn="l" indent="0" marL="0">
              <a:buNone/>
            </a:pPr>
            <a:r>
              <a:rPr lang="en-US" sz="2000" dirty="0" b="0">
                <a:solidFill>
                  <a:srgbClr val="5B3FC4"/>
                </a:solidFill>
                <a:latin typeface="Lexend Deca" pitchFamily="34" charset="0"/>
                <a:ea typeface="Lexend Deca" pitchFamily="34" charset="-122"/>
                <a:cs typeface="Lexend Deca" pitchFamily="34" charset="-120"/>
              </a:rPr>
              <a:t>Don't worry. I'll give you a ride, because I'm going that way.</a:t>
            </a:r>
            <a:endParaRPr lang="en-US" sz="20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says thank you.</a:t>
            </a:r>
            <a:endParaRPr lang="en-US" sz="2200" dirty="0" b="1"/>
          </a:p>
          <a:p>
            <a:pPr algn="l" indent="0" marL="0">
              <a:buNone/>
            </a:pPr>
            <a:r>
              <a:rPr lang="en-US" sz="2000" dirty="0" b="0">
                <a:solidFill>
                  <a:srgbClr val="5B3FC4"/>
                </a:solidFill>
                <a:latin typeface="Lexend Deca" pitchFamily="34" charset="0"/>
                <a:ea typeface="Lexend Deca" pitchFamily="34" charset="-122"/>
                <a:cs typeface="Lexend Deca" pitchFamily="34" charset="-120"/>
              </a:rPr>
              <a:t>Really? Thanks! That's very kind.</a:t>
            </a:r>
            <a:endParaRPr lang="en-US" sz="20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Read &amp; Write: the school flyer: a drawn flyer for a school family night with a family, pizza, balloons"/>
          <p:cNvPicPr>
            <a:picLocks noChangeAspect="1"/>
          </p:cNvPicPr>
          <p:nvPr/>
        </p:nvPicPr>
        <p:blipFill>
          <a:blip r:embed="rId3"/>
          <a:stretch>
            <a:fillRect/>
          </a:stretch>
        </p:blipFill>
        <p:spPr>
          <a:xfrm>
            <a:off x="879412" y="3418942"/>
            <a:ext cx="3575785"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Event Board</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2: groups of 3–4.</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Two jobs each.</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Choose one event.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Park Cleanup or Family Night</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Two jobs each, with I'll….</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I'll bring water and I'll take photos.</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One plan with going to.</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I'm going to work on Saturday morning, so I'll come at 11:00.</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Text: a drawn phone with two text messages"/>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An offer or a promise with I'll or I won't.</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A plan with going to and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I'm going to visit my sister on Sunday, because it's her birthday.</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an offer with I'll for each problem.</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Write 'll, going to, won't, or Will.</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Ask: What are you going to do this weekend?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was / were + -ing and when.</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endParaRPr lang="en-US" sz="17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offer help with I'll….</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make a promise.</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make a quick decision.</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tell the difference between will and going to.</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1. </a:t>
            </a:r>
            <a:r>
              <a:rPr lang="en-US" sz="1500" dirty="0" b="0">
                <a:solidFill>
                  <a:srgbClr val="1B2236"/>
                </a:solidFill>
                <a:latin typeface="Lexend Deca" pitchFamily="34" charset="0"/>
                <a:ea typeface="Lexend Deca" pitchFamily="34" charset="-122"/>
                <a:cs typeface="Lexend Deca" pitchFamily="34" charset="-120"/>
              </a:rPr>
              <a:t>a. decided now (will)   b. planned before (going to)</a:t>
            </a:r>
            <a:endParaRPr lang="en-US" sz="15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2. </a:t>
            </a:r>
            <a:r>
              <a:rPr lang="en-US" sz="1500" dirty="0" b="0">
                <a:solidFill>
                  <a:srgbClr val="1B2236"/>
                </a:solidFill>
                <a:latin typeface="Lexend Deca" pitchFamily="34" charset="0"/>
                <a:ea typeface="Lexend Deca" pitchFamily="34" charset="-122"/>
                <a:cs typeface="Lexend Deca" pitchFamily="34" charset="-120"/>
              </a:rPr>
              <a:t>a. decided now (will)   b. planned before (going to)</a:t>
            </a:r>
            <a:endParaRPr lang="en-US" sz="15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3. </a:t>
            </a:r>
            <a:r>
              <a:rPr lang="en-US" sz="1500" dirty="0" b="0">
                <a:solidFill>
                  <a:srgbClr val="1B2236"/>
                </a:solidFill>
                <a:latin typeface="Lexend Deca" pitchFamily="34" charset="0"/>
                <a:ea typeface="Lexend Deca" pitchFamily="34" charset="-122"/>
                <a:cs typeface="Lexend Deca" pitchFamily="34" charset="-120"/>
              </a:rPr>
              <a:t>a. decided now (will)   b. planned before (going to)</a:t>
            </a:r>
            <a:endParaRPr lang="en-US" sz="15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4. </a:t>
            </a:r>
            <a:r>
              <a:rPr lang="en-US" sz="1500" dirty="0" b="0">
                <a:solidFill>
                  <a:srgbClr val="1B2236"/>
                </a:solidFill>
                <a:latin typeface="Lexend Deca" pitchFamily="34" charset="0"/>
                <a:ea typeface="Lexend Deca" pitchFamily="34" charset="-122"/>
                <a:cs typeface="Lexend Deca" pitchFamily="34" charset="-120"/>
              </a:rPr>
              <a:t>a. decided now (will)   b. planned before (going to)</a:t>
            </a:r>
            <a:endParaRPr lang="en-US" sz="15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Promise: a handshake; bubble &quot;I promise.&quot;">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5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Offer help with I'll</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Make a promise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Choose will or going to</a:t>
            </a:r>
            <a:endParaRPr lang="en-US" sz="2200"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Carmen, David, and Rosa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5: Don't Worry, I'll Do It</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