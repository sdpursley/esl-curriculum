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17" r:id="rId34"/>
    <p:sldId id="418" r:id="rId35"/>
    <p:sldId id="419" r:id="rId36"/>
    <p:sldId id="420" r:id="rId33"/>
    <p:sldId id="421" r:id="rId31"/>
    <p:sldId id="422" r:id="rId30"/>
    <p:sldId id="423" r:id="rId29"/>
    <p:sldId id="424" r:id="rId28"/>
    <p:sldId id="425" r:id="rId27"/>
    <p:sldId id="426" r:id="rId20"/>
    <p:sldId id="427" r:id="rId18"/>
    <p:sldId id="428" r:id="rId17"/>
    <p:sldId id="429" r:id="rId16"/>
    <p:sldId id="430" r:id="rId14"/>
    <p:sldId id="431" r:id="rId13"/>
    <p:sldId id="432" r:id="rId12"/>
    <p:sldId id="433" r:id="rId11"/>
    <p:sldId id="434" r:id="rId10"/>
    <p:sldId id="435" r:id="rId8"/>
    <p:sldId id="436" r:id="rId7"/>
    <p:sldId id="437" r:id="rId6"/>
    <p:sldId id="438" r:id="rId5"/>
    <p:sldId id="439" r:id="rId3"/>
    <p:sldId id="440" r:id="rId57"/>
    <p:sldId id="441" r:id="rId2"/>
    <p:sldId id="442" r:id="rId59"/>
    <p:sldId id="443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5" Type="http://schemas.openxmlformats.org/officeDocument/2006/relationships/slide" Target="slides/slide49.xml"/><Relationship Id="rId6" Type="http://schemas.openxmlformats.org/officeDocument/2006/relationships/slide" Target="slides/slide48.xml"/><Relationship Id="rId7" Type="http://schemas.openxmlformats.org/officeDocument/2006/relationships/slide" Target="slides/slide47.xml"/><Relationship Id="rId8" Type="http://schemas.openxmlformats.org/officeDocument/2006/relationships/slide" Target="slides/slide46.xml"/><Relationship Id="rId10" Type="http://schemas.openxmlformats.org/officeDocument/2006/relationships/slide" Target="slides/slide45.xml"/><Relationship Id="rId11" Type="http://schemas.openxmlformats.org/officeDocument/2006/relationships/slide" Target="slides/slide44.xml"/><Relationship Id="rId12" Type="http://schemas.openxmlformats.org/officeDocument/2006/relationships/slide" Target="slides/slide43.xml"/><Relationship Id="rId13" Type="http://schemas.openxmlformats.org/officeDocument/2006/relationships/slide" Target="slides/slide42.xml"/><Relationship Id="rId14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39.xml"/><Relationship Id="rId18" Type="http://schemas.openxmlformats.org/officeDocument/2006/relationships/slide" Target="slides/slide38.xml"/><Relationship Id="rId20" Type="http://schemas.openxmlformats.org/officeDocument/2006/relationships/slide" Target="slides/slide3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6.xml"/><Relationship Id="rId28" Type="http://schemas.openxmlformats.org/officeDocument/2006/relationships/slide" Target="slides/slide35.xml"/><Relationship Id="rId29" Type="http://schemas.openxmlformats.org/officeDocument/2006/relationships/slide" Target="slides/slide34.xml"/><Relationship Id="rId30" Type="http://schemas.openxmlformats.org/officeDocument/2006/relationships/slide" Target="slides/slide33.xml"/><Relationship Id="rId31" Type="http://schemas.openxmlformats.org/officeDocument/2006/relationships/slide" Target="slides/slide32.xml"/><Relationship Id="rId33" Type="http://schemas.openxmlformats.org/officeDocument/2006/relationships/slide" Target="slides/slide31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"I'd like to return these shoes. They're too big." (a) • 2 "Could I exchange this shirt for a large?" (b) • 3 "I'd like to cancel my appointment on Friday." (a) • 4 "Is Tuesday at ten available? I'd like to change my appointment." (b)</a:t>
            </a:r>
          </a:p>
          <a:p>
            <a:r>
              <a:t>Parts B and C: learners do them alone. Walk around and help with the instructions only. B answers: 1 to return, 2 exchange, 3 too small, 4 a refund. C: answers will vary (for example I'd like to return this lamp, because it's broken. / May I speak to the manager, please?).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requests (A) and with I'd like / I'd like to and polite questions (B, C).</a:t>
            </a:r>
          </a:p>
          <a:p>
            <a:r>
              <a:t>Collect the pages (or check them at the start of Week 8). If behind: do the Progress Check at the start of the midterm review, while learners arrive.</a:t>
            </a:r>
          </a:p>
          <a:p>
            <a:r>
              <a:t>Source: Level3_Lesson7.md (Progress Check step; Progress Check page;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2, phone call (5 min): pairs sit back to back (no looking). A is the receptionist at Valley Eye Center with the available times. B is the patient and wants to change or cancel an appointment. B uses the calendar slip. Then switch with the second slip. Each click shows the next step.</a:t>
            </a:r>
          </a:p>
          <a:p>
            <a:r>
              <a:t>Open times (A only): Mon 2:00 p.m. • Tue full • Wed 3:00 p.m. • Thu 11:00 a.m. • Fri 9:30 a.m. and 4:30 p.m.</a:t>
            </a:r>
          </a:p>
          <a:p>
            <a:r>
              <a:t>Slip 1: Tuesday 10:00 → a new time on Wednesday or Friday (Wednesday 3:00, Friday 9:30, or Friday 4:30). Slip 2: cancel the Thursday 2:00 appointment (because I have to work). Answers will vary.</a:t>
            </a:r>
          </a:p>
          <a:p>
            <a:r>
              <a:t>If behind: Round 1 only.</a:t>
            </a:r>
          </a:p>
          <a:p>
            <a:r>
              <a:t>Source: Level3_Lesson7.md (Step 5; Talk Time: On the Phone; Answer key).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Service Desk · 12 min. Pairs.</a:t>
            </a:r>
          </a:p>
          <a:p>
            <a:r>
              <a:t>Round 1 (6 min): the clerk reads the Store Policy Card. The customer chooses a Customer Card and returns or exchanges the item. The clerk follows the policy. After each card, switch roles. Each click shows the next step.</a:t>
            </a:r>
          </a:p>
          <a:p>
            <a:r>
              <a:t>Store Policy Card: returns within 30 days • with a receipt: a refund or an exchange • no receipt: store credit or an exchange • sale items: store credit only • more than 30 days: "Sorry, we can't take it." (The customer can ask for the manager.)</a:t>
            </a:r>
          </a:p>
          <a:p>
            <a:r>
              <a:t>Model with one learner (1 min): you are the customer with card 1: "Hi. I'd like to return these shoes." → "What's wrong with them?" → "They're too big." → "Do you have the receipt?" → "Yes, here it is."</a:t>
            </a:r>
          </a:p>
          <a:p>
            <a:r>
              <a:t>Customer Cards (answers): 1 shoes, too big, receipt, 10 days → refund or exchange • 2 lamp, broken, no receipt → store credit • 3 jacket on sale, stain → store credit only • 4 shirt, 45 days → sorry, more than 30 days (the customer can ask for the manager) • 5 coffee maker, wrong color, receipt, 5 days → refund or exchange • 6 pants, too long, no receipt → store credit or exchange. Wording will vary.</a:t>
            </a:r>
          </a:p>
          <a:p>
            <a:r>
              <a:t>Invented stores only (important): Valley Mart, its policy, and the eye center are invented. No play money is needed. Learners never talk about their own purchases, debts, or money problems.</a:t>
            </a:r>
          </a:p>
          <a:p>
            <a:r>
              <a:t>Source: Level3_Lesson7.md (Step 5; Talk Time: Service Desk; Answer key).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is the clerk: "Can I help you?" B returns something from the New Words page with a reason. Switch.</a:t>
            </a:r>
          </a:p>
          <a:p>
            <a:r>
              <a:t>If behind: skip the pair drill. Talk Time practices it.</a:t>
            </a:r>
          </a:p>
          <a:p>
            <a:r>
              <a:t>Source: Level3_Lesson7.md (Step 4: Pair drill).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5.</a:t>
            </a:r>
          </a:p>
          <a:p>
            <a:r>
              <a:t>1 and 2: I'd like to + a verb • 3: Could I + verb (no to) • 4: a problem = too • 5: I'd like + a thing.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Source: Level3_Lesson7.md (Grammar: Common mistakes; Teacher notes: Typical mistakes).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5): 1 Could, 2 speak, 3 too small, 4 cancel, 5 available.</a:t>
            </a:r>
          </a:p>
          <a:p>
            <a:r>
              <a:t>Source: Level3_Lesson7.md (Step 4; Grammar Practice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5): 1 like to, 2 like, 3 like to, 4 like, 5 like to.</a:t>
            </a:r>
          </a:p>
          <a:p>
            <a:r>
              <a:t>Source: Level3_Lesson7.md (Step 4; Grammar Practice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5: I'd like + a thing; I'd like to + a verb. A reads the left side; B reads the right side. Each click shows the right side of one row.</a:t>
            </a:r>
          </a:p>
          <a:p>
            <a:r>
              <a:t>I'd like = I would like: more polite than I want.</a:t>
            </a:r>
          </a:p>
          <a:p>
            <a:r>
              <a:t>Check questions: "I'd like ___ return this." (to) • "I'd like ___ refund." (a) • "It's ___ small. It doesn't fit." (too) • "___ I speak to the manager?" (May / Could)</a:t>
            </a:r>
          </a:p>
          <a:p>
            <a:r>
              <a:t>Source: Level3_Lesson7.md (Step 4; Grammar Box 5; Teacher notes: I'd like vs. I'd like to).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(2 min): appointments. Read the phone lines across with one learner: you are the caller; the learner is the receptionist. Each click shows the receptionist's line.</a:t>
            </a:r>
          </a:p>
          <a:p>
            <a:r>
              <a:t>Source: Level3_Lesson7.md (Step 4; Grammar Box 4).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 (3 min): Could I / Can I / May I…? May I is the most polite and formal. Read the answers: Sure. / Of course. / Sorry, you need the receipt.</a:t>
            </a:r>
          </a:p>
          <a:p>
            <a:r>
              <a:t>Each click shows the answer side of one row.</a:t>
            </a:r>
          </a:p>
          <a:p>
            <a:r>
              <a:t>Source: Level3_Lesson7.md (Step 4; Grammar Box 3; Teacher notes: Could I / Can I / May I).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"What's wrong with it?" The class answers from Box 2 (It's too small. It has a stain.). Each click shows the answer side of one row.</a:t>
            </a:r>
          </a:p>
          <a:p>
            <a:r>
              <a:t>too + adjective: It's too small means it's a problem (it doesn't fit). very small is not a problem. Teach too small / too big / too long as fixed phrases.</a:t>
            </a:r>
          </a:p>
          <a:p>
            <a:r>
              <a:t>Source: Level3_Lesson7.md (Step 4; Grammar Box 2; Teacher notes: too + adjective).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22). Whole class, then pairs. Show the Grammar page. Read across: A reads from the left side; B answers from the right side.</a:t>
            </a:r>
          </a:p>
          <a:p>
            <a:r>
              <a:t>Write on the board: I'd like + a thing (I'd like a bag) and I'd like to + a verb (I'd like to return it).</a:t>
            </a:r>
          </a:p>
          <a:p>
            <a:r>
              <a:t>Boxes 1 and 2 (4 min): you are the clerk: "Can I help you?" The class answers from Box 1. Each click shows the answer side of one row.</a:t>
            </a:r>
          </a:p>
          <a:p>
            <a:r>
              <a:t>Source: Level3_Lesson7.md (Step 4; Grammar Box 1; Teacher notes: I'd like vs. I'd like to).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"Polite questions go up at the end: Could I exchange it?" Then: "I'd like to is fast: I'd-like-tuh."</a:t>
            </a:r>
          </a:p>
          <a:p>
            <a:r>
              <a:t>Read the lines in the "Say it" box. The class repeats each line twice.</a:t>
            </a:r>
          </a:p>
          <a:p>
            <a:r>
              <a:t>Source: Level3_Lesson7.md (Step 3: "Say it"; Listening page: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5): 1 like to, 2 Could, 3 like, 4 like to, 5 like to.</a:t>
            </a:r>
          </a:p>
          <a:p>
            <a:r>
              <a:t>If behind: do Task C together on the board, reading the lines yourself.</a:t>
            </a:r>
          </a:p>
          <a:p>
            <a:r>
              <a:t>Source: Level3_Lesson7.md (Step 3; Listening Task C;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answer (one click per item, 1 to 4): 1 too small • 2 Monday • 3 Thursday • 4 4:30.</a:t>
            </a:r>
          </a:p>
          <a:p>
            <a:r>
              <a:t>Source: Level3_Lesson7.md (Step 3; Listening Task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(return or exchange? refund or store credit?). Pairs compare. Check together.</a:t>
            </a:r>
          </a:p>
          <a:p>
            <a:r>
              <a:t>Click to show each answer (one click per item): 1 a (return it) • 2 b (store credit; she has no receipt).</a:t>
            </a:r>
          </a:p>
          <a:p>
            <a:r>
              <a:t>Then read Tasks B and C together (1 min) so learners know what to listen for.</a:t>
            </a:r>
          </a:p>
          <a:p>
            <a:r>
              <a:t>Source: Level3_Lesson7.md (Step 3; Listening Task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Point to the customer picture and say: "This is Lina. She's at the service desk at Valley Mart, a big store. She has a phone case. What does she want to do? Listen."</a:t>
            </a:r>
          </a:p>
          <a:p>
            <a:r>
              <a:t>There are three voices: a Narrator, Lina, and the Clerk. Each click highlights the next voice.</a:t>
            </a:r>
          </a:p>
          <a:p>
            <a:r>
              <a:t>The audio (L3_L7_listening.mp3, about 1:15)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L3_L7_listening.mp3 (about 1:15)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Source: Level3_Lesson7.md (Step 3; Listening script; Listening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"The shirt has a brown spot. It has a…?" (stain) • 2. "The phone doesn't work. It's…?" (broken) • 3. "Who is the boss in the store?" (the manager)</a:t>
            </a:r>
          </a:p>
          <a:p>
            <a:r>
              <a:t>One more question: "Thursday at 4:30 is free. It's…?" (available)</a:t>
            </a:r>
          </a:p>
          <a:p>
            <a:r>
              <a:t>Source: Level3_Lesson7.md (Step 2: Check meaning).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says a word. B points to the picture and makes a sentence (A: exchange. B: I'd like to exchange this shirt for a large. / I'd like a refund.). Switch.</a:t>
            </a:r>
          </a:p>
          <a:p>
            <a:r>
              <a:t>If behind: teach the ★ words only.</a:t>
            </a:r>
          </a:p>
          <a:p>
            <a:r>
              <a:t>Source: Level3_Lesson7.md (Step 2; New Words page; Partner game).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Hold up a T-shirt: "It's too small. I'd like to return it… or exchange it for a large."</a:t>
            </a:r>
          </a:p>
          <a:p>
            <a:r>
              <a:t>Two pairs of words (1 min): refund (money back) vs. store credit (money for this store only). cancel (no appointment) vs. reschedule (a new day or time).</a:t>
            </a:r>
          </a:p>
          <a:p>
            <a:r>
              <a:t>If behind: teach the ★ words only.</a:t>
            </a:r>
          </a:p>
          <a:p>
            <a:r>
              <a:t>Source: Level3_Lesson7.md (Step 2; Key vocabulary; New Words page).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6 Homework item 1 (If it rains this weekend, I'll…) to each other. The partner asks one question about it. Walk around. Write 2 common errors on the board (often If it will rain or If rains) and correct them together.</a:t>
            </a:r>
          </a:p>
          <a:p>
            <a:r>
              <a:t>Source: Level3_Lesson7.md (Step 1; Opening Talk page: cards, follow-ups, homework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"Can I exchange this?" Say: "Tonight we return and exchange things at a store, and we change an appointment by phone."</a:t>
            </a:r>
          </a:p>
          <a:p>
            <a:r>
              <a:t>Read the three lines under "Today you will". Give one quick example of each: "I'd like to return this, because it's too small." • "May I speak to the manager?" • "I'd like to reschedule my appointment."</a:t>
            </a:r>
          </a:p>
          <a:p>
            <a:r>
              <a:t>Invented stores only (important): Valley Mart, its policy, and the eye center are invented. No play money is needed. Learners never talk about their own purchases, debts, or money problems.</a:t>
            </a:r>
          </a:p>
          <a:p>
            <a:r>
              <a:t>Midterm next week: remind learners. The midterm reviews Lessons 1–7.</a:t>
            </a:r>
          </a:p>
          <a:p>
            <a:r>
              <a:t>Source: Level3_Lesson7.md (Topic; At a glance: Objectives; Teacher notes).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I'd like to return / exchange this, and a reason (because it's too small). Goal 2: ask for permission with Could I / Can I / May I…? and answer. Goal 3: ask for a refund or store credit, and ask for the manager politely.</a:t>
            </a:r>
          </a:p>
          <a:p>
            <a:r>
              <a:t>Goal 4: change or cancel an appointment by phone. Goal 5: I'd like + a thing and I'd like to + a verb. Goal 6: read a store return policy and fill out a return form.</a:t>
            </a:r>
          </a:p>
          <a:p>
            <a:r>
              <a:t>"We check at 7:25" = the Progress Check. It is not a test grade.</a:t>
            </a:r>
          </a:p>
          <a:p>
            <a:r>
              <a:t>Source: Level3_Lesson7.md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What will you do if…? If…, I'll…</a:t>
            </a:r>
          </a:p>
          <a:p>
            <a:r>
              <a:t>Model with one learner: "What will you do if it rains this weekend?" → (answer) → "Really? With who?"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Source: Level3_Lesson7.md (Step 1; Opening Talk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I'd like to… and a reason with because (I'd like to exchange this shirt, because it has a stain.), and one polite question with Could I or May I. Collect at the door.</a:t>
            </a:r>
          </a:p>
          <a:p>
            <a:r>
              <a:t>Homework: open the Homework page. Do item 1 together (one sentence on the board). Say: "About 15 minutes. Bring it next week. Next week is the midterm review."</a:t>
            </a:r>
          </a:p>
          <a:p>
            <a:r>
              <a:t>Homework items: 1 what do you say at the service desk? Write I'd like to… and a reason with because • 2 write like or like to • 3 finish the phone call (the patient's words) • 4 review (Lesson 6): 2 sentences with If…, I'll….</a:t>
            </a:r>
          </a:p>
          <a:p>
            <a:r>
              <a:t>Read &amp; Write (7:17–7:25, on the Student Pages): the Valley Mart return policy; questions 1–5; then a return form. If behind: questions 1–5 only; the form becomes homework.</a:t>
            </a:r>
          </a:p>
          <a:p>
            <a:r>
              <a:t>Source: Level3_Lesson7.md (Step 6; Homework page; Read &amp; Write step).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Say: "Can I help you?" Wait for an answer with I'd like to….</a:t>
            </a:r>
          </a:p>
          <a:p>
            <a:r>
              <a:t>Remind learners: homework is about 15 minutes. Next week is the midterm review (Lessons 1–7).</a:t>
            </a:r>
          </a:p>
          <a:p>
            <a:r>
              <a:t>Source: Level3_Lesson7.md (At a glance: Objectives; Step 6; Teacher notes: Midterm next week).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L3_L7_listening.mp3 (about 1:15)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Source: Level3_Lesson7.md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9" Type="http://schemas.openxmlformats.org/officeDocument/2006/relationships/image" Target="../media/image14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notesSlide" Target="../notesSlides/notesSlide2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2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3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6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4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2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Exchange: a small shirt (S) and a large shirt (L) with arrows both way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Exchange This?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I'd like to return / exchange this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Could I / May I…?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Change or cancel an appointment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stores are invented.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I'd like to return this.</a:t>
            </a:r>
            <a:endParaRPr lang="en-US" sz="18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…because it's too small.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Could I / Can I / May I…?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a refund or store credit.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change or cancel an appointment.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I'd like and I'd like to.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return policy and fill out a form.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Customer: a woman with a shopping bag, a st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 it rains this weekend?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With who?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 With who? What else will you do?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 it rains this weekend?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 the power goes out tonight?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the weather probably be like tomorrow?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 you have a free day next week?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6,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Return: a person with a box, an arrow back to a sto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return</a:t>
            </a:r>
            <a:endParaRPr lang="en-US" sz="2000" dirty="0" b="1"/>
          </a:p>
        </p:txBody>
      </p:sp>
      <p:pic>
        <p:nvPicPr>
          <p:cNvPr id="19" name="Word picture 2" descr="Exchange: a small shirt (S) and a large shirt (L) with arrows both way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exchange</a:t>
            </a:r>
            <a:endParaRPr lang="en-US" sz="2000" dirty="0" b="1"/>
          </a:p>
        </p:txBody>
      </p:sp>
      <p:pic>
        <p:nvPicPr>
          <p:cNvPr id="21" name="Word picture 3" descr="Refund: money, an arrow to a hand, label &quot;money back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refund</a:t>
            </a:r>
            <a:endParaRPr lang="en-US" sz="2000" dirty="0" b="1"/>
          </a:p>
        </p:txBody>
      </p:sp>
      <p:pic>
        <p:nvPicPr>
          <p:cNvPr id="23" name="Word picture 4" descr="Store credit: a drawn store credit card &quot;$24.00, Valley Mart&quot; (invented stor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store credit</a:t>
            </a:r>
            <a:endParaRPr lang="en-US" sz="2000" dirty="0" b="1"/>
          </a:p>
        </p:txBody>
      </p:sp>
      <p:pic>
        <p:nvPicPr>
          <p:cNvPr id="25" name="Word picture 5" descr="Size: three shirts, S / M / 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size</a:t>
            </a:r>
            <a:endParaRPr lang="en-US" sz="2000" dirty="0" b="1"/>
          </a:p>
        </p:txBody>
      </p:sp>
      <p:pic>
        <p:nvPicPr>
          <p:cNvPr id="27" name="Word picture 6" descr="Broken: a phone with crack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broken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Customer: a woman with a shopping bag, a sto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customer</a:t>
            </a:r>
            <a:endParaRPr lang="en-US" sz="2000" dirty="0" b="1"/>
          </a:p>
        </p:txBody>
      </p:sp>
      <p:pic>
        <p:nvPicPr>
          <p:cNvPr id="19" name="Word picture 2" descr="Manager: an office worker with a MANAGER name ta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manager</a:t>
            </a:r>
            <a:endParaRPr lang="en-US" sz="2000" dirty="0" b="1"/>
          </a:p>
        </p:txBody>
      </p:sp>
      <p:pic>
        <p:nvPicPr>
          <p:cNvPr id="21" name="Word picture 3" descr="Cancel: a drawn calendar with an appointment crossed ou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cancel</a:t>
            </a:r>
            <a:endParaRPr lang="en-US" sz="2000" dirty="0" b="1"/>
          </a:p>
        </p:txBody>
      </p:sp>
      <p:pic>
        <p:nvPicPr>
          <p:cNvPr id="23" name="Word picture 4" descr="Reschedule: a drawn calendar: Monday 10:00 crossed out, an arrow to Thursday 4: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reschedule</a:t>
            </a:r>
            <a:endParaRPr lang="en-US" sz="2000" dirty="0" b="1"/>
          </a:p>
        </p:txBody>
      </p:sp>
      <p:pic>
        <p:nvPicPr>
          <p:cNvPr id="25" name="Word picture 5" descr="Available: three time slots; 4:30 checked green, the others crosse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available</a:t>
            </a:r>
            <a:endParaRPr lang="en-US" sz="2000" dirty="0" b="1"/>
          </a:p>
        </p:txBody>
      </p:sp>
      <p:pic>
        <p:nvPicPr>
          <p:cNvPr id="27" name="Word picture 6" descr="Stain: a shirt with a brown spot circle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stain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shirt has a brown spot. It has a…?</a:t>
            </a:r>
            <a:endParaRPr lang="en-US" sz="1800" dirty="0" b="1"/>
          </a:p>
        </p:txBody>
      </p:sp>
      <p:pic>
        <p:nvPicPr>
          <p:cNvPr id="101" name="R1 pic" descr="Stain: a shirt with a brown spot circl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phone doesn't work. It's…?</a:t>
            </a:r>
            <a:endParaRPr lang="en-US" sz="1800" dirty="0" b="1"/>
          </a:p>
        </p:txBody>
      </p:sp>
      <p:pic>
        <p:nvPicPr>
          <p:cNvPr id="102" name="R2 pic" descr="Broken: a phone with crack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the boss in the store?</a:t>
            </a:r>
            <a:endParaRPr lang="en-US" sz="1800" dirty="0" b="1"/>
          </a:p>
        </p:txBody>
      </p:sp>
      <p:pic>
        <p:nvPicPr>
          <p:cNvPr id="103" name="R3 pic" descr="Manager: an office worker with a MANAGER name ta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stain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broken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manager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Lina is at the service desk at Valley Mart, a big store. She has a phone case.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Customer: a woman with a shopping bag, a st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Clerk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want to do?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Refund or store credit?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1:15.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a or b.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13258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132588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76788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773168" cy="13258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Lina want to do first?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return a phone case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buy a phone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656832" y="2831897"/>
            <a:ext cx="9144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796589"/>
            <a:ext cx="6035040" cy="13258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796589"/>
            <a:ext cx="1039673" cy="132588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416692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796589"/>
            <a:ext cx="4773168" cy="13258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get?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refund (money back)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store credit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656832" y="4230929"/>
            <a:ext cx="9144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9601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96012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58500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041648" cy="96012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wrong with the phone case?</a:t>
            </a:r>
            <a:b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big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small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broken</a:t>
            </a:r>
            <a:endParaRPr lang="en-US" sz="1700" dirty="0"/>
          </a:p>
        </p:txBody>
      </p:sp>
      <p:sp>
        <p:nvSpPr>
          <p:cNvPr id="35" name="R1 ans"/>
          <p:cNvSpPr/>
          <p:nvPr/>
        </p:nvSpPr>
        <p:spPr>
          <a:xfrm>
            <a:off x="5925312" y="2649017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small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430829"/>
            <a:ext cx="6035040" cy="9601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430829"/>
            <a:ext cx="1039673" cy="96012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61828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430829"/>
            <a:ext cx="4041648" cy="96012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her eye appointment now?</a:t>
            </a:r>
            <a:b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Friday</a:t>
            </a:r>
            <a:endParaRPr lang="en-US" sz="1700" dirty="0"/>
          </a:p>
        </p:txBody>
      </p:sp>
      <p:sp>
        <p:nvSpPr>
          <p:cNvPr id="40" name="R2 ans"/>
          <p:cNvSpPr/>
          <p:nvPr/>
        </p:nvSpPr>
        <p:spPr>
          <a:xfrm>
            <a:off x="5925312" y="368228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endParaRPr lang="en-US" sz="17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4464101"/>
            <a:ext cx="6035040" cy="9601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4464101"/>
            <a:ext cx="1039673" cy="96012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65155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4464101"/>
            <a:ext cx="4041648" cy="96012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new day?</a:t>
            </a:r>
            <a:b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Wednesday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Saturday</a:t>
            </a:r>
            <a:endParaRPr lang="en-US" sz="1700" dirty="0"/>
          </a:p>
        </p:txBody>
      </p:sp>
      <p:sp>
        <p:nvSpPr>
          <p:cNvPr id="45" name="R3 ans"/>
          <p:cNvSpPr/>
          <p:nvPr/>
        </p:nvSpPr>
        <p:spPr>
          <a:xfrm>
            <a:off x="5925312" y="4715561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endParaRPr lang="en-US" sz="17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5497373"/>
            <a:ext cx="6035040" cy="9601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5497373"/>
            <a:ext cx="1039673" cy="96012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568482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5497373"/>
            <a:ext cx="4041648" cy="96012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new time?</a:t>
            </a:r>
            <a:b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4:00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4:30</a:t>
            </a: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5:30</a:t>
            </a:r>
            <a:endParaRPr lang="en-US" sz="1700" dirty="0"/>
          </a:p>
        </p:txBody>
      </p:sp>
      <p:sp>
        <p:nvSpPr>
          <p:cNvPr id="50" name="R4 ans"/>
          <p:cNvSpPr/>
          <p:nvPr/>
        </p:nvSpPr>
        <p:spPr>
          <a:xfrm>
            <a:off x="5925312" y="574883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4:30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like, like to, or Could.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I'd ____ return this phone case.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291072" y="2525573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get a refund?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291072" y="3311957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OK, that's fine. I'd ____ a bigger case.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291072" y="4098341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change it.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291072" y="4884725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Perfect. I'd ____ take that time.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291072" y="5671109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polite and fast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 two times.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Polite questions go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up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↗ at the end.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is fast: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I'd-like-tuh.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exchange it? ↗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(I'd-like-tuh) return this.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I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speak to the manager? ↗</a:t>
            </a:r>
            <a:endParaRPr lang="en-US" sz="2200" dirty="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turn: a person with a box, an arrow back to a st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help you?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223760" y="1828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0116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help you?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7223760" y="2286000"/>
            <a:ext cx="470916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223760" y="2286000"/>
            <a:ext cx="47091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return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exchange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shirt. / these shoes.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474720"/>
            <a:ext cx="20116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help you?</a:t>
            </a:r>
            <a:endParaRPr lang="en-US" sz="1900" dirty="0" b="1"/>
          </a:p>
        </p:txBody>
      </p:sp>
      <p:sp>
        <p:nvSpPr>
          <p:cNvPr id="22" name="Answer bg 2"/>
          <p:cNvSpPr/>
          <p:nvPr/>
        </p:nvSpPr>
        <p:spPr>
          <a:xfrm>
            <a:off x="7223760" y="3474720"/>
            <a:ext cx="470916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223760" y="3474720"/>
            <a:ext cx="47091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a refund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store credit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please.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Size: three shirts, S / M / 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Reasons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 + a reason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(because + a reason)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4630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463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/</a:t>
            </a:r>
            <a:endParaRPr lang="en-US" sz="2200" dirty="0" b="1"/>
          </a:p>
        </p:txBody>
      </p:sp>
      <p:sp>
        <p:nvSpPr>
          <p:cNvPr id="23" name="Question 1"/>
          <p:cNvSpPr/>
          <p:nvPr/>
        </p:nvSpPr>
        <p:spPr>
          <a:xfrm>
            <a:off x="3035808" y="3977640"/>
            <a:ext cx="2971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wrong with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it?</a:t>
            </a:r>
            <a:endParaRPr lang="en-US" sz="20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small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/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big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/ broken.</a:t>
            </a:r>
            <a:endParaRPr lang="en-US" sz="19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4630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463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/</a:t>
            </a:r>
            <a:endParaRPr lang="en-US" sz="2200" dirty="0" b="1"/>
          </a:p>
        </p:txBody>
      </p:sp>
      <p:sp>
        <p:nvSpPr>
          <p:cNvPr id="28" name="Question 2"/>
          <p:cNvSpPr/>
          <p:nvPr/>
        </p:nvSpPr>
        <p:spPr>
          <a:xfrm>
            <a:off x="3035808" y="4754880"/>
            <a:ext cx="2971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wrong with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them?</a:t>
            </a:r>
            <a:endParaRPr lang="en-US" sz="20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they have a stain. / don't fit.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Manager: an office worker with a MANAGER name t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Asking for Permission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 / Can I / May I…?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9310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endParaRPr lang="en-US" sz="1600" dirty="0" b="1"/>
          </a:p>
        </p:txBody>
      </p:sp>
      <p:sp>
        <p:nvSpPr>
          <p:cNvPr id="23" name="Question 1"/>
          <p:cNvSpPr/>
          <p:nvPr/>
        </p:nvSpPr>
        <p:spPr>
          <a:xfrm>
            <a:off x="3401568" y="3977640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exchange it for a large? / get a refund?</a:t>
            </a:r>
            <a:endParaRPr lang="en-US" sz="16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/ Of course.</a:t>
            </a:r>
            <a:endParaRPr lang="en-US" sz="19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518404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02936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(very polite)</a:t>
            </a:r>
            <a:endParaRPr lang="en-US" sz="1600" dirty="0" b="1"/>
          </a:p>
        </p:txBody>
      </p:sp>
      <p:sp>
        <p:nvSpPr>
          <p:cNvPr id="28" name="Question 2"/>
          <p:cNvSpPr/>
          <p:nvPr/>
        </p:nvSpPr>
        <p:spPr>
          <a:xfrm>
            <a:off x="3401568" y="5202936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speak to the manager? / pay with a card?</a:t>
            </a:r>
            <a:endParaRPr lang="en-US" sz="16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5202936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202936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you need the receipt. / Sorry, cash only.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schedule: a drawn calendar: Monday 10:00 crossed out, an arrow to Thursday 4: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Changing an Appointment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CALLER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503920" y="1828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RECEPTIONIST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29184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change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appointment. /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reschedule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appointment.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8503920" y="2286000"/>
            <a:ext cx="342900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503920" y="2286000"/>
            <a:ext cx="342900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 is good for you?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329184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Thursday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available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8503920" y="3337560"/>
            <a:ext cx="342900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503920" y="3337560"/>
            <a:ext cx="342900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at 4:30. / Sorry, we're full. Is Friday OK?</a:t>
            </a:r>
            <a:endParaRPr lang="en-US" sz="18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329184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cancel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appointment.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8503920" y="4389120"/>
            <a:ext cx="342900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8503920" y="4389120"/>
            <a:ext cx="342900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OK. Your appointment is canceled.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Refund: money, an arrow to a hand, label &quot;money back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5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or I'd like to?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+ a thing  ·  I'd like to + a verb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481328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+ A THING</a:t>
            </a:r>
            <a:endParaRPr lang="en-US" sz="1700" dirty="0" b="1"/>
          </a:p>
        </p:txBody>
      </p:sp>
      <p:sp>
        <p:nvSpPr>
          <p:cNvPr id="20" name="A head"/>
          <p:cNvSpPr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+ A VERB</a:t>
            </a:r>
            <a:endParaRPr lang="en-US" sz="17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refund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return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this.</a:t>
            </a:r>
            <a:endParaRPr lang="en-US" sz="19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bigger size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</p:txBody>
      </p:sp>
      <p:sp>
        <p:nvSpPr>
          <p:cNvPr id="25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exchange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it.</a:t>
            </a:r>
            <a:endParaRPr lang="en-US" sz="1900" dirty="0" b="1"/>
          </a:p>
        </p:txBody>
      </p:sp>
      <p:sp>
        <p:nvSpPr>
          <p:cNvPr id="27" name="Question 3"/>
          <p:cNvSpPr/>
          <p:nvPr/>
        </p:nvSpPr>
        <p:spPr>
          <a:xfrm>
            <a:off x="1481328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appointment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Friday.</a:t>
            </a:r>
            <a:endParaRPr lang="en-US" sz="2000" dirty="0" b="1"/>
          </a:p>
        </p:txBody>
      </p:sp>
      <p:sp>
        <p:nvSpPr>
          <p:cNvPr id="28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cancel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appointment.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words.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 ·  like to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like or like to.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return these shoes.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291072" y="2525573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a bag, please.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291072" y="3311957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exchange this shirt for a medium.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291072" y="4098341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a refund, please.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291072" y="4884725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4074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cancel my appointment.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291072" y="5671109"/>
            <a:ext cx="12801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____ I exchange this?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26948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23544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141464" y="3054096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May I ____ to the manager?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26948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speak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23544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speak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7141464" y="3712464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It's ____. It doesn't fit.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26948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small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23544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small too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7141464" y="4370832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I'd like to ____ my appointment.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26948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cancel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23544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canceling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7141464" y="5029200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Is Thursday ____?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26948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available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23544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free time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7141464" y="5687568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Stain: a shirt with a brown spot circl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return this.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return this.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change my appointment.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change my appointment.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 to exchange it?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exchange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it?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very small. It doesn't fit.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small. It doesn't fit.</a:t>
            </a:r>
            <a:endParaRPr lang="en-US" sz="1700" dirty="0" b="0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a refund.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refund.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Return: a person with a box, an arrow back to a st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clerk.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returns something.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Can I help you?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I'd like to return…, because…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clerk. B returns something with a reason.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tore credit: a drawn store credit card &quot;$24.00, Valley Mart&quot; (invented store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Service Desk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1: 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= clerk. B = customer.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clerk reads the Store Policy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 days · receipt: refund · no receipt: store credit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customer chooses a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Hi. I'd like to return these shoes.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clerk follows the policy.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the receipt?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Available: three time slots; 4:30 checked green, the others cross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the Phone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2: back to back.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looking.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receptionist.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has the open times.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is the patient. B uses a slip.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reschedule my appointment.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offers a time. Then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Wednesday at 3:00 is available.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Cancel: a drawn calendar with an appointment crossed 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I'd like to… and a reason with because: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to exchange this shirt, because it has a stain.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polite question with Could I or May I.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I'd like to… + because.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like or like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Finish the phone call.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2 sentences with If…, I'll….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week: the midterm review!</a:t>
            </a:r>
            <a:endParaRPr lang="en-US" sz="1700" dirty="0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I'd like to return / exchange this.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 reason.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permission with Could I / May I…?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change or cancel an appointment.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return   b. exchange</a:t>
            </a:r>
            <a:endParaRPr lang="en-US" sz="17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return   b. exchange</a:t>
            </a:r>
            <a:endParaRPr lang="en-US" sz="17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cancel   b. reschedule</a:t>
            </a:r>
            <a:endParaRPr lang="en-US" sz="17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cancel   b. reschedule</a:t>
            </a:r>
            <a:endParaRPr lang="en-US" sz="17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Refund: money, an arrow to a hand, label &quot;money back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I'd like to return / exchange this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Could I / May I…?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Change or cancel an appointment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Lina, Valley Mart, and Valley Eye Center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7: Can I Exchange This?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