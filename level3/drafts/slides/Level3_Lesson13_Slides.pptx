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573" r:id="rId33"/>
    <p:sldId id="574" r:id="rId34"/>
    <p:sldId id="575" r:id="rId35"/>
    <p:sldId id="576" r:id="rId36"/>
    <p:sldId id="577" r:id="rId31"/>
    <p:sldId id="578" r:id="rId30"/>
    <p:sldId id="579" r:id="rId29"/>
    <p:sldId id="580" r:id="rId28"/>
    <p:sldId id="581" r:id="rId27"/>
    <p:sldId id="582" r:id="rId20"/>
    <p:sldId id="583" r:id="rId18"/>
    <p:sldId id="584" r:id="rId17"/>
    <p:sldId id="585" r:id="rId16"/>
    <p:sldId id="586" r:id="rId14"/>
    <p:sldId id="587" r:id="rId13"/>
    <p:sldId id="588" r:id="rId12"/>
    <p:sldId id="589" r:id="rId11"/>
    <p:sldId id="590" r:id="rId10"/>
    <p:sldId id="591" r:id="rId8"/>
    <p:sldId id="592" r:id="rId7"/>
    <p:sldId id="593" r:id="rId6"/>
    <p:sldId id="594" r:id="rId5"/>
    <p:sldId id="595" r:id="rId4"/>
    <p:sldId id="596" r:id="rId3"/>
    <p:sldId id="597" r:id="rId57"/>
    <p:sldId id="598"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2.xml"/><Relationship Id="rId3" Type="http://schemas.openxmlformats.org/officeDocument/2006/relationships/slide" Target="slides/slide50.xml"/><Relationship Id="rId4" Type="http://schemas.openxmlformats.org/officeDocument/2006/relationships/slide" Target="slides/slide49.xml"/><Relationship Id="rId5" Type="http://schemas.openxmlformats.org/officeDocument/2006/relationships/slide" Target="slides/slide48.xml"/><Relationship Id="rId6" Type="http://schemas.openxmlformats.org/officeDocument/2006/relationships/slide" Target="slides/slide47.xml"/><Relationship Id="rId7" Type="http://schemas.openxmlformats.org/officeDocument/2006/relationships/slide" Target="slides/slide46.xml"/><Relationship Id="rId8" Type="http://schemas.openxmlformats.org/officeDocument/2006/relationships/slide" Target="slides/slide45.xml"/><Relationship Id="rId10" Type="http://schemas.openxmlformats.org/officeDocument/2006/relationships/slide" Target="slides/slide44.xml"/><Relationship Id="rId11" Type="http://schemas.openxmlformats.org/officeDocument/2006/relationships/slide" Target="slides/slide43.xml"/><Relationship Id="rId12" Type="http://schemas.openxmlformats.org/officeDocument/2006/relationships/slide" Target="slides/slide42.xml"/><Relationship Id="rId13" Type="http://schemas.openxmlformats.org/officeDocument/2006/relationships/slide" Target="slides/slide41.xml"/><Relationship Id="rId14" Type="http://schemas.openxmlformats.org/officeDocument/2006/relationships/slide" Target="slides/slide40.xml"/><Relationship Id="rId16" Type="http://schemas.openxmlformats.org/officeDocument/2006/relationships/slide" Target="slides/slide39.xml"/><Relationship Id="rId17" Type="http://schemas.openxmlformats.org/officeDocument/2006/relationships/slide" Target="slides/slide38.xml"/><Relationship Id="rId18" Type="http://schemas.openxmlformats.org/officeDocument/2006/relationships/slide" Target="slides/slide37.xml"/><Relationship Id="rId20" Type="http://schemas.openxmlformats.org/officeDocument/2006/relationships/slide" Target="slides/slide36.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35.xml"/><Relationship Id="rId28" Type="http://schemas.openxmlformats.org/officeDocument/2006/relationships/slide" Target="slides/slide34.xml"/><Relationship Id="rId29" Type="http://schemas.openxmlformats.org/officeDocument/2006/relationships/slide" Target="slides/slide33.xml"/><Relationship Id="rId30" Type="http://schemas.openxmlformats.org/officeDocument/2006/relationships/slide" Target="slides/slide32.xml"/><Relationship Id="rId31" Type="http://schemas.openxmlformats.org/officeDocument/2006/relationships/slide" Target="slides/slide31.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57"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Credits. You don't need to read this slide in class.</a:t>
            </a:r>
          </a:p>
          <a:p>
            <a:r>
              <a:t>Pictures: Twemoji graphics by Twitter, Inc. and other contributors, CC BY 4.0; the file-by-file list is in images/CREDITS.md.</a:t>
            </a:r>
          </a:p>
          <a:p>
            <a:r>
              <a:t>Audio: L3_L13_listening.mp3 (about 1:15) is not recorded yet (see level3/AUDIO_STATUS.md). It will use computer-generated voices (Chatterbox TTS cloned from synthetic Kokoro-82M reference clips); no recordings of real people. Until the file is ready, read the listening script with a volunteer. The names and the story are invented.</a:t>
            </a:r>
          </a:p>
          <a:p>
            <a:r>
              <a:t>Course materials: © 2026 the authors, licensed under CC BY-NC-SA 4.0 (https://creativecommons.org/licenses/by-nc-sa/4.0/).</a:t>
            </a:r>
          </a:p>
          <a:p>
            <a:r>
              <a:t>Source: Level3_Lesson13.md (Picture Credits);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Progress Check · 7:25–7:30 · 5 min. Individuals. Open the Progress Check page.</a:t>
            </a:r>
          </a:p>
          <a:p>
            <a:r>
              <a:t>Part A: read each sentence slowly, 2 times. Learners circle a or b. Then click to show the answer (one click per item, 1 to 4).</a:t>
            </a:r>
          </a:p>
          <a:p>
            <a:r>
              <a:t>Say: 1 "I'm going to take a class in March." (a) • 2 "I hope to open my own business." (b) • 3 "OK, I'll call them tomorrow." (b) • 4 "I'm meeting the counselor on Monday." (a)</a:t>
            </a:r>
          </a:p>
          <a:p>
            <a:r>
              <a:t>Parts B and C: learners do them alone. Walk around and help with the instructions only. B answers: 1 to get, 2 going to, 3 I'll, 4 to. C: answers will vary (for example I'm going to save money for a car. / I hope to get a promotion.).</a:t>
            </a:r>
          </a:p>
          <a:p>
            <a:r>
              <a:t>Part D: read each "I can…" line aloud and point to the 3 faces: 😀 "I can do it." 🙂 "With a little help." 😐 "Not yet."</a:t>
            </a:r>
          </a:p>
          <a:p>
            <a:r>
              <a:t>Scoring: A /4 + B /4 + C /2 = /10. This is not a test grade. It shows who needs more help hearing the future forms (A) and with the forms (B, C).</a:t>
            </a:r>
          </a:p>
          <a:p>
            <a:r>
              <a:t>Collect the pages (or check them in Week 15 before the final). If behind: do the Progress Check in Week 15 at 6:00, before the final exam.</a:t>
            </a:r>
          </a:p>
          <a:p>
            <a:r>
              <a:t>Source: Level3_Lesson13.md (Progress Check step; Progress Check page;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 7:12–7:17 · Exit Ticket + Homework · 5 min · NEVER SKIP.</a:t>
            </a:r>
          </a:p>
          <a:p>
            <a:r>
              <a:t>Exit ticket: each learner writes two sentences on a slip: one with going to or hope to (I hope to get my driver's license.), and one with I'll and because or so (First, I'll study the book, because the test is hard.). Collect at the door.</a:t>
            </a:r>
          </a:p>
          <a:p>
            <a:r>
              <a:t>Homework: open the Homework page. Do item 1 together (one sentence on the board). Say: "About 15 minutes. Next week is the final exam. In Week 16, you'll give your talk at graduation."</a:t>
            </a:r>
          </a:p>
          <a:p>
            <a:r>
              <a:t>Homework items: 1 write the sentence with the words • 2 practice your talk at home 2 times; how long was it? • 3 ask a family member or a friend: What do you hope to do next year? Write the answer • 4 review (Lesson 12): 2 sentences with something, anything, someone, or no one.</a:t>
            </a:r>
          </a:p>
          <a:p>
            <a:r>
              <a:t>Read &amp; Write (7:17–7:25, on the Student Pages): a community college flyer; questions 1–5; pairs check; then learners start their graduation talk (6–8 sentences) with the talk frame and finish it at home. If behind: questions 1–5 only; the talk becomes homework.</a:t>
            </a:r>
          </a:p>
          <a:p>
            <a:r>
              <a:t>Next week (Week 15) is the final exam; remind learners to bring their talk draft to graduation.</a:t>
            </a:r>
          </a:p>
          <a:p>
            <a:r>
              <a:t>Source: Level3_Lesson13.md (Step 6; Homework page; Read &amp; Write step; Teacher notes).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Rehearsal, groups of 3 (6 min): each learner gives the talk (Then → Now → Next, with a reason); reading from the frame is fine. Each click shows one part of the frame.</a:t>
            </a:r>
          </a:p>
          <a:p>
            <a:r>
              <a:t>The 2 listeners fill in a Feedback Card: one thing I liked and one tip. About 2 minutes per speaker.</a:t>
            </a:r>
          </a:p>
          <a:p>
            <a:r>
              <a:t>If behind: the ladder only; the rehearsal becomes homework (practice at home with a family member).</a:t>
            </a:r>
          </a:p>
          <a:p>
            <a:r>
              <a:t>Graduation (Week 16): learners may read their talk from paper. Mixed levels: stronger learners add a reason to every step and a time (in January, next year). Newer learners use the talk frame word for word.</a:t>
            </a:r>
          </a:p>
          <a:p>
            <a:r>
              <a:t>Source: Level3_Lesson13.md (Step 5; Talk Time: Talk Rehearsal; Teacher notes).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 7:00–7:12 · Talk Time: Goal Ladder + Talk Rehearsal · 12 min.</a:t>
            </a:r>
          </a:p>
          <a:p>
            <a:r>
              <a:t>Model your own talk first (1 min): give your 1-minute talk (Then → Now → Next, one reason). Example: "Ten years ago, I was a cook. Now I'm a volunteer teacher. Next year, I'm going to take a Spanish class, because I want to understand my neighbors. I hope to visit Mexico." Point to each part on the board as you speak.</a:t>
            </a:r>
          </a:p>
          <a:p>
            <a:r>
              <a:t>Goal Ladder, pairs (4 min): each learner fills in the ladder on the Talk Time page for one goal (step 1: I'll…; step 2: I'm going to…; top: I hope to…). Then explains it to a partner, who asks two follow-up questions (When? Why? Who can help you? What will you do first?). Each click shows the next step.</a:t>
            </a:r>
          </a:p>
          <a:p>
            <a:r>
              <a:t>Goals are personal (important): every goal is a good goal. "Learn more English" and "help my kids" are great goals. Learners don't have to share personal details; an invented goal is fine. Don't ask about immigration status, money, or family problems.</a:t>
            </a:r>
          </a:p>
          <a:p>
            <a:r>
              <a:t>Source: Level3_Lesson13.md (Step 5; Talk Time: Goal Ladder; Teacher notes).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drill (last 2 min of Step 4). Pairs.</a:t>
            </a:r>
          </a:p>
          <a:p>
            <a:r>
              <a:t>A asks "What are you going to do next year?" B answers and adds one I hope to… (I'm going to save money. I hope to buy a car.). Switch.</a:t>
            </a:r>
          </a:p>
          <a:p>
            <a:r>
              <a:t>If behind: skip the pair drill. Talk Time practices it.</a:t>
            </a:r>
          </a:p>
          <a:p>
            <a:r>
              <a:t>Source: Level3_Lesson13.md (Step 4: Pair drill).</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(never skip this table). Read a line from Don't say. Ask: "What's the right way?" Learners try first. Then click to show the right form. Each click shows one line, in order 1 to 4.</a:t>
            </a:r>
          </a:p>
          <a:p>
            <a:r>
              <a:t>Also typical this week: I hope I will to… (say: I hope I'll…).</a:t>
            </a:r>
          </a:p>
          <a:p>
            <a:r>
              <a:t>Say the right form clearly; the learner repeats. Learners can read the Spanish note and the tip on their Grammar page themselves; you don't need to explain them.</a:t>
            </a:r>
          </a:p>
          <a:p>
            <a:r>
              <a:t>Source: Level3_Lesson13.md (Grammar: Common mistakes; Teacher notes: Typical mistakes).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 Learners circle the right words. Pairs check.</a:t>
            </a:r>
          </a:p>
          <a:p>
            <a:r>
              <a:t>Click to circle each answer (one click per item, 1 to 5): 1 to get, 2 I'll, 3 going to, 4 to save, 5 I'll.</a:t>
            </a:r>
          </a:p>
          <a:p>
            <a:r>
              <a:t>Source: Level3_Lesson13.md (Step 4; Grammar Practice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A and B (3 min): learners write, then pairs check. Go over the answers.</a:t>
            </a:r>
          </a:p>
          <a:p>
            <a:r>
              <a:t>Click to show each answer (one click per item, 1 to 5): 1 going to, 2 'll, 3 hope to, 4 going to, 5 'll.</a:t>
            </a:r>
          </a:p>
          <a:p>
            <a:r>
              <a:t>Source: Level3_Lesson13.md (Step 4; Grammar Practice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4 (2 min): which one? Read the table. Then plan to / want to / hope to + verb. Each click shows one row.</a:t>
            </a:r>
          </a:p>
          <a:p>
            <a:r>
              <a:t>Three forms, three meanings: going to = already planned. will = decided now or a promise. hope to = you want it, but you're not sure.</a:t>
            </a:r>
          </a:p>
          <a:p>
            <a:r>
              <a:t>Check questions: "I ___ get my diploma." (hope to) • "Next year, I'm ___ take a computer class." (going to) • "The phone is ringing. I ___ get it!" ('ll) • "I hope I ___ have my own business." ('ll)</a:t>
            </a:r>
          </a:p>
          <a:p>
            <a:r>
              <a:t>Source: Level3_Lesson13.md (Step 4; Grammar Box 4; Teacher notes).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3: will = decided now or a promise. Each click shows the answer side of one row.</a:t>
            </a:r>
          </a:p>
          <a:p>
            <a:r>
              <a:t>Source: Level3_Lesson13.md (Step 4; Grammar Box 3).</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2. Point out: hope to + verb, but I hope I'll + verb. Both are fine. I hope I will to… is wrong. Each click shows the answer side of one row.</a:t>
            </a:r>
          </a:p>
          <a:p>
            <a:r>
              <a:t>Source: Level3_Lesson13.md (Step 4; Grammar Box 2; Teacher notes).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 6:30–6:45 · Grammar Q&amp;A · 15 min (slides 13 to 21). Whole class, then pairs. Show the Grammar page. The left side is the question. The right side is the answer.</a:t>
            </a:r>
          </a:p>
          <a:p>
            <a:r>
              <a:t>Show it (2 min): write three sentences on the board: I'm going to take a class in January. (planned) • OK, I'll call the college tomorrow. (decided now) • I hope to get a better job. (I want it, but I'm not sure).</a:t>
            </a:r>
          </a:p>
          <a:p>
            <a:r>
              <a:t>Boxes 1, 2, and 3 (5 min): read a question from the left; the class answers from the right. Each click shows the answer side of one row.</a:t>
            </a:r>
          </a:p>
          <a:p>
            <a:r>
              <a:t>Source: Level3_Lesson13.md (Step 4; Grammar Box 1).</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(2 min). Say: "In a talk, pause after each idea, and stress the important word." Read the line in the box with pauses.</a:t>
            </a:r>
          </a:p>
          <a:p>
            <a:r>
              <a:t>Then: "People often say going to as gonna. You can understand it; you don't need to say it." The class repeats the line twice.</a:t>
            </a:r>
          </a:p>
          <a:p>
            <a:r>
              <a:t>gonna: learners will hear it everywhere. They only need to understand it; in their talk, they say going to.</a:t>
            </a:r>
          </a:p>
          <a:p>
            <a:r>
              <a:t>Source: Level3_Lesson13.md (Step 3: "Say it"; Listening page: Say it; Teacher notes).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C (play 2). Click to show each answer (one click per item, 1 to 5): 1 hope to, 2 going to, 3 going to, 4 'll (I'll), 5 hope to.</a:t>
            </a:r>
          </a:p>
          <a:p>
            <a:r>
              <a:t>If behind: do Task C together on the board, reading the lines yourself.</a:t>
            </a:r>
          </a:p>
          <a:p>
            <a:r>
              <a:t>Source: Level3_Lesson13.md (Step 3; Listening Task C;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2 → Tasks B and C. Pairs compare. Then show the answers.</a:t>
            </a:r>
          </a:p>
          <a:p>
            <a:r>
              <a:t>Click to show each answer (one click per line, top to bottom): take a computer class 3 • came to this class 1 • work at a clinic 5 • works at a hotel 2 • apply for the certificate program 4 • the computer class starts in January • she works at a hotel.</a:t>
            </a:r>
          </a:p>
          <a:p>
            <a:r>
              <a:t>Source: Level3_Lesson13.md (Step 3; Listening Task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1 → Task A (her main goal). Pairs compare. Check together.</a:t>
            </a:r>
          </a:p>
          <a:p>
            <a:r>
              <a:t>Click to circle the answer: b (a medical assistant certificate).</a:t>
            </a:r>
          </a:p>
          <a:p>
            <a:r>
              <a:t>Then read Tasks B and C together (1 min) so learners know what to listen for.</a:t>
            </a:r>
          </a:p>
          <a:p>
            <a:r>
              <a:t>Source: Level3_Lesson13.md (Step 3; Listening Task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 6:18–6:30 · Listening + "Say it" · 12 min (slides 8 to 12). Individuals, then pairs check.</a:t>
            </a:r>
          </a:p>
          <a:p>
            <a:r>
              <a:t>Before you listen (1 min). Say: "Sofia was a Level 3 student. Tonight she's visiting the class. She's talking about her goals. What is her main goal? Listen."</a:t>
            </a:r>
          </a:p>
          <a:p>
            <a:r>
              <a:t>There are three voices: a Narrator, Sofia, and Mr. Novak (the teacher). Each click highlights the next voice.</a:t>
            </a:r>
          </a:p>
          <a:p>
            <a:r>
              <a:t>The audio (L3_L13_listening.mp3, about 1:15) plays the talk once. Press play again for play 2. A third play is fine if the class needs it.</a:t>
            </a:r>
          </a:p>
          <a:p>
            <a:r>
              <a:t>No speaker? Read the script with a volunteer at a normal, friendly speed.</a:t>
            </a:r>
          </a:p>
          <a:p>
            <a:r>
              <a:t>Audio: L3_L13_listening.mp3 (about 1:15) is not recorded yet (see level3/AUDIO_STATUS.md). It will use computer-generated voices (Chatterbox TTS cloned from synthetic Kokoro-82M reference clips); no recordings of real people. Until the file is ready, read the listening script with a volunteer. The names and the story are invented.</a:t>
            </a:r>
          </a:p>
          <a:p>
            <a:r>
              <a:t>Source: Level3_Lesson13.md (Step 3; Listening script; Listening page).</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Check meaning · 1 min. Whole class.</a:t>
            </a:r>
          </a:p>
          <a:p>
            <a:r>
              <a:t>The answers are hidden. Ask each question and wait for the class to answer. Then click to show the answer. Each click shows one answer, in order: 1, 2, 3.</a:t>
            </a:r>
          </a:p>
          <a:p>
            <a:r>
              <a:t>1. "You get a better job at the same company. It's a…?" (promotion) • 2. "You put money in the bank every month. You…?" (save money) • 3. "You need it to drive a car." (a driver's license)</a:t>
            </a:r>
          </a:p>
          <a:p>
            <a:r>
              <a:t>Source: Level3_Lesson13.md (Step 2: Check meaning).</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continued. Point to each picture and say the word. Learners repeat once.</a:t>
            </a:r>
          </a:p>
          <a:p>
            <a:r>
              <a:t>Partner game (2 min): A says a word. B points to the picture and makes a sentence about a goal (A: driver's license. B: I hope to get my driver's license next year.). Switch.</a:t>
            </a:r>
          </a:p>
          <a:p>
            <a:r>
              <a:t>If behind: teach the ★ words only.</a:t>
            </a:r>
          </a:p>
          <a:p>
            <a:r>
              <a:t>Source: Level3_Lesson13.md (Step 2; New Words page; Partner game).</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6:10–6:18 · New Words · 8 min (this slide and the next). Whole class, then pairs.</a:t>
            </a:r>
          </a:p>
          <a:p>
            <a:r>
              <a:t>Point to each picture and say the word. Learners repeat once. ★ = the most important words. Each click shows the next word.</a:t>
            </a:r>
          </a:p>
          <a:p>
            <a:r>
              <a:t>Show diploma and certificate: "A diploma is from a school, like high school. A certificate is for a job skill, like a medical assistant or a forklift driver."</a:t>
            </a:r>
          </a:p>
          <a:p>
            <a:r>
              <a:t>If behind: teach the ★ words only.</a:t>
            </a:r>
          </a:p>
          <a:p>
            <a:r>
              <a:t>Source: Level3_Lesson13.md (Step 2; Key vocabulary; New Words page).</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as they arrive.</a:t>
            </a:r>
          </a:p>
          <a:p>
            <a:r>
              <a:t>Point to the title and read it: "Where I'm going." Say: "Tonight we talk about our plans, our hopes, and our goals."</a:t>
            </a:r>
          </a:p>
          <a:p>
            <a:r>
              <a:t>Read the three lines under "Today you will". Give one quick example of each: "I'm going to take a computer class." • "I hope to get my diploma." • "Then → Now → Next."</a:t>
            </a:r>
          </a:p>
          <a:p>
            <a:r>
              <a:t>Goals are personal (important): every goal is a good goal. "Learn more English" and "help my kids" are great goals. Learners don't have to share personal details; an invented goal is fine. Don't ask about immigration status, money, or family problems.</a:t>
            </a:r>
          </a:p>
          <a:p>
            <a:r>
              <a:t>Source: Level3_Lesson13.md (Topic; At a glance: Objectives; Teacher notes).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goal slowly. Learners repeat.</a:t>
            </a:r>
          </a:p>
          <a:p>
            <a:r>
              <a:t>Goal 1: I'm going to take a computer class. Goal 2: I hope to get my diploma. / I hope I'll… Goal 3: First, I'll ask about classes.</a:t>
            </a:r>
          </a:p>
          <a:p>
            <a:r>
              <a:t>Goal 4: going to (planned), will (decided now, a promise), or hope to (not sure). Goal 5: Then → Now → Next. Learners also read a community college flyer and write a graduation talk (6–8 sentences) in Read &amp; Write.</a:t>
            </a:r>
          </a:p>
          <a:p>
            <a:r>
              <a:t>"We check at 7:25" = the Progress Check. It is not a test grade.</a:t>
            </a:r>
          </a:p>
          <a:p>
            <a:r>
              <a:t>Source: Level3_Lesson13.md (At a glance: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 6:00–6:10 · Opening Talk + Homework Check · 10 min. Pairs (7 pairs + 1 trio with 15 learners; 3–4 pairs with 7–8).</a:t>
            </a:r>
          </a:p>
          <a:p>
            <a:r>
              <a:t>Before class, write on the board: Is anything wrong? Something is wrong with… / No one is home.</a:t>
            </a:r>
          </a:p>
          <a:p>
            <a:r>
              <a:t>Model with one learner: "What did you do this year that you're proud of?" → (answer) → "How did you do it?" (Click to show the follow-up.)</a:t>
            </a:r>
          </a:p>
          <a:p>
            <a:r>
              <a:t>Opening Talk (6 min): learners open the Opening Talk page. A asks a card question; B answers with 2–3 sentences; A asks one follow-up. Switch after each card. The cards are on the next slide.</a:t>
            </a:r>
          </a:p>
          <a:p>
            <a:r>
              <a:t>If behind: one card only, then the homework check.</a:t>
            </a:r>
          </a:p>
          <a:p>
            <a:r>
              <a:t>Source: Level3_Lesson13.md (Step 1; Opening Talk page).</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continued. The four cards from the Opening Talk page. Each click shows the next card.</a:t>
            </a:r>
          </a:p>
          <a:p>
            <a:r>
              <a:t>A asks a card question. B answers with 2–3 sentences. A asks one follow-up question (follow-ups on the right). Then switch.</a:t>
            </a:r>
          </a:p>
          <a:p>
            <a:r>
              <a:t>Homework Check (4 min, last click): partners read their Lesson 12 Homework item 2 to each other. The partner asks one question about it. Walk around. Write 2 common errors on the board (often I didn't see nothing or Anything is wrong) and correct them together.</a:t>
            </a:r>
          </a:p>
          <a:p>
            <a:r>
              <a:t>Source: Level3_Lesson13.md (Step 1; Opening Talk page: cards, follow-ups, homework check).</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title: "Goodbye! See you next week!" Learners repeat.</a:t>
            </a:r>
          </a:p>
          <a:p>
            <a:r>
              <a:t>Read the three "Now you can" lines. Ask one learner: "What are you going to do next year?" and wait for an answer.</a:t>
            </a:r>
          </a:p>
          <a:p>
            <a:r>
              <a:t>Remind learners: next week (Week 15) is the final exam. Bring your talk draft to graduation (Week 16).</a:t>
            </a:r>
          </a:p>
          <a:p>
            <a:r>
              <a:t>Source: Level3_Lesson13.md (At a glance: Objectives; Step 6; Teacher notes).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4.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5.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14.png"/><Relationship Id="rId9" Type="http://schemas.openxmlformats.org/officeDocument/2006/relationships/image" Target="../media/image16.png"/><Relationship Id="rId10" Type="http://schemas.openxmlformats.org/officeDocument/2006/relationships/image" Target="../media/image17.png"/><Relationship Id="rId11" Type="http://schemas.openxmlformats.org/officeDocument/2006/relationships/image" Target="../media/image15.png"/><Relationship Id="rId12" Type="http://schemas.openxmlformats.org/officeDocument/2006/relationships/image" Target="../media/image18.png"/><Relationship Id="rId13" Type="http://schemas.openxmlformats.org/officeDocument/2006/relationships/image" Target="../media/image19.png"/><Relationship Id="rId14"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image" Target="../media/image23.png"/><Relationship Id="rId12" Type="http://schemas.openxmlformats.org/officeDocument/2006/relationships/image" Target="../media/image24.png"/><Relationship Id="rId13" Type="http://schemas.openxmlformats.org/officeDocument/2006/relationships/image" Target="../media/image25.png"/><Relationship Id="rId14"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3.png"/><Relationship Id="rId8"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8.png"/><Relationship Id="rId4" Type="http://schemas.openxmlformats.org/officeDocument/2006/relationships/notesSlide" Target="../notesSlides/notesSlide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4.png"/><Relationship Id="rId4" Type="http://schemas.openxmlformats.org/officeDocument/2006/relationships/notesSlide" Target="../notesSlides/notesSlide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6.png"/><Relationship Id="rId4" Type="http://schemas.openxmlformats.org/officeDocument/2006/relationships/notesSlide" Target="../notesSlides/notesSlide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7.png"/><Relationship Id="rId4" Type="http://schemas.openxmlformats.org/officeDocument/2006/relationships/notesSlide" Target="../notesSlides/notes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9.png"/><Relationship Id="rId4" Type="http://schemas.openxmlformats.org/officeDocument/2006/relationships/notesSlide" Target="../notesSlides/notesSlide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1.png"/><Relationship Id="rId4" Type="http://schemas.openxmlformats.org/officeDocument/2006/relationships/notesSlide" Target="../notesSlides/notesSlide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2.png"/><Relationship Id="rId4" Type="http://schemas.openxmlformats.org/officeDocument/2006/relationships/notesSlide" Target="../notesSlides/notesSlide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6.png"/><Relationship Id="rId4" Type="http://schemas.openxmlformats.org/officeDocument/2006/relationships/notesSlide" Target="../notesSlides/notesSlide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5.png"/><Relationship Id="rId4" Type="http://schemas.openxmlformats.org/officeDocument/2006/relationships/notesSlide" Target="../notesSlides/notes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5.png"/><Relationship Id="rId4" Type="http://schemas.openxmlformats.org/officeDocument/2006/relationships/notesSlide" Target="../notesSlides/notesSlide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9.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27.xml><?xml version="1.0" encoding="utf-8"?>
<p:sld xmlns:a="http://schemas.openxmlformats.org/drawingml/2006/main" xmlns:p="http://schemas.openxmlformats.org/presentationml/2006/main" xmlns:r="http://schemas.openxmlformats.org/officeDocument/2006/relationships">
  <p:cSld name="L3:titl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Plan: a calendar and a clipboard">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13  ·  Level 3</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5000" b="1" dirty="0">
                <a:solidFill>
                  <a:srgbClr val="1B2236"/>
                </a:solidFill>
                <a:latin typeface="Lexend Deca" pitchFamily="34" charset="0"/>
                <a:ea typeface="Lexend Deca" pitchFamily="34" charset="-122"/>
                <a:cs typeface="Lexend Deca" pitchFamily="34" charset="-120"/>
              </a:rPr>
              <a:t>Where I'm Going</a:t>
            </a:r>
            <a:endParaRPr lang="en-US" sz="50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Talk about a plan with going to</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Talk about hopes with hope to</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Give a short talk about your goals</a:t>
            </a:r>
            <a:endParaRPr lang="en-US" sz="22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L3:goals">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By the end of class, you can do these five things.</a:t>
            </a:r>
            <a:endParaRPr lang="en-US" sz="2000" dirty="0"/>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Every goal is a good goal.</a:t>
            </a:r>
            <a:endParaRPr lang="en-US" sz="2000" dirty="0" b="1"/>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We check at 7:25!</a:t>
            </a:r>
            <a:endParaRPr lang="en-US" sz="2000" dirty="0" b="1"/>
          </a:p>
        </p:txBody>
      </p:sp>
      <p:sp>
        <p:nvSpPr>
          <p:cNvPr id="31" name="R1 shadow"/>
          <p:cNvSpPr/>
          <p:nvPr/>
        </p:nvSpPr>
        <p:spPr>
          <a:xfrm>
            <a:off x="544982" y="2093062"/>
            <a:ext cx="6227064" cy="678668"/>
          </a:xfrm>
          <a:prstGeom prst="round1Rect">
            <a:avLst>
              <a:gd name="adj" fmla="val 23087"/>
            </a:avLst>
          </a:prstGeom>
          <a:solidFill>
            <a:srgbClr val="8FAFE3"/>
          </a:solidFill>
          <a:ln/>
        </p:spPr>
        <p:txBody>
          <a:bodyPr/>
          <a:p/>
        </p:txBody>
      </p:sp>
      <p:sp>
        <p:nvSpPr>
          <p:cNvPr id="32" name="R1 card"/>
          <p:cNvSpPr/>
          <p:nvPr/>
        </p:nvSpPr>
        <p:spPr>
          <a:xfrm>
            <a:off x="1583741" y="2035454"/>
            <a:ext cx="5130698" cy="678668"/>
          </a:xfrm>
          <a:prstGeom prst="round1Rect">
            <a:avLst>
              <a:gd name="adj" fmla="val 23087"/>
            </a:avLst>
          </a:prstGeom>
          <a:solidFill>
            <a:srgbClr val="FFFFFF"/>
          </a:solidFill>
          <a:ln/>
        </p:spPr>
        <p:txBody>
          <a:bodyPr/>
          <a:p/>
        </p:txBody>
      </p:sp>
      <p:sp>
        <p:nvSpPr>
          <p:cNvPr id="33" name="R1 chip"/>
          <p:cNvSpPr/>
          <p:nvPr/>
        </p:nvSpPr>
        <p:spPr>
          <a:xfrm>
            <a:off x="544982" y="2035454"/>
            <a:ext cx="1039673" cy="678668"/>
          </a:xfrm>
          <a:prstGeom prst="rect">
            <a:avLst/>
          </a:prstGeom>
          <a:solidFill>
            <a:srgbClr val="B9D2F7"/>
          </a:solidFill>
          <a:ln/>
        </p:spPr>
        <p:txBody>
          <a:bodyPr/>
          <a:p/>
        </p:txBody>
      </p:sp>
      <p:sp>
        <p:nvSpPr>
          <p:cNvPr id="34" name="R1 num"/>
          <p:cNvSpPr/>
          <p:nvPr/>
        </p:nvSpPr>
        <p:spPr>
          <a:xfrm>
            <a:off x="686714" y="2051548"/>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035454"/>
            <a:ext cx="4434840" cy="678668"/>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talk about a plan with going to.</a:t>
            </a:r>
            <a:endParaRPr lang="en-US" sz="1800" dirty="0"/>
          </a:p>
        </p:txBody>
      </p:sp>
      <p:sp>
        <p:nvSpPr>
          <p:cNvPr id="36" name="R1 dot"/>
          <p:cNvSpPr/>
          <p:nvPr/>
        </p:nvSpPr>
        <p:spPr>
          <a:xfrm rot="10800000">
            <a:off x="6361481" y="2168957"/>
            <a:ext cx="88697" cy="76810"/>
          </a:xfrm>
          <a:prstGeom prst="triangle">
            <a:avLst/>
          </a:prstGeom>
          <a:solidFill>
            <a:srgbClr val="8FAFE3"/>
          </a:solidFill>
          <a:ln/>
        </p:spPr>
        <p:txBody>
          <a:bodyPr/>
          <a:p/>
        </p:txBody>
      </p:sp>
      <p:sp>
        <p:nvSpPr>
          <p:cNvPr id="37" name="R2 card"/>
          <p:cNvSpPr/>
          <p:nvPr/>
        </p:nvSpPr>
        <p:spPr>
          <a:xfrm>
            <a:off x="1583741" y="2822936"/>
            <a:ext cx="5130698" cy="678668"/>
          </a:xfrm>
          <a:prstGeom prst="round1Rect">
            <a:avLst>
              <a:gd name="adj" fmla="val 23087"/>
            </a:avLst>
          </a:prstGeom>
          <a:solidFill>
            <a:srgbClr val="FFFFFF"/>
          </a:solidFill>
          <a:ln/>
        </p:spPr>
        <p:txBody>
          <a:bodyPr/>
          <a:p/>
        </p:txBody>
      </p:sp>
      <p:sp>
        <p:nvSpPr>
          <p:cNvPr id="38" name="R2 chip"/>
          <p:cNvSpPr/>
          <p:nvPr/>
        </p:nvSpPr>
        <p:spPr>
          <a:xfrm>
            <a:off x="544982" y="2822936"/>
            <a:ext cx="1039673" cy="678668"/>
          </a:xfrm>
          <a:prstGeom prst="rect">
            <a:avLst/>
          </a:prstGeom>
          <a:solidFill>
            <a:srgbClr val="B9D2F7"/>
          </a:solidFill>
          <a:ln/>
        </p:spPr>
        <p:txBody>
          <a:bodyPr/>
          <a:p/>
        </p:txBody>
      </p:sp>
      <p:sp>
        <p:nvSpPr>
          <p:cNvPr id="39" name="R2 num"/>
          <p:cNvSpPr/>
          <p:nvPr/>
        </p:nvSpPr>
        <p:spPr>
          <a:xfrm>
            <a:off x="686714" y="2839029"/>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2822936"/>
            <a:ext cx="4434840" cy="678668"/>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talk about hopes with hope to.</a:t>
            </a:r>
            <a:endParaRPr lang="en-US" sz="1800" dirty="0"/>
          </a:p>
        </p:txBody>
      </p:sp>
      <p:sp>
        <p:nvSpPr>
          <p:cNvPr id="41" name="R2 dot"/>
          <p:cNvSpPr/>
          <p:nvPr/>
        </p:nvSpPr>
        <p:spPr>
          <a:xfrm rot="10800000">
            <a:off x="6361481" y="2956438"/>
            <a:ext cx="88697" cy="76810"/>
          </a:xfrm>
          <a:prstGeom prst="triangle">
            <a:avLst/>
          </a:prstGeom>
          <a:solidFill>
            <a:srgbClr val="8FAFE3"/>
          </a:solidFill>
          <a:ln/>
        </p:spPr>
        <p:txBody>
          <a:bodyPr/>
          <a:p/>
        </p:txBody>
      </p:sp>
      <p:sp>
        <p:nvSpPr>
          <p:cNvPr id="42" name="R3 card"/>
          <p:cNvSpPr/>
          <p:nvPr/>
        </p:nvSpPr>
        <p:spPr>
          <a:xfrm>
            <a:off x="1583741" y="3610417"/>
            <a:ext cx="5130698" cy="678668"/>
          </a:xfrm>
          <a:prstGeom prst="round1Rect">
            <a:avLst>
              <a:gd name="adj" fmla="val 23087"/>
            </a:avLst>
          </a:prstGeom>
          <a:solidFill>
            <a:srgbClr val="FFFFFF"/>
          </a:solidFill>
          <a:ln/>
        </p:spPr>
        <p:txBody>
          <a:bodyPr/>
          <a:p/>
        </p:txBody>
      </p:sp>
      <p:sp>
        <p:nvSpPr>
          <p:cNvPr id="43" name="R3 chip"/>
          <p:cNvSpPr/>
          <p:nvPr/>
        </p:nvSpPr>
        <p:spPr>
          <a:xfrm>
            <a:off x="544982" y="3610417"/>
            <a:ext cx="1039673" cy="678668"/>
          </a:xfrm>
          <a:prstGeom prst="rect">
            <a:avLst/>
          </a:prstGeom>
          <a:solidFill>
            <a:srgbClr val="B9D2F7"/>
          </a:solidFill>
          <a:ln/>
        </p:spPr>
        <p:txBody>
          <a:bodyPr/>
          <a:p/>
        </p:txBody>
      </p:sp>
      <p:sp>
        <p:nvSpPr>
          <p:cNvPr id="44" name="R3 num"/>
          <p:cNvSpPr/>
          <p:nvPr/>
        </p:nvSpPr>
        <p:spPr>
          <a:xfrm>
            <a:off x="686714" y="3626510"/>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610417"/>
            <a:ext cx="4434840" cy="678668"/>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say what I will do first.</a:t>
            </a:r>
            <a:endParaRPr lang="en-US" sz="1800" dirty="0"/>
          </a:p>
        </p:txBody>
      </p:sp>
      <p:sp>
        <p:nvSpPr>
          <p:cNvPr id="46" name="R3 dot"/>
          <p:cNvSpPr/>
          <p:nvPr/>
        </p:nvSpPr>
        <p:spPr>
          <a:xfrm rot="10800000">
            <a:off x="6361481" y="3743919"/>
            <a:ext cx="88697" cy="76810"/>
          </a:xfrm>
          <a:prstGeom prst="triangle">
            <a:avLst/>
          </a:prstGeom>
          <a:solidFill>
            <a:srgbClr val="8FAFE3"/>
          </a:solidFill>
          <a:ln/>
        </p:spPr>
        <p:txBody>
          <a:bodyPr/>
          <a:p/>
        </p:txBody>
      </p:sp>
      <p:sp>
        <p:nvSpPr>
          <p:cNvPr id="47" name="R4 card"/>
          <p:cNvSpPr/>
          <p:nvPr/>
        </p:nvSpPr>
        <p:spPr>
          <a:xfrm>
            <a:off x="1583741" y="4397898"/>
            <a:ext cx="5130698" cy="678668"/>
          </a:xfrm>
          <a:prstGeom prst="round1Rect">
            <a:avLst>
              <a:gd name="adj" fmla="val 23087"/>
            </a:avLst>
          </a:prstGeom>
          <a:solidFill>
            <a:srgbClr val="FFFFFF"/>
          </a:solidFill>
          <a:ln/>
        </p:spPr>
        <p:txBody>
          <a:bodyPr/>
          <a:p/>
        </p:txBody>
      </p:sp>
      <p:sp>
        <p:nvSpPr>
          <p:cNvPr id="48" name="R4 chip"/>
          <p:cNvSpPr/>
          <p:nvPr/>
        </p:nvSpPr>
        <p:spPr>
          <a:xfrm>
            <a:off x="544982" y="4397898"/>
            <a:ext cx="1039673" cy="678668"/>
          </a:xfrm>
          <a:prstGeom prst="rect">
            <a:avLst/>
          </a:prstGeom>
          <a:solidFill>
            <a:srgbClr val="B9D2F7"/>
          </a:solidFill>
          <a:ln/>
        </p:spPr>
        <p:txBody>
          <a:bodyPr/>
          <a:p/>
        </p:txBody>
      </p:sp>
      <p:sp>
        <p:nvSpPr>
          <p:cNvPr id="49" name="R4 num"/>
          <p:cNvSpPr/>
          <p:nvPr/>
        </p:nvSpPr>
        <p:spPr>
          <a:xfrm>
            <a:off x="686714" y="4413992"/>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397898"/>
            <a:ext cx="4434840" cy="678668"/>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choose going to, will, or hope to.</a:t>
            </a:r>
            <a:endParaRPr lang="en-US" sz="1800" dirty="0"/>
          </a:p>
        </p:txBody>
      </p:sp>
      <p:sp>
        <p:nvSpPr>
          <p:cNvPr id="51" name="R4 dot"/>
          <p:cNvSpPr/>
          <p:nvPr/>
        </p:nvSpPr>
        <p:spPr>
          <a:xfrm rot="10800000">
            <a:off x="6361481" y="4531401"/>
            <a:ext cx="88697" cy="76810"/>
          </a:xfrm>
          <a:prstGeom prst="triangle">
            <a:avLst/>
          </a:prstGeom>
          <a:solidFill>
            <a:srgbClr val="8FAFE3"/>
          </a:solidFill>
          <a:ln/>
        </p:spPr>
        <p:txBody>
          <a:bodyPr/>
          <a:p/>
        </p:txBody>
      </p:sp>
      <p:sp>
        <p:nvSpPr>
          <p:cNvPr id="52" name="R5 card"/>
          <p:cNvSpPr/>
          <p:nvPr/>
        </p:nvSpPr>
        <p:spPr>
          <a:xfrm>
            <a:off x="1583741" y="5185380"/>
            <a:ext cx="5130698" cy="678668"/>
          </a:xfrm>
          <a:prstGeom prst="round1Rect">
            <a:avLst>
              <a:gd name="adj" fmla="val 23087"/>
            </a:avLst>
          </a:prstGeom>
          <a:solidFill>
            <a:srgbClr val="FFFFFF"/>
          </a:solidFill>
          <a:ln/>
        </p:spPr>
        <p:txBody>
          <a:bodyPr/>
          <a:p/>
        </p:txBody>
      </p:sp>
      <p:sp>
        <p:nvSpPr>
          <p:cNvPr id="53" name="R5 chip"/>
          <p:cNvSpPr/>
          <p:nvPr/>
        </p:nvSpPr>
        <p:spPr>
          <a:xfrm>
            <a:off x="544982" y="5185380"/>
            <a:ext cx="1039673" cy="678668"/>
          </a:xfrm>
          <a:prstGeom prst="rect">
            <a:avLst/>
          </a:prstGeom>
          <a:solidFill>
            <a:srgbClr val="B9D2F7"/>
          </a:solidFill>
          <a:ln/>
        </p:spPr>
        <p:txBody>
          <a:bodyPr/>
          <a:p/>
        </p:txBody>
      </p:sp>
      <p:sp>
        <p:nvSpPr>
          <p:cNvPr id="54" name="R5 num"/>
          <p:cNvSpPr/>
          <p:nvPr/>
        </p:nvSpPr>
        <p:spPr>
          <a:xfrm>
            <a:off x="686714" y="5201473"/>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185380"/>
            <a:ext cx="4434840" cy="678668"/>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give a 1–2 minute talk about my goals.</a:t>
            </a:r>
            <a:endParaRPr lang="en-US" sz="1800" dirty="0"/>
          </a:p>
        </p:txBody>
      </p:sp>
      <p:sp>
        <p:nvSpPr>
          <p:cNvPr id="56" name="R5 dot"/>
          <p:cNvSpPr/>
          <p:nvPr/>
        </p:nvSpPr>
        <p:spPr>
          <a:xfrm rot="10800000">
            <a:off x="6361481" y="5318882"/>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name="L3:warmup">
    <p:bg>
      <p:bgPr>
        <a:solidFill>
          <a:srgbClr val="F1F5FB"/>
        </a:solidFill>
      </p:bgPr>
    </p:bg>
    <p:spTree>
      <p:nvGrpSpPr>
        <p:cNvPr id="1" name=""/>
        <p:cNvGrpSpPr/>
        <p:nvPr/>
      </p:nvGrpSpPr>
      <p:grpSpPr/>
      <p:sp>
        <p:nvSpPr>
          <p:cNvPr id="2" name="Shape 0"/>
          <p:cNvSpPr/>
          <p:nvPr/>
        </p:nvSpPr>
        <p:spPr>
          <a:xfrm>
            <a:off x="487604" y="1352535"/>
            <a:ext cx="5246827" cy="1783080"/>
          </a:xfrm>
          <a:prstGeom prst="roundRect">
            <a:avLst>
              <a:gd name="adj" fmla="val 16667"/>
            </a:avLst>
          </a:prstGeom>
          <a:solidFill>
            <a:srgbClr val="8FAFE3"/>
          </a:solidFill>
          <a:ln/>
        </p:spPr>
        <p:txBody>
          <a:bodyPr/>
          <a:p/>
        </p:txBody>
      </p:sp>
      <p:sp>
        <p:nvSpPr>
          <p:cNvPr id="3" name="Shape 1"/>
          <p:cNvSpPr/>
          <p:nvPr/>
        </p:nvSpPr>
        <p:spPr>
          <a:xfrm>
            <a:off x="518465" y="1300277"/>
            <a:ext cx="5246827" cy="1783080"/>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pic" descr="Diploma: a scroll and a graduation cap"/>
          <p:cNvPicPr>
            <a:picLocks noChangeAspect="1"/>
          </p:cNvPicPr>
          <p:nvPr/>
        </p:nvPicPr>
        <p:blipFill>
          <a:blip r:embed="rId3"/>
          <a:stretch>
            <a:fillRect/>
          </a:stretch>
        </p:blipFill>
        <p:spPr>
          <a:xfrm>
            <a:off x="6800393" y="2104034"/>
            <a:ext cx="4754880" cy="3328416"/>
          </a:xfrm>
          <a:prstGeom prst="rect">
            <a:avLst/>
          </a:prstGeom>
        </p:spPr>
      </p:pic>
      <p:sp>
        <p:nvSpPr>
          <p:cNvPr id="7" name="title"/>
          <p:cNvSpPr/>
          <p:nvPr/>
        </p:nvSpPr>
        <p:spPr>
          <a:xfrm>
            <a:off x="548640" y="1764792"/>
            <a:ext cx="5120640" cy="123444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p:txBody>
      </p:sp>
      <p:sp>
        <p:nvSpPr>
          <p:cNvPr id="8" name="kicker"/>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OPENING TALK  ·  6:00</a:t>
            </a:r>
            <a:endParaRPr lang="en-US" sz="2000" dirty="0" b="1"/>
          </a:p>
        </p:txBody>
      </p:sp>
      <p:sp>
        <p:nvSpPr>
          <p:cNvPr id="9" name="box1"/>
          <p:cNvSpPr/>
          <p:nvPr/>
        </p:nvSpPr>
        <p:spPr>
          <a:xfrm>
            <a:off x="599846" y="3383280"/>
            <a:ext cx="4846320" cy="1188720"/>
          </a:xfrm>
          <a:prstGeom prst="rect">
            <a:avLst/>
          </a:prstGeom>
          <a:noFill/>
          <a:ln/>
        </p:spPr>
        <p:txBody>
          <a:bodyPr wrap="square" lIns="0" tIns="0" rIns="0" bIns="0" rtlCol="0" anchor="t"/>
          <a:lstStyle/>
          <a:p>
            <a:pPr algn="l" indent="0" marL="0">
              <a:lnSpc>
                <a:spcPct val="110000"/>
              </a:lnSpc>
              <a:buNone/>
            </a:pPr>
            <a:r>
              <a:rPr lang="en-US" sz="2000" dirty="0" b="1">
                <a:solidFill>
                  <a:srgbClr val="5B3FC4"/>
                </a:solidFill>
                <a:latin typeface="Lexend Deca" pitchFamily="34" charset="0"/>
                <a:ea typeface="Lexend Deca" pitchFamily="34" charset="-122"/>
                <a:cs typeface="Lexend Deca" pitchFamily="34" charset="-120"/>
              </a:rPr>
              <a:t>A asks a card question.</a:t>
            </a:r>
            <a:endParaRPr lang="en-US" sz="2000" dirty="0" b="1"/>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What did you do this year that you're proud of?</a:t>
            </a:r>
            <a:endParaRPr lang="en-US" sz="2000" dirty="0"/>
          </a:p>
          <a:p>
            <a:pPr algn="l" indent="0" marL="0">
              <a:lnSpc>
                <a:spcPct val="110000"/>
              </a:lnSpc>
              <a:buNone/>
            </a:pPr>
            <a:r>
              <a:rPr lang="en-US" sz="2000" dirty="0" b="1">
                <a:solidFill>
                  <a:srgbClr val="1B2236"/>
                </a:solidFill>
                <a:latin typeface="Lexend Deca" pitchFamily="34" charset="0"/>
                <a:ea typeface="Lexend Deca" pitchFamily="34" charset="-122"/>
                <a:cs typeface="Lexend Deca" pitchFamily="34" charset="-120"/>
              </a:rPr>
              <a:t>B answers with 2–3 sentences.</a:t>
            </a:r>
            <a:endParaRPr lang="en-US" sz="2000" dirty="0" b="1"/>
          </a:p>
        </p:txBody>
      </p:sp>
      <p:sp>
        <p:nvSpPr>
          <p:cNvPr id="14" name="box2"/>
          <p:cNvSpPr/>
          <p:nvPr/>
        </p:nvSpPr>
        <p:spPr>
          <a:xfrm>
            <a:off x="599846" y="4754880"/>
            <a:ext cx="4846320" cy="160020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A asks one follow-up.</a:t>
            </a:r>
            <a:endParaRPr lang="en-US" sz="2000" dirty="0" b="1"/>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How did you do it?</a:t>
            </a:r>
            <a:endParaRPr lang="en-US" sz="2000" dirty="0" b="0"/>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Then switch.</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name="L3:numlist">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Cards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1800" dirty="0">
                <a:solidFill>
                  <a:srgbClr val="1B2236"/>
                </a:solidFill>
                <a:latin typeface="Lexend Deca" pitchFamily="34" charset="0"/>
                <a:ea typeface="Lexend Deca" pitchFamily="34" charset="-122"/>
                <a:cs typeface="Lexend Deca" pitchFamily="34" charset="-120"/>
              </a:rPr>
              <a:t>Work with a partner. Then switch.</a:t>
            </a:r>
            <a:endParaRPr lang="en-US" sz="1800" dirty="0"/>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Follow-ups:</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How did you do it? Why? Who helped you?</a:t>
            </a:r>
            <a:endParaRPr lang="en-US" sz="1800" dirty="0" b="1"/>
          </a:p>
        </p:txBody>
      </p:sp>
      <p:sp>
        <p:nvSpPr>
          <p:cNvPr id="31" name="R1 shadow"/>
          <p:cNvSpPr/>
          <p:nvPr/>
        </p:nvSpPr>
        <p:spPr>
          <a:xfrm>
            <a:off x="544982" y="2471623"/>
            <a:ext cx="6227064" cy="602590"/>
          </a:xfrm>
          <a:prstGeom prst="round1Rect">
            <a:avLst>
              <a:gd name="adj" fmla="val 23087"/>
            </a:avLst>
          </a:prstGeom>
          <a:solidFill>
            <a:srgbClr val="8FAFE3"/>
          </a:solidFill>
          <a:ln/>
        </p:spPr>
        <p:txBody>
          <a:bodyPr/>
          <a:p/>
        </p:txBody>
      </p:sp>
      <p:sp>
        <p:nvSpPr>
          <p:cNvPr id="32" name="R1 card"/>
          <p:cNvSpPr/>
          <p:nvPr/>
        </p:nvSpPr>
        <p:spPr>
          <a:xfrm>
            <a:off x="1583741" y="2414016"/>
            <a:ext cx="5130698" cy="602590"/>
          </a:xfrm>
          <a:prstGeom prst="round1Rect">
            <a:avLst>
              <a:gd name="adj" fmla="val 23087"/>
            </a:avLst>
          </a:prstGeom>
          <a:solidFill>
            <a:srgbClr val="FFFFFF"/>
          </a:solidFill>
          <a:ln/>
        </p:spPr>
        <p:txBody>
          <a:bodyPr/>
          <a:p/>
        </p:txBody>
      </p:sp>
      <p:sp>
        <p:nvSpPr>
          <p:cNvPr id="33" name="R1 chip"/>
          <p:cNvSpPr/>
          <p:nvPr/>
        </p:nvSpPr>
        <p:spPr>
          <a:xfrm>
            <a:off x="544982" y="2414016"/>
            <a:ext cx="1039673" cy="602590"/>
          </a:xfrm>
          <a:prstGeom prst="rect">
            <a:avLst/>
          </a:prstGeom>
          <a:solidFill>
            <a:srgbClr val="B9D2F7"/>
          </a:solidFill>
          <a:ln/>
        </p:spPr>
        <p:txBody>
          <a:bodyPr/>
          <a:p/>
        </p:txBody>
      </p:sp>
      <p:sp>
        <p:nvSpPr>
          <p:cNvPr id="34" name="R1 num"/>
          <p:cNvSpPr/>
          <p:nvPr/>
        </p:nvSpPr>
        <p:spPr>
          <a:xfrm>
            <a:off x="686714" y="2414016"/>
            <a:ext cx="1109167" cy="602590"/>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41401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did you do this year that you're proud of?</a:t>
            </a:r>
            <a:endParaRPr lang="en-US" sz="1800" dirty="0"/>
          </a:p>
        </p:txBody>
      </p:sp>
      <p:sp>
        <p:nvSpPr>
          <p:cNvPr id="36" name="R1 dot"/>
          <p:cNvSpPr/>
          <p:nvPr/>
        </p:nvSpPr>
        <p:spPr>
          <a:xfrm rot="10800000">
            <a:off x="6361481" y="2547518"/>
            <a:ext cx="88697" cy="76810"/>
          </a:xfrm>
          <a:prstGeom prst="triangle">
            <a:avLst/>
          </a:prstGeom>
          <a:solidFill>
            <a:srgbClr val="8FAFE3"/>
          </a:solidFill>
          <a:ln/>
        </p:spPr>
        <p:txBody>
          <a:bodyPr/>
          <a:p/>
        </p:txBody>
      </p:sp>
      <p:sp>
        <p:nvSpPr>
          <p:cNvPr id="37" name="R2 card"/>
          <p:cNvSpPr/>
          <p:nvPr/>
        </p:nvSpPr>
        <p:spPr>
          <a:xfrm>
            <a:off x="1583741" y="3125419"/>
            <a:ext cx="5130698" cy="602590"/>
          </a:xfrm>
          <a:prstGeom prst="round1Rect">
            <a:avLst>
              <a:gd name="adj" fmla="val 23087"/>
            </a:avLst>
          </a:prstGeom>
          <a:solidFill>
            <a:srgbClr val="FFFFFF"/>
          </a:solidFill>
          <a:ln/>
        </p:spPr>
        <p:txBody>
          <a:bodyPr/>
          <a:p/>
        </p:txBody>
      </p:sp>
      <p:sp>
        <p:nvSpPr>
          <p:cNvPr id="38" name="R2 chip"/>
          <p:cNvSpPr/>
          <p:nvPr/>
        </p:nvSpPr>
        <p:spPr>
          <a:xfrm>
            <a:off x="544982" y="3125419"/>
            <a:ext cx="1039673" cy="602590"/>
          </a:xfrm>
          <a:prstGeom prst="rect">
            <a:avLst/>
          </a:prstGeom>
          <a:solidFill>
            <a:srgbClr val="B9D2F7"/>
          </a:solidFill>
          <a:ln/>
        </p:spPr>
        <p:txBody>
          <a:bodyPr/>
          <a:p/>
        </p:txBody>
      </p:sp>
      <p:sp>
        <p:nvSpPr>
          <p:cNvPr id="39" name="R2 num"/>
          <p:cNvSpPr/>
          <p:nvPr/>
        </p:nvSpPr>
        <p:spPr>
          <a:xfrm>
            <a:off x="686714" y="312541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312541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Is anything difficult for you in English? What?</a:t>
            </a:r>
            <a:endParaRPr lang="en-US" sz="1800" dirty="0"/>
          </a:p>
        </p:txBody>
      </p:sp>
      <p:sp>
        <p:nvSpPr>
          <p:cNvPr id="41" name="R2 dot"/>
          <p:cNvSpPr/>
          <p:nvPr/>
        </p:nvSpPr>
        <p:spPr>
          <a:xfrm rot="10800000">
            <a:off x="6361481" y="3258922"/>
            <a:ext cx="88697" cy="76810"/>
          </a:xfrm>
          <a:prstGeom prst="triangle">
            <a:avLst/>
          </a:prstGeom>
          <a:solidFill>
            <a:srgbClr val="8FAFE3"/>
          </a:solidFill>
          <a:ln/>
        </p:spPr>
        <p:txBody>
          <a:bodyPr/>
          <a:p/>
        </p:txBody>
      </p:sp>
      <p:sp>
        <p:nvSpPr>
          <p:cNvPr id="42" name="R3 card"/>
          <p:cNvSpPr/>
          <p:nvPr/>
        </p:nvSpPr>
        <p:spPr>
          <a:xfrm>
            <a:off x="1583741" y="3836822"/>
            <a:ext cx="5130698" cy="602590"/>
          </a:xfrm>
          <a:prstGeom prst="round1Rect">
            <a:avLst>
              <a:gd name="adj" fmla="val 23087"/>
            </a:avLst>
          </a:prstGeom>
          <a:solidFill>
            <a:srgbClr val="FFFFFF"/>
          </a:solidFill>
          <a:ln/>
        </p:spPr>
        <p:txBody>
          <a:bodyPr/>
          <a:p/>
        </p:txBody>
      </p:sp>
      <p:sp>
        <p:nvSpPr>
          <p:cNvPr id="43" name="R3 chip"/>
          <p:cNvSpPr/>
          <p:nvPr/>
        </p:nvSpPr>
        <p:spPr>
          <a:xfrm>
            <a:off x="544982" y="3836822"/>
            <a:ext cx="1039673" cy="602590"/>
          </a:xfrm>
          <a:prstGeom prst="rect">
            <a:avLst/>
          </a:prstGeom>
          <a:solidFill>
            <a:srgbClr val="B9D2F7"/>
          </a:solidFill>
          <a:ln/>
        </p:spPr>
        <p:txBody>
          <a:bodyPr/>
          <a:p/>
        </p:txBody>
      </p:sp>
      <p:sp>
        <p:nvSpPr>
          <p:cNvPr id="44" name="R3 num"/>
          <p:cNvSpPr/>
          <p:nvPr/>
        </p:nvSpPr>
        <p:spPr>
          <a:xfrm>
            <a:off x="686714" y="3836822"/>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836822"/>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Something is wrong with your car. What do you do?</a:t>
            </a:r>
            <a:endParaRPr lang="en-US" sz="1800" dirty="0"/>
          </a:p>
        </p:txBody>
      </p:sp>
      <p:sp>
        <p:nvSpPr>
          <p:cNvPr id="46" name="R3 dot"/>
          <p:cNvSpPr/>
          <p:nvPr/>
        </p:nvSpPr>
        <p:spPr>
          <a:xfrm rot="10800000">
            <a:off x="6361481" y="3970325"/>
            <a:ext cx="88697" cy="76810"/>
          </a:xfrm>
          <a:prstGeom prst="triangle">
            <a:avLst/>
          </a:prstGeom>
          <a:solidFill>
            <a:srgbClr val="8FAFE3"/>
          </a:solidFill>
          <a:ln/>
        </p:spPr>
        <p:txBody>
          <a:bodyPr/>
          <a:p/>
        </p:txBody>
      </p:sp>
      <p:sp>
        <p:nvSpPr>
          <p:cNvPr id="47" name="R4 card"/>
          <p:cNvSpPr/>
          <p:nvPr/>
        </p:nvSpPr>
        <p:spPr>
          <a:xfrm>
            <a:off x="1583741" y="4548226"/>
            <a:ext cx="5130698" cy="602590"/>
          </a:xfrm>
          <a:prstGeom prst="round1Rect">
            <a:avLst>
              <a:gd name="adj" fmla="val 23087"/>
            </a:avLst>
          </a:prstGeom>
          <a:solidFill>
            <a:srgbClr val="FFFFFF"/>
          </a:solidFill>
          <a:ln/>
        </p:spPr>
        <p:txBody>
          <a:bodyPr/>
          <a:p/>
        </p:txBody>
      </p:sp>
      <p:sp>
        <p:nvSpPr>
          <p:cNvPr id="48" name="R4 chip"/>
          <p:cNvSpPr/>
          <p:nvPr/>
        </p:nvSpPr>
        <p:spPr>
          <a:xfrm>
            <a:off x="544982" y="4548226"/>
            <a:ext cx="1039673" cy="602590"/>
          </a:xfrm>
          <a:prstGeom prst="rect">
            <a:avLst/>
          </a:prstGeom>
          <a:solidFill>
            <a:srgbClr val="B9D2F7"/>
          </a:solidFill>
          <a:ln/>
        </p:spPr>
        <p:txBody>
          <a:bodyPr/>
          <a:p/>
        </p:txBody>
      </p:sp>
      <p:sp>
        <p:nvSpPr>
          <p:cNvPr id="49" name="R4 num"/>
          <p:cNvSpPr/>
          <p:nvPr/>
        </p:nvSpPr>
        <p:spPr>
          <a:xfrm>
            <a:off x="686714" y="4548226"/>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54822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Did you learn anything new this month? What?</a:t>
            </a:r>
            <a:endParaRPr lang="en-US" sz="1800" dirty="0"/>
          </a:p>
        </p:txBody>
      </p:sp>
      <p:sp>
        <p:nvSpPr>
          <p:cNvPr id="51" name="R4 dot"/>
          <p:cNvSpPr/>
          <p:nvPr/>
        </p:nvSpPr>
        <p:spPr>
          <a:xfrm rot="10800000">
            <a:off x="6361481" y="4681728"/>
            <a:ext cx="88697" cy="76810"/>
          </a:xfrm>
          <a:prstGeom prst="triangle">
            <a:avLst/>
          </a:prstGeom>
          <a:solidFill>
            <a:srgbClr val="8FAFE3"/>
          </a:solidFill>
          <a:ln/>
        </p:spPr>
        <p:txBody>
          <a:bodyPr/>
          <a:p/>
        </p:txBody>
      </p:sp>
      <p:sp>
        <p:nvSpPr>
          <p:cNvPr id="52" name="R5 card"/>
          <p:cNvSpPr/>
          <p:nvPr/>
        </p:nvSpPr>
        <p:spPr>
          <a:xfrm>
            <a:off x="1583741" y="5259629"/>
            <a:ext cx="5130698" cy="602590"/>
          </a:xfrm>
          <a:prstGeom prst="round1Rect">
            <a:avLst>
              <a:gd name="adj" fmla="val 23087"/>
            </a:avLst>
          </a:prstGeom>
          <a:solidFill>
            <a:srgbClr val="FFFFFF"/>
          </a:solidFill>
          <a:ln/>
        </p:spPr>
        <p:txBody>
          <a:bodyPr/>
          <a:p/>
        </p:txBody>
      </p:sp>
      <p:sp>
        <p:nvSpPr>
          <p:cNvPr id="53" name="R5 chip"/>
          <p:cNvSpPr/>
          <p:nvPr/>
        </p:nvSpPr>
        <p:spPr>
          <a:xfrm>
            <a:off x="544982" y="5259629"/>
            <a:ext cx="1039673" cy="602590"/>
          </a:xfrm>
          <a:prstGeom prst="rect">
            <a:avLst/>
          </a:prstGeom>
          <a:solidFill>
            <a:srgbClr val="B9D2F7"/>
          </a:solidFill>
          <a:ln/>
        </p:spPr>
        <p:txBody>
          <a:bodyPr/>
          <a:p/>
        </p:txBody>
      </p:sp>
      <p:sp>
        <p:nvSpPr>
          <p:cNvPr id="54" name="R5 num"/>
          <p:cNvSpPr/>
          <p:nvPr/>
        </p:nvSpPr>
        <p:spPr>
          <a:xfrm>
            <a:off x="686714" y="525962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25962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Homework check: Lesson 12, item 2.</a:t>
            </a:r>
            <a:endParaRPr lang="en-US" sz="1800" dirty="0"/>
          </a:p>
        </p:txBody>
      </p:sp>
      <p:sp>
        <p:nvSpPr>
          <p:cNvPr id="56" name="R5 dot"/>
          <p:cNvSpPr/>
          <p:nvPr/>
        </p:nvSpPr>
        <p:spPr>
          <a:xfrm rot="10800000">
            <a:off x="6361481" y="5393131"/>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name="L3: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endParaRPr lang="en-US" sz="2200" dirty="0" b="1"/>
          </a:p>
        </p:txBody>
      </p:sp>
      <p:pic>
        <p:nvPicPr>
          <p:cNvPr id="17" name="Word picture 1" descr="Plan: a calendar and a clipboard"/>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plan</a:t>
            </a:r>
            <a:endParaRPr lang="en-US" sz="2000" dirty="0" b="1"/>
          </a:p>
        </p:txBody>
      </p:sp>
      <p:pic>
        <p:nvPicPr>
          <p:cNvPr id="19" name="Word picture 2" descr="Hope: a person with crossed fingers and a thought bubble with a house"/>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hope</a:t>
            </a:r>
            <a:endParaRPr lang="en-US" sz="2000" dirty="0" b="1"/>
          </a:p>
        </p:txBody>
      </p:sp>
      <p:pic>
        <p:nvPicPr>
          <p:cNvPr id="21" name="Word picture 3" descr="Decide: a person, two drawn arrows, a check mark on one"/>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decide</a:t>
            </a:r>
            <a:endParaRPr lang="en-US" sz="2000" dirty="0" b="1"/>
          </a:p>
        </p:txBody>
      </p:sp>
      <p:pic>
        <p:nvPicPr>
          <p:cNvPr id="23" name="Word picture 4" descr="Diploma: a scroll and a graduation cap"/>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diploma</a:t>
            </a:r>
            <a:endParaRPr lang="en-US" sz="2000" dirty="0" b="1"/>
          </a:p>
        </p:txBody>
      </p:sp>
      <p:pic>
        <p:nvPicPr>
          <p:cNvPr id="25" name="Word picture 5" descr="Certificate: a drawn certificate and a rosette"/>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certificate</a:t>
            </a:r>
            <a:endParaRPr lang="en-US" sz="2000" dirty="0" b="1"/>
          </a:p>
        </p:txBody>
      </p:sp>
      <p:pic>
        <p:nvPicPr>
          <p:cNvPr id="27" name="Word picture 6" descr="Career: a briefcase and a chart going up"/>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career</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name="L3: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More 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 game:</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A says. B points.</a:t>
            </a:r>
            <a:endParaRPr lang="en-US" sz="2200" dirty="0" b="1"/>
          </a:p>
        </p:txBody>
      </p:sp>
      <p:pic>
        <p:nvPicPr>
          <p:cNvPr id="17" name="Word picture 1" descr="Promotion: an office worker, an arrow up, a sign &quot;MANAGER&quot;"/>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promotion</a:t>
            </a:r>
            <a:endParaRPr lang="en-US" sz="2000" dirty="0" b="1"/>
          </a:p>
        </p:txBody>
      </p:sp>
      <p:pic>
        <p:nvPicPr>
          <p:cNvPr id="19" name="Word picture 2" descr="Save money: a money bag, an arrow, a bank"/>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save money</a:t>
            </a:r>
            <a:endParaRPr lang="en-US" sz="2000" dirty="0" b="1"/>
          </a:p>
        </p:txBody>
      </p:sp>
      <p:pic>
        <p:nvPicPr>
          <p:cNvPr id="21" name="Word picture 3" descr="Own business: a store and a sign &quot;OPEN&quot;"/>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own business</a:t>
            </a:r>
            <a:endParaRPr lang="en-US" sz="2000" dirty="0" b="1"/>
          </a:p>
        </p:txBody>
      </p:sp>
      <p:pic>
        <p:nvPicPr>
          <p:cNvPr id="23" name="Word picture 4" descr="Driver's license: a drawn license card (not a real design) with a person and a car"/>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5B3FC4"/>
                </a:solidFill>
                <a:latin typeface="Lexend Deca" pitchFamily="34" charset="0"/>
                <a:ea typeface="Lexend Deca" pitchFamily="34" charset="-122"/>
                <a:cs typeface="Lexend Deca" pitchFamily="34" charset="-120"/>
              </a:rPr>
              <a:t>★</a:t>
            </a:r>
            <a:r>
              <a:rPr lang="en-US" sz="1800" dirty="0" b="1">
                <a:solidFill>
                  <a:srgbClr val="1B2236"/>
                </a:solidFill>
                <a:latin typeface="Lexend Deca" pitchFamily="34" charset="0"/>
                <a:ea typeface="Lexend Deca" pitchFamily="34" charset="-122"/>
                <a:cs typeface="Lexend Deca" pitchFamily="34" charset="-120"/>
              </a:rPr>
              <a:t> driver's license</a:t>
            </a:r>
            <a:endParaRPr lang="en-US" sz="1800" dirty="0" b="1"/>
          </a:p>
        </p:txBody>
      </p:sp>
      <p:pic>
        <p:nvPicPr>
          <p:cNvPr id="25" name="Word picture 5" descr="Computer class: a teacher and a laptop"/>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computer class</a:t>
            </a:r>
            <a:endParaRPr lang="en-US" sz="2000" dirty="0" b="1"/>
          </a:p>
        </p:txBody>
      </p:sp>
      <p:pic>
        <p:nvPicPr>
          <p:cNvPr id="27" name="Word picture 6" descr="Community college: a school building and a sign &quot;COMMUNITY COLLEGE&quot;"/>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community college</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name="L3:check">
    <p:bg>
      <p:bgPr>
        <a:solidFill>
          <a:srgbClr val="F1F5FB"/>
        </a:solidFill>
      </p:bgPr>
    </p:bg>
    <p:spTree>
      <p:nvGrpSpPr>
        <p:cNvPr id="1" name=""/>
        <p:cNvGrpSpPr/>
        <p:nvPr/>
      </p:nvGrpSpPr>
      <p:grpSpPr/>
      <p:sp>
        <p:nvSpPr>
          <p:cNvPr id="2" name="title"/>
          <p:cNvSpPr/>
          <p:nvPr/>
        </p:nvSpPr>
        <p:spPr>
          <a:xfrm>
            <a:off x="685800" y="502920"/>
            <a:ext cx="1078992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Check the Meaning</a:t>
            </a:r>
            <a:endParaRPr lang="en-US" sz="4300" dirty="0" b="1"/>
          </a:p>
        </p:txBody>
      </p:sp>
      <p:sp>
        <p:nvSpPr>
          <p:cNvPr id="3" name="sub"/>
          <p:cNvSpPr/>
          <p:nvPr/>
        </p:nvSpPr>
        <p:spPr>
          <a:xfrm>
            <a:off x="685800" y="1554480"/>
            <a:ext cx="10789920" cy="548640"/>
          </a:xfrm>
          <a:prstGeom prst="rect">
            <a:avLst/>
          </a:prstGeom>
          <a:noFill/>
          <a:ln/>
        </p:spPr>
        <p:txBody>
          <a:bodyPr wrap="square" rtlCol="0" anchor="t"/>
          <a:lstStyle/>
          <a:p>
            <a:pPr algn="l" indent="0" marL="0">
              <a:buNone/>
            </a:pPr>
            <a:r>
              <a:rPr lang="en-US" sz="2400" dirty="0">
                <a:solidFill>
                  <a:srgbClr val="1B2236"/>
                </a:solidFill>
                <a:latin typeface="Lexend Deca" pitchFamily="34" charset="0"/>
                <a:ea typeface="Lexend Deca" pitchFamily="34" charset="-122"/>
                <a:cs typeface="Lexend Deca" pitchFamily="34" charset="-120"/>
              </a:rPr>
              <a:t>Look at the picture. Answer the question.</a:t>
            </a:r>
            <a:endParaRPr lang="en-US" sz="2400" dirty="0"/>
          </a:p>
        </p:txBody>
      </p:sp>
      <p:sp>
        <p:nvSpPr>
          <p:cNvPr id="4" name="R1 shadow"/>
          <p:cNvSpPr/>
          <p:nvPr/>
        </p:nvSpPr>
        <p:spPr>
          <a:xfrm>
            <a:off x="758952" y="2395728"/>
            <a:ext cx="3291840" cy="3383280"/>
          </a:xfrm>
          <a:prstGeom prst="round1Rect">
            <a:avLst>
              <a:gd name="adj" fmla="val 23087"/>
            </a:avLst>
          </a:prstGeom>
          <a:solidFill>
            <a:srgbClr val="8FAFE3"/>
          </a:solidFill>
          <a:ln/>
        </p:spPr>
        <p:txBody>
          <a:bodyPr/>
          <a:p/>
        </p:txBody>
      </p:sp>
      <p:sp>
        <p:nvSpPr>
          <p:cNvPr id="5" name="R1 card"/>
          <p:cNvSpPr/>
          <p:nvPr/>
        </p:nvSpPr>
        <p:spPr>
          <a:xfrm>
            <a:off x="6858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6" name="R1 circle"/>
          <p:cNvSpPr/>
          <p:nvPr/>
        </p:nvSpPr>
        <p:spPr>
          <a:xfrm>
            <a:off x="960120" y="2560320"/>
            <a:ext cx="731520" cy="731520"/>
          </a:xfrm>
          <a:prstGeom prst="ellipse">
            <a:avLst/>
          </a:prstGeom>
          <a:solidFill>
            <a:srgbClr val="FFE28C"/>
          </a:solidFill>
          <a:ln/>
        </p:spPr>
        <p:txBody>
          <a:bodyPr/>
          <a:p/>
        </p:txBody>
      </p:sp>
      <p:sp>
        <p:nvSpPr>
          <p:cNvPr id="7" name="R1 num"/>
          <p:cNvSpPr/>
          <p:nvPr/>
        </p:nvSpPr>
        <p:spPr>
          <a:xfrm>
            <a:off x="9601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1</a:t>
            </a:r>
            <a:endParaRPr lang="en-US" sz="2500" dirty="0"/>
          </a:p>
        </p:txBody>
      </p:sp>
      <p:sp>
        <p:nvSpPr>
          <p:cNvPr id="8" name="R1 q"/>
          <p:cNvSpPr/>
          <p:nvPr/>
        </p:nvSpPr>
        <p:spPr>
          <a:xfrm>
            <a:off x="9601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A better job at the same company?</a:t>
            </a:r>
            <a:endParaRPr lang="en-US" sz="1800" dirty="0" b="1"/>
          </a:p>
        </p:txBody>
      </p:sp>
      <p:pic>
        <p:nvPicPr>
          <p:cNvPr id="101" name="R1 pic" descr="Promotion: an office worker, an arrow up, a sign &quot;MANAGER&quot;"/>
          <p:cNvPicPr>
            <a:picLocks noChangeAspect="1"/>
          </p:cNvPicPr>
          <p:nvPr/>
        </p:nvPicPr>
        <p:blipFill>
          <a:blip r:embed="rId5"/>
          <a:stretch>
            <a:fillRect/>
          </a:stretch>
        </p:blipFill>
        <p:spPr>
          <a:xfrm>
            <a:off x="1783080" y="2560320"/>
            <a:ext cx="1920240" cy="1344168"/>
          </a:xfrm>
          <a:prstGeom prst="rect">
            <a:avLst/>
          </a:prstGeom>
        </p:spPr>
      </p:pic>
      <p:sp>
        <p:nvSpPr>
          <p:cNvPr id="10" name="R2 shadow"/>
          <p:cNvSpPr/>
          <p:nvPr/>
        </p:nvSpPr>
        <p:spPr>
          <a:xfrm>
            <a:off x="4416552" y="2395728"/>
            <a:ext cx="3291840" cy="3383280"/>
          </a:xfrm>
          <a:prstGeom prst="round1Rect">
            <a:avLst>
              <a:gd name="adj" fmla="val 23087"/>
            </a:avLst>
          </a:prstGeom>
          <a:solidFill>
            <a:srgbClr val="8FAFE3"/>
          </a:solidFill>
          <a:ln/>
        </p:spPr>
        <p:txBody>
          <a:bodyPr/>
          <a:p/>
        </p:txBody>
      </p:sp>
      <p:sp>
        <p:nvSpPr>
          <p:cNvPr id="11" name="R2 card"/>
          <p:cNvSpPr/>
          <p:nvPr/>
        </p:nvSpPr>
        <p:spPr>
          <a:xfrm>
            <a:off x="4343400" y="2286000"/>
            <a:ext cx="3291840" cy="3383280"/>
          </a:xfrm>
          <a:prstGeom prst="round1Rect">
            <a:avLst>
              <a:gd name="adj" fmla="val 23087"/>
            </a:avLst>
          </a:prstGeom>
          <a:solidFill>
            <a:srgbClr val="C9B8F2"/>
          </a:solidFill>
          <a:ln w="19050">
            <a:solidFill>
              <a:srgbClr val="8FAFE3"/>
            </a:solidFill>
            <a:prstDash val="solid"/>
          </a:ln>
        </p:spPr>
        <p:txBody>
          <a:bodyPr/>
          <a:p/>
        </p:txBody>
      </p:sp>
      <p:sp>
        <p:nvSpPr>
          <p:cNvPr id="12" name="R2 circle"/>
          <p:cNvSpPr/>
          <p:nvPr/>
        </p:nvSpPr>
        <p:spPr>
          <a:xfrm>
            <a:off x="4617720" y="2560320"/>
            <a:ext cx="731520" cy="731520"/>
          </a:xfrm>
          <a:prstGeom prst="ellipse">
            <a:avLst/>
          </a:prstGeom>
          <a:solidFill>
            <a:srgbClr val="FFE28C"/>
          </a:solidFill>
          <a:ln/>
        </p:spPr>
        <p:txBody>
          <a:bodyPr/>
          <a:p/>
        </p:txBody>
      </p:sp>
      <p:sp>
        <p:nvSpPr>
          <p:cNvPr id="13" name="R2 num"/>
          <p:cNvSpPr/>
          <p:nvPr/>
        </p:nvSpPr>
        <p:spPr>
          <a:xfrm>
            <a:off x="46177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2</a:t>
            </a:r>
            <a:endParaRPr lang="en-US" sz="2500" dirty="0"/>
          </a:p>
        </p:txBody>
      </p:sp>
      <p:sp>
        <p:nvSpPr>
          <p:cNvPr id="14" name="R2 q"/>
          <p:cNvSpPr/>
          <p:nvPr/>
        </p:nvSpPr>
        <p:spPr>
          <a:xfrm>
            <a:off x="46177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Money in the bank every month?</a:t>
            </a:r>
            <a:endParaRPr lang="en-US" sz="1800" dirty="0" b="1"/>
          </a:p>
        </p:txBody>
      </p:sp>
      <p:pic>
        <p:nvPicPr>
          <p:cNvPr id="102" name="R2 pic" descr="Save money: a money bag, an arrow, a bank"/>
          <p:cNvPicPr>
            <a:picLocks noChangeAspect="1"/>
          </p:cNvPicPr>
          <p:nvPr/>
        </p:nvPicPr>
        <p:blipFill>
          <a:blip r:embed="rId6"/>
          <a:stretch>
            <a:fillRect/>
          </a:stretch>
        </p:blipFill>
        <p:spPr>
          <a:xfrm>
            <a:off x="5440680" y="2560320"/>
            <a:ext cx="1920240" cy="1344168"/>
          </a:xfrm>
          <a:prstGeom prst="rect">
            <a:avLst/>
          </a:prstGeom>
        </p:spPr>
      </p:pic>
      <p:sp>
        <p:nvSpPr>
          <p:cNvPr id="16" name="R3 shadow"/>
          <p:cNvSpPr/>
          <p:nvPr/>
        </p:nvSpPr>
        <p:spPr>
          <a:xfrm>
            <a:off x="8074152" y="2395728"/>
            <a:ext cx="3291840" cy="3383280"/>
          </a:xfrm>
          <a:prstGeom prst="round1Rect">
            <a:avLst>
              <a:gd name="adj" fmla="val 23087"/>
            </a:avLst>
          </a:prstGeom>
          <a:solidFill>
            <a:srgbClr val="8FAFE3"/>
          </a:solidFill>
          <a:ln/>
        </p:spPr>
        <p:txBody>
          <a:bodyPr/>
          <a:p/>
        </p:txBody>
      </p:sp>
      <p:sp>
        <p:nvSpPr>
          <p:cNvPr id="17" name="R3 card"/>
          <p:cNvSpPr/>
          <p:nvPr/>
        </p:nvSpPr>
        <p:spPr>
          <a:xfrm>
            <a:off x="80010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18" name="R3 circle"/>
          <p:cNvSpPr/>
          <p:nvPr/>
        </p:nvSpPr>
        <p:spPr>
          <a:xfrm>
            <a:off x="8275320" y="2560320"/>
            <a:ext cx="731520" cy="731520"/>
          </a:xfrm>
          <a:prstGeom prst="ellipse">
            <a:avLst/>
          </a:prstGeom>
          <a:solidFill>
            <a:srgbClr val="FFE28C"/>
          </a:solidFill>
          <a:ln/>
        </p:spPr>
        <p:txBody>
          <a:bodyPr/>
          <a:p/>
        </p:txBody>
      </p:sp>
      <p:sp>
        <p:nvSpPr>
          <p:cNvPr id="19" name="R3 num"/>
          <p:cNvSpPr/>
          <p:nvPr/>
        </p:nvSpPr>
        <p:spPr>
          <a:xfrm>
            <a:off x="82753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3</a:t>
            </a:r>
            <a:endParaRPr lang="en-US" sz="2500" dirty="0"/>
          </a:p>
        </p:txBody>
      </p:sp>
      <p:sp>
        <p:nvSpPr>
          <p:cNvPr id="20" name="R3 q"/>
          <p:cNvSpPr/>
          <p:nvPr/>
        </p:nvSpPr>
        <p:spPr>
          <a:xfrm>
            <a:off x="82753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You need it to drive a car.</a:t>
            </a:r>
            <a:endParaRPr lang="en-US" sz="1800" dirty="0" b="1"/>
          </a:p>
        </p:txBody>
      </p:sp>
      <p:pic>
        <p:nvPicPr>
          <p:cNvPr id="103" name="R3 pic" descr="Driver's license: a drawn license card (not a real design) with a person and a car"/>
          <p:cNvPicPr>
            <a:picLocks noChangeAspect="1"/>
          </p:cNvPicPr>
          <p:nvPr/>
        </p:nvPicPr>
        <p:blipFill>
          <a:blip r:embed="rId7"/>
          <a:stretch>
            <a:fillRect/>
          </a:stretch>
        </p:blipFill>
        <p:spPr>
          <a:xfrm>
            <a:off x="9098280" y="2560320"/>
            <a:ext cx="1920240" cy="1344168"/>
          </a:xfrm>
          <a:prstGeom prst="rect">
            <a:avLst/>
          </a:prstGeom>
        </p:spPr>
      </p:pic>
      <p:sp>
        <p:nvSpPr>
          <p:cNvPr id="25" name="R1 ans"/>
          <p:cNvSpPr/>
          <p:nvPr/>
        </p:nvSpPr>
        <p:spPr>
          <a:xfrm>
            <a:off x="9601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promotion</a:t>
            </a:r>
            <a:endParaRPr lang="en-US" sz="2200" dirty="0" b="1"/>
          </a:p>
        </p:txBody>
      </p:sp>
      <p:sp>
        <p:nvSpPr>
          <p:cNvPr id="26" name="R2 ans"/>
          <p:cNvSpPr/>
          <p:nvPr/>
        </p:nvSpPr>
        <p:spPr>
          <a:xfrm>
            <a:off x="46177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save money</a:t>
            </a:r>
            <a:endParaRPr lang="en-US" sz="2200" dirty="0" b="1"/>
          </a:p>
        </p:txBody>
      </p:sp>
      <p:sp>
        <p:nvSpPr>
          <p:cNvPr id="27" name="R3 ans"/>
          <p:cNvSpPr/>
          <p:nvPr/>
        </p:nvSpPr>
        <p:spPr>
          <a:xfrm>
            <a:off x="82753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a driver's license</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name="L3:before">
    <p:bg>
      <p:bgPr>
        <a:solidFill>
          <a:srgbClr val="F1F5FB"/>
        </a:solidFill>
      </p:bgPr>
    </p:bg>
    <p:spTree>
      <p:nvGrpSpPr>
        <p:cNvPr id="1" name=""/>
        <p:cNvGrpSpPr/>
        <p:nvPr/>
      </p:nvGrpSpPr>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itle1"/>
          <p:cNvSpPr/>
          <p:nvPr/>
        </p:nvSpPr>
        <p:spPr>
          <a:xfrm>
            <a:off x="3566160" y="1078992"/>
            <a:ext cx="4114800" cy="74980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a:t>
            </a:r>
            <a:endParaRPr lang="en-US" sz="4400" dirty="0" b="1"/>
          </a:p>
        </p:txBody>
      </p:sp>
      <p:sp>
        <p:nvSpPr>
          <p:cNvPr id="9" name="title2"/>
          <p:cNvSpPr/>
          <p:nvPr/>
        </p:nvSpPr>
        <p:spPr>
          <a:xfrm>
            <a:off x="3566160" y="1828800"/>
            <a:ext cx="4114800" cy="82296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Listen</a:t>
            </a:r>
            <a:endParaRPr lang="en-US" sz="4400" dirty="0" b="1"/>
          </a:p>
        </p:txBody>
      </p:sp>
      <p:sp>
        <p:nvSpPr>
          <p:cNvPr id="10" name="context"/>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Sofia was a Level 3 student. Tonight she's talking to the class about her goals. Mr. Novak is the teacher.</a:t>
            </a:r>
            <a:endParaRPr lang="en-US" sz="1700" dirty="0"/>
          </a:p>
        </p:txBody>
      </p:sp>
      <p:sp>
        <p:nvSpPr>
          <p:cNvPr id="11" name="R1 num"/>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R2 num"/>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R3 num"/>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line 1"/>
          <p:cNvSpPr/>
          <p:nvPr/>
        </p:nvSpPr>
        <p:spPr>
          <a:xfrm>
            <a:off x="3503066" y="4928616"/>
            <a:ext cx="4480560" cy="0"/>
          </a:xfrm>
          <a:prstGeom prst="line">
            <a:avLst/>
          </a:prstGeom>
          <a:noFill/>
          <a:ln w="6350">
            <a:solidFill>
              <a:srgbClr val="1B2236"/>
            </a:solidFill>
            <a:prstDash val="solid"/>
          </a:ln>
        </p:spPr>
        <p:txBody>
          <a:bodyPr/>
          <a:p/>
        </p:txBody>
      </p:sp>
      <p:sp>
        <p:nvSpPr>
          <p:cNvPr id="18" name="line 2"/>
          <p:cNvSpPr/>
          <p:nvPr/>
        </p:nvSpPr>
        <p:spPr>
          <a:xfrm>
            <a:off x="3503066" y="5733288"/>
            <a:ext cx="4480560" cy="0"/>
          </a:xfrm>
          <a:prstGeom prst="line">
            <a:avLst/>
          </a:prstGeom>
          <a:noFill/>
          <a:ln w="6350">
            <a:solidFill>
              <a:srgbClr val="1B2236"/>
            </a:solidFill>
            <a:prstDash val="solid"/>
          </a:ln>
        </p:spPr>
        <p:txBody>
          <a:bodyPr/>
          <a:p/>
        </p:txBody>
      </p:sp>
      <p:pic>
        <p:nvPicPr>
          <p:cNvPr id="24" name="pic" descr="Certificate: a drawn certificate and a rosette"/>
          <p:cNvPicPr>
            <a:picLocks noChangeAspect="1"/>
          </p:cNvPicPr>
          <p:nvPr/>
        </p:nvPicPr>
        <p:blipFill>
          <a:blip r:embed="rId3"/>
          <a:stretch>
            <a:fillRect/>
          </a:stretch>
        </p:blipFill>
        <p:spPr>
          <a:xfrm>
            <a:off x="160020" y="2423160"/>
            <a:ext cx="2743200" cy="1920240"/>
          </a:xfrm>
          <a:prstGeom prst="rect">
            <a:avLst/>
          </a:prstGeom>
        </p:spPr>
      </p:pic>
      <p:sp>
        <p:nvSpPr>
          <p:cNvPr id="25" name="R1 hl"/>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R1 voice"/>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Narrator</a:t>
            </a:r>
            <a:endParaRPr lang="en-US" sz="2200" dirty="0" b="1"/>
          </a:p>
        </p:txBody>
      </p:sp>
      <p:sp>
        <p:nvSpPr>
          <p:cNvPr id="29" name="R2 hl"/>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R2 voice"/>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Sofia</a:t>
            </a:r>
            <a:endParaRPr lang="en-US" sz="2200" dirty="0" b="1"/>
          </a:p>
        </p:txBody>
      </p:sp>
      <p:sp>
        <p:nvSpPr>
          <p:cNvPr id="33" name="R3 hl"/>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R3 voice"/>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Mr. Novak</a:t>
            </a:r>
            <a:endParaRPr lang="en-US" sz="2200" dirty="0" b="1"/>
          </a:p>
        </p:txBody>
      </p:sp>
      <p:sp>
        <p:nvSpPr>
          <p:cNvPr id="37" name="listen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Listen for:</a:t>
            </a:r>
            <a:endParaRPr lang="en-US" sz="2400" dirty="0" b="1"/>
          </a:p>
        </p:txBody>
      </p:sp>
      <p:sp>
        <p:nvSpPr>
          <p:cNvPr id="39" name="listen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What is her main goal?</a:t>
            </a:r>
            <a:endParaRPr lang="en-US" sz="2200" dirty="0"/>
          </a:p>
        </p:txBody>
      </p:sp>
      <p:sp>
        <p:nvSpPr>
          <p:cNvPr id="41" name="listen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What will she do first?</a:t>
            </a:r>
            <a:endParaRPr lang="en-US" sz="2200" dirty="0"/>
          </a:p>
        </p:txBody>
      </p:sp>
      <p:sp>
        <p:nvSpPr>
          <p:cNvPr id="43" name="audio"/>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Audio: about 1:15. It plays once.</a:t>
            </a:r>
            <a:endParaRPr lang="en-US" sz="2200" dirty="0"/>
          </a:p>
        </p:txBody>
      </p:sp>
      <p:sp>
        <p:nvSpPr>
          <p:cNvPr id="46" name="play"/>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b="0">
                <a:solidFill>
                  <a:srgbClr val="1B2236"/>
                </a:solidFill>
                <a:latin typeface="Lexend Deca" pitchFamily="34" charset="0"/>
                <a:ea typeface="Lexend Deca" pitchFamily="34" charset="-122"/>
                <a:cs typeface="Lexend Deca" pitchFamily="34" charset="-120"/>
              </a:rPr>
              <a:t>Play 1: </a:t>
            </a:r>
            <a:r>
              <a:rPr lang="en-US" sz="2200" dirty="0" b="1">
                <a:solidFill>
                  <a:srgbClr val="5B3FC4"/>
                </a:solidFill>
                <a:latin typeface="Lexend Deca" pitchFamily="34" charset="0"/>
                <a:ea typeface="Lexend Deca" pitchFamily="34" charset="-122"/>
                <a:cs typeface="Lexend Deca" pitchFamily="34" charset="-120"/>
              </a:rPr>
              <a:t>Task A</a:t>
            </a:r>
            <a:endParaRPr lang="en-US" sz="22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name="L3: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A</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What is Sofia's main goal?</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a:t>
            </a:r>
            <a:endParaRPr lang="en-US" sz="2000" dirty="0"/>
          </a:p>
        </p:txBody>
      </p:sp>
      <p:sp>
        <p:nvSpPr>
          <p:cNvPr id="8" name="R1 stmt"/>
          <p:cNvSpPr/>
          <p:nvPr/>
        </p:nvSpPr>
        <p:spPr>
          <a:xfrm>
            <a:off x="502920" y="3108960"/>
            <a:ext cx="205740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Main goal:</a:t>
            </a:r>
            <a:endParaRPr lang="en-US" sz="2000" dirty="0"/>
          </a:p>
        </p:txBody>
      </p:sp>
      <p:sp>
        <p:nvSpPr>
          <p:cNvPr id="9" name="R1 opt1"/>
          <p:cNvSpPr/>
          <p:nvPr/>
        </p:nvSpPr>
        <p:spPr>
          <a:xfrm>
            <a:off x="2743200" y="3108960"/>
            <a:ext cx="26517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a. a driver's license</a:t>
            </a:r>
            <a:endParaRPr lang="en-US" sz="1500" dirty="0" b="1"/>
          </a:p>
        </p:txBody>
      </p:sp>
      <p:sp>
        <p:nvSpPr>
          <p:cNvPr id="10" name="R1 opt2"/>
          <p:cNvSpPr/>
          <p:nvPr/>
        </p:nvSpPr>
        <p:spPr>
          <a:xfrm>
            <a:off x="5532120" y="3108960"/>
            <a:ext cx="26517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b. a medical assistant certificate</a:t>
            </a:r>
            <a:endParaRPr lang="en-US" sz="1500" dirty="0" b="1"/>
          </a:p>
        </p:txBody>
      </p:sp>
      <p:sp>
        <p:nvSpPr>
          <p:cNvPr id="11" name="R1 opt3"/>
          <p:cNvSpPr/>
          <p:nvPr/>
        </p:nvSpPr>
        <p:spPr>
          <a:xfrm>
            <a:off x="8321040" y="3108960"/>
            <a:ext cx="26517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c. her own business</a:t>
            </a:r>
            <a:endParaRPr lang="en-US" sz="1500" dirty="0" b="1"/>
          </a:p>
        </p:txBody>
      </p:sp>
      <p:sp>
        <p:nvSpPr>
          <p:cNvPr id="12" name="R1 circle"/>
          <p:cNvSpPr/>
          <p:nvPr/>
        </p:nvSpPr>
        <p:spPr>
          <a:xfrm>
            <a:off x="5404104" y="3054096"/>
            <a:ext cx="29077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Number the steps. Then circle.</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B</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Number the steps 1–5: Then → Now → Next.</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compare your answers.</a:t>
            </a:r>
            <a:endParaRPr lang="en-US" sz="2000" dirty="0" b="1"/>
          </a:p>
        </p:txBody>
      </p:sp>
      <p:sp>
        <p:nvSpPr>
          <p:cNvPr id="31" name="R1 card"/>
          <p:cNvSpPr/>
          <p:nvPr/>
        </p:nvSpPr>
        <p:spPr>
          <a:xfrm>
            <a:off x="1583741" y="2123237"/>
            <a:ext cx="6035040" cy="550991"/>
          </a:xfrm>
          <a:prstGeom prst="round1Rect">
            <a:avLst>
              <a:gd name="adj" fmla="val 23087"/>
            </a:avLst>
          </a:prstGeom>
          <a:solidFill>
            <a:srgbClr val="FFFFFF"/>
          </a:solidFill>
          <a:ln/>
        </p:spPr>
        <p:txBody>
          <a:bodyPr/>
          <a:p/>
        </p:txBody>
      </p:sp>
      <p:sp>
        <p:nvSpPr>
          <p:cNvPr id="32" name="R1 chip"/>
          <p:cNvSpPr/>
          <p:nvPr/>
        </p:nvSpPr>
        <p:spPr>
          <a:xfrm>
            <a:off x="544982" y="2123237"/>
            <a:ext cx="1039673" cy="550991"/>
          </a:xfrm>
          <a:prstGeom prst="rect">
            <a:avLst/>
          </a:prstGeom>
          <a:solidFill>
            <a:srgbClr val="B9D2F7"/>
          </a:solidFill>
          <a:ln/>
        </p:spPr>
        <p:txBody>
          <a:bodyPr/>
          <a:p/>
        </p:txBody>
      </p:sp>
      <p:sp>
        <p:nvSpPr>
          <p:cNvPr id="33" name="R1 num"/>
          <p:cNvSpPr/>
          <p:nvPr/>
        </p:nvSpPr>
        <p:spPr>
          <a:xfrm>
            <a:off x="686714" y="2106124"/>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315968" cy="550991"/>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take a computer class</a:t>
            </a:r>
            <a:endParaRPr lang="en-US" sz="1600" dirty="0"/>
          </a:p>
        </p:txBody>
      </p:sp>
      <p:sp>
        <p:nvSpPr>
          <p:cNvPr id="35" name="R1 ans"/>
          <p:cNvSpPr/>
          <p:nvPr/>
        </p:nvSpPr>
        <p:spPr>
          <a:xfrm>
            <a:off x="6199632" y="2170132"/>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3</a:t>
            </a:r>
            <a:endParaRPr lang="en-US" sz="2000" dirty="0" b="1"/>
          </a:p>
        </p:txBody>
      </p:sp>
      <p:sp>
        <p:nvSpPr>
          <p:cNvPr id="36" name="R2 card"/>
          <p:cNvSpPr/>
          <p:nvPr/>
        </p:nvSpPr>
        <p:spPr>
          <a:xfrm>
            <a:off x="1583741" y="2747380"/>
            <a:ext cx="6035040" cy="550991"/>
          </a:xfrm>
          <a:prstGeom prst="round1Rect">
            <a:avLst>
              <a:gd name="adj" fmla="val 23087"/>
            </a:avLst>
          </a:prstGeom>
          <a:solidFill>
            <a:srgbClr val="FFFFFF"/>
          </a:solidFill>
          <a:ln/>
        </p:spPr>
        <p:txBody>
          <a:bodyPr/>
          <a:p/>
        </p:txBody>
      </p:sp>
      <p:sp>
        <p:nvSpPr>
          <p:cNvPr id="37" name="R2 chip"/>
          <p:cNvSpPr/>
          <p:nvPr/>
        </p:nvSpPr>
        <p:spPr>
          <a:xfrm>
            <a:off x="544982" y="2747380"/>
            <a:ext cx="1039673" cy="550991"/>
          </a:xfrm>
          <a:prstGeom prst="rect">
            <a:avLst/>
          </a:prstGeom>
          <a:solidFill>
            <a:srgbClr val="B9D2F7"/>
          </a:solidFill>
          <a:ln/>
        </p:spPr>
        <p:txBody>
          <a:bodyPr/>
          <a:p/>
        </p:txBody>
      </p:sp>
      <p:sp>
        <p:nvSpPr>
          <p:cNvPr id="38" name="R2 num"/>
          <p:cNvSpPr/>
          <p:nvPr/>
        </p:nvSpPr>
        <p:spPr>
          <a:xfrm>
            <a:off x="686714" y="2730268"/>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747380"/>
            <a:ext cx="4315968" cy="550991"/>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came to this class</a:t>
            </a:r>
            <a:endParaRPr lang="en-US" sz="1600" dirty="0"/>
          </a:p>
        </p:txBody>
      </p:sp>
      <p:sp>
        <p:nvSpPr>
          <p:cNvPr id="40" name="R2 ans"/>
          <p:cNvSpPr/>
          <p:nvPr/>
        </p:nvSpPr>
        <p:spPr>
          <a:xfrm>
            <a:off x="6199632" y="2794276"/>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1</a:t>
            </a:r>
            <a:endParaRPr lang="en-US" sz="2000" dirty="0" b="1"/>
          </a:p>
        </p:txBody>
      </p:sp>
      <p:sp>
        <p:nvSpPr>
          <p:cNvPr id="41" name="R3 card"/>
          <p:cNvSpPr/>
          <p:nvPr/>
        </p:nvSpPr>
        <p:spPr>
          <a:xfrm>
            <a:off x="1583741" y="3371523"/>
            <a:ext cx="6035040" cy="550991"/>
          </a:xfrm>
          <a:prstGeom prst="round1Rect">
            <a:avLst>
              <a:gd name="adj" fmla="val 23087"/>
            </a:avLst>
          </a:prstGeom>
          <a:solidFill>
            <a:srgbClr val="FFFFFF"/>
          </a:solidFill>
          <a:ln/>
        </p:spPr>
        <p:txBody>
          <a:bodyPr/>
          <a:p/>
        </p:txBody>
      </p:sp>
      <p:sp>
        <p:nvSpPr>
          <p:cNvPr id="42" name="R3 chip"/>
          <p:cNvSpPr/>
          <p:nvPr/>
        </p:nvSpPr>
        <p:spPr>
          <a:xfrm>
            <a:off x="544982" y="3371523"/>
            <a:ext cx="1039673" cy="550991"/>
          </a:xfrm>
          <a:prstGeom prst="rect">
            <a:avLst/>
          </a:prstGeom>
          <a:solidFill>
            <a:srgbClr val="B9D2F7"/>
          </a:solidFill>
          <a:ln/>
        </p:spPr>
        <p:txBody>
          <a:bodyPr/>
          <a:p/>
        </p:txBody>
      </p:sp>
      <p:sp>
        <p:nvSpPr>
          <p:cNvPr id="43" name="R3 num"/>
          <p:cNvSpPr/>
          <p:nvPr/>
        </p:nvSpPr>
        <p:spPr>
          <a:xfrm>
            <a:off x="686714" y="335441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371523"/>
            <a:ext cx="4315968" cy="550991"/>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work at a clinic</a:t>
            </a:r>
            <a:endParaRPr lang="en-US" sz="1600" dirty="0"/>
          </a:p>
        </p:txBody>
      </p:sp>
      <p:sp>
        <p:nvSpPr>
          <p:cNvPr id="45" name="R3 ans"/>
          <p:cNvSpPr/>
          <p:nvPr/>
        </p:nvSpPr>
        <p:spPr>
          <a:xfrm>
            <a:off x="6199632" y="3418419"/>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5</a:t>
            </a:r>
            <a:endParaRPr lang="en-US" sz="2000" dirty="0" b="1"/>
          </a:p>
        </p:txBody>
      </p:sp>
      <p:sp>
        <p:nvSpPr>
          <p:cNvPr id="46" name="R4 card"/>
          <p:cNvSpPr/>
          <p:nvPr/>
        </p:nvSpPr>
        <p:spPr>
          <a:xfrm>
            <a:off x="1583741" y="3995667"/>
            <a:ext cx="6035040" cy="550991"/>
          </a:xfrm>
          <a:prstGeom prst="round1Rect">
            <a:avLst>
              <a:gd name="adj" fmla="val 23087"/>
            </a:avLst>
          </a:prstGeom>
          <a:solidFill>
            <a:srgbClr val="FFFFFF"/>
          </a:solidFill>
          <a:ln/>
        </p:spPr>
        <p:txBody>
          <a:bodyPr/>
          <a:p/>
        </p:txBody>
      </p:sp>
      <p:sp>
        <p:nvSpPr>
          <p:cNvPr id="47" name="R4 chip"/>
          <p:cNvSpPr/>
          <p:nvPr/>
        </p:nvSpPr>
        <p:spPr>
          <a:xfrm>
            <a:off x="544982" y="3995667"/>
            <a:ext cx="1039673" cy="550991"/>
          </a:xfrm>
          <a:prstGeom prst="rect">
            <a:avLst/>
          </a:prstGeom>
          <a:solidFill>
            <a:srgbClr val="B9D2F7"/>
          </a:solidFill>
          <a:ln/>
        </p:spPr>
        <p:txBody>
          <a:bodyPr/>
          <a:p/>
        </p:txBody>
      </p:sp>
      <p:sp>
        <p:nvSpPr>
          <p:cNvPr id="48" name="R4 num"/>
          <p:cNvSpPr/>
          <p:nvPr/>
        </p:nvSpPr>
        <p:spPr>
          <a:xfrm>
            <a:off x="686714" y="3978554"/>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3995667"/>
            <a:ext cx="4315968" cy="550991"/>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works at a hotel</a:t>
            </a:r>
            <a:endParaRPr lang="en-US" sz="1600" dirty="0"/>
          </a:p>
        </p:txBody>
      </p:sp>
      <p:sp>
        <p:nvSpPr>
          <p:cNvPr id="50" name="R4 ans"/>
          <p:cNvSpPr/>
          <p:nvPr/>
        </p:nvSpPr>
        <p:spPr>
          <a:xfrm>
            <a:off x="6199632" y="4042562"/>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2</a:t>
            </a:r>
            <a:endParaRPr lang="en-US" sz="2000" dirty="0" b="1"/>
          </a:p>
        </p:txBody>
      </p:sp>
      <p:sp>
        <p:nvSpPr>
          <p:cNvPr id="51" name="R5 card"/>
          <p:cNvSpPr/>
          <p:nvPr/>
        </p:nvSpPr>
        <p:spPr>
          <a:xfrm>
            <a:off x="1583741" y="4619810"/>
            <a:ext cx="6035040" cy="550991"/>
          </a:xfrm>
          <a:prstGeom prst="round1Rect">
            <a:avLst>
              <a:gd name="adj" fmla="val 23087"/>
            </a:avLst>
          </a:prstGeom>
          <a:solidFill>
            <a:srgbClr val="FFFFFF"/>
          </a:solidFill>
          <a:ln/>
        </p:spPr>
        <p:txBody>
          <a:bodyPr/>
          <a:p/>
        </p:txBody>
      </p:sp>
      <p:sp>
        <p:nvSpPr>
          <p:cNvPr id="52" name="R5 chip"/>
          <p:cNvSpPr/>
          <p:nvPr/>
        </p:nvSpPr>
        <p:spPr>
          <a:xfrm>
            <a:off x="544982" y="4619810"/>
            <a:ext cx="1039673" cy="550991"/>
          </a:xfrm>
          <a:prstGeom prst="rect">
            <a:avLst/>
          </a:prstGeom>
          <a:solidFill>
            <a:srgbClr val="B9D2F7"/>
          </a:solidFill>
          <a:ln/>
        </p:spPr>
        <p:txBody>
          <a:bodyPr/>
          <a:p/>
        </p:txBody>
      </p:sp>
      <p:sp>
        <p:nvSpPr>
          <p:cNvPr id="53" name="R5 num"/>
          <p:cNvSpPr/>
          <p:nvPr/>
        </p:nvSpPr>
        <p:spPr>
          <a:xfrm>
            <a:off x="686714" y="4602698"/>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4619810"/>
            <a:ext cx="4315968" cy="550991"/>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apply for the certificate program</a:t>
            </a:r>
            <a:endParaRPr lang="en-US" sz="1600" dirty="0"/>
          </a:p>
        </p:txBody>
      </p:sp>
      <p:sp>
        <p:nvSpPr>
          <p:cNvPr id="55" name="R5 ans"/>
          <p:cNvSpPr/>
          <p:nvPr/>
        </p:nvSpPr>
        <p:spPr>
          <a:xfrm>
            <a:off x="6199632" y="4666706"/>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4</a:t>
            </a:r>
            <a:endParaRPr lang="en-US" sz="2000" dirty="0" b="1"/>
          </a:p>
        </p:txBody>
      </p:sp>
      <p:sp>
        <p:nvSpPr>
          <p:cNvPr id="56" name="R6 card"/>
          <p:cNvSpPr/>
          <p:nvPr/>
        </p:nvSpPr>
        <p:spPr>
          <a:xfrm>
            <a:off x="1583741" y="5243953"/>
            <a:ext cx="6035040" cy="550991"/>
          </a:xfrm>
          <a:prstGeom prst="round1Rect">
            <a:avLst>
              <a:gd name="adj" fmla="val 23087"/>
            </a:avLst>
          </a:prstGeom>
          <a:solidFill>
            <a:srgbClr val="FFFFFF"/>
          </a:solidFill>
          <a:ln/>
        </p:spPr>
        <p:txBody>
          <a:bodyPr/>
          <a:p/>
        </p:txBody>
      </p:sp>
      <p:sp>
        <p:nvSpPr>
          <p:cNvPr id="57" name="R6 chip"/>
          <p:cNvSpPr/>
          <p:nvPr/>
        </p:nvSpPr>
        <p:spPr>
          <a:xfrm>
            <a:off x="544982" y="5243953"/>
            <a:ext cx="1039673" cy="550991"/>
          </a:xfrm>
          <a:prstGeom prst="rect">
            <a:avLst/>
          </a:prstGeom>
          <a:solidFill>
            <a:srgbClr val="B9D2F7"/>
          </a:solidFill>
          <a:ln/>
        </p:spPr>
        <p:txBody>
          <a:bodyPr/>
          <a:p/>
        </p:txBody>
      </p:sp>
      <p:sp>
        <p:nvSpPr>
          <p:cNvPr id="58" name="R6 num"/>
          <p:cNvSpPr/>
          <p:nvPr/>
        </p:nvSpPr>
        <p:spPr>
          <a:xfrm>
            <a:off x="686714" y="5226841"/>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243953"/>
            <a:ext cx="4315968" cy="550991"/>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The class starts in:  </a:t>
            </a:r>
            <a:r>
              <a:rPr lang="en-US" sz="1600" dirty="0" b="1">
                <a:solidFill>
                  <a:srgbClr val="1B2236"/>
                </a:solidFill>
                <a:latin typeface="Lexend Deca" pitchFamily="34" charset="0"/>
                <a:ea typeface="Lexend Deca" pitchFamily="34" charset="-122"/>
                <a:cs typeface="Lexend Deca" pitchFamily="34" charset="-120"/>
              </a:rPr>
              <a:t>January</a:t>
            </a:r>
            <a:r>
              <a:rPr lang="en-US" sz="1600" dirty="0">
                <a:solidFill>
                  <a:srgbClr val="1B2236"/>
                </a:solidFill>
                <a:latin typeface="Lexend Deca" pitchFamily="34" charset="0"/>
                <a:ea typeface="Lexend Deca" pitchFamily="34" charset="-122"/>
                <a:cs typeface="Lexend Deca" pitchFamily="34" charset="-120"/>
              </a:rPr>
              <a:t> / </a:t>
            </a:r>
            <a:r>
              <a:rPr lang="en-US" sz="1600" dirty="0" b="1">
                <a:solidFill>
                  <a:srgbClr val="1B2236"/>
                </a:solidFill>
                <a:latin typeface="Lexend Deca" pitchFamily="34" charset="0"/>
                <a:ea typeface="Lexend Deca" pitchFamily="34" charset="-122"/>
                <a:cs typeface="Lexend Deca" pitchFamily="34" charset="-120"/>
              </a:rPr>
              <a:t>June</a:t>
            </a:r>
            <a:endParaRPr lang="en-US" sz="1600" dirty="0"/>
          </a:p>
        </p:txBody>
      </p:sp>
      <p:sp>
        <p:nvSpPr>
          <p:cNvPr id="60" name="R6 ans"/>
          <p:cNvSpPr/>
          <p:nvPr/>
        </p:nvSpPr>
        <p:spPr>
          <a:xfrm>
            <a:off x="6199632" y="5290849"/>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January</a:t>
            </a:r>
            <a:endParaRPr lang="en-US" sz="2000" dirty="0" b="1"/>
          </a:p>
        </p:txBody>
      </p:sp>
      <p:sp>
        <p:nvSpPr>
          <p:cNvPr id="61" name="R7 card"/>
          <p:cNvSpPr/>
          <p:nvPr/>
        </p:nvSpPr>
        <p:spPr>
          <a:xfrm>
            <a:off x="1583741" y="5868097"/>
            <a:ext cx="6035040" cy="550991"/>
          </a:xfrm>
          <a:prstGeom prst="round1Rect">
            <a:avLst>
              <a:gd name="adj" fmla="val 23087"/>
            </a:avLst>
          </a:prstGeom>
          <a:solidFill>
            <a:srgbClr val="FFFFFF"/>
          </a:solidFill>
          <a:ln/>
        </p:spPr>
        <p:txBody>
          <a:bodyPr/>
          <a:p/>
        </p:txBody>
      </p:sp>
      <p:sp>
        <p:nvSpPr>
          <p:cNvPr id="62" name="R7 chip"/>
          <p:cNvSpPr/>
          <p:nvPr/>
        </p:nvSpPr>
        <p:spPr>
          <a:xfrm>
            <a:off x="544982" y="5868097"/>
            <a:ext cx="1039673" cy="550991"/>
          </a:xfrm>
          <a:prstGeom prst="rect">
            <a:avLst/>
          </a:prstGeom>
          <a:solidFill>
            <a:srgbClr val="B9D2F7"/>
          </a:solidFill>
          <a:ln/>
        </p:spPr>
        <p:txBody>
          <a:bodyPr/>
          <a:p/>
        </p:txBody>
      </p:sp>
      <p:sp>
        <p:nvSpPr>
          <p:cNvPr id="63" name="R7 num"/>
          <p:cNvSpPr/>
          <p:nvPr/>
        </p:nvSpPr>
        <p:spPr>
          <a:xfrm>
            <a:off x="686714" y="5850984"/>
            <a:ext cx="1109167" cy="585216"/>
          </a:xfrm>
          <a:prstGeom prst="rect">
            <a:avLst/>
          </a:prstGeom>
          <a:noFill/>
          <a:ln/>
        </p:spPr>
        <p:txBody>
          <a:bodyPr wrap="square" rtlCol="0" anchor="ctr"/>
          <a:lstStyle/>
          <a:p>
            <a:pPr algn="ctr" indent="0" marL="0">
              <a:buNone/>
            </a:pPr>
            <a:r>
              <a:rPr lang="en-US" sz="3200" dirty="0" b="1"/>
              <a:t>7</a:t>
            </a:r>
            <a:endParaRPr lang="en-US" sz="3200" dirty="0" b="1"/>
          </a:p>
        </p:txBody>
      </p:sp>
      <p:sp>
        <p:nvSpPr>
          <p:cNvPr id="64" name="R7 text"/>
          <p:cNvSpPr/>
          <p:nvPr/>
        </p:nvSpPr>
        <p:spPr>
          <a:xfrm>
            <a:off x="1810512" y="5868097"/>
            <a:ext cx="4315968" cy="550991"/>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She works at:  </a:t>
            </a:r>
            <a:r>
              <a:rPr lang="en-US" sz="1600" dirty="0" b="1">
                <a:solidFill>
                  <a:srgbClr val="1B2236"/>
                </a:solidFill>
                <a:latin typeface="Lexend Deca" pitchFamily="34" charset="0"/>
                <a:ea typeface="Lexend Deca" pitchFamily="34" charset="-122"/>
                <a:cs typeface="Lexend Deca" pitchFamily="34" charset="-120"/>
              </a:rPr>
              <a:t>a hotel</a:t>
            </a:r>
            <a:r>
              <a:rPr lang="en-US" sz="1600" dirty="0">
                <a:solidFill>
                  <a:srgbClr val="1B2236"/>
                </a:solidFill>
                <a:latin typeface="Lexend Deca" pitchFamily="34" charset="0"/>
                <a:ea typeface="Lexend Deca" pitchFamily="34" charset="-122"/>
                <a:cs typeface="Lexend Deca" pitchFamily="34" charset="-120"/>
              </a:rPr>
              <a:t> / </a:t>
            </a:r>
            <a:r>
              <a:rPr lang="en-US" sz="1600" dirty="0" b="1">
                <a:solidFill>
                  <a:srgbClr val="1B2236"/>
                </a:solidFill>
                <a:latin typeface="Lexend Deca" pitchFamily="34" charset="0"/>
                <a:ea typeface="Lexend Deca" pitchFamily="34" charset="-122"/>
                <a:cs typeface="Lexend Deca" pitchFamily="34" charset="-120"/>
              </a:rPr>
              <a:t>a clinic</a:t>
            </a:r>
            <a:endParaRPr lang="en-US" sz="1600" dirty="0"/>
          </a:p>
        </p:txBody>
      </p:sp>
      <p:sp>
        <p:nvSpPr>
          <p:cNvPr id="65" name="R7 ans"/>
          <p:cNvSpPr/>
          <p:nvPr/>
        </p:nvSpPr>
        <p:spPr>
          <a:xfrm>
            <a:off x="6199632" y="5914992"/>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a hotel</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5"/>
                                        </p:tgtEl>
                                        <p:attrNameLst>
                                          <p:attrName>style.visibility</p:attrName>
                                        </p:attrNameLst>
                                      </p:cBhvr>
                                      <p:to>
                                        <p:strVal val="visible"/>
                                      </p:to>
                                    </p:set>
                                    <p:animEffect transition="in" filter="fade">
                                      <p:cBhvr>
                                        <p:cTn id="37" dur="4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the word.</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C</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Words: </a:t>
            </a:r>
            <a:r>
              <a:rPr lang="en-US" sz="2000" dirty="0" b="1">
                <a:solidFill>
                  <a:srgbClr val="5B3FC4"/>
                </a:solidFill>
                <a:latin typeface="Lexend Deca" pitchFamily="34" charset="0"/>
                <a:ea typeface="Lexend Deca" pitchFamily="34" charset="-122"/>
                <a:cs typeface="Lexend Deca" pitchFamily="34" charset="-120"/>
              </a:rPr>
              <a:t>hope to, going to, 'll</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compare your answers.</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1"/>
          </a:p>
        </p:txBody>
      </p:sp>
      <p:sp>
        <p:nvSpPr>
          <p:cNvPr id="31" name="R1 card"/>
          <p:cNvSpPr/>
          <p:nvPr/>
        </p:nvSpPr>
        <p:spPr>
          <a:xfrm>
            <a:off x="1583741" y="2397557"/>
            <a:ext cx="6035040" cy="713232"/>
          </a:xfrm>
          <a:prstGeom prst="round1Rect">
            <a:avLst>
              <a:gd name="adj" fmla="val 23087"/>
            </a:avLst>
          </a:prstGeom>
          <a:solidFill>
            <a:srgbClr val="FFFFFF"/>
          </a:solidFill>
          <a:ln/>
        </p:spPr>
        <p:txBody>
          <a:bodyPr/>
          <a:p/>
        </p:txBody>
      </p:sp>
      <p:sp>
        <p:nvSpPr>
          <p:cNvPr id="32" name="R1 chip"/>
          <p:cNvSpPr/>
          <p:nvPr/>
        </p:nvSpPr>
        <p:spPr>
          <a:xfrm>
            <a:off x="544982" y="2397557"/>
            <a:ext cx="1039673" cy="713232"/>
          </a:xfrm>
          <a:prstGeom prst="rect">
            <a:avLst/>
          </a:prstGeom>
          <a:solidFill>
            <a:srgbClr val="B9D2F7"/>
          </a:solidFill>
          <a:ln/>
        </p:spPr>
        <p:txBody>
          <a:bodyPr/>
          <a:p/>
        </p:txBody>
      </p:sp>
      <p:sp>
        <p:nvSpPr>
          <p:cNvPr id="33" name="R1 num"/>
          <p:cNvSpPr/>
          <p:nvPr/>
        </p:nvSpPr>
        <p:spPr>
          <a:xfrm>
            <a:off x="686714" y="2461565"/>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397557"/>
            <a:ext cx="42245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 ____ work at a clinic.</a:t>
            </a:r>
            <a:endParaRPr lang="en-US" sz="1600" dirty="0"/>
          </a:p>
        </p:txBody>
      </p:sp>
      <p:sp>
        <p:nvSpPr>
          <p:cNvPr id="35" name="R1 ans"/>
          <p:cNvSpPr/>
          <p:nvPr/>
        </p:nvSpPr>
        <p:spPr>
          <a:xfrm>
            <a:off x="6108192" y="2525573"/>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hope to</a:t>
            </a:r>
            <a:endParaRPr lang="en-US" sz="2000" dirty="0" b="1"/>
          </a:p>
        </p:txBody>
      </p:sp>
      <p:sp>
        <p:nvSpPr>
          <p:cNvPr id="36" name="R2 card"/>
          <p:cNvSpPr/>
          <p:nvPr/>
        </p:nvSpPr>
        <p:spPr>
          <a:xfrm>
            <a:off x="1583741" y="3183941"/>
            <a:ext cx="6035040" cy="713232"/>
          </a:xfrm>
          <a:prstGeom prst="round1Rect">
            <a:avLst>
              <a:gd name="adj" fmla="val 23087"/>
            </a:avLst>
          </a:prstGeom>
          <a:solidFill>
            <a:srgbClr val="FFFFFF"/>
          </a:solidFill>
          <a:ln/>
        </p:spPr>
        <p:txBody>
          <a:bodyPr/>
          <a:p/>
        </p:txBody>
      </p:sp>
      <p:sp>
        <p:nvSpPr>
          <p:cNvPr id="37" name="R2 chip"/>
          <p:cNvSpPr/>
          <p:nvPr/>
        </p:nvSpPr>
        <p:spPr>
          <a:xfrm>
            <a:off x="544982" y="3183941"/>
            <a:ext cx="1039673" cy="713232"/>
          </a:xfrm>
          <a:prstGeom prst="rect">
            <a:avLst/>
          </a:prstGeom>
          <a:solidFill>
            <a:srgbClr val="B9D2F7"/>
          </a:solidFill>
          <a:ln/>
        </p:spPr>
        <p:txBody>
          <a:bodyPr/>
          <a:p/>
        </p:txBody>
      </p:sp>
      <p:sp>
        <p:nvSpPr>
          <p:cNvPr id="38" name="R2 num"/>
          <p:cNvSpPr/>
          <p:nvPr/>
        </p:nvSpPr>
        <p:spPr>
          <a:xfrm>
            <a:off x="686714" y="3247949"/>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3183941"/>
            <a:ext cx="42245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How are you ____ do that?</a:t>
            </a:r>
            <a:endParaRPr lang="en-US" sz="1600" dirty="0"/>
          </a:p>
        </p:txBody>
      </p:sp>
      <p:sp>
        <p:nvSpPr>
          <p:cNvPr id="40" name="R2 ans"/>
          <p:cNvSpPr/>
          <p:nvPr/>
        </p:nvSpPr>
        <p:spPr>
          <a:xfrm>
            <a:off x="6108192" y="3311957"/>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going to</a:t>
            </a:r>
            <a:endParaRPr lang="en-US" sz="2000" dirty="0" b="1"/>
          </a:p>
        </p:txBody>
      </p:sp>
      <p:sp>
        <p:nvSpPr>
          <p:cNvPr id="41" name="R3 card"/>
          <p:cNvSpPr/>
          <p:nvPr/>
        </p:nvSpPr>
        <p:spPr>
          <a:xfrm>
            <a:off x="1583741" y="3970325"/>
            <a:ext cx="6035040" cy="713232"/>
          </a:xfrm>
          <a:prstGeom prst="round1Rect">
            <a:avLst>
              <a:gd name="adj" fmla="val 23087"/>
            </a:avLst>
          </a:prstGeom>
          <a:solidFill>
            <a:srgbClr val="FFFFFF"/>
          </a:solidFill>
          <a:ln/>
        </p:spPr>
        <p:txBody>
          <a:bodyPr/>
          <a:p/>
        </p:txBody>
      </p:sp>
      <p:sp>
        <p:nvSpPr>
          <p:cNvPr id="42" name="R3 chip"/>
          <p:cNvSpPr/>
          <p:nvPr/>
        </p:nvSpPr>
        <p:spPr>
          <a:xfrm>
            <a:off x="544982" y="3970325"/>
            <a:ext cx="1039673" cy="713232"/>
          </a:xfrm>
          <a:prstGeom prst="rect">
            <a:avLst/>
          </a:prstGeom>
          <a:solidFill>
            <a:srgbClr val="B9D2F7"/>
          </a:solidFill>
          <a:ln/>
        </p:spPr>
        <p:txBody>
          <a:bodyPr/>
          <a:p/>
        </p:txBody>
      </p:sp>
      <p:sp>
        <p:nvSpPr>
          <p:cNvPr id="43" name="R3 num"/>
          <p:cNvSpPr/>
          <p:nvPr/>
        </p:nvSpPr>
        <p:spPr>
          <a:xfrm>
            <a:off x="686714" y="4034333"/>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970325"/>
            <a:ext cx="42245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First, I'm ____ take a computer class at the community college.</a:t>
            </a:r>
            <a:endParaRPr lang="en-US" sz="1600" dirty="0"/>
          </a:p>
        </p:txBody>
      </p:sp>
      <p:sp>
        <p:nvSpPr>
          <p:cNvPr id="45" name="R3 ans"/>
          <p:cNvSpPr/>
          <p:nvPr/>
        </p:nvSpPr>
        <p:spPr>
          <a:xfrm>
            <a:off x="6108192" y="4098341"/>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going to</a:t>
            </a:r>
            <a:endParaRPr lang="en-US" sz="2000" dirty="0" b="1"/>
          </a:p>
        </p:txBody>
      </p:sp>
      <p:sp>
        <p:nvSpPr>
          <p:cNvPr id="46" name="R4 card"/>
          <p:cNvSpPr/>
          <p:nvPr/>
        </p:nvSpPr>
        <p:spPr>
          <a:xfrm>
            <a:off x="1583741" y="4756709"/>
            <a:ext cx="6035040" cy="713232"/>
          </a:xfrm>
          <a:prstGeom prst="round1Rect">
            <a:avLst>
              <a:gd name="adj" fmla="val 23087"/>
            </a:avLst>
          </a:prstGeom>
          <a:solidFill>
            <a:srgbClr val="FFFFFF"/>
          </a:solidFill>
          <a:ln/>
        </p:spPr>
        <p:txBody>
          <a:bodyPr/>
          <a:p/>
        </p:txBody>
      </p:sp>
      <p:sp>
        <p:nvSpPr>
          <p:cNvPr id="47" name="R4 chip"/>
          <p:cNvSpPr/>
          <p:nvPr/>
        </p:nvSpPr>
        <p:spPr>
          <a:xfrm>
            <a:off x="544982" y="4756709"/>
            <a:ext cx="1039673" cy="713232"/>
          </a:xfrm>
          <a:prstGeom prst="rect">
            <a:avLst/>
          </a:prstGeom>
          <a:solidFill>
            <a:srgbClr val="B9D2F7"/>
          </a:solidFill>
          <a:ln/>
        </p:spPr>
        <p:txBody>
          <a:bodyPr/>
          <a:p/>
        </p:txBody>
      </p:sp>
      <p:sp>
        <p:nvSpPr>
          <p:cNvPr id="48" name="R4 num"/>
          <p:cNvSpPr/>
          <p:nvPr/>
        </p:nvSpPr>
        <p:spPr>
          <a:xfrm>
            <a:off x="686714" y="4820717"/>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756709"/>
            <a:ext cx="42245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After that, I____ apply for the certificate program.</a:t>
            </a:r>
            <a:endParaRPr lang="en-US" sz="1600" dirty="0"/>
          </a:p>
        </p:txBody>
      </p:sp>
      <p:sp>
        <p:nvSpPr>
          <p:cNvPr id="50" name="R4 ans"/>
          <p:cNvSpPr/>
          <p:nvPr/>
        </p:nvSpPr>
        <p:spPr>
          <a:xfrm>
            <a:off x="6108192" y="4884725"/>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'll</a:t>
            </a:r>
            <a:endParaRPr lang="en-US" sz="2000" dirty="0" b="1"/>
          </a:p>
        </p:txBody>
      </p:sp>
      <p:sp>
        <p:nvSpPr>
          <p:cNvPr id="51" name="R5 card"/>
          <p:cNvSpPr/>
          <p:nvPr/>
        </p:nvSpPr>
        <p:spPr>
          <a:xfrm>
            <a:off x="1583741" y="5543093"/>
            <a:ext cx="6035040" cy="713232"/>
          </a:xfrm>
          <a:prstGeom prst="round1Rect">
            <a:avLst>
              <a:gd name="adj" fmla="val 23087"/>
            </a:avLst>
          </a:prstGeom>
          <a:solidFill>
            <a:srgbClr val="FFFFFF"/>
          </a:solidFill>
          <a:ln/>
        </p:spPr>
        <p:txBody>
          <a:bodyPr/>
          <a:p/>
        </p:txBody>
      </p:sp>
      <p:sp>
        <p:nvSpPr>
          <p:cNvPr id="52" name="R5 chip"/>
          <p:cNvSpPr/>
          <p:nvPr/>
        </p:nvSpPr>
        <p:spPr>
          <a:xfrm>
            <a:off x="544982" y="5543093"/>
            <a:ext cx="1039673" cy="713232"/>
          </a:xfrm>
          <a:prstGeom prst="rect">
            <a:avLst/>
          </a:prstGeom>
          <a:solidFill>
            <a:srgbClr val="B9D2F7"/>
          </a:solidFill>
          <a:ln/>
        </p:spPr>
        <p:txBody>
          <a:bodyPr/>
          <a:p/>
        </p:txBody>
      </p:sp>
      <p:sp>
        <p:nvSpPr>
          <p:cNvPr id="53" name="R5 num"/>
          <p:cNvSpPr/>
          <p:nvPr/>
        </p:nvSpPr>
        <p:spPr>
          <a:xfrm>
            <a:off x="686714" y="5607101"/>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543093"/>
            <a:ext cx="42245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And I ____ help my kids with their homework, too.</a:t>
            </a:r>
            <a:endParaRPr lang="en-US" sz="1600" dirty="0"/>
          </a:p>
        </p:txBody>
      </p:sp>
      <p:sp>
        <p:nvSpPr>
          <p:cNvPr id="55" name="R5 ans"/>
          <p:cNvSpPr/>
          <p:nvPr/>
        </p:nvSpPr>
        <p:spPr>
          <a:xfrm>
            <a:off x="6108192" y="5671109"/>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hope to</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name="L3:checksay">
    <p:bg>
      <p:bgPr>
        <a:solidFill>
          <a:srgbClr val="F1F5FB"/>
        </a:solidFill>
      </p:bgPr>
    </p:bg>
    <p:spTree>
      <p:nvGrpSpPr>
        <p:cNvPr id="1" name=""/>
        <p:cNvGrpSpPr/>
        <p:nvPr/>
      </p:nvGrpSpPr>
      <p:grpSpPr/>
      <p:sp>
        <p:nvSpPr>
          <p:cNvPr id="2" name="head shadow"/>
          <p:cNvSpPr/>
          <p:nvPr/>
        </p:nvSpPr>
        <p:spPr>
          <a:xfrm>
            <a:off x="544982" y="1681582"/>
            <a:ext cx="6227064" cy="983894"/>
          </a:xfrm>
          <a:prstGeom prst="round1Rect">
            <a:avLst>
              <a:gd name="adj" fmla="val 23087"/>
            </a:avLst>
          </a:prstGeom>
          <a:solidFill>
            <a:srgbClr val="8FAFE3"/>
          </a:solidFill>
          <a:ln/>
        </p:spPr>
        <p:txBody>
          <a:bodyPr/>
          <a:p/>
        </p:txBody>
      </p:sp>
      <p:sp>
        <p:nvSpPr>
          <p:cNvPr id="3" name="head card"/>
          <p:cNvSpPr/>
          <p:nvPr/>
        </p:nvSpPr>
        <p:spPr>
          <a:xfrm>
            <a:off x="544982" y="1623974"/>
            <a:ext cx="6169457" cy="983894"/>
          </a:xfrm>
          <a:prstGeom prst="round1Rect">
            <a:avLst>
              <a:gd name="adj" fmla="val 23087"/>
            </a:avLst>
          </a:prstGeom>
          <a:solidFill>
            <a:srgbClr val="FFFFFF"/>
          </a:solidFill>
          <a:ln/>
        </p:spPr>
        <p:txBody>
          <a:bodyPr/>
          <a:p/>
        </p:txBody>
      </p:sp>
      <p:sp>
        <p:nvSpPr>
          <p:cNvPr id="8" name="head1"/>
          <p:cNvSpPr/>
          <p:nvPr/>
        </p:nvSpPr>
        <p:spPr>
          <a:xfrm>
            <a:off x="777240" y="1691640"/>
            <a:ext cx="56692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Say it: pause and stress</a:t>
            </a:r>
            <a:endParaRPr lang="en-US" sz="2000" dirty="0" b="1"/>
          </a:p>
        </p:txBody>
      </p:sp>
      <p:sp>
        <p:nvSpPr>
          <p:cNvPr id="9" name="head2"/>
          <p:cNvSpPr/>
          <p:nvPr/>
        </p:nvSpPr>
        <p:spPr>
          <a:xfrm>
            <a:off x="868680" y="2093976"/>
            <a:ext cx="55778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The class repeats the line.</a:t>
            </a:r>
            <a:endParaRPr lang="en-US" sz="2000" dirty="0"/>
          </a:p>
        </p:txBody>
      </p:sp>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Say It</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Pause</a:t>
            </a:r>
            <a:r>
              <a:rPr lang="en-US" sz="2000" dirty="0">
                <a:solidFill>
                  <a:srgbClr val="1B2236"/>
                </a:solidFill>
                <a:latin typeface="Lexend Deca" pitchFamily="34" charset="0"/>
                <a:ea typeface="Lexend Deca" pitchFamily="34" charset="-122"/>
                <a:cs typeface="Lexend Deca" pitchFamily="34" charset="-120"/>
              </a:rPr>
              <a:t> after each idea.</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Stress the </a:t>
            </a:r>
            <a:r>
              <a:rPr lang="en-US" sz="2000" dirty="0" b="1">
                <a:solidFill>
                  <a:srgbClr val="5B3FC4"/>
                </a:solidFill>
                <a:latin typeface="Lexend Deca" pitchFamily="34" charset="0"/>
                <a:ea typeface="Lexend Deca" pitchFamily="34" charset="-122"/>
                <a:cs typeface="Lexend Deca" pitchFamily="34" charset="-120"/>
              </a:rPr>
              <a:t>important word.</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the line </a:t>
            </a:r>
            <a:r>
              <a:rPr lang="en-US" sz="2000" dirty="0" b="1">
                <a:solidFill>
                  <a:srgbClr val="5B3FC4"/>
                </a:solidFill>
                <a:latin typeface="Lexend Deca" pitchFamily="34" charset="0"/>
                <a:ea typeface="Lexend Deca" pitchFamily="34" charset="-122"/>
                <a:cs typeface="Lexend Deca" pitchFamily="34" charset="-120"/>
              </a:rPr>
              <a:t>two times.</a:t>
            </a:r>
            <a:endParaRPr lang="en-US" sz="2000" dirty="0" b="0"/>
          </a:p>
        </p:txBody>
      </p:sp>
      <p:sp>
        <p:nvSpPr>
          <p:cNvPr id="31" name="S1 card"/>
          <p:cNvSpPr/>
          <p:nvPr/>
        </p:nvSpPr>
        <p:spPr>
          <a:xfrm>
            <a:off x="548640" y="2715768"/>
            <a:ext cx="6766560" cy="602590"/>
          </a:xfrm>
          <a:prstGeom prst="round1Rect">
            <a:avLst>
              <a:gd name="adj" fmla="val 23087"/>
            </a:avLst>
          </a:prstGeom>
          <a:solidFill>
            <a:srgbClr val="FFFFFF"/>
          </a:solidFill>
          <a:ln/>
        </p:spPr>
        <p:txBody>
          <a:bodyPr/>
          <a:p/>
        </p:txBody>
      </p:sp>
      <p:sp>
        <p:nvSpPr>
          <p:cNvPr id="32" name="S1 text"/>
          <p:cNvSpPr/>
          <p:nvPr/>
        </p:nvSpPr>
        <p:spPr>
          <a:xfrm>
            <a:off x="777240" y="2715768"/>
            <a:ext cx="6355080" cy="602590"/>
          </a:xfrm>
          <a:prstGeom prst="rect">
            <a:avLst/>
          </a:prstGeom>
          <a:noFill/>
          <a:ln/>
        </p:spPr>
        <p:txBody>
          <a:bodyPr wrap="square" rtlCol="0" anchor="ct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Three years ago, (pause) I came to this class.</a:t>
            </a:r>
            <a:endParaRPr lang="en-US" sz="2000" dirty="0" b="1"/>
          </a:p>
        </p:txBody>
      </p:sp>
      <p:sp>
        <p:nvSpPr>
          <p:cNvPr id="33" name="S2 card"/>
          <p:cNvSpPr/>
          <p:nvPr/>
        </p:nvSpPr>
        <p:spPr>
          <a:xfrm>
            <a:off x="548640" y="3427171"/>
            <a:ext cx="6766560" cy="602590"/>
          </a:xfrm>
          <a:prstGeom prst="round1Rect">
            <a:avLst>
              <a:gd name="adj" fmla="val 23087"/>
            </a:avLst>
          </a:prstGeom>
          <a:solidFill>
            <a:srgbClr val="FFFFFF"/>
          </a:solidFill>
          <a:ln/>
        </p:spPr>
        <p:txBody>
          <a:bodyPr/>
          <a:p/>
        </p:txBody>
      </p:sp>
      <p:sp>
        <p:nvSpPr>
          <p:cNvPr id="34" name="S2 text"/>
          <p:cNvSpPr/>
          <p:nvPr/>
        </p:nvSpPr>
        <p:spPr>
          <a:xfrm>
            <a:off x="777240" y="3427171"/>
            <a:ext cx="6355080" cy="602590"/>
          </a:xfrm>
          <a:prstGeom prst="rect">
            <a:avLst/>
          </a:prstGeom>
          <a:noFill/>
          <a:ln/>
        </p:spPr>
        <p:txBody>
          <a:bodyPr wrap="square" rtlCol="0" anchor="ct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(pause) Now (pause) I work at a hotel.</a:t>
            </a:r>
            <a:endParaRPr lang="en-US" sz="2000" dirty="0" b="1"/>
          </a:p>
        </p:txBody>
      </p:sp>
      <p:sp>
        <p:nvSpPr>
          <p:cNvPr id="35" name="S3 card"/>
          <p:cNvSpPr/>
          <p:nvPr/>
        </p:nvSpPr>
        <p:spPr>
          <a:xfrm>
            <a:off x="548640" y="4138574"/>
            <a:ext cx="6766560" cy="602590"/>
          </a:xfrm>
          <a:prstGeom prst="round1Rect">
            <a:avLst>
              <a:gd name="adj" fmla="val 23087"/>
            </a:avLst>
          </a:prstGeom>
          <a:solidFill>
            <a:srgbClr val="FFFFFF"/>
          </a:solidFill>
          <a:ln/>
        </p:spPr>
        <p:txBody>
          <a:bodyPr/>
          <a:p/>
        </p:txBody>
      </p:sp>
      <p:sp>
        <p:nvSpPr>
          <p:cNvPr id="36" name="S3 text"/>
          <p:cNvSpPr/>
          <p:nvPr/>
        </p:nvSpPr>
        <p:spPr>
          <a:xfrm>
            <a:off x="777240" y="4138574"/>
            <a:ext cx="6355080" cy="602590"/>
          </a:xfrm>
          <a:prstGeom prst="rect">
            <a:avLst/>
          </a:prstGeom>
          <a:noFill/>
          <a:ln/>
        </p:spPr>
        <p:txBody>
          <a:bodyPr wrap="square" rtlCol="0" anchor="ct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going to → "gonna" (understand it; say going to)</a:t>
            </a:r>
            <a:endParaRPr lang="en-US" sz="2000" dirty="0" b="1"/>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Computer class: a teacher and a laptop"/>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1</a:t>
            </a:r>
            <a:endParaRPr lang="en-US" sz="2000" dirty="0" b="1"/>
          </a:p>
          <a:p>
            <a:pPr algn="l" indent="0" marL="0">
              <a:spcAft>
                <a:spcPts val="400"/>
              </a:spcAft>
              <a:buNone/>
            </a:pPr>
            <a:r>
              <a:rPr lang="en-US" sz="2800" dirty="0" b="1">
                <a:solidFill>
                  <a:srgbClr val="1B2236"/>
                </a:solidFill>
                <a:latin typeface="Lexend Deca" pitchFamily="34" charset="0"/>
                <a:ea typeface="Lexend Deca" pitchFamily="34" charset="-122"/>
                <a:cs typeface="Lexend Deca" pitchFamily="34" charset="-120"/>
              </a:rPr>
              <a:t>going to (a plan)</a:t>
            </a:r>
            <a:endParaRPr lang="en-US" sz="28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932688"/>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What are you </a:t>
            </a:r>
            <a:r>
              <a:rPr lang="en-US" sz="1600" dirty="0" b="1">
                <a:solidFill>
                  <a:srgbClr val="1B2236"/>
                </a:solidFill>
                <a:latin typeface="Lexend Deca" pitchFamily="34" charset="0"/>
                <a:ea typeface="Lexend Deca" pitchFamily="34" charset="-122"/>
                <a:cs typeface="Lexend Deca" pitchFamily="34" charset="-120"/>
              </a:rPr>
              <a:t>going to</a:t>
            </a:r>
            <a:r>
              <a:rPr lang="en-US" sz="1600" dirty="0" b="1">
                <a:solidFill>
                  <a:srgbClr val="1B2236"/>
                </a:solidFill>
                <a:latin typeface="Lexend Deca" pitchFamily="34" charset="0"/>
                <a:ea typeface="Lexend Deca" pitchFamily="34" charset="-122"/>
                <a:cs typeface="Lexend Deca" pitchFamily="34" charset="-120"/>
              </a:rPr>
              <a:t> do next year?</a:t>
            </a:r>
            <a:endParaRPr lang="en-US" sz="1600" dirty="0" b="1"/>
          </a:p>
        </p:txBody>
      </p:sp>
      <p:sp>
        <p:nvSpPr>
          <p:cNvPr id="19" name="Answer bg 1"/>
          <p:cNvSpPr/>
          <p:nvPr/>
        </p:nvSpPr>
        <p:spPr>
          <a:xfrm>
            <a:off x="7863840" y="2286000"/>
            <a:ext cx="4069080" cy="93268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932688"/>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I'm </a:t>
            </a:r>
            <a:r>
              <a:rPr lang="en-US" sz="1600" dirty="0" b="1">
                <a:solidFill>
                  <a:srgbClr val="1B2236"/>
                </a:solidFill>
                <a:latin typeface="Lexend Deca" pitchFamily="34" charset="0"/>
                <a:ea typeface="Lexend Deca" pitchFamily="34" charset="-122"/>
                <a:cs typeface="Lexend Deca" pitchFamily="34" charset="-120"/>
              </a:rPr>
              <a:t>going to</a:t>
            </a:r>
            <a:r>
              <a:rPr lang="en-US" sz="1600" dirty="0" b="1">
                <a:solidFill>
                  <a:srgbClr val="1B2236"/>
                </a:solidFill>
                <a:latin typeface="Lexend Deca" pitchFamily="34" charset="0"/>
                <a:ea typeface="Lexend Deca" pitchFamily="34" charset="-122"/>
                <a:cs typeface="Lexend Deca" pitchFamily="34" charset="-120"/>
              </a:rPr>
              <a:t> take a computer class.</a:t>
            </a:r>
            <a:endParaRPr lang="en-US" sz="1600" dirty="0" b="1"/>
          </a:p>
        </p:txBody>
      </p:sp>
      <p:sp>
        <p:nvSpPr>
          <p:cNvPr id="21" name="Question 2"/>
          <p:cNvSpPr/>
          <p:nvPr/>
        </p:nvSpPr>
        <p:spPr>
          <a:xfrm>
            <a:off x="5138928" y="3291840"/>
            <a:ext cx="2651760" cy="932688"/>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Are you </a:t>
            </a:r>
            <a:r>
              <a:rPr lang="en-US" sz="1600" dirty="0" b="1">
                <a:solidFill>
                  <a:srgbClr val="1B2236"/>
                </a:solidFill>
                <a:latin typeface="Lexend Deca" pitchFamily="34" charset="0"/>
                <a:ea typeface="Lexend Deca" pitchFamily="34" charset="-122"/>
                <a:cs typeface="Lexend Deca" pitchFamily="34" charset="-120"/>
              </a:rPr>
              <a:t>going to</a:t>
            </a:r>
            <a:r>
              <a:rPr lang="en-US" sz="1600" dirty="0" b="1">
                <a:solidFill>
                  <a:srgbClr val="1B2236"/>
                </a:solidFill>
                <a:latin typeface="Lexend Deca" pitchFamily="34" charset="0"/>
                <a:ea typeface="Lexend Deca" pitchFamily="34" charset="-122"/>
                <a:cs typeface="Lexend Deca" pitchFamily="34" charset="-120"/>
              </a:rPr>
              <a:t> apply?</a:t>
            </a:r>
            <a:endParaRPr lang="en-US" sz="1600" dirty="0" b="1"/>
          </a:p>
        </p:txBody>
      </p:sp>
      <p:sp>
        <p:nvSpPr>
          <p:cNvPr id="22" name="Answer bg 2"/>
          <p:cNvSpPr/>
          <p:nvPr/>
        </p:nvSpPr>
        <p:spPr>
          <a:xfrm>
            <a:off x="7863840" y="3291840"/>
            <a:ext cx="4069080" cy="93268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291840"/>
            <a:ext cx="4069080" cy="932688"/>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Yes, I'm </a:t>
            </a:r>
            <a:r>
              <a:rPr lang="en-US" sz="1600" dirty="0" b="1">
                <a:solidFill>
                  <a:srgbClr val="1B2236"/>
                </a:solidFill>
                <a:latin typeface="Lexend Deca" pitchFamily="34" charset="0"/>
                <a:ea typeface="Lexend Deca" pitchFamily="34" charset="-122"/>
                <a:cs typeface="Lexend Deca" pitchFamily="34" charset="-120"/>
              </a:rPr>
              <a:t>going to</a:t>
            </a:r>
            <a:r>
              <a:rPr lang="en-US" sz="1600" dirty="0" b="1">
                <a:solidFill>
                  <a:srgbClr val="1B2236"/>
                </a:solidFill>
                <a:latin typeface="Lexend Deca" pitchFamily="34" charset="0"/>
                <a:ea typeface="Lexend Deca" pitchFamily="34" charset="-122"/>
                <a:cs typeface="Lexend Deca" pitchFamily="34" charset="-120"/>
              </a:rPr>
              <a:t> apply in January.</a:t>
            </a:r>
            <a:endParaRPr lang="en-US" sz="1600" dirty="0" b="1"/>
          </a:p>
        </p:txBody>
      </p:sp>
      <p:sp>
        <p:nvSpPr>
          <p:cNvPr id="24" name="Question 3"/>
          <p:cNvSpPr/>
          <p:nvPr/>
        </p:nvSpPr>
        <p:spPr>
          <a:xfrm>
            <a:off x="5138928" y="4297680"/>
            <a:ext cx="2651760" cy="932688"/>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When are you </a:t>
            </a:r>
            <a:r>
              <a:rPr lang="en-US" sz="1600" dirty="0" b="1">
                <a:solidFill>
                  <a:srgbClr val="1B2236"/>
                </a:solidFill>
                <a:latin typeface="Lexend Deca" pitchFamily="34" charset="0"/>
                <a:ea typeface="Lexend Deca" pitchFamily="34" charset="-122"/>
                <a:cs typeface="Lexend Deca" pitchFamily="34" charset="-120"/>
              </a:rPr>
              <a:t>meeting</a:t>
            </a:r>
            <a:r>
              <a:rPr lang="en-US" sz="1600" dirty="0" b="1">
                <a:solidFill>
                  <a:srgbClr val="1B2236"/>
                </a:solidFill>
                <a:latin typeface="Lexend Deca" pitchFamily="34" charset="0"/>
                <a:ea typeface="Lexend Deca" pitchFamily="34" charset="-122"/>
                <a:cs typeface="Lexend Deca" pitchFamily="34" charset="-120"/>
              </a:rPr>
              <a:t> the counselor?</a:t>
            </a:r>
            <a:endParaRPr lang="en-US" sz="1600" dirty="0" b="1"/>
          </a:p>
        </p:txBody>
      </p:sp>
      <p:sp>
        <p:nvSpPr>
          <p:cNvPr id="25" name="Answer bg 3"/>
          <p:cNvSpPr/>
          <p:nvPr/>
        </p:nvSpPr>
        <p:spPr>
          <a:xfrm>
            <a:off x="7863840" y="4297680"/>
            <a:ext cx="4069080" cy="93268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297680"/>
            <a:ext cx="4069080" cy="932688"/>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I'm </a:t>
            </a:r>
            <a:r>
              <a:rPr lang="en-US" sz="1600" dirty="0" b="1">
                <a:solidFill>
                  <a:srgbClr val="1B2236"/>
                </a:solidFill>
                <a:latin typeface="Lexend Deca" pitchFamily="34" charset="0"/>
                <a:ea typeface="Lexend Deca" pitchFamily="34" charset="-122"/>
                <a:cs typeface="Lexend Deca" pitchFamily="34" charset="-120"/>
              </a:rPr>
              <a:t>meeting</a:t>
            </a:r>
            <a:r>
              <a:rPr lang="en-US" sz="1600" dirty="0" b="1">
                <a:solidFill>
                  <a:srgbClr val="1B2236"/>
                </a:solidFill>
                <a:latin typeface="Lexend Deca" pitchFamily="34" charset="0"/>
                <a:ea typeface="Lexend Deca" pitchFamily="34" charset="-122"/>
                <a:cs typeface="Lexend Deca" pitchFamily="34" charset="-120"/>
              </a:rPr>
              <a:t> the counselor on Monday.</a:t>
            </a:r>
            <a:endParaRPr lang="en-US" sz="16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Hope: a person with crossed fingers and a thought bubble with a house"/>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2</a:t>
            </a:r>
            <a:endParaRPr lang="en-US" sz="2000" dirty="0" b="1"/>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hope to / I hope I'll (a hope)</a:t>
            </a:r>
            <a:endParaRPr lang="en-US" sz="2000" dirty="0" b="1"/>
          </a:p>
        </p:txBody>
      </p:sp>
      <p:sp>
        <p:nvSpPr>
          <p:cNvPr id="8" name="Q head"/>
          <p:cNvSpPr/>
          <p:nvPr/>
        </p:nvSpPr>
        <p:spPr>
          <a:xfrm>
            <a:off x="5166360" y="1828800"/>
            <a:ext cx="256032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772400" y="1828800"/>
            <a:ext cx="416052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560320" cy="120700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What do you </a:t>
            </a:r>
            <a:r>
              <a:rPr lang="en-US" sz="1900" dirty="0" b="1">
                <a:solidFill>
                  <a:srgbClr val="1B2236"/>
                </a:solidFill>
                <a:latin typeface="Lexend Deca" pitchFamily="34" charset="0"/>
                <a:ea typeface="Lexend Deca" pitchFamily="34" charset="-122"/>
                <a:cs typeface="Lexend Deca" pitchFamily="34" charset="-120"/>
              </a:rPr>
              <a:t>hope to</a:t>
            </a:r>
            <a:r>
              <a:rPr lang="en-US" sz="1900" dirty="0" b="1">
                <a:solidFill>
                  <a:srgbClr val="1B2236"/>
                </a:solidFill>
                <a:latin typeface="Lexend Deca" pitchFamily="34" charset="0"/>
                <a:ea typeface="Lexend Deca" pitchFamily="34" charset="-122"/>
                <a:cs typeface="Lexend Deca" pitchFamily="34" charset="-120"/>
              </a:rPr>
              <a:t> do?</a:t>
            </a:r>
            <a:endParaRPr lang="en-US" sz="1900" dirty="0" b="1"/>
          </a:p>
        </p:txBody>
      </p:sp>
      <p:sp>
        <p:nvSpPr>
          <p:cNvPr id="19" name="Answer bg 1"/>
          <p:cNvSpPr/>
          <p:nvPr/>
        </p:nvSpPr>
        <p:spPr>
          <a:xfrm>
            <a:off x="7772400" y="2286000"/>
            <a:ext cx="4160520" cy="12070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772400" y="2286000"/>
            <a:ext cx="4160520" cy="120700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a:t>
            </a:r>
            <a:r>
              <a:rPr lang="en-US" sz="1800" dirty="0" b="1">
                <a:solidFill>
                  <a:srgbClr val="1B2236"/>
                </a:solidFill>
                <a:latin typeface="Lexend Deca" pitchFamily="34" charset="0"/>
                <a:ea typeface="Lexend Deca" pitchFamily="34" charset="-122"/>
                <a:cs typeface="Lexend Deca" pitchFamily="34" charset="-120"/>
              </a:rPr>
              <a:t>hope to</a:t>
            </a:r>
            <a:r>
              <a:rPr lang="en-US" sz="1800" dirty="0" b="1">
                <a:solidFill>
                  <a:srgbClr val="1B2236"/>
                </a:solidFill>
                <a:latin typeface="Lexend Deca" pitchFamily="34" charset="0"/>
                <a:ea typeface="Lexend Deca" pitchFamily="34" charset="-122"/>
                <a:cs typeface="Lexend Deca" pitchFamily="34" charset="-120"/>
              </a:rPr>
              <a:t> get my diploma.</a:t>
            </a:r>
            <a:endParaRPr lang="en-US" sz="1800" dirty="0" b="1"/>
          </a:p>
          <a:p>
            <a:pPr algn="l" indent="0" marL="0">
              <a:buNone/>
            </a:pPr>
            <a:r>
              <a:rPr lang="en-US" sz="1800" dirty="0" b="1">
                <a:solidFill>
                  <a:srgbClr val="1B2236"/>
                </a:solidFill>
                <a:latin typeface="Lexend Deca" pitchFamily="34" charset="0"/>
                <a:ea typeface="Lexend Deca" pitchFamily="34" charset="-122"/>
                <a:cs typeface="Lexend Deca" pitchFamily="34" charset="-120"/>
              </a:rPr>
              <a:t>I </a:t>
            </a:r>
            <a:r>
              <a:rPr lang="en-US" sz="1800" dirty="0" b="1">
                <a:solidFill>
                  <a:srgbClr val="1B2236"/>
                </a:solidFill>
                <a:latin typeface="Lexend Deca" pitchFamily="34" charset="0"/>
                <a:ea typeface="Lexend Deca" pitchFamily="34" charset="-122"/>
                <a:cs typeface="Lexend Deca" pitchFamily="34" charset="-120"/>
              </a:rPr>
              <a:t>hope I'll</a:t>
            </a:r>
            <a:r>
              <a:rPr lang="en-US" sz="1800" dirty="0" b="1">
                <a:solidFill>
                  <a:srgbClr val="1B2236"/>
                </a:solidFill>
                <a:latin typeface="Lexend Deca" pitchFamily="34" charset="0"/>
                <a:ea typeface="Lexend Deca" pitchFamily="34" charset="-122"/>
                <a:cs typeface="Lexend Deca" pitchFamily="34" charset="-120"/>
              </a:rPr>
              <a:t> have my own business.</a:t>
            </a:r>
            <a:endParaRPr lang="en-US" sz="1800" dirty="0" b="1"/>
          </a:p>
        </p:txBody>
      </p:sp>
      <p:sp>
        <p:nvSpPr>
          <p:cNvPr id="21" name="Question 2"/>
          <p:cNvSpPr/>
          <p:nvPr/>
        </p:nvSpPr>
        <p:spPr>
          <a:xfrm>
            <a:off x="5138928" y="3566160"/>
            <a:ext cx="2560320" cy="120700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What do you </a:t>
            </a:r>
            <a:r>
              <a:rPr lang="en-US" sz="1900" dirty="0" b="1">
                <a:solidFill>
                  <a:srgbClr val="1B2236"/>
                </a:solidFill>
                <a:latin typeface="Lexend Deca" pitchFamily="34" charset="0"/>
                <a:ea typeface="Lexend Deca" pitchFamily="34" charset="-122"/>
                <a:cs typeface="Lexend Deca" pitchFamily="34" charset="-120"/>
              </a:rPr>
              <a:t>plan to / want to</a:t>
            </a:r>
            <a:r>
              <a:rPr lang="en-US" sz="1900" dirty="0" b="1">
                <a:solidFill>
                  <a:srgbClr val="1B2236"/>
                </a:solidFill>
                <a:latin typeface="Lexend Deca" pitchFamily="34" charset="0"/>
                <a:ea typeface="Lexend Deca" pitchFamily="34" charset="-122"/>
                <a:cs typeface="Lexend Deca" pitchFamily="34" charset="-120"/>
              </a:rPr>
              <a:t> do?</a:t>
            </a:r>
            <a:endParaRPr lang="en-US" sz="1900" dirty="0" b="1"/>
          </a:p>
        </p:txBody>
      </p:sp>
      <p:sp>
        <p:nvSpPr>
          <p:cNvPr id="22" name="Answer bg 2"/>
          <p:cNvSpPr/>
          <p:nvPr/>
        </p:nvSpPr>
        <p:spPr>
          <a:xfrm>
            <a:off x="7772400" y="3566160"/>
            <a:ext cx="4160520" cy="12070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772400" y="3566160"/>
            <a:ext cx="4160520" cy="120700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a:t>
            </a:r>
            <a:r>
              <a:rPr lang="en-US" sz="1800" dirty="0" b="1">
                <a:solidFill>
                  <a:srgbClr val="1B2236"/>
                </a:solidFill>
                <a:latin typeface="Lexend Deca" pitchFamily="34" charset="0"/>
                <a:ea typeface="Lexend Deca" pitchFamily="34" charset="-122"/>
                <a:cs typeface="Lexend Deca" pitchFamily="34" charset="-120"/>
              </a:rPr>
              <a:t>plan to</a:t>
            </a:r>
            <a:r>
              <a:rPr lang="en-US" sz="1800" dirty="0" b="1">
                <a:solidFill>
                  <a:srgbClr val="1B2236"/>
                </a:solidFill>
                <a:latin typeface="Lexend Deca" pitchFamily="34" charset="0"/>
                <a:ea typeface="Lexend Deca" pitchFamily="34" charset="-122"/>
                <a:cs typeface="Lexend Deca" pitchFamily="34" charset="-120"/>
              </a:rPr>
              <a:t> / I </a:t>
            </a:r>
            <a:r>
              <a:rPr lang="en-US" sz="1800" dirty="0" b="1">
                <a:solidFill>
                  <a:srgbClr val="1B2236"/>
                </a:solidFill>
                <a:latin typeface="Lexend Deca" pitchFamily="34" charset="0"/>
                <a:ea typeface="Lexend Deca" pitchFamily="34" charset="-122"/>
                <a:cs typeface="Lexend Deca" pitchFamily="34" charset="-120"/>
              </a:rPr>
              <a:t>want to</a:t>
            </a:r>
            <a:r>
              <a:rPr lang="en-US" sz="1800" dirty="0" b="1">
                <a:solidFill>
                  <a:srgbClr val="1B2236"/>
                </a:solidFill>
                <a:latin typeface="Lexend Deca" pitchFamily="34" charset="0"/>
                <a:ea typeface="Lexend Deca" pitchFamily="34" charset="-122"/>
                <a:cs typeface="Lexend Deca" pitchFamily="34" charset="-120"/>
              </a:rPr>
              <a:t> save money for a car.</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Decide: a person, two drawn arrows, a check mark on one"/>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3</a:t>
            </a:r>
            <a:endParaRPr lang="en-US" sz="2000" dirty="0" b="1"/>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will (decided now, a promise)</a:t>
            </a:r>
            <a:endParaRPr lang="en-US" sz="2000" dirty="0" b="1"/>
          </a:p>
        </p:txBody>
      </p:sp>
      <p:sp>
        <p:nvSpPr>
          <p:cNvPr id="8" name="Q head"/>
          <p:cNvSpPr/>
          <p:nvPr/>
        </p:nvSpPr>
        <p:spPr>
          <a:xfrm>
            <a:off x="5166360" y="1828800"/>
            <a:ext cx="256032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772400" y="1828800"/>
            <a:ext cx="416052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560320" cy="120700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What </a:t>
            </a:r>
            <a:r>
              <a:rPr lang="en-US" sz="1900" dirty="0" b="1">
                <a:solidFill>
                  <a:srgbClr val="1B2236"/>
                </a:solidFill>
                <a:latin typeface="Lexend Deca" pitchFamily="34" charset="0"/>
                <a:ea typeface="Lexend Deca" pitchFamily="34" charset="-122"/>
                <a:cs typeface="Lexend Deca" pitchFamily="34" charset="-120"/>
              </a:rPr>
              <a:t>will</a:t>
            </a:r>
            <a:r>
              <a:rPr lang="en-US" sz="1900" dirty="0" b="1">
                <a:solidFill>
                  <a:srgbClr val="1B2236"/>
                </a:solidFill>
                <a:latin typeface="Lexend Deca" pitchFamily="34" charset="0"/>
                <a:ea typeface="Lexend Deca" pitchFamily="34" charset="-122"/>
                <a:cs typeface="Lexend Deca" pitchFamily="34" charset="-120"/>
              </a:rPr>
              <a:t> you do first?</a:t>
            </a:r>
            <a:endParaRPr lang="en-US" sz="1900" dirty="0" b="1"/>
          </a:p>
        </p:txBody>
      </p:sp>
      <p:sp>
        <p:nvSpPr>
          <p:cNvPr id="19" name="Answer bg 1"/>
          <p:cNvSpPr/>
          <p:nvPr/>
        </p:nvSpPr>
        <p:spPr>
          <a:xfrm>
            <a:off x="7772400" y="2286000"/>
            <a:ext cx="4160520" cy="12070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772400" y="2286000"/>
            <a:ext cx="4160520" cy="120700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First, </a:t>
            </a:r>
            <a:r>
              <a:rPr lang="en-US" sz="1800" dirty="0" b="1">
                <a:solidFill>
                  <a:srgbClr val="1B2236"/>
                </a:solidFill>
                <a:latin typeface="Lexend Deca" pitchFamily="34" charset="0"/>
                <a:ea typeface="Lexend Deca" pitchFamily="34" charset="-122"/>
                <a:cs typeface="Lexend Deca" pitchFamily="34" charset="-120"/>
              </a:rPr>
              <a:t>I'll</a:t>
            </a:r>
            <a:r>
              <a:rPr lang="en-US" sz="1800" dirty="0" b="1">
                <a:solidFill>
                  <a:srgbClr val="1B2236"/>
                </a:solidFill>
                <a:latin typeface="Lexend Deca" pitchFamily="34" charset="0"/>
                <a:ea typeface="Lexend Deca" pitchFamily="34" charset="-122"/>
                <a:cs typeface="Lexend Deca" pitchFamily="34" charset="-120"/>
              </a:rPr>
              <a:t> ask about classes at the community college.</a:t>
            </a:r>
            <a:endParaRPr lang="en-US" sz="1800" dirty="0" b="1"/>
          </a:p>
        </p:txBody>
      </p:sp>
      <p:sp>
        <p:nvSpPr>
          <p:cNvPr id="21" name="Question 2"/>
          <p:cNvSpPr/>
          <p:nvPr/>
        </p:nvSpPr>
        <p:spPr>
          <a:xfrm>
            <a:off x="5138928" y="3566160"/>
            <a:ext cx="2560320" cy="120700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Can you call them?</a:t>
            </a:r>
            <a:endParaRPr lang="en-US" sz="1900" dirty="0" b="1"/>
          </a:p>
        </p:txBody>
      </p:sp>
      <p:sp>
        <p:nvSpPr>
          <p:cNvPr id="22" name="Answer bg 2"/>
          <p:cNvSpPr/>
          <p:nvPr/>
        </p:nvSpPr>
        <p:spPr>
          <a:xfrm>
            <a:off x="7772400" y="3566160"/>
            <a:ext cx="4160520" cy="12070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772400" y="3566160"/>
            <a:ext cx="4160520" cy="120700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OK, </a:t>
            </a:r>
            <a:r>
              <a:rPr lang="en-US" sz="1800" dirty="0" b="1">
                <a:solidFill>
                  <a:srgbClr val="1B2236"/>
                </a:solidFill>
                <a:latin typeface="Lexend Deca" pitchFamily="34" charset="0"/>
                <a:ea typeface="Lexend Deca" pitchFamily="34" charset="-122"/>
                <a:cs typeface="Lexend Deca" pitchFamily="34" charset="-120"/>
              </a:rPr>
              <a:t>I'll</a:t>
            </a:r>
            <a:r>
              <a:rPr lang="en-US" sz="1800" dirty="0" b="1">
                <a:solidFill>
                  <a:srgbClr val="1B2236"/>
                </a:solidFill>
                <a:latin typeface="Lexend Deca" pitchFamily="34" charset="0"/>
                <a:ea typeface="Lexend Deca" pitchFamily="34" charset="-122"/>
                <a:cs typeface="Lexend Deca" pitchFamily="34" charset="-120"/>
              </a:rPr>
              <a:t> call them tomorrow.</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Career: a briefcase and a chart going up"/>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4</a:t>
            </a:r>
            <a:endParaRPr lang="en-US" sz="2000" dirty="0" b="1"/>
          </a:p>
          <a:p>
            <a:pPr algn="l" indent="0" marL="0">
              <a:spcAft>
                <a:spcPts val="400"/>
              </a:spcAft>
              <a:buNone/>
            </a:pPr>
            <a:r>
              <a:rPr lang="en-US" sz="2800" dirty="0" b="1">
                <a:solidFill>
                  <a:srgbClr val="1B2236"/>
                </a:solidFill>
                <a:latin typeface="Lexend Deca" pitchFamily="34" charset="0"/>
                <a:ea typeface="Lexend Deca" pitchFamily="34" charset="-122"/>
                <a:cs typeface="Lexend Deca" pitchFamily="34" charset="-120"/>
              </a:rPr>
              <a:t>Which one?</a:t>
            </a:r>
            <a:endParaRPr lang="en-US" sz="2800" dirty="0" b="1"/>
          </a:p>
        </p:txBody>
      </p:sp>
      <p:sp>
        <p:nvSpPr>
          <p:cNvPr id="8" name="Q head"/>
          <p:cNvSpPr/>
          <p:nvPr/>
        </p:nvSpPr>
        <p:spPr>
          <a:xfrm>
            <a:off x="5166360" y="1828800"/>
            <a:ext cx="21945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FORM</a:t>
            </a:r>
            <a:endParaRPr lang="en-US" sz="2000" dirty="0" b="1"/>
          </a:p>
        </p:txBody>
      </p:sp>
      <p:sp>
        <p:nvSpPr>
          <p:cNvPr id="11" name="A head"/>
          <p:cNvSpPr/>
          <p:nvPr/>
        </p:nvSpPr>
        <p:spPr>
          <a:xfrm>
            <a:off x="7406640" y="1828800"/>
            <a:ext cx="45262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MEANING  ·  EXAMPLE</a:t>
            </a:r>
            <a:endParaRPr lang="en-US" sz="2000" dirty="0" b="1"/>
          </a:p>
        </p:txBody>
      </p:sp>
      <p:sp>
        <p:nvSpPr>
          <p:cNvPr id="18" name="Question 1"/>
          <p:cNvSpPr/>
          <p:nvPr/>
        </p:nvSpPr>
        <p:spPr>
          <a:xfrm>
            <a:off x="5138928" y="2286000"/>
            <a:ext cx="2194560" cy="8412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going to</a:t>
            </a:r>
            <a:endParaRPr lang="en-US" sz="1800" dirty="0" b="1"/>
          </a:p>
        </p:txBody>
      </p:sp>
      <p:sp>
        <p:nvSpPr>
          <p:cNvPr id="19" name="Answer bg 1"/>
          <p:cNvSpPr/>
          <p:nvPr/>
        </p:nvSpPr>
        <p:spPr>
          <a:xfrm>
            <a:off x="7406640" y="2286000"/>
            <a:ext cx="452628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406640" y="2286000"/>
            <a:ext cx="4526280" cy="8412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already planned</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I'm going to take a class in January.</a:t>
            </a:r>
            <a:endParaRPr lang="en-US" sz="1700" dirty="0" b="1"/>
          </a:p>
        </p:txBody>
      </p:sp>
      <p:sp>
        <p:nvSpPr>
          <p:cNvPr id="21" name="Question 2"/>
          <p:cNvSpPr/>
          <p:nvPr/>
        </p:nvSpPr>
        <p:spPr>
          <a:xfrm>
            <a:off x="5138928" y="3200400"/>
            <a:ext cx="2194560" cy="8412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will</a:t>
            </a:r>
            <a:r>
              <a:rPr lang="en-US" sz="1800" dirty="0" b="1">
                <a:solidFill>
                  <a:srgbClr val="1B2236"/>
                </a:solidFill>
                <a:latin typeface="Lexend Deca" pitchFamily="34" charset="0"/>
                <a:ea typeface="Lexend Deca" pitchFamily="34" charset="-122"/>
                <a:cs typeface="Lexend Deca" pitchFamily="34" charset="-120"/>
              </a:rPr>
              <a:t> ('ll)</a:t>
            </a:r>
            <a:endParaRPr lang="en-US" sz="1800" dirty="0" b="1"/>
          </a:p>
        </p:txBody>
      </p:sp>
      <p:sp>
        <p:nvSpPr>
          <p:cNvPr id="22" name="Answer bg 2"/>
          <p:cNvSpPr/>
          <p:nvPr/>
        </p:nvSpPr>
        <p:spPr>
          <a:xfrm>
            <a:off x="7406640" y="3200400"/>
            <a:ext cx="452628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406640" y="3200400"/>
            <a:ext cx="4526280" cy="8412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decided now, or a promise</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OK, I'll call the college tomorrow.</a:t>
            </a:r>
            <a:endParaRPr lang="en-US" sz="1700" dirty="0" b="1"/>
          </a:p>
        </p:txBody>
      </p:sp>
      <p:sp>
        <p:nvSpPr>
          <p:cNvPr id="24" name="Question 3"/>
          <p:cNvSpPr/>
          <p:nvPr/>
        </p:nvSpPr>
        <p:spPr>
          <a:xfrm>
            <a:off x="5138928" y="4114800"/>
            <a:ext cx="2194560" cy="8412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hope to</a:t>
            </a:r>
            <a:r>
              <a:rPr lang="en-US" sz="1800" dirty="0" b="1">
                <a:solidFill>
                  <a:srgbClr val="1B2236"/>
                </a:solidFill>
                <a:latin typeface="Lexend Deca" pitchFamily="34" charset="0"/>
                <a:ea typeface="Lexend Deca" pitchFamily="34" charset="-122"/>
                <a:cs typeface="Lexend Deca" pitchFamily="34" charset="-120"/>
              </a:rPr>
              <a:t> / </a:t>
            </a:r>
            <a:r>
              <a:rPr lang="en-US" sz="1800" dirty="0" b="1">
                <a:solidFill>
                  <a:srgbClr val="1B2236"/>
                </a:solidFill>
                <a:latin typeface="Lexend Deca" pitchFamily="34" charset="0"/>
                <a:ea typeface="Lexend Deca" pitchFamily="34" charset="-122"/>
                <a:cs typeface="Lexend Deca" pitchFamily="34" charset="-120"/>
              </a:rPr>
              <a:t>I hope I'll</a:t>
            </a:r>
            <a:endParaRPr lang="en-US" sz="1800" dirty="0" b="1"/>
          </a:p>
        </p:txBody>
      </p:sp>
      <p:sp>
        <p:nvSpPr>
          <p:cNvPr id="25" name="Answer bg 3"/>
          <p:cNvSpPr/>
          <p:nvPr/>
        </p:nvSpPr>
        <p:spPr>
          <a:xfrm>
            <a:off x="7406640" y="4114800"/>
            <a:ext cx="452628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406640" y="4114800"/>
            <a:ext cx="4526280" cy="8412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want it, but I'm not sure</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I hope to get a promotion.</a:t>
            </a:r>
            <a:endParaRPr lang="en-US" sz="1700" dirty="0" b="1"/>
          </a:p>
        </p:txBody>
      </p:sp>
      <p:sp>
        <p:nvSpPr>
          <p:cNvPr id="27" name="Question 4"/>
          <p:cNvSpPr/>
          <p:nvPr/>
        </p:nvSpPr>
        <p:spPr>
          <a:xfrm>
            <a:off x="5138928" y="5029200"/>
            <a:ext cx="2194560" cy="8412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plan to / want to</a:t>
            </a:r>
            <a:endParaRPr lang="en-US" sz="1800" dirty="0" b="1"/>
          </a:p>
        </p:txBody>
      </p:sp>
      <p:sp>
        <p:nvSpPr>
          <p:cNvPr id="28" name="Answer bg 4"/>
          <p:cNvSpPr/>
          <p:nvPr/>
        </p:nvSpPr>
        <p:spPr>
          <a:xfrm>
            <a:off x="7406640" y="5029200"/>
            <a:ext cx="452628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406640" y="5029200"/>
            <a:ext cx="4526280" cy="8412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my idea for the future</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I plan to save money.</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Practice A</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the word.</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Practice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Words: </a:t>
            </a:r>
            <a:r>
              <a:rPr lang="en-US" sz="2000" dirty="0" b="1">
                <a:solidFill>
                  <a:srgbClr val="5B3FC4"/>
                </a:solidFill>
                <a:latin typeface="Lexend Deca" pitchFamily="34" charset="0"/>
                <a:ea typeface="Lexend Deca" pitchFamily="34" charset="-122"/>
                <a:cs typeface="Lexend Deca" pitchFamily="34" charset="-120"/>
              </a:rPr>
              <a:t>going to, 'll, hope to</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check your answers.</a:t>
            </a:r>
            <a:endParaRPr lang="en-US" sz="2000" dirty="0" b="1"/>
          </a:p>
        </p:txBody>
      </p:sp>
      <p:sp>
        <p:nvSpPr>
          <p:cNvPr id="31" name="R1 card"/>
          <p:cNvSpPr/>
          <p:nvPr/>
        </p:nvSpPr>
        <p:spPr>
          <a:xfrm>
            <a:off x="1583741" y="2397557"/>
            <a:ext cx="6035040" cy="713232"/>
          </a:xfrm>
          <a:prstGeom prst="round1Rect">
            <a:avLst>
              <a:gd name="adj" fmla="val 23087"/>
            </a:avLst>
          </a:prstGeom>
          <a:solidFill>
            <a:srgbClr val="FFFFFF"/>
          </a:solidFill>
          <a:ln/>
        </p:spPr>
        <p:txBody>
          <a:bodyPr/>
          <a:p/>
        </p:txBody>
      </p:sp>
      <p:sp>
        <p:nvSpPr>
          <p:cNvPr id="32" name="R1 chip"/>
          <p:cNvSpPr/>
          <p:nvPr/>
        </p:nvSpPr>
        <p:spPr>
          <a:xfrm>
            <a:off x="544982" y="2397557"/>
            <a:ext cx="1039673" cy="713232"/>
          </a:xfrm>
          <a:prstGeom prst="rect">
            <a:avLst/>
          </a:prstGeom>
          <a:solidFill>
            <a:srgbClr val="B9D2F7"/>
          </a:solidFill>
          <a:ln/>
        </p:spPr>
        <p:txBody>
          <a:bodyPr/>
          <a:p/>
        </p:txBody>
      </p:sp>
      <p:sp>
        <p:nvSpPr>
          <p:cNvPr id="33" name="R1 num"/>
          <p:cNvSpPr/>
          <p:nvPr/>
        </p:nvSpPr>
        <p:spPr>
          <a:xfrm>
            <a:off x="686714" y="2461565"/>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397557"/>
            <a:ext cx="431596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 bought the books. I'm ____ start the class on Monday. (planned)</a:t>
            </a:r>
            <a:endParaRPr lang="en-US" sz="1600" dirty="0"/>
          </a:p>
        </p:txBody>
      </p:sp>
      <p:sp>
        <p:nvSpPr>
          <p:cNvPr id="35" name="R1 ans"/>
          <p:cNvSpPr/>
          <p:nvPr/>
        </p:nvSpPr>
        <p:spPr>
          <a:xfrm>
            <a:off x="6199632" y="2525573"/>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going to</a:t>
            </a:r>
            <a:endParaRPr lang="en-US" sz="2000" dirty="0" b="1"/>
          </a:p>
        </p:txBody>
      </p:sp>
      <p:sp>
        <p:nvSpPr>
          <p:cNvPr id="36" name="R2 card"/>
          <p:cNvSpPr/>
          <p:nvPr/>
        </p:nvSpPr>
        <p:spPr>
          <a:xfrm>
            <a:off x="1583741" y="3183941"/>
            <a:ext cx="6035040" cy="713232"/>
          </a:xfrm>
          <a:prstGeom prst="round1Rect">
            <a:avLst>
              <a:gd name="adj" fmla="val 23087"/>
            </a:avLst>
          </a:prstGeom>
          <a:solidFill>
            <a:srgbClr val="FFFFFF"/>
          </a:solidFill>
          <a:ln/>
        </p:spPr>
        <p:txBody>
          <a:bodyPr/>
          <a:p/>
        </p:txBody>
      </p:sp>
      <p:sp>
        <p:nvSpPr>
          <p:cNvPr id="37" name="R2 chip"/>
          <p:cNvSpPr/>
          <p:nvPr/>
        </p:nvSpPr>
        <p:spPr>
          <a:xfrm>
            <a:off x="544982" y="3183941"/>
            <a:ext cx="1039673" cy="713232"/>
          </a:xfrm>
          <a:prstGeom prst="rect">
            <a:avLst/>
          </a:prstGeom>
          <a:solidFill>
            <a:srgbClr val="B9D2F7"/>
          </a:solidFill>
          <a:ln/>
        </p:spPr>
        <p:txBody>
          <a:bodyPr/>
          <a:p/>
        </p:txBody>
      </p:sp>
      <p:sp>
        <p:nvSpPr>
          <p:cNvPr id="38" name="R2 num"/>
          <p:cNvSpPr/>
          <p:nvPr/>
        </p:nvSpPr>
        <p:spPr>
          <a:xfrm>
            <a:off x="686714" y="3247949"/>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3183941"/>
            <a:ext cx="431596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The phone is ringing. I____ get it! (decided now)</a:t>
            </a:r>
            <a:endParaRPr lang="en-US" sz="1600" dirty="0"/>
          </a:p>
        </p:txBody>
      </p:sp>
      <p:sp>
        <p:nvSpPr>
          <p:cNvPr id="40" name="R2 ans"/>
          <p:cNvSpPr/>
          <p:nvPr/>
        </p:nvSpPr>
        <p:spPr>
          <a:xfrm>
            <a:off x="6199632" y="3311957"/>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'll</a:t>
            </a:r>
            <a:endParaRPr lang="en-US" sz="2000" dirty="0" b="1"/>
          </a:p>
        </p:txBody>
      </p:sp>
      <p:sp>
        <p:nvSpPr>
          <p:cNvPr id="41" name="R3 card"/>
          <p:cNvSpPr/>
          <p:nvPr/>
        </p:nvSpPr>
        <p:spPr>
          <a:xfrm>
            <a:off x="1583741" y="3970325"/>
            <a:ext cx="6035040" cy="713232"/>
          </a:xfrm>
          <a:prstGeom prst="round1Rect">
            <a:avLst>
              <a:gd name="adj" fmla="val 23087"/>
            </a:avLst>
          </a:prstGeom>
          <a:solidFill>
            <a:srgbClr val="FFFFFF"/>
          </a:solidFill>
          <a:ln/>
        </p:spPr>
        <p:txBody>
          <a:bodyPr/>
          <a:p/>
        </p:txBody>
      </p:sp>
      <p:sp>
        <p:nvSpPr>
          <p:cNvPr id="42" name="R3 chip"/>
          <p:cNvSpPr/>
          <p:nvPr/>
        </p:nvSpPr>
        <p:spPr>
          <a:xfrm>
            <a:off x="544982" y="3970325"/>
            <a:ext cx="1039673" cy="713232"/>
          </a:xfrm>
          <a:prstGeom prst="rect">
            <a:avLst/>
          </a:prstGeom>
          <a:solidFill>
            <a:srgbClr val="B9D2F7"/>
          </a:solidFill>
          <a:ln/>
        </p:spPr>
        <p:txBody>
          <a:bodyPr/>
          <a:p/>
        </p:txBody>
      </p:sp>
      <p:sp>
        <p:nvSpPr>
          <p:cNvPr id="43" name="R3 num"/>
          <p:cNvSpPr/>
          <p:nvPr/>
        </p:nvSpPr>
        <p:spPr>
          <a:xfrm>
            <a:off x="686714" y="4034333"/>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970325"/>
            <a:ext cx="431596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 ____ get a promotion, but I'm not sure. (a hope)</a:t>
            </a:r>
            <a:endParaRPr lang="en-US" sz="1600" dirty="0"/>
          </a:p>
        </p:txBody>
      </p:sp>
      <p:sp>
        <p:nvSpPr>
          <p:cNvPr id="45" name="R3 ans"/>
          <p:cNvSpPr/>
          <p:nvPr/>
        </p:nvSpPr>
        <p:spPr>
          <a:xfrm>
            <a:off x="6199632" y="4098341"/>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hope to</a:t>
            </a:r>
            <a:endParaRPr lang="en-US" sz="2000" dirty="0" b="1"/>
          </a:p>
        </p:txBody>
      </p:sp>
      <p:sp>
        <p:nvSpPr>
          <p:cNvPr id="46" name="R4 card"/>
          <p:cNvSpPr/>
          <p:nvPr/>
        </p:nvSpPr>
        <p:spPr>
          <a:xfrm>
            <a:off x="1583741" y="4756709"/>
            <a:ext cx="6035040" cy="713232"/>
          </a:xfrm>
          <a:prstGeom prst="round1Rect">
            <a:avLst>
              <a:gd name="adj" fmla="val 23087"/>
            </a:avLst>
          </a:prstGeom>
          <a:solidFill>
            <a:srgbClr val="FFFFFF"/>
          </a:solidFill>
          <a:ln/>
        </p:spPr>
        <p:txBody>
          <a:bodyPr/>
          <a:p/>
        </p:txBody>
      </p:sp>
      <p:sp>
        <p:nvSpPr>
          <p:cNvPr id="47" name="R4 chip"/>
          <p:cNvSpPr/>
          <p:nvPr/>
        </p:nvSpPr>
        <p:spPr>
          <a:xfrm>
            <a:off x="544982" y="4756709"/>
            <a:ext cx="1039673" cy="713232"/>
          </a:xfrm>
          <a:prstGeom prst="rect">
            <a:avLst/>
          </a:prstGeom>
          <a:solidFill>
            <a:srgbClr val="B9D2F7"/>
          </a:solidFill>
          <a:ln/>
        </p:spPr>
        <p:txBody>
          <a:bodyPr/>
          <a:p/>
        </p:txBody>
      </p:sp>
      <p:sp>
        <p:nvSpPr>
          <p:cNvPr id="48" name="R4 num"/>
          <p:cNvSpPr/>
          <p:nvPr/>
        </p:nvSpPr>
        <p:spPr>
          <a:xfrm>
            <a:off x="686714" y="4820717"/>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756709"/>
            <a:ext cx="431596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She's ____ take the driving test in May. (planned)</a:t>
            </a:r>
            <a:endParaRPr lang="en-US" sz="1600" dirty="0"/>
          </a:p>
        </p:txBody>
      </p:sp>
      <p:sp>
        <p:nvSpPr>
          <p:cNvPr id="50" name="R4 ans"/>
          <p:cNvSpPr/>
          <p:nvPr/>
        </p:nvSpPr>
        <p:spPr>
          <a:xfrm>
            <a:off x="6199632" y="4884725"/>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going to</a:t>
            </a:r>
            <a:endParaRPr lang="en-US" sz="2000" dirty="0" b="1"/>
          </a:p>
        </p:txBody>
      </p:sp>
      <p:sp>
        <p:nvSpPr>
          <p:cNvPr id="51" name="R5 card"/>
          <p:cNvSpPr/>
          <p:nvPr/>
        </p:nvSpPr>
        <p:spPr>
          <a:xfrm>
            <a:off x="1583741" y="5543093"/>
            <a:ext cx="6035040" cy="713232"/>
          </a:xfrm>
          <a:prstGeom prst="round1Rect">
            <a:avLst>
              <a:gd name="adj" fmla="val 23087"/>
            </a:avLst>
          </a:prstGeom>
          <a:solidFill>
            <a:srgbClr val="FFFFFF"/>
          </a:solidFill>
          <a:ln/>
        </p:spPr>
        <p:txBody>
          <a:bodyPr/>
          <a:p/>
        </p:txBody>
      </p:sp>
      <p:sp>
        <p:nvSpPr>
          <p:cNvPr id="52" name="R5 chip"/>
          <p:cNvSpPr/>
          <p:nvPr/>
        </p:nvSpPr>
        <p:spPr>
          <a:xfrm>
            <a:off x="544982" y="5543093"/>
            <a:ext cx="1039673" cy="713232"/>
          </a:xfrm>
          <a:prstGeom prst="rect">
            <a:avLst/>
          </a:prstGeom>
          <a:solidFill>
            <a:srgbClr val="B9D2F7"/>
          </a:solidFill>
          <a:ln/>
        </p:spPr>
        <p:txBody>
          <a:bodyPr/>
          <a:p/>
        </p:txBody>
      </p:sp>
      <p:sp>
        <p:nvSpPr>
          <p:cNvPr id="53" name="R5 num"/>
          <p:cNvSpPr/>
          <p:nvPr/>
        </p:nvSpPr>
        <p:spPr>
          <a:xfrm>
            <a:off x="686714" y="5607101"/>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543093"/>
            <a:ext cx="431596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Don't worry. I____ help you with your talk. (a promise)</a:t>
            </a:r>
            <a:endParaRPr lang="en-US" sz="1600" dirty="0"/>
          </a:p>
        </p:txBody>
      </p:sp>
      <p:sp>
        <p:nvSpPr>
          <p:cNvPr id="55" name="R5 ans"/>
          <p:cNvSpPr/>
          <p:nvPr/>
        </p:nvSpPr>
        <p:spPr>
          <a:xfrm>
            <a:off x="6199632" y="5671109"/>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'll</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name="L3: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Practice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right words.</a:t>
            </a:r>
            <a:endParaRPr lang="en-US" sz="2000" dirty="0"/>
          </a:p>
        </p:txBody>
      </p:sp>
      <p:sp>
        <p:nvSpPr>
          <p:cNvPr id="8" name="R1 stmt"/>
          <p:cNvSpPr/>
          <p:nvPr/>
        </p:nvSpPr>
        <p:spPr>
          <a:xfrm>
            <a:off x="502920" y="3108960"/>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1. I hope ____ my diploma.</a:t>
            </a:r>
            <a:endParaRPr lang="en-US" sz="2000" dirty="0"/>
          </a:p>
        </p:txBody>
      </p:sp>
      <p:sp>
        <p:nvSpPr>
          <p:cNvPr id="9" name="R1 opt1"/>
          <p:cNvSpPr/>
          <p:nvPr/>
        </p:nvSpPr>
        <p:spPr>
          <a:xfrm>
            <a:off x="7269480" y="3108960"/>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to get</a:t>
            </a:r>
            <a:endParaRPr lang="en-US" sz="1700" dirty="0" b="1"/>
          </a:p>
        </p:txBody>
      </p:sp>
      <p:sp>
        <p:nvSpPr>
          <p:cNvPr id="10" name="R1 opt2"/>
          <p:cNvSpPr/>
          <p:nvPr/>
        </p:nvSpPr>
        <p:spPr>
          <a:xfrm>
            <a:off x="9235440" y="3108960"/>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get</a:t>
            </a:r>
            <a:endParaRPr lang="en-US" sz="1700" dirty="0" b="1"/>
          </a:p>
        </p:txBody>
      </p:sp>
      <p:sp>
        <p:nvSpPr>
          <p:cNvPr id="11" name="R1 circle"/>
          <p:cNvSpPr/>
          <p:nvPr/>
        </p:nvSpPr>
        <p:spPr>
          <a:xfrm>
            <a:off x="7141464" y="3054096"/>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767328"/>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2. ____ call the college tomorrow.</a:t>
            </a:r>
            <a:endParaRPr lang="en-US" sz="2000" dirty="0"/>
          </a:p>
        </p:txBody>
      </p:sp>
      <p:sp>
        <p:nvSpPr>
          <p:cNvPr id="13" name="R2 opt1"/>
          <p:cNvSpPr/>
          <p:nvPr/>
        </p:nvSpPr>
        <p:spPr>
          <a:xfrm>
            <a:off x="7269480" y="3767328"/>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I'll</a:t>
            </a:r>
            <a:endParaRPr lang="en-US" sz="1700" dirty="0" b="1"/>
          </a:p>
        </p:txBody>
      </p:sp>
      <p:sp>
        <p:nvSpPr>
          <p:cNvPr id="14" name="R2 opt2"/>
          <p:cNvSpPr/>
          <p:nvPr/>
        </p:nvSpPr>
        <p:spPr>
          <a:xfrm>
            <a:off x="9235440" y="3767328"/>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I'll to</a:t>
            </a:r>
            <a:endParaRPr lang="en-US" sz="1700" dirty="0" b="1"/>
          </a:p>
        </p:txBody>
      </p:sp>
      <p:sp>
        <p:nvSpPr>
          <p:cNvPr id="15" name="R2 circle"/>
          <p:cNvSpPr/>
          <p:nvPr/>
        </p:nvSpPr>
        <p:spPr>
          <a:xfrm>
            <a:off x="7141464" y="3712464"/>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425696"/>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3. We're ____ open a small business.</a:t>
            </a:r>
            <a:endParaRPr lang="en-US" sz="2000" dirty="0"/>
          </a:p>
        </p:txBody>
      </p:sp>
      <p:sp>
        <p:nvSpPr>
          <p:cNvPr id="17" name="R3 opt1"/>
          <p:cNvSpPr/>
          <p:nvPr/>
        </p:nvSpPr>
        <p:spPr>
          <a:xfrm>
            <a:off x="7269480" y="4425696"/>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going to</a:t>
            </a:r>
            <a:endParaRPr lang="en-US" sz="1700" dirty="0" b="1"/>
          </a:p>
        </p:txBody>
      </p:sp>
      <p:sp>
        <p:nvSpPr>
          <p:cNvPr id="18" name="R3 opt2"/>
          <p:cNvSpPr/>
          <p:nvPr/>
        </p:nvSpPr>
        <p:spPr>
          <a:xfrm>
            <a:off x="9235440" y="4425696"/>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going</a:t>
            </a:r>
            <a:endParaRPr lang="en-US" sz="1700" dirty="0" b="1"/>
          </a:p>
        </p:txBody>
      </p:sp>
      <p:sp>
        <p:nvSpPr>
          <p:cNvPr id="19" name="R3 circle"/>
          <p:cNvSpPr/>
          <p:nvPr/>
        </p:nvSpPr>
        <p:spPr>
          <a:xfrm>
            <a:off x="7141464" y="4370832"/>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5084064"/>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4. I plan ____ money for a car.</a:t>
            </a:r>
            <a:endParaRPr lang="en-US" sz="2000" dirty="0"/>
          </a:p>
        </p:txBody>
      </p:sp>
      <p:sp>
        <p:nvSpPr>
          <p:cNvPr id="21" name="R4 opt1"/>
          <p:cNvSpPr/>
          <p:nvPr/>
        </p:nvSpPr>
        <p:spPr>
          <a:xfrm>
            <a:off x="7269480" y="5084064"/>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save</a:t>
            </a:r>
            <a:endParaRPr lang="en-US" sz="1700" dirty="0" b="1"/>
          </a:p>
        </p:txBody>
      </p:sp>
      <p:sp>
        <p:nvSpPr>
          <p:cNvPr id="22" name="R4 opt2"/>
          <p:cNvSpPr/>
          <p:nvPr/>
        </p:nvSpPr>
        <p:spPr>
          <a:xfrm>
            <a:off x="9235440" y="5084064"/>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to save</a:t>
            </a:r>
            <a:endParaRPr lang="en-US" sz="1700" dirty="0" b="1"/>
          </a:p>
        </p:txBody>
      </p:sp>
      <p:sp>
        <p:nvSpPr>
          <p:cNvPr id="23" name="R4 circle"/>
          <p:cNvSpPr/>
          <p:nvPr/>
        </p:nvSpPr>
        <p:spPr>
          <a:xfrm>
            <a:off x="9107424" y="5029200"/>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742432"/>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5. I hope ____ have a better job.</a:t>
            </a:r>
            <a:endParaRPr lang="en-US" sz="2000" dirty="0"/>
          </a:p>
        </p:txBody>
      </p:sp>
      <p:sp>
        <p:nvSpPr>
          <p:cNvPr id="25" name="R5 opt1"/>
          <p:cNvSpPr/>
          <p:nvPr/>
        </p:nvSpPr>
        <p:spPr>
          <a:xfrm>
            <a:off x="7269480" y="5742432"/>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I'll</a:t>
            </a:r>
            <a:endParaRPr lang="en-US" sz="1700" dirty="0" b="1"/>
          </a:p>
        </p:txBody>
      </p:sp>
      <p:sp>
        <p:nvSpPr>
          <p:cNvPr id="26" name="R5 opt2"/>
          <p:cNvSpPr/>
          <p:nvPr/>
        </p:nvSpPr>
        <p:spPr>
          <a:xfrm>
            <a:off x="9235440" y="5742432"/>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I will to</a:t>
            </a:r>
            <a:endParaRPr lang="en-US" sz="1700" dirty="0" b="1"/>
          </a:p>
        </p:txBody>
      </p:sp>
      <p:sp>
        <p:nvSpPr>
          <p:cNvPr id="27" name="R5 circle"/>
          <p:cNvSpPr/>
          <p:nvPr/>
        </p:nvSpPr>
        <p:spPr>
          <a:xfrm>
            <a:off x="7141464" y="5687568"/>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name="L3:mistake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10442448" y="1188720"/>
            <a:ext cx="1691640" cy="1371600"/>
          </a:xfrm>
          <a:prstGeom prst="rect">
            <a:avLst/>
          </a:prstGeom>
          <a:solidFill>
            <a:srgbClr val="B9D2F7"/>
          </a:solidFill>
          <a:ln/>
        </p:spPr>
        <p:txBody>
          <a:bodyPr/>
          <a:p/>
        </p:txBody>
      </p:sp>
      <p:sp>
        <p:nvSpPr>
          <p:cNvPr id="5" name="Shape 3"/>
          <p:cNvSpPr/>
          <p:nvPr/>
        </p:nvSpPr>
        <p:spPr>
          <a:xfrm flipH="1">
            <a:off x="501091" y="2020824"/>
            <a:ext cx="3543300" cy="4709160"/>
          </a:xfrm>
          <a:prstGeom prst="round1Rect">
            <a:avLst>
              <a:gd name="adj" fmla="val 23087"/>
            </a:avLst>
          </a:prstGeom>
          <a:solidFill>
            <a:srgbClr val="8FAFE3"/>
          </a:solidFill>
          <a:ln/>
        </p:spPr>
        <p:txBody>
          <a:bodyPr/>
          <a:p/>
        </p:txBody>
      </p:sp>
      <p:sp>
        <p:nvSpPr>
          <p:cNvPr id="6" name="Shape 4"/>
          <p:cNvSpPr/>
          <p:nvPr/>
        </p:nvSpPr>
        <p:spPr>
          <a:xfrm flipH="1">
            <a:off x="4388206" y="2020824"/>
            <a:ext cx="5860390" cy="4709160"/>
          </a:xfrm>
          <a:prstGeom prst="round1Rect">
            <a:avLst>
              <a:gd name="adj" fmla="val 23087"/>
            </a:avLst>
          </a:prstGeom>
          <a:solidFill>
            <a:srgbClr val="8FAFE3"/>
          </a:solidFill>
          <a:ln/>
        </p:spPr>
        <p:txBody>
          <a:bodyPr/>
          <a:p/>
        </p:txBody>
      </p:sp>
      <p:sp>
        <p:nvSpPr>
          <p:cNvPr id="7" name="Shape 5"/>
          <p:cNvSpPr/>
          <p:nvPr/>
        </p:nvSpPr>
        <p:spPr>
          <a:xfrm>
            <a:off x="479328" y="457200"/>
            <a:ext cx="7295083" cy="1143000"/>
          </a:xfrm>
          <a:prstGeom prst="roundRect">
            <a:avLst>
              <a:gd name="adj" fmla="val 16667"/>
            </a:avLst>
          </a:prstGeom>
          <a:solidFill>
            <a:srgbClr val="8FAFE3"/>
          </a:solidFill>
          <a:ln/>
        </p:spPr>
        <p:txBody>
          <a:bodyPr/>
          <a:p/>
        </p:txBody>
      </p:sp>
      <p:sp>
        <p:nvSpPr>
          <p:cNvPr id="8" name="Shape 6"/>
          <p:cNvSpPr/>
          <p:nvPr/>
        </p:nvSpPr>
        <p:spPr>
          <a:xfrm>
            <a:off x="522122" y="393192"/>
            <a:ext cx="7295083" cy="1143000"/>
          </a:xfrm>
          <a:prstGeom prst="roundRect">
            <a:avLst>
              <a:gd name="adj" fmla="val 16667"/>
            </a:avLst>
          </a:prstGeom>
          <a:solidFill>
            <a:srgbClr val="FFFFFF"/>
          </a:solidFill>
          <a:ln/>
        </p:spPr>
        <p:txBody>
          <a:bodyPr/>
          <a:p/>
        </p:txBody>
      </p:sp>
      <p:sp>
        <p:nvSpPr>
          <p:cNvPr id="9" name="Shape 7"/>
          <p:cNvSpPr/>
          <p:nvPr/>
        </p:nvSpPr>
        <p:spPr>
          <a:xfrm flipH="1">
            <a:off x="658368" y="1828800"/>
            <a:ext cx="3610966" cy="4709160"/>
          </a:xfrm>
          <a:prstGeom prst="round1Rect">
            <a:avLst>
              <a:gd name="adj" fmla="val 23087"/>
            </a:avLst>
          </a:prstGeom>
          <a:solidFill>
            <a:srgbClr val="FFFFFF"/>
          </a:solidFill>
          <a:ln/>
        </p:spPr>
        <p:txBody>
          <a:bodyPr/>
          <a:p/>
        </p:txBody>
      </p:sp>
      <p:sp>
        <p:nvSpPr>
          <p:cNvPr id="10" name="Shape 8"/>
          <p:cNvSpPr/>
          <p:nvPr/>
        </p:nvSpPr>
        <p:spPr>
          <a:xfrm flipH="1">
            <a:off x="4519879" y="1828800"/>
            <a:ext cx="5860390" cy="4709160"/>
          </a:xfrm>
          <a:prstGeom prst="round1Rect">
            <a:avLst>
              <a:gd name="adj" fmla="val 23087"/>
            </a:avLst>
          </a:prstGeom>
          <a:solidFill>
            <a:srgbClr val="FFFFFF"/>
          </a:solidFill>
          <a:ln/>
        </p:spPr>
        <p:txBody>
          <a:bodyPr/>
          <a:p/>
        </p:txBody>
      </p:sp>
      <p:sp>
        <p:nvSpPr>
          <p:cNvPr id="11" name="title"/>
          <p:cNvSpPr/>
          <p:nvPr/>
        </p:nvSpPr>
        <p:spPr>
          <a:xfrm>
            <a:off x="608076" y="45720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b="1"/>
          </a:p>
        </p:txBody>
      </p:sp>
      <p:pic>
        <p:nvPicPr>
          <p:cNvPr id="21" name="pic" descr="Save money: a money bag, an arrow, a bank"/>
          <p:cNvPicPr>
            <a:picLocks noChangeAspect="1"/>
          </p:cNvPicPr>
          <p:nvPr/>
        </p:nvPicPr>
        <p:blipFill>
          <a:blip r:embed="rId3"/>
          <a:stretch>
            <a:fillRect/>
          </a:stretch>
        </p:blipFill>
        <p:spPr>
          <a:xfrm>
            <a:off x="10515600" y="1325880"/>
            <a:ext cx="1554480" cy="1088136"/>
          </a:xfrm>
          <a:prstGeom prst="rect">
            <a:avLst/>
          </a:prstGeom>
        </p:spPr>
      </p:pic>
      <p:sp>
        <p:nvSpPr>
          <p:cNvPr id="22" name="Dont head"/>
          <p:cNvSpPr/>
          <p:nvPr/>
        </p:nvSpPr>
        <p:spPr>
          <a:xfrm>
            <a:off x="914400" y="1938528"/>
            <a:ext cx="31089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4800600" y="1938528"/>
            <a:ext cx="53035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2468880"/>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hope get my diploma.</a:t>
            </a:r>
            <a:endParaRPr lang="en-US" sz="1700" dirty="0"/>
          </a:p>
        </p:txBody>
      </p:sp>
      <p:sp>
        <p:nvSpPr>
          <p:cNvPr id="25" name="Good 1"/>
          <p:cNvSpPr/>
          <p:nvPr/>
        </p:nvSpPr>
        <p:spPr>
          <a:xfrm>
            <a:off x="4800600" y="2468880"/>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hope </a:t>
            </a:r>
            <a:r>
              <a:rPr lang="en-US" sz="1700" dirty="0" b="1">
                <a:solidFill>
                  <a:srgbClr val="1B2236"/>
                </a:solidFill>
                <a:latin typeface="Lexend Deca" pitchFamily="34" charset="0"/>
                <a:ea typeface="Lexend Deca" pitchFamily="34" charset="-122"/>
                <a:cs typeface="Lexend Deca" pitchFamily="34" charset="-120"/>
              </a:rPr>
              <a:t>to get</a:t>
            </a:r>
            <a:r>
              <a:rPr lang="en-US" sz="1700" dirty="0" b="1">
                <a:solidFill>
                  <a:srgbClr val="1B2236"/>
                </a:solidFill>
                <a:latin typeface="Lexend Deca" pitchFamily="34" charset="0"/>
                <a:ea typeface="Lexend Deca" pitchFamily="34" charset="-122"/>
                <a:cs typeface="Lexend Deca" pitchFamily="34" charset="-120"/>
              </a:rPr>
              <a:t> my diploma.</a:t>
            </a:r>
            <a:endParaRPr lang="en-US" sz="1700" dirty="0" b="1"/>
          </a:p>
        </p:txBody>
      </p:sp>
      <p:sp>
        <p:nvSpPr>
          <p:cNvPr id="26" name="Bad 2"/>
          <p:cNvSpPr/>
          <p:nvPr/>
        </p:nvSpPr>
        <p:spPr>
          <a:xfrm>
            <a:off x="914400" y="3035808"/>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will to study English.</a:t>
            </a:r>
            <a:endParaRPr lang="en-US" sz="1700" dirty="0"/>
          </a:p>
        </p:txBody>
      </p:sp>
      <p:sp>
        <p:nvSpPr>
          <p:cNvPr id="27" name="Good 2"/>
          <p:cNvSpPr/>
          <p:nvPr/>
        </p:nvSpPr>
        <p:spPr>
          <a:xfrm>
            <a:off x="4800600" y="3035808"/>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a:t>
            </a:r>
            <a:r>
              <a:rPr lang="en-US" sz="1700" dirty="0" b="1">
                <a:solidFill>
                  <a:srgbClr val="1B2236"/>
                </a:solidFill>
                <a:latin typeface="Lexend Deca" pitchFamily="34" charset="0"/>
                <a:ea typeface="Lexend Deca" pitchFamily="34" charset="-122"/>
                <a:cs typeface="Lexend Deca" pitchFamily="34" charset="-120"/>
              </a:rPr>
              <a:t>will study</a:t>
            </a:r>
            <a:r>
              <a:rPr lang="en-US" sz="1700" dirty="0" b="1">
                <a:solidFill>
                  <a:srgbClr val="1B2236"/>
                </a:solidFill>
                <a:latin typeface="Lexend Deca" pitchFamily="34" charset="0"/>
                <a:ea typeface="Lexend Deca" pitchFamily="34" charset="-122"/>
                <a:cs typeface="Lexend Deca" pitchFamily="34" charset="-120"/>
              </a:rPr>
              <a:t> English.</a:t>
            </a:r>
            <a:endParaRPr lang="en-US" sz="1700" dirty="0" b="1"/>
          </a:p>
        </p:txBody>
      </p:sp>
      <p:sp>
        <p:nvSpPr>
          <p:cNvPr id="28" name="Bad 3"/>
          <p:cNvSpPr/>
          <p:nvPr/>
        </p:nvSpPr>
        <p:spPr>
          <a:xfrm>
            <a:off x="914400" y="3602736"/>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I'm going to studying.</a:t>
            </a:r>
            <a:endParaRPr lang="en-US" sz="1700" dirty="0"/>
          </a:p>
        </p:txBody>
      </p:sp>
      <p:sp>
        <p:nvSpPr>
          <p:cNvPr id="29" name="Good 3"/>
          <p:cNvSpPr/>
          <p:nvPr/>
        </p:nvSpPr>
        <p:spPr>
          <a:xfrm>
            <a:off x="4800600" y="3602736"/>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I'm going to </a:t>
            </a:r>
            <a:r>
              <a:rPr lang="en-US" sz="1700" dirty="0" b="1">
                <a:solidFill>
                  <a:srgbClr val="1B2236"/>
                </a:solidFill>
                <a:latin typeface="Lexend Deca" pitchFamily="34" charset="0"/>
                <a:ea typeface="Lexend Deca" pitchFamily="34" charset="-122"/>
                <a:cs typeface="Lexend Deca" pitchFamily="34" charset="-120"/>
              </a:rPr>
              <a:t>study</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30" name="Bad 4"/>
          <p:cNvSpPr/>
          <p:nvPr/>
        </p:nvSpPr>
        <p:spPr>
          <a:xfrm>
            <a:off x="914400" y="4169664"/>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plan save money.</a:t>
            </a:r>
            <a:endParaRPr lang="en-US" sz="1700" dirty="0"/>
          </a:p>
        </p:txBody>
      </p:sp>
      <p:sp>
        <p:nvSpPr>
          <p:cNvPr id="31" name="Good 4"/>
          <p:cNvSpPr/>
          <p:nvPr/>
        </p:nvSpPr>
        <p:spPr>
          <a:xfrm>
            <a:off x="4800600" y="4169664"/>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plan </a:t>
            </a:r>
            <a:r>
              <a:rPr lang="en-US" sz="1700" dirty="0" b="1">
                <a:solidFill>
                  <a:srgbClr val="1B2236"/>
                </a:solidFill>
                <a:latin typeface="Lexend Deca" pitchFamily="34" charset="0"/>
                <a:ea typeface="Lexend Deca" pitchFamily="34" charset="-122"/>
                <a:cs typeface="Lexend Deca" pitchFamily="34" charset="-120"/>
              </a:rPr>
              <a:t>to save</a:t>
            </a:r>
            <a:r>
              <a:rPr lang="en-US" sz="1700" dirty="0" b="1">
                <a:solidFill>
                  <a:srgbClr val="1B2236"/>
                </a:solidFill>
                <a:latin typeface="Lexend Deca" pitchFamily="34" charset="0"/>
                <a:ea typeface="Lexend Deca" pitchFamily="34" charset="-122"/>
                <a:cs typeface="Lexend Deca" pitchFamily="34" charset="-120"/>
              </a:rPr>
              <a:t> money.</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name="L3:drill">
    <p:bg>
      <p:bgPr>
        <a:solidFill>
          <a:srgbClr val="F1F5FB"/>
        </a:solidFill>
      </p:bgPr>
    </p:bg>
    <p:spTree>
      <p:nvGrpSpPr>
        <p:cNvPr id="1" name=""/>
        <p:cNvGrpSpPr/>
        <p:nvPr/>
      </p:nvGrpSpPr>
      <p:grpSpPr/>
      <p:pic>
        <p:nvPicPr>
          <p:cNvPr id="26" name="pic" descr="Own business: a store and a sign &quot;OPEN&quot;"/>
          <p:cNvPicPr>
            <a:picLocks noChangeAspect="1"/>
          </p:cNvPicPr>
          <p:nvPr/>
        </p:nvPicPr>
        <p:blipFill>
          <a:blip r:embed="rId3"/>
          <a:stretch>
            <a:fillRect/>
          </a:stretch>
        </p:blipFill>
        <p:spPr>
          <a:xfrm>
            <a:off x="1274739" y="3680460"/>
            <a:ext cx="3449901" cy="2414930"/>
          </a:xfrm>
          <a:prstGeom prst="rect">
            <a:avLst/>
          </a:prstGeom>
        </p:spPr>
      </p:pic>
      <p:sp>
        <p:nvSpPr>
          <p:cNvPr id="4" name="Shape 2"/>
          <p:cNvSpPr/>
          <p:nvPr/>
        </p:nvSpPr>
        <p:spPr>
          <a:xfrm>
            <a:off x="560984" y="1342842"/>
            <a:ext cx="4912157" cy="1595628"/>
          </a:xfrm>
          <a:prstGeom prst="roundRect">
            <a:avLst>
              <a:gd name="adj" fmla="val 16667"/>
            </a:avLst>
          </a:prstGeom>
          <a:solidFill>
            <a:srgbClr val="8FAFE3"/>
          </a:solidFill>
          <a:ln/>
        </p:spPr>
        <p:txBody>
          <a:bodyPr/>
          <a:p/>
        </p:txBody>
      </p:sp>
      <p:sp>
        <p:nvSpPr>
          <p:cNvPr id="5" name="Shape 3"/>
          <p:cNvSpPr/>
          <p:nvPr/>
        </p:nvSpPr>
        <p:spPr>
          <a:xfrm>
            <a:off x="589788" y="1277417"/>
            <a:ext cx="4912157" cy="1595628"/>
          </a:xfrm>
          <a:prstGeom prst="roundRect">
            <a:avLst>
              <a:gd name="adj" fmla="val 16667"/>
            </a:avLst>
          </a:prstGeom>
          <a:solidFill>
            <a:srgbClr val="FFFFFF"/>
          </a:solidFill>
          <a:ln/>
        </p:spPr>
        <p:txBody>
          <a:bodyPr/>
          <a:p/>
        </p:txBody>
      </p:sp>
      <p:sp>
        <p:nvSpPr>
          <p:cNvPr id="6" name="title"/>
          <p:cNvSpPr/>
          <p:nvPr/>
        </p:nvSpPr>
        <p:spPr>
          <a:xfrm>
            <a:off x="771754" y="1417320"/>
            <a:ext cx="4572000" cy="73152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Pair Drill</a:t>
            </a:r>
            <a:endParaRPr lang="en-US" sz="4000" dirty="0" b="1"/>
          </a:p>
        </p:txBody>
      </p:sp>
      <p:sp>
        <p:nvSpPr>
          <p:cNvPr id="7" name="Shape 5"/>
          <p:cNvSpPr/>
          <p:nvPr/>
        </p:nvSpPr>
        <p:spPr>
          <a:xfrm>
            <a:off x="6107278" y="1382572"/>
            <a:ext cx="5577840" cy="1920240"/>
          </a:xfrm>
          <a:prstGeom prst="round1Rect">
            <a:avLst>
              <a:gd name="adj" fmla="val 23087"/>
            </a:avLst>
          </a:prstGeom>
          <a:solidFill>
            <a:srgbClr val="8FAFE3"/>
          </a:solidFill>
          <a:ln/>
        </p:spPr>
        <p:txBody>
          <a:bodyPr/>
          <a:p/>
        </p:txBody>
      </p:sp>
      <p:sp>
        <p:nvSpPr>
          <p:cNvPr id="8" name="Shape 6"/>
          <p:cNvSpPr/>
          <p:nvPr/>
        </p:nvSpPr>
        <p:spPr>
          <a:xfrm>
            <a:off x="6107278" y="3714292"/>
            <a:ext cx="5577840" cy="1920240"/>
          </a:xfrm>
          <a:prstGeom prst="round1Rect">
            <a:avLst>
              <a:gd name="adj" fmla="val 23087"/>
            </a:avLst>
          </a:prstGeom>
          <a:solidFill>
            <a:srgbClr val="8FAFE3"/>
          </a:solidFill>
          <a:ln/>
        </p:spPr>
        <p:txBody>
          <a:bodyPr/>
          <a:p/>
        </p:txBody>
      </p:sp>
      <p:sp>
        <p:nvSpPr>
          <p:cNvPr id="10" name="Shape 8"/>
          <p:cNvSpPr/>
          <p:nvPr/>
        </p:nvSpPr>
        <p:spPr>
          <a:xfrm>
            <a:off x="6035040" y="1325880"/>
            <a:ext cx="5577840" cy="1920240"/>
          </a:xfrm>
          <a:prstGeom prst="round1Rect">
            <a:avLst>
              <a:gd name="adj" fmla="val 23087"/>
            </a:avLst>
          </a:prstGeom>
          <a:solidFill>
            <a:srgbClr val="FFFFFF"/>
          </a:solidFill>
          <a:ln/>
        </p:spPr>
        <p:txBody>
          <a:bodyPr/>
          <a:p/>
        </p:txBody>
      </p:sp>
      <p:sp>
        <p:nvSpPr>
          <p:cNvPr id="11" name="Shape 9"/>
          <p:cNvSpPr/>
          <p:nvPr/>
        </p:nvSpPr>
        <p:spPr>
          <a:xfrm>
            <a:off x="6172200" y="1946757"/>
            <a:ext cx="678485" cy="678485"/>
          </a:xfrm>
          <a:prstGeom prst="star32">
            <a:avLst>
              <a:gd name="adj" fmla="val 43755"/>
            </a:avLst>
          </a:prstGeom>
          <a:solidFill>
            <a:srgbClr val="B9D2F7"/>
          </a:solidFill>
          <a:ln/>
        </p:spPr>
        <p:txBody>
          <a:bodyPr/>
          <a:p/>
        </p:txBody>
      </p:sp>
      <p:sp>
        <p:nvSpPr>
          <p:cNvPr id="12" name="Text 10"/>
          <p:cNvSpPr/>
          <p:nvPr/>
        </p:nvSpPr>
        <p:spPr>
          <a:xfrm>
            <a:off x="6172200" y="194675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01</a:t>
            </a:r>
            <a:endParaRPr lang="en-US" sz="2000" dirty="0"/>
          </a:p>
        </p:txBody>
      </p:sp>
      <p:sp>
        <p:nvSpPr>
          <p:cNvPr id="13" name="s1 label"/>
          <p:cNvSpPr/>
          <p:nvPr/>
        </p:nvSpPr>
        <p:spPr>
          <a:xfrm>
            <a:off x="6995160" y="150876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asks.</a:t>
            </a:r>
            <a:endParaRPr lang="en-US" sz="2200" dirty="0" b="1"/>
          </a:p>
        </p:txBody>
      </p:sp>
      <p:sp>
        <p:nvSpPr>
          <p:cNvPr id="14" name="Shape 12"/>
          <p:cNvSpPr/>
          <p:nvPr/>
        </p:nvSpPr>
        <p:spPr>
          <a:xfrm>
            <a:off x="6035040" y="3657600"/>
            <a:ext cx="5577840" cy="1920240"/>
          </a:xfrm>
          <a:prstGeom prst="round1Rect">
            <a:avLst>
              <a:gd name="adj" fmla="val 23087"/>
            </a:avLst>
          </a:prstGeom>
          <a:solidFill>
            <a:srgbClr val="B9D2F7"/>
          </a:solidFill>
          <a:ln/>
        </p:spPr>
        <p:txBody>
          <a:bodyPr/>
          <a:p/>
        </p:txBody>
      </p:sp>
      <p:sp>
        <p:nvSpPr>
          <p:cNvPr id="15" name="Shape 13"/>
          <p:cNvSpPr/>
          <p:nvPr/>
        </p:nvSpPr>
        <p:spPr>
          <a:xfrm>
            <a:off x="6172200" y="4278477"/>
            <a:ext cx="678485" cy="678485"/>
          </a:xfrm>
          <a:prstGeom prst="star32">
            <a:avLst>
              <a:gd name="adj" fmla="val 43755"/>
            </a:avLst>
          </a:prstGeom>
          <a:solidFill>
            <a:srgbClr val="FFFFFF"/>
          </a:solidFill>
          <a:ln/>
        </p:spPr>
        <p:txBody>
          <a:bodyPr/>
          <a:p/>
        </p:txBody>
      </p:sp>
      <p:sp>
        <p:nvSpPr>
          <p:cNvPr id="16" name="Text 14"/>
          <p:cNvSpPr/>
          <p:nvPr/>
        </p:nvSpPr>
        <p:spPr>
          <a:xfrm>
            <a:off x="6172200" y="427847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02</a:t>
            </a:r>
            <a:endParaRPr lang="en-US" sz="2000" dirty="0"/>
          </a:p>
        </p:txBody>
      </p:sp>
      <p:sp>
        <p:nvSpPr>
          <p:cNvPr id="17" name="s2 label"/>
          <p:cNvSpPr/>
          <p:nvPr/>
        </p:nvSpPr>
        <p:spPr>
          <a:xfrm>
            <a:off x="6995160" y="384048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B answers + hope to.</a:t>
            </a:r>
            <a:endParaRPr lang="en-US" sz="2200" dirty="0" b="1"/>
          </a:p>
        </p:txBody>
      </p:sp>
      <p:sp>
        <p:nvSpPr>
          <p:cNvPr id="60" name="s1 body"/>
          <p:cNvSpPr/>
          <p:nvPr/>
        </p:nvSpPr>
        <p:spPr>
          <a:xfrm>
            <a:off x="6995160" y="210312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A:</a:t>
            </a:r>
            <a:r>
              <a:rPr lang="en-US" sz="1900" dirty="0" b="0">
                <a:solidFill>
                  <a:srgbClr val="1B2236"/>
                </a:solidFill>
                <a:latin typeface="Lexend Deca" pitchFamily="34" charset="0"/>
                <a:ea typeface="Lexend Deca" pitchFamily="34" charset="-122"/>
                <a:cs typeface="Lexend Deca" pitchFamily="34" charset="-120"/>
              </a:rPr>
              <a:t> What are you going to do next year?</a:t>
            </a:r>
            <a:endParaRPr lang="en-US" sz="1900" dirty="0" b="0"/>
          </a:p>
        </p:txBody>
      </p:sp>
      <p:sp>
        <p:nvSpPr>
          <p:cNvPr id="70" name="s2 body"/>
          <p:cNvSpPr/>
          <p:nvPr/>
        </p:nvSpPr>
        <p:spPr>
          <a:xfrm>
            <a:off x="6995160" y="443484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B:</a:t>
            </a:r>
            <a:r>
              <a:rPr lang="en-US" sz="1900" dirty="0" b="0">
                <a:solidFill>
                  <a:srgbClr val="1B2236"/>
                </a:solidFill>
                <a:latin typeface="Lexend Deca" pitchFamily="34" charset="0"/>
                <a:ea typeface="Lexend Deca" pitchFamily="34" charset="-122"/>
                <a:cs typeface="Lexend Deca" pitchFamily="34" charset="-120"/>
              </a:rPr>
              <a:t> I'm going to save money. I hope to buy a car.</a:t>
            </a:r>
            <a:endParaRPr lang="en-US" sz="1900" dirty="0" b="0"/>
          </a:p>
          <a:p>
            <a:pPr algn="l" indent="0" marL="0">
              <a:buNone/>
            </a:pPr>
            <a:r>
              <a:rPr lang="en-US" sz="1900" dirty="0" b="1">
                <a:solidFill>
                  <a:srgbClr val="1B2236"/>
                </a:solidFill>
                <a:latin typeface="Lexend Deca" pitchFamily="34" charset="0"/>
                <a:ea typeface="Lexend Deca" pitchFamily="34" charset="-122"/>
                <a:cs typeface="Lexend Deca" pitchFamily="34" charset="-120"/>
              </a:rPr>
              <a:t>Then switch roles.</a:t>
            </a:r>
            <a:endParaRPr lang="en-US" sz="1900" dirty="0" b="1"/>
          </a:p>
        </p:txBody>
      </p:sp>
      <p:sp>
        <p:nvSpPr>
          <p:cNvPr id="25" name="sub"/>
          <p:cNvSpPr/>
          <p:nvPr/>
        </p:nvSpPr>
        <p:spPr>
          <a:xfrm>
            <a:off x="771754" y="2148840"/>
            <a:ext cx="4572000" cy="685800"/>
          </a:xfrm>
          <a:prstGeom prst="rect">
            <a:avLst/>
          </a:prstGeom>
          <a:noFill/>
          <a:ln w="38100">
            <a:noFill/>
          </a:ln>
        </p:spPr>
        <p:txBody>
          <a:bodyPr wrap="square" lIns="91440" tIns="36576" rIns="91440"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 asks. B answers and adds one I hope to…</a:t>
            </a:r>
            <a:endParaRPr lang="en-US" sz="2000"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name="L3: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The Goal Ladder: a drawn 3-step ladder: STEP 1 I'll…, STEP 2 I'm going to…, TOP I hope to…; a person and a star"/>
          <p:cNvPicPr>
            <a:picLocks noChangeAspect="1"/>
          </p:cNvPicPr>
          <p:nvPr/>
        </p:nvPicPr>
        <p:blipFill>
          <a:blip r:embed="rId3"/>
          <a:stretch>
            <a:fillRect/>
          </a:stretch>
        </p:blipFill>
        <p:spPr>
          <a:xfrm>
            <a:off x="855574" y="3418942"/>
            <a:ext cx="3623462"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Goal Ladder</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Pairs.</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Choose one goal.</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7:00–7:12</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Fill in your ladder, bottom to top.</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I'll… → I'm going to… → I hope to…</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Explain it to your partner.</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First, I'll… Then I'm going to…</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Your partner asks 2 follow-up questions.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When? Why? Who can help you?</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Community college: a school building and a sign &quot;COMMUNITY COLLEGE&quot;"/>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Talk Frame</a:t>
            </a:r>
            <a:endParaRPr lang="en-US" sz="2000" dirty="0" b="1"/>
          </a:p>
          <a:p>
            <a:pPr algn="l" indent="0" marL="0">
              <a:spcAft>
                <a:spcPts val="400"/>
              </a:spcAft>
              <a:buNone/>
            </a:pPr>
            <a:r>
              <a:rPr lang="en-US" sz="2800" dirty="0" b="1">
                <a:solidFill>
                  <a:srgbClr val="1B2236"/>
                </a:solidFill>
                <a:latin typeface="Lexend Deca" pitchFamily="34" charset="0"/>
                <a:ea typeface="Lexend Deca" pitchFamily="34" charset="-122"/>
                <a:cs typeface="Lexend Deca" pitchFamily="34" charset="-120"/>
              </a:rPr>
              <a:t>Then → Now → Next</a:t>
            </a:r>
            <a:endParaRPr lang="en-US" sz="2800" dirty="0" b="1"/>
          </a:p>
        </p:txBody>
      </p:sp>
      <p:sp>
        <p:nvSpPr>
          <p:cNvPr id="8" name="Q head"/>
          <p:cNvSpPr/>
          <p:nvPr/>
        </p:nvSpPr>
        <p:spPr>
          <a:xfrm>
            <a:off x="5166360" y="1828800"/>
            <a:ext cx="18288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PART</a:t>
            </a:r>
            <a:endParaRPr lang="en-US" sz="2000" dirty="0" b="1"/>
          </a:p>
        </p:txBody>
      </p:sp>
      <p:sp>
        <p:nvSpPr>
          <p:cNvPr id="11" name="A head"/>
          <p:cNvSpPr/>
          <p:nvPr/>
        </p:nvSpPr>
        <p:spPr>
          <a:xfrm>
            <a:off x="7040880" y="1828800"/>
            <a:ext cx="48920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SAY</a:t>
            </a:r>
            <a:endParaRPr lang="en-US" sz="2000" dirty="0" b="1"/>
          </a:p>
        </p:txBody>
      </p:sp>
      <p:sp>
        <p:nvSpPr>
          <p:cNvPr id="18" name="Question 1"/>
          <p:cNvSpPr/>
          <p:nvPr/>
        </p:nvSpPr>
        <p:spPr>
          <a:xfrm>
            <a:off x="5138928" y="2286000"/>
            <a:ext cx="1828800" cy="6126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Then</a:t>
            </a:r>
            <a:endParaRPr lang="en-US" sz="1800" dirty="0" b="1"/>
          </a:p>
        </p:txBody>
      </p:sp>
      <p:sp>
        <p:nvSpPr>
          <p:cNvPr id="19" name="Answer bg 1"/>
          <p:cNvSpPr/>
          <p:nvPr/>
        </p:nvSpPr>
        <p:spPr>
          <a:xfrm>
            <a:off x="7040880" y="2286000"/>
            <a:ext cx="4892040" cy="6126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040880" y="2286000"/>
            <a:ext cx="4892040" cy="6126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 years ago, I… / When I started this class, I…</a:t>
            </a:r>
            <a:endParaRPr lang="en-US" sz="1700" dirty="0" b="1"/>
          </a:p>
        </p:txBody>
      </p:sp>
      <p:sp>
        <p:nvSpPr>
          <p:cNvPr id="21" name="Question 2"/>
          <p:cNvSpPr/>
          <p:nvPr/>
        </p:nvSpPr>
        <p:spPr>
          <a:xfrm>
            <a:off x="5138928" y="2971800"/>
            <a:ext cx="1828800" cy="6126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Now</a:t>
            </a:r>
            <a:endParaRPr lang="en-US" sz="1800" dirty="0" b="1"/>
          </a:p>
        </p:txBody>
      </p:sp>
      <p:sp>
        <p:nvSpPr>
          <p:cNvPr id="22" name="Answer bg 2"/>
          <p:cNvSpPr/>
          <p:nvPr/>
        </p:nvSpPr>
        <p:spPr>
          <a:xfrm>
            <a:off x="7040880" y="2971800"/>
            <a:ext cx="4892040" cy="6126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040880" y="2971800"/>
            <a:ext cx="4892040" cy="6126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Now I… / I can… in English.</a:t>
            </a:r>
            <a:endParaRPr lang="en-US" sz="1700" dirty="0" b="1"/>
          </a:p>
        </p:txBody>
      </p:sp>
      <p:sp>
        <p:nvSpPr>
          <p:cNvPr id="24" name="Question 3"/>
          <p:cNvSpPr/>
          <p:nvPr/>
        </p:nvSpPr>
        <p:spPr>
          <a:xfrm>
            <a:off x="5138928" y="3657600"/>
            <a:ext cx="1828800" cy="6126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Next</a:t>
            </a:r>
            <a:endParaRPr lang="en-US" sz="1800" dirty="0" b="1"/>
          </a:p>
        </p:txBody>
      </p:sp>
      <p:sp>
        <p:nvSpPr>
          <p:cNvPr id="25" name="Answer bg 3"/>
          <p:cNvSpPr/>
          <p:nvPr/>
        </p:nvSpPr>
        <p:spPr>
          <a:xfrm>
            <a:off x="7040880" y="3657600"/>
            <a:ext cx="4892040" cy="6126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040880" y="3657600"/>
            <a:ext cx="4892040" cy="6126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My main goal is to… / I'm going to… / I hope to…</a:t>
            </a:r>
            <a:endParaRPr lang="en-US" sz="1700" dirty="0" b="1"/>
          </a:p>
        </p:txBody>
      </p:sp>
      <p:sp>
        <p:nvSpPr>
          <p:cNvPr id="27" name="Question 4"/>
          <p:cNvSpPr/>
          <p:nvPr/>
        </p:nvSpPr>
        <p:spPr>
          <a:xfrm>
            <a:off x="5138928" y="4343400"/>
            <a:ext cx="1828800" cy="6126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Why</a:t>
            </a:r>
            <a:endParaRPr lang="en-US" sz="1800" dirty="0" b="1"/>
          </a:p>
        </p:txBody>
      </p:sp>
      <p:sp>
        <p:nvSpPr>
          <p:cNvPr id="28" name="Answer bg 4"/>
          <p:cNvSpPr/>
          <p:nvPr/>
        </p:nvSpPr>
        <p:spPr>
          <a:xfrm>
            <a:off x="7040880" y="4343400"/>
            <a:ext cx="4892040" cy="6126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040880" y="4343400"/>
            <a:ext cx="4892040" cy="6126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…because… / …so…</a:t>
            </a:r>
            <a:endParaRPr lang="en-US" sz="1700" dirty="0" b="1"/>
          </a:p>
        </p:txBody>
      </p:sp>
      <p:sp>
        <p:nvSpPr>
          <p:cNvPr id="30" name="Question 5"/>
          <p:cNvSpPr/>
          <p:nvPr/>
        </p:nvSpPr>
        <p:spPr>
          <a:xfrm>
            <a:off x="5138928" y="5029200"/>
            <a:ext cx="1828800" cy="6126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First step</a:t>
            </a:r>
            <a:endParaRPr lang="en-US" sz="1800" dirty="0" b="1"/>
          </a:p>
        </p:txBody>
      </p:sp>
      <p:sp>
        <p:nvSpPr>
          <p:cNvPr id="31" name="Answer bg 5"/>
          <p:cNvSpPr/>
          <p:nvPr/>
        </p:nvSpPr>
        <p:spPr>
          <a:xfrm>
            <a:off x="7040880" y="5029200"/>
            <a:ext cx="4892040" cy="6126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2" name="Answer 5"/>
          <p:cNvSpPr/>
          <p:nvPr/>
        </p:nvSpPr>
        <p:spPr>
          <a:xfrm>
            <a:off x="7040880" y="5029200"/>
            <a:ext cx="4892040" cy="6126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First, I'll…</a:t>
            </a:r>
            <a:endParaRPr lang="en-US" sz="1700" dirty="0" b="1"/>
          </a:p>
        </p:txBody>
      </p:sp>
      <p:sp>
        <p:nvSpPr>
          <p:cNvPr id="33" name="Question 6"/>
          <p:cNvSpPr/>
          <p:nvPr/>
        </p:nvSpPr>
        <p:spPr>
          <a:xfrm>
            <a:off x="5138928" y="5715000"/>
            <a:ext cx="1828800" cy="61264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Thank you</a:t>
            </a:r>
            <a:endParaRPr lang="en-US" sz="1800" dirty="0" b="1"/>
          </a:p>
        </p:txBody>
      </p:sp>
      <p:sp>
        <p:nvSpPr>
          <p:cNvPr id="34" name="Answer bg 6"/>
          <p:cNvSpPr/>
          <p:nvPr/>
        </p:nvSpPr>
        <p:spPr>
          <a:xfrm>
            <a:off x="7040880" y="5715000"/>
            <a:ext cx="4892040" cy="6126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Answer 6"/>
          <p:cNvSpPr/>
          <p:nvPr/>
        </p:nvSpPr>
        <p:spPr>
          <a:xfrm>
            <a:off x="7040880" y="5715000"/>
            <a:ext cx="4892040" cy="6126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Thank you for listening.</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par>
                                <p:cTn id="40" presetID="10" presetClass="entr" presetSubtype="0" fill="hold"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4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par>
                                <p:cTn id="48" presetID="10" presetClass="entr" presetSubtype="0" fill="hold" nodeType="with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name="L3:go">
    <p:bg>
      <p:bgPr>
        <a:solidFill>
          <a:srgbClr val="F1F5FB"/>
        </a:solidFill>
      </p:bgPr>
    </p:bg>
    <p:spTree>
      <p:nvGrpSpPr>
        <p:cNvPr id="1" name=""/>
        <p:cNvGrpSpPr/>
        <p:nvPr/>
      </p:nvGrpSpPr>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itle"/>
          <p:cNvSpPr/>
          <p:nvPr/>
        </p:nvSpPr>
        <p:spPr>
          <a:xfrm>
            <a:off x="4343400" y="2103120"/>
            <a:ext cx="73152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   </a:t>
            </a:r>
            <a:r>
              <a:rPr lang="en-US" sz="2200" dirty="0" b="1">
                <a:solidFill>
                  <a:srgbClr val="5B3FC4"/>
                </a:solidFill>
                <a:latin typeface="Lexend Deca" pitchFamily="34" charset="0"/>
                <a:ea typeface="Lexend Deca" pitchFamily="34" charset="-122"/>
                <a:cs typeface="Lexend Deca" pitchFamily="34" charset="-120"/>
              </a:rPr>
              <a:t>7:12–7:17</a:t>
            </a:r>
            <a:endParaRPr lang="en-US" sz="4000" dirty="0"/>
          </a:p>
        </p:txBody>
      </p:sp>
      <p:pic>
        <p:nvPicPr>
          <p:cNvPr id="16" name="pic" descr="Diploma: a scroll and a graduation cap"/>
          <p:cNvPicPr>
            <a:picLocks noChangeAspect="1"/>
          </p:cNvPicPr>
          <p:nvPr/>
        </p:nvPicPr>
        <p:blipFill>
          <a:blip r:embed="rId3"/>
          <a:stretch>
            <a:fillRect/>
          </a:stretch>
        </p:blipFill>
        <p:spPr>
          <a:xfrm>
            <a:off x="777240" y="2651760"/>
            <a:ext cx="3017520" cy="2112264"/>
          </a:xfrm>
          <a:prstGeom prst="rect">
            <a:avLst/>
          </a:prstGeom>
        </p:spPr>
      </p:pic>
      <p:sp>
        <p:nvSpPr>
          <p:cNvPr id="17" name="Num 01"/>
          <p:cNvSpPr/>
          <p:nvPr/>
        </p:nvSpPr>
        <p:spPr>
          <a:xfrm>
            <a:off x="43434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b="1"/>
          </a:p>
        </p:txBody>
      </p:sp>
      <p:sp>
        <p:nvSpPr>
          <p:cNvPr id="19" name="Body 01"/>
          <p:cNvSpPr/>
          <p:nvPr/>
        </p:nvSpPr>
        <p:spPr>
          <a:xfrm>
            <a:off x="4343400" y="3520440"/>
            <a:ext cx="352044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Write two sentences:</a:t>
            </a:r>
            <a:endParaRPr lang="en-US" sz="1700" dirty="0" b="1"/>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1. One with going to or hope to.</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2. One with I'll and because or so:</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First, I'll study the book, because the test is hard.</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Give it to me at the door.</a:t>
            </a:r>
            <a:endParaRPr lang="en-US" sz="1700" dirty="0" b="0"/>
          </a:p>
        </p:txBody>
      </p:sp>
      <p:sp>
        <p:nvSpPr>
          <p:cNvPr id="20" name="Num 02"/>
          <p:cNvSpPr/>
          <p:nvPr/>
        </p:nvSpPr>
        <p:spPr>
          <a:xfrm>
            <a:off x="80010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b="1"/>
          </a:p>
        </p:txBody>
      </p:sp>
      <p:sp>
        <p:nvSpPr>
          <p:cNvPr id="22" name="Body 02"/>
          <p:cNvSpPr/>
          <p:nvPr/>
        </p:nvSpPr>
        <p:spPr>
          <a:xfrm>
            <a:off x="8001000" y="3520440"/>
            <a:ext cx="365760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About 15 minutes.</a:t>
            </a:r>
            <a:endParaRPr lang="en-US" sz="1700" dirty="0" b="1"/>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1. Write the sentence.</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2. Practice your talk 2 times.</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3. Ask: What do you hope to do next year?</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4. Review: something / no one.</a:t>
            </a:r>
            <a:endParaRPr lang="en-US" sz="1700" dirty="0" b="0"/>
          </a:p>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Bring it to graduation!</a:t>
            </a:r>
            <a:endParaRPr lang="en-US" sz="1700" dirty="0" b="1"/>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name="L3:progres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8126273" y="1165860"/>
            <a:ext cx="4132174" cy="5120640"/>
          </a:xfrm>
          <a:prstGeom prst="rect">
            <a:avLst/>
          </a:prstGeom>
          <a:solidFill>
            <a:srgbClr val="B9D2F7"/>
          </a:solidFill>
          <a:ln/>
        </p:spPr>
        <p:txBody>
          <a:bodyPr/>
          <a:p/>
        </p:txBody>
      </p:sp>
      <p:sp>
        <p:nvSpPr>
          <p:cNvPr id="62" name="ican"/>
          <p:cNvSpPr/>
          <p:nvPr/>
        </p:nvSpPr>
        <p:spPr>
          <a:xfrm>
            <a:off x="8503920" y="1280160"/>
            <a:ext cx="3429000" cy="4937760"/>
          </a:xfrm>
          <a:prstGeom prst="rect">
            <a:avLst/>
          </a:prstGeom>
          <a:noFill/>
          <a:ln w="38100">
            <a:noFill/>
          </a:ln>
        </p:spPr>
        <p:txBody>
          <a:bodyPr wrap="square" lIns="73152" tIns="36576" rIns="73152" bIns="36576" rtlCol="0" anchor="ctr">
            <a:noAutofit/>
          </a:bodyPr>
          <a:lstStyle/>
          <a:p>
            <a:pPr algn="ctr" indent="0" marL="0">
              <a:buNone/>
            </a:pPr>
            <a:r>
              <a:rPr lang="en-US" sz="2400" dirty="0" b="1">
                <a:solidFill>
                  <a:srgbClr val="1B2236"/>
                </a:solidFill>
                <a:latin typeface="Lexend Deca" pitchFamily="34" charset="0"/>
                <a:ea typeface="Lexend Deca" pitchFamily="34" charset="-122"/>
                <a:cs typeface="Lexend Deca" pitchFamily="34" charset="-120"/>
              </a:rPr>
              <a:t>D. I can…</a:t>
            </a:r>
            <a:endParaRPr lang="en-US" sz="2400" dirty="0" b="1"/>
          </a:p>
          <a:p>
            <a:pPr algn="ctr" indent="0" marL="0">
              <a:buNone/>
            </a:pPr>
            <a:r>
              <a:rPr lang="en-US" sz="3200" dirty="0" b="0">
                <a:solidFill>
                  <a:srgbClr val="1B2236"/>
                </a:solidFill>
                <a:latin typeface="Lexend Deca" pitchFamily="34" charset="0"/>
                <a:ea typeface="Lexend Deca" pitchFamily="34" charset="-122"/>
                <a:cs typeface="Lexend Deca" pitchFamily="34" charset="-120"/>
              </a:rPr>
              <a:t>😀   🙂   😐</a:t>
            </a:r>
            <a:endParaRPr lang="en-US" sz="3200" dirty="0" b="0"/>
          </a:p>
          <a:p>
            <a:pPr algn="ctr" indent="0" marL="0">
              <a:buNone/>
            </a:pPr>
            <a:r>
              <a:rPr lang="en-US" sz="1800" dirty="0" b="0">
                <a:solidFill>
                  <a:srgbClr val="1B2236"/>
                </a:solidFill>
                <a:latin typeface="Lexend Deca" pitchFamily="34" charset="0"/>
                <a:ea typeface="Lexend Deca" pitchFamily="34" charset="-122"/>
                <a:cs typeface="Lexend Deca" pitchFamily="34" charset="-120"/>
              </a:rPr>
              <a:t>Check one face.</a:t>
            </a:r>
            <a:endParaRPr lang="en-US" sz="18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talk about a plan with going to.</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talk about hopes with hope to / I hope I'll.</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say what I will do to reach a goal.</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give a 1–2 minute talk about my goals.</a:t>
            </a:r>
            <a:endParaRPr lang="en-US" sz="1600" dirty="0" b="0"/>
          </a:p>
        </p:txBody>
      </p:sp>
      <p:sp>
        <p:nvSpPr>
          <p:cNvPr id="5" name="Shape 3"/>
          <p:cNvSpPr/>
          <p:nvPr/>
        </p:nvSpPr>
        <p:spPr>
          <a:xfrm flipH="1">
            <a:off x="501091" y="3255264"/>
            <a:ext cx="5577840" cy="3258921"/>
          </a:xfrm>
          <a:prstGeom prst="round1Rect">
            <a:avLst>
              <a:gd name="adj" fmla="val 23087"/>
            </a:avLst>
          </a:prstGeom>
          <a:solidFill>
            <a:srgbClr val="8FAFE3"/>
          </a:solidFill>
          <a:ln/>
        </p:spPr>
        <p:txBody>
          <a:bodyPr/>
          <a:p/>
        </p:txBody>
      </p:sp>
      <p:sp>
        <p:nvSpPr>
          <p:cNvPr id="6" name="Shape 4"/>
          <p:cNvSpPr/>
          <p:nvPr/>
        </p:nvSpPr>
        <p:spPr>
          <a:xfrm flipH="1">
            <a:off x="6400800" y="3263494"/>
            <a:ext cx="1828800" cy="3258921"/>
          </a:xfrm>
          <a:prstGeom prst="round1Rect">
            <a:avLst>
              <a:gd name="adj" fmla="val 23087"/>
            </a:avLst>
          </a:prstGeom>
          <a:solidFill>
            <a:srgbClr val="8FAFE3"/>
          </a:solidFill>
          <a:ln/>
        </p:spPr>
        <p:txBody>
          <a:bodyPr/>
          <a:p/>
        </p:txBody>
      </p:sp>
      <p:sp>
        <p:nvSpPr>
          <p:cNvPr id="7" name="Shape 5"/>
          <p:cNvSpPr/>
          <p:nvPr/>
        </p:nvSpPr>
        <p:spPr>
          <a:xfrm>
            <a:off x="479328" y="885322"/>
            <a:ext cx="7295083" cy="1566367"/>
          </a:xfrm>
          <a:prstGeom prst="roundRect">
            <a:avLst>
              <a:gd name="adj" fmla="val 16667"/>
            </a:avLst>
          </a:prstGeom>
          <a:solidFill>
            <a:srgbClr val="8FAFE3"/>
          </a:solidFill>
          <a:ln/>
        </p:spPr>
        <p:txBody>
          <a:bodyPr/>
          <a:p/>
        </p:txBody>
      </p:sp>
      <p:sp>
        <p:nvSpPr>
          <p:cNvPr id="8" name="Shape 6"/>
          <p:cNvSpPr/>
          <p:nvPr/>
        </p:nvSpPr>
        <p:spPr>
          <a:xfrm>
            <a:off x="522122" y="821131"/>
            <a:ext cx="7295083" cy="1566367"/>
          </a:xfrm>
          <a:prstGeom prst="roundRect">
            <a:avLst>
              <a:gd name="adj" fmla="val 16667"/>
            </a:avLst>
          </a:prstGeom>
          <a:solidFill>
            <a:srgbClr val="FFFFFF"/>
          </a:solidFill>
          <a:ln/>
        </p:spPr>
        <p:txBody>
          <a:bodyPr/>
          <a:p/>
        </p:txBody>
      </p:sp>
      <p:sp>
        <p:nvSpPr>
          <p:cNvPr id="9" name="Shape 7"/>
          <p:cNvSpPr/>
          <p:nvPr/>
        </p:nvSpPr>
        <p:spPr>
          <a:xfrm flipH="1">
            <a:off x="658368" y="3063240"/>
            <a:ext cx="5669280" cy="3258921"/>
          </a:xfrm>
          <a:prstGeom prst="round1Rect">
            <a:avLst>
              <a:gd name="adj" fmla="val 23087"/>
            </a:avLst>
          </a:prstGeom>
          <a:solidFill>
            <a:srgbClr val="FFFFFF"/>
          </a:solidFill>
          <a:ln/>
        </p:spPr>
        <p:txBody>
          <a:bodyPr/>
          <a:p/>
        </p:txBody>
      </p:sp>
      <p:sp>
        <p:nvSpPr>
          <p:cNvPr id="10" name="Shape 8"/>
          <p:cNvSpPr/>
          <p:nvPr/>
        </p:nvSpPr>
        <p:spPr>
          <a:xfrm flipH="1">
            <a:off x="6537960" y="3063240"/>
            <a:ext cx="1828800" cy="3258921"/>
          </a:xfrm>
          <a:prstGeom prst="round1Rect">
            <a:avLst>
              <a:gd name="adj" fmla="val 23087"/>
            </a:avLst>
          </a:prstGeom>
          <a:solidFill>
            <a:srgbClr val="FFFFFF"/>
          </a:solidFill>
          <a:ln/>
        </p:spPr>
        <p:txBody>
          <a:bodyPr/>
          <a:p/>
        </p:txBody>
      </p:sp>
      <p:sp>
        <p:nvSpPr>
          <p:cNvPr id="11" name="title"/>
          <p:cNvSpPr/>
          <p:nvPr/>
        </p:nvSpPr>
        <p:spPr>
          <a:xfrm>
            <a:off x="608076" y="118872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Progress Check   </a:t>
            </a:r>
            <a:r>
              <a:rPr lang="en-US" sz="2400" dirty="0" b="1">
                <a:solidFill>
                  <a:srgbClr val="5B3FC4"/>
                </a:solidFill>
                <a:latin typeface="Lexend Deca" pitchFamily="34" charset="0"/>
                <a:ea typeface="Lexend Deca" pitchFamily="34" charset="-122"/>
                <a:cs typeface="Lexend Deca" pitchFamily="34" charset="-120"/>
              </a:rPr>
              <a:t>7:25</a:t>
            </a:r>
            <a:endParaRPr lang="en-US" sz="4300" dirty="0"/>
          </a:p>
        </p:txBody>
      </p:sp>
      <p:sp>
        <p:nvSpPr>
          <p:cNvPr id="22" name="A head"/>
          <p:cNvSpPr/>
          <p:nvPr/>
        </p:nvSpPr>
        <p:spPr>
          <a:xfrm>
            <a:off x="914400" y="3246120"/>
            <a:ext cx="5303520" cy="50292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A. Listen to the teacher. Circle a or b.</a:t>
            </a:r>
            <a:endParaRPr lang="en-US" sz="1800" dirty="0" b="1"/>
          </a:p>
        </p:txBody>
      </p:sp>
      <p:sp>
        <p:nvSpPr>
          <p:cNvPr id="23" name="Ans head"/>
          <p:cNvSpPr/>
          <p:nvPr/>
        </p:nvSpPr>
        <p:spPr>
          <a:xfrm>
            <a:off x="6766560" y="3246120"/>
            <a:ext cx="155448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E6B45"/>
                </a:solidFill>
                <a:latin typeface="Lexend Deca" pitchFamily="34" charset="0"/>
                <a:ea typeface="Lexend Deca" pitchFamily="34" charset="-122"/>
                <a:cs typeface="Lexend Deca" pitchFamily="34" charset="-120"/>
              </a:rPr>
              <a:t>Answer</a:t>
            </a:r>
            <a:endParaRPr lang="en-US" sz="2000" dirty="0" b="1"/>
          </a:p>
        </p:txBody>
      </p:sp>
      <p:sp>
        <p:nvSpPr>
          <p:cNvPr id="63" name="Bad 1"/>
          <p:cNvSpPr/>
          <p:nvPr/>
        </p:nvSpPr>
        <p:spPr>
          <a:xfrm>
            <a:off x="868680" y="3840480"/>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1. </a:t>
            </a:r>
            <a:r>
              <a:rPr lang="en-US" sz="1500" dirty="0" b="0">
                <a:solidFill>
                  <a:srgbClr val="1B2236"/>
                </a:solidFill>
                <a:latin typeface="Lexend Deca" pitchFamily="34" charset="0"/>
                <a:ea typeface="Lexend Deca" pitchFamily="34" charset="-122"/>
                <a:cs typeface="Lexend Deca" pitchFamily="34" charset="-120"/>
              </a:rPr>
              <a:t>a. It's a plan.   b. It's a hope.</a:t>
            </a:r>
            <a:endParaRPr lang="en-US" sz="1500" dirty="0" b="1"/>
          </a:p>
        </p:txBody>
      </p:sp>
      <p:sp>
        <p:nvSpPr>
          <p:cNvPr id="64" name="Good 1"/>
          <p:cNvSpPr/>
          <p:nvPr/>
        </p:nvSpPr>
        <p:spPr>
          <a:xfrm>
            <a:off x="6766560" y="3840480"/>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endParaRPr lang="en-US" sz="2000" dirty="0" b="1"/>
          </a:p>
        </p:txBody>
      </p:sp>
      <p:sp>
        <p:nvSpPr>
          <p:cNvPr id="65" name="Bad 2"/>
          <p:cNvSpPr/>
          <p:nvPr/>
        </p:nvSpPr>
        <p:spPr>
          <a:xfrm>
            <a:off x="868680" y="4407408"/>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2. </a:t>
            </a:r>
            <a:r>
              <a:rPr lang="en-US" sz="1500" dirty="0" b="0">
                <a:solidFill>
                  <a:srgbClr val="1B2236"/>
                </a:solidFill>
                <a:latin typeface="Lexend Deca" pitchFamily="34" charset="0"/>
                <a:ea typeface="Lexend Deca" pitchFamily="34" charset="-122"/>
                <a:cs typeface="Lexend Deca" pitchFamily="34" charset="-120"/>
              </a:rPr>
              <a:t>a. It's a plan.   b. It's a hope.</a:t>
            </a:r>
            <a:endParaRPr lang="en-US" sz="1500" dirty="0" b="1"/>
          </a:p>
        </p:txBody>
      </p:sp>
      <p:sp>
        <p:nvSpPr>
          <p:cNvPr id="66" name="Good 2"/>
          <p:cNvSpPr/>
          <p:nvPr/>
        </p:nvSpPr>
        <p:spPr>
          <a:xfrm>
            <a:off x="6766560" y="4407408"/>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endParaRPr lang="en-US" sz="2000" dirty="0" b="1"/>
          </a:p>
        </p:txBody>
      </p:sp>
      <p:sp>
        <p:nvSpPr>
          <p:cNvPr id="67" name="Bad 3"/>
          <p:cNvSpPr/>
          <p:nvPr/>
        </p:nvSpPr>
        <p:spPr>
          <a:xfrm>
            <a:off x="868680" y="4974336"/>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3. </a:t>
            </a:r>
            <a:r>
              <a:rPr lang="en-US" sz="1500" dirty="0" b="0">
                <a:solidFill>
                  <a:srgbClr val="1B2236"/>
                </a:solidFill>
                <a:latin typeface="Lexend Deca" pitchFamily="34" charset="0"/>
                <a:ea typeface="Lexend Deca" pitchFamily="34" charset="-122"/>
                <a:cs typeface="Lexend Deca" pitchFamily="34" charset="-120"/>
              </a:rPr>
              <a:t>a. She planned it last week.   b. She decided now.</a:t>
            </a:r>
            <a:endParaRPr lang="en-US" sz="1500" dirty="0" b="1"/>
          </a:p>
        </p:txBody>
      </p:sp>
      <p:sp>
        <p:nvSpPr>
          <p:cNvPr id="68" name="Good 3"/>
          <p:cNvSpPr/>
          <p:nvPr/>
        </p:nvSpPr>
        <p:spPr>
          <a:xfrm>
            <a:off x="6766560" y="4974336"/>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endParaRPr lang="en-US" sz="2000" dirty="0" b="1"/>
          </a:p>
        </p:txBody>
      </p:sp>
      <p:sp>
        <p:nvSpPr>
          <p:cNvPr id="69" name="Bad 4"/>
          <p:cNvSpPr/>
          <p:nvPr/>
        </p:nvSpPr>
        <p:spPr>
          <a:xfrm>
            <a:off x="868680" y="5541264"/>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4. </a:t>
            </a:r>
            <a:r>
              <a:rPr lang="en-US" sz="1500" dirty="0" b="0">
                <a:solidFill>
                  <a:srgbClr val="1B2236"/>
                </a:solidFill>
                <a:latin typeface="Lexend Deca" pitchFamily="34" charset="0"/>
                <a:ea typeface="Lexend Deca" pitchFamily="34" charset="-122"/>
                <a:cs typeface="Lexend Deca" pitchFamily="34" charset="-120"/>
              </a:rPr>
              <a:t>a. It's a fixed plan.   b. It's a hope.</a:t>
            </a:r>
            <a:endParaRPr lang="en-US" sz="1500" dirty="0" b="1"/>
          </a:p>
        </p:txBody>
      </p:sp>
      <p:sp>
        <p:nvSpPr>
          <p:cNvPr id="70" name="Good 4"/>
          <p:cNvSpPr/>
          <p:nvPr/>
        </p:nvSpPr>
        <p:spPr>
          <a:xfrm>
            <a:off x="6766560" y="5541264"/>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4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fade">
                                      <p:cBhvr>
                                        <p:cTn id="12" dur="4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fade">
                                      <p:cBhvr>
                                        <p:cTn id="17" dur="400"/>
                                        <p:tgtEl>
                                          <p:spTgt spid="6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fade">
                                      <p:cBhvr>
                                        <p:cTn id="22"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name="L3:goodby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Career: a briefcase and a chart going up">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13  ·  Level 3</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Goodbye! See You Next Week!</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Talk about a plan with going to</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Talk about hopes with hope to</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Give a short talk about your goals</a:t>
            </a:r>
            <a:endParaRPr lang="en-US" sz="2200" dirty="0"/>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name="L3:credits">
    <p:bg>
      <p:bgPr>
        <a:solidFill>
          <a:srgbClr val="C9B8F2"/>
        </a:solidFill>
      </p:bgPr>
    </p:bg>
    <p:spTree>
      <p:nvGrpSpPr>
        <p:cNvPr id="1" name=""/>
        <p:cNvGrpSpPr/>
        <p:nvPr/>
      </p:nvGrpSpPr>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itle"/>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pictures"/>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Pictures</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Vocabulary pictures use Twemoji graphics by Twitter, Inc. and other contributors (https://github.com/jdecked/twemoji), licensed under CC BY 4.0 (https://creativecommons.org/licenses/by/4.0/). The graphics were resized and combined, and speech bubbles, signs, and labels were added.</a:t>
            </a:r>
            <a:endParaRPr lang="en-US" sz="1600" dirty="0" b="0"/>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The faces on the Progress Check are standard emoji characters shown with the computer's emoji font.</a:t>
            </a:r>
            <a:endParaRPr lang="en-US" sz="1600" dirty="0" b="0"/>
          </a:p>
        </p:txBody>
      </p:sp>
      <p:sp>
        <p:nvSpPr>
          <p:cNvPr id="16" name="names"/>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 and story</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Sofia and Mr. Novak are invented names. The listening story is invented.</a:t>
            </a:r>
            <a:endParaRPr lang="en-US" sz="1600" dirty="0" b="0"/>
          </a:p>
        </p:txBody>
      </p:sp>
      <p:sp>
        <p:nvSpPr>
          <p:cNvPr id="17" name="audio"/>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endParaRPr lang="en-US" sz="2000" dirty="0" b="1"/>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synthetic voices made with Chatterbox TTS (MIT License), cloned from short synthetic reference clips made with Kokoro-82M (Apache License 2.0). No recordings of real people were used. Each file carries an inaudible Perth watermark marking it as AI-generated. Font: Lexend Deca (OFL 1.1).</a:t>
            </a:r>
            <a:endParaRPr lang="en-US" sz="1350" dirty="0" b="0"/>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endParaRPr lang="en-US" sz="1350" dirty="0"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3 Lesson 13: Where I'm Going</dc:title>
  <dc:subject>PptxGenJS Presentation</dc:subject>
  <dc:creator>Level 1 ESL</dc:creator>
  <cp:lastModifiedBy>Level 1 ESL</cp:lastModifiedBy>
  <cp:revision>1</cp:revision>
  <dcterms:created xsi:type="dcterms:W3CDTF">2026-10-15T20:54:31Z</dcterms:created>
  <dcterms:modified xsi:type="dcterms:W3CDTF">2026-10-15T20:54:31Z</dcterms:modified>
</cp:coreProperties>
</file>