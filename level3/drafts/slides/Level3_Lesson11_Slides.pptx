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521" r:id="rId31"/>
    <p:sldId id="522" r:id="rId33"/>
    <p:sldId id="523" r:id="rId34"/>
    <p:sldId id="524" r:id="rId35"/>
    <p:sldId id="525" r:id="rId36"/>
    <p:sldId id="526" r:id="rId30"/>
    <p:sldId id="527" r:id="rId29"/>
    <p:sldId id="528" r:id="rId28"/>
    <p:sldId id="529" r:id="rId27"/>
    <p:sldId id="530" r:id="rId20"/>
    <p:sldId id="531" r:id="rId18"/>
    <p:sldId id="532" r:id="rId17"/>
    <p:sldId id="533" r:id="rId16"/>
    <p:sldId id="534" r:id="rId14"/>
    <p:sldId id="535" r:id="rId13"/>
    <p:sldId id="536" r:id="rId12"/>
    <p:sldId id="537" r:id="rId11"/>
    <p:sldId id="538" r:id="rId10"/>
    <p:sldId id="539" r:id="rId8"/>
    <p:sldId id="540" r:id="rId7"/>
    <p:sldId id="541" r:id="rId6"/>
    <p:sldId id="542" r:id="rId5"/>
    <p:sldId id="543" r:id="rId4"/>
    <p:sldId id="544" r:id="rId3"/>
    <p:sldId id="545" r:id="rId2"/>
    <p:sldId id="546"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0.xml"/><Relationship Id="rId3" Type="http://schemas.openxmlformats.org/officeDocument/2006/relationships/slide" Target="slides/slide49.xml"/><Relationship Id="rId4" Type="http://schemas.openxmlformats.org/officeDocument/2006/relationships/slide" Target="slides/slide48.xml"/><Relationship Id="rId5" Type="http://schemas.openxmlformats.org/officeDocument/2006/relationships/slide" Target="slides/slide47.xml"/><Relationship Id="rId6" Type="http://schemas.openxmlformats.org/officeDocument/2006/relationships/slide" Target="slides/slide46.xml"/><Relationship Id="rId7" Type="http://schemas.openxmlformats.org/officeDocument/2006/relationships/slide" Target="slides/slide45.xml"/><Relationship Id="rId8" Type="http://schemas.openxmlformats.org/officeDocument/2006/relationships/slide" Target="slides/slide44.xml"/><Relationship Id="rId10" Type="http://schemas.openxmlformats.org/officeDocument/2006/relationships/slide" Target="slides/slide43.xml"/><Relationship Id="rId11" Type="http://schemas.openxmlformats.org/officeDocument/2006/relationships/slide" Target="slides/slide42.xml"/><Relationship Id="rId12" Type="http://schemas.openxmlformats.org/officeDocument/2006/relationships/slide" Target="slides/slide41.xml"/><Relationship Id="rId13" Type="http://schemas.openxmlformats.org/officeDocument/2006/relationships/slide" Target="slides/slide40.xml"/><Relationship Id="rId14" Type="http://schemas.openxmlformats.org/officeDocument/2006/relationships/slide" Target="slides/slide39.xml"/><Relationship Id="rId16" Type="http://schemas.openxmlformats.org/officeDocument/2006/relationships/slide" Target="slides/slide38.xml"/><Relationship Id="rId17" Type="http://schemas.openxmlformats.org/officeDocument/2006/relationships/slide" Target="slides/slide37.xml"/><Relationship Id="rId18" Type="http://schemas.openxmlformats.org/officeDocument/2006/relationships/slide" Target="slides/slide36.xml"/><Relationship Id="rId20" Type="http://schemas.openxmlformats.org/officeDocument/2006/relationships/slide" Target="slides/slide35.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4.xml"/><Relationship Id="rId28" Type="http://schemas.openxmlformats.org/officeDocument/2006/relationships/slide" Target="slides/slide33.xml"/><Relationship Id="rId29" Type="http://schemas.openxmlformats.org/officeDocument/2006/relationships/slide" Target="slides/slide32.xml"/><Relationship Id="rId30" Type="http://schemas.openxmlformats.org/officeDocument/2006/relationships/slide" Target="slides/slide31.xml"/><Relationship Id="rId31"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"How was the class tonight?" and wait for an -ing or -ed answer.</a:t>
            </a:r>
          </a:p>
          <a:p>
            <a:r>
              <a:t>Remind learners: homework is about 15 minutes. Bring it next week.</a:t>
            </a:r>
          </a:p>
          <a:p>
            <a:r>
              <a:t>Source: Level3_Lesson11.md (At a glance: Objectives; Step 6).</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or b. Then click to show the answer (one click per item, 1 to 4).</a:t>
            </a:r>
          </a:p>
          <a:p>
            <a:r>
              <a:t>Say: 1 "The concert was boring." (a) • 2 "I was surprised." (b) • 3 "The museum was interesting." (a) • 4 "We were tired, so we left." (b)</a:t>
            </a:r>
          </a:p>
          <a:p>
            <a:r>
              <a:t>Parts B and C: learners do them alone. Walk around and help with the instructions only. B answers: 1 exciting, 2 bored, 3 confusing, 4 relaxed. C: answers will vary (for example The festival was exciting. I was excited. / I thought it was boring, so I left early.).</a:t>
            </a:r>
          </a:p>
          <a:p>
            <a:r>
              <a:t>Part D: read each "I can…" line aloud and point to the 3 faces: 😀 "I can do it." 🙂 "With a little help." 😐 "Not yet."</a:t>
            </a:r>
          </a:p>
          <a:p>
            <a:r>
              <a:t>Scoring: A /4 + B /4 + C /2 = /10. This is not a test grade. It shows who needs more help hearing the endings (A) and choosing -ing / -ed (B, C).</a:t>
            </a:r>
          </a:p>
          <a:p>
            <a:r>
              <a:t>Collect the pages (or check them at the start of Week 13). If behind: do the Progress Check in Week 13 at 6:00, while learners arrive.</a:t>
            </a:r>
          </a:p>
          <a:p>
            <a:r>
              <a:t>Source: Level3_Lesson11.md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with -ing and one with -ed about the same event, and a reason with because or so (The concert was exciting, so I was excited all night.). Collect at the door.</a:t>
            </a:r>
          </a:p>
          <a:p>
            <a:r>
              <a:t>Homework: open the Homework page. Do item 1 together (one sentence on the board). Say: "About 15 minutes. Bring it next week."</a:t>
            </a:r>
          </a:p>
          <a:p>
            <a:r>
              <a:t>Homework items: 1 write the sentence with -ing or -ed • 2 an event, a movie, or a game from this month: 3 sentences (how it was, how you felt, and why) • 3 ask a family member or a coworker: What was the best event or movie this year? Why? • 4 review (Lesson 10): 3 steps for making a cup of coffee or tea with First, Then, Finally.</a:t>
            </a:r>
          </a:p>
          <a:p>
            <a:r>
              <a:t>Read &amp; Write (7:17–7:25, on the Student Pages): three short reviews; questions 1–5; then a 3–4 sentence review with 1–5 stars and one reason. If behind: questions 1–5 only; the review becomes homework.</a:t>
            </a:r>
          </a:p>
          <a:p>
            <a:r>
              <a:t>Source: Level3_Lesson11.md (Step 6; Homework page; Read &amp; Write step).</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groups (4 min): each group chooses "the best weekend event" for the class bulletin board and agrees on two reasons (It was exciting, and it was free.). One person reports to the class. Each click shows the next step.</a:t>
            </a:r>
          </a:p>
          <a:p>
            <a:r>
              <a:t>Mixed levels: stronger learners add a second reason and a recommendation (You should go!). Newer learners use Boxes 1 and 2 as a script.</a:t>
            </a:r>
          </a:p>
          <a:p>
            <a:r>
              <a:t>If behind: Round 1 only.</a:t>
            </a:r>
          </a:p>
          <a:p>
            <a:r>
              <a:t>Source: Level3_Lesson11.md (Step 5; Talk Time page: Round 2; Teacher notes: Mixed levels).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Star Ratings · 12 min.</a:t>
            </a:r>
          </a:p>
          <a:p>
            <a:r>
              <a:t>Round 1 (7 min): each learner chooses an event card (1–6) or a real event (a TV show or a sports game is fine). A tells B about it: how it was, how they felt, and one reason. B asks two follow-up questions and gives it 1–5 stars in the table. Switch. Each click shows the next step.</a:t>
            </a:r>
          </a:p>
          <a:p>
            <a:r>
              <a:t>Model with one learner (1 min): "Last Saturday, I went to the Fall Fair. It was exciting, but the lines were long, so I was tired." The learner asks: "Who did you go with? Was the food good?" → "4 stars!"</a:t>
            </a:r>
          </a:p>
          <a:p>
            <a:r>
              <a:t>General events only (important): use community events, TV, movies, or sports. Learners never have to share where they spend their money or free time; the event cards are always an option.</a:t>
            </a:r>
          </a:p>
          <a:p>
            <a:r>
              <a:t>Source: Level3_Lesson11.md (Step 5; Talk Time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asks "How was your weekend?" B answers with one -ing and one -ed word (It was relaxing. I was relaxed.). Switch.</a:t>
            </a:r>
          </a:p>
          <a:p>
            <a:r>
              <a:t>If behind: skip the pair drill. Talk Time practices it.</a:t>
            </a:r>
          </a:p>
          <a:p>
            <a:r>
              <a:t>Source: Level3_Lesson11.md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4.</a:t>
            </a:r>
          </a:p>
          <a:p>
            <a:r>
              <a:t>1 and 3: the person's feeling = -ed • 2: the thing = -ing • 4: I thought it was… needs it. Also listen for It was excited.</a:t>
            </a:r>
          </a:p>
          <a:p>
            <a:r>
              <a:t>Say the right form clearly; the learner repeats. Learners can read the Spanish note and the tip on their Grammar page themselves; you don't need to explain them.</a:t>
            </a:r>
          </a:p>
          <a:p>
            <a:r>
              <a:t>Source: Level3_Lesson11.md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 Pairs check.</a:t>
            </a:r>
          </a:p>
          <a:p>
            <a:r>
              <a:t>Click to circle each answer (one click per item, 1 to 5): 1 exciting, 2 excited, 3 interested, 4 confusing, 5 relaxed.</a:t>
            </a:r>
          </a:p>
          <a:p>
            <a:r>
              <a:t>Source: Level3_Lesson11.md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boring, 2 bored, 3 interesting, 4 surprised, 5 tiring, 6 confused.</a:t>
            </a:r>
          </a:p>
          <a:p>
            <a:r>
              <a:t>Source: Level3_Lesson11.md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(1 min): the -ing / -ed table; read across. Each click shows one -ed word.</a:t>
            </a:r>
          </a:p>
          <a:p>
            <a:r>
              <a:t>Check questions: "The movie was ___ (bore)." (boring) • "I was very ___ (excite)." (excited) • "Were you ___ (interest)?" (interested) • "I thought it was ___ (confuse)." (confusing)</a:t>
            </a:r>
          </a:p>
          <a:p>
            <a:r>
              <a:t>Source: Level3_Lesson11.md (Step 4; Grammar Box 4).</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(2 min): an opinion + a reason: I thought it was confusing, so I left early. Each click shows the answer side of one row.</a:t>
            </a:r>
          </a:p>
          <a:p>
            <a:r>
              <a:t>I thought it was… gives an opinion in the past. Accept I think it was… too.</a:t>
            </a:r>
          </a:p>
          <a:p>
            <a:r>
              <a:t>Source: Level3_Lesson11.md (Step 4; Grammar Box 3; Teacher notes: I thought it was).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How did you feel? Each click shows the answer side of one row.</a:t>
            </a:r>
          </a:p>
          <a:p>
            <a:r>
              <a:t>Careful: I'm boring means people don't enjoy talking to me. Learners laugh when they hear it; use that.</a:t>
            </a:r>
          </a:p>
          <a:p>
            <a:r>
              <a:t>Source: Level3_Lesson11.md (Step 4; Grammar Box 2; Teacher notes: Careful).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draw on the board: a TV (the thing) → a face (the person). Under the TV write boring, under the face bored. Say: "-ing is the thing. -ed is the person's feeling."</a:t>
            </a:r>
          </a:p>
          <a:p>
            <a:r>
              <a:t>Boxes 1 and 2 (4 min): read a question from the left; the class answers from the right. Point out: It was… + -ing; I was… + -ed. Each click shows the answer side of one row.</a:t>
            </a:r>
          </a:p>
          <a:p>
            <a:r>
              <a:t>Source: Level3_Lesson11.md (Step 4; Grammar Box 1; Teacher notes: The one rule).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"-ed has 3 sounds." Read: relaxed (t), bored (d), interested (id, one more syllable). The class repeats each word twice. Then the line in the box.</a:t>
            </a:r>
          </a:p>
          <a:p>
            <a:r>
              <a:t>-ed sounds: /t/ after x, k, s, sh, ch, p (relaxed); /id/ after t, d (interested, one more syllable); /d/ for the rest (bored, tired, surprised). Don't teach the rule; just model and repeat.</a:t>
            </a:r>
          </a:p>
          <a:p>
            <a:r>
              <a:t>Source: Level3_Lesson11.md (Step 3: "Say it"; Listening page: Say it; Teacher notes: -ed sounds).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exciting, 2 tired, 3 interesting, 4 confusing, 5 bored, 6 relaxing.</a:t>
            </a:r>
          </a:p>
          <a:p>
            <a:r>
              <a:t>If behind: do Task C together on the board, reading the lines yourself.</a:t>
            </a:r>
          </a:p>
          <a:p>
            <a:r>
              <a:t>Source: Level3_Lesson11.md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item, 1 to 5): 1 c (exciting) • 2 a (tired) • 3 e (confusing) • 4 d (bored) • 5 b (relaxing).</a:t>
            </a:r>
          </a:p>
          <a:p>
            <a:r>
              <a:t>Source: Level3_Lesson11.md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(did they like it?). Pairs compare. Check together.</a:t>
            </a:r>
          </a:p>
          <a:p>
            <a:r>
              <a:t>Click to circle each answer (one click per line): Elena (the food festival) 😀 • Luis (the photo workshop) 😐.</a:t>
            </a:r>
          </a:p>
          <a:p>
            <a:r>
              <a:t>Then read Tasks B and C together (1 min) so learners know what to listen for.</a:t>
            </a:r>
          </a:p>
          <a:p>
            <a:r>
              <a:t>Source: Level3_Lesson11.md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Say: "It's Monday. Elena and Luis are coworkers. They're talking about the weekend. Did they like their weekend events? Listen."</a:t>
            </a:r>
          </a:p>
          <a:p>
            <a:r>
              <a:t>There are three voices: a Narrator, Elena, and Luis. Each click highlights the next voice.</a:t>
            </a:r>
          </a:p>
          <a:p>
            <a:r>
              <a:t>The audio (L3_L11_listening.mp3, about 1:15) plays the conversation once. Press play again for play 2. A third play is fine if the class needs it.</a:t>
            </a:r>
          </a:p>
          <a:p>
            <a:r>
              <a:t>No speaker? Read the script with a volunteer at a normal, friendly speed.</a:t>
            </a:r>
          </a:p>
          <a:p>
            <a:r>
              <a:t>Audio: L3_L11_listening.mp3 (about 1:15) is not recorded yet (see level3/AUDIO_STATUS.md). It will use computer-generated voices (Chatterbox TTS cloned from synthetic Kokoro-82M reference clips); no recordings of real people. Until the file is ready, read the listening script with a volunteer. The names and the story are invented.</a:t>
            </a:r>
          </a:p>
          <a:p>
            <a:r>
              <a:t>Source: Level3_Lesson11.md (Step 3; Listening script; Listening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"A big event in a park with food and music is a…?" (festival) • 2. "You see old pictures and things at a…?" (museum) • 3. "You go to hear music at a…?" (concert)</a:t>
            </a:r>
          </a:p>
          <a:p>
            <a:r>
              <a:t>Source: Level3_Lesson11.md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points to a picture; B says two sentences (A: points to the beach. B: It was relaxing. I was relaxed.). Switch.</a:t>
            </a:r>
          </a:p>
          <a:p>
            <a:r>
              <a:t>If behind: teach the ★ words only.</a:t>
            </a:r>
          </a:p>
          <a:p>
            <a:r>
              <a:t>Source: Level3_Lesson11.md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"Bored or boring?" Say: "Tonight we talk about events: how they were and how we felt."</a:t>
            </a:r>
          </a:p>
          <a:p>
            <a:r>
              <a:t>Read the three lines under "Today you will". Give one quick example of each: "It was exciting." • "I was excited." • "I thought it was confusing, so I left early."</a:t>
            </a:r>
          </a:p>
          <a:p>
            <a:r>
              <a:t>General events only (important): use community events, TV, movies, or sports. Learners never have to share where they spend their money or free time; the event cards are always an option.</a:t>
            </a:r>
          </a:p>
          <a:p>
            <a:r>
              <a:t>Source: Level3_Lesson11.md (Topic; At a glance: Objectives;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It was exciting. / It was boring. Goal 2: I was excited. / I was bored. Goal 3: -ing (the thing, the experience) or -ed (the person's feeling).</a:t>
            </a:r>
          </a:p>
          <a:p>
            <a:r>
              <a:t>Goal 4: I thought it was confusing, so I left early. Goal 5: read three short reviews and write a 3–4 sentence review with stars.</a:t>
            </a:r>
          </a:p>
          <a:p>
            <a:r>
              <a:t>"We check at 7:25" = the Progress Check. It is not a test grade.</a:t>
            </a:r>
          </a:p>
          <a:p>
            <a:r>
              <a:t>Source: Level3_Lesson11.md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Homework Check · 10 min. Pairs (7 pairs + 1 trio with 15 learners; 3–4 pairs with 7–8).</a:t>
            </a:r>
          </a:p>
          <a:p>
            <a:r>
              <a:t>Before class, write on the board: First, … Next, … Then, … Finally, …</a:t>
            </a:r>
          </a:p>
          <a:p>
            <a:r>
              <a:t>Model with one learner: "How do you make your favorite food?" → (answer) → "What do you do after that?" (Click to show the follow-up.)</a:t>
            </a:r>
          </a:p>
          <a:p>
            <a:r>
              <a:t>Opening Talk (6 min): learners open the Opening Talk page. A asks a card question; B answers with 2–3 sentences; A asks one follow-up. Switch after each card. The cards are on the next slide.</a:t>
            </a:r>
          </a:p>
          <a:p>
            <a:r>
              <a:t>If behind: one card only, then the homework check.</a:t>
            </a:r>
          </a:p>
          <a:p>
            <a:r>
              <a:t>Source: Level3_Lesson11.md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Homework Check (4 min, last click): partners read their Lesson 10 Homework item 2 (4 steps) to each other. The partner mimes the steps. Walk around. Write 2 common errors on the board (often You press or No open) and correct them together.</a:t>
            </a:r>
          </a:p>
          <a:p>
            <a:r>
              <a:t>Source: Level3_Lesson11.md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both words. Learners repeat once. For each pair, point to the left picture: "It was exciting." Point to the face: "I was excited." Each click shows the next word.</a:t>
            </a:r>
          </a:p>
          <a:p>
            <a:r>
              <a:t>Show it with your face: yawn: "The movie was boring. I was bored." Look confused: "The map was confusing. I was confused."</a:t>
            </a:r>
          </a:p>
          <a:p>
            <a:r>
              <a:t>If behind: teach the ★ words only.</a:t>
            </a:r>
          </a:p>
          <a:p>
            <a:r>
              <a:t>Source: Level3_Lesson11.md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L3_L11_listening.mp3 (about 1:15) is not recorded yet (see level3/AUDIO_STATUS.md). It will use computer-generated voices (Chatterbox TTS cloned from synthetic Kokoro-82M reference clips); no recordings of real people. Until the file is ready, read the listening script with a volunteer. The names and the story are invented.</a:t>
            </a:r>
          </a:p>
          <a:p>
            <a:r>
              <a:t>Course materials: © 2026 the authors, licensed under CC BY-NC-SA 4.0 (https://creativecommons.org/licenses/by-nc-sa/4.0/).</a:t>
            </a:r>
          </a:p>
          <a:p>
            <a:r>
              <a:t>Source: Level3_Lesson11.md (Picture Credits);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6.png"/><Relationship Id="rId9" Type="http://schemas.openxmlformats.org/officeDocument/2006/relationships/image" Target="../media/image14.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21.png"/><Relationship Id="rId9" Type="http://schemas.openxmlformats.org/officeDocument/2006/relationships/image" Target="../media/image15.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15.png"/><Relationship Id="rId6" Type="http://schemas.openxmlformats.org/officeDocument/2006/relationships/image" Target="../media/image23.png"/><Relationship Id="rId7" Type="http://schemas.openxmlformats.org/officeDocument/2006/relationships/image" Target="../media/image22.png"/><Relationship Id="rId8"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26.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Boring / bored: a long page, an arrow, a yawning face">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11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Bored or Boring?</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something was (-ing)</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you felt (-ed)</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an opinion with a reason</a:t>
            </a:r>
            <a:endParaRPr lang="en-US" sz="22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-ing = the thing. -ed = the feeling.</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2093062"/>
            <a:ext cx="6227064" cy="983894"/>
          </a:xfrm>
          <a:prstGeom prst="round1Rect">
            <a:avLst>
              <a:gd name="adj" fmla="val 23087"/>
            </a:avLst>
          </a:prstGeom>
          <a:solidFill>
            <a:srgbClr val="8FAFE3"/>
          </a:solidFill>
          <a:ln/>
        </p:spPr>
        <p:txBody>
          <a:bodyPr/>
          <a:p/>
        </p:txBody>
      </p:sp>
      <p:sp>
        <p:nvSpPr>
          <p:cNvPr id="32" name="R1 card"/>
          <p:cNvSpPr/>
          <p:nvPr/>
        </p:nvSpPr>
        <p:spPr>
          <a:xfrm>
            <a:off x="1583741" y="2035454"/>
            <a:ext cx="5130698" cy="983894"/>
          </a:xfrm>
          <a:prstGeom prst="round1Rect">
            <a:avLst>
              <a:gd name="adj" fmla="val 23087"/>
            </a:avLst>
          </a:prstGeom>
          <a:solidFill>
            <a:srgbClr val="FFFFFF"/>
          </a:solidFill>
          <a:ln/>
        </p:spPr>
        <p:txBody>
          <a:bodyPr/>
          <a:p/>
        </p:txBody>
      </p:sp>
      <p:sp>
        <p:nvSpPr>
          <p:cNvPr id="33" name="R1 chip"/>
          <p:cNvSpPr/>
          <p:nvPr/>
        </p:nvSpPr>
        <p:spPr>
          <a:xfrm>
            <a:off x="544982" y="2035454"/>
            <a:ext cx="1039673" cy="983894"/>
          </a:xfrm>
          <a:prstGeom prst="rect">
            <a:avLst/>
          </a:prstGeom>
          <a:solidFill>
            <a:srgbClr val="B9D2F7"/>
          </a:solidFill>
          <a:ln/>
        </p:spPr>
        <p:txBody>
          <a:bodyPr/>
          <a:p/>
        </p:txBody>
      </p:sp>
      <p:sp>
        <p:nvSpPr>
          <p:cNvPr id="34" name="R1 num"/>
          <p:cNvSpPr/>
          <p:nvPr/>
        </p:nvSpPr>
        <p:spPr>
          <a:xfrm>
            <a:off x="686714" y="2204161"/>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103120"/>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say how something was.</a:t>
            </a:r>
            <a:endParaRPr lang="en-US" sz="2000" dirty="0" b="1"/>
          </a:p>
        </p:txBody>
      </p:sp>
      <p:sp>
        <p:nvSpPr>
          <p:cNvPr id="36" name="R1 sub"/>
          <p:cNvSpPr/>
          <p:nvPr/>
        </p:nvSpPr>
        <p:spPr>
          <a:xfrm>
            <a:off x="1901952" y="2505456"/>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It was exciting. / It was boring.</a:t>
            </a:r>
            <a:endParaRPr lang="en-US" sz="2000" dirty="0"/>
          </a:p>
        </p:txBody>
      </p:sp>
      <p:sp>
        <p:nvSpPr>
          <p:cNvPr id="37" name="R1 dot"/>
          <p:cNvSpPr/>
          <p:nvPr/>
        </p:nvSpPr>
        <p:spPr>
          <a:xfrm rot="10800000">
            <a:off x="6361481" y="2168957"/>
            <a:ext cx="88697" cy="76810"/>
          </a:xfrm>
          <a:prstGeom prst="triangle">
            <a:avLst/>
          </a:prstGeom>
          <a:solidFill>
            <a:srgbClr val="8FAFE3"/>
          </a:solidFill>
          <a:ln/>
        </p:spPr>
        <p:txBody>
          <a:bodyPr/>
          <a:p/>
        </p:txBody>
      </p:sp>
      <p:sp>
        <p:nvSpPr>
          <p:cNvPr id="38" name="R2 card"/>
          <p:cNvSpPr/>
          <p:nvPr/>
        </p:nvSpPr>
        <p:spPr>
          <a:xfrm>
            <a:off x="1583741" y="3128162"/>
            <a:ext cx="5130698" cy="602361"/>
          </a:xfrm>
          <a:prstGeom prst="round1Rect">
            <a:avLst>
              <a:gd name="adj" fmla="val 23087"/>
            </a:avLst>
          </a:prstGeom>
          <a:solidFill>
            <a:srgbClr val="FFFFFF"/>
          </a:solidFill>
          <a:ln/>
        </p:spPr>
        <p:txBody>
          <a:bodyPr/>
          <a:p/>
        </p:txBody>
      </p:sp>
      <p:sp>
        <p:nvSpPr>
          <p:cNvPr id="39" name="R2 chip"/>
          <p:cNvSpPr/>
          <p:nvPr/>
        </p:nvSpPr>
        <p:spPr>
          <a:xfrm>
            <a:off x="544982" y="3128162"/>
            <a:ext cx="1039673" cy="602361"/>
          </a:xfrm>
          <a:prstGeom prst="rect">
            <a:avLst/>
          </a:prstGeom>
          <a:solidFill>
            <a:srgbClr val="B9D2F7"/>
          </a:solidFill>
          <a:ln/>
        </p:spPr>
        <p:txBody>
          <a:bodyPr/>
          <a:p/>
        </p:txBody>
      </p:sp>
      <p:sp>
        <p:nvSpPr>
          <p:cNvPr id="40" name="R2 num"/>
          <p:cNvSpPr/>
          <p:nvPr/>
        </p:nvSpPr>
        <p:spPr>
          <a:xfrm>
            <a:off x="686714" y="3128162"/>
            <a:ext cx="1109167" cy="60236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1" name="R2 text"/>
          <p:cNvSpPr/>
          <p:nvPr/>
        </p:nvSpPr>
        <p:spPr>
          <a:xfrm>
            <a:off x="1810512" y="3128162"/>
            <a:ext cx="4434840" cy="602361"/>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how I felt: I was excited.</a:t>
            </a:r>
            <a:endParaRPr lang="en-US" sz="1800" dirty="0"/>
          </a:p>
        </p:txBody>
      </p:sp>
      <p:sp>
        <p:nvSpPr>
          <p:cNvPr id="42" name="R2 dot"/>
          <p:cNvSpPr/>
          <p:nvPr/>
        </p:nvSpPr>
        <p:spPr>
          <a:xfrm rot="10800000">
            <a:off x="6361481" y="3261665"/>
            <a:ext cx="88697" cy="76810"/>
          </a:xfrm>
          <a:prstGeom prst="triangle">
            <a:avLst/>
          </a:prstGeom>
          <a:solidFill>
            <a:srgbClr val="8FAFE3"/>
          </a:solidFill>
          <a:ln/>
        </p:spPr>
        <p:txBody>
          <a:bodyPr/>
          <a:p/>
        </p:txBody>
      </p:sp>
      <p:sp>
        <p:nvSpPr>
          <p:cNvPr id="43" name="R3 card"/>
          <p:cNvSpPr/>
          <p:nvPr/>
        </p:nvSpPr>
        <p:spPr>
          <a:xfrm>
            <a:off x="1583741" y="3839337"/>
            <a:ext cx="5130698" cy="602361"/>
          </a:xfrm>
          <a:prstGeom prst="round1Rect">
            <a:avLst>
              <a:gd name="adj" fmla="val 23087"/>
            </a:avLst>
          </a:prstGeom>
          <a:solidFill>
            <a:srgbClr val="FFFFFF"/>
          </a:solidFill>
          <a:ln/>
        </p:spPr>
        <p:txBody>
          <a:bodyPr/>
          <a:p/>
        </p:txBody>
      </p:sp>
      <p:sp>
        <p:nvSpPr>
          <p:cNvPr id="44" name="R3 chip"/>
          <p:cNvSpPr/>
          <p:nvPr/>
        </p:nvSpPr>
        <p:spPr>
          <a:xfrm>
            <a:off x="544982" y="3839337"/>
            <a:ext cx="1039673" cy="602361"/>
          </a:xfrm>
          <a:prstGeom prst="rect">
            <a:avLst/>
          </a:prstGeom>
          <a:solidFill>
            <a:srgbClr val="B9D2F7"/>
          </a:solidFill>
          <a:ln/>
        </p:spPr>
        <p:txBody>
          <a:bodyPr/>
          <a:p/>
        </p:txBody>
      </p:sp>
      <p:sp>
        <p:nvSpPr>
          <p:cNvPr id="45" name="R3 num"/>
          <p:cNvSpPr/>
          <p:nvPr/>
        </p:nvSpPr>
        <p:spPr>
          <a:xfrm>
            <a:off x="686714" y="3839337"/>
            <a:ext cx="1109167" cy="60236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6" name="R3 text"/>
          <p:cNvSpPr/>
          <p:nvPr/>
        </p:nvSpPr>
        <p:spPr>
          <a:xfrm>
            <a:off x="1810512" y="3839337"/>
            <a:ext cx="4434840" cy="602361"/>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choose -ing or -ed.</a:t>
            </a:r>
            <a:endParaRPr lang="en-US" sz="2000" dirty="0"/>
          </a:p>
        </p:txBody>
      </p:sp>
      <p:sp>
        <p:nvSpPr>
          <p:cNvPr id="47" name="R3 dot"/>
          <p:cNvSpPr/>
          <p:nvPr/>
        </p:nvSpPr>
        <p:spPr>
          <a:xfrm rot="10800000">
            <a:off x="6361481" y="3972839"/>
            <a:ext cx="88697" cy="76810"/>
          </a:xfrm>
          <a:prstGeom prst="triangle">
            <a:avLst/>
          </a:prstGeom>
          <a:solidFill>
            <a:srgbClr val="8FAFE3"/>
          </a:solidFill>
          <a:ln/>
        </p:spPr>
        <p:txBody>
          <a:bodyPr/>
          <a:p/>
        </p:txBody>
      </p:sp>
      <p:sp>
        <p:nvSpPr>
          <p:cNvPr id="48" name="R4 card"/>
          <p:cNvSpPr/>
          <p:nvPr/>
        </p:nvSpPr>
        <p:spPr>
          <a:xfrm>
            <a:off x="1583741" y="4550512"/>
            <a:ext cx="5130698" cy="602361"/>
          </a:xfrm>
          <a:prstGeom prst="round1Rect">
            <a:avLst>
              <a:gd name="adj" fmla="val 23087"/>
            </a:avLst>
          </a:prstGeom>
          <a:solidFill>
            <a:srgbClr val="FFFFFF"/>
          </a:solidFill>
          <a:ln/>
        </p:spPr>
        <p:txBody>
          <a:bodyPr/>
          <a:p/>
        </p:txBody>
      </p:sp>
      <p:sp>
        <p:nvSpPr>
          <p:cNvPr id="49" name="R4 chip"/>
          <p:cNvSpPr/>
          <p:nvPr/>
        </p:nvSpPr>
        <p:spPr>
          <a:xfrm>
            <a:off x="544982" y="4550512"/>
            <a:ext cx="1039673" cy="602361"/>
          </a:xfrm>
          <a:prstGeom prst="rect">
            <a:avLst/>
          </a:prstGeom>
          <a:solidFill>
            <a:srgbClr val="B9D2F7"/>
          </a:solidFill>
          <a:ln/>
        </p:spPr>
        <p:txBody>
          <a:bodyPr/>
          <a:p/>
        </p:txBody>
      </p:sp>
      <p:sp>
        <p:nvSpPr>
          <p:cNvPr id="50" name="R4 num"/>
          <p:cNvSpPr/>
          <p:nvPr/>
        </p:nvSpPr>
        <p:spPr>
          <a:xfrm>
            <a:off x="686714" y="4550512"/>
            <a:ext cx="1109167" cy="60236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1" name="R4 text"/>
          <p:cNvSpPr/>
          <p:nvPr/>
        </p:nvSpPr>
        <p:spPr>
          <a:xfrm>
            <a:off x="1810512" y="4550512"/>
            <a:ext cx="4434840" cy="602361"/>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give an opinion with a reason.</a:t>
            </a:r>
            <a:endParaRPr lang="en-US" sz="1800" dirty="0"/>
          </a:p>
        </p:txBody>
      </p:sp>
      <p:sp>
        <p:nvSpPr>
          <p:cNvPr id="52" name="R4 dot"/>
          <p:cNvSpPr/>
          <p:nvPr/>
        </p:nvSpPr>
        <p:spPr>
          <a:xfrm rot="10800000">
            <a:off x="6361481" y="4684014"/>
            <a:ext cx="88697" cy="76810"/>
          </a:xfrm>
          <a:prstGeom prst="triangle">
            <a:avLst/>
          </a:prstGeom>
          <a:solidFill>
            <a:srgbClr val="8FAFE3"/>
          </a:solidFill>
          <a:ln/>
        </p:spPr>
        <p:txBody>
          <a:bodyPr/>
          <a:p/>
        </p:txBody>
      </p:sp>
      <p:sp>
        <p:nvSpPr>
          <p:cNvPr id="53" name="R5 card"/>
          <p:cNvSpPr/>
          <p:nvPr/>
        </p:nvSpPr>
        <p:spPr>
          <a:xfrm>
            <a:off x="1583741" y="5261686"/>
            <a:ext cx="5130698" cy="602361"/>
          </a:xfrm>
          <a:prstGeom prst="round1Rect">
            <a:avLst>
              <a:gd name="adj" fmla="val 23087"/>
            </a:avLst>
          </a:prstGeom>
          <a:solidFill>
            <a:srgbClr val="FFFFFF"/>
          </a:solidFill>
          <a:ln/>
        </p:spPr>
        <p:txBody>
          <a:bodyPr/>
          <a:p/>
        </p:txBody>
      </p:sp>
      <p:sp>
        <p:nvSpPr>
          <p:cNvPr id="54" name="R5 chip"/>
          <p:cNvSpPr/>
          <p:nvPr/>
        </p:nvSpPr>
        <p:spPr>
          <a:xfrm>
            <a:off x="544982" y="5261686"/>
            <a:ext cx="1039673" cy="602361"/>
          </a:xfrm>
          <a:prstGeom prst="rect">
            <a:avLst/>
          </a:prstGeom>
          <a:solidFill>
            <a:srgbClr val="B9D2F7"/>
          </a:solidFill>
          <a:ln/>
        </p:spPr>
        <p:txBody>
          <a:bodyPr/>
          <a:p/>
        </p:txBody>
      </p:sp>
      <p:sp>
        <p:nvSpPr>
          <p:cNvPr id="55" name="R5 num"/>
          <p:cNvSpPr/>
          <p:nvPr/>
        </p:nvSpPr>
        <p:spPr>
          <a:xfrm>
            <a:off x="686714" y="5261686"/>
            <a:ext cx="1109167" cy="60236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6" name="R5 text"/>
          <p:cNvSpPr/>
          <p:nvPr/>
        </p:nvSpPr>
        <p:spPr>
          <a:xfrm>
            <a:off x="1810512" y="5261686"/>
            <a:ext cx="4434840" cy="602361"/>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read reviews and write a review.</a:t>
            </a:r>
            <a:endParaRPr lang="en-US" sz="1800" dirty="0"/>
          </a:p>
        </p:txBody>
      </p:sp>
      <p:sp>
        <p:nvSpPr>
          <p:cNvPr id="57" name="R5 dot"/>
          <p:cNvSpPr/>
          <p:nvPr/>
        </p:nvSpPr>
        <p:spPr>
          <a:xfrm rot="10800000">
            <a:off x="6361481" y="5395189"/>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par>
                                <p:cTn id="74" presetID="10" presetClass="entr" presetSubtype="0"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40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par>
                                <p:cTn id="91" presetID="10"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animEffect transition="in" filter="fade">
                                      <p:cBhvr>
                                        <p:cTn id="93"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Festival: a tent, a balloon, a taco"/>
          <p:cNvPicPr>
            <a:picLocks noChangeAspect="1"/>
          </p:cNvPicPr>
          <p:nvPr/>
        </p:nvPicPr>
        <p:blipFill>
          <a:blip r:embed="rId3"/>
          <a:stretch>
            <a:fillRect/>
          </a:stretch>
        </p:blipFill>
        <p:spPr>
          <a:xfrm>
            <a:off x="6800393" y="1828800"/>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How do you make your favorite food?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What do you do after that?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What do you do next? And after that? Is it easy?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do you make your favorite food?</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do you send a photo on your phone?</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do you do first when you get home?</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instructions do you follow at work or at home?</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10, item 2.</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Exciting / excited: a roller coaster, an arrow, a star-struck fac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exciting / excited</a:t>
            </a:r>
            <a:endParaRPr lang="en-US" sz="1800" dirty="0" b="1"/>
          </a:p>
        </p:txBody>
      </p:sp>
      <p:pic>
        <p:nvPicPr>
          <p:cNvPr id="19" name="Word picture 2" descr="Boring / bored: a long page, an arrow, a yawning fac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boring / bored</a:t>
            </a:r>
            <a:endParaRPr lang="en-US" sz="2000" dirty="0" b="1"/>
          </a:p>
        </p:txBody>
      </p:sp>
      <p:pic>
        <p:nvPicPr>
          <p:cNvPr id="21" name="Word picture 3" descr="Interesting / interested: an open book, an arrow, a face with a monocle"/>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interesting / interested</a:t>
            </a:r>
            <a:endParaRPr lang="en-US" sz="1800" dirty="0" b="1"/>
          </a:p>
        </p:txBody>
      </p:sp>
      <p:pic>
        <p:nvPicPr>
          <p:cNvPr id="23" name="Word picture 4" descr="Confusing / confused: a map, an arrow, a confused fac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confusing / confused</a:t>
            </a:r>
            <a:endParaRPr lang="en-US" sz="1800" dirty="0" b="1"/>
          </a:p>
        </p:txBody>
      </p:sp>
      <p:pic>
        <p:nvPicPr>
          <p:cNvPr id="25" name="Word picture 5" descr="Relaxing / relaxed: a beach, an arrow, a relieved fac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relaxing / relaxed</a:t>
            </a:r>
            <a:endParaRPr lang="en-US" sz="1800" dirty="0" b="1"/>
          </a:p>
        </p:txBody>
      </p:sp>
      <p:pic>
        <p:nvPicPr>
          <p:cNvPr id="27" name="Word picture 6" descr="Tiring / tired: a runner, an arrow, a tired fac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tiring / tired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B says.</a:t>
            </a:r>
            <a:endParaRPr lang="en-US" sz="2200" dirty="0" b="1"/>
          </a:p>
        </p:txBody>
      </p:sp>
      <p:pic>
        <p:nvPicPr>
          <p:cNvPr id="17" name="Word picture 1" descr="Surprising / surprised: a gift, an arrow, a surprised fac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surprising / surprised</a:t>
            </a:r>
            <a:endParaRPr lang="en-US" sz="1800" dirty="0" b="1"/>
          </a:p>
        </p:txBody>
      </p:sp>
      <p:pic>
        <p:nvPicPr>
          <p:cNvPr id="19" name="Word picture 2" descr="Festival: a tent, a balloon, a taco"/>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festival</a:t>
            </a:r>
            <a:endParaRPr lang="en-US" sz="2000" dirty="0" b="1"/>
          </a:p>
        </p:txBody>
      </p:sp>
      <p:pic>
        <p:nvPicPr>
          <p:cNvPr id="21" name="Word picture 3" descr="Concert: a microphone, a guitar, music note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concert</a:t>
            </a:r>
            <a:endParaRPr lang="en-US" sz="2000" dirty="0" b="1"/>
          </a:p>
        </p:txBody>
      </p:sp>
      <p:pic>
        <p:nvPicPr>
          <p:cNvPr id="23" name="Word picture 4" descr="Museum: a classical building and a framed pictur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museum</a:t>
            </a:r>
            <a:endParaRPr lang="en-US" sz="2000" dirty="0" b="1"/>
          </a:p>
        </p:txBody>
      </p:sp>
      <p:pic>
        <p:nvPicPr>
          <p:cNvPr id="25" name="Word picture 5" descr="Fair: a Ferris wheel"/>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fair</a:t>
            </a:r>
            <a:endParaRPr lang="en-US" sz="2000" dirty="0" b="1"/>
          </a:p>
        </p:txBody>
      </p:sp>
      <p:pic>
        <p:nvPicPr>
          <p:cNvPr id="27" name="Word picture 6" descr="Review (stars): a drawn review card: 4 of 5 stars, &quot;Great food! The music was fun.&quot;"/>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review (stars)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big event in a park with food and music?</a:t>
            </a:r>
            <a:endParaRPr lang="en-US" sz="1800" dirty="0" b="1"/>
          </a:p>
        </p:txBody>
      </p:sp>
      <p:pic>
        <p:nvPicPr>
          <p:cNvPr id="101" name="R1 pic" descr="Festival: a tent, a balloon, a taco"/>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see old pictures and things at a…?</a:t>
            </a:r>
            <a:endParaRPr lang="en-US" sz="1800" dirty="0" b="1"/>
          </a:p>
        </p:txBody>
      </p:sp>
      <p:pic>
        <p:nvPicPr>
          <p:cNvPr id="102" name="R2 pic" descr="Museum: a classical building and a framed picture"/>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go to hear music at a…?</a:t>
            </a:r>
            <a:endParaRPr lang="en-US" sz="1800" dirty="0" b="1"/>
          </a:p>
        </p:txBody>
      </p:sp>
      <p:pic>
        <p:nvPicPr>
          <p:cNvPr id="103" name="R3 pic" descr="Concert: a microphone, a guitar, music notes"/>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 festival</a:t>
            </a:r>
            <a:endParaRPr lang="en-US" sz="22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museum</a:t>
            </a:r>
            <a:endParaRPr lang="en-US" sz="2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concert</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It's Monday. Elena and Luis are coworkers. They're talking about the weekend.</a:t>
            </a:r>
            <a:endParaRPr lang="en-US" sz="18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Festival: a tent, a balloon, a taco"/>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Elena</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Luis</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Did they like their weekend events?</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How was it? How did they feel?</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1:15.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Did they like it?</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Check ✓ a face.</a:t>
            </a:r>
            <a:endParaRPr lang="en-US" sz="2000" dirty="0"/>
          </a:p>
        </p:txBody>
      </p:sp>
      <p:sp>
        <p:nvSpPr>
          <p:cNvPr id="8" name="R1 stmt"/>
          <p:cNvSpPr/>
          <p:nvPr/>
        </p:nvSpPr>
        <p:spPr>
          <a:xfrm>
            <a:off x="502920" y="3108960"/>
            <a:ext cx="7178040" cy="530352"/>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Elena: the food festival</a:t>
            </a:r>
            <a:endParaRPr lang="en-US" sz="2200" dirty="0"/>
          </a:p>
        </p:txBody>
      </p:sp>
      <p:sp>
        <p:nvSpPr>
          <p:cNvPr id="9" name="R1 opt1"/>
          <p:cNvSpPr/>
          <p:nvPr/>
        </p:nvSpPr>
        <p:spPr>
          <a:xfrm>
            <a:off x="7863840" y="3108960"/>
            <a:ext cx="13716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0" name="R1 opt2"/>
          <p:cNvSpPr/>
          <p:nvPr/>
        </p:nvSpPr>
        <p:spPr>
          <a:xfrm>
            <a:off x="9601200" y="3108960"/>
            <a:ext cx="13716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1" name="R1 circle"/>
          <p:cNvSpPr/>
          <p:nvPr/>
        </p:nvSpPr>
        <p:spPr>
          <a:xfrm>
            <a:off x="7735824" y="3054096"/>
            <a:ext cx="162763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913632"/>
            <a:ext cx="7178040" cy="530352"/>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Luis: the photo workshop</a:t>
            </a:r>
            <a:endParaRPr lang="en-US" sz="2200" dirty="0"/>
          </a:p>
        </p:txBody>
      </p:sp>
      <p:sp>
        <p:nvSpPr>
          <p:cNvPr id="13" name="R2 opt1"/>
          <p:cNvSpPr/>
          <p:nvPr/>
        </p:nvSpPr>
        <p:spPr>
          <a:xfrm>
            <a:off x="7863840" y="3913632"/>
            <a:ext cx="13716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4" name="R2 opt2"/>
          <p:cNvSpPr/>
          <p:nvPr/>
        </p:nvSpPr>
        <p:spPr>
          <a:xfrm>
            <a:off x="9601200" y="3913632"/>
            <a:ext cx="13716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5" name="R2 circle"/>
          <p:cNvSpPr/>
          <p:nvPr/>
        </p:nvSpPr>
        <p:spPr>
          <a:xfrm>
            <a:off x="9473184" y="3858768"/>
            <a:ext cx="162763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 Match.</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letter.</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a:t>
            </a:r>
            <a:r>
              <a:rPr lang="en-US" sz="2000" dirty="0">
                <a:solidFill>
                  <a:srgbClr val="1B2236"/>
                </a:solidFill>
                <a:latin typeface="Lexend Deca" pitchFamily="34" charset="0"/>
                <a:ea typeface="Lexend Deca" pitchFamily="34" charset="-122"/>
                <a:cs typeface="Lexend Deca" pitchFamily="34" charset="-120"/>
              </a:rPr>
              <a:t> tired</a:t>
            </a:r>
            <a:endParaRPr lang="en-US" sz="2000" dirty="0"/>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relaxing</a:t>
            </a:r>
            <a:endParaRPr lang="en-US" sz="2000" dirty="0" b="0"/>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c.</a:t>
            </a:r>
            <a:r>
              <a:rPr lang="en-US" sz="2000" dirty="0" b="0">
                <a:solidFill>
                  <a:srgbClr val="1B2236"/>
                </a:solidFill>
                <a:latin typeface="Lexend Deca" pitchFamily="34" charset="0"/>
                <a:ea typeface="Lexend Deca" pitchFamily="34" charset="-122"/>
                <a:cs typeface="Lexend Deca" pitchFamily="34" charset="-120"/>
              </a:rPr>
              <a:t> exciting</a:t>
            </a:r>
            <a:endParaRPr lang="en-US" sz="2000" dirty="0" b="0"/>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d.</a:t>
            </a:r>
            <a:r>
              <a:rPr lang="en-US" sz="2000" dirty="0" b="0">
                <a:solidFill>
                  <a:srgbClr val="1B2236"/>
                </a:solidFill>
                <a:latin typeface="Lexend Deca" pitchFamily="34" charset="0"/>
                <a:ea typeface="Lexend Deca" pitchFamily="34" charset="-122"/>
                <a:cs typeface="Lexend Deca" pitchFamily="34" charset="-120"/>
              </a:rPr>
              <a:t> bored</a:t>
            </a:r>
            <a:endParaRPr lang="en-US" sz="2000" dirty="0" b="0"/>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e.</a:t>
            </a:r>
            <a:r>
              <a:rPr lang="en-US" sz="2000" dirty="0" b="0">
                <a:solidFill>
                  <a:srgbClr val="1B2236"/>
                </a:solidFill>
                <a:latin typeface="Lexend Deca" pitchFamily="34" charset="0"/>
                <a:ea typeface="Lexend Deca" pitchFamily="34" charset="-122"/>
                <a:cs typeface="Lexend Deca" pitchFamily="34" charset="-120"/>
              </a:rPr>
              <a:t> confusing</a:t>
            </a:r>
            <a:endParaRPr lang="en-US" sz="2000" dirty="0" b="0"/>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food festival</a:t>
            </a:r>
            <a:endParaRPr lang="en-US" sz="1800" dirty="0"/>
          </a:p>
        </p:txBody>
      </p:sp>
      <p:sp>
        <p:nvSpPr>
          <p:cNvPr id="35" name="R1 ans"/>
          <p:cNvSpPr/>
          <p:nvPr/>
        </p:nvSpPr>
        <p:spPr>
          <a:xfrm>
            <a:off x="5833872" y="2525573"/>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c (exciting)</a:t>
            </a:r>
            <a:endParaRPr lang="en-US" sz="17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Elena at the end</a:t>
            </a:r>
            <a:endParaRPr lang="en-US" sz="1800" dirty="0"/>
          </a:p>
        </p:txBody>
      </p:sp>
      <p:sp>
        <p:nvSpPr>
          <p:cNvPr id="40" name="R2 ans"/>
          <p:cNvSpPr/>
          <p:nvPr/>
        </p:nvSpPr>
        <p:spPr>
          <a:xfrm>
            <a:off x="5833872" y="3311957"/>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 (tired)</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photo workshop</a:t>
            </a:r>
            <a:endParaRPr lang="en-US" sz="1800" dirty="0"/>
          </a:p>
        </p:txBody>
      </p:sp>
      <p:sp>
        <p:nvSpPr>
          <p:cNvPr id="45" name="R3 ans"/>
          <p:cNvSpPr/>
          <p:nvPr/>
        </p:nvSpPr>
        <p:spPr>
          <a:xfrm>
            <a:off x="5833872" y="4098341"/>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e (confusing)</a:t>
            </a:r>
            <a:endParaRPr lang="en-US" sz="17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Luis at the workshop</a:t>
            </a:r>
            <a:endParaRPr lang="en-US" sz="1800" dirty="0"/>
          </a:p>
        </p:txBody>
      </p:sp>
      <p:sp>
        <p:nvSpPr>
          <p:cNvPr id="50" name="R4 ans"/>
          <p:cNvSpPr/>
          <p:nvPr/>
        </p:nvSpPr>
        <p:spPr>
          <a:xfrm>
            <a:off x="5833872" y="4884725"/>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 (bored)</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museum coffee shop</a:t>
            </a:r>
            <a:endParaRPr lang="en-US" sz="1800" dirty="0"/>
          </a:p>
        </p:txBody>
      </p:sp>
      <p:sp>
        <p:nvSpPr>
          <p:cNvPr id="55" name="R5 ans"/>
          <p:cNvSpPr/>
          <p:nvPr/>
        </p:nvSpPr>
        <p:spPr>
          <a:xfrm>
            <a:off x="5833872" y="5671109"/>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 (relaxing)</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-ing or -ed.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It was so excit____.</a:t>
            </a:r>
            <a:endParaRPr lang="en-US" sz="1800" dirty="0"/>
          </a:p>
        </p:txBody>
      </p:sp>
      <p:sp>
        <p:nvSpPr>
          <p:cNvPr id="35" name="R1 ans"/>
          <p:cNvSpPr/>
          <p:nvPr/>
        </p:nvSpPr>
        <p:spPr>
          <a:xfrm>
            <a:off x="5925312" y="2222144"/>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exciting</a:t>
            </a:r>
            <a:endParaRPr lang="en-US" sz="16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was a little tir____ at the end.</a:t>
            </a:r>
            <a:endParaRPr lang="en-US" sz="1800" dirty="0"/>
          </a:p>
        </p:txBody>
      </p:sp>
      <p:sp>
        <p:nvSpPr>
          <p:cNvPr id="40" name="R2 ans"/>
          <p:cNvSpPr/>
          <p:nvPr/>
        </p:nvSpPr>
        <p:spPr>
          <a:xfrm>
            <a:off x="5925312" y="2950312"/>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tired</a:t>
            </a:r>
            <a:endParaRPr lang="en-US" sz="16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Oh, nice! Was it interest____?</a:t>
            </a:r>
            <a:endParaRPr lang="en-US" sz="1800" dirty="0"/>
          </a:p>
        </p:txBody>
      </p:sp>
      <p:sp>
        <p:nvSpPr>
          <p:cNvPr id="45" name="R3 ans"/>
          <p:cNvSpPr/>
          <p:nvPr/>
        </p:nvSpPr>
        <p:spPr>
          <a:xfrm>
            <a:off x="5925312" y="3678479"/>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interesting</a:t>
            </a:r>
            <a:endParaRPr lang="en-US" sz="16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thought it was confus____.</a:t>
            </a:r>
            <a:endParaRPr lang="en-US" sz="1800" dirty="0"/>
          </a:p>
        </p:txBody>
      </p:sp>
      <p:sp>
        <p:nvSpPr>
          <p:cNvPr id="50" name="R4 ans"/>
          <p:cNvSpPr/>
          <p:nvPr/>
        </p:nvSpPr>
        <p:spPr>
          <a:xfrm>
            <a:off x="5925312" y="4406646"/>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confusing</a:t>
            </a:r>
            <a:endParaRPr lang="en-US" sz="16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I was bor____, so I left early.</a:t>
            </a:r>
            <a:endParaRPr lang="en-US" sz="1800" dirty="0"/>
          </a:p>
        </p:txBody>
      </p:sp>
      <p:sp>
        <p:nvSpPr>
          <p:cNvPr id="55" name="R5 ans"/>
          <p:cNvSpPr/>
          <p:nvPr/>
        </p:nvSpPr>
        <p:spPr>
          <a:xfrm>
            <a:off x="5925312" y="5134813"/>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bored</a:t>
            </a:r>
            <a:endParaRPr lang="en-US" sz="16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But the museum coffee shop was really relax____.</a:t>
            </a:r>
            <a:endParaRPr lang="en-US" sz="1800" dirty="0"/>
          </a:p>
        </p:txBody>
      </p:sp>
      <p:sp>
        <p:nvSpPr>
          <p:cNvPr id="60" name="R6 ans"/>
          <p:cNvSpPr/>
          <p:nvPr/>
        </p:nvSpPr>
        <p:spPr>
          <a:xfrm>
            <a:off x="5925312" y="5862980"/>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relaxing</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-ed sounds</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each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-ed has </a:t>
            </a:r>
            <a:r>
              <a:rPr lang="en-US" sz="2000" dirty="0" b="1">
                <a:solidFill>
                  <a:srgbClr val="5B3FC4"/>
                </a:solidFill>
                <a:latin typeface="Lexend Deca" pitchFamily="34" charset="0"/>
                <a:ea typeface="Lexend Deca" pitchFamily="34" charset="-122"/>
                <a:cs typeface="Lexend Deca" pitchFamily="34" charset="-120"/>
              </a:rPr>
              <a:t>3 sounds.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  ·  d  ·  id</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word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777240"/>
          </a:xfrm>
          <a:prstGeom prst="round1Rect">
            <a:avLst>
              <a:gd name="adj" fmla="val 23087"/>
            </a:avLst>
          </a:prstGeom>
          <a:solidFill>
            <a:srgbClr val="FFFFFF"/>
          </a:solidFill>
          <a:ln/>
        </p:spPr>
        <p:txBody>
          <a:bodyPr/>
          <a:p/>
        </p:txBody>
      </p:sp>
      <p:sp>
        <p:nvSpPr>
          <p:cNvPr id="32" name="S1 text"/>
          <p:cNvSpPr/>
          <p:nvPr/>
        </p:nvSpPr>
        <p:spPr>
          <a:xfrm>
            <a:off x="777240" y="2715768"/>
            <a:ext cx="6355080" cy="777240"/>
          </a:xfrm>
          <a:prstGeom prst="rect">
            <a:avLst/>
          </a:prstGeom>
          <a:noFill/>
          <a:ln/>
        </p:spPr>
        <p:txBody>
          <a:bodyPr wrap="square"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relax</a:t>
            </a:r>
            <a:r>
              <a:rPr lang="en-US" sz="2200" dirty="0" b="1">
                <a:solidFill>
                  <a:srgbClr val="5B3FC4"/>
                </a:solidFill>
                <a:latin typeface="Lexend Deca" pitchFamily="34" charset="0"/>
                <a:ea typeface="Lexend Deca" pitchFamily="34" charset="-122"/>
                <a:cs typeface="Lexend Deca" pitchFamily="34" charset="-120"/>
              </a:rPr>
              <a:t>ed</a:t>
            </a:r>
            <a:r>
              <a:rPr lang="en-US" sz="2200" dirty="0" b="1">
                <a:solidFill>
                  <a:srgbClr val="1B2236"/>
                </a:solidFill>
                <a:latin typeface="Lexend Deca" pitchFamily="34" charset="0"/>
                <a:ea typeface="Lexend Deca" pitchFamily="34" charset="-122"/>
                <a:cs typeface="Lexend Deca" pitchFamily="34" charset="-120"/>
              </a:rPr>
              <a:t> (t)  ·  bor</a:t>
            </a:r>
            <a:r>
              <a:rPr lang="en-US" sz="2200" dirty="0" b="1">
                <a:solidFill>
                  <a:srgbClr val="5B3FC4"/>
                </a:solidFill>
                <a:latin typeface="Lexend Deca" pitchFamily="34" charset="0"/>
                <a:ea typeface="Lexend Deca" pitchFamily="34" charset="-122"/>
                <a:cs typeface="Lexend Deca" pitchFamily="34" charset="-120"/>
              </a:rPr>
              <a:t>ed</a:t>
            </a:r>
            <a:r>
              <a:rPr lang="en-US" sz="2200" dirty="0" b="1">
                <a:solidFill>
                  <a:srgbClr val="1B2236"/>
                </a:solidFill>
                <a:latin typeface="Lexend Deca" pitchFamily="34" charset="0"/>
                <a:ea typeface="Lexend Deca" pitchFamily="34" charset="-122"/>
                <a:cs typeface="Lexend Deca" pitchFamily="34" charset="-120"/>
              </a:rPr>
              <a:t> (d)</a:t>
            </a:r>
            <a:endParaRPr lang="en-US" sz="2200" dirty="0" b="1"/>
          </a:p>
        </p:txBody>
      </p:sp>
      <p:sp>
        <p:nvSpPr>
          <p:cNvPr id="33" name="S2 card"/>
          <p:cNvSpPr/>
          <p:nvPr/>
        </p:nvSpPr>
        <p:spPr>
          <a:xfrm>
            <a:off x="548640" y="3601822"/>
            <a:ext cx="6766560" cy="777240"/>
          </a:xfrm>
          <a:prstGeom prst="round1Rect">
            <a:avLst>
              <a:gd name="adj" fmla="val 23087"/>
            </a:avLst>
          </a:prstGeom>
          <a:solidFill>
            <a:srgbClr val="FFFFFF"/>
          </a:solidFill>
          <a:ln/>
        </p:spPr>
        <p:txBody>
          <a:bodyPr/>
          <a:p/>
        </p:txBody>
      </p:sp>
      <p:sp>
        <p:nvSpPr>
          <p:cNvPr id="34" name="S2 text"/>
          <p:cNvSpPr/>
          <p:nvPr/>
        </p:nvSpPr>
        <p:spPr>
          <a:xfrm>
            <a:off x="777240" y="3601822"/>
            <a:ext cx="6355080" cy="777240"/>
          </a:xfrm>
          <a:prstGeom prst="rect">
            <a:avLst/>
          </a:prstGeom>
          <a:noFill/>
          <a:ln/>
        </p:spPr>
        <p:txBody>
          <a:bodyPr wrap="square"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interest</a:t>
            </a:r>
            <a:r>
              <a:rPr lang="en-US" sz="2200" dirty="0" b="1">
                <a:solidFill>
                  <a:srgbClr val="5B3FC4"/>
                </a:solidFill>
                <a:latin typeface="Lexend Deca" pitchFamily="34" charset="0"/>
                <a:ea typeface="Lexend Deca" pitchFamily="34" charset="-122"/>
                <a:cs typeface="Lexend Deca" pitchFamily="34" charset="-120"/>
              </a:rPr>
              <a:t>ed</a:t>
            </a:r>
            <a:r>
              <a:rPr lang="en-US" sz="2200" dirty="0" b="1">
                <a:solidFill>
                  <a:srgbClr val="1B2236"/>
                </a:solidFill>
                <a:latin typeface="Lexend Deca" pitchFamily="34" charset="0"/>
                <a:ea typeface="Lexend Deca" pitchFamily="34" charset="-122"/>
                <a:cs typeface="Lexend Deca" pitchFamily="34" charset="-120"/>
              </a:rPr>
              <a:t> (id)</a:t>
            </a:r>
            <a:endParaRPr lang="en-US" sz="2200" dirty="0" b="1"/>
          </a:p>
        </p:txBody>
      </p:sp>
      <p:sp>
        <p:nvSpPr>
          <p:cNvPr id="35" name="S3 card"/>
          <p:cNvSpPr/>
          <p:nvPr/>
        </p:nvSpPr>
        <p:spPr>
          <a:xfrm>
            <a:off x="548640" y="4487875"/>
            <a:ext cx="6766560" cy="777240"/>
          </a:xfrm>
          <a:prstGeom prst="round1Rect">
            <a:avLst>
              <a:gd name="adj" fmla="val 23087"/>
            </a:avLst>
          </a:prstGeom>
          <a:solidFill>
            <a:srgbClr val="FFFFFF"/>
          </a:solidFill>
          <a:ln/>
        </p:spPr>
        <p:txBody>
          <a:bodyPr/>
          <a:p/>
        </p:txBody>
      </p:sp>
      <p:sp>
        <p:nvSpPr>
          <p:cNvPr id="36" name="S3 text"/>
          <p:cNvSpPr/>
          <p:nvPr/>
        </p:nvSpPr>
        <p:spPr>
          <a:xfrm>
            <a:off x="777240" y="4487875"/>
            <a:ext cx="6355080" cy="777240"/>
          </a:xfrm>
          <a:prstGeom prst="rect">
            <a:avLst/>
          </a:prstGeom>
          <a:noFill/>
          <a:ln/>
        </p:spPr>
        <p:txBody>
          <a:bodyPr wrap="square"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I was bored, so I left early.</a:t>
            </a:r>
            <a:endParaRPr lang="en-US" sz="2200" dirty="0" b="1"/>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Exciting / excited: a roller coaster, an arrow, a star-struck face"/>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buNone/>
            </a:pPr>
            <a:r>
              <a:rPr lang="en-US" sz="3000" dirty="0" b="1">
                <a:solidFill>
                  <a:srgbClr val="1B2236"/>
                </a:solidFill>
                <a:latin typeface="Lexend Deca" pitchFamily="34" charset="0"/>
                <a:ea typeface="Lexend Deca" pitchFamily="34" charset="-122"/>
                <a:cs typeface="Lexend Deca" pitchFamily="34" charset="-120"/>
              </a:rPr>
              <a:t>How was it?</a:t>
            </a:r>
            <a:endParaRPr lang="en-US" sz="30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the thing: -ing</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293108"/>
            <a:ext cx="192024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920240" cy="1179576"/>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How was</a:t>
            </a:r>
            <a:endParaRPr lang="en-US" sz="1500" dirty="0" b="1"/>
          </a:p>
        </p:txBody>
      </p:sp>
      <p:sp>
        <p:nvSpPr>
          <p:cNvPr id="23" name="Question 1"/>
          <p:cNvSpPr/>
          <p:nvPr/>
        </p:nvSpPr>
        <p:spPr>
          <a:xfrm>
            <a:off x="3493008" y="3977640"/>
            <a:ext cx="2514600" cy="117957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concert? / the festival?</a:t>
            </a:r>
            <a:endParaRPr lang="en-US" sz="1700" dirty="0" b="1"/>
          </a:p>
        </p:txBody>
      </p:sp>
      <p:sp>
        <p:nvSpPr>
          <p:cNvPr id="24" name="Answer bg 1"/>
          <p:cNvSpPr/>
          <p:nvPr/>
        </p:nvSpPr>
        <p:spPr>
          <a:xfrm>
            <a:off x="6949440" y="3977640"/>
            <a:ext cx="4526280" cy="1179576"/>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1179576"/>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 was</a:t>
            </a:r>
            <a:r>
              <a:rPr lang="en-US" sz="1800" dirty="0" b="1">
                <a:solidFill>
                  <a:srgbClr val="1B2236"/>
                </a:solidFill>
                <a:latin typeface="Lexend Deca" pitchFamily="34" charset="0"/>
                <a:ea typeface="Lexend Deca" pitchFamily="34" charset="-122"/>
                <a:cs typeface="Lexend Deca" pitchFamily="34" charset="-120"/>
              </a:rPr>
              <a:t> excit</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 / bor</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26" name="Highlight 2"/>
          <p:cNvSpPr/>
          <p:nvPr/>
        </p:nvSpPr>
        <p:spPr>
          <a:xfrm>
            <a:off x="1481328" y="5518404"/>
            <a:ext cx="192024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02936"/>
            <a:ext cx="1920240" cy="1179576"/>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Was</a:t>
            </a:r>
            <a:r>
              <a:rPr lang="en-US" sz="1500" dirty="0" b="1">
                <a:solidFill>
                  <a:srgbClr val="1B2236"/>
                </a:solidFill>
                <a:latin typeface="Lexend Deca" pitchFamily="34" charset="0"/>
                <a:ea typeface="Lexend Deca" pitchFamily="34" charset="-122"/>
                <a:cs typeface="Lexend Deca" pitchFamily="34" charset="-120"/>
              </a:rPr>
              <a:t> the workshop</a:t>
            </a:r>
            <a:endParaRPr lang="en-US" sz="1500" dirty="0" b="1"/>
          </a:p>
        </p:txBody>
      </p:sp>
      <p:sp>
        <p:nvSpPr>
          <p:cNvPr id="28" name="Question 2"/>
          <p:cNvSpPr/>
          <p:nvPr/>
        </p:nvSpPr>
        <p:spPr>
          <a:xfrm>
            <a:off x="3493008" y="5202936"/>
            <a:ext cx="2514600" cy="117957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interest</a:t>
            </a:r>
            <a:r>
              <a:rPr lang="en-US" sz="1700" dirty="0" b="1">
                <a:solidFill>
                  <a:srgbClr val="1B2236"/>
                </a:solidFill>
                <a:latin typeface="Lexend Deca" pitchFamily="34" charset="0"/>
                <a:ea typeface="Lexend Deca" pitchFamily="34" charset="-122"/>
                <a:cs typeface="Lexend Deca" pitchFamily="34" charset="-120"/>
              </a:rPr>
              <a:t>ing</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9" name="Answer bg 2"/>
          <p:cNvSpPr/>
          <p:nvPr/>
        </p:nvSpPr>
        <p:spPr>
          <a:xfrm>
            <a:off x="6949440" y="5202936"/>
            <a:ext cx="4526280" cy="1179576"/>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5202936"/>
            <a:ext cx="4526280" cy="1179576"/>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it was. / No, it was confus</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Tiring / tired: a runner, an arrow, a tired face"/>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buNone/>
            </a:pPr>
            <a:r>
              <a:rPr lang="en-US" sz="3000" dirty="0" b="1">
                <a:solidFill>
                  <a:srgbClr val="1B2236"/>
                </a:solidFill>
                <a:latin typeface="Lexend Deca" pitchFamily="34" charset="0"/>
                <a:ea typeface="Lexend Deca" pitchFamily="34" charset="-122"/>
                <a:cs typeface="Lexend Deca" pitchFamily="34" charset="-120"/>
              </a:rPr>
              <a:t>How did you feel?</a:t>
            </a:r>
            <a:endParaRPr lang="en-US" sz="30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the person: -ed</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069080"/>
            <a:ext cx="182880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828800" cy="731520"/>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How did you</a:t>
            </a:r>
            <a:endParaRPr lang="en-US" sz="1500" dirty="0" b="1"/>
          </a:p>
        </p:txBody>
      </p:sp>
      <p:sp>
        <p:nvSpPr>
          <p:cNvPr id="23" name="Question 1"/>
          <p:cNvSpPr/>
          <p:nvPr/>
        </p:nvSpPr>
        <p:spPr>
          <a:xfrm>
            <a:off x="3401568" y="3977640"/>
            <a:ext cx="260604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feel</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4" name="Answer bg 1"/>
          <p:cNvSpPr/>
          <p:nvPr/>
        </p:nvSpPr>
        <p:spPr>
          <a:xfrm>
            <a:off x="6949440" y="397764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was</a:t>
            </a:r>
            <a:r>
              <a:rPr lang="en-US" sz="1800" dirty="0" b="1">
                <a:solidFill>
                  <a:srgbClr val="1B2236"/>
                </a:solidFill>
                <a:latin typeface="Lexend Deca" pitchFamily="34" charset="0"/>
                <a:ea typeface="Lexend Deca" pitchFamily="34" charset="-122"/>
                <a:cs typeface="Lexend Deca" pitchFamily="34" charset="-120"/>
              </a:rPr>
              <a:t> excit</a:t>
            </a:r>
            <a:r>
              <a:rPr lang="en-US" sz="1800" dirty="0" b="1">
                <a:solidFill>
                  <a:srgbClr val="1B2236"/>
                </a:solidFill>
                <a:latin typeface="Lexend Deca" pitchFamily="34" charset="0"/>
                <a:ea typeface="Lexend Deca" pitchFamily="34" charset="-122"/>
                <a:cs typeface="Lexend Deca" pitchFamily="34" charset="-120"/>
              </a:rPr>
              <a:t>ed</a:t>
            </a:r>
            <a:r>
              <a:rPr lang="en-US" sz="1800" dirty="0" b="1">
                <a:solidFill>
                  <a:srgbClr val="1B2236"/>
                </a:solidFill>
                <a:latin typeface="Lexend Deca" pitchFamily="34" charset="0"/>
                <a:ea typeface="Lexend Deca" pitchFamily="34" charset="-122"/>
                <a:cs typeface="Lexend Deca" pitchFamily="34" charset="-120"/>
              </a:rPr>
              <a:t>. / bor</a:t>
            </a:r>
            <a:r>
              <a:rPr lang="en-US" sz="1800" dirty="0" b="1">
                <a:solidFill>
                  <a:srgbClr val="1B2236"/>
                </a:solidFill>
                <a:latin typeface="Lexend Deca" pitchFamily="34" charset="0"/>
                <a:ea typeface="Lexend Deca" pitchFamily="34" charset="-122"/>
                <a:cs typeface="Lexend Deca" pitchFamily="34" charset="-120"/>
              </a:rPr>
              <a:t>ed</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26" name="Highlight 2"/>
          <p:cNvSpPr/>
          <p:nvPr/>
        </p:nvSpPr>
        <p:spPr>
          <a:xfrm>
            <a:off x="1481328" y="4846320"/>
            <a:ext cx="182880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4754880"/>
            <a:ext cx="1828800" cy="731520"/>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Were you</a:t>
            </a:r>
            <a:endParaRPr lang="en-US" sz="1500" dirty="0" b="1"/>
          </a:p>
        </p:txBody>
      </p:sp>
      <p:sp>
        <p:nvSpPr>
          <p:cNvPr id="28" name="Question 2"/>
          <p:cNvSpPr/>
          <p:nvPr/>
        </p:nvSpPr>
        <p:spPr>
          <a:xfrm>
            <a:off x="3401568" y="4754880"/>
            <a:ext cx="260604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interest</a:t>
            </a:r>
            <a:r>
              <a:rPr lang="en-US" sz="1700" dirty="0" b="1">
                <a:solidFill>
                  <a:srgbClr val="1B2236"/>
                </a:solidFill>
                <a:latin typeface="Lexend Deca" pitchFamily="34" charset="0"/>
                <a:ea typeface="Lexend Deca" pitchFamily="34" charset="-122"/>
                <a:cs typeface="Lexend Deca" pitchFamily="34" charset="-120"/>
              </a:rPr>
              <a:t>ed</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9" name="Answer bg 2"/>
          <p:cNvSpPr/>
          <p:nvPr/>
        </p:nvSpPr>
        <p:spPr>
          <a:xfrm>
            <a:off x="6949440" y="475488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 was very interest</a:t>
            </a:r>
            <a:r>
              <a:rPr lang="en-US" sz="1800" dirty="0" b="1">
                <a:solidFill>
                  <a:srgbClr val="1B2236"/>
                </a:solidFill>
                <a:latin typeface="Lexend Deca" pitchFamily="34" charset="0"/>
                <a:ea typeface="Lexend Deca" pitchFamily="34" charset="-122"/>
                <a:cs typeface="Lexend Deca" pitchFamily="34" charset="-120"/>
              </a:rPr>
              <a:t>ed</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31" name="Highlight 3"/>
          <p:cNvSpPr/>
          <p:nvPr/>
        </p:nvSpPr>
        <p:spPr>
          <a:xfrm>
            <a:off x="1481328" y="5623560"/>
            <a:ext cx="182880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Helper 3"/>
          <p:cNvSpPr/>
          <p:nvPr/>
        </p:nvSpPr>
        <p:spPr>
          <a:xfrm>
            <a:off x="1481328" y="5532120"/>
            <a:ext cx="1828800" cy="731520"/>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Was she</a:t>
            </a:r>
            <a:endParaRPr lang="en-US" sz="1500" dirty="0" b="1"/>
          </a:p>
        </p:txBody>
      </p:sp>
      <p:sp>
        <p:nvSpPr>
          <p:cNvPr id="33" name="Question 3"/>
          <p:cNvSpPr/>
          <p:nvPr/>
        </p:nvSpPr>
        <p:spPr>
          <a:xfrm>
            <a:off x="3401568" y="5532120"/>
            <a:ext cx="260604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tir</a:t>
            </a:r>
            <a:r>
              <a:rPr lang="en-US" sz="1700" dirty="0" b="1">
                <a:solidFill>
                  <a:srgbClr val="1B2236"/>
                </a:solidFill>
                <a:latin typeface="Lexend Deca" pitchFamily="34" charset="0"/>
                <a:ea typeface="Lexend Deca" pitchFamily="34" charset="-122"/>
                <a:cs typeface="Lexend Deca" pitchFamily="34" charset="-120"/>
              </a:rPr>
              <a:t>ed</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4" name="Answer bg 3"/>
          <p:cNvSpPr/>
          <p:nvPr/>
        </p:nvSpPr>
        <p:spPr>
          <a:xfrm>
            <a:off x="6949440" y="553212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3"/>
          <p:cNvSpPr/>
          <p:nvPr/>
        </p:nvSpPr>
        <p:spPr>
          <a:xfrm>
            <a:off x="6949440"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she was tir</a:t>
            </a:r>
            <a:r>
              <a:rPr lang="en-US" sz="1800" dirty="0" b="1">
                <a:solidFill>
                  <a:srgbClr val="1B2236"/>
                </a:solidFill>
                <a:latin typeface="Lexend Deca" pitchFamily="34" charset="0"/>
                <a:ea typeface="Lexend Deca" pitchFamily="34" charset="-122"/>
                <a:cs typeface="Lexend Deca" pitchFamily="34" charset="-120"/>
              </a:rPr>
              <a:t>ed</a:t>
            </a:r>
            <a:r>
              <a:rPr lang="en-US" sz="1800" dirty="0" b="1">
                <a:solidFill>
                  <a:srgbClr val="1B2236"/>
                </a:solidFill>
                <a:latin typeface="Lexend Deca" pitchFamily="34" charset="0"/>
                <a:ea typeface="Lexend Deca" pitchFamily="34" charset="-122"/>
                <a:cs typeface="Lexend Deca" pitchFamily="34" charset="-120"/>
              </a:rPr>
              <a:t> at the end.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00"/>
                                        <p:tgtEl>
                                          <p:spTgt spid="35"/>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eview (stars): a drawn review card: 4 of 5 stars, &quot;Great food! The music was fun.&quo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An Opinion + a Reason</a:t>
            </a:r>
            <a:endParaRPr lang="en-US" sz="2800" dirty="0" b="1"/>
          </a:p>
        </p:txBody>
      </p:sp>
      <p:sp>
        <p:nvSpPr>
          <p:cNvPr id="8" name="Q head"/>
          <p:cNvSpPr/>
          <p:nvPr/>
        </p:nvSpPr>
        <p:spPr>
          <a:xfrm>
            <a:off x="5166360" y="1828800"/>
            <a:ext cx="21945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406640" y="1828800"/>
            <a:ext cx="45262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194560" cy="120700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What did you think?</a:t>
            </a:r>
            <a:endParaRPr lang="en-US" sz="2000" dirty="0" b="1"/>
          </a:p>
        </p:txBody>
      </p:sp>
      <p:sp>
        <p:nvSpPr>
          <p:cNvPr id="19" name="Answer bg 1"/>
          <p:cNvSpPr/>
          <p:nvPr/>
        </p:nvSpPr>
        <p:spPr>
          <a:xfrm>
            <a:off x="7406640" y="2286000"/>
            <a:ext cx="45262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406640" y="2286000"/>
            <a:ext cx="452628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thought it was</a:t>
            </a:r>
            <a:r>
              <a:rPr lang="en-US" sz="1800" dirty="0" b="1">
                <a:solidFill>
                  <a:srgbClr val="1B2236"/>
                </a:solidFill>
                <a:latin typeface="Lexend Deca" pitchFamily="34" charset="0"/>
                <a:ea typeface="Lexend Deca" pitchFamily="34" charset="-122"/>
                <a:cs typeface="Lexend Deca" pitchFamily="34" charset="-120"/>
              </a:rPr>
              <a:t> confus</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so</a:t>
            </a:r>
            <a:r>
              <a:rPr lang="en-US" sz="1800" dirty="0" b="1">
                <a:solidFill>
                  <a:srgbClr val="1B2236"/>
                </a:solidFill>
                <a:latin typeface="Lexend Deca" pitchFamily="34" charset="0"/>
                <a:ea typeface="Lexend Deca" pitchFamily="34" charset="-122"/>
                <a:cs typeface="Lexend Deca" pitchFamily="34" charset="-120"/>
              </a:rPr>
              <a:t> I left early.</a:t>
            </a:r>
            <a:endParaRPr lang="en-US" sz="1800" dirty="0" b="1"/>
          </a:p>
        </p:txBody>
      </p:sp>
      <p:sp>
        <p:nvSpPr>
          <p:cNvPr id="21" name="Question 2"/>
          <p:cNvSpPr/>
          <p:nvPr/>
        </p:nvSpPr>
        <p:spPr>
          <a:xfrm>
            <a:off x="5138928" y="3566160"/>
            <a:ext cx="2194560" cy="120700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Did you like it?</a:t>
            </a:r>
            <a:endParaRPr lang="en-US" sz="2000" dirty="0" b="1"/>
          </a:p>
        </p:txBody>
      </p:sp>
      <p:sp>
        <p:nvSpPr>
          <p:cNvPr id="22" name="Answer bg 2"/>
          <p:cNvSpPr/>
          <p:nvPr/>
        </p:nvSpPr>
        <p:spPr>
          <a:xfrm>
            <a:off x="7406640" y="3566160"/>
            <a:ext cx="45262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406640" y="3566160"/>
            <a:ext cx="452628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a:t>
            </a:r>
            <a:r>
              <a:rPr lang="en-US" sz="1800" dirty="0" b="1">
                <a:solidFill>
                  <a:srgbClr val="1B2236"/>
                </a:solidFill>
                <a:latin typeface="Lexend Deca" pitchFamily="34" charset="0"/>
                <a:ea typeface="Lexend Deca" pitchFamily="34" charset="-122"/>
                <a:cs typeface="Lexend Deca" pitchFamily="34" charset="-120"/>
              </a:rPr>
              <a:t>I thought it was</a:t>
            </a:r>
            <a:r>
              <a:rPr lang="en-US" sz="1800" dirty="0" b="1">
                <a:solidFill>
                  <a:srgbClr val="1B2236"/>
                </a:solidFill>
                <a:latin typeface="Lexend Deca" pitchFamily="34" charset="0"/>
                <a:ea typeface="Lexend Deca" pitchFamily="34" charset="-122"/>
                <a:cs typeface="Lexend Deca" pitchFamily="34" charset="-120"/>
              </a:rPr>
              <a:t> relax</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because</a:t>
            </a:r>
            <a:r>
              <a:rPr lang="en-US" sz="1800" dirty="0" b="1">
                <a:solidFill>
                  <a:srgbClr val="1B2236"/>
                </a:solidFill>
                <a:latin typeface="Lexend Deca" pitchFamily="34" charset="0"/>
                <a:ea typeface="Lexend Deca" pitchFamily="34" charset="-122"/>
                <a:cs typeface="Lexend Deca" pitchFamily="34" charset="-120"/>
              </a:rPr>
              <a:t> the music was soft.</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urprising / surprised: a gift, an arrow, a surprised fac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-ing or -ed?</a:t>
            </a:r>
            <a:endParaRPr lang="en-US" sz="26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THE THING: It was…</a:t>
            </a:r>
            <a:endParaRPr lang="en-US" sz="16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THE PERSON: I was…</a:t>
            </a:r>
            <a:endParaRPr lang="en-US" sz="1600" dirty="0" b="1"/>
          </a:p>
        </p:txBody>
      </p:sp>
      <p:sp>
        <p:nvSpPr>
          <p:cNvPr id="18" name="Question 1"/>
          <p:cNvSpPr/>
          <p:nvPr/>
        </p:nvSpPr>
        <p:spPr>
          <a:xfrm>
            <a:off x="5138928" y="2286000"/>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exciting</a:t>
            </a:r>
            <a:endParaRPr lang="en-US" sz="1900" dirty="0" b="1"/>
          </a:p>
        </p:txBody>
      </p:sp>
      <p:sp>
        <p:nvSpPr>
          <p:cNvPr id="19" name="Answer bg 1"/>
          <p:cNvSpPr/>
          <p:nvPr/>
        </p:nvSpPr>
        <p:spPr>
          <a:xfrm>
            <a:off x="7863840" y="2286000"/>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excited</a:t>
            </a:r>
            <a:endParaRPr lang="en-US" sz="1900" dirty="0" b="1"/>
          </a:p>
        </p:txBody>
      </p:sp>
      <p:sp>
        <p:nvSpPr>
          <p:cNvPr id="21" name="Question 2"/>
          <p:cNvSpPr/>
          <p:nvPr/>
        </p:nvSpPr>
        <p:spPr>
          <a:xfrm>
            <a:off x="5138928" y="2889504"/>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boring</a:t>
            </a:r>
            <a:endParaRPr lang="en-US" sz="1900" dirty="0" b="1"/>
          </a:p>
        </p:txBody>
      </p:sp>
      <p:sp>
        <p:nvSpPr>
          <p:cNvPr id="22" name="Answer bg 2"/>
          <p:cNvSpPr/>
          <p:nvPr/>
        </p:nvSpPr>
        <p:spPr>
          <a:xfrm>
            <a:off x="7863840" y="2889504"/>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2889504"/>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bored</a:t>
            </a:r>
            <a:endParaRPr lang="en-US" sz="1900" dirty="0" b="1"/>
          </a:p>
        </p:txBody>
      </p:sp>
      <p:sp>
        <p:nvSpPr>
          <p:cNvPr id="24" name="Question 3"/>
          <p:cNvSpPr/>
          <p:nvPr/>
        </p:nvSpPr>
        <p:spPr>
          <a:xfrm>
            <a:off x="5138928" y="3493008"/>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interesting</a:t>
            </a:r>
            <a:endParaRPr lang="en-US" sz="1900" dirty="0" b="1"/>
          </a:p>
        </p:txBody>
      </p:sp>
      <p:sp>
        <p:nvSpPr>
          <p:cNvPr id="25" name="Answer bg 3"/>
          <p:cNvSpPr/>
          <p:nvPr/>
        </p:nvSpPr>
        <p:spPr>
          <a:xfrm>
            <a:off x="7863840" y="3493008"/>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3493008"/>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interested</a:t>
            </a:r>
            <a:endParaRPr lang="en-US" sz="1900" dirty="0" b="1"/>
          </a:p>
        </p:txBody>
      </p:sp>
      <p:sp>
        <p:nvSpPr>
          <p:cNvPr id="27" name="Question 4"/>
          <p:cNvSpPr/>
          <p:nvPr/>
        </p:nvSpPr>
        <p:spPr>
          <a:xfrm>
            <a:off x="5138928" y="4096512"/>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confusing</a:t>
            </a:r>
            <a:endParaRPr lang="en-US" sz="1900" dirty="0" b="1"/>
          </a:p>
        </p:txBody>
      </p:sp>
      <p:sp>
        <p:nvSpPr>
          <p:cNvPr id="28" name="Answer bg 4"/>
          <p:cNvSpPr/>
          <p:nvPr/>
        </p:nvSpPr>
        <p:spPr>
          <a:xfrm>
            <a:off x="7863840" y="4096512"/>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4096512"/>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confused</a:t>
            </a:r>
            <a:endParaRPr lang="en-US" sz="1900" dirty="0" b="1"/>
          </a:p>
        </p:txBody>
      </p:sp>
      <p:sp>
        <p:nvSpPr>
          <p:cNvPr id="30" name="Question 5"/>
          <p:cNvSpPr/>
          <p:nvPr/>
        </p:nvSpPr>
        <p:spPr>
          <a:xfrm>
            <a:off x="5138928" y="4700016"/>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relaxing</a:t>
            </a:r>
            <a:endParaRPr lang="en-US" sz="1900" dirty="0" b="1"/>
          </a:p>
        </p:txBody>
      </p:sp>
      <p:sp>
        <p:nvSpPr>
          <p:cNvPr id="31" name="Answer bg 5"/>
          <p:cNvSpPr/>
          <p:nvPr/>
        </p:nvSpPr>
        <p:spPr>
          <a:xfrm>
            <a:off x="7863840" y="4700016"/>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7863840" y="4700016"/>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relaxed</a:t>
            </a:r>
            <a:endParaRPr lang="en-US" sz="1900" dirty="0" b="1"/>
          </a:p>
        </p:txBody>
      </p:sp>
      <p:sp>
        <p:nvSpPr>
          <p:cNvPr id="33" name="Question 6"/>
          <p:cNvSpPr/>
          <p:nvPr/>
        </p:nvSpPr>
        <p:spPr>
          <a:xfrm>
            <a:off x="5138928" y="5303520"/>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tiring</a:t>
            </a:r>
            <a:endParaRPr lang="en-US" sz="1900" dirty="0" b="1"/>
          </a:p>
        </p:txBody>
      </p:sp>
      <p:sp>
        <p:nvSpPr>
          <p:cNvPr id="34" name="Answer bg 6"/>
          <p:cNvSpPr/>
          <p:nvPr/>
        </p:nvSpPr>
        <p:spPr>
          <a:xfrm>
            <a:off x="7863840" y="5303520"/>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7863840" y="5303520"/>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tired</a:t>
            </a:r>
            <a:endParaRPr lang="en-US" sz="1900" dirty="0" b="1"/>
          </a:p>
        </p:txBody>
      </p:sp>
      <p:sp>
        <p:nvSpPr>
          <p:cNvPr id="36" name="Question 7"/>
          <p:cNvSpPr/>
          <p:nvPr/>
        </p:nvSpPr>
        <p:spPr>
          <a:xfrm>
            <a:off x="5138928" y="5907024"/>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surprising</a:t>
            </a:r>
            <a:endParaRPr lang="en-US" sz="1900" dirty="0" b="1"/>
          </a:p>
        </p:txBody>
      </p:sp>
      <p:sp>
        <p:nvSpPr>
          <p:cNvPr id="37" name="Answer bg 7"/>
          <p:cNvSpPr/>
          <p:nvPr/>
        </p:nvSpPr>
        <p:spPr>
          <a:xfrm>
            <a:off x="7863840" y="5907024"/>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8" name="Answer 7"/>
          <p:cNvSpPr/>
          <p:nvPr/>
        </p:nvSpPr>
        <p:spPr>
          <a:xfrm>
            <a:off x="7863840" y="5907024"/>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surprised</a:t>
            </a:r>
            <a:endParaRPr lang="en-US" sz="19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0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 write -ing or -ed.</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thing: -ing  ·  the feeling: -ed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Write -ing or -ed.</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class was very bor____. Everyone was sleepy.</a:t>
            </a:r>
            <a:endParaRPr lang="en-US" sz="1800" dirty="0"/>
          </a:p>
        </p:txBody>
      </p:sp>
      <p:sp>
        <p:nvSpPr>
          <p:cNvPr id="35" name="R1 ans"/>
          <p:cNvSpPr/>
          <p:nvPr/>
        </p:nvSpPr>
        <p:spPr>
          <a:xfrm>
            <a:off x="6108192" y="2222144"/>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boring</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was bor____, so I went home.</a:t>
            </a:r>
            <a:endParaRPr lang="en-US" sz="1800" dirty="0"/>
          </a:p>
        </p:txBody>
      </p:sp>
      <p:sp>
        <p:nvSpPr>
          <p:cNvPr id="40" name="R2 ans"/>
          <p:cNvSpPr/>
          <p:nvPr/>
        </p:nvSpPr>
        <p:spPr>
          <a:xfrm>
            <a:off x="6108192" y="2950312"/>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bored</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museum was interest____.</a:t>
            </a:r>
            <a:endParaRPr lang="en-US" sz="1800" dirty="0"/>
          </a:p>
        </p:txBody>
      </p:sp>
      <p:sp>
        <p:nvSpPr>
          <p:cNvPr id="45" name="R3 ans"/>
          <p:cNvSpPr/>
          <p:nvPr/>
        </p:nvSpPr>
        <p:spPr>
          <a:xfrm>
            <a:off x="6108192" y="3678479"/>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interesting</a:t>
            </a:r>
            <a:endParaRPr lang="en-US" sz="17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She was surpris____. It was her birthday party!</a:t>
            </a:r>
            <a:endParaRPr lang="en-US" sz="1800" dirty="0"/>
          </a:p>
        </p:txBody>
      </p:sp>
      <p:sp>
        <p:nvSpPr>
          <p:cNvPr id="50" name="R4 ans"/>
          <p:cNvSpPr/>
          <p:nvPr/>
        </p:nvSpPr>
        <p:spPr>
          <a:xfrm>
            <a:off x="6108192" y="4406646"/>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surprised</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Work was tir____ today. I worked 10 hours.</a:t>
            </a:r>
            <a:endParaRPr lang="en-US" sz="1800" dirty="0"/>
          </a:p>
        </p:txBody>
      </p:sp>
      <p:sp>
        <p:nvSpPr>
          <p:cNvPr id="55" name="R5 ans"/>
          <p:cNvSpPr/>
          <p:nvPr/>
        </p:nvSpPr>
        <p:spPr>
          <a:xfrm>
            <a:off x="6108192" y="5134813"/>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tiring</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map was hard. I was confus____.</a:t>
            </a:r>
            <a:endParaRPr lang="en-US" sz="1800" dirty="0"/>
          </a:p>
        </p:txBody>
      </p:sp>
      <p:sp>
        <p:nvSpPr>
          <p:cNvPr id="60" name="R6 ans"/>
          <p:cNvSpPr/>
          <p:nvPr/>
        </p:nvSpPr>
        <p:spPr>
          <a:xfrm>
            <a:off x="6108192" y="5862980"/>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confused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right word.</a:t>
            </a:r>
            <a:endParaRPr lang="en-US" sz="2000" dirty="0"/>
          </a:p>
        </p:txBody>
      </p:sp>
      <p:sp>
        <p:nvSpPr>
          <p:cNvPr id="8" name="R1 stmt"/>
          <p:cNvSpPr/>
          <p:nvPr/>
        </p:nvSpPr>
        <p:spPr>
          <a:xfrm>
            <a:off x="502920" y="3108960"/>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1. The soccer game was ____.</a:t>
            </a:r>
            <a:endParaRPr lang="en-US" sz="2000" dirty="0"/>
          </a:p>
        </p:txBody>
      </p:sp>
      <p:sp>
        <p:nvSpPr>
          <p:cNvPr id="9" name="R1 opt1"/>
          <p:cNvSpPr/>
          <p:nvPr/>
        </p:nvSpPr>
        <p:spPr>
          <a:xfrm>
            <a:off x="726948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exciting</a:t>
            </a:r>
            <a:endParaRPr lang="en-US" sz="1600" dirty="0" b="1"/>
          </a:p>
        </p:txBody>
      </p:sp>
      <p:sp>
        <p:nvSpPr>
          <p:cNvPr id="10" name="R1 opt2"/>
          <p:cNvSpPr/>
          <p:nvPr/>
        </p:nvSpPr>
        <p:spPr>
          <a:xfrm>
            <a:off x="923544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excited</a:t>
            </a:r>
            <a:endParaRPr lang="en-US" sz="1600" dirty="0" b="1"/>
          </a:p>
        </p:txBody>
      </p:sp>
      <p:sp>
        <p:nvSpPr>
          <p:cNvPr id="11" name="R1 circle"/>
          <p:cNvSpPr/>
          <p:nvPr/>
        </p:nvSpPr>
        <p:spPr>
          <a:xfrm>
            <a:off x="7141464" y="3054096"/>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767328"/>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2. The kids were ____.</a:t>
            </a:r>
            <a:endParaRPr lang="en-US" sz="2000" dirty="0"/>
          </a:p>
        </p:txBody>
      </p:sp>
      <p:sp>
        <p:nvSpPr>
          <p:cNvPr id="13" name="R2 opt1"/>
          <p:cNvSpPr/>
          <p:nvPr/>
        </p:nvSpPr>
        <p:spPr>
          <a:xfrm>
            <a:off x="726948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exciting</a:t>
            </a:r>
            <a:endParaRPr lang="en-US" sz="1600" dirty="0" b="1"/>
          </a:p>
        </p:txBody>
      </p:sp>
      <p:sp>
        <p:nvSpPr>
          <p:cNvPr id="14" name="R2 opt2"/>
          <p:cNvSpPr/>
          <p:nvPr/>
        </p:nvSpPr>
        <p:spPr>
          <a:xfrm>
            <a:off x="923544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excited</a:t>
            </a:r>
            <a:endParaRPr lang="en-US" sz="1600" dirty="0" b="1"/>
          </a:p>
        </p:txBody>
      </p:sp>
      <p:sp>
        <p:nvSpPr>
          <p:cNvPr id="15" name="R2 circle"/>
          <p:cNvSpPr/>
          <p:nvPr/>
        </p:nvSpPr>
        <p:spPr>
          <a:xfrm>
            <a:off x="9107424" y="3712464"/>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425696"/>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3. Are you ____ in art?</a:t>
            </a:r>
            <a:endParaRPr lang="en-US" sz="2000" dirty="0"/>
          </a:p>
        </p:txBody>
      </p:sp>
      <p:sp>
        <p:nvSpPr>
          <p:cNvPr id="17" name="R3 opt1"/>
          <p:cNvSpPr/>
          <p:nvPr/>
        </p:nvSpPr>
        <p:spPr>
          <a:xfrm>
            <a:off x="726948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interesting</a:t>
            </a:r>
            <a:endParaRPr lang="en-US" sz="1600" dirty="0" b="1"/>
          </a:p>
        </p:txBody>
      </p:sp>
      <p:sp>
        <p:nvSpPr>
          <p:cNvPr id="18" name="R3 opt2"/>
          <p:cNvSpPr/>
          <p:nvPr/>
        </p:nvSpPr>
        <p:spPr>
          <a:xfrm>
            <a:off x="923544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interested</a:t>
            </a:r>
            <a:endParaRPr lang="en-US" sz="1600" dirty="0" b="1"/>
          </a:p>
        </p:txBody>
      </p:sp>
      <p:sp>
        <p:nvSpPr>
          <p:cNvPr id="19" name="R3 circle"/>
          <p:cNvSpPr/>
          <p:nvPr/>
        </p:nvSpPr>
        <p:spPr>
          <a:xfrm>
            <a:off x="9107424" y="4370832"/>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5084064"/>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4. The instructions were ____.</a:t>
            </a:r>
            <a:endParaRPr lang="en-US" sz="2000" dirty="0"/>
          </a:p>
        </p:txBody>
      </p:sp>
      <p:sp>
        <p:nvSpPr>
          <p:cNvPr id="21" name="R4 opt1"/>
          <p:cNvSpPr/>
          <p:nvPr/>
        </p:nvSpPr>
        <p:spPr>
          <a:xfrm>
            <a:off x="726948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confusing</a:t>
            </a:r>
            <a:endParaRPr lang="en-US" sz="1600" dirty="0" b="1"/>
          </a:p>
        </p:txBody>
      </p:sp>
      <p:sp>
        <p:nvSpPr>
          <p:cNvPr id="22" name="R4 opt2"/>
          <p:cNvSpPr/>
          <p:nvPr/>
        </p:nvSpPr>
        <p:spPr>
          <a:xfrm>
            <a:off x="923544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confused</a:t>
            </a:r>
            <a:endParaRPr lang="en-US" sz="1600" dirty="0" b="1"/>
          </a:p>
        </p:txBody>
      </p:sp>
      <p:sp>
        <p:nvSpPr>
          <p:cNvPr id="23" name="R4 circle"/>
          <p:cNvSpPr/>
          <p:nvPr/>
        </p:nvSpPr>
        <p:spPr>
          <a:xfrm>
            <a:off x="7141464" y="5029200"/>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742432"/>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5. After the beach, I felt ____.</a:t>
            </a:r>
            <a:endParaRPr lang="en-US" sz="2000" dirty="0"/>
          </a:p>
        </p:txBody>
      </p:sp>
      <p:sp>
        <p:nvSpPr>
          <p:cNvPr id="25" name="R5 opt1"/>
          <p:cNvSpPr/>
          <p:nvPr/>
        </p:nvSpPr>
        <p:spPr>
          <a:xfrm>
            <a:off x="726948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relaxing</a:t>
            </a:r>
            <a:endParaRPr lang="en-US" sz="1600" dirty="0" b="1"/>
          </a:p>
        </p:txBody>
      </p:sp>
      <p:sp>
        <p:nvSpPr>
          <p:cNvPr id="26" name="R5 opt2"/>
          <p:cNvSpPr/>
          <p:nvPr/>
        </p:nvSpPr>
        <p:spPr>
          <a:xfrm>
            <a:off x="923544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relaxed</a:t>
            </a:r>
            <a:endParaRPr lang="en-US" sz="1600" dirty="0" b="1"/>
          </a:p>
        </p:txBody>
      </p:sp>
      <p:sp>
        <p:nvSpPr>
          <p:cNvPr id="27" name="R5 circle"/>
          <p:cNvSpPr/>
          <p:nvPr/>
        </p:nvSpPr>
        <p:spPr>
          <a:xfrm>
            <a:off x="9107424" y="5687568"/>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Confusing / confused: a map, an arrow, a confused face"/>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I'm boring. (for a feeling)</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I'm </a:t>
            </a:r>
            <a:r>
              <a:rPr lang="en-US" sz="1700" dirty="0" b="1">
                <a:solidFill>
                  <a:srgbClr val="1B2236"/>
                </a:solidFill>
                <a:latin typeface="Lexend Deca" pitchFamily="34" charset="0"/>
                <a:ea typeface="Lexend Deca" pitchFamily="34" charset="-122"/>
                <a:cs typeface="Lexend Deca" pitchFamily="34" charset="-120"/>
              </a:rPr>
              <a:t>bored</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The movie was bored.</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movie was </a:t>
            </a:r>
            <a:r>
              <a:rPr lang="en-US" sz="1700" dirty="0" b="1">
                <a:solidFill>
                  <a:srgbClr val="1B2236"/>
                </a:solidFill>
                <a:latin typeface="Lexend Deca" pitchFamily="34" charset="0"/>
                <a:ea typeface="Lexend Deca" pitchFamily="34" charset="-122"/>
                <a:cs typeface="Lexend Deca" pitchFamily="34" charset="-120"/>
              </a:rPr>
              <a:t>boring</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8" name="Bad 3"/>
          <p:cNvSpPr/>
          <p:nvPr/>
        </p:nvSpPr>
        <p:spPr>
          <a:xfrm>
            <a:off x="914400" y="3602736"/>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was interesting in the museum.</a:t>
            </a:r>
            <a:endParaRPr lang="en-US" sz="1700" dirty="0"/>
          </a:p>
        </p:txBody>
      </p:sp>
      <p:sp>
        <p:nvSpPr>
          <p:cNvPr id="29" name="Good 3"/>
          <p:cNvSpPr/>
          <p:nvPr/>
        </p:nvSpPr>
        <p:spPr>
          <a:xfrm>
            <a:off x="4800600" y="3602736"/>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was </a:t>
            </a:r>
            <a:r>
              <a:rPr lang="en-US" sz="1700" dirty="0" b="1">
                <a:solidFill>
                  <a:srgbClr val="1B2236"/>
                </a:solidFill>
                <a:latin typeface="Lexend Deca" pitchFamily="34" charset="0"/>
                <a:ea typeface="Lexend Deca" pitchFamily="34" charset="-122"/>
                <a:cs typeface="Lexend Deca" pitchFamily="34" charset="-120"/>
              </a:rPr>
              <a:t>interested</a:t>
            </a:r>
            <a:r>
              <a:rPr lang="en-US" sz="1700" dirty="0" b="1">
                <a:solidFill>
                  <a:srgbClr val="1B2236"/>
                </a:solidFill>
                <a:latin typeface="Lexend Deca" pitchFamily="34" charset="0"/>
                <a:ea typeface="Lexend Deca" pitchFamily="34" charset="-122"/>
                <a:cs typeface="Lexend Deca" pitchFamily="34" charset="-120"/>
              </a:rPr>
              <a:t> in the museum.</a:t>
            </a:r>
            <a:endParaRPr lang="en-US" sz="1700" dirty="0" b="1"/>
          </a:p>
        </p:txBody>
      </p:sp>
      <p:sp>
        <p:nvSpPr>
          <p:cNvPr id="30" name="Bad 4"/>
          <p:cNvSpPr/>
          <p:nvPr/>
        </p:nvSpPr>
        <p:spPr>
          <a:xfrm>
            <a:off x="914400" y="444398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thought was confusing.</a:t>
            </a:r>
            <a:endParaRPr lang="en-US" sz="1700" dirty="0"/>
          </a:p>
        </p:txBody>
      </p:sp>
      <p:sp>
        <p:nvSpPr>
          <p:cNvPr id="31" name="Good 4"/>
          <p:cNvSpPr/>
          <p:nvPr/>
        </p:nvSpPr>
        <p:spPr>
          <a:xfrm>
            <a:off x="4800600" y="444398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thought </a:t>
            </a:r>
            <a:r>
              <a:rPr lang="en-US" sz="1700" dirty="0" b="1">
                <a:solidFill>
                  <a:srgbClr val="1B2236"/>
                </a:solidFill>
                <a:latin typeface="Lexend Deca" pitchFamily="34" charset="0"/>
                <a:ea typeface="Lexend Deca" pitchFamily="34" charset="-122"/>
                <a:cs typeface="Lexend Deca" pitchFamily="34" charset="-120"/>
              </a:rPr>
              <a:t>it</a:t>
            </a:r>
            <a:r>
              <a:rPr lang="en-US" sz="1700" dirty="0" b="1">
                <a:solidFill>
                  <a:srgbClr val="1B2236"/>
                </a:solidFill>
                <a:latin typeface="Lexend Deca" pitchFamily="34" charset="0"/>
                <a:ea typeface="Lexend Deca" pitchFamily="34" charset="-122"/>
                <a:cs typeface="Lexend Deca" pitchFamily="34" charset="-120"/>
              </a:rPr>
              <a:t> was confusing.</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Relaxing / relaxed: a beach, an arrow, a relieved face"/>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one -ing, one -ed.</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How was your weekend?</a:t>
            </a:r>
            <a:endParaRPr lang="en-US" sz="20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It was relaxing. I was relaxed.</a:t>
            </a:r>
            <a:endParaRPr lang="en-US" sz="2000" dirty="0" b="0"/>
          </a:p>
          <a:p>
            <a:pPr algn="l" indent="0" marL="0">
              <a:buNone/>
            </a:pPr>
            <a:r>
              <a:rPr lang="en-US" sz="2000" dirty="0" b="1">
                <a:solidFill>
                  <a:srgbClr val="1B2236"/>
                </a:solidFill>
                <a:latin typeface="Lexend Deca" pitchFamily="34" charset="0"/>
                <a:ea typeface="Lexend Deca" pitchFamily="34" charset="-122"/>
                <a:cs typeface="Lexend Deca" pitchFamily="34" charset="-120"/>
              </a:rPr>
              <a:t>Then switch roles.</a:t>
            </a:r>
            <a:endParaRPr lang="en-US" sz="20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asks. B answers with one -ing and one -ed word.</a:t>
            </a:r>
            <a:endParaRPr lang="en-US" sz="20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Six event cards: six numbered cards: a taco, music notes, a car, a Ferris wheel, a laptop, a soccer ball; cards, stars, text drawn"/>
          <p:cNvPicPr>
            <a:picLocks noChangeAspect="1"/>
          </p:cNvPicPr>
          <p:nvPr/>
        </p:nvPicPr>
        <p:blipFill>
          <a:blip r:embed="rId3"/>
          <a:stretch>
            <a:fillRect/>
          </a:stretch>
        </p:blipFill>
        <p:spPr>
          <a:xfrm>
            <a:off x="726034" y="3548268"/>
            <a:ext cx="3882542" cy="2458944"/>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Star Ratings</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1: 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An event card or a real event.</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tells B about an event.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How was it? How did you feel? Why?</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asks 2 follow-up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Who did you go with? Was the food good?</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gives it 1–5 stars. Switch.</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4 stars!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Fair: a Ferris wheel"/>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The Best Weekend Event</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2: groups of 3–4.</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Agree on two reasons.</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Choose the best weekend event.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For the class board.</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Agree on two reasons.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It was exciting, and it was free.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One person reports to the class.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Our best event is… because… and…</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Review (stars): a drawn review card: 4 of 5 stars, &quot;Great food! The music was fun.&quot;"/>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One with -ing and one with -ed, about the same event.</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Add a reason with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The concert was exciting, so I was excited all night.</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the sentence with -ing or -ed.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An event: 3 sentences.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Ask: What was the best event this year?</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3 steps for coffee or tea.</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endParaRPr lang="en-US" sz="1700" dirty="0" b="1"/>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how something was (It was interesting).</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how I felt (I was interested).</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give an opinion with a reason.</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write a short review.</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1. </a:t>
            </a:r>
            <a:r>
              <a:rPr lang="en-US" sz="1600" dirty="0" b="0">
                <a:solidFill>
                  <a:srgbClr val="1B2236"/>
                </a:solidFill>
                <a:latin typeface="Lexend Deca" pitchFamily="34" charset="0"/>
                <a:ea typeface="Lexend Deca" pitchFamily="34" charset="-122"/>
                <a:cs typeface="Lexend Deca" pitchFamily="34" charset="-120"/>
              </a:rPr>
              <a:t>a. The concert was not fun.   b. The concert was fun.</a:t>
            </a:r>
            <a:endParaRPr lang="en-US" sz="16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2. </a:t>
            </a:r>
            <a:r>
              <a:rPr lang="en-US" sz="1600" dirty="0" b="0">
                <a:solidFill>
                  <a:srgbClr val="1B2236"/>
                </a:solidFill>
                <a:latin typeface="Lexend Deca" pitchFamily="34" charset="0"/>
                <a:ea typeface="Lexend Deca" pitchFamily="34" charset="-122"/>
                <a:cs typeface="Lexend Deca" pitchFamily="34" charset="-120"/>
              </a:rPr>
              <a:t>a. It was surprising.   b. I felt surprised.</a:t>
            </a:r>
            <a:endParaRPr lang="en-US" sz="16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3. </a:t>
            </a:r>
            <a:r>
              <a:rPr lang="en-US" sz="1600" dirty="0" b="0">
                <a:solidFill>
                  <a:srgbClr val="1B2236"/>
                </a:solidFill>
                <a:latin typeface="Lexend Deca" pitchFamily="34" charset="0"/>
                <a:ea typeface="Lexend Deca" pitchFamily="34" charset="-122"/>
                <a:cs typeface="Lexend Deca" pitchFamily="34" charset="-120"/>
              </a:rPr>
              <a:t>a. I liked the museum.   b. I didn't like the museum.</a:t>
            </a:r>
            <a:endParaRPr lang="en-US" sz="16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4. </a:t>
            </a:r>
            <a:r>
              <a:rPr lang="en-US" sz="1600" dirty="0" b="0">
                <a:solidFill>
                  <a:srgbClr val="1B2236"/>
                </a:solidFill>
                <a:latin typeface="Lexend Deca" pitchFamily="34" charset="0"/>
                <a:ea typeface="Lexend Deca" pitchFamily="34" charset="-122"/>
                <a:cs typeface="Lexend Deca" pitchFamily="34" charset="-120"/>
              </a:rPr>
              <a:t>a. They stayed until the end.   b. They left because they were tired.</a:t>
            </a:r>
            <a:endParaRPr lang="en-US" sz="16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Relaxing / relaxed: a beach, an arrow, a relieved face">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11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something was (-ing)</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you felt (-ed)</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an opinion with a reason</a:t>
            </a:r>
            <a:endParaRPr lang="en-US" sz="2200"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Elena and Luis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11: Bored or Boring?</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