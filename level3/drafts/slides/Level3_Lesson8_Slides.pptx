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44" r:id="rId32"/>
    <p:sldId id="445" r:id="rId21"/>
    <p:sldId id="446" r:id="rId19"/>
    <p:sldId id="447" r:id="rId37"/>
    <p:sldId id="448" r:id="rId38"/>
    <p:sldId id="449" r:id="rId39"/>
    <p:sldId id="450" r:id="rId40"/>
    <p:sldId id="451" r:id="rId41"/>
    <p:sldId id="452" r:id="rId42"/>
    <p:sldId id="453" r:id="rId43"/>
    <p:sldId id="454" r:id="rId44"/>
    <p:sldId id="455" r:id="rId45"/>
    <p:sldId id="456" r:id="rId46"/>
    <p:sldId id="457" r:id="rId47"/>
    <p:sldId id="458" r:id="rId48"/>
    <p:sldId id="459" r:id="rId49"/>
    <p:sldId id="460" r:id="rId50"/>
    <p:sldId id="461" r:id="rId51"/>
    <p:sldId id="462" r:id="rId52"/>
    <p:sldId id="463" r:id="rId53"/>
    <p:sldId id="464" r:id="rId54"/>
    <p:sldId id="465" r:id="rId55"/>
    <p:sldId id="466" r:id="rId56"/>
    <p:sldId id="467" r:id="rId15"/>
    <p:sldId id="468" r:id="rId58"/>
    <p:sldId id="46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3.xml"/><Relationship Id="rId15" Type="http://schemas.openxmlformats.org/officeDocument/2006/relationships/slide" Target="slides/slide51.xml"/><Relationship Id="rId19" Type="http://schemas.openxmlformats.org/officeDocument/2006/relationships/slide" Target="slides/slide30.xml"/><Relationship Id="rId21" Type="http://schemas.openxmlformats.org/officeDocument/2006/relationships/slide" Target="slides/slide2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8.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L3_L8_listening.mp3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Course materials: © 2026 the authors, licensed under CC BY-NC-SA 4.0 (https://creativecommons.org/licenses/by-nc-sa/4.0/).</a:t>
            </a:r>
          </a:p>
          <a:p>
            <a:r>
              <a:t>Source: Level3_Lesson8.md (Picture Credits);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"Whose keys are these? They're mine." (a) • 2 "Is this your umbrella? No, it's hers." (b) • 3 "I lost a small black wallet." (a) • 4 "These gloves aren't ours. They're theirs." (b)</a:t>
            </a:r>
          </a:p>
          <a:p>
            <a:r>
              <a:t>Parts B and C: learners do them alone. Walk around and help with the instructions only. B answers: 1 Whose, 2 mine, 3 Their, 4 yours. C: answers will vary (for example I lost a big red backpack with a zipper. / It's mine. / It's Ana's.).</a:t>
            </a:r>
          </a:p>
          <a:p>
            <a:r>
              <a:t>Part D: read each "I can…" line aloud and point to the 3 faces: 😀 "I can do it." 🙂 "With a little help." 😐 "Not yet."</a:t>
            </a:r>
          </a:p>
          <a:p>
            <a:r>
              <a:t>Scoring: A /4 + B /4 + C /2 = /10. This is not a test grade. It shows who needs more help hearing possessives (A) and with the forms (B, C).</a:t>
            </a:r>
          </a:p>
          <a:p>
            <a:r>
              <a:t>Collect the pages (or check them at the start of Week 10). If behind: do the Progress Check in Week 10 at 6:00, while learners arrive.</a:t>
            </a:r>
          </a:p>
          <a:p>
            <a:r>
              <a:t>Source: Level3_Lesson8.md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Midterm check-in · 10 min. Pairs (7 pairs + 1 trio with 15 learners; 3–4 pairs with 7–8).</a:t>
            </a:r>
          </a:p>
          <a:p>
            <a:r>
              <a:t>Before class, write on the board: I'd like to… / Could I…? / May I…?</a:t>
            </a:r>
          </a:p>
          <a:p>
            <a:r>
              <a:t>Model with one learner: "What did you do last weekend?" → (answer) → "Really? How was it?" (Click to show the follow-up.)</a:t>
            </a:r>
          </a:p>
          <a:p>
            <a:r>
              <a:t>Opening Talk (6 min): learners open the Opening Talk page. A asks a card question; B answers with 2–3 sentences; A asks one follow-up. Switch after each card. The cards are on the next slide.</a:t>
            </a:r>
          </a:p>
          <a:p>
            <a:r>
              <a:t>If behind: one card only, then the check-in.</a:t>
            </a:r>
          </a:p>
          <a:p>
            <a:r>
              <a:t>Source: Level3_Lesson8.md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Whose… is this? / Whose… are these? Goal 2: mine, yours, his, hers, ours, theirs or a name + 's (It's Ana's.). Goal 3: Is this yours? → Yes, it's mine. / No, it isn't mine.</a:t>
            </a:r>
          </a:p>
          <a:p>
            <a:r>
              <a:t>Goal 4: size, color, and details (a small black wallet with a zipper). Goal 5: I was waiting for the bus when I lost it. Goal 6: read a FOUND notice, fill out a lost-item report, and write a short FOUND notice.</a:t>
            </a:r>
          </a:p>
          <a:p>
            <a:r>
              <a:t>"We check at 7:25" = the Progress Check. It is not a test grade.</a:t>
            </a:r>
          </a:p>
          <a:p>
            <a:r>
              <a:t>Source: Level3_Lesson8.md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 This is Lesson 8 (Week 9), the first class after the midterm.</a:t>
            </a:r>
          </a:p>
          <a:p>
            <a:r>
              <a:t>Point to the title and read it: "Lost and found." Say: "Tonight we talk about things people lose, and whose things they are."</a:t>
            </a:r>
          </a:p>
          <a:p>
            <a:r>
              <a:t>Read the three lines under "Today you will". Give one quick example of each: "Whose keys are these?" • "It's mine. / It's Ana's." • "It's a small black wallet with a zipper."</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Source: Level3_Lesson8.md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Midterm check-in (4 min, last click): give back the midterms (if they are marked). Partners say one thing that was easy and one thing that was hard (The listening was easy. Part C was hard, because…). Write 2 common errors from the midterm on the board and correct them together.</a:t>
            </a:r>
          </a:p>
          <a:p>
            <a:r>
              <a:t>Source: Level3_Lesson8.md (Step 1; Opening Talk page: cards, follow-ups, midterm check-in).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Look for your keys in your pockets: "Where are my keys? I lost them!"</a:t>
            </a:r>
          </a:p>
          <a:p>
            <a:r>
              <a:t>If behind: teach the ★ words only.</a:t>
            </a:r>
          </a:p>
          <a:p>
            <a:r>
              <a:t>Source: Level3_Lesson8.md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 Put on imaginary gloves and a scarf.</a:t>
            </a:r>
          </a:p>
          <a:p>
            <a:r>
              <a:t>Show belong to: hold up your own pen. "This pen belongs to me. It's mine." Point to a learner's book (don't take it): "That book belongs to you. It's yours."</a:t>
            </a:r>
          </a:p>
          <a:p>
            <a:r>
              <a:t>Partner game (2 min): A says a word. B points to the picture and makes a sentence (A: umbrella. B: My umbrella is black. It's small.). Switch.</a:t>
            </a:r>
          </a:p>
          <a:p>
            <a:r>
              <a:t>If behind: teach the ★ words only.</a:t>
            </a:r>
          </a:p>
          <a:p>
            <a:r>
              <a:t>Source: Level3_Lesson8.md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"Where do you keep money?" (a wallet / a purse) • 2. "You listen to music with…?" (headphones) • 3. "At the bus station, where do they keep lost things?" (the lost and found)</a:t>
            </a:r>
          </a:p>
          <a:p>
            <a:r>
              <a:t>Source: Level3_Lesson8.md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"David lost something on the bus. He's calling the lost and found. What did he lose? Listen."</a:t>
            </a:r>
          </a:p>
          <a:p>
            <a:r>
              <a:t>There are three voices: a Narrator, Joan (the lost and found at City Bus), and David. Each click highlights the next voice.</a:t>
            </a:r>
          </a:p>
          <a:p>
            <a:r>
              <a:t>The audio (L3_L8_listening.mp3, about 1:15) plays the conversation once. Press play again for play 2. A third play is fine if the class needs it.</a:t>
            </a:r>
          </a:p>
          <a:p>
            <a:r>
              <a:t>No speaker? Read the script with a volunteer at a normal, friendly speed.</a:t>
            </a:r>
          </a:p>
          <a:p>
            <a:r>
              <a:t>Audio: L3_L8_listening.mp3 (about 1:15) is not recorded yet (see level3/AUDIO_STATUS.md). It will use computer-generated voices (Chatterbox TTS cloned from synthetic Kokoro-82M reference clips); no recordings of real people. Until the file is ready, read the listening script with a volunteer. The names and the story are invented.</a:t>
            </a:r>
          </a:p>
          <a:p>
            <a:r>
              <a:t>Source: Level3_Lesson8.md (Step 3; Listening script; Listening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(what did he lose?). Pairs compare. Check together.</a:t>
            </a:r>
          </a:p>
          <a:p>
            <a:r>
              <a:t>Click to show the answer: b (a backpack).</a:t>
            </a:r>
          </a:p>
          <a:p>
            <a:r>
              <a:t>Then read Tasks B and C together (1 min) so learners know what to listen for.</a:t>
            </a:r>
          </a:p>
          <a:p>
            <a:r>
              <a:t>Source: Level3_Lesson8.md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item, 1 to 5): 1 blue • 2 big • 3 ✓ headphones, ✓ a scarf, ✓ gloves, ✗ a wallet, ✗ keys • 4 Park Street • 5 5:00.</a:t>
            </a:r>
          </a:p>
          <a:p>
            <a:r>
              <a:t>Source: Level3_Lesson8.md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5): 1 his, 2 mine, 3 yours, 4 mine, 5 mine.</a:t>
            </a:r>
          </a:p>
          <a:p>
            <a:r>
              <a:t>If behind: do Task C together on the board, reading the lines yourself.</a:t>
            </a:r>
          </a:p>
          <a:p>
            <a:r>
              <a:t>Source: Level3_Lesson8.md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"yours, hers, ours, theirs end with a z sound." Read them; the class repeats.</a:t>
            </a:r>
          </a:p>
          <a:p>
            <a:r>
              <a:t>Then: "Whose and who's sound the same: hooz." Read the line in the "Say it" box (Whose bag is this?). The class repeats each line twice.</a:t>
            </a:r>
          </a:p>
          <a:p>
            <a:r>
              <a:t>Whose = which person owns it (Whose bag is this?). Who's = who is (Who's that?).</a:t>
            </a:r>
          </a:p>
          <a:p>
            <a:r>
              <a:t>Source: Level3_Lesson8.md (Step 3: "Say it"; Listening page: Say it; Teacher notes: Whose and who's).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The left side is the question. The right side is the answer.</a:t>
            </a:r>
          </a:p>
          <a:p>
            <a:r>
              <a:t>Show it (2 min): put three things on your desk: your pen, a cup, a book. Point to the pen: "Whose pen is this? It's my pen. It's mine." Give the cup to a woman: "It's her cup. It's hers." Give the book to a man: "It's his."</a:t>
            </a:r>
          </a:p>
          <a:p>
            <a:r>
              <a:t>Boxes 1 and 2 (4 min): read a question from the left; the class answers from the right. Point out is this / are these (one / more than one). Each click shows the answer side of one row.</a:t>
            </a:r>
          </a:p>
          <a:p>
            <a:r>
              <a:t>Source: Level3_Lesson8.md (Step 4; Grammar Box 1).</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Is this yours? Read across. Each click shows the answer side of one row.</a:t>
            </a:r>
          </a:p>
          <a:p>
            <a:r>
              <a:t>No the: It's mine (not It's the mine). No apostrophe: yours, hers, ours, theirs (not your's).</a:t>
            </a:r>
          </a:p>
          <a:p>
            <a:r>
              <a:t>Source: Level3_Lesson8.md (Step 4; Grammar Box 2; Teacher notes: No the).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(2 min): read across: my bag → mine. In each pair, the first column needs a noun; the second stands alone. Each click shows one row.</a:t>
            </a:r>
          </a:p>
          <a:p>
            <a:r>
              <a:t>my, your, his, her, our, their need a noun (my bag). mine, yours, his, hers, ours, theirs stand alone (It's mine). his is the same in both.</a:t>
            </a:r>
          </a:p>
          <a:p>
            <a:r>
              <a:t>Source: Level3_Lesson8.md (Step 4; Grammar Box 3; Teacher notes: Two kinds of words).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(2 min): describing: size → color → item → with… Hold up something: "It's a small blue pen with a cap." Each click shows the detail of one row.</a:t>
            </a:r>
          </a:p>
          <a:p>
            <a:r>
              <a:t>Describing order: size → color → item → with… (a small black wallet with a zipper). Don't teach a long rule; this one order is enough.</a:t>
            </a:r>
          </a:p>
          <a:p>
            <a:r>
              <a:t>Check questions: "This is my book. It's ___." (mine) • "___ keys are these?" (Whose) • "It's her umbrella. It's ___." (hers) • "a ___ wallet: black / small" (small black)</a:t>
            </a:r>
          </a:p>
          <a:p>
            <a:r>
              <a:t>Source: Level3_Lesson8.md (Step 4; Grammar Box 4; Teacher notes: Describing order).</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mine, 2 hers, 3 ours, 4 yours, 5 theirs, 6 his.</a:t>
            </a:r>
          </a:p>
          <a:p>
            <a:r>
              <a:t>Source: Level3_Lesson8.md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circle each answer (one click per item, 1 to 5): 1 Whose, 2 mine, 3 your, 4 hers, 5 small black.</a:t>
            </a:r>
          </a:p>
          <a:p>
            <a:r>
              <a:t>Source: Level3_Lesson8.md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1: no the before mine • 2: yours stands alone • 3: Whose = which person owns it • 4: color before the item. Also listen for It's mine bag and his for a woman (It's Maria's. It's hers.).</a:t>
            </a:r>
          </a:p>
          <a:p>
            <a:r>
              <a:t>Say the right form clearly; the learner repeats. Learners can read the Spanish note and the tip on their Grammar page themselves; you don't need to explain them.</a:t>
            </a:r>
          </a:p>
          <a:p>
            <a:r>
              <a:t>Source: Level3_Lesson8.md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points to something in a picture on the New Words page: "Whose ___ is this?" B answers with a pronoun or a classmate's name + 's. Switch.</a:t>
            </a:r>
          </a:p>
          <a:p>
            <a:r>
              <a:t>If behind: skip the pair drill. Talk Time practices it.</a:t>
            </a:r>
          </a:p>
          <a:p>
            <a:r>
              <a:t>Source: Level3_Lesson8.md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The Lost and Found Box · 12 min.</a:t>
            </a:r>
          </a:p>
          <a:p>
            <a:r>
              <a:t>Round 1 (7 min): each owner takes an Owner Card (the teacher gives one number, 1–8; use the cards in order). The owner fills in the short lost-item form on the card. Then the owner describes the item to the clerk. The clerk looks at the Lost and Found picture and asks Is this yours? (pointing to a number). The owner answers. Then switch with a new card. Each click shows the next step.</a:t>
            </a:r>
          </a:p>
          <a:p>
            <a:r>
              <a:t>Model with one learner (1 min): you are the owner with card 1: "I lost my backpack. It's big and blue." The learner points: "Is number 1 yours?" → "Yes, it's mine! Thank you!"</a:t>
            </a:r>
          </a:p>
          <a:p>
            <a:r>
              <a:t>Answers (Owner Card → picture number): 1 → 1 (big blue backpack) • 2 → 4 (red umbrella) • 3 → 6 (keys with a heart) • 4 → 10 (brown wallet) • 5 → 12 (green scarf) • 6 → 8 (glasses with blue lenses) • 7 → 2 (small red backpack) • 8 → 9 (black wallet). Items 3, 5, 7, and 11 have no owner.</a:t>
            </a:r>
          </a:p>
          <a:p>
            <a:r>
              <a:t>Useful: Whose… is this? Is this yours? What color is it? Is it big or small? Does it have…?</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Source: Level3_Lesson8.md (Step 5; Talk Time pages; Answer key).</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(4 min): each person keeps their last Owner Card. The group looks at the picture together and says whose each item is: Number 3 is Maria's. It's hers. Number 9 is mine. If no one has the card, say It isn't ours. Maybe it's theirs (another group's). Each click shows the next step.</a:t>
            </a:r>
          </a:p>
          <a:p>
            <a:r>
              <a:t>Round 2: answers will vary. Mixed levels: stronger learners add when and where they lost the item with the past continuous. Newer learners use Boxes 1 and 2 as a script.</a:t>
            </a:r>
          </a:p>
          <a:p>
            <a:r>
              <a:t>If behind: Round 1 only.</a:t>
            </a:r>
          </a:p>
          <a:p>
            <a:r>
              <a:t>Source: Level3_Lesson8.md (Step 5; Talk Time: Owner Cards, Round 2; Teacher notes: Mixed levels).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a possessive pronoun (This umbrella isn't mine. It's hers.), and one about losing something with when and because or so (I was waiting for the bus when I lost my keys, so I called the lost and found.). Collect at the door.</a:t>
            </a:r>
          </a:p>
          <a:p>
            <a:r>
              <a:t>Homework: open the Homework page. Do item 1 together (one sentence on the board). Say: "About 15 minutes. Bring it next week."</a:t>
            </a:r>
          </a:p>
          <a:p>
            <a:r>
              <a:t>Homework items: 1 write the sentence again with mine, yours, his, hers, ours, or theirs • 2 describe 2 things (size → color → item → with…) • 3 at home, find 3 things and write whose they are • 4 review (Lesson 7): 2 sentences with I'd like to… and because.</a:t>
            </a:r>
          </a:p>
          <a:p>
            <a:r>
              <a:t>Read &amp; Write (7:17–7:25, on the Student Pages): a FOUND notice and a lost-item report; questions 1–5; then a short FOUND notice. Say: "Invent a first name and use a 555 phone number." If behind: questions 1–5 only; the notice becomes homework.</a:t>
            </a:r>
          </a:p>
          <a:p>
            <a:r>
              <a:t>Source: Level3_Lesson8.md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Hold up your pen: "Whose pen is this?" Wait for "It's yours."</a:t>
            </a:r>
          </a:p>
          <a:p>
            <a:r>
              <a:t>Remind learners: homework is about 15 minutes. Bring it next week.</a:t>
            </a:r>
          </a:p>
          <a:p>
            <a:r>
              <a:t>Source: Level3_Lesson8.md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2.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28.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Lost and found: a drawn box &quot;LOST &amp; FOUND&quot; with an umbrella, a backpack, a scarf">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Lost and Found</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six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use picture cards.</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1383487"/>
            <a:ext cx="6227064" cy="983894"/>
          </a:xfrm>
          <a:prstGeom prst="round1Rect">
            <a:avLst>
              <a:gd name="adj" fmla="val 23087"/>
            </a:avLst>
          </a:prstGeom>
          <a:solidFill>
            <a:srgbClr val="8FAFE3"/>
          </a:solidFill>
          <a:ln/>
        </p:spPr>
        <p:txBody>
          <a:bodyPr/>
          <a:p/>
        </p:txBody>
      </p:sp>
      <p:sp>
        <p:nvSpPr>
          <p:cNvPr id="32" name="R1 card"/>
          <p:cNvSpPr/>
          <p:nvPr/>
        </p:nvSpPr>
        <p:spPr>
          <a:xfrm>
            <a:off x="1583741" y="1325880"/>
            <a:ext cx="5130698" cy="983894"/>
          </a:xfrm>
          <a:prstGeom prst="round1Rect">
            <a:avLst>
              <a:gd name="adj" fmla="val 23087"/>
            </a:avLst>
          </a:prstGeom>
          <a:solidFill>
            <a:srgbClr val="FFFFFF"/>
          </a:solidFill>
          <a:ln/>
        </p:spPr>
        <p:txBody>
          <a:bodyPr/>
          <a:p/>
        </p:txBody>
      </p:sp>
      <p:sp>
        <p:nvSpPr>
          <p:cNvPr id="33" name="R1 chip"/>
          <p:cNvSpPr/>
          <p:nvPr/>
        </p:nvSpPr>
        <p:spPr>
          <a:xfrm>
            <a:off x="544982" y="1325880"/>
            <a:ext cx="1039673" cy="983894"/>
          </a:xfrm>
          <a:prstGeom prst="rect">
            <a:avLst/>
          </a:prstGeom>
          <a:solidFill>
            <a:srgbClr val="B9D2F7"/>
          </a:solidFill>
          <a:ln/>
        </p:spPr>
        <p:txBody>
          <a:bodyPr/>
          <a:p/>
        </p:txBody>
      </p:sp>
      <p:sp>
        <p:nvSpPr>
          <p:cNvPr id="34" name="R1 num"/>
          <p:cNvSpPr/>
          <p:nvPr/>
        </p:nvSpPr>
        <p:spPr>
          <a:xfrm>
            <a:off x="686714" y="1494587"/>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1393546"/>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ask Whose… is this?</a:t>
            </a:r>
            <a:endParaRPr lang="en-US" sz="2000" dirty="0" b="1"/>
          </a:p>
        </p:txBody>
      </p:sp>
      <p:sp>
        <p:nvSpPr>
          <p:cNvPr id="36" name="R1 sub"/>
          <p:cNvSpPr/>
          <p:nvPr/>
        </p:nvSpPr>
        <p:spPr>
          <a:xfrm>
            <a:off x="1901952" y="1795882"/>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Whose keys are these?</a:t>
            </a:r>
            <a:endParaRPr lang="en-US" sz="2000" dirty="0"/>
          </a:p>
        </p:txBody>
      </p:sp>
      <p:sp>
        <p:nvSpPr>
          <p:cNvPr id="37" name="R1 dot"/>
          <p:cNvSpPr/>
          <p:nvPr/>
        </p:nvSpPr>
        <p:spPr>
          <a:xfrm rot="10800000">
            <a:off x="6361481" y="1459382"/>
            <a:ext cx="88697" cy="76810"/>
          </a:xfrm>
          <a:prstGeom prst="triangle">
            <a:avLst/>
          </a:prstGeom>
          <a:solidFill>
            <a:srgbClr val="8FAFE3"/>
          </a:solidFill>
          <a:ln/>
        </p:spPr>
        <p:txBody>
          <a:bodyPr/>
          <a:p/>
        </p:txBody>
      </p:sp>
      <p:sp>
        <p:nvSpPr>
          <p:cNvPr id="38" name="R2 card"/>
          <p:cNvSpPr/>
          <p:nvPr/>
        </p:nvSpPr>
        <p:spPr>
          <a:xfrm>
            <a:off x="1583741" y="2418588"/>
            <a:ext cx="5130698" cy="602590"/>
          </a:xfrm>
          <a:prstGeom prst="round1Rect">
            <a:avLst>
              <a:gd name="adj" fmla="val 23087"/>
            </a:avLst>
          </a:prstGeom>
          <a:solidFill>
            <a:srgbClr val="FFFFFF"/>
          </a:solidFill>
          <a:ln/>
        </p:spPr>
        <p:txBody>
          <a:bodyPr/>
          <a:p/>
        </p:txBody>
      </p:sp>
      <p:sp>
        <p:nvSpPr>
          <p:cNvPr id="39" name="R2 chip"/>
          <p:cNvSpPr/>
          <p:nvPr/>
        </p:nvSpPr>
        <p:spPr>
          <a:xfrm>
            <a:off x="544982" y="2418588"/>
            <a:ext cx="1039673" cy="602590"/>
          </a:xfrm>
          <a:prstGeom prst="rect">
            <a:avLst/>
          </a:prstGeom>
          <a:solidFill>
            <a:srgbClr val="B9D2F7"/>
          </a:solidFill>
          <a:ln/>
        </p:spPr>
        <p:txBody>
          <a:bodyPr/>
          <a:p/>
        </p:txBody>
      </p:sp>
      <p:sp>
        <p:nvSpPr>
          <p:cNvPr id="40" name="R2 num"/>
          <p:cNvSpPr/>
          <p:nvPr/>
        </p:nvSpPr>
        <p:spPr>
          <a:xfrm>
            <a:off x="686714" y="241858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241858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mine, yours, hers, or Ana's.</a:t>
            </a:r>
            <a:endParaRPr lang="en-US" sz="1800" dirty="0"/>
          </a:p>
        </p:txBody>
      </p:sp>
      <p:sp>
        <p:nvSpPr>
          <p:cNvPr id="42" name="R2 dot"/>
          <p:cNvSpPr/>
          <p:nvPr/>
        </p:nvSpPr>
        <p:spPr>
          <a:xfrm rot="10800000">
            <a:off x="6361481" y="2552090"/>
            <a:ext cx="88697" cy="76810"/>
          </a:xfrm>
          <a:prstGeom prst="triangle">
            <a:avLst/>
          </a:prstGeom>
          <a:solidFill>
            <a:srgbClr val="8FAFE3"/>
          </a:solidFill>
          <a:ln/>
        </p:spPr>
        <p:txBody>
          <a:bodyPr/>
          <a:p/>
        </p:txBody>
      </p:sp>
      <p:sp>
        <p:nvSpPr>
          <p:cNvPr id="43" name="R3 card"/>
          <p:cNvSpPr/>
          <p:nvPr/>
        </p:nvSpPr>
        <p:spPr>
          <a:xfrm>
            <a:off x="1583741" y="3129991"/>
            <a:ext cx="5130698" cy="602590"/>
          </a:xfrm>
          <a:prstGeom prst="round1Rect">
            <a:avLst>
              <a:gd name="adj" fmla="val 23087"/>
            </a:avLst>
          </a:prstGeom>
          <a:solidFill>
            <a:srgbClr val="FFFFFF"/>
          </a:solidFill>
          <a:ln/>
        </p:spPr>
        <p:txBody>
          <a:bodyPr/>
          <a:p/>
        </p:txBody>
      </p:sp>
      <p:sp>
        <p:nvSpPr>
          <p:cNvPr id="44" name="R3 chip"/>
          <p:cNvSpPr/>
          <p:nvPr/>
        </p:nvSpPr>
        <p:spPr>
          <a:xfrm>
            <a:off x="544982" y="3129991"/>
            <a:ext cx="1039673" cy="602590"/>
          </a:xfrm>
          <a:prstGeom prst="rect">
            <a:avLst/>
          </a:prstGeom>
          <a:solidFill>
            <a:srgbClr val="B9D2F7"/>
          </a:solidFill>
          <a:ln/>
        </p:spPr>
        <p:txBody>
          <a:bodyPr/>
          <a:p/>
        </p:txBody>
      </p:sp>
      <p:sp>
        <p:nvSpPr>
          <p:cNvPr id="45" name="R3 num"/>
          <p:cNvSpPr/>
          <p:nvPr/>
        </p:nvSpPr>
        <p:spPr>
          <a:xfrm>
            <a:off x="686714" y="312999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12999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ask Is this yours? → Yes, it's mine.</a:t>
            </a:r>
            <a:endParaRPr lang="en-US" sz="1800" dirty="0"/>
          </a:p>
        </p:txBody>
      </p:sp>
      <p:sp>
        <p:nvSpPr>
          <p:cNvPr id="47" name="R3 dot"/>
          <p:cNvSpPr/>
          <p:nvPr/>
        </p:nvSpPr>
        <p:spPr>
          <a:xfrm rot="10800000">
            <a:off x="6361481" y="3263494"/>
            <a:ext cx="88697" cy="76810"/>
          </a:xfrm>
          <a:prstGeom prst="triangle">
            <a:avLst/>
          </a:prstGeom>
          <a:solidFill>
            <a:srgbClr val="8FAFE3"/>
          </a:solidFill>
          <a:ln/>
        </p:spPr>
        <p:txBody>
          <a:bodyPr/>
          <a:p/>
        </p:txBody>
      </p:sp>
      <p:sp>
        <p:nvSpPr>
          <p:cNvPr id="48" name="R4 card"/>
          <p:cNvSpPr/>
          <p:nvPr/>
        </p:nvSpPr>
        <p:spPr>
          <a:xfrm>
            <a:off x="1583741" y="3841394"/>
            <a:ext cx="5130698" cy="602590"/>
          </a:xfrm>
          <a:prstGeom prst="round1Rect">
            <a:avLst>
              <a:gd name="adj" fmla="val 23087"/>
            </a:avLst>
          </a:prstGeom>
          <a:solidFill>
            <a:srgbClr val="FFFFFF"/>
          </a:solidFill>
          <a:ln/>
        </p:spPr>
        <p:txBody>
          <a:bodyPr/>
          <a:p/>
        </p:txBody>
      </p:sp>
      <p:sp>
        <p:nvSpPr>
          <p:cNvPr id="49" name="R4 chip"/>
          <p:cNvSpPr/>
          <p:nvPr/>
        </p:nvSpPr>
        <p:spPr>
          <a:xfrm>
            <a:off x="544982" y="3841394"/>
            <a:ext cx="1039673" cy="602590"/>
          </a:xfrm>
          <a:prstGeom prst="rect">
            <a:avLst/>
          </a:prstGeom>
          <a:solidFill>
            <a:srgbClr val="B9D2F7"/>
          </a:solidFill>
          <a:ln/>
        </p:spPr>
        <p:txBody>
          <a:bodyPr/>
          <a:p/>
        </p:txBody>
      </p:sp>
      <p:sp>
        <p:nvSpPr>
          <p:cNvPr id="50" name="R4 num"/>
          <p:cNvSpPr/>
          <p:nvPr/>
        </p:nvSpPr>
        <p:spPr>
          <a:xfrm>
            <a:off x="686714" y="3841394"/>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3841394"/>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describe a lost item.</a:t>
            </a:r>
            <a:endParaRPr lang="en-US" sz="2000" dirty="0"/>
          </a:p>
        </p:txBody>
      </p:sp>
      <p:sp>
        <p:nvSpPr>
          <p:cNvPr id="52" name="R4 dot"/>
          <p:cNvSpPr/>
          <p:nvPr/>
        </p:nvSpPr>
        <p:spPr>
          <a:xfrm rot="10800000">
            <a:off x="6361481" y="3974897"/>
            <a:ext cx="88697" cy="76810"/>
          </a:xfrm>
          <a:prstGeom prst="triangle">
            <a:avLst/>
          </a:prstGeom>
          <a:solidFill>
            <a:srgbClr val="8FAFE3"/>
          </a:solidFill>
          <a:ln/>
        </p:spPr>
        <p:txBody>
          <a:bodyPr/>
          <a:p/>
        </p:txBody>
      </p:sp>
      <p:sp>
        <p:nvSpPr>
          <p:cNvPr id="53" name="R5 card"/>
          <p:cNvSpPr/>
          <p:nvPr/>
        </p:nvSpPr>
        <p:spPr>
          <a:xfrm>
            <a:off x="1583741" y="4552798"/>
            <a:ext cx="5130698" cy="602590"/>
          </a:xfrm>
          <a:prstGeom prst="round1Rect">
            <a:avLst>
              <a:gd name="adj" fmla="val 23087"/>
            </a:avLst>
          </a:prstGeom>
          <a:solidFill>
            <a:srgbClr val="FFFFFF"/>
          </a:solidFill>
          <a:ln/>
        </p:spPr>
        <p:txBody>
          <a:bodyPr/>
          <a:p/>
        </p:txBody>
      </p:sp>
      <p:sp>
        <p:nvSpPr>
          <p:cNvPr id="54" name="R5 chip"/>
          <p:cNvSpPr/>
          <p:nvPr/>
        </p:nvSpPr>
        <p:spPr>
          <a:xfrm>
            <a:off x="544982" y="4552798"/>
            <a:ext cx="1039673" cy="602590"/>
          </a:xfrm>
          <a:prstGeom prst="rect">
            <a:avLst/>
          </a:prstGeom>
          <a:solidFill>
            <a:srgbClr val="B9D2F7"/>
          </a:solidFill>
          <a:ln/>
        </p:spPr>
        <p:txBody>
          <a:bodyPr/>
          <a:p/>
        </p:txBody>
      </p:sp>
      <p:sp>
        <p:nvSpPr>
          <p:cNvPr id="55" name="R5 num"/>
          <p:cNvSpPr/>
          <p:nvPr/>
        </p:nvSpPr>
        <p:spPr>
          <a:xfrm>
            <a:off x="686714" y="455279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455279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what I was doing when I lost it.</a:t>
            </a:r>
            <a:endParaRPr lang="en-US" sz="1800" dirty="0"/>
          </a:p>
        </p:txBody>
      </p:sp>
      <p:sp>
        <p:nvSpPr>
          <p:cNvPr id="57" name="R5 dot"/>
          <p:cNvSpPr/>
          <p:nvPr/>
        </p:nvSpPr>
        <p:spPr>
          <a:xfrm rot="10800000">
            <a:off x="6361481" y="4686300"/>
            <a:ext cx="88697" cy="76810"/>
          </a:xfrm>
          <a:prstGeom prst="triangle">
            <a:avLst/>
          </a:prstGeom>
          <a:solidFill>
            <a:srgbClr val="8FAFE3"/>
          </a:solidFill>
          <a:ln/>
        </p:spPr>
        <p:txBody>
          <a:bodyPr/>
          <a:p/>
        </p:txBody>
      </p:sp>
      <p:sp>
        <p:nvSpPr>
          <p:cNvPr id="58" name="R6 card"/>
          <p:cNvSpPr/>
          <p:nvPr/>
        </p:nvSpPr>
        <p:spPr>
          <a:xfrm>
            <a:off x="1583741" y="5264201"/>
            <a:ext cx="5130698" cy="602590"/>
          </a:xfrm>
          <a:prstGeom prst="round1Rect">
            <a:avLst>
              <a:gd name="adj" fmla="val 23087"/>
            </a:avLst>
          </a:prstGeom>
          <a:solidFill>
            <a:srgbClr val="FFFFFF"/>
          </a:solidFill>
          <a:ln/>
        </p:spPr>
        <p:txBody>
          <a:bodyPr/>
          <a:p/>
        </p:txBody>
      </p:sp>
      <p:sp>
        <p:nvSpPr>
          <p:cNvPr id="59" name="R6 chip"/>
          <p:cNvSpPr/>
          <p:nvPr/>
        </p:nvSpPr>
        <p:spPr>
          <a:xfrm>
            <a:off x="544982" y="5264201"/>
            <a:ext cx="1039673" cy="602590"/>
          </a:xfrm>
          <a:prstGeom prst="rect">
            <a:avLst/>
          </a:prstGeom>
          <a:solidFill>
            <a:srgbClr val="B9D2F7"/>
          </a:solidFill>
          <a:ln/>
        </p:spPr>
        <p:txBody>
          <a:bodyPr/>
          <a:p/>
        </p:txBody>
      </p:sp>
      <p:sp>
        <p:nvSpPr>
          <p:cNvPr id="60" name="R6 num"/>
          <p:cNvSpPr/>
          <p:nvPr/>
        </p:nvSpPr>
        <p:spPr>
          <a:xfrm>
            <a:off x="686714" y="526420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06</a:t>
            </a:r>
            <a:endParaRPr lang="en-US" sz="3200" b="1" dirty="0"/>
          </a:p>
        </p:txBody>
      </p:sp>
      <p:sp>
        <p:nvSpPr>
          <p:cNvPr id="61" name="R6 text"/>
          <p:cNvSpPr/>
          <p:nvPr/>
        </p:nvSpPr>
        <p:spPr>
          <a:xfrm>
            <a:off x="1810512" y="526420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read and write a FOUND notice.</a:t>
            </a:r>
            <a:endParaRPr lang="en-US" sz="1800" dirty="0"/>
          </a:p>
        </p:txBody>
      </p:sp>
      <p:sp>
        <p:nvSpPr>
          <p:cNvPr id="62" name="R6 dot"/>
          <p:cNvSpPr/>
          <p:nvPr/>
        </p:nvSpPr>
        <p:spPr>
          <a:xfrm rot="10800000">
            <a:off x="6361481" y="5397703"/>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400"/>
                                        <p:tgtEl>
                                          <p:spTgt spid="58"/>
                                        </p:tgtEl>
                                      </p:cBhvr>
                                    </p:animEffect>
                                  </p:childTnLst>
                                </p:cTn>
                              </p:par>
                              <p:par>
                                <p:cTn id="99" presetID="10" presetClass="entr" presetSubtype="0"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400"/>
                                        <p:tgtEl>
                                          <p:spTgt spid="59"/>
                                        </p:tgtEl>
                                      </p:cBhvr>
                                    </p:animEffect>
                                  </p:childTnLst>
                                </p:cTn>
                              </p:par>
                              <p:par>
                                <p:cTn id="102" presetID="10" presetClass="entr" presetSubtype="0" fill="hold"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fade">
                                      <p:cBhvr>
                                        <p:cTn id="11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Umbrella: an umbrella"/>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Really? 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Really? How was it? Why? What did they say?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will you do if it's sunny next Saturday?</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 bought shoes, and they're too small. What do you say at the store?</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You'd like to change an appointment. What do you say on the phone?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Midterm check-in: one easy part, one hard part.</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Wallet: a drawn brown walle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wallet</a:t>
            </a:r>
            <a:endParaRPr lang="en-US" sz="2000" dirty="0" b="1"/>
          </a:p>
        </p:txBody>
      </p:sp>
      <p:pic>
        <p:nvPicPr>
          <p:cNvPr id="19" name="Word picture 2" descr="Purse: a handba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purse</a:t>
            </a:r>
            <a:endParaRPr lang="en-US" sz="2000" dirty="0" b="1"/>
          </a:p>
        </p:txBody>
      </p:sp>
      <p:pic>
        <p:nvPicPr>
          <p:cNvPr id="21" name="Word picture 3" descr="Keys: two key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keys</a:t>
            </a:r>
            <a:endParaRPr lang="en-US" sz="2000" dirty="0" b="1"/>
          </a:p>
        </p:txBody>
      </p:sp>
      <p:pic>
        <p:nvPicPr>
          <p:cNvPr id="23" name="Word picture 4" descr="Umbrella: an umbrella"/>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umbrella</a:t>
            </a:r>
            <a:endParaRPr lang="en-US" sz="2000" dirty="0" b="1"/>
          </a:p>
        </p:txBody>
      </p:sp>
      <p:pic>
        <p:nvPicPr>
          <p:cNvPr id="25" name="Word picture 5" descr="Backpack: a backpack"/>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backpack</a:t>
            </a:r>
            <a:endParaRPr lang="en-US" sz="2000" dirty="0" b="1"/>
          </a:p>
        </p:txBody>
      </p:sp>
      <p:pic>
        <p:nvPicPr>
          <p:cNvPr id="27" name="Word picture 6" descr="Sunglasses: sunglasses"/>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sunglasses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Headphones: headphones"/>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headphones</a:t>
            </a:r>
            <a:endParaRPr lang="en-US" sz="2000" dirty="0" b="1"/>
          </a:p>
        </p:txBody>
      </p:sp>
      <p:pic>
        <p:nvPicPr>
          <p:cNvPr id="19" name="Word picture 2" descr="Gloves: gloves"/>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gloves</a:t>
            </a:r>
            <a:endParaRPr lang="en-US" sz="2000" dirty="0" b="1"/>
          </a:p>
        </p:txBody>
      </p:sp>
      <p:pic>
        <p:nvPicPr>
          <p:cNvPr id="21" name="Word picture 3" descr="Scarf: a scarf"/>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scarf</a:t>
            </a:r>
            <a:endParaRPr lang="en-US" sz="2000" dirty="0" b="1"/>
          </a:p>
        </p:txBody>
      </p:sp>
      <p:pic>
        <p:nvPicPr>
          <p:cNvPr id="23" name="Word picture 4" descr="Lost and found: a drawn box &quot;LOST &amp; FOUND&quot; with an umbrella, a backpack, a scarf"/>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lost and found</a:t>
            </a:r>
            <a:endParaRPr lang="en-US" sz="2000" dirty="0" b="1"/>
          </a:p>
        </p:txBody>
      </p:sp>
      <p:pic>
        <p:nvPicPr>
          <p:cNvPr id="25" name="Word picture 5" descr="Belong to: a woman, bubble &quot;It's mine.&quot;, an arrow to a handbag"/>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belong to</a:t>
            </a:r>
            <a:endParaRPr lang="en-US" sz="2000" dirty="0" b="1"/>
          </a:p>
        </p:txBody>
      </p:sp>
      <p:pic>
        <p:nvPicPr>
          <p:cNvPr id="27" name="Word picture 6" descr="Describe: a person; bubble &quot;It's big and blue, with a zipper.&quot;; a backpack (recolored blu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describe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you keep money?</a:t>
            </a:r>
            <a:endParaRPr lang="en-US" sz="1800" dirty="0" b="1"/>
          </a:p>
        </p:txBody>
      </p:sp>
      <p:pic>
        <p:nvPicPr>
          <p:cNvPr id="101" name="R1 pic" descr="Wallet: a drawn brown walle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listen to music with…?</a:t>
            </a:r>
            <a:endParaRPr lang="en-US" sz="1800" dirty="0" b="1"/>
          </a:p>
        </p:txBody>
      </p:sp>
      <p:pic>
        <p:nvPicPr>
          <p:cNvPr id="102" name="R2 pic" descr="Headphones: headphone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they keep lost things?</a:t>
            </a:r>
            <a:endParaRPr lang="en-US" sz="1800" dirty="0" b="1"/>
          </a:p>
        </p:txBody>
      </p:sp>
      <p:pic>
        <p:nvPicPr>
          <p:cNvPr id="103" name="R3 pic" descr="Lost and found: a drawn box &quot;LOST &amp; FOUND&quot; with an umbrella, a backpack, a scarf"/>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wallet / a purse</a:t>
            </a:r>
            <a:endParaRPr lang="en-US" sz="1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headphones</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the lost and found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David lost something on the bus. He's calling the lost and found at City Bus. Joan answers the phone.</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Backpack: a backpack"/>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Joan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David</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did David lose?</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color? What size?</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What did David lose?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1737360"/>
          </a:xfrm>
          <a:prstGeom prst="round1Rect">
            <a:avLst>
              <a:gd name="adj" fmla="val 23087"/>
            </a:avLst>
          </a:prstGeom>
          <a:solidFill>
            <a:srgbClr val="FFFFFF"/>
          </a:solidFill>
          <a:ln/>
        </p:spPr>
        <p:txBody>
          <a:bodyPr/>
          <a:p/>
        </p:txBody>
      </p:sp>
      <p:sp>
        <p:nvSpPr>
          <p:cNvPr id="32" name="R1 chip"/>
          <p:cNvSpPr/>
          <p:nvPr/>
        </p:nvSpPr>
        <p:spPr>
          <a:xfrm>
            <a:off x="544982" y="2397557"/>
            <a:ext cx="1039673" cy="1737360"/>
          </a:xfrm>
          <a:prstGeom prst="rect">
            <a:avLst/>
          </a:prstGeom>
          <a:solidFill>
            <a:srgbClr val="B9D2F7"/>
          </a:solidFill>
          <a:ln/>
        </p:spPr>
        <p:txBody>
          <a:bodyPr/>
          <a:p/>
        </p:txBody>
      </p:sp>
      <p:sp>
        <p:nvSpPr>
          <p:cNvPr id="33" name="R1 num"/>
          <p:cNvSpPr/>
          <p:nvPr/>
        </p:nvSpPr>
        <p:spPr>
          <a:xfrm>
            <a:off x="686714" y="29736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224528" cy="1737360"/>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did David lose?</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a.</a:t>
            </a:r>
            <a:r>
              <a:rPr lang="en-US" sz="1800" dirty="0">
                <a:solidFill>
                  <a:srgbClr val="1B2236"/>
                </a:solidFill>
                <a:latin typeface="Lexend Deca" pitchFamily="34" charset="0"/>
                <a:ea typeface="Lexend Deca" pitchFamily="34" charset="-122"/>
                <a:cs typeface="Lexend Deca" pitchFamily="34" charset="-120"/>
              </a:rPr>
              <a:t> a wallet</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b.</a:t>
            </a:r>
            <a:r>
              <a:rPr lang="en-US" sz="1800" dirty="0">
                <a:solidFill>
                  <a:srgbClr val="1B2236"/>
                </a:solidFill>
                <a:latin typeface="Lexend Deca" pitchFamily="34" charset="0"/>
                <a:ea typeface="Lexend Deca" pitchFamily="34" charset="-122"/>
                <a:cs typeface="Lexend Deca" pitchFamily="34" charset="-120"/>
              </a:rPr>
              <a:t> a backpack</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c.</a:t>
            </a:r>
            <a:r>
              <a:rPr lang="en-US" sz="1800" dirty="0">
                <a:solidFill>
                  <a:srgbClr val="1B2236"/>
                </a:solidFill>
                <a:latin typeface="Lexend Deca" pitchFamily="34" charset="0"/>
                <a:ea typeface="Lexend Deca" pitchFamily="34" charset="-122"/>
                <a:cs typeface="Lexend Deca" pitchFamily="34" charset="-120"/>
              </a:rPr>
              <a:t> an umbrella</a:t>
            </a:r>
            <a:endParaRPr lang="en-US" sz="1800" dirty="0"/>
          </a:p>
        </p:txBody>
      </p:sp>
      <p:sp>
        <p:nvSpPr>
          <p:cNvPr id="35" name="R1 ans"/>
          <p:cNvSpPr/>
          <p:nvPr/>
        </p:nvSpPr>
        <p:spPr>
          <a:xfrm>
            <a:off x="6108192" y="3037637"/>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 or check ✓ the details.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566928"/>
          </a:xfrm>
          <a:prstGeom prst="round1Rect">
            <a:avLst>
              <a:gd name="adj" fmla="val 23087"/>
            </a:avLst>
          </a:prstGeom>
          <a:solidFill>
            <a:srgbClr val="FFFFFF"/>
          </a:solidFill>
          <a:ln/>
        </p:spPr>
        <p:txBody>
          <a:bodyPr/>
          <a:p/>
        </p:txBody>
      </p:sp>
      <p:sp>
        <p:nvSpPr>
          <p:cNvPr id="32" name="R1 chip"/>
          <p:cNvSpPr/>
          <p:nvPr/>
        </p:nvSpPr>
        <p:spPr>
          <a:xfrm>
            <a:off x="544982" y="2397557"/>
            <a:ext cx="1039673" cy="566928"/>
          </a:xfrm>
          <a:prstGeom prst="rect">
            <a:avLst/>
          </a:prstGeom>
          <a:solidFill>
            <a:srgbClr val="B9D2F7"/>
          </a:solidFill>
          <a:ln/>
        </p:spPr>
        <p:txBody>
          <a:bodyPr/>
          <a:p/>
        </p:txBody>
      </p:sp>
      <p:sp>
        <p:nvSpPr>
          <p:cNvPr id="33" name="R1 num"/>
          <p:cNvSpPr/>
          <p:nvPr/>
        </p:nvSpPr>
        <p:spPr>
          <a:xfrm>
            <a:off x="686714" y="238841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Color:  </a:t>
            </a:r>
            <a:r>
              <a:rPr lang="en-US" sz="1600" dirty="0" b="1">
                <a:solidFill>
                  <a:srgbClr val="1B2236"/>
                </a:solidFill>
                <a:latin typeface="Lexend Deca" pitchFamily="34" charset="0"/>
                <a:ea typeface="Lexend Deca" pitchFamily="34" charset="-122"/>
                <a:cs typeface="Lexend Deca" pitchFamily="34" charset="-120"/>
              </a:rPr>
              <a:t>blue</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green</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black</a:t>
            </a:r>
            <a:endParaRPr lang="en-US" sz="1600" dirty="0"/>
          </a:p>
        </p:txBody>
      </p:sp>
      <p:sp>
        <p:nvSpPr>
          <p:cNvPr id="35" name="R1 ans"/>
          <p:cNvSpPr/>
          <p:nvPr/>
        </p:nvSpPr>
        <p:spPr>
          <a:xfrm>
            <a:off x="5742432" y="245242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blue</a:t>
            </a:r>
            <a:endParaRPr lang="en-US" sz="1600" dirty="0" b="1"/>
          </a:p>
        </p:txBody>
      </p:sp>
      <p:sp>
        <p:nvSpPr>
          <p:cNvPr id="36" name="R2 card"/>
          <p:cNvSpPr/>
          <p:nvPr/>
        </p:nvSpPr>
        <p:spPr>
          <a:xfrm>
            <a:off x="1583741" y="3037637"/>
            <a:ext cx="6035040" cy="566928"/>
          </a:xfrm>
          <a:prstGeom prst="round1Rect">
            <a:avLst>
              <a:gd name="adj" fmla="val 23087"/>
            </a:avLst>
          </a:prstGeom>
          <a:solidFill>
            <a:srgbClr val="FFFFFF"/>
          </a:solidFill>
          <a:ln/>
        </p:spPr>
        <p:txBody>
          <a:bodyPr/>
          <a:p/>
        </p:txBody>
      </p:sp>
      <p:sp>
        <p:nvSpPr>
          <p:cNvPr id="37" name="R2 chip"/>
          <p:cNvSpPr/>
          <p:nvPr/>
        </p:nvSpPr>
        <p:spPr>
          <a:xfrm>
            <a:off x="544982" y="3037637"/>
            <a:ext cx="1039673" cy="566928"/>
          </a:xfrm>
          <a:prstGeom prst="rect">
            <a:avLst/>
          </a:prstGeom>
          <a:solidFill>
            <a:srgbClr val="B9D2F7"/>
          </a:solidFill>
          <a:ln/>
        </p:spPr>
        <p:txBody>
          <a:bodyPr/>
          <a:p/>
        </p:txBody>
      </p:sp>
      <p:sp>
        <p:nvSpPr>
          <p:cNvPr id="38" name="R2 num"/>
          <p:cNvSpPr/>
          <p:nvPr/>
        </p:nvSpPr>
        <p:spPr>
          <a:xfrm>
            <a:off x="686714" y="302849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03763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Size:  </a:t>
            </a:r>
            <a:r>
              <a:rPr lang="en-US" sz="1600" dirty="0" b="1">
                <a:solidFill>
                  <a:srgbClr val="1B2236"/>
                </a:solidFill>
                <a:latin typeface="Lexend Deca" pitchFamily="34" charset="0"/>
                <a:ea typeface="Lexend Deca" pitchFamily="34" charset="-122"/>
                <a:cs typeface="Lexend Deca" pitchFamily="34" charset="-120"/>
              </a:rPr>
              <a:t>big</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small</a:t>
            </a:r>
            <a:endParaRPr lang="en-US" sz="1600" dirty="0"/>
          </a:p>
        </p:txBody>
      </p:sp>
      <p:sp>
        <p:nvSpPr>
          <p:cNvPr id="40" name="R2 ans"/>
          <p:cNvSpPr/>
          <p:nvPr/>
        </p:nvSpPr>
        <p:spPr>
          <a:xfrm>
            <a:off x="5742432" y="309250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big</a:t>
            </a:r>
            <a:endParaRPr lang="en-US" sz="1600" dirty="0" b="1"/>
          </a:p>
        </p:txBody>
      </p:sp>
      <p:sp>
        <p:nvSpPr>
          <p:cNvPr id="41" name="R3 card"/>
          <p:cNvSpPr/>
          <p:nvPr/>
        </p:nvSpPr>
        <p:spPr>
          <a:xfrm>
            <a:off x="1583741" y="3677717"/>
            <a:ext cx="6035040" cy="1005840"/>
          </a:xfrm>
          <a:prstGeom prst="round1Rect">
            <a:avLst>
              <a:gd name="adj" fmla="val 23087"/>
            </a:avLst>
          </a:prstGeom>
          <a:solidFill>
            <a:srgbClr val="FFFFFF"/>
          </a:solidFill>
          <a:ln/>
        </p:spPr>
        <p:txBody>
          <a:bodyPr/>
          <a:p/>
        </p:txBody>
      </p:sp>
      <p:sp>
        <p:nvSpPr>
          <p:cNvPr id="42" name="R3 chip"/>
          <p:cNvSpPr/>
          <p:nvPr/>
        </p:nvSpPr>
        <p:spPr>
          <a:xfrm>
            <a:off x="544982" y="3677717"/>
            <a:ext cx="1039673" cy="1005840"/>
          </a:xfrm>
          <a:prstGeom prst="rect">
            <a:avLst/>
          </a:prstGeom>
          <a:solidFill>
            <a:srgbClr val="B9D2F7"/>
          </a:solidFill>
          <a:ln/>
        </p:spPr>
        <p:txBody>
          <a:bodyPr/>
          <a:p/>
        </p:txBody>
      </p:sp>
      <p:sp>
        <p:nvSpPr>
          <p:cNvPr id="43" name="R3 num"/>
          <p:cNvSpPr/>
          <p:nvPr/>
        </p:nvSpPr>
        <p:spPr>
          <a:xfrm>
            <a:off x="686714" y="38880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677717"/>
            <a:ext cx="3858768" cy="1005840"/>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was inside?</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headphones  ☐ a scarf  ☐ gloves</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a wallet  ☐ keys</a:t>
            </a:r>
            <a:endParaRPr lang="en-US" sz="1600" dirty="0"/>
          </a:p>
        </p:txBody>
      </p:sp>
      <p:sp>
        <p:nvSpPr>
          <p:cNvPr id="45" name="R3 ans"/>
          <p:cNvSpPr/>
          <p:nvPr/>
        </p:nvSpPr>
        <p:spPr>
          <a:xfrm>
            <a:off x="5742432" y="3952037"/>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 headphones, a scarf, gloves</a:t>
            </a:r>
            <a:endParaRPr lang="en-US" sz="1600" dirty="0" b="1"/>
          </a:p>
        </p:txBody>
      </p:sp>
      <p:sp>
        <p:nvSpPr>
          <p:cNvPr id="46" name="R4 card"/>
          <p:cNvSpPr/>
          <p:nvPr/>
        </p:nvSpPr>
        <p:spPr>
          <a:xfrm>
            <a:off x="1583741" y="4756709"/>
            <a:ext cx="6035040" cy="566928"/>
          </a:xfrm>
          <a:prstGeom prst="round1Rect">
            <a:avLst>
              <a:gd name="adj" fmla="val 23087"/>
            </a:avLst>
          </a:prstGeom>
          <a:solidFill>
            <a:srgbClr val="FFFFFF"/>
          </a:solidFill>
          <a:ln/>
        </p:spPr>
        <p:txBody>
          <a:bodyPr/>
          <a:p/>
        </p:txBody>
      </p:sp>
      <p:sp>
        <p:nvSpPr>
          <p:cNvPr id="47" name="R4 chip"/>
          <p:cNvSpPr/>
          <p:nvPr/>
        </p:nvSpPr>
        <p:spPr>
          <a:xfrm>
            <a:off x="544982" y="4756709"/>
            <a:ext cx="1039673" cy="566928"/>
          </a:xfrm>
          <a:prstGeom prst="rect">
            <a:avLst/>
          </a:prstGeom>
          <a:solidFill>
            <a:srgbClr val="B9D2F7"/>
          </a:solidFill>
          <a:ln/>
        </p:spPr>
        <p:txBody>
          <a:bodyPr/>
          <a:p/>
        </p:txBody>
      </p:sp>
      <p:sp>
        <p:nvSpPr>
          <p:cNvPr id="48" name="R4 num"/>
          <p:cNvSpPr/>
          <p:nvPr/>
        </p:nvSpPr>
        <p:spPr>
          <a:xfrm>
            <a:off x="686714" y="4747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did he get off the bus?</a:t>
            </a:r>
            <a:br>
              <a:rPr lang="en-US" sz="1600" dirty="0">
                <a:solidFill>
                  <a:srgbClr val="1B2236"/>
                </a:solidFill>
                <a:latin typeface="Lexend Deca" pitchFamily="34" charset="0"/>
                <a:ea typeface="Lexend Deca" pitchFamily="34" charset="-122"/>
                <a:cs typeface="Lexend Deca" pitchFamily="34" charset="-120"/>
              </a:rPr>
            </a:br>
            <a:r>
              <a:rPr lang="en-US" sz="1600" dirty="0" b="1">
                <a:solidFill>
                  <a:srgbClr val="1B2236"/>
                </a:solidFill>
                <a:latin typeface="Lexend Deca" pitchFamily="34" charset="0"/>
                <a:ea typeface="Lexend Deca" pitchFamily="34" charset="-122"/>
                <a:cs typeface="Lexend Deca" pitchFamily="34" charset="-120"/>
              </a:rPr>
              <a:t>Park Street</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Main Street</a:t>
            </a:r>
            <a:endParaRPr lang="en-US" sz="1600" dirty="0"/>
          </a:p>
        </p:txBody>
      </p:sp>
      <p:sp>
        <p:nvSpPr>
          <p:cNvPr id="50" name="R4 ans"/>
          <p:cNvSpPr/>
          <p:nvPr/>
        </p:nvSpPr>
        <p:spPr>
          <a:xfrm>
            <a:off x="5742432" y="481157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Park Street</a:t>
            </a:r>
            <a:endParaRPr lang="en-US" sz="1600" dirty="0" b="1"/>
          </a:p>
        </p:txBody>
      </p:sp>
      <p:sp>
        <p:nvSpPr>
          <p:cNvPr id="51" name="R5 card"/>
          <p:cNvSpPr/>
          <p:nvPr/>
        </p:nvSpPr>
        <p:spPr>
          <a:xfrm>
            <a:off x="1583741" y="5396789"/>
            <a:ext cx="6035040" cy="566928"/>
          </a:xfrm>
          <a:prstGeom prst="round1Rect">
            <a:avLst>
              <a:gd name="adj" fmla="val 23087"/>
            </a:avLst>
          </a:prstGeom>
          <a:solidFill>
            <a:srgbClr val="FFFFFF"/>
          </a:solidFill>
          <a:ln/>
        </p:spPr>
        <p:txBody>
          <a:bodyPr/>
          <a:p/>
        </p:txBody>
      </p:sp>
      <p:sp>
        <p:nvSpPr>
          <p:cNvPr id="52" name="R5 chip"/>
          <p:cNvSpPr/>
          <p:nvPr/>
        </p:nvSpPr>
        <p:spPr>
          <a:xfrm>
            <a:off x="544982" y="5396789"/>
            <a:ext cx="1039673" cy="566928"/>
          </a:xfrm>
          <a:prstGeom prst="rect">
            <a:avLst/>
          </a:prstGeom>
          <a:solidFill>
            <a:srgbClr val="B9D2F7"/>
          </a:solidFill>
          <a:ln/>
        </p:spPr>
        <p:txBody>
          <a:bodyPr/>
          <a:p/>
        </p:txBody>
      </p:sp>
      <p:sp>
        <p:nvSpPr>
          <p:cNvPr id="53" name="R5 num"/>
          <p:cNvSpPr/>
          <p:nvPr/>
        </p:nvSpPr>
        <p:spPr>
          <a:xfrm>
            <a:off x="686714" y="538764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39678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Pick it up today before:  </a:t>
            </a:r>
            <a:r>
              <a:rPr lang="en-US" sz="1600" dirty="0" b="1">
                <a:solidFill>
                  <a:srgbClr val="1B2236"/>
                </a:solidFill>
                <a:latin typeface="Lexend Deca" pitchFamily="34" charset="0"/>
                <a:ea typeface="Lexend Deca" pitchFamily="34" charset="-122"/>
                <a:cs typeface="Lexend Deca" pitchFamily="34" charset="-120"/>
              </a:rPr>
              <a:t>5:00</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9:00</a:t>
            </a:r>
            <a:endParaRPr lang="en-US" sz="1600" dirty="0"/>
          </a:p>
        </p:txBody>
      </p:sp>
      <p:sp>
        <p:nvSpPr>
          <p:cNvPr id="55" name="R5 ans"/>
          <p:cNvSpPr/>
          <p:nvPr/>
        </p:nvSpPr>
        <p:spPr>
          <a:xfrm>
            <a:off x="5742432" y="545165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5:00</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his, mine, or yours.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My brother has the same one, but ____ is green.</a:t>
            </a:r>
            <a:endParaRPr lang="en-US" sz="1800" dirty="0"/>
          </a:p>
        </p:txBody>
      </p:sp>
      <p:sp>
        <p:nvSpPr>
          <p:cNvPr id="35" name="R1 ans"/>
          <p:cNvSpPr/>
          <p:nvPr/>
        </p:nvSpPr>
        <p:spPr>
          <a:xfrm>
            <a:off x="6291072" y="252557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183941"/>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big one is ____.</a:t>
            </a:r>
            <a:endParaRPr lang="en-US" sz="1800" dirty="0"/>
          </a:p>
        </p:txBody>
      </p:sp>
      <p:sp>
        <p:nvSpPr>
          <p:cNvPr id="40" name="R2 ans"/>
          <p:cNvSpPr/>
          <p:nvPr/>
        </p:nvSpPr>
        <p:spPr>
          <a:xfrm>
            <a:off x="6291072" y="3311957"/>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970325"/>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are white headphones inside. Are they ____?</a:t>
            </a:r>
            <a:endParaRPr lang="en-US" sz="1800" dirty="0"/>
          </a:p>
        </p:txBody>
      </p:sp>
      <p:sp>
        <p:nvSpPr>
          <p:cNvPr id="45" name="R3 ans"/>
          <p:cNvSpPr/>
          <p:nvPr/>
        </p:nvSpPr>
        <p:spPr>
          <a:xfrm>
            <a:off x="6291072" y="4098341"/>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____ are black.</a:t>
            </a:r>
            <a:endParaRPr lang="en-US" sz="1800" dirty="0"/>
          </a:p>
        </p:txBody>
      </p:sp>
      <p:sp>
        <p:nvSpPr>
          <p:cNvPr id="50" name="R4 ans"/>
          <p:cNvSpPr/>
          <p:nvPr/>
        </p:nvSpPr>
        <p:spPr>
          <a:xfrm>
            <a:off x="6291072" y="4884725"/>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543093"/>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That's ____. Thank you!</a:t>
            </a:r>
            <a:endParaRPr lang="en-US" sz="1800" dirty="0"/>
          </a:p>
        </p:txBody>
      </p:sp>
      <p:sp>
        <p:nvSpPr>
          <p:cNvPr id="55" name="R5 ans"/>
          <p:cNvSpPr/>
          <p:nvPr/>
        </p:nvSpPr>
        <p:spPr>
          <a:xfrm>
            <a:off x="6291072" y="567110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the z sound</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yours, hers, ours, theirs: a </a:t>
            </a:r>
            <a:r>
              <a:rPr lang="en-US" sz="2000" dirty="0" b="1">
                <a:solidFill>
                  <a:srgbClr val="5B3FC4"/>
                </a:solidFill>
                <a:latin typeface="Lexend Deca" pitchFamily="34" charset="0"/>
                <a:ea typeface="Lexend Deca" pitchFamily="34" charset="-122"/>
                <a:cs typeface="Lexend Deca" pitchFamily="34" charset="-120"/>
              </a:rPr>
              <a:t>z</a:t>
            </a:r>
            <a:r>
              <a:rPr lang="en-US" sz="2000" dirty="0">
                <a:solidFill>
                  <a:srgbClr val="1B2236"/>
                </a:solidFill>
                <a:latin typeface="Lexend Deca" pitchFamily="34" charset="0"/>
                <a:ea typeface="Lexend Deca" pitchFamily="34" charset="-122"/>
                <a:cs typeface="Lexend Deca" pitchFamily="34" charset="-120"/>
              </a:rPr>
              <a:t> sound.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Whose = who's: </a:t>
            </a:r>
            <a:r>
              <a:rPr lang="en-US" sz="2000" dirty="0" b="1">
                <a:solidFill>
                  <a:srgbClr val="5B3FC4"/>
                </a:solidFill>
                <a:latin typeface="Lexend Deca" pitchFamily="34" charset="0"/>
                <a:ea typeface="Lexend Deca" pitchFamily="34" charset="-122"/>
                <a:cs typeface="Lexend Deca" pitchFamily="34" charset="-120"/>
              </a:rPr>
              <a:t>hooz.</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yours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hers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theirs</a:t>
            </a:r>
            <a:endParaRPr lang="en-US" sz="22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who's</a:t>
            </a:r>
            <a:r>
              <a:rPr lang="en-US" sz="2200" dirty="0" b="1">
                <a:solidFill>
                  <a:srgbClr val="1B2236"/>
                </a:solidFill>
                <a:latin typeface="Lexend Deca" pitchFamily="34" charset="0"/>
                <a:ea typeface="Lexend Deca" pitchFamily="34" charset="-122"/>
                <a:cs typeface="Lexend Deca" pitchFamily="34" charset="-120"/>
              </a:rPr>
              <a:t> (hooz)</a:t>
            </a:r>
            <a:endParaRPr lang="en-US" sz="22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bag is this?</a:t>
            </a:r>
            <a:endParaRPr lang="en-US" sz="2200" dirty="0" b="1"/>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Keys: two keys"/>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Whose…?</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is this (one)  ·  are these (more than one)</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06908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3" name="Question 1"/>
          <p:cNvSpPr/>
          <p:nvPr/>
        </p:nvSpPr>
        <p:spPr>
          <a:xfrm>
            <a:off x="2761488" y="397764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umbrella / wallet </a:t>
            </a:r>
            <a:r>
              <a:rPr lang="en-US" sz="1700" dirty="0" b="1">
                <a:solidFill>
                  <a:srgbClr val="1B2236"/>
                </a:solidFill>
                <a:latin typeface="Lexend Deca" pitchFamily="34" charset="0"/>
                <a:ea typeface="Lexend Deca" pitchFamily="34" charset="-122"/>
                <a:cs typeface="Lexend Deca" pitchFamily="34" charset="-120"/>
              </a:rPr>
              <a:t>is this?</a:t>
            </a:r>
            <a:endParaRPr lang="en-US" sz="1700" dirty="0" b="1"/>
          </a:p>
        </p:txBody>
      </p:sp>
      <p:sp>
        <p:nvSpPr>
          <p:cNvPr id="24"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mine</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 / Ana's.</a:t>
            </a:r>
            <a:endParaRPr lang="en-US" sz="1800" dirty="0" b="1"/>
          </a:p>
        </p:txBody>
      </p:sp>
      <p:sp>
        <p:nvSpPr>
          <p:cNvPr id="26" name="Highlight 2"/>
          <p:cNvSpPr/>
          <p:nvPr/>
        </p:nvSpPr>
        <p:spPr>
          <a:xfrm>
            <a:off x="1481328" y="484632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475488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8" name="Question 2"/>
          <p:cNvSpPr/>
          <p:nvPr/>
        </p:nvSpPr>
        <p:spPr>
          <a:xfrm>
            <a:off x="2761488" y="475488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keys / gloves </a:t>
            </a:r>
            <a:r>
              <a:rPr lang="en-US" sz="1700" dirty="0" b="1">
                <a:solidFill>
                  <a:srgbClr val="1B2236"/>
                </a:solidFill>
                <a:latin typeface="Lexend Deca" pitchFamily="34" charset="0"/>
                <a:ea typeface="Lexend Deca" pitchFamily="34" charset="-122"/>
                <a:cs typeface="Lexend Deca" pitchFamily="34" charset="-120"/>
              </a:rPr>
              <a:t>are these?</a:t>
            </a:r>
            <a:endParaRPr lang="en-US" sz="1700" dirty="0" b="1"/>
          </a:p>
        </p:txBody>
      </p:sp>
      <p:sp>
        <p:nvSpPr>
          <p:cNvPr id="29"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ours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 Tom's.</a:t>
            </a:r>
            <a:endParaRPr lang="en-US" sz="1800" dirty="0" b="1"/>
          </a:p>
        </p:txBody>
      </p:sp>
      <p:sp>
        <p:nvSpPr>
          <p:cNvPr id="31" name="Highlight 3"/>
          <p:cNvSpPr/>
          <p:nvPr/>
        </p:nvSpPr>
        <p:spPr>
          <a:xfrm>
            <a:off x="1481328" y="562356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Helper 3"/>
          <p:cNvSpPr/>
          <p:nvPr/>
        </p:nvSpPr>
        <p:spPr>
          <a:xfrm>
            <a:off x="1481328" y="553212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33" name="Question 3"/>
          <p:cNvSpPr/>
          <p:nvPr/>
        </p:nvSpPr>
        <p:spPr>
          <a:xfrm>
            <a:off x="2761488" y="553212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backpack </a:t>
            </a:r>
            <a:r>
              <a:rPr lang="en-US" sz="1700" dirty="0" b="1">
                <a:solidFill>
                  <a:srgbClr val="1B2236"/>
                </a:solidFill>
                <a:latin typeface="Lexend Deca" pitchFamily="34" charset="0"/>
                <a:ea typeface="Lexend Deca" pitchFamily="34" charset="-122"/>
                <a:cs typeface="Lexend Deca" pitchFamily="34" charset="-120"/>
              </a:rPr>
              <a:t>is that?</a:t>
            </a:r>
            <a:endParaRPr lang="en-US" sz="1700" dirty="0" b="1"/>
          </a:p>
        </p:txBody>
      </p:sp>
      <p:sp>
        <p:nvSpPr>
          <p:cNvPr id="34"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think it's </a:t>
            </a:r>
            <a:r>
              <a:rPr lang="en-US" sz="1800" dirty="0" b="1">
                <a:solidFill>
                  <a:srgbClr val="1B2236"/>
                </a:solidFill>
                <a:latin typeface="Lexend Deca" pitchFamily="34" charset="0"/>
                <a:ea typeface="Lexend Deca" pitchFamily="34" charset="-122"/>
                <a:cs typeface="Lexend Deca" pitchFamily="34" charset="-120"/>
              </a:rPr>
              <a:t>theirs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yours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unglasses: sunglasses"/>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Is this yours?</a:t>
            </a:r>
            <a:endParaRPr lang="en-US" sz="26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Is this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9" name="Answer bg 1"/>
          <p:cNvSpPr/>
          <p:nvPr/>
        </p:nvSpPr>
        <p:spPr>
          <a:xfrm>
            <a:off x="7863840" y="228600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it's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 Yes, it's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Thank you!</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No, it isn't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Maybe it's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1" name="Question 2"/>
          <p:cNvSpPr/>
          <p:nvPr/>
        </p:nvSpPr>
        <p:spPr>
          <a:xfrm>
            <a:off x="5138928" y="347472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Are these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2" name="Answer bg 2"/>
          <p:cNvSpPr/>
          <p:nvPr/>
        </p:nvSpPr>
        <p:spPr>
          <a:xfrm>
            <a:off x="7863840" y="347472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47472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No, they aren't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are black.</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elong to: a woman, bubble &quot;It's mine.&quot;, an arrow to a handbag"/>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my bag → mine</a:t>
            </a:r>
            <a:endParaRPr lang="en-US" sz="26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 A NOUN</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NO NOUN</a:t>
            </a:r>
            <a:endParaRPr lang="en-US" sz="2000" dirty="0" b="1"/>
          </a:p>
        </p:txBody>
      </p:sp>
      <p:sp>
        <p:nvSpPr>
          <p:cNvPr id="18" name="Question 1"/>
          <p:cNvSpPr/>
          <p:nvPr/>
        </p:nvSpPr>
        <p:spPr>
          <a:xfrm>
            <a:off x="5138928" y="22860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my</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19" name="Answer bg 1"/>
          <p:cNvSpPr/>
          <p:nvPr/>
        </p:nvSpPr>
        <p:spPr>
          <a:xfrm>
            <a:off x="7589520" y="22860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mine</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1" name="Question 2"/>
          <p:cNvSpPr/>
          <p:nvPr/>
        </p:nvSpPr>
        <p:spPr>
          <a:xfrm>
            <a:off x="5138928" y="300228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2" name="Answer bg 2"/>
          <p:cNvSpPr/>
          <p:nvPr/>
        </p:nvSpPr>
        <p:spPr>
          <a:xfrm>
            <a:off x="7589520" y="300228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00228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4" name="Question 3"/>
          <p:cNvSpPr/>
          <p:nvPr/>
        </p:nvSpPr>
        <p:spPr>
          <a:xfrm>
            <a:off x="5138928" y="371856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5" name="Answer bg 3"/>
          <p:cNvSpPr/>
          <p:nvPr/>
        </p:nvSpPr>
        <p:spPr>
          <a:xfrm>
            <a:off x="7589520" y="371856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371856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7" name="Question 4"/>
          <p:cNvSpPr/>
          <p:nvPr/>
        </p:nvSpPr>
        <p:spPr>
          <a:xfrm>
            <a:off x="5138928" y="443484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8" name="Answer bg 4"/>
          <p:cNvSpPr/>
          <p:nvPr/>
        </p:nvSpPr>
        <p:spPr>
          <a:xfrm>
            <a:off x="7589520" y="443484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589520" y="443484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0" name="Question 5"/>
          <p:cNvSpPr/>
          <p:nvPr/>
        </p:nvSpPr>
        <p:spPr>
          <a:xfrm>
            <a:off x="5138928" y="515112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1" name="Answer bg 5"/>
          <p:cNvSpPr/>
          <p:nvPr/>
        </p:nvSpPr>
        <p:spPr>
          <a:xfrm>
            <a:off x="7589520" y="515112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589520" y="515112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3" name="Question 6"/>
          <p:cNvSpPr/>
          <p:nvPr/>
        </p:nvSpPr>
        <p:spPr>
          <a:xfrm>
            <a:off x="5138928" y="58674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4" name="Answer bg 6"/>
          <p:cNvSpPr/>
          <p:nvPr/>
        </p:nvSpPr>
        <p:spPr>
          <a:xfrm>
            <a:off x="7589520" y="58674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589520" y="58674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allet: a drawn brown walle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Describing an Item</a:t>
            </a:r>
            <a:endParaRPr lang="en-US" sz="26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SIZE → COLOR → ITEM</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DETAIL</a:t>
            </a:r>
            <a:endParaRPr lang="en-US" sz="2000" dirty="0" b="1"/>
          </a:p>
        </p:txBody>
      </p:sp>
      <p:sp>
        <p:nvSpPr>
          <p:cNvPr id="18" name="Question 1"/>
          <p:cNvSpPr/>
          <p:nvPr/>
        </p:nvSpPr>
        <p:spPr>
          <a:xfrm>
            <a:off x="5138928" y="228600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a </a:t>
            </a:r>
            <a:r>
              <a:rPr lang="en-US" sz="1800" dirty="0" b="1">
                <a:solidFill>
                  <a:srgbClr val="1B2236"/>
                </a:solidFill>
                <a:latin typeface="Lexend Deca" pitchFamily="34" charset="0"/>
                <a:ea typeface="Lexend Deca" pitchFamily="34" charset="-122"/>
                <a:cs typeface="Lexend Deca" pitchFamily="34" charset="-120"/>
              </a:rPr>
              <a:t>small</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big</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black</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blue</a:t>
            </a:r>
            <a:r>
              <a:rPr lang="en-US" sz="1800" dirty="0" b="1">
                <a:solidFill>
                  <a:srgbClr val="1B2236"/>
                </a:solidFill>
                <a:latin typeface="Lexend Deca" pitchFamily="34" charset="0"/>
                <a:ea typeface="Lexend Deca" pitchFamily="34" charset="-122"/>
                <a:cs typeface="Lexend Deca" pitchFamily="34" charset="-120"/>
              </a:rPr>
              <a:t> wallet. / backpack.</a:t>
            </a:r>
            <a:endParaRPr lang="en-US" sz="1800" dirty="0" b="1"/>
          </a:p>
        </p:txBody>
      </p:sp>
      <p:sp>
        <p:nvSpPr>
          <p:cNvPr id="19" name="Answer bg 1"/>
          <p:cNvSpPr/>
          <p:nvPr/>
        </p:nvSpPr>
        <p:spPr>
          <a:xfrm>
            <a:off x="8503920" y="228600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zipper. / with two pockets.</a:t>
            </a:r>
            <a:endParaRPr lang="en-US" sz="1800" dirty="0" b="1"/>
          </a:p>
        </p:txBody>
      </p:sp>
      <p:sp>
        <p:nvSpPr>
          <p:cNvPr id="21" name="Question 2"/>
          <p:cNvSpPr/>
          <p:nvPr/>
        </p:nvSpPr>
        <p:spPr>
          <a:xfrm>
            <a:off x="5138928" y="347472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a:t>
            </a:r>
            <a:r>
              <a:rPr lang="en-US" sz="1800" dirty="0" b="1">
                <a:solidFill>
                  <a:srgbClr val="1B2236"/>
                </a:solidFill>
                <a:latin typeface="Lexend Deca" pitchFamily="34" charset="0"/>
                <a:ea typeface="Lexend Deca" pitchFamily="34" charset="-122"/>
                <a:cs typeface="Lexend Deca" pitchFamily="34" charset="-120"/>
              </a:rPr>
              <a:t>brown</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red</a:t>
            </a:r>
            <a:r>
              <a:rPr lang="en-US" sz="1800" dirty="0" b="1">
                <a:solidFill>
                  <a:srgbClr val="1B2236"/>
                </a:solidFill>
                <a:latin typeface="Lexend Deca" pitchFamily="34" charset="0"/>
                <a:ea typeface="Lexend Deca" pitchFamily="34" charset="-122"/>
                <a:cs typeface="Lexend Deca" pitchFamily="34" charset="-120"/>
              </a:rPr>
              <a:t> gloves. / sunglasses.</a:t>
            </a:r>
            <a:endParaRPr lang="en-US" sz="1800" dirty="0" b="1"/>
          </a:p>
        </p:txBody>
      </p:sp>
      <p:sp>
        <p:nvSpPr>
          <p:cNvPr id="22" name="Answer bg 2"/>
          <p:cNvSpPr/>
          <p:nvPr/>
        </p:nvSpPr>
        <p:spPr>
          <a:xfrm>
            <a:off x="8503920" y="347472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347472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star. / in a black case.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the words.</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mine · yours · his · hers · ours · theirs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mine, yours, his, hers, ours, or theirs.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This is my bag. It's ____.</a:t>
            </a:r>
            <a:endParaRPr lang="en-US" sz="1800" dirty="0"/>
          </a:p>
        </p:txBody>
      </p:sp>
      <p:sp>
        <p:nvSpPr>
          <p:cNvPr id="35" name="R1 ans"/>
          <p:cNvSpPr/>
          <p:nvPr/>
        </p:nvSpPr>
        <p:spPr>
          <a:xfrm>
            <a:off x="6291072" y="2222144"/>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her umbrella. It's ____.</a:t>
            </a:r>
            <a:endParaRPr lang="en-US" sz="1800" dirty="0"/>
          </a:p>
        </p:txBody>
      </p:sp>
      <p:sp>
        <p:nvSpPr>
          <p:cNvPr id="40" name="R2 ans"/>
          <p:cNvSpPr/>
          <p:nvPr/>
        </p:nvSpPr>
        <p:spPr>
          <a:xfrm>
            <a:off x="6291072" y="2950312"/>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hers</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These are our keys. They're ____.</a:t>
            </a:r>
            <a:endParaRPr lang="en-US" sz="1800" dirty="0"/>
          </a:p>
        </p:txBody>
      </p:sp>
      <p:sp>
        <p:nvSpPr>
          <p:cNvPr id="45" name="R3 ans"/>
          <p:cNvSpPr/>
          <p:nvPr/>
        </p:nvSpPr>
        <p:spPr>
          <a:xfrm>
            <a:off x="6291072" y="367847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ours</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this your scarf? Is it ____?</a:t>
            </a:r>
            <a:endParaRPr lang="en-US" sz="1800" dirty="0"/>
          </a:p>
        </p:txBody>
      </p:sp>
      <p:sp>
        <p:nvSpPr>
          <p:cNvPr id="50" name="R4 ans"/>
          <p:cNvSpPr/>
          <p:nvPr/>
        </p:nvSpPr>
        <p:spPr>
          <a:xfrm>
            <a:off x="6291072" y="4406646"/>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Those are their gloves. They're ____.</a:t>
            </a:r>
            <a:endParaRPr lang="en-US" sz="1800" dirty="0"/>
          </a:p>
        </p:txBody>
      </p:sp>
      <p:sp>
        <p:nvSpPr>
          <p:cNvPr id="55" name="R5 ans"/>
          <p:cNvSpPr/>
          <p:nvPr/>
        </p:nvSpPr>
        <p:spPr>
          <a:xfrm>
            <a:off x="6291072" y="513481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theirs</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his wallet. It's ____.</a:t>
            </a:r>
            <a:endParaRPr lang="en-US" sz="1800" dirty="0"/>
          </a:p>
        </p:txBody>
      </p:sp>
      <p:sp>
        <p:nvSpPr>
          <p:cNvPr id="60" name="R6 ans"/>
          <p:cNvSpPr/>
          <p:nvPr/>
        </p:nvSpPr>
        <p:spPr>
          <a:xfrm>
            <a:off x="6291072" y="5862980"/>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____ bag is this?</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Whose</a:t>
            </a:r>
            <a:endParaRPr lang="en-US" sz="17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a:t>
            </a:r>
            <a:endParaRPr lang="en-US" sz="17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It's ____.</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my</a:t>
            </a:r>
            <a:endParaRPr lang="en-US" sz="17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mine</a:t>
            </a:r>
            <a:endParaRPr lang="en-US" sz="1700" dirty="0" b="1"/>
          </a:p>
        </p:txBody>
      </p:sp>
      <p:sp>
        <p:nvSpPr>
          <p:cNvPr id="15" name="R2 circle"/>
          <p:cNvSpPr/>
          <p:nvPr/>
        </p:nvSpPr>
        <p:spPr>
          <a:xfrm>
            <a:off x="910742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Is this ____ umbrella?</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a:t>
            </a:r>
            <a:endParaRPr lang="en-US" sz="17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yours</a:t>
            </a:r>
            <a:endParaRPr lang="en-US" sz="1700" dirty="0" b="1"/>
          </a:p>
        </p:txBody>
      </p:sp>
      <p:sp>
        <p:nvSpPr>
          <p:cNvPr id="19" name="R3 circle"/>
          <p:cNvSpPr/>
          <p:nvPr/>
        </p:nvSpPr>
        <p:spPr>
          <a:xfrm>
            <a:off x="714146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Those sunglasses are ____.</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a:t>
            </a:r>
            <a:endParaRPr lang="en-US" sz="17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hers</a:t>
            </a:r>
            <a:endParaRPr lang="en-US" sz="1700" dirty="0" b="1"/>
          </a:p>
        </p:txBody>
      </p:sp>
      <p:sp>
        <p:nvSpPr>
          <p:cNvPr id="23" name="R4 circle"/>
          <p:cNvSpPr/>
          <p:nvPr/>
        </p:nvSpPr>
        <p:spPr>
          <a:xfrm>
            <a:off x="910742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It's a ____ wallet.</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black small</a:t>
            </a:r>
            <a:endParaRPr lang="en-US" sz="17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small black</a:t>
            </a:r>
            <a:endParaRPr lang="en-US" sz="1700" dirty="0" b="1"/>
          </a:p>
        </p:txBody>
      </p:sp>
      <p:sp>
        <p:nvSpPr>
          <p:cNvPr id="27" name="R5 circle"/>
          <p:cNvSpPr/>
          <p:nvPr/>
        </p:nvSpPr>
        <p:spPr>
          <a:xfrm>
            <a:off x="910742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Scarf: a scarf"/>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mine.</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t>
            </a:r>
            <a:r>
              <a:rPr lang="en-US" sz="1700" dirty="0" b="1">
                <a:solidFill>
                  <a:srgbClr val="1B2236"/>
                </a:solidFill>
                <a:latin typeface="Lexend Deca" pitchFamily="34" charset="0"/>
                <a:ea typeface="Lexend Deca" pitchFamily="34" charset="-122"/>
                <a:cs typeface="Lexend Deca" pitchFamily="34" charset="-120"/>
              </a:rPr>
              <a:t>mine</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Is this your?</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Is this </a:t>
            </a:r>
            <a:r>
              <a:rPr lang="en-US" sz="1700" dirty="0" b="1">
                <a:solidFill>
                  <a:srgbClr val="1B2236"/>
                </a:solidFill>
                <a:latin typeface="Lexend Deca" pitchFamily="34" charset="0"/>
                <a:ea typeface="Lexend Deca" pitchFamily="34" charset="-122"/>
                <a:cs typeface="Lexend Deca" pitchFamily="34" charset="-120"/>
              </a:rPr>
              <a:t>yours</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Who's bag is this?</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Whose</a:t>
            </a:r>
            <a:r>
              <a:rPr lang="en-US" sz="1700" dirty="0" b="0">
                <a:solidFill>
                  <a:srgbClr val="1B2236"/>
                </a:solidFill>
                <a:latin typeface="Lexend Deca" pitchFamily="34" charset="0"/>
                <a:ea typeface="Lexend Deca" pitchFamily="34" charset="-122"/>
                <a:cs typeface="Lexend Deca" pitchFamily="34" charset="-120"/>
              </a:rPr>
              <a:t> bag is this?</a:t>
            </a:r>
            <a:endParaRPr lang="en-US" sz="1700" dirty="0" b="0"/>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a wallet black.</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 </a:t>
            </a:r>
            <a:r>
              <a:rPr lang="en-US" sz="1700" dirty="0" b="1">
                <a:solidFill>
                  <a:srgbClr val="1B2236"/>
                </a:solidFill>
                <a:latin typeface="Lexend Deca" pitchFamily="34" charset="0"/>
                <a:ea typeface="Lexend Deca" pitchFamily="34" charset="-122"/>
                <a:cs typeface="Lexend Deca" pitchFamily="34" charset="-120"/>
              </a:rPr>
              <a:t>black wallet</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Gloves: gloves"/>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and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Whose ____ is this?</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It's mine. / It's hers. / It's Ana's.</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points to a picture. B answers.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The Lost and Found Box</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 clerk. B = owner.</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fills in the form on an Owner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small, red, backpack…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describes the item.</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 lost my backpack. It's big and blue.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points: Is this yours?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Yes, it's mine! / No, it isn't mine. Mine is…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Whose Is It?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Keep your last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Look at the picture together.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Keep your last Owner Card.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Say whose each item is.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Number 3 is Maria's. It's hers.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card for it?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It isn't ours. Maybe it's theirs.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Purse: a handbag"/>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One with mine, yours, hers…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One with when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I was waiting for the bus when I lost my keys, so I called the lost and found.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it again with mine, yours….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Describe 2 things.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At home, find 3 things. Whose are they?</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2 sentences with I'd like to….</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ask Whose… is this?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It's mine / It's hers.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describe a lost item.</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fill out a lost-item report.</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They're the speaker's keys.   b. They're someone else's keys.</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It's his umbrella.   b. It's her umbrella.</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a small black wallet   b. a big brown wallet</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The gloves are ours.   b. The gloves are theirs.</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Keys: two keys">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David, Joan, and City Bus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made with Chatterbox TTS (MIT License), cloned from short synthetic reference clips made with Kokoro-82M (Apache License 2.0). No recordings of real people were used. Each file carries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8: Lost and Found</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