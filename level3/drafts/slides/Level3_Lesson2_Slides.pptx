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86" r:id="rId21"/>
    <p:sldId id="287" r:id="rId32"/>
    <p:sldId id="288" r:id="rId19"/>
    <p:sldId id="289" r:id="rId15"/>
    <p:sldId id="290" r:id="rId9"/>
    <p:sldId id="291" r:id="rId4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0.xml"/><Relationship Id="rId9" Type="http://schemas.openxmlformats.org/officeDocument/2006/relationships/slide" Target="slides/slide29.xml"/><Relationship Id="rId15" Type="http://schemas.openxmlformats.org/officeDocument/2006/relationships/slide" Target="slides/slide28.xml"/><Relationship Id="rId19" Type="http://schemas.openxmlformats.org/officeDocument/2006/relationships/slide" Target="slides/slide27.xml"/><Relationship Id="rId21" Type="http://schemas.openxmlformats.org/officeDocument/2006/relationships/slide" Target="slides/slide25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Act out shy (look down, speak very quietly: "…hi") and patient (wait calmly, smile, look at your watch).</a:t>
            </a:r>
          </a:p>
          <a:p>
            <a:r>
              <a:t>Learners say which column each word goes in: LOOKS or PERSONALITY. (All six words on this slide are PERSONALITY.)</a:t>
            </a:r>
          </a:p>
          <a:p>
            <a:r>
              <a:t>Partner game (2 min): A says a word. B points to the picture and makes a sentence (My brother is tall. / My teacher is patient. / A: curly hair. B: My sister has curly hair.). Switch.</a:t>
            </a:r>
          </a:p>
          <a:p>
            <a:r>
              <a:t>If behind: teach the ★ words only.</a:t>
            </a:r>
          </a:p>
          <a:p>
            <a:r>
              <a:t>Source: Level3_Lesson2.md (Step 2; New Words page; Partner game).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Use the class: "Who has glasses?" (learners with glasses raise a hand) • "Who has curly hair?"</a:t>
            </a:r>
          </a:p>
          <a:p>
            <a:r>
              <a:t>Two groups of words: draw two columns on the board: LOOKS (tall, short, curly hair, straight hair, beard, glasses) and PERSONALITY (friendly, shy, funny, hardworking, patient, quiet).</a:t>
            </a:r>
          </a:p>
          <a:p>
            <a:r>
              <a:t>If behind: teach the ★ words only.</a:t>
            </a:r>
          </a:p>
          <a:p>
            <a:r>
              <a:t>Source: Level3_Lesson2.md (Step 2; Key vocabulary; New Words page).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a reason. A asks one follow-up question (follow-ups on the right). Then switch.</a:t>
            </a:r>
          </a:p>
          <a:p>
            <a:r>
              <a:t>Homework Check (4 min, last click): partners compare Lesson 1 Homework item 1 (the because answers): "My partner's answer to Why are you learning English?" Walk around. Write 2 common errors on the board and correct them together. Correct only those 2.</a:t>
            </a:r>
          </a:p>
          <a:p>
            <a:r>
              <a:t>Source: Level3_Lesson2.md (Step 1; Opening Talk page: cards, follow-ups, homework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Pairs, the same partner for both parts. 15 learners: 7 pairs + 1 group of 3. 7–8 learners: 3–4 pairs.</a:t>
            </a:r>
          </a:p>
          <a:p>
            <a:r>
              <a:t>Before class, write on the board: Ask one follow-up question. Give a reason: because… / so…</a:t>
            </a:r>
          </a:p>
          <a:p>
            <a:r>
              <a:t>Model with one learner: "Why are you learning English?" → (answer) → "Really? Where do you use English?" (Click to show the follow-up.)</a:t>
            </a:r>
          </a:p>
          <a:p>
            <a:r>
              <a:t>Opening Talk (6 min): learners open the Opening Talk page. A asks a card question; B answers with a reason; A asks one follow-up. Switch after each card. The cards are on the next slide.</a:t>
            </a:r>
          </a:p>
          <a:p>
            <a:r>
              <a:t>Late arrivals join any pair as a group of 3. If behind: one card only, then the homework check.</a:t>
            </a:r>
          </a:p>
          <a:p>
            <a:r>
              <a:t>Source: Level3_Lesson2.md (Step 1; Opening Talk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"Who's who?" Say: "Tonight we describe people: how they look and what they are like."</a:t>
            </a:r>
          </a:p>
          <a:p>
            <a:r>
              <a:t>Read the three lines under "Today you will". Give one quick example of each: "She's tall. She has curly hair." (looks) • "He's friendly and funny." (personality) • "I work with her." (object pronoun).</a:t>
            </a:r>
          </a:p>
          <a:p>
            <a:r>
              <a:t>Kind words only: tonight we talk about hair, height, glasses, beards, clothes, and personality. Never weight, skin color, or age.</a:t>
            </a:r>
          </a:p>
          <a:p>
            <a:r>
              <a:t>Source: Level3_Lesson2.md (Topic; At a glance: Objectives; Teacher notes: Kind words only).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height, hair, a beard, glasses, clothes (She's tall. She has curly hair.). Goal 2: personality (He's friendly and funny.).</a:t>
            </a:r>
          </a:p>
          <a:p>
            <a:r>
              <a:t>Goal 3: What does he look like? (looks) and What's he like? (personality). Goal 4: Which one is your sister? → The woman with long hair.</a:t>
            </a:r>
          </a:p>
          <a:p>
            <a:r>
              <a:t>Goal 5: object pronouns me, him, her, us, them (I work with her. She always helps me.). Goal 6: read a short welcome email and write 3–4 sentences about a friend or family member.</a:t>
            </a:r>
          </a:p>
          <a:p>
            <a:r>
              <a:t>"We check at 7:25" = the Progress Check. It is not a test grade.</a:t>
            </a:r>
          </a:p>
          <a:p>
            <a:r>
              <a:t>Source: Level3_Lesson2.md (At a glance: Objectives; Progress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"Is a beard on your head or on your face?" (face) • 2. "A shy person talks a lot: yes or no?" (no) • 3. "A hardworking person works a little or a lot?" (a lot)</a:t>
            </a:r>
          </a:p>
          <a:p>
            <a:r>
              <a:t>Source: Level3_Lesson2.md (Step 2: Check meaning).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Point to the picture and say: "It's Omar's first day at a hotel. His supervisor is Linda. She tells him about two coworkers, Kevin and Nora. Who is Kevin? Who is Nora? Listen."</a:t>
            </a:r>
          </a:p>
          <a:p>
            <a:r>
              <a:t>There are three voices: a Narrator, Linda, and Omar. Each click highlights the next voice.</a:t>
            </a:r>
          </a:p>
          <a:p>
            <a:r>
              <a:t>The audio (L3_L2_listening.mp3, about 1:20) plays the conversation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L3_L2_listening.mp3 (about 1:20) is not recorded yet (see level3/AUDIO_STATUS.md). It will use computer-generated voices (Chatterbox TTS cloned from synthetic Kokoro-82M reference clips); no recordings of real people. Until the file is ready, read the listening script with a volunteer. The names and the story are invented.</a:t>
            </a:r>
          </a:p>
          <a:p>
            <a:r>
              <a:t>Source: Level3_Lesson2.md (Step 3; Listening script; Listening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A. Learners write the letter of each person. Pairs compare. Check together.</a:t>
            </a:r>
          </a:p>
          <a:p>
            <a:r>
              <a:t>Click to circle each answer (one click per item, 1 to 3): Kevin a (tall, beard, glasses) • Nora b (short, long straight hair) • Sam c (curly hair). Person d is not in the conversation.</a:t>
            </a:r>
          </a:p>
          <a:p>
            <a:r>
              <a:t>Then read Tasks B and C together (1 min) so learners know what to listen for.</a:t>
            </a:r>
          </a:p>
          <a:p>
            <a:r>
              <a:t>Source: Level3_Lesson2.md (Step 3; Listening Task A; Answer key).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1 Kevin, 2 Kevin, 3 Nora, 4 Nora, 5 Nora, 6 Nora.</a:t>
            </a:r>
          </a:p>
          <a:p>
            <a:r>
              <a:t>Source: Level3_Lesson2.md (Step 3; Listening Task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(same play 2 as Task B). Learners write him, her, or them. Pairs compare.</a:t>
            </a:r>
          </a:p>
          <a:p>
            <a:r>
              <a:t>Click to show each answer (one click per item, 1 to 5): 1 him, 2 her, her, 3 them, 4 them, 5 him.</a:t>
            </a:r>
          </a:p>
          <a:p>
            <a:r>
              <a:t>If behind: do Task C together on the board, reading the lines yourself.</a:t>
            </a:r>
          </a:p>
          <a:p>
            <a:r>
              <a:t>Source: Level3_Lesson2.md (Step 3; Listening Task C;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Read the words in the "Say it" box. Clap on the strong part: FRIENDly, HARDworking, PAtient, CURly, GLASSes.</a:t>
            </a:r>
          </a:p>
          <a:p>
            <a:r>
              <a:t>The class repeats each word twice, then the line "Everyone likes him."</a:t>
            </a:r>
          </a:p>
          <a:p>
            <a:r>
              <a:t>Source: Level3_Lesson2.md (Step 3: "Say it"; Listening page: Say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21). Whole class, then pairs. Show the Grammar page. The left side is the question. The right side is the answer.</a:t>
            </a:r>
          </a:p>
          <a:p>
            <a:r>
              <a:t>Boxes 1 and 2 (4 min): write on the board: look like = LOOKS and be like = PERSONALITY. Ask about a picture on the New Words page: "What does he look like?" → "He's tall. He has a beard."</a:t>
            </a:r>
          </a:p>
          <a:p>
            <a:r>
              <a:t>Read across: A reads from the left side; B answers from the right side. Choose one part from each column. Each click shows the answer side of one row.</a:t>
            </a:r>
          </a:p>
          <a:p>
            <a:r>
              <a:t>Source: Level3_Lesson2.md (Step 4; Grammar Box 1).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be like = PERSONALITY. Ask: "What's he like?" → "He's funny."</a:t>
            </a:r>
          </a:p>
          <a:p>
            <a:r>
              <a:t>Read across. Each click shows the answer side of one row.</a:t>
            </a:r>
          </a:p>
          <a:p>
            <a:r>
              <a:t>Check: "If the answer is about the body or clothes, the question is What does she look like? If it's about personality, it's What's she like?"</a:t>
            </a:r>
          </a:p>
          <a:p>
            <a:r>
              <a:t>Source: Level3_Lesson2.md (Step 4; Grammar Box 2; Teacher notes: look like vs. be like).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 (2 min): point to the picture (the people from the Listening page). Ask: "Which one is Nora?" → "The short woman with long, straight hair." Learners ask about Kevin and Sam.</a:t>
            </a:r>
          </a:p>
          <a:p>
            <a:r>
              <a:t>the + person + with + thing: the woman with glasses, the man with a beard. For clothes you can also say in: the man in the blue shirt.</a:t>
            </a:r>
          </a:p>
          <a:p>
            <a:r>
              <a:t>Each click shows the answer side of one row.</a:t>
            </a:r>
          </a:p>
          <a:p>
            <a:r>
              <a:t>Source: Level3_Lesson2.md (Step 4; Grammar Box 3; Questions and answers).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 (4 min): read the two columns: I → me, he → him, she → her, we → us, they → them.</a:t>
            </a:r>
          </a:p>
          <a:p>
            <a:r>
              <a:t>Say: "The second word comes after the verb or after with, to, for." Read each example; the class repeats. Each click shows one row.</a:t>
            </a:r>
          </a:p>
          <a:p>
            <a:r>
              <a:t>Check questions: "Do you know Ana? Yes, I know ___." (her) • "Ask Kevin. Ask ___." (him) • "What does she look ___?" (like) • "She has long ___." (hair, not hairs)</a:t>
            </a:r>
          </a:p>
          <a:p>
            <a:r>
              <a:t>Source: Level3_Lesson2.md (Step 4; Grammar Box 4).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5: questions and answers with object pronouns. A reads a question; B reads the answer. Each click shows one answer.</a:t>
            </a:r>
          </a:p>
          <a:p>
            <a:r>
              <a:t>Object pronouns come after the verb (I know her) and after small words like with, to, for, at (Come with me. Look at him.).</a:t>
            </a:r>
          </a:p>
          <a:p>
            <a:r>
              <a:t>Source: Level3_Lesson2.md (Step 4; Grammar Box 5; Teacher notes: Object pronouns).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her, 2 them, 3 him, 4 us, 5 me, 6 it.</a:t>
            </a:r>
          </a:p>
          <a:p>
            <a:r>
              <a:t>Source: Level3_Lesson2.md (Step 4; Grammar Practice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write look like or like. Tip: look at the answer. Body or clothes = look like. Personality = like.</a:t>
            </a:r>
          </a:p>
          <a:p>
            <a:r>
              <a:t>Click to show each answer (one click per item, 1 to 4): 1 look like, 2 like, 3 like, 4 look like.</a:t>
            </a:r>
          </a:p>
          <a:p>
            <a:r>
              <a:t>Source: Level3_Lesson2.md (Step 4; Grammar Practice B; Answer key; Teacher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7.</a:t>
            </a:r>
          </a:p>
          <a:p>
            <a:r>
              <a:t>1: hair has no -s • 2: personality = What's she like? (looks = What does she look like?) • 3: the describing word goes before the noun • 4: adjectives never take -s • 5: add the object (her) • 6: after with, use her • 7: He helps (add -s).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Source: Level3_Lesson2.md (Grammar: Common mistakes; Teacher notes: Typical mistakes).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names a person in the class (only names!). B describes how the person looks, and A asks What's he / she like? B answers only with kind words. Then switch.</a:t>
            </a:r>
          </a:p>
          <a:p>
            <a:r>
              <a:t>Real classmates: learners describe classmates only with the New Words. If a learner seems uncomfortable, describe people in the pictures instead.</a:t>
            </a:r>
          </a:p>
          <a:p>
            <a:r>
              <a:t>If behind: skip the pair drill. Talk Time practices it.</a:t>
            </a:r>
          </a:p>
          <a:p>
            <a:r>
              <a:t>Source: Level3_Lesson2.md (Step 4: Pair drill; Teacher notes: Kind words only, Real classmates).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Pick Them Up · 12 min. Pairs, then groups of 3. 15 learners: 7 pairs + 1 group of 3 (two people share the A cards). 7–8 learners: 3–4 pairs. 5 or fewer: one group; take turns describing.</a:t>
            </a:r>
          </a:p>
          <a:p>
            <a:r>
              <a:t>Round 1 (7 min): each pair has the crowd picture (people 1–12) and two piles of cards. A takes an A card and doesn't show it. A: "Can you pick up my cousin at the bus station?" B: "What does she look like?" A describes the person (height, hair, glasses or a beard, the shirt color). B points and says the number. A: "Yes, that's her!" or "No, she has glasses." Then B asks one follow-up: "What's she like?" A invents an answer. Switch: B takes a B card. (Each click shows the next step.)</a:t>
            </a:r>
          </a:p>
          <a:p>
            <a:r>
              <a:t>Model with one learner (1 min): card A1 (person 7) and the model dialogue: "She's tall, and she has long, straight hair and glasses. She's wearing a blue shirt." → "Is that her? Number 7?" → "Yes, that's her!" → "What's she like?" → "She's really friendly, but she's a little shy at first."</a:t>
            </a:r>
          </a:p>
          <a:p>
            <a:r>
              <a:t>Answers (the number B should point to): A1 Lisa = 7 • A2 Pedro = 8 • A3 Ana = 9 • A4 Tom = 6 • B1 Julia = 1 • B2 Mr. Park = 2 • B3 Rosa = 11 • B4 Leo = 10. The personality answers are invented.</a:t>
            </a:r>
          </a:p>
          <a:p>
            <a:r>
              <a:t>Round 2 (4 min): groups of 3. Each learner describes a person they admire, personality only, with one reason (My aunt is very patient, because she never gets angry.). The others ask one follow-up question each.</a:t>
            </a:r>
          </a:p>
          <a:p>
            <a:r>
              <a:t>Writing: after round 1, learners write 2 of the people they found in the table on the Talk Time page. Baseline snapshot: call about 5 learners (the ones you didn't talk to in Week 1) for 2 minutes each.</a:t>
            </a:r>
          </a:p>
          <a:p>
            <a:r>
              <a:t>If behind: round 1 only.</a:t>
            </a:r>
          </a:p>
          <a:p>
            <a:r>
              <a:t>Source: Level3_Lesson2.md (Step 5; Talk Time pages; Answer key).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 about a friend or family member: one about how the person looks and one about what the person is like, with because or so (My brother is funny, so everyone likes him.). Collect at the door.</a:t>
            </a:r>
          </a:p>
          <a:p>
            <a:r>
              <a:t>Homework: open the Homework page. Do item 1 together (describe one person on the board with the class). Say: "About 15 minutes. Bring it next week."</a:t>
            </a:r>
          </a:p>
          <a:p>
            <a:r>
              <a:t>Homework items: 1 describe a friend or family member (2 sentences about looks, 2 about personality); 2 write him, her, us, or them; 3 ask a family member or friend "What was your favorite teacher like?" and one follow-up; 4 review (Lesson 1): write because or so.</a:t>
            </a:r>
          </a:p>
          <a:p>
            <a:r>
              <a:t>Read &amp; Write (7:17–7:25, on the Student Pages): a welcome email; questions 1–5; then 3–4 sentences about a friend or family member.</a:t>
            </a:r>
          </a:p>
          <a:p>
            <a:r>
              <a:t>Source: Level3_Lesson2.md (Step 6; Homework page; Read &amp; Write step).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"My brother is tall, and he has a beard." (a) • 2 "My neighbor never gets angry. She's very patient." (b) • 3 "Which one is your sister? The woman with curly hair." (a) • 4 "What's your coworker like? He's funny and friendly." (b)</a:t>
            </a:r>
          </a:p>
          <a:p>
            <a:r>
              <a:t>Parts B and C: learners do them alone. Walk around and help with the instructions only. B answers: 1 look like, 2 him, 3 them, 4 us. C: answers will vary (for example She's short, and she has long hair. / She's very friendly.).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with look like / be like (A, B1, C) and with object pronouns (B2–B4).</a:t>
            </a:r>
          </a:p>
          <a:p>
            <a:r>
              <a:t>Collect the pages (or check them at the start of Week 3). If behind: do the Progress Check in Week 3 at 6:00, while learners arrive.</a:t>
            </a:r>
          </a:p>
          <a:p>
            <a:r>
              <a:t>Source: Level3_Lesson2.md (Progress Check step; Progress Check page;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Point to one picture and ask: "What does he look like? What's he like?"</a:t>
            </a:r>
          </a:p>
          <a:p>
            <a:r>
              <a:t>Remind learners: homework is about 15 minutes. Bring it next week.</a:t>
            </a:r>
          </a:p>
          <a:p>
            <a:r>
              <a:t>Source: Level3_Lesson2.md (At a glance: Objectives; Step 6).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drawn bodies, glasses, speech bubbles,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L3_L2_listening.mp3 (about 1:20) is not recorded yet (see level3/AUDIO_STATUS.md). It will use computer-generated voices (Chatterbox TTS cloned from synthetic Kokoro-82M reference clips); no recordings of real people. Until the file is ready, read the listening script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Source: Level3_Lesson2.md (Picture Credits);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notesSlide" Target="../notesSlides/notesSlide8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Friendly: smiling face + waving hand, bubble &quot;Hi! Welcome!&quot;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2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Who's Who?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Describe how someone looks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Describe someone's personality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me, him, her, us, them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kind words only.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describe how someone looks.</a:t>
            </a:r>
            <a:endParaRPr lang="en-US" sz="18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tall  ·  curly hair  ·  glasses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describe someone's personality.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What does he look like? and What's he like?</a:t>
            </a:r>
            <a:endParaRPr lang="en-US" sz="18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which one: the woman with long hair.</a:t>
            </a:r>
            <a:endParaRPr lang="en-US" sz="18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me, him, her, us, them.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about a friend.</a:t>
            </a:r>
            <a:endParaRPr lang="en-US" sz="20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Friendly: smiling face + waving hand, bubble &quot;Hi! Welcome!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2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are you learning English?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a reason.</a:t>
            </a:r>
            <a:endParaRPr lang="en-US" sz="22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2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Where do you use English?</a:t>
            </a:r>
            <a:endParaRPr lang="en-US" sz="22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Why? What happened? How was it? Where? Who with? What about you?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are you learning English?</a:t>
            </a:r>
            <a:endParaRPr lang="en-US" sz="20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you do last weekend?</a:t>
            </a:r>
            <a:endParaRPr lang="en-US" sz="20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me about a neighbor or a coworker.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going to do this weekend? Why?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1, item 1.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Tall: a tall person next to a person of average height; height arrow and label &quot;tall&quot;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tall</a:t>
            </a:r>
            <a:endParaRPr lang="en-US" sz="2000" dirty="0" b="1"/>
          </a:p>
        </p:txBody>
      </p:sp>
      <p:pic>
        <p:nvPicPr>
          <p:cNvPr id="19" name="Word picture 2" descr="Short: a person of average height next to a short person; height arrow and label &quot;short&quot;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short</a:t>
            </a:r>
            <a:endParaRPr lang="en-US" sz="2000" dirty="0" b="1"/>
          </a:p>
        </p:txBody>
      </p:sp>
      <p:pic>
        <p:nvPicPr>
          <p:cNvPr id="21" name="Word picture 3" descr="Curly hair: a woman and a man with curly hair, label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curly hair</a:t>
            </a:r>
            <a:endParaRPr lang="en-US" sz="2000" dirty="0" b="1"/>
          </a:p>
        </p:txBody>
      </p:sp>
      <p:pic>
        <p:nvPicPr>
          <p:cNvPr id="23" name="Word picture 4" descr="Straight hair: a woman and a man with straight hair, labe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straight hair</a:t>
            </a:r>
            <a:endParaRPr lang="en-US" sz="2000" dirty="0" b="1"/>
          </a:p>
        </p:txBody>
      </p:sp>
      <p:pic>
        <p:nvPicPr>
          <p:cNvPr id="25" name="Word picture 5" descr="Beard: a man with a beard, labe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beard</a:t>
            </a:r>
            <a:endParaRPr lang="en-US" sz="2000" dirty="0" b="1"/>
          </a:p>
        </p:txBody>
      </p:sp>
      <p:pic>
        <p:nvPicPr>
          <p:cNvPr id="27" name="Word picture 6" descr="Glasses: a pair of glasses + a woman wearing glasses, label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glasses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Friendly: smiling face + waving hand, bubble &quot;Hi! Welcome!&quot;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friendly</a:t>
            </a:r>
            <a:endParaRPr lang="en-US" sz="2000" dirty="0" b="1"/>
          </a:p>
        </p:txBody>
      </p:sp>
      <p:pic>
        <p:nvPicPr>
          <p:cNvPr id="19" name="Word picture 2" descr="Shy: a face peeking from behind its hand answers a quiet &quot;...hi&quot; to a person saying &quot;Hi!&quot;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shy</a:t>
            </a:r>
            <a:endParaRPr lang="en-US" sz="2000" dirty="0" b="1"/>
          </a:p>
        </p:txBody>
      </p:sp>
      <p:pic>
        <p:nvPicPr>
          <p:cNvPr id="21" name="Word picture 3" descr="Funny: a joking face and two laughing faces, bubble &quot;Ha ha ha!&quot;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funny</a:t>
            </a:r>
            <a:endParaRPr lang="en-US" sz="2000" dirty="0" b="1"/>
          </a:p>
        </p:txBody>
      </p:sp>
      <p:pic>
        <p:nvPicPr>
          <p:cNvPr id="23" name="Word picture 4" descr="Hardworking: a woman worker, a box and a strong arm, label &quot;works hard&quot;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hardworking</a:t>
            </a:r>
            <a:endParaRPr lang="en-US" sz="2000" dirty="0" b="1"/>
          </a:p>
        </p:txBody>
      </p:sp>
      <p:pic>
        <p:nvPicPr>
          <p:cNvPr id="25" name="Word picture 5" descr="Patient: a calm face + an hourglass, &quot;30 min&quot;, label &quot;waits calmly&quot;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patient</a:t>
            </a:r>
            <a:endParaRPr lang="en-US" sz="2000" dirty="0" b="1"/>
          </a:p>
        </p:txBody>
      </p:sp>
      <p:pic>
        <p:nvPicPr>
          <p:cNvPr id="27" name="Word picture 6" descr="Quiet: a face saying &quot;shh&quot; + an open book, label &quot;doesn't talk much&quot;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quiet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beard on your head or on your face?</a:t>
            </a:r>
            <a:endParaRPr lang="en-US" sz="1800" dirty="0" b="1"/>
          </a:p>
        </p:txBody>
      </p:sp>
      <p:pic>
        <p:nvPicPr>
          <p:cNvPr id="101" name="R1 pic" descr="Beard: a man with a beard, labe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shy person talks a lot: yes or no?</a:t>
            </a:r>
            <a:endParaRPr lang="en-US" sz="1800" dirty="0" b="1"/>
          </a:p>
        </p:txBody>
      </p:sp>
      <p:pic>
        <p:nvPicPr>
          <p:cNvPr id="102" name="R2 pic" descr="Shy: a face peeking from behind its hand answers a quiet &quot;...hi&quot; to a person saying &quot;Hi!&quot;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hardworking person works a little or a lot?</a:t>
            </a:r>
            <a:endParaRPr lang="en-US" sz="1800" dirty="0" b="1"/>
          </a:p>
        </p:txBody>
      </p:sp>
      <p:pic>
        <p:nvPicPr>
          <p:cNvPr id="103" name="R3 pic" descr="Hardworking: a woman worker, a box and a strong arm, label &quot;works hard&quot;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face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lot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Omar's first day at a hotel. Linda is his supervisor.</a:t>
            </a:r>
            <a:endParaRPr lang="en-US" sz="20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People a to d: four standing people a-d: tall man with beard and glasses; short woman with long straight hair; man with curly hair; woman with curly hair and glass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743200"/>
            <a:ext cx="2743200" cy="128016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Linda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Omar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is Kevin?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is Nora?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1:20.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Who is it?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letter: a, b, c, or d.</a:t>
            </a:r>
            <a:endParaRPr lang="en-US" sz="2200" dirty="0" b="1"/>
          </a:p>
        </p:txBody>
      </p:sp>
      <p:sp>
        <p:nvSpPr>
          <p:cNvPr id="8" name="R1 stmt"/>
          <p:cNvSpPr/>
          <p:nvPr/>
        </p:nvSpPr>
        <p:spPr>
          <a:xfrm>
            <a:off x="5394960" y="3108960"/>
            <a:ext cx="204825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Kevin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7626096" y="3108960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8513064" y="3108960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11" name="R1 opt3"/>
          <p:cNvSpPr/>
          <p:nvPr/>
        </p:nvSpPr>
        <p:spPr>
          <a:xfrm>
            <a:off x="9400032" y="3108960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2000" dirty="0" b="1"/>
          </a:p>
        </p:txBody>
      </p:sp>
      <p:sp>
        <p:nvSpPr>
          <p:cNvPr id="12" name="R1 opt4"/>
          <p:cNvSpPr/>
          <p:nvPr/>
        </p:nvSpPr>
        <p:spPr>
          <a:xfrm>
            <a:off x="10287000" y="3108960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</a:t>
            </a:r>
            <a:endParaRPr lang="en-US" sz="2000" dirty="0" b="1"/>
          </a:p>
        </p:txBody>
      </p:sp>
      <p:sp>
        <p:nvSpPr>
          <p:cNvPr id="13" name="R1 circle"/>
          <p:cNvSpPr/>
          <p:nvPr/>
        </p:nvSpPr>
        <p:spPr>
          <a:xfrm>
            <a:off x="7498080" y="3054096"/>
            <a:ext cx="9418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4" name="R2 stmt"/>
          <p:cNvSpPr/>
          <p:nvPr/>
        </p:nvSpPr>
        <p:spPr>
          <a:xfrm>
            <a:off x="5394960" y="3913632"/>
            <a:ext cx="204825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Nora</a:t>
            </a:r>
            <a:endParaRPr lang="en-US" sz="2000" dirty="0"/>
          </a:p>
        </p:txBody>
      </p:sp>
      <p:sp>
        <p:nvSpPr>
          <p:cNvPr id="15" name="R2 opt1"/>
          <p:cNvSpPr/>
          <p:nvPr/>
        </p:nvSpPr>
        <p:spPr>
          <a:xfrm>
            <a:off x="7626096" y="3913632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16" name="R2 opt2"/>
          <p:cNvSpPr/>
          <p:nvPr/>
        </p:nvSpPr>
        <p:spPr>
          <a:xfrm>
            <a:off x="8513064" y="3913632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17" name="R2 opt3"/>
          <p:cNvSpPr/>
          <p:nvPr/>
        </p:nvSpPr>
        <p:spPr>
          <a:xfrm>
            <a:off x="9400032" y="3913632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2000" dirty="0" b="1"/>
          </a:p>
        </p:txBody>
      </p:sp>
      <p:sp>
        <p:nvSpPr>
          <p:cNvPr id="18" name="R2 opt4"/>
          <p:cNvSpPr/>
          <p:nvPr/>
        </p:nvSpPr>
        <p:spPr>
          <a:xfrm>
            <a:off x="10287000" y="3913632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</a:t>
            </a:r>
            <a:endParaRPr lang="en-US" sz="2000" dirty="0" b="1"/>
          </a:p>
        </p:txBody>
      </p:sp>
      <p:sp>
        <p:nvSpPr>
          <p:cNvPr id="19" name="R2 circle"/>
          <p:cNvSpPr/>
          <p:nvPr/>
        </p:nvSpPr>
        <p:spPr>
          <a:xfrm>
            <a:off x="8385048" y="3858768"/>
            <a:ext cx="9418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3 stmt"/>
          <p:cNvSpPr/>
          <p:nvPr/>
        </p:nvSpPr>
        <p:spPr>
          <a:xfrm>
            <a:off x="5394960" y="4718304"/>
            <a:ext cx="204825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Sam</a:t>
            </a:r>
            <a:endParaRPr lang="en-US" sz="2000" dirty="0"/>
          </a:p>
        </p:txBody>
      </p:sp>
      <p:sp>
        <p:nvSpPr>
          <p:cNvPr id="21" name="R3 opt1"/>
          <p:cNvSpPr/>
          <p:nvPr/>
        </p:nvSpPr>
        <p:spPr>
          <a:xfrm>
            <a:off x="7626096" y="4718304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22" name="R3 opt2"/>
          <p:cNvSpPr/>
          <p:nvPr/>
        </p:nvSpPr>
        <p:spPr>
          <a:xfrm>
            <a:off x="8513064" y="4718304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23" name="R3 opt3"/>
          <p:cNvSpPr/>
          <p:nvPr/>
        </p:nvSpPr>
        <p:spPr>
          <a:xfrm>
            <a:off x="9400032" y="4718304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2000" dirty="0" b="1"/>
          </a:p>
        </p:txBody>
      </p:sp>
      <p:sp>
        <p:nvSpPr>
          <p:cNvPr id="24" name="R3 opt4"/>
          <p:cNvSpPr/>
          <p:nvPr/>
        </p:nvSpPr>
        <p:spPr>
          <a:xfrm>
            <a:off x="10287000" y="4718304"/>
            <a:ext cx="6858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</a:t>
            </a:r>
            <a:endParaRPr lang="en-US" sz="2000" dirty="0" b="1"/>
          </a:p>
        </p:txBody>
      </p:sp>
      <p:sp>
        <p:nvSpPr>
          <p:cNvPr id="25" name="R3 circle"/>
          <p:cNvSpPr/>
          <p:nvPr/>
        </p:nvSpPr>
        <p:spPr>
          <a:xfrm>
            <a:off x="9272016" y="4663440"/>
            <a:ext cx="9418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pic>
        <p:nvPicPr>
          <p:cNvPr id="26" name="Row picture" descr="People a to d: four standing people a-d: tall man with beard and glasses; short woman with long straight hair; man with curly hair; woman with curly hair and glass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110484"/>
            <a:ext cx="4754880" cy="2218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Who is it?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 Kevin or Nora.</a:t>
            </a:r>
            <a:endParaRPr lang="en-US" sz="2200" dirty="0" b="1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71780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friendly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7863840" y="310896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Kevin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9601200" y="310896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</a:t>
            </a:r>
            <a:endParaRPr lang="en-US" sz="2000" dirty="0" b="1"/>
          </a:p>
        </p:txBody>
      </p:sp>
      <p:sp>
        <p:nvSpPr>
          <p:cNvPr id="11" name="R1 circle"/>
          <p:cNvSpPr/>
          <p:nvPr/>
        </p:nvSpPr>
        <p:spPr>
          <a:xfrm>
            <a:off x="7735824" y="3054096"/>
            <a:ext cx="16276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71780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funny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7863840" y="365760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Kevin</a:t>
            </a:r>
            <a:endParaRPr lang="en-US" sz="2000" dirty="0" b="1"/>
          </a:p>
        </p:txBody>
      </p:sp>
      <p:sp>
        <p:nvSpPr>
          <p:cNvPr id="14" name="R2 opt2"/>
          <p:cNvSpPr/>
          <p:nvPr/>
        </p:nvSpPr>
        <p:spPr>
          <a:xfrm>
            <a:off x="9601200" y="365760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</a:t>
            </a:r>
            <a:endParaRPr lang="en-US" sz="2000" dirty="0" b="1"/>
          </a:p>
        </p:txBody>
      </p:sp>
      <p:sp>
        <p:nvSpPr>
          <p:cNvPr id="15" name="R2 circle"/>
          <p:cNvSpPr/>
          <p:nvPr/>
        </p:nvSpPr>
        <p:spPr>
          <a:xfrm>
            <a:off x="7735824" y="3602736"/>
            <a:ext cx="16276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71780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shy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7863840" y="420624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Kevin</a:t>
            </a:r>
            <a:endParaRPr lang="en-US" sz="2000" dirty="0" b="1"/>
          </a:p>
        </p:txBody>
      </p:sp>
      <p:sp>
        <p:nvSpPr>
          <p:cNvPr id="18" name="R3 opt2"/>
          <p:cNvSpPr/>
          <p:nvPr/>
        </p:nvSpPr>
        <p:spPr>
          <a:xfrm>
            <a:off x="9601200" y="420624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</a:t>
            </a:r>
            <a:endParaRPr lang="en-US" sz="2000" dirty="0" b="1"/>
          </a:p>
        </p:txBody>
      </p:sp>
      <p:sp>
        <p:nvSpPr>
          <p:cNvPr id="19" name="R3 circle"/>
          <p:cNvSpPr/>
          <p:nvPr/>
        </p:nvSpPr>
        <p:spPr>
          <a:xfrm>
            <a:off x="9473184" y="4151376"/>
            <a:ext cx="16276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71780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quiet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7863840" y="475488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Kevin</a:t>
            </a:r>
            <a:endParaRPr lang="en-US" sz="2000" dirty="0" b="1"/>
          </a:p>
        </p:txBody>
      </p:sp>
      <p:sp>
        <p:nvSpPr>
          <p:cNvPr id="22" name="R4 opt2"/>
          <p:cNvSpPr/>
          <p:nvPr/>
        </p:nvSpPr>
        <p:spPr>
          <a:xfrm>
            <a:off x="9601200" y="475488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</a:t>
            </a:r>
            <a:endParaRPr lang="en-US" sz="2000" dirty="0" b="1"/>
          </a:p>
        </p:txBody>
      </p:sp>
      <p:sp>
        <p:nvSpPr>
          <p:cNvPr id="23" name="R4 circle"/>
          <p:cNvSpPr/>
          <p:nvPr/>
        </p:nvSpPr>
        <p:spPr>
          <a:xfrm>
            <a:off x="9473184" y="4700016"/>
            <a:ext cx="16276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71780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hardworking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7863840" y="530352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Kevin</a:t>
            </a:r>
            <a:endParaRPr lang="en-US" sz="2000" dirty="0" b="1"/>
          </a:p>
        </p:txBody>
      </p:sp>
      <p:sp>
        <p:nvSpPr>
          <p:cNvPr id="26" name="R5 opt2"/>
          <p:cNvSpPr/>
          <p:nvPr/>
        </p:nvSpPr>
        <p:spPr>
          <a:xfrm>
            <a:off x="9601200" y="530352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</a:t>
            </a:r>
            <a:endParaRPr lang="en-US" sz="2000" dirty="0" b="1"/>
          </a:p>
        </p:txBody>
      </p:sp>
      <p:sp>
        <p:nvSpPr>
          <p:cNvPr id="27" name="R5 circle"/>
          <p:cNvSpPr/>
          <p:nvPr/>
        </p:nvSpPr>
        <p:spPr>
          <a:xfrm>
            <a:off x="9473184" y="5248656"/>
            <a:ext cx="16276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71780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patient</a:t>
            </a:r>
            <a:endParaRPr lang="en-US" sz="2000" dirty="0"/>
          </a:p>
        </p:txBody>
      </p:sp>
      <p:sp>
        <p:nvSpPr>
          <p:cNvPr id="29" name="R6 opt1"/>
          <p:cNvSpPr/>
          <p:nvPr/>
        </p:nvSpPr>
        <p:spPr>
          <a:xfrm>
            <a:off x="7863840" y="585216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Kevin</a:t>
            </a:r>
            <a:endParaRPr lang="en-US" sz="2000" dirty="0" b="1"/>
          </a:p>
        </p:txBody>
      </p:sp>
      <p:sp>
        <p:nvSpPr>
          <p:cNvPr id="30" name="R6 opt2"/>
          <p:cNvSpPr/>
          <p:nvPr/>
        </p:nvSpPr>
        <p:spPr>
          <a:xfrm>
            <a:off x="9601200" y="5852160"/>
            <a:ext cx="13716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Nora</a:t>
            </a:r>
            <a:endParaRPr lang="en-US" sz="2000" dirty="0" b="1"/>
          </a:p>
        </p:txBody>
      </p:sp>
      <p:sp>
        <p:nvSpPr>
          <p:cNvPr id="31" name="R6 circle"/>
          <p:cNvSpPr/>
          <p:nvPr/>
        </p:nvSpPr>
        <p:spPr>
          <a:xfrm>
            <a:off x="9473184" y="5797296"/>
            <a:ext cx="16276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him, her, or them.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can ask ____ for help.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08192" y="2525573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him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to ____, and ask ____ questions.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08192" y="3311957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her, her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can I find ____?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08192" y="4098341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them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Come with me. I can introduce you to ____.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08192" y="4884725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them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Let's go and say hi to ____.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08192" y="5671109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him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clap on the strong part.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word two times.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Clap on the strong part.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say it: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Everyone likes him.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FRIEND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ly  ·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HARD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  ·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tient</a:t>
            </a:r>
            <a:endParaRPr lang="en-US" sz="24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CUR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ly  ·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GLASS</a:t>
            </a: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es</a:t>
            </a:r>
            <a:endParaRPr lang="en-US" sz="24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Everyone likes him.</a:t>
            </a:r>
            <a:endParaRPr lang="en-US" sz="2400" dirty="0"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Tall: a tall person next to a person of average height; height arrow and label &quot;tall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  ·  looks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he look like?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like = LOOKS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27482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737360" cy="11430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</a:t>
            </a:r>
            <a:endParaRPr lang="en-US" sz="2200" dirty="0" b="1"/>
          </a:p>
        </p:txBody>
      </p:sp>
      <p:sp>
        <p:nvSpPr>
          <p:cNvPr id="23" name="Question 1"/>
          <p:cNvSpPr/>
          <p:nvPr/>
        </p:nvSpPr>
        <p:spPr>
          <a:xfrm>
            <a:off x="3310128" y="3977640"/>
            <a:ext cx="2697480" cy="11430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/ she look like?</a:t>
            </a:r>
            <a:endParaRPr lang="en-US" sz="2000" dirty="0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1143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11430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/ She's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tall. / short.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has / She has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beard. / glasses. / curly hair. / long, straight hair.</a:t>
            </a:r>
            <a:endParaRPr lang="en-US" sz="17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546354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166360"/>
            <a:ext cx="1737360" cy="11430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</a:t>
            </a:r>
            <a:endParaRPr lang="en-US" sz="2200" dirty="0" b="1"/>
          </a:p>
        </p:txBody>
      </p:sp>
      <p:sp>
        <p:nvSpPr>
          <p:cNvPr id="28" name="Question 2"/>
          <p:cNvSpPr/>
          <p:nvPr/>
        </p:nvSpPr>
        <p:spPr>
          <a:xfrm>
            <a:off x="3310128" y="5166360"/>
            <a:ext cx="2697480" cy="11430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look like?</a:t>
            </a:r>
            <a:endParaRPr lang="en-US" sz="2000" dirty="0"/>
          </a:p>
        </p:txBody>
      </p:sp>
      <p:sp>
        <p:nvSpPr>
          <p:cNvPr id="29" name="Answer bg 2"/>
          <p:cNvSpPr/>
          <p:nvPr/>
        </p:nvSpPr>
        <p:spPr>
          <a:xfrm>
            <a:off x="6949440" y="5166360"/>
            <a:ext cx="4526280" cy="11430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5166360"/>
            <a:ext cx="4526280" cy="11430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They're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tall. / short.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have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glasses. / short hair.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Funny: a joking face and two laughing faces, bubble &quot;Ha ha ha!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  ·  personality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he like?</a:t>
            </a:r>
            <a:endParaRPr lang="en-US" sz="3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00100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78892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he / she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800" dirty="0" b="1"/>
          </a:p>
        </p:txBody>
      </p:sp>
      <p:sp>
        <p:nvSpPr>
          <p:cNvPr id="19" name="Answer bg 1"/>
          <p:cNvSpPr/>
          <p:nvPr/>
        </p:nvSpPr>
        <p:spPr>
          <a:xfrm>
            <a:off x="8001000" y="2286000"/>
            <a:ext cx="393192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001000" y="2286000"/>
            <a:ext cx="393192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/ She's friendly and funny. / quiet but hardworking. / very patient.</a:t>
            </a:r>
            <a:endParaRPr lang="en-US" sz="1800" dirty="0" b="0"/>
          </a:p>
        </p:txBody>
      </p:sp>
      <p:sp>
        <p:nvSpPr>
          <p:cNvPr id="21" name="Question 2"/>
          <p:cNvSpPr/>
          <p:nvPr/>
        </p:nvSpPr>
        <p:spPr>
          <a:xfrm>
            <a:off x="5138928" y="3383280"/>
            <a:ext cx="278892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they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800" dirty="0" b="1"/>
          </a:p>
        </p:txBody>
      </p:sp>
      <p:sp>
        <p:nvSpPr>
          <p:cNvPr id="22" name="Answer bg 2"/>
          <p:cNvSpPr/>
          <p:nvPr/>
        </p:nvSpPr>
        <p:spPr>
          <a:xfrm>
            <a:off x="8001000" y="3383280"/>
            <a:ext cx="393192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8001000" y="3383280"/>
            <a:ext cx="393192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They're really friendly. / a little shy.</a:t>
            </a:r>
            <a:endParaRPr lang="en-US" sz="1800" dirty="0" b="0"/>
          </a:p>
        </p:txBody>
      </p:sp>
      <p:sp>
        <p:nvSpPr>
          <p:cNvPr id="24" name="Question 3"/>
          <p:cNvSpPr/>
          <p:nvPr/>
        </p:nvSpPr>
        <p:spPr>
          <a:xfrm>
            <a:off x="5138928" y="4480560"/>
            <a:ext cx="278892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boss / your teacher nice?</a:t>
            </a:r>
            <a:endParaRPr lang="en-US" sz="1800" dirty="0" b="1"/>
          </a:p>
        </p:txBody>
      </p:sp>
      <p:sp>
        <p:nvSpPr>
          <p:cNvPr id="25" name="Answer bg 3"/>
          <p:cNvSpPr/>
          <p:nvPr/>
        </p:nvSpPr>
        <p:spPr>
          <a:xfrm>
            <a:off x="8001000" y="4480560"/>
            <a:ext cx="3931920" cy="10241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8001000" y="4480560"/>
            <a:ext cx="3931920" cy="10241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very nice. / Yes, really nice.</a:t>
            </a:r>
            <a:endParaRPr lang="en-US" sz="1800" dirty="0" b="0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very kind. / She's very patient.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People a to d: four standing people a-d: tall man with beard and glasses; short woman with long straight hair; man with curly hair; woman with curly hair and glass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144524"/>
            <a:ext cx="4206240" cy="1962912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one is…?</a:t>
            </a:r>
            <a:endParaRPr lang="en-US" sz="32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→ The… with…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06908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one</a:t>
            </a:r>
            <a:endParaRPr lang="en-US" sz="2200" dirty="0" b="1"/>
          </a:p>
        </p:txBody>
      </p:sp>
      <p:sp>
        <p:nvSpPr>
          <p:cNvPr id="23" name="Question 1"/>
          <p:cNvSpPr/>
          <p:nvPr/>
        </p:nvSpPr>
        <p:spPr>
          <a:xfrm>
            <a:off x="3310128" y="397764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your sister?</a:t>
            </a:r>
            <a:endParaRPr lang="en-US" sz="2000" dirty="0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woman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long hair.</a:t>
            </a:r>
            <a:endParaRPr lang="en-US" sz="1900" dirty="0" b="1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the woman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glasses.</a:t>
            </a:r>
            <a:endParaRPr lang="en-US" sz="19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484632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8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one</a:t>
            </a:r>
            <a:endParaRPr lang="en-US" sz="2200" dirty="0" b="1"/>
          </a:p>
        </p:txBody>
      </p:sp>
      <p:sp>
        <p:nvSpPr>
          <p:cNvPr id="28" name="Question 2"/>
          <p:cNvSpPr/>
          <p:nvPr/>
        </p:nvSpPr>
        <p:spPr>
          <a:xfrm>
            <a:off x="3310128" y="475488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Kevin?</a:t>
            </a:r>
            <a:endParaRPr lang="en-US" sz="2000" dirty="0"/>
          </a:p>
        </p:txBody>
      </p:sp>
      <p:sp>
        <p:nvSpPr>
          <p:cNvPr id="29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tall man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beard.</a:t>
            </a:r>
            <a:endParaRPr lang="en-US" sz="1900" dirty="0" b="1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man next to Sam.</a:t>
            </a:r>
            <a:endParaRPr lang="en-US" sz="1900" dirty="0" b="1"/>
          </a:p>
        </p:txBody>
      </p:sp>
      <p:sp>
        <p:nvSpPr>
          <p:cNvPr id="31" name="Highlight 3"/>
          <p:cNvSpPr/>
          <p:nvPr/>
        </p:nvSpPr>
        <p:spPr>
          <a:xfrm>
            <a:off x="1481328" y="5623560"/>
            <a:ext cx="17373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Helper 3"/>
          <p:cNvSpPr/>
          <p:nvPr/>
        </p:nvSpPr>
        <p:spPr>
          <a:xfrm>
            <a:off x="1481328" y="5532120"/>
            <a:ext cx="173736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one</a:t>
            </a:r>
            <a:endParaRPr lang="en-US" sz="2200" dirty="0" b="1"/>
          </a:p>
        </p:txBody>
      </p:sp>
      <p:sp>
        <p:nvSpPr>
          <p:cNvPr id="33" name="Question 3"/>
          <p:cNvSpPr/>
          <p:nvPr/>
        </p:nvSpPr>
        <p:spPr>
          <a:xfrm>
            <a:off x="3310128" y="5532120"/>
            <a:ext cx="26974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your boss?</a:t>
            </a:r>
            <a:endParaRPr lang="en-US" sz="2000" dirty="0"/>
          </a:p>
        </p:txBody>
      </p:sp>
      <p:sp>
        <p:nvSpPr>
          <p:cNvPr id="34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short man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curly hair.</a:t>
            </a:r>
            <a:endParaRPr lang="en-US" sz="1900" dirty="0" b="1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woman in the red shirt.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Hardworking: a woman worker, a box and a strong arm, label &quot;works hard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  ·  object pronouns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me, him, her, us, them</a:t>
            </a:r>
            <a:endParaRPr lang="en-US" sz="28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THE VERB</a:t>
            </a:r>
            <a:endParaRPr lang="en-US" sz="1600" dirty="0" b="1"/>
          </a:p>
        </p:txBody>
      </p:sp>
      <p:sp>
        <p:nvSpPr>
          <p:cNvPr id="11" name="A head"/>
          <p:cNvSpPr/>
          <p:nvPr/>
        </p:nvSpPr>
        <p:spPr>
          <a:xfrm>
            <a:off x="7589520" y="18288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THE VERB (or after with, to, for)</a:t>
            </a:r>
            <a:endParaRPr lang="en-US" sz="16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 here.</a:t>
            </a:r>
            <a:endParaRPr lang="en-US" sz="1800" dirty="0" b="1"/>
          </a:p>
        </p:txBody>
      </p:sp>
      <p:sp>
        <p:nvSpPr>
          <p:cNvPr id="19" name="Answer bg 1"/>
          <p:cNvSpPr/>
          <p:nvPr/>
        </p:nvSpPr>
        <p:spPr>
          <a:xfrm>
            <a:off x="7589520" y="2286000"/>
            <a:ext cx="434340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589520" y="2286000"/>
            <a:ext cx="434340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My coworker always helps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800" dirty="0" b="0"/>
          </a:p>
        </p:txBody>
      </p:sp>
      <p:sp>
        <p:nvSpPr>
          <p:cNvPr id="21" name="Question 2"/>
          <p:cNvSpPr/>
          <p:nvPr/>
        </p:nvSpPr>
        <p:spPr>
          <a:xfrm>
            <a:off x="5138928" y="2999232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new.</a:t>
            </a:r>
            <a:endParaRPr lang="en-US" sz="1800" dirty="0" b="1"/>
          </a:p>
        </p:txBody>
      </p:sp>
      <p:sp>
        <p:nvSpPr>
          <p:cNvPr id="22" name="Answer bg 2"/>
          <p:cNvSpPr/>
          <p:nvPr/>
        </p:nvSpPr>
        <p:spPr>
          <a:xfrm>
            <a:off x="7589520" y="2999232"/>
            <a:ext cx="434340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589520" y="2999232"/>
            <a:ext cx="434340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Can I help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800" dirty="0" b="0"/>
          </a:p>
        </p:txBody>
      </p:sp>
      <p:sp>
        <p:nvSpPr>
          <p:cNvPr id="24" name="Question 3"/>
          <p:cNvSpPr/>
          <p:nvPr/>
        </p:nvSpPr>
        <p:spPr>
          <a:xfrm>
            <a:off x="5138928" y="3712464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friendly.</a:t>
            </a:r>
            <a:endParaRPr lang="en-US" sz="1800" dirty="0" b="1"/>
          </a:p>
        </p:txBody>
      </p:sp>
      <p:sp>
        <p:nvSpPr>
          <p:cNvPr id="25" name="Answer bg 3"/>
          <p:cNvSpPr/>
          <p:nvPr/>
        </p:nvSpPr>
        <p:spPr>
          <a:xfrm>
            <a:off x="7589520" y="3712464"/>
            <a:ext cx="434340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589520" y="3712464"/>
            <a:ext cx="434340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him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Ask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him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help.</a:t>
            </a:r>
            <a:endParaRPr lang="en-US" sz="1800" dirty="0" b="0"/>
          </a:p>
        </p:txBody>
      </p:sp>
      <p:sp>
        <p:nvSpPr>
          <p:cNvPr id="27" name="Question 4"/>
          <p:cNvSpPr/>
          <p:nvPr/>
        </p:nvSpPr>
        <p:spPr>
          <a:xfrm>
            <a:off x="5138928" y="4425696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patient.</a:t>
            </a:r>
            <a:endParaRPr lang="en-US" sz="1800" dirty="0" b="1"/>
          </a:p>
        </p:txBody>
      </p:sp>
      <p:sp>
        <p:nvSpPr>
          <p:cNvPr id="28" name="Answer bg 4"/>
          <p:cNvSpPr/>
          <p:nvPr/>
        </p:nvSpPr>
        <p:spPr>
          <a:xfrm>
            <a:off x="7589520" y="4425696"/>
            <a:ext cx="434340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589520" y="4425696"/>
            <a:ext cx="434340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I work with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800" dirty="0" b="0"/>
          </a:p>
        </p:txBody>
      </p:sp>
      <p:sp>
        <p:nvSpPr>
          <p:cNvPr id="30" name="Question 5"/>
          <p:cNvSpPr/>
          <p:nvPr/>
        </p:nvSpPr>
        <p:spPr>
          <a:xfrm>
            <a:off x="5138928" y="5138928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new.</a:t>
            </a:r>
            <a:endParaRPr lang="en-US" sz="1800" dirty="0" b="1"/>
          </a:p>
        </p:txBody>
      </p:sp>
      <p:sp>
        <p:nvSpPr>
          <p:cNvPr id="31" name="Answer bg 5"/>
          <p:cNvSpPr/>
          <p:nvPr/>
        </p:nvSpPr>
        <p:spPr>
          <a:xfrm>
            <a:off x="7589520" y="5138928"/>
            <a:ext cx="434340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Answer 5"/>
          <p:cNvSpPr/>
          <p:nvPr/>
        </p:nvSpPr>
        <p:spPr>
          <a:xfrm>
            <a:off x="7589520" y="5138928"/>
            <a:ext cx="434340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Linda trains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Mondays.</a:t>
            </a:r>
            <a:endParaRPr lang="en-US" sz="1800" dirty="0" b="0"/>
          </a:p>
        </p:txBody>
      </p:sp>
      <p:sp>
        <p:nvSpPr>
          <p:cNvPr id="33" name="Question 6"/>
          <p:cNvSpPr/>
          <p:nvPr/>
        </p:nvSpPr>
        <p:spPr>
          <a:xfrm>
            <a:off x="5138928" y="5852160"/>
            <a:ext cx="237744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are funny.</a:t>
            </a:r>
            <a:endParaRPr lang="en-US" sz="1800" dirty="0" b="1"/>
          </a:p>
        </p:txBody>
      </p:sp>
      <p:sp>
        <p:nvSpPr>
          <p:cNvPr id="34" name="Answer bg 6"/>
          <p:cNvSpPr/>
          <p:nvPr/>
        </p:nvSpPr>
        <p:spPr>
          <a:xfrm>
            <a:off x="7589520" y="5852160"/>
            <a:ext cx="4343400" cy="6400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6"/>
          <p:cNvSpPr/>
          <p:nvPr/>
        </p:nvSpPr>
        <p:spPr>
          <a:xfrm>
            <a:off x="7589520" y="5852160"/>
            <a:ext cx="4343400" cy="6400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them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I like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them</a:t>
            </a: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lot.</a:t>
            </a:r>
            <a:endParaRPr lang="en-US" sz="18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Friendly: smiling face + waving hand, bubble &quot;Hi! Welcome!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5</a:t>
            </a:r>
            <a:endParaRPr lang="en-US" sz="2000" dirty="0" b="1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Questions and Answers</a:t>
            </a:r>
            <a:endParaRPr lang="en-US" sz="32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 object pronouns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Question 1"/>
          <p:cNvSpPr/>
          <p:nvPr/>
        </p:nvSpPr>
        <p:spPr>
          <a:xfrm>
            <a:off x="1481328" y="3977640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800" dirty="0"/>
          </a:p>
        </p:txBody>
      </p:sp>
      <p:sp>
        <p:nvSpPr>
          <p:cNvPr id="22" name="Answer bg 1"/>
          <p:cNvSpPr/>
          <p:nvPr/>
        </p:nvSpPr>
        <p:spPr>
          <a:xfrm>
            <a:off x="6949440" y="3977640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1"/>
          <p:cNvSpPr/>
          <p:nvPr/>
        </p:nvSpPr>
        <p:spPr>
          <a:xfrm>
            <a:off x="6949440" y="3977640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work with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always helps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4" name="Question 2"/>
          <p:cNvSpPr/>
          <p:nvPr/>
        </p:nvSpPr>
        <p:spPr>
          <a:xfrm>
            <a:off x="1481328" y="4590288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Lee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800" dirty="0"/>
          </a:p>
        </p:txBody>
      </p:sp>
      <p:sp>
        <p:nvSpPr>
          <p:cNvPr id="25" name="Answer bg 2"/>
          <p:cNvSpPr/>
          <p:nvPr/>
        </p:nvSpPr>
        <p:spPr>
          <a:xfrm>
            <a:off x="6949440" y="4590288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6949440" y="4590288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see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him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every day.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our neighbor.</a:t>
            </a:r>
            <a:endParaRPr lang="en-US" sz="1700" dirty="0" b="1"/>
          </a:p>
        </p:txBody>
      </p:sp>
      <p:sp>
        <p:nvSpPr>
          <p:cNvPr id="27" name="Question 3"/>
          <p:cNvSpPr/>
          <p:nvPr/>
        </p:nvSpPr>
        <p:spPr>
          <a:xfrm>
            <a:off x="1481328" y="5202936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like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coworkers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800" dirty="0"/>
          </a:p>
        </p:txBody>
      </p:sp>
      <p:sp>
        <p:nvSpPr>
          <p:cNvPr id="28" name="Answer bg 3"/>
          <p:cNvSpPr/>
          <p:nvPr/>
        </p:nvSpPr>
        <p:spPr>
          <a:xfrm>
            <a:off x="6949440" y="5202936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3"/>
          <p:cNvSpPr/>
          <p:nvPr/>
        </p:nvSpPr>
        <p:spPr>
          <a:xfrm>
            <a:off x="6949440" y="5202936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like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them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lot.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They're very friendly.</a:t>
            </a:r>
            <a:endParaRPr lang="en-US" sz="1700" dirty="0" b="1"/>
          </a:p>
        </p:txBody>
      </p:sp>
      <p:sp>
        <p:nvSpPr>
          <p:cNvPr id="30" name="Question 4"/>
          <p:cNvSpPr/>
          <p:nvPr/>
        </p:nvSpPr>
        <p:spPr>
          <a:xfrm>
            <a:off x="1481328" y="5815584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call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later?</a:t>
            </a:r>
            <a:endParaRPr lang="en-US" sz="1800" dirty="0"/>
          </a:p>
        </p:txBody>
      </p:sp>
      <p:sp>
        <p:nvSpPr>
          <p:cNvPr id="31" name="Answer bg 4"/>
          <p:cNvSpPr/>
          <p:nvPr/>
        </p:nvSpPr>
        <p:spPr>
          <a:xfrm>
            <a:off x="6949440" y="5815584"/>
            <a:ext cx="452628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Answer 4"/>
          <p:cNvSpPr/>
          <p:nvPr/>
        </p:nvSpPr>
        <p:spPr>
          <a:xfrm>
            <a:off x="6949440" y="5815584"/>
            <a:ext cx="4526280" cy="5669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Sure. I can call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6:00.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write the word.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  ·  him  ·  her  ·  it  ·  us  ·  them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word.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 is my neighbor. I see ____ every day.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08192" y="2222144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brothers are very funny. I love ____.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08192" y="2950312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them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Silva is patient. Ask ____ for help.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08192" y="3678479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him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We're new here. Can you help ____?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08192" y="440664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a little shy. Please talk to ____ slowly.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08192" y="5134813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That's my phone. Can you give ____ to me?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08192" y="5862980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1583741" y="162397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1810512" y="169164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1901952" y="209397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look like or like.</a:t>
            </a:r>
            <a:endParaRPr lang="en-US" sz="2000" dirty="0"/>
          </a:p>
        </p:txBody>
      </p:sp>
      <p:sp>
        <p:nvSpPr>
          <p:cNvPr id="19" name="head chip"/>
          <p:cNvSpPr/>
          <p:nvPr/>
        </p:nvSpPr>
        <p:spPr>
          <a:xfrm>
            <a:off x="544982" y="162397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head num"/>
          <p:cNvSpPr/>
          <p:nvPr/>
        </p:nvSpPr>
        <p:spPr>
          <a:xfrm>
            <a:off x="686714" y="175473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3600" dirty="0" b="1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like = looks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= personality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715768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715768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77977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715768"/>
            <a:ext cx="31729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your brother ____? He's tall, and he has a beard.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056632" y="2843784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like</a:t>
            </a:r>
            <a:endParaRPr lang="en-US" sz="17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537814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537814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60182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537814"/>
            <a:ext cx="31729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your teacher ____? She's very patient.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056632" y="3665830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endParaRPr lang="en-US" sz="17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4359859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435985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42386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4359859"/>
            <a:ext cx="31729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your neighbors ____? They're friendly.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056632" y="4487875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endParaRPr lang="en-US" sz="17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5181905"/>
            <a:ext cx="5130698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518190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524591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5181905"/>
            <a:ext cx="31729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she ____? She has curly hair and glasses.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056632" y="5309921"/>
            <a:ext cx="16002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like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Glasses: a pair of glasses + a woman wearing glasses, lab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has long hairs.</a:t>
            </a:r>
            <a:endParaRPr lang="en-US" sz="16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has long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hair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 b="0"/>
          </a:p>
        </p:txBody>
      </p:sp>
      <p:sp>
        <p:nvSpPr>
          <p:cNvPr id="26" name="Bad 2"/>
          <p:cNvSpPr/>
          <p:nvPr/>
        </p:nvSpPr>
        <p:spPr>
          <a:xfrm>
            <a:off x="914400" y="2992240"/>
            <a:ext cx="324612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she like? (about personality)</a:t>
            </a:r>
            <a:endParaRPr lang="en-US" sz="1600" dirty="0"/>
          </a:p>
        </p:txBody>
      </p:sp>
      <p:sp>
        <p:nvSpPr>
          <p:cNvPr id="27" name="Good 2"/>
          <p:cNvSpPr/>
          <p:nvPr/>
        </p:nvSpPr>
        <p:spPr>
          <a:xfrm>
            <a:off x="4800600" y="2992240"/>
            <a:ext cx="5394960" cy="717535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she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 /</a:t>
            </a:r>
            <a:endParaRPr lang="en-US" sz="1600" dirty="0" b="0"/>
          </a:p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does she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like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6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773783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is a man very tall.</a:t>
            </a:r>
            <a:endParaRPr lang="en-US" sz="1600" dirty="0"/>
          </a:p>
        </p:txBody>
      </p:sp>
      <p:sp>
        <p:nvSpPr>
          <p:cNvPr id="29" name="Good 3"/>
          <p:cNvSpPr/>
          <p:nvPr/>
        </p:nvSpPr>
        <p:spPr>
          <a:xfrm>
            <a:off x="4800600" y="3773783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a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very tall man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/ He's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very tall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297142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talls men</a:t>
            </a:r>
            <a:endParaRPr lang="en-US" sz="1600" dirty="0"/>
          </a:p>
        </p:txBody>
      </p:sp>
      <p:sp>
        <p:nvSpPr>
          <p:cNvPr id="31" name="Good 4"/>
          <p:cNvSpPr/>
          <p:nvPr/>
        </p:nvSpPr>
        <p:spPr>
          <a:xfrm>
            <a:off x="4800600" y="4297142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tall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men</a:t>
            </a:r>
            <a:endParaRPr lang="en-US" sz="1600" dirty="0" b="0"/>
          </a:p>
        </p:txBody>
      </p:sp>
      <p:sp>
        <p:nvSpPr>
          <p:cNvPr id="32" name="Bad 5"/>
          <p:cNvSpPr/>
          <p:nvPr/>
        </p:nvSpPr>
        <p:spPr>
          <a:xfrm>
            <a:off x="914400" y="4820502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Ana? Yes, I know.</a:t>
            </a:r>
            <a:endParaRPr lang="en-US" sz="1600" dirty="0"/>
          </a:p>
        </p:txBody>
      </p:sp>
      <p:sp>
        <p:nvSpPr>
          <p:cNvPr id="33" name="Good 5"/>
          <p:cNvSpPr/>
          <p:nvPr/>
        </p:nvSpPr>
        <p:spPr>
          <a:xfrm>
            <a:off x="4800600" y="4820502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know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 b="0"/>
          </a:p>
        </p:txBody>
      </p:sp>
      <p:sp>
        <p:nvSpPr>
          <p:cNvPr id="34" name="Bad 6"/>
          <p:cNvSpPr/>
          <p:nvPr/>
        </p:nvSpPr>
        <p:spPr>
          <a:xfrm>
            <a:off x="914400" y="5343861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with she.</a:t>
            </a:r>
            <a:endParaRPr lang="en-US" sz="1600" dirty="0"/>
          </a:p>
        </p:txBody>
      </p:sp>
      <p:sp>
        <p:nvSpPr>
          <p:cNvPr id="35" name="Good 6"/>
          <p:cNvSpPr/>
          <p:nvPr/>
        </p:nvSpPr>
        <p:spPr>
          <a:xfrm>
            <a:off x="4800600" y="5343861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work with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600" dirty="0" b="0"/>
          </a:p>
        </p:txBody>
      </p:sp>
      <p:sp>
        <p:nvSpPr>
          <p:cNvPr id="36" name="Bad 7"/>
          <p:cNvSpPr/>
          <p:nvPr/>
        </p:nvSpPr>
        <p:spPr>
          <a:xfrm>
            <a:off x="914400" y="5867221"/>
            <a:ext cx="324612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help me every day.</a:t>
            </a:r>
            <a:endParaRPr lang="en-US" sz="1600" dirty="0"/>
          </a:p>
        </p:txBody>
      </p:sp>
      <p:sp>
        <p:nvSpPr>
          <p:cNvPr id="37" name="Good 7"/>
          <p:cNvSpPr/>
          <p:nvPr/>
        </p:nvSpPr>
        <p:spPr>
          <a:xfrm>
            <a:off x="4800600" y="5867221"/>
            <a:ext cx="5394960" cy="459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helps me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every day.</a:t>
            </a:r>
            <a:endParaRPr lang="en-US" sz="16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Friendly: smiling face + waving hand, bubble &quot;Hi! Welcome!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names a person. B describes.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asks: What's she like?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(a classmate's name)</a:t>
            </a:r>
            <a:endParaRPr lang="en-US" sz="2200" dirty="0" b="0"/>
          </a:p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She's tall. She has curly hair.</a:t>
            </a:r>
            <a:endParaRPr lang="en-US" sz="22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She's friendly and funny.</a:t>
            </a:r>
            <a:endParaRPr lang="en-US" sz="2200" dirty="0" b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22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names a classmate. B describes the person. Kind words only.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The bus station crowd, people 1 to 12: twelve numbered people at a bus station, different heights, hair, beards, glasses and shirt colo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87" y="3418942"/>
            <a:ext cx="3804636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Pick Them Up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 A has a card.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show it!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Can you pick up my cousin?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What does she look like?</a:t>
            </a:r>
            <a:endParaRPr lang="en-US" sz="20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describes the person.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tall. She has glasses.</a:t>
            </a:r>
            <a:endParaRPr lang="en-US" sz="20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says the number.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0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that her? Number 7?</a:t>
            </a:r>
            <a:endParaRPr lang="en-US" sz="20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Funny: a joking face and two laughing faces, bubble &quot;Ha ha ha!&quot;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977640"/>
            <a:ext cx="3520440" cy="21945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8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How a person looks.</a:t>
            </a:r>
            <a:endParaRPr lang="en-US" sz="18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What the person is like, with because or so:</a:t>
            </a:r>
            <a:endParaRPr lang="en-US" sz="18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brother is funny, so everyone likes him.</a:t>
            </a:r>
            <a:endParaRPr lang="en-US" sz="18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8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977640"/>
            <a:ext cx="3657600" cy="21945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8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Describe a person.</a:t>
            </a:r>
            <a:endParaRPr lang="en-US" sz="18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him, her, us, or them.</a:t>
            </a:r>
            <a:endParaRPr lang="en-US" sz="18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 about a favorite teacher.</a:t>
            </a:r>
            <a:endParaRPr lang="en-US" sz="18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Write because or so.</a:t>
            </a:r>
            <a:endParaRPr lang="en-US" sz="18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800" dirty="0"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describe how someone looks.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describe someone's personality.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What does he look like? What's he like?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me, him, her, us, them.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20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a tall man with a beard</a:t>
            </a:r>
            <a:endParaRPr lang="en-US" sz="1500" dirty="0" b="1"/>
          </a:p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  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a short man with glasses</a:t>
            </a:r>
            <a:endParaRPr lang="en-US" sz="15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4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She's shy.     b. She's patient.</a:t>
            </a:r>
            <a:endParaRPr lang="en-US" sz="15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4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the woman with curly hair</a:t>
            </a:r>
            <a:endParaRPr lang="en-US" sz="1500" dirty="0" b="1"/>
          </a:p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  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the woman with straight hair</a:t>
            </a:r>
            <a:endParaRPr lang="en-US" sz="15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4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He's quiet and shy.</a:t>
            </a:r>
            <a:endParaRPr lang="en-US" sz="1500" dirty="0" b="1"/>
          </a:p>
          <a:p>
            <a:pPr algn="l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    </a:t>
            </a:r>
            <a:r>
              <a:rPr lang="en-US" sz="15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He's funny and friendly.</a:t>
            </a:r>
            <a:endParaRPr lang="en-US" sz="15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Friendly: smiling face + waving hand, bubble &quot;Hi! Welcome!&quot;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2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Describe how someone looks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Describe someone's personality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Use me, him, her, us, them</a:t>
            </a:r>
            <a:endParaRPr lang="en-US" sz="2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bodies, glasses,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Omar, Linda, Kevin, Nora, Sam, Ana, Mr. Lee, Mr. Silva, and Lisa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2: Who's Who?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