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496" r:id="rId32"/>
    <p:sldId id="497" r:id="rId21"/>
    <p:sldId id="498" r:id="rId19"/>
    <p:sldId id="499" r:id="rId15"/>
    <p:sldId id="500" r:id="rId37"/>
    <p:sldId id="501" r:id="rId38"/>
    <p:sldId id="502" r:id="rId39"/>
    <p:sldId id="503" r:id="rId40"/>
    <p:sldId id="504" r:id="rId41"/>
    <p:sldId id="505" r:id="rId42"/>
    <p:sldId id="506" r:id="rId43"/>
    <p:sldId id="507" r:id="rId44"/>
    <p:sldId id="508" r:id="rId45"/>
    <p:sldId id="509" r:id="rId46"/>
    <p:sldId id="510" r:id="rId47"/>
    <p:sldId id="511" r:id="rId48"/>
    <p:sldId id="512" r:id="rId49"/>
    <p:sldId id="513" r:id="rId50"/>
    <p:sldId id="514" r:id="rId51"/>
    <p:sldId id="515" r:id="rId52"/>
    <p:sldId id="516" r:id="rId53"/>
    <p:sldId id="517" r:id="rId54"/>
    <p:sldId id="518" r:id="rId55"/>
    <p:sldId id="519" r:id="rId56"/>
    <p:sldId id="520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L3_L10_listening.mp3 (about 1:15) is not recorded yet (see level3/AUDIO_STATUS.md). It will use computer-generated voices (Chatterbox TTS cloned from synthetic Kokoro-82M reference clips); no recordings of real people. Until the file is ready, read the listening script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Source: Level3_Lesson10.md (Picture Credits);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with 2–3 sentences. A asks one follow-up question (follow-ups on the right). Then switch.</a:t>
            </a:r>
          </a:p>
          <a:p>
            <a:r>
              <a:t>Homework Check (4 min, last click): partners read their Lesson 9 Homework item 2 (Tell me about yourself) to each other. The partner asks one question about it. Walk around. Write 2 common errors on the board (often good at cook or interested on) and correct them together.</a:t>
            </a:r>
          </a:p>
          <a:p>
            <a:r>
              <a:t>Source: Level3_Lesson10.md (Step 1; Opening Talk page: cards, follow-ups, homework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6:00–6:10 · Opening Talk + Homework Check · 10 min. Pairs (7 pairs + 1 trio with 15 learners; 3–4 pairs with 7–8).</a:t>
            </a:r>
          </a:p>
          <a:p>
            <a:r>
              <a:t>Before class, write on the board: I'm good at… / I'm interested in… / I don't mind… + -ing</a:t>
            </a:r>
          </a:p>
          <a:p>
            <a:r>
              <a:t>Model with one learner: "What are you good at?" → (answer) → "Can you give me an example?" (Click to show the follow-up.)</a:t>
            </a:r>
          </a:p>
          <a:p>
            <a:r>
              <a:t>Opening Talk (6 min): learners open the Opening Talk page. A asks a card question; B answers with 2–3 sentences; A asks one follow-up. Switch after each card. The cards are on the next slide.</a:t>
            </a:r>
          </a:p>
          <a:p>
            <a:r>
              <a:t>If behind: one card only, then the homework check.</a:t>
            </a:r>
          </a:p>
          <a:p>
            <a:r>
              <a:t>Source: Level3_Lesson10.md (Step 1; Opening Talk page).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Goal 1: first, next, then, after that, finally. Goal 2: follow spoken instructions and number the steps. Goal 3: How do I…? What do I do next? What do I do after that?</a:t>
            </a:r>
          </a:p>
          <a:p>
            <a:r>
              <a:t>Goal 4: Don't… and Don't forget to… Goal 5: read a medicine label (invented) and answer questions about it. Goal 6: write 4 steps for a task they know.</a:t>
            </a:r>
          </a:p>
          <a:p>
            <a:r>
              <a:t>"We check at 7:25" = the Progress Check. It is not a test grade.</a:t>
            </a:r>
          </a:p>
          <a:p>
            <a:r>
              <a:t>Source: Level3_Lesson10.md (At a glance: Objectives).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"Step by step." Say: "Tonight we give and follow instructions: at work, at home, and on a phone."</a:t>
            </a:r>
          </a:p>
          <a:p>
            <a:r>
              <a:t>Read the three lines under "Today you will". Give one quick example of each: "First, plug it in. Then, turn it on." • "How do I log in? What do I do next?" • "Don't open the door. It's hot."</a:t>
            </a:r>
          </a:p>
          <a:p>
            <a:r>
              <a:t>The medicine label is invented (important): it is for reading practice only. Tell learners to ask a pharmacist or a doctor about real medicine. Don't give medical advice, and don't ask learners about their own medicines.</a:t>
            </a:r>
          </a:p>
          <a:p>
            <a:r>
              <a:t>Source: Level3_Lesson10.md (Topic; At a glance: Objectives; Teacher notes).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6:10–6:18 · New Words · 8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Mime each action: press a button, plug in a cord, turn on a light, turn it off, put on safety goggles. Show step: count on your fingers: "Step 1, step 2, step 3."</a:t>
            </a:r>
          </a:p>
          <a:p>
            <a:r>
              <a:t>If behind: teach the ★ words only.</a:t>
            </a:r>
          </a:p>
          <a:p>
            <a:r>
              <a:t>Source: Level3_Lesson10.md (Step 2; Key vocabulary; New Words page).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Partner game (2 min): A says a word. B points to the picture and mimes it or makes a sentence (A: press. B: (points, mimes) Press START.). Switch.</a:t>
            </a:r>
          </a:p>
          <a:p>
            <a:r>
              <a:t>If behind: teach the ★ words only.</a:t>
            </a:r>
          </a:p>
          <a:p>
            <a:r>
              <a:t>Source: Level3_Lesson10.md (Step 2; New Words page; Partner game).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"You wash clothes with…?" (detergent) • 2. "On a medicine bottle, you read the…?" (label) • 3. "Before you log in, you type your…?" (password)</a:t>
            </a:r>
          </a:p>
          <a:p>
            <a:r>
              <a:t>Source: Level3_Lesson10.md (Step 2: Check meaning).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6:18–6:30 · Listening + "Say it" · 12 min (slides 8 to 12). Individuals, then pairs check.</a:t>
            </a:r>
          </a:p>
          <a:p>
            <a:r>
              <a:t>Before you listen (1 min). Say: "Maria is a new worker at a supermarket. Her coworker Tom is teaching her to use a machine. What machine is it? Listen."</a:t>
            </a:r>
          </a:p>
          <a:p>
            <a:r>
              <a:t>There are three voices: a Narrator, Tom, and Maria. Each click highlights the next voice.</a:t>
            </a:r>
          </a:p>
          <a:p>
            <a:r>
              <a:t>The audio (L3_L10_listening.mp3, about 1:15) plays the conversation once. Press play again for play 2. A third play is fine if the class needs it.</a:t>
            </a:r>
          </a:p>
          <a:p>
            <a:r>
              <a:t>No speaker? Read the script with a volunteer at a normal, friendly speed.</a:t>
            </a:r>
          </a:p>
          <a:p>
            <a:r>
              <a:t>Audio: L3_L10_listening.mp3 (about 1:15) is not recorded yet (see level3/AUDIO_STATUS.md). It will use computer-generated voices (Chatterbox TTS cloned from synthetic Kokoro-82M reference clips); no recordings of real people. Until the file is ready, read the listening script with a volunteer. The names and the story are invented.</a:t>
            </a:r>
          </a:p>
          <a:p>
            <a:r>
              <a:t>Source: Level3_Lesson10.md (Step 3; Listening script; Listening page).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(what machine?). Pairs compare. Check together.</a:t>
            </a:r>
          </a:p>
          <a:p>
            <a:r>
              <a:t>Click to show the answer: c (a floor cleaning machine).</a:t>
            </a:r>
          </a:p>
          <a:p>
            <a:r>
              <a:t>Then read Tasks B and C together (1 min) so learners know what to listen for.</a:t>
            </a:r>
          </a:p>
          <a:p>
            <a:r>
              <a:t>Source: Level3_Lesson10.md (Step 3; Listening Task A;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show each answer (one click per line, top to bottom): add detergent 3 • put on safety goggles 1 • turn it off and empty the tank 5 • fill the tank with water 2 • plug it in and turn it on 4 • How much detergent? one cup • The light is green.</a:t>
            </a:r>
          </a:p>
          <a:p>
            <a:r>
              <a:t>Source: Level3_Lesson10.md (Step 3; Listening Task B;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5): 1 First, 2 Then, 3 Next, 4 After that, 5 Finally.</a:t>
            </a:r>
          </a:p>
          <a:p>
            <a:r>
              <a:t>If behind: do Task C together on the board, reading the lines yourself.</a:t>
            </a:r>
          </a:p>
          <a:p>
            <a:r>
              <a:t>Source: Level3_Lesson10.md (Step 3; Listening Task C;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"Say it" (2 min). Say: "For th in then and the, put your tongue between your teeth, and use your voice." Then third: the same tongue, no voice.</a:t>
            </a:r>
          </a:p>
          <a:p>
            <a:r>
              <a:t>Pause a little after each step. The class repeats each line in the box twice.</a:t>
            </a:r>
          </a:p>
          <a:p>
            <a:r>
              <a:t>Source: Level3_Lesson10.md (Step 3: "Say it"; Listening page: Say 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20). Whole class, then pairs. Show the Grammar page. The left side is the question. The right side is the answer.</a:t>
            </a:r>
          </a:p>
          <a:p>
            <a:r>
              <a:t>Show it (2 min): make a cup of tea in mime and say each step: "First, boil the water. Next, put the tea bag in the cup. Then, add the water. After that, wait 3 minutes. Finally, drink it!" Hold up one finger for each step.</a:t>
            </a:r>
          </a:p>
          <a:p>
            <a:r>
              <a:t>Boxes 1 and 2 (4 min): read a question from the left; the class answers from the right. Each click shows the answer side of one row. Point out: no you and no -s in an instruction (Press START).</a:t>
            </a:r>
          </a:p>
          <a:p>
            <a:r>
              <a:t>Review: You have to / You need to also give instructions: You need to plug it in first. Accept it; don't teach it again.</a:t>
            </a:r>
          </a:p>
          <a:p>
            <a:r>
              <a:t>Source: Level3_Lesson10.md (Step 4; Grammar Box 1; Teacher notes: Instructions have no you and no -s).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What do I do next? Each click shows the answer side of one row.</a:t>
            </a:r>
          </a:p>
          <a:p>
            <a:r>
              <a:t>Sequence words: first (step 1), next / then / after that (the middle steps, in any order), finally (the last step). A comma after each one is fine but not important.</a:t>
            </a:r>
          </a:p>
          <a:p>
            <a:r>
              <a:t>Source: Level3_Lesson10.md (Step 4; Grammar Box 2; Teacher notes: Sequence words).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 (2 min): warnings: Don't + verb, Don't forget to + verb. Each click shows the answer side of one row.</a:t>
            </a:r>
          </a:p>
          <a:p>
            <a:r>
              <a:t>Don't forget to… is a friendly reminder: Don't forget to take your card.</a:t>
            </a:r>
          </a:p>
          <a:p>
            <a:r>
              <a:t>Source: Level3_Lesson10.md (Step 4; Grammar Box 3; Teacher notes: Don't forget to).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 (1 min): the five sequence words, in order. Say them; the class repeats. Each click shows one step.</a:t>
            </a:r>
          </a:p>
          <a:p>
            <a:r>
              <a:t>Check questions: "___, put on your goggles. (step 1)" (First) • "___, turn it off. (the last step)" (Finally) • "Don't ___ (open) the door." (open) • "How ___ I log in?" (do)</a:t>
            </a:r>
          </a:p>
          <a:p>
            <a:r>
              <a:t>Source: Level3_Lesson10.md (Step 4; Grammar Box 4).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5): 1 First, 2 Next, 3 Then, 4 After that, 5 Finally.</a:t>
            </a:r>
          </a:p>
          <a:p>
            <a:r>
              <a:t>Source: Level3_Lesson10.md (Step 4; Grammar Practice A;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right words. Pairs check.</a:t>
            </a:r>
          </a:p>
          <a:p>
            <a:r>
              <a:t>Click to circle each answer (one click per item, 1 to 5): 1 Press, 2 Don't open, 3 do, 4 to take, 5 Turn off.</a:t>
            </a:r>
          </a:p>
          <a:p>
            <a:r>
              <a:t>Source: Level3_Lesson10.md (Step 4; Grammar Practice B;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 (never skip this table). Read a line from Don't say. Ask: "What's the right way?" Learners try first. Then click to show the right form. Each click shows one line, in order 1 to 4.</a:t>
            </a:r>
          </a:p>
          <a:p>
            <a:r>
              <a:t>1: instructions have no you and no -s • 2: negative = Don't + verb • 3: Don't forget to + verb • 4: Finally (not Final).</a:t>
            </a:r>
          </a:p>
          <a:p>
            <a:r>
              <a:t>Say the right form clearly; the learner repeats. Learners can read the Spanish note and the tip on their Grammar page themselves; you don't need to explain them.</a:t>
            </a:r>
          </a:p>
          <a:p>
            <a:r>
              <a:t>Source: Level3_Lesson10.md (Grammar: Common mistakes; Teacher notes: Typical mistakes).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drill (last 2 min of Step 4). Pairs.</a:t>
            </a:r>
          </a:p>
          <a:p>
            <a:r>
              <a:t>A asks "How do I make rice?" (or tea, a sandwich). B answers with 3 steps and sequence words. Switch.</a:t>
            </a:r>
          </a:p>
          <a:p>
            <a:r>
              <a:t>If behind: skip the pair drill. Talk Time practices it.</a:t>
            </a:r>
          </a:p>
          <a:p>
            <a:r>
              <a:t>Source: Level3_Lesson10.md (Step 4: Pair drill).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7:00–7:12 · Talk Time: Teach Me in Four Steps · 12 min. Pairs.</a:t>
            </a:r>
          </a:p>
          <a:p>
            <a:r>
              <a:t>How it works: the Talk Time page has 4 strips. In each strip, the 4 pictures (A–D) are not in order. A chooses a strip, finds the right order (writes it under the strip), and teaches B with sequence words. B mimes each step and asks What do I do next? Then switch with a new strip. Each click shows the next step.</a:t>
            </a:r>
          </a:p>
          <a:p>
            <a:r>
              <a:t>Model with one learner (1 min): strip 1: "First, turn on the water." (point to B) "Next, use soap." (D) … The learner mimes.</a:t>
            </a:r>
          </a:p>
          <a:p>
            <a:r>
              <a:t>Rounds (8 min): about 2 minutes per strip; each pair does all 4 strips if there is time. Walk around and listen for the sequence words. Finish (2 min): ask 2 pairs to teach one strip to the class.</a:t>
            </a:r>
          </a:p>
          <a:p>
            <a:r>
              <a:t>The right order: strip 1 (washing hands) B, D, A, C • strip 2 (coffee) C, A, D, B • strip 3 (a photo) D, B, C, A • strip 4 (parking) A, D, B, C. The sentences learners say will vary.</a:t>
            </a:r>
          </a:p>
          <a:p>
            <a:r>
              <a:t>Mixed levels: stronger learners add a Don't… warning to each strip. If behind: 2 strips only.</a:t>
            </a:r>
          </a:p>
          <a:p>
            <a:r>
              <a:t>Source: Level3_Lesson10.md (Step 5; Talk Time page; Answer key).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7:12–7:17 · Exit Ticket + Homework · 5 min · NEVER SKIP.</a:t>
            </a:r>
          </a:p>
          <a:p>
            <a:r>
              <a:t>Exit ticket: each learner writes two sentences on a slip: two steps for a task with sequence words (First, open the app. Then, type your password.), and one warning with Don't and a reason with because or so (Don't open the door, because the water is hot.). Collect at the door.</a:t>
            </a:r>
          </a:p>
          <a:p>
            <a:r>
              <a:t>Homework: open the Homework page. Do item 1 together (one sentence on the board). Say: "About 15 minutes. Bring it next week."</a:t>
            </a:r>
          </a:p>
          <a:p>
            <a:r>
              <a:t>Homework items: 1 write the instruction, no you, no -s • 2 write 4 steps for something you do at home with First, Next, Then, Finally • 3 ask a family member or a coworker: How do you make your favorite food? Write 3 steps • 4 review (Lesson 9): 2 sentences with good at, interested in, or enjoy + -ing.</a:t>
            </a:r>
          </a:p>
          <a:p>
            <a:r>
              <a:t>Read &amp; Write (7:17–7:25, on the Student Pages): say first: "This label is invented. It's for reading practice only. For real medicine, always ask a pharmacist or a doctor." Questions 1–5; then 4 steps for a task they know, with one Don't. If behind: questions 1–5 only; the steps become homework.</a:t>
            </a:r>
          </a:p>
          <a:p>
            <a:r>
              <a:t>The medicine label is invented (important): it is for reading practice only. Tell learners to ask a pharmacist or a doctor about real medicine. Don't give medical advice, and don't ask learners about their own medicines.</a:t>
            </a:r>
          </a:p>
          <a:p>
            <a:r>
              <a:t>Source: Level3_Lesson10.md (Step 6; Homework page; Read &amp; Write step).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Check · 7:25–7:30 · 5 min. Individuals. Open the Progress Check page.</a:t>
            </a:r>
          </a:p>
          <a:p>
            <a:r>
              <a:t>Part A: read each sentence slowly, 2 times. Learners circle a or b. Then click to show the answer (one click per item, 1 to 4).</a:t>
            </a:r>
          </a:p>
          <a:p>
            <a:r>
              <a:t>Say: 1 "First, plug it in. Then, turn it on." (a) • 2 "Don't open the door." (b) • 3 "After that, press START." (a) • 4 "Finally, take your card." (b)</a:t>
            </a:r>
          </a:p>
          <a:p>
            <a:r>
              <a:t>Parts B and C: learners do them alone. Walk around and help with the instructions only. B answers: 1 First, 2 Press, 3 Don't, 4 Finally. C: answers will vary (for example First, open the app. Next, type your password. Then, press LOG IN. / Don't forget to take your receipt.).</a:t>
            </a:r>
          </a:p>
          <a:p>
            <a:r>
              <a:t>Part D: read each "I can…" line aloud and point to the 3 faces: 😀 "I can do it." 🙂 "With a little help." 😐 "Not yet."</a:t>
            </a:r>
          </a:p>
          <a:p>
            <a:r>
              <a:t>Scoring: A /4 + B /4 + C /2 = /10. This is not a test grade. It shows who needs more help hearing the steps (A) and with the forms (B, C).</a:t>
            </a:r>
          </a:p>
          <a:p>
            <a:r>
              <a:t>Collect the pages (or check them at the start of Week 12). If behind: do the Progress Check in Week 12 at 6:00, while learners arrive.</a:t>
            </a:r>
          </a:p>
          <a:p>
            <a:r>
              <a:t>Source: Level3_Lesson10.md (Progress Check step; Progress Check page;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 Ask one learner: "How do I make tea?" and wait for steps with First, Next, Then.</a:t>
            </a:r>
          </a:p>
          <a:p>
            <a:r>
              <a:t>Remind learners: homework is about 15 minutes. Bring it next week.</a:t>
            </a:r>
          </a:p>
          <a:p>
            <a:r>
              <a:t>Source: Level3_Lesson10.md (At a glance: Objectives; Step 6).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9" Type="http://schemas.openxmlformats.org/officeDocument/2006/relationships/image" Target="../media/image1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Step: drawn stairs numbered 1-3 and a person walk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10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Step by Step</a:t>
            </a:r>
            <a:endParaRPr lang="en-US" sz="5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instructions in order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How do I…? What do I do next?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a warning with Don't…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six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First, next, then, finally!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1383487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1325880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1325880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149458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139354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instructions in order.</a:t>
            </a:r>
            <a:endParaRPr lang="en-US" sz="1800" dirty="0" b="1"/>
          </a:p>
        </p:txBody>
      </p:sp>
      <p:sp>
        <p:nvSpPr>
          <p:cNvPr id="36" name="R1 sub"/>
          <p:cNvSpPr/>
          <p:nvPr/>
        </p:nvSpPr>
        <p:spPr>
          <a:xfrm>
            <a:off x="1901952" y="179588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First… Next… Then… Finally…</a:t>
            </a:r>
            <a:endParaRPr lang="en-US" sz="2000" dirty="0"/>
          </a:p>
        </p:txBody>
      </p:sp>
      <p:sp>
        <p:nvSpPr>
          <p:cNvPr id="37" name="R1 dot"/>
          <p:cNvSpPr/>
          <p:nvPr/>
        </p:nvSpPr>
        <p:spPr>
          <a:xfrm rot="10800000">
            <a:off x="6361481" y="14593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8" name="R2 card"/>
          <p:cNvSpPr/>
          <p:nvPr/>
        </p:nvSpPr>
        <p:spPr>
          <a:xfrm>
            <a:off x="1583741" y="241858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R2 chip"/>
          <p:cNvSpPr/>
          <p:nvPr/>
        </p:nvSpPr>
        <p:spPr>
          <a:xfrm>
            <a:off x="544982" y="241858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0" name="R2 num"/>
          <p:cNvSpPr/>
          <p:nvPr/>
        </p:nvSpPr>
        <p:spPr>
          <a:xfrm>
            <a:off x="686714" y="241858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1" name="R2 text"/>
          <p:cNvSpPr/>
          <p:nvPr/>
        </p:nvSpPr>
        <p:spPr>
          <a:xfrm>
            <a:off x="1810512" y="241858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follow spoken instructions.</a:t>
            </a:r>
            <a:endParaRPr lang="en-US" sz="1800" dirty="0"/>
          </a:p>
        </p:txBody>
      </p:sp>
      <p:sp>
        <p:nvSpPr>
          <p:cNvPr id="42" name="R2 dot"/>
          <p:cNvSpPr/>
          <p:nvPr/>
        </p:nvSpPr>
        <p:spPr>
          <a:xfrm rot="10800000">
            <a:off x="6361481" y="255209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3" name="R3 card"/>
          <p:cNvSpPr/>
          <p:nvPr/>
        </p:nvSpPr>
        <p:spPr>
          <a:xfrm>
            <a:off x="1583741" y="312999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R3 chip"/>
          <p:cNvSpPr/>
          <p:nvPr/>
        </p:nvSpPr>
        <p:spPr>
          <a:xfrm>
            <a:off x="544982" y="312999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5" name="R3 num"/>
          <p:cNvSpPr/>
          <p:nvPr/>
        </p:nvSpPr>
        <p:spPr>
          <a:xfrm>
            <a:off x="686714" y="312999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6" name="R3 text"/>
          <p:cNvSpPr/>
          <p:nvPr/>
        </p:nvSpPr>
        <p:spPr>
          <a:xfrm>
            <a:off x="1810512" y="312999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How do I…? What do I do next?</a:t>
            </a:r>
            <a:endParaRPr lang="en-US" sz="1800" dirty="0"/>
          </a:p>
        </p:txBody>
      </p:sp>
      <p:sp>
        <p:nvSpPr>
          <p:cNvPr id="47" name="R3 dot"/>
          <p:cNvSpPr/>
          <p:nvPr/>
        </p:nvSpPr>
        <p:spPr>
          <a:xfrm rot="10800000">
            <a:off x="6361481" y="32634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8" name="R4 card"/>
          <p:cNvSpPr/>
          <p:nvPr/>
        </p:nvSpPr>
        <p:spPr>
          <a:xfrm>
            <a:off x="1583741" y="384139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R4 chip"/>
          <p:cNvSpPr/>
          <p:nvPr/>
        </p:nvSpPr>
        <p:spPr>
          <a:xfrm>
            <a:off x="544982" y="384139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0" name="R4 num"/>
          <p:cNvSpPr/>
          <p:nvPr/>
        </p:nvSpPr>
        <p:spPr>
          <a:xfrm>
            <a:off x="686714" y="3841394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1" name="R4 text"/>
          <p:cNvSpPr/>
          <p:nvPr/>
        </p:nvSpPr>
        <p:spPr>
          <a:xfrm>
            <a:off x="1810512" y="384139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a warning with Don't….</a:t>
            </a:r>
            <a:endParaRPr lang="en-US" sz="1800" dirty="0"/>
          </a:p>
        </p:txBody>
      </p:sp>
      <p:sp>
        <p:nvSpPr>
          <p:cNvPr id="52" name="R4 dot"/>
          <p:cNvSpPr/>
          <p:nvPr/>
        </p:nvSpPr>
        <p:spPr>
          <a:xfrm rot="10800000">
            <a:off x="6361481" y="397489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3" name="R5 card"/>
          <p:cNvSpPr/>
          <p:nvPr/>
        </p:nvSpPr>
        <p:spPr>
          <a:xfrm>
            <a:off x="1583741" y="455279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R5 chip"/>
          <p:cNvSpPr/>
          <p:nvPr/>
        </p:nvSpPr>
        <p:spPr>
          <a:xfrm>
            <a:off x="544982" y="455279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5" name="R5 num"/>
          <p:cNvSpPr/>
          <p:nvPr/>
        </p:nvSpPr>
        <p:spPr>
          <a:xfrm>
            <a:off x="686714" y="455279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6" name="R5 text"/>
          <p:cNvSpPr/>
          <p:nvPr/>
        </p:nvSpPr>
        <p:spPr>
          <a:xfrm>
            <a:off x="1810512" y="455279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read a medicine label (invented).</a:t>
            </a:r>
            <a:endParaRPr lang="en-US" sz="1800" dirty="0"/>
          </a:p>
        </p:txBody>
      </p:sp>
      <p:sp>
        <p:nvSpPr>
          <p:cNvPr id="57" name="R5 dot"/>
          <p:cNvSpPr/>
          <p:nvPr/>
        </p:nvSpPr>
        <p:spPr>
          <a:xfrm rot="10800000">
            <a:off x="6361481" y="468630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8" name="R6 card"/>
          <p:cNvSpPr/>
          <p:nvPr/>
        </p:nvSpPr>
        <p:spPr>
          <a:xfrm>
            <a:off x="1583741" y="526420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R6 chip"/>
          <p:cNvSpPr/>
          <p:nvPr/>
        </p:nvSpPr>
        <p:spPr>
          <a:xfrm>
            <a:off x="544982" y="526420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0" name="R6 num"/>
          <p:cNvSpPr/>
          <p:nvPr/>
        </p:nvSpPr>
        <p:spPr>
          <a:xfrm>
            <a:off x="686714" y="526420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06</a:t>
            </a:r>
            <a:endParaRPr lang="en-US" sz="3200" b="1" dirty="0"/>
          </a:p>
        </p:txBody>
      </p:sp>
      <p:sp>
        <p:nvSpPr>
          <p:cNvPr id="61" name="R6 text"/>
          <p:cNvSpPr/>
          <p:nvPr/>
        </p:nvSpPr>
        <p:spPr>
          <a:xfrm>
            <a:off x="1810512" y="526420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4 steps for a task I know.</a:t>
            </a:r>
            <a:endParaRPr lang="en-US" sz="1800" dirty="0"/>
          </a:p>
        </p:txBody>
      </p:sp>
      <p:sp>
        <p:nvSpPr>
          <p:cNvPr id="62" name="R6 dot"/>
          <p:cNvSpPr/>
          <p:nvPr/>
        </p:nvSpPr>
        <p:spPr>
          <a:xfrm rot="10800000">
            <a:off x="6361481" y="5397703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Instructions: a drawn instructions sheet with steps 1-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1828800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good at?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2–3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give me an example?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Then switch.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give me an example? Why? Where did you learn that?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good at? Give an example.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interested in learning?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job do you enjoy (or would you enjoy)? Why?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work don't you mind doing? What work do you hate?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9, item 2.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Instructions: a drawn instructions sheet with steps 1-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instructions</a:t>
            </a:r>
            <a:endParaRPr lang="en-US" sz="2000" dirty="0" b="1"/>
          </a:p>
        </p:txBody>
      </p:sp>
      <p:pic>
        <p:nvPicPr>
          <p:cNvPr id="19" name="Word picture 2" descr="Step: drawn stairs numbered 1-3 and a person walki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step</a:t>
            </a:r>
            <a:endParaRPr lang="en-US" sz="2000" dirty="0" b="1"/>
          </a:p>
        </p:txBody>
      </p:sp>
      <p:pic>
        <p:nvPicPr>
          <p:cNvPr id="21" name="Word picture 3" descr="Press: a finger pointing down at a drawn START butt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press</a:t>
            </a:r>
            <a:endParaRPr lang="en-US" sz="2000" dirty="0" b="1"/>
          </a:p>
        </p:txBody>
      </p:sp>
      <p:pic>
        <p:nvPicPr>
          <p:cNvPr id="23" name="Word picture 4" descr="Plug in: a plug, an arrow, a drawn wall outle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plug in</a:t>
            </a:r>
            <a:endParaRPr lang="en-US" sz="2000" dirty="0" b="1"/>
          </a:p>
        </p:txBody>
      </p:sp>
      <p:pic>
        <p:nvPicPr>
          <p:cNvPr id="25" name="Word picture 5" descr="Turn on / turn off: a light bulb (ON) and the same bulb recolored grey (OFF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turn on / turn off</a:t>
            </a:r>
            <a:endParaRPr lang="en-US" sz="1800" dirty="0" b="1"/>
          </a:p>
        </p:txBody>
      </p:sp>
      <p:pic>
        <p:nvPicPr>
          <p:cNvPr id="27" name="Word picture 6" descr="Laundry: a basket, a shirt, sock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laundry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 B points.</a:t>
            </a:r>
            <a:endParaRPr lang="en-US" sz="2200" dirty="0" b="1"/>
          </a:p>
        </p:txBody>
      </p:sp>
      <p:pic>
        <p:nvPicPr>
          <p:cNvPr id="17" name="Word picture 1" descr="Detergent: a drawn detergent bottle &quot;DETERGENT&quot; and bubble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detergent</a:t>
            </a:r>
            <a:endParaRPr lang="en-US" sz="2000" dirty="0" b="1"/>
          </a:p>
        </p:txBody>
      </p:sp>
      <p:pic>
        <p:nvPicPr>
          <p:cNvPr id="19" name="Word picture 2" descr="Safety goggles: goggle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safety goggles</a:t>
            </a:r>
            <a:endParaRPr lang="en-US" sz="2000" dirty="0" b="1"/>
          </a:p>
        </p:txBody>
      </p:sp>
      <p:pic>
        <p:nvPicPr>
          <p:cNvPr id="21" name="Word picture 3" descr="Label: a drawn medicine bottle with a label &quot;Take 1 tablet every 8 hours with food.&quot;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label</a:t>
            </a:r>
            <a:endParaRPr lang="en-US" sz="2000" dirty="0" b="1"/>
          </a:p>
        </p:txBody>
      </p:sp>
      <p:pic>
        <p:nvPicPr>
          <p:cNvPr id="23" name="Word picture 4" descr="Tablet (medicine): a pill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tablet (medicine)</a:t>
            </a:r>
            <a:endParaRPr lang="en-US" sz="1800" dirty="0" b="1"/>
          </a:p>
        </p:txBody>
      </p:sp>
      <p:pic>
        <p:nvPicPr>
          <p:cNvPr id="25" name="Word picture 5" descr="Password: a lock and a drawn password box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password</a:t>
            </a:r>
            <a:endParaRPr lang="en-US" sz="2000" dirty="0" b="1"/>
          </a:p>
        </p:txBody>
      </p:sp>
      <p:pic>
        <p:nvPicPr>
          <p:cNvPr id="27" name="Word picture 6" descr="Log in: a laptop, an arrow, a drawn LOG IN butt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log in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wash clothes with…?</a:t>
            </a:r>
            <a:endParaRPr lang="en-US" sz="1800" dirty="0" b="1"/>
          </a:p>
        </p:txBody>
      </p:sp>
      <p:pic>
        <p:nvPicPr>
          <p:cNvPr id="101" name="R1 pic" descr="Detergent: a drawn detergent bottle &quot;DETERGENT&quot; and bubbl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a medicine bottle, you read the…?</a:t>
            </a:r>
            <a:endParaRPr lang="en-US" sz="1800" dirty="0" b="1"/>
          </a:p>
        </p:txBody>
      </p:sp>
      <p:pic>
        <p:nvPicPr>
          <p:cNvPr id="102" name="R2 pic" descr="Label: a drawn medicine bottle with a label &quot;Take 1 tablet every 8 hours with food.&quot;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log in, you type your…?</a:t>
            </a:r>
            <a:endParaRPr lang="en-US" sz="1800" dirty="0" b="1"/>
          </a:p>
        </p:txBody>
      </p:sp>
      <p:pic>
        <p:nvPicPr>
          <p:cNvPr id="103" name="R3 pic" descr="Password: a lock and a drawn password bo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detergent</a:t>
            </a:r>
            <a:endParaRPr lang="en-US" sz="22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label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password</a:t>
            </a:r>
            <a:endParaRPr lang="en-US" sz="2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Maria is a new worker at a supermarket. Her coworker Tom is teaching her to use a machine.</a:t>
            </a:r>
            <a:endParaRPr lang="en-US" sz="17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Safety goggles: gogg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Tom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Maria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machine is it?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the steps?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1:15.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machine is it?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17373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173736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97362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590288" cy="173736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machine is it?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washing machine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coffee machine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floor cleaning machine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473952" y="3037637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 the steps 1–5. Then circle.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 the steps 1–5.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circle.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51206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51206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08666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041648" cy="512064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add detergent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925312" y="2150669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708453"/>
            <a:ext cx="6035040" cy="51206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708453"/>
            <a:ext cx="1039673" cy="51206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67187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708453"/>
            <a:ext cx="4041648" cy="512064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put on safety goggles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925312" y="2735885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293669"/>
            <a:ext cx="6035040" cy="51206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293669"/>
            <a:ext cx="1039673" cy="51206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25709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293669"/>
            <a:ext cx="4041648" cy="512064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turn it off and empty the tank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925312" y="3321101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3878885"/>
            <a:ext cx="6035040" cy="51206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3878885"/>
            <a:ext cx="1039673" cy="51206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384230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3878885"/>
            <a:ext cx="4041648" cy="512064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fill the tank with water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925312" y="3906317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4464101"/>
            <a:ext cx="6035040" cy="51206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4464101"/>
            <a:ext cx="1039673" cy="51206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442752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4464101"/>
            <a:ext cx="4041648" cy="512064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plug it in and turn it on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925312" y="4491533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049317"/>
            <a:ext cx="6035040" cy="8686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049317"/>
            <a:ext cx="1039673" cy="86868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1910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049317"/>
            <a:ext cx="4041648" cy="86868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much detergent?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cup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cups</a:t>
            </a:r>
            <a:b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light is: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red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green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5925312" y="5255057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cup, green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sequence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put on your safety goggles.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08192" y="2525573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fill the tank with water.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08192" y="3311957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add one cup of detergent.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08192" y="4098341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plug it in and turn it on.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08192" y="4884725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that</a:t>
            </a:r>
            <a:endParaRPr lang="en-US" sz="17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turn it off, unplug it, and empty the tank.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08192" y="5671109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Finally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th and pauses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repeats each line two times.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th: your tongue between your teeth.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then, the: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use your voice.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third: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no voice.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en, push it slowly.</a:t>
            </a:r>
            <a:endParaRPr lang="en-US" sz="22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601822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601822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ird step</a:t>
            </a:r>
            <a:endParaRPr lang="en-US" sz="22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487875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487875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First… (pause) Next… (pause) Then…</a:t>
            </a:r>
            <a:endParaRPr lang="en-US" sz="22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Laundry: a basket, a shirt, sock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I…?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1481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I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use this machine?</a:t>
            </a:r>
            <a:endParaRPr lang="en-US" sz="20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14813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1481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put in the clothes.</a:t>
            </a:r>
            <a:endParaRPr lang="en-US" sz="1900" dirty="0" b="1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add the detergent.</a:t>
            </a:r>
            <a:endParaRPr lang="en-US" sz="1900" dirty="0" b="1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press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START.</a:t>
            </a:r>
            <a:endParaRPr lang="en-US" sz="19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840480"/>
            <a:ext cx="2651760" cy="1481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I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log in?</a:t>
            </a:r>
            <a:endParaRPr lang="en-US" sz="20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840480"/>
            <a:ext cx="4069080" cy="14813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840480"/>
            <a:ext cx="4069080" cy="1481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type your password.</a:t>
            </a:r>
            <a:endParaRPr lang="en-US" sz="19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Turn on / turn off: a light bulb (ON) and the same bulb recolored grey (OFF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I do next?</a:t>
            </a:r>
            <a:endParaRPr lang="en-US" sz="30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that  ·  finally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293108"/>
            <a:ext cx="192024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92024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I do</a:t>
            </a:r>
            <a:endParaRPr lang="en-US" sz="1500" dirty="0" b="1"/>
          </a:p>
        </p:txBody>
      </p:sp>
      <p:sp>
        <p:nvSpPr>
          <p:cNvPr id="23" name="Question 1"/>
          <p:cNvSpPr/>
          <p:nvPr/>
        </p:nvSpPr>
        <p:spPr>
          <a:xfrm>
            <a:off x="3493008" y="3977640"/>
            <a:ext cx="251460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 /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that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2000" dirty="0" b="1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117957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that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wait 30 minutes.</a:t>
            </a:r>
            <a:endParaRPr lang="en-US" sz="19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5518404"/>
            <a:ext cx="192024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202936"/>
            <a:ext cx="192024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I do</a:t>
            </a:r>
            <a:endParaRPr lang="en-US" sz="1500" dirty="0" b="1"/>
          </a:p>
        </p:txBody>
      </p:sp>
      <p:sp>
        <p:nvSpPr>
          <p:cNvPr id="28" name="Question 2"/>
          <p:cNvSpPr/>
          <p:nvPr/>
        </p:nvSpPr>
        <p:spPr>
          <a:xfrm>
            <a:off x="3493008" y="5202936"/>
            <a:ext cx="251460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the end?</a:t>
            </a:r>
            <a:endParaRPr lang="en-US" sz="2000" dirty="0" b="1"/>
          </a:p>
        </p:txBody>
      </p:sp>
      <p:sp>
        <p:nvSpPr>
          <p:cNvPr id="29" name="Answer bg 2"/>
          <p:cNvSpPr/>
          <p:nvPr/>
        </p:nvSpPr>
        <p:spPr>
          <a:xfrm>
            <a:off x="6949440" y="5202936"/>
            <a:ext cx="4526280" cy="117957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5202936"/>
            <a:ext cx="452628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Finally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out the clothes.</a:t>
            </a:r>
            <a:endParaRPr lang="en-US" sz="19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Plug in: a plug, an arrow, a drawn wall outl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Don't…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 open the door now?</a:t>
            </a:r>
            <a:endParaRPr lang="en-US" sz="20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11155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No.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open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door. It's hot.</a:t>
            </a:r>
            <a:endParaRPr lang="en-US" sz="20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474720"/>
            <a:ext cx="265176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 else?</a:t>
            </a:r>
            <a:endParaRPr lang="en-US" sz="20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474720"/>
            <a:ext cx="4069080" cy="11155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474720"/>
            <a:ext cx="406908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forget to take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your card.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tep: drawn stairs numbered 1-3 and a person walk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Sequence Words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STEP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223760" y="18288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SEQUENCE WORD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01168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STEP 1</a:t>
            </a:r>
            <a:endParaRPr lang="en-US" sz="2000" dirty="0" b="1"/>
          </a:p>
        </p:txBody>
      </p:sp>
      <p:sp>
        <p:nvSpPr>
          <p:cNvPr id="19" name="Answer bg 1"/>
          <p:cNvSpPr/>
          <p:nvPr/>
        </p:nvSpPr>
        <p:spPr>
          <a:xfrm>
            <a:off x="7223760" y="2286000"/>
            <a:ext cx="4709160" cy="7955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223760" y="2286000"/>
            <a:ext cx="470916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put on your goggles.</a:t>
            </a:r>
            <a:endParaRPr lang="en-US" sz="20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154680"/>
            <a:ext cx="201168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STEP 2</a:t>
            </a:r>
            <a:endParaRPr lang="en-US" sz="2000" dirty="0" b="1"/>
          </a:p>
        </p:txBody>
      </p:sp>
      <p:sp>
        <p:nvSpPr>
          <p:cNvPr id="22" name="Answer bg 2"/>
          <p:cNvSpPr/>
          <p:nvPr/>
        </p:nvSpPr>
        <p:spPr>
          <a:xfrm>
            <a:off x="7223760" y="3154680"/>
            <a:ext cx="4709160" cy="7955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223760" y="3154680"/>
            <a:ext cx="470916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fill the tank.</a:t>
            </a:r>
            <a:endParaRPr lang="en-US" sz="20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023360"/>
            <a:ext cx="201168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STEP 3</a:t>
            </a:r>
            <a:endParaRPr lang="en-US" sz="2000" dirty="0" b="1"/>
          </a:p>
        </p:txBody>
      </p:sp>
      <p:sp>
        <p:nvSpPr>
          <p:cNvPr id="25" name="Answer bg 3"/>
          <p:cNvSpPr/>
          <p:nvPr/>
        </p:nvSpPr>
        <p:spPr>
          <a:xfrm>
            <a:off x="7223760" y="4023360"/>
            <a:ext cx="4709160" cy="7955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223760" y="4023360"/>
            <a:ext cx="470916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/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that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plug it in.</a:t>
            </a:r>
            <a:endParaRPr lang="en-US" sz="20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4892040"/>
            <a:ext cx="201168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LAST STEP</a:t>
            </a:r>
            <a:endParaRPr lang="en-US" sz="2000" dirty="0" b="1"/>
          </a:p>
        </p:txBody>
      </p:sp>
      <p:sp>
        <p:nvSpPr>
          <p:cNvPr id="28" name="Answer bg 4"/>
          <p:cNvSpPr/>
          <p:nvPr/>
        </p:nvSpPr>
        <p:spPr>
          <a:xfrm>
            <a:off x="7223760" y="4892040"/>
            <a:ext cx="4709160" cy="7955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223760" y="4892040"/>
            <a:ext cx="470916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Finally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turn it off.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A: making tea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 · Next · Then · After that · Finally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Making tea.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boil the water.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08192" y="2525573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put a tea bag in the cup.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08192" y="3311957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add the hot water.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08192" y="4098341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wait 3 minutes.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08192" y="4884725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that</a:t>
            </a:r>
            <a:endParaRPr lang="en-US" sz="17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take out the tea bag and drink it.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08192" y="5671109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Finally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right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____ the green button.</a:t>
            </a: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7269480" y="3108960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Press</a:t>
            </a:r>
            <a:endParaRPr lang="en-US" sz="1700" dirty="0" b="1"/>
          </a:p>
        </p:txBody>
      </p:sp>
      <p:sp>
        <p:nvSpPr>
          <p:cNvPr id="10" name="R1 opt2"/>
          <p:cNvSpPr/>
          <p:nvPr/>
        </p:nvSpPr>
        <p:spPr>
          <a:xfrm>
            <a:off x="9235440" y="3108960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presses</a:t>
            </a:r>
            <a:endParaRPr lang="en-US" sz="1700" dirty="0" b="1"/>
          </a:p>
        </p:txBody>
      </p:sp>
      <p:sp>
        <p:nvSpPr>
          <p:cNvPr id="11" name="R1 circle"/>
          <p:cNvSpPr/>
          <p:nvPr/>
        </p:nvSpPr>
        <p:spPr>
          <a:xfrm>
            <a:off x="7141464" y="3054096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767328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____ the door.</a:t>
            </a:r>
            <a:endParaRPr lang="en-US" sz="2000" dirty="0"/>
          </a:p>
        </p:txBody>
      </p:sp>
      <p:sp>
        <p:nvSpPr>
          <p:cNvPr id="13" name="R2 opt1"/>
          <p:cNvSpPr/>
          <p:nvPr/>
        </p:nvSpPr>
        <p:spPr>
          <a:xfrm>
            <a:off x="7269480" y="3767328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open</a:t>
            </a:r>
            <a:endParaRPr lang="en-US" sz="1700" dirty="0" b="1"/>
          </a:p>
        </p:txBody>
      </p:sp>
      <p:sp>
        <p:nvSpPr>
          <p:cNvPr id="14" name="R2 opt2"/>
          <p:cNvSpPr/>
          <p:nvPr/>
        </p:nvSpPr>
        <p:spPr>
          <a:xfrm>
            <a:off x="9235440" y="3767328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open</a:t>
            </a:r>
            <a:endParaRPr lang="en-US" sz="1700" dirty="0" b="1"/>
          </a:p>
        </p:txBody>
      </p:sp>
      <p:sp>
        <p:nvSpPr>
          <p:cNvPr id="15" name="R2 circle"/>
          <p:cNvSpPr/>
          <p:nvPr/>
        </p:nvSpPr>
        <p:spPr>
          <a:xfrm>
            <a:off x="9107424" y="3712464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425696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How ____ I log in?</a:t>
            </a:r>
            <a:endParaRPr lang="en-US" sz="2000" dirty="0"/>
          </a:p>
        </p:txBody>
      </p:sp>
      <p:sp>
        <p:nvSpPr>
          <p:cNvPr id="17" name="R3 opt1"/>
          <p:cNvSpPr/>
          <p:nvPr/>
        </p:nvSpPr>
        <p:spPr>
          <a:xfrm>
            <a:off x="7269480" y="4425696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1700" dirty="0" b="1"/>
          </a:p>
        </p:txBody>
      </p:sp>
      <p:sp>
        <p:nvSpPr>
          <p:cNvPr id="18" name="R3 opt2"/>
          <p:cNvSpPr/>
          <p:nvPr/>
        </p:nvSpPr>
        <p:spPr>
          <a:xfrm>
            <a:off x="9235440" y="4425696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endParaRPr lang="en-US" sz="1700" dirty="0" b="1"/>
          </a:p>
        </p:txBody>
      </p:sp>
      <p:sp>
        <p:nvSpPr>
          <p:cNvPr id="19" name="R3 circle"/>
          <p:cNvSpPr/>
          <p:nvPr/>
        </p:nvSpPr>
        <p:spPr>
          <a:xfrm>
            <a:off x="7141464" y="4370832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5084064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Don't forget ____ your receipt.</a:t>
            </a:r>
            <a:endParaRPr lang="en-US" sz="2000" dirty="0"/>
          </a:p>
        </p:txBody>
      </p:sp>
      <p:sp>
        <p:nvSpPr>
          <p:cNvPr id="21" name="R4 opt1"/>
          <p:cNvSpPr/>
          <p:nvPr/>
        </p:nvSpPr>
        <p:spPr>
          <a:xfrm>
            <a:off x="7269480" y="5084064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</a:t>
            </a:r>
            <a:endParaRPr lang="en-US" sz="1700" dirty="0" b="1"/>
          </a:p>
        </p:txBody>
      </p:sp>
      <p:sp>
        <p:nvSpPr>
          <p:cNvPr id="22" name="R4 opt2"/>
          <p:cNvSpPr/>
          <p:nvPr/>
        </p:nvSpPr>
        <p:spPr>
          <a:xfrm>
            <a:off x="9235440" y="5084064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take</a:t>
            </a:r>
            <a:endParaRPr lang="en-US" sz="1700" dirty="0" b="1"/>
          </a:p>
        </p:txBody>
      </p:sp>
      <p:sp>
        <p:nvSpPr>
          <p:cNvPr id="23" name="R4 circle"/>
          <p:cNvSpPr/>
          <p:nvPr/>
        </p:nvSpPr>
        <p:spPr>
          <a:xfrm>
            <a:off x="9107424" y="5029200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742432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____ the light, please.</a:t>
            </a:r>
            <a:endParaRPr lang="en-US" sz="2000" dirty="0"/>
          </a:p>
        </p:txBody>
      </p:sp>
      <p:sp>
        <p:nvSpPr>
          <p:cNvPr id="25" name="R5 opt1"/>
          <p:cNvSpPr/>
          <p:nvPr/>
        </p:nvSpPr>
        <p:spPr>
          <a:xfrm>
            <a:off x="7269480" y="5742432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Turn off</a:t>
            </a:r>
            <a:endParaRPr lang="en-US" sz="1700" dirty="0" b="1"/>
          </a:p>
        </p:txBody>
      </p:sp>
      <p:sp>
        <p:nvSpPr>
          <p:cNvPr id="26" name="R5 opt2"/>
          <p:cNvSpPr/>
          <p:nvPr/>
        </p:nvSpPr>
        <p:spPr>
          <a:xfrm>
            <a:off x="9235440" y="5742432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Turns off</a:t>
            </a:r>
            <a:endParaRPr lang="en-US" sz="1700" dirty="0" b="1"/>
          </a:p>
        </p:txBody>
      </p:sp>
      <p:sp>
        <p:nvSpPr>
          <p:cNvPr id="27" name="R5 circle"/>
          <p:cNvSpPr/>
          <p:nvPr/>
        </p:nvSpPr>
        <p:spPr>
          <a:xfrm>
            <a:off x="7141464" y="5687568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Press: a finger pointing down at a drawn START butt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press START.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Press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START.</a:t>
            </a:r>
            <a:endParaRPr lang="en-US" sz="1700" dirty="0" b="0"/>
          </a:p>
        </p:txBody>
      </p:sp>
      <p:sp>
        <p:nvSpPr>
          <p:cNvPr id="26" name="Bad 2"/>
          <p:cNvSpPr/>
          <p:nvPr/>
        </p:nvSpPr>
        <p:spPr>
          <a:xfrm>
            <a:off x="914400" y="303580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open the door.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03580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open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door.</a:t>
            </a:r>
            <a:endParaRPr lang="en-US" sz="1700" dirty="0" b="0"/>
          </a:p>
        </p:txBody>
      </p:sp>
      <p:sp>
        <p:nvSpPr>
          <p:cNvPr id="28" name="Bad 3"/>
          <p:cNvSpPr/>
          <p:nvPr/>
        </p:nvSpPr>
        <p:spPr>
          <a:xfrm>
            <a:off x="914400" y="3602736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forget take your card.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602736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forget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take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your card.</a:t>
            </a:r>
            <a:endParaRPr lang="en-US" sz="1700" dirty="0" b="0"/>
          </a:p>
        </p:txBody>
      </p:sp>
      <p:sp>
        <p:nvSpPr>
          <p:cNvPr id="30" name="Bad 4"/>
          <p:cNvSpPr/>
          <p:nvPr/>
        </p:nvSpPr>
        <p:spPr>
          <a:xfrm>
            <a:off x="914400" y="416966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Final, turn it off.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16966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Finally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turn it off.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Instructions: a drawn instructions sheet with steps 1-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Drill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3 steps.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How do I make rice?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(or tea, a sandwich)</a:t>
            </a:r>
            <a:endParaRPr lang="en-US" sz="20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First, … Next, … Then, …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 roles.</a:t>
            </a:r>
            <a:endParaRPr lang="en-US" sz="20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How do I…? B answers with 3 steps and sequence words.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Four jumbled step strips: four rows of four lettered panels: faucet, soap, open hands, paper towel; water drop, spoon, START button, coffee; camera, framed picture, SEND button, check; START button, space-number sign, card, receip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449" y="3418942"/>
            <a:ext cx="291171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Teach Me in Four Steps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2 minutes per strip.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chooses a strip and finds the order.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pictures (A–D) are not in order.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teaches B with sequence words.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First, turn on the water. Next, use soap…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mimes and asks.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I do next?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7:12–7:17</a:t>
            </a:r>
            <a:endParaRPr lang="en-US" sz="4000" dirty="0"/>
          </a:p>
        </p:txBody>
      </p:sp>
      <p:pic>
        <p:nvPicPr>
          <p:cNvPr id="16" name="pic" descr="Tablet (medicine): a pi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two sentences: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Two steps with sequence words.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A warning with Don't and because or so: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open the door, because the water is hot.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7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 minutes.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instruction. No you, no -s.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Write 4 steps for a task at home.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Ask: How do you make your favorite food?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good at / interested in + -ing.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700" dirty="0" b="1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progres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51206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can"/>
          <p:cNvSpPr/>
          <p:nvPr/>
        </p:nvSpPr>
        <p:spPr>
          <a:xfrm>
            <a:off x="8503920" y="1280160"/>
            <a:ext cx="3429000" cy="49377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400" dirty="0" b="1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3200" dirty="0" b="0"/>
          </a:p>
          <a:p>
            <a:pPr algn="ctr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18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instructions in order.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follow instructions.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How do I…? What do I do next?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read a medicine label.</a:t>
            </a:r>
            <a:endParaRPr lang="en-US" sz="1600" dirty="0" b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557784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6400800" y="3263494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566928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6537960" y="3063240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</a:t>
            </a:r>
            <a:endParaRPr lang="en-US" sz="4300" dirty="0"/>
          </a:p>
        </p:txBody>
      </p:sp>
      <p:sp>
        <p:nvSpPr>
          <p:cNvPr id="22" name="A head"/>
          <p:cNvSpPr/>
          <p:nvPr/>
        </p:nvSpPr>
        <p:spPr>
          <a:xfrm>
            <a:off x="9144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Listen to the teacher. Circle a or b.</a:t>
            </a:r>
            <a:endParaRPr lang="en-US" sz="1800" dirty="0" b="1"/>
          </a:p>
        </p:txBody>
      </p:sp>
      <p:sp>
        <p:nvSpPr>
          <p:cNvPr id="23" name="Ans head"/>
          <p:cNvSpPr/>
          <p:nvPr/>
        </p:nvSpPr>
        <p:spPr>
          <a:xfrm>
            <a:off x="6766560" y="3246120"/>
            <a:ext cx="155448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63" name="Bad 1"/>
          <p:cNvSpPr/>
          <p:nvPr/>
        </p:nvSpPr>
        <p:spPr>
          <a:xfrm>
            <a:off x="868680" y="384048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plug it in → turn it on   b. turn it on → plug it in</a:t>
            </a:r>
            <a:endParaRPr lang="en-US" sz="1600" dirty="0" b="1"/>
          </a:p>
        </p:txBody>
      </p:sp>
      <p:sp>
        <p:nvSpPr>
          <p:cNvPr id="64" name="Good 1"/>
          <p:cNvSpPr/>
          <p:nvPr/>
        </p:nvSpPr>
        <p:spPr>
          <a:xfrm>
            <a:off x="6766560" y="3840480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5" name="Bad 2"/>
          <p:cNvSpPr/>
          <p:nvPr/>
        </p:nvSpPr>
        <p:spPr>
          <a:xfrm>
            <a:off x="868680" y="4407408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Open the door.   b. Don't open the door.</a:t>
            </a:r>
            <a:endParaRPr lang="en-US" sz="1600" dirty="0" b="1"/>
          </a:p>
        </p:txBody>
      </p:sp>
      <p:sp>
        <p:nvSpPr>
          <p:cNvPr id="66" name="Good 2"/>
          <p:cNvSpPr/>
          <p:nvPr/>
        </p:nvSpPr>
        <p:spPr>
          <a:xfrm>
            <a:off x="6766560" y="4407408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67" name="Bad 3"/>
          <p:cNvSpPr/>
          <p:nvPr/>
        </p:nvSpPr>
        <p:spPr>
          <a:xfrm>
            <a:off x="868680" y="497433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press START   b. press STOP</a:t>
            </a:r>
            <a:endParaRPr lang="en-US" sz="1600" dirty="0" b="1"/>
          </a:p>
        </p:txBody>
      </p:sp>
      <p:sp>
        <p:nvSpPr>
          <p:cNvPr id="68" name="Good 3"/>
          <p:cNvSpPr/>
          <p:nvPr/>
        </p:nvSpPr>
        <p:spPr>
          <a:xfrm>
            <a:off x="6766560" y="4974336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9" name="Bad 4"/>
          <p:cNvSpPr/>
          <p:nvPr/>
        </p:nvSpPr>
        <p:spPr>
          <a:xfrm>
            <a:off x="868680" y="554126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This is the first step.   b. This is the last step.</a:t>
            </a:r>
            <a:endParaRPr lang="en-US" sz="1600" dirty="0" b="1"/>
          </a:p>
        </p:txBody>
      </p:sp>
      <p:sp>
        <p:nvSpPr>
          <p:cNvPr id="70" name="Good 4"/>
          <p:cNvSpPr/>
          <p:nvPr/>
        </p:nvSpPr>
        <p:spPr>
          <a:xfrm>
            <a:off x="6766560" y="5541264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Turn on / turn off: a light bulb (ON) and the same bulb recolored grey (OFF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10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instructions in order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How do I…? What do I do next?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a warning with Don't…</a:t>
            </a:r>
            <a:endParaRPr lang="en-US" sz="2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speech bubbles, signs, and labels were added.</a:t>
            </a:r>
            <a:endParaRPr lang="en-US" sz="160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faces on the Progress Check are standard emoji characters shown with the computer's emoji font.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Maria and Tom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Lesson 10: Step by Step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