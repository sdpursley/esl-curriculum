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4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390" r:id="rId32"/>
    <p:sldId id="391" r:id="rId21"/>
    <p:sldId id="392" r:id="rId19"/>
    <p:sldId id="393" r:id="rId15"/>
    <p:sldId id="394" r:id="rId37"/>
    <p:sldId id="395" r:id="rId38"/>
    <p:sldId id="396" r:id="rId39"/>
    <p:sldId id="397" r:id="rId40"/>
    <p:sldId id="398" r:id="rId41"/>
    <p:sldId id="399" r:id="rId42"/>
    <p:sldId id="400" r:id="rId43"/>
    <p:sldId id="401" r:id="rId44"/>
    <p:sldId id="402" r:id="rId45"/>
    <p:sldId id="403" r:id="rId46"/>
    <p:sldId id="404" r:id="rId47"/>
    <p:sldId id="405" r:id="rId48"/>
    <p:sldId id="406" r:id="rId49"/>
    <p:sldId id="407" r:id="rId50"/>
    <p:sldId id="408" r:id="rId51"/>
    <p:sldId id="409" r:id="rId52"/>
    <p:sldId id="410" r:id="rId53"/>
    <p:sldId id="411" r:id="rId54"/>
    <p:sldId id="412" r:id="rId55"/>
    <p:sldId id="413" r:id="rId56"/>
    <p:sldId id="414" r:id="rId9"/>
    <p:sldId id="415" r:id="rId58"/>
    <p:sldId id="416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slide" Target="slides/slide53.xml"/><Relationship Id="rId9" Type="http://schemas.openxmlformats.org/officeDocument/2006/relationships/slide" Target="slides/slide51.xml"/><Relationship Id="rId15" Type="http://schemas.openxmlformats.org/officeDocument/2006/relationships/slide" Target="slides/slide30.xml"/><Relationship Id="rId19" Type="http://schemas.openxmlformats.org/officeDocument/2006/relationships/slide" Target="slides/slide29.xml"/><Relationship Id="rId21" Type="http://schemas.openxmlformats.org/officeDocument/2006/relationships/slide" Target="slides/slide28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32" Type="http://schemas.openxmlformats.org/officeDocument/2006/relationships/slide" Target="slides/slide27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8" Type="http://schemas.openxmlformats.org/officeDocument/2006/relationships/slide" Target="slides/slide5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Credits. You don't need to read this slide in class.</a:t>
            </a:r>
          </a:p>
          <a:p>
            <a:r>
              <a:t>Pictures: Twemoji graphics by Twitter, Inc. and other contributors, CC BY 4.0; the file-by-file list is in images/CREDITS.md.</a:t>
            </a:r>
          </a:p>
          <a:p>
            <a:r>
              <a:t>Audio: L3_L6_listening.mp3 (about 1:20) is not recorded yet (see level3/AUDIO_STATUS.md). It will use computer-generated voices (Chatterbox TTS cloned from synthetic Kokoro-82M reference clips); no recordings of real people. Until the file is ready, read the listening script with a volunteer. The names and the story are invented.</a:t>
            </a:r>
          </a:p>
          <a:p>
            <a:r>
              <a:t>Course materials: © 2026 the authors, licensed under CC BY-NC-SA 4.0 (https://creativecommons.org/licenses/by-nc-sa/4.0/).</a:t>
            </a:r>
          </a:p>
          <a:p>
            <a:r>
              <a:t>Source: Level3_Lesson6.md (Picture Credits); images/CREDITS.md.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Progress Check · 7:25–7:30 · 5 min. Individuals. Open the Progress Check page.</a:t>
            </a:r>
          </a:p>
          <a:p>
            <a:r>
              <a:t>Part A: read each sentence slowly, 2 times. Learners circle a or b. Then click to show the answer (one click per item, 1 to 4).</a:t>
            </a:r>
          </a:p>
          <a:p>
            <a:r>
              <a:t>Say: 1 "If it snows tomorrow, I'll stay home." (a) • 2 "It will probably rain tonight." (a) • 3 "If the power goes out, we'll use flashlights." (b) • 4 "It probably won't be hot tomorrow." (b)</a:t>
            </a:r>
          </a:p>
          <a:p>
            <a:r>
              <a:t>Parts B and C: learners do them alone. Walk around and help with the instructions only. B answers: 1 rains, 2 'll call, 3 probably won't, 4 it snows. C: answers will vary (for example If the power goes out, I'll use a flashlight. / It will probably rain this weekend.).</a:t>
            </a:r>
          </a:p>
          <a:p>
            <a:r>
              <a:t>Part D: read each "I can…" line aloud and point to the 3 faces: 😀 "I can do it." 🙂 "With a little help." 😐 "Not yet."</a:t>
            </a:r>
          </a:p>
          <a:p>
            <a:r>
              <a:t>Scoring: A /4 + B /4 + C /2 = /10. This is not a test grade. It shows who needs more help hearing if sentences and predictions (A) and with the forms (B, C).</a:t>
            </a:r>
          </a:p>
          <a:p>
            <a:r>
              <a:t>Collect the pages (or check them at the start of Week 7). If behind: do the Progress Check in Week 7 at 6:00, while learners arrive.</a:t>
            </a:r>
          </a:p>
          <a:p>
            <a:r>
              <a:t>Source: Level3_Lesson6.md (Progress Check step; Progress Check page;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1, continued. The four cards from the Opening Talk page. Each click shows the next card.</a:t>
            </a:r>
          </a:p>
          <a:p>
            <a:r>
              <a:t>A asks a card question or reads a problem. B answers with 2–3 sentences (for a problem card, B offers help with I'll…). A asks one follow-up question. Then switch.</a:t>
            </a:r>
          </a:p>
          <a:p>
            <a:r>
              <a:t>Homework Check (4 min, last click): partners read their Lesson 5 Homework item 1 (offers with I'll) to each other. The partner says one more offer. Walk around. Write 2 common errors on the board (often I help you or I will to…) and correct them together.</a:t>
            </a:r>
          </a:p>
          <a:p>
            <a:r>
              <a:t>Source: Level3_Lesson6.md (Step 1; Opening Talk page: cards, follow-ups, homework check).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 · 6:00–6:10 · Opening Talk + Homework Check · 10 min. Pairs (7 pairs + 1 trio with 15 learners; 3–4 pairs with 7–8).</a:t>
            </a:r>
          </a:p>
          <a:p>
            <a:r>
              <a:t>Before class, write on the board: I'll… / I'm going to… / Don't worry, I won't…</a:t>
            </a:r>
          </a:p>
          <a:p>
            <a:r>
              <a:t>Model with one learner: "What are you going to do this weekend?" → (answer) → "Really? Who with?" (Click to show the follow-up.)</a:t>
            </a:r>
          </a:p>
          <a:p>
            <a:r>
              <a:t>Opening Talk (6 min): learners open the Opening Talk page. A asks a card question or reads a problem; B answers with 2–3 sentences; A asks one follow-up. Switch after each card. The cards are on the next slide.</a:t>
            </a:r>
          </a:p>
          <a:p>
            <a:r>
              <a:t>If behind: one card only, then the homework check.</a:t>
            </a:r>
          </a:p>
          <a:p>
            <a:r>
              <a:t>Source: Level3_Lesson6.md (Step 1; Opening Talk page).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 goal slowly. Learners repeat.</a:t>
            </a:r>
          </a:p>
          <a:p>
            <a:r>
              <a:t>Goal 1: understand a short weather forecast and a weather alert. Goal 2: If the power goes out, I'll use a flashlight. Goal 3: What will you do if…?</a:t>
            </a:r>
          </a:p>
          <a:p>
            <a:r>
              <a:t>Goal 4: It will probably rain. It probably won't snow. Goal 5: simple safety tips with should (review). Goal 6: read a weather alert text and fill in a simple "My Ready Plan" card.</a:t>
            </a:r>
          </a:p>
          <a:p>
            <a:r>
              <a:t>"We check at 7:25" = the Progress Check. It is not a test grade.</a:t>
            </a:r>
          </a:p>
          <a:p>
            <a:r>
              <a:t>Source: Level3_Lesson6.md (At a glance: Objectives).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learners as they arrive.</a:t>
            </a:r>
          </a:p>
          <a:p>
            <a:r>
              <a:t>Point to the title and read it: "Be ready." Say: "Tonight we talk about weather alerts, storms, heat, and power outages, and what to do if…"</a:t>
            </a:r>
          </a:p>
          <a:p>
            <a:r>
              <a:t>Read the three lines under "Today you will". Give one quick example of each: "If the power goes out, I'll use a flashlight." • "It will probably rain. It probably won't snow." • "If it's very hot, we'll go to the library."</a:t>
            </a:r>
          </a:p>
          <a:p>
            <a:r>
              <a:t>Choose your weather: use the weather that fits your area (snow, heat, storms, floods). Skip a word that never happens where you live, or teach it quickly for the news.</a:t>
            </a:r>
          </a:p>
          <a:p>
            <a:r>
              <a:t>Feelings: some learners have lived through a hurricane, a flood, or an earthquake. Keep the stories in the lesson invented. Never ask about real disasters. "I don't want to say" is always OK.</a:t>
            </a:r>
          </a:p>
          <a:p>
            <a:r>
              <a:t>Source: Level3_Lesson6.md (Topic; At a glance: Objectives; Teacher notes).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6:10–6:18 · New Words · 8 min (this slide and the next). Whole class, then pairs.</a:t>
            </a:r>
          </a:p>
          <a:p>
            <a:r>
              <a:t>Point to each picture and say the word. Learners repeat once. ★ = the most important words. Each click shows the next word.</a:t>
            </a:r>
          </a:p>
          <a:p>
            <a:r>
              <a:t>Act out heat wave (fan your face), snowstorm (shiver), and power outage (click a light switch: "Oh no! No lights!").</a:t>
            </a:r>
          </a:p>
          <a:p>
            <a:r>
              <a:t>If behind: teach the ★ words only.</a:t>
            </a:r>
          </a:p>
          <a:p>
            <a:r>
              <a:t>Source: Level3_Lesson6.md (Step 2; Key vocabulary; New Words page).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2, continued. Point to each picture and say the word. Learners repeat once.</a:t>
            </a:r>
          </a:p>
          <a:p>
            <a:r>
              <a:t>Group the words (1 min): draw three columns on the board: WEATHER (forecast, storm, snowstorm, flood, heat wave), PROBLEMS (weather alert, power outage), and BE READY (flashlight, battery, emergency kit, bottled water, shelter). Learners say where each word goes.</a:t>
            </a:r>
          </a:p>
          <a:p>
            <a:r>
              <a:t>Partner game (2 min): A says a word. B points to the picture and makes a sentence (A: flashlight. B: If the power goes out, I'll use a flashlight. / I have a flashlight in my kitchen.). Switch.</a:t>
            </a:r>
          </a:p>
          <a:p>
            <a:r>
              <a:t>If behind: teach the ★ words only.</a:t>
            </a:r>
          </a:p>
          <a:p>
            <a:r>
              <a:t>Source: Level3_Lesson6.md (Step 2; New Words page; Partner game).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 · Check meaning · 1 min. Whole class.</a:t>
            </a:r>
          </a:p>
          <a:p>
            <a:r>
              <a:t>The answers are hidden. Ask each question and wait for the class to answer. Then click to show the answer. Each click shows one answer, in order: 1, 2, 3.</a:t>
            </a:r>
          </a:p>
          <a:p>
            <a:r>
              <a:t>1. "No lights, no fridge, no TV. It's a…?" (power outage) • 2. "Where do you put a flashlight, water, and batteries?" (an emergency kit) • 3. "A safe public building for a storm?" (a shelter)</a:t>
            </a:r>
          </a:p>
          <a:p>
            <a:r>
              <a:t>Source: Level3_Lesson6.md (Step 2: Check meaning).</a:t>
            </a:r>
          </a:p>
          <a:p>
            <a:r>
              <a:t>Pictures: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3 · 6:18–6:30 · Listening + "Say it" · 12 min (slides 8 to 12). Individuals, then pairs check.</a:t>
            </a:r>
          </a:p>
          <a:p>
            <a:r>
              <a:t>Before you listen (1 min). Say: "First, you'll hear a weather alert on the radio. Then two roommates, Nadia and Ben, talk about it. What is the weather problem? Listen."</a:t>
            </a:r>
          </a:p>
          <a:p>
            <a:r>
              <a:t>There are three voices: a Narrator (who also reads the weather alert), Nadia, and Ben. Each click highlights the next voice.</a:t>
            </a:r>
          </a:p>
          <a:p>
            <a:r>
              <a:t>The audio (L3_L6_listening.mp3, about 1:20) plays once. Press play again for play 2. A third play is fine if the class needs it.</a:t>
            </a:r>
          </a:p>
          <a:p>
            <a:r>
              <a:t>No speaker? Read the script with a volunteer at a normal, friendly speed.</a:t>
            </a:r>
          </a:p>
          <a:p>
            <a:r>
              <a:t>Audio: L3_L6_listening.mp3 (about 1:20) is not recorded yet (see level3/AUDIO_STATUS.md). It will use computer-generated voices (Chatterbox TTS cloned from synthetic Kokoro-82M reference clips); no recordings of real people. Until the file is ready, read the listening script with a volunteer. The names and the story are invented.</a:t>
            </a:r>
          </a:p>
          <a:p>
            <a:r>
              <a:t>Source: Level3_Lesson6.md (Step 3; Listening script; Listening page).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1 → Task A (what is the weather problem?). Pairs compare. Check together.</a:t>
            </a:r>
          </a:p>
          <a:p>
            <a:r>
              <a:t>Click to show the answer: b (a storm: strong wind and heavy rain).</a:t>
            </a:r>
          </a:p>
          <a:p>
            <a:r>
              <a:t>Then read Tasks B and C together (1 min) so learners know what to listen for.</a:t>
            </a:r>
          </a:p>
          <a:p>
            <a:r>
              <a:t>Source: Level3_Lesson6.md (Step 3; Listening Task A;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2 → Tasks B and C. Pairs compare. Then show the answers.</a:t>
            </a:r>
          </a:p>
          <a:p>
            <a:r>
              <a:t>Click to circle each answer (one click per item, 1 to 6): ✓ 1 batteries, ✓ 2 bottled water, ✗ 3 candles, ✓ 4 charged phones, ✗ 5 a snow shovel, ✗ 6 a new fridge. (3 checks.)</a:t>
            </a:r>
          </a:p>
          <a:p>
            <a:r>
              <a:t>Candles: keep them out of practice plans (fire risk); use flashlights.</a:t>
            </a:r>
          </a:p>
          <a:p>
            <a:r>
              <a:t>Source: Level3_Lesson6.md (Step 3; Listening Task B; Answer key; Teacher notes: Safety).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Task C (play 2). Click to show each answer (one click per item, 1 to 6): 1 goes, won't • 2 'll • 3 won't • 4 'll • 5 is • 6 'll.</a:t>
            </a:r>
          </a:p>
          <a:p>
            <a:r>
              <a:t>If behind: do Task C together on the board, reading the lines yourself.</a:t>
            </a:r>
          </a:p>
          <a:p>
            <a:r>
              <a:t>Source: Level3_Lesson6.md (Step 3; Listening Task C;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"Say it" (2 min). Say: "It will is usually it'll. It sounds like id-ul." Read it'll, we'll, I'll.</a:t>
            </a:r>
          </a:p>
          <a:p>
            <a:r>
              <a:t>Then read the line in the "Say it" box, stressing the key words: If the POWER goes OUT, we'll use a FLASHLIGHT. The class repeats each line twice.</a:t>
            </a:r>
          </a:p>
          <a:p>
            <a:r>
              <a:t>Source: Level3_Lesson6.md (Step 3: "Say it"; Listening page: Say it).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4 · 6:30–6:45 · Grammar Q&amp;A · 15 min (slides 13 to 21). Whole class, then pairs. Show the Grammar page. The left side is the question. The right side is the answer.</a:t>
            </a:r>
          </a:p>
          <a:p>
            <a:r>
              <a:t>Draw on the board: IF + present → will. Under it write: If it rains, I'll take the bus. Circle rains and say "present, no will." Circle 'll and say "the result: will."</a:t>
            </a:r>
          </a:p>
          <a:p>
            <a:r>
              <a:t>Box 1 (3 min): read a question from the left; the class answers from the right. Each click shows the answer side of one row. Then ask learners: "What will you do if it snows tomorrow?"</a:t>
            </a:r>
          </a:p>
          <a:p>
            <a:r>
              <a:t>After if, use the present: If it rains (not If it will rain). In English if needs a subject: If it rains (not If rains).</a:t>
            </a:r>
          </a:p>
          <a:p>
            <a:r>
              <a:t>Source: Level3_Lesson6.md (Step 4; Grammar Box 1; Teacher notes: After if, use the present).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2 (2 min): the two halves can change places: I'll stay home if it snows. No comma when if is in the middle.</a:t>
            </a:r>
          </a:p>
          <a:p>
            <a:r>
              <a:t>A reads the left side; B reads the right side. Each click shows the right side of one row.</a:t>
            </a:r>
          </a:p>
          <a:p>
            <a:r>
              <a:t>Source: Level3_Lesson6.md (Step 4; Grammar Box 2).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Boxes 3 and 4 (3 min): draw a line from 0% to 100% on the board. Put won't at 0%, probably won't at 25%, maybe at 50%, probably at 75%, will at 100%.</a:t>
            </a:r>
          </a:p>
          <a:p>
            <a:r>
              <a:t>Box 3: read across. Each click shows the answer side of one row.</a:t>
            </a:r>
          </a:p>
          <a:p>
            <a:r>
              <a:t>Source: Level3_Lesson6.md (Step 4; Grammar Box 3).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4: predictions with probably and maybe. Point to the 0%–100% line. Each click shows one prediction, from 100% to 0%.</a:t>
            </a:r>
          </a:p>
          <a:p>
            <a:r>
              <a:t>probably goes after will and before won't: It will probably rain. It probably won't snow. Maybe goes at the start: Maybe it will snow.</a:t>
            </a:r>
          </a:p>
          <a:p>
            <a:r>
              <a:t>Check questions: "If it ___ tomorrow, I'll stay home." (snows) • "If the power goes out, we ___ use flashlights." ('ll) • "It will ___ rain." (probably) • "It ___ won't snow." (probably)</a:t>
            </a:r>
          </a:p>
          <a:p>
            <a:r>
              <a:t>Source: Level3_Lesson6.md (Step 4; Grammar Box 4; Teacher notes: probably).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 5 is a quick should review. A reads the question; B answers from the right side. The click shows the answers.</a:t>
            </a:r>
          </a:p>
          <a:p>
            <a:r>
              <a:t>Safety (important): keep candles out of practice plans (fire risk); use flashlights. Never use a grill or a generator inside. Use local alert systems only as examples. Don't do real sign-ups in class. Say once: "In a real emergency, call 911."</a:t>
            </a:r>
          </a:p>
          <a:p>
            <a:r>
              <a:t>Source: Level3_Lesson6.md (Step 4; Grammar Box 5; Teacher notes: Safety).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A and B (3 min): learners write, then pairs check. Go over the answers.</a:t>
            </a:r>
          </a:p>
          <a:p>
            <a:r>
              <a:t>Click to show each answer (one click per item, 1 to 6): 1 rains, 'll take • 2 goes, 'll use • 3 'll stay, snows • 4 don't have, 'll bring • 5 is, 'll go • 6 will, closes.</a:t>
            </a:r>
          </a:p>
          <a:p>
            <a:r>
              <a:t>Source: Level3_Lesson6.md (Step 4; Grammar Practice A;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B. Learners circle the right words. Pairs check.</a:t>
            </a:r>
          </a:p>
          <a:p>
            <a:r>
              <a:t>Click to circle each answer (one click per item, 1 to 6): 1 rains, 2 probably rain, 3 probably won't, 4 it snows, 5 will use, 6 should.</a:t>
            </a:r>
          </a:p>
          <a:p>
            <a:r>
              <a:t>Source: Level3_Lesson6.md (Step 4; Grammar Practice B;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mistakes (never skip this table). Read a line from Don't say. Ask: "What's the right way?" Learners try first. Then click to show the right form. Each click shows one line, in order 1 to 6.</a:t>
            </a:r>
          </a:p>
          <a:p>
            <a:r>
              <a:t>1: never put will right after if • 2: if needs a subject (it) • 3: the result needs will • 4 and 5: probably goes after will and before won't • 6: should + verb (no to).</a:t>
            </a:r>
          </a:p>
          <a:p>
            <a:r>
              <a:t>Say the right form clearly; the learner repeats. Learners can read the Spanish note and the tip on their Grammar page themselves; you don't need to explain them.</a:t>
            </a:r>
          </a:p>
          <a:p>
            <a:r>
              <a:t>Source: Level3_Lesson6.md (Grammar: Common mistakes; Teacher notes: Typical mistakes).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Pair drill (last 2 min of Step 4). Pairs.</a:t>
            </a:r>
          </a:p>
          <a:p>
            <a:r>
              <a:t>A says "What will you do if…" + a problem (the bus doesn't come? / it's very hot tomorrow?); B answers with If…, I'll…. Switch.</a:t>
            </a:r>
          </a:p>
          <a:p>
            <a:r>
              <a:t>If behind: skip the pair drill. Talk Time practices it.</a:t>
            </a:r>
          </a:p>
          <a:p>
            <a:r>
              <a:t>Source: Level3_Lesson6.md (Step 4: Pair drill).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5 · 7:00–7:12 · Talk Time: What If? Chain + Ready Plan · 12 min. Groups of 3–4.</a:t>
            </a:r>
          </a:p>
          <a:p>
            <a:r>
              <a:t>Round 1, the chain (5 min): the first person says a sentence from a start card (If it snows tomorrow, I'll stay home.). The next person starts with the end of that sentence (If I stay home, I'll cook soup.), and so on around the group. Keep going until the chain stops, then start a new card. Each click shows the next step.</a:t>
            </a:r>
          </a:p>
          <a:p>
            <a:r>
              <a:t>Model with two learners (1 min): "If it snows tomorrow, I'll stay home." → Learner 1: "If I stay home, I'll watch TV." → Learner 2: "If I watch TV, I'll…" Laugh at funny chains; that's fine.</a:t>
            </a:r>
          </a:p>
          <a:p>
            <a:r>
              <a:t>Start cards: 1 If it snows tomorrow, I'll stay home. 2 If the power goes out tonight, I'll use a flashlight. 3 If it's very hot this weekend, I'll go to the beach. 4 If the bus doesn't come, I'll walk to work. 5 If it rains on Saturday, I'll clean my house. 6 If I win some money, I'll buy a new car.</a:t>
            </a:r>
          </a:p>
          <a:p>
            <a:r>
              <a:t>Useful: If I…, I'll… • Then… • That's funny! • Your turn.</a:t>
            </a:r>
          </a:p>
          <a:p>
            <a:r>
              <a:t>Source: Level3_Lesson6.md (Step 5; Talk Time: What If? Chain).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Round 2, Ready Plan (6 min): each group gets one Scenario Card (a storm, a heat wave, or a power outage). Together they write 4 sentences with If…, we'll… and a list of 5 things for the emergency kit. Then one person presents the plan in 1 minute. Each click shows the next step.</a:t>
            </a:r>
          </a:p>
          <a:p>
            <a:r>
              <a:t>Scenario Cards: A. A big storm: strong wind and rain tonight. The power will probably go out. • B. A heat wave: about 100 degrees for 4 days. • C. A power outage: no power for 2 days in winter.</a:t>
            </a:r>
          </a:p>
          <a:p>
            <a:r>
              <a:t>Sample Ready Plan (power outage): If the power goes out, we'll use flashlights. If the fridge doesn't work, we'll eat the cold food first. If our phones die, we'll use a radio with batteries. If it's very cold, we'll wear coats. Kit: flashlight, batteries, bottled water, food in cans, a first aid kit.</a:t>
            </a:r>
          </a:p>
          <a:p>
            <a:r>
              <a:t>If behind: Round 1 only.</a:t>
            </a:r>
          </a:p>
          <a:p>
            <a:r>
              <a:t>Safety (important): keep candles out of practice plans (fire risk); use flashlights. Never use a grill or a generator inside. Use local alert systems only as examples. Don't do real sign-ups in class. Say once: "In a real emergency, call 911."</a:t>
            </a:r>
          </a:p>
          <a:p>
            <a:r>
              <a:t>Source: Level3_Lesson6.md (Step 5; Talk Time: Ready Plan; Answer key).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6 · 7:12–7:17 · Exit Ticket + Homework · 5 min · NEVER SKIP.</a:t>
            </a:r>
          </a:p>
          <a:p>
            <a:r>
              <a:t>Exit ticket: each learner writes two sentences on a slip: one with If…, I'll…, and one prediction with probably and because or so (It will probably rain tomorrow, so I'll take my umbrella.). Collect at the door.</a:t>
            </a:r>
          </a:p>
          <a:p>
            <a:r>
              <a:t>Homework: open the Homework page. Do item 1 together (one sentence on the board). Say: "About 15 minutes. Bring it next week."</a:t>
            </a:r>
          </a:p>
          <a:p>
            <a:r>
              <a:t>Homework items: 1 finish the sentences with I'll… • 2 write 3 predictions for tomorrow with will probably, probably won't, or maybe • 3 ask a family member or a friend: What will you do if the power goes out? (2 answers) • 4 review (Lesson 5): 2 offers with I'll.</a:t>
            </a:r>
          </a:p>
          <a:p>
            <a:r>
              <a:t>Read &amp; Write (7:17–7:25, on the Student Pages): a weather alert text and a kit checklist; questions 1–5; then the "My Ready Plan" card. Say: "First names only. Don't write phone numbers or addresses." An invented plan is fine. If behind: questions 1–5 only; the plan card becomes homework.</a:t>
            </a:r>
          </a:p>
          <a:p>
            <a:r>
              <a:t>Source: Level3_Lesson6.md (Step 6; Homework page; Read &amp; Write step).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title: "Goodbye! See you next week!" Learners repeat.</a:t>
            </a:r>
          </a:p>
          <a:p>
            <a:r>
              <a:t>Read the three "Now you can" lines. Ask one learner: "What will you do if it rains tomorrow?" and wait for an answer with If…, I'll….</a:t>
            </a:r>
          </a:p>
          <a:p>
            <a:r>
              <a:t>Remind learners: homework is about 15 minutes. Bring it next week.</a:t>
            </a:r>
          </a:p>
          <a:p>
            <a:r>
              <a:t>Source: Level3_Lesson6.md (At a glance: Objectives; Step 6).</a:t>
            </a:r>
          </a:p>
          <a:p>
            <a:r>
              <a:t>Picture: Twemoji graphics by Twitter, Inc. and other contributors (https://github.com/jdecked/twemoji), CC BY 4.0 (https://creativecommons.org/licenses/by/4.0/); resized and combined, with speech bubbles, signs, and labels (images/CREDITS.md).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Relationship Id="rId12" Type="http://schemas.openxmlformats.org/officeDocument/2006/relationships/image" Target="../media/image6.png"/><Relationship Id="rId13" Type="http://schemas.openxmlformats.org/officeDocument/2006/relationships/image" Target="../media/image7.png"/><Relationship Id="rId14" Type="http://schemas.openxmlformats.org/officeDocument/2006/relationships/notesSlide" Target="../notesSlides/notesSlide31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notesSlide" Target="../notesSlides/notesSlide32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6" Type="http://schemas.openxmlformats.org/officeDocument/2006/relationships/image" Target="../media/image1.png"/><Relationship Id="rId7" Type="http://schemas.openxmlformats.org/officeDocument/2006/relationships/image" Target="../media/image12.png"/><Relationship Id="rId8" Type="http://schemas.openxmlformats.org/officeDocument/2006/relationships/notesSlide" Target="../notesSlides/notesSlide33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it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Emergency kit: a red kit bag with a flashlight, batteries, water, a bandag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6  ·  Level 3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0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 Ready</a:t>
            </a:r>
            <a:endParaRPr lang="en-US" sz="50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 you will: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what will happen if…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Make predictions with probably / maybe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Make a simple Ready Plan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oal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Today's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Goals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the end of class, you can do these six things.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stories are invented.</a:t>
            </a:r>
            <a:endParaRPr lang="en-US" sz="2000" dirty="0" b="1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check at 7:25!</a:t>
            </a:r>
            <a:endParaRPr lang="en-US" sz="20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1383487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1325880"/>
            <a:ext cx="5130698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1325880"/>
            <a:ext cx="1039673" cy="98389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1494587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1393546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understand a weather alert.</a:t>
            </a:r>
            <a:endParaRPr lang="en-US" sz="1800" dirty="0" b="1"/>
          </a:p>
        </p:txBody>
      </p:sp>
      <p:sp>
        <p:nvSpPr>
          <p:cNvPr id="36" name="R1 sub"/>
          <p:cNvSpPr/>
          <p:nvPr/>
        </p:nvSpPr>
        <p:spPr>
          <a:xfrm>
            <a:off x="1901952" y="179588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big storm will arrive tonight.</a:t>
            </a:r>
            <a:endParaRPr lang="en-US" sz="2000" dirty="0"/>
          </a:p>
        </p:txBody>
      </p:sp>
      <p:sp>
        <p:nvSpPr>
          <p:cNvPr id="37" name="R1 dot"/>
          <p:cNvSpPr/>
          <p:nvPr/>
        </p:nvSpPr>
        <p:spPr>
          <a:xfrm rot="10800000">
            <a:off x="6361481" y="145938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8" name="R2 card"/>
          <p:cNvSpPr/>
          <p:nvPr/>
        </p:nvSpPr>
        <p:spPr>
          <a:xfrm>
            <a:off x="1583741" y="241858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" name="R2 chip"/>
          <p:cNvSpPr/>
          <p:nvPr/>
        </p:nvSpPr>
        <p:spPr>
          <a:xfrm>
            <a:off x="544982" y="241858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0" name="R2 num"/>
          <p:cNvSpPr/>
          <p:nvPr/>
        </p:nvSpPr>
        <p:spPr>
          <a:xfrm>
            <a:off x="686714" y="2418588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1" name="R2 text"/>
          <p:cNvSpPr/>
          <p:nvPr/>
        </p:nvSpPr>
        <p:spPr>
          <a:xfrm>
            <a:off x="1810512" y="2418588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what will happen if….</a:t>
            </a:r>
            <a:endParaRPr lang="en-US" sz="1800" dirty="0"/>
          </a:p>
        </p:txBody>
      </p:sp>
      <p:sp>
        <p:nvSpPr>
          <p:cNvPr id="42" name="R2 dot"/>
          <p:cNvSpPr/>
          <p:nvPr/>
        </p:nvSpPr>
        <p:spPr>
          <a:xfrm rot="10800000">
            <a:off x="6361481" y="2552090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3" name="R3 card"/>
          <p:cNvSpPr/>
          <p:nvPr/>
        </p:nvSpPr>
        <p:spPr>
          <a:xfrm>
            <a:off x="1583741" y="3129991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" name="R3 chip"/>
          <p:cNvSpPr/>
          <p:nvPr/>
        </p:nvSpPr>
        <p:spPr>
          <a:xfrm>
            <a:off x="544982" y="3129991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5" name="R3 num"/>
          <p:cNvSpPr/>
          <p:nvPr/>
        </p:nvSpPr>
        <p:spPr>
          <a:xfrm>
            <a:off x="686714" y="3129991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6" name="R3 text"/>
          <p:cNvSpPr/>
          <p:nvPr/>
        </p:nvSpPr>
        <p:spPr>
          <a:xfrm>
            <a:off x="1810512" y="3129991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ask What will you do if…?</a:t>
            </a:r>
            <a:endParaRPr lang="en-US" sz="1800" dirty="0"/>
          </a:p>
        </p:txBody>
      </p:sp>
      <p:sp>
        <p:nvSpPr>
          <p:cNvPr id="47" name="R3 dot"/>
          <p:cNvSpPr/>
          <p:nvPr/>
        </p:nvSpPr>
        <p:spPr>
          <a:xfrm rot="10800000">
            <a:off x="6361481" y="3263494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8" name="R4 card"/>
          <p:cNvSpPr/>
          <p:nvPr/>
        </p:nvSpPr>
        <p:spPr>
          <a:xfrm>
            <a:off x="1583741" y="3841394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9" name="R4 chip"/>
          <p:cNvSpPr/>
          <p:nvPr/>
        </p:nvSpPr>
        <p:spPr>
          <a:xfrm>
            <a:off x="544982" y="3841394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0" name="R4 num"/>
          <p:cNvSpPr/>
          <p:nvPr/>
        </p:nvSpPr>
        <p:spPr>
          <a:xfrm>
            <a:off x="686714" y="3841394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1" name="R4 text"/>
          <p:cNvSpPr/>
          <p:nvPr/>
        </p:nvSpPr>
        <p:spPr>
          <a:xfrm>
            <a:off x="1810512" y="3841394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make predictions with probably and maybe.</a:t>
            </a:r>
            <a:endParaRPr lang="en-US" sz="1800" dirty="0"/>
          </a:p>
        </p:txBody>
      </p:sp>
      <p:sp>
        <p:nvSpPr>
          <p:cNvPr id="52" name="R4 dot"/>
          <p:cNvSpPr/>
          <p:nvPr/>
        </p:nvSpPr>
        <p:spPr>
          <a:xfrm rot="10800000">
            <a:off x="6361481" y="3974897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3" name="R5 card"/>
          <p:cNvSpPr/>
          <p:nvPr/>
        </p:nvSpPr>
        <p:spPr>
          <a:xfrm>
            <a:off x="1583741" y="455279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4" name="R5 chip"/>
          <p:cNvSpPr/>
          <p:nvPr/>
        </p:nvSpPr>
        <p:spPr>
          <a:xfrm>
            <a:off x="544982" y="455279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5" name="R5 num"/>
          <p:cNvSpPr/>
          <p:nvPr/>
        </p:nvSpPr>
        <p:spPr>
          <a:xfrm>
            <a:off x="686714" y="4552798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b="1" dirty="0"/>
          </a:p>
        </p:txBody>
      </p:sp>
      <p:sp>
        <p:nvSpPr>
          <p:cNvPr id="56" name="R5 text"/>
          <p:cNvSpPr/>
          <p:nvPr/>
        </p:nvSpPr>
        <p:spPr>
          <a:xfrm>
            <a:off x="1810512" y="4552798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give safety tips with should.</a:t>
            </a:r>
            <a:endParaRPr lang="en-US" sz="1800" dirty="0"/>
          </a:p>
        </p:txBody>
      </p:sp>
      <p:sp>
        <p:nvSpPr>
          <p:cNvPr id="57" name="R5 dot"/>
          <p:cNvSpPr/>
          <p:nvPr/>
        </p:nvSpPr>
        <p:spPr>
          <a:xfrm rot="10800000">
            <a:off x="6361481" y="4686300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8" name="R6 card"/>
          <p:cNvSpPr/>
          <p:nvPr/>
        </p:nvSpPr>
        <p:spPr>
          <a:xfrm>
            <a:off x="1583741" y="5264201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9" name="R6 chip"/>
          <p:cNvSpPr/>
          <p:nvPr/>
        </p:nvSpPr>
        <p:spPr>
          <a:xfrm>
            <a:off x="544982" y="5264201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0" name="R6 num"/>
          <p:cNvSpPr/>
          <p:nvPr/>
        </p:nvSpPr>
        <p:spPr>
          <a:xfrm>
            <a:off x="686714" y="5264201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06</a:t>
            </a:r>
            <a:endParaRPr lang="en-US" sz="3200" b="1" dirty="0"/>
          </a:p>
        </p:txBody>
      </p:sp>
      <p:sp>
        <p:nvSpPr>
          <p:cNvPr id="61" name="R6 text"/>
          <p:cNvSpPr/>
          <p:nvPr/>
        </p:nvSpPr>
        <p:spPr>
          <a:xfrm>
            <a:off x="1810512" y="5264201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fill in a Ready Plan card.</a:t>
            </a:r>
            <a:endParaRPr lang="en-US" sz="1800" dirty="0"/>
          </a:p>
        </p:txBody>
      </p:sp>
      <p:sp>
        <p:nvSpPr>
          <p:cNvPr id="62" name="R6 dot"/>
          <p:cNvSpPr/>
          <p:nvPr/>
        </p:nvSpPr>
        <p:spPr>
          <a:xfrm rot="10800000">
            <a:off x="6361481" y="5397703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warmup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487604" y="1352535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783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5" name="pic" descr="Forecast: a TV, sun / rain / snow icons with day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393" y="1828800"/>
            <a:ext cx="4754880" cy="3328416"/>
          </a:xfrm>
          <a:prstGeom prst="rect">
            <a:avLst/>
          </a:prstGeom>
        </p:spPr>
      </p:pic>
      <p:sp>
        <p:nvSpPr>
          <p:cNvPr id="7" name="title"/>
          <p:cNvSpPr/>
          <p:nvPr/>
        </p:nvSpPr>
        <p:spPr>
          <a:xfrm>
            <a:off x="548640" y="1764792"/>
            <a:ext cx="51206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</p:txBody>
      </p:sp>
      <p:sp>
        <p:nvSpPr>
          <p:cNvPr id="8" name="kicker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  ·  6:00</a:t>
            </a:r>
            <a:endParaRPr lang="en-US" sz="2000" dirty="0" b="1"/>
          </a:p>
        </p:txBody>
      </p:sp>
      <p:sp>
        <p:nvSpPr>
          <p:cNvPr id="9" name="box1"/>
          <p:cNvSpPr/>
          <p:nvPr/>
        </p:nvSpPr>
        <p:spPr>
          <a:xfrm>
            <a:off x="599846" y="338328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a card question.</a:t>
            </a:r>
            <a:endParaRPr lang="en-US" sz="2000" dirty="0" b="1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are you going to do this weekend?</a:t>
            </a:r>
            <a:endParaRPr lang="en-US" sz="2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 with 2–3 sentences.</a:t>
            </a:r>
            <a:endParaRPr lang="en-US" sz="2000" dirty="0" b="1"/>
          </a:p>
        </p:txBody>
      </p:sp>
      <p:sp>
        <p:nvSpPr>
          <p:cNvPr id="14" name="box2"/>
          <p:cNvSpPr/>
          <p:nvPr/>
        </p:nvSpPr>
        <p:spPr>
          <a:xfrm>
            <a:off x="599846" y="475488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one follow-up.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Really? Who with?</a:t>
            </a:r>
            <a:endParaRPr lang="en-US" sz="2000" dirty="0" b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switch.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numlist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</a:t>
            </a:r>
            <a:endParaRPr lang="en-US" sz="4000" dirty="0" b="1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Cards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 with a partner. Then switch.</a:t>
            </a:r>
            <a:endParaRPr lang="en-US" sz="18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Follow-ups:</a:t>
            </a:r>
            <a:endParaRPr lang="en-US" sz="1800" dirty="0" b="1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Really? Who with? Why? Thanks! That's very kind.</a:t>
            </a:r>
            <a:endParaRPr lang="en-US" sz="1800" dirty="0" b="1"/>
          </a:p>
        </p:txBody>
      </p:sp>
      <p:sp>
        <p:nvSpPr>
          <p:cNvPr id="31" name="R1 shadow"/>
          <p:cNvSpPr/>
          <p:nvPr/>
        </p:nvSpPr>
        <p:spPr>
          <a:xfrm>
            <a:off x="544982" y="2471623"/>
            <a:ext cx="6227064" cy="60259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R1 card"/>
          <p:cNvSpPr/>
          <p:nvPr/>
        </p:nvSpPr>
        <p:spPr>
          <a:xfrm>
            <a:off x="1583741" y="241401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R1 chip"/>
          <p:cNvSpPr/>
          <p:nvPr/>
        </p:nvSpPr>
        <p:spPr>
          <a:xfrm>
            <a:off x="544982" y="241401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4" name="R1 num"/>
          <p:cNvSpPr/>
          <p:nvPr/>
        </p:nvSpPr>
        <p:spPr>
          <a:xfrm>
            <a:off x="686714" y="241401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b="1" dirty="0"/>
          </a:p>
        </p:txBody>
      </p:sp>
      <p:sp>
        <p:nvSpPr>
          <p:cNvPr id="35" name="R1 text"/>
          <p:cNvSpPr/>
          <p:nvPr/>
        </p:nvSpPr>
        <p:spPr>
          <a:xfrm>
            <a:off x="1810512" y="241401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are you going to do this weekend?</a:t>
            </a:r>
            <a:endParaRPr lang="en-US" sz="1800" dirty="0"/>
          </a:p>
        </p:txBody>
      </p:sp>
      <p:sp>
        <p:nvSpPr>
          <p:cNvPr id="36" name="R1 dot"/>
          <p:cNvSpPr/>
          <p:nvPr/>
        </p:nvSpPr>
        <p:spPr>
          <a:xfrm rot="10800000">
            <a:off x="6361481" y="254751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7" name="R2 card"/>
          <p:cNvSpPr/>
          <p:nvPr/>
        </p:nvSpPr>
        <p:spPr>
          <a:xfrm>
            <a:off x="1583741" y="312541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R2 chip"/>
          <p:cNvSpPr/>
          <p:nvPr/>
        </p:nvSpPr>
        <p:spPr>
          <a:xfrm>
            <a:off x="544982" y="312541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9" name="R2 num"/>
          <p:cNvSpPr/>
          <p:nvPr/>
        </p:nvSpPr>
        <p:spPr>
          <a:xfrm>
            <a:off x="686714" y="312541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b="1" dirty="0"/>
          </a:p>
        </p:txBody>
      </p:sp>
      <p:sp>
        <p:nvSpPr>
          <p:cNvPr id="40" name="R2 text"/>
          <p:cNvSpPr/>
          <p:nvPr/>
        </p:nvSpPr>
        <p:spPr>
          <a:xfrm>
            <a:off x="1810512" y="312541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"I'm moving to a new apartment on Saturday." (B offers help with I'll…)</a:t>
            </a:r>
            <a:endParaRPr lang="en-US" sz="1800" dirty="0"/>
          </a:p>
        </p:txBody>
      </p:sp>
      <p:sp>
        <p:nvSpPr>
          <p:cNvPr id="41" name="R2 dot"/>
          <p:cNvSpPr/>
          <p:nvPr/>
        </p:nvSpPr>
        <p:spPr>
          <a:xfrm rot="10800000">
            <a:off x="6361481" y="325892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2" name="R3 card"/>
          <p:cNvSpPr/>
          <p:nvPr/>
        </p:nvSpPr>
        <p:spPr>
          <a:xfrm>
            <a:off x="1583741" y="3836822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R3 chip"/>
          <p:cNvSpPr/>
          <p:nvPr/>
        </p:nvSpPr>
        <p:spPr>
          <a:xfrm>
            <a:off x="544982" y="3836822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4" name="R3 num"/>
          <p:cNvSpPr/>
          <p:nvPr/>
        </p:nvSpPr>
        <p:spPr>
          <a:xfrm>
            <a:off x="686714" y="3836822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b="1" dirty="0"/>
          </a:p>
        </p:txBody>
      </p:sp>
      <p:sp>
        <p:nvSpPr>
          <p:cNvPr id="45" name="R3 text"/>
          <p:cNvSpPr/>
          <p:nvPr/>
        </p:nvSpPr>
        <p:spPr>
          <a:xfrm>
            <a:off x="1810512" y="3836822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are you going to do after class tonight?</a:t>
            </a:r>
            <a:endParaRPr lang="en-US" sz="1800" dirty="0"/>
          </a:p>
        </p:txBody>
      </p:sp>
      <p:sp>
        <p:nvSpPr>
          <p:cNvPr id="46" name="R3 dot"/>
          <p:cNvSpPr/>
          <p:nvPr/>
        </p:nvSpPr>
        <p:spPr>
          <a:xfrm rot="10800000">
            <a:off x="6361481" y="3970325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7" name="R4 card"/>
          <p:cNvSpPr/>
          <p:nvPr/>
        </p:nvSpPr>
        <p:spPr>
          <a:xfrm>
            <a:off x="1583741" y="4548226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R4 chip"/>
          <p:cNvSpPr/>
          <p:nvPr/>
        </p:nvSpPr>
        <p:spPr>
          <a:xfrm>
            <a:off x="544982" y="454822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9" name="R4 num"/>
          <p:cNvSpPr/>
          <p:nvPr/>
        </p:nvSpPr>
        <p:spPr>
          <a:xfrm>
            <a:off x="686714" y="4548226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b="1" dirty="0"/>
          </a:p>
        </p:txBody>
      </p:sp>
      <p:sp>
        <p:nvSpPr>
          <p:cNvPr id="50" name="R4 text"/>
          <p:cNvSpPr/>
          <p:nvPr/>
        </p:nvSpPr>
        <p:spPr>
          <a:xfrm>
            <a:off x="1810512" y="4548226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"I forgot my lunch today." (B offers help with I'll…)</a:t>
            </a:r>
            <a:endParaRPr lang="en-US" sz="1800" dirty="0"/>
          </a:p>
        </p:txBody>
      </p:sp>
      <p:sp>
        <p:nvSpPr>
          <p:cNvPr id="51" name="R4 dot"/>
          <p:cNvSpPr/>
          <p:nvPr/>
        </p:nvSpPr>
        <p:spPr>
          <a:xfrm rot="10800000">
            <a:off x="6361481" y="468172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2" name="R5 card"/>
          <p:cNvSpPr/>
          <p:nvPr/>
        </p:nvSpPr>
        <p:spPr>
          <a:xfrm>
            <a:off x="1583741" y="5259629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3" name="R5 chip"/>
          <p:cNvSpPr/>
          <p:nvPr/>
        </p:nvSpPr>
        <p:spPr>
          <a:xfrm>
            <a:off x="544982" y="5259629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4" name="R5 num"/>
          <p:cNvSpPr/>
          <p:nvPr/>
        </p:nvSpPr>
        <p:spPr>
          <a:xfrm>
            <a:off x="686714" y="5259629"/>
            <a:ext cx="1109167" cy="602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b="1" dirty="0"/>
          </a:p>
        </p:txBody>
      </p:sp>
      <p:sp>
        <p:nvSpPr>
          <p:cNvPr id="55" name="R5 text"/>
          <p:cNvSpPr/>
          <p:nvPr/>
        </p:nvSpPr>
        <p:spPr>
          <a:xfrm>
            <a:off x="1810512" y="5259629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 check: Lesson 5, item 1.</a:t>
            </a:r>
            <a:endParaRPr lang="en-US" sz="1800" dirty="0"/>
          </a:p>
        </p:txBody>
      </p:sp>
      <p:sp>
        <p:nvSpPr>
          <p:cNvPr id="56" name="R5 dot"/>
          <p:cNvSpPr/>
          <p:nvPr/>
        </p:nvSpPr>
        <p:spPr>
          <a:xfrm rot="10800000">
            <a:off x="6361481" y="5393131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  <p:txBody>
          <a:bodyPr/>
          <a:p/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Look. Listen.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Repeat.</a:t>
            </a:r>
            <a:endParaRPr lang="en-US" sz="2200" dirty="0" b="1"/>
          </a:p>
        </p:txBody>
      </p:sp>
      <p:pic>
        <p:nvPicPr>
          <p:cNvPr id="17" name="Word picture 1" descr="Forecast: a TV, sun / rain / snow icons with days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forecast</a:t>
            </a:r>
            <a:endParaRPr lang="en-US" sz="2000" dirty="0" b="1"/>
          </a:p>
        </p:txBody>
      </p:sp>
      <p:pic>
        <p:nvPicPr>
          <p:cNvPr id="19" name="Word picture 2" descr="Storm: a cloud with lightning and rain, wind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storm</a:t>
            </a:r>
            <a:endParaRPr lang="en-US" sz="2000" dirty="0" b="1"/>
          </a:p>
        </p:txBody>
      </p:sp>
      <p:pic>
        <p:nvPicPr>
          <p:cNvPr id="21" name="Word picture 3" descr="Snowstorm: a snow cloud, snowflakes, a snowma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snowstorm</a:t>
            </a:r>
            <a:endParaRPr lang="en-US" sz="2000" dirty="0" b="1"/>
          </a:p>
        </p:txBody>
      </p:sp>
      <p:pic>
        <p:nvPicPr>
          <p:cNvPr id="23" name="Word picture 4" descr="Flood: a house with water around it, waves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flood</a:t>
            </a:r>
            <a:endParaRPr lang="en-US" sz="2000" dirty="0" b="1"/>
          </a:p>
        </p:txBody>
      </p:sp>
      <p:pic>
        <p:nvPicPr>
          <p:cNvPr id="25" name="Word picture 5" descr="Heat wave: the sun, a thermometer, a hot fac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heat wave</a:t>
            </a:r>
            <a:endParaRPr lang="en-US" sz="2000" dirty="0" b="1"/>
          </a:p>
        </p:txBody>
      </p:sp>
      <p:pic>
        <p:nvPicPr>
          <p:cNvPr id="27" name="Word picture 6" descr="Weather alert: a drawn phone with an ALERT message, a warning sign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weather alert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word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New Words</a:t>
            </a:r>
            <a:endParaRPr lang="en-US" sz="4900" dirty="0" b="1"/>
          </a:p>
        </p:txBody>
      </p:sp>
      <p:sp>
        <p:nvSpPr>
          <p:cNvPr id="9" name="instr card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" name="instr"/>
          <p:cNvSpPr/>
          <p:nvPr/>
        </p:nvSpPr>
        <p:spPr>
          <a:xfrm>
            <a:off x="132588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Partner game:</a:t>
            </a:r>
            <a:endParaRPr lang="en-US" sz="2200" dirty="0" b="1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says. B points.</a:t>
            </a:r>
            <a:endParaRPr lang="en-US" sz="2200" dirty="0" b="1"/>
          </a:p>
        </p:txBody>
      </p:sp>
      <p:pic>
        <p:nvPicPr>
          <p:cNvPr id="17" name="Word picture 1" descr="Power outage: a dark house at night, a light bulb crossed out, the mo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power outage</a:t>
            </a:r>
            <a:endParaRPr lang="en-US" sz="2000" dirty="0" b="1"/>
          </a:p>
        </p:txBody>
      </p:sp>
      <p:pic>
        <p:nvPicPr>
          <p:cNvPr id="19" name="Word picture 2" descr="Flashlight: a flashlight with a light beam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flashlight</a:t>
            </a:r>
            <a:endParaRPr lang="en-US" sz="2000" dirty="0" b="1"/>
          </a:p>
        </p:txBody>
      </p:sp>
      <p:pic>
        <p:nvPicPr>
          <p:cNvPr id="21" name="Word picture 3" descr="Battery: two batteries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battery</a:t>
            </a:r>
            <a:endParaRPr lang="en-US" sz="2000" dirty="0" b="1"/>
          </a:p>
        </p:txBody>
      </p:sp>
      <p:pic>
        <p:nvPicPr>
          <p:cNvPr id="23" name="Word picture 4" descr="Emergency kit: a red kit bag with a flashlight, batteries, water, a bandag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emergency kit</a:t>
            </a:r>
            <a:endParaRPr lang="en-US" sz="2000" dirty="0" b="1"/>
          </a:p>
        </p:txBody>
      </p:sp>
      <p:pic>
        <p:nvPicPr>
          <p:cNvPr id="25" name="Word picture 5" descr="Bottled water: four water bottles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★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bottled water</a:t>
            </a:r>
            <a:endParaRPr lang="en-US" sz="2000" dirty="0" b="1"/>
          </a:p>
        </p:txBody>
      </p:sp>
      <p:pic>
        <p:nvPicPr>
          <p:cNvPr id="27" name="Word picture 6" descr="Shelter: a public building with a SHELTER sign, a person walking to it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shelter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hec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the Meaning</a:t>
            </a:r>
            <a:endParaRPr lang="en-US" sz="4300" dirty="0" b="1"/>
          </a:p>
        </p:txBody>
      </p:sp>
      <p:sp>
        <p:nvSpPr>
          <p:cNvPr id="3" name="sub"/>
          <p:cNvSpPr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 at the picture. Answer the question.</a:t>
            </a:r>
            <a:endParaRPr lang="en-US" sz="2400" dirty="0"/>
          </a:p>
        </p:txBody>
      </p:sp>
      <p:sp>
        <p:nvSpPr>
          <p:cNvPr id="4" name="R1 shadow"/>
          <p:cNvSpPr/>
          <p:nvPr/>
        </p:nvSpPr>
        <p:spPr>
          <a:xfrm>
            <a:off x="7589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R1 card"/>
          <p:cNvSpPr/>
          <p:nvPr/>
        </p:nvSpPr>
        <p:spPr>
          <a:xfrm>
            <a:off x="6858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6" name="R1 circle"/>
          <p:cNvSpPr/>
          <p:nvPr/>
        </p:nvSpPr>
        <p:spPr>
          <a:xfrm>
            <a:off x="9601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7" name="R1 num"/>
          <p:cNvSpPr/>
          <p:nvPr/>
        </p:nvSpPr>
        <p:spPr>
          <a:xfrm>
            <a:off x="9601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R1 q"/>
          <p:cNvSpPr/>
          <p:nvPr/>
        </p:nvSpPr>
        <p:spPr>
          <a:xfrm>
            <a:off x="9601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 lights, no fridge, no TV. It's a…?</a:t>
            </a:r>
            <a:endParaRPr lang="en-US" sz="1800" dirty="0" b="1"/>
          </a:p>
        </p:txBody>
      </p:sp>
      <p:pic>
        <p:nvPicPr>
          <p:cNvPr id="101" name="R1 pic" descr="Power outage: a dark house at night, a light bulb crossed out, the mo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3080" y="2560320"/>
            <a:ext cx="1920240" cy="1344168"/>
          </a:xfrm>
          <a:prstGeom prst="rect">
            <a:avLst/>
          </a:prstGeom>
        </p:spPr>
      </p:pic>
      <p:sp>
        <p:nvSpPr>
          <p:cNvPr id="10" name="R2 shadow"/>
          <p:cNvSpPr/>
          <p:nvPr/>
        </p:nvSpPr>
        <p:spPr>
          <a:xfrm>
            <a:off x="44165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R2 card"/>
          <p:cNvSpPr/>
          <p:nvPr/>
        </p:nvSpPr>
        <p:spPr>
          <a:xfrm>
            <a:off x="43434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C9B8F2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2" name="R2 circle"/>
          <p:cNvSpPr/>
          <p:nvPr/>
        </p:nvSpPr>
        <p:spPr>
          <a:xfrm>
            <a:off x="46177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R2 num"/>
          <p:cNvSpPr/>
          <p:nvPr/>
        </p:nvSpPr>
        <p:spPr>
          <a:xfrm>
            <a:off x="46177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R2 q"/>
          <p:cNvSpPr/>
          <p:nvPr/>
        </p:nvSpPr>
        <p:spPr>
          <a:xfrm>
            <a:off x="46177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flashlight, water, and batteries go in…?</a:t>
            </a:r>
            <a:endParaRPr lang="en-US" sz="1800" dirty="0" b="1"/>
          </a:p>
        </p:txBody>
      </p:sp>
      <p:pic>
        <p:nvPicPr>
          <p:cNvPr id="102" name="R2 pic" descr="Emergency kit: a red kit bag with a flashlight, batteries, water, a band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2560320"/>
            <a:ext cx="1920240" cy="1344168"/>
          </a:xfrm>
          <a:prstGeom prst="rect">
            <a:avLst/>
          </a:prstGeom>
        </p:spPr>
      </p:pic>
      <p:sp>
        <p:nvSpPr>
          <p:cNvPr id="16" name="R3 shadow"/>
          <p:cNvSpPr/>
          <p:nvPr/>
        </p:nvSpPr>
        <p:spPr>
          <a:xfrm>
            <a:off x="80741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R3 card"/>
          <p:cNvSpPr/>
          <p:nvPr/>
        </p:nvSpPr>
        <p:spPr>
          <a:xfrm>
            <a:off x="80010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8" name="R3 circle"/>
          <p:cNvSpPr/>
          <p:nvPr/>
        </p:nvSpPr>
        <p:spPr>
          <a:xfrm>
            <a:off x="82753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9" name="R3 num"/>
          <p:cNvSpPr/>
          <p:nvPr/>
        </p:nvSpPr>
        <p:spPr>
          <a:xfrm>
            <a:off x="82753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500" dirty="0"/>
          </a:p>
        </p:txBody>
      </p:sp>
      <p:sp>
        <p:nvSpPr>
          <p:cNvPr id="20" name="R3 q"/>
          <p:cNvSpPr/>
          <p:nvPr/>
        </p:nvSpPr>
        <p:spPr>
          <a:xfrm>
            <a:off x="8275320" y="3931920"/>
            <a:ext cx="2788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safe public building for a storm?</a:t>
            </a:r>
            <a:endParaRPr lang="en-US" sz="1800" dirty="0" b="1"/>
          </a:p>
        </p:txBody>
      </p:sp>
      <p:pic>
        <p:nvPicPr>
          <p:cNvPr id="103" name="R3 pic" descr="Shelter: a public building with a SHELTER sign, a person walking to i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8280" y="2560320"/>
            <a:ext cx="1920240" cy="1344168"/>
          </a:xfrm>
          <a:prstGeom prst="rect">
            <a:avLst/>
          </a:prstGeom>
        </p:spPr>
      </p:pic>
      <p:sp>
        <p:nvSpPr>
          <p:cNvPr id="25" name="R1 ans"/>
          <p:cNvSpPr/>
          <p:nvPr/>
        </p:nvSpPr>
        <p:spPr>
          <a:xfrm>
            <a:off x="9601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power outage</a:t>
            </a:r>
            <a:endParaRPr lang="en-US" sz="2200" dirty="0" b="1"/>
          </a:p>
        </p:txBody>
      </p:sp>
      <p:sp>
        <p:nvSpPr>
          <p:cNvPr id="26" name="R2 ans"/>
          <p:cNvSpPr/>
          <p:nvPr/>
        </p:nvSpPr>
        <p:spPr>
          <a:xfrm>
            <a:off x="46177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 emergency kit</a:t>
            </a:r>
            <a:endParaRPr lang="en-US" sz="1800" dirty="0" b="1"/>
          </a:p>
        </p:txBody>
      </p:sp>
      <p:sp>
        <p:nvSpPr>
          <p:cNvPr id="27" name="R3 ans"/>
          <p:cNvSpPr/>
          <p:nvPr/>
        </p:nvSpPr>
        <p:spPr>
          <a:xfrm>
            <a:off x="8275320" y="4709160"/>
            <a:ext cx="228600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shelter</a:t>
            </a:r>
            <a:endParaRPr lang="en-US" sz="22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befor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56448" y="1289304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321040" y="1097280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94847" y="1032586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20770" y="956462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1"/>
          <p:cNvSpPr/>
          <p:nvPr/>
        </p:nvSpPr>
        <p:spPr>
          <a:xfrm>
            <a:off x="3566160" y="1078992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</a:t>
            </a:r>
            <a:endParaRPr lang="en-US" sz="4400" dirty="0" b="1"/>
          </a:p>
        </p:txBody>
      </p:sp>
      <p:sp>
        <p:nvSpPr>
          <p:cNvPr id="9" name="title2"/>
          <p:cNvSpPr/>
          <p:nvPr/>
        </p:nvSpPr>
        <p:spPr>
          <a:xfrm>
            <a:off x="3566160" y="1828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</a:t>
            </a:r>
            <a:endParaRPr lang="en-US" sz="4400" dirty="0" b="1"/>
          </a:p>
        </p:txBody>
      </p:sp>
      <p:sp>
        <p:nvSpPr>
          <p:cNvPr id="10" name="context"/>
          <p:cNvSpPr/>
          <p:nvPr/>
        </p:nvSpPr>
        <p:spPr>
          <a:xfrm>
            <a:off x="3487522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First, a weather alert on the radio. Then two roommates, Nadia and Ben, talk about it.</a:t>
            </a:r>
            <a:endParaRPr lang="en-US" sz="1700" dirty="0"/>
          </a:p>
        </p:txBody>
      </p:sp>
      <p:sp>
        <p:nvSpPr>
          <p:cNvPr id="11" name="R1 num"/>
          <p:cNvSpPr/>
          <p:nvPr/>
        </p:nvSpPr>
        <p:spPr>
          <a:xfrm>
            <a:off x="3383280" y="41148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dirty="0"/>
          </a:p>
        </p:txBody>
      </p:sp>
      <p:sp>
        <p:nvSpPr>
          <p:cNvPr id="13" name="R2 num"/>
          <p:cNvSpPr/>
          <p:nvPr/>
        </p:nvSpPr>
        <p:spPr>
          <a:xfrm>
            <a:off x="3383280" y="491947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R3 num"/>
          <p:cNvSpPr/>
          <p:nvPr/>
        </p:nvSpPr>
        <p:spPr>
          <a:xfrm>
            <a:off x="3383280" y="5724144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line 1"/>
          <p:cNvSpPr/>
          <p:nvPr/>
        </p:nvSpPr>
        <p:spPr>
          <a:xfrm>
            <a:off x="3503066" y="4928616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8" name="line 2"/>
          <p:cNvSpPr/>
          <p:nvPr/>
        </p:nvSpPr>
        <p:spPr>
          <a:xfrm>
            <a:off x="3503066" y="5733288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pic>
        <p:nvPicPr>
          <p:cNvPr id="24" name="pic" descr="Weather alert: a drawn phone with an ALERT message, a warning sig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" y="2423160"/>
            <a:ext cx="2743200" cy="1920240"/>
          </a:xfrm>
          <a:prstGeom prst="rect">
            <a:avLst/>
          </a:prstGeom>
        </p:spPr>
      </p:pic>
      <p:sp>
        <p:nvSpPr>
          <p:cNvPr id="25" name="R1 hl"/>
          <p:cNvSpPr/>
          <p:nvPr/>
        </p:nvSpPr>
        <p:spPr>
          <a:xfrm>
            <a:off x="4389120" y="4251960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R1 voice"/>
          <p:cNvSpPr/>
          <p:nvPr/>
        </p:nvSpPr>
        <p:spPr>
          <a:xfrm>
            <a:off x="4389120" y="4251960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Narrator</a:t>
            </a:r>
            <a:endParaRPr lang="en-US" sz="2200" dirty="0" b="1"/>
          </a:p>
        </p:txBody>
      </p:sp>
      <p:sp>
        <p:nvSpPr>
          <p:cNvPr id="29" name="R2 hl"/>
          <p:cNvSpPr/>
          <p:nvPr/>
        </p:nvSpPr>
        <p:spPr>
          <a:xfrm>
            <a:off x="4389120" y="5056632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1" name="R2 voice"/>
          <p:cNvSpPr/>
          <p:nvPr/>
        </p:nvSpPr>
        <p:spPr>
          <a:xfrm>
            <a:off x="4389120" y="5056632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Nadia</a:t>
            </a:r>
            <a:endParaRPr lang="en-US" sz="2200" dirty="0" b="1"/>
          </a:p>
        </p:txBody>
      </p:sp>
      <p:sp>
        <p:nvSpPr>
          <p:cNvPr id="33" name="R3 hl"/>
          <p:cNvSpPr/>
          <p:nvPr/>
        </p:nvSpPr>
        <p:spPr>
          <a:xfrm>
            <a:off x="4389120" y="5861304"/>
            <a:ext cx="35661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R3 voice"/>
          <p:cNvSpPr/>
          <p:nvPr/>
        </p:nvSpPr>
        <p:spPr>
          <a:xfrm>
            <a:off x="4389120" y="5861304"/>
            <a:ext cx="35661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Ben</a:t>
            </a:r>
            <a:endParaRPr lang="en-US" sz="2200" dirty="0" b="1"/>
          </a:p>
        </p:txBody>
      </p:sp>
      <p:sp>
        <p:nvSpPr>
          <p:cNvPr id="37" name="listen head"/>
          <p:cNvSpPr/>
          <p:nvPr/>
        </p:nvSpPr>
        <p:spPr>
          <a:xfrm>
            <a:off x="8549640" y="1280160"/>
            <a:ext cx="3017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for:</a:t>
            </a:r>
            <a:endParaRPr lang="en-US" sz="2400" dirty="0" b="1"/>
          </a:p>
        </p:txBody>
      </p:sp>
      <p:sp>
        <p:nvSpPr>
          <p:cNvPr id="39" name="listen 1"/>
          <p:cNvSpPr/>
          <p:nvPr/>
        </p:nvSpPr>
        <p:spPr>
          <a:xfrm>
            <a:off x="8549640" y="196596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is the weather problem?</a:t>
            </a:r>
            <a:endParaRPr lang="en-US" sz="2200" dirty="0"/>
          </a:p>
        </p:txBody>
      </p:sp>
      <p:sp>
        <p:nvSpPr>
          <p:cNvPr id="41" name="listen 2"/>
          <p:cNvSpPr/>
          <p:nvPr/>
        </p:nvSpPr>
        <p:spPr>
          <a:xfrm>
            <a:off x="8549640" y="301752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will they use or buy?</a:t>
            </a:r>
            <a:endParaRPr lang="en-US" sz="2200" dirty="0"/>
          </a:p>
        </p:txBody>
      </p:sp>
      <p:sp>
        <p:nvSpPr>
          <p:cNvPr id="43" name="audio"/>
          <p:cNvSpPr/>
          <p:nvPr/>
        </p:nvSpPr>
        <p:spPr>
          <a:xfrm>
            <a:off x="8549640" y="4069080"/>
            <a:ext cx="3063240" cy="9144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about 1:20. It plays once.</a:t>
            </a:r>
            <a:endParaRPr lang="en-US" sz="2200" dirty="0"/>
          </a:p>
        </p:txBody>
      </p:sp>
      <p:sp>
        <p:nvSpPr>
          <p:cNvPr id="46" name="play"/>
          <p:cNvSpPr/>
          <p:nvPr/>
        </p:nvSpPr>
        <p:spPr>
          <a:xfrm>
            <a:off x="8549640" y="5029200"/>
            <a:ext cx="301752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Play 1: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Task A</a:t>
            </a:r>
            <a:endParaRPr lang="en-US" sz="22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40726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34965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41732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What is the weather problem?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81965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A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compare your answers.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together.</a:t>
            </a:r>
            <a:endParaRPr lang="en-US" sz="2000" dirty="0" b="0"/>
          </a:p>
        </p:txBody>
      </p:sp>
      <p:sp>
        <p:nvSpPr>
          <p:cNvPr id="31" name="R1 card"/>
          <p:cNvSpPr/>
          <p:nvPr/>
        </p:nvSpPr>
        <p:spPr>
          <a:xfrm>
            <a:off x="1583741" y="2397557"/>
            <a:ext cx="6035040" cy="17373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397557"/>
            <a:ext cx="1039673" cy="173736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973629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397557"/>
            <a:ext cx="4590288" cy="1737360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is the weather problem?</a:t>
            </a:r>
            <a:b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 heat wave</a:t>
            </a:r>
            <a:b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b.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 storm with strong wind and heavy rain</a:t>
            </a:r>
            <a:b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</a:b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c.</a:t>
            </a: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 snowstorm</a:t>
            </a:r>
            <a:endParaRPr lang="en-US" sz="1800" dirty="0"/>
          </a:p>
        </p:txBody>
      </p:sp>
      <p:sp>
        <p:nvSpPr>
          <p:cNvPr id="35" name="R1 ans"/>
          <p:cNvSpPr/>
          <p:nvPr/>
        </p:nvSpPr>
        <p:spPr>
          <a:xfrm>
            <a:off x="6473952" y="3037637"/>
            <a:ext cx="10972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 What will Ben and Nadia use or buy?</a:t>
            </a:r>
            <a:endParaRPr lang="en-US" sz="2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✓.</a:t>
            </a:r>
            <a:endParaRPr lang="en-US" sz="2000" dirty="0" b="1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809244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batteries</a:t>
            </a:r>
            <a:endParaRPr lang="en-US" sz="2000" dirty="0"/>
          </a:p>
        </p:txBody>
      </p:sp>
      <p:sp>
        <p:nvSpPr>
          <p:cNvPr id="9" name="R1 opt1"/>
          <p:cNvSpPr/>
          <p:nvPr/>
        </p:nvSpPr>
        <p:spPr>
          <a:xfrm>
            <a:off x="8778240" y="3108960"/>
            <a:ext cx="91440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✓</a:t>
            </a:r>
            <a:endParaRPr lang="en-US" sz="2000" dirty="0" b="1"/>
          </a:p>
        </p:txBody>
      </p:sp>
      <p:sp>
        <p:nvSpPr>
          <p:cNvPr id="10" name="R1 opt2"/>
          <p:cNvSpPr/>
          <p:nvPr/>
        </p:nvSpPr>
        <p:spPr>
          <a:xfrm>
            <a:off x="10058400" y="3108960"/>
            <a:ext cx="91440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✗</a:t>
            </a:r>
            <a:endParaRPr lang="en-US" sz="2000" dirty="0" b="1"/>
          </a:p>
        </p:txBody>
      </p:sp>
      <p:sp>
        <p:nvSpPr>
          <p:cNvPr id="11" name="R1 circle"/>
          <p:cNvSpPr/>
          <p:nvPr/>
        </p:nvSpPr>
        <p:spPr>
          <a:xfrm>
            <a:off x="8650224" y="3054096"/>
            <a:ext cx="117043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2" name="R2 stmt"/>
          <p:cNvSpPr/>
          <p:nvPr/>
        </p:nvSpPr>
        <p:spPr>
          <a:xfrm>
            <a:off x="502920" y="3657600"/>
            <a:ext cx="809244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bottled water</a:t>
            </a:r>
            <a:endParaRPr lang="en-US" sz="2000" dirty="0"/>
          </a:p>
        </p:txBody>
      </p:sp>
      <p:sp>
        <p:nvSpPr>
          <p:cNvPr id="13" name="R2 opt1"/>
          <p:cNvSpPr/>
          <p:nvPr/>
        </p:nvSpPr>
        <p:spPr>
          <a:xfrm>
            <a:off x="8778240" y="3657600"/>
            <a:ext cx="91440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✓</a:t>
            </a:r>
            <a:endParaRPr lang="en-US" sz="2000" dirty="0" b="1"/>
          </a:p>
        </p:txBody>
      </p:sp>
      <p:sp>
        <p:nvSpPr>
          <p:cNvPr id="14" name="R2 opt2"/>
          <p:cNvSpPr/>
          <p:nvPr/>
        </p:nvSpPr>
        <p:spPr>
          <a:xfrm>
            <a:off x="10058400" y="3657600"/>
            <a:ext cx="91440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✗</a:t>
            </a:r>
            <a:endParaRPr lang="en-US" sz="2000" dirty="0" b="1"/>
          </a:p>
        </p:txBody>
      </p:sp>
      <p:sp>
        <p:nvSpPr>
          <p:cNvPr id="15" name="R2 circle"/>
          <p:cNvSpPr/>
          <p:nvPr/>
        </p:nvSpPr>
        <p:spPr>
          <a:xfrm>
            <a:off x="8650224" y="3602736"/>
            <a:ext cx="117043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6" name="R3 stmt"/>
          <p:cNvSpPr/>
          <p:nvPr/>
        </p:nvSpPr>
        <p:spPr>
          <a:xfrm>
            <a:off x="502920" y="4206240"/>
            <a:ext cx="809244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candles</a:t>
            </a:r>
            <a:endParaRPr lang="en-US" sz="2000" dirty="0"/>
          </a:p>
        </p:txBody>
      </p:sp>
      <p:sp>
        <p:nvSpPr>
          <p:cNvPr id="17" name="R3 opt1"/>
          <p:cNvSpPr/>
          <p:nvPr/>
        </p:nvSpPr>
        <p:spPr>
          <a:xfrm>
            <a:off x="8778240" y="4206240"/>
            <a:ext cx="91440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✓</a:t>
            </a:r>
            <a:endParaRPr lang="en-US" sz="2000" dirty="0" b="1"/>
          </a:p>
        </p:txBody>
      </p:sp>
      <p:sp>
        <p:nvSpPr>
          <p:cNvPr id="18" name="R3 opt2"/>
          <p:cNvSpPr/>
          <p:nvPr/>
        </p:nvSpPr>
        <p:spPr>
          <a:xfrm>
            <a:off x="10058400" y="4206240"/>
            <a:ext cx="91440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✗</a:t>
            </a:r>
            <a:endParaRPr lang="en-US" sz="2000" dirty="0" b="1"/>
          </a:p>
        </p:txBody>
      </p:sp>
      <p:sp>
        <p:nvSpPr>
          <p:cNvPr id="19" name="R3 circle"/>
          <p:cNvSpPr/>
          <p:nvPr/>
        </p:nvSpPr>
        <p:spPr>
          <a:xfrm>
            <a:off x="9930384" y="4151376"/>
            <a:ext cx="117043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R4 stmt"/>
          <p:cNvSpPr/>
          <p:nvPr/>
        </p:nvSpPr>
        <p:spPr>
          <a:xfrm>
            <a:off x="502920" y="4754880"/>
            <a:ext cx="809244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charged phones</a:t>
            </a:r>
            <a:endParaRPr lang="en-US" sz="2000" dirty="0"/>
          </a:p>
        </p:txBody>
      </p:sp>
      <p:sp>
        <p:nvSpPr>
          <p:cNvPr id="21" name="R4 opt1"/>
          <p:cNvSpPr/>
          <p:nvPr/>
        </p:nvSpPr>
        <p:spPr>
          <a:xfrm>
            <a:off x="8778240" y="4754880"/>
            <a:ext cx="91440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✓</a:t>
            </a:r>
            <a:endParaRPr lang="en-US" sz="2000" dirty="0" b="1"/>
          </a:p>
        </p:txBody>
      </p:sp>
      <p:sp>
        <p:nvSpPr>
          <p:cNvPr id="22" name="R4 opt2"/>
          <p:cNvSpPr/>
          <p:nvPr/>
        </p:nvSpPr>
        <p:spPr>
          <a:xfrm>
            <a:off x="10058400" y="4754880"/>
            <a:ext cx="91440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✗</a:t>
            </a:r>
            <a:endParaRPr lang="en-US" sz="2000" dirty="0" b="1"/>
          </a:p>
        </p:txBody>
      </p:sp>
      <p:sp>
        <p:nvSpPr>
          <p:cNvPr id="23" name="R4 circle"/>
          <p:cNvSpPr/>
          <p:nvPr/>
        </p:nvSpPr>
        <p:spPr>
          <a:xfrm>
            <a:off x="8650224" y="4700016"/>
            <a:ext cx="117043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R5 stmt"/>
          <p:cNvSpPr/>
          <p:nvPr/>
        </p:nvSpPr>
        <p:spPr>
          <a:xfrm>
            <a:off x="502920" y="5303520"/>
            <a:ext cx="809244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5. a snow shovel</a:t>
            </a:r>
            <a:endParaRPr lang="en-US" sz="2000" dirty="0"/>
          </a:p>
        </p:txBody>
      </p:sp>
      <p:sp>
        <p:nvSpPr>
          <p:cNvPr id="25" name="R5 opt1"/>
          <p:cNvSpPr/>
          <p:nvPr/>
        </p:nvSpPr>
        <p:spPr>
          <a:xfrm>
            <a:off x="8778240" y="5303520"/>
            <a:ext cx="91440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✓</a:t>
            </a:r>
            <a:endParaRPr lang="en-US" sz="2000" dirty="0" b="1"/>
          </a:p>
        </p:txBody>
      </p:sp>
      <p:sp>
        <p:nvSpPr>
          <p:cNvPr id="26" name="R5 opt2"/>
          <p:cNvSpPr/>
          <p:nvPr/>
        </p:nvSpPr>
        <p:spPr>
          <a:xfrm>
            <a:off x="10058400" y="5303520"/>
            <a:ext cx="91440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✗</a:t>
            </a:r>
            <a:endParaRPr lang="en-US" sz="2000" dirty="0" b="1"/>
          </a:p>
        </p:txBody>
      </p:sp>
      <p:sp>
        <p:nvSpPr>
          <p:cNvPr id="27" name="R5 circle"/>
          <p:cNvSpPr/>
          <p:nvPr/>
        </p:nvSpPr>
        <p:spPr>
          <a:xfrm>
            <a:off x="9930384" y="5248656"/>
            <a:ext cx="117043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8" name="R6 stmt"/>
          <p:cNvSpPr/>
          <p:nvPr/>
        </p:nvSpPr>
        <p:spPr>
          <a:xfrm>
            <a:off x="502920" y="5852160"/>
            <a:ext cx="809244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6. a new fridge</a:t>
            </a:r>
            <a:endParaRPr lang="en-US" sz="2000" dirty="0"/>
          </a:p>
        </p:txBody>
      </p:sp>
      <p:sp>
        <p:nvSpPr>
          <p:cNvPr id="29" name="R6 opt1"/>
          <p:cNvSpPr/>
          <p:nvPr/>
        </p:nvSpPr>
        <p:spPr>
          <a:xfrm>
            <a:off x="8778240" y="5852160"/>
            <a:ext cx="91440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✓</a:t>
            </a:r>
            <a:endParaRPr lang="en-US" sz="2000" dirty="0" b="1"/>
          </a:p>
        </p:txBody>
      </p:sp>
      <p:sp>
        <p:nvSpPr>
          <p:cNvPr id="30" name="R6 opt2"/>
          <p:cNvSpPr/>
          <p:nvPr/>
        </p:nvSpPr>
        <p:spPr>
          <a:xfrm>
            <a:off x="10058400" y="5852160"/>
            <a:ext cx="91440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✗</a:t>
            </a:r>
            <a:endParaRPr lang="en-US" sz="2000" dirty="0" b="1"/>
          </a:p>
        </p:txBody>
      </p:sp>
      <p:sp>
        <p:nvSpPr>
          <p:cNvPr id="31" name="R6 circle"/>
          <p:cNvSpPr/>
          <p:nvPr/>
        </p:nvSpPr>
        <p:spPr>
          <a:xfrm>
            <a:off x="9930384" y="5797296"/>
            <a:ext cx="117043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missing word.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C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compare your answers.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together.</a:t>
            </a:r>
            <a:endParaRPr lang="en-US" sz="2000" dirty="0" b="0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1581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422452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the power ____ out, we ____ have any lights.</a:t>
            </a:r>
            <a:endParaRPr lang="en-US" sz="1800" dirty="0"/>
          </a:p>
        </p:txBody>
      </p:sp>
      <p:sp>
        <p:nvSpPr>
          <p:cNvPr id="35" name="R1 ans"/>
          <p:cNvSpPr/>
          <p:nvPr/>
        </p:nvSpPr>
        <p:spPr>
          <a:xfrm>
            <a:off x="6108192" y="2222144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goes, won't</a:t>
            </a:r>
            <a:endParaRPr lang="en-US" sz="17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851404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851404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8863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851404"/>
            <a:ext cx="422452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I____ buy some after work.</a:t>
            </a:r>
            <a:endParaRPr lang="en-US" sz="1800" dirty="0"/>
          </a:p>
        </p:txBody>
      </p:sp>
      <p:sp>
        <p:nvSpPr>
          <p:cNvPr id="40" name="R2 ans"/>
          <p:cNvSpPr/>
          <p:nvPr/>
        </p:nvSpPr>
        <p:spPr>
          <a:xfrm>
            <a:off x="6108192" y="2950312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'll</a:t>
            </a:r>
            <a:endParaRPr lang="en-US" sz="20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579571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579571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61447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579571"/>
            <a:ext cx="422452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the power goes out, the fridge ____ work.</a:t>
            </a:r>
            <a:endParaRPr lang="en-US" sz="1800" dirty="0"/>
          </a:p>
        </p:txBody>
      </p:sp>
      <p:sp>
        <p:nvSpPr>
          <p:cNvPr id="45" name="R3 ans"/>
          <p:cNvSpPr/>
          <p:nvPr/>
        </p:nvSpPr>
        <p:spPr>
          <a:xfrm>
            <a:off x="6108192" y="3678479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won't</a:t>
            </a:r>
            <a:endParaRPr lang="en-US" sz="20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307738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307738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34263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307738"/>
            <a:ext cx="422452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we____ eat the food in the fridge first!</a:t>
            </a:r>
            <a:endParaRPr lang="en-US" sz="1800" dirty="0"/>
          </a:p>
        </p:txBody>
      </p:sp>
      <p:sp>
        <p:nvSpPr>
          <p:cNvPr id="50" name="R4 ans"/>
          <p:cNvSpPr/>
          <p:nvPr/>
        </p:nvSpPr>
        <p:spPr>
          <a:xfrm>
            <a:off x="6108192" y="4406646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'll</a:t>
            </a:r>
            <a:endParaRPr lang="en-US" sz="20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035906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035906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07080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035906"/>
            <a:ext cx="422452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the storm ____ really bad, will we go to work tomorrow?</a:t>
            </a:r>
            <a:endParaRPr lang="en-US" sz="1800" dirty="0"/>
          </a:p>
        </p:txBody>
      </p:sp>
      <p:sp>
        <p:nvSpPr>
          <p:cNvPr id="55" name="R5 ans"/>
          <p:cNvSpPr/>
          <p:nvPr/>
        </p:nvSpPr>
        <p:spPr>
          <a:xfrm>
            <a:off x="6108192" y="5134813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</a:t>
            </a:r>
            <a:endParaRPr lang="en-US" sz="20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764073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764073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7989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6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764073"/>
            <a:ext cx="422452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It____ probably rain all night.</a:t>
            </a:r>
            <a:endParaRPr lang="en-US" sz="1800" dirty="0"/>
          </a:p>
        </p:txBody>
      </p:sp>
      <p:sp>
        <p:nvSpPr>
          <p:cNvPr id="60" name="R6 ans"/>
          <p:cNvSpPr/>
          <p:nvPr/>
        </p:nvSpPr>
        <p:spPr>
          <a:xfrm>
            <a:off x="6108192" y="5862980"/>
            <a:ext cx="14630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'll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hecksay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68158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4982" y="1623974"/>
            <a:ext cx="6169457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691640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it: it'll, we'll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2093976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class repeats each line.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It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will =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it'll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sounds like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id-ul.</a:t>
            </a:r>
            <a:endParaRPr lang="en-US" sz="2000" dirty="0" b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each line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 times.</a:t>
            </a:r>
            <a:endParaRPr lang="en-US" sz="2000" dirty="0" b="0"/>
          </a:p>
        </p:txBody>
      </p:sp>
      <p:sp>
        <p:nvSpPr>
          <p:cNvPr id="31" name="S1 card"/>
          <p:cNvSpPr/>
          <p:nvPr/>
        </p:nvSpPr>
        <p:spPr>
          <a:xfrm>
            <a:off x="548640" y="2715768"/>
            <a:ext cx="6766560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S1 text"/>
          <p:cNvSpPr/>
          <p:nvPr/>
        </p:nvSpPr>
        <p:spPr>
          <a:xfrm>
            <a:off x="777240" y="2715768"/>
            <a:ext cx="6355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it'll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(id-ul)  · 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we'll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 · 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I'll</a:t>
            </a:r>
            <a:endParaRPr lang="en-US" sz="2200" dirty="0" b="1"/>
          </a:p>
        </p:txBody>
      </p:sp>
      <p:sp>
        <p:nvSpPr>
          <p:cNvPr id="33" name="S2 card"/>
          <p:cNvSpPr/>
          <p:nvPr/>
        </p:nvSpPr>
        <p:spPr>
          <a:xfrm>
            <a:off x="548640" y="3601822"/>
            <a:ext cx="6766560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" name="S2 text"/>
          <p:cNvSpPr/>
          <p:nvPr/>
        </p:nvSpPr>
        <p:spPr>
          <a:xfrm>
            <a:off x="777240" y="3601822"/>
            <a:ext cx="6355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the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power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goes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out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</a:t>
            </a:r>
            <a:endParaRPr lang="en-US" sz="2200" dirty="0" b="1"/>
          </a:p>
        </p:txBody>
      </p:sp>
      <p:sp>
        <p:nvSpPr>
          <p:cNvPr id="35" name="S3 card"/>
          <p:cNvSpPr/>
          <p:nvPr/>
        </p:nvSpPr>
        <p:spPr>
          <a:xfrm>
            <a:off x="548640" y="4487875"/>
            <a:ext cx="6766560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" name="S3 text"/>
          <p:cNvSpPr/>
          <p:nvPr/>
        </p:nvSpPr>
        <p:spPr>
          <a:xfrm>
            <a:off x="777240" y="4487875"/>
            <a:ext cx="6355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we'll use a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flashlight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 b="1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qa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right panel"/>
          <p:cNvSpPr/>
          <p:nvPr/>
        </p:nvSpPr>
        <p:spPr>
          <a:xfrm>
            <a:off x="6742786" y="3291840"/>
            <a:ext cx="4912157" cy="310896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8" name="pic" descr="Flashlight: a flashlight with a light be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143000"/>
            <a:ext cx="2743200" cy="1920240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560116" y="1350752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3446" y="1286561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832104" y="1325880"/>
            <a:ext cx="5257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1</a:t>
            </a:r>
            <a:endParaRPr lang="en-US" sz="2000" dirty="0" b="1"/>
          </a:p>
          <a:p>
            <a:pPr algn="l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will you do if…?</a:t>
            </a:r>
            <a:endParaRPr lang="en-US" sz="2800" dirty="0" b="1"/>
          </a:p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+ present, will</a:t>
            </a:r>
            <a:endParaRPr lang="en-US" sz="1800" dirty="0" b="0"/>
          </a:p>
        </p:txBody>
      </p:sp>
      <p:sp>
        <p:nvSpPr>
          <p:cNvPr id="8" name="left panel"/>
          <p:cNvSpPr/>
          <p:nvPr/>
        </p:nvSpPr>
        <p:spPr>
          <a:xfrm>
            <a:off x="1305763" y="3291840"/>
            <a:ext cx="4790542" cy="31089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2540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9" name="Q head"/>
          <p:cNvSpPr/>
          <p:nvPr/>
        </p:nvSpPr>
        <p:spPr>
          <a:xfrm>
            <a:off x="1920240" y="342900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20" name="A head"/>
          <p:cNvSpPr/>
          <p:nvPr/>
        </p:nvSpPr>
        <p:spPr>
          <a:xfrm>
            <a:off x="7040880" y="342900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21" name="Highlight 1"/>
          <p:cNvSpPr/>
          <p:nvPr/>
        </p:nvSpPr>
        <p:spPr>
          <a:xfrm>
            <a:off x="1481328" y="4069080"/>
            <a:ext cx="192024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2" name="Helper 1"/>
          <p:cNvSpPr/>
          <p:nvPr/>
        </p:nvSpPr>
        <p:spPr>
          <a:xfrm>
            <a:off x="1481328" y="3977640"/>
            <a:ext cx="192024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will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 do</a:t>
            </a:r>
            <a:endParaRPr lang="en-US" sz="1500" dirty="0" b="1"/>
          </a:p>
        </p:txBody>
      </p:sp>
      <p:sp>
        <p:nvSpPr>
          <p:cNvPr id="23" name="Question 1"/>
          <p:cNvSpPr/>
          <p:nvPr/>
        </p:nvSpPr>
        <p:spPr>
          <a:xfrm>
            <a:off x="3493008" y="3977640"/>
            <a:ext cx="251460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</a:t>
            </a: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power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goes</a:t>
            </a: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out?</a:t>
            </a:r>
            <a:endParaRPr lang="en-US" sz="1600" dirty="0"/>
          </a:p>
        </p:txBody>
      </p:sp>
      <p:sp>
        <p:nvSpPr>
          <p:cNvPr id="24" name="Answer bg 1"/>
          <p:cNvSpPr/>
          <p:nvPr/>
        </p:nvSpPr>
        <p:spPr>
          <a:xfrm>
            <a:off x="6949440" y="3977640"/>
            <a:ext cx="452628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5" name="Answer 1"/>
          <p:cNvSpPr/>
          <p:nvPr/>
        </p:nvSpPr>
        <p:spPr>
          <a:xfrm>
            <a:off x="6949440" y="3977640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power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goes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out, I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'll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use a flashlight. / I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'll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call my landlord.</a:t>
            </a:r>
            <a:endParaRPr lang="en-US" sz="1600" dirty="0" b="1"/>
          </a:p>
        </p:txBody>
      </p:sp>
      <p:sp>
        <p:nvSpPr>
          <p:cNvPr id="26" name="Highlight 2"/>
          <p:cNvSpPr/>
          <p:nvPr/>
        </p:nvSpPr>
        <p:spPr>
          <a:xfrm>
            <a:off x="1481328" y="4846320"/>
            <a:ext cx="192024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Helper 2"/>
          <p:cNvSpPr/>
          <p:nvPr/>
        </p:nvSpPr>
        <p:spPr>
          <a:xfrm>
            <a:off x="1481328" y="4754880"/>
            <a:ext cx="192024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will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 do</a:t>
            </a:r>
            <a:endParaRPr lang="en-US" sz="1500" dirty="0" b="1"/>
          </a:p>
        </p:txBody>
      </p:sp>
      <p:sp>
        <p:nvSpPr>
          <p:cNvPr id="28" name="Question 2"/>
          <p:cNvSpPr/>
          <p:nvPr/>
        </p:nvSpPr>
        <p:spPr>
          <a:xfrm>
            <a:off x="3493008" y="4754880"/>
            <a:ext cx="251460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</a:t>
            </a: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it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snows</a:t>
            </a: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tomorrow?</a:t>
            </a:r>
            <a:endParaRPr lang="en-US" sz="1600" dirty="0"/>
          </a:p>
        </p:txBody>
      </p:sp>
      <p:sp>
        <p:nvSpPr>
          <p:cNvPr id="29" name="Answer bg 2"/>
          <p:cNvSpPr/>
          <p:nvPr/>
        </p:nvSpPr>
        <p:spPr>
          <a:xfrm>
            <a:off x="6949440" y="4754880"/>
            <a:ext cx="452628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0" name="Answer 2"/>
          <p:cNvSpPr/>
          <p:nvPr/>
        </p:nvSpPr>
        <p:spPr>
          <a:xfrm>
            <a:off x="6949440" y="4754880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it 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snows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I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'll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stay home. / I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'll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take the bus.</a:t>
            </a:r>
            <a:endParaRPr lang="en-US" sz="1600" dirty="0" b="1"/>
          </a:p>
        </p:txBody>
      </p:sp>
      <p:sp>
        <p:nvSpPr>
          <p:cNvPr id="31" name="Highlight 3"/>
          <p:cNvSpPr/>
          <p:nvPr/>
        </p:nvSpPr>
        <p:spPr>
          <a:xfrm>
            <a:off x="1481328" y="5623560"/>
            <a:ext cx="192024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2" name="Helper 3"/>
          <p:cNvSpPr/>
          <p:nvPr/>
        </p:nvSpPr>
        <p:spPr>
          <a:xfrm>
            <a:off x="1481328" y="5532120"/>
            <a:ext cx="192024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will</a:t>
            </a: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 do</a:t>
            </a:r>
            <a:endParaRPr lang="en-US" sz="1500" dirty="0" b="1"/>
          </a:p>
        </p:txBody>
      </p:sp>
      <p:sp>
        <p:nvSpPr>
          <p:cNvPr id="33" name="Question 3"/>
          <p:cNvSpPr/>
          <p:nvPr/>
        </p:nvSpPr>
        <p:spPr>
          <a:xfrm>
            <a:off x="3493008" y="5532120"/>
            <a:ext cx="251460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</a:t>
            </a: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it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's</a:t>
            </a:r>
            <a:r>
              <a:rPr lang="en-US" sz="16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very hot?</a:t>
            </a:r>
            <a:endParaRPr lang="en-US" sz="1600" dirty="0"/>
          </a:p>
        </p:txBody>
      </p:sp>
      <p:sp>
        <p:nvSpPr>
          <p:cNvPr id="34" name="Answer bg 3"/>
          <p:cNvSpPr/>
          <p:nvPr/>
        </p:nvSpPr>
        <p:spPr>
          <a:xfrm>
            <a:off x="6949440" y="5532120"/>
            <a:ext cx="452628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Answer 3"/>
          <p:cNvSpPr/>
          <p:nvPr/>
        </p:nvSpPr>
        <p:spPr>
          <a:xfrm>
            <a:off x="6949440" y="5532120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it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's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very hot, I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'll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drink a lot of water. / I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'll</a:t>
            </a: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go to the library.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qa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right panel"/>
          <p:cNvSpPr/>
          <p:nvPr/>
        </p:nvSpPr>
        <p:spPr>
          <a:xfrm>
            <a:off x="6742786" y="3291840"/>
            <a:ext cx="4912157" cy="310896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8" name="pic" descr="Snowstorm: a snow cloud, snowflakes, a snowma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1143000"/>
            <a:ext cx="2743200" cy="1920240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560116" y="1350752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3446" y="1286561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832104" y="1325880"/>
            <a:ext cx="52578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2</a:t>
            </a:r>
            <a:endParaRPr lang="en-US" sz="2000" dirty="0" b="1"/>
          </a:p>
          <a:p>
            <a:pPr algn="l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First or Second</a:t>
            </a:r>
            <a:endParaRPr lang="en-US" sz="2800" dirty="0" b="1"/>
          </a:p>
          <a:p>
            <a:pPr algn="l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first: comma  ·  if second: no comma</a:t>
            </a:r>
            <a:endParaRPr lang="en-US" sz="1800" dirty="0" b="0"/>
          </a:p>
        </p:txBody>
      </p:sp>
      <p:sp>
        <p:nvSpPr>
          <p:cNvPr id="8" name="left panel"/>
          <p:cNvSpPr/>
          <p:nvPr/>
        </p:nvSpPr>
        <p:spPr>
          <a:xfrm>
            <a:off x="1305763" y="3291840"/>
            <a:ext cx="4790542" cy="31089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2540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9" name="Q head"/>
          <p:cNvSpPr/>
          <p:nvPr/>
        </p:nvSpPr>
        <p:spPr>
          <a:xfrm>
            <a:off x="1481328" y="3429000"/>
            <a:ext cx="448056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FIRST (comma)</a:t>
            </a:r>
            <a:endParaRPr lang="en-US" sz="1700" dirty="0" b="1"/>
          </a:p>
        </p:txBody>
      </p:sp>
      <p:sp>
        <p:nvSpPr>
          <p:cNvPr id="20" name="A head"/>
          <p:cNvSpPr/>
          <p:nvPr/>
        </p:nvSpPr>
        <p:spPr>
          <a:xfrm>
            <a:off x="6949440" y="3429000"/>
            <a:ext cx="448056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SECOND (no comma)</a:t>
            </a:r>
            <a:endParaRPr lang="en-US" sz="1700" dirty="0" b="1"/>
          </a:p>
        </p:txBody>
      </p:sp>
      <p:sp>
        <p:nvSpPr>
          <p:cNvPr id="21" name="Question 1"/>
          <p:cNvSpPr/>
          <p:nvPr/>
        </p:nvSpPr>
        <p:spPr>
          <a:xfrm>
            <a:off x="1481328" y="3977640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it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rains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I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'll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take the bus.</a:t>
            </a:r>
            <a:endParaRPr lang="en-US" sz="2000" dirty="0"/>
          </a:p>
        </p:txBody>
      </p:sp>
      <p:sp>
        <p:nvSpPr>
          <p:cNvPr id="22" name="Answer bg 1"/>
          <p:cNvSpPr/>
          <p:nvPr/>
        </p:nvSpPr>
        <p:spPr>
          <a:xfrm>
            <a:off x="6949440" y="3977640"/>
            <a:ext cx="452628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1"/>
          <p:cNvSpPr/>
          <p:nvPr/>
        </p:nvSpPr>
        <p:spPr>
          <a:xfrm>
            <a:off x="6949440" y="3977640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'll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take the bus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it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rains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900" dirty="0" b="1"/>
          </a:p>
        </p:txBody>
      </p:sp>
      <p:sp>
        <p:nvSpPr>
          <p:cNvPr id="24" name="Question 2"/>
          <p:cNvSpPr/>
          <p:nvPr/>
        </p:nvSpPr>
        <p:spPr>
          <a:xfrm>
            <a:off x="1481328" y="4754880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school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closes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my kids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will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stay home.</a:t>
            </a:r>
            <a:endParaRPr lang="en-US" sz="2000" dirty="0"/>
          </a:p>
        </p:txBody>
      </p:sp>
      <p:sp>
        <p:nvSpPr>
          <p:cNvPr id="25" name="Answer bg 2"/>
          <p:cNvSpPr/>
          <p:nvPr/>
        </p:nvSpPr>
        <p:spPr>
          <a:xfrm>
            <a:off x="6949440" y="4754880"/>
            <a:ext cx="452628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2"/>
          <p:cNvSpPr/>
          <p:nvPr/>
        </p:nvSpPr>
        <p:spPr>
          <a:xfrm>
            <a:off x="6949440" y="4754880"/>
            <a:ext cx="4526280" cy="7315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My kids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will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stay home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school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closes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19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Storm: a cloud with lightning and rain, wi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3  ·  short answers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Will…?</a:t>
            </a:r>
            <a:endParaRPr lang="en-US" sz="26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7863840" y="18288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651760" cy="12070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it snows tomorrow,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will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school be closed?</a:t>
            </a:r>
            <a:endParaRPr lang="en-US" sz="1900" dirty="0" b="1"/>
          </a:p>
        </p:txBody>
      </p:sp>
      <p:sp>
        <p:nvSpPr>
          <p:cNvPr id="19" name="Answer bg 1"/>
          <p:cNvSpPr/>
          <p:nvPr/>
        </p:nvSpPr>
        <p:spPr>
          <a:xfrm>
            <a:off x="7863840" y="2286000"/>
            <a:ext cx="4069080" cy="12070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863840" y="2286000"/>
            <a:ext cx="4069080" cy="12070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it will. / Probably. / Maybe.</a:t>
            </a:r>
            <a:endParaRPr lang="en-US" sz="1800" dirty="0" b="1"/>
          </a:p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Probably not. / No, it won't.</a:t>
            </a:r>
            <a:endParaRPr lang="en-US" sz="18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566160"/>
            <a:ext cx="2651760" cy="12070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storm is bad,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will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the buses run?</a:t>
            </a:r>
            <a:endParaRPr lang="en-US" sz="1900" dirty="0" b="1"/>
          </a:p>
        </p:txBody>
      </p:sp>
      <p:sp>
        <p:nvSpPr>
          <p:cNvPr id="22" name="Answer bg 2"/>
          <p:cNvSpPr/>
          <p:nvPr/>
        </p:nvSpPr>
        <p:spPr>
          <a:xfrm>
            <a:off x="7863840" y="3566160"/>
            <a:ext cx="4069080" cy="120700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863840" y="3566160"/>
            <a:ext cx="4069080" cy="120700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Probably not. / Maybe. / I don't know.</a:t>
            </a:r>
            <a:endParaRPr lang="en-US" sz="18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Forecast: a TV, sun / rain / snow icons with day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4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probably and maybe</a:t>
            </a:r>
            <a:endParaRPr lang="en-US" sz="26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sure?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7406640" y="182880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Prediction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194560" cy="7040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100% sure</a:t>
            </a:r>
            <a:endParaRPr lang="en-US" sz="2000" dirty="0" b="1"/>
          </a:p>
        </p:txBody>
      </p:sp>
      <p:sp>
        <p:nvSpPr>
          <p:cNvPr id="19" name="Answer bg 1"/>
          <p:cNvSpPr/>
          <p:nvPr/>
        </p:nvSpPr>
        <p:spPr>
          <a:xfrm>
            <a:off x="7406640" y="2286000"/>
            <a:ext cx="4526280" cy="7040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7406640" y="2286000"/>
            <a:ext cx="4526280" cy="7040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will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rain.</a:t>
            </a:r>
            <a:endParaRPr lang="en-US" sz="2000" dirty="0" b="1"/>
          </a:p>
        </p:txBody>
      </p:sp>
      <p:sp>
        <p:nvSpPr>
          <p:cNvPr id="21" name="Question 2"/>
          <p:cNvSpPr/>
          <p:nvPr/>
        </p:nvSpPr>
        <p:spPr>
          <a:xfrm>
            <a:off x="5138928" y="3063240"/>
            <a:ext cx="2194560" cy="7040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75% sure</a:t>
            </a:r>
            <a:endParaRPr lang="en-US" sz="2000" dirty="0" b="1"/>
          </a:p>
        </p:txBody>
      </p:sp>
      <p:sp>
        <p:nvSpPr>
          <p:cNvPr id="22" name="Answer bg 2"/>
          <p:cNvSpPr/>
          <p:nvPr/>
        </p:nvSpPr>
        <p:spPr>
          <a:xfrm>
            <a:off x="7406640" y="3063240"/>
            <a:ext cx="4526280" cy="7040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3" name="Answer 2"/>
          <p:cNvSpPr/>
          <p:nvPr/>
        </p:nvSpPr>
        <p:spPr>
          <a:xfrm>
            <a:off x="7406640" y="3063240"/>
            <a:ext cx="4526280" cy="7040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will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probably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rain.</a:t>
            </a:r>
            <a:endParaRPr lang="en-US" sz="2000" dirty="0" b="1"/>
          </a:p>
        </p:txBody>
      </p:sp>
      <p:sp>
        <p:nvSpPr>
          <p:cNvPr id="24" name="Question 3"/>
          <p:cNvSpPr/>
          <p:nvPr/>
        </p:nvSpPr>
        <p:spPr>
          <a:xfrm>
            <a:off x="5138928" y="3840480"/>
            <a:ext cx="2194560" cy="7040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50% sure</a:t>
            </a:r>
            <a:endParaRPr lang="en-US" sz="2000" dirty="0" b="1"/>
          </a:p>
        </p:txBody>
      </p:sp>
      <p:sp>
        <p:nvSpPr>
          <p:cNvPr id="25" name="Answer bg 3"/>
          <p:cNvSpPr/>
          <p:nvPr/>
        </p:nvSpPr>
        <p:spPr>
          <a:xfrm>
            <a:off x="7406640" y="3840480"/>
            <a:ext cx="4526280" cy="7040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3"/>
          <p:cNvSpPr/>
          <p:nvPr/>
        </p:nvSpPr>
        <p:spPr>
          <a:xfrm>
            <a:off x="7406640" y="3840480"/>
            <a:ext cx="4526280" cy="7040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Maybe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it will rain.</a:t>
            </a:r>
            <a:endParaRPr lang="en-US" sz="2000" dirty="0" b="1"/>
          </a:p>
        </p:txBody>
      </p:sp>
      <p:sp>
        <p:nvSpPr>
          <p:cNvPr id="27" name="Question 4"/>
          <p:cNvSpPr/>
          <p:nvPr/>
        </p:nvSpPr>
        <p:spPr>
          <a:xfrm>
            <a:off x="5138928" y="4617720"/>
            <a:ext cx="2194560" cy="7040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25% sure</a:t>
            </a:r>
            <a:endParaRPr lang="en-US" sz="2000" dirty="0" b="1"/>
          </a:p>
        </p:txBody>
      </p:sp>
      <p:sp>
        <p:nvSpPr>
          <p:cNvPr id="28" name="Answer bg 4"/>
          <p:cNvSpPr/>
          <p:nvPr/>
        </p:nvSpPr>
        <p:spPr>
          <a:xfrm>
            <a:off x="7406640" y="4617720"/>
            <a:ext cx="4526280" cy="7040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9" name="Answer 4"/>
          <p:cNvSpPr/>
          <p:nvPr/>
        </p:nvSpPr>
        <p:spPr>
          <a:xfrm>
            <a:off x="7406640" y="4617720"/>
            <a:ext cx="4526280" cy="7040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probably won't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rain.</a:t>
            </a:r>
            <a:endParaRPr lang="en-US" sz="2000" dirty="0" b="1"/>
          </a:p>
        </p:txBody>
      </p:sp>
      <p:sp>
        <p:nvSpPr>
          <p:cNvPr id="30" name="Question 5"/>
          <p:cNvSpPr/>
          <p:nvPr/>
        </p:nvSpPr>
        <p:spPr>
          <a:xfrm>
            <a:off x="5138928" y="5394960"/>
            <a:ext cx="2194560" cy="7040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0%</a:t>
            </a:r>
            <a:endParaRPr lang="en-US" sz="2000" dirty="0" b="1"/>
          </a:p>
        </p:txBody>
      </p:sp>
      <p:sp>
        <p:nvSpPr>
          <p:cNvPr id="31" name="Answer bg 5"/>
          <p:cNvSpPr/>
          <p:nvPr/>
        </p:nvSpPr>
        <p:spPr>
          <a:xfrm>
            <a:off x="7406640" y="5394960"/>
            <a:ext cx="4526280" cy="7040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2" name="Answer 5"/>
          <p:cNvSpPr/>
          <p:nvPr/>
        </p:nvSpPr>
        <p:spPr>
          <a:xfrm>
            <a:off x="7406640" y="5394960"/>
            <a:ext cx="4526280" cy="7040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won't</a:t>
            </a: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rain.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abl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076429" y="533095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457200"/>
            <a:ext cx="5814670" cy="1234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left panel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pic>
        <p:nvPicPr>
          <p:cNvPr id="17" name="pic" descr="Bottled water: four water bottl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5152"/>
            <a:ext cx="3326587" cy="2328611"/>
          </a:xfrm>
          <a:prstGeom prst="rect">
            <a:avLst/>
          </a:prstGeom>
        </p:spPr>
      </p:pic>
      <p:sp>
        <p:nvSpPr>
          <p:cNvPr id="7" name="head"/>
          <p:cNvSpPr/>
          <p:nvPr/>
        </p:nvSpPr>
        <p:spPr>
          <a:xfrm>
            <a:off x="5333695" y="566928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5  ·  review</a:t>
            </a:r>
            <a:endParaRPr lang="en-US" sz="2000" dirty="0" b="1"/>
          </a:p>
          <a:p>
            <a:pPr algn="l" indent="0" marL="0">
              <a:spcAft>
                <a:spcPts val="4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Safety tips with should</a:t>
            </a:r>
            <a:endParaRPr lang="en-US" sz="2600" dirty="0" b="1"/>
          </a:p>
        </p:txBody>
      </p:sp>
      <p:sp>
        <p:nvSpPr>
          <p:cNvPr id="8" name="Q head"/>
          <p:cNvSpPr/>
          <p:nvPr/>
        </p:nvSpPr>
        <p:spPr>
          <a:xfrm>
            <a:off x="5166360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 b="1"/>
          </a:p>
        </p:txBody>
      </p:sp>
      <p:sp>
        <p:nvSpPr>
          <p:cNvPr id="11" name="A head"/>
          <p:cNvSpPr/>
          <p:nvPr/>
        </p:nvSpPr>
        <p:spPr>
          <a:xfrm>
            <a:off x="8138160" y="182880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18" name="Question 1"/>
          <p:cNvSpPr/>
          <p:nvPr/>
        </p:nvSpPr>
        <p:spPr>
          <a:xfrm>
            <a:off x="5138928" y="2286000"/>
            <a:ext cx="2926080" cy="13898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should</a:t>
            </a: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we do before a storm?</a:t>
            </a:r>
            <a:endParaRPr lang="en-US" sz="1900" dirty="0" b="1"/>
          </a:p>
        </p:txBody>
      </p:sp>
      <p:sp>
        <p:nvSpPr>
          <p:cNvPr id="19" name="Answer bg 1"/>
          <p:cNvSpPr/>
          <p:nvPr/>
        </p:nvSpPr>
        <p:spPr>
          <a:xfrm>
            <a:off x="8138160" y="2286000"/>
            <a:ext cx="3794760" cy="13898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Answer 1"/>
          <p:cNvSpPr/>
          <p:nvPr/>
        </p:nvSpPr>
        <p:spPr>
          <a:xfrm>
            <a:off x="8138160" y="2286000"/>
            <a:ext cx="3794760" cy="13898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should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buy batteries. / keep bottled water at home. / charge your phone.</a:t>
            </a:r>
            <a:endParaRPr lang="en-US" sz="1800" dirty="0" b="1"/>
          </a:p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shouldn't</a:t>
            </a: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use candles. / drive in a flood.</a:t>
            </a:r>
            <a:endParaRPr lang="en-US" sz="18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ap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head shadow"/>
          <p:cNvSpPr/>
          <p:nvPr/>
        </p:nvSpPr>
        <p:spPr>
          <a:xfrm>
            <a:off x="544982" y="1132942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head card"/>
          <p:cNvSpPr/>
          <p:nvPr/>
        </p:nvSpPr>
        <p:spPr>
          <a:xfrm>
            <a:off x="548640" y="1075334"/>
            <a:ext cx="7086600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head1"/>
          <p:cNvSpPr/>
          <p:nvPr/>
        </p:nvSpPr>
        <p:spPr>
          <a:xfrm>
            <a:off x="777240" y="1143000"/>
            <a:ext cx="54406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A: write the verbs.</a:t>
            </a:r>
            <a:endParaRPr lang="en-US" sz="2000" dirty="0" b="1"/>
          </a:p>
        </p:txBody>
      </p:sp>
      <p:sp>
        <p:nvSpPr>
          <p:cNvPr id="9" name="head2"/>
          <p:cNvSpPr/>
          <p:nvPr/>
        </p:nvSpPr>
        <p:spPr>
          <a:xfrm>
            <a:off x="868680" y="1545336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+ present  ·  will</a:t>
            </a:r>
            <a:endParaRPr lang="en-US" sz="2000" dirty="0"/>
          </a:p>
        </p:txBody>
      </p:sp>
      <p:sp>
        <p:nvSpPr>
          <p:cNvPr id="29" name="title"/>
          <p:cNvSpPr/>
          <p:nvPr/>
        </p:nvSpPr>
        <p:spPr>
          <a:xfrm>
            <a:off x="8001000" y="1783080"/>
            <a:ext cx="384048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A</a:t>
            </a:r>
            <a:endParaRPr lang="en-US" sz="4000" dirty="0" b="1"/>
          </a:p>
        </p:txBody>
      </p:sp>
      <p:sp>
        <p:nvSpPr>
          <p:cNvPr id="30" name="side"/>
          <p:cNvSpPr/>
          <p:nvPr/>
        </p:nvSpPr>
        <p:spPr>
          <a:xfrm>
            <a:off x="8046720" y="3611880"/>
            <a:ext cx="3749039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verbs.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your answers.</a:t>
            </a:r>
            <a:endParaRPr lang="en-US" sz="2000" dirty="0" b="0"/>
          </a:p>
        </p:txBody>
      </p:sp>
      <p:sp>
        <p:nvSpPr>
          <p:cNvPr id="31" name="R1 card"/>
          <p:cNvSpPr/>
          <p:nvPr/>
        </p:nvSpPr>
        <p:spPr>
          <a:xfrm>
            <a:off x="1583741" y="2123237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R1 chip"/>
          <p:cNvSpPr/>
          <p:nvPr/>
        </p:nvSpPr>
        <p:spPr>
          <a:xfrm>
            <a:off x="544982" y="2123237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3" name="R1 num"/>
          <p:cNvSpPr/>
          <p:nvPr/>
        </p:nvSpPr>
        <p:spPr>
          <a:xfrm>
            <a:off x="686714" y="215813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 b="1"/>
          </a:p>
        </p:txBody>
      </p:sp>
      <p:sp>
        <p:nvSpPr>
          <p:cNvPr id="34" name="R1 text"/>
          <p:cNvSpPr/>
          <p:nvPr/>
        </p:nvSpPr>
        <p:spPr>
          <a:xfrm>
            <a:off x="1810512" y="2123237"/>
            <a:ext cx="376732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it ____ (rain), I ____ (take) the bus.</a:t>
            </a:r>
            <a:endParaRPr lang="en-US" sz="1800" dirty="0"/>
          </a:p>
        </p:txBody>
      </p:sp>
      <p:sp>
        <p:nvSpPr>
          <p:cNvPr id="35" name="R1 ans"/>
          <p:cNvSpPr/>
          <p:nvPr/>
        </p:nvSpPr>
        <p:spPr>
          <a:xfrm>
            <a:off x="5650992" y="2222144"/>
            <a:ext cx="19202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rains, 'll take</a:t>
            </a:r>
            <a:endParaRPr lang="en-US" sz="1600" dirty="0" b="1"/>
          </a:p>
        </p:txBody>
      </p:sp>
      <p:sp>
        <p:nvSpPr>
          <p:cNvPr id="36" name="R2 card"/>
          <p:cNvSpPr/>
          <p:nvPr/>
        </p:nvSpPr>
        <p:spPr>
          <a:xfrm>
            <a:off x="1583741" y="2851404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" name="R2 chip"/>
          <p:cNvSpPr/>
          <p:nvPr/>
        </p:nvSpPr>
        <p:spPr>
          <a:xfrm>
            <a:off x="544982" y="2851404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38" name="R2 num"/>
          <p:cNvSpPr/>
          <p:nvPr/>
        </p:nvSpPr>
        <p:spPr>
          <a:xfrm>
            <a:off x="686714" y="288630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 b="1"/>
          </a:p>
        </p:txBody>
      </p:sp>
      <p:sp>
        <p:nvSpPr>
          <p:cNvPr id="39" name="R2 text"/>
          <p:cNvSpPr/>
          <p:nvPr/>
        </p:nvSpPr>
        <p:spPr>
          <a:xfrm>
            <a:off x="1810512" y="2851404"/>
            <a:ext cx="376732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the power ____ (go) out, we ____ (use) flashlights.</a:t>
            </a:r>
            <a:endParaRPr lang="en-US" sz="1800" dirty="0"/>
          </a:p>
        </p:txBody>
      </p:sp>
      <p:sp>
        <p:nvSpPr>
          <p:cNvPr id="40" name="R2 ans"/>
          <p:cNvSpPr/>
          <p:nvPr/>
        </p:nvSpPr>
        <p:spPr>
          <a:xfrm>
            <a:off x="5650992" y="2950312"/>
            <a:ext cx="19202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goes, 'll use</a:t>
            </a:r>
            <a:endParaRPr lang="en-US" sz="1600" dirty="0" b="1"/>
          </a:p>
        </p:txBody>
      </p:sp>
      <p:sp>
        <p:nvSpPr>
          <p:cNvPr id="41" name="R3 card"/>
          <p:cNvSpPr/>
          <p:nvPr/>
        </p:nvSpPr>
        <p:spPr>
          <a:xfrm>
            <a:off x="1583741" y="3579571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R3 chip"/>
          <p:cNvSpPr/>
          <p:nvPr/>
        </p:nvSpPr>
        <p:spPr>
          <a:xfrm>
            <a:off x="544982" y="3579571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3" name="R3 num"/>
          <p:cNvSpPr/>
          <p:nvPr/>
        </p:nvSpPr>
        <p:spPr>
          <a:xfrm>
            <a:off x="686714" y="3614471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 b="1"/>
          </a:p>
        </p:txBody>
      </p:sp>
      <p:sp>
        <p:nvSpPr>
          <p:cNvPr id="44" name="R3 text"/>
          <p:cNvSpPr/>
          <p:nvPr/>
        </p:nvSpPr>
        <p:spPr>
          <a:xfrm>
            <a:off x="1810512" y="3579571"/>
            <a:ext cx="376732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____ (stay) home if it ____ (snow).</a:t>
            </a:r>
            <a:endParaRPr lang="en-US" sz="1800" dirty="0"/>
          </a:p>
        </p:txBody>
      </p:sp>
      <p:sp>
        <p:nvSpPr>
          <p:cNvPr id="45" name="R3 ans"/>
          <p:cNvSpPr/>
          <p:nvPr/>
        </p:nvSpPr>
        <p:spPr>
          <a:xfrm>
            <a:off x="5650992" y="3678479"/>
            <a:ext cx="19202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'll stay, snows</a:t>
            </a:r>
            <a:endParaRPr lang="en-US" sz="1600" dirty="0" b="1"/>
          </a:p>
        </p:txBody>
      </p:sp>
      <p:sp>
        <p:nvSpPr>
          <p:cNvPr id="46" name="R4 card"/>
          <p:cNvSpPr/>
          <p:nvPr/>
        </p:nvSpPr>
        <p:spPr>
          <a:xfrm>
            <a:off x="1583741" y="4307738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" name="R4 chip"/>
          <p:cNvSpPr/>
          <p:nvPr/>
        </p:nvSpPr>
        <p:spPr>
          <a:xfrm>
            <a:off x="544982" y="4307738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8" name="R4 num"/>
          <p:cNvSpPr/>
          <p:nvPr/>
        </p:nvSpPr>
        <p:spPr>
          <a:xfrm>
            <a:off x="686714" y="434263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 b="1"/>
          </a:p>
        </p:txBody>
      </p:sp>
      <p:sp>
        <p:nvSpPr>
          <p:cNvPr id="49" name="R4 text"/>
          <p:cNvSpPr/>
          <p:nvPr/>
        </p:nvSpPr>
        <p:spPr>
          <a:xfrm>
            <a:off x="1810512" y="4307738"/>
            <a:ext cx="376732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you ____ (not / have) water, I ____ (bring) some.</a:t>
            </a:r>
            <a:endParaRPr lang="en-US" sz="1800" dirty="0"/>
          </a:p>
        </p:txBody>
      </p:sp>
      <p:sp>
        <p:nvSpPr>
          <p:cNvPr id="50" name="R4 ans"/>
          <p:cNvSpPr/>
          <p:nvPr/>
        </p:nvSpPr>
        <p:spPr>
          <a:xfrm>
            <a:off x="5650992" y="4406646"/>
            <a:ext cx="19202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have, 'll bring</a:t>
            </a:r>
            <a:endParaRPr lang="en-US" sz="1600" dirty="0" b="1"/>
          </a:p>
        </p:txBody>
      </p:sp>
      <p:sp>
        <p:nvSpPr>
          <p:cNvPr id="51" name="R5 card"/>
          <p:cNvSpPr/>
          <p:nvPr/>
        </p:nvSpPr>
        <p:spPr>
          <a:xfrm>
            <a:off x="1583741" y="5035906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" name="R5 chip"/>
          <p:cNvSpPr/>
          <p:nvPr/>
        </p:nvSpPr>
        <p:spPr>
          <a:xfrm>
            <a:off x="544982" y="5035906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3" name="R5 num"/>
          <p:cNvSpPr/>
          <p:nvPr/>
        </p:nvSpPr>
        <p:spPr>
          <a:xfrm>
            <a:off x="686714" y="5070805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</a:t>
            </a:r>
            <a:endParaRPr lang="en-US" sz="3200" dirty="0" b="1"/>
          </a:p>
        </p:txBody>
      </p:sp>
      <p:sp>
        <p:nvSpPr>
          <p:cNvPr id="54" name="R5 text"/>
          <p:cNvSpPr/>
          <p:nvPr/>
        </p:nvSpPr>
        <p:spPr>
          <a:xfrm>
            <a:off x="1810512" y="5035906"/>
            <a:ext cx="376732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it ____ (be) very hot, we ____ (go) to the library.</a:t>
            </a:r>
            <a:endParaRPr lang="en-US" sz="1800" dirty="0"/>
          </a:p>
        </p:txBody>
      </p:sp>
      <p:sp>
        <p:nvSpPr>
          <p:cNvPr id="55" name="R5 ans"/>
          <p:cNvSpPr/>
          <p:nvPr/>
        </p:nvSpPr>
        <p:spPr>
          <a:xfrm>
            <a:off x="5650992" y="5134813"/>
            <a:ext cx="19202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is, 'll go</a:t>
            </a:r>
            <a:endParaRPr lang="en-US" sz="1600" dirty="0" b="1"/>
          </a:p>
        </p:txBody>
      </p:sp>
      <p:sp>
        <p:nvSpPr>
          <p:cNvPr id="56" name="R6 card"/>
          <p:cNvSpPr/>
          <p:nvPr/>
        </p:nvSpPr>
        <p:spPr>
          <a:xfrm>
            <a:off x="1583741" y="5764073"/>
            <a:ext cx="6035040" cy="655015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" name="R6 chip"/>
          <p:cNvSpPr/>
          <p:nvPr/>
        </p:nvSpPr>
        <p:spPr>
          <a:xfrm>
            <a:off x="544982" y="5764073"/>
            <a:ext cx="1039673" cy="655015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8" name="R6 num"/>
          <p:cNvSpPr/>
          <p:nvPr/>
        </p:nvSpPr>
        <p:spPr>
          <a:xfrm>
            <a:off x="686714" y="5798972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6</a:t>
            </a:r>
            <a:endParaRPr lang="en-US" sz="3200" dirty="0" b="1"/>
          </a:p>
        </p:txBody>
      </p:sp>
      <p:sp>
        <p:nvSpPr>
          <p:cNvPr id="59" name="R6 text"/>
          <p:cNvSpPr/>
          <p:nvPr/>
        </p:nvSpPr>
        <p:spPr>
          <a:xfrm>
            <a:off x="1810512" y="5764073"/>
            <a:ext cx="3767328" cy="655015"/>
          </a:xfrm>
          <a:prstGeom prst="rect">
            <a:avLst/>
          </a:prstGeom>
          <a:noFill/>
          <a:ln/>
        </p:spPr>
        <p:txBody>
          <a:bodyPr wrap="square" rtlCol="0" anchor="ctr" tIns="0" bIns="0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____ you do if school ____ (close)?</a:t>
            </a:r>
            <a:endParaRPr lang="en-US" sz="1800" dirty="0"/>
          </a:p>
        </p:txBody>
      </p:sp>
      <p:sp>
        <p:nvSpPr>
          <p:cNvPr id="60" name="R6 ans"/>
          <p:cNvSpPr/>
          <p:nvPr/>
        </p:nvSpPr>
        <p:spPr>
          <a:xfrm>
            <a:off x="5650992" y="5862980"/>
            <a:ext cx="192024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will, closes</a:t>
            </a:r>
            <a:endParaRPr lang="en-US" sz="16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hoic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Practice B</a:t>
            </a:r>
            <a:endParaRPr lang="en-US" sz="4800" dirty="0" b="1"/>
          </a:p>
        </p:txBody>
      </p:sp>
      <p:sp>
        <p:nvSpPr>
          <p:cNvPr id="7" name="instr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Circle the right words.</a:t>
            </a:r>
            <a:endParaRPr lang="en-US" sz="2200" dirty="0"/>
          </a:p>
        </p:txBody>
      </p:sp>
      <p:sp>
        <p:nvSpPr>
          <p:cNvPr id="8" name="R1 stmt"/>
          <p:cNvSpPr/>
          <p:nvPr/>
        </p:nvSpPr>
        <p:spPr>
          <a:xfrm>
            <a:off x="502920" y="3108960"/>
            <a:ext cx="621792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If it ____, I'll stay home.</a:t>
            </a:r>
            <a:endParaRPr lang="en-US" sz="1800" dirty="0"/>
          </a:p>
        </p:txBody>
      </p:sp>
      <p:sp>
        <p:nvSpPr>
          <p:cNvPr id="9" name="R1 opt1"/>
          <p:cNvSpPr/>
          <p:nvPr/>
        </p:nvSpPr>
        <p:spPr>
          <a:xfrm>
            <a:off x="6903720" y="3108960"/>
            <a:ext cx="192024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rains</a:t>
            </a:r>
            <a:endParaRPr lang="en-US" sz="1500" dirty="0" b="1"/>
          </a:p>
        </p:txBody>
      </p:sp>
      <p:sp>
        <p:nvSpPr>
          <p:cNvPr id="10" name="R1 opt2"/>
          <p:cNvSpPr/>
          <p:nvPr/>
        </p:nvSpPr>
        <p:spPr>
          <a:xfrm>
            <a:off x="9052560" y="3108960"/>
            <a:ext cx="192024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will rain</a:t>
            </a:r>
            <a:endParaRPr lang="en-US" sz="1500" dirty="0" b="1"/>
          </a:p>
        </p:txBody>
      </p:sp>
      <p:sp>
        <p:nvSpPr>
          <p:cNvPr id="11" name="R1 circle"/>
          <p:cNvSpPr/>
          <p:nvPr/>
        </p:nvSpPr>
        <p:spPr>
          <a:xfrm>
            <a:off x="6775704" y="3054096"/>
            <a:ext cx="217627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2" name="R2 stmt"/>
          <p:cNvSpPr/>
          <p:nvPr/>
        </p:nvSpPr>
        <p:spPr>
          <a:xfrm>
            <a:off x="502920" y="3657600"/>
            <a:ext cx="621792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It will ____ tonight.</a:t>
            </a:r>
            <a:endParaRPr lang="en-US" sz="1800" dirty="0"/>
          </a:p>
        </p:txBody>
      </p:sp>
      <p:sp>
        <p:nvSpPr>
          <p:cNvPr id="13" name="R2 opt1"/>
          <p:cNvSpPr/>
          <p:nvPr/>
        </p:nvSpPr>
        <p:spPr>
          <a:xfrm>
            <a:off x="6903720" y="3657600"/>
            <a:ext cx="192024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probably rain</a:t>
            </a:r>
            <a:endParaRPr lang="en-US" sz="1500" dirty="0" b="1"/>
          </a:p>
        </p:txBody>
      </p:sp>
      <p:sp>
        <p:nvSpPr>
          <p:cNvPr id="14" name="R2 opt2"/>
          <p:cNvSpPr/>
          <p:nvPr/>
        </p:nvSpPr>
        <p:spPr>
          <a:xfrm>
            <a:off x="9052560" y="3657600"/>
            <a:ext cx="192024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rain probably</a:t>
            </a:r>
            <a:endParaRPr lang="en-US" sz="1500" dirty="0" b="1"/>
          </a:p>
        </p:txBody>
      </p:sp>
      <p:sp>
        <p:nvSpPr>
          <p:cNvPr id="15" name="R2 circle"/>
          <p:cNvSpPr/>
          <p:nvPr/>
        </p:nvSpPr>
        <p:spPr>
          <a:xfrm>
            <a:off x="6775704" y="3602736"/>
            <a:ext cx="217627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6" name="R3 stmt"/>
          <p:cNvSpPr/>
          <p:nvPr/>
        </p:nvSpPr>
        <p:spPr>
          <a:xfrm>
            <a:off x="502920" y="4206240"/>
            <a:ext cx="621792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It ____ snow.</a:t>
            </a:r>
            <a:endParaRPr lang="en-US" sz="1800" dirty="0"/>
          </a:p>
        </p:txBody>
      </p:sp>
      <p:sp>
        <p:nvSpPr>
          <p:cNvPr id="17" name="R3 opt1"/>
          <p:cNvSpPr/>
          <p:nvPr/>
        </p:nvSpPr>
        <p:spPr>
          <a:xfrm>
            <a:off x="6903720" y="4206240"/>
            <a:ext cx="192024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probably won't</a:t>
            </a:r>
            <a:endParaRPr lang="en-US" sz="1500" dirty="0" b="1"/>
          </a:p>
        </p:txBody>
      </p:sp>
      <p:sp>
        <p:nvSpPr>
          <p:cNvPr id="18" name="R3 opt2"/>
          <p:cNvSpPr/>
          <p:nvPr/>
        </p:nvSpPr>
        <p:spPr>
          <a:xfrm>
            <a:off x="9052560" y="4206240"/>
            <a:ext cx="192024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won't probably</a:t>
            </a:r>
            <a:endParaRPr lang="en-US" sz="1500" dirty="0" b="1"/>
          </a:p>
        </p:txBody>
      </p:sp>
      <p:sp>
        <p:nvSpPr>
          <p:cNvPr id="19" name="R3 circle"/>
          <p:cNvSpPr/>
          <p:nvPr/>
        </p:nvSpPr>
        <p:spPr>
          <a:xfrm>
            <a:off x="6775704" y="4151376"/>
            <a:ext cx="217627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0" name="R4 stmt"/>
          <p:cNvSpPr/>
          <p:nvPr/>
        </p:nvSpPr>
        <p:spPr>
          <a:xfrm>
            <a:off x="502920" y="4754880"/>
            <a:ext cx="621792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If ____, school will be closed.</a:t>
            </a:r>
            <a:endParaRPr lang="en-US" sz="1800" dirty="0"/>
          </a:p>
        </p:txBody>
      </p:sp>
      <p:sp>
        <p:nvSpPr>
          <p:cNvPr id="21" name="R4 opt1"/>
          <p:cNvSpPr/>
          <p:nvPr/>
        </p:nvSpPr>
        <p:spPr>
          <a:xfrm>
            <a:off x="6903720" y="4754880"/>
            <a:ext cx="192024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snows</a:t>
            </a:r>
            <a:endParaRPr lang="en-US" sz="1500" dirty="0" b="1"/>
          </a:p>
        </p:txBody>
      </p:sp>
      <p:sp>
        <p:nvSpPr>
          <p:cNvPr id="22" name="R4 opt2"/>
          <p:cNvSpPr/>
          <p:nvPr/>
        </p:nvSpPr>
        <p:spPr>
          <a:xfrm>
            <a:off x="9052560" y="4754880"/>
            <a:ext cx="192024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snows</a:t>
            </a:r>
            <a:endParaRPr lang="en-US" sz="1500" dirty="0" b="1"/>
          </a:p>
        </p:txBody>
      </p:sp>
      <p:sp>
        <p:nvSpPr>
          <p:cNvPr id="23" name="R4 circle"/>
          <p:cNvSpPr/>
          <p:nvPr/>
        </p:nvSpPr>
        <p:spPr>
          <a:xfrm>
            <a:off x="6775704" y="4700016"/>
            <a:ext cx="217627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R5 stmt"/>
          <p:cNvSpPr/>
          <p:nvPr/>
        </p:nvSpPr>
        <p:spPr>
          <a:xfrm>
            <a:off x="502920" y="5303520"/>
            <a:ext cx="621792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5. If the power goes out tonight, I ____ a flashlight.</a:t>
            </a:r>
            <a:endParaRPr lang="en-US" sz="1800" dirty="0"/>
          </a:p>
        </p:txBody>
      </p:sp>
      <p:sp>
        <p:nvSpPr>
          <p:cNvPr id="25" name="R5 opt1"/>
          <p:cNvSpPr/>
          <p:nvPr/>
        </p:nvSpPr>
        <p:spPr>
          <a:xfrm>
            <a:off x="6903720" y="5303520"/>
            <a:ext cx="192024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</a:t>
            </a:r>
            <a:endParaRPr lang="en-US" sz="1500" dirty="0" b="1"/>
          </a:p>
        </p:txBody>
      </p:sp>
      <p:sp>
        <p:nvSpPr>
          <p:cNvPr id="26" name="R5 opt2"/>
          <p:cNvSpPr/>
          <p:nvPr/>
        </p:nvSpPr>
        <p:spPr>
          <a:xfrm>
            <a:off x="9052560" y="5303520"/>
            <a:ext cx="192024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will use</a:t>
            </a:r>
            <a:endParaRPr lang="en-US" sz="1500" dirty="0" b="1"/>
          </a:p>
        </p:txBody>
      </p:sp>
      <p:sp>
        <p:nvSpPr>
          <p:cNvPr id="27" name="R5 circle"/>
          <p:cNvSpPr/>
          <p:nvPr/>
        </p:nvSpPr>
        <p:spPr>
          <a:xfrm>
            <a:off x="8924544" y="5248656"/>
            <a:ext cx="217627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8" name="R6 stmt"/>
          <p:cNvSpPr/>
          <p:nvPr/>
        </p:nvSpPr>
        <p:spPr>
          <a:xfrm>
            <a:off x="502920" y="5852160"/>
            <a:ext cx="6217920" cy="4754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6. You ____ keep water at home.</a:t>
            </a:r>
            <a:endParaRPr lang="en-US" sz="1800" dirty="0"/>
          </a:p>
        </p:txBody>
      </p:sp>
      <p:sp>
        <p:nvSpPr>
          <p:cNvPr id="29" name="R6 opt1"/>
          <p:cNvSpPr/>
          <p:nvPr/>
        </p:nvSpPr>
        <p:spPr>
          <a:xfrm>
            <a:off x="6903720" y="5852160"/>
            <a:ext cx="192024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should</a:t>
            </a:r>
            <a:endParaRPr lang="en-US" sz="1500" dirty="0" b="1"/>
          </a:p>
        </p:txBody>
      </p:sp>
      <p:sp>
        <p:nvSpPr>
          <p:cNvPr id="30" name="R6 opt2"/>
          <p:cNvSpPr/>
          <p:nvPr/>
        </p:nvSpPr>
        <p:spPr>
          <a:xfrm>
            <a:off x="9052560" y="5852160"/>
            <a:ext cx="1920240" cy="47548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15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should to</a:t>
            </a:r>
            <a:endParaRPr lang="en-US" sz="1500" dirty="0" b="1"/>
          </a:p>
        </p:txBody>
      </p:sp>
      <p:sp>
        <p:nvSpPr>
          <p:cNvPr id="31" name="R6 circle"/>
          <p:cNvSpPr/>
          <p:nvPr/>
        </p:nvSpPr>
        <p:spPr>
          <a:xfrm>
            <a:off x="6775704" y="5797296"/>
            <a:ext cx="2176272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mistake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442448" y="1188720"/>
            <a:ext cx="1691640" cy="13716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2020824"/>
            <a:ext cx="354330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2020824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457200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393192"/>
            <a:ext cx="7295083" cy="1143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1828800"/>
            <a:ext cx="3610966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1828800"/>
            <a:ext cx="5860390" cy="470916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itle"/>
          <p:cNvSpPr/>
          <p:nvPr/>
        </p:nvSpPr>
        <p:spPr>
          <a:xfrm>
            <a:off x="608076" y="45720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Common Mistakes</a:t>
            </a:r>
            <a:endParaRPr lang="en-US" sz="4300" dirty="0" b="1"/>
          </a:p>
        </p:txBody>
      </p:sp>
      <p:pic>
        <p:nvPicPr>
          <p:cNvPr id="21" name="pic" descr="Battery: two batteri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1325880"/>
            <a:ext cx="1554480" cy="1088136"/>
          </a:xfrm>
          <a:prstGeom prst="rect">
            <a:avLst/>
          </a:prstGeom>
        </p:spPr>
      </p:pic>
      <p:sp>
        <p:nvSpPr>
          <p:cNvPr id="22" name="Dont head"/>
          <p:cNvSpPr/>
          <p:nvPr/>
        </p:nvSpPr>
        <p:spPr>
          <a:xfrm>
            <a:off x="914400" y="1938528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23" name="Say head"/>
          <p:cNvSpPr/>
          <p:nvPr/>
        </p:nvSpPr>
        <p:spPr>
          <a:xfrm>
            <a:off x="4800600" y="1938528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24" name="Bad 1"/>
          <p:cNvSpPr/>
          <p:nvPr/>
        </p:nvSpPr>
        <p:spPr>
          <a:xfrm>
            <a:off x="914400" y="2468880"/>
            <a:ext cx="32461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it will rain, I'll stay home.</a:t>
            </a:r>
            <a:endParaRPr lang="en-US" sz="1700" dirty="0"/>
          </a:p>
        </p:txBody>
      </p:sp>
      <p:sp>
        <p:nvSpPr>
          <p:cNvPr id="25" name="Good 1"/>
          <p:cNvSpPr/>
          <p:nvPr/>
        </p:nvSpPr>
        <p:spPr>
          <a:xfrm>
            <a:off x="4800600" y="2468880"/>
            <a:ext cx="539496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it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rains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, I'll stay home.</a:t>
            </a:r>
            <a:endParaRPr lang="en-US" sz="1700" dirty="0" b="0"/>
          </a:p>
        </p:txBody>
      </p:sp>
      <p:sp>
        <p:nvSpPr>
          <p:cNvPr id="26" name="Bad 2"/>
          <p:cNvSpPr/>
          <p:nvPr/>
        </p:nvSpPr>
        <p:spPr>
          <a:xfrm>
            <a:off x="914400" y="3310128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rains, I'll take the bus.</a:t>
            </a:r>
            <a:endParaRPr lang="en-US" sz="1700" dirty="0"/>
          </a:p>
        </p:txBody>
      </p:sp>
      <p:sp>
        <p:nvSpPr>
          <p:cNvPr id="27" name="Good 2"/>
          <p:cNvSpPr/>
          <p:nvPr/>
        </p:nvSpPr>
        <p:spPr>
          <a:xfrm>
            <a:off x="4800600" y="3310128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rains, I'll take the bus.</a:t>
            </a:r>
            <a:endParaRPr lang="en-US" sz="1700" dirty="0" b="0"/>
          </a:p>
        </p:txBody>
      </p:sp>
      <p:sp>
        <p:nvSpPr>
          <p:cNvPr id="28" name="Bad 3"/>
          <p:cNvSpPr/>
          <p:nvPr/>
        </p:nvSpPr>
        <p:spPr>
          <a:xfrm>
            <a:off x="914400" y="3877056"/>
            <a:ext cx="32461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the power goes out, I use a flashlight. (tonight)</a:t>
            </a:r>
            <a:endParaRPr lang="en-US" sz="1700" dirty="0"/>
          </a:p>
        </p:txBody>
      </p:sp>
      <p:sp>
        <p:nvSpPr>
          <p:cNvPr id="29" name="Good 3"/>
          <p:cNvSpPr/>
          <p:nvPr/>
        </p:nvSpPr>
        <p:spPr>
          <a:xfrm>
            <a:off x="4800600" y="3877056"/>
            <a:ext cx="539496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the power goes out, I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'll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use a flashlight.</a:t>
            </a:r>
            <a:endParaRPr lang="en-US" sz="1700" dirty="0" b="0"/>
          </a:p>
        </p:txBody>
      </p:sp>
      <p:sp>
        <p:nvSpPr>
          <p:cNvPr id="30" name="Bad 4"/>
          <p:cNvSpPr/>
          <p:nvPr/>
        </p:nvSpPr>
        <p:spPr>
          <a:xfrm>
            <a:off x="914400" y="4718304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will rain probably.</a:t>
            </a:r>
            <a:endParaRPr lang="en-US" sz="1700" dirty="0"/>
          </a:p>
        </p:txBody>
      </p:sp>
      <p:sp>
        <p:nvSpPr>
          <p:cNvPr id="31" name="Good 4"/>
          <p:cNvSpPr/>
          <p:nvPr/>
        </p:nvSpPr>
        <p:spPr>
          <a:xfrm>
            <a:off x="4800600" y="4718304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will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probably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rain.</a:t>
            </a:r>
            <a:endParaRPr lang="en-US" sz="1700" dirty="0" b="0"/>
          </a:p>
        </p:txBody>
      </p:sp>
      <p:sp>
        <p:nvSpPr>
          <p:cNvPr id="32" name="Bad 5"/>
          <p:cNvSpPr/>
          <p:nvPr/>
        </p:nvSpPr>
        <p:spPr>
          <a:xfrm>
            <a:off x="914400" y="5285232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won't probably snow.</a:t>
            </a:r>
            <a:endParaRPr lang="en-US" sz="1700" dirty="0"/>
          </a:p>
        </p:txBody>
      </p:sp>
      <p:sp>
        <p:nvSpPr>
          <p:cNvPr id="33" name="Good 5"/>
          <p:cNvSpPr/>
          <p:nvPr/>
        </p:nvSpPr>
        <p:spPr>
          <a:xfrm>
            <a:off x="4800600" y="5285232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probably won't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snow.</a:t>
            </a:r>
            <a:endParaRPr lang="en-US" sz="1700" dirty="0" b="0"/>
          </a:p>
        </p:txBody>
      </p:sp>
      <p:sp>
        <p:nvSpPr>
          <p:cNvPr id="34" name="Bad 6"/>
          <p:cNvSpPr/>
          <p:nvPr/>
        </p:nvSpPr>
        <p:spPr>
          <a:xfrm>
            <a:off x="914400" y="5852160"/>
            <a:ext cx="32461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should to buy batteries.</a:t>
            </a:r>
            <a:endParaRPr lang="en-US" sz="1700" dirty="0"/>
          </a:p>
        </p:txBody>
      </p:sp>
      <p:sp>
        <p:nvSpPr>
          <p:cNvPr id="35" name="Good 6"/>
          <p:cNvSpPr/>
          <p:nvPr/>
        </p:nvSpPr>
        <p:spPr>
          <a:xfrm>
            <a:off x="4800600" y="5852160"/>
            <a:ext cx="5394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</a:t>
            </a: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should buy</a:t>
            </a: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batteries.</a:t>
            </a:r>
            <a:endParaRPr lang="en-US" sz="17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drill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pic>
        <p:nvPicPr>
          <p:cNvPr id="26" name="pic" descr="Heat wave: the sun, a thermometer, a hot fa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4739" y="3680460"/>
            <a:ext cx="3449901" cy="241493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560984" y="1342842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89788" y="1277417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771754" y="1417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 Drill</a:t>
            </a:r>
            <a:endParaRPr lang="en-US" sz="4000" dirty="0" b="1"/>
          </a:p>
        </p:txBody>
      </p:sp>
      <p:sp>
        <p:nvSpPr>
          <p:cNvPr id="7" name="Shape 5"/>
          <p:cNvSpPr/>
          <p:nvPr/>
        </p:nvSpPr>
        <p:spPr>
          <a:xfrm>
            <a:off x="6107278" y="138257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107278" y="3714292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035040" y="132588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172200" y="1946757"/>
            <a:ext cx="678485" cy="678485"/>
          </a:xfrm>
          <a:prstGeom prst="star32">
            <a:avLst>
              <a:gd name="adj" fmla="val 43755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172200" y="194675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2000" dirty="0"/>
          </a:p>
        </p:txBody>
      </p:sp>
      <p:sp>
        <p:nvSpPr>
          <p:cNvPr id="13" name="s1 label"/>
          <p:cNvSpPr/>
          <p:nvPr/>
        </p:nvSpPr>
        <p:spPr>
          <a:xfrm>
            <a:off x="6995160" y="15087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asks.</a:t>
            </a:r>
            <a:endParaRPr lang="en-US" sz="2200" dirty="0" b="1"/>
          </a:p>
        </p:txBody>
      </p:sp>
      <p:sp>
        <p:nvSpPr>
          <p:cNvPr id="14" name="Shape 12"/>
          <p:cNvSpPr/>
          <p:nvPr/>
        </p:nvSpPr>
        <p:spPr>
          <a:xfrm>
            <a:off x="6035040" y="3657600"/>
            <a:ext cx="5577840" cy="19202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172200" y="4278477"/>
            <a:ext cx="678485" cy="678485"/>
          </a:xfrm>
          <a:prstGeom prst="star32">
            <a:avLst>
              <a:gd name="adj" fmla="val 437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172200" y="4278477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s2 label"/>
          <p:cNvSpPr/>
          <p:nvPr/>
        </p:nvSpPr>
        <p:spPr>
          <a:xfrm>
            <a:off x="6995160" y="38404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answers.</a:t>
            </a:r>
            <a:endParaRPr lang="en-US" sz="2200" dirty="0" b="1"/>
          </a:p>
        </p:txBody>
      </p:sp>
      <p:sp>
        <p:nvSpPr>
          <p:cNvPr id="60" name="s1 body"/>
          <p:cNvSpPr/>
          <p:nvPr/>
        </p:nvSpPr>
        <p:spPr>
          <a:xfrm>
            <a:off x="6995160" y="21031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A: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What will you do if the bus doesn't come?</a:t>
            </a:r>
            <a:endParaRPr lang="en-US" sz="1900" dirty="0" b="0"/>
          </a:p>
          <a:p>
            <a:pPr algn="l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A: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…if it's very hot tomorrow?</a:t>
            </a:r>
            <a:endParaRPr lang="en-US" sz="1900" dirty="0" b="0"/>
          </a:p>
        </p:txBody>
      </p:sp>
      <p:sp>
        <p:nvSpPr>
          <p:cNvPr id="70" name="s2 body"/>
          <p:cNvSpPr/>
          <p:nvPr/>
        </p:nvSpPr>
        <p:spPr>
          <a:xfrm>
            <a:off x="6995160" y="44348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B:</a:t>
            </a:r>
            <a:r>
              <a:rPr lang="en-US" sz="19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If…, I'll….</a:t>
            </a:r>
            <a:endParaRPr lang="en-US" sz="1900" dirty="0" b="0"/>
          </a:p>
          <a:p>
            <a:pPr algn="l" indent="0" marL="0">
              <a:buNone/>
            </a:pPr>
            <a:r>
              <a:rPr lang="en-US" sz="1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switch roles.</a:t>
            </a:r>
            <a:endParaRPr lang="en-US" sz="1900" dirty="0" b="1"/>
          </a:p>
        </p:txBody>
      </p:sp>
      <p:sp>
        <p:nvSpPr>
          <p:cNvPr id="25" name="sub"/>
          <p:cNvSpPr/>
          <p:nvPr/>
        </p:nvSpPr>
        <p:spPr>
          <a:xfrm>
            <a:off x="771754" y="2148840"/>
            <a:ext cx="4572000" cy="685800"/>
          </a:xfrm>
          <a:prstGeom prst="rect">
            <a:avLst/>
          </a:prstGeom>
          <a:noFill/>
          <a:ln w="38100">
            <a:noFill/>
          </a:ln>
        </p:spPr>
        <p:txBody>
          <a:bodyPr wrap="square" lIns="91440" tIns="36576" rIns="9144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asks What will you do if…? B answers with If…, I'll…. Then switch.</a:t>
            </a:r>
            <a:endParaRPr lang="en-US" sz="2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Snowstorm: a snow cloud, snowflakes, a snowma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64" y="3418942"/>
            <a:ext cx="388228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If? Chain</a:t>
            </a:r>
            <a:endParaRPr lang="en-US" sz="26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Round 1: groups of 3–4.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 around the group.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7:00–7:12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Person 1 reads a start card.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it snows tomorrow, I'll stay home.</a:t>
            </a:r>
            <a:endParaRPr lang="en-US" sz="1700" dirty="0" b="0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Person 2 starts with the end.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I stay home, I'll cook soup.</a:t>
            </a:r>
            <a:endParaRPr lang="en-US" sz="1700" dirty="0" b="0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Keep going around the group.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I cook soup, I'll invite my neighbor.</a:t>
            </a:r>
            <a:endParaRPr lang="en-US" sz="17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talk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pic>
        <p:nvPicPr>
          <p:cNvPr id="18" name="pic" descr="Emergency kit: a red kit bag with a flashlight, batteries, water, a band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64" y="3418942"/>
            <a:ext cx="388228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head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Ready Plan</a:t>
            </a:r>
            <a:endParaRPr lang="en-US" sz="2600" dirty="0" b="1"/>
          </a:p>
        </p:txBody>
      </p:sp>
      <p:sp>
        <p:nvSpPr>
          <p:cNvPr id="8" name="grouping"/>
          <p:cNvSpPr/>
          <p:nvPr/>
        </p:nvSpPr>
        <p:spPr>
          <a:xfrm>
            <a:off x="6291072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Round 2: your group.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scenario card.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ime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7:00–7:12</a:t>
            </a:r>
            <a:endParaRPr lang="en-US" sz="2000" dirty="0" b="1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Choose one scenario.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big storm · A heat wave · A power outage</a:t>
            </a:r>
            <a:endParaRPr lang="en-US" sz="1700" dirty="0" b="0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4 sentences with If…, we'll….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the power goes out, we'll use flashlights.</a:t>
            </a:r>
            <a:endParaRPr lang="en-US" sz="1700" dirty="0" b="0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 5 things for your kit. Present.</a:t>
            </a:r>
            <a:endParaRPr lang="en-US" sz="1700" dirty="0" b="1"/>
          </a:p>
          <a:p>
            <a:pPr algn="l" indent="0" marL="0">
              <a:buNone/>
            </a:pPr>
            <a:r>
              <a:rPr lang="en-US" sz="1700" dirty="0" b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person presents the plan in 1 minute.</a:t>
            </a:r>
            <a:endParaRPr lang="en-US" sz="1700" dirty="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o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544982" y="786384"/>
            <a:ext cx="5486400" cy="5731459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47718" y="2196389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992270" y="1937614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itle"/>
          <p:cNvSpPr/>
          <p:nvPr/>
        </p:nvSpPr>
        <p:spPr>
          <a:xfrm>
            <a:off x="4343400" y="21031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Go  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7:12–7:17</a:t>
            </a:r>
            <a:endParaRPr lang="en-US" sz="4000" dirty="0"/>
          </a:p>
        </p:txBody>
      </p:sp>
      <p:pic>
        <p:nvPicPr>
          <p:cNvPr id="16" name="pic" descr="Read &amp; Write: a weather alert text: a drawn phone with an invented heat-wave alert message, a hot fa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4564" y="2651760"/>
            <a:ext cx="1642872" cy="2112264"/>
          </a:xfrm>
          <a:prstGeom prst="rect">
            <a:avLst/>
          </a:prstGeom>
        </p:spPr>
      </p:pic>
      <p:sp>
        <p:nvSpPr>
          <p:cNvPr id="17" name="Num 01"/>
          <p:cNvSpPr/>
          <p:nvPr/>
        </p:nvSpPr>
        <p:spPr>
          <a:xfrm>
            <a:off x="43434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000" dirty="0"/>
          </a:p>
        </p:txBody>
      </p:sp>
      <p:sp>
        <p:nvSpPr>
          <p:cNvPr id="18" name="Label 01"/>
          <p:cNvSpPr/>
          <p:nvPr/>
        </p:nvSpPr>
        <p:spPr>
          <a:xfrm>
            <a:off x="51206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Exit ticket</a:t>
            </a:r>
            <a:endParaRPr lang="en-US" sz="2200" dirty="0" b="1"/>
          </a:p>
        </p:txBody>
      </p:sp>
      <p:sp>
        <p:nvSpPr>
          <p:cNvPr id="19" name="Body 01"/>
          <p:cNvSpPr/>
          <p:nvPr/>
        </p:nvSpPr>
        <p:spPr>
          <a:xfrm>
            <a:off x="4343400" y="3520440"/>
            <a:ext cx="352044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two sentences:</a:t>
            </a:r>
            <a:endParaRPr lang="en-US" sz="17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One with If…, I'll….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A prediction with probably and because or so: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 will probably rain tomorrow, so I'll take my umbrella.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Give it to me at the door.</a:t>
            </a:r>
            <a:endParaRPr lang="en-US" sz="1700" dirty="0" b="0"/>
          </a:p>
        </p:txBody>
      </p:sp>
      <p:sp>
        <p:nvSpPr>
          <p:cNvPr id="20" name="Num 02"/>
          <p:cNvSpPr/>
          <p:nvPr/>
        </p:nvSpPr>
        <p:spPr>
          <a:xfrm>
            <a:off x="8001000" y="297180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000" dirty="0"/>
          </a:p>
        </p:txBody>
      </p:sp>
      <p:sp>
        <p:nvSpPr>
          <p:cNvPr id="21" name="Label 02"/>
          <p:cNvSpPr/>
          <p:nvPr/>
        </p:nvSpPr>
        <p:spPr>
          <a:xfrm>
            <a:off x="8778240" y="297180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2200" dirty="0" b="1"/>
          </a:p>
        </p:txBody>
      </p:sp>
      <p:sp>
        <p:nvSpPr>
          <p:cNvPr id="22" name="Body 02"/>
          <p:cNvSpPr/>
          <p:nvPr/>
        </p:nvSpPr>
        <p:spPr>
          <a:xfrm>
            <a:off x="8001000" y="3520440"/>
            <a:ext cx="3657600" cy="24688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About 15 minutes.</a:t>
            </a:r>
            <a:endParaRPr lang="en-US" sz="1700" dirty="0" b="1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Finish the sentences with I'll….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Write 3 predictions for tomorrow.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Ask: What will you do if the power goes out?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Review: 2 offers with I'll.</a:t>
            </a:r>
            <a:endParaRPr lang="en-US" sz="1700" dirty="0" b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7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Bring it next week!</a:t>
            </a:r>
            <a:endParaRPr lang="en-US" sz="1700" dirty="0" b="1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progress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26273" y="1165860"/>
            <a:ext cx="4132174" cy="51206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2" name="ican"/>
          <p:cNvSpPr/>
          <p:nvPr/>
        </p:nvSpPr>
        <p:spPr>
          <a:xfrm>
            <a:off x="8503920" y="1280160"/>
            <a:ext cx="3429000" cy="49377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D. I can…</a:t>
            </a:r>
            <a:endParaRPr lang="en-US" sz="2400" dirty="0" b="1"/>
          </a:p>
          <a:p>
            <a:pPr algn="ctr" indent="0" marL="0">
              <a:buNone/>
            </a:pPr>
            <a:r>
              <a:rPr lang="en-US" sz="32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😀   🙂   😐</a:t>
            </a:r>
            <a:endParaRPr lang="en-US" sz="3200" dirty="0" b="0"/>
          </a:p>
          <a:p>
            <a:pPr algn="ctr" indent="0" marL="0">
              <a:buNone/>
            </a:pPr>
            <a:r>
              <a:rPr lang="en-US" sz="18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 one face.</a:t>
            </a:r>
            <a:endParaRPr lang="en-US" sz="1800" dirty="0" b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understand a weather forecast.</a:t>
            </a:r>
            <a:endParaRPr lang="en-US" sz="1600" dirty="0" b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say what will happen if….</a:t>
            </a:r>
            <a:endParaRPr lang="en-US" sz="1600" dirty="0" b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make a simple emergency plan.</a:t>
            </a:r>
            <a:endParaRPr lang="en-US" sz="1600" dirty="0" b="0"/>
          </a:p>
          <a:p>
            <a:pPr algn="ctr" indent="0" marL="0">
              <a:spcBef>
                <a:spcPts val="900"/>
              </a:spcBef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can make predictions with probably and maybe.</a:t>
            </a:r>
            <a:endParaRPr lang="en-US" sz="1600" dirty="0" b="0"/>
          </a:p>
        </p:txBody>
      </p:sp>
      <p:sp>
        <p:nvSpPr>
          <p:cNvPr id="5" name="Shape 3"/>
          <p:cNvSpPr/>
          <p:nvPr/>
        </p:nvSpPr>
        <p:spPr>
          <a:xfrm flipH="1">
            <a:off x="501091" y="3255264"/>
            <a:ext cx="5577840" cy="325892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6400800" y="3263494"/>
            <a:ext cx="1828800" cy="325892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885322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821131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3063240"/>
            <a:ext cx="5669280" cy="325892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6537960" y="3063240"/>
            <a:ext cx="1828800" cy="3258921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itle"/>
          <p:cNvSpPr/>
          <p:nvPr/>
        </p:nvSpPr>
        <p:spPr>
          <a:xfrm>
            <a:off x="608076" y="118872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Progress Check   </a:t>
            </a:r>
            <a:r>
              <a:rPr lang="en-US" sz="2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7:25</a:t>
            </a:r>
            <a:endParaRPr lang="en-US" sz="4300" dirty="0"/>
          </a:p>
        </p:txBody>
      </p:sp>
      <p:sp>
        <p:nvSpPr>
          <p:cNvPr id="22" name="A head"/>
          <p:cNvSpPr/>
          <p:nvPr/>
        </p:nvSpPr>
        <p:spPr>
          <a:xfrm>
            <a:off x="914400" y="3246120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Listen to the teacher. Circle a or b.</a:t>
            </a:r>
            <a:endParaRPr lang="en-US" sz="1800" dirty="0" b="1"/>
          </a:p>
        </p:txBody>
      </p:sp>
      <p:sp>
        <p:nvSpPr>
          <p:cNvPr id="23" name="Ans head"/>
          <p:cNvSpPr/>
          <p:nvPr/>
        </p:nvSpPr>
        <p:spPr>
          <a:xfrm>
            <a:off x="6766560" y="3246120"/>
            <a:ext cx="155448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 b="1"/>
          </a:p>
        </p:txBody>
      </p:sp>
      <p:sp>
        <p:nvSpPr>
          <p:cNvPr id="63" name="Bad 1"/>
          <p:cNvSpPr/>
          <p:nvPr/>
        </p:nvSpPr>
        <p:spPr>
          <a:xfrm>
            <a:off x="868680" y="3840480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</a:t>
            </a: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stay home   b. go to work</a:t>
            </a:r>
            <a:endParaRPr lang="en-US" sz="1600" dirty="0" b="1"/>
          </a:p>
        </p:txBody>
      </p:sp>
      <p:sp>
        <p:nvSpPr>
          <p:cNvPr id="64" name="Good 1"/>
          <p:cNvSpPr/>
          <p:nvPr/>
        </p:nvSpPr>
        <p:spPr>
          <a:xfrm>
            <a:off x="6766560" y="3840480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</a:t>
            </a:r>
            <a:endParaRPr lang="en-US" sz="2000" dirty="0" b="1"/>
          </a:p>
        </p:txBody>
      </p:sp>
      <p:sp>
        <p:nvSpPr>
          <p:cNvPr id="65" name="Bad 2"/>
          <p:cNvSpPr/>
          <p:nvPr/>
        </p:nvSpPr>
        <p:spPr>
          <a:xfrm>
            <a:off x="868680" y="4407408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</a:t>
            </a: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It will probably rain.   b. It won't rain.</a:t>
            </a:r>
            <a:endParaRPr lang="en-US" sz="1600" dirty="0" b="1"/>
          </a:p>
        </p:txBody>
      </p:sp>
      <p:sp>
        <p:nvSpPr>
          <p:cNvPr id="66" name="Good 2"/>
          <p:cNvSpPr/>
          <p:nvPr/>
        </p:nvSpPr>
        <p:spPr>
          <a:xfrm>
            <a:off x="6766560" y="4407408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</a:t>
            </a:r>
            <a:endParaRPr lang="en-US" sz="2000" dirty="0" b="1"/>
          </a:p>
        </p:txBody>
      </p:sp>
      <p:sp>
        <p:nvSpPr>
          <p:cNvPr id="67" name="Bad 3"/>
          <p:cNvSpPr/>
          <p:nvPr/>
        </p:nvSpPr>
        <p:spPr>
          <a:xfrm>
            <a:off x="868680" y="4974336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</a:t>
            </a: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candles   b. flashlights</a:t>
            </a:r>
            <a:endParaRPr lang="en-US" sz="1600" dirty="0" b="1"/>
          </a:p>
        </p:txBody>
      </p:sp>
      <p:sp>
        <p:nvSpPr>
          <p:cNvPr id="68" name="Good 3"/>
          <p:cNvSpPr/>
          <p:nvPr/>
        </p:nvSpPr>
        <p:spPr>
          <a:xfrm>
            <a:off x="6766560" y="4974336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</a:t>
            </a:r>
            <a:endParaRPr lang="en-US" sz="2000" dirty="0" b="1"/>
          </a:p>
        </p:txBody>
      </p:sp>
      <p:sp>
        <p:nvSpPr>
          <p:cNvPr id="69" name="Bad 4"/>
          <p:cNvSpPr/>
          <p:nvPr/>
        </p:nvSpPr>
        <p:spPr>
          <a:xfrm>
            <a:off x="868680" y="5541264"/>
            <a:ext cx="544068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1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</a:t>
            </a: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a. It will be hot.   b. It probably won't be hot.</a:t>
            </a:r>
            <a:endParaRPr lang="en-US" sz="1600" dirty="0" b="1"/>
          </a:p>
        </p:txBody>
      </p:sp>
      <p:sp>
        <p:nvSpPr>
          <p:cNvPr id="70" name="Good 4"/>
          <p:cNvSpPr/>
          <p:nvPr/>
        </p:nvSpPr>
        <p:spPr>
          <a:xfrm>
            <a:off x="6766560" y="5541264"/>
            <a:ext cx="14630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</a:t>
            </a:r>
            <a:endParaRPr lang="en-US" sz="2000" dirty="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goodbye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pic>
        <p:nvPicPr>
          <p:cNvPr id="4" name="pic" descr="Flashlight: a flashlight with a light beam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lesson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6  ·  Level 3</a:t>
            </a:r>
            <a:endParaRPr lang="en-US" sz="2200" b="1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itle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Goodbye! See You Next Week!</a:t>
            </a:r>
            <a:endParaRPr lang="en-US" sz="4400" b="1" dirty="0"/>
          </a:p>
        </p:txBody>
      </p:sp>
      <p:sp>
        <p:nvSpPr>
          <p:cNvPr id="9" name="lead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Now you can:</a:t>
            </a:r>
            <a:endParaRPr lang="en-US" sz="2400" b="1" dirty="0"/>
          </a:p>
        </p:txBody>
      </p:sp>
      <p:sp>
        <p:nvSpPr>
          <p:cNvPr id="10" name="bullets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what will happen if…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Make predictions with probably / maybe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Make a simple Ready Plan</a:t>
            </a:r>
            <a:endParaRPr lang="en-US" sz="2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3:credits">
    <p:bg>
      <p:bgPr>
        <a:solidFill>
          <a:srgbClr val="C9B8F2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371600"/>
            <a:ext cx="12191695" cy="5486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8465" y="431597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50469" y="365760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itle"/>
          <p:cNvSpPr/>
          <p:nvPr/>
        </p:nvSpPr>
        <p:spPr>
          <a:xfrm>
            <a:off x="674827" y="640080"/>
            <a:ext cx="5120640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Credits</a:t>
            </a:r>
            <a:endParaRPr lang="en-US" sz="5400" dirty="0"/>
          </a:p>
        </p:txBody>
      </p:sp>
      <p:sp>
        <p:nvSpPr>
          <p:cNvPr id="15" name="pictures"/>
          <p:cNvSpPr/>
          <p:nvPr/>
        </p:nvSpPr>
        <p:spPr>
          <a:xfrm>
            <a:off x="411480" y="2240280"/>
            <a:ext cx="11365992" cy="22402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Pictures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Vocabulary pictures use Twemoji graphics by Twitter, Inc. and other contributors (https://github.com/jdecked/twemoji), licensed under CC BY 4.0 (https://creativecommons.org/licenses/by/4.0/). The graphics were resized and combined, and speech bubbles, signs, and labels were added.</a:t>
            </a:r>
            <a:endParaRPr lang="en-US" sz="1600" dirty="0" b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faces on the Progress Check are standard emoji characters shown with the computer's emoji font.</a:t>
            </a:r>
            <a:endParaRPr lang="en-US" sz="1600" dirty="0" b="0"/>
          </a:p>
        </p:txBody>
      </p:sp>
      <p:sp>
        <p:nvSpPr>
          <p:cNvPr id="16" name="names"/>
          <p:cNvSpPr/>
          <p:nvPr/>
        </p:nvSpPr>
        <p:spPr>
          <a:xfrm>
            <a:off x="411480" y="4709160"/>
            <a:ext cx="4206240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Names and story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Nadia and Ben are invented names. The listening story is invented.</a:t>
            </a:r>
            <a:endParaRPr lang="en-US" sz="1600" dirty="0" b="0"/>
          </a:p>
        </p:txBody>
      </p:sp>
      <p:sp>
        <p:nvSpPr>
          <p:cNvPr id="17" name="audio"/>
          <p:cNvSpPr/>
          <p:nvPr/>
        </p:nvSpPr>
        <p:spPr>
          <a:xfrm>
            <a:off x="4846320" y="4709160"/>
            <a:ext cx="6931152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and font</a:t>
            </a:r>
            <a:endParaRPr lang="en-US" sz="2000" dirty="0" b="1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synthetic voices made with Chatterbox TTS (MIT License), cloned from short synthetic reference clips made with Kokoro-82M (Apache License 2.0). No recordings of real people were used. Each file carries an inaudible Perth watermark marking it as AI-generated. Font: Lexend Deca (OFL 1.1).</a:t>
            </a:r>
            <a:endParaRPr lang="en-US" sz="1350" dirty="0" b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 b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© 2026 the authors. The authors license this deck under CC BY-NC-SA 4.0.</a:t>
            </a:r>
            <a:endParaRPr lang="en-US" sz="1350" dirty="0"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3 Lesson 6: Be Ready</dc:title>
  <dc:subject>PptxGenJS Presentation</dc:subject>
  <dc:creator>Level 1 ESL</dc:creator>
  <cp:lastModifiedBy>Level 1 ESL</cp:lastModifiedBy>
  <cp:revision>1</cp:revision>
  <dcterms:created xsi:type="dcterms:W3CDTF">2026-10-15T20:54:31Z</dcterms:created>
  <dcterms:modified xsi:type="dcterms:W3CDTF">2026-10-15T20:54:31Z</dcterms:modified>
</cp:coreProperties>
</file>