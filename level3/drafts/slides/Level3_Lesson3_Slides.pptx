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2" r:id="rId33"/>
    <p:sldId id="313" r:id="rId34"/>
    <p:sldId id="314" r:id="rId35"/>
    <p:sldId id="315" r:id="rId36"/>
    <p:sldId id="316" r:id="rId31"/>
    <p:sldId id="317" r:id="rId30"/>
    <p:sldId id="318" r:id="rId29"/>
    <p:sldId id="319" r:id="rId28"/>
    <p:sldId id="320" r:id="rId27"/>
    <p:sldId id="321" r:id="rId20"/>
    <p:sldId id="322" r:id="rId18"/>
    <p:sldId id="323" r:id="rId17"/>
    <p:sldId id="324" r:id="rId16"/>
    <p:sldId id="325" r:id="rId14"/>
    <p:sldId id="326" r:id="rId13"/>
    <p:sldId id="327" r:id="rId12"/>
    <p:sldId id="328" r:id="rId11"/>
    <p:sldId id="329" r:id="rId10"/>
    <p:sldId id="330" r:id="rId8"/>
    <p:sldId id="331" r:id="rId7"/>
    <p:sldId id="332" r:id="rId6"/>
    <p:sldId id="333" r:id="rId5"/>
    <p:sldId id="334" r:id="rId3"/>
    <p:sldId id="335" r:id="rId2"/>
    <p:sldId id="336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0.xml"/><Relationship Id="rId3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"Did you use to…?" and wait for a short answer.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Level3_Lesson3.md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check Then or Now. Then click to show the answer (one click per item, 1 to 4).</a:t>
            </a:r>
          </a:p>
          <a:p>
            <a:r>
              <a:t>Say: 1 "I used to live with my grandparents." (Then) • 2 "I usually take the bus to work." (Now) • 3 "We didn't use to have a car." (Then) • 4 "My children send me text messages." (Now)</a:t>
            </a:r>
          </a:p>
          <a:p>
            <a:r>
              <a:t>Parts B and C: learners do them alone. Walk around and help with the instructions only. B answers: 1 used to, 2 use to, 3 use to, 4 used to. C: answers will vary (for example I used to live in a village. / Now I live in a big city.).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then vs. now (A) and with used to / use to (B, C).</a:t>
            </a:r>
          </a:p>
          <a:p>
            <a:r>
              <a:t>Collect the pages (or check them at the start of Week 4). If behind: do the Progress Check in Week 4 at 6:00, while learners arrive.</a:t>
            </a:r>
          </a:p>
          <a:p>
            <a:r>
              <a:t>Source: Level3_Lesson3.md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used to or didn't use to, and one about now with because or so (I used to walk to work. Now I take the bus because I live far away.). Collect at the door.</a:t>
            </a:r>
          </a:p>
          <a:p>
            <a:r>
              <a:t>Homework: open the Homework page. Do item 1 together (one used to sentence on the board). Say: "About 15 minutes. Bring it next week."</a:t>
            </a:r>
          </a:p>
          <a:p>
            <a:r>
              <a:t>Homework items: 1 write 3 sentences about your childhood or a place you used to live; 2 write the sentence with used to, didn't use to, or Did… use to; 3 ask an older family member, a neighbor, or a friend What did you use to do when you were young? (2 answers + one follow-up); 4 review (Lesson 2): describe a friend (looks + personality).</a:t>
            </a:r>
          </a:p>
          <a:p>
            <a:r>
              <a:t>Read &amp; Write (7:17–7:25, on the Student Pages): a memory story ("My Childhood, by Marta"); questions 1–5; then 4 sentences about then and now.</a:t>
            </a:r>
          </a:p>
          <a:p>
            <a:r>
              <a:t>Source: Level3_Lesson3.md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Then and Now Mingle · 12 min. Mingle, then groups of 3. 15 or 7–8 learners: everyone stands. 5 or fewer: sit together and ask everyone.</a:t>
            </a:r>
          </a:p>
          <a:p>
            <a:r>
              <a:t>Round 1, mingle (7 min): learners take the "Then and Now" sheet. They walk and ask one classmate one question (Did you use to have a radio?). If the answer is Yes, they write the name, ask one follow-up (Where? Why?), and write a short answer. If No, they say thank you and ask another person. Try to get a different name for each line. (Each click shows the next step.)</a:t>
            </a:r>
          </a:p>
          <a:p>
            <a:r>
              <a:t>Find someone who… 1 used to have a radio • 2 used to walk far to school • 3 didn't use to cook • 4 used to live in a village or on a farm • 5 used to play a sport • 6 used to write letters • 7 used to have a different job • 8 didn't use to drink coffee.</a:t>
            </a:r>
          </a:p>
          <a:p>
            <a:r>
              <a:t>Model with one learner (1 min): "Did you use to walk far to school?" → "Yes, I did." → "Really? How far?" → "About one hour." Write the name and "1 hour."</a:t>
            </a:r>
          </a:p>
          <a:p>
            <a:r>
              <a:t>Round 2, groups of 3 (4 min): learners fill in 3 rows of the "My Then and Now Chart" (1 minute). Then each learner says 3 sentences comparing then and now (I used to live in a village. Now I live in a city.). Listeners ask one follow-up each.</a:t>
            </a:r>
          </a:p>
          <a:p>
            <a:r>
              <a:t>Baseline snapshot: finish the Lesson 1 baseline checklist with the last learners. If behind: the mingle only.</a:t>
            </a:r>
          </a:p>
          <a:p>
            <a:r>
              <a:t>Source: Level3_Lesson3.md (Step 5; Talk Time pages).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Did you use to…? with a word from the New Words page; B answers with a short answer and one more sentence. Switch.</a:t>
            </a:r>
          </a:p>
          <a:p>
            <a:r>
              <a:t>Model it with one learner first (the example is from the Talk Time page).</a:t>
            </a:r>
          </a:p>
          <a:p>
            <a:r>
              <a:t>If behind: skip the pair drill. Talk Time practices it.</a:t>
            </a:r>
          </a:p>
          <a:p>
            <a:r>
              <a:t>Source: Level3_Lesson3.md (Step 4: Pair drill; Talk Time page model).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1: the past = used to (with -d) • 2 and 3: after did / didn't, write use (no -d) • 4: the verb after used to has no -ed • 5: one time = simple past (went) • 6: now = usually + the simple present.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Level3_Lesson3.md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a habit, one time, or now. Pairs check.</a:t>
            </a:r>
          </a:p>
          <a:p>
            <a:r>
              <a:t>Click to circle each answer (one click per item, 1 to 4): 1 a habit, 2 one time, 3 a habit, 4 now.</a:t>
            </a:r>
          </a:p>
          <a:p>
            <a:r>
              <a:t>Source: Level3_Lesson3.md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used to, 2 didn't use to, 3 use to, 4 used to, 5 didn't use to, 6 use to.</a:t>
            </a:r>
          </a:p>
          <a:p>
            <a:r>
              <a:t>Source: Level3_Lesson3.md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a habit (used to), one time (went, took, ate), now (usually). Each click shows one example: habit, one time, now.</a:t>
            </a:r>
          </a:p>
          <a:p>
            <a:r>
              <a:t>used to = something that happened many times in the past and is not true now. If it happened one time, use the simple past (Last year I went to Texas).</a:t>
            </a:r>
          </a:p>
          <a:p>
            <a:r>
              <a:t>Check questions: "Last Saturday I ___ to the park." (went, one time) • "Now I ___ drive to work." (usually)</a:t>
            </a:r>
          </a:p>
          <a:p>
            <a:r>
              <a:t>Source: Level3_Lesson3.md (Step 4; Grammar Box 4; Teacher notes: What used to means, Now).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(3 min): read the THEN / NOW rows. A reads THEN; B reads NOW. Each click shows the NOW side of one row.</a:t>
            </a:r>
          </a:p>
          <a:p>
            <a:r>
              <a:t>For now, use the simple present with usually / every day: Now I usually drive. Learners sometimes say I use to drive for now; say "Now you usually drive."</a:t>
            </a:r>
          </a:p>
          <a:p>
            <a:r>
              <a:t>Source: Level3_Lesson3.md (Step 4; Grammar Box 3; Teacher notes: Now).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(3 min): questions and short answers: Did you use to…? → Yes, I did. / No, I didn't.</a:t>
            </a:r>
          </a:p>
          <a:p>
            <a:r>
              <a:t>Point to use (no -d) after did and didn't. Each click shows the answer side of one row.</a:t>
            </a:r>
          </a:p>
          <a:p>
            <a:r>
              <a:t>Check questions: "I ___ live in a village." (used to) • "Did you ___ walk to school?" (use to)</a:t>
            </a:r>
          </a:p>
          <a:p>
            <a:r>
              <a:t>Source: Level3_Lesson3.md (Step 4; Grammar Box 2).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19). Whole class, then pairs. Show the Grammar page. The left side is the question. The right side is the answer.</a:t>
            </a:r>
          </a:p>
          <a:p>
            <a:r>
              <a:t>Draw a timeline on the board: THEN on the left, NOW on the right. Many small marks on the THEN side: I used to walk to school (many times). On the NOW side: Now I drive.</a:t>
            </a:r>
          </a:p>
          <a:p>
            <a:r>
              <a:t>Box 1 (3 min): read a question from the left; the class answers from the right. Each click shows the answer side of one row. Then ask learners: "What did you use to do after school?"</a:t>
            </a:r>
          </a:p>
          <a:p>
            <a:r>
              <a:t>Source: Level3_Lesson3.md (Step 4; Grammar Box 1; Teacher notes: What used to means).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"used to sounds like yoos-tuh."</a:t>
            </a:r>
          </a:p>
          <a:p>
            <a:r>
              <a:t>Read the line in the "Say it" box (We used to live on a farm.), then Did you use to walk? and I didn't use to have a TV. The class repeats each line twice.</a:t>
            </a:r>
          </a:p>
          <a:p>
            <a:r>
              <a:t>Point out that used to and use to sound the same.</a:t>
            </a:r>
          </a:p>
          <a:p>
            <a:r>
              <a:t>Source: Level3_Lesson3.md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(same play 2 as Task B). Learners write used to or use to. Pairs compare.</a:t>
            </a:r>
          </a:p>
          <a:p>
            <a:r>
              <a:t>Click to show each answer (one click per item, 1 to 6): 1 used to, 2 use to, 3 used to, 4 use to, 5 use to, 6 used to.</a:t>
            </a:r>
          </a:p>
          <a:p>
            <a:r>
              <a:t>After did and didn't, write use (no -d). They sound the same, so this is a spelling point. Don't spend a lot of time on it.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Level3_Lesson3.md (Step 3; Listening Task C; Answer key;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8): 1 ✓ feed the animals, 2 ✓ walk to school, 3 ✓ climb trees, 4 ✓ swim in the river, 5 ✗ watch TV, 6 ✓ listen to the radio, 7 ✓ write letters, 8 ✗ talk on a landline phone. (6 checks.)</a:t>
            </a:r>
          </a:p>
          <a:p>
            <a:r>
              <a:t>Source: Level3_Lesson3.md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A. Then (her childhood) or now? Pairs compare. Check together.</a:t>
            </a:r>
          </a:p>
          <a:p>
            <a:r>
              <a:t>Click to circle each answer (one click per item, 1 to 4): 1 Then, 2 Then, 3 Now, 4 Then.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Level3_Lesson3.md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old photo and say: "This is Daniel. This is his mother, Teresa. They're looking at an old photo of Teresa's childhood. Where did she live? Listen."</a:t>
            </a:r>
          </a:p>
          <a:p>
            <a:r>
              <a:t>There are three voices: a Narrator, Daniel, and Teresa. Each click highlights the next voice.</a:t>
            </a:r>
          </a:p>
          <a:p>
            <a:r>
              <a:t>The audio (L3_L3_listening.mp3, about 1:20)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L3_L3_listening.mp3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Level3_Lesson3.md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village big or small?" (small) • 2. "Are chores fun or work?" (work: cleaning, cooking, washing) • 3. "Is your childhood now or in the past?" (in the past)</a:t>
            </a:r>
          </a:p>
          <a:p>
            <a:r>
              <a:t>Source: Level3_Lesson3.md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 Act out feed the animals and jump rope (turn a rope and jump).</a:t>
            </a:r>
          </a:p>
          <a:p>
            <a:r>
              <a:t>Then / now: point to the last picture. Say: "Then, people listened to the radio. Now, we use a phone." Make two columns on the board: THEN and NOW. Learners say where radio, letter, landline phone, text message go.</a:t>
            </a:r>
          </a:p>
          <a:p>
            <a:r>
              <a:t>Partner game (2 min): A says a word. B points to the picture and makes a sentence (A: radio. B: My grandfather used to listen to the radio. / My grandmother had a farm.). Switch.</a:t>
            </a:r>
          </a:p>
          <a:p>
            <a:r>
              <a:t>If behind: teach the ★ words only.</a:t>
            </a:r>
          </a:p>
          <a:p>
            <a:r>
              <a:t>Source: Level3_Lesson3.md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Act out climb trees (climb with your arms) and feed the animals (on the next slide: throw corn to chickens).</a:t>
            </a:r>
          </a:p>
          <a:p>
            <a:r>
              <a:t>If behind: teach the ★ words only.</a:t>
            </a:r>
          </a:p>
          <a:p>
            <a:r>
              <a:t>Source: Level3_Lesson3.md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"When I was young." Say: "Tonight we talk about life in the past and how things have changed."</a:t>
            </a:r>
          </a:p>
          <a:p>
            <a:r>
              <a:t>Read the three lines under "Today you will". Give one quick example of each: "I used to help on the farm." • "Did you use to walk to school?" • "I used to write letters. Now I send text messages."</a:t>
            </a:r>
          </a:p>
          <a:p>
            <a:r>
              <a:t>Choice and comfort: learners choose what to share. "A place I used to live," "a job I used to have," or an invented story are always OK.</a:t>
            </a:r>
          </a:p>
          <a:p>
            <a:r>
              <a:t>Source: Level3_Lesson3.md (Topic; At a glance: Objectives; Teacher notes: Choice and comfort).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used to (I used to help on the farm.). Goal 2: didn't use to (I didn't use to drink coffee.). Goal 3: Did you use to…? → Yes, I did. / No, I didn't.</a:t>
            </a:r>
          </a:p>
          <a:p>
            <a:r>
              <a:t>Goal 4: then and now (I used to write letters. Now I send text messages.). Goal 5: a past habit (used to), one time in the past (simple past), and now (simple present). Goal 6: read a short memory story and write 4 sentences about then and now.</a:t>
            </a:r>
          </a:p>
          <a:p>
            <a:r>
              <a:t>"We check at 7:25" = the Progress Check. It is not a test grade.</a:t>
            </a:r>
          </a:p>
          <a:p>
            <a:r>
              <a:t>Source: Level3_Lesson3.md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Pairs, the same partner for both parts. 15 learners: 7 pairs + 1 group of 3. 7–8 learners: 3–4 pairs.</a:t>
            </a:r>
          </a:p>
          <a:p>
            <a:r>
              <a:t>Before class, write on the board: What does he / she look like? What's he / she like?</a:t>
            </a:r>
          </a:p>
          <a:p>
            <a:r>
              <a:t>Model with one learner: "Tell me about your best friend. What's she like?" → (answer) → "Really? What does she look like?"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Late arrivals join any pair as a group of 3. If behind: one card only, then the homework check.</a:t>
            </a:r>
          </a:p>
          <a:p>
            <a:r>
              <a:t>Source: Level3_Lesson3.md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2 Homework item 1 (the person they described) to each other. The partner asks one question about the person. Walk around. Write 2 common errors on the board (often long hairs or What does she like?) and correct them together.</a:t>
            </a:r>
          </a:p>
          <a:p>
            <a:r>
              <a:t>Source: Level3_Lesson3.md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L3_L3_listening.mp3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Level3_Lesson3.md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notesSlide" Target="../notesSlides/notesSlide2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notesSlide" Target="../notesSlides/notesSlide2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5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hildhood: a child, an arrow, an adult; the child is circled, label &quot;childhood = when you were a child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Young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choose what to share.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help on the farm.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20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20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habit, one time, or now.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then and 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61642"/>
            <a:ext cx="4754880" cy="2662733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she like?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What does she look like?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What does he / she look like? What's he / she like? What about you?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he / she like?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your neighbor look like?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funniest person in your family?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a coworker or a classmate. Is he / she friendly?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2,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childhood</a:t>
            </a:r>
            <a:endParaRPr lang="en-US" sz="2000" dirty="0" b="1"/>
          </a:p>
        </p:txBody>
      </p:sp>
      <p:pic>
        <p:nvPicPr>
          <p:cNvPr id="19" name="Word picture 2" descr="Village: small houses and trees, label &quot;a small village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village</a:t>
            </a:r>
            <a:endParaRPr lang="en-US" sz="2000" dirty="0" b="1"/>
          </a:p>
        </p:txBody>
      </p:sp>
      <p:pic>
        <p:nvPicPr>
          <p:cNvPr id="21" name="Word picture 3" descr="Farm: a tractor, a cow and a sheaf of rice/grain, lab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farm</a:t>
            </a:r>
            <a:endParaRPr lang="en-US" sz="2000" dirty="0" b="1"/>
          </a:p>
        </p:txBody>
      </p:sp>
      <p:pic>
        <p:nvPicPr>
          <p:cNvPr id="23" name="Word picture 4" descr="River: a blue river with two trees and a small bo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river</a:t>
            </a:r>
            <a:endParaRPr lang="en-US" sz="2000" dirty="0" b="1"/>
          </a:p>
        </p:txBody>
      </p:sp>
      <p:pic>
        <p:nvPicPr>
          <p:cNvPr id="25" name="Word picture 5" descr="Climb trees: a child climbs a big tree and holds a branch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climb trees</a:t>
            </a:r>
            <a:endParaRPr lang="en-US" sz="2000" dirty="0" b="1"/>
          </a:p>
        </p:txBody>
      </p:sp>
      <p:pic>
        <p:nvPicPr>
          <p:cNvPr id="27" name="Word picture 6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chores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Feed the animals: a farmer, corn, a chicken and a pig, lab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feed the animals</a:t>
            </a:r>
            <a:endParaRPr lang="en-US" sz="1800" dirty="0" b="1"/>
          </a:p>
        </p:txBody>
      </p:sp>
      <p:pic>
        <p:nvPicPr>
          <p:cNvPr id="19" name="Word picture 2" descr="Radio: an old radio + music notes, lab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radio</a:t>
            </a:r>
            <a:endParaRPr lang="en-US" sz="2000" dirty="0" b="1"/>
          </a:p>
        </p:txBody>
      </p:sp>
      <p:pic>
        <p:nvPicPr>
          <p:cNvPr id="21" name="Word picture 3" descr="Letter (mail): an envelope + a mailbox, label &quot;a letter (mail)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letter (mail)</a:t>
            </a:r>
            <a:endParaRPr lang="en-US" sz="2000" dirty="0" b="1"/>
          </a:p>
        </p:txBody>
      </p:sp>
      <p:pic>
        <p:nvPicPr>
          <p:cNvPr id="23" name="Word picture 4" descr="Landline phone: a telephone with a cord, label, &quot;at home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landline phone</a:t>
            </a:r>
            <a:endParaRPr lang="en-US" sz="2000" dirty="0" b="1"/>
          </a:p>
        </p:txBody>
      </p:sp>
      <p:pic>
        <p:nvPicPr>
          <p:cNvPr id="25" name="Word picture 5" descr="Jump rope: a girl inside a turning jump rope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jump rope</a:t>
            </a:r>
            <a:endParaRPr lang="en-US" sz="2000" dirty="0" b="1"/>
          </a:p>
        </p:txBody>
      </p:sp>
      <p:pic>
        <p:nvPicPr>
          <p:cNvPr id="27" name="Word picture 6" descr="Then / now: THEN: radio and letter | NOW: phone and laptop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/ 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village big or small?</a:t>
            </a:r>
            <a:endParaRPr lang="en-US" sz="1800" dirty="0" b="1"/>
          </a:p>
        </p:txBody>
      </p:sp>
      <p:pic>
        <p:nvPicPr>
          <p:cNvPr id="101" name="R1 pic" descr="Village: small houses and trees, label &quot;a small village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chores fun or work?</a:t>
            </a:r>
            <a:endParaRPr lang="en-US" sz="1800" dirty="0" b="1"/>
          </a:p>
        </p:txBody>
      </p:sp>
      <p:pic>
        <p:nvPicPr>
          <p:cNvPr id="102" name="R2 pic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childhood now or in the past?</a:t>
            </a:r>
            <a:endParaRPr lang="en-US" sz="1800" dirty="0" b="1"/>
          </a:p>
        </p:txBody>
      </p:sp>
      <p:pic>
        <p:nvPicPr>
          <p:cNvPr id="103" name="R3 pic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past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his mother, Teresa, are looking at an old photo of Teresa's childhood.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615184"/>
            <a:ext cx="2743200" cy="1536192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Teresa live?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or now?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Teresa: then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Then or Now.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lives on a farm</a:t>
            </a:r>
            <a:endParaRPr lang="en-US" sz="2200" dirty="0"/>
          </a:p>
        </p:txBody>
      </p:sp>
      <p:sp>
        <p:nvSpPr>
          <p:cNvPr id="9" name="R1 opt1"/>
          <p:cNvSpPr/>
          <p:nvPr/>
        </p:nvSpPr>
        <p:spPr>
          <a:xfrm>
            <a:off x="786384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960120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7735824" y="3054096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913632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walks to school for an hour</a:t>
            </a:r>
            <a:endParaRPr lang="en-US" sz="2200" dirty="0"/>
          </a:p>
        </p:txBody>
      </p:sp>
      <p:sp>
        <p:nvSpPr>
          <p:cNvPr id="13" name="R2 opt1"/>
          <p:cNvSpPr/>
          <p:nvPr/>
        </p:nvSpPr>
        <p:spPr>
          <a:xfrm>
            <a:off x="786384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960120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7735824" y="3858768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718304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sends text messages</a:t>
            </a:r>
            <a:endParaRPr lang="en-US" sz="2200" dirty="0"/>
          </a:p>
        </p:txBody>
      </p:sp>
      <p:sp>
        <p:nvSpPr>
          <p:cNvPr id="17" name="R3 opt1"/>
          <p:cNvSpPr/>
          <p:nvPr/>
        </p:nvSpPr>
        <p:spPr>
          <a:xfrm>
            <a:off x="786384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960120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473184" y="4663440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522976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writes letters to her aunt</a:t>
            </a:r>
            <a:endParaRPr lang="en-US" sz="2200" dirty="0"/>
          </a:p>
        </p:txBody>
      </p:sp>
      <p:sp>
        <p:nvSpPr>
          <p:cNvPr id="21" name="R4 opt1"/>
          <p:cNvSpPr/>
          <p:nvPr/>
        </p:nvSpPr>
        <p:spPr>
          <a:xfrm>
            <a:off x="786384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960120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7735824" y="5468112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did Teresa use to do?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 things she used to do.</a:t>
            </a:r>
            <a:endParaRPr lang="en-US" sz="20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feed the animals</a:t>
            </a:r>
            <a:endParaRPr lang="en-US" sz="18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5204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 to school</a:t>
            </a:r>
            <a:endParaRPr lang="en-US" sz="1800" dirty="0"/>
          </a:p>
        </p:txBody>
      </p:sp>
      <p:sp>
        <p:nvSpPr>
          <p:cNvPr id="13" name="R2 opt1"/>
          <p:cNvSpPr/>
          <p:nvPr/>
        </p:nvSpPr>
        <p:spPr>
          <a:xfrm>
            <a:off x="877824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8650224" y="34655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39319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climb trees</a:t>
            </a:r>
            <a:endParaRPr lang="en-US" sz="1800" dirty="0"/>
          </a:p>
        </p:txBody>
      </p:sp>
      <p:sp>
        <p:nvSpPr>
          <p:cNvPr id="17" name="R3 opt1"/>
          <p:cNvSpPr/>
          <p:nvPr/>
        </p:nvSpPr>
        <p:spPr>
          <a:xfrm>
            <a:off x="877824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8650224" y="38770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34340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swim in the river</a:t>
            </a:r>
            <a:endParaRPr lang="en-US" sz="1800" dirty="0"/>
          </a:p>
        </p:txBody>
      </p:sp>
      <p:sp>
        <p:nvSpPr>
          <p:cNvPr id="21" name="R4 opt1"/>
          <p:cNvSpPr/>
          <p:nvPr/>
        </p:nvSpPr>
        <p:spPr>
          <a:xfrm>
            <a:off x="877824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8650224" y="428853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475488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watch TV</a:t>
            </a:r>
            <a:endParaRPr lang="en-US" sz="1800" dirty="0"/>
          </a:p>
        </p:txBody>
      </p:sp>
      <p:sp>
        <p:nvSpPr>
          <p:cNvPr id="25" name="R5 opt1"/>
          <p:cNvSpPr/>
          <p:nvPr/>
        </p:nvSpPr>
        <p:spPr>
          <a:xfrm>
            <a:off x="877824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470001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1663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listen to the radio</a:t>
            </a:r>
            <a:endParaRPr lang="en-US" sz="1800" dirty="0"/>
          </a:p>
        </p:txBody>
      </p:sp>
      <p:sp>
        <p:nvSpPr>
          <p:cNvPr id="29" name="R6 opt1"/>
          <p:cNvSpPr/>
          <p:nvPr/>
        </p:nvSpPr>
        <p:spPr>
          <a:xfrm>
            <a:off x="877824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1005840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8650224" y="51114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R7 stmt"/>
          <p:cNvSpPr/>
          <p:nvPr/>
        </p:nvSpPr>
        <p:spPr>
          <a:xfrm>
            <a:off x="502920" y="55778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7. write letters</a:t>
            </a:r>
            <a:endParaRPr lang="en-US" sz="1800" dirty="0"/>
          </a:p>
        </p:txBody>
      </p:sp>
      <p:sp>
        <p:nvSpPr>
          <p:cNvPr id="33" name="R7 opt1"/>
          <p:cNvSpPr/>
          <p:nvPr/>
        </p:nvSpPr>
        <p:spPr>
          <a:xfrm>
            <a:off x="877824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4" name="R7 opt2"/>
          <p:cNvSpPr/>
          <p:nvPr/>
        </p:nvSpPr>
        <p:spPr>
          <a:xfrm>
            <a:off x="1005840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5" name="R7 circle"/>
          <p:cNvSpPr/>
          <p:nvPr/>
        </p:nvSpPr>
        <p:spPr>
          <a:xfrm>
            <a:off x="8650224" y="55229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R8 stmt"/>
          <p:cNvSpPr/>
          <p:nvPr/>
        </p:nvSpPr>
        <p:spPr>
          <a:xfrm>
            <a:off x="502920" y="59893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8. talk on a landline phone</a:t>
            </a:r>
            <a:endParaRPr lang="en-US" sz="1800" dirty="0"/>
          </a:p>
        </p:txBody>
      </p:sp>
      <p:sp>
        <p:nvSpPr>
          <p:cNvPr id="37" name="R8 opt1"/>
          <p:cNvSpPr/>
          <p:nvPr/>
        </p:nvSpPr>
        <p:spPr>
          <a:xfrm>
            <a:off x="877824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8" name="R8 opt2"/>
          <p:cNvSpPr/>
          <p:nvPr/>
        </p:nvSpPr>
        <p:spPr>
          <a:xfrm>
            <a:off x="1005840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9" name="R8 circle"/>
          <p:cNvSpPr/>
          <p:nvPr/>
        </p:nvSpPr>
        <p:spPr>
          <a:xfrm>
            <a:off x="9930384" y="59344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 or use to.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live in a small village.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971032" y="222214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help on the farm?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971032" y="2950312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morning, I ____ feed the animals before school.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971032" y="3678479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walk to school?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971032" y="4406646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didn't ____ have a TV.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971032" y="5134813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write letters to my aunt in the city.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971032" y="5862980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used to = "yoos-tuh"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use to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sound the same.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used to live on a farm.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walk?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TV.</a:t>
            </a:r>
            <a:endParaRPr lang="en-US" sz="24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arm: a tractor, a cow and a sheaf of rice/grain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do?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many times in the past, not now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do after school? / on weekends?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help on the farm. / play soccer. / do chores.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/ he use to do in the evening? / in the summer?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listen to the radio. / swim in the river.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</a:t>
            </a:r>
            <a:endParaRPr lang="en-US" sz="22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live? / work?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 / work on a farm.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to…?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869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 / climb trees?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8869680" y="228600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869680" y="228600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family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radio? / have a TV?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8869680" y="347472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869680" y="347472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= used to  ·  NOW = simple present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(used to / didn't use to)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(simple present)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write letters.</a:t>
            </a:r>
            <a:endParaRPr lang="en-US" sz="18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text messages.</a:t>
            </a:r>
            <a:endParaRPr lang="en-US" sz="17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8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590288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every day.</a:t>
            </a:r>
            <a:endParaRPr lang="en-US" sz="17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</a:t>
            </a:r>
            <a:endParaRPr lang="en-US" sz="18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202936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we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city.</a:t>
            </a:r>
            <a:endParaRPr lang="en-US" sz="1700" dirty="0" b="1"/>
          </a:p>
        </p:txBody>
      </p:sp>
      <p:sp>
        <p:nvSpPr>
          <p:cNvPr id="30" name="Question 4"/>
          <p:cNvSpPr/>
          <p:nvPr/>
        </p:nvSpPr>
        <p:spPr>
          <a:xfrm>
            <a:off x="1481328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very shy.</a:t>
            </a:r>
            <a:endParaRPr lang="en-US" sz="1800" dirty="0"/>
          </a:p>
        </p:txBody>
      </p:sp>
      <p:sp>
        <p:nvSpPr>
          <p:cNvPr id="31" name="Answer bg 4"/>
          <p:cNvSpPr/>
          <p:nvPr/>
        </p:nvSpPr>
        <p:spPr>
          <a:xfrm>
            <a:off x="6949440" y="5815584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4"/>
          <p:cNvSpPr/>
          <p:nvPr/>
        </p:nvSpPr>
        <p:spPr>
          <a:xfrm>
            <a:off x="6949440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she's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friendly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fre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9496" y="1360627"/>
            <a:ext cx="2377440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81985"/>
            <a:ext cx="2176272" cy="152339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410712" y="4619549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37560" y="4572000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46120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"/>
          <p:cNvSpPr/>
          <p:nvPr/>
        </p:nvSpPr>
        <p:spPr>
          <a:xfrm>
            <a:off x="361188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3200" dirty="0" b="1"/>
          </a:p>
        </p:txBody>
      </p:sp>
      <p:sp>
        <p:nvSpPr>
          <p:cNvPr id="9" name="line1"/>
          <p:cNvSpPr/>
          <p:nvPr/>
        </p:nvSpPr>
        <p:spPr>
          <a:xfrm>
            <a:off x="352044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(many times)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1700" dirty="0" b="1"/>
          </a:p>
        </p:txBody>
      </p:sp>
      <p:sp>
        <p:nvSpPr>
          <p:cNvPr id="10" name="ex1"/>
          <p:cNvSpPr/>
          <p:nvPr/>
        </p:nvSpPr>
        <p:spPr>
          <a:xfrm>
            <a:off x="352044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 day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took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I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0"/>
          </a:p>
        </p:txBody>
      </p:sp>
      <p:sp>
        <p:nvSpPr>
          <p:cNvPr id="11" name="line2"/>
          <p:cNvSpPr/>
          <p:nvPr/>
        </p:nvSpPr>
        <p:spPr>
          <a:xfrm>
            <a:off x="35204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Another example:</a:t>
            </a:r>
            <a:endParaRPr lang="en-US" sz="1700" dirty="0" b="1"/>
          </a:p>
        </p:txBody>
      </p:sp>
      <p:sp>
        <p:nvSpPr>
          <p:cNvPr id="12" name="ex2"/>
          <p:cNvSpPr/>
          <p:nvPr/>
        </p:nvSpPr>
        <p:spPr>
          <a:xfrm>
            <a:off x="3520440" y="51937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eat dinner at 8:00.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Last night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6:00.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we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7:00.</a:t>
            </a:r>
            <a:endParaRPr lang="en-US" sz="1700" dirty="0" b="0"/>
          </a:p>
        </p:txBody>
      </p:sp>
      <p:sp>
        <p:nvSpPr>
          <p:cNvPr id="13" name="side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many times</a:t>
            </a:r>
            <a:endParaRPr lang="en-US" sz="2600" dirty="0" b="1"/>
          </a:p>
        </p:txBody>
      </p:sp>
      <p:sp>
        <p:nvSpPr>
          <p:cNvPr id="17" name="side2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now</a:t>
            </a:r>
            <a:endParaRPr lang="en-US" sz="2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 ·  use to  ·  didn't use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to, use to, or didn't use to.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a child, I ____ climb trees every day.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742432" y="2222144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no TV. We ____ watch TV at night.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742432" y="2950312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your grandparents ____ have a farm?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742432" y="3678479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mother ____ make bread every morning.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742432" y="4406646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like coffee, but now I love it!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742432" y="5134813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write letters?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742432" y="5862980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used to swim in the river.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612648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781812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1" name="R1 opt3"/>
          <p:cNvSpPr/>
          <p:nvPr/>
        </p:nvSpPr>
        <p:spPr>
          <a:xfrm>
            <a:off x="950976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2" name="R1 circle"/>
          <p:cNvSpPr/>
          <p:nvPr/>
        </p:nvSpPr>
        <p:spPr>
          <a:xfrm>
            <a:off x="5998464" y="3054096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Last Sunday I went to the river.</a:t>
            </a:r>
            <a:endParaRPr lang="en-US" sz="2000" dirty="0"/>
          </a:p>
        </p:txBody>
      </p:sp>
      <p:sp>
        <p:nvSpPr>
          <p:cNvPr id="14" name="R2 opt1"/>
          <p:cNvSpPr/>
          <p:nvPr/>
        </p:nvSpPr>
        <p:spPr>
          <a:xfrm>
            <a:off x="612648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5" name="R2 opt2"/>
          <p:cNvSpPr/>
          <p:nvPr/>
        </p:nvSpPr>
        <p:spPr>
          <a:xfrm>
            <a:off x="781812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6" name="R2 opt3"/>
          <p:cNvSpPr/>
          <p:nvPr/>
        </p:nvSpPr>
        <p:spPr>
          <a:xfrm>
            <a:off x="950976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7" name="R2 circle"/>
          <p:cNvSpPr/>
          <p:nvPr/>
        </p:nvSpPr>
        <p:spPr>
          <a:xfrm>
            <a:off x="7690104" y="3858768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My father used to work on weekends.</a:t>
            </a:r>
            <a:endParaRPr lang="en-US" sz="2000" dirty="0"/>
          </a:p>
        </p:txBody>
      </p:sp>
      <p:sp>
        <p:nvSpPr>
          <p:cNvPr id="19" name="R3 opt1"/>
          <p:cNvSpPr/>
          <p:nvPr/>
        </p:nvSpPr>
        <p:spPr>
          <a:xfrm>
            <a:off x="612648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0" name="R3 opt2"/>
          <p:cNvSpPr/>
          <p:nvPr/>
        </p:nvSpPr>
        <p:spPr>
          <a:xfrm>
            <a:off x="781812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1" name="R3 opt3"/>
          <p:cNvSpPr/>
          <p:nvPr/>
        </p:nvSpPr>
        <p:spPr>
          <a:xfrm>
            <a:off x="950976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2" name="R3 circle"/>
          <p:cNvSpPr/>
          <p:nvPr/>
        </p:nvSpPr>
        <p:spPr>
          <a:xfrm>
            <a:off x="5998464" y="4663440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usually send text messages.</a:t>
            </a:r>
            <a:endParaRPr lang="en-US" sz="2000" dirty="0"/>
          </a:p>
        </p:txBody>
      </p:sp>
      <p:sp>
        <p:nvSpPr>
          <p:cNvPr id="24" name="R4 opt1"/>
          <p:cNvSpPr/>
          <p:nvPr/>
        </p:nvSpPr>
        <p:spPr>
          <a:xfrm>
            <a:off x="612648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5" name="R4 opt2"/>
          <p:cNvSpPr/>
          <p:nvPr/>
        </p:nvSpPr>
        <p:spPr>
          <a:xfrm>
            <a:off x="781812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6" name="R4 opt3"/>
          <p:cNvSpPr/>
          <p:nvPr/>
        </p:nvSpPr>
        <p:spPr>
          <a:xfrm>
            <a:off x="950976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7" name="R4 circle"/>
          <p:cNvSpPr/>
          <p:nvPr/>
        </p:nvSpPr>
        <p:spPr>
          <a:xfrm>
            <a:off x="9381744" y="5468112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live on a farm. (the past)</a:t>
            </a:r>
            <a:endParaRPr lang="en-US" sz="16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on a farm.</a:t>
            </a:r>
            <a:endParaRPr lang="en-US" sz="16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25042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used to walk to school?</a:t>
            </a:r>
            <a:endParaRPr lang="en-US" sz="1600" dirty="0"/>
          </a:p>
        </p:txBody>
      </p:sp>
      <p:sp>
        <p:nvSpPr>
          <p:cNvPr id="27" name="Good 2"/>
          <p:cNvSpPr/>
          <p:nvPr/>
        </p:nvSpPr>
        <p:spPr>
          <a:xfrm>
            <a:off x="4800600" y="325042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</a:t>
            </a:r>
            <a:endParaRPr lang="en-US" sz="16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77378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used to drink coffee.</a:t>
            </a:r>
            <a:endParaRPr lang="en-US" sz="1600" dirty="0"/>
          </a:p>
        </p:txBody>
      </p:sp>
      <p:sp>
        <p:nvSpPr>
          <p:cNvPr id="29" name="Good 3"/>
          <p:cNvSpPr/>
          <p:nvPr/>
        </p:nvSpPr>
        <p:spPr>
          <a:xfrm>
            <a:off x="4800600" y="377378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6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29714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walked to school.</a:t>
            </a:r>
            <a:endParaRPr lang="en-US" sz="1600" dirty="0"/>
          </a:p>
        </p:txBody>
      </p:sp>
      <p:sp>
        <p:nvSpPr>
          <p:cNvPr id="31" name="Good 4"/>
          <p:cNvSpPr/>
          <p:nvPr/>
        </p:nvSpPr>
        <p:spPr>
          <a:xfrm>
            <a:off x="4800600" y="429714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1600" dirty="0" b="0"/>
          </a:p>
        </p:txBody>
      </p:sp>
      <p:sp>
        <p:nvSpPr>
          <p:cNvPr id="32" name="Bad 5"/>
          <p:cNvSpPr/>
          <p:nvPr/>
        </p:nvSpPr>
        <p:spPr>
          <a:xfrm>
            <a:off x="914400" y="4820502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go to Texas last year.</a:t>
            </a:r>
            <a:endParaRPr lang="en-US" sz="1600" dirty="0"/>
          </a:p>
        </p:txBody>
      </p:sp>
      <p:sp>
        <p:nvSpPr>
          <p:cNvPr id="33" name="Good 5"/>
          <p:cNvSpPr/>
          <p:nvPr/>
        </p:nvSpPr>
        <p:spPr>
          <a:xfrm>
            <a:off x="4800600" y="4820502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Texas last year.</a:t>
            </a:r>
            <a:endParaRPr lang="en-US" sz="16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602045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take the bus now.</a:t>
            </a:r>
            <a:endParaRPr lang="en-US" sz="1600" dirty="0"/>
          </a:p>
        </p:txBody>
      </p:sp>
      <p:sp>
        <p:nvSpPr>
          <p:cNvPr id="35" name="Good 6"/>
          <p:cNvSpPr/>
          <p:nvPr/>
        </p:nvSpPr>
        <p:spPr>
          <a:xfrm>
            <a:off x="4800600" y="5602045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usually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6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answers.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one more sentence.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Did you use to walk far to school?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Yes, I did.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one hour, because there was no bus.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Did you use to…? B answers and says one more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 Mingle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stands.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different name for each 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classmate.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have a radio?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Yes? Write the name.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follow-up.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 Why? How far? And now?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used to or didn't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about now, with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walk to work. Now I take the bus because I live far away.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3 used to sentences.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with used to or Did…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an older person. Follow up.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describe a friend.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Then or now? Check ✓.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hen / now: THEN: radio and letter | NOW: phone and lap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drawings (a river, a rope, a photo frame, bodies)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Teresa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3: When I Was Young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