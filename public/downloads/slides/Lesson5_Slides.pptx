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7" r:id="rId13"/>
    <p:sldId id="265" r:id="rId11"/>
    <p:sldId id="276" r:id="rId27"/>
    <p:sldId id="272" r:id="rId18"/>
    <p:sldId id="268" r:id="rId14"/>
    <p:sldId id="277" r:id="rId28"/>
    <p:sldId id="259" r:id="rId5"/>
    <p:sldId id="260" r:id="rId6"/>
    <p:sldId id="264" r:id="rId10"/>
    <p:sldId id="261" r:id="rId7"/>
    <p:sldId id="278" r:id="rId29"/>
    <p:sldId id="262" r:id="rId8"/>
    <p:sldId id="266" r:id="rId12"/>
    <p:sldId id="270" r:id="rId16"/>
    <p:sldId id="271" r:id="rId17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9.xml"/><Relationship Id="rId6" Type="http://schemas.openxmlformats.org/officeDocument/2006/relationships/slide" Target="slides/slide10.xml"/><Relationship Id="rId7" Type="http://schemas.openxmlformats.org/officeDocument/2006/relationships/slide" Target="slides/slide12.xml"/><Relationship Id="rId8" Type="http://schemas.openxmlformats.org/officeDocument/2006/relationships/slide" Target="slides/slide14.xml"/><Relationship Id="rId10" Type="http://schemas.openxmlformats.org/officeDocument/2006/relationships/slide" Target="slides/slide11.xml"/><Relationship Id="rId11" Type="http://schemas.openxmlformats.org/officeDocument/2006/relationships/slide" Target="slides/slide4.xml"/><Relationship Id="rId12" Type="http://schemas.openxmlformats.org/officeDocument/2006/relationships/slide" Target="slides/slide15.xml"/><Relationship Id="rId13" Type="http://schemas.openxmlformats.org/officeDocument/2006/relationships/slide" Target="slides/slide3.xml"/><Relationship Id="rId14" Type="http://schemas.openxmlformats.org/officeDocument/2006/relationships/slide" Target="slides/slide7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6.xml"/><Relationship Id="rId20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5.xml"/><Relationship Id="rId28" Type="http://schemas.openxmlformats.org/officeDocument/2006/relationships/slide" Target="slides/slide8.xml"/><Relationship Id="rId2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back. Read the goals together; learners repeat.</a:t>
            </a:r>
          </a:p>
          <a:p>
            <a:r>
              <a:rPr lang="en-US" dirty="0"/>
              <a:t>Objectives: ask and answer How was…? / Was it…? / Were you…?; use was / were / wasn't / weren't; tell about last weekend with 8 or more regular past verbs (-ed); pronounce the three -ed endings /t/ /d/ /ɪd/.</a:t>
            </a:r>
          </a:p>
          <a:p>
            <a:r>
              <a:rPr lang="en-US" dirty="0"/>
              <a:t>Source: Level2_Curriculum_v5_public.md, Lesson 5 (At a glance).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· 6:00–6:10 · Opening Talk + Homework Check. Pairs (same partner for both parts). Late arrivals join a pair.</a:t>
            </a:r>
          </a:p>
          <a:p>
            <a:r>
              <a:rPr lang="en-US" dirty="0"/>
              <a:t>Minutes 0–5: these questions review Lesson 4. Each click shows one question.</a:t>
            </a:r>
          </a:p>
          <a:p>
            <a:r>
              <a:rPr lang="en-US" dirty="0"/>
              <a:t>Source: Level2_Curriculum_v5_public.md, Lesson 5 (Step 1).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· 6:30–6:45 · Grammar: was / were + regular past. Say: "For the past, am and is become was. Are becomes were. Most other verbs add -ed, the same for everyone."</a:t>
            </a:r>
          </a:p>
          <a:p>
            <a:r>
              <a:rPr lang="en-US" dirty="0"/>
              <a:t>Grammar Box 1: read across the question side, then the answer side. Click 1 and click 2 highlight one row each.</a:t>
            </a:r>
          </a:p>
          <a:p>
            <a:r>
              <a:rPr lang="en-US" dirty="0"/>
              <a:t>More from the box: How was the party / the movie? Was the food good / expensive?</a:t>
            </a:r>
          </a:p>
          <a:p>
            <a:r>
              <a:rPr lang="en-US" dirty="0"/>
              <a:t>Source: Level2_Curriculum_v5_public.md, Lesson 5 (Step 4; Grammar Box 1).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 2: Were you…? Each click highlights one helper and its answers: Were, Was, Were.</a:t>
            </a:r>
          </a:p>
          <a:p>
            <a:r>
              <a:rPr lang="en-US" dirty="0"/>
              <a:t>Q: When do I use was and were? They are the past of be. am / is → was. are → were. I'm tired today. → I was tired yesterday.</a:t>
            </a:r>
          </a:p>
          <a:p>
            <a:r>
              <a:rPr lang="en-US" dirty="0"/>
              <a:t>Q&amp;A routine: a learner reads the Q → the class guesses → read the A → board example.</a:t>
            </a:r>
          </a:p>
          <a:p>
            <a:r>
              <a:rPr lang="en-US" dirty="0"/>
              <a:t>Source: Level2_Curriculum_v5_public.md, Lesson 5 (Grammar Box 2;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1). Each click shows the correct sentence.</a:t>
            </a:r>
          </a:p>
          <a:p>
            <a:r>
              <a:rPr lang="en-US" dirty="0"/>
              <a:t>I was clean the house: was is not a past marker for other verbs. Write the correct form on the board. Learners can read the note on their Grammar page; you don't need to explain it.</a:t>
            </a:r>
          </a:p>
          <a:p>
            <a:r>
              <a:rPr lang="en-US" dirty="0"/>
              <a:t>Source: Level2_Curriculum_v5_public.md, Lesson 5 (Common mistakes;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check questions. Learners answer; each click shows one answer.</a:t>
            </a:r>
          </a:p>
          <a:p>
            <a:r>
              <a:rPr lang="en-US" dirty="0"/>
              <a:t>Answers: was · were · watched.</a:t>
            </a:r>
          </a:p>
          <a:p>
            <a:r>
              <a:rPr lang="en-US" dirty="0"/>
              <a:t>Short Weekend Chain (last 5 min): pairs take turns: On Saturday, I cleaned the house. / On Saturday, you cleaned the house, and I visited my sister… If behind: skip the Weekend Chain.</a:t>
            </a:r>
          </a:p>
          <a:p>
            <a:r>
              <a:rPr lang="en-US" dirty="0"/>
              <a:t>Source: Level2_Curriculum_v5_public.md, Lesson 5 (Step 4 Check).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 3: What did you do? Each click highlights did. Add a time: … last weekend? / … on Saturday? / … yesterday?</a:t>
            </a:r>
          </a:p>
          <a:p>
            <a:r>
              <a:rPr lang="en-US" dirty="0"/>
              <a:t>Q: What does What did you do? mean? It asks about activities in the past. Answer with an -ed verb: I cleaned the house.</a:t>
            </a:r>
          </a:p>
          <a:p>
            <a:r>
              <a:rPr lang="en-US" dirty="0"/>
              <a:t>Teacher note: What did you do? is a fixed question today. Lesson 6 explains did fully. Don't teach it yet.</a:t>
            </a:r>
          </a:p>
          <a:p>
            <a:r>
              <a:rPr lang="en-US" dirty="0"/>
              <a:t>Q: Do I add -s for he or she in the past? No. The past is the same for everyone: I worked. She worked. They worked.</a:t>
            </a:r>
          </a:p>
          <a:p>
            <a:r>
              <a:rPr lang="en-US" dirty="0"/>
              <a:t>Source: Level2_Curriculum_v5_public.md, Lesson 5 (Grammar Box 3; Questions and answers;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· 6:10–6:18 · New Words (pairs). Point, say, repeat twice. Stress that the words are past: Yesterday I cleaned. Each click shows one word.</a:t>
            </a:r>
          </a:p>
          <a:p>
            <a:r>
              <a:rPr lang="en-US" dirty="0"/>
              <a:t>Star words here: last weekend, yesterday, stayed home, cleaned the house, visited family, watched a movie.</a:t>
            </a:r>
          </a:p>
          <a:p>
            <a:r>
              <a:rPr lang="en-US" dirty="0"/>
              <a:t>Yesterday or every day? Say a sentence (I cleaned the house. / I clean the house.). Learners point behind them (past) or down (every day).</a:t>
            </a:r>
          </a:p>
          <a:p>
            <a:r>
              <a:rPr lang="en-US" dirty="0"/>
              <a:t>If behind: teach the star words only.</a:t>
            </a:r>
          </a:p>
          <a:p>
            <a:r>
              <a:rPr lang="en-US" dirty="0"/>
              <a:t>Source: Level2_Curriculum_v5_public.md, Lesson 5 (Step 2; Student Page 5 New Words).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Sentences with was and were. Click 1 and click 2 show one row each.</a:t>
            </a:r>
          </a:p>
          <a:p>
            <a:r>
              <a:rPr lang="en-US" dirty="0"/>
              <a:t>Pronunciation (If time ①): three -ed sounds. /t/ worked, walked, cooked; /d/ played, called, stayed; /ɪd/ visited, waited, needed. The extra syllable comes only after t or d. Hold up 1 finger for /t/, 2 for /d/, 3 for /ɪd/.</a:t>
            </a:r>
          </a:p>
          <a:p>
            <a:r>
              <a:rPr lang="en-US" dirty="0"/>
              <a:t>Source: Level2_Curriculum_v5_public.md, Lesson 5 (Sentences: was and were; If time).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1, minutes 5–10: partners read their 3 homework "photos in words." The listener checks for am / is / are + -ing.</a:t>
            </a:r>
          </a:p>
          <a:p>
            <a:r>
              <a:rPr lang="en-US" dirty="0"/>
              <a:t>Each click shows one answer. The lines review Lesson 4 (homework model and Grammar Box 1).</a:t>
            </a:r>
          </a:p>
          <a:p>
            <a:r>
              <a:rPr lang="en-US" dirty="0"/>
              <a:t>Teacher: walk around; write only 2 corrected sentences on the board. If behind: collect the homework; return it next week with one correction each.</a:t>
            </a:r>
          </a:p>
          <a:p>
            <a:r>
              <a:rPr lang="en-US" dirty="0"/>
              <a:t>Source: Level2_Curriculum_v5_public.md, Lesson 5 (Step 1); Lesson 4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2 → Task B (circle). Each click circles one answer. The audio plays once, play again if needed.</a:t>
            </a:r>
          </a:p>
          <a:p>
            <a:r>
              <a:rPr lang="en-US" dirty="0"/>
              <a:t>Answer key: 1 great; 2 boring; 3 terrible; 4 20 minutes.</a:t>
            </a:r>
          </a:p>
          <a:p>
            <a:r>
              <a:rPr lang="en-US" dirty="0"/>
              <a:t>Source: Level2_Curriculum_v5_public.md, Lesson 5 (Step 3; Answer key).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· 7:00–7:10 · Talk Time: Weekend Mingle. Mingle: talk to 5 people (15 learners) / everyone (7–8). Each click shows one step.</a:t>
            </a:r>
          </a:p>
          <a:p>
            <a:r>
              <a:rPr lang="en-US" dirty="0"/>
              <a:t>Model: "How was your weekend?" "It was fun. I visited my family. How about you?" Learners write each person's name and one activity in a box on the Weekend Mingle sheet.</a:t>
            </a:r>
          </a:p>
          <a:p>
            <a:r>
              <a:rPr lang="en-US" dirty="0"/>
              <a:t>Report (last 3 min): "Ana visited her family. Marco worked. Two people cleaned the house."</a:t>
            </a:r>
          </a:p>
          <a:p>
            <a:r>
              <a:rPr lang="en-US" dirty="0"/>
              <a:t>Privacy: learners can tell the truth or make it up. If behind: learners talk to 3 people; skip the report.</a:t>
            </a:r>
          </a:p>
          <a:p>
            <a:r>
              <a:rPr lang="en-US" dirty="0"/>
              <a:t>Source: Level2_Curriculum_v5_public.md, Lesson 5 (Step 5).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· 7:10–7:15 · Exit Ticket + Homework. NEVER SKIP.</a:t>
            </a:r>
          </a:p>
          <a:p>
            <a:r>
              <a:rPr lang="en-US" dirty="0"/>
              <a:t>Exit ticket: one sentence with was or were and one sentence with an -ed verb about yesterday.</a:t>
            </a:r>
          </a:p>
          <a:p>
            <a:r>
              <a:rPr lang="en-US" dirty="0"/>
              <a:t>Homework (10 minutes): 1. Write 6 sentences about your last weekend: 3 with was / were and 3 with -ed verbs (On Saturday I was tired. I cleaned the house…). 2. Ask a family member or friend: How was your weekend? Write their answer in English. 3. Bonus: circle every -ed and say each one aloud. Explain it and do item 1 together.</a:t>
            </a:r>
          </a:p>
          <a:p>
            <a:r>
              <a:rPr lang="en-US" dirty="0"/>
              <a:t>Source: Level2_Curriculum_v5_public.md, Lesson 5 (Step 6; Student Page 5 Homework).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· 6:18–6:30 · Listening + "Say it" (L5_listening.mp3, about 1:17). Audio: L5_listening.mp3 (about 1:17). The audio plays once, play again if needed. No speaker? Read the script with a volunteer learner.</a:t>
            </a:r>
          </a:p>
          <a:p>
            <a:r>
              <a:rPr lang="en-US" dirty="0"/>
              <a:t>Before you listen: "It's Monday. Kim and Marco talk about the weekend. Who had a good weekend?" Take 2 guesses.</a:t>
            </a:r>
          </a:p>
          <a:p>
            <a:r>
              <a:rPr lang="en-US" dirty="0"/>
              <a:t>Listen 1 → Task A (who did it?). On the Student Page learners check ✓ Marco or Kim. Each click circles one answer.</a:t>
            </a:r>
          </a:p>
          <a:p>
            <a:r>
              <a:rPr lang="en-US" dirty="0"/>
              <a:t>Answer key: visited his sister = Marco; worked all day = Kim; played soccer = Marco; cleaned the house = Kim; watched a movie = Kim; cooked a big lunch = Marco.</a:t>
            </a:r>
          </a:p>
          <a:p>
            <a:r>
              <a:rPr lang="en-US" dirty="0"/>
              <a:t>Source: Level2_Curriculum_v5_public.md, Lesson 5 (Step 3; Answer key).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Credits. Lesson content: Level 2 Adult ESL Curriculum v5, public edition, Lesson 5.</a:t>
            </a:r>
          </a:p>
          <a:p>
            <a:r>
              <a:rPr lang="en-US" dirty="0"/>
              <a:t>Image credit line copied exactly from images/CREDITS.md. Deck notice: © 2026 the authors; the authors license this deck under CC BY-NC-SA 4.0 (Section 7.2).</a:t>
            </a:r>
          </a:p>
          <a:p>
            <a:r>
              <a:rPr lang="en-US" dirty="0"/>
              <a:t>Audio and font credits: Chatterbox TTS (Resemble AI, MIT; Perth watermark), Lexend Deca (SIL OFL 1.1).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Words, part 2. Each click shows one word. Star words here: worked, tired.</a:t>
            </a:r>
          </a:p>
          <a:p>
            <a:r>
              <a:rPr lang="en-US" dirty="0"/>
              <a:t>fun / boring describe the weekend or the movie: It was boring. tired / busy describe the person: I was tired.</a:t>
            </a:r>
          </a:p>
          <a:p>
            <a:r>
              <a:rPr lang="en-US" dirty="0"/>
              <a:t>Source: Level2_Curriculum_v5_public.md, Lesson 5 (Step 2; Student Page 5).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3 → Task C (fill in). Each click fills one blank. The audio plays once, play again if needed.</a:t>
            </a:r>
          </a:p>
          <a:p>
            <a:r>
              <a:rPr lang="en-US" dirty="0"/>
              <a:t>Answer key: was; cooked; Were; cleaned.</a:t>
            </a:r>
          </a:p>
          <a:p>
            <a:r>
              <a:rPr lang="en-US" dirty="0"/>
              <a:t>Ask: "Kim says I cleaned the house. Is that today or before?" (before = past)</a:t>
            </a:r>
          </a:p>
          <a:p>
            <a:r>
              <a:rPr lang="en-US" dirty="0"/>
              <a:t>"Say it" (1–2 min): the class repeats "How was your weekend?" and "It was great!"</a:t>
            </a:r>
          </a:p>
          <a:p>
            <a:r>
              <a:rPr lang="en-US" dirty="0"/>
              <a:t>If behind: skip the third play; do Task C together (teacher reads the 4 lines).</a:t>
            </a:r>
          </a:p>
          <a:p>
            <a:r>
              <a:rPr lang="en-US" dirty="0"/>
              <a:t>Source: Level2_Curriculum_v5_public.md, Lesson 5 (Step 3;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2). Each click shows the correct sentence.</a:t>
            </a:r>
          </a:p>
          <a:p>
            <a:r>
              <a:rPr lang="en-US" dirty="0"/>
              <a:t>Spelling: most verbs +ed; ends in e +d (dance → danced); consonant + y → -ied (study → studied); short verb: double (stop → stopped).</a:t>
            </a:r>
          </a:p>
          <a:p>
            <a:r>
              <a:rPr lang="en-US" dirty="0"/>
              <a:t>boring = the thing (the movie); bored = the person feels it.</a:t>
            </a:r>
          </a:p>
          <a:p>
            <a:r>
              <a:rPr lang="en-US" dirty="0"/>
              <a:t>Source: Level2_Curriculum_v5_public.md, Lesson 5 (Common mistakes; Questions and answers;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K1" Type="http://schemas.openxmlformats.org/officeDocument/2006/relationships/image" Target="../media/k_L4_right_now.png"/><Relationship Id="rIdQ1" Type="http://schemas.openxmlformats.org/officeDocument/2006/relationships/image" Target="../media/k_L5_last_weekend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Q1" Type="http://schemas.openxmlformats.org/officeDocument/2006/relationships/image" Target="../media/k_L4_right_now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4.xml.rels><?xml version='1.0' encoding='UTF-8' standalone='yes'?>
<Relationships xmlns="http://schemas.openxmlformats.org/package/2006/relationships"><Relationship Id="rIdQ1" Type="http://schemas.openxmlformats.org/officeDocument/2006/relationships/image" Target="../media/k_L5_last_weekend.png"/><Relationship Id="rIdQ2" Type="http://schemas.openxmlformats.org/officeDocument/2006/relationships/image" Target="../media/k_L5_yesterday.png"/><Relationship Id="rIdQ3" Type="http://schemas.openxmlformats.org/officeDocument/2006/relationships/image" Target="../media/k_L5_stayed_home.png"/><Relationship Id="rIdQ4" Type="http://schemas.openxmlformats.org/officeDocument/2006/relationships/image" Target="../media/k_L5_cleaned_the_house.png"/><Relationship Id="rIdQ5" Type="http://schemas.openxmlformats.org/officeDocument/2006/relationships/image" Target="../media/k_L5_visited_family.png"/><Relationship Id="rIdQ6" Type="http://schemas.openxmlformats.org/officeDocument/2006/relationships/image" Target="../media/k_L5_watched_a_movie.png"/><Relationship Id="rIdQ7" Type="http://schemas.openxmlformats.org/officeDocument/2006/relationships/image" Target="../media/k_L5_cooked.png"/><Relationship Id="rIdQ8" Type="http://schemas.openxmlformats.org/officeDocument/2006/relationships/image" Target="../media/k_L5_walked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5.xml.rels><?xml version='1.0' encoding='UTF-8' standalone='yes'?>
<Relationships xmlns="http://schemas.openxmlformats.org/package/2006/relationships"><Relationship Id="rIdQ1" Type="http://schemas.openxmlformats.org/officeDocument/2006/relationships/image" Target="../media/k_L5_called.png"/><Relationship Id="rIdQ2" Type="http://schemas.openxmlformats.org/officeDocument/2006/relationships/image" Target="../media/k_L5_listened_to_music.png"/><Relationship Id="rIdQ3" Type="http://schemas.openxmlformats.org/officeDocument/2006/relationships/image" Target="../media/k_L5_worked.png"/><Relationship Id="rIdQ4" Type="http://schemas.openxmlformats.org/officeDocument/2006/relationships/image" Target="../media/k_L5_relaxed.png"/><Relationship Id="rIdQ5" Type="http://schemas.openxmlformats.org/officeDocument/2006/relationships/image" Target="../media/k_L5_fun.png"/><Relationship Id="rIdQ6" Type="http://schemas.openxmlformats.org/officeDocument/2006/relationships/image" Target="../media/k_L5_boring.png"/><Relationship Id="rIdQ7" Type="http://schemas.openxmlformats.org/officeDocument/2006/relationships/image" Target="../media/k_L5_tired.png"/><Relationship Id="rIdQ8" Type="http://schemas.openxmlformats.org/officeDocument/2006/relationships/image" Target="../media/k_L5_busy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7.xml.rels><?xml version='1.0' encoding='UTF-8' standalone='yes'?>
<Relationships xmlns="http://schemas.openxmlformats.org/package/2006/relationships"><Relationship Id="rIdQ1" Type="http://schemas.openxmlformats.org/officeDocument/2006/relationships/image" Target="../media/k_L5_watched_a_movi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9.xml.rels><?xml version='1.0' encoding='UTF-8' standalone='yes'?>
<Relationships xmlns="http://schemas.openxmlformats.org/package/2006/relationships"><Relationship Id="rIdQ1" Type="http://schemas.openxmlformats.org/officeDocument/2006/relationships/image" Target="../media/k_L5_fun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Q1" Type="http://schemas.openxmlformats.org/officeDocument/2006/relationships/image" Target="../media/k_L5_tired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Q1" Type="http://schemas.openxmlformats.org/officeDocument/2006/relationships/image" Target="../media/k_L5_cleaned_the_hous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Q1" Type="http://schemas.openxmlformats.org/officeDocument/2006/relationships/image" Target="../media/k_L5_cleaned_the_hous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Q1" Type="http://schemas.openxmlformats.org/officeDocument/2006/relationships/image" Target="../media/k_L5_boring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Q1" Type="http://schemas.openxmlformats.org/officeDocument/2006/relationships/image" Target="../media/k_L5_busy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Q1" Type="http://schemas.openxmlformats.org/officeDocument/2006/relationships/image" Target="../media/k_L5_visited_family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Q1" Type="http://schemas.openxmlformats.org/officeDocument/2006/relationships/image" Target="../media/k_L5_yesterday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5 (Week 5)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Last Weekend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Ask: How was your weekend?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Use was / were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Tell about last weekend (-ed)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-ed three ways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172200" y="594360"/>
            <a:ext cx="914400" cy="863781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245679" y="582930"/>
            <a:ext cx="930729" cy="93072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rot="900000">
            <a:off x="6498771" y="849902"/>
            <a:ext cx="397601" cy="39760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14" name="Picture 14" descr="L4_right_now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pic>
        <p:nvPicPr>
          <p:cNvPr id="15" name="Picture 15" descr="L5_last_weekend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04" y="1352535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764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Warm-Up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9846" y="29718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Same partner.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Review Lesson 4.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822546" y="4854550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904842" y="4841748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5188306" y="5140757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9" name="Question"/>
          <p:cNvSpPr/>
          <p:nvPr/>
        </p:nvSpPr>
        <p:spPr>
          <a:xfrm>
            <a:off x="599846" y="3977640"/>
            <a:ext cx="4114800" cy="80467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 doing right now?</a:t>
            </a:r>
            <a:endParaRPr lang="en-US" sz="2200" dirty="0"/>
          </a:p>
        </p:txBody>
      </p:sp>
      <p:sp>
        <p:nvSpPr>
          <p:cNvPr id="20" name="Question"/>
          <p:cNvSpPr/>
          <p:nvPr/>
        </p:nvSpPr>
        <p:spPr>
          <a:xfrm>
            <a:off x="599846" y="4910328"/>
            <a:ext cx="4114800" cy="80467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your family doing at 8 PM?</a:t>
            </a:r>
            <a:endParaRPr lang="en-US" sz="2200" dirty="0"/>
          </a:p>
        </p:txBody>
      </p:sp>
      <p:pic>
        <p:nvPicPr>
          <p:cNvPr id="21" name="Picture 21" descr="L4_right_now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795821" y="2101291"/>
            <a:ext cx="4763110" cy="33341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your 3 photos in words.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____ cooking now.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____ watching TV.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550054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____ eating.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261458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Dad is ____. (work)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HW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am / is / are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+ verb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-ing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8" name="Answer 1"/>
          <p:cNvSpPr/>
          <p:nvPr/>
        </p:nvSpPr>
        <p:spPr>
          <a:xfrm>
            <a:off x="5257800" y="3200400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am</a:t>
            </a:r>
            <a:endParaRPr lang="en-US" sz="2000" dirty="0"/>
          </a:p>
        </p:txBody>
      </p:sp>
      <p:sp>
        <p:nvSpPr>
          <p:cNvPr id="39" name="Answer 2"/>
          <p:cNvSpPr/>
          <p:nvPr/>
        </p:nvSpPr>
        <p:spPr>
          <a:xfrm>
            <a:off x="5257800" y="3911803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endParaRPr lang="en-US" sz="2000" dirty="0"/>
          </a:p>
        </p:txBody>
      </p:sp>
      <p:sp>
        <p:nvSpPr>
          <p:cNvPr id="40" name="Answer 3"/>
          <p:cNvSpPr/>
          <p:nvPr/>
        </p:nvSpPr>
        <p:spPr>
          <a:xfrm>
            <a:off x="5257800" y="4623206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endParaRPr lang="en-US" sz="2000" dirty="0"/>
          </a:p>
        </p:txBody>
      </p:sp>
      <p:sp>
        <p:nvSpPr>
          <p:cNvPr id="41" name="Answer 4"/>
          <p:cNvSpPr/>
          <p:nvPr/>
        </p:nvSpPr>
        <p:spPr>
          <a:xfrm>
            <a:off x="5257800" y="5334610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Yesterday or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every day?</a:t>
            </a:r>
            <a:endParaRPr lang="en-US" sz="2200" dirty="0"/>
          </a:p>
        </p:txBody>
      </p:sp>
      <p:pic>
        <p:nvPicPr>
          <p:cNvPr id="41" name="Picture 41" descr="last weekend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181437" y="2240280"/>
            <a:ext cx="1619794" cy="1133856"/>
          </a:xfrm>
          <a:prstGeom prst="rect">
            <a:avLst/>
          </a:prstGeom>
        </p:spPr>
      </p:pic>
      <p:sp>
        <p:nvSpPr>
          <p:cNvPr id="42" name="Word label"/>
          <p:cNvSpPr/>
          <p:nvPr/>
        </p:nvSpPr>
        <p:spPr>
          <a:xfrm>
            <a:off x="7626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last weekend</a:t>
            </a:r>
            <a:endParaRPr lang="en-US" sz="2000" dirty="0"/>
          </a:p>
        </p:txBody>
      </p:sp>
      <p:pic>
        <p:nvPicPr>
          <p:cNvPr id="43" name="Picture 43" descr="yesterday"/>
          <p:cNvPicPr>
            <a:picLocks noChangeAspect="1"/>
          </p:cNvPicPr>
          <p:nvPr/>
        </p:nvPicPr>
        <p:blipFill>
          <a:blip r:embed="rIdQ2"/>
          <a:stretch>
            <a:fillRect/>
          </a:stretch>
        </p:blipFill>
        <p:spPr>
          <a:xfrm>
            <a:off x="3867487" y="2240280"/>
            <a:ext cx="1619794" cy="1133856"/>
          </a:xfrm>
          <a:prstGeom prst="rect">
            <a:avLst/>
          </a:prstGeom>
        </p:spPr>
      </p:pic>
      <p:sp>
        <p:nvSpPr>
          <p:cNvPr id="44" name="Word label"/>
          <p:cNvSpPr/>
          <p:nvPr/>
        </p:nvSpPr>
        <p:spPr>
          <a:xfrm>
            <a:off x="34486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yesterday</a:t>
            </a:r>
            <a:endParaRPr lang="en-US" sz="2000" dirty="0"/>
          </a:p>
        </p:txBody>
      </p:sp>
      <p:pic>
        <p:nvPicPr>
          <p:cNvPr id="45" name="Picture 45" descr="stayed home"/>
          <p:cNvPicPr>
            <a:picLocks noChangeAspect="1"/>
          </p:cNvPicPr>
          <p:nvPr/>
        </p:nvPicPr>
        <p:blipFill>
          <a:blip r:embed="rIdQ3"/>
          <a:stretch>
            <a:fillRect/>
          </a:stretch>
        </p:blipFill>
        <p:spPr>
          <a:xfrm>
            <a:off x="6553537" y="2240280"/>
            <a:ext cx="1619794" cy="1133856"/>
          </a:xfrm>
          <a:prstGeom prst="rect">
            <a:avLst/>
          </a:prstGeom>
        </p:spPr>
      </p:pic>
      <p:sp>
        <p:nvSpPr>
          <p:cNvPr id="46" name="Word label"/>
          <p:cNvSpPr/>
          <p:nvPr/>
        </p:nvSpPr>
        <p:spPr>
          <a:xfrm>
            <a:off x="61347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stayed home</a:t>
            </a:r>
            <a:endParaRPr lang="en-US" sz="2000" dirty="0"/>
          </a:p>
        </p:txBody>
      </p:sp>
      <p:pic>
        <p:nvPicPr>
          <p:cNvPr id="47" name="Picture 47" descr="cleaned the house"/>
          <p:cNvPicPr>
            <a:picLocks noChangeAspect="1"/>
          </p:cNvPicPr>
          <p:nvPr/>
        </p:nvPicPr>
        <p:blipFill>
          <a:blip r:embed="rIdQ4"/>
          <a:stretch>
            <a:fillRect/>
          </a:stretch>
        </p:blipFill>
        <p:spPr>
          <a:xfrm>
            <a:off x="9239587" y="2240280"/>
            <a:ext cx="1619794" cy="1133856"/>
          </a:xfrm>
          <a:prstGeom prst="rect">
            <a:avLst/>
          </a:prstGeom>
        </p:spPr>
      </p:pic>
      <p:sp>
        <p:nvSpPr>
          <p:cNvPr id="48" name="Word label"/>
          <p:cNvSpPr/>
          <p:nvPr/>
        </p:nvSpPr>
        <p:spPr>
          <a:xfrm>
            <a:off x="88207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cleaned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house</a:t>
            </a:r>
            <a:endParaRPr lang="en-US" sz="2000" dirty="0"/>
          </a:p>
        </p:txBody>
      </p:sp>
      <p:pic>
        <p:nvPicPr>
          <p:cNvPr id="49" name="Picture 49" descr="visited family"/>
          <p:cNvPicPr>
            <a:picLocks noChangeAspect="1"/>
          </p:cNvPicPr>
          <p:nvPr/>
        </p:nvPicPr>
        <p:blipFill>
          <a:blip r:embed="rIdQ5"/>
          <a:stretch>
            <a:fillRect/>
          </a:stretch>
        </p:blipFill>
        <p:spPr>
          <a:xfrm>
            <a:off x="1181437" y="4315968"/>
            <a:ext cx="1619794" cy="1133856"/>
          </a:xfrm>
          <a:prstGeom prst="rect">
            <a:avLst/>
          </a:prstGeom>
        </p:spPr>
      </p:pic>
      <p:sp>
        <p:nvSpPr>
          <p:cNvPr id="50" name="Word label"/>
          <p:cNvSpPr/>
          <p:nvPr/>
        </p:nvSpPr>
        <p:spPr>
          <a:xfrm>
            <a:off x="762610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visited family</a:t>
            </a:r>
            <a:endParaRPr lang="en-US" sz="2000" dirty="0"/>
          </a:p>
        </p:txBody>
      </p:sp>
      <p:pic>
        <p:nvPicPr>
          <p:cNvPr id="51" name="Picture 51" descr="watched a movie"/>
          <p:cNvPicPr>
            <a:picLocks noChangeAspect="1"/>
          </p:cNvPicPr>
          <p:nvPr/>
        </p:nvPicPr>
        <p:blipFill>
          <a:blip r:embed="rIdQ6"/>
          <a:stretch>
            <a:fillRect/>
          </a:stretch>
        </p:blipFill>
        <p:spPr>
          <a:xfrm>
            <a:off x="3867487" y="4315968"/>
            <a:ext cx="1619794" cy="1133856"/>
          </a:xfrm>
          <a:prstGeom prst="rect">
            <a:avLst/>
          </a:prstGeom>
        </p:spPr>
      </p:pic>
      <p:sp>
        <p:nvSpPr>
          <p:cNvPr id="52" name="Word label"/>
          <p:cNvSpPr/>
          <p:nvPr/>
        </p:nvSpPr>
        <p:spPr>
          <a:xfrm>
            <a:off x="3448660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watched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movie</a:t>
            </a:r>
            <a:endParaRPr lang="en-US" sz="2000" dirty="0"/>
          </a:p>
        </p:txBody>
      </p:sp>
      <p:pic>
        <p:nvPicPr>
          <p:cNvPr id="53" name="Picture 53" descr="cooked"/>
          <p:cNvPicPr>
            <a:picLocks noChangeAspect="1"/>
          </p:cNvPicPr>
          <p:nvPr/>
        </p:nvPicPr>
        <p:blipFill>
          <a:blip r:embed="rIdQ7"/>
          <a:stretch>
            <a:fillRect/>
          </a:stretch>
        </p:blipFill>
        <p:spPr>
          <a:xfrm>
            <a:off x="6553537" y="4315968"/>
            <a:ext cx="1619794" cy="1133856"/>
          </a:xfrm>
          <a:prstGeom prst="rect">
            <a:avLst/>
          </a:prstGeom>
        </p:spPr>
      </p:pic>
      <p:sp>
        <p:nvSpPr>
          <p:cNvPr id="54" name="Word label"/>
          <p:cNvSpPr/>
          <p:nvPr/>
        </p:nvSpPr>
        <p:spPr>
          <a:xfrm>
            <a:off x="6134710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cooked</a:t>
            </a:r>
            <a:endParaRPr lang="en-US" sz="2000" dirty="0"/>
          </a:p>
        </p:txBody>
      </p:sp>
      <p:pic>
        <p:nvPicPr>
          <p:cNvPr id="55" name="Picture 55" descr="walked (in the park)"/>
          <p:cNvPicPr>
            <a:picLocks noChangeAspect="1"/>
          </p:cNvPicPr>
          <p:nvPr/>
        </p:nvPicPr>
        <p:blipFill>
          <a:blip r:embed="rIdQ8"/>
          <a:stretch>
            <a:fillRect/>
          </a:stretch>
        </p:blipFill>
        <p:spPr>
          <a:xfrm>
            <a:off x="9239587" y="4315968"/>
            <a:ext cx="1619794" cy="1133856"/>
          </a:xfrm>
          <a:prstGeom prst="rect">
            <a:avLst/>
          </a:prstGeom>
        </p:spPr>
      </p:pic>
      <p:sp>
        <p:nvSpPr>
          <p:cNvPr id="56" name="Word label"/>
          <p:cNvSpPr/>
          <p:nvPr/>
        </p:nvSpPr>
        <p:spPr>
          <a:xfrm>
            <a:off x="8820760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walked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(in the park)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Point behind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you: past!</a:t>
            </a:r>
            <a:endParaRPr lang="en-US" sz="2200" dirty="0"/>
          </a:p>
        </p:txBody>
      </p:sp>
      <p:pic>
        <p:nvPicPr>
          <p:cNvPr id="39" name="Picture 39" descr="called (my mom)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181437" y="2240280"/>
            <a:ext cx="1619794" cy="1133856"/>
          </a:xfrm>
          <a:prstGeom prst="rect">
            <a:avLst/>
          </a:prstGeom>
        </p:spPr>
      </p:pic>
      <p:sp>
        <p:nvSpPr>
          <p:cNvPr id="40" name="Word label"/>
          <p:cNvSpPr/>
          <p:nvPr/>
        </p:nvSpPr>
        <p:spPr>
          <a:xfrm>
            <a:off x="7626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called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(my mom)</a:t>
            </a:r>
            <a:endParaRPr lang="en-US" sz="2000" dirty="0"/>
          </a:p>
        </p:txBody>
      </p:sp>
      <p:pic>
        <p:nvPicPr>
          <p:cNvPr id="41" name="Picture 41" descr="listened to music"/>
          <p:cNvPicPr>
            <a:picLocks noChangeAspect="1"/>
          </p:cNvPicPr>
          <p:nvPr/>
        </p:nvPicPr>
        <p:blipFill>
          <a:blip r:embed="rIdQ2"/>
          <a:stretch>
            <a:fillRect/>
          </a:stretch>
        </p:blipFill>
        <p:spPr>
          <a:xfrm>
            <a:off x="3867487" y="2240280"/>
            <a:ext cx="1619794" cy="1133856"/>
          </a:xfrm>
          <a:prstGeom prst="rect">
            <a:avLst/>
          </a:prstGeom>
        </p:spPr>
      </p:pic>
      <p:sp>
        <p:nvSpPr>
          <p:cNvPr id="42" name="Word label"/>
          <p:cNvSpPr/>
          <p:nvPr/>
        </p:nvSpPr>
        <p:spPr>
          <a:xfrm>
            <a:off x="34486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listened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music</a:t>
            </a:r>
            <a:endParaRPr lang="en-US" sz="2000" dirty="0"/>
          </a:p>
        </p:txBody>
      </p:sp>
      <p:pic>
        <p:nvPicPr>
          <p:cNvPr id="43" name="Picture 43" descr="worked"/>
          <p:cNvPicPr>
            <a:picLocks noChangeAspect="1"/>
          </p:cNvPicPr>
          <p:nvPr/>
        </p:nvPicPr>
        <p:blipFill>
          <a:blip r:embed="rIdQ3"/>
          <a:stretch>
            <a:fillRect/>
          </a:stretch>
        </p:blipFill>
        <p:spPr>
          <a:xfrm>
            <a:off x="6553537" y="2240280"/>
            <a:ext cx="1619794" cy="1133856"/>
          </a:xfrm>
          <a:prstGeom prst="rect">
            <a:avLst/>
          </a:prstGeom>
        </p:spPr>
      </p:pic>
      <p:sp>
        <p:nvSpPr>
          <p:cNvPr id="44" name="Word label"/>
          <p:cNvSpPr/>
          <p:nvPr/>
        </p:nvSpPr>
        <p:spPr>
          <a:xfrm>
            <a:off x="61347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worked</a:t>
            </a:r>
            <a:endParaRPr lang="en-US" sz="2000" dirty="0"/>
          </a:p>
        </p:txBody>
      </p:sp>
      <p:pic>
        <p:nvPicPr>
          <p:cNvPr id="45" name="Picture 45" descr="relaxed"/>
          <p:cNvPicPr>
            <a:picLocks noChangeAspect="1"/>
          </p:cNvPicPr>
          <p:nvPr/>
        </p:nvPicPr>
        <p:blipFill>
          <a:blip r:embed="rIdQ4"/>
          <a:stretch>
            <a:fillRect/>
          </a:stretch>
        </p:blipFill>
        <p:spPr>
          <a:xfrm>
            <a:off x="9239587" y="2240280"/>
            <a:ext cx="1619794" cy="1133856"/>
          </a:xfrm>
          <a:prstGeom prst="rect">
            <a:avLst/>
          </a:prstGeom>
        </p:spPr>
      </p:pic>
      <p:sp>
        <p:nvSpPr>
          <p:cNvPr id="46" name="Word label"/>
          <p:cNvSpPr/>
          <p:nvPr/>
        </p:nvSpPr>
        <p:spPr>
          <a:xfrm>
            <a:off x="88207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relaxed</a:t>
            </a:r>
            <a:endParaRPr lang="en-US" sz="2000" dirty="0"/>
          </a:p>
        </p:txBody>
      </p:sp>
      <p:pic>
        <p:nvPicPr>
          <p:cNvPr id="47" name="Picture 47" descr="fun"/>
          <p:cNvPicPr>
            <a:picLocks noChangeAspect="1"/>
          </p:cNvPicPr>
          <p:nvPr/>
        </p:nvPicPr>
        <p:blipFill>
          <a:blip r:embed="rIdQ5"/>
          <a:stretch>
            <a:fillRect/>
          </a:stretch>
        </p:blipFill>
        <p:spPr>
          <a:xfrm>
            <a:off x="1181437" y="4315968"/>
            <a:ext cx="1619794" cy="1133856"/>
          </a:xfrm>
          <a:prstGeom prst="rect">
            <a:avLst/>
          </a:prstGeom>
        </p:spPr>
      </p:pic>
      <p:sp>
        <p:nvSpPr>
          <p:cNvPr id="48" name="Word label"/>
          <p:cNvSpPr/>
          <p:nvPr/>
        </p:nvSpPr>
        <p:spPr>
          <a:xfrm>
            <a:off x="762610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fun</a:t>
            </a:r>
            <a:endParaRPr lang="en-US" sz="2000" dirty="0"/>
          </a:p>
        </p:txBody>
      </p:sp>
      <p:pic>
        <p:nvPicPr>
          <p:cNvPr id="49" name="Picture 49" descr="boring"/>
          <p:cNvPicPr>
            <a:picLocks noChangeAspect="1"/>
          </p:cNvPicPr>
          <p:nvPr/>
        </p:nvPicPr>
        <p:blipFill>
          <a:blip r:embed="rIdQ6"/>
          <a:stretch>
            <a:fillRect/>
          </a:stretch>
        </p:blipFill>
        <p:spPr>
          <a:xfrm>
            <a:off x="3867487" y="4315968"/>
            <a:ext cx="1619794" cy="1133856"/>
          </a:xfrm>
          <a:prstGeom prst="rect">
            <a:avLst/>
          </a:prstGeom>
        </p:spPr>
      </p:pic>
      <p:sp>
        <p:nvSpPr>
          <p:cNvPr id="50" name="Word label"/>
          <p:cNvSpPr/>
          <p:nvPr/>
        </p:nvSpPr>
        <p:spPr>
          <a:xfrm>
            <a:off x="3448660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boring</a:t>
            </a:r>
            <a:endParaRPr lang="en-US" sz="2000" dirty="0"/>
          </a:p>
        </p:txBody>
      </p:sp>
      <p:pic>
        <p:nvPicPr>
          <p:cNvPr id="51" name="Picture 51" descr="tired"/>
          <p:cNvPicPr>
            <a:picLocks noChangeAspect="1"/>
          </p:cNvPicPr>
          <p:nvPr/>
        </p:nvPicPr>
        <p:blipFill>
          <a:blip r:embed="rIdQ7"/>
          <a:stretch>
            <a:fillRect/>
          </a:stretch>
        </p:blipFill>
        <p:spPr>
          <a:xfrm>
            <a:off x="6553537" y="4315968"/>
            <a:ext cx="1619794" cy="1133856"/>
          </a:xfrm>
          <a:prstGeom prst="rect">
            <a:avLst/>
          </a:prstGeom>
        </p:spPr>
      </p:pic>
      <p:sp>
        <p:nvSpPr>
          <p:cNvPr id="52" name="Word label"/>
          <p:cNvSpPr/>
          <p:nvPr/>
        </p:nvSpPr>
        <p:spPr>
          <a:xfrm>
            <a:off x="6134710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tired</a:t>
            </a:r>
            <a:endParaRPr lang="en-US" sz="2000" dirty="0"/>
          </a:p>
        </p:txBody>
      </p:sp>
      <p:pic>
        <p:nvPicPr>
          <p:cNvPr id="53" name="Picture 53" descr="busy"/>
          <p:cNvPicPr>
            <a:picLocks noChangeAspect="1"/>
          </p:cNvPicPr>
          <p:nvPr/>
        </p:nvPicPr>
        <p:blipFill>
          <a:blip r:embed="rIdQ8"/>
          <a:stretch>
            <a:fillRect/>
          </a:stretch>
        </p:blipFill>
        <p:spPr>
          <a:xfrm>
            <a:off x="9239587" y="4315968"/>
            <a:ext cx="1619794" cy="1133856"/>
          </a:xfrm>
          <a:prstGeom prst="rect">
            <a:avLst/>
          </a:prstGeom>
        </p:spPr>
      </p:pic>
      <p:sp>
        <p:nvSpPr>
          <p:cNvPr id="54" name="Word label"/>
          <p:cNvSpPr/>
          <p:nvPr/>
        </p:nvSpPr>
        <p:spPr>
          <a:xfrm>
            <a:off x="8820760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busy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Who did it?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name.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865815" y="269565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924304" y="268655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rot="900000">
            <a:off x="11125766" y="289906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67" name="Statement 1"/>
          <p:cNvSpPr/>
          <p:nvPr/>
        </p:nvSpPr>
        <p:spPr>
          <a:xfrm>
            <a:off x="502920" y="2743200"/>
            <a:ext cx="594360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visited his sister</a:t>
            </a:r>
            <a:endParaRPr lang="en-US" sz="2200" dirty="0"/>
          </a:p>
        </p:txBody>
      </p:sp>
      <p:sp>
        <p:nvSpPr>
          <p:cNvPr id="68" name="Option 11"/>
          <p:cNvSpPr/>
          <p:nvPr/>
        </p:nvSpPr>
        <p:spPr>
          <a:xfrm>
            <a:off x="6583680" y="275234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Marco</a:t>
            </a:r>
            <a:endParaRPr lang="en-US" sz="2000" dirty="0"/>
          </a:p>
        </p:txBody>
      </p:sp>
      <p:sp>
        <p:nvSpPr>
          <p:cNvPr id="69" name="Option 12"/>
          <p:cNvSpPr/>
          <p:nvPr/>
        </p:nvSpPr>
        <p:spPr>
          <a:xfrm>
            <a:off x="8275320" y="275234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Kim</a:t>
            </a:r>
            <a:endParaRPr lang="en-US" sz="2000" dirty="0"/>
          </a:p>
        </p:txBody>
      </p:sp>
      <p:sp>
        <p:nvSpPr>
          <p:cNvPr id="70" name="Circle 1"/>
          <p:cNvSpPr/>
          <p:nvPr/>
        </p:nvSpPr>
        <p:spPr>
          <a:xfrm>
            <a:off x="6455664" y="2688336"/>
            <a:ext cx="171907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1" name="Statement 2"/>
          <p:cNvSpPr/>
          <p:nvPr/>
        </p:nvSpPr>
        <p:spPr>
          <a:xfrm>
            <a:off x="502920" y="3383280"/>
            <a:ext cx="594360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worked all day</a:t>
            </a:r>
            <a:endParaRPr lang="en-US" sz="2200" dirty="0"/>
          </a:p>
        </p:txBody>
      </p:sp>
      <p:sp>
        <p:nvSpPr>
          <p:cNvPr id="72" name="Option 21"/>
          <p:cNvSpPr/>
          <p:nvPr/>
        </p:nvSpPr>
        <p:spPr>
          <a:xfrm>
            <a:off x="6583680" y="339242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Marco</a:t>
            </a:r>
            <a:endParaRPr lang="en-US" sz="2000" dirty="0"/>
          </a:p>
        </p:txBody>
      </p:sp>
      <p:sp>
        <p:nvSpPr>
          <p:cNvPr id="73" name="Option 22"/>
          <p:cNvSpPr/>
          <p:nvPr/>
        </p:nvSpPr>
        <p:spPr>
          <a:xfrm>
            <a:off x="8275320" y="339242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Kim</a:t>
            </a:r>
            <a:endParaRPr lang="en-US" sz="2000" dirty="0"/>
          </a:p>
        </p:txBody>
      </p:sp>
      <p:sp>
        <p:nvSpPr>
          <p:cNvPr id="74" name="Circle 2"/>
          <p:cNvSpPr/>
          <p:nvPr/>
        </p:nvSpPr>
        <p:spPr>
          <a:xfrm>
            <a:off x="8147304" y="3328416"/>
            <a:ext cx="171907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5" name="Statement 3"/>
          <p:cNvSpPr/>
          <p:nvPr/>
        </p:nvSpPr>
        <p:spPr>
          <a:xfrm>
            <a:off x="502920" y="4023360"/>
            <a:ext cx="594360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played soccer</a:t>
            </a:r>
            <a:endParaRPr lang="en-US" sz="2200" dirty="0"/>
          </a:p>
        </p:txBody>
      </p:sp>
      <p:sp>
        <p:nvSpPr>
          <p:cNvPr id="76" name="Option 31"/>
          <p:cNvSpPr/>
          <p:nvPr/>
        </p:nvSpPr>
        <p:spPr>
          <a:xfrm>
            <a:off x="6583680" y="403250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Marco</a:t>
            </a:r>
            <a:endParaRPr lang="en-US" sz="2000" dirty="0"/>
          </a:p>
        </p:txBody>
      </p:sp>
      <p:sp>
        <p:nvSpPr>
          <p:cNvPr id="77" name="Option 32"/>
          <p:cNvSpPr/>
          <p:nvPr/>
        </p:nvSpPr>
        <p:spPr>
          <a:xfrm>
            <a:off x="8275320" y="403250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Kim</a:t>
            </a:r>
            <a:endParaRPr lang="en-US" sz="2000" dirty="0"/>
          </a:p>
        </p:txBody>
      </p:sp>
      <p:sp>
        <p:nvSpPr>
          <p:cNvPr id="78" name="Circle 3"/>
          <p:cNvSpPr/>
          <p:nvPr/>
        </p:nvSpPr>
        <p:spPr>
          <a:xfrm>
            <a:off x="6455664" y="3968496"/>
            <a:ext cx="171907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9" name="Statement 4"/>
          <p:cNvSpPr/>
          <p:nvPr/>
        </p:nvSpPr>
        <p:spPr>
          <a:xfrm>
            <a:off x="502920" y="4663440"/>
            <a:ext cx="594360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cleaned the house</a:t>
            </a:r>
            <a:endParaRPr lang="en-US" sz="2200" dirty="0"/>
          </a:p>
        </p:txBody>
      </p:sp>
      <p:sp>
        <p:nvSpPr>
          <p:cNvPr id="80" name="Option 41"/>
          <p:cNvSpPr/>
          <p:nvPr/>
        </p:nvSpPr>
        <p:spPr>
          <a:xfrm>
            <a:off x="6583680" y="467258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Marco</a:t>
            </a:r>
            <a:endParaRPr lang="en-US" sz="2000" dirty="0"/>
          </a:p>
        </p:txBody>
      </p:sp>
      <p:sp>
        <p:nvSpPr>
          <p:cNvPr id="81" name="Option 42"/>
          <p:cNvSpPr/>
          <p:nvPr/>
        </p:nvSpPr>
        <p:spPr>
          <a:xfrm>
            <a:off x="8275320" y="467258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Kim</a:t>
            </a:r>
            <a:endParaRPr lang="en-US" sz="2000" dirty="0"/>
          </a:p>
        </p:txBody>
      </p:sp>
      <p:sp>
        <p:nvSpPr>
          <p:cNvPr id="82" name="Circle 4"/>
          <p:cNvSpPr/>
          <p:nvPr/>
        </p:nvSpPr>
        <p:spPr>
          <a:xfrm>
            <a:off x="8147304" y="4608576"/>
            <a:ext cx="171907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3" name="Statement 5"/>
          <p:cNvSpPr/>
          <p:nvPr/>
        </p:nvSpPr>
        <p:spPr>
          <a:xfrm>
            <a:off x="502920" y="5303520"/>
            <a:ext cx="594360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watched a movie</a:t>
            </a:r>
            <a:endParaRPr lang="en-US" sz="2200" dirty="0"/>
          </a:p>
        </p:txBody>
      </p:sp>
      <p:sp>
        <p:nvSpPr>
          <p:cNvPr id="84" name="Option 51"/>
          <p:cNvSpPr/>
          <p:nvPr/>
        </p:nvSpPr>
        <p:spPr>
          <a:xfrm>
            <a:off x="6583680" y="531266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Marco</a:t>
            </a:r>
            <a:endParaRPr lang="en-US" sz="2000" dirty="0"/>
          </a:p>
        </p:txBody>
      </p:sp>
      <p:sp>
        <p:nvSpPr>
          <p:cNvPr id="85" name="Option 52"/>
          <p:cNvSpPr/>
          <p:nvPr/>
        </p:nvSpPr>
        <p:spPr>
          <a:xfrm>
            <a:off x="8275320" y="531266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Kim</a:t>
            </a:r>
            <a:endParaRPr lang="en-US" sz="2000" dirty="0"/>
          </a:p>
        </p:txBody>
      </p:sp>
      <p:sp>
        <p:nvSpPr>
          <p:cNvPr id="86" name="Circle 5"/>
          <p:cNvSpPr/>
          <p:nvPr/>
        </p:nvSpPr>
        <p:spPr>
          <a:xfrm>
            <a:off x="8147304" y="5248656"/>
            <a:ext cx="171907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7" name="Statement 6"/>
          <p:cNvSpPr/>
          <p:nvPr/>
        </p:nvSpPr>
        <p:spPr>
          <a:xfrm>
            <a:off x="502920" y="5943600"/>
            <a:ext cx="594360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6. cooked a big lunch</a:t>
            </a:r>
            <a:endParaRPr lang="en-US" sz="2200" dirty="0"/>
          </a:p>
        </p:txBody>
      </p:sp>
      <p:sp>
        <p:nvSpPr>
          <p:cNvPr id="88" name="Option 61"/>
          <p:cNvSpPr/>
          <p:nvPr/>
        </p:nvSpPr>
        <p:spPr>
          <a:xfrm>
            <a:off x="6583680" y="595274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Marco</a:t>
            </a:r>
            <a:endParaRPr lang="en-US" sz="2000" dirty="0"/>
          </a:p>
        </p:txBody>
      </p:sp>
      <p:sp>
        <p:nvSpPr>
          <p:cNvPr id="89" name="Option 62"/>
          <p:cNvSpPr/>
          <p:nvPr/>
        </p:nvSpPr>
        <p:spPr>
          <a:xfrm>
            <a:off x="8275320" y="595274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Kim</a:t>
            </a:r>
            <a:endParaRPr lang="en-US" sz="2000" dirty="0"/>
          </a:p>
        </p:txBody>
      </p:sp>
      <p:sp>
        <p:nvSpPr>
          <p:cNvPr id="90" name="Circle 6"/>
          <p:cNvSpPr/>
          <p:nvPr/>
        </p:nvSpPr>
        <p:spPr>
          <a:xfrm>
            <a:off x="6455664" y="5888736"/>
            <a:ext cx="171907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000" dirty="0"/>
          </a:p>
        </p:txBody>
      </p:sp>
      <p:sp>
        <p:nvSpPr>
          <p:cNvPr id="22" name="Shape 20"/>
          <p:cNvSpPr/>
          <p:nvPr/>
        </p:nvSpPr>
        <p:spPr>
          <a:xfrm>
            <a:off x="4702759" y="5703113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761248" y="5694015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900000">
            <a:off x="4962710" y="5906524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65" name="Subtitle"/>
          <p:cNvSpPr/>
          <p:nvPr/>
        </p:nvSpPr>
        <p:spPr>
          <a:xfrm>
            <a:off x="771754" y="2148840"/>
            <a:ext cx="457200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Circle.</a:t>
            </a:r>
            <a:endParaRPr lang="en-US" sz="2000" dirty="0"/>
          </a:p>
        </p:txBody>
      </p:sp>
      <p:pic>
        <p:nvPicPr>
          <p:cNvPr id="66" name="Picture 66" descr="L5_watched_a_movie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274674" y="3680460"/>
            <a:ext cx="3450031" cy="2415022"/>
          </a:xfrm>
          <a:prstGeom prst="rect">
            <a:avLst/>
          </a:prstGeom>
        </p:spPr>
      </p:pic>
      <p:sp>
        <p:nvSpPr>
          <p:cNvPr id="67" name="Row shadow"/>
          <p:cNvSpPr/>
          <p:nvPr/>
        </p:nvSpPr>
        <p:spPr>
          <a:xfrm>
            <a:off x="5970118" y="1153973"/>
            <a:ext cx="5897880" cy="118872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8" name="Row"/>
          <p:cNvSpPr/>
          <p:nvPr/>
        </p:nvSpPr>
        <p:spPr>
          <a:xfrm>
            <a:off x="5897880" y="1097280"/>
            <a:ext cx="5897880" cy="1188720"/>
          </a:xfrm>
          <a:prstGeom prst="round1Rect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9" name="Row num"/>
          <p:cNvSpPr/>
          <p:nvPr/>
        </p:nvSpPr>
        <p:spPr>
          <a:xfrm>
            <a:off x="6035040" y="1352398"/>
            <a:ext cx="678485" cy="678485"/>
          </a:xfrm>
          <a:prstGeom prst="ellipse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70" name="Row question"/>
          <p:cNvSpPr/>
          <p:nvPr/>
        </p:nvSpPr>
        <p:spPr>
          <a:xfrm>
            <a:off x="6858000" y="1170432"/>
            <a:ext cx="48006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Marco's weekend was ...</a:t>
            </a:r>
            <a:endParaRPr lang="en-US" sz="2200" dirty="0"/>
          </a:p>
        </p:txBody>
      </p:sp>
      <p:sp>
        <p:nvSpPr>
          <p:cNvPr id="71" name="Option"/>
          <p:cNvSpPr/>
          <p:nvPr/>
        </p:nvSpPr>
        <p:spPr>
          <a:xfrm>
            <a:off x="6858000" y="1719072"/>
            <a:ext cx="1097280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great</a:t>
            </a:r>
            <a:endParaRPr lang="en-US" sz="2000" dirty="0"/>
          </a:p>
        </p:txBody>
      </p:sp>
      <p:sp>
        <p:nvSpPr>
          <p:cNvPr id="72" name="Circle 1"/>
          <p:cNvSpPr/>
          <p:nvPr/>
        </p:nvSpPr>
        <p:spPr>
          <a:xfrm>
            <a:off x="6748272" y="1655064"/>
            <a:ext cx="1316736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3" name="Option"/>
          <p:cNvSpPr/>
          <p:nvPr/>
        </p:nvSpPr>
        <p:spPr>
          <a:xfrm>
            <a:off x="8065008" y="1719072"/>
            <a:ext cx="1163117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boring</a:t>
            </a:r>
            <a:endParaRPr lang="en-US" sz="2000" dirty="0"/>
          </a:p>
        </p:txBody>
      </p:sp>
      <p:sp>
        <p:nvSpPr>
          <p:cNvPr id="74" name="Option"/>
          <p:cNvSpPr/>
          <p:nvPr/>
        </p:nvSpPr>
        <p:spPr>
          <a:xfrm>
            <a:off x="9337853" y="1719072"/>
            <a:ext cx="1459382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terrible</a:t>
            </a:r>
            <a:endParaRPr lang="en-US" sz="2000" dirty="0"/>
          </a:p>
        </p:txBody>
      </p:sp>
      <p:sp>
        <p:nvSpPr>
          <p:cNvPr id="75" name="Row shadow"/>
          <p:cNvSpPr/>
          <p:nvPr/>
        </p:nvSpPr>
        <p:spPr>
          <a:xfrm>
            <a:off x="5970118" y="2452421"/>
            <a:ext cx="5897880" cy="118872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6" name="Row"/>
          <p:cNvSpPr/>
          <p:nvPr/>
        </p:nvSpPr>
        <p:spPr>
          <a:xfrm>
            <a:off x="5897880" y="2395728"/>
            <a:ext cx="5897880" cy="1188720"/>
          </a:xfrm>
          <a:prstGeom prst="round1Rect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7" name="Row num"/>
          <p:cNvSpPr/>
          <p:nvPr/>
        </p:nvSpPr>
        <p:spPr>
          <a:xfrm>
            <a:off x="6035040" y="2650846"/>
            <a:ext cx="678485" cy="678485"/>
          </a:xfrm>
          <a:prstGeom prst="ellipse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78" name="Row question"/>
          <p:cNvSpPr/>
          <p:nvPr/>
        </p:nvSpPr>
        <p:spPr>
          <a:xfrm>
            <a:off x="6858000" y="2468880"/>
            <a:ext cx="48006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Kim's weekend was ...</a:t>
            </a:r>
            <a:endParaRPr lang="en-US" sz="2200" dirty="0"/>
          </a:p>
        </p:txBody>
      </p:sp>
      <p:sp>
        <p:nvSpPr>
          <p:cNvPr id="79" name="Option"/>
          <p:cNvSpPr/>
          <p:nvPr/>
        </p:nvSpPr>
        <p:spPr>
          <a:xfrm>
            <a:off x="6858000" y="3017520"/>
            <a:ext cx="1097280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fun</a:t>
            </a:r>
            <a:endParaRPr lang="en-US" sz="2000" dirty="0"/>
          </a:p>
        </p:txBody>
      </p:sp>
      <p:sp>
        <p:nvSpPr>
          <p:cNvPr id="80" name="Option"/>
          <p:cNvSpPr/>
          <p:nvPr/>
        </p:nvSpPr>
        <p:spPr>
          <a:xfrm>
            <a:off x="8065008" y="3017520"/>
            <a:ext cx="1163117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boring</a:t>
            </a:r>
            <a:endParaRPr lang="en-US" sz="2000" dirty="0"/>
          </a:p>
        </p:txBody>
      </p:sp>
      <p:sp>
        <p:nvSpPr>
          <p:cNvPr id="81" name="Circle 2"/>
          <p:cNvSpPr/>
          <p:nvPr/>
        </p:nvSpPr>
        <p:spPr>
          <a:xfrm>
            <a:off x="7955280" y="2953512"/>
            <a:ext cx="1382573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2" name="Option"/>
          <p:cNvSpPr/>
          <p:nvPr/>
        </p:nvSpPr>
        <p:spPr>
          <a:xfrm>
            <a:off x="9337853" y="3017520"/>
            <a:ext cx="1097280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great</a:t>
            </a:r>
            <a:endParaRPr lang="en-US" sz="2000" dirty="0"/>
          </a:p>
        </p:txBody>
      </p:sp>
      <p:sp>
        <p:nvSpPr>
          <p:cNvPr id="83" name="Row shadow"/>
          <p:cNvSpPr/>
          <p:nvPr/>
        </p:nvSpPr>
        <p:spPr>
          <a:xfrm>
            <a:off x="5970118" y="3750869"/>
            <a:ext cx="5897880" cy="118872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4" name="Row"/>
          <p:cNvSpPr/>
          <p:nvPr/>
        </p:nvSpPr>
        <p:spPr>
          <a:xfrm>
            <a:off x="5897880" y="3694176"/>
            <a:ext cx="5897880" cy="1188720"/>
          </a:xfrm>
          <a:prstGeom prst="round1Rect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5" name="Row num"/>
          <p:cNvSpPr/>
          <p:nvPr/>
        </p:nvSpPr>
        <p:spPr>
          <a:xfrm>
            <a:off x="6035040" y="3949294"/>
            <a:ext cx="678485" cy="678485"/>
          </a:xfrm>
          <a:prstGeom prst="ellipse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2000" dirty="0"/>
          </a:p>
        </p:txBody>
      </p:sp>
      <p:sp>
        <p:nvSpPr>
          <p:cNvPr id="86" name="Row question"/>
          <p:cNvSpPr/>
          <p:nvPr/>
        </p:nvSpPr>
        <p:spPr>
          <a:xfrm>
            <a:off x="6858000" y="3767328"/>
            <a:ext cx="48006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Kim's movie was ...</a:t>
            </a:r>
            <a:endParaRPr lang="en-US" sz="2200" dirty="0"/>
          </a:p>
        </p:txBody>
      </p:sp>
      <p:sp>
        <p:nvSpPr>
          <p:cNvPr id="87" name="Option"/>
          <p:cNvSpPr/>
          <p:nvPr/>
        </p:nvSpPr>
        <p:spPr>
          <a:xfrm>
            <a:off x="6858000" y="4315968"/>
            <a:ext cx="1097280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</a:t>
            </a:r>
            <a:endParaRPr lang="en-US" sz="2000" dirty="0"/>
          </a:p>
        </p:txBody>
      </p:sp>
      <p:sp>
        <p:nvSpPr>
          <p:cNvPr id="88" name="Option"/>
          <p:cNvSpPr/>
          <p:nvPr/>
        </p:nvSpPr>
        <p:spPr>
          <a:xfrm>
            <a:off x="8065008" y="4315968"/>
            <a:ext cx="1097280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funny</a:t>
            </a:r>
            <a:endParaRPr lang="en-US" sz="2000" dirty="0"/>
          </a:p>
        </p:txBody>
      </p:sp>
      <p:sp>
        <p:nvSpPr>
          <p:cNvPr id="89" name="Option"/>
          <p:cNvSpPr/>
          <p:nvPr/>
        </p:nvSpPr>
        <p:spPr>
          <a:xfrm>
            <a:off x="9272016" y="4315968"/>
            <a:ext cx="1459382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terrible</a:t>
            </a:r>
            <a:endParaRPr lang="en-US" sz="2000" dirty="0"/>
          </a:p>
        </p:txBody>
      </p:sp>
      <p:sp>
        <p:nvSpPr>
          <p:cNvPr id="90" name="Circle 3"/>
          <p:cNvSpPr/>
          <p:nvPr/>
        </p:nvSpPr>
        <p:spPr>
          <a:xfrm>
            <a:off x="9162288" y="4251960"/>
            <a:ext cx="1678838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91" name="Row shadow"/>
          <p:cNvSpPr/>
          <p:nvPr/>
        </p:nvSpPr>
        <p:spPr>
          <a:xfrm>
            <a:off x="5970118" y="5049317"/>
            <a:ext cx="5897880" cy="118872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92" name="Row"/>
          <p:cNvSpPr/>
          <p:nvPr/>
        </p:nvSpPr>
        <p:spPr>
          <a:xfrm>
            <a:off x="5897880" y="4992624"/>
            <a:ext cx="5897880" cy="1188720"/>
          </a:xfrm>
          <a:prstGeom prst="round1Rect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93" name="Row num"/>
          <p:cNvSpPr/>
          <p:nvPr/>
        </p:nvSpPr>
        <p:spPr>
          <a:xfrm>
            <a:off x="6035040" y="5247742"/>
            <a:ext cx="678485" cy="678485"/>
          </a:xfrm>
          <a:prstGeom prst="ellipse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2000" dirty="0"/>
          </a:p>
        </p:txBody>
      </p:sp>
      <p:sp>
        <p:nvSpPr>
          <p:cNvPr id="94" name="Row question"/>
          <p:cNvSpPr/>
          <p:nvPr/>
        </p:nvSpPr>
        <p:spPr>
          <a:xfrm>
            <a:off x="6858000" y="5065776"/>
            <a:ext cx="48006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stopped it after ...</a:t>
            </a:r>
            <a:endParaRPr lang="en-US" sz="2200" dirty="0"/>
          </a:p>
        </p:txBody>
      </p:sp>
      <p:sp>
        <p:nvSpPr>
          <p:cNvPr id="95" name="Option"/>
          <p:cNvSpPr/>
          <p:nvPr/>
        </p:nvSpPr>
        <p:spPr>
          <a:xfrm>
            <a:off x="6858000" y="5614416"/>
            <a:ext cx="1097280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10</a:t>
            </a:r>
            <a:endParaRPr lang="en-US" sz="2000" dirty="0"/>
          </a:p>
        </p:txBody>
      </p:sp>
      <p:sp>
        <p:nvSpPr>
          <p:cNvPr id="96" name="Option"/>
          <p:cNvSpPr/>
          <p:nvPr/>
        </p:nvSpPr>
        <p:spPr>
          <a:xfrm>
            <a:off x="8065008" y="5614416"/>
            <a:ext cx="1097280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20</a:t>
            </a:r>
            <a:endParaRPr lang="en-US" sz="2000" dirty="0"/>
          </a:p>
        </p:txBody>
      </p:sp>
      <p:sp>
        <p:nvSpPr>
          <p:cNvPr id="97" name="Circle 4"/>
          <p:cNvSpPr/>
          <p:nvPr/>
        </p:nvSpPr>
        <p:spPr>
          <a:xfrm>
            <a:off x="7955280" y="5550408"/>
            <a:ext cx="1316736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98" name="Option"/>
          <p:cNvSpPr/>
          <p:nvPr/>
        </p:nvSpPr>
        <p:spPr>
          <a:xfrm>
            <a:off x="9272016" y="5614416"/>
            <a:ext cx="1755648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30 minutes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977640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828032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678424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6484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____ great, thanks.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977640"/>
            <a:ext cx="340339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____ a big lunch together.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828032"/>
            <a:ext cx="36484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you tired this morning?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678424"/>
            <a:ext cx="324063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 Sunday, I ____ the house.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27248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977640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977640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828032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828032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678424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678424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Kim says I cleaned the house.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or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42" name="Answer 1"/>
          <p:cNvSpPr/>
          <p:nvPr/>
        </p:nvSpPr>
        <p:spPr>
          <a:xfrm>
            <a:off x="5532120" y="3278124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endParaRPr lang="en-US" sz="2200" dirty="0"/>
          </a:p>
        </p:txBody>
      </p:sp>
      <p:sp>
        <p:nvSpPr>
          <p:cNvPr id="43" name="Answer 2"/>
          <p:cNvSpPr/>
          <p:nvPr/>
        </p:nvSpPr>
        <p:spPr>
          <a:xfrm>
            <a:off x="5287061" y="4128516"/>
            <a:ext cx="1296619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cooked</a:t>
            </a:r>
            <a:endParaRPr lang="en-US" sz="2200" dirty="0"/>
          </a:p>
        </p:txBody>
      </p:sp>
      <p:sp>
        <p:nvSpPr>
          <p:cNvPr id="44" name="Answer 3"/>
          <p:cNvSpPr/>
          <p:nvPr/>
        </p:nvSpPr>
        <p:spPr>
          <a:xfrm>
            <a:off x="5532120" y="4978908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endParaRPr lang="en-US" sz="2200" dirty="0"/>
          </a:p>
        </p:txBody>
      </p:sp>
      <p:sp>
        <p:nvSpPr>
          <p:cNvPr id="45" name="Answer 4"/>
          <p:cNvSpPr/>
          <p:nvPr/>
        </p:nvSpPr>
        <p:spPr>
          <a:xfrm>
            <a:off x="5124298" y="5829300"/>
            <a:ext cx="1459382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cleaned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2786" y="3649370"/>
            <a:ext cx="4912157" cy="256123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32104" y="137160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was ...?</a:t>
            </a:r>
            <a:endParaRPr lang="en-US" sz="32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it ...?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305763" y="3649370"/>
            <a:ext cx="4790542" cy="2599639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41578" y="3253435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3874" y="3240634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1107338" y="3539642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42" name="Picture 42" descr="L5_fun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598664" y="1216152"/>
            <a:ext cx="3254350" cy="2278045"/>
          </a:xfrm>
          <a:prstGeom prst="rect">
            <a:avLst/>
          </a:prstGeom>
        </p:spPr>
      </p:pic>
      <p:sp>
        <p:nvSpPr>
          <p:cNvPr id="43" name="Q head"/>
          <p:cNvSpPr/>
          <p:nvPr/>
        </p:nvSpPr>
        <p:spPr>
          <a:xfrm>
            <a:off x="1920240" y="3794760"/>
            <a:ext cx="40233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44" name="A head"/>
          <p:cNvSpPr/>
          <p:nvPr/>
        </p:nvSpPr>
        <p:spPr>
          <a:xfrm>
            <a:off x="7040880" y="379476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45" name="Highlight"/>
          <p:cNvSpPr/>
          <p:nvPr/>
        </p:nvSpPr>
        <p:spPr>
          <a:xfrm>
            <a:off x="1481328" y="4453128"/>
            <a:ext cx="11887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6" name="Helper"/>
          <p:cNvSpPr/>
          <p:nvPr/>
        </p:nvSpPr>
        <p:spPr>
          <a:xfrm>
            <a:off x="1481328" y="4315968"/>
            <a:ext cx="118872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</a:t>
            </a:r>
            <a:endParaRPr lang="en-US" sz="2600" dirty="0"/>
          </a:p>
        </p:txBody>
      </p:sp>
      <p:sp>
        <p:nvSpPr>
          <p:cNvPr id="47" name="Question"/>
          <p:cNvSpPr/>
          <p:nvPr/>
        </p:nvSpPr>
        <p:spPr>
          <a:xfrm>
            <a:off x="2697480" y="4315968"/>
            <a:ext cx="329184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your weekend?</a:t>
            </a:r>
            <a:endParaRPr lang="en-US" sz="2200" dirty="0"/>
          </a:p>
        </p:txBody>
      </p:sp>
      <p:sp>
        <p:nvSpPr>
          <p:cNvPr id="49" name="Answer bg"/>
          <p:cNvSpPr/>
          <p:nvPr/>
        </p:nvSpPr>
        <p:spPr>
          <a:xfrm>
            <a:off x="6949440" y="43342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8" name="Answer"/>
          <p:cNvSpPr/>
          <p:nvPr/>
        </p:nvSpPr>
        <p:spPr>
          <a:xfrm>
            <a:off x="6949440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great.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boring.</a:t>
            </a:r>
            <a:endParaRPr lang="en-US" sz="2200" dirty="0"/>
          </a:p>
        </p:txBody>
      </p:sp>
      <p:sp>
        <p:nvSpPr>
          <p:cNvPr id="50" name="Highlight"/>
          <p:cNvSpPr/>
          <p:nvPr/>
        </p:nvSpPr>
        <p:spPr>
          <a:xfrm>
            <a:off x="1481328" y="5367528"/>
            <a:ext cx="11887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1" name="Helper"/>
          <p:cNvSpPr/>
          <p:nvPr/>
        </p:nvSpPr>
        <p:spPr>
          <a:xfrm>
            <a:off x="1481328" y="5230368"/>
            <a:ext cx="118872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endParaRPr lang="en-US" sz="2600" dirty="0"/>
          </a:p>
        </p:txBody>
      </p:sp>
      <p:sp>
        <p:nvSpPr>
          <p:cNvPr id="52" name="Question"/>
          <p:cNvSpPr/>
          <p:nvPr/>
        </p:nvSpPr>
        <p:spPr>
          <a:xfrm>
            <a:off x="2697480" y="5230368"/>
            <a:ext cx="329184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fun?</a:t>
            </a:r>
            <a:endParaRPr lang="en-US" sz="2200" dirty="0"/>
          </a:p>
        </p:txBody>
      </p:sp>
      <p:sp>
        <p:nvSpPr>
          <p:cNvPr id="54" name="Answer bg"/>
          <p:cNvSpPr/>
          <p:nvPr/>
        </p:nvSpPr>
        <p:spPr>
          <a:xfrm>
            <a:off x="6949440" y="52486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3" name="Answer"/>
          <p:cNvSpPr/>
          <p:nvPr/>
        </p:nvSpPr>
        <p:spPr>
          <a:xfrm>
            <a:off x="6949440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it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it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1163345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1087222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333695" y="12801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 you ...?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16636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41664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245852" y="247893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328148" y="2466137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rot="900000">
            <a:off x="10611612" y="2765146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44" name="Picture 44" descr="L5_tired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99516" y="2264969"/>
            <a:ext cx="3326587" cy="2328611"/>
          </a:xfrm>
          <a:prstGeom prst="rect">
            <a:avLst/>
          </a:prstGeom>
        </p:spPr>
      </p:pic>
      <p:sp>
        <p:nvSpPr>
          <p:cNvPr id="45" name="Highlight"/>
          <p:cNvSpPr/>
          <p:nvPr/>
        </p:nvSpPr>
        <p:spPr>
          <a:xfrm>
            <a:off x="5138928" y="38999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6" name="Helper"/>
          <p:cNvSpPr/>
          <p:nvPr/>
        </p:nvSpPr>
        <p:spPr>
          <a:xfrm>
            <a:off x="5138928" y="37490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endParaRPr lang="en-US" sz="2600" dirty="0"/>
          </a:p>
        </p:txBody>
      </p:sp>
      <p:sp>
        <p:nvSpPr>
          <p:cNvPr id="47" name="Question"/>
          <p:cNvSpPr/>
          <p:nvPr/>
        </p:nvSpPr>
        <p:spPr>
          <a:xfrm>
            <a:off x="6144768" y="37490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busy?</a:t>
            </a:r>
            <a:endParaRPr lang="en-US" sz="2200" dirty="0"/>
          </a:p>
        </p:txBody>
      </p:sp>
      <p:sp>
        <p:nvSpPr>
          <p:cNvPr id="49" name="Answer bg"/>
          <p:cNvSpPr/>
          <p:nvPr/>
        </p:nvSpPr>
        <p:spPr>
          <a:xfrm>
            <a:off x="8668512" y="37490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8" name="Answer"/>
          <p:cNvSpPr/>
          <p:nvPr/>
        </p:nvSpPr>
        <p:spPr>
          <a:xfrm>
            <a:off x="8668512" y="37490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50" name="Highlight"/>
          <p:cNvSpPr/>
          <p:nvPr/>
        </p:nvSpPr>
        <p:spPr>
          <a:xfrm>
            <a:off x="5138928" y="48143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1" name="Helper"/>
          <p:cNvSpPr/>
          <p:nvPr/>
        </p:nvSpPr>
        <p:spPr>
          <a:xfrm>
            <a:off x="5138928" y="46634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endParaRPr lang="en-US" sz="2600" dirty="0"/>
          </a:p>
        </p:txBody>
      </p:sp>
      <p:sp>
        <p:nvSpPr>
          <p:cNvPr id="52" name="Question"/>
          <p:cNvSpPr/>
          <p:nvPr/>
        </p:nvSpPr>
        <p:spPr>
          <a:xfrm>
            <a:off x="6144768" y="46634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tired?</a:t>
            </a:r>
            <a:endParaRPr lang="en-US" sz="2200" dirty="0"/>
          </a:p>
        </p:txBody>
      </p:sp>
      <p:sp>
        <p:nvSpPr>
          <p:cNvPr id="54" name="Answer bg"/>
          <p:cNvSpPr/>
          <p:nvPr/>
        </p:nvSpPr>
        <p:spPr>
          <a:xfrm>
            <a:off x="8668512" y="46634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3" name="Answer"/>
          <p:cNvSpPr/>
          <p:nvPr/>
        </p:nvSpPr>
        <p:spPr>
          <a:xfrm>
            <a:off x="8668512" y="46634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she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she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55" name="Highlight"/>
          <p:cNvSpPr/>
          <p:nvPr/>
        </p:nvSpPr>
        <p:spPr>
          <a:xfrm>
            <a:off x="5138928" y="57287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6" name="Helper"/>
          <p:cNvSpPr/>
          <p:nvPr/>
        </p:nvSpPr>
        <p:spPr>
          <a:xfrm>
            <a:off x="5138928" y="55778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endParaRPr lang="en-US" sz="2600" dirty="0"/>
          </a:p>
        </p:txBody>
      </p:sp>
      <p:sp>
        <p:nvSpPr>
          <p:cNvPr id="57" name="Question"/>
          <p:cNvSpPr/>
          <p:nvPr/>
        </p:nvSpPr>
        <p:spPr>
          <a:xfrm>
            <a:off x="6144768" y="55778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at home?</a:t>
            </a:r>
            <a:endParaRPr lang="en-US" sz="2200" dirty="0"/>
          </a:p>
        </p:txBody>
      </p:sp>
      <p:sp>
        <p:nvSpPr>
          <p:cNvPr id="59" name="Answer bg"/>
          <p:cNvSpPr/>
          <p:nvPr/>
        </p:nvSpPr>
        <p:spPr>
          <a:xfrm>
            <a:off x="8668512" y="55778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8" name="Answer"/>
          <p:cNvSpPr/>
          <p:nvPr/>
        </p:nvSpPr>
        <p:spPr>
          <a:xfrm>
            <a:off x="8668512" y="55778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they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they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do?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with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-ed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</p:txBody>
      </p:sp>
      <p:pic>
        <p:nvPicPr>
          <p:cNvPr id="65" name="Picture 65" descr="L5_cleaned_the_house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66" name="Wh"/>
          <p:cNvSpPr/>
          <p:nvPr/>
        </p:nvSpPr>
        <p:spPr>
          <a:xfrm>
            <a:off x="3520440" y="4114800"/>
            <a:ext cx="90799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</a:t>
            </a:r>
            <a:endParaRPr lang="en-US" sz="2200" dirty="0"/>
          </a:p>
        </p:txBody>
      </p:sp>
      <p:sp>
        <p:nvSpPr>
          <p:cNvPr id="67" name="Highlight"/>
          <p:cNvSpPr/>
          <p:nvPr/>
        </p:nvSpPr>
        <p:spPr>
          <a:xfrm>
            <a:off x="4428439" y="4114800"/>
            <a:ext cx="799551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8" name="Helper"/>
          <p:cNvSpPr/>
          <p:nvPr/>
        </p:nvSpPr>
        <p:spPr>
          <a:xfrm>
            <a:off x="4428439" y="4114800"/>
            <a:ext cx="799551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endParaRPr lang="en-US" sz="2200" dirty="0"/>
          </a:p>
        </p:txBody>
      </p:sp>
      <p:sp>
        <p:nvSpPr>
          <p:cNvPr id="69" name="Rest"/>
          <p:cNvSpPr/>
          <p:nvPr/>
        </p:nvSpPr>
        <p:spPr>
          <a:xfrm>
            <a:off x="5282855" y="4114800"/>
            <a:ext cx="1239012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do?</a:t>
            </a:r>
            <a:endParaRPr lang="en-US" sz="2200" dirty="0"/>
          </a:p>
        </p:txBody>
      </p:sp>
      <p:sp>
        <p:nvSpPr>
          <p:cNvPr id="70" name="Wh"/>
          <p:cNvSpPr/>
          <p:nvPr/>
        </p:nvSpPr>
        <p:spPr>
          <a:xfrm>
            <a:off x="3520440" y="4846320"/>
            <a:ext cx="90799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</a:t>
            </a:r>
            <a:endParaRPr lang="en-US" sz="2200" dirty="0"/>
          </a:p>
        </p:txBody>
      </p:sp>
      <p:sp>
        <p:nvSpPr>
          <p:cNvPr id="71" name="Highlight"/>
          <p:cNvSpPr/>
          <p:nvPr/>
        </p:nvSpPr>
        <p:spPr>
          <a:xfrm>
            <a:off x="4428439" y="4846320"/>
            <a:ext cx="799551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2" name="Helper"/>
          <p:cNvSpPr/>
          <p:nvPr/>
        </p:nvSpPr>
        <p:spPr>
          <a:xfrm>
            <a:off x="4428439" y="4846320"/>
            <a:ext cx="799551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endParaRPr lang="en-US" sz="2200" dirty="0"/>
          </a:p>
        </p:txBody>
      </p:sp>
      <p:sp>
        <p:nvSpPr>
          <p:cNvPr id="73" name="Rest"/>
          <p:cNvSpPr/>
          <p:nvPr/>
        </p:nvSpPr>
        <p:spPr>
          <a:xfrm>
            <a:off x="5282855" y="4846320"/>
            <a:ext cx="1239012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do?</a:t>
            </a:r>
            <a:endParaRPr lang="en-US" sz="2200" dirty="0"/>
          </a:p>
        </p:txBody>
      </p:sp>
      <p:sp>
        <p:nvSpPr>
          <p:cNvPr id="74" name="Wh"/>
          <p:cNvSpPr/>
          <p:nvPr/>
        </p:nvSpPr>
        <p:spPr>
          <a:xfrm>
            <a:off x="3520440" y="5577840"/>
            <a:ext cx="90799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</a:t>
            </a:r>
            <a:endParaRPr lang="en-US" sz="2200" dirty="0"/>
          </a:p>
        </p:txBody>
      </p:sp>
      <p:sp>
        <p:nvSpPr>
          <p:cNvPr id="75" name="Highlight"/>
          <p:cNvSpPr/>
          <p:nvPr/>
        </p:nvSpPr>
        <p:spPr>
          <a:xfrm>
            <a:off x="4428439" y="5577840"/>
            <a:ext cx="799551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6" name="Helper"/>
          <p:cNvSpPr/>
          <p:nvPr/>
        </p:nvSpPr>
        <p:spPr>
          <a:xfrm>
            <a:off x="4428439" y="5577840"/>
            <a:ext cx="799551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endParaRPr lang="en-US" sz="2200" dirty="0"/>
          </a:p>
        </p:txBody>
      </p:sp>
      <p:sp>
        <p:nvSpPr>
          <p:cNvPr id="77" name="Rest"/>
          <p:cNvSpPr/>
          <p:nvPr/>
        </p:nvSpPr>
        <p:spPr>
          <a:xfrm>
            <a:off x="5282855" y="5577840"/>
            <a:ext cx="108813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do?</a:t>
            </a:r>
            <a:endParaRPr lang="en-US" sz="2200" dirty="0"/>
          </a:p>
        </p:txBody>
      </p:sp>
      <p:sp>
        <p:nvSpPr>
          <p:cNvPr id="78" name="Card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Answers</a:t>
            </a:r>
            <a:endParaRPr lang="en-US" sz="2400" dirty="0"/>
          </a:p>
        </p:txBody>
      </p:sp>
      <p:sp>
        <p:nvSpPr>
          <p:cNvPr id="79" name="Card item"/>
          <p:cNvSpPr/>
          <p:nvPr/>
        </p:nvSpPr>
        <p:spPr>
          <a:xfrm>
            <a:off x="8549640" y="1920240"/>
            <a:ext cx="3017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clean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ed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house.</a:t>
            </a:r>
            <a:endParaRPr lang="en-US" sz="2000" dirty="0"/>
          </a:p>
        </p:txBody>
      </p:sp>
      <p:sp>
        <p:nvSpPr>
          <p:cNvPr id="80" name="Card item"/>
          <p:cNvSpPr/>
          <p:nvPr/>
        </p:nvSpPr>
        <p:spPr>
          <a:xfrm>
            <a:off x="8549640" y="2724912"/>
            <a:ext cx="3017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watch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ed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movie.</a:t>
            </a:r>
            <a:endParaRPr lang="en-US" sz="2000" dirty="0"/>
          </a:p>
        </p:txBody>
      </p:sp>
      <p:sp>
        <p:nvSpPr>
          <p:cNvPr id="81" name="Card item"/>
          <p:cNvSpPr/>
          <p:nvPr/>
        </p:nvSpPr>
        <p:spPr>
          <a:xfrm>
            <a:off x="8549640" y="3529584"/>
            <a:ext cx="301752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visit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ed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family.</a:t>
            </a:r>
            <a:endParaRPr lang="en-US" sz="2000" dirty="0"/>
          </a:p>
        </p:txBody>
      </p:sp>
      <p:sp>
        <p:nvSpPr>
          <p:cNvPr id="82" name="Example"/>
          <p:cNvSpPr/>
          <p:nvPr/>
        </p:nvSpPr>
        <p:spPr>
          <a:xfrm>
            <a:off x="8549640" y="5394960"/>
            <a:ext cx="30175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... last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weekend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7706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7706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7706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7706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7" name="Picture 37" descr="L5_cleaned_the_house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38" name="Dont head"/>
          <p:cNvSpPr/>
          <p:nvPr/>
        </p:nvSpPr>
        <p:spPr>
          <a:xfrm>
            <a:off x="914400" y="352044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39" name="Say head"/>
          <p:cNvSpPr/>
          <p:nvPr/>
        </p:nvSpPr>
        <p:spPr>
          <a:xfrm>
            <a:off x="4800600" y="352044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40" name="Bad"/>
          <p:cNvSpPr/>
          <p:nvPr/>
        </p:nvSpPr>
        <p:spPr>
          <a:xfrm>
            <a:off x="914400" y="4023360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clean the house.</a:t>
            </a:r>
            <a:endParaRPr lang="en-US" sz="2200" dirty="0"/>
          </a:p>
        </p:txBody>
      </p:sp>
      <p:sp>
        <p:nvSpPr>
          <p:cNvPr id="41" name="Good"/>
          <p:cNvSpPr/>
          <p:nvPr/>
        </p:nvSpPr>
        <p:spPr>
          <a:xfrm>
            <a:off x="4800600" y="4023360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clean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ed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house.</a:t>
            </a:r>
            <a:endParaRPr lang="en-US" sz="2200" dirty="0"/>
          </a:p>
        </p:txBody>
      </p:sp>
      <p:sp>
        <p:nvSpPr>
          <p:cNvPr id="42" name="Bad"/>
          <p:cNvSpPr/>
          <p:nvPr/>
        </p:nvSpPr>
        <p:spPr>
          <a:xfrm>
            <a:off x="914400" y="4855464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were tired.</a:t>
            </a:r>
            <a:endParaRPr lang="en-US" sz="2200" dirty="0"/>
          </a:p>
        </p:txBody>
      </p:sp>
      <p:sp>
        <p:nvSpPr>
          <p:cNvPr id="43" name="Good"/>
          <p:cNvSpPr/>
          <p:nvPr/>
        </p:nvSpPr>
        <p:spPr>
          <a:xfrm>
            <a:off x="4800600" y="4855464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tired.</a:t>
            </a:r>
            <a:endParaRPr lang="en-US" sz="2200" dirty="0"/>
          </a:p>
        </p:txBody>
      </p:sp>
      <p:sp>
        <p:nvSpPr>
          <p:cNvPr id="44" name="Bad"/>
          <p:cNvSpPr/>
          <p:nvPr/>
        </p:nvSpPr>
        <p:spPr>
          <a:xfrm>
            <a:off x="914400" y="5458968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was busy.</a:t>
            </a:r>
            <a:endParaRPr lang="en-US" sz="2200" dirty="0"/>
          </a:p>
        </p:txBody>
      </p:sp>
      <p:sp>
        <p:nvSpPr>
          <p:cNvPr id="45" name="Good"/>
          <p:cNvSpPr/>
          <p:nvPr/>
        </p:nvSpPr>
        <p:spPr>
          <a:xfrm>
            <a:off x="4800600" y="5458968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busy.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75600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75600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75600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75600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Fix These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7" name="Picture 37" descr="L5_boring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38" name="Dont head"/>
          <p:cNvSpPr/>
          <p:nvPr/>
        </p:nvSpPr>
        <p:spPr>
          <a:xfrm>
            <a:off x="914400" y="352044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39" name="Say head"/>
          <p:cNvSpPr/>
          <p:nvPr/>
        </p:nvSpPr>
        <p:spPr>
          <a:xfrm>
            <a:off x="4800600" y="352044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40" name="Bad"/>
          <p:cNvSpPr/>
          <p:nvPr/>
        </p:nvSpPr>
        <p:spPr>
          <a:xfrm>
            <a:off x="914400" y="4023360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Yesterday I work.</a:t>
            </a:r>
            <a:endParaRPr lang="en-US" sz="2200" dirty="0"/>
          </a:p>
        </p:txBody>
      </p:sp>
      <p:sp>
        <p:nvSpPr>
          <p:cNvPr id="41" name="Good"/>
          <p:cNvSpPr/>
          <p:nvPr/>
        </p:nvSpPr>
        <p:spPr>
          <a:xfrm>
            <a:off x="4800600" y="4023360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Yesterday I work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ed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42" name="Bad"/>
          <p:cNvSpPr/>
          <p:nvPr/>
        </p:nvSpPr>
        <p:spPr>
          <a:xfrm>
            <a:off x="914400" y="4626864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studyed.</a:t>
            </a:r>
            <a:endParaRPr lang="en-US" sz="2200" dirty="0"/>
          </a:p>
        </p:txBody>
      </p:sp>
      <p:sp>
        <p:nvSpPr>
          <p:cNvPr id="43" name="Good"/>
          <p:cNvSpPr/>
          <p:nvPr/>
        </p:nvSpPr>
        <p:spPr>
          <a:xfrm>
            <a:off x="4800600" y="4626864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stud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ied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44" name="Bad"/>
          <p:cNvSpPr/>
          <p:nvPr/>
        </p:nvSpPr>
        <p:spPr>
          <a:xfrm>
            <a:off x="914400" y="5230368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movie was bored.</a:t>
            </a:r>
            <a:endParaRPr lang="en-US" sz="2200" dirty="0"/>
          </a:p>
        </p:txBody>
      </p:sp>
      <p:sp>
        <p:nvSpPr>
          <p:cNvPr id="45" name="Good"/>
          <p:cNvSpPr/>
          <p:nvPr/>
        </p:nvSpPr>
        <p:spPr>
          <a:xfrm>
            <a:off x="4800600" y="5230368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movie was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boring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Quick Check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was, were, or -ed?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___ tired.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6177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___ at home.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2753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Yesterday I ___ TV. (watch)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0972800" y="5120640"/>
            <a:ext cx="777240" cy="734214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1035257" y="5110925"/>
            <a:ext cx="791119" cy="79111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900000">
            <a:off x="11250386" y="5337851"/>
            <a:ext cx="337961" cy="33796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1" name="Answer"/>
          <p:cNvSpPr/>
          <p:nvPr/>
        </p:nvSpPr>
        <p:spPr>
          <a:xfrm>
            <a:off x="9601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endParaRPr lang="en-US" sz="2600" dirty="0"/>
          </a:p>
        </p:txBody>
      </p:sp>
      <p:sp>
        <p:nvSpPr>
          <p:cNvPr id="32" name="Answer"/>
          <p:cNvSpPr/>
          <p:nvPr/>
        </p:nvSpPr>
        <p:spPr>
          <a:xfrm>
            <a:off x="46177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endParaRPr lang="en-US" sz="2600" dirty="0"/>
          </a:p>
        </p:txBody>
      </p:sp>
      <p:sp>
        <p:nvSpPr>
          <p:cNvPr id="33" name="Answer"/>
          <p:cNvSpPr/>
          <p:nvPr/>
        </p:nvSpPr>
        <p:spPr>
          <a:xfrm>
            <a:off x="82753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watched</a:t>
            </a:r>
            <a:endParaRPr lang="en-US" sz="2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1360627"/>
            <a:ext cx="3045866" cy="4995367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82058" y="4619549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08906" y="4572000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395201" y="1473464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437583" y="1419149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00600" y="1481328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Sentences · was and were</a:t>
            </a:r>
            <a:endParaRPr lang="en-US" sz="2000" dirty="0"/>
          </a:p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or Were?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713732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/ He / She / It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13732" y="3611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busy.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busy.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13732" y="4663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/ We / They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13732" y="51937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busy.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busy.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052560" y="3108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9052560" y="4709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endParaRPr lang="en-US" sz="6000" dirty="0"/>
          </a:p>
        </p:txBody>
      </p:sp>
      <p:pic>
        <p:nvPicPr>
          <p:cNvPr id="23" name="Picture 23" descr="L5_busy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49224" y="2871216"/>
            <a:ext cx="2825496" cy="19778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Weekend Mingle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91072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report to the class.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033358" y="198699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091847" y="197789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9293308" y="219040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2" name="Picture 32" descr="L5_visited_family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22376" y="3418942"/>
            <a:ext cx="3882542" cy="2717780"/>
          </a:xfrm>
          <a:prstGeom prst="rect">
            <a:avLst/>
          </a:prstGeom>
        </p:spPr>
      </p:pic>
      <p:sp>
        <p:nvSpPr>
          <p:cNvPr id="33" name="Step num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34" name="Step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to 5 people.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was your weekend?</a:t>
            </a:r>
            <a:endParaRPr lang="en-US" sz="2000" dirty="0"/>
          </a:p>
        </p:txBody>
      </p:sp>
      <p:sp>
        <p:nvSpPr>
          <p:cNvPr id="35" name="Step num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36" name="Step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Ask: What did you do?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was fun. I visited my family.</a:t>
            </a:r>
            <a:endParaRPr lang="en-US" sz="2000" dirty="0"/>
          </a:p>
        </p:txBody>
      </p:sp>
      <p:sp>
        <p:nvSpPr>
          <p:cNvPr id="37" name="Step num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38" name="Step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a name + activity.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Ana visited her family.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343400" y="21031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9907524" y="2565806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966013" y="2556708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rot="900000">
            <a:off x="10167475" y="2769218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0" name="Picture 30" descr="L5_yesterday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31" name="Num 01"/>
          <p:cNvSpPr/>
          <p:nvPr/>
        </p:nvSpPr>
        <p:spPr>
          <a:xfrm>
            <a:off x="43434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32" name="Label 01"/>
          <p:cNvSpPr/>
          <p:nvPr/>
        </p:nvSpPr>
        <p:spPr>
          <a:xfrm>
            <a:off x="51206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/>
          </a:p>
        </p:txBody>
      </p:sp>
      <p:sp>
        <p:nvSpPr>
          <p:cNvPr id="33" name="Body 01"/>
          <p:cNvSpPr/>
          <p:nvPr/>
        </p:nvSpPr>
        <p:spPr>
          <a:xfrm>
            <a:off x="43434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2 sentences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yesterday: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with was / were,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with an -ed verb.</a:t>
            </a:r>
            <a:endParaRPr lang="en-US" sz="2000" dirty="0"/>
          </a:p>
        </p:txBody>
      </p:sp>
      <p:sp>
        <p:nvSpPr>
          <p:cNvPr id="34" name="Num 02"/>
          <p:cNvSpPr/>
          <p:nvPr/>
        </p:nvSpPr>
        <p:spPr>
          <a:xfrm>
            <a:off x="80010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35" name="Label 02"/>
          <p:cNvSpPr/>
          <p:nvPr/>
        </p:nvSpPr>
        <p:spPr>
          <a:xfrm>
            <a:off x="87782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/>
          </a:p>
        </p:txBody>
      </p:sp>
      <p:sp>
        <p:nvSpPr>
          <p:cNvPr id="36" name="Body 02"/>
          <p:cNvSpPr/>
          <p:nvPr/>
        </p:nvSpPr>
        <p:spPr>
          <a:xfrm>
            <a:off x="80010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6 sentences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last weekend: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 with was / were,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 with -ed verbs.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a friend: How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your weekend?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275234" y="75895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33723" y="66797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rot="900000">
            <a:off x="535185" y="279307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5" name="Twemoji credit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arrows, calendars, clocks, and labels were added.</a:t>
            </a:r>
            <a:endParaRPr lang="en-US" sz="2000" dirty="0"/>
          </a:p>
        </p:txBody>
      </p:sp>
      <p:sp>
        <p:nvSpPr>
          <p:cNvPr id="16" name="Deck license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deck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2000" dirty="0"/>
          </a:p>
        </p:txBody>
      </p:sp>
      <p:sp>
        <p:nvSpPr>
          <p:cNvPr id="17" name="AudioFontCredits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Chatterbox TTS (Resemble AI, MIT); AI voices with a Perth watermark. Font: Lexend Deca (OFL 1.1). Provided as-is, without warranty.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5 (Week 5): Last Weekend</dc:title>
  <dc:subject>PptxGenJS Presentation</dc:subject>
  <dc:creator>Level 2 ESL</dc:creator>
  <cp:lastModifiedBy>Level 2 ESL</cp:lastModifiedBy>
  <cp:revision>1</cp:revision>
  <dcterms:created xsi:type="dcterms:W3CDTF">2026-10-15T20:54:31Z</dcterms:created>
  <dcterms:modified xsi:type="dcterms:W3CDTF">2026-10-15T20:54:31Z</dcterms:modified>
</cp:coreProperties>
</file>