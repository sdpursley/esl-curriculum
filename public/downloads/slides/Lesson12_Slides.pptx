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7" r:id="rId13"/>
    <p:sldId id="265" r:id="rId11"/>
    <p:sldId id="276" r:id="rId27"/>
    <p:sldId id="268" r:id="rId14"/>
    <p:sldId id="272" r:id="rId18"/>
    <p:sldId id="277" r:id="rId28"/>
    <p:sldId id="260" r:id="rId6"/>
    <p:sldId id="259" r:id="rId5"/>
    <p:sldId id="264" r:id="rId10"/>
    <p:sldId id="261" r:id="rId7"/>
    <p:sldId id="278" r:id="rId29"/>
    <p:sldId id="262" r:id="rId8"/>
    <p:sldId id="266" r:id="rId12"/>
    <p:sldId id="270" r:id="rId16"/>
    <p:sldId id="271" r:id="rId17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10.xml"/><Relationship Id="rId6" Type="http://schemas.openxmlformats.org/officeDocument/2006/relationships/slide" Target="slides/slide9.xml"/><Relationship Id="rId7" Type="http://schemas.openxmlformats.org/officeDocument/2006/relationships/slide" Target="slides/slide12.xml"/><Relationship Id="rId8" Type="http://schemas.openxmlformats.org/officeDocument/2006/relationships/slide" Target="slides/slide14.xml"/><Relationship Id="rId10" Type="http://schemas.openxmlformats.org/officeDocument/2006/relationships/slide" Target="slides/slide11.xml"/><Relationship Id="rId11" Type="http://schemas.openxmlformats.org/officeDocument/2006/relationships/slide" Target="slides/slide4.xml"/><Relationship Id="rId12" Type="http://schemas.openxmlformats.org/officeDocument/2006/relationships/slide" Target="slides/slide15.xml"/><Relationship Id="rId13" Type="http://schemas.openxmlformats.org/officeDocument/2006/relationships/slide" Target="slides/slide3.xml"/><Relationship Id="rId14" Type="http://schemas.openxmlformats.org/officeDocument/2006/relationships/slide" Target="slides/slide6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7.xml"/><Relationship Id="rId20" Type="http://schemas.openxmlformats.org/officeDocument/2006/relationships/slide" Target="slides/slide1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5.xml"/><Relationship Id="rId28" Type="http://schemas.openxmlformats.org/officeDocument/2006/relationships/slide" Target="slides/slide8.xml"/><Relationship Id="rId2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back. Read the goals together; learners repeat.</a:t>
            </a:r>
          </a:p>
          <a:p>
            <a:r>
              <a:rPr lang="en-US" dirty="0"/>
              <a:t>Objectives: say what is necessary with have to / need to / don't have to; make polite requests with Can you…? / Could you…?; ask for repetition and spelling on the phone; leave a simple phone message.</a:t>
            </a:r>
          </a:p>
          <a:p>
            <a:r>
              <a:rPr lang="en-US" dirty="0"/>
              <a:t>Source: Level2_Curriculum_v5_public.md, Lesson 12 (At a glance).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· 6:00–6:10 · Opening Talk + Homework Check. Pairs (same partner for both parts).</a:t>
            </a:r>
          </a:p>
          <a:p>
            <a:r>
              <a:rPr lang="en-US" dirty="0"/>
              <a:t>Minutes 0–5 (review Lesson 11): partners ask What are you going to do this weekend? Then A invites B; B accepts or declines with a reason. Each click shows one prompt.</a:t>
            </a:r>
          </a:p>
          <a:p>
            <a:r>
              <a:rPr lang="en-US" dirty="0"/>
              <a:t>Source: Level2_Curriculum_v5_public.md, Lesson 12 (Step 1).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Box 2: Can you…? Could you…? Click 1 and click 2 highlight one pair each.</a:t>
            </a:r>
          </a:p>
          <a:p>
            <a:r>
              <a:rPr lang="en-US" dirty="0"/>
              <a:t>Say: "Can you…? is friendly; Could you…? is more polite: good for phone calls, offices, and strangers."</a:t>
            </a:r>
          </a:p>
          <a:p>
            <a:r>
              <a:rPr lang="en-US" dirty="0"/>
              <a:t>More from the box: spell that, speak more slowly, help me, send me a new bill… please? Sure. / Of course.</a:t>
            </a:r>
          </a:p>
          <a:p>
            <a:r>
              <a:rPr lang="en-US" dirty="0"/>
              <a:t>Rescue phrases: Could you repeat that? Could you speak more slowly? Can you spell that?</a:t>
            </a:r>
          </a:p>
          <a:p>
            <a:r>
              <a:rPr lang="en-US" dirty="0"/>
              <a:t>Source: Level2_Curriculum_v5_public.md, Lesson 12 (Grammar Box 2; Questions and answers;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· 6:30–6:45 · Grammar: have to / need to + Can / Could you. Say: "have to / need to = it is necessary. don't have to = not necessary (you can choose)."</a:t>
            </a:r>
          </a:p>
          <a:p>
            <a:r>
              <a:rPr lang="en-US" dirty="0"/>
              <a:t>Board: I have to pay. She has to pay. Do I have to pay? You don't have to pay today.</a:t>
            </a:r>
          </a:p>
          <a:p>
            <a:r>
              <a:rPr lang="en-US" dirty="0"/>
              <a:t>Grammar Box 1: each click highlights Do / Does and its answers.</a:t>
            </a:r>
          </a:p>
          <a:p>
            <a:r>
              <a:rPr lang="en-US" dirty="0"/>
              <a:t>Q: have to or has to? he / she / it → has to: She has to work. Questions: Does she have to work?</a:t>
            </a:r>
          </a:p>
          <a:p>
            <a:r>
              <a:rPr lang="en-US" dirty="0"/>
              <a:t>Source: Level2_Curriculum_v5_public.md, Lesson 12 (Step 4; Grammar Box 1; Questions and answers).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mistakes (part 1). Each click shows the correct sentence.</a:t>
            </a:r>
          </a:p>
          <a:p>
            <a:r>
              <a:rPr lang="en-US" dirty="0"/>
              <a:t>I must pay is also correct. Write the correct form on the board. Learners can read the note on their Grammar page; you don't need to explain it.</a:t>
            </a:r>
          </a:p>
          <a:p>
            <a:r>
              <a:rPr lang="en-US" dirty="0"/>
              <a:t>Source: Level2_Curriculum_v5_public.md, Lesson 12 (Common mistakes;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check questions. Learners answer; each click shows one answer.</a:t>
            </a:r>
          </a:p>
          <a:p>
            <a:r>
              <a:rPr lang="en-US" dirty="0"/>
              <a:t>Answers: has · No, you don't have to · help (Could you help me?).</a:t>
            </a:r>
          </a:p>
          <a:p>
            <a:r>
              <a:rPr lang="en-US" dirty="0"/>
              <a:t>Short "Errand List" (last 5 min): pairs tell 3 things they have to do this week and 1 thing they don't have to do. If behind: skip it.</a:t>
            </a:r>
          </a:p>
          <a:p>
            <a:r>
              <a:rPr lang="en-US" dirty="0"/>
              <a:t>Source: Level2_Curriculum_v5_public.md, Lesson 12 (Step 4 Check).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Box 3: Can I…? Each click highlights Can I.</a:t>
            </a:r>
          </a:p>
          <a:p>
            <a:r>
              <a:rPr lang="en-US" dirty="0"/>
              <a:t>Answers: Yes, you can. / Sure. One moment, please. Sorry, you can't. You have to come in person.</a:t>
            </a:r>
          </a:p>
          <a:p>
            <a:r>
              <a:rPr lang="en-US" dirty="0"/>
              <a:t>Source: Level2_Curriculum_v5_public.md, Lesson 12 (Grammar Box 3).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· 6:10–6:18 · New Words (pairs). Point, say, repeat twice. Each click shows one word.</a:t>
            </a:r>
          </a:p>
          <a:p>
            <a:r>
              <a:rPr lang="en-US" dirty="0"/>
              <a:t>Star words here: pay a bill, fill out a form, make a phone call, leave a message.</a:t>
            </a:r>
          </a:p>
          <a:p>
            <a:r>
              <a:rPr lang="en-US" dirty="0"/>
              <a:t>If behind: teach the star words only; skip "Spell it!".</a:t>
            </a:r>
          </a:p>
          <a:p>
            <a:r>
              <a:rPr lang="en-US" dirty="0"/>
              <a:t>Source: Level2_Curriculum_v5_public.md, Lesson 12 (Step 2; Student Page 12 New Words).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to / need to / don't have to. Click 1 and click 2 show one row each.</a:t>
            </a:r>
          </a:p>
          <a:p>
            <a:r>
              <a:rPr lang="en-US" dirty="0"/>
              <a:t>need to = almost the same as have to: We need to fill out a form. He needs to call.</a:t>
            </a:r>
          </a:p>
          <a:p>
            <a:r>
              <a:rPr lang="en-US" dirty="0"/>
              <a:t>Pronunciation (If time ①): have to → "HAF-tuh," has to → "HAS-tuh," Could you → "COOD-juh." Then polite intonation: requests start higher and sound friendly.</a:t>
            </a:r>
          </a:p>
          <a:p>
            <a:r>
              <a:rPr lang="en-US" dirty="0"/>
              <a:t>Source: Level2_Curriculum_v5_public.md, Lesson 12 (have to / need to / don't have to; If time).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1, minutes 5–10: partners read their homework invitation and answers.</a:t>
            </a:r>
          </a:p>
          <a:p>
            <a:r>
              <a:rPr lang="en-US" dirty="0"/>
              <a:t>Each click shows one answer. The lines review Lesson 11 (Grammar Boxes 1 and 3; Common mistakes).</a:t>
            </a:r>
          </a:p>
          <a:p>
            <a:r>
              <a:rPr lang="en-US" dirty="0"/>
              <a:t>Teacher: write 2 corrected sentences on the board. If behind: collect the homework.</a:t>
            </a:r>
          </a:p>
          <a:p>
            <a:r>
              <a:rPr lang="en-US" dirty="0"/>
              <a:t>Source: Level2_Curriculum_v5_public.md, Lesson 12 (Step 1); Lesson 11 Homework.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· 6:18–6:30 · Listening + "Say it" (L12_listening.mp3, about 1:31). Audio: L12_listening.mp3 (about 1:31). The audio plays once, play again if needed. No speaker? Read the script with a volunteer learner.</a:t>
            </a:r>
          </a:p>
          <a:p>
            <a:r>
              <a:rPr lang="en-US" dirty="0"/>
              <a:t>Before you listen: "Sam calls the phone company. His bill is too high. What do they ask him?" Take 2 guesses.</a:t>
            </a:r>
          </a:p>
          <a:p>
            <a:r>
              <a:rPr lang="en-US" dirty="0"/>
              <a:t>Listen 1 → Task A (circle). Each click circles one answer.</a:t>
            </a:r>
          </a:p>
          <a:p>
            <a:r>
              <a:rPr lang="en-US" dirty="0"/>
              <a:t>Answer key: 1 too high; 2 two times; 3 $45; 4 the 15th.</a:t>
            </a:r>
          </a:p>
          <a:p>
            <a:r>
              <a:rPr lang="en-US" dirty="0"/>
              <a:t>City Phone, the names, and the numbers are invented.</a:t>
            </a:r>
          </a:p>
          <a:p>
            <a:r>
              <a:rPr lang="en-US" dirty="0"/>
              <a:t>Source: Level2_Curriculum_v5_public.md, Lesson 12 (Step 3; Answer key;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· 7:00–7:10 · Talk Time: Phone Service Role Plays. Pairs, back to back (15) / pairs + teacher (7–8). Each click shows one step.</a:t>
            </a:r>
          </a:p>
          <a:p>
            <a:r>
              <a:rPr lang="en-US" dirty="0"/>
              <a:t>Do: customer card (problem + invented name + account number) and agent card. The agent asks Can you spell that? Could you repeat your account number? The customer writes what they have to do.</a:t>
            </a:r>
          </a:p>
          <a:p>
            <a:r>
              <a:rPr lang="en-US" dirty="0"/>
              <a:t>Switch after 4 minutes with a new card. Use only 555-0100 to 555-0199 phone numbers in materials (reserved for fiction). If behind: one role play only.</a:t>
            </a:r>
          </a:p>
          <a:p>
            <a:r>
              <a:rPr lang="en-US" dirty="0"/>
              <a:t>Source: Level2_Curriculum_v5_public.md, Lesson 12 (Step 5;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6 · 7:10–7:15 · Exit Ticket + Homework. NEVER SKIP.</a:t>
            </a:r>
          </a:p>
          <a:p>
            <a:r>
              <a:rPr lang="en-US" dirty="0"/>
              <a:t>Exit ticket: one sentence with have to or need to and one request with Could you…?</a:t>
            </a:r>
          </a:p>
          <a:p>
            <a:r>
              <a:rPr lang="en-US" dirty="0"/>
              <a:t>Homework (10 minutes): 1. Write 4 things you have to do this week and 2 things you don't have to do. 2. Write a voicemail message (3–4 sentences): your name, a fictional number (555-01__), the reason, and Could you call me back, please? 3. Bonus: practice spelling your name and street aloud 3 times.</a:t>
            </a:r>
          </a:p>
          <a:p>
            <a:r>
              <a:rPr lang="en-US" dirty="0"/>
              <a:t>Source: Level2_Curriculum_v5_public.md, Lesson 12 (Step 6; Student Page 12 Homework).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2 → Task B (write the numbers and letters). Each click shows one answer. The audio plays once, play again if needed.</a:t>
            </a:r>
          </a:p>
          <a:p>
            <a:r>
              <a:rPr lang="en-US" dirty="0"/>
              <a:t>Answer key: account number 472916; last name L-O-P-E-Z.</a:t>
            </a:r>
          </a:p>
          <a:p>
            <a:r>
              <a:rPr lang="en-US" dirty="0"/>
              <a:t>Privacy: never ask learners for real account numbers, bills, or ID numbers. Role cards give invented ones.</a:t>
            </a:r>
          </a:p>
          <a:p>
            <a:r>
              <a:rPr lang="en-US" dirty="0"/>
              <a:t>Source: Level2_Curriculum_v5_public.md, Lesson 12 (Step 3; Answer key; Teacher notes).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Credits. Lesson content: Level 2 Adult ESL Curriculum v5, public edition, Lesson 12.</a:t>
            </a:r>
          </a:p>
          <a:p>
            <a:r>
              <a:rPr lang="en-US" dirty="0"/>
              <a:t>Image credit line copied exactly from images/CREDITS.md. Deck notice: © 2026 the authors; the authors license this deck under CC BY-NC-SA 4.0 (Section 7.2).</a:t>
            </a:r>
          </a:p>
          <a:p>
            <a:r>
              <a:rPr lang="en-US" dirty="0"/>
              <a:t>Audio and font credits: Chatterbox TTS (Resemble AI, MIT; Perth watermark), Lexend Deca (SIL OFL 1.1).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Words, part 2. Each click shows one word. Star words here: account number, customer service, Could you repeat that?, Can you spell that?</a:t>
            </a:r>
          </a:p>
          <a:p>
            <a:r>
              <a:rPr lang="en-US" dirty="0"/>
              <a:t>Spell it!: quick alphabet review: A spells their first name; B writes it. Review hard letters: A / E / I, G / J, B / V.</a:t>
            </a:r>
          </a:p>
          <a:p>
            <a:r>
              <a:rPr lang="en-US" dirty="0"/>
              <a:t>Source: Level2_Curriculum_v5_public.md, Lesson 12 (Step 2; Student Page 12).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3 → Task C (fill in). Each click fills one blank. The audio plays once, play again if needed.</a:t>
            </a:r>
          </a:p>
          <a:p>
            <a:r>
              <a:rPr lang="en-US" dirty="0"/>
              <a:t>Answer key: repeat; spell; have; send.</a:t>
            </a:r>
          </a:p>
          <a:p>
            <a:r>
              <a:rPr lang="en-US" dirty="0"/>
              <a:t>"Say it" (1–2 min): the class repeats "Could you repeat that, please?" and "Do I have to pay today?"</a:t>
            </a:r>
          </a:p>
          <a:p>
            <a:r>
              <a:rPr lang="en-US" dirty="0"/>
              <a:t>If behind: skip the third play; do Task C together.</a:t>
            </a:r>
          </a:p>
          <a:p>
            <a:r>
              <a:rPr lang="en-US" dirty="0"/>
              <a:t>Source: Level2_Curriculum_v5_public.md, Lesson 12 (Step 3;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mistakes (part 2). Each click shows the correct sentence.</a:t>
            </a:r>
          </a:p>
          <a:p>
            <a:r>
              <a:rPr lang="en-US" dirty="0"/>
              <a:t>Q: What does don't have to mean? Not necessary. You can choose. You don't have to pay today = you can pay later. It does not mean "you can't."</a:t>
            </a:r>
          </a:p>
          <a:p>
            <a:r>
              <a:rPr lang="en-US" dirty="0"/>
              <a:t>Source: Level2_Curriculum_v5_public.md, Lesson 12 (Common mistakes; Questions and answers).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K1" Type="http://schemas.openxmlformats.org/officeDocument/2006/relationships/image" Target="../media/k_L4_right_now.png"/><Relationship Id="rIdQ1" Type="http://schemas.openxmlformats.org/officeDocument/2006/relationships/image" Target="../media/k_L12_make_a_phone_call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Q1" Type="http://schemas.openxmlformats.org/officeDocument/2006/relationships/image" Target="../media/k_L11_this_weekend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4.xml.rels><?xml version='1.0' encoding='UTF-8' standalone='yes'?>
<Relationships xmlns="http://schemas.openxmlformats.org/package/2006/relationships"><Relationship Id="rIdQ1" Type="http://schemas.openxmlformats.org/officeDocument/2006/relationships/image" Target="../media/k_L12_pay_a_bill.png"/><Relationship Id="rIdQ2" Type="http://schemas.openxmlformats.org/officeDocument/2006/relationships/image" Target="../media/k_L12_mail_a_package.png"/><Relationship Id="rIdQ3" Type="http://schemas.openxmlformats.org/officeDocument/2006/relationships/image" Target="../media/k_L12_fill_out_a_form.png"/><Relationship Id="rIdQ4" Type="http://schemas.openxmlformats.org/officeDocument/2006/relationships/image" Target="../media/k_L12_make_a_phone_call.png"/><Relationship Id="rIdQ5" Type="http://schemas.openxmlformats.org/officeDocument/2006/relationships/image" Target="../media/k_L12_leave_a_message.png"/><Relationship Id="rIdQ6" Type="http://schemas.openxmlformats.org/officeDocument/2006/relationships/image" Target="../media/k_L12_id_card.png"/><Relationship Id="rIdQ7" Type="http://schemas.openxmlformats.org/officeDocument/2006/relationships/image" Target="../media/k_L12_receipt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5.xml.rels><?xml version='1.0' encoding='UTF-8' standalone='yes'?>
<Relationships xmlns="http://schemas.openxmlformats.org/package/2006/relationships"><Relationship Id="rIdQ1" Type="http://schemas.openxmlformats.org/officeDocument/2006/relationships/image" Target="../media/k_L12_account_number.png"/><Relationship Id="rIdQ2" Type="http://schemas.openxmlformats.org/officeDocument/2006/relationships/image" Target="../media/k_L12_customer_service.png"/><Relationship Id="rIdQ3" Type="http://schemas.openxmlformats.org/officeDocument/2006/relationships/image" Target="../media/k_L12_fix.png"/><Relationship Id="rIdQ4" Type="http://schemas.openxmlformats.org/officeDocument/2006/relationships/image" Target="../media/k_L12_wait_in_line.png"/><Relationship Id="rIdQ5" Type="http://schemas.openxmlformats.org/officeDocument/2006/relationships/image" Target="../media/k_L12_repeat.png"/><Relationship Id="rIdQ6" Type="http://schemas.openxmlformats.org/officeDocument/2006/relationships/image" Target="../media/k_L12_spell.png"/><Relationship Id="rIdQ7" Type="http://schemas.openxmlformats.org/officeDocument/2006/relationships/image" Target="../media/k_L12_due_date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6.xml.rels><?xml version='1.0' encoding='UTF-8' standalone='yes'?>
<Relationships xmlns="http://schemas.openxmlformats.org/package/2006/relationships"><Relationship Id="rIdQ1" Type="http://schemas.openxmlformats.org/officeDocument/2006/relationships/image" Target="../media/k_L12_customer_service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9.xml.rels><?xml version='1.0' encoding='UTF-8' standalone='yes'?>
<Relationships xmlns="http://schemas.openxmlformats.org/package/2006/relationships"><Relationship Id="rIdQ1" Type="http://schemas.openxmlformats.org/officeDocument/2006/relationships/image" Target="../media/k_L12_fill_out_a_form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0.xml.rels><?xml version='1.0' encoding='UTF-8' standalone='yes'?>
<Relationships xmlns="http://schemas.openxmlformats.org/package/2006/relationships"><Relationship Id="rIdQ1" Type="http://schemas.openxmlformats.org/officeDocument/2006/relationships/image" Target="../media/k_L12_repeat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Q1" Type="http://schemas.openxmlformats.org/officeDocument/2006/relationships/image" Target="../media/k_L12_leave_a_message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Q1" Type="http://schemas.openxmlformats.org/officeDocument/2006/relationships/image" Target="../media/k_L12_pay_a_bill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Q1" Type="http://schemas.openxmlformats.org/officeDocument/2006/relationships/image" Target="../media/k_L12_wait_in_line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Q1" Type="http://schemas.openxmlformats.org/officeDocument/2006/relationships/image" Target="../media/k_L12_due_date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Q1" Type="http://schemas.openxmlformats.org/officeDocument/2006/relationships/image" Target="../media/k_L12_make_a_phone_call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Q1" Type="http://schemas.openxmlformats.org/officeDocument/2006/relationships/image" Target="../media/k_L12_id_card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12 (Week 13)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Getting Things Done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77240" y="4480560"/>
            <a:ext cx="6035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have to / don't have to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Ask: Can you…? Could you…?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Ask to repeat and spell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Leave a phone message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172200" y="594360"/>
            <a:ext cx="914400" cy="863781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245679" y="582930"/>
            <a:ext cx="930729" cy="930729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 rot="900000">
            <a:off x="6498771" y="849902"/>
            <a:ext cx="397601" cy="397601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14" name="Picture 14" descr="L4_right_now.png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pic>
        <p:nvPicPr>
          <p:cNvPr id="15" name="Picture 15" descr="L12_make_a_phone_call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04" y="1352535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176479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Warm-Up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9846" y="297180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Same partner.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Review Lesson 11.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822546" y="4854550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904842" y="4841748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5188306" y="5140757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9" name="Question"/>
          <p:cNvSpPr/>
          <p:nvPr/>
        </p:nvSpPr>
        <p:spPr>
          <a:xfrm>
            <a:off x="599846" y="3977640"/>
            <a:ext cx="4114800" cy="80467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are you going to do this weekend?</a:t>
            </a:r>
            <a:endParaRPr lang="en-US" sz="2200" dirty="0"/>
          </a:p>
        </p:txBody>
      </p:sp>
      <p:sp>
        <p:nvSpPr>
          <p:cNvPr id="20" name="Question"/>
          <p:cNvSpPr/>
          <p:nvPr/>
        </p:nvSpPr>
        <p:spPr>
          <a:xfrm>
            <a:off x="599846" y="4910328"/>
            <a:ext cx="41148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 you like to …?</a:t>
            </a:r>
            <a:endParaRPr lang="en-US" sz="2200" dirty="0"/>
          </a:p>
        </p:txBody>
      </p:sp>
      <p:pic>
        <p:nvPicPr>
          <p:cNvPr id="21" name="Picture 21" descr="L11_this_weekend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6795821" y="2101291"/>
            <a:ext cx="4763110" cy="33341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20930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03545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83865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55005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526145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1031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01952" y="25054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your invitation.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___ to visit friends.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10512" y="3838651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Would you like ___?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10512" y="4550054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Sorry, I ___. I'm busy.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10512" y="5261458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She's going to ___.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4982" y="203545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16621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HW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1261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83865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81670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55005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54365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27974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526968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Plans: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am / is / are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+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 to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+ verb.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184087" y="180411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242576" y="179501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rot="900000">
            <a:off x="6444038" y="200752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38" name="Answer 1"/>
          <p:cNvSpPr/>
          <p:nvPr/>
        </p:nvSpPr>
        <p:spPr>
          <a:xfrm>
            <a:off x="5257800" y="3200400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going</a:t>
            </a:r>
            <a:endParaRPr lang="en-US" sz="2000" dirty="0"/>
          </a:p>
        </p:txBody>
      </p:sp>
      <p:sp>
        <p:nvSpPr>
          <p:cNvPr id="39" name="Answer 2"/>
          <p:cNvSpPr/>
          <p:nvPr/>
        </p:nvSpPr>
        <p:spPr>
          <a:xfrm>
            <a:off x="5257800" y="3911803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 come</a:t>
            </a:r>
            <a:endParaRPr lang="en-US" sz="2000" dirty="0"/>
          </a:p>
        </p:txBody>
      </p:sp>
      <p:sp>
        <p:nvSpPr>
          <p:cNvPr id="40" name="Answer 3"/>
          <p:cNvSpPr/>
          <p:nvPr/>
        </p:nvSpPr>
        <p:spPr>
          <a:xfrm>
            <a:off x="5257800" y="4623206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can't</a:t>
            </a:r>
            <a:endParaRPr lang="en-US" sz="2000" dirty="0"/>
          </a:p>
        </p:txBody>
      </p:sp>
      <p:sp>
        <p:nvSpPr>
          <p:cNvPr id="41" name="Answer 4"/>
          <p:cNvSpPr/>
          <p:nvPr/>
        </p:nvSpPr>
        <p:spPr>
          <a:xfrm>
            <a:off x="5257800" y="5334610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rest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/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286561" y="744322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345050" y="73522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1546512" y="94773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14884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Spell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it!</a:t>
            </a:r>
            <a:endParaRPr lang="en-US" sz="2200" dirty="0"/>
          </a:p>
        </p:txBody>
      </p:sp>
      <p:pic>
        <p:nvPicPr>
          <p:cNvPr id="41" name="Picture 41" descr="pay a bill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1181437" y="2240280"/>
            <a:ext cx="1619794" cy="1133856"/>
          </a:xfrm>
          <a:prstGeom prst="rect">
            <a:avLst/>
          </a:prstGeom>
        </p:spPr>
      </p:pic>
      <p:sp>
        <p:nvSpPr>
          <p:cNvPr id="42" name="Word label"/>
          <p:cNvSpPr/>
          <p:nvPr/>
        </p:nvSpPr>
        <p:spPr>
          <a:xfrm>
            <a:off x="76261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pay a bill</a:t>
            </a:r>
            <a:endParaRPr lang="en-US" sz="2000" dirty="0"/>
          </a:p>
        </p:txBody>
      </p:sp>
      <p:pic>
        <p:nvPicPr>
          <p:cNvPr id="43" name="Picture 43" descr="mail a package"/>
          <p:cNvPicPr>
            <a:picLocks noChangeAspect="1"/>
          </p:cNvPicPr>
          <p:nvPr/>
        </p:nvPicPr>
        <p:blipFill>
          <a:blip r:embed="rIdQ2"/>
          <a:stretch>
            <a:fillRect/>
          </a:stretch>
        </p:blipFill>
        <p:spPr>
          <a:xfrm>
            <a:off x="3867487" y="2240280"/>
            <a:ext cx="1619794" cy="1133856"/>
          </a:xfrm>
          <a:prstGeom prst="rect">
            <a:avLst/>
          </a:prstGeom>
        </p:spPr>
      </p:pic>
      <p:sp>
        <p:nvSpPr>
          <p:cNvPr id="44" name="Word label"/>
          <p:cNvSpPr/>
          <p:nvPr/>
        </p:nvSpPr>
        <p:spPr>
          <a:xfrm>
            <a:off x="344866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mail a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package</a:t>
            </a:r>
            <a:endParaRPr lang="en-US" sz="2000" dirty="0"/>
          </a:p>
        </p:txBody>
      </p:sp>
      <p:pic>
        <p:nvPicPr>
          <p:cNvPr id="45" name="Picture 45" descr="fill out a form"/>
          <p:cNvPicPr>
            <a:picLocks noChangeAspect="1"/>
          </p:cNvPicPr>
          <p:nvPr/>
        </p:nvPicPr>
        <p:blipFill>
          <a:blip r:embed="rIdQ3"/>
          <a:stretch>
            <a:fillRect/>
          </a:stretch>
        </p:blipFill>
        <p:spPr>
          <a:xfrm>
            <a:off x="6553537" y="2240280"/>
            <a:ext cx="1619794" cy="1133856"/>
          </a:xfrm>
          <a:prstGeom prst="rect">
            <a:avLst/>
          </a:prstGeom>
        </p:spPr>
      </p:pic>
      <p:sp>
        <p:nvSpPr>
          <p:cNvPr id="46" name="Word label"/>
          <p:cNvSpPr/>
          <p:nvPr/>
        </p:nvSpPr>
        <p:spPr>
          <a:xfrm>
            <a:off x="613471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fill out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form</a:t>
            </a:r>
            <a:endParaRPr lang="en-US" sz="2000" dirty="0"/>
          </a:p>
        </p:txBody>
      </p:sp>
      <p:pic>
        <p:nvPicPr>
          <p:cNvPr id="47" name="Picture 47" descr="make a phone call"/>
          <p:cNvPicPr>
            <a:picLocks noChangeAspect="1"/>
          </p:cNvPicPr>
          <p:nvPr/>
        </p:nvPicPr>
        <p:blipFill>
          <a:blip r:embed="rIdQ4"/>
          <a:stretch>
            <a:fillRect/>
          </a:stretch>
        </p:blipFill>
        <p:spPr>
          <a:xfrm>
            <a:off x="9239587" y="2240280"/>
            <a:ext cx="1619794" cy="1133856"/>
          </a:xfrm>
          <a:prstGeom prst="rect">
            <a:avLst/>
          </a:prstGeom>
        </p:spPr>
      </p:pic>
      <p:sp>
        <p:nvSpPr>
          <p:cNvPr id="48" name="Word label"/>
          <p:cNvSpPr/>
          <p:nvPr/>
        </p:nvSpPr>
        <p:spPr>
          <a:xfrm>
            <a:off x="882076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make a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phone call</a:t>
            </a:r>
            <a:endParaRPr lang="en-US" sz="2000" dirty="0"/>
          </a:p>
        </p:txBody>
      </p:sp>
      <p:pic>
        <p:nvPicPr>
          <p:cNvPr id="49" name="Picture 49" descr="leave a message"/>
          <p:cNvPicPr>
            <a:picLocks noChangeAspect="1"/>
          </p:cNvPicPr>
          <p:nvPr/>
        </p:nvPicPr>
        <p:blipFill>
          <a:blip r:embed="rIdQ5"/>
          <a:stretch>
            <a:fillRect/>
          </a:stretch>
        </p:blipFill>
        <p:spPr>
          <a:xfrm>
            <a:off x="2524462" y="4315968"/>
            <a:ext cx="1619794" cy="1133856"/>
          </a:xfrm>
          <a:prstGeom prst="rect">
            <a:avLst/>
          </a:prstGeom>
        </p:spPr>
      </p:pic>
      <p:sp>
        <p:nvSpPr>
          <p:cNvPr id="50" name="Word label"/>
          <p:cNvSpPr/>
          <p:nvPr/>
        </p:nvSpPr>
        <p:spPr>
          <a:xfrm>
            <a:off x="2105635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leave a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message</a:t>
            </a:r>
            <a:endParaRPr lang="en-US" sz="2000" dirty="0"/>
          </a:p>
        </p:txBody>
      </p:sp>
      <p:pic>
        <p:nvPicPr>
          <p:cNvPr id="51" name="Picture 51" descr="ID card"/>
          <p:cNvPicPr>
            <a:picLocks noChangeAspect="1"/>
          </p:cNvPicPr>
          <p:nvPr/>
        </p:nvPicPr>
        <p:blipFill>
          <a:blip r:embed="rIdQ6"/>
          <a:stretch>
            <a:fillRect/>
          </a:stretch>
        </p:blipFill>
        <p:spPr>
          <a:xfrm>
            <a:off x="5210512" y="4315968"/>
            <a:ext cx="1619794" cy="1133856"/>
          </a:xfrm>
          <a:prstGeom prst="rect">
            <a:avLst/>
          </a:prstGeom>
        </p:spPr>
      </p:pic>
      <p:sp>
        <p:nvSpPr>
          <p:cNvPr id="52" name="Word label"/>
          <p:cNvSpPr/>
          <p:nvPr/>
        </p:nvSpPr>
        <p:spPr>
          <a:xfrm>
            <a:off x="4791685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ID card</a:t>
            </a:r>
            <a:endParaRPr lang="en-US" sz="2000" dirty="0"/>
          </a:p>
        </p:txBody>
      </p:sp>
      <p:pic>
        <p:nvPicPr>
          <p:cNvPr id="53" name="Picture 53" descr="receipt"/>
          <p:cNvPicPr>
            <a:picLocks noChangeAspect="1"/>
          </p:cNvPicPr>
          <p:nvPr/>
        </p:nvPicPr>
        <p:blipFill>
          <a:blip r:embed="rIdQ7"/>
          <a:stretch>
            <a:fillRect/>
          </a:stretch>
        </p:blipFill>
        <p:spPr>
          <a:xfrm>
            <a:off x="7896562" y="4315968"/>
            <a:ext cx="1619794" cy="1133856"/>
          </a:xfrm>
          <a:prstGeom prst="rect">
            <a:avLst/>
          </a:prstGeom>
        </p:spPr>
      </p:pic>
      <p:sp>
        <p:nvSpPr>
          <p:cNvPr id="54" name="Word label"/>
          <p:cNvSpPr/>
          <p:nvPr/>
        </p:nvSpPr>
        <p:spPr>
          <a:xfrm>
            <a:off x="7477735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receipt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286561" y="744322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345050" y="73522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1546512" y="94773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14884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/ E / I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 / J · B / V</a:t>
            </a:r>
            <a:endParaRPr lang="en-US" sz="2200" dirty="0"/>
          </a:p>
        </p:txBody>
      </p:sp>
      <p:pic>
        <p:nvPicPr>
          <p:cNvPr id="39" name="Picture 39" descr="account number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1181437" y="2240280"/>
            <a:ext cx="1619794" cy="1133856"/>
          </a:xfrm>
          <a:prstGeom prst="rect">
            <a:avLst/>
          </a:prstGeom>
        </p:spPr>
      </p:pic>
      <p:sp>
        <p:nvSpPr>
          <p:cNvPr id="40" name="Word label"/>
          <p:cNvSpPr/>
          <p:nvPr/>
        </p:nvSpPr>
        <p:spPr>
          <a:xfrm>
            <a:off x="76261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account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number</a:t>
            </a:r>
            <a:endParaRPr lang="en-US" sz="2000" dirty="0"/>
          </a:p>
        </p:txBody>
      </p:sp>
      <p:pic>
        <p:nvPicPr>
          <p:cNvPr id="41" name="Picture 41" descr="customer service"/>
          <p:cNvPicPr>
            <a:picLocks noChangeAspect="1"/>
          </p:cNvPicPr>
          <p:nvPr/>
        </p:nvPicPr>
        <p:blipFill>
          <a:blip r:embed="rIdQ2"/>
          <a:stretch>
            <a:fillRect/>
          </a:stretch>
        </p:blipFill>
        <p:spPr>
          <a:xfrm>
            <a:off x="3867487" y="2240280"/>
            <a:ext cx="1619794" cy="1133856"/>
          </a:xfrm>
          <a:prstGeom prst="rect">
            <a:avLst/>
          </a:prstGeom>
        </p:spPr>
      </p:pic>
      <p:sp>
        <p:nvSpPr>
          <p:cNvPr id="42" name="Word label"/>
          <p:cNvSpPr/>
          <p:nvPr/>
        </p:nvSpPr>
        <p:spPr>
          <a:xfrm>
            <a:off x="344866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customer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service</a:t>
            </a:r>
            <a:endParaRPr lang="en-US" sz="2000" dirty="0"/>
          </a:p>
        </p:txBody>
      </p:sp>
      <p:pic>
        <p:nvPicPr>
          <p:cNvPr id="43" name="Picture 43" descr="fix (the sink)"/>
          <p:cNvPicPr>
            <a:picLocks noChangeAspect="1"/>
          </p:cNvPicPr>
          <p:nvPr/>
        </p:nvPicPr>
        <p:blipFill>
          <a:blip r:embed="rIdQ3"/>
          <a:stretch>
            <a:fillRect/>
          </a:stretch>
        </p:blipFill>
        <p:spPr>
          <a:xfrm>
            <a:off x="6553537" y="2240280"/>
            <a:ext cx="1619794" cy="1133856"/>
          </a:xfrm>
          <a:prstGeom prst="rect">
            <a:avLst/>
          </a:prstGeom>
        </p:spPr>
      </p:pic>
      <p:sp>
        <p:nvSpPr>
          <p:cNvPr id="44" name="Word label"/>
          <p:cNvSpPr/>
          <p:nvPr/>
        </p:nvSpPr>
        <p:spPr>
          <a:xfrm>
            <a:off x="613471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fix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(the sink)</a:t>
            </a:r>
            <a:endParaRPr lang="en-US" sz="2000" dirty="0"/>
          </a:p>
        </p:txBody>
      </p:sp>
      <p:pic>
        <p:nvPicPr>
          <p:cNvPr id="45" name="Picture 45" descr="wait in line"/>
          <p:cNvPicPr>
            <a:picLocks noChangeAspect="1"/>
          </p:cNvPicPr>
          <p:nvPr/>
        </p:nvPicPr>
        <p:blipFill>
          <a:blip r:embed="rIdQ4"/>
          <a:stretch>
            <a:fillRect/>
          </a:stretch>
        </p:blipFill>
        <p:spPr>
          <a:xfrm>
            <a:off x="9239587" y="2240280"/>
            <a:ext cx="1619794" cy="1133856"/>
          </a:xfrm>
          <a:prstGeom prst="rect">
            <a:avLst/>
          </a:prstGeom>
        </p:spPr>
      </p:pic>
      <p:sp>
        <p:nvSpPr>
          <p:cNvPr id="46" name="Word label"/>
          <p:cNvSpPr/>
          <p:nvPr/>
        </p:nvSpPr>
        <p:spPr>
          <a:xfrm>
            <a:off x="882076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wait in line</a:t>
            </a:r>
            <a:endParaRPr lang="en-US" sz="2000" dirty="0"/>
          </a:p>
        </p:txBody>
      </p:sp>
      <p:pic>
        <p:nvPicPr>
          <p:cNvPr id="47" name="Picture 47" descr="Could you repeat that?"/>
          <p:cNvPicPr>
            <a:picLocks noChangeAspect="1"/>
          </p:cNvPicPr>
          <p:nvPr/>
        </p:nvPicPr>
        <p:blipFill>
          <a:blip r:embed="rIdQ5"/>
          <a:stretch>
            <a:fillRect/>
          </a:stretch>
        </p:blipFill>
        <p:spPr>
          <a:xfrm>
            <a:off x="2524462" y="4315968"/>
            <a:ext cx="1619794" cy="1133856"/>
          </a:xfrm>
          <a:prstGeom prst="rect">
            <a:avLst/>
          </a:prstGeom>
        </p:spPr>
      </p:pic>
      <p:sp>
        <p:nvSpPr>
          <p:cNvPr id="48" name="Word label"/>
          <p:cNvSpPr/>
          <p:nvPr/>
        </p:nvSpPr>
        <p:spPr>
          <a:xfrm>
            <a:off x="2105635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 you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 that?</a:t>
            </a:r>
            <a:endParaRPr lang="en-US" sz="2000" dirty="0"/>
          </a:p>
        </p:txBody>
      </p:sp>
      <p:pic>
        <p:nvPicPr>
          <p:cNvPr id="49" name="Picture 49" descr="Can you spell that?"/>
          <p:cNvPicPr>
            <a:picLocks noChangeAspect="1"/>
          </p:cNvPicPr>
          <p:nvPr/>
        </p:nvPicPr>
        <p:blipFill>
          <a:blip r:embed="rIdQ6"/>
          <a:stretch>
            <a:fillRect/>
          </a:stretch>
        </p:blipFill>
        <p:spPr>
          <a:xfrm>
            <a:off x="5210512" y="4315968"/>
            <a:ext cx="1619794" cy="1133856"/>
          </a:xfrm>
          <a:prstGeom prst="rect">
            <a:avLst/>
          </a:prstGeom>
        </p:spPr>
      </p:pic>
      <p:sp>
        <p:nvSpPr>
          <p:cNvPr id="50" name="Word label"/>
          <p:cNvSpPr/>
          <p:nvPr/>
        </p:nvSpPr>
        <p:spPr>
          <a:xfrm>
            <a:off x="4791685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spell that?</a:t>
            </a:r>
            <a:endParaRPr lang="en-US" sz="2000" dirty="0"/>
          </a:p>
        </p:txBody>
      </p:sp>
      <p:pic>
        <p:nvPicPr>
          <p:cNvPr id="51" name="Picture 51" descr="due date"/>
          <p:cNvPicPr>
            <a:picLocks noChangeAspect="1"/>
          </p:cNvPicPr>
          <p:nvPr/>
        </p:nvPicPr>
        <p:blipFill>
          <a:blip r:embed="rIdQ7"/>
          <a:stretch>
            <a:fillRect/>
          </a:stretch>
        </p:blipFill>
        <p:spPr>
          <a:xfrm>
            <a:off x="7896562" y="4315968"/>
            <a:ext cx="1619794" cy="1133856"/>
          </a:xfrm>
          <a:prstGeom prst="rect">
            <a:avLst/>
          </a:prstGeom>
        </p:spPr>
      </p:pic>
      <p:sp>
        <p:nvSpPr>
          <p:cNvPr id="52" name="Word label"/>
          <p:cNvSpPr/>
          <p:nvPr/>
        </p:nvSpPr>
        <p:spPr>
          <a:xfrm>
            <a:off x="7477735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due date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000" dirty="0"/>
          </a:p>
        </p:txBody>
      </p:sp>
      <p:sp>
        <p:nvSpPr>
          <p:cNvPr id="22" name="Shape 20"/>
          <p:cNvSpPr/>
          <p:nvPr/>
        </p:nvSpPr>
        <p:spPr>
          <a:xfrm>
            <a:off x="4702759" y="5703113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761248" y="5694015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rot="900000">
            <a:off x="4962710" y="5906524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65" name="Subtitle"/>
          <p:cNvSpPr/>
          <p:nvPr/>
        </p:nvSpPr>
        <p:spPr>
          <a:xfrm>
            <a:off x="771754" y="2148840"/>
            <a:ext cx="457200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Circle the answer.</a:t>
            </a:r>
            <a:endParaRPr lang="en-US" sz="2000" dirty="0"/>
          </a:p>
        </p:txBody>
      </p:sp>
      <p:pic>
        <p:nvPicPr>
          <p:cNvPr id="66" name="Picture 66" descr="L12_customer_service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1274674" y="3680460"/>
            <a:ext cx="3450031" cy="2415022"/>
          </a:xfrm>
          <a:prstGeom prst="rect">
            <a:avLst/>
          </a:prstGeom>
        </p:spPr>
      </p:pic>
      <p:sp>
        <p:nvSpPr>
          <p:cNvPr id="67" name="Row shadow"/>
          <p:cNvSpPr/>
          <p:nvPr/>
        </p:nvSpPr>
        <p:spPr>
          <a:xfrm>
            <a:off x="5970118" y="1153973"/>
            <a:ext cx="5897880" cy="1188720"/>
          </a:xfrm>
          <a:prstGeom prst="round1Rect">
            <a:avLst/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68" name="Row"/>
          <p:cNvSpPr/>
          <p:nvPr/>
        </p:nvSpPr>
        <p:spPr>
          <a:xfrm>
            <a:off x="5897880" y="1097280"/>
            <a:ext cx="5897880" cy="1188720"/>
          </a:xfrm>
          <a:prstGeom prst="round1Rect">
            <a:avLst/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69" name="Row num"/>
          <p:cNvSpPr/>
          <p:nvPr/>
        </p:nvSpPr>
        <p:spPr>
          <a:xfrm>
            <a:off x="6035040" y="1352398"/>
            <a:ext cx="678485" cy="678485"/>
          </a:xfrm>
          <a:prstGeom prst="ellipse">
            <a:avLst/>
          </a:prstGeom>
          <a:solidFill>
            <a:srgbClr val="B9D2F7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2000" dirty="0"/>
          </a:p>
        </p:txBody>
      </p:sp>
      <p:sp>
        <p:nvSpPr>
          <p:cNvPr id="70" name="Row question"/>
          <p:cNvSpPr/>
          <p:nvPr/>
        </p:nvSpPr>
        <p:spPr>
          <a:xfrm>
            <a:off x="6858000" y="1170432"/>
            <a:ext cx="48006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Sam's bill is ...</a:t>
            </a:r>
            <a:endParaRPr lang="en-US" sz="2200" dirty="0"/>
          </a:p>
        </p:txBody>
      </p:sp>
      <p:sp>
        <p:nvSpPr>
          <p:cNvPr id="71" name="Option"/>
          <p:cNvSpPr/>
          <p:nvPr/>
        </p:nvSpPr>
        <p:spPr>
          <a:xfrm>
            <a:off x="6858000" y="1719072"/>
            <a:ext cx="1459382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 high</a:t>
            </a:r>
            <a:endParaRPr lang="en-US" sz="2000" dirty="0"/>
          </a:p>
        </p:txBody>
      </p:sp>
      <p:sp>
        <p:nvSpPr>
          <p:cNvPr id="72" name="Circle 1"/>
          <p:cNvSpPr/>
          <p:nvPr/>
        </p:nvSpPr>
        <p:spPr>
          <a:xfrm>
            <a:off x="6748272" y="1655064"/>
            <a:ext cx="1678838" cy="56692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3" name="Option"/>
          <p:cNvSpPr/>
          <p:nvPr/>
        </p:nvSpPr>
        <p:spPr>
          <a:xfrm>
            <a:off x="8427110" y="1719072"/>
            <a:ext cx="1311250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too low</a:t>
            </a:r>
            <a:endParaRPr lang="en-US" sz="2000" dirty="0"/>
          </a:p>
        </p:txBody>
      </p:sp>
      <p:sp>
        <p:nvSpPr>
          <p:cNvPr id="74" name="Option"/>
          <p:cNvSpPr/>
          <p:nvPr/>
        </p:nvSpPr>
        <p:spPr>
          <a:xfrm>
            <a:off x="9848088" y="1719072"/>
            <a:ext cx="1097280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late</a:t>
            </a:r>
            <a:endParaRPr lang="en-US" sz="2000" dirty="0"/>
          </a:p>
        </p:txBody>
      </p:sp>
      <p:sp>
        <p:nvSpPr>
          <p:cNvPr id="75" name="Row shadow"/>
          <p:cNvSpPr/>
          <p:nvPr/>
        </p:nvSpPr>
        <p:spPr>
          <a:xfrm>
            <a:off x="5970118" y="2452421"/>
            <a:ext cx="5897880" cy="1188720"/>
          </a:xfrm>
          <a:prstGeom prst="round1Rect">
            <a:avLst/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6" name="Row"/>
          <p:cNvSpPr/>
          <p:nvPr/>
        </p:nvSpPr>
        <p:spPr>
          <a:xfrm>
            <a:off x="5897880" y="2395728"/>
            <a:ext cx="5897880" cy="1188720"/>
          </a:xfrm>
          <a:prstGeom prst="round1Rect">
            <a:avLst/>
          </a:prstGeom>
          <a:solidFill>
            <a:srgbClr val="B9D2F7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7" name="Row num"/>
          <p:cNvSpPr/>
          <p:nvPr/>
        </p:nvSpPr>
        <p:spPr>
          <a:xfrm>
            <a:off x="6035040" y="2650846"/>
            <a:ext cx="678485" cy="678485"/>
          </a:xfrm>
          <a:prstGeom prst="ellipse">
            <a:avLst/>
          </a:prstGeom>
          <a:solidFill>
            <a:srgbClr val="FFFFFF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2000" dirty="0"/>
          </a:p>
        </p:txBody>
      </p:sp>
      <p:sp>
        <p:nvSpPr>
          <p:cNvPr id="78" name="Row question"/>
          <p:cNvSpPr/>
          <p:nvPr/>
        </p:nvSpPr>
        <p:spPr>
          <a:xfrm>
            <a:off x="6858000" y="2468880"/>
            <a:ext cx="48006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They charged him ...</a:t>
            </a:r>
            <a:endParaRPr lang="en-US" sz="2200" dirty="0"/>
          </a:p>
        </p:txBody>
      </p:sp>
      <p:sp>
        <p:nvSpPr>
          <p:cNvPr id="79" name="Option"/>
          <p:cNvSpPr/>
          <p:nvPr/>
        </p:nvSpPr>
        <p:spPr>
          <a:xfrm>
            <a:off x="6858000" y="3017520"/>
            <a:ext cx="1358439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one time</a:t>
            </a:r>
            <a:endParaRPr lang="en-US" sz="2000" dirty="0"/>
          </a:p>
        </p:txBody>
      </p:sp>
      <p:sp>
        <p:nvSpPr>
          <p:cNvPr id="80" name="Option"/>
          <p:cNvSpPr/>
          <p:nvPr/>
        </p:nvSpPr>
        <p:spPr>
          <a:xfrm>
            <a:off x="8326167" y="3017520"/>
            <a:ext cx="1496326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two times</a:t>
            </a:r>
            <a:endParaRPr lang="en-US" sz="2000" dirty="0"/>
          </a:p>
        </p:txBody>
      </p:sp>
      <p:sp>
        <p:nvSpPr>
          <p:cNvPr id="81" name="Circle 2"/>
          <p:cNvSpPr/>
          <p:nvPr/>
        </p:nvSpPr>
        <p:spPr>
          <a:xfrm>
            <a:off x="8216439" y="2953512"/>
            <a:ext cx="1715782" cy="56692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2" name="Option"/>
          <p:cNvSpPr/>
          <p:nvPr/>
        </p:nvSpPr>
        <p:spPr>
          <a:xfrm>
            <a:off x="9932221" y="3017520"/>
            <a:ext cx="1772099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three times</a:t>
            </a:r>
            <a:endParaRPr lang="en-US" sz="2000" dirty="0"/>
          </a:p>
        </p:txBody>
      </p:sp>
      <p:sp>
        <p:nvSpPr>
          <p:cNvPr id="83" name="Row shadow"/>
          <p:cNvSpPr/>
          <p:nvPr/>
        </p:nvSpPr>
        <p:spPr>
          <a:xfrm>
            <a:off x="5970118" y="3750869"/>
            <a:ext cx="5897880" cy="1188720"/>
          </a:xfrm>
          <a:prstGeom prst="round1Rect">
            <a:avLst/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4" name="Row"/>
          <p:cNvSpPr/>
          <p:nvPr/>
        </p:nvSpPr>
        <p:spPr>
          <a:xfrm>
            <a:off x="5897880" y="3694176"/>
            <a:ext cx="5897880" cy="1188720"/>
          </a:xfrm>
          <a:prstGeom prst="round1Rect">
            <a:avLst/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5" name="Row num"/>
          <p:cNvSpPr/>
          <p:nvPr/>
        </p:nvSpPr>
        <p:spPr>
          <a:xfrm>
            <a:off x="6035040" y="3949294"/>
            <a:ext cx="678485" cy="678485"/>
          </a:xfrm>
          <a:prstGeom prst="ellipse">
            <a:avLst/>
          </a:prstGeom>
          <a:solidFill>
            <a:srgbClr val="B9D2F7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03</a:t>
            </a:r>
            <a:endParaRPr lang="en-US" sz="2000" dirty="0"/>
          </a:p>
        </p:txBody>
      </p:sp>
      <p:sp>
        <p:nvSpPr>
          <p:cNvPr id="86" name="Row question"/>
          <p:cNvSpPr/>
          <p:nvPr/>
        </p:nvSpPr>
        <p:spPr>
          <a:xfrm>
            <a:off x="6858000" y="3767328"/>
            <a:ext cx="48006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Sam has to pay ...</a:t>
            </a:r>
            <a:endParaRPr lang="en-US" sz="2200" dirty="0"/>
          </a:p>
        </p:txBody>
      </p:sp>
      <p:sp>
        <p:nvSpPr>
          <p:cNvPr id="87" name="Option"/>
          <p:cNvSpPr/>
          <p:nvPr/>
        </p:nvSpPr>
        <p:spPr>
          <a:xfrm>
            <a:off x="6858000" y="4315968"/>
            <a:ext cx="1097280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$15</a:t>
            </a:r>
            <a:endParaRPr lang="en-US" sz="2000" dirty="0"/>
          </a:p>
        </p:txBody>
      </p:sp>
      <p:sp>
        <p:nvSpPr>
          <p:cNvPr id="88" name="Option"/>
          <p:cNvSpPr/>
          <p:nvPr/>
        </p:nvSpPr>
        <p:spPr>
          <a:xfrm>
            <a:off x="8065008" y="4315968"/>
            <a:ext cx="1097280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$45</a:t>
            </a:r>
            <a:endParaRPr lang="en-US" sz="2000" dirty="0"/>
          </a:p>
        </p:txBody>
      </p:sp>
      <p:sp>
        <p:nvSpPr>
          <p:cNvPr id="89" name="Circle 3"/>
          <p:cNvSpPr/>
          <p:nvPr/>
        </p:nvSpPr>
        <p:spPr>
          <a:xfrm>
            <a:off x="7955280" y="4251960"/>
            <a:ext cx="1316736" cy="56692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90" name="Option"/>
          <p:cNvSpPr/>
          <p:nvPr/>
        </p:nvSpPr>
        <p:spPr>
          <a:xfrm>
            <a:off x="9272016" y="4315968"/>
            <a:ext cx="1097280" cy="438912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$54</a:t>
            </a:r>
            <a:endParaRPr lang="en-US" sz="2000" dirty="0"/>
          </a:p>
        </p:txBody>
      </p:sp>
      <p:sp>
        <p:nvSpPr>
          <p:cNvPr id="91" name="Row shadow"/>
          <p:cNvSpPr/>
          <p:nvPr/>
        </p:nvSpPr>
        <p:spPr>
          <a:xfrm>
            <a:off x="5970118" y="5049317"/>
            <a:ext cx="5897880" cy="1188720"/>
          </a:xfrm>
          <a:prstGeom prst="round1Rect">
            <a:avLst/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92" name="Row"/>
          <p:cNvSpPr/>
          <p:nvPr/>
        </p:nvSpPr>
        <p:spPr>
          <a:xfrm>
            <a:off x="5897880" y="4992624"/>
            <a:ext cx="5897880" cy="1188720"/>
          </a:xfrm>
          <a:prstGeom prst="round1Rect">
            <a:avLst/>
          </a:prstGeom>
          <a:solidFill>
            <a:srgbClr val="B9D2F7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93" name="Row num"/>
          <p:cNvSpPr/>
          <p:nvPr/>
        </p:nvSpPr>
        <p:spPr>
          <a:xfrm>
            <a:off x="6035040" y="5247742"/>
            <a:ext cx="678485" cy="678485"/>
          </a:xfrm>
          <a:prstGeom prst="ellipse">
            <a:avLst/>
          </a:prstGeom>
          <a:solidFill>
            <a:srgbClr val="FFFFFF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04</a:t>
            </a:r>
            <a:endParaRPr lang="en-US" sz="2000" dirty="0"/>
          </a:p>
        </p:txBody>
      </p:sp>
      <p:sp>
        <p:nvSpPr>
          <p:cNvPr id="94" name="Row question"/>
          <p:cNvSpPr/>
          <p:nvPr/>
        </p:nvSpPr>
        <p:spPr>
          <a:xfrm>
            <a:off x="6858000" y="5065776"/>
            <a:ext cx="480060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has to pay by ...</a:t>
            </a:r>
            <a:endParaRPr lang="en-US" sz="2200" dirty="0"/>
          </a:p>
        </p:txBody>
      </p:sp>
      <p:sp>
        <p:nvSpPr>
          <p:cNvPr id="95" name="Option"/>
          <p:cNvSpPr/>
          <p:nvPr/>
        </p:nvSpPr>
        <p:spPr>
          <a:xfrm>
            <a:off x="6858000" y="5614416"/>
            <a:ext cx="1311250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5th</a:t>
            </a:r>
            <a:endParaRPr lang="en-US" sz="2000" dirty="0"/>
          </a:p>
        </p:txBody>
      </p:sp>
      <p:sp>
        <p:nvSpPr>
          <p:cNvPr id="96" name="Option"/>
          <p:cNvSpPr/>
          <p:nvPr/>
        </p:nvSpPr>
        <p:spPr>
          <a:xfrm>
            <a:off x="8278978" y="5614416"/>
            <a:ext cx="1459382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15th</a:t>
            </a:r>
            <a:endParaRPr lang="en-US" sz="2000" dirty="0"/>
          </a:p>
        </p:txBody>
      </p:sp>
      <p:sp>
        <p:nvSpPr>
          <p:cNvPr id="97" name="Circle 4"/>
          <p:cNvSpPr/>
          <p:nvPr/>
        </p:nvSpPr>
        <p:spPr>
          <a:xfrm>
            <a:off x="8169250" y="5550408"/>
            <a:ext cx="1678838" cy="56692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98" name="Option"/>
          <p:cNvSpPr/>
          <p:nvPr/>
        </p:nvSpPr>
        <p:spPr>
          <a:xfrm>
            <a:off x="9848088" y="5614416"/>
            <a:ext cx="1459382" cy="43891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50th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information.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865815" y="269565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924304" y="268655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rot="900000">
            <a:off x="11125766" y="289906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67" name="Statement 1"/>
          <p:cNvSpPr/>
          <p:nvPr/>
        </p:nvSpPr>
        <p:spPr>
          <a:xfrm>
            <a:off x="502920" y="3429000"/>
            <a:ext cx="402336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Account number:</a:t>
            </a:r>
            <a:endParaRPr lang="en-US" sz="2800" dirty="0"/>
          </a:p>
        </p:txBody>
      </p:sp>
      <p:sp>
        <p:nvSpPr>
          <p:cNvPr id="68" name="Cell 11"/>
          <p:cNvSpPr/>
          <p:nvPr/>
        </p:nvSpPr>
        <p:spPr>
          <a:xfrm>
            <a:off x="5120640" y="3575304"/>
            <a:ext cx="42062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69" name="Mark 11"/>
          <p:cNvSpPr/>
          <p:nvPr/>
        </p:nvSpPr>
        <p:spPr>
          <a:xfrm>
            <a:off x="5120640" y="3575304"/>
            <a:ext cx="42062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4 7 2 9 1 6</a:t>
            </a:r>
            <a:endParaRPr lang="en-US" sz="3200" dirty="0"/>
          </a:p>
        </p:txBody>
      </p:sp>
      <p:sp>
        <p:nvSpPr>
          <p:cNvPr id="70" name="Statement 2"/>
          <p:cNvSpPr/>
          <p:nvPr/>
        </p:nvSpPr>
        <p:spPr>
          <a:xfrm>
            <a:off x="502920" y="4572000"/>
            <a:ext cx="402336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8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Last name:</a:t>
            </a:r>
            <a:endParaRPr lang="en-US" sz="2800" dirty="0"/>
          </a:p>
        </p:txBody>
      </p:sp>
      <p:sp>
        <p:nvSpPr>
          <p:cNvPr id="71" name="Cell 21"/>
          <p:cNvSpPr/>
          <p:nvPr/>
        </p:nvSpPr>
        <p:spPr>
          <a:xfrm>
            <a:off x="5120640" y="4718304"/>
            <a:ext cx="420624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2" name="Mark 21"/>
          <p:cNvSpPr/>
          <p:nvPr/>
        </p:nvSpPr>
        <p:spPr>
          <a:xfrm>
            <a:off x="5120640" y="4718304"/>
            <a:ext cx="420624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 - O - P - E - Z</a:t>
            </a:r>
            <a:endParaRPr lang="en-US" sz="3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20930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03545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977640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828032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5678424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1031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01952" y="25054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340339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Sorry, could you ____ that, please?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10512" y="397764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 ____ that, please?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10512" y="4828032"/>
            <a:ext cx="36484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When do I ____ to pay?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10512" y="5678424"/>
            <a:ext cx="36484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 you ____ me a new bill, please?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4982" y="203545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16621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27248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977640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977640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828032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828032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678424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5678424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Phone rescue: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 you repeat that?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184087" y="180411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242576" y="179501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rot="900000">
            <a:off x="6444038" y="200752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42" name="Answer 1"/>
          <p:cNvSpPr/>
          <p:nvPr/>
        </p:nvSpPr>
        <p:spPr>
          <a:xfrm>
            <a:off x="5287061" y="3278124"/>
            <a:ext cx="1296619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repeat</a:t>
            </a:r>
            <a:endParaRPr lang="en-US" sz="2200" dirty="0"/>
          </a:p>
        </p:txBody>
      </p:sp>
      <p:sp>
        <p:nvSpPr>
          <p:cNvPr id="43" name="Answer 2"/>
          <p:cNvSpPr/>
          <p:nvPr/>
        </p:nvSpPr>
        <p:spPr>
          <a:xfrm>
            <a:off x="5449824" y="4128516"/>
            <a:ext cx="1133856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spell</a:t>
            </a:r>
            <a:endParaRPr lang="en-US" sz="2200" dirty="0"/>
          </a:p>
        </p:txBody>
      </p:sp>
      <p:sp>
        <p:nvSpPr>
          <p:cNvPr id="44" name="Answer 3"/>
          <p:cNvSpPr/>
          <p:nvPr/>
        </p:nvSpPr>
        <p:spPr>
          <a:xfrm>
            <a:off x="5532120" y="4978908"/>
            <a:ext cx="1051560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</a:t>
            </a:r>
            <a:endParaRPr lang="en-US" sz="2200" dirty="0"/>
          </a:p>
        </p:txBody>
      </p:sp>
      <p:sp>
        <p:nvSpPr>
          <p:cNvPr id="45" name="Answer 4"/>
          <p:cNvSpPr/>
          <p:nvPr/>
        </p:nvSpPr>
        <p:spPr>
          <a:xfrm>
            <a:off x="5532120" y="5829300"/>
            <a:ext cx="1051560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send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6429" y="1163345"/>
            <a:ext cx="5814670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1087222"/>
            <a:ext cx="5814670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333695" y="128016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I have to ...?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166360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741664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245852" y="247893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328148" y="2466137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rot="900000">
            <a:off x="10611612" y="2765146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44" name="Picture 44" descr="L12_fill_out_a_form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699516" y="2264969"/>
            <a:ext cx="3326587" cy="2328611"/>
          </a:xfrm>
          <a:prstGeom prst="rect">
            <a:avLst/>
          </a:prstGeom>
        </p:spPr>
      </p:pic>
      <p:sp>
        <p:nvSpPr>
          <p:cNvPr id="45" name="Highlight"/>
          <p:cNvSpPr/>
          <p:nvPr/>
        </p:nvSpPr>
        <p:spPr>
          <a:xfrm>
            <a:off x="5138928" y="3899916"/>
            <a:ext cx="9601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6" name="Helper"/>
          <p:cNvSpPr/>
          <p:nvPr/>
        </p:nvSpPr>
        <p:spPr>
          <a:xfrm>
            <a:off x="5138928" y="3749040"/>
            <a:ext cx="9601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18288" tIns="36576" rIns="18288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endParaRPr lang="en-US" sz="2600" dirty="0"/>
          </a:p>
        </p:txBody>
      </p:sp>
      <p:sp>
        <p:nvSpPr>
          <p:cNvPr id="47" name="Question"/>
          <p:cNvSpPr/>
          <p:nvPr/>
        </p:nvSpPr>
        <p:spPr>
          <a:xfrm>
            <a:off x="6144768" y="3749040"/>
            <a:ext cx="2487168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have to pay today?</a:t>
            </a:r>
            <a:endParaRPr lang="en-US" sz="2200" dirty="0"/>
          </a:p>
        </p:txBody>
      </p:sp>
      <p:sp>
        <p:nvSpPr>
          <p:cNvPr id="49" name="Answer bg"/>
          <p:cNvSpPr/>
          <p:nvPr/>
        </p:nvSpPr>
        <p:spPr>
          <a:xfrm>
            <a:off x="8668512" y="3749040"/>
            <a:ext cx="3017520" cy="8686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8" name="Answer"/>
          <p:cNvSpPr/>
          <p:nvPr/>
        </p:nvSpPr>
        <p:spPr>
          <a:xfrm>
            <a:off x="8668512" y="3749040"/>
            <a:ext cx="30175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you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you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50" name="Highlight"/>
          <p:cNvSpPr/>
          <p:nvPr/>
        </p:nvSpPr>
        <p:spPr>
          <a:xfrm>
            <a:off x="5138928" y="4814316"/>
            <a:ext cx="9601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1" name="Helper"/>
          <p:cNvSpPr/>
          <p:nvPr/>
        </p:nvSpPr>
        <p:spPr>
          <a:xfrm>
            <a:off x="5138928" y="4663440"/>
            <a:ext cx="9601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18288" tIns="36576" rIns="18288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endParaRPr lang="en-US" sz="2600" dirty="0"/>
          </a:p>
        </p:txBody>
      </p:sp>
      <p:sp>
        <p:nvSpPr>
          <p:cNvPr id="52" name="Question"/>
          <p:cNvSpPr/>
          <p:nvPr/>
        </p:nvSpPr>
        <p:spPr>
          <a:xfrm>
            <a:off x="6144768" y="4663440"/>
            <a:ext cx="2487168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we need to fill out a form?</a:t>
            </a:r>
            <a:endParaRPr lang="en-US" sz="2200" dirty="0"/>
          </a:p>
        </p:txBody>
      </p:sp>
      <p:sp>
        <p:nvSpPr>
          <p:cNvPr id="54" name="Answer bg"/>
          <p:cNvSpPr/>
          <p:nvPr/>
        </p:nvSpPr>
        <p:spPr>
          <a:xfrm>
            <a:off x="8668512" y="4663440"/>
            <a:ext cx="3017520" cy="8686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3" name="Answer"/>
          <p:cNvSpPr/>
          <p:nvPr/>
        </p:nvSpPr>
        <p:spPr>
          <a:xfrm>
            <a:off x="8668512" y="4663440"/>
            <a:ext cx="30175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you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you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55" name="Highlight"/>
          <p:cNvSpPr/>
          <p:nvPr/>
        </p:nvSpPr>
        <p:spPr>
          <a:xfrm>
            <a:off x="5138928" y="5728716"/>
            <a:ext cx="9601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6" name="Helper"/>
          <p:cNvSpPr/>
          <p:nvPr/>
        </p:nvSpPr>
        <p:spPr>
          <a:xfrm>
            <a:off x="5138928" y="5577840"/>
            <a:ext cx="9601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18288" tIns="36576" rIns="18288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</a:t>
            </a:r>
            <a:endParaRPr lang="en-US" sz="2600" dirty="0"/>
          </a:p>
        </p:txBody>
      </p:sp>
      <p:sp>
        <p:nvSpPr>
          <p:cNvPr id="57" name="Question"/>
          <p:cNvSpPr/>
          <p:nvPr/>
        </p:nvSpPr>
        <p:spPr>
          <a:xfrm>
            <a:off x="6144768" y="5577840"/>
            <a:ext cx="2487168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have to work?</a:t>
            </a:r>
            <a:endParaRPr lang="en-US" sz="2200" dirty="0"/>
          </a:p>
        </p:txBody>
      </p:sp>
      <p:sp>
        <p:nvSpPr>
          <p:cNvPr id="59" name="Answer bg"/>
          <p:cNvSpPr/>
          <p:nvPr/>
        </p:nvSpPr>
        <p:spPr>
          <a:xfrm>
            <a:off x="8668512" y="5577840"/>
            <a:ext cx="3017520" cy="8686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8" name="Answer"/>
          <p:cNvSpPr/>
          <p:nvPr/>
        </p:nvSpPr>
        <p:spPr>
          <a:xfrm>
            <a:off x="8668512" y="5577840"/>
            <a:ext cx="30175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she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she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doesn't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2786" y="3649370"/>
            <a:ext cx="4912157" cy="256123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32104" y="1371600"/>
            <a:ext cx="5257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/>
          </a:p>
          <a:p>
            <a:pPr algn="l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 ...?</a:t>
            </a:r>
            <a:endParaRPr lang="en-US" sz="3200" dirty="0"/>
          </a:p>
          <a:p>
            <a:pPr algn="l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 You ...?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305763" y="3649370"/>
            <a:ext cx="4790542" cy="2599639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41578" y="3253435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23874" y="3240634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rot="900000">
            <a:off x="1107338" y="3539642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42" name="Picture 42" descr="L12_repeat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598664" y="1216152"/>
            <a:ext cx="3254350" cy="2278045"/>
          </a:xfrm>
          <a:prstGeom prst="rect">
            <a:avLst/>
          </a:prstGeom>
        </p:spPr>
      </p:pic>
      <p:sp>
        <p:nvSpPr>
          <p:cNvPr id="43" name="Q head"/>
          <p:cNvSpPr/>
          <p:nvPr/>
        </p:nvSpPr>
        <p:spPr>
          <a:xfrm>
            <a:off x="1920240" y="3794760"/>
            <a:ext cx="40233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REQUEST</a:t>
            </a:r>
            <a:endParaRPr lang="en-US" sz="2000" dirty="0"/>
          </a:p>
        </p:txBody>
      </p:sp>
      <p:sp>
        <p:nvSpPr>
          <p:cNvPr id="44" name="A head"/>
          <p:cNvSpPr/>
          <p:nvPr/>
        </p:nvSpPr>
        <p:spPr>
          <a:xfrm>
            <a:off x="7040880" y="3794760"/>
            <a:ext cx="44805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/>
          </a:p>
        </p:txBody>
      </p:sp>
      <p:sp>
        <p:nvSpPr>
          <p:cNvPr id="45" name="Highlight"/>
          <p:cNvSpPr/>
          <p:nvPr/>
        </p:nvSpPr>
        <p:spPr>
          <a:xfrm>
            <a:off x="1481328" y="4453128"/>
            <a:ext cx="3639312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6" name="Question"/>
          <p:cNvSpPr/>
          <p:nvPr/>
        </p:nvSpPr>
        <p:spPr>
          <a:xfrm>
            <a:off x="1481328" y="43159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 you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repeat that?</a:t>
            </a:r>
            <a:endParaRPr lang="en-US" sz="2200" dirty="0"/>
          </a:p>
        </p:txBody>
      </p:sp>
      <p:sp>
        <p:nvSpPr>
          <p:cNvPr id="48" name="Answer bg"/>
          <p:cNvSpPr/>
          <p:nvPr/>
        </p:nvSpPr>
        <p:spPr>
          <a:xfrm>
            <a:off x="6949440" y="43342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7" name="Answer"/>
          <p:cNvSpPr/>
          <p:nvPr/>
        </p:nvSpPr>
        <p:spPr>
          <a:xfrm>
            <a:off x="6949440" y="43159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Sure. No problem.</a:t>
            </a:r>
            <a:endParaRPr lang="en-US" sz="2200" dirty="0"/>
          </a:p>
        </p:txBody>
      </p:sp>
      <p:sp>
        <p:nvSpPr>
          <p:cNvPr id="49" name="Highlight"/>
          <p:cNvSpPr/>
          <p:nvPr/>
        </p:nvSpPr>
        <p:spPr>
          <a:xfrm>
            <a:off x="1481328" y="5367528"/>
            <a:ext cx="3488436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0" name="Question"/>
          <p:cNvSpPr/>
          <p:nvPr/>
        </p:nvSpPr>
        <p:spPr>
          <a:xfrm>
            <a:off x="1481328" y="52303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call me back?</a:t>
            </a:r>
            <a:endParaRPr lang="en-US" sz="2200" dirty="0"/>
          </a:p>
        </p:txBody>
      </p:sp>
      <p:sp>
        <p:nvSpPr>
          <p:cNvPr id="52" name="Answer bg"/>
          <p:cNvSpPr/>
          <p:nvPr/>
        </p:nvSpPr>
        <p:spPr>
          <a:xfrm>
            <a:off x="6949440" y="52486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1" name="Answer"/>
          <p:cNvSpPr/>
          <p:nvPr/>
        </p:nvSpPr>
        <p:spPr>
          <a:xfrm>
            <a:off x="6949440" y="52303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Sorry, I can't.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busy right now.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I pay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by phone?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Asking: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I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…?</a:t>
            </a:r>
            <a:endParaRPr lang="en-US" sz="2000" dirty="0"/>
          </a:p>
        </p:txBody>
      </p:sp>
      <p:pic>
        <p:nvPicPr>
          <p:cNvPr id="65" name="Picture 65" descr="L12_leave_a_message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66" name="Wh"/>
          <p:cNvSpPr/>
          <p:nvPr/>
        </p:nvSpPr>
        <p:spPr>
          <a:xfrm>
            <a:off x="3520440" y="4114800"/>
            <a:ext cx="27432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200" dirty="0"/>
          </a:p>
        </p:txBody>
      </p:sp>
      <p:sp>
        <p:nvSpPr>
          <p:cNvPr id="67" name="Highlight"/>
          <p:cNvSpPr/>
          <p:nvPr/>
        </p:nvSpPr>
        <p:spPr>
          <a:xfrm>
            <a:off x="3794760" y="4114800"/>
            <a:ext cx="1137514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68" name="Helper"/>
          <p:cNvSpPr/>
          <p:nvPr/>
        </p:nvSpPr>
        <p:spPr>
          <a:xfrm>
            <a:off x="3794760" y="4114800"/>
            <a:ext cx="1137514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I</a:t>
            </a:r>
            <a:endParaRPr lang="en-US" sz="2200" dirty="0"/>
          </a:p>
        </p:txBody>
      </p:sp>
      <p:sp>
        <p:nvSpPr>
          <p:cNvPr id="69" name="Rest"/>
          <p:cNvSpPr/>
          <p:nvPr/>
        </p:nvSpPr>
        <p:spPr>
          <a:xfrm>
            <a:off x="4987138" y="4114800"/>
            <a:ext cx="2144268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pay by phone?</a:t>
            </a:r>
            <a:endParaRPr lang="en-US" sz="2200" dirty="0"/>
          </a:p>
        </p:txBody>
      </p:sp>
      <p:sp>
        <p:nvSpPr>
          <p:cNvPr id="70" name="Wh"/>
          <p:cNvSpPr/>
          <p:nvPr/>
        </p:nvSpPr>
        <p:spPr>
          <a:xfrm>
            <a:off x="3520440" y="4846320"/>
            <a:ext cx="27432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200" dirty="0"/>
          </a:p>
        </p:txBody>
      </p:sp>
      <p:sp>
        <p:nvSpPr>
          <p:cNvPr id="71" name="Highlight"/>
          <p:cNvSpPr/>
          <p:nvPr/>
        </p:nvSpPr>
        <p:spPr>
          <a:xfrm>
            <a:off x="3794760" y="4846320"/>
            <a:ext cx="1137514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2" name="Helper"/>
          <p:cNvSpPr/>
          <p:nvPr/>
        </p:nvSpPr>
        <p:spPr>
          <a:xfrm>
            <a:off x="3794760" y="4846320"/>
            <a:ext cx="1137514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I</a:t>
            </a:r>
            <a:endParaRPr lang="en-US" sz="2200" dirty="0"/>
          </a:p>
        </p:txBody>
      </p:sp>
      <p:sp>
        <p:nvSpPr>
          <p:cNvPr id="73" name="Rest"/>
          <p:cNvSpPr/>
          <p:nvPr/>
        </p:nvSpPr>
        <p:spPr>
          <a:xfrm>
            <a:off x="4987138" y="4846320"/>
            <a:ext cx="2596896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leave a message?</a:t>
            </a:r>
            <a:endParaRPr lang="en-US" sz="2200" dirty="0"/>
          </a:p>
        </p:txBody>
      </p:sp>
      <p:sp>
        <p:nvSpPr>
          <p:cNvPr id="74" name="Wh"/>
          <p:cNvSpPr/>
          <p:nvPr/>
        </p:nvSpPr>
        <p:spPr>
          <a:xfrm>
            <a:off x="3520440" y="5577840"/>
            <a:ext cx="27432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200" dirty="0"/>
          </a:p>
        </p:txBody>
      </p:sp>
      <p:sp>
        <p:nvSpPr>
          <p:cNvPr id="75" name="Highlight"/>
          <p:cNvSpPr/>
          <p:nvPr/>
        </p:nvSpPr>
        <p:spPr>
          <a:xfrm>
            <a:off x="3794760" y="5577840"/>
            <a:ext cx="1137514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6" name="Helper"/>
          <p:cNvSpPr/>
          <p:nvPr/>
        </p:nvSpPr>
        <p:spPr>
          <a:xfrm>
            <a:off x="3794760" y="5577840"/>
            <a:ext cx="1137514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I</a:t>
            </a:r>
            <a:endParaRPr lang="en-US" sz="2200" dirty="0"/>
          </a:p>
        </p:txBody>
      </p:sp>
      <p:sp>
        <p:nvSpPr>
          <p:cNvPr id="77" name="Rest"/>
          <p:cNvSpPr/>
          <p:nvPr/>
        </p:nvSpPr>
        <p:spPr>
          <a:xfrm>
            <a:off x="4987138" y="5577840"/>
            <a:ext cx="2898648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to a manager?</a:t>
            </a:r>
            <a:endParaRPr lang="en-US" sz="2200" dirty="0"/>
          </a:p>
        </p:txBody>
      </p:sp>
      <p:sp>
        <p:nvSpPr>
          <p:cNvPr id="78" name="Card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Answers</a:t>
            </a:r>
            <a:endParaRPr lang="en-US" sz="2400" dirty="0"/>
          </a:p>
        </p:txBody>
      </p:sp>
      <p:sp>
        <p:nvSpPr>
          <p:cNvPr id="79" name="Card item"/>
          <p:cNvSpPr/>
          <p:nvPr/>
        </p:nvSpPr>
        <p:spPr>
          <a:xfrm>
            <a:off x="8549640" y="1920240"/>
            <a:ext cx="301752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you can.</a:t>
            </a:r>
            <a:endParaRPr lang="en-US" sz="2000" dirty="0"/>
          </a:p>
        </p:txBody>
      </p:sp>
      <p:sp>
        <p:nvSpPr>
          <p:cNvPr id="80" name="Card item"/>
          <p:cNvSpPr/>
          <p:nvPr/>
        </p:nvSpPr>
        <p:spPr>
          <a:xfrm>
            <a:off x="8549640" y="2404872"/>
            <a:ext cx="3017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Sure. One moment, please.</a:t>
            </a:r>
            <a:endParaRPr lang="en-US" sz="2000" dirty="0"/>
          </a:p>
        </p:txBody>
      </p:sp>
      <p:sp>
        <p:nvSpPr>
          <p:cNvPr id="81" name="Card item"/>
          <p:cNvSpPr/>
          <p:nvPr/>
        </p:nvSpPr>
        <p:spPr>
          <a:xfrm>
            <a:off x="8549640" y="3209544"/>
            <a:ext cx="301752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Sorry, you can't.</a:t>
            </a:r>
            <a:endParaRPr lang="en-US" sz="2000" dirty="0"/>
          </a:p>
        </p:txBody>
      </p:sp>
      <p:sp>
        <p:nvSpPr>
          <p:cNvPr id="82" name="Example"/>
          <p:cNvSpPr/>
          <p:nvPr/>
        </p:nvSpPr>
        <p:spPr>
          <a:xfrm>
            <a:off x="8549640" y="5029200"/>
            <a:ext cx="3017520" cy="8686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 to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come in person.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3621024"/>
            <a:ext cx="3543300" cy="275600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3629254"/>
            <a:ext cx="5860390" cy="275600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125108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118689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429000"/>
            <a:ext cx="3610966" cy="275600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3429000"/>
            <a:ext cx="5860390" cy="275600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55448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/>
          </a:p>
        </p:txBody>
      </p:sp>
      <p:sp>
        <p:nvSpPr>
          <p:cNvPr id="18" name="Shape 16"/>
          <p:cNvSpPr/>
          <p:nvPr/>
        </p:nvSpPr>
        <p:spPr>
          <a:xfrm>
            <a:off x="9562795" y="311261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645091" y="3099816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rot="900000">
            <a:off x="9928555" y="3398825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7" name="Picture 37" descr="L12_pay_a_bill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8915400" y="1280160"/>
            <a:ext cx="2551176" cy="1785823"/>
          </a:xfrm>
          <a:prstGeom prst="rect">
            <a:avLst/>
          </a:prstGeom>
        </p:spPr>
      </p:pic>
      <p:sp>
        <p:nvSpPr>
          <p:cNvPr id="38" name="Dont head"/>
          <p:cNvSpPr/>
          <p:nvPr/>
        </p:nvSpPr>
        <p:spPr>
          <a:xfrm>
            <a:off x="914400" y="3520440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39" name="Say head"/>
          <p:cNvSpPr/>
          <p:nvPr/>
        </p:nvSpPr>
        <p:spPr>
          <a:xfrm>
            <a:off x="4800600" y="352044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40" name="Bad"/>
          <p:cNvSpPr/>
          <p:nvPr/>
        </p:nvSpPr>
        <p:spPr>
          <a:xfrm>
            <a:off x="914400" y="4023360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have to paying.</a:t>
            </a:r>
            <a:endParaRPr lang="en-US" sz="2200" dirty="0"/>
          </a:p>
        </p:txBody>
      </p:sp>
      <p:sp>
        <p:nvSpPr>
          <p:cNvPr id="41" name="Good"/>
          <p:cNvSpPr/>
          <p:nvPr/>
        </p:nvSpPr>
        <p:spPr>
          <a:xfrm>
            <a:off x="4800600" y="4023360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have to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pay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42" name="Bad"/>
          <p:cNvSpPr/>
          <p:nvPr/>
        </p:nvSpPr>
        <p:spPr>
          <a:xfrm>
            <a:off x="914400" y="4626864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must to pay.</a:t>
            </a:r>
            <a:endParaRPr lang="en-US" sz="2200" dirty="0"/>
          </a:p>
        </p:txBody>
      </p:sp>
      <p:sp>
        <p:nvSpPr>
          <p:cNvPr id="43" name="Good"/>
          <p:cNvSpPr/>
          <p:nvPr/>
        </p:nvSpPr>
        <p:spPr>
          <a:xfrm>
            <a:off x="4800600" y="4626864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 to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pay.</a:t>
            </a:r>
            <a:endParaRPr lang="en-US" sz="2200" dirty="0"/>
          </a:p>
        </p:txBody>
      </p:sp>
      <p:sp>
        <p:nvSpPr>
          <p:cNvPr id="44" name="Bad"/>
          <p:cNvSpPr/>
          <p:nvPr/>
        </p:nvSpPr>
        <p:spPr>
          <a:xfrm>
            <a:off x="914400" y="5230368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have to work.</a:t>
            </a:r>
            <a:endParaRPr lang="en-US" sz="2200" dirty="0"/>
          </a:p>
        </p:txBody>
      </p:sp>
      <p:sp>
        <p:nvSpPr>
          <p:cNvPr id="45" name="Good"/>
          <p:cNvSpPr/>
          <p:nvPr/>
        </p:nvSpPr>
        <p:spPr>
          <a:xfrm>
            <a:off x="4800600" y="5230368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has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 work.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3621024"/>
            <a:ext cx="3543300" cy="29992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3629254"/>
            <a:ext cx="5860390" cy="29992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125108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118689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429000"/>
            <a:ext cx="3610966" cy="2999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3429000"/>
            <a:ext cx="5860390" cy="29992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55448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Fix These Mistakes</a:t>
            </a:r>
            <a:endParaRPr lang="en-US" sz="4300" dirty="0"/>
          </a:p>
        </p:txBody>
      </p:sp>
      <p:sp>
        <p:nvSpPr>
          <p:cNvPr id="18" name="Shape 16"/>
          <p:cNvSpPr/>
          <p:nvPr/>
        </p:nvSpPr>
        <p:spPr>
          <a:xfrm>
            <a:off x="9562795" y="311261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645091" y="3099816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rot="900000">
            <a:off x="9928555" y="3398825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7" name="Picture 37" descr="L12_wait_in_line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8915400" y="1280160"/>
            <a:ext cx="2551176" cy="1785823"/>
          </a:xfrm>
          <a:prstGeom prst="rect">
            <a:avLst/>
          </a:prstGeom>
        </p:spPr>
      </p:pic>
      <p:sp>
        <p:nvSpPr>
          <p:cNvPr id="38" name="Dont head"/>
          <p:cNvSpPr/>
          <p:nvPr/>
        </p:nvSpPr>
        <p:spPr>
          <a:xfrm>
            <a:off x="914400" y="3520440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39" name="Say head"/>
          <p:cNvSpPr/>
          <p:nvPr/>
        </p:nvSpPr>
        <p:spPr>
          <a:xfrm>
            <a:off x="4800600" y="352044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40" name="Bad"/>
          <p:cNvSpPr/>
          <p:nvPr/>
        </p:nvSpPr>
        <p:spPr>
          <a:xfrm>
            <a:off x="914400" y="4023360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 you to help me?</a:t>
            </a:r>
            <a:endParaRPr lang="en-US" sz="2200" dirty="0"/>
          </a:p>
        </p:txBody>
      </p:sp>
      <p:sp>
        <p:nvSpPr>
          <p:cNvPr id="41" name="Good"/>
          <p:cNvSpPr/>
          <p:nvPr/>
        </p:nvSpPr>
        <p:spPr>
          <a:xfrm>
            <a:off x="4800600" y="4023360"/>
            <a:ext cx="5303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 you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help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me?</a:t>
            </a:r>
            <a:endParaRPr lang="en-US" sz="2200" dirty="0"/>
          </a:p>
        </p:txBody>
      </p:sp>
      <p:sp>
        <p:nvSpPr>
          <p:cNvPr id="42" name="Bad"/>
          <p:cNvSpPr/>
          <p:nvPr/>
        </p:nvSpPr>
        <p:spPr>
          <a:xfrm>
            <a:off x="914400" y="4855464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 she has to go?</a:t>
            </a:r>
            <a:endParaRPr lang="en-US" sz="2200" dirty="0"/>
          </a:p>
        </p:txBody>
      </p:sp>
      <p:sp>
        <p:nvSpPr>
          <p:cNvPr id="43" name="Good"/>
          <p:cNvSpPr/>
          <p:nvPr/>
        </p:nvSpPr>
        <p:spPr>
          <a:xfrm>
            <a:off x="4800600" y="4855464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 she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to go?</a:t>
            </a:r>
            <a:endParaRPr lang="en-US" sz="2200" dirty="0"/>
          </a:p>
        </p:txBody>
      </p:sp>
      <p:sp>
        <p:nvSpPr>
          <p:cNvPr id="44" name="Bad"/>
          <p:cNvSpPr/>
          <p:nvPr/>
        </p:nvSpPr>
        <p:spPr>
          <a:xfrm>
            <a:off x="914400" y="5458968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don't have to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smoke here.</a:t>
            </a:r>
            <a:endParaRPr lang="en-US" sz="2200" dirty="0"/>
          </a:p>
        </p:txBody>
      </p:sp>
      <p:sp>
        <p:nvSpPr>
          <p:cNvPr id="45" name="Good"/>
          <p:cNvSpPr/>
          <p:nvPr/>
        </p:nvSpPr>
        <p:spPr>
          <a:xfrm>
            <a:off x="4800600" y="5458968"/>
            <a:ext cx="5303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can't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smoke here.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(= not allowed)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Quick Check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has to, don't have to, or help?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___ to work tomorrow.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46177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 I have to pay today? (due on the 15th)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82753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 you ___ me? (help / to help)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0972800" y="5120640"/>
            <a:ext cx="777240" cy="734214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1035257" y="5110925"/>
            <a:ext cx="791119" cy="791119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rot="900000">
            <a:off x="11250386" y="5337851"/>
            <a:ext cx="337961" cy="337961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31" name="Answer"/>
          <p:cNvSpPr/>
          <p:nvPr/>
        </p:nvSpPr>
        <p:spPr>
          <a:xfrm>
            <a:off x="960120" y="4709160"/>
            <a:ext cx="173736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has</a:t>
            </a:r>
            <a:endParaRPr lang="en-US" sz="2200" dirty="0"/>
          </a:p>
        </p:txBody>
      </p:sp>
      <p:sp>
        <p:nvSpPr>
          <p:cNvPr id="32" name="Answer"/>
          <p:cNvSpPr/>
          <p:nvPr/>
        </p:nvSpPr>
        <p:spPr>
          <a:xfrm>
            <a:off x="4617720" y="4709160"/>
            <a:ext cx="260604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you don't.</a:t>
            </a:r>
            <a:endParaRPr lang="en-US" sz="2200" dirty="0"/>
          </a:p>
        </p:txBody>
      </p:sp>
      <p:sp>
        <p:nvSpPr>
          <p:cNvPr id="33" name="Answer"/>
          <p:cNvSpPr/>
          <p:nvPr/>
        </p:nvSpPr>
        <p:spPr>
          <a:xfrm>
            <a:off x="8275320" y="4709160"/>
            <a:ext cx="173736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help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" y="1360627"/>
            <a:ext cx="3045866" cy="4995367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82058" y="4619549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08906" y="4572000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395201" y="1473464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437583" y="1419149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00600" y="1481328"/>
            <a:ext cx="6583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 to · need to · don't have to</a:t>
            </a:r>
            <a:endParaRPr lang="en-US" sz="2000" dirty="0"/>
          </a:p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Necessary or Not?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713732" y="3063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Necessary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713732" y="36118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 to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pay the bill.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has to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work.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13732" y="46634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Not necessary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13732" y="519379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have to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pay today.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052560" y="31089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 to</a:t>
            </a:r>
            <a:endParaRPr lang="en-US" sz="3800" dirty="0"/>
          </a:p>
        </p:txBody>
      </p:sp>
      <p:sp>
        <p:nvSpPr>
          <p:cNvPr id="17" name="Text 15"/>
          <p:cNvSpPr/>
          <p:nvPr/>
        </p:nvSpPr>
        <p:spPr>
          <a:xfrm>
            <a:off x="9052560" y="47091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</a:t>
            </a:r>
            <a:endParaRPr lang="en-US" sz="5400" dirty="0"/>
          </a:p>
        </p:txBody>
      </p:sp>
      <p:pic>
        <p:nvPicPr>
          <p:cNvPr id="23" name="Picture 23" descr="L12_due_date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649224" y="2871216"/>
            <a:ext cx="2825496" cy="19778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Phone Service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291072" y="1783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what you have to do.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033358" y="198699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091847" y="197789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rot="900000">
            <a:off x="9293308" y="219040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2" name="Picture 32" descr="L12_make_a_phone_call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22376" y="3418942"/>
            <a:ext cx="3882542" cy="2717780"/>
          </a:xfrm>
          <a:prstGeom prst="rect">
            <a:avLst/>
          </a:prstGeom>
        </p:spPr>
      </p:pic>
      <p:sp>
        <p:nvSpPr>
          <p:cNvPr id="33" name="Step num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34" name="Step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Sit back to back.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Like a phone call.</a:t>
            </a:r>
            <a:endParaRPr lang="en-US" sz="2000" dirty="0"/>
          </a:p>
        </p:txBody>
      </p:sp>
      <p:sp>
        <p:nvSpPr>
          <p:cNvPr id="35" name="Step num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36" name="Step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Customer + agent cards.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 spell that?</a:t>
            </a:r>
            <a:endParaRPr lang="en-US" sz="2000" dirty="0"/>
          </a:p>
        </p:txBody>
      </p:sp>
      <p:sp>
        <p:nvSpPr>
          <p:cNvPr id="37" name="Step num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38" name="Step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Switch after 4 minutes.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card, new problem.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343400" y="210312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9907524" y="2565806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966013" y="2556708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 rot="900000">
            <a:off x="10167475" y="2769218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0" name="Picture 30" descr="L12_id_card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31" name="Num 01"/>
          <p:cNvSpPr/>
          <p:nvPr/>
        </p:nvSpPr>
        <p:spPr>
          <a:xfrm>
            <a:off x="43434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32" name="Label 01"/>
          <p:cNvSpPr/>
          <p:nvPr/>
        </p:nvSpPr>
        <p:spPr>
          <a:xfrm>
            <a:off x="51206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/>
          </a:p>
        </p:txBody>
      </p:sp>
      <p:sp>
        <p:nvSpPr>
          <p:cNvPr id="33" name="Body 01"/>
          <p:cNvSpPr/>
          <p:nvPr/>
        </p:nvSpPr>
        <p:spPr>
          <a:xfrm>
            <a:off x="4343400" y="3977640"/>
            <a:ext cx="352044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one sentence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with have to or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need to. Write one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request: Could you…?</a:t>
            </a:r>
            <a:endParaRPr lang="en-US" sz="2000" dirty="0"/>
          </a:p>
        </p:txBody>
      </p:sp>
      <p:sp>
        <p:nvSpPr>
          <p:cNvPr id="34" name="Num 02"/>
          <p:cNvSpPr/>
          <p:nvPr/>
        </p:nvSpPr>
        <p:spPr>
          <a:xfrm>
            <a:off x="80010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35" name="Label 02"/>
          <p:cNvSpPr/>
          <p:nvPr/>
        </p:nvSpPr>
        <p:spPr>
          <a:xfrm>
            <a:off x="87782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/>
          </a:p>
        </p:txBody>
      </p:sp>
      <p:sp>
        <p:nvSpPr>
          <p:cNvPr id="36" name="Body 02"/>
          <p:cNvSpPr/>
          <p:nvPr/>
        </p:nvSpPr>
        <p:spPr>
          <a:xfrm>
            <a:off x="8001000" y="3977640"/>
            <a:ext cx="352044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4 things you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 to do and 2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don't have to.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a voicemail: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name, 555-01__, and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Could you call me back?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2" name="Shape 10"/>
          <p:cNvSpPr/>
          <p:nvPr/>
        </p:nvSpPr>
        <p:spPr>
          <a:xfrm>
            <a:off x="275234" y="75895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33723" y="66797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 rot="900000">
            <a:off x="535185" y="279307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5" name="Twemoji credit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arrows, calendars, clocks, and labels were added.</a:t>
            </a:r>
            <a:endParaRPr lang="en-US" sz="2000" dirty="0"/>
          </a:p>
        </p:txBody>
      </p:sp>
      <p:sp>
        <p:nvSpPr>
          <p:cNvPr id="16" name="Deck license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This deck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2000" dirty="0"/>
          </a:p>
        </p:txBody>
      </p:sp>
      <p:sp>
        <p:nvSpPr>
          <p:cNvPr id="17" name="AudioFontCredits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Chatterbox TTS (Resemble AI, MIT); AI voices with a Perth watermark. Font: Lexend Deca (OFL 1.1). Provided as-is, without warranty.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12 (Week 13): Getting Things Done</dc:title>
  <dc:subject>PptxGenJS Presentation</dc:subject>
  <dc:creator>Level 2 ESL</dc:creator>
  <cp:lastModifiedBy>Level 2 ESL</cp:lastModifiedBy>
  <cp:revision>1</cp:revision>
  <dcterms:created xsi:type="dcterms:W3CDTF">2026-10-15T20:54:31Z</dcterms:created>
  <dcterms:modified xsi:type="dcterms:W3CDTF">2026-10-15T20:54:31Z</dcterms:modified>
</cp:coreProperties>
</file>