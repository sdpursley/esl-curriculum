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9" r:id="rId30"/>
    <p:sldId id="272" r:id="rId18"/>
    <p:sldId id="277" r:id="rId28"/>
    <p:sldId id="264" r:id="rId10"/>
    <p:sldId id="259" r:id="rId5"/>
    <p:sldId id="260" r:id="rId6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0.xml"/><Relationship Id="rId6" Type="http://schemas.openxmlformats.org/officeDocument/2006/relationships/slide" Target="slides/slide11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Relationship Id="rId3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talk about the past, present, and future in one conversation; choose the correct tense with a time word (ago / now / next year); talk about feelings then and now (I was nervous. Now I feel proud.); prepare and practice a short graduation talk (4–6 sentences).</a:t>
            </a:r>
          </a:p>
          <a:p>
            <a:r>
              <a:rPr lang="en-US" dirty="0"/>
              <a:t>This lesson reviews all the grammar from Lessons 1–12. No new grammar except will (shown only in the tense helper, for recognition).</a:t>
            </a:r>
          </a:p>
          <a:p>
            <a:r>
              <a:rPr lang="en-US" dirty="0"/>
              <a:t>Source: Level2_Curriculum_v5_public.md, Lesson 13 (At a glance;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12): partners ask What do you have to do this week? Do you have to work on Saturday? Each click shows one question.</a:t>
            </a:r>
          </a:p>
          <a:p>
            <a:r>
              <a:rPr lang="en-US" dirty="0"/>
              <a:t>Source: Level2_Curriculum_v5_public.md, Lesson 13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Feelings then and now. Click 1 and click 2 highlight one pair each.</a:t>
            </a:r>
          </a:p>
          <a:p>
            <a:r>
              <a:rPr lang="en-US" dirty="0"/>
              <a:t>More from the box: nervous / shy / excited; proud / happy / more confident.</a:t>
            </a:r>
          </a:p>
          <a:p>
            <a:r>
              <a:rPr lang="en-US" dirty="0"/>
              <a:t>Q: was or did? was / were with adjectives and places: I was nervous. did with other verbs in questions and negatives: Did you study?</a:t>
            </a:r>
          </a:p>
          <a:p>
            <a:r>
              <a:rPr lang="en-US" dirty="0"/>
              <a:t>Source: Level2_Curriculum_v5_public.md, Lesson 13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Goals and dreams. Each click highlights one row. Full question: What's your goal? What's your dream?</a:t>
            </a:r>
          </a:p>
          <a:p>
            <a:r>
              <a:rPr lang="en-US" dirty="0"/>
              <a:t>Q: How do I talk about a goal? My goal is to + verb: My goal is to get an office job.</a:t>
            </a:r>
          </a:p>
          <a:p>
            <a:r>
              <a:rPr lang="en-US" dirty="0"/>
              <a:t>Source: Level2_Curriculum_v5_public.md, Lesson 13 (Grammar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13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worked · am going to take · I agree.</a:t>
            </a:r>
          </a:p>
          <a:p>
            <a:r>
              <a:rPr lang="en-US" dirty="0"/>
              <a:t>Short "Time Word Dice" (last 5 min): pairs take a card with a time word and a verb (last year + live) and make a sentence. If behind: skip it.</a:t>
            </a:r>
          </a:p>
          <a:p>
            <a:r>
              <a:rPr lang="en-US" dirty="0"/>
              <a:t>Source: Level2_Curriculum_v5_public.md, Lesson 13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Review of all tenses. Say: "The time word tells you the tense. ago / last / yesterday → past. now / right now → present continuous. every day / usually → present. tomorrow / next year → going to."</a:t>
            </a:r>
          </a:p>
          <a:p>
            <a:r>
              <a:rPr lang="en-US" dirty="0"/>
              <a:t>Grammar Box 1: Then / Now / Next. Each click highlights did / do / are. Add: five years ago? now? next year?</a:t>
            </a:r>
          </a:p>
          <a:p>
            <a:r>
              <a:rPr lang="en-US" dirty="0"/>
              <a:t>Q: How do I choose the tense? Look at the time word.</a:t>
            </a:r>
          </a:p>
          <a:p>
            <a:r>
              <a:rPr lang="en-US" dirty="0"/>
              <a:t>Source: Level2_Curriculum_v5_public.md, Lesson 13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in the past, now, in the future, dream, goal.</a:t>
            </a:r>
          </a:p>
          <a:p>
            <a:r>
              <a:rPr lang="en-US" dirty="0"/>
              <a:t>Then, now, or next? Say a sentence (I was nervous. / I'm going to graduate.). Learners point behind (past), down (now), or forward (future).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13 (Step 2; Student Page 13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Tense helper. Click 1 and click 2 show one row each.</a:t>
            </a:r>
          </a:p>
          <a:p>
            <a:r>
              <a:rPr lang="en-US" dirty="0"/>
              <a:t>All rows: ago, last year, yesterday → past (I moved here two years ago. I was nervous.); every day, usually, always → present (I work at a bakery.); now, right now, today → present continuous (I'm studying English now.); tomorrow, next year, this weekend → going to (I'm going to take a computer class.); offers, promises → will, recognize only (I'll help you).</a:t>
            </a:r>
          </a:p>
          <a:p>
            <a:r>
              <a:rPr lang="en-US" dirty="0"/>
              <a:t>Pronunciation (If time ①): stress the important words: "One year AGO, I was NERVOUS. NOW, I feel PROUD." Pause at each period.</a:t>
            </a:r>
          </a:p>
          <a:p>
            <a:r>
              <a:rPr lang="en-US" dirty="0"/>
              <a:t>Source: Level2_Curriculum_v5_public.md, Lesson 13 (Tense helper;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"play" their voicemail (read it). The listener writes the name and number and asks Could you repeat that?</a:t>
            </a:r>
          </a:p>
          <a:p>
            <a:r>
              <a:rPr lang="en-US" dirty="0"/>
              <a:t>Each click shows one answer. The lines review Lesson 12 (have to / has to / don't have to; voicemail).</a:t>
            </a:r>
          </a:p>
          <a:p>
            <a:r>
              <a:rPr lang="en-US" dirty="0"/>
              <a:t>Teacher: write 2 corrected sentences on the board. If behind: collect the homework.</a:t>
            </a:r>
          </a:p>
          <a:p>
            <a:r>
              <a:rPr lang="en-US" dirty="0"/>
              <a:t>Source: Level2_Curriculum_v5_public.md, Lesson 13 (Step 1); Lesson 12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Practice Graduation Talks. Groups of 3 (15: 5 groups) / two groups of 3–4 (7–8). Each click shows one step.</a:t>
            </a:r>
          </a:p>
          <a:p>
            <a:r>
              <a:rPr lang="en-US" dirty="0"/>
              <a:t>Do (3 min): each learner fills in the talk frame on the Homework page: Then / Now / Next / Thank you. Practice (7 min): each learner gives the talk to the group (about 1 minute). Listeners give one compliment and one question (How did you feel? What are you going to study?).</a:t>
            </a:r>
          </a:p>
          <a:p>
            <a:r>
              <a:rPr lang="en-US" dirty="0"/>
              <a:t>Reassure: at graduation, learners can read from their paper, give the talk with a partner, or just say 2 sentences. Graduation talks are optional; never force a learner to speak in front of guests.</a:t>
            </a:r>
          </a:p>
          <a:p>
            <a:r>
              <a:rPr lang="en-US" dirty="0"/>
              <a:t>If behind: learners write the frame only; practice at home.</a:t>
            </a:r>
          </a:p>
          <a:p>
            <a:r>
              <a:rPr lang="en-US" dirty="0"/>
              <a:t>Source: Level2_Curriculum_v5_public.md, Lesson 13 (Step 5;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three sentences: one past, one present, one future.</a:t>
            </a:r>
          </a:p>
          <a:p>
            <a:r>
              <a:rPr lang="en-US" dirty="0"/>
              <a:t>Homework: My Graduation Talk (15 minutes): 1. Complete your talk (4–6 sentences): Then / Now / Next / Goal or dream / Thank you. Practice it aloud 3 times. 2. Final next week: look at the Final Review pages in the workbook. 3. Bonus: record your talk on your phone and listen.</a:t>
            </a:r>
          </a:p>
          <a:p>
            <a:r>
              <a:rPr lang="en-US" dirty="0"/>
              <a:t>Remind learners: final next week (Week 15), graduation in Week 16.</a:t>
            </a:r>
          </a:p>
          <a:p>
            <a:r>
              <a:rPr lang="en-US" dirty="0"/>
              <a:t>Source: Level2_Curriculum_v5_public.md, Lesson 13 (Step 6; Student Page 13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(true / false). Each click circles one answer and shows the correction. The audio plays once, play again if needed.</a:t>
            </a:r>
          </a:p>
          <a:p>
            <a:r>
              <a:rPr lang="en-US" dirty="0"/>
              <a:t>Answer key: 1 F (she was nervous); 2 T; 3 F (a bakery); 4 T; 5 F (help other people learn English).</a:t>
            </a:r>
          </a:p>
          <a:p>
            <a:r>
              <a:rPr lang="en-US" dirty="0"/>
              <a:t>Source: Level2_Curriculum_v5_public.md, Lesson 13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13.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improve, proud, give a talk.</a:t>
            </a:r>
          </a:p>
          <a:p>
            <a:r>
              <a:rPr lang="en-US" dirty="0"/>
              <a:t>Source: Level2_Curriculum_v5_public.md, Lesson 13 (Step 2; Student Page 13).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was; practiced; work; going.</a:t>
            </a:r>
          </a:p>
          <a:p>
            <a:r>
              <a:rPr lang="en-US" dirty="0"/>
              <a:t>"Say it" (1–2 min): the class repeats "One year ago, I was nervous." and "Now I feel proud."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13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Tip: before you speak, find the time word. It tells you which tense to use.</a:t>
            </a:r>
          </a:p>
          <a:p>
            <a:r>
              <a:rPr lang="en-US" dirty="0"/>
              <a:t>Source: Level2_Curriculum_v5_public.md, Lesson 13 (Common mistakes).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(L13_listening.mp3, about 0:59). Audio: L13_listening.mp3 (about 0:59). The audio plays once, play again if needed. No speaker? Read the script with a volunteer learner.</a:t>
            </a:r>
          </a:p>
          <a:p>
            <a:r>
              <a:rPr lang="en-US" dirty="0"/>
              <a:t>Before you listen: "Ana gives a talk at graduation. What does she talk about?" Take 2 guesses.</a:t>
            </a:r>
          </a:p>
          <a:p>
            <a:r>
              <a:rPr lang="en-US" dirty="0"/>
              <a:t>Listen 1 → Task A (then / now / next). On the Student Page learners check ✓. Each click circles one answer.</a:t>
            </a:r>
          </a:p>
          <a:p>
            <a:r>
              <a:rPr lang="en-US" dirty="0"/>
              <a:t>Answer key: nervous = then; works at a bakery = now; makes appointments = now; computer class = next; office job = next (goal).</a:t>
            </a:r>
          </a:p>
          <a:p>
            <a:r>
              <a:rPr lang="en-US" dirty="0"/>
              <a:t>Source: Level2_Curriculum_v5_public.md, Lesson 13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4_right_now.png"/><Relationship Id="rIdQ1" Type="http://schemas.openxmlformats.org/officeDocument/2006/relationships/image" Target="../media/k_L13_graduate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Q1" Type="http://schemas.openxmlformats.org/officeDocument/2006/relationships/image" Target="../media/k_L12_pay_a_bil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Q1" Type="http://schemas.openxmlformats.org/officeDocument/2006/relationships/image" Target="../media/k_L13_in_the_past.png"/><Relationship Id="rIdQ2" Type="http://schemas.openxmlformats.org/officeDocument/2006/relationships/image" Target="../media/k_L13_now.png"/><Relationship Id="rIdQ3" Type="http://schemas.openxmlformats.org/officeDocument/2006/relationships/image" Target="../media/k_L13_in_the_future.png"/><Relationship Id="rIdQ4" Type="http://schemas.openxmlformats.org/officeDocument/2006/relationships/image" Target="../media/k_L13_dream.png"/><Relationship Id="rIdQ5" Type="http://schemas.openxmlformats.org/officeDocument/2006/relationships/image" Target="../media/k_L13_goal.png"/><Relationship Id="rIdQ6" Type="http://schemas.openxmlformats.org/officeDocument/2006/relationships/image" Target="../media/k_L13_lear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Q1" Type="http://schemas.openxmlformats.org/officeDocument/2006/relationships/image" Target="../media/k_L13_improve.png"/><Relationship Id="rIdQ2" Type="http://schemas.openxmlformats.org/officeDocument/2006/relationships/image" Target="../media/k_L13_practice.png"/><Relationship Id="rIdQ3" Type="http://schemas.openxmlformats.org/officeDocument/2006/relationships/image" Target="../media/k_L13_proud.png"/><Relationship Id="rIdQ4" Type="http://schemas.openxmlformats.org/officeDocument/2006/relationships/image" Target="../media/k_L13_give_a_talk.png"/><Relationship Id="rIdQ5" Type="http://schemas.openxmlformats.org/officeDocument/2006/relationships/image" Target="../media/k_L13_graduate.png"/><Relationship Id="rIdQ6" Type="http://schemas.openxmlformats.org/officeDocument/2006/relationships/image" Target="../media/k_L13_next_step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Q1" Type="http://schemas.openxmlformats.org/officeDocument/2006/relationships/image" Target="../media/k_L13_in_the_pas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Q1" Type="http://schemas.openxmlformats.org/officeDocument/2006/relationships/image" Target="../media/k_L13_prou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Q1" Type="http://schemas.openxmlformats.org/officeDocument/2006/relationships/image" Target="../media/k_L13_goa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Q1" Type="http://schemas.openxmlformats.org/officeDocument/2006/relationships/image" Target="../media/k_L13_in_the_futur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Q1" Type="http://schemas.openxmlformats.org/officeDocument/2006/relationships/image" Target="../media/k_L13_dream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Q1" Type="http://schemas.openxmlformats.org/officeDocument/2006/relationships/image" Target="../media/k_L13_next_step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Q1" Type="http://schemas.openxmlformats.org/officeDocument/2006/relationships/image" Target="../media/k_L13_give_a_tal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Q1" Type="http://schemas.openxmlformats.org/officeDocument/2006/relationships/image" Target="../media/k_L13_graduat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(Week 14)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Now, and Next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past, present, future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Choose the tense: ago / now / next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feelings: then and now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Practice a graduation talk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13_graduat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12.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have to do this week?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to work on Saturday?</a:t>
            </a:r>
            <a:endParaRPr lang="en-US" sz="2200" dirty="0"/>
          </a:p>
        </p:txBody>
      </p:sp>
      <p:pic>
        <p:nvPicPr>
          <p:cNvPr id="21" name="Picture 21" descr="L12_pay_a_bi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your voicemail.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to pay a bill.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 to work.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call me ___?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 have to pay.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Listener: write the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back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now,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next?</a:t>
            </a:r>
            <a:endParaRPr lang="en-US" sz="2200" dirty="0"/>
          </a:p>
        </p:txBody>
      </p:sp>
      <p:pic>
        <p:nvPicPr>
          <p:cNvPr id="41" name="Picture 41" descr="in the past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370032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85405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past</a:t>
            </a:r>
            <a:endParaRPr lang="en-US" sz="2000" dirty="0"/>
          </a:p>
        </p:txBody>
      </p:sp>
      <p:pic>
        <p:nvPicPr>
          <p:cNvPr id="43" name="Picture 43" descr="now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4981912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446593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pic>
        <p:nvPicPr>
          <p:cNvPr id="45" name="Picture 45" descr="in the future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8593792" y="2240280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07781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future</a:t>
            </a:r>
            <a:endParaRPr lang="en-US" sz="2000" dirty="0"/>
          </a:p>
        </p:txBody>
      </p:sp>
      <p:pic>
        <p:nvPicPr>
          <p:cNvPr id="47" name="Picture 47" descr="dream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1370032" y="4315968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5405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dream</a:t>
            </a:r>
            <a:endParaRPr lang="en-US" sz="2000" dirty="0"/>
          </a:p>
        </p:txBody>
      </p:sp>
      <p:pic>
        <p:nvPicPr>
          <p:cNvPr id="49" name="Picture 49" descr="goal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4981912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46593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</a:t>
            </a:r>
            <a:endParaRPr lang="en-US" sz="2000" dirty="0"/>
          </a:p>
        </p:txBody>
      </p:sp>
      <p:pic>
        <p:nvPicPr>
          <p:cNvPr id="51" name="Picture 51" descr="learn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8593792" y="4315968"/>
            <a:ext cx="2076994" cy="145389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807781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back,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down, forward.</a:t>
            </a:r>
            <a:endParaRPr lang="en-US" sz="2200" dirty="0"/>
          </a:p>
        </p:txBody>
      </p:sp>
      <p:pic>
        <p:nvPicPr>
          <p:cNvPr id="39" name="Picture 39" descr="improve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370032" y="2240280"/>
            <a:ext cx="2076994" cy="145389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85405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improve</a:t>
            </a:r>
            <a:endParaRPr lang="en-US" sz="2000" dirty="0"/>
          </a:p>
        </p:txBody>
      </p:sp>
      <p:pic>
        <p:nvPicPr>
          <p:cNvPr id="41" name="Picture 41" descr="practic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4981912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446593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</a:t>
            </a:r>
            <a:endParaRPr lang="en-US" sz="2000" dirty="0"/>
          </a:p>
        </p:txBody>
      </p:sp>
      <p:pic>
        <p:nvPicPr>
          <p:cNvPr id="43" name="Picture 43" descr="proud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8593792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807781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proud</a:t>
            </a:r>
            <a:endParaRPr lang="en-US" sz="2000" dirty="0"/>
          </a:p>
        </p:txBody>
      </p:sp>
      <p:pic>
        <p:nvPicPr>
          <p:cNvPr id="45" name="Picture 45" descr="give a talk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1370032" y="4315968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5405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a talk</a:t>
            </a:r>
            <a:endParaRPr lang="en-US" sz="2000" dirty="0"/>
          </a:p>
        </p:txBody>
      </p:sp>
      <p:pic>
        <p:nvPicPr>
          <p:cNvPr id="47" name="Picture 47" descr="graduate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4981912" y="4315968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446593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graduate</a:t>
            </a:r>
            <a:endParaRPr lang="en-US" sz="2000" dirty="0"/>
          </a:p>
        </p:txBody>
      </p:sp>
      <p:pic>
        <p:nvPicPr>
          <p:cNvPr id="49" name="Picture 49" descr="next step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8593792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807781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step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Then, now,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next?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She was nervous.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6492240" y="287121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909560" y="287121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70" name="Option 13"/>
          <p:cNvSpPr/>
          <p:nvPr/>
        </p:nvSpPr>
        <p:spPr>
          <a:xfrm>
            <a:off x="9326880" y="287121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71" name="Circle 1"/>
          <p:cNvSpPr/>
          <p:nvPr/>
        </p:nvSpPr>
        <p:spPr>
          <a:xfrm>
            <a:off x="6364224" y="280720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Statement 2"/>
          <p:cNvSpPr/>
          <p:nvPr/>
        </p:nvSpPr>
        <p:spPr>
          <a:xfrm>
            <a:off x="502920" y="356616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She works at a bakery.</a:t>
            </a:r>
            <a:endParaRPr lang="en-US" sz="2000" dirty="0"/>
          </a:p>
        </p:txBody>
      </p:sp>
      <p:sp>
        <p:nvSpPr>
          <p:cNvPr id="73" name="Option 21"/>
          <p:cNvSpPr/>
          <p:nvPr/>
        </p:nvSpPr>
        <p:spPr>
          <a:xfrm>
            <a:off x="6492240" y="360273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74" name="Option 22"/>
          <p:cNvSpPr/>
          <p:nvPr/>
        </p:nvSpPr>
        <p:spPr>
          <a:xfrm>
            <a:off x="7909560" y="360273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75" name="Option 23"/>
          <p:cNvSpPr/>
          <p:nvPr/>
        </p:nvSpPr>
        <p:spPr>
          <a:xfrm>
            <a:off x="9326880" y="360273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76" name="Circle 2"/>
          <p:cNvSpPr/>
          <p:nvPr/>
        </p:nvSpPr>
        <p:spPr>
          <a:xfrm>
            <a:off x="7781544" y="353872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Statement 3"/>
          <p:cNvSpPr/>
          <p:nvPr/>
        </p:nvSpPr>
        <p:spPr>
          <a:xfrm>
            <a:off x="502920" y="429768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She makes her own appointments.</a:t>
            </a:r>
            <a:endParaRPr lang="en-US" sz="2000" dirty="0"/>
          </a:p>
        </p:txBody>
      </p:sp>
      <p:sp>
        <p:nvSpPr>
          <p:cNvPr id="78" name="Option 31"/>
          <p:cNvSpPr/>
          <p:nvPr/>
        </p:nvSpPr>
        <p:spPr>
          <a:xfrm>
            <a:off x="6492240" y="433425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79" name="Option 32"/>
          <p:cNvSpPr/>
          <p:nvPr/>
        </p:nvSpPr>
        <p:spPr>
          <a:xfrm>
            <a:off x="7909560" y="433425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80" name="Option 33"/>
          <p:cNvSpPr/>
          <p:nvPr/>
        </p:nvSpPr>
        <p:spPr>
          <a:xfrm>
            <a:off x="9326880" y="433425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81" name="Circle 3"/>
          <p:cNvSpPr/>
          <p:nvPr/>
        </p:nvSpPr>
        <p:spPr>
          <a:xfrm>
            <a:off x="7781544" y="427024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Statement 4"/>
          <p:cNvSpPr/>
          <p:nvPr/>
        </p:nvSpPr>
        <p:spPr>
          <a:xfrm>
            <a:off x="502920" y="502920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She is going to take a computer class.</a:t>
            </a:r>
            <a:endParaRPr lang="en-US" sz="2000" dirty="0"/>
          </a:p>
        </p:txBody>
      </p:sp>
      <p:sp>
        <p:nvSpPr>
          <p:cNvPr id="83" name="Option 41"/>
          <p:cNvSpPr/>
          <p:nvPr/>
        </p:nvSpPr>
        <p:spPr>
          <a:xfrm>
            <a:off x="6492240" y="506577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84" name="Option 42"/>
          <p:cNvSpPr/>
          <p:nvPr/>
        </p:nvSpPr>
        <p:spPr>
          <a:xfrm>
            <a:off x="7909560" y="506577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85" name="Option 43"/>
          <p:cNvSpPr/>
          <p:nvPr/>
        </p:nvSpPr>
        <p:spPr>
          <a:xfrm>
            <a:off x="9326880" y="506577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86" name="Circle 4"/>
          <p:cNvSpPr/>
          <p:nvPr/>
        </p:nvSpPr>
        <p:spPr>
          <a:xfrm>
            <a:off x="9198864" y="500176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7" name="Statement 5"/>
          <p:cNvSpPr/>
          <p:nvPr/>
        </p:nvSpPr>
        <p:spPr>
          <a:xfrm>
            <a:off x="502920" y="576072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She is going to get an office job.</a:t>
            </a:r>
            <a:endParaRPr lang="en-US" sz="2000" dirty="0"/>
          </a:p>
        </p:txBody>
      </p:sp>
      <p:sp>
        <p:nvSpPr>
          <p:cNvPr id="88" name="Option 51"/>
          <p:cNvSpPr/>
          <p:nvPr/>
        </p:nvSpPr>
        <p:spPr>
          <a:xfrm>
            <a:off x="6492240" y="579729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89" name="Option 52"/>
          <p:cNvSpPr/>
          <p:nvPr/>
        </p:nvSpPr>
        <p:spPr>
          <a:xfrm>
            <a:off x="7909560" y="579729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90" name="Option 53"/>
          <p:cNvSpPr/>
          <p:nvPr/>
        </p:nvSpPr>
        <p:spPr>
          <a:xfrm>
            <a:off x="9326880" y="579729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91" name="Circle 5"/>
          <p:cNvSpPr/>
          <p:nvPr/>
        </p:nvSpPr>
        <p:spPr>
          <a:xfrm>
            <a:off x="9198864" y="573328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year ago, Ana felt relaxed.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5669280" y="28895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086600" y="28895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6958584" y="282549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Fix 1"/>
          <p:cNvSpPr/>
          <p:nvPr/>
        </p:nvSpPr>
        <p:spPr>
          <a:xfrm>
            <a:off x="8549640" y="283464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was nervous.</a:t>
            </a:r>
            <a:endParaRPr lang="en-US" sz="2000" dirty="0"/>
          </a:p>
        </p:txBody>
      </p:sp>
      <p:sp>
        <p:nvSpPr>
          <p:cNvPr id="72" name="Statement 2"/>
          <p:cNvSpPr/>
          <p:nvPr/>
        </p:nvSpPr>
        <p:spPr>
          <a:xfrm>
            <a:off x="502920" y="356616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She practiced with her classmates.</a:t>
            </a:r>
            <a:endParaRPr lang="en-US" sz="2000" dirty="0"/>
          </a:p>
        </p:txBody>
      </p:sp>
      <p:sp>
        <p:nvSpPr>
          <p:cNvPr id="73" name="Option 21"/>
          <p:cNvSpPr/>
          <p:nvPr/>
        </p:nvSpPr>
        <p:spPr>
          <a:xfrm>
            <a:off x="5669280" y="36210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4" name="Option 22"/>
          <p:cNvSpPr/>
          <p:nvPr/>
        </p:nvSpPr>
        <p:spPr>
          <a:xfrm>
            <a:off x="7086600" y="36210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5" name="Circle 2"/>
          <p:cNvSpPr/>
          <p:nvPr/>
        </p:nvSpPr>
        <p:spPr>
          <a:xfrm>
            <a:off x="5541264" y="355701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Statement 3"/>
          <p:cNvSpPr/>
          <p:nvPr/>
        </p:nvSpPr>
        <p:spPr>
          <a:xfrm>
            <a:off x="502920" y="429768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Now she works at a restaurant.</a:t>
            </a:r>
            <a:endParaRPr lang="en-US" sz="2000" dirty="0"/>
          </a:p>
        </p:txBody>
      </p:sp>
      <p:sp>
        <p:nvSpPr>
          <p:cNvPr id="77" name="Option 31"/>
          <p:cNvSpPr/>
          <p:nvPr/>
        </p:nvSpPr>
        <p:spPr>
          <a:xfrm>
            <a:off x="5669280" y="43525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8" name="Option 32"/>
          <p:cNvSpPr/>
          <p:nvPr/>
        </p:nvSpPr>
        <p:spPr>
          <a:xfrm>
            <a:off x="7086600" y="43525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9" name="Circle 3"/>
          <p:cNvSpPr/>
          <p:nvPr/>
        </p:nvSpPr>
        <p:spPr>
          <a:xfrm>
            <a:off x="6958584" y="428853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Fix 3"/>
          <p:cNvSpPr/>
          <p:nvPr/>
        </p:nvSpPr>
        <p:spPr>
          <a:xfrm>
            <a:off x="8549640" y="429768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a bakery.</a:t>
            </a:r>
            <a:endParaRPr lang="en-US" sz="2000" dirty="0"/>
          </a:p>
        </p:txBody>
      </p:sp>
      <p:sp>
        <p:nvSpPr>
          <p:cNvPr id="81" name="Statement 4"/>
          <p:cNvSpPr/>
          <p:nvPr/>
        </p:nvSpPr>
        <p:spPr>
          <a:xfrm>
            <a:off x="502920" y="502920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She feels proud now.</a:t>
            </a:r>
            <a:endParaRPr lang="en-US" sz="2000" dirty="0"/>
          </a:p>
        </p:txBody>
      </p:sp>
      <p:sp>
        <p:nvSpPr>
          <p:cNvPr id="82" name="Option 41"/>
          <p:cNvSpPr/>
          <p:nvPr/>
        </p:nvSpPr>
        <p:spPr>
          <a:xfrm>
            <a:off x="5669280" y="508406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3" name="Option 42"/>
          <p:cNvSpPr/>
          <p:nvPr/>
        </p:nvSpPr>
        <p:spPr>
          <a:xfrm>
            <a:off x="7086600" y="508406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4" name="Circle 4"/>
          <p:cNvSpPr/>
          <p:nvPr/>
        </p:nvSpPr>
        <p:spPr>
          <a:xfrm>
            <a:off x="5541264" y="502005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Statement 5"/>
          <p:cNvSpPr/>
          <p:nvPr/>
        </p:nvSpPr>
        <p:spPr>
          <a:xfrm>
            <a:off x="502920" y="576072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Her dream is to open a bakery.</a:t>
            </a:r>
            <a:endParaRPr lang="en-US" sz="2000" dirty="0"/>
          </a:p>
        </p:txBody>
      </p:sp>
      <p:sp>
        <p:nvSpPr>
          <p:cNvPr id="86" name="Option 51"/>
          <p:cNvSpPr/>
          <p:nvPr/>
        </p:nvSpPr>
        <p:spPr>
          <a:xfrm>
            <a:off x="5669280" y="58155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7" name="Option 52"/>
          <p:cNvSpPr/>
          <p:nvPr/>
        </p:nvSpPr>
        <p:spPr>
          <a:xfrm>
            <a:off x="7086600" y="58155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8" name="Circle 5"/>
          <p:cNvSpPr/>
          <p:nvPr/>
        </p:nvSpPr>
        <p:spPr>
          <a:xfrm>
            <a:off x="6958584" y="575157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Fix 5"/>
          <p:cNvSpPr/>
          <p:nvPr/>
        </p:nvSpPr>
        <p:spPr>
          <a:xfrm>
            <a:off x="8549640" y="576072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help people learn English.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ago, I ____ very nervous.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291510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a lot with my classmates.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Now, I ____ at a bakery.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year, I am ____ to take a computer class.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word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tells you the tense.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532120" y="3278124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4798771" y="4128516"/>
            <a:ext cx="178490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practiced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449824" y="5829300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Now,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Next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time word tells the tense.</a:t>
            </a:r>
            <a:endParaRPr lang="en-US" sz="2000" dirty="0"/>
          </a:p>
        </p:txBody>
      </p:sp>
      <p:pic>
        <p:nvPicPr>
          <p:cNvPr id="65" name="Picture 65" descr="L13_in_the_pa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586859" y="411480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586859" y="411480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441274" y="4114800"/>
            <a:ext cx="154076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live?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586859" y="4846320"/>
            <a:ext cx="630570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586859" y="4846320"/>
            <a:ext cx="63057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272293" y="4846320"/>
            <a:ext cx="2144268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live now?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586859" y="557784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586859" y="557784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441274" y="557784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going to do?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___ five years ago.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___ now.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209544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 class.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· now ·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Feelings Then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Now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13_prou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1481328" y="43159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2697480" y="43159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feel in the first class?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nervous.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shy.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1481328" y="53675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1481328" y="52303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2697480" y="52303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feel now?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proud.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happy.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 and Dreams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13_goa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goal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 a better job.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dream?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dream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 my kids.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step?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next step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improve my English.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3_in_the_futur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 I am nervous.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nervous.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 I take a class.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 I'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 going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 class.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3_dream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next year…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goal is get a job.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goal is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get a job.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30 years.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30 (years old).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the time word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year I ___ at a hotel. (work)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 I ___ a class. (take)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 or I agree?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20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 going to take</a:t>
            </a:r>
            <a:endParaRPr lang="en-US" sz="20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Tense helper · the time word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or Next?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ago, last year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years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 going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computer class.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6000" dirty="0"/>
          </a:p>
        </p:txBody>
      </p:sp>
      <p:pic>
        <p:nvPicPr>
          <p:cNvPr id="23" name="Picture 23" descr="L13_next_ste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Graduation Talks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from your paper. That's OK!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13_give_a_talk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in the talk frame.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/ Now / Next / Thank you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your talk (1 min).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ago, I was nervous.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Listeners: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compliment + one question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13_graduat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3 sentences: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past, one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present, one future.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 your talk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(4–6 sentences).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it 3 times.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 exam: next week.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13 (Week 14): Then, Now, and Next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