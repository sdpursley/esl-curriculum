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573" r:id="rId33"/>
    <p:sldId id="574" r:id="rId34"/>
    <p:sldId id="575" r:id="rId35"/>
    <p:sldId id="576" r:id="rId36"/>
    <p:sldId id="577" r:id="rId31"/>
    <p:sldId id="578" r:id="rId30"/>
    <p:sldId id="579" r:id="rId29"/>
    <p:sldId id="580" r:id="rId28"/>
    <p:sldId id="581" r:id="rId27"/>
    <p:sldId id="582" r:id="rId20"/>
    <p:sldId id="583" r:id="rId18"/>
    <p:sldId id="584" r:id="rId17"/>
    <p:sldId id="585" r:id="rId16"/>
    <p:sldId id="586" r:id="rId14"/>
    <p:sldId id="587" r:id="rId13"/>
    <p:sldId id="588" r:id="rId12"/>
    <p:sldId id="589" r:id="rId11"/>
    <p:sldId id="590" r:id="rId10"/>
    <p:sldId id="591" r:id="rId8"/>
    <p:sldId id="592" r:id="rId7"/>
    <p:sldId id="593" r:id="rId6"/>
    <p:sldId id="594" r:id="rId5"/>
    <p:sldId id="595" r:id="rId4"/>
    <p:sldId id="596" r:id="rId3"/>
    <p:sldId id="597" r:id="rId57"/>
    <p:sldId id="598"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4" Type="http://schemas.openxmlformats.org/officeDocument/2006/relationships/slide" Target="slides/slide49.xml"/><Relationship Id="rId5" Type="http://schemas.openxmlformats.org/officeDocument/2006/relationships/slide" Target="slides/slide48.xml"/><Relationship Id="rId6" Type="http://schemas.openxmlformats.org/officeDocument/2006/relationships/slide" Target="slides/slide47.xml"/><Relationship Id="rId7" Type="http://schemas.openxmlformats.org/officeDocument/2006/relationships/slide" Target="slides/slide46.xml"/><Relationship Id="rId8" Type="http://schemas.openxmlformats.org/officeDocument/2006/relationships/slide" Target="slides/slide45.xml"/><Relationship Id="rId10" Type="http://schemas.openxmlformats.org/officeDocument/2006/relationships/slide" Target="slides/slide44.xml"/><Relationship Id="rId11" Type="http://schemas.openxmlformats.org/officeDocument/2006/relationships/slide" Target="slides/slide43.xml"/><Relationship Id="rId12" Type="http://schemas.openxmlformats.org/officeDocument/2006/relationships/slide" Target="slides/slide42.xml"/><Relationship Id="rId13" Type="http://schemas.openxmlformats.org/officeDocument/2006/relationships/slide" Target="slides/slide41.xml"/><Relationship Id="rId14" Type="http://schemas.openxmlformats.org/officeDocument/2006/relationships/slide" Target="slides/slide40.xml"/><Relationship Id="rId16" Type="http://schemas.openxmlformats.org/officeDocument/2006/relationships/slide" Target="slides/slide39.xml"/><Relationship Id="rId17" Type="http://schemas.openxmlformats.org/officeDocument/2006/relationships/slide" Target="slides/slide38.xml"/><Relationship Id="rId18" Type="http://schemas.openxmlformats.org/officeDocument/2006/relationships/slide" Target="slides/slide37.xml"/><Relationship Id="rId20" Type="http://schemas.openxmlformats.org/officeDocument/2006/relationships/slide" Target="slides/slide3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5.xml"/><Relationship Id="rId28" Type="http://schemas.openxmlformats.org/officeDocument/2006/relationships/slide" Target="slides/slide34.xml"/><Relationship Id="rId29" Type="http://schemas.openxmlformats.org/officeDocument/2006/relationships/slide" Target="slides/slide33.xml"/><Relationship Id="rId30" Type="http://schemas.openxmlformats.org/officeDocument/2006/relationships/slide" Target="slides/slide32.xml"/><Relationship Id="rId31" Type="http://schemas.openxmlformats.org/officeDocument/2006/relationships/slide" Target="slides/slide31.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synthetic voices, computer-generated (Chatterbox TTS cloned from Kokoro-82M reference clips). No recordings of real people.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or b. Then click to show the answer (one click per item, 1 to 4).</a:t>
            </a:r>
          </a:p>
          <a:p>
            <a:r>
              <a:t>Say: 1 "I'm going to take a class in March." (a) • 2 "I hope to open my own business." (b) • 3 "OK, I'll call them tomorrow." (b) • 4 "I'm meeting the counselor on Monday." (a)</a:t>
            </a:r>
          </a:p>
          <a:p>
            <a:r>
              <a:t>Parts B and C: learners do them alone. Walk around and help with the instructions only. B answers: 1 to get, 2 going to, 3 I'll, 4 to. C: answers will vary (for example I'm going to save money for a car. / I hope to get a promotion.).</a:t>
            </a:r>
          </a:p>
          <a:p>
            <a:r>
              <a:t>Part D: read each "I can…" line aloud and point to the 3 faces: 😀 "I can do it." 🙂 "With a little help." 😐 "Not yet."</a:t>
            </a:r>
          </a:p>
          <a:p>
            <a:r>
              <a:t>Scoring: A /4 + B /4 + C /2 = /10. This is not a test grade. It shows who needs more help hearing the future forms (A) and with the forms (B, C).</a:t>
            </a:r>
          </a:p>
          <a:p>
            <a:r>
              <a:t>Collect the pages (or check them in Week 15 before the final). If behind: do the Progress Check in Week 15 at 6:00, before the final exam.</a:t>
            </a:r>
          </a:p>
          <a:p>
            <a:r>
              <a:t>Lesson plan: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with going to or hope to (I hope to get my driver's license.), and one with I'll and because or so (First, I'll study the book, because the test is hard.). Collect at the door.</a:t>
            </a:r>
          </a:p>
          <a:p>
            <a:r>
              <a:t>Homework: open the Homework page. Do item 1 together (one sentence on the board). Say: "About 15 minutes. Next week is the final exam. In Week 16, you'll give your talk at graduation."</a:t>
            </a:r>
          </a:p>
          <a:p>
            <a:r>
              <a:t>Homework items: 1 write the sentence with the words • 2 practice your talk at home 2 times; how long was it? • 3 ask a family member or a friend: What do you hope to do next year? Write the answer • 4 review (Lesson 12): 2 sentences with something, anything, someone, or no one.</a:t>
            </a:r>
          </a:p>
          <a:p>
            <a:r>
              <a:t>Read &amp; Write (7:17–7:25, on the Student Pages): a community college flyer; questions 1–5; pairs check; then learners start their graduation talk (6–8 sentences) with the talk frame and finish it at home. If behind: questions 1–5 only; the talk becomes homework.</a:t>
            </a:r>
          </a:p>
          <a:p>
            <a:r>
              <a:t>Next week (Week 15) is the final exam; remind learners to bring their talk draft to graduation.</a:t>
            </a:r>
          </a:p>
          <a:p>
            <a:r>
              <a:t>Lesson plan: Step 6; Homework page; Read &amp; Write step;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Rehearsal, groups of 3 (6 min): each learner gives the talk (Then → Now → Next, with a reason); reading from the frame is fine. Each click shows one part of the frame.</a:t>
            </a:r>
          </a:p>
          <a:p>
            <a:r>
              <a:t>The 2 listeners fill in a Feedback Card: one thing I liked and one tip. About 2 minutes per speaker.</a:t>
            </a:r>
          </a:p>
          <a:p>
            <a:r>
              <a:t>If behind: the ladder only; the rehearsal becomes homework (practice at home with a family member).</a:t>
            </a:r>
          </a:p>
          <a:p>
            <a:r>
              <a:t>Graduation (Week 16): learners may read their talk from paper. Mixed levels: stronger learners add a reason to every step and a time (in January, next year). Newer learners use the talk frame word for word.</a:t>
            </a:r>
          </a:p>
          <a:p>
            <a:r>
              <a:t>Lesson plan: Step 5; Talk Time: Talk Rehearsal;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Goal Ladder + Talk Rehearsal · 12 min.</a:t>
            </a:r>
          </a:p>
          <a:p>
            <a:r>
              <a:t>Model your own talk first (1 min): give your 1-minute talk (Then → Now → Next, one reason). Example: "Ten years ago, I was a cook. Now I'm a volunteer teacher. Next year, I'm going to take a Spanish class, because I want to understand my neighbors. I hope to visit Mexico." Point to each part on the board as you speak.</a:t>
            </a:r>
          </a:p>
          <a:p>
            <a:r>
              <a:t>Goal Ladder, pairs (4 min): each learner fills in the ladder on the Talk Time page for one goal (step 1: I'll…; step 2: I'm going to…; top: I hope to…). Then explains it to a partner, who asks two follow-up questions (When? Why? Who can help you? What will you do first?). Each click shows the next step.</a:t>
            </a:r>
          </a:p>
          <a:p>
            <a:r>
              <a:t>Goals are personal (important): every goal is a good goal. "Learn more English" and "help my kids" are great goals. Learners don't have to share personal details; an invented goal is fine. Don't ask about immigration status, money, or family problems.</a:t>
            </a:r>
          </a:p>
          <a:p>
            <a:r>
              <a:t>Lesson plan: Step 5; Talk Time: Goal Ladder;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asks "What are you going to do next year?" B answers and adds one I hope to… (I'm going to save money. I hope to buy a car.). Switch.</a:t>
            </a:r>
          </a:p>
          <a:p>
            <a:r>
              <a:t>If behind: skip the pair drill. Talk Time practices it.</a:t>
            </a:r>
          </a:p>
          <a:p>
            <a:r>
              <a:t>Lesson plan: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4.</a:t>
            </a:r>
          </a:p>
          <a:p>
            <a:r>
              <a:t>Also typical this week: I hope I will to… (say: I hope I'll…).</a:t>
            </a:r>
          </a:p>
          <a:p>
            <a:r>
              <a:t>Say the right form clearly; the learner repeats. Learners can read the Spanish note and the tip on their Grammar page themselves; you don't need to explain them.</a:t>
            </a:r>
          </a:p>
          <a:p>
            <a:r>
              <a:t>Lesson plan: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words. Pairs check.</a:t>
            </a:r>
          </a:p>
          <a:p>
            <a:r>
              <a:t>Click to circle each answer (one click per item, 1 to 5): 1 to get, 2 I'll, 3 going to, 4 to save, 5 I'll.</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5): 1 going to, 2 'll, 3 hope to, 4 going to, 5 'll.</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(2 min): which one? Read the table. Then plan to / want to / hope to + verb. Each click shows one row.</a:t>
            </a:r>
          </a:p>
          <a:p>
            <a:r>
              <a:t>Three forms, three meanings: going to = already planned. will = decided now or a promise. hope to = you want it, but you're not sure.</a:t>
            </a:r>
          </a:p>
          <a:p>
            <a:r>
              <a:t>Check questions: "I ___ get my diploma." (hope to) • "Next year, I'm ___ take a computer class." (going to) • "The phone is ringing. I ___ get it!" ('ll) • "I hope I ___ have my own business." ('ll)</a:t>
            </a:r>
          </a:p>
          <a:p>
            <a:r>
              <a:t>Lesson plan: Step 4; Grammar Box 4;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will = decided now or a promise. Each click shows the answer side of one row.</a:t>
            </a:r>
          </a:p>
          <a:p>
            <a:r>
              <a:t>Lesson plan: Step 4; Grammar Box 3.</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Point out: hope to + verb, but I hope I'll + verb. Both are fine. I hope I will to… is wrong. Each click shows the answer side of one row.</a:t>
            </a:r>
          </a:p>
          <a:p>
            <a:r>
              <a:t>Lesson plan: Step 4; Grammar Box 2;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21). Whole class, then pairs. Show the Grammar page. The left side is the question. The right side is the answer.</a:t>
            </a:r>
          </a:p>
          <a:p>
            <a:r>
              <a:t>Show it (2 min): write three sentences on the board: I'm going to take a class in January. (planned) • OK, I'll call the college tomorrow. (decided now) • I hope to get a better job. (I want it, but I'm not sure).</a:t>
            </a:r>
          </a:p>
          <a:p>
            <a:r>
              <a:t>Boxes 1, 2, and 3 (5 min): read a question from the left; the class answers from the right. Each click shows the answer side of one row.</a:t>
            </a:r>
          </a:p>
          <a:p>
            <a:r>
              <a:t>Lesson plan: Step 4; Grammar Box 1.</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"In a talk, pause after each idea, and stress the important word." Read the line in the box with pauses.</a:t>
            </a:r>
          </a:p>
          <a:p>
            <a:r>
              <a:t>Then: "People often say going to as gonna. You can understand it; you don't need to say it." The class repeats the line twice.</a:t>
            </a:r>
          </a:p>
          <a:p>
            <a:r>
              <a:t>gonna: learners will hear it everywhere. They only need to understand it; in their talk, they say going to.</a:t>
            </a:r>
          </a:p>
          <a:p>
            <a:r>
              <a:t>Lesson plan: Step 3: "Say it"; Listening page: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5): 1 hope to, 2 going to, 3 going to, 4 'll (I'll), 5 hope to.</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line, top to bottom): take a computer class 3 • came to this class 1 • work at a clinic 5 • works at a hotel 2 • apply for the certificate program 4 • the computer class starts in January • she works at a hotel.</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(her main goal). Pairs compare. Check together.</a:t>
            </a:r>
          </a:p>
          <a:p>
            <a:r>
              <a:t>Click to circle the answer: b (a medical assistant certificate).</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Say: "Sofia was a Level 3 student. Tonight she's visiting the class. She's talking about her goals. What is her main goal? Listen."</a:t>
            </a:r>
          </a:p>
          <a:p>
            <a:r>
              <a:t>There are three voices: a Narrator, Sofia, and Mr. Novak (the teacher). Each click highlights the next voice.</a:t>
            </a:r>
          </a:p>
          <a:p>
            <a:r>
              <a:t>The audio (L3_L13_listening.mp3, about 1:09) plays the talk once. Press play again for play 2. A third play is fine if the class needs it.</a:t>
            </a:r>
          </a:p>
          <a:p>
            <a:r>
              <a:t>No speaker? Read the script with a volunteer at a normal, friendly speed.</a:t>
            </a:r>
          </a:p>
          <a:p>
            <a:r>
              <a:t>Audio: synthetic voices, computer-generated (Chatterbox TTS cloned from Kokoro-82M reference clips). No recordings of real people.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"You get a better job at the same company. It's a…?" (promotion) • 2. "You put money in the bank every month. You…?" (save money) • 3. "You need it to drive a car." (a driver's license)</a:t>
            </a:r>
          </a:p>
          <a:p>
            <a:r>
              <a:t>Lesson plan: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says a word. B points to the picture and makes a sentence about a goal (A: driver's license. B: I hope to get my driver's license next year.). Switch.</a:t>
            </a:r>
          </a:p>
          <a:p>
            <a:r>
              <a:t>If behind: teach the ★ words only.</a:t>
            </a:r>
          </a:p>
          <a:p>
            <a:r>
              <a:t>Lesson plan: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the word. Learners repeat once. ★ = the most important words. Each click shows the next word.</a:t>
            </a:r>
          </a:p>
          <a:p>
            <a:r>
              <a:t>Show diploma and certificate: "A diploma is from a school, like high school. A certificate is for a job skill, like a medical assistant or a forklift driver."</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"Where I'm going." Say: "Tonight we talk about our plans, our hopes, and our goals."</a:t>
            </a:r>
          </a:p>
          <a:p>
            <a:r>
              <a:t>Read the three lines under "Today you will". Give one quick example of each: "I'm going to take a computer class." • "I hope to get my diploma." • "Then → Now → Next."</a:t>
            </a:r>
          </a:p>
          <a:p>
            <a:r>
              <a:t>Goals are personal (important): every goal is a good goal. "Learn more English" and "help my kids" are great goals. Learners don't have to share personal details; an invented goal is fine. Don't ask about immigration status, money, or family problems.</a:t>
            </a:r>
          </a:p>
          <a:p>
            <a:r>
              <a:t>Lesson plan: Topic; At a glance: Objectives;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I'm going to take a computer class. Goal 2: I hope to get my diploma. / I hope I'll… Goal 3: First, I'll ask about classes.</a:t>
            </a:r>
          </a:p>
          <a:p>
            <a:r>
              <a:t>Goal 4: going to (planned), will (decided now, a promise), or hope to (not sure). Goal 5: Then → Now → Next. Learners also read a community college flyer and write a graduation talk (6–8 sentences) in Read &amp; Write.</a:t>
            </a:r>
          </a:p>
          <a:p>
            <a:r>
              <a:t>"We check at 7:25" = the Progress Check. It is not a test grade.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Homework Check · 10 min. Pairs (7 pairs + 1 trio with 15 learners; 3–4 pairs with 7–8).</a:t>
            </a:r>
          </a:p>
          <a:p>
            <a:r>
              <a:t>Before class, write on the board: Is anything wrong? Something is wrong with… / No one is home.</a:t>
            </a:r>
          </a:p>
          <a:p>
            <a:r>
              <a:t>Model with one learner: "What did you do this year that you're proud of?" → (answer) → "How did you do it?" (Click to show the follow-up.)</a:t>
            </a:r>
          </a:p>
          <a:p>
            <a:r>
              <a:t>Opening Talk (6 min): learners open the Opening Talk page. A asks a card question; B answers with 2–3 sentences; A asks one follow-up. Switch after each card. The cards are on the next slide.</a:t>
            </a:r>
          </a:p>
          <a:p>
            <a:r>
              <a:t>If behind: one card only, then the homework check.</a:t>
            </a:r>
          </a:p>
          <a:p>
            <a:r>
              <a:t>Lesson plan: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Homework Check (4 min, last click): partners read their Lesson 12 Homework item 2 to each other. The partner asks one question about it. Walk around. Write 2 common errors on the board (often I didn't see nothing or Anything is wrong) and correct them together.</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"What are you going to do next year?" and wait for an answer.</a:t>
            </a:r>
          </a:p>
          <a:p>
            <a:r>
              <a:t>Remind learners: next week (Week 15) is the final exam. Bring your talk draft to graduation (Week 16).</a:t>
            </a:r>
          </a:p>
          <a:p>
            <a:r>
              <a:t>Lesson plan: At a glance: Objectives; Step 6;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4.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5.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3.png"/><Relationship Id="rId8"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7.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Plan: a calendar and a clipboard">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13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Where I'm Going</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a plan with going to</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hopes with hope to</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 short talk about your goals</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talk about a plan with going to.</a:t>
            </a:r>
            <a:endParaRPr lang="en-US" sz="18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talk about hopes with hope to.</a:t>
            </a:r>
            <a:endParaRPr lang="en-US" sz="18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what I will do first.</a:t>
            </a:r>
            <a:endParaRPr lang="en-US" sz="18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choose going to, will, or hope to.</a:t>
            </a:r>
            <a:endParaRPr lang="en-US" sz="18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give a 1–2 minute talk about my goals.</a:t>
            </a:r>
            <a:endParaRPr lang="en-US" sz="18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Diploma: a scroll and a graduation cap"/>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did you do this year that you're proud of?</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How did you do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How did you do it? Why? Who helped you?</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did you do this year that you're proud of?</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Is anything difficult for you in English? What?</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Something is wrong with your car. What do you do?</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Did you learn anything new this month? What?</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12, item 2.</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Plan: a calendar and a clipboard"/>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plan</a:t>
            </a:r>
            <a:endParaRPr lang="en-US" sz="2000" dirty="0" b="1"/>
          </a:p>
        </p:txBody>
      </p:sp>
      <p:pic>
        <p:nvPicPr>
          <p:cNvPr id="19" name="Word picture 2" descr="Hope: a person with crossed fingers and a thought bubble with a hous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hope</a:t>
            </a:r>
            <a:endParaRPr lang="en-US" sz="2000" dirty="0" b="1"/>
          </a:p>
        </p:txBody>
      </p:sp>
      <p:pic>
        <p:nvPicPr>
          <p:cNvPr id="21" name="Word picture 3" descr="Decide: a person, two drawn arrows, a check mark on one"/>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decide</a:t>
            </a:r>
            <a:endParaRPr lang="en-US" sz="2000" dirty="0" b="1"/>
          </a:p>
        </p:txBody>
      </p:sp>
      <p:pic>
        <p:nvPicPr>
          <p:cNvPr id="23" name="Word picture 4" descr="Diploma: a scroll and a graduation cap"/>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diploma</a:t>
            </a:r>
            <a:endParaRPr lang="en-US" sz="2000" dirty="0" b="1"/>
          </a:p>
        </p:txBody>
      </p:sp>
      <p:pic>
        <p:nvPicPr>
          <p:cNvPr id="25" name="Word picture 5" descr="Certificate: a drawn certificate and a rosett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certificate</a:t>
            </a:r>
            <a:endParaRPr lang="en-US" sz="2000" dirty="0" b="1"/>
          </a:p>
        </p:txBody>
      </p:sp>
      <p:pic>
        <p:nvPicPr>
          <p:cNvPr id="27" name="Word picture 6" descr="Career: a briefcase and a chart going up"/>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career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says. B points.</a:t>
            </a:r>
            <a:endParaRPr lang="en-US" sz="2200" dirty="0" b="1"/>
          </a:p>
        </p:txBody>
      </p:sp>
      <p:pic>
        <p:nvPicPr>
          <p:cNvPr id="17" name="Word picture 1" descr="Promotion: an office worker, an arrow up, a sign &quot;MANAGER&quo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promotion</a:t>
            </a:r>
            <a:endParaRPr lang="en-US" sz="2000" dirty="0" b="1"/>
          </a:p>
        </p:txBody>
      </p:sp>
      <p:pic>
        <p:nvPicPr>
          <p:cNvPr id="19" name="Word picture 2" descr="Save money: a money bag, an arrow, a bank"/>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save money</a:t>
            </a:r>
            <a:endParaRPr lang="en-US" sz="2000" dirty="0" b="1"/>
          </a:p>
        </p:txBody>
      </p:sp>
      <p:pic>
        <p:nvPicPr>
          <p:cNvPr id="21" name="Word picture 3" descr="Own business: a store and a sign &quot;OPEN&quot;"/>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own business</a:t>
            </a:r>
            <a:endParaRPr lang="en-US" sz="2000" dirty="0" b="1"/>
          </a:p>
        </p:txBody>
      </p:sp>
      <p:pic>
        <p:nvPicPr>
          <p:cNvPr id="23" name="Word picture 4" descr="Driver's license: a drawn license card (not a real design) with a person and a car"/>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driver's license</a:t>
            </a:r>
            <a:endParaRPr lang="en-US" sz="1800" dirty="0" b="1"/>
          </a:p>
        </p:txBody>
      </p:sp>
      <p:pic>
        <p:nvPicPr>
          <p:cNvPr id="25" name="Word picture 5" descr="Computer class: a teacher and a laptop"/>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computer class</a:t>
            </a:r>
            <a:endParaRPr lang="en-US" sz="2000" dirty="0" b="1"/>
          </a:p>
        </p:txBody>
      </p:sp>
      <p:pic>
        <p:nvPicPr>
          <p:cNvPr id="27" name="Word picture 6" descr="Community college: a school building and a sign &quot;COMMUNITY COLLEGE&quot;"/>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community college</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better job at the same company?</a:t>
            </a:r>
            <a:endParaRPr lang="en-US" sz="1800" dirty="0" b="1"/>
          </a:p>
        </p:txBody>
      </p:sp>
      <p:pic>
        <p:nvPicPr>
          <p:cNvPr id="101" name="R1 pic" descr="Promotion: an office worker, an arrow up, a sign &quot;MANAGER&quot;"/>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Money in the bank every month?</a:t>
            </a:r>
            <a:endParaRPr lang="en-US" sz="1800" dirty="0" b="1"/>
          </a:p>
        </p:txBody>
      </p:sp>
      <p:pic>
        <p:nvPicPr>
          <p:cNvPr id="102" name="R2 pic" descr="Save money: a money bag, an arrow, a bank"/>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need it to drive a car.</a:t>
            </a:r>
            <a:endParaRPr lang="en-US" sz="1800" dirty="0" b="1"/>
          </a:p>
        </p:txBody>
      </p:sp>
      <p:pic>
        <p:nvPicPr>
          <p:cNvPr id="103" name="R3 pic" descr="Driver's license: a drawn license card (not a real design) with a person and a car"/>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promotion</a:t>
            </a:r>
            <a:endParaRPr lang="en-US" sz="22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save money</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a driver's license</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Sofia was a Level 3 student. Tonight she's talking to the class about her goals. Mr. Novak is the teacher.</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Certificate: a drawn certificate and a rosette"/>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Sofia</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Mr. Novak</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her main goal?</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will she do first?</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1:09.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is Sofia's main goal?</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05740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Main goal:</a:t>
            </a:r>
            <a:endParaRPr lang="en-US" sz="2000" dirty="0"/>
          </a:p>
        </p:txBody>
      </p:sp>
      <p:sp>
        <p:nvSpPr>
          <p:cNvPr id="9" name="R1 opt1"/>
          <p:cNvSpPr/>
          <p:nvPr/>
        </p:nvSpPr>
        <p:spPr>
          <a:xfrm>
            <a:off x="274320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a driver's license</a:t>
            </a:r>
            <a:endParaRPr lang="en-US" sz="1500" dirty="0" b="1"/>
          </a:p>
        </p:txBody>
      </p:sp>
      <p:sp>
        <p:nvSpPr>
          <p:cNvPr id="10" name="R1 opt2"/>
          <p:cNvSpPr/>
          <p:nvPr/>
        </p:nvSpPr>
        <p:spPr>
          <a:xfrm>
            <a:off x="553212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a medical assistant certificate</a:t>
            </a:r>
            <a:endParaRPr lang="en-US" sz="1500" dirty="0" b="1"/>
          </a:p>
        </p:txBody>
      </p:sp>
      <p:sp>
        <p:nvSpPr>
          <p:cNvPr id="11" name="R1 opt3"/>
          <p:cNvSpPr/>
          <p:nvPr/>
        </p:nvSpPr>
        <p:spPr>
          <a:xfrm>
            <a:off x="832104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her own business</a:t>
            </a:r>
            <a:endParaRPr lang="en-US" sz="1500" dirty="0" b="1"/>
          </a:p>
        </p:txBody>
      </p:sp>
      <p:sp>
        <p:nvSpPr>
          <p:cNvPr id="12" name="R1 circle"/>
          <p:cNvSpPr/>
          <p:nvPr/>
        </p:nvSpPr>
        <p:spPr>
          <a:xfrm>
            <a:off x="5404104" y="3054096"/>
            <a:ext cx="29077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Number the steps. Then circle.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Number the steps 1–5: Then → Now → Next.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compare your answers.</a:t>
            </a:r>
            <a:endParaRPr lang="en-US" sz="2000" dirty="0" b="1"/>
          </a:p>
        </p:txBody>
      </p:sp>
      <p:sp>
        <p:nvSpPr>
          <p:cNvPr id="31" name="R1 card"/>
          <p:cNvSpPr/>
          <p:nvPr/>
        </p:nvSpPr>
        <p:spPr>
          <a:xfrm>
            <a:off x="1583741" y="2123237"/>
            <a:ext cx="6035040" cy="550991"/>
          </a:xfrm>
          <a:prstGeom prst="round1Rect">
            <a:avLst>
              <a:gd name="adj" fmla="val 23087"/>
            </a:avLst>
          </a:prstGeom>
          <a:solidFill>
            <a:srgbClr val="FFFFFF"/>
          </a:solidFill>
          <a:ln/>
        </p:spPr>
        <p:txBody>
          <a:bodyPr/>
          <a:p/>
        </p:txBody>
      </p:sp>
      <p:sp>
        <p:nvSpPr>
          <p:cNvPr id="32" name="R1 chip"/>
          <p:cNvSpPr/>
          <p:nvPr/>
        </p:nvSpPr>
        <p:spPr>
          <a:xfrm>
            <a:off x="544982" y="2123237"/>
            <a:ext cx="1039673" cy="550991"/>
          </a:xfrm>
          <a:prstGeom prst="rect">
            <a:avLst/>
          </a:prstGeom>
          <a:solidFill>
            <a:srgbClr val="B9D2F7"/>
          </a:solidFill>
          <a:ln/>
        </p:spPr>
        <p:txBody>
          <a:bodyPr/>
          <a:p/>
        </p:txBody>
      </p:sp>
      <p:sp>
        <p:nvSpPr>
          <p:cNvPr id="33" name="R1 num"/>
          <p:cNvSpPr/>
          <p:nvPr/>
        </p:nvSpPr>
        <p:spPr>
          <a:xfrm>
            <a:off x="686714" y="2106124"/>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take a computer class</a:t>
            </a:r>
            <a:endParaRPr lang="en-US" sz="1600" dirty="0"/>
          </a:p>
        </p:txBody>
      </p:sp>
      <p:sp>
        <p:nvSpPr>
          <p:cNvPr id="35" name="R1 ans"/>
          <p:cNvSpPr/>
          <p:nvPr/>
        </p:nvSpPr>
        <p:spPr>
          <a:xfrm>
            <a:off x="6199632" y="217013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3</a:t>
            </a:r>
            <a:endParaRPr lang="en-US" sz="2000" dirty="0" b="1"/>
          </a:p>
        </p:txBody>
      </p:sp>
      <p:sp>
        <p:nvSpPr>
          <p:cNvPr id="36" name="R2 card"/>
          <p:cNvSpPr/>
          <p:nvPr/>
        </p:nvSpPr>
        <p:spPr>
          <a:xfrm>
            <a:off x="1583741" y="2747380"/>
            <a:ext cx="6035040" cy="550991"/>
          </a:xfrm>
          <a:prstGeom prst="round1Rect">
            <a:avLst>
              <a:gd name="adj" fmla="val 23087"/>
            </a:avLst>
          </a:prstGeom>
          <a:solidFill>
            <a:srgbClr val="FFFFFF"/>
          </a:solidFill>
          <a:ln/>
        </p:spPr>
        <p:txBody>
          <a:bodyPr/>
          <a:p/>
        </p:txBody>
      </p:sp>
      <p:sp>
        <p:nvSpPr>
          <p:cNvPr id="37" name="R2 chip"/>
          <p:cNvSpPr/>
          <p:nvPr/>
        </p:nvSpPr>
        <p:spPr>
          <a:xfrm>
            <a:off x="544982" y="2747380"/>
            <a:ext cx="1039673" cy="550991"/>
          </a:xfrm>
          <a:prstGeom prst="rect">
            <a:avLst/>
          </a:prstGeom>
          <a:solidFill>
            <a:srgbClr val="B9D2F7"/>
          </a:solidFill>
          <a:ln/>
        </p:spPr>
        <p:txBody>
          <a:bodyPr/>
          <a:p/>
        </p:txBody>
      </p:sp>
      <p:sp>
        <p:nvSpPr>
          <p:cNvPr id="38" name="R2 num"/>
          <p:cNvSpPr/>
          <p:nvPr/>
        </p:nvSpPr>
        <p:spPr>
          <a:xfrm>
            <a:off x="686714" y="2730268"/>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747380"/>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came to this class</a:t>
            </a:r>
            <a:endParaRPr lang="en-US" sz="1600" dirty="0"/>
          </a:p>
        </p:txBody>
      </p:sp>
      <p:sp>
        <p:nvSpPr>
          <p:cNvPr id="40" name="R2 ans"/>
          <p:cNvSpPr/>
          <p:nvPr/>
        </p:nvSpPr>
        <p:spPr>
          <a:xfrm>
            <a:off x="6199632" y="279427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1</a:t>
            </a:r>
            <a:endParaRPr lang="en-US" sz="2000" dirty="0" b="1"/>
          </a:p>
        </p:txBody>
      </p:sp>
      <p:sp>
        <p:nvSpPr>
          <p:cNvPr id="41" name="R3 card"/>
          <p:cNvSpPr/>
          <p:nvPr/>
        </p:nvSpPr>
        <p:spPr>
          <a:xfrm>
            <a:off x="1583741" y="3371523"/>
            <a:ext cx="6035040" cy="550991"/>
          </a:xfrm>
          <a:prstGeom prst="round1Rect">
            <a:avLst>
              <a:gd name="adj" fmla="val 23087"/>
            </a:avLst>
          </a:prstGeom>
          <a:solidFill>
            <a:srgbClr val="FFFFFF"/>
          </a:solidFill>
          <a:ln/>
        </p:spPr>
        <p:txBody>
          <a:bodyPr/>
          <a:p/>
        </p:txBody>
      </p:sp>
      <p:sp>
        <p:nvSpPr>
          <p:cNvPr id="42" name="R3 chip"/>
          <p:cNvSpPr/>
          <p:nvPr/>
        </p:nvSpPr>
        <p:spPr>
          <a:xfrm>
            <a:off x="544982" y="3371523"/>
            <a:ext cx="1039673" cy="550991"/>
          </a:xfrm>
          <a:prstGeom prst="rect">
            <a:avLst/>
          </a:prstGeom>
          <a:solidFill>
            <a:srgbClr val="B9D2F7"/>
          </a:solidFill>
          <a:ln/>
        </p:spPr>
        <p:txBody>
          <a:bodyPr/>
          <a:p/>
        </p:txBody>
      </p:sp>
      <p:sp>
        <p:nvSpPr>
          <p:cNvPr id="43" name="R3 num"/>
          <p:cNvSpPr/>
          <p:nvPr/>
        </p:nvSpPr>
        <p:spPr>
          <a:xfrm>
            <a:off x="686714" y="335441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371523"/>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work at a clinic</a:t>
            </a:r>
            <a:endParaRPr lang="en-US" sz="1600" dirty="0"/>
          </a:p>
        </p:txBody>
      </p:sp>
      <p:sp>
        <p:nvSpPr>
          <p:cNvPr id="45" name="R3 ans"/>
          <p:cNvSpPr/>
          <p:nvPr/>
        </p:nvSpPr>
        <p:spPr>
          <a:xfrm>
            <a:off x="6199632" y="341841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5</a:t>
            </a:r>
            <a:endParaRPr lang="en-US" sz="2000" dirty="0" b="1"/>
          </a:p>
        </p:txBody>
      </p:sp>
      <p:sp>
        <p:nvSpPr>
          <p:cNvPr id="46" name="R4 card"/>
          <p:cNvSpPr/>
          <p:nvPr/>
        </p:nvSpPr>
        <p:spPr>
          <a:xfrm>
            <a:off x="1583741" y="3995667"/>
            <a:ext cx="6035040" cy="550991"/>
          </a:xfrm>
          <a:prstGeom prst="round1Rect">
            <a:avLst>
              <a:gd name="adj" fmla="val 23087"/>
            </a:avLst>
          </a:prstGeom>
          <a:solidFill>
            <a:srgbClr val="FFFFFF"/>
          </a:solidFill>
          <a:ln/>
        </p:spPr>
        <p:txBody>
          <a:bodyPr/>
          <a:p/>
        </p:txBody>
      </p:sp>
      <p:sp>
        <p:nvSpPr>
          <p:cNvPr id="47" name="R4 chip"/>
          <p:cNvSpPr/>
          <p:nvPr/>
        </p:nvSpPr>
        <p:spPr>
          <a:xfrm>
            <a:off x="544982" y="3995667"/>
            <a:ext cx="1039673" cy="550991"/>
          </a:xfrm>
          <a:prstGeom prst="rect">
            <a:avLst/>
          </a:prstGeom>
          <a:solidFill>
            <a:srgbClr val="B9D2F7"/>
          </a:solidFill>
          <a:ln/>
        </p:spPr>
        <p:txBody>
          <a:bodyPr/>
          <a:p/>
        </p:txBody>
      </p:sp>
      <p:sp>
        <p:nvSpPr>
          <p:cNvPr id="48" name="R4 num"/>
          <p:cNvSpPr/>
          <p:nvPr/>
        </p:nvSpPr>
        <p:spPr>
          <a:xfrm>
            <a:off x="686714" y="3978554"/>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3995667"/>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works at a hotel</a:t>
            </a:r>
            <a:endParaRPr lang="en-US" sz="1600" dirty="0"/>
          </a:p>
        </p:txBody>
      </p:sp>
      <p:sp>
        <p:nvSpPr>
          <p:cNvPr id="50" name="R4 ans"/>
          <p:cNvSpPr/>
          <p:nvPr/>
        </p:nvSpPr>
        <p:spPr>
          <a:xfrm>
            <a:off x="6199632" y="404256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2</a:t>
            </a:r>
            <a:endParaRPr lang="en-US" sz="2000" dirty="0" b="1"/>
          </a:p>
        </p:txBody>
      </p:sp>
      <p:sp>
        <p:nvSpPr>
          <p:cNvPr id="51" name="R5 card"/>
          <p:cNvSpPr/>
          <p:nvPr/>
        </p:nvSpPr>
        <p:spPr>
          <a:xfrm>
            <a:off x="1583741" y="4619810"/>
            <a:ext cx="6035040" cy="550991"/>
          </a:xfrm>
          <a:prstGeom prst="round1Rect">
            <a:avLst>
              <a:gd name="adj" fmla="val 23087"/>
            </a:avLst>
          </a:prstGeom>
          <a:solidFill>
            <a:srgbClr val="FFFFFF"/>
          </a:solidFill>
          <a:ln/>
        </p:spPr>
        <p:txBody>
          <a:bodyPr/>
          <a:p/>
        </p:txBody>
      </p:sp>
      <p:sp>
        <p:nvSpPr>
          <p:cNvPr id="52" name="R5 chip"/>
          <p:cNvSpPr/>
          <p:nvPr/>
        </p:nvSpPr>
        <p:spPr>
          <a:xfrm>
            <a:off x="544982" y="4619810"/>
            <a:ext cx="1039673" cy="550991"/>
          </a:xfrm>
          <a:prstGeom prst="rect">
            <a:avLst/>
          </a:prstGeom>
          <a:solidFill>
            <a:srgbClr val="B9D2F7"/>
          </a:solidFill>
          <a:ln/>
        </p:spPr>
        <p:txBody>
          <a:bodyPr/>
          <a:p/>
        </p:txBody>
      </p:sp>
      <p:sp>
        <p:nvSpPr>
          <p:cNvPr id="53" name="R5 num"/>
          <p:cNvSpPr/>
          <p:nvPr/>
        </p:nvSpPr>
        <p:spPr>
          <a:xfrm>
            <a:off x="686714" y="4602698"/>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4619810"/>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apply for the certificate program</a:t>
            </a:r>
            <a:endParaRPr lang="en-US" sz="1600" dirty="0"/>
          </a:p>
        </p:txBody>
      </p:sp>
      <p:sp>
        <p:nvSpPr>
          <p:cNvPr id="55" name="R5 ans"/>
          <p:cNvSpPr/>
          <p:nvPr/>
        </p:nvSpPr>
        <p:spPr>
          <a:xfrm>
            <a:off x="6199632" y="466670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4</a:t>
            </a:r>
            <a:endParaRPr lang="en-US" sz="2000" dirty="0" b="1"/>
          </a:p>
        </p:txBody>
      </p:sp>
      <p:sp>
        <p:nvSpPr>
          <p:cNvPr id="56" name="R6 card"/>
          <p:cNvSpPr/>
          <p:nvPr/>
        </p:nvSpPr>
        <p:spPr>
          <a:xfrm>
            <a:off x="1583741" y="5243953"/>
            <a:ext cx="6035040" cy="550991"/>
          </a:xfrm>
          <a:prstGeom prst="round1Rect">
            <a:avLst>
              <a:gd name="adj" fmla="val 23087"/>
            </a:avLst>
          </a:prstGeom>
          <a:solidFill>
            <a:srgbClr val="FFFFFF"/>
          </a:solidFill>
          <a:ln/>
        </p:spPr>
        <p:txBody>
          <a:bodyPr/>
          <a:p/>
        </p:txBody>
      </p:sp>
      <p:sp>
        <p:nvSpPr>
          <p:cNvPr id="57" name="R6 chip"/>
          <p:cNvSpPr/>
          <p:nvPr/>
        </p:nvSpPr>
        <p:spPr>
          <a:xfrm>
            <a:off x="544982" y="5243953"/>
            <a:ext cx="1039673" cy="550991"/>
          </a:xfrm>
          <a:prstGeom prst="rect">
            <a:avLst/>
          </a:prstGeom>
          <a:solidFill>
            <a:srgbClr val="B9D2F7"/>
          </a:solidFill>
          <a:ln/>
        </p:spPr>
        <p:txBody>
          <a:bodyPr/>
          <a:p/>
        </p:txBody>
      </p:sp>
      <p:sp>
        <p:nvSpPr>
          <p:cNvPr id="58" name="R6 num"/>
          <p:cNvSpPr/>
          <p:nvPr/>
        </p:nvSpPr>
        <p:spPr>
          <a:xfrm>
            <a:off x="686714" y="5226841"/>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243953"/>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class starts in:  </a:t>
            </a:r>
            <a:r>
              <a:rPr lang="en-US" sz="1600" dirty="0" b="1">
                <a:solidFill>
                  <a:srgbClr val="1B2236"/>
                </a:solidFill>
                <a:latin typeface="Lexend Deca" pitchFamily="34" charset="0"/>
                <a:ea typeface="Lexend Deca" pitchFamily="34" charset="-122"/>
                <a:cs typeface="Lexend Deca" pitchFamily="34" charset="-120"/>
              </a:rPr>
              <a:t>January</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June</a:t>
            </a:r>
            <a:endParaRPr lang="en-US" sz="1600" dirty="0"/>
          </a:p>
        </p:txBody>
      </p:sp>
      <p:sp>
        <p:nvSpPr>
          <p:cNvPr id="60" name="R6 ans"/>
          <p:cNvSpPr/>
          <p:nvPr/>
        </p:nvSpPr>
        <p:spPr>
          <a:xfrm>
            <a:off x="6199632" y="529084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January</a:t>
            </a:r>
            <a:endParaRPr lang="en-US" sz="2000" dirty="0" b="1"/>
          </a:p>
        </p:txBody>
      </p:sp>
      <p:sp>
        <p:nvSpPr>
          <p:cNvPr id="61" name="R7 card"/>
          <p:cNvSpPr/>
          <p:nvPr/>
        </p:nvSpPr>
        <p:spPr>
          <a:xfrm>
            <a:off x="1583741" y="5868097"/>
            <a:ext cx="6035040" cy="550991"/>
          </a:xfrm>
          <a:prstGeom prst="round1Rect">
            <a:avLst>
              <a:gd name="adj" fmla="val 23087"/>
            </a:avLst>
          </a:prstGeom>
          <a:solidFill>
            <a:srgbClr val="FFFFFF"/>
          </a:solidFill>
          <a:ln/>
        </p:spPr>
        <p:txBody>
          <a:bodyPr/>
          <a:p/>
        </p:txBody>
      </p:sp>
      <p:sp>
        <p:nvSpPr>
          <p:cNvPr id="62" name="R7 chip"/>
          <p:cNvSpPr/>
          <p:nvPr/>
        </p:nvSpPr>
        <p:spPr>
          <a:xfrm>
            <a:off x="544982" y="5868097"/>
            <a:ext cx="1039673" cy="550991"/>
          </a:xfrm>
          <a:prstGeom prst="rect">
            <a:avLst/>
          </a:prstGeom>
          <a:solidFill>
            <a:srgbClr val="B9D2F7"/>
          </a:solidFill>
          <a:ln/>
        </p:spPr>
        <p:txBody>
          <a:bodyPr/>
          <a:p/>
        </p:txBody>
      </p:sp>
      <p:sp>
        <p:nvSpPr>
          <p:cNvPr id="63" name="R7 num"/>
          <p:cNvSpPr/>
          <p:nvPr/>
        </p:nvSpPr>
        <p:spPr>
          <a:xfrm>
            <a:off x="686714" y="5850984"/>
            <a:ext cx="1109167" cy="585216"/>
          </a:xfrm>
          <a:prstGeom prst="rect">
            <a:avLst/>
          </a:prstGeom>
          <a:noFill/>
          <a:ln/>
        </p:spPr>
        <p:txBody>
          <a:bodyPr wrap="square" rtlCol="0" anchor="ctr"/>
          <a:lstStyle/>
          <a:p>
            <a:pPr algn="ctr" indent="0" marL="0">
              <a:buNone/>
            </a:pPr>
            <a:r>
              <a:rPr lang="en-US" sz="3200" dirty="0" b="1"/>
              <a:t>7</a:t>
            </a:r>
            <a:endParaRPr lang="en-US" sz="3200" dirty="0" b="1"/>
          </a:p>
        </p:txBody>
      </p:sp>
      <p:sp>
        <p:nvSpPr>
          <p:cNvPr id="64" name="R7 text"/>
          <p:cNvSpPr/>
          <p:nvPr/>
        </p:nvSpPr>
        <p:spPr>
          <a:xfrm>
            <a:off x="1810512" y="5868097"/>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She works at:  </a:t>
            </a:r>
            <a:r>
              <a:rPr lang="en-US" sz="1600" dirty="0" b="1">
                <a:solidFill>
                  <a:srgbClr val="1B2236"/>
                </a:solidFill>
                <a:latin typeface="Lexend Deca" pitchFamily="34" charset="0"/>
                <a:ea typeface="Lexend Deca" pitchFamily="34" charset="-122"/>
                <a:cs typeface="Lexend Deca" pitchFamily="34" charset="-120"/>
              </a:rPr>
              <a:t>a hotel</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a clinic</a:t>
            </a:r>
            <a:endParaRPr lang="en-US" sz="1600" dirty="0"/>
          </a:p>
        </p:txBody>
      </p:sp>
      <p:sp>
        <p:nvSpPr>
          <p:cNvPr id="65" name="R7 ans"/>
          <p:cNvSpPr/>
          <p:nvPr/>
        </p:nvSpPr>
        <p:spPr>
          <a:xfrm>
            <a:off x="6199632" y="591499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 hotel</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fade">
                                      <p:cBhvr>
                                        <p:cTn id="37"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word.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hope to, going to, 'll</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____ work at a clinic.</a:t>
            </a:r>
            <a:endParaRPr lang="en-US" sz="1600" dirty="0"/>
          </a:p>
        </p:txBody>
      </p:sp>
      <p:sp>
        <p:nvSpPr>
          <p:cNvPr id="35" name="R1 ans"/>
          <p:cNvSpPr/>
          <p:nvPr/>
        </p:nvSpPr>
        <p:spPr>
          <a:xfrm>
            <a:off x="6108192" y="2525573"/>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hope to</a:t>
            </a:r>
            <a:endParaRPr lang="en-US" sz="20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How are you ____ do that?</a:t>
            </a:r>
            <a:endParaRPr lang="en-US" sz="1600" dirty="0"/>
          </a:p>
        </p:txBody>
      </p:sp>
      <p:sp>
        <p:nvSpPr>
          <p:cNvPr id="40" name="R2 ans"/>
          <p:cNvSpPr/>
          <p:nvPr/>
        </p:nvSpPr>
        <p:spPr>
          <a:xfrm>
            <a:off x="6108192" y="3311957"/>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First, I'm ____ take a computer class at the community college.</a:t>
            </a:r>
            <a:endParaRPr lang="en-US" sz="1600" dirty="0"/>
          </a:p>
        </p:txBody>
      </p:sp>
      <p:sp>
        <p:nvSpPr>
          <p:cNvPr id="45" name="R3 ans"/>
          <p:cNvSpPr/>
          <p:nvPr/>
        </p:nvSpPr>
        <p:spPr>
          <a:xfrm>
            <a:off x="6108192" y="4098341"/>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After that, I____ apply for the certificate program.</a:t>
            </a:r>
            <a:endParaRPr lang="en-US" sz="1600" dirty="0"/>
          </a:p>
        </p:txBody>
      </p:sp>
      <p:sp>
        <p:nvSpPr>
          <p:cNvPr id="50" name="R4 ans"/>
          <p:cNvSpPr/>
          <p:nvPr/>
        </p:nvSpPr>
        <p:spPr>
          <a:xfrm>
            <a:off x="6108192" y="4884725"/>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And I ____ help my kids with their homework, too.</a:t>
            </a:r>
            <a:endParaRPr lang="en-US" sz="1600" dirty="0"/>
          </a:p>
        </p:txBody>
      </p:sp>
      <p:sp>
        <p:nvSpPr>
          <p:cNvPr id="55" name="R5 ans"/>
          <p:cNvSpPr/>
          <p:nvPr/>
        </p:nvSpPr>
        <p:spPr>
          <a:xfrm>
            <a:off x="6108192" y="5671109"/>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hope to</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pause and stress</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the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Pause</a:t>
            </a:r>
            <a:r>
              <a:rPr lang="en-US" sz="2000" dirty="0">
                <a:solidFill>
                  <a:srgbClr val="1B2236"/>
                </a:solidFill>
                <a:latin typeface="Lexend Deca" pitchFamily="34" charset="0"/>
                <a:ea typeface="Lexend Deca" pitchFamily="34" charset="-122"/>
                <a:cs typeface="Lexend Deca" pitchFamily="34" charset="-120"/>
              </a:rPr>
              <a:t> after each idea.</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Stress the </a:t>
            </a:r>
            <a:r>
              <a:rPr lang="en-US" sz="2000" dirty="0" b="1">
                <a:solidFill>
                  <a:srgbClr val="5B3FC4"/>
                </a:solidFill>
                <a:latin typeface="Lexend Deca" pitchFamily="34" charset="0"/>
                <a:ea typeface="Lexend Deca" pitchFamily="34" charset="-122"/>
                <a:cs typeface="Lexend Deca" pitchFamily="34" charset="-120"/>
              </a:rPr>
              <a:t>important word.</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the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Three years ago, (pause) I came to this class.</a:t>
            </a:r>
            <a:endParaRPr lang="en-US" sz="20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(pause) Now (pause) I work at a hotel.</a:t>
            </a:r>
            <a:endParaRPr lang="en-US" sz="20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going to → "gonna" (understand it; say going to)</a:t>
            </a:r>
            <a:endParaRPr lang="en-US" sz="20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omputer class: a teacher and a laptop"/>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going to (a plan)</a:t>
            </a:r>
            <a:endParaRPr lang="en-US" sz="28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What are you </a:t>
            </a:r>
            <a:r>
              <a:rPr lang="en-US" sz="1600" dirty="0" b="1">
                <a:solidFill>
                  <a:srgbClr val="1B2236"/>
                </a:solidFill>
                <a:latin typeface="Lexend Deca" pitchFamily="34" charset="0"/>
                <a:ea typeface="Lexend Deca" pitchFamily="34" charset="-122"/>
                <a:cs typeface="Lexend Deca" pitchFamily="34" charset="-120"/>
              </a:rPr>
              <a:t>going to</a:t>
            </a:r>
            <a:r>
              <a:rPr lang="en-US" sz="1600" dirty="0" b="1">
                <a:solidFill>
                  <a:srgbClr val="1B2236"/>
                </a:solidFill>
                <a:latin typeface="Lexend Deca" pitchFamily="34" charset="0"/>
                <a:ea typeface="Lexend Deca" pitchFamily="34" charset="-122"/>
                <a:cs typeface="Lexend Deca" pitchFamily="34" charset="-120"/>
              </a:rPr>
              <a:t> do next year?</a:t>
            </a:r>
            <a:endParaRPr lang="en-US" sz="1600" dirty="0" b="1"/>
          </a:p>
        </p:txBody>
      </p:sp>
      <p:sp>
        <p:nvSpPr>
          <p:cNvPr id="19" name="Answer bg 1"/>
          <p:cNvSpPr/>
          <p:nvPr/>
        </p:nvSpPr>
        <p:spPr>
          <a:xfrm>
            <a:off x="7863840" y="228600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I'm </a:t>
            </a:r>
            <a:r>
              <a:rPr lang="en-US" sz="1600" dirty="0" b="1">
                <a:solidFill>
                  <a:srgbClr val="1B2236"/>
                </a:solidFill>
                <a:latin typeface="Lexend Deca" pitchFamily="34" charset="0"/>
                <a:ea typeface="Lexend Deca" pitchFamily="34" charset="-122"/>
                <a:cs typeface="Lexend Deca" pitchFamily="34" charset="-120"/>
              </a:rPr>
              <a:t>going to</a:t>
            </a:r>
            <a:r>
              <a:rPr lang="en-US" sz="1600" dirty="0" b="1">
                <a:solidFill>
                  <a:srgbClr val="1B2236"/>
                </a:solidFill>
                <a:latin typeface="Lexend Deca" pitchFamily="34" charset="0"/>
                <a:ea typeface="Lexend Deca" pitchFamily="34" charset="-122"/>
                <a:cs typeface="Lexend Deca" pitchFamily="34" charset="-120"/>
              </a:rPr>
              <a:t> take a computer class.</a:t>
            </a:r>
            <a:endParaRPr lang="en-US" sz="1600" dirty="0" b="1"/>
          </a:p>
        </p:txBody>
      </p:sp>
      <p:sp>
        <p:nvSpPr>
          <p:cNvPr id="21" name="Question 2"/>
          <p:cNvSpPr/>
          <p:nvPr/>
        </p:nvSpPr>
        <p:spPr>
          <a:xfrm>
            <a:off x="5138928" y="329184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Are you </a:t>
            </a:r>
            <a:r>
              <a:rPr lang="en-US" sz="1600" dirty="0" b="1">
                <a:solidFill>
                  <a:srgbClr val="1B2236"/>
                </a:solidFill>
                <a:latin typeface="Lexend Deca" pitchFamily="34" charset="0"/>
                <a:ea typeface="Lexend Deca" pitchFamily="34" charset="-122"/>
                <a:cs typeface="Lexend Deca" pitchFamily="34" charset="-120"/>
              </a:rPr>
              <a:t>going to</a:t>
            </a:r>
            <a:r>
              <a:rPr lang="en-US" sz="1600" dirty="0" b="1">
                <a:solidFill>
                  <a:srgbClr val="1B2236"/>
                </a:solidFill>
                <a:latin typeface="Lexend Deca" pitchFamily="34" charset="0"/>
                <a:ea typeface="Lexend Deca" pitchFamily="34" charset="-122"/>
                <a:cs typeface="Lexend Deca" pitchFamily="34" charset="-120"/>
              </a:rPr>
              <a:t> apply?</a:t>
            </a:r>
            <a:endParaRPr lang="en-US" sz="1600" dirty="0" b="1"/>
          </a:p>
        </p:txBody>
      </p:sp>
      <p:sp>
        <p:nvSpPr>
          <p:cNvPr id="22" name="Answer bg 2"/>
          <p:cNvSpPr/>
          <p:nvPr/>
        </p:nvSpPr>
        <p:spPr>
          <a:xfrm>
            <a:off x="7863840" y="329184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29184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Yes, I'm </a:t>
            </a:r>
            <a:r>
              <a:rPr lang="en-US" sz="1600" dirty="0" b="1">
                <a:solidFill>
                  <a:srgbClr val="1B2236"/>
                </a:solidFill>
                <a:latin typeface="Lexend Deca" pitchFamily="34" charset="0"/>
                <a:ea typeface="Lexend Deca" pitchFamily="34" charset="-122"/>
                <a:cs typeface="Lexend Deca" pitchFamily="34" charset="-120"/>
              </a:rPr>
              <a:t>going to</a:t>
            </a:r>
            <a:r>
              <a:rPr lang="en-US" sz="1600" dirty="0" b="1">
                <a:solidFill>
                  <a:srgbClr val="1B2236"/>
                </a:solidFill>
                <a:latin typeface="Lexend Deca" pitchFamily="34" charset="0"/>
                <a:ea typeface="Lexend Deca" pitchFamily="34" charset="-122"/>
                <a:cs typeface="Lexend Deca" pitchFamily="34" charset="-120"/>
              </a:rPr>
              <a:t> apply in January.</a:t>
            </a:r>
            <a:endParaRPr lang="en-US" sz="1600" dirty="0" b="1"/>
          </a:p>
        </p:txBody>
      </p:sp>
      <p:sp>
        <p:nvSpPr>
          <p:cNvPr id="24" name="Question 3"/>
          <p:cNvSpPr/>
          <p:nvPr/>
        </p:nvSpPr>
        <p:spPr>
          <a:xfrm>
            <a:off x="5138928" y="429768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When are you </a:t>
            </a:r>
            <a:r>
              <a:rPr lang="en-US" sz="1600" dirty="0" b="1">
                <a:solidFill>
                  <a:srgbClr val="1B2236"/>
                </a:solidFill>
                <a:latin typeface="Lexend Deca" pitchFamily="34" charset="0"/>
                <a:ea typeface="Lexend Deca" pitchFamily="34" charset="-122"/>
                <a:cs typeface="Lexend Deca" pitchFamily="34" charset="-120"/>
              </a:rPr>
              <a:t>meeting</a:t>
            </a:r>
            <a:r>
              <a:rPr lang="en-US" sz="1600" dirty="0" b="1">
                <a:solidFill>
                  <a:srgbClr val="1B2236"/>
                </a:solidFill>
                <a:latin typeface="Lexend Deca" pitchFamily="34" charset="0"/>
                <a:ea typeface="Lexend Deca" pitchFamily="34" charset="-122"/>
                <a:cs typeface="Lexend Deca" pitchFamily="34" charset="-120"/>
              </a:rPr>
              <a:t> the counselor?</a:t>
            </a:r>
            <a:endParaRPr lang="en-US" sz="1600" dirty="0" b="1"/>
          </a:p>
        </p:txBody>
      </p:sp>
      <p:sp>
        <p:nvSpPr>
          <p:cNvPr id="25" name="Answer bg 3"/>
          <p:cNvSpPr/>
          <p:nvPr/>
        </p:nvSpPr>
        <p:spPr>
          <a:xfrm>
            <a:off x="7863840" y="429768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29768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I'm </a:t>
            </a:r>
            <a:r>
              <a:rPr lang="en-US" sz="1600" dirty="0" b="1">
                <a:solidFill>
                  <a:srgbClr val="1B2236"/>
                </a:solidFill>
                <a:latin typeface="Lexend Deca" pitchFamily="34" charset="0"/>
                <a:ea typeface="Lexend Deca" pitchFamily="34" charset="-122"/>
                <a:cs typeface="Lexend Deca" pitchFamily="34" charset="-120"/>
              </a:rPr>
              <a:t>meeting</a:t>
            </a:r>
            <a:r>
              <a:rPr lang="en-US" sz="1600" dirty="0" b="1">
                <a:solidFill>
                  <a:srgbClr val="1B2236"/>
                </a:solidFill>
                <a:latin typeface="Lexend Deca" pitchFamily="34" charset="0"/>
                <a:ea typeface="Lexend Deca" pitchFamily="34" charset="-122"/>
                <a:cs typeface="Lexend Deca" pitchFamily="34" charset="-120"/>
              </a:rPr>
              <a:t> the counselor on Monday.</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Hope: a person with crossed fingers and a thought bubble with a hous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hope to / I hope I'll (a hope)</a:t>
            </a:r>
            <a:endParaRPr lang="en-US" sz="2000" dirty="0" b="1"/>
          </a:p>
        </p:txBody>
      </p:sp>
      <p:sp>
        <p:nvSpPr>
          <p:cNvPr id="8" name="Q head"/>
          <p:cNvSpPr/>
          <p:nvPr/>
        </p:nvSpPr>
        <p:spPr>
          <a:xfrm>
            <a:off x="5166360" y="1828800"/>
            <a:ext cx="25603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772400" y="1828800"/>
            <a:ext cx="41605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560320" cy="12070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What do you </a:t>
            </a:r>
            <a:r>
              <a:rPr lang="en-US" sz="1900" dirty="0" b="1">
                <a:solidFill>
                  <a:srgbClr val="1B2236"/>
                </a:solidFill>
                <a:latin typeface="Lexend Deca" pitchFamily="34" charset="0"/>
                <a:ea typeface="Lexend Deca" pitchFamily="34" charset="-122"/>
                <a:cs typeface="Lexend Deca" pitchFamily="34" charset="-120"/>
              </a:rPr>
              <a:t>hope to</a:t>
            </a:r>
            <a:r>
              <a:rPr lang="en-US" sz="1900" dirty="0" b="1">
                <a:solidFill>
                  <a:srgbClr val="1B2236"/>
                </a:solidFill>
                <a:latin typeface="Lexend Deca" pitchFamily="34" charset="0"/>
                <a:ea typeface="Lexend Deca" pitchFamily="34" charset="-122"/>
                <a:cs typeface="Lexend Deca" pitchFamily="34" charset="-120"/>
              </a:rPr>
              <a:t> do?</a:t>
            </a:r>
            <a:endParaRPr lang="en-US" sz="1900" dirty="0" b="1"/>
          </a:p>
        </p:txBody>
      </p:sp>
      <p:sp>
        <p:nvSpPr>
          <p:cNvPr id="19" name="Answer bg 1"/>
          <p:cNvSpPr/>
          <p:nvPr/>
        </p:nvSpPr>
        <p:spPr>
          <a:xfrm>
            <a:off x="7772400" y="2286000"/>
            <a:ext cx="416052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772400" y="2286000"/>
            <a:ext cx="416052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hope to</a:t>
            </a:r>
            <a:r>
              <a:rPr lang="en-US" sz="1800" dirty="0" b="1">
                <a:solidFill>
                  <a:srgbClr val="1B2236"/>
                </a:solidFill>
                <a:latin typeface="Lexend Deca" pitchFamily="34" charset="0"/>
                <a:ea typeface="Lexend Deca" pitchFamily="34" charset="-122"/>
                <a:cs typeface="Lexend Deca" pitchFamily="34" charset="-120"/>
              </a:rPr>
              <a:t> get my diploma.</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hope I'll</a:t>
            </a:r>
            <a:r>
              <a:rPr lang="en-US" sz="1800" dirty="0" b="1">
                <a:solidFill>
                  <a:srgbClr val="1B2236"/>
                </a:solidFill>
                <a:latin typeface="Lexend Deca" pitchFamily="34" charset="0"/>
                <a:ea typeface="Lexend Deca" pitchFamily="34" charset="-122"/>
                <a:cs typeface="Lexend Deca" pitchFamily="34" charset="-120"/>
              </a:rPr>
              <a:t> have my own business.</a:t>
            </a:r>
            <a:endParaRPr lang="en-US" sz="1800" dirty="0" b="1"/>
          </a:p>
        </p:txBody>
      </p:sp>
      <p:sp>
        <p:nvSpPr>
          <p:cNvPr id="21" name="Question 2"/>
          <p:cNvSpPr/>
          <p:nvPr/>
        </p:nvSpPr>
        <p:spPr>
          <a:xfrm>
            <a:off x="5138928" y="3566160"/>
            <a:ext cx="2560320" cy="12070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What do you </a:t>
            </a:r>
            <a:r>
              <a:rPr lang="en-US" sz="1900" dirty="0" b="1">
                <a:solidFill>
                  <a:srgbClr val="1B2236"/>
                </a:solidFill>
                <a:latin typeface="Lexend Deca" pitchFamily="34" charset="0"/>
                <a:ea typeface="Lexend Deca" pitchFamily="34" charset="-122"/>
                <a:cs typeface="Lexend Deca" pitchFamily="34" charset="-120"/>
              </a:rPr>
              <a:t>plan to / want to</a:t>
            </a:r>
            <a:r>
              <a:rPr lang="en-US" sz="1900" dirty="0" b="1">
                <a:solidFill>
                  <a:srgbClr val="1B2236"/>
                </a:solidFill>
                <a:latin typeface="Lexend Deca" pitchFamily="34" charset="0"/>
                <a:ea typeface="Lexend Deca" pitchFamily="34" charset="-122"/>
                <a:cs typeface="Lexend Deca" pitchFamily="34" charset="-120"/>
              </a:rPr>
              <a:t> do?</a:t>
            </a:r>
            <a:endParaRPr lang="en-US" sz="1900" dirty="0" b="1"/>
          </a:p>
        </p:txBody>
      </p:sp>
      <p:sp>
        <p:nvSpPr>
          <p:cNvPr id="22" name="Answer bg 2"/>
          <p:cNvSpPr/>
          <p:nvPr/>
        </p:nvSpPr>
        <p:spPr>
          <a:xfrm>
            <a:off x="7772400" y="3566160"/>
            <a:ext cx="416052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772400" y="3566160"/>
            <a:ext cx="416052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plan to</a:t>
            </a:r>
            <a:r>
              <a:rPr lang="en-US" sz="1800" dirty="0" b="1">
                <a:solidFill>
                  <a:srgbClr val="1B2236"/>
                </a:solidFill>
                <a:latin typeface="Lexend Deca" pitchFamily="34" charset="0"/>
                <a:ea typeface="Lexend Deca" pitchFamily="34" charset="-122"/>
                <a:cs typeface="Lexend Deca" pitchFamily="34" charset="-120"/>
              </a:rPr>
              <a:t> / I </a:t>
            </a:r>
            <a:r>
              <a:rPr lang="en-US" sz="1800" dirty="0" b="1">
                <a:solidFill>
                  <a:srgbClr val="1B2236"/>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save money for a car.</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Decide: a person, two drawn arrows, a check mark on on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will (decided now, a promise)</a:t>
            </a:r>
            <a:endParaRPr lang="en-US" sz="2000" dirty="0" b="1"/>
          </a:p>
        </p:txBody>
      </p:sp>
      <p:sp>
        <p:nvSpPr>
          <p:cNvPr id="8" name="Q head"/>
          <p:cNvSpPr/>
          <p:nvPr/>
        </p:nvSpPr>
        <p:spPr>
          <a:xfrm>
            <a:off x="5166360" y="1828800"/>
            <a:ext cx="25603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772400" y="1828800"/>
            <a:ext cx="41605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560320" cy="12070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What </a:t>
            </a:r>
            <a:r>
              <a:rPr lang="en-US" sz="1900" dirty="0" b="1">
                <a:solidFill>
                  <a:srgbClr val="1B2236"/>
                </a:solidFill>
                <a:latin typeface="Lexend Deca" pitchFamily="34" charset="0"/>
                <a:ea typeface="Lexend Deca" pitchFamily="34" charset="-122"/>
                <a:cs typeface="Lexend Deca" pitchFamily="34" charset="-120"/>
              </a:rPr>
              <a:t>will</a:t>
            </a:r>
            <a:r>
              <a:rPr lang="en-US" sz="1900" dirty="0" b="1">
                <a:solidFill>
                  <a:srgbClr val="1B2236"/>
                </a:solidFill>
                <a:latin typeface="Lexend Deca" pitchFamily="34" charset="0"/>
                <a:ea typeface="Lexend Deca" pitchFamily="34" charset="-122"/>
                <a:cs typeface="Lexend Deca" pitchFamily="34" charset="-120"/>
              </a:rPr>
              <a:t> you do first?</a:t>
            </a:r>
            <a:endParaRPr lang="en-US" sz="1900" dirty="0" b="1"/>
          </a:p>
        </p:txBody>
      </p:sp>
      <p:sp>
        <p:nvSpPr>
          <p:cNvPr id="19" name="Answer bg 1"/>
          <p:cNvSpPr/>
          <p:nvPr/>
        </p:nvSpPr>
        <p:spPr>
          <a:xfrm>
            <a:off x="7772400" y="2286000"/>
            <a:ext cx="416052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772400" y="2286000"/>
            <a:ext cx="416052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First, </a:t>
            </a:r>
            <a:r>
              <a:rPr lang="en-US" sz="1800" dirty="0" b="1">
                <a:solidFill>
                  <a:srgbClr val="1B2236"/>
                </a:solidFill>
                <a:latin typeface="Lexend Deca" pitchFamily="34" charset="0"/>
                <a:ea typeface="Lexend Deca" pitchFamily="34" charset="-122"/>
                <a:cs typeface="Lexend Deca" pitchFamily="34" charset="-120"/>
              </a:rPr>
              <a:t>I'll</a:t>
            </a:r>
            <a:r>
              <a:rPr lang="en-US" sz="1800" dirty="0" b="1">
                <a:solidFill>
                  <a:srgbClr val="1B2236"/>
                </a:solidFill>
                <a:latin typeface="Lexend Deca" pitchFamily="34" charset="0"/>
                <a:ea typeface="Lexend Deca" pitchFamily="34" charset="-122"/>
                <a:cs typeface="Lexend Deca" pitchFamily="34" charset="-120"/>
              </a:rPr>
              <a:t> ask about classes at the community college.</a:t>
            </a:r>
            <a:endParaRPr lang="en-US" sz="1800" dirty="0" b="1"/>
          </a:p>
        </p:txBody>
      </p:sp>
      <p:sp>
        <p:nvSpPr>
          <p:cNvPr id="21" name="Question 2"/>
          <p:cNvSpPr/>
          <p:nvPr/>
        </p:nvSpPr>
        <p:spPr>
          <a:xfrm>
            <a:off x="5138928" y="3566160"/>
            <a:ext cx="2560320" cy="12070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Can you call them?</a:t>
            </a:r>
            <a:endParaRPr lang="en-US" sz="1900" dirty="0" b="1"/>
          </a:p>
        </p:txBody>
      </p:sp>
      <p:sp>
        <p:nvSpPr>
          <p:cNvPr id="22" name="Answer bg 2"/>
          <p:cNvSpPr/>
          <p:nvPr/>
        </p:nvSpPr>
        <p:spPr>
          <a:xfrm>
            <a:off x="7772400" y="3566160"/>
            <a:ext cx="416052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772400" y="3566160"/>
            <a:ext cx="416052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OK, </a:t>
            </a:r>
            <a:r>
              <a:rPr lang="en-US" sz="1800" dirty="0" b="1">
                <a:solidFill>
                  <a:srgbClr val="1B2236"/>
                </a:solidFill>
                <a:latin typeface="Lexend Deca" pitchFamily="34" charset="0"/>
                <a:ea typeface="Lexend Deca" pitchFamily="34" charset="-122"/>
                <a:cs typeface="Lexend Deca" pitchFamily="34" charset="-120"/>
              </a:rPr>
              <a:t>I'll</a:t>
            </a:r>
            <a:r>
              <a:rPr lang="en-US" sz="1800" dirty="0" b="1">
                <a:solidFill>
                  <a:srgbClr val="1B2236"/>
                </a:solidFill>
                <a:latin typeface="Lexend Deca" pitchFamily="34" charset="0"/>
                <a:ea typeface="Lexend Deca" pitchFamily="34" charset="-122"/>
                <a:cs typeface="Lexend Deca" pitchFamily="34" charset="-120"/>
              </a:rPr>
              <a:t> call them tomorrow.</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areer: a briefcase and a chart going up"/>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Which one?</a:t>
            </a:r>
            <a:endParaRPr lang="en-US" sz="2800" dirty="0" b="1"/>
          </a:p>
        </p:txBody>
      </p:sp>
      <p:sp>
        <p:nvSpPr>
          <p:cNvPr id="8" name="Q head"/>
          <p:cNvSpPr/>
          <p:nvPr/>
        </p:nvSpPr>
        <p:spPr>
          <a:xfrm>
            <a:off x="5166360" y="1828800"/>
            <a:ext cx="21945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FORM</a:t>
            </a:r>
            <a:endParaRPr lang="en-US" sz="2000" dirty="0" b="1"/>
          </a:p>
        </p:txBody>
      </p:sp>
      <p:sp>
        <p:nvSpPr>
          <p:cNvPr id="11" name="A head"/>
          <p:cNvSpPr/>
          <p:nvPr/>
        </p:nvSpPr>
        <p:spPr>
          <a:xfrm>
            <a:off x="7406640" y="1828800"/>
            <a:ext cx="45262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MEANING  ·  EXAMPLE</a:t>
            </a:r>
            <a:endParaRPr lang="en-US" sz="2000" dirty="0" b="1"/>
          </a:p>
        </p:txBody>
      </p:sp>
      <p:sp>
        <p:nvSpPr>
          <p:cNvPr id="18" name="Question 1"/>
          <p:cNvSpPr/>
          <p:nvPr/>
        </p:nvSpPr>
        <p:spPr>
          <a:xfrm>
            <a:off x="5138928" y="2286000"/>
            <a:ext cx="21945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going to</a:t>
            </a:r>
            <a:endParaRPr lang="en-US" sz="1800" dirty="0" b="1"/>
          </a:p>
        </p:txBody>
      </p:sp>
      <p:sp>
        <p:nvSpPr>
          <p:cNvPr id="19" name="Answer bg 1"/>
          <p:cNvSpPr/>
          <p:nvPr/>
        </p:nvSpPr>
        <p:spPr>
          <a:xfrm>
            <a:off x="7406640" y="2286000"/>
            <a:ext cx="45262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406640" y="2286000"/>
            <a:ext cx="452628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already planned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I'm going to take a class in January.</a:t>
            </a:r>
            <a:endParaRPr lang="en-US" sz="1700" dirty="0" b="1"/>
          </a:p>
        </p:txBody>
      </p:sp>
      <p:sp>
        <p:nvSpPr>
          <p:cNvPr id="21" name="Question 2"/>
          <p:cNvSpPr/>
          <p:nvPr/>
        </p:nvSpPr>
        <p:spPr>
          <a:xfrm>
            <a:off x="5138928" y="3200400"/>
            <a:ext cx="21945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will</a:t>
            </a:r>
            <a:r>
              <a:rPr lang="en-US" sz="1800" dirty="0" b="1">
                <a:solidFill>
                  <a:srgbClr val="1B2236"/>
                </a:solidFill>
                <a:latin typeface="Lexend Deca" pitchFamily="34" charset="0"/>
                <a:ea typeface="Lexend Deca" pitchFamily="34" charset="-122"/>
                <a:cs typeface="Lexend Deca" pitchFamily="34" charset="-120"/>
              </a:rPr>
              <a:t> ('ll)</a:t>
            </a:r>
            <a:endParaRPr lang="en-US" sz="1800" dirty="0" b="1"/>
          </a:p>
        </p:txBody>
      </p:sp>
      <p:sp>
        <p:nvSpPr>
          <p:cNvPr id="22" name="Answer bg 2"/>
          <p:cNvSpPr/>
          <p:nvPr/>
        </p:nvSpPr>
        <p:spPr>
          <a:xfrm>
            <a:off x="7406640" y="3200400"/>
            <a:ext cx="45262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406640" y="3200400"/>
            <a:ext cx="452628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decided now, or a promise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OK, I'll call the college tomorrow.</a:t>
            </a:r>
            <a:endParaRPr lang="en-US" sz="1700" dirty="0" b="1"/>
          </a:p>
        </p:txBody>
      </p:sp>
      <p:sp>
        <p:nvSpPr>
          <p:cNvPr id="24" name="Question 3"/>
          <p:cNvSpPr/>
          <p:nvPr/>
        </p:nvSpPr>
        <p:spPr>
          <a:xfrm>
            <a:off x="5138928" y="4114800"/>
            <a:ext cx="21945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hope to</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I hope I'll</a:t>
            </a:r>
            <a:endParaRPr lang="en-US" sz="1800" dirty="0" b="1"/>
          </a:p>
        </p:txBody>
      </p:sp>
      <p:sp>
        <p:nvSpPr>
          <p:cNvPr id="25" name="Answer bg 3"/>
          <p:cNvSpPr/>
          <p:nvPr/>
        </p:nvSpPr>
        <p:spPr>
          <a:xfrm>
            <a:off x="7406640" y="4114800"/>
            <a:ext cx="45262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406640" y="4114800"/>
            <a:ext cx="452628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want it, but I'm not sure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hope to get a promotion.</a:t>
            </a:r>
            <a:endParaRPr lang="en-US" sz="1700" dirty="0" b="1"/>
          </a:p>
        </p:txBody>
      </p:sp>
      <p:sp>
        <p:nvSpPr>
          <p:cNvPr id="27" name="Question 4"/>
          <p:cNvSpPr/>
          <p:nvPr/>
        </p:nvSpPr>
        <p:spPr>
          <a:xfrm>
            <a:off x="5138928" y="5029200"/>
            <a:ext cx="21945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plan to / want to</a:t>
            </a:r>
            <a:endParaRPr lang="en-US" sz="1800" dirty="0" b="1"/>
          </a:p>
        </p:txBody>
      </p:sp>
      <p:sp>
        <p:nvSpPr>
          <p:cNvPr id="28" name="Answer bg 4"/>
          <p:cNvSpPr/>
          <p:nvPr/>
        </p:nvSpPr>
        <p:spPr>
          <a:xfrm>
            <a:off x="7406640" y="5029200"/>
            <a:ext cx="45262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406640" y="5029200"/>
            <a:ext cx="452628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idea for the future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plan to save money.</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word.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going to, 'll, hope to</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bought the books. I'm ____ start the class on Monday. (planned)</a:t>
            </a:r>
            <a:endParaRPr lang="en-US" sz="1600" dirty="0"/>
          </a:p>
        </p:txBody>
      </p:sp>
      <p:sp>
        <p:nvSpPr>
          <p:cNvPr id="35" name="R1 ans"/>
          <p:cNvSpPr/>
          <p:nvPr/>
        </p:nvSpPr>
        <p:spPr>
          <a:xfrm>
            <a:off x="6199632" y="252557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phone is ringing. I____ get it! (decided now)</a:t>
            </a:r>
            <a:endParaRPr lang="en-US" sz="1600" dirty="0"/>
          </a:p>
        </p:txBody>
      </p:sp>
      <p:sp>
        <p:nvSpPr>
          <p:cNvPr id="40" name="R2 ans"/>
          <p:cNvSpPr/>
          <p:nvPr/>
        </p:nvSpPr>
        <p:spPr>
          <a:xfrm>
            <a:off x="6199632" y="3311957"/>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____ get a promotion, but I'm not sure. (a hope)</a:t>
            </a:r>
            <a:endParaRPr lang="en-US" sz="1600" dirty="0"/>
          </a:p>
        </p:txBody>
      </p:sp>
      <p:sp>
        <p:nvSpPr>
          <p:cNvPr id="45" name="R3 ans"/>
          <p:cNvSpPr/>
          <p:nvPr/>
        </p:nvSpPr>
        <p:spPr>
          <a:xfrm>
            <a:off x="6199632" y="4098341"/>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hope to</a:t>
            </a:r>
            <a:endParaRPr lang="en-US" sz="20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She's ____ take the driving test in May. (planned)</a:t>
            </a:r>
            <a:endParaRPr lang="en-US" sz="1600" dirty="0"/>
          </a:p>
        </p:txBody>
      </p:sp>
      <p:sp>
        <p:nvSpPr>
          <p:cNvPr id="50" name="R4 ans"/>
          <p:cNvSpPr/>
          <p:nvPr/>
        </p:nvSpPr>
        <p:spPr>
          <a:xfrm>
            <a:off x="6199632" y="4884725"/>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Don't worry. I____ help you with your talk. (a promise)</a:t>
            </a:r>
            <a:endParaRPr lang="en-US" sz="1600" dirty="0"/>
          </a:p>
        </p:txBody>
      </p:sp>
      <p:sp>
        <p:nvSpPr>
          <p:cNvPr id="55" name="R5 ans"/>
          <p:cNvSpPr/>
          <p:nvPr/>
        </p:nvSpPr>
        <p:spPr>
          <a:xfrm>
            <a:off x="6199632" y="567110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right words.</a:t>
            </a:r>
            <a:endParaRPr lang="en-US" sz="2000" dirty="0"/>
          </a:p>
        </p:txBody>
      </p:sp>
      <p:sp>
        <p:nvSpPr>
          <p:cNvPr id="8" name="R1 stmt"/>
          <p:cNvSpPr/>
          <p:nvPr/>
        </p:nvSpPr>
        <p:spPr>
          <a:xfrm>
            <a:off x="502920" y="3108960"/>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1. I hope ____ my diploma.</a:t>
            </a:r>
            <a:endParaRPr lang="en-US" sz="2000" dirty="0"/>
          </a:p>
        </p:txBody>
      </p:sp>
      <p:sp>
        <p:nvSpPr>
          <p:cNvPr id="9" name="R1 opt1"/>
          <p:cNvSpPr/>
          <p:nvPr/>
        </p:nvSpPr>
        <p:spPr>
          <a:xfrm>
            <a:off x="726948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to get</a:t>
            </a:r>
            <a:endParaRPr lang="en-US" sz="1700" dirty="0" b="1"/>
          </a:p>
        </p:txBody>
      </p:sp>
      <p:sp>
        <p:nvSpPr>
          <p:cNvPr id="10" name="R1 opt2"/>
          <p:cNvSpPr/>
          <p:nvPr/>
        </p:nvSpPr>
        <p:spPr>
          <a:xfrm>
            <a:off x="923544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get</a:t>
            </a:r>
            <a:endParaRPr lang="en-US" sz="1700" dirty="0" b="1"/>
          </a:p>
        </p:txBody>
      </p:sp>
      <p:sp>
        <p:nvSpPr>
          <p:cNvPr id="11" name="R1 circle"/>
          <p:cNvSpPr/>
          <p:nvPr/>
        </p:nvSpPr>
        <p:spPr>
          <a:xfrm>
            <a:off x="7141464" y="3054096"/>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767328"/>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2. ____ call the college tomorrow.</a:t>
            </a:r>
            <a:endParaRPr lang="en-US" sz="2000" dirty="0"/>
          </a:p>
        </p:txBody>
      </p:sp>
      <p:sp>
        <p:nvSpPr>
          <p:cNvPr id="13" name="R2 opt1"/>
          <p:cNvSpPr/>
          <p:nvPr/>
        </p:nvSpPr>
        <p:spPr>
          <a:xfrm>
            <a:off x="726948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I'll</a:t>
            </a:r>
            <a:endParaRPr lang="en-US" sz="1700" dirty="0" b="1"/>
          </a:p>
        </p:txBody>
      </p:sp>
      <p:sp>
        <p:nvSpPr>
          <p:cNvPr id="14" name="R2 opt2"/>
          <p:cNvSpPr/>
          <p:nvPr/>
        </p:nvSpPr>
        <p:spPr>
          <a:xfrm>
            <a:off x="923544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I'll to</a:t>
            </a:r>
            <a:endParaRPr lang="en-US" sz="1700" dirty="0" b="1"/>
          </a:p>
        </p:txBody>
      </p:sp>
      <p:sp>
        <p:nvSpPr>
          <p:cNvPr id="15" name="R2 circle"/>
          <p:cNvSpPr/>
          <p:nvPr/>
        </p:nvSpPr>
        <p:spPr>
          <a:xfrm>
            <a:off x="7141464" y="3712464"/>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425696"/>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3. We're ____ open a small business.</a:t>
            </a:r>
            <a:endParaRPr lang="en-US" sz="2000" dirty="0"/>
          </a:p>
        </p:txBody>
      </p:sp>
      <p:sp>
        <p:nvSpPr>
          <p:cNvPr id="17" name="R3 opt1"/>
          <p:cNvSpPr/>
          <p:nvPr/>
        </p:nvSpPr>
        <p:spPr>
          <a:xfrm>
            <a:off x="726948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going to</a:t>
            </a:r>
            <a:endParaRPr lang="en-US" sz="1700" dirty="0" b="1"/>
          </a:p>
        </p:txBody>
      </p:sp>
      <p:sp>
        <p:nvSpPr>
          <p:cNvPr id="18" name="R3 opt2"/>
          <p:cNvSpPr/>
          <p:nvPr/>
        </p:nvSpPr>
        <p:spPr>
          <a:xfrm>
            <a:off x="923544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going</a:t>
            </a:r>
            <a:endParaRPr lang="en-US" sz="1700" dirty="0" b="1"/>
          </a:p>
        </p:txBody>
      </p:sp>
      <p:sp>
        <p:nvSpPr>
          <p:cNvPr id="19" name="R3 circle"/>
          <p:cNvSpPr/>
          <p:nvPr/>
        </p:nvSpPr>
        <p:spPr>
          <a:xfrm>
            <a:off x="7141464" y="4370832"/>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5084064"/>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4. I plan ____ money for a car.</a:t>
            </a:r>
            <a:endParaRPr lang="en-US" sz="2000" dirty="0"/>
          </a:p>
        </p:txBody>
      </p:sp>
      <p:sp>
        <p:nvSpPr>
          <p:cNvPr id="21" name="R4 opt1"/>
          <p:cNvSpPr/>
          <p:nvPr/>
        </p:nvSpPr>
        <p:spPr>
          <a:xfrm>
            <a:off x="726948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save</a:t>
            </a:r>
            <a:endParaRPr lang="en-US" sz="1700" dirty="0" b="1"/>
          </a:p>
        </p:txBody>
      </p:sp>
      <p:sp>
        <p:nvSpPr>
          <p:cNvPr id="22" name="R4 opt2"/>
          <p:cNvSpPr/>
          <p:nvPr/>
        </p:nvSpPr>
        <p:spPr>
          <a:xfrm>
            <a:off x="923544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to save</a:t>
            </a:r>
            <a:endParaRPr lang="en-US" sz="1700" dirty="0" b="1"/>
          </a:p>
        </p:txBody>
      </p:sp>
      <p:sp>
        <p:nvSpPr>
          <p:cNvPr id="23" name="R4 circle"/>
          <p:cNvSpPr/>
          <p:nvPr/>
        </p:nvSpPr>
        <p:spPr>
          <a:xfrm>
            <a:off x="9107424" y="5029200"/>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742432"/>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5. I hope ____ have a better job.</a:t>
            </a:r>
            <a:endParaRPr lang="en-US" sz="2000" dirty="0"/>
          </a:p>
        </p:txBody>
      </p:sp>
      <p:sp>
        <p:nvSpPr>
          <p:cNvPr id="25" name="R5 opt1"/>
          <p:cNvSpPr/>
          <p:nvPr/>
        </p:nvSpPr>
        <p:spPr>
          <a:xfrm>
            <a:off x="726948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I'll</a:t>
            </a:r>
            <a:endParaRPr lang="en-US" sz="1700" dirty="0" b="1"/>
          </a:p>
        </p:txBody>
      </p:sp>
      <p:sp>
        <p:nvSpPr>
          <p:cNvPr id="26" name="R5 opt2"/>
          <p:cNvSpPr/>
          <p:nvPr/>
        </p:nvSpPr>
        <p:spPr>
          <a:xfrm>
            <a:off x="923544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 will to</a:t>
            </a:r>
            <a:endParaRPr lang="en-US" sz="1700" dirty="0" b="1"/>
          </a:p>
        </p:txBody>
      </p:sp>
      <p:sp>
        <p:nvSpPr>
          <p:cNvPr id="27" name="R5 circle"/>
          <p:cNvSpPr/>
          <p:nvPr/>
        </p:nvSpPr>
        <p:spPr>
          <a:xfrm>
            <a:off x="7141464" y="5687568"/>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Save money: a money bag, an arrow, a bank"/>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hope get my diploma.</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hope </a:t>
            </a:r>
            <a:r>
              <a:rPr lang="en-US" sz="1700" dirty="0" b="1">
                <a:solidFill>
                  <a:srgbClr val="1B2236"/>
                </a:solidFill>
                <a:latin typeface="Lexend Deca" pitchFamily="34" charset="0"/>
                <a:ea typeface="Lexend Deca" pitchFamily="34" charset="-122"/>
                <a:cs typeface="Lexend Deca" pitchFamily="34" charset="-120"/>
              </a:rPr>
              <a:t>to get</a:t>
            </a:r>
            <a:r>
              <a:rPr lang="en-US" sz="1700" dirty="0" b="1">
                <a:solidFill>
                  <a:srgbClr val="1B2236"/>
                </a:solidFill>
                <a:latin typeface="Lexend Deca" pitchFamily="34" charset="0"/>
                <a:ea typeface="Lexend Deca" pitchFamily="34" charset="-122"/>
                <a:cs typeface="Lexend Deca" pitchFamily="34" charset="-120"/>
              </a:rPr>
              <a:t> my diploma.</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will to study English.</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will study</a:t>
            </a:r>
            <a:r>
              <a:rPr lang="en-US" sz="1700" dirty="0" b="1">
                <a:solidFill>
                  <a:srgbClr val="1B2236"/>
                </a:solidFill>
                <a:latin typeface="Lexend Deca" pitchFamily="34" charset="0"/>
                <a:ea typeface="Lexend Deca" pitchFamily="34" charset="-122"/>
                <a:cs typeface="Lexend Deca" pitchFamily="34" charset="-120"/>
              </a:rPr>
              <a:t> English.</a:t>
            </a:r>
            <a:endParaRPr lang="en-US" sz="1700" dirty="0" b="1"/>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I'm going to studying.</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I'm going to </a:t>
            </a:r>
            <a:r>
              <a:rPr lang="en-US" sz="1700" dirty="0" b="1">
                <a:solidFill>
                  <a:srgbClr val="1B2236"/>
                </a:solidFill>
                <a:latin typeface="Lexend Deca" pitchFamily="34" charset="0"/>
                <a:ea typeface="Lexend Deca" pitchFamily="34" charset="-122"/>
                <a:cs typeface="Lexend Deca" pitchFamily="34" charset="-120"/>
              </a:rPr>
              <a:t>study</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plan save money.</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plan </a:t>
            </a:r>
            <a:r>
              <a:rPr lang="en-US" sz="1700" dirty="0" b="1">
                <a:solidFill>
                  <a:srgbClr val="1B2236"/>
                </a:solidFill>
                <a:latin typeface="Lexend Deca" pitchFamily="34" charset="0"/>
                <a:ea typeface="Lexend Deca" pitchFamily="34" charset="-122"/>
                <a:cs typeface="Lexend Deca" pitchFamily="34" charset="-120"/>
              </a:rPr>
              <a:t>to save</a:t>
            </a:r>
            <a:r>
              <a:rPr lang="en-US" sz="1700" dirty="0" b="1">
                <a:solidFill>
                  <a:srgbClr val="1B2236"/>
                </a:solidFill>
                <a:latin typeface="Lexend Deca" pitchFamily="34" charset="0"/>
                <a:ea typeface="Lexend Deca" pitchFamily="34" charset="-122"/>
                <a:cs typeface="Lexend Deca" pitchFamily="34" charset="-120"/>
              </a:rPr>
              <a:t> money.</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Own business: a store and a sign &quot;OPEN&quot;"/>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 + hope to.</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What are you going to do next year?</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I'm going to save money. I hope to buy a car.</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Then switch roles.</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asks. B answers and adds one I hope to…</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The Goal Ladder: a drawn 3-step ladder: STEP 1 I'll…, STEP 2 I'm going to…, TOP I hope to…; a person and a star"/>
          <p:cNvPicPr>
            <a:picLocks noChangeAspect="1"/>
          </p:cNvPicPr>
          <p:nvPr/>
        </p:nvPicPr>
        <p:blipFill>
          <a:blip r:embed="rId3"/>
          <a:stretch>
            <a:fillRect/>
          </a:stretch>
        </p:blipFill>
        <p:spPr>
          <a:xfrm>
            <a:off x="855574" y="3418942"/>
            <a:ext cx="3623462"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Goal Ladder</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Choose one goal.</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Fill in your ladder, bottom to top.</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I'll… → I'm going to… → I hope to…</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Explain it to your partner.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First, I'll… Then I'm going to…</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Your partner asks 2 follow-up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When? Why? Who can help you?</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ommunity college: a school building and a sign &quot;COMMUNITY COLLEGE&quo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Talk Frame</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Then → Now → Next</a:t>
            </a:r>
            <a:endParaRPr lang="en-US" sz="2800" dirty="0" b="1"/>
          </a:p>
        </p:txBody>
      </p:sp>
      <p:sp>
        <p:nvSpPr>
          <p:cNvPr id="8" name="Q head"/>
          <p:cNvSpPr/>
          <p:nvPr/>
        </p:nvSpPr>
        <p:spPr>
          <a:xfrm>
            <a:off x="5166360" y="1828800"/>
            <a:ext cx="18288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PART</a:t>
            </a:r>
            <a:endParaRPr lang="en-US" sz="2000" dirty="0" b="1"/>
          </a:p>
        </p:txBody>
      </p:sp>
      <p:sp>
        <p:nvSpPr>
          <p:cNvPr id="11" name="A head"/>
          <p:cNvSpPr/>
          <p:nvPr/>
        </p:nvSpPr>
        <p:spPr>
          <a:xfrm>
            <a:off x="7040880" y="1828800"/>
            <a:ext cx="48920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8" name="Question 1"/>
          <p:cNvSpPr/>
          <p:nvPr/>
        </p:nvSpPr>
        <p:spPr>
          <a:xfrm>
            <a:off x="5138928" y="22860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Then</a:t>
            </a:r>
            <a:endParaRPr lang="en-US" sz="1800" dirty="0" b="1"/>
          </a:p>
        </p:txBody>
      </p:sp>
      <p:sp>
        <p:nvSpPr>
          <p:cNvPr id="19" name="Answer bg 1"/>
          <p:cNvSpPr/>
          <p:nvPr/>
        </p:nvSpPr>
        <p:spPr>
          <a:xfrm>
            <a:off x="7040880" y="22860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040880" y="22860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 years ago, I… / When I started this class, I…</a:t>
            </a:r>
            <a:endParaRPr lang="en-US" sz="1700" dirty="0" b="1"/>
          </a:p>
        </p:txBody>
      </p:sp>
      <p:sp>
        <p:nvSpPr>
          <p:cNvPr id="21" name="Question 2"/>
          <p:cNvSpPr/>
          <p:nvPr/>
        </p:nvSpPr>
        <p:spPr>
          <a:xfrm>
            <a:off x="5138928" y="29718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Now</a:t>
            </a:r>
            <a:endParaRPr lang="en-US" sz="1800" dirty="0" b="1"/>
          </a:p>
        </p:txBody>
      </p:sp>
      <p:sp>
        <p:nvSpPr>
          <p:cNvPr id="22" name="Answer bg 2"/>
          <p:cNvSpPr/>
          <p:nvPr/>
        </p:nvSpPr>
        <p:spPr>
          <a:xfrm>
            <a:off x="7040880" y="29718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040880" y="29718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Now I… / I can… in English.</a:t>
            </a:r>
            <a:endParaRPr lang="en-US" sz="1700" dirty="0" b="1"/>
          </a:p>
        </p:txBody>
      </p:sp>
      <p:sp>
        <p:nvSpPr>
          <p:cNvPr id="24" name="Question 3"/>
          <p:cNvSpPr/>
          <p:nvPr/>
        </p:nvSpPr>
        <p:spPr>
          <a:xfrm>
            <a:off x="5138928" y="36576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Next</a:t>
            </a:r>
            <a:endParaRPr lang="en-US" sz="1800" dirty="0" b="1"/>
          </a:p>
        </p:txBody>
      </p:sp>
      <p:sp>
        <p:nvSpPr>
          <p:cNvPr id="25" name="Answer bg 3"/>
          <p:cNvSpPr/>
          <p:nvPr/>
        </p:nvSpPr>
        <p:spPr>
          <a:xfrm>
            <a:off x="7040880" y="36576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040880" y="36576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main goal is to… / I'm going to… / I hope to…</a:t>
            </a:r>
            <a:endParaRPr lang="en-US" sz="1700" dirty="0" b="1"/>
          </a:p>
        </p:txBody>
      </p:sp>
      <p:sp>
        <p:nvSpPr>
          <p:cNvPr id="27" name="Question 4"/>
          <p:cNvSpPr/>
          <p:nvPr/>
        </p:nvSpPr>
        <p:spPr>
          <a:xfrm>
            <a:off x="5138928" y="43434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Why</a:t>
            </a:r>
            <a:endParaRPr lang="en-US" sz="1800" dirty="0" b="1"/>
          </a:p>
        </p:txBody>
      </p:sp>
      <p:sp>
        <p:nvSpPr>
          <p:cNvPr id="28" name="Answer bg 4"/>
          <p:cNvSpPr/>
          <p:nvPr/>
        </p:nvSpPr>
        <p:spPr>
          <a:xfrm>
            <a:off x="7040880" y="43434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040880" y="43434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…because… / …so…</a:t>
            </a:r>
            <a:endParaRPr lang="en-US" sz="1700" dirty="0" b="1"/>
          </a:p>
        </p:txBody>
      </p:sp>
      <p:sp>
        <p:nvSpPr>
          <p:cNvPr id="30" name="Question 5"/>
          <p:cNvSpPr/>
          <p:nvPr/>
        </p:nvSpPr>
        <p:spPr>
          <a:xfrm>
            <a:off x="5138928" y="50292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First step</a:t>
            </a:r>
            <a:endParaRPr lang="en-US" sz="1800" dirty="0" b="1"/>
          </a:p>
        </p:txBody>
      </p:sp>
      <p:sp>
        <p:nvSpPr>
          <p:cNvPr id="31" name="Answer bg 5"/>
          <p:cNvSpPr/>
          <p:nvPr/>
        </p:nvSpPr>
        <p:spPr>
          <a:xfrm>
            <a:off x="7040880" y="50292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7040880" y="50292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First, I'll…</a:t>
            </a:r>
            <a:endParaRPr lang="en-US" sz="1700" dirty="0" b="1"/>
          </a:p>
        </p:txBody>
      </p:sp>
      <p:sp>
        <p:nvSpPr>
          <p:cNvPr id="33" name="Question 6"/>
          <p:cNvSpPr/>
          <p:nvPr/>
        </p:nvSpPr>
        <p:spPr>
          <a:xfrm>
            <a:off x="5138928" y="57150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Thank you</a:t>
            </a:r>
            <a:endParaRPr lang="en-US" sz="1800" dirty="0" b="1"/>
          </a:p>
        </p:txBody>
      </p:sp>
      <p:sp>
        <p:nvSpPr>
          <p:cNvPr id="34" name="Answer bg 6"/>
          <p:cNvSpPr/>
          <p:nvPr/>
        </p:nvSpPr>
        <p:spPr>
          <a:xfrm>
            <a:off x="7040880" y="57150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7040880" y="57150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Thank you for listening.</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Diploma: a scroll and a graduation cap"/>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One with going to or hope to.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One with I'll and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First, I'll study the book, because the test is hard.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the sentence.</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Practice your talk 2 times.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Ask: What do you hope to do next year?</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something / no one.</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to graduation!</a:t>
            </a:r>
            <a:endParaRPr lang="en-US" sz="1700" dirty="0" b="1"/>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talk about a plan with going to.</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talk about hopes with hope to / I hope I'll.</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what I will do to reach a goal.</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give a 1–2 minute talk about my goals.</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1. </a:t>
            </a:r>
            <a:r>
              <a:rPr lang="en-US" sz="1500" dirty="0" b="0">
                <a:solidFill>
                  <a:srgbClr val="1B2236"/>
                </a:solidFill>
                <a:latin typeface="Lexend Deca" pitchFamily="34" charset="0"/>
                <a:ea typeface="Lexend Deca" pitchFamily="34" charset="-122"/>
                <a:cs typeface="Lexend Deca" pitchFamily="34" charset="-120"/>
              </a:rPr>
              <a:t>a. It's a plan.   b. It's a hope.</a:t>
            </a:r>
            <a:endParaRPr lang="en-US" sz="15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2. </a:t>
            </a:r>
            <a:r>
              <a:rPr lang="en-US" sz="1500" dirty="0" b="0">
                <a:solidFill>
                  <a:srgbClr val="1B2236"/>
                </a:solidFill>
                <a:latin typeface="Lexend Deca" pitchFamily="34" charset="0"/>
                <a:ea typeface="Lexend Deca" pitchFamily="34" charset="-122"/>
                <a:cs typeface="Lexend Deca" pitchFamily="34" charset="-120"/>
              </a:rPr>
              <a:t>a. It's a plan.   b. It's a hope.</a:t>
            </a:r>
            <a:endParaRPr lang="en-US" sz="15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3. </a:t>
            </a:r>
            <a:r>
              <a:rPr lang="en-US" sz="1500" dirty="0" b="0">
                <a:solidFill>
                  <a:srgbClr val="1B2236"/>
                </a:solidFill>
                <a:latin typeface="Lexend Deca" pitchFamily="34" charset="0"/>
                <a:ea typeface="Lexend Deca" pitchFamily="34" charset="-122"/>
                <a:cs typeface="Lexend Deca" pitchFamily="34" charset="-120"/>
              </a:rPr>
              <a:t>a. She planned it last week.   b. She decided now.</a:t>
            </a:r>
            <a:endParaRPr lang="en-US" sz="15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4. </a:t>
            </a:r>
            <a:r>
              <a:rPr lang="en-US" sz="1500" dirty="0" b="0">
                <a:solidFill>
                  <a:srgbClr val="1B2236"/>
                </a:solidFill>
                <a:latin typeface="Lexend Deca" pitchFamily="34" charset="0"/>
                <a:ea typeface="Lexend Deca" pitchFamily="34" charset="-122"/>
                <a:cs typeface="Lexend Deca" pitchFamily="34" charset="-120"/>
              </a:rPr>
              <a:t>a. It's a fixed plan.   b. It's a hope.</a:t>
            </a:r>
            <a:endParaRPr lang="en-US" sz="15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Career: a briefcase and a chart going up">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13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a plan with going to</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hopes with hope to</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 short talk about your goals</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Sofia and Mr. Novak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13: Where I'm Going</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