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4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86" r:id="rId21"/>
    <p:sldId id="287" r:id="rId32"/>
    <p:sldId id="288" r:id="rId19"/>
    <p:sldId id="289" r:id="rId15"/>
    <p:sldId id="290" r:id="rId9"/>
    <p:sldId id="291" r:id="rId4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slide" Target="slides/slide30.xml"/><Relationship Id="rId9" Type="http://schemas.openxmlformats.org/officeDocument/2006/relationships/slide" Target="slides/slide29.xml"/><Relationship Id="rId15" Type="http://schemas.openxmlformats.org/officeDocument/2006/relationships/slide" Target="slides/slide28.xml"/><Relationship Id="rId19" Type="http://schemas.openxmlformats.org/officeDocument/2006/relationships/slide" Target="slides/slide27.xml"/><Relationship Id="rId21" Type="http://schemas.openxmlformats.org/officeDocument/2006/relationships/slide" Target="slides/slide25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2, continued. Point to each picture and say the word. Learners repeat once.</a:t>
            </a:r>
          </a:p>
          <a:p>
            <a:r>
              <a:t>Act out shy (look down, speak very quietly: "…hi") and patient (wait calmly, smile, look at your watch).</a:t>
            </a:r>
          </a:p>
          <a:p>
            <a:r>
              <a:t>Learners say which column each word goes in: LOOKS or PERSONALITY. (All six words on this slide are PERSONALITY.)</a:t>
            </a:r>
          </a:p>
          <a:p>
            <a:r>
              <a:t>Partner game (2 min): A says a word. B points to the picture and makes a sentence (My brother is tall. / My teacher is patient. / A: curly hair. B: My sister has curly hair.). Switch.</a:t>
            </a:r>
          </a:p>
          <a:p>
            <a:r>
              <a:t>If behind: teach the ★ words only.</a:t>
            </a:r>
          </a:p>
          <a:p>
            <a:r>
              <a:t>Lesson plan: Step 2; New Words page; Partner game.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drawn bodies, glasses, speech bubbles,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 · 6:10–6:18 · New Words · 8 min (this slide and the next). Whole class, then pairs.</a:t>
            </a:r>
          </a:p>
          <a:p>
            <a:r>
              <a:t>Point to each picture and say the word. Learners repeat once. ★ = the most important words. Each click shows the next word.</a:t>
            </a:r>
          </a:p>
          <a:p>
            <a:r>
              <a:t>Use the class: "Who has glasses?" (learners with glasses raise a hand) • "Who has curly hair?"</a:t>
            </a:r>
          </a:p>
          <a:p>
            <a:r>
              <a:t>Two groups of words: draw two columns on the board: LOOKS (tall, short, curly hair, straight hair, beard, glasses) and PERSONALITY (friendly, shy, funny, hardworking, patient, quiet).</a:t>
            </a:r>
          </a:p>
          <a:p>
            <a:r>
              <a:t>If behind: teach the ★ words only.</a:t>
            </a:r>
          </a:p>
          <a:p>
            <a:r>
              <a:t>Lesson plan: Step 2; Key vocabulary; New Words page.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drawn bodies, glasses, speech bubbles,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1, continued. The four cards from the Opening Talk page. Each click shows the next card.</a:t>
            </a:r>
          </a:p>
          <a:p>
            <a:r>
              <a:t>A asks a card question. B answers with a reason. A asks one follow-up question (follow-ups on the right). Then switch.</a:t>
            </a:r>
          </a:p>
          <a:p>
            <a:r>
              <a:t>Homework Check (4 min, last click): partners compare Lesson 1 Homework item 1 (the because answers): "My partner's answer to Why are you learning English?" Walk around. Write 2 common errors on the board and correct them together. Correct only those 2.</a:t>
            </a:r>
          </a:p>
          <a:p>
            <a:r>
              <a:t>Lesson plan: Step 1; Opening Talk page: cards, follow-ups, homework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 · 6:00–6:10 · Opening Talk + Homework Check · 10 min. Pairs, the same partner for both parts. 15 learners: 7 pairs + 1 group of 3. 7–8 learners: 3–4 pairs.</a:t>
            </a:r>
          </a:p>
          <a:p>
            <a:r>
              <a:t>Before class, write on the board: Ask one follow-up question. Give a reason: because… / so…</a:t>
            </a:r>
          </a:p>
          <a:p>
            <a:r>
              <a:t>Model with one learner: "Why are you learning English?" → (answer) → "Really? Where do you use English?" (Click to show the follow-up.)</a:t>
            </a:r>
          </a:p>
          <a:p>
            <a:r>
              <a:t>Opening Talk (6 min): learners open the Opening Talk page. A asks a card question; B answers with a reason; A asks one follow-up. Switch after each card. The cards are on the next slide.</a:t>
            </a:r>
          </a:p>
          <a:p>
            <a:r>
              <a:t>Late arrivals join any pair as a group of 3. If behind: one card only, then the homework check.</a:t>
            </a:r>
          </a:p>
          <a:p>
            <a:r>
              <a:t>Lesson plan: Step 1; Opening Talk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drawn bodies, glasses, speech bubbles,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learners as they arrive.</a:t>
            </a:r>
          </a:p>
          <a:p>
            <a:r>
              <a:t>Point to the title and read it: "Who's who?" Say: "Tonight we describe people: how they look and what they are like."</a:t>
            </a:r>
          </a:p>
          <a:p>
            <a:r>
              <a:t>Read the three lines under "Today you will". Give one quick example of each: "She's tall. She has curly hair." (looks) • "He's friendly and funny." (personality) • "I work with her." (object pronoun).</a:t>
            </a:r>
          </a:p>
          <a:p>
            <a:r>
              <a:t>Kind words only: tonight we talk about hair, height, glasses, beards, clothes, and personality. Never weight, skin color, or age.</a:t>
            </a:r>
          </a:p>
          <a:p>
            <a:r>
              <a:t>Lesson plan: Topic; At a glance: Objectives; Teacher notes: Kind words only.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drawn bodies, glasses, speech bubbles,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each goal slowly. Learners repeat.</a:t>
            </a:r>
          </a:p>
          <a:p>
            <a:r>
              <a:t>Goal 1: height, hair, a beard, glasses, clothes (She's tall. She has curly hair.). Goal 2: personality (He's friendly and funny.).</a:t>
            </a:r>
          </a:p>
          <a:p>
            <a:r>
              <a:t>Goal 3: What does he look like? (looks) and What's he like? (personality). Goal 4: Which one is your sister? → The woman with long hair.</a:t>
            </a:r>
          </a:p>
          <a:p>
            <a:r>
              <a:t>Goal 5: object pronouns me, him, her, us, them (I work with her. She always helps me.). Goal 6: read a short welcome email and write 3–4 sentences about a friend or family member.</a:t>
            </a:r>
          </a:p>
          <a:p>
            <a:r>
              <a:t>"We check at 7:25" = the Progress Check. It is not a test grade.</a:t>
            </a:r>
          </a:p>
          <a:p>
            <a:r>
              <a:t>Lesson plan: At a glance: Objectives; Progress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 · Check meaning · 1 min. Whole class.</a:t>
            </a:r>
          </a:p>
          <a:p>
            <a:r>
              <a:t>The answers are hidden. Ask each question and wait for the class to answer. Then click to show the answer. Each click shows one answer, in order: 1, 2, 3.</a:t>
            </a:r>
          </a:p>
          <a:p>
            <a:r>
              <a:t>1. "Is a beard on your head or on your face?" (face) • 2. "A shy person talks a lot: yes or no?" (no) • 3. "A hardworking person works a little or a lot?" (a lot)</a:t>
            </a:r>
          </a:p>
          <a:p>
            <a:r>
              <a:t>Lesson plan: Step 2: Check meaning.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drawn bodies, glasses, speech bubbles,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3 · 6:18–6:30 · Listening + "Say it" · 12 min (slides 8 to 12). Individuals, then pairs check.</a:t>
            </a:r>
          </a:p>
          <a:p>
            <a:r>
              <a:t>Before you listen (1 min). Point to the picture and say: "It's Omar's first day at a hotel. His supervisor is Linda. She tells him about two coworkers, Kevin and Nora. Who is Kevin? Who is Nora? Listen."</a:t>
            </a:r>
          </a:p>
          <a:p>
            <a:r>
              <a:t>There are three voices: a Narrator, Linda, and Omar. Each click highlights the next voice.</a:t>
            </a:r>
          </a:p>
          <a:p>
            <a:r>
              <a:t>The audio (L3_L2_listening.mp3, about 1:28) plays the conversation once. Press play again for play 2. A third play is fine if the class needs it.</a:t>
            </a:r>
          </a:p>
          <a:p>
            <a:r>
              <a:t>No speaker? Read the script with a volunteer at a normal, friendly speed.</a:t>
            </a:r>
          </a:p>
          <a:p>
            <a:r>
              <a:t>Audio: synthetic voices, computer-generated (Chatterbox TTS cloned from Kokoro-82M reference clips). No recordings of real people. The names and the story are invented.</a:t>
            </a:r>
          </a:p>
          <a:p>
            <a:r>
              <a:t>Lesson plan: Step 3; Listening script; Listening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drawn bodies, glasses, speech bubbles,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1 → Task A. Learners write the letter of each person. Pairs compare. Check together.</a:t>
            </a:r>
          </a:p>
          <a:p>
            <a:r>
              <a:t>Click to circle each answer (one click per item, 1 to 3): Kevin a (tall, beard, glasses) • Nora b (short, long straight hair) • Sam c (curly hair). Person d is not in the conversation.</a:t>
            </a:r>
          </a:p>
          <a:p>
            <a:r>
              <a:t>Then read Tasks B and C together (1 min) so learners know what to listen for.</a:t>
            </a:r>
          </a:p>
          <a:p>
            <a:r>
              <a:t>Lesson plan: Step 3; Listening Task A; Answer key.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drawn bodies, glasses, speech bubbles,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2 → Tasks B and C. Pairs compare. Then show the answers.</a:t>
            </a:r>
          </a:p>
          <a:p>
            <a:r>
              <a:t>Click to circle each answer (one click per item, 1 to 6): 1 Kevin, 2 Kevin, 3 Nora, 4 Nora, 5 Nora, 6 Nora.</a:t>
            </a:r>
          </a:p>
          <a:p>
            <a:r>
              <a:t>Lesson plan: Step 3; Listening Task B;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Task C (same play 2 as Task B). Learners write him, her, or them. Pairs compare.</a:t>
            </a:r>
          </a:p>
          <a:p>
            <a:r>
              <a:t>Click to show each answer (one click per item, 1 to 5): 1 him, 2 her, her, 3 them, 4 them, 5 him.</a:t>
            </a:r>
          </a:p>
          <a:p>
            <a:r>
              <a:t>If behind: do Task C together on the board, reading the lines yourself.</a:t>
            </a:r>
          </a:p>
          <a:p>
            <a:r>
              <a:t>Lesson plan: Step 3; Listening Task C;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"Say it" (2 min). Read the words in the "Say it" box. Clap on the strong part: FRIENDly, HARDworking, PAtient, CURly, GLASSes.</a:t>
            </a:r>
          </a:p>
          <a:p>
            <a:r>
              <a:t>The class repeats each word twice, then the line "Everyone likes him."</a:t>
            </a:r>
          </a:p>
          <a:p>
            <a:r>
              <a:t>Lesson plan: Step 3: "Say it"; Listening page: Say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4 · 6:30–6:45 · Grammar Q&amp;A · 15 min (slides 13 to 21). Whole class, then pairs. Show the Grammar page. The left side is the question. The right side is the answer.</a:t>
            </a:r>
          </a:p>
          <a:p>
            <a:r>
              <a:t>Boxes 1 and 2 (4 min): write on the board: look like = LOOKS and be like = PERSONALITY. Ask about a picture on the New Words page: "What does he look like?" → "He's tall. He has a beard."</a:t>
            </a:r>
          </a:p>
          <a:p>
            <a:r>
              <a:t>Read across: A reads from the left side; B answers from the right side. Choose one part from each column. Each click shows the answer side of one row.</a:t>
            </a:r>
          </a:p>
          <a:p>
            <a:r>
              <a:t>Lesson plan: Step 4; Grammar Box 1.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drawn bodies, glasses, speech bubbles,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2: be like = PERSONALITY. Ask: "What's he like?" → "He's funny."</a:t>
            </a:r>
          </a:p>
          <a:p>
            <a:r>
              <a:t>Read across. Each click shows the answer side of one row.</a:t>
            </a:r>
          </a:p>
          <a:p>
            <a:r>
              <a:t>Check: "If the answer is about the body or clothes, the question is What does she look like? If it's about personality, it's What's she like?"</a:t>
            </a:r>
          </a:p>
          <a:p>
            <a:r>
              <a:t>Lesson plan: Step 4; Grammar Box 2; Teacher notes: look like vs. be like.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drawn bodies, glasses, speech bubbles,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3 (2 min): point to the picture (the people from the Listening page). Ask: "Which one is Nora?" → "The short woman with long, straight hair." Learners ask about Kevin and Sam.</a:t>
            </a:r>
          </a:p>
          <a:p>
            <a:r>
              <a:t>the + person + with + thing: the woman with glasses, the man with a beard. For clothes you can also say in: the man in the blue shirt.</a:t>
            </a:r>
          </a:p>
          <a:p>
            <a:r>
              <a:t>Each click shows the answer side of one row.</a:t>
            </a:r>
          </a:p>
          <a:p>
            <a:r>
              <a:t>Lesson plan: Step 4; Grammar Box 3; Questions and answers.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drawn bodies, glasses, speech bubbles,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4 (4 min): read the two columns: I → me, he → him, she → her, we → us, they → them.</a:t>
            </a:r>
          </a:p>
          <a:p>
            <a:r>
              <a:t>Say: "The second word comes after the verb or after with, to, for." Read each example; the class repeats. Each click shows one row.</a:t>
            </a:r>
          </a:p>
          <a:p>
            <a:r>
              <a:t>Check questions: "Do you know Ana? Yes, I know ___." (her) • "Ask Kevin. Ask ___." (him) • "What does she look ___?" (like) • "She has long ___." (hair, not hairs)</a:t>
            </a:r>
          </a:p>
          <a:p>
            <a:r>
              <a:t>Lesson plan: Step 4; Grammar Box 4.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drawn bodies, glasses, speech bubbles,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5: questions and answers with object pronouns. A reads a question; B reads the answer. Each click shows one answer.</a:t>
            </a:r>
          </a:p>
          <a:p>
            <a:r>
              <a:t>Object pronouns come after the verb (I know her) and after small words like with, to, for, at (Come with me. Look at him.).</a:t>
            </a:r>
          </a:p>
          <a:p>
            <a:r>
              <a:t>Lesson plan: Step 4; Grammar Box 5; Teacher notes: Object pronouns.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drawn bodies, glasses, speech bubbles,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A and B (3 min): learners write, then pairs check. Go over the answers.</a:t>
            </a:r>
          </a:p>
          <a:p>
            <a:r>
              <a:t>Click to show each answer (one click per item, 1 to 6): 1 her, 2 them, 3 him, 4 us, 5 me, 6 it.</a:t>
            </a:r>
          </a:p>
          <a:p>
            <a:r>
              <a:t>Lesson plan: Step 4; Grammar Practice A;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B. Learners write look like or like. Tip: look at the answer. Body or clothes = look like. Personality = like.</a:t>
            </a:r>
          </a:p>
          <a:p>
            <a:r>
              <a:t>Click to show each answer (one click per item, 1 to 4): 1 look like, 2 like, 3 like, 4 look like.</a:t>
            </a:r>
          </a:p>
          <a:p>
            <a:r>
              <a:t>Lesson plan: Step 4; Grammar Practice B; Answer key; Teacher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Common mistakes (never skip this table). Read a line from Don't say. Ask: "What's the right way?" Learners try first. Then click to show the right form. Each click shows one line, in order 1 to 7.</a:t>
            </a:r>
          </a:p>
          <a:p>
            <a:r>
              <a:t>1: hair has no -s • 2: personality = What's she like? (looks = What does she look like?) • 3: the describing word goes before the noun • 4: adjectives never take -s • 5: add the object (her) • 6: after with, use her • 7: He helps (add -s).</a:t>
            </a:r>
          </a:p>
          <a:p>
            <a:r>
              <a:t>Say the right form clearly; the learner repeats. Learners can read the Spanish note and the tip on their Grammar page themselves; you don't need to explain them.</a:t>
            </a:r>
          </a:p>
          <a:p>
            <a:r>
              <a:t>Lesson plan: Grammar: Common mistakes; Teacher notes: Typical mistakes.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drawn bodies, glasses, speech bubbles,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Pair drill (last 2 min of Step 4). Pairs.</a:t>
            </a:r>
          </a:p>
          <a:p>
            <a:r>
              <a:t>A names a person in the class (only names!). B describes how the person looks, and A asks What's he / she like? B answers only with kind words. Then switch.</a:t>
            </a:r>
          </a:p>
          <a:p>
            <a:r>
              <a:t>Real classmates: learners describe classmates only with the New Words. If a learner seems uncomfortable, describe people in the pictures instead.</a:t>
            </a:r>
          </a:p>
          <a:p>
            <a:r>
              <a:t>If behind: skip the pair drill. Talk Time practices it.</a:t>
            </a:r>
          </a:p>
          <a:p>
            <a:r>
              <a:t>Lesson plan: Step 4: Pair drill; Teacher notes: Kind words only, Real classmates.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drawn bodies, glasses, speech bubbles,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5 · 7:00–7:12 · Talk Time: Pick Them Up · 12 min. Pairs, then groups of 3. 15 learners: 7 pairs + 1 group of 3 (two people share the A cards). 7–8 learners: 3–4 pairs. 5 or fewer: one group; take turns describing.</a:t>
            </a:r>
          </a:p>
          <a:p>
            <a:r>
              <a:t>Round 1 (7 min): each pair has the crowd picture (people 1–12) and two piles of cards. A takes an A card and doesn't show it. A: "Can you pick up my cousin at the bus station?" B: "What does she look like?" A describes the person (height, hair, glasses or a beard, the shirt color). B points and says the number. A: "Yes, that's her!" or "No, she has glasses." Then B asks one follow-up: "What's she like?" A invents an answer. Switch: B takes a B card. (Each click shows the next step.)</a:t>
            </a:r>
          </a:p>
          <a:p>
            <a:r>
              <a:t>Model with one learner (1 min): card A1 (person 7) and the model dialogue: "She's tall, and she has long, straight hair and glasses. She's wearing a blue shirt." → "Is that her? Number 7?" → "Yes, that's her!" → "What's she like?" → "She's really friendly, but she's a little shy at first."</a:t>
            </a:r>
          </a:p>
          <a:p>
            <a:r>
              <a:t>Answers (the number B should point to): A1 Lisa = 7 • A2 Pedro = 8 • A3 Ana = 9 • A4 Tom = 6 • B1 Julia = 1 • B2 Mr. Park = 2 • B3 Rosa = 11 • B4 Leo = 10. The personality answers are invented.</a:t>
            </a:r>
          </a:p>
          <a:p>
            <a:r>
              <a:t>Round 2 (4 min): groups of 3. Each learner describes a person they admire, personality only, with one reason (My aunt is very patient, because she never gets angry.). The others ask one follow-up question each.</a:t>
            </a:r>
          </a:p>
          <a:p>
            <a:r>
              <a:t>Writing: after round 1, learners write 2 of the people they found in the table on the Talk Time page. Baseline snapshot: call about 5 learners (the ones you didn't talk to in Week 1) for 2 minutes each.</a:t>
            </a:r>
          </a:p>
          <a:p>
            <a:r>
              <a:t>If behind: round 1 only.</a:t>
            </a:r>
          </a:p>
          <a:p>
            <a:r>
              <a:t>Lesson plan: Step 5; Talk Time pages; Answer key.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drawn bodies, glasses, speech bubbles,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6 · 7:12–7:17 · Exit Ticket + Homework · 5 min · NEVER SKIP.</a:t>
            </a:r>
          </a:p>
          <a:p>
            <a:r>
              <a:t>Exit ticket: each learner writes two sentences on a slip about a friend or family member: one about how the person looks and one about what the person is like, with because or so (My brother is funny, so everyone likes him.). Collect at the door.</a:t>
            </a:r>
          </a:p>
          <a:p>
            <a:r>
              <a:t>Homework: open the Homework page. Do item 1 together (describe one person on the board with the class). Say: "About 15 minutes. Bring it next week."</a:t>
            </a:r>
          </a:p>
          <a:p>
            <a:r>
              <a:t>Homework items: 1 describe a friend or family member (2 sentences about looks, 2 about personality); 2 write him, her, us, or them; 3 ask a family member or friend "What was your favorite teacher like?" and one follow-up; 4 review (Lesson 1): write because or so.</a:t>
            </a:r>
          </a:p>
          <a:p>
            <a:r>
              <a:t>Read &amp; Write (7:17–7:25, on the Student Pages): a welcome email; questions 1–5; then 3–4 sentences about a friend or family member.</a:t>
            </a:r>
          </a:p>
          <a:p>
            <a:r>
              <a:t>Lesson plan: Step 6; Homework page; Read &amp; Write step.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drawn bodies, glasses, speech bubbles,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Progress Check · 7:25–7:30 · 5 min. Individuals. Open the Progress Check page.</a:t>
            </a:r>
          </a:p>
          <a:p>
            <a:r>
              <a:t>Part A: read each sentence slowly, 2 times. Learners circle a or b. Then click to show the answer (one click per item, 1 to 4).</a:t>
            </a:r>
          </a:p>
          <a:p>
            <a:r>
              <a:t>Say: 1 "My brother is tall, and he has a beard." (a) • 2 "My neighbor never gets angry. She's very patient." (b) • 3 "Which one is your sister? The woman with curly hair." (a) • 4 "What's your coworker like? He's funny and friendly." (b)</a:t>
            </a:r>
          </a:p>
          <a:p>
            <a:r>
              <a:t>Parts B and C: learners do them alone. Walk around and help with the instructions only. B answers: 1 look like, 2 him, 3 them, 4 us. C: answers will vary (for example She's short, and she has long hair. / She's very friendly.).</a:t>
            </a:r>
          </a:p>
          <a:p>
            <a:r>
              <a:t>Part D: read each "I can…" line aloud and point to the 3 faces: 😀 "I can do it." 🙂 "With a little help." 😐 "Not yet."</a:t>
            </a:r>
          </a:p>
          <a:p>
            <a:r>
              <a:t>Scoring: A /4 + B /4 + C /2 = /10. This is not a test grade. It shows who needs more help with look like / be like (A, B1, C) and with object pronouns (B2–B4).</a:t>
            </a:r>
          </a:p>
          <a:p>
            <a:r>
              <a:t>Collect the pages (or check them at the start of Week 3). If behind: do the Progress Check in Week 3 at 6:00, while learners arrive.</a:t>
            </a:r>
          </a:p>
          <a:p>
            <a:r>
              <a:t>Lesson plan: Progress Check step; Progress Check page;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title: "Goodbye! See you next week!" Learners repeat.</a:t>
            </a:r>
          </a:p>
          <a:p>
            <a:r>
              <a:t>Read the three "Now you can" lines. Point to one picture and ask: "What does he look like? What's he like?"</a:t>
            </a:r>
          </a:p>
          <a:p>
            <a:r>
              <a:t>Remind learners: homework is about 15 minutes. Bring it next week.</a:t>
            </a:r>
          </a:p>
          <a:p>
            <a:r>
              <a:t>Lesson plan: At a glance: Objectives; Step 6.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drawn bodies, glasses, speech bubbles,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Credits. You don't need to read this slide in class.</a:t>
            </a:r>
          </a:p>
          <a:p>
            <a:r>
              <a:t>Pictures: Twemoji graphics by Twitter, Inc. and other contributors, CC BY 4.0; the file-by-file list is in images/CREDITS.md.</a:t>
            </a:r>
          </a:p>
          <a:p>
            <a:r>
              <a:t>Audio: synthetic voices, computer-generated (Chatterbox TTS cloned from Kokoro-82M reference clips). No recordings of real people. The names and the story are invented.</a:t>
            </a:r>
          </a:p>
          <a:p>
            <a:r>
              <a:t>Course materials: © 2026 the authors, licensed under CC BY-NC-SA 4.0 (https://creativecommons.org/licenses/by-nc-sa/4.0/).</a:t>
            </a:r>
          </a:p>
          <a:p>
            <a:r>
              <a:t>Lesson plan: Picture Credits. Picture list: images/CREDITS.md.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2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1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Relationship Id="rId12" Type="http://schemas.openxmlformats.org/officeDocument/2006/relationships/image" Target="../media/image6.png"/><Relationship Id="rId13" Type="http://schemas.openxmlformats.org/officeDocument/2006/relationships/image" Target="../media/image7.png"/><Relationship Id="rId14" Type="http://schemas.openxmlformats.org/officeDocument/2006/relationships/notesSlide" Target="../notesSlides/notesSlide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1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notesSlide" Target="../notesSlides/notesSlide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6" Type="http://schemas.openxmlformats.org/officeDocument/2006/relationships/image" Target="../media/image8.png"/><Relationship Id="rId7" Type="http://schemas.openxmlformats.org/officeDocument/2006/relationships/image" Target="../media/image10.png"/><Relationship Id="rId8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tit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Friendly: smiling face + waving hand, bubble &quot;Hi! Welcome!&quot;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2  ·  Level 3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50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Who's Who?</a:t>
            </a:r>
            <a:endParaRPr lang="en-US" sz="50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 you will: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Describe how someone looks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Describe someone's personality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Use me, him, her, us, them</a:t>
            </a:r>
            <a:endParaRPr lang="en-US" sz="2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oal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Today's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Goals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By the end of class, you can do these six things.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 kind words only.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 check at 7:25!</a:t>
            </a:r>
            <a:endParaRPr lang="en-US" sz="2000" dirty="0" b="1"/>
          </a:p>
        </p:txBody>
      </p:sp>
      <p:sp>
        <p:nvSpPr>
          <p:cNvPr id="31" name="R1 shadow"/>
          <p:cNvSpPr/>
          <p:nvPr/>
        </p:nvSpPr>
        <p:spPr>
          <a:xfrm>
            <a:off x="544982" y="1383487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1325880"/>
            <a:ext cx="5130698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1325880"/>
            <a:ext cx="1039673" cy="98389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1494587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1393546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describe how someone looks.</a:t>
            </a:r>
            <a:endParaRPr lang="en-US" sz="1800" dirty="0" b="1"/>
          </a:p>
        </p:txBody>
      </p:sp>
      <p:sp>
        <p:nvSpPr>
          <p:cNvPr id="36" name="R1 sub"/>
          <p:cNvSpPr/>
          <p:nvPr/>
        </p:nvSpPr>
        <p:spPr>
          <a:xfrm>
            <a:off x="1901952" y="1795882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tall  ·  curly hair  ·  glasses</a:t>
            </a:r>
            <a:endParaRPr lang="en-US" sz="2000" dirty="0"/>
          </a:p>
        </p:txBody>
      </p:sp>
      <p:sp>
        <p:nvSpPr>
          <p:cNvPr id="37" name="R1 dot"/>
          <p:cNvSpPr/>
          <p:nvPr/>
        </p:nvSpPr>
        <p:spPr>
          <a:xfrm rot="10800000">
            <a:off x="6361481" y="145938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8" name="R2 card"/>
          <p:cNvSpPr/>
          <p:nvPr/>
        </p:nvSpPr>
        <p:spPr>
          <a:xfrm>
            <a:off x="1583741" y="241858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9" name="R2 chip"/>
          <p:cNvSpPr/>
          <p:nvPr/>
        </p:nvSpPr>
        <p:spPr>
          <a:xfrm>
            <a:off x="544982" y="2418588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0" name="R2 num"/>
          <p:cNvSpPr/>
          <p:nvPr/>
        </p:nvSpPr>
        <p:spPr>
          <a:xfrm>
            <a:off x="686714" y="2418588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1" name="R2 text"/>
          <p:cNvSpPr/>
          <p:nvPr/>
        </p:nvSpPr>
        <p:spPr>
          <a:xfrm>
            <a:off x="1810512" y="2418588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describe someone's personality.</a:t>
            </a:r>
            <a:endParaRPr lang="en-US" sz="1800" dirty="0"/>
          </a:p>
        </p:txBody>
      </p:sp>
      <p:sp>
        <p:nvSpPr>
          <p:cNvPr id="42" name="R2 dot"/>
          <p:cNvSpPr/>
          <p:nvPr/>
        </p:nvSpPr>
        <p:spPr>
          <a:xfrm rot="10800000">
            <a:off x="6361481" y="2552090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3" name="R3 card"/>
          <p:cNvSpPr/>
          <p:nvPr/>
        </p:nvSpPr>
        <p:spPr>
          <a:xfrm>
            <a:off x="1583741" y="3129991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4" name="R3 chip"/>
          <p:cNvSpPr/>
          <p:nvPr/>
        </p:nvSpPr>
        <p:spPr>
          <a:xfrm>
            <a:off x="544982" y="3129991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5" name="R3 num"/>
          <p:cNvSpPr/>
          <p:nvPr/>
        </p:nvSpPr>
        <p:spPr>
          <a:xfrm>
            <a:off x="686714" y="3129991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b="1" dirty="0"/>
          </a:p>
        </p:txBody>
      </p:sp>
      <p:sp>
        <p:nvSpPr>
          <p:cNvPr id="46" name="R3 text"/>
          <p:cNvSpPr/>
          <p:nvPr/>
        </p:nvSpPr>
        <p:spPr>
          <a:xfrm>
            <a:off x="1810512" y="3129991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ask What does he look like? and What's he like?</a:t>
            </a:r>
            <a:endParaRPr lang="en-US" sz="1800" dirty="0"/>
          </a:p>
        </p:txBody>
      </p:sp>
      <p:sp>
        <p:nvSpPr>
          <p:cNvPr id="47" name="R3 dot"/>
          <p:cNvSpPr/>
          <p:nvPr/>
        </p:nvSpPr>
        <p:spPr>
          <a:xfrm rot="10800000">
            <a:off x="6361481" y="3263494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8" name="R4 card"/>
          <p:cNvSpPr/>
          <p:nvPr/>
        </p:nvSpPr>
        <p:spPr>
          <a:xfrm>
            <a:off x="1583741" y="3841394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9" name="R4 chip"/>
          <p:cNvSpPr/>
          <p:nvPr/>
        </p:nvSpPr>
        <p:spPr>
          <a:xfrm>
            <a:off x="544982" y="3841394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0" name="R4 num"/>
          <p:cNvSpPr/>
          <p:nvPr/>
        </p:nvSpPr>
        <p:spPr>
          <a:xfrm>
            <a:off x="686714" y="3841394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b="1" dirty="0"/>
          </a:p>
        </p:txBody>
      </p:sp>
      <p:sp>
        <p:nvSpPr>
          <p:cNvPr id="51" name="R4 text"/>
          <p:cNvSpPr/>
          <p:nvPr/>
        </p:nvSpPr>
        <p:spPr>
          <a:xfrm>
            <a:off x="1810512" y="3841394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say which one: the woman with long hair.</a:t>
            </a:r>
            <a:endParaRPr lang="en-US" sz="1800" dirty="0"/>
          </a:p>
        </p:txBody>
      </p:sp>
      <p:sp>
        <p:nvSpPr>
          <p:cNvPr id="52" name="R4 dot"/>
          <p:cNvSpPr/>
          <p:nvPr/>
        </p:nvSpPr>
        <p:spPr>
          <a:xfrm rot="10800000">
            <a:off x="6361481" y="3974897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3" name="R5 card"/>
          <p:cNvSpPr/>
          <p:nvPr/>
        </p:nvSpPr>
        <p:spPr>
          <a:xfrm>
            <a:off x="1583741" y="455279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4" name="R5 chip"/>
          <p:cNvSpPr/>
          <p:nvPr/>
        </p:nvSpPr>
        <p:spPr>
          <a:xfrm>
            <a:off x="544982" y="4552798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5" name="R5 num"/>
          <p:cNvSpPr/>
          <p:nvPr/>
        </p:nvSpPr>
        <p:spPr>
          <a:xfrm>
            <a:off x="686714" y="4552798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05</a:t>
            </a:r>
            <a:endParaRPr lang="en-US" sz="3200" b="1" dirty="0"/>
          </a:p>
        </p:txBody>
      </p:sp>
      <p:sp>
        <p:nvSpPr>
          <p:cNvPr id="56" name="R5 text"/>
          <p:cNvSpPr/>
          <p:nvPr/>
        </p:nvSpPr>
        <p:spPr>
          <a:xfrm>
            <a:off x="1810512" y="4552798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use me, him, her, us, them.</a:t>
            </a:r>
            <a:endParaRPr lang="en-US" sz="1800" dirty="0"/>
          </a:p>
        </p:txBody>
      </p:sp>
      <p:sp>
        <p:nvSpPr>
          <p:cNvPr id="57" name="R5 dot"/>
          <p:cNvSpPr/>
          <p:nvPr/>
        </p:nvSpPr>
        <p:spPr>
          <a:xfrm rot="10800000">
            <a:off x="6361481" y="4686300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8" name="R6 card"/>
          <p:cNvSpPr/>
          <p:nvPr/>
        </p:nvSpPr>
        <p:spPr>
          <a:xfrm>
            <a:off x="1583741" y="5264201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9" name="R6 chip"/>
          <p:cNvSpPr/>
          <p:nvPr/>
        </p:nvSpPr>
        <p:spPr>
          <a:xfrm>
            <a:off x="544982" y="5264201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0" name="R6 num"/>
          <p:cNvSpPr/>
          <p:nvPr/>
        </p:nvSpPr>
        <p:spPr>
          <a:xfrm>
            <a:off x="686714" y="5264201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06</a:t>
            </a:r>
            <a:endParaRPr lang="en-US" sz="3200" b="1" dirty="0"/>
          </a:p>
        </p:txBody>
      </p:sp>
      <p:sp>
        <p:nvSpPr>
          <p:cNvPr id="61" name="R6 text"/>
          <p:cNvSpPr/>
          <p:nvPr/>
        </p:nvSpPr>
        <p:spPr>
          <a:xfrm>
            <a:off x="1810512" y="5264201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write about a friend.</a:t>
            </a:r>
            <a:endParaRPr lang="en-US" sz="2000" dirty="0"/>
          </a:p>
        </p:txBody>
      </p:sp>
      <p:sp>
        <p:nvSpPr>
          <p:cNvPr id="62" name="R6 dot"/>
          <p:cNvSpPr/>
          <p:nvPr/>
        </p:nvSpPr>
        <p:spPr>
          <a:xfrm rot="10800000">
            <a:off x="6361481" y="5397703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warmup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87604" y="1352535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8465" y="1300277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H="1">
            <a:off x="5503774" y="3276295"/>
            <a:ext cx="6847942" cy="3931006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5" name="pic" descr="Friendly: smiling face + waving hand, bubble &quot;Hi! Welcome!&quot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393" y="1828800"/>
            <a:ext cx="4754880" cy="3328416"/>
          </a:xfrm>
          <a:prstGeom prst="rect">
            <a:avLst/>
          </a:prstGeom>
        </p:spPr>
      </p:pic>
      <p:sp>
        <p:nvSpPr>
          <p:cNvPr id="7" name="title"/>
          <p:cNvSpPr/>
          <p:nvPr/>
        </p:nvSpPr>
        <p:spPr>
          <a:xfrm>
            <a:off x="548640" y="1764792"/>
            <a:ext cx="5120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</p:txBody>
      </p:sp>
      <p:sp>
        <p:nvSpPr>
          <p:cNvPr id="8" name="kicker"/>
          <p:cNvSpPr/>
          <p:nvPr/>
        </p:nvSpPr>
        <p:spPr>
          <a:xfrm>
            <a:off x="599846" y="13716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  ·  6:00</a:t>
            </a:r>
            <a:endParaRPr lang="en-US" sz="2000" dirty="0" b="1"/>
          </a:p>
        </p:txBody>
      </p:sp>
      <p:sp>
        <p:nvSpPr>
          <p:cNvPr id="9" name="box1"/>
          <p:cNvSpPr/>
          <p:nvPr/>
        </p:nvSpPr>
        <p:spPr>
          <a:xfrm>
            <a:off x="599846" y="33832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 a card question.</a:t>
            </a:r>
            <a:endParaRPr lang="en-US" sz="2200" dirty="0" b="1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Why are you learning English?</a:t>
            </a:r>
            <a:endParaRPr lang="en-US" sz="2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answers with a reason.</a:t>
            </a:r>
            <a:endParaRPr lang="en-US" sz="2200" dirty="0" b="1"/>
          </a:p>
        </p:txBody>
      </p:sp>
      <p:sp>
        <p:nvSpPr>
          <p:cNvPr id="14" name="box2"/>
          <p:cNvSpPr/>
          <p:nvPr/>
        </p:nvSpPr>
        <p:spPr>
          <a:xfrm>
            <a:off x="599846" y="475488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 one follow-up.</a:t>
            </a:r>
            <a:endParaRPr lang="en-US" sz="22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Really? Where do you use English?</a:t>
            </a:r>
            <a:endParaRPr lang="en-US" sz="2200" dirty="0" b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switch.</a:t>
            </a:r>
            <a:endParaRPr lang="en-US" sz="22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numlist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Cards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 with a partner. Then switch.</a:t>
            </a:r>
            <a:endParaRPr lang="en-US" sz="18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Follow-ups:</a:t>
            </a:r>
            <a:endParaRPr lang="en-US" sz="1800" dirty="0" b="1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Really? Why? What happened? How was it? Where? Who with? What about you?</a:t>
            </a:r>
            <a:endParaRPr lang="en-US" sz="1800" dirty="0" b="1"/>
          </a:p>
        </p:txBody>
      </p:sp>
      <p:sp>
        <p:nvSpPr>
          <p:cNvPr id="31" name="R1 shadow"/>
          <p:cNvSpPr/>
          <p:nvPr/>
        </p:nvSpPr>
        <p:spPr>
          <a:xfrm>
            <a:off x="544982" y="2471623"/>
            <a:ext cx="6227064" cy="60259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241401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241401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241401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241401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Why are you learning English?</a:t>
            </a:r>
            <a:endParaRPr lang="en-US" sz="2000" dirty="0"/>
          </a:p>
        </p:txBody>
      </p:sp>
      <p:sp>
        <p:nvSpPr>
          <p:cNvPr id="36" name="R1 dot"/>
          <p:cNvSpPr/>
          <p:nvPr/>
        </p:nvSpPr>
        <p:spPr>
          <a:xfrm rot="10800000">
            <a:off x="6361481" y="254751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7" name="R2 card"/>
          <p:cNvSpPr/>
          <p:nvPr/>
        </p:nvSpPr>
        <p:spPr>
          <a:xfrm>
            <a:off x="1583741" y="3125419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R2 chip"/>
          <p:cNvSpPr/>
          <p:nvPr/>
        </p:nvSpPr>
        <p:spPr>
          <a:xfrm>
            <a:off x="544982" y="3125419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9" name="R2 num"/>
          <p:cNvSpPr/>
          <p:nvPr/>
        </p:nvSpPr>
        <p:spPr>
          <a:xfrm>
            <a:off x="686714" y="3125419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0" name="R2 text"/>
          <p:cNvSpPr/>
          <p:nvPr/>
        </p:nvSpPr>
        <p:spPr>
          <a:xfrm>
            <a:off x="1810512" y="3125419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did you do last weekend?</a:t>
            </a:r>
            <a:endParaRPr lang="en-US" sz="2000" dirty="0"/>
          </a:p>
        </p:txBody>
      </p:sp>
      <p:sp>
        <p:nvSpPr>
          <p:cNvPr id="41" name="R2 dot"/>
          <p:cNvSpPr/>
          <p:nvPr/>
        </p:nvSpPr>
        <p:spPr>
          <a:xfrm rot="10800000">
            <a:off x="6361481" y="325892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2" name="R3 card"/>
          <p:cNvSpPr/>
          <p:nvPr/>
        </p:nvSpPr>
        <p:spPr>
          <a:xfrm>
            <a:off x="1583741" y="3836822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" name="R3 chip"/>
          <p:cNvSpPr/>
          <p:nvPr/>
        </p:nvSpPr>
        <p:spPr>
          <a:xfrm>
            <a:off x="544982" y="3836822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4" name="R3 num"/>
          <p:cNvSpPr/>
          <p:nvPr/>
        </p:nvSpPr>
        <p:spPr>
          <a:xfrm>
            <a:off x="686714" y="3836822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b="1" dirty="0"/>
          </a:p>
        </p:txBody>
      </p:sp>
      <p:sp>
        <p:nvSpPr>
          <p:cNvPr id="45" name="R3 text"/>
          <p:cNvSpPr/>
          <p:nvPr/>
        </p:nvSpPr>
        <p:spPr>
          <a:xfrm>
            <a:off x="1810512" y="3836822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Tell me about a neighbor or a coworker.</a:t>
            </a:r>
            <a:endParaRPr lang="en-US" sz="1800" dirty="0"/>
          </a:p>
        </p:txBody>
      </p:sp>
      <p:sp>
        <p:nvSpPr>
          <p:cNvPr id="46" name="R3 dot"/>
          <p:cNvSpPr/>
          <p:nvPr/>
        </p:nvSpPr>
        <p:spPr>
          <a:xfrm rot="10800000">
            <a:off x="6361481" y="3970325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7" name="R4 card"/>
          <p:cNvSpPr/>
          <p:nvPr/>
        </p:nvSpPr>
        <p:spPr>
          <a:xfrm>
            <a:off x="1583741" y="454822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R4 chip"/>
          <p:cNvSpPr/>
          <p:nvPr/>
        </p:nvSpPr>
        <p:spPr>
          <a:xfrm>
            <a:off x="544982" y="454822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9" name="R4 num"/>
          <p:cNvSpPr/>
          <p:nvPr/>
        </p:nvSpPr>
        <p:spPr>
          <a:xfrm>
            <a:off x="686714" y="454822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b="1" dirty="0"/>
          </a:p>
        </p:txBody>
      </p:sp>
      <p:sp>
        <p:nvSpPr>
          <p:cNvPr id="50" name="R4 text"/>
          <p:cNvSpPr/>
          <p:nvPr/>
        </p:nvSpPr>
        <p:spPr>
          <a:xfrm>
            <a:off x="1810512" y="454822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are you going to do this weekend? Why?</a:t>
            </a:r>
            <a:endParaRPr lang="en-US" sz="1800" dirty="0"/>
          </a:p>
        </p:txBody>
      </p:sp>
      <p:sp>
        <p:nvSpPr>
          <p:cNvPr id="51" name="R4 dot"/>
          <p:cNvSpPr/>
          <p:nvPr/>
        </p:nvSpPr>
        <p:spPr>
          <a:xfrm rot="10800000">
            <a:off x="6361481" y="468172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2" name="R5 card"/>
          <p:cNvSpPr/>
          <p:nvPr/>
        </p:nvSpPr>
        <p:spPr>
          <a:xfrm>
            <a:off x="1583741" y="5259629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" name="R5 chip"/>
          <p:cNvSpPr/>
          <p:nvPr/>
        </p:nvSpPr>
        <p:spPr>
          <a:xfrm>
            <a:off x="544982" y="5259629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4" name="R5 num"/>
          <p:cNvSpPr/>
          <p:nvPr/>
        </p:nvSpPr>
        <p:spPr>
          <a:xfrm>
            <a:off x="686714" y="5259629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05</a:t>
            </a:r>
            <a:endParaRPr lang="en-US" sz="3200" b="1" dirty="0"/>
          </a:p>
        </p:txBody>
      </p:sp>
      <p:sp>
        <p:nvSpPr>
          <p:cNvPr id="55" name="R5 text"/>
          <p:cNvSpPr/>
          <p:nvPr/>
        </p:nvSpPr>
        <p:spPr>
          <a:xfrm>
            <a:off x="1810512" y="5259629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 check: Lesson 1, item 1.</a:t>
            </a:r>
            <a:endParaRPr lang="en-US" sz="1800" dirty="0"/>
          </a:p>
        </p:txBody>
      </p:sp>
      <p:sp>
        <p:nvSpPr>
          <p:cNvPr id="56" name="R5 dot"/>
          <p:cNvSpPr/>
          <p:nvPr/>
        </p:nvSpPr>
        <p:spPr>
          <a:xfrm rot="10800000">
            <a:off x="6361481" y="5393131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Look. Listen.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Repeat.</a:t>
            </a:r>
            <a:endParaRPr lang="en-US" sz="2200" dirty="0" b="1"/>
          </a:p>
        </p:txBody>
      </p:sp>
      <p:pic>
        <p:nvPicPr>
          <p:cNvPr id="17" name="Word picture 1" descr="Tall: a tall person next to a person of average height; height arrow and label &quot;tall&quot;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tall</a:t>
            </a:r>
            <a:endParaRPr lang="en-US" sz="2000" dirty="0" b="1"/>
          </a:p>
        </p:txBody>
      </p:sp>
      <p:pic>
        <p:nvPicPr>
          <p:cNvPr id="19" name="Word picture 2" descr="Short: a person of average height next to a short person; height arrow and label &quot;short&quot;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short</a:t>
            </a:r>
            <a:endParaRPr lang="en-US" sz="2000" dirty="0" b="1"/>
          </a:p>
        </p:txBody>
      </p:sp>
      <p:pic>
        <p:nvPicPr>
          <p:cNvPr id="21" name="Word picture 3" descr="Curly hair: a woman and a man with curly hair, label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curly hair</a:t>
            </a:r>
            <a:endParaRPr lang="en-US" sz="2000" dirty="0" b="1"/>
          </a:p>
        </p:txBody>
      </p:sp>
      <p:pic>
        <p:nvPicPr>
          <p:cNvPr id="23" name="Word picture 4" descr="Straight hair: a woman and a man with straight hair, label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straight hair</a:t>
            </a:r>
            <a:endParaRPr lang="en-US" sz="2000" dirty="0" b="1"/>
          </a:p>
        </p:txBody>
      </p:sp>
      <p:pic>
        <p:nvPicPr>
          <p:cNvPr id="25" name="Word picture 5" descr="Beard: a man with a beard, label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beard</a:t>
            </a:r>
            <a:endParaRPr lang="en-US" sz="2000" dirty="0" b="1"/>
          </a:p>
        </p:txBody>
      </p:sp>
      <p:pic>
        <p:nvPicPr>
          <p:cNvPr id="27" name="Word picture 6" descr="Glasses: a pair of glasses + a woman wearing glasses, label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glasses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More 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Partner game: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says. B points.</a:t>
            </a:r>
            <a:endParaRPr lang="en-US" sz="2200" dirty="0" b="1"/>
          </a:p>
        </p:txBody>
      </p:sp>
      <p:pic>
        <p:nvPicPr>
          <p:cNvPr id="17" name="Word picture 1" descr="Friendly: smiling face + waving hand, bubble &quot;Hi! Welcome!&quot;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friendly</a:t>
            </a:r>
            <a:endParaRPr lang="en-US" sz="2000" dirty="0" b="1"/>
          </a:p>
        </p:txBody>
      </p:sp>
      <p:pic>
        <p:nvPicPr>
          <p:cNvPr id="19" name="Word picture 2" descr="Shy: a face peeking from behind its hand answers a quiet &quot;...hi&quot; to a person saying &quot;Hi!&quot;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shy</a:t>
            </a:r>
            <a:endParaRPr lang="en-US" sz="2000" dirty="0" b="1"/>
          </a:p>
        </p:txBody>
      </p:sp>
      <p:pic>
        <p:nvPicPr>
          <p:cNvPr id="21" name="Word picture 3" descr="Funny: a joking face and two laughing faces, bubble &quot;Ha ha ha!&quot;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funny</a:t>
            </a:r>
            <a:endParaRPr lang="en-US" sz="2000" dirty="0" b="1"/>
          </a:p>
        </p:txBody>
      </p:sp>
      <p:pic>
        <p:nvPicPr>
          <p:cNvPr id="23" name="Word picture 4" descr="Hardworking: a woman worker, a box and a strong arm, label &quot;works hard&quot;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hardworking</a:t>
            </a:r>
            <a:endParaRPr lang="en-US" sz="2000" dirty="0" b="1"/>
          </a:p>
        </p:txBody>
      </p:sp>
      <p:pic>
        <p:nvPicPr>
          <p:cNvPr id="25" name="Word picture 5" descr="Patient: a calm face + an hourglass, &quot;30 min&quot;, label &quot;waits calmly&quot;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patient</a:t>
            </a:r>
            <a:endParaRPr lang="en-US" sz="2000" dirty="0" b="1"/>
          </a:p>
        </p:txBody>
      </p:sp>
      <p:pic>
        <p:nvPicPr>
          <p:cNvPr id="27" name="Word picture 6" descr="Quiet: a face saying &quot;shh&quot; + an open book, label &quot;doesn't talk much&quot;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quiet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chec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the Meaning</a:t>
            </a:r>
            <a:endParaRPr lang="en-US" sz="4300" dirty="0" b="1"/>
          </a:p>
        </p:txBody>
      </p:sp>
      <p:sp>
        <p:nvSpPr>
          <p:cNvPr id="3" name="sub"/>
          <p:cNvSpPr/>
          <p:nvPr/>
        </p:nvSpPr>
        <p:spPr>
          <a:xfrm>
            <a:off x="685800" y="15544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 at the picture. Answer the question.</a:t>
            </a:r>
            <a:endParaRPr lang="en-US" sz="2400" dirty="0"/>
          </a:p>
        </p:txBody>
      </p:sp>
      <p:sp>
        <p:nvSpPr>
          <p:cNvPr id="4" name="R1 shadow"/>
          <p:cNvSpPr/>
          <p:nvPr/>
        </p:nvSpPr>
        <p:spPr>
          <a:xfrm>
            <a:off x="7589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R1 card"/>
          <p:cNvSpPr/>
          <p:nvPr/>
        </p:nvSpPr>
        <p:spPr>
          <a:xfrm>
            <a:off x="6858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6" name="R1 circle"/>
          <p:cNvSpPr/>
          <p:nvPr/>
        </p:nvSpPr>
        <p:spPr>
          <a:xfrm>
            <a:off x="9601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7" name="R1 num"/>
          <p:cNvSpPr/>
          <p:nvPr/>
        </p:nvSpPr>
        <p:spPr>
          <a:xfrm>
            <a:off x="9601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500" dirty="0"/>
          </a:p>
        </p:txBody>
      </p:sp>
      <p:sp>
        <p:nvSpPr>
          <p:cNvPr id="8" name="R1 q"/>
          <p:cNvSpPr/>
          <p:nvPr/>
        </p:nvSpPr>
        <p:spPr>
          <a:xfrm>
            <a:off x="9601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a beard on your head or on your face?</a:t>
            </a:r>
            <a:endParaRPr lang="en-US" sz="1800" dirty="0" b="1"/>
          </a:p>
        </p:txBody>
      </p:sp>
      <p:pic>
        <p:nvPicPr>
          <p:cNvPr id="101" name="R1 pic" descr="Beard: a man with a beard, labe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3080" y="2560320"/>
            <a:ext cx="1920240" cy="1344168"/>
          </a:xfrm>
          <a:prstGeom prst="rect">
            <a:avLst/>
          </a:prstGeom>
        </p:spPr>
      </p:pic>
      <p:sp>
        <p:nvSpPr>
          <p:cNvPr id="10" name="R2 shadow"/>
          <p:cNvSpPr/>
          <p:nvPr/>
        </p:nvSpPr>
        <p:spPr>
          <a:xfrm>
            <a:off x="44165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R2 card"/>
          <p:cNvSpPr/>
          <p:nvPr/>
        </p:nvSpPr>
        <p:spPr>
          <a:xfrm>
            <a:off x="43434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C9B8F2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2" name="R2 circle"/>
          <p:cNvSpPr/>
          <p:nvPr/>
        </p:nvSpPr>
        <p:spPr>
          <a:xfrm>
            <a:off x="46177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R2 num"/>
          <p:cNvSpPr/>
          <p:nvPr/>
        </p:nvSpPr>
        <p:spPr>
          <a:xfrm>
            <a:off x="46177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500" dirty="0"/>
          </a:p>
        </p:txBody>
      </p:sp>
      <p:sp>
        <p:nvSpPr>
          <p:cNvPr id="14" name="R2 q"/>
          <p:cNvSpPr/>
          <p:nvPr/>
        </p:nvSpPr>
        <p:spPr>
          <a:xfrm>
            <a:off x="46177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shy person talks a lot: yes or no?</a:t>
            </a:r>
            <a:endParaRPr lang="en-US" sz="1800" dirty="0" b="1"/>
          </a:p>
        </p:txBody>
      </p:sp>
      <p:pic>
        <p:nvPicPr>
          <p:cNvPr id="102" name="R2 pic" descr="Shy: a face peeking from behind its hand answers a quiet &quot;...hi&quot; to a person saying &quot;Hi!&quot;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680" y="2560320"/>
            <a:ext cx="1920240" cy="1344168"/>
          </a:xfrm>
          <a:prstGeom prst="rect">
            <a:avLst/>
          </a:prstGeom>
        </p:spPr>
      </p:pic>
      <p:sp>
        <p:nvSpPr>
          <p:cNvPr id="16" name="R3 shadow"/>
          <p:cNvSpPr/>
          <p:nvPr/>
        </p:nvSpPr>
        <p:spPr>
          <a:xfrm>
            <a:off x="80741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7" name="R3 card"/>
          <p:cNvSpPr/>
          <p:nvPr/>
        </p:nvSpPr>
        <p:spPr>
          <a:xfrm>
            <a:off x="80010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8" name="R3 circle"/>
          <p:cNvSpPr/>
          <p:nvPr/>
        </p:nvSpPr>
        <p:spPr>
          <a:xfrm>
            <a:off x="82753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9" name="R3 num"/>
          <p:cNvSpPr/>
          <p:nvPr/>
        </p:nvSpPr>
        <p:spPr>
          <a:xfrm>
            <a:off x="82753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500" dirty="0"/>
          </a:p>
        </p:txBody>
      </p:sp>
      <p:sp>
        <p:nvSpPr>
          <p:cNvPr id="20" name="R3 q"/>
          <p:cNvSpPr/>
          <p:nvPr/>
        </p:nvSpPr>
        <p:spPr>
          <a:xfrm>
            <a:off x="82753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hardworking person works a little or a lot?</a:t>
            </a:r>
            <a:endParaRPr lang="en-US" sz="1800" dirty="0" b="1"/>
          </a:p>
        </p:txBody>
      </p:sp>
      <p:pic>
        <p:nvPicPr>
          <p:cNvPr id="103" name="R3 pic" descr="Hardworking: a woman worker, a box and a strong arm, label &quot;works hard&quot;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8280" y="2560320"/>
            <a:ext cx="1920240" cy="1344168"/>
          </a:xfrm>
          <a:prstGeom prst="rect">
            <a:avLst/>
          </a:prstGeom>
        </p:spPr>
      </p:pic>
      <p:sp>
        <p:nvSpPr>
          <p:cNvPr id="25" name="R1 ans"/>
          <p:cNvSpPr/>
          <p:nvPr/>
        </p:nvSpPr>
        <p:spPr>
          <a:xfrm>
            <a:off x="9601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face</a:t>
            </a:r>
            <a:endParaRPr lang="en-US" sz="2800" dirty="0" b="1"/>
          </a:p>
        </p:txBody>
      </p:sp>
      <p:sp>
        <p:nvSpPr>
          <p:cNvPr id="26" name="R2 ans"/>
          <p:cNvSpPr/>
          <p:nvPr/>
        </p:nvSpPr>
        <p:spPr>
          <a:xfrm>
            <a:off x="46177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</a:t>
            </a:r>
            <a:endParaRPr lang="en-US" sz="2800" dirty="0" b="1"/>
          </a:p>
        </p:txBody>
      </p:sp>
      <p:sp>
        <p:nvSpPr>
          <p:cNvPr id="27" name="R3 ans"/>
          <p:cNvSpPr/>
          <p:nvPr/>
        </p:nvSpPr>
        <p:spPr>
          <a:xfrm>
            <a:off x="82753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lot</a:t>
            </a:r>
            <a:endParaRPr lang="en-US" sz="28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befor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3063240" cy="6858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56448" y="1289304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321040" y="1097280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94847" y="1032586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420770" y="956462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1"/>
          <p:cNvSpPr/>
          <p:nvPr/>
        </p:nvSpPr>
        <p:spPr>
          <a:xfrm>
            <a:off x="3566160" y="1078992"/>
            <a:ext cx="4114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</a:t>
            </a:r>
            <a:endParaRPr lang="en-US" sz="4400" dirty="0" b="1"/>
          </a:p>
        </p:txBody>
      </p:sp>
      <p:sp>
        <p:nvSpPr>
          <p:cNvPr id="9" name="title2"/>
          <p:cNvSpPr/>
          <p:nvPr/>
        </p:nvSpPr>
        <p:spPr>
          <a:xfrm>
            <a:off x="3566160" y="18288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</a:t>
            </a:r>
            <a:endParaRPr lang="en-US" sz="4400" dirty="0" b="1"/>
          </a:p>
        </p:txBody>
      </p:sp>
      <p:sp>
        <p:nvSpPr>
          <p:cNvPr id="10" name="context"/>
          <p:cNvSpPr/>
          <p:nvPr/>
        </p:nvSpPr>
        <p:spPr>
          <a:xfrm>
            <a:off x="3487522" y="31089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Omar's first day at a hotel. Linda is his supervisor.</a:t>
            </a:r>
            <a:endParaRPr lang="en-US" sz="2000" dirty="0"/>
          </a:p>
        </p:txBody>
      </p:sp>
      <p:sp>
        <p:nvSpPr>
          <p:cNvPr id="11" name="R1 num"/>
          <p:cNvSpPr/>
          <p:nvPr/>
        </p:nvSpPr>
        <p:spPr>
          <a:xfrm>
            <a:off x="3383280" y="411480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dirty="0"/>
          </a:p>
        </p:txBody>
      </p:sp>
      <p:sp>
        <p:nvSpPr>
          <p:cNvPr id="13" name="R2 num"/>
          <p:cNvSpPr/>
          <p:nvPr/>
        </p:nvSpPr>
        <p:spPr>
          <a:xfrm>
            <a:off x="3383280" y="491947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600" dirty="0"/>
          </a:p>
        </p:txBody>
      </p:sp>
      <p:sp>
        <p:nvSpPr>
          <p:cNvPr id="15" name="R3 num"/>
          <p:cNvSpPr/>
          <p:nvPr/>
        </p:nvSpPr>
        <p:spPr>
          <a:xfrm>
            <a:off x="3383280" y="5724144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line 1"/>
          <p:cNvSpPr/>
          <p:nvPr/>
        </p:nvSpPr>
        <p:spPr>
          <a:xfrm>
            <a:off x="3503066" y="4928616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8" name="line 2"/>
          <p:cNvSpPr/>
          <p:nvPr/>
        </p:nvSpPr>
        <p:spPr>
          <a:xfrm>
            <a:off x="3503066" y="5733288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pic>
        <p:nvPicPr>
          <p:cNvPr id="24" name="pic" descr="People a to d: four standing people a-d: tall man with beard and glasses; short woman with long straight hair; man with curly hair; woman with curly hair and glass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" y="2743200"/>
            <a:ext cx="2743200" cy="1280160"/>
          </a:xfrm>
          <a:prstGeom prst="rect">
            <a:avLst/>
          </a:prstGeom>
        </p:spPr>
      </p:pic>
      <p:sp>
        <p:nvSpPr>
          <p:cNvPr id="25" name="R1 hl"/>
          <p:cNvSpPr/>
          <p:nvPr/>
        </p:nvSpPr>
        <p:spPr>
          <a:xfrm>
            <a:off x="4389120" y="4251960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R1 voice"/>
          <p:cNvSpPr/>
          <p:nvPr/>
        </p:nvSpPr>
        <p:spPr>
          <a:xfrm>
            <a:off x="4389120" y="4251960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Narrator</a:t>
            </a:r>
            <a:endParaRPr lang="en-US" sz="2200" dirty="0" b="1"/>
          </a:p>
        </p:txBody>
      </p:sp>
      <p:sp>
        <p:nvSpPr>
          <p:cNvPr id="29" name="R2 hl"/>
          <p:cNvSpPr/>
          <p:nvPr/>
        </p:nvSpPr>
        <p:spPr>
          <a:xfrm>
            <a:off x="4389120" y="5056632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1" name="R2 voice"/>
          <p:cNvSpPr/>
          <p:nvPr/>
        </p:nvSpPr>
        <p:spPr>
          <a:xfrm>
            <a:off x="4389120" y="5056632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Linda</a:t>
            </a:r>
            <a:endParaRPr lang="en-US" sz="2200" dirty="0" b="1"/>
          </a:p>
        </p:txBody>
      </p:sp>
      <p:sp>
        <p:nvSpPr>
          <p:cNvPr id="33" name="R3 hl"/>
          <p:cNvSpPr/>
          <p:nvPr/>
        </p:nvSpPr>
        <p:spPr>
          <a:xfrm>
            <a:off x="4389120" y="5861304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5" name="R3 voice"/>
          <p:cNvSpPr/>
          <p:nvPr/>
        </p:nvSpPr>
        <p:spPr>
          <a:xfrm>
            <a:off x="4389120" y="5861304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Omar</a:t>
            </a:r>
            <a:endParaRPr lang="en-US" sz="2200" dirty="0" b="1"/>
          </a:p>
        </p:txBody>
      </p:sp>
      <p:sp>
        <p:nvSpPr>
          <p:cNvPr id="37" name="listen head"/>
          <p:cNvSpPr/>
          <p:nvPr/>
        </p:nvSpPr>
        <p:spPr>
          <a:xfrm>
            <a:off x="8549640" y="1280160"/>
            <a:ext cx="3017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for:</a:t>
            </a:r>
            <a:endParaRPr lang="en-US" sz="2400" dirty="0" b="1"/>
          </a:p>
        </p:txBody>
      </p:sp>
      <p:sp>
        <p:nvSpPr>
          <p:cNvPr id="39" name="listen 1"/>
          <p:cNvSpPr/>
          <p:nvPr/>
        </p:nvSpPr>
        <p:spPr>
          <a:xfrm>
            <a:off x="8549640" y="196596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Who is Kevin?</a:t>
            </a:r>
            <a:endParaRPr lang="en-US" sz="2200" dirty="0"/>
          </a:p>
        </p:txBody>
      </p:sp>
      <p:sp>
        <p:nvSpPr>
          <p:cNvPr id="41" name="listen 2"/>
          <p:cNvSpPr/>
          <p:nvPr/>
        </p:nvSpPr>
        <p:spPr>
          <a:xfrm>
            <a:off x="8549640" y="301752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Who is Nora?</a:t>
            </a:r>
            <a:endParaRPr lang="en-US" sz="2200" dirty="0"/>
          </a:p>
        </p:txBody>
      </p:sp>
      <p:sp>
        <p:nvSpPr>
          <p:cNvPr id="43" name="audio"/>
          <p:cNvSpPr/>
          <p:nvPr/>
        </p:nvSpPr>
        <p:spPr>
          <a:xfrm>
            <a:off x="8549640" y="406908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about 1:28. It plays once.</a:t>
            </a:r>
            <a:endParaRPr lang="en-US" sz="2200" dirty="0"/>
          </a:p>
        </p:txBody>
      </p:sp>
      <p:sp>
        <p:nvSpPr>
          <p:cNvPr id="46" name="play"/>
          <p:cNvSpPr/>
          <p:nvPr/>
        </p:nvSpPr>
        <p:spPr>
          <a:xfrm>
            <a:off x="8549640" y="5029200"/>
            <a:ext cx="301752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Play 1: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Task A</a:t>
            </a:r>
            <a:endParaRPr lang="en-US" sz="22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A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Who is it?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letter: a, b, c, or d.</a:t>
            </a:r>
            <a:endParaRPr lang="en-US" sz="2200" dirty="0" b="1"/>
          </a:p>
        </p:txBody>
      </p:sp>
      <p:sp>
        <p:nvSpPr>
          <p:cNvPr id="8" name="R1 stmt"/>
          <p:cNvSpPr/>
          <p:nvPr/>
        </p:nvSpPr>
        <p:spPr>
          <a:xfrm>
            <a:off x="5394960" y="3108960"/>
            <a:ext cx="2048256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Kevin</a:t>
            </a:r>
            <a:endParaRPr lang="en-US" sz="2000" dirty="0"/>
          </a:p>
        </p:txBody>
      </p:sp>
      <p:sp>
        <p:nvSpPr>
          <p:cNvPr id="9" name="R1 opt1"/>
          <p:cNvSpPr/>
          <p:nvPr/>
        </p:nvSpPr>
        <p:spPr>
          <a:xfrm>
            <a:off x="7626096" y="3108960"/>
            <a:ext cx="6858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</a:t>
            </a:r>
            <a:endParaRPr lang="en-US" sz="2000" dirty="0" b="1"/>
          </a:p>
        </p:txBody>
      </p:sp>
      <p:sp>
        <p:nvSpPr>
          <p:cNvPr id="10" name="R1 opt2"/>
          <p:cNvSpPr/>
          <p:nvPr/>
        </p:nvSpPr>
        <p:spPr>
          <a:xfrm>
            <a:off x="8513064" y="3108960"/>
            <a:ext cx="6858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</a:t>
            </a:r>
            <a:endParaRPr lang="en-US" sz="2000" dirty="0" b="1"/>
          </a:p>
        </p:txBody>
      </p:sp>
      <p:sp>
        <p:nvSpPr>
          <p:cNvPr id="11" name="R1 opt3"/>
          <p:cNvSpPr/>
          <p:nvPr/>
        </p:nvSpPr>
        <p:spPr>
          <a:xfrm>
            <a:off x="9400032" y="3108960"/>
            <a:ext cx="6858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</a:t>
            </a:r>
            <a:endParaRPr lang="en-US" sz="2000" dirty="0" b="1"/>
          </a:p>
        </p:txBody>
      </p:sp>
      <p:sp>
        <p:nvSpPr>
          <p:cNvPr id="12" name="R1 opt4"/>
          <p:cNvSpPr/>
          <p:nvPr/>
        </p:nvSpPr>
        <p:spPr>
          <a:xfrm>
            <a:off x="10287000" y="3108960"/>
            <a:ext cx="6858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</a:t>
            </a:r>
            <a:endParaRPr lang="en-US" sz="2000" dirty="0" b="1"/>
          </a:p>
        </p:txBody>
      </p:sp>
      <p:sp>
        <p:nvSpPr>
          <p:cNvPr id="13" name="R1 circle"/>
          <p:cNvSpPr/>
          <p:nvPr/>
        </p:nvSpPr>
        <p:spPr>
          <a:xfrm>
            <a:off x="7498080" y="3054096"/>
            <a:ext cx="94183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4" name="R2 stmt"/>
          <p:cNvSpPr/>
          <p:nvPr/>
        </p:nvSpPr>
        <p:spPr>
          <a:xfrm>
            <a:off x="5394960" y="3913632"/>
            <a:ext cx="2048256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Nora</a:t>
            </a:r>
            <a:endParaRPr lang="en-US" sz="2000" dirty="0"/>
          </a:p>
        </p:txBody>
      </p:sp>
      <p:sp>
        <p:nvSpPr>
          <p:cNvPr id="15" name="R2 opt1"/>
          <p:cNvSpPr/>
          <p:nvPr/>
        </p:nvSpPr>
        <p:spPr>
          <a:xfrm>
            <a:off x="7626096" y="3913632"/>
            <a:ext cx="6858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</a:t>
            </a:r>
            <a:endParaRPr lang="en-US" sz="2000" dirty="0" b="1"/>
          </a:p>
        </p:txBody>
      </p:sp>
      <p:sp>
        <p:nvSpPr>
          <p:cNvPr id="16" name="R2 opt2"/>
          <p:cNvSpPr/>
          <p:nvPr/>
        </p:nvSpPr>
        <p:spPr>
          <a:xfrm>
            <a:off x="8513064" y="3913632"/>
            <a:ext cx="6858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</a:t>
            </a:r>
            <a:endParaRPr lang="en-US" sz="2000" dirty="0" b="1"/>
          </a:p>
        </p:txBody>
      </p:sp>
      <p:sp>
        <p:nvSpPr>
          <p:cNvPr id="17" name="R2 opt3"/>
          <p:cNvSpPr/>
          <p:nvPr/>
        </p:nvSpPr>
        <p:spPr>
          <a:xfrm>
            <a:off x="9400032" y="3913632"/>
            <a:ext cx="6858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</a:t>
            </a:r>
            <a:endParaRPr lang="en-US" sz="2000" dirty="0" b="1"/>
          </a:p>
        </p:txBody>
      </p:sp>
      <p:sp>
        <p:nvSpPr>
          <p:cNvPr id="18" name="R2 opt4"/>
          <p:cNvSpPr/>
          <p:nvPr/>
        </p:nvSpPr>
        <p:spPr>
          <a:xfrm>
            <a:off x="10287000" y="3913632"/>
            <a:ext cx="6858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</a:t>
            </a:r>
            <a:endParaRPr lang="en-US" sz="2000" dirty="0" b="1"/>
          </a:p>
        </p:txBody>
      </p:sp>
      <p:sp>
        <p:nvSpPr>
          <p:cNvPr id="19" name="R2 circle"/>
          <p:cNvSpPr/>
          <p:nvPr/>
        </p:nvSpPr>
        <p:spPr>
          <a:xfrm>
            <a:off x="8385048" y="3858768"/>
            <a:ext cx="94183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R3 stmt"/>
          <p:cNvSpPr/>
          <p:nvPr/>
        </p:nvSpPr>
        <p:spPr>
          <a:xfrm>
            <a:off x="5394960" y="4718304"/>
            <a:ext cx="2048256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Sam</a:t>
            </a:r>
            <a:endParaRPr lang="en-US" sz="2000" dirty="0"/>
          </a:p>
        </p:txBody>
      </p:sp>
      <p:sp>
        <p:nvSpPr>
          <p:cNvPr id="21" name="R3 opt1"/>
          <p:cNvSpPr/>
          <p:nvPr/>
        </p:nvSpPr>
        <p:spPr>
          <a:xfrm>
            <a:off x="7626096" y="4718304"/>
            <a:ext cx="6858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</a:t>
            </a:r>
            <a:endParaRPr lang="en-US" sz="2000" dirty="0" b="1"/>
          </a:p>
        </p:txBody>
      </p:sp>
      <p:sp>
        <p:nvSpPr>
          <p:cNvPr id="22" name="R3 opt2"/>
          <p:cNvSpPr/>
          <p:nvPr/>
        </p:nvSpPr>
        <p:spPr>
          <a:xfrm>
            <a:off x="8513064" y="4718304"/>
            <a:ext cx="6858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</a:t>
            </a:r>
            <a:endParaRPr lang="en-US" sz="2000" dirty="0" b="1"/>
          </a:p>
        </p:txBody>
      </p:sp>
      <p:sp>
        <p:nvSpPr>
          <p:cNvPr id="23" name="R3 opt3"/>
          <p:cNvSpPr/>
          <p:nvPr/>
        </p:nvSpPr>
        <p:spPr>
          <a:xfrm>
            <a:off x="9400032" y="4718304"/>
            <a:ext cx="6858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</a:t>
            </a:r>
            <a:endParaRPr lang="en-US" sz="2000" dirty="0" b="1"/>
          </a:p>
        </p:txBody>
      </p:sp>
      <p:sp>
        <p:nvSpPr>
          <p:cNvPr id="24" name="R3 opt4"/>
          <p:cNvSpPr/>
          <p:nvPr/>
        </p:nvSpPr>
        <p:spPr>
          <a:xfrm>
            <a:off x="10287000" y="4718304"/>
            <a:ext cx="6858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</a:t>
            </a:r>
            <a:endParaRPr lang="en-US" sz="2000" dirty="0" b="1"/>
          </a:p>
        </p:txBody>
      </p:sp>
      <p:sp>
        <p:nvSpPr>
          <p:cNvPr id="25" name="R3 circle"/>
          <p:cNvSpPr/>
          <p:nvPr/>
        </p:nvSpPr>
        <p:spPr>
          <a:xfrm>
            <a:off x="9272016" y="4663440"/>
            <a:ext cx="94183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pic>
        <p:nvPicPr>
          <p:cNvPr id="26" name="Row picture" descr="People a to d: four standing people a-d: tall man with beard and glasses; short woman with long straight hair; man with curly hair; woman with curly hair and glass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110484"/>
            <a:ext cx="4754880" cy="22189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B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 Who is it?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✓ Kevin or Nora.</a:t>
            </a:r>
            <a:endParaRPr lang="en-US" sz="2200" dirty="0" b="1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717804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friendly</a:t>
            </a:r>
            <a:endParaRPr lang="en-US" sz="2000" dirty="0"/>
          </a:p>
        </p:txBody>
      </p:sp>
      <p:sp>
        <p:nvSpPr>
          <p:cNvPr id="9" name="R1 opt1"/>
          <p:cNvSpPr/>
          <p:nvPr/>
        </p:nvSpPr>
        <p:spPr>
          <a:xfrm>
            <a:off x="7863840" y="3108960"/>
            <a:ext cx="137160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Kevin</a:t>
            </a:r>
            <a:endParaRPr lang="en-US" sz="2000" dirty="0" b="1"/>
          </a:p>
        </p:txBody>
      </p:sp>
      <p:sp>
        <p:nvSpPr>
          <p:cNvPr id="10" name="R1 opt2"/>
          <p:cNvSpPr/>
          <p:nvPr/>
        </p:nvSpPr>
        <p:spPr>
          <a:xfrm>
            <a:off x="9601200" y="3108960"/>
            <a:ext cx="137160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Nora</a:t>
            </a:r>
            <a:endParaRPr lang="en-US" sz="2000" dirty="0" b="1"/>
          </a:p>
        </p:txBody>
      </p:sp>
      <p:sp>
        <p:nvSpPr>
          <p:cNvPr id="11" name="R1 circle"/>
          <p:cNvSpPr/>
          <p:nvPr/>
        </p:nvSpPr>
        <p:spPr>
          <a:xfrm>
            <a:off x="7735824" y="3054096"/>
            <a:ext cx="162763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2" name="R2 stmt"/>
          <p:cNvSpPr/>
          <p:nvPr/>
        </p:nvSpPr>
        <p:spPr>
          <a:xfrm>
            <a:off x="502920" y="3657600"/>
            <a:ext cx="717804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funny</a:t>
            </a:r>
            <a:endParaRPr lang="en-US" sz="2000" dirty="0"/>
          </a:p>
        </p:txBody>
      </p:sp>
      <p:sp>
        <p:nvSpPr>
          <p:cNvPr id="13" name="R2 opt1"/>
          <p:cNvSpPr/>
          <p:nvPr/>
        </p:nvSpPr>
        <p:spPr>
          <a:xfrm>
            <a:off x="7863840" y="3657600"/>
            <a:ext cx="137160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Kevin</a:t>
            </a:r>
            <a:endParaRPr lang="en-US" sz="2000" dirty="0" b="1"/>
          </a:p>
        </p:txBody>
      </p:sp>
      <p:sp>
        <p:nvSpPr>
          <p:cNvPr id="14" name="R2 opt2"/>
          <p:cNvSpPr/>
          <p:nvPr/>
        </p:nvSpPr>
        <p:spPr>
          <a:xfrm>
            <a:off x="9601200" y="3657600"/>
            <a:ext cx="137160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Nora</a:t>
            </a:r>
            <a:endParaRPr lang="en-US" sz="2000" dirty="0" b="1"/>
          </a:p>
        </p:txBody>
      </p:sp>
      <p:sp>
        <p:nvSpPr>
          <p:cNvPr id="15" name="R2 circle"/>
          <p:cNvSpPr/>
          <p:nvPr/>
        </p:nvSpPr>
        <p:spPr>
          <a:xfrm>
            <a:off x="7735824" y="3602736"/>
            <a:ext cx="162763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6" name="R3 stmt"/>
          <p:cNvSpPr/>
          <p:nvPr/>
        </p:nvSpPr>
        <p:spPr>
          <a:xfrm>
            <a:off x="502920" y="4206240"/>
            <a:ext cx="717804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shy</a:t>
            </a:r>
            <a:endParaRPr lang="en-US" sz="2000" dirty="0"/>
          </a:p>
        </p:txBody>
      </p:sp>
      <p:sp>
        <p:nvSpPr>
          <p:cNvPr id="17" name="R3 opt1"/>
          <p:cNvSpPr/>
          <p:nvPr/>
        </p:nvSpPr>
        <p:spPr>
          <a:xfrm>
            <a:off x="7863840" y="4206240"/>
            <a:ext cx="137160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Kevin</a:t>
            </a:r>
            <a:endParaRPr lang="en-US" sz="2000" dirty="0" b="1"/>
          </a:p>
        </p:txBody>
      </p:sp>
      <p:sp>
        <p:nvSpPr>
          <p:cNvPr id="18" name="R3 opt2"/>
          <p:cNvSpPr/>
          <p:nvPr/>
        </p:nvSpPr>
        <p:spPr>
          <a:xfrm>
            <a:off x="9601200" y="4206240"/>
            <a:ext cx="137160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Nora</a:t>
            </a:r>
            <a:endParaRPr lang="en-US" sz="2000" dirty="0" b="1"/>
          </a:p>
        </p:txBody>
      </p:sp>
      <p:sp>
        <p:nvSpPr>
          <p:cNvPr id="19" name="R3 circle"/>
          <p:cNvSpPr/>
          <p:nvPr/>
        </p:nvSpPr>
        <p:spPr>
          <a:xfrm>
            <a:off x="9473184" y="4151376"/>
            <a:ext cx="162763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R4 stmt"/>
          <p:cNvSpPr/>
          <p:nvPr/>
        </p:nvSpPr>
        <p:spPr>
          <a:xfrm>
            <a:off x="502920" y="4754880"/>
            <a:ext cx="717804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quiet</a:t>
            </a:r>
            <a:endParaRPr lang="en-US" sz="2000" dirty="0"/>
          </a:p>
        </p:txBody>
      </p:sp>
      <p:sp>
        <p:nvSpPr>
          <p:cNvPr id="21" name="R4 opt1"/>
          <p:cNvSpPr/>
          <p:nvPr/>
        </p:nvSpPr>
        <p:spPr>
          <a:xfrm>
            <a:off x="7863840" y="4754880"/>
            <a:ext cx="137160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Kevin</a:t>
            </a:r>
            <a:endParaRPr lang="en-US" sz="2000" dirty="0" b="1"/>
          </a:p>
        </p:txBody>
      </p:sp>
      <p:sp>
        <p:nvSpPr>
          <p:cNvPr id="22" name="R4 opt2"/>
          <p:cNvSpPr/>
          <p:nvPr/>
        </p:nvSpPr>
        <p:spPr>
          <a:xfrm>
            <a:off x="9601200" y="4754880"/>
            <a:ext cx="137160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Nora</a:t>
            </a:r>
            <a:endParaRPr lang="en-US" sz="2000" dirty="0" b="1"/>
          </a:p>
        </p:txBody>
      </p:sp>
      <p:sp>
        <p:nvSpPr>
          <p:cNvPr id="23" name="R4 circle"/>
          <p:cNvSpPr/>
          <p:nvPr/>
        </p:nvSpPr>
        <p:spPr>
          <a:xfrm>
            <a:off x="9473184" y="4700016"/>
            <a:ext cx="162763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4" name="R5 stmt"/>
          <p:cNvSpPr/>
          <p:nvPr/>
        </p:nvSpPr>
        <p:spPr>
          <a:xfrm>
            <a:off x="502920" y="5303520"/>
            <a:ext cx="717804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5. hardworking</a:t>
            </a:r>
            <a:endParaRPr lang="en-US" sz="2000" dirty="0"/>
          </a:p>
        </p:txBody>
      </p:sp>
      <p:sp>
        <p:nvSpPr>
          <p:cNvPr id="25" name="R5 opt1"/>
          <p:cNvSpPr/>
          <p:nvPr/>
        </p:nvSpPr>
        <p:spPr>
          <a:xfrm>
            <a:off x="7863840" y="5303520"/>
            <a:ext cx="137160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Kevin</a:t>
            </a:r>
            <a:endParaRPr lang="en-US" sz="2000" dirty="0" b="1"/>
          </a:p>
        </p:txBody>
      </p:sp>
      <p:sp>
        <p:nvSpPr>
          <p:cNvPr id="26" name="R5 opt2"/>
          <p:cNvSpPr/>
          <p:nvPr/>
        </p:nvSpPr>
        <p:spPr>
          <a:xfrm>
            <a:off x="9601200" y="5303520"/>
            <a:ext cx="137160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Nora</a:t>
            </a:r>
            <a:endParaRPr lang="en-US" sz="2000" dirty="0" b="1"/>
          </a:p>
        </p:txBody>
      </p:sp>
      <p:sp>
        <p:nvSpPr>
          <p:cNvPr id="27" name="R5 circle"/>
          <p:cNvSpPr/>
          <p:nvPr/>
        </p:nvSpPr>
        <p:spPr>
          <a:xfrm>
            <a:off x="9473184" y="5248656"/>
            <a:ext cx="162763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8" name="R6 stmt"/>
          <p:cNvSpPr/>
          <p:nvPr/>
        </p:nvSpPr>
        <p:spPr>
          <a:xfrm>
            <a:off x="502920" y="5852160"/>
            <a:ext cx="717804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6. patient</a:t>
            </a:r>
            <a:endParaRPr lang="en-US" sz="2000" dirty="0"/>
          </a:p>
        </p:txBody>
      </p:sp>
      <p:sp>
        <p:nvSpPr>
          <p:cNvPr id="29" name="R6 opt1"/>
          <p:cNvSpPr/>
          <p:nvPr/>
        </p:nvSpPr>
        <p:spPr>
          <a:xfrm>
            <a:off x="7863840" y="5852160"/>
            <a:ext cx="137160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Kevin</a:t>
            </a:r>
            <a:endParaRPr lang="en-US" sz="2000" dirty="0" b="1"/>
          </a:p>
        </p:txBody>
      </p:sp>
      <p:sp>
        <p:nvSpPr>
          <p:cNvPr id="30" name="R6 opt2"/>
          <p:cNvSpPr/>
          <p:nvPr/>
        </p:nvSpPr>
        <p:spPr>
          <a:xfrm>
            <a:off x="9601200" y="5852160"/>
            <a:ext cx="137160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Nora</a:t>
            </a:r>
            <a:endParaRPr lang="en-US" sz="2000" dirty="0" b="1"/>
          </a:p>
        </p:txBody>
      </p:sp>
      <p:sp>
        <p:nvSpPr>
          <p:cNvPr id="31" name="R6 circle"/>
          <p:cNvSpPr/>
          <p:nvPr/>
        </p:nvSpPr>
        <p:spPr>
          <a:xfrm>
            <a:off x="9473184" y="5797296"/>
            <a:ext cx="162763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40726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34965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41732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81965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him, her, or them.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C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compare your answers.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together.</a:t>
            </a:r>
            <a:endParaRPr lang="en-US" sz="2000" dirty="0" b="0"/>
          </a:p>
        </p:txBody>
      </p:sp>
      <p:sp>
        <p:nvSpPr>
          <p:cNvPr id="31" name="R1 card"/>
          <p:cNvSpPr/>
          <p:nvPr/>
        </p:nvSpPr>
        <p:spPr>
          <a:xfrm>
            <a:off x="1583741" y="2397557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397557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46156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397557"/>
            <a:ext cx="422452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can ask ____ for help.</a:t>
            </a:r>
            <a:endParaRPr lang="en-US" sz="1800" dirty="0"/>
          </a:p>
        </p:txBody>
      </p:sp>
      <p:sp>
        <p:nvSpPr>
          <p:cNvPr id="35" name="R1 ans"/>
          <p:cNvSpPr/>
          <p:nvPr/>
        </p:nvSpPr>
        <p:spPr>
          <a:xfrm>
            <a:off x="6108192" y="2525573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him</a:t>
            </a:r>
            <a:endParaRPr lang="en-US" sz="20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3183941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3183941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3247949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3183941"/>
            <a:ext cx="422452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to ____, and ask ____ questions.</a:t>
            </a:r>
            <a:endParaRPr lang="en-US" sz="1800" dirty="0"/>
          </a:p>
        </p:txBody>
      </p:sp>
      <p:sp>
        <p:nvSpPr>
          <p:cNvPr id="40" name="R2 ans"/>
          <p:cNvSpPr/>
          <p:nvPr/>
        </p:nvSpPr>
        <p:spPr>
          <a:xfrm>
            <a:off x="6108192" y="3311957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her, her</a:t>
            </a:r>
            <a:endParaRPr lang="en-US" sz="20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970325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970325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4034333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970325"/>
            <a:ext cx="422452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 can I find ____?</a:t>
            </a:r>
            <a:endParaRPr lang="en-US" sz="1800" dirty="0"/>
          </a:p>
        </p:txBody>
      </p:sp>
      <p:sp>
        <p:nvSpPr>
          <p:cNvPr id="45" name="R3 ans"/>
          <p:cNvSpPr/>
          <p:nvPr/>
        </p:nvSpPr>
        <p:spPr>
          <a:xfrm>
            <a:off x="6108192" y="4098341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them</a:t>
            </a:r>
            <a:endParaRPr lang="en-US" sz="20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756709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756709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82071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756709"/>
            <a:ext cx="422452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Come with me. I can introduce you to ____.</a:t>
            </a:r>
            <a:endParaRPr lang="en-US" sz="1800" dirty="0"/>
          </a:p>
        </p:txBody>
      </p:sp>
      <p:sp>
        <p:nvSpPr>
          <p:cNvPr id="50" name="R4 ans"/>
          <p:cNvSpPr/>
          <p:nvPr/>
        </p:nvSpPr>
        <p:spPr>
          <a:xfrm>
            <a:off x="6108192" y="4884725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them</a:t>
            </a:r>
            <a:endParaRPr lang="en-US" sz="20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543093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543093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60710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543093"/>
            <a:ext cx="422452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Let's go and say hi to ____.</a:t>
            </a:r>
            <a:endParaRPr lang="en-US" sz="1800" dirty="0"/>
          </a:p>
        </p:txBody>
      </p:sp>
      <p:sp>
        <p:nvSpPr>
          <p:cNvPr id="55" name="R5 ans"/>
          <p:cNvSpPr/>
          <p:nvPr/>
        </p:nvSpPr>
        <p:spPr>
          <a:xfrm>
            <a:off x="6108192" y="5671109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him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checksay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68158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4982" y="1623974"/>
            <a:ext cx="6169457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691640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it: clap on the strong part.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2093976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each word two times.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Clap on the strong part.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say it: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Everyone likes him.</a:t>
            </a:r>
            <a:endParaRPr lang="en-US" sz="2000" dirty="0" b="0"/>
          </a:p>
        </p:txBody>
      </p:sp>
      <p:sp>
        <p:nvSpPr>
          <p:cNvPr id="31" name="S1 card"/>
          <p:cNvSpPr/>
          <p:nvPr/>
        </p:nvSpPr>
        <p:spPr>
          <a:xfrm>
            <a:off x="548640" y="2715768"/>
            <a:ext cx="6766560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S1 text"/>
          <p:cNvSpPr/>
          <p:nvPr/>
        </p:nvSpPr>
        <p:spPr>
          <a:xfrm>
            <a:off x="777240" y="2715768"/>
            <a:ext cx="6355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FRIEND</a:t>
            </a: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ly  ·  </a:t>
            </a:r>
            <a:r>
              <a:rPr lang="en-US" sz="2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HARD</a:t>
            </a: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working  ·  </a:t>
            </a:r>
            <a:r>
              <a:rPr lang="en-US" sz="2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</a:t>
            </a: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tient</a:t>
            </a:r>
            <a:endParaRPr lang="en-US" sz="2400" dirty="0" b="1"/>
          </a:p>
        </p:txBody>
      </p:sp>
      <p:sp>
        <p:nvSpPr>
          <p:cNvPr id="33" name="S2 card"/>
          <p:cNvSpPr/>
          <p:nvPr/>
        </p:nvSpPr>
        <p:spPr>
          <a:xfrm>
            <a:off x="548640" y="3601822"/>
            <a:ext cx="6766560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" name="S2 text"/>
          <p:cNvSpPr/>
          <p:nvPr/>
        </p:nvSpPr>
        <p:spPr>
          <a:xfrm>
            <a:off x="777240" y="3601822"/>
            <a:ext cx="6355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CUR</a:t>
            </a: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ly  ·  </a:t>
            </a:r>
            <a:r>
              <a:rPr lang="en-US" sz="2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GLASS</a:t>
            </a: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es</a:t>
            </a:r>
            <a:endParaRPr lang="en-US" sz="2400" dirty="0" b="1"/>
          </a:p>
        </p:txBody>
      </p:sp>
      <p:sp>
        <p:nvSpPr>
          <p:cNvPr id="35" name="S3 card"/>
          <p:cNvSpPr/>
          <p:nvPr/>
        </p:nvSpPr>
        <p:spPr>
          <a:xfrm>
            <a:off x="548640" y="4487875"/>
            <a:ext cx="6766560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" name="S3 text"/>
          <p:cNvSpPr/>
          <p:nvPr/>
        </p:nvSpPr>
        <p:spPr>
          <a:xfrm>
            <a:off x="777240" y="4487875"/>
            <a:ext cx="6355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Everyone likes him.</a:t>
            </a:r>
            <a:endParaRPr lang="en-US" sz="2400" dirty="0" b="1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qa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right panel"/>
          <p:cNvSpPr/>
          <p:nvPr/>
        </p:nvSpPr>
        <p:spPr>
          <a:xfrm>
            <a:off x="6742786" y="3291840"/>
            <a:ext cx="4912157" cy="310896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8" name="pic" descr="Tall: a tall person next to a person of average height; height arrow and label &quot;tall&quot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143000"/>
            <a:ext cx="2743200" cy="1920240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560116" y="1350752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93446" y="1286561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832104" y="1325880"/>
            <a:ext cx="5257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1  ·  looks</a:t>
            </a:r>
            <a:endParaRPr lang="en-US" sz="2000" dirty="0" b="1"/>
          </a:p>
          <a:p>
            <a:pPr algn="l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does he look like?</a:t>
            </a:r>
            <a:endParaRPr lang="en-US" sz="2800" dirty="0" b="1"/>
          </a:p>
          <a:p>
            <a:pPr algn="l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 like = LOOKS</a:t>
            </a:r>
            <a:endParaRPr lang="en-US" sz="1800" dirty="0" b="0"/>
          </a:p>
        </p:txBody>
      </p:sp>
      <p:sp>
        <p:nvSpPr>
          <p:cNvPr id="8" name="left panel"/>
          <p:cNvSpPr/>
          <p:nvPr/>
        </p:nvSpPr>
        <p:spPr>
          <a:xfrm>
            <a:off x="1305763" y="3291840"/>
            <a:ext cx="4790542" cy="31089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2540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9" name="Q head"/>
          <p:cNvSpPr/>
          <p:nvPr/>
        </p:nvSpPr>
        <p:spPr>
          <a:xfrm>
            <a:off x="1920240" y="3429000"/>
            <a:ext cx="27432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20" name="A head"/>
          <p:cNvSpPr/>
          <p:nvPr/>
        </p:nvSpPr>
        <p:spPr>
          <a:xfrm>
            <a:off x="7040880" y="3429000"/>
            <a:ext cx="27432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21" name="Highlight 1"/>
          <p:cNvSpPr/>
          <p:nvPr/>
        </p:nvSpPr>
        <p:spPr>
          <a:xfrm>
            <a:off x="1481328" y="4274820"/>
            <a:ext cx="17373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2" name="Helper 1"/>
          <p:cNvSpPr/>
          <p:nvPr/>
        </p:nvSpPr>
        <p:spPr>
          <a:xfrm>
            <a:off x="1481328" y="3977640"/>
            <a:ext cx="1737360" cy="11430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does</a:t>
            </a:r>
            <a:endParaRPr lang="en-US" sz="2200" dirty="0" b="1"/>
          </a:p>
        </p:txBody>
      </p:sp>
      <p:sp>
        <p:nvSpPr>
          <p:cNvPr id="23" name="Question 1"/>
          <p:cNvSpPr/>
          <p:nvPr/>
        </p:nvSpPr>
        <p:spPr>
          <a:xfrm>
            <a:off x="3310128" y="3977640"/>
            <a:ext cx="2697480" cy="11430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 / she look like?</a:t>
            </a:r>
            <a:endParaRPr lang="en-US" sz="2000" dirty="0"/>
          </a:p>
        </p:txBody>
      </p:sp>
      <p:sp>
        <p:nvSpPr>
          <p:cNvPr id="24" name="Answer bg 1"/>
          <p:cNvSpPr/>
          <p:nvPr/>
        </p:nvSpPr>
        <p:spPr>
          <a:xfrm>
            <a:off x="6949440" y="3977640"/>
            <a:ext cx="4526280" cy="11430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5" name="Answer 1"/>
          <p:cNvSpPr/>
          <p:nvPr/>
        </p:nvSpPr>
        <p:spPr>
          <a:xfrm>
            <a:off x="6949440" y="3977640"/>
            <a:ext cx="4526280" cy="11430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He's / She's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tall. / short.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 has / She has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 beard. / glasses. / curly hair. / long, straight hair.</a:t>
            </a:r>
            <a:endParaRPr lang="en-US" sz="1700" dirty="0" b="1"/>
          </a:p>
        </p:txBody>
      </p:sp>
      <p:sp>
        <p:nvSpPr>
          <p:cNvPr id="26" name="Highlight 2"/>
          <p:cNvSpPr/>
          <p:nvPr/>
        </p:nvSpPr>
        <p:spPr>
          <a:xfrm>
            <a:off x="1481328" y="5463540"/>
            <a:ext cx="17373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Helper 2"/>
          <p:cNvSpPr/>
          <p:nvPr/>
        </p:nvSpPr>
        <p:spPr>
          <a:xfrm>
            <a:off x="1481328" y="5166360"/>
            <a:ext cx="1737360" cy="11430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</a:t>
            </a:r>
            <a:endParaRPr lang="en-US" sz="2200" dirty="0" b="1"/>
          </a:p>
        </p:txBody>
      </p:sp>
      <p:sp>
        <p:nvSpPr>
          <p:cNvPr id="28" name="Question 2"/>
          <p:cNvSpPr/>
          <p:nvPr/>
        </p:nvSpPr>
        <p:spPr>
          <a:xfrm>
            <a:off x="3310128" y="5166360"/>
            <a:ext cx="2697480" cy="11430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they look like?</a:t>
            </a:r>
            <a:endParaRPr lang="en-US" sz="2000" dirty="0"/>
          </a:p>
        </p:txBody>
      </p:sp>
      <p:sp>
        <p:nvSpPr>
          <p:cNvPr id="29" name="Answer bg 2"/>
          <p:cNvSpPr/>
          <p:nvPr/>
        </p:nvSpPr>
        <p:spPr>
          <a:xfrm>
            <a:off x="6949440" y="5166360"/>
            <a:ext cx="4526280" cy="11430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0" name="Answer 2"/>
          <p:cNvSpPr/>
          <p:nvPr/>
        </p:nvSpPr>
        <p:spPr>
          <a:xfrm>
            <a:off x="6949440" y="5166360"/>
            <a:ext cx="4526280" cy="11430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They're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tall. / short.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They have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glasses. / short hair.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Funny: a joking face and two laughing faces, bubble &quot;Ha ha ha!&quot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2  ·  personality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3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What's he like?</a:t>
            </a:r>
            <a:endParaRPr lang="en-US" sz="34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8001000" y="18288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2788920" cy="10241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What's he / she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like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?</a:t>
            </a:r>
            <a:endParaRPr lang="en-US" sz="1800" dirty="0" b="1"/>
          </a:p>
        </p:txBody>
      </p:sp>
      <p:sp>
        <p:nvSpPr>
          <p:cNvPr id="19" name="Answer bg 1"/>
          <p:cNvSpPr/>
          <p:nvPr/>
        </p:nvSpPr>
        <p:spPr>
          <a:xfrm>
            <a:off x="8001000" y="2286000"/>
            <a:ext cx="3931920" cy="102412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8001000" y="2286000"/>
            <a:ext cx="3931920" cy="10241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He's / She's friendly and funny. / quiet but hardworking. / very patient.</a:t>
            </a:r>
            <a:endParaRPr lang="en-US" sz="1800" dirty="0" b="0"/>
          </a:p>
        </p:txBody>
      </p:sp>
      <p:sp>
        <p:nvSpPr>
          <p:cNvPr id="21" name="Question 2"/>
          <p:cNvSpPr/>
          <p:nvPr/>
        </p:nvSpPr>
        <p:spPr>
          <a:xfrm>
            <a:off x="5138928" y="3383280"/>
            <a:ext cx="2788920" cy="10241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they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like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?</a:t>
            </a:r>
            <a:endParaRPr lang="en-US" sz="1800" dirty="0" b="1"/>
          </a:p>
        </p:txBody>
      </p:sp>
      <p:sp>
        <p:nvSpPr>
          <p:cNvPr id="22" name="Answer bg 2"/>
          <p:cNvSpPr/>
          <p:nvPr/>
        </p:nvSpPr>
        <p:spPr>
          <a:xfrm>
            <a:off x="8001000" y="3383280"/>
            <a:ext cx="3931920" cy="102412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8001000" y="3383280"/>
            <a:ext cx="3931920" cy="10241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They're really friendly. / a little shy.</a:t>
            </a:r>
            <a:endParaRPr lang="en-US" sz="1800" dirty="0" b="0"/>
          </a:p>
        </p:txBody>
      </p:sp>
      <p:sp>
        <p:nvSpPr>
          <p:cNvPr id="24" name="Question 3"/>
          <p:cNvSpPr/>
          <p:nvPr/>
        </p:nvSpPr>
        <p:spPr>
          <a:xfrm>
            <a:off x="5138928" y="4480560"/>
            <a:ext cx="2788920" cy="10241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your boss / your teacher nice?</a:t>
            </a:r>
            <a:endParaRPr lang="en-US" sz="1800" dirty="0" b="1"/>
          </a:p>
        </p:txBody>
      </p:sp>
      <p:sp>
        <p:nvSpPr>
          <p:cNvPr id="25" name="Answer bg 3"/>
          <p:cNvSpPr/>
          <p:nvPr/>
        </p:nvSpPr>
        <p:spPr>
          <a:xfrm>
            <a:off x="8001000" y="4480560"/>
            <a:ext cx="3931920" cy="102412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8001000" y="4480560"/>
            <a:ext cx="3931920" cy="10241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very nice. / Yes, really nice.</a:t>
            </a:r>
            <a:endParaRPr lang="en-US" sz="1800" dirty="0" b="0"/>
          </a:p>
          <a:p>
            <a:pPr algn="l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He's very kind. / She's very patient.</a:t>
            </a:r>
            <a:endParaRPr lang="en-US" sz="18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qa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right panel"/>
          <p:cNvSpPr/>
          <p:nvPr/>
        </p:nvSpPr>
        <p:spPr>
          <a:xfrm>
            <a:off x="6742786" y="3291840"/>
            <a:ext cx="4912157" cy="310896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8" name="pic" descr="People a to d: four standing people a-d: tall man with beard and glasses; short woman with long straight hair; man with curly hair; woman with curly hair and glass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144524"/>
            <a:ext cx="4206240" cy="1962912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560116" y="1350752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93446" y="1286561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832104" y="1325880"/>
            <a:ext cx="5257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3</a:t>
            </a:r>
            <a:endParaRPr lang="en-US" sz="2000" dirty="0" b="1"/>
          </a:p>
          <a:p>
            <a:pPr algn="l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Which one is…?</a:t>
            </a:r>
            <a:endParaRPr lang="en-US" sz="3200" dirty="0" b="1"/>
          </a:p>
          <a:p>
            <a:pPr algn="l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→ The… with…</a:t>
            </a:r>
            <a:endParaRPr lang="en-US" sz="1800" dirty="0" b="0"/>
          </a:p>
        </p:txBody>
      </p:sp>
      <p:sp>
        <p:nvSpPr>
          <p:cNvPr id="8" name="left panel"/>
          <p:cNvSpPr/>
          <p:nvPr/>
        </p:nvSpPr>
        <p:spPr>
          <a:xfrm>
            <a:off x="1305763" y="3291840"/>
            <a:ext cx="4790542" cy="31089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2540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9" name="Q head"/>
          <p:cNvSpPr/>
          <p:nvPr/>
        </p:nvSpPr>
        <p:spPr>
          <a:xfrm>
            <a:off x="1920240" y="3429000"/>
            <a:ext cx="27432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20" name="A head"/>
          <p:cNvSpPr/>
          <p:nvPr/>
        </p:nvSpPr>
        <p:spPr>
          <a:xfrm>
            <a:off x="7040880" y="3429000"/>
            <a:ext cx="27432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21" name="Highlight 1"/>
          <p:cNvSpPr/>
          <p:nvPr/>
        </p:nvSpPr>
        <p:spPr>
          <a:xfrm>
            <a:off x="1481328" y="4069080"/>
            <a:ext cx="17373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2" name="Helper 1"/>
          <p:cNvSpPr/>
          <p:nvPr/>
        </p:nvSpPr>
        <p:spPr>
          <a:xfrm>
            <a:off x="1481328" y="3977640"/>
            <a:ext cx="173736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Which one</a:t>
            </a:r>
            <a:endParaRPr lang="en-US" sz="2200" dirty="0" b="1"/>
          </a:p>
        </p:txBody>
      </p:sp>
      <p:sp>
        <p:nvSpPr>
          <p:cNvPr id="23" name="Question 1"/>
          <p:cNvSpPr/>
          <p:nvPr/>
        </p:nvSpPr>
        <p:spPr>
          <a:xfrm>
            <a:off x="3310128" y="3977640"/>
            <a:ext cx="26974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your sister?</a:t>
            </a:r>
            <a:endParaRPr lang="en-US" sz="2000" dirty="0"/>
          </a:p>
        </p:txBody>
      </p:sp>
      <p:sp>
        <p:nvSpPr>
          <p:cNvPr id="24" name="Answer bg 1"/>
          <p:cNvSpPr/>
          <p:nvPr/>
        </p:nvSpPr>
        <p:spPr>
          <a:xfrm>
            <a:off x="6949440" y="3977640"/>
            <a:ext cx="452628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5" name="Answer 1"/>
          <p:cNvSpPr/>
          <p:nvPr/>
        </p:nvSpPr>
        <p:spPr>
          <a:xfrm>
            <a:off x="6949440" y="3977640"/>
            <a:ext cx="45262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woman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with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long hair.</a:t>
            </a:r>
            <a:endParaRPr lang="en-US" sz="1900" dirty="0" b="1"/>
          </a:p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She's the woman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with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glasses.</a:t>
            </a:r>
            <a:endParaRPr lang="en-US" sz="1900" dirty="0" b="1"/>
          </a:p>
        </p:txBody>
      </p:sp>
      <p:sp>
        <p:nvSpPr>
          <p:cNvPr id="26" name="Highlight 2"/>
          <p:cNvSpPr/>
          <p:nvPr/>
        </p:nvSpPr>
        <p:spPr>
          <a:xfrm>
            <a:off x="1481328" y="4846320"/>
            <a:ext cx="17373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Helper 2"/>
          <p:cNvSpPr/>
          <p:nvPr/>
        </p:nvSpPr>
        <p:spPr>
          <a:xfrm>
            <a:off x="1481328" y="4754880"/>
            <a:ext cx="173736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Which one</a:t>
            </a:r>
            <a:endParaRPr lang="en-US" sz="2200" dirty="0" b="1"/>
          </a:p>
        </p:txBody>
      </p:sp>
      <p:sp>
        <p:nvSpPr>
          <p:cNvPr id="28" name="Question 2"/>
          <p:cNvSpPr/>
          <p:nvPr/>
        </p:nvSpPr>
        <p:spPr>
          <a:xfrm>
            <a:off x="3310128" y="4754880"/>
            <a:ext cx="26974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Kevin?</a:t>
            </a:r>
            <a:endParaRPr lang="en-US" sz="2000" dirty="0"/>
          </a:p>
        </p:txBody>
      </p:sp>
      <p:sp>
        <p:nvSpPr>
          <p:cNvPr id="29" name="Answer bg 2"/>
          <p:cNvSpPr/>
          <p:nvPr/>
        </p:nvSpPr>
        <p:spPr>
          <a:xfrm>
            <a:off x="6949440" y="4754880"/>
            <a:ext cx="452628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0" name="Answer 2"/>
          <p:cNvSpPr/>
          <p:nvPr/>
        </p:nvSpPr>
        <p:spPr>
          <a:xfrm>
            <a:off x="6949440" y="4754880"/>
            <a:ext cx="45262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tall man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with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 beard.</a:t>
            </a:r>
            <a:endParaRPr lang="en-US" sz="1900" dirty="0" b="1"/>
          </a:p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man next to Sam.</a:t>
            </a:r>
            <a:endParaRPr lang="en-US" sz="1900" dirty="0" b="1"/>
          </a:p>
        </p:txBody>
      </p:sp>
      <p:sp>
        <p:nvSpPr>
          <p:cNvPr id="31" name="Highlight 3"/>
          <p:cNvSpPr/>
          <p:nvPr/>
        </p:nvSpPr>
        <p:spPr>
          <a:xfrm>
            <a:off x="1481328" y="5623560"/>
            <a:ext cx="17373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2" name="Helper 3"/>
          <p:cNvSpPr/>
          <p:nvPr/>
        </p:nvSpPr>
        <p:spPr>
          <a:xfrm>
            <a:off x="1481328" y="5532120"/>
            <a:ext cx="173736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Which one</a:t>
            </a:r>
            <a:endParaRPr lang="en-US" sz="2200" dirty="0" b="1"/>
          </a:p>
        </p:txBody>
      </p:sp>
      <p:sp>
        <p:nvSpPr>
          <p:cNvPr id="33" name="Question 3"/>
          <p:cNvSpPr/>
          <p:nvPr/>
        </p:nvSpPr>
        <p:spPr>
          <a:xfrm>
            <a:off x="3310128" y="5532120"/>
            <a:ext cx="26974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your boss?</a:t>
            </a:r>
            <a:endParaRPr lang="en-US" sz="2000" dirty="0"/>
          </a:p>
        </p:txBody>
      </p:sp>
      <p:sp>
        <p:nvSpPr>
          <p:cNvPr id="34" name="Answer bg 3"/>
          <p:cNvSpPr/>
          <p:nvPr/>
        </p:nvSpPr>
        <p:spPr>
          <a:xfrm>
            <a:off x="6949440" y="5532120"/>
            <a:ext cx="452628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5" name="Answer 3"/>
          <p:cNvSpPr/>
          <p:nvPr/>
        </p:nvSpPr>
        <p:spPr>
          <a:xfrm>
            <a:off x="6949440" y="5532120"/>
            <a:ext cx="45262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short man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with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curly hair.</a:t>
            </a:r>
            <a:endParaRPr lang="en-US" sz="1900" dirty="0" b="1"/>
          </a:p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woman in the red shirt.</a:t>
            </a:r>
            <a:endParaRPr lang="en-US" sz="19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Hardworking: a woman worker, a box and a strong arm, label &quot;works hard&quot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4  ·  object pronouns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me, him, her, us, them</a:t>
            </a:r>
            <a:endParaRPr lang="en-US" sz="28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THE VERB</a:t>
            </a:r>
            <a:endParaRPr lang="en-US" sz="1600" dirty="0" b="1"/>
          </a:p>
        </p:txBody>
      </p:sp>
      <p:sp>
        <p:nvSpPr>
          <p:cNvPr id="11" name="A head"/>
          <p:cNvSpPr/>
          <p:nvPr/>
        </p:nvSpPr>
        <p:spPr>
          <a:xfrm>
            <a:off x="7589520" y="182880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AFTER THE VERB (or after with, to, for)</a:t>
            </a:r>
            <a:endParaRPr lang="en-US" sz="16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2377440" cy="6400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work here.</a:t>
            </a:r>
            <a:endParaRPr lang="en-US" sz="1800" dirty="0" b="1"/>
          </a:p>
        </p:txBody>
      </p:sp>
      <p:sp>
        <p:nvSpPr>
          <p:cNvPr id="19" name="Answer bg 1"/>
          <p:cNvSpPr/>
          <p:nvPr/>
        </p:nvSpPr>
        <p:spPr>
          <a:xfrm>
            <a:off x="7589520" y="2286000"/>
            <a:ext cx="4343400" cy="64008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7589520" y="2286000"/>
            <a:ext cx="4343400" cy="6400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me</a:t>
            </a: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 ·  My coworker always helps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me</a:t>
            </a: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800" dirty="0" b="0"/>
          </a:p>
        </p:txBody>
      </p:sp>
      <p:sp>
        <p:nvSpPr>
          <p:cNvPr id="21" name="Question 2"/>
          <p:cNvSpPr/>
          <p:nvPr/>
        </p:nvSpPr>
        <p:spPr>
          <a:xfrm>
            <a:off x="5138928" y="2999232"/>
            <a:ext cx="2377440" cy="6400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are new.</a:t>
            </a:r>
            <a:endParaRPr lang="en-US" sz="1800" dirty="0" b="1"/>
          </a:p>
        </p:txBody>
      </p:sp>
      <p:sp>
        <p:nvSpPr>
          <p:cNvPr id="22" name="Answer bg 2"/>
          <p:cNvSpPr/>
          <p:nvPr/>
        </p:nvSpPr>
        <p:spPr>
          <a:xfrm>
            <a:off x="7589520" y="2999232"/>
            <a:ext cx="4343400" cy="64008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7589520" y="2999232"/>
            <a:ext cx="4343400" cy="6400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</a:t>
            </a: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 ·  Can I help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</a:t>
            </a: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?</a:t>
            </a:r>
            <a:endParaRPr lang="en-US" sz="1800" dirty="0" b="0"/>
          </a:p>
        </p:txBody>
      </p:sp>
      <p:sp>
        <p:nvSpPr>
          <p:cNvPr id="24" name="Question 3"/>
          <p:cNvSpPr/>
          <p:nvPr/>
        </p:nvSpPr>
        <p:spPr>
          <a:xfrm>
            <a:off x="5138928" y="3712464"/>
            <a:ext cx="2377440" cy="6400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is friendly.</a:t>
            </a:r>
            <a:endParaRPr lang="en-US" sz="1800" dirty="0" b="1"/>
          </a:p>
        </p:txBody>
      </p:sp>
      <p:sp>
        <p:nvSpPr>
          <p:cNvPr id="25" name="Answer bg 3"/>
          <p:cNvSpPr/>
          <p:nvPr/>
        </p:nvSpPr>
        <p:spPr>
          <a:xfrm>
            <a:off x="7589520" y="3712464"/>
            <a:ext cx="4343400" cy="64008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7589520" y="3712464"/>
            <a:ext cx="4343400" cy="6400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him</a:t>
            </a: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 ·  Ask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him</a:t>
            </a: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for help.</a:t>
            </a:r>
            <a:endParaRPr lang="en-US" sz="1800" dirty="0" b="0"/>
          </a:p>
        </p:txBody>
      </p:sp>
      <p:sp>
        <p:nvSpPr>
          <p:cNvPr id="27" name="Question 4"/>
          <p:cNvSpPr/>
          <p:nvPr/>
        </p:nvSpPr>
        <p:spPr>
          <a:xfrm>
            <a:off x="5138928" y="4425696"/>
            <a:ext cx="2377440" cy="6400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is patient.</a:t>
            </a:r>
            <a:endParaRPr lang="en-US" sz="1800" dirty="0" b="1"/>
          </a:p>
        </p:txBody>
      </p:sp>
      <p:sp>
        <p:nvSpPr>
          <p:cNvPr id="28" name="Answer bg 4"/>
          <p:cNvSpPr/>
          <p:nvPr/>
        </p:nvSpPr>
        <p:spPr>
          <a:xfrm>
            <a:off x="7589520" y="4425696"/>
            <a:ext cx="4343400" cy="64008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9" name="Answer 4"/>
          <p:cNvSpPr/>
          <p:nvPr/>
        </p:nvSpPr>
        <p:spPr>
          <a:xfrm>
            <a:off x="7589520" y="4425696"/>
            <a:ext cx="4343400" cy="6400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her</a:t>
            </a: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 ·  I work with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her</a:t>
            </a: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800" dirty="0" b="0"/>
          </a:p>
        </p:txBody>
      </p:sp>
      <p:sp>
        <p:nvSpPr>
          <p:cNvPr id="30" name="Question 5"/>
          <p:cNvSpPr/>
          <p:nvPr/>
        </p:nvSpPr>
        <p:spPr>
          <a:xfrm>
            <a:off x="5138928" y="5138928"/>
            <a:ext cx="2377440" cy="6400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are new.</a:t>
            </a:r>
            <a:endParaRPr lang="en-US" sz="1800" dirty="0" b="1"/>
          </a:p>
        </p:txBody>
      </p:sp>
      <p:sp>
        <p:nvSpPr>
          <p:cNvPr id="31" name="Answer bg 5"/>
          <p:cNvSpPr/>
          <p:nvPr/>
        </p:nvSpPr>
        <p:spPr>
          <a:xfrm>
            <a:off x="7589520" y="5138928"/>
            <a:ext cx="4343400" cy="64008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2" name="Answer 5"/>
          <p:cNvSpPr/>
          <p:nvPr/>
        </p:nvSpPr>
        <p:spPr>
          <a:xfrm>
            <a:off x="7589520" y="5138928"/>
            <a:ext cx="4343400" cy="6400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</a:t>
            </a: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 ·  Linda trains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</a:t>
            </a: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on Mondays.</a:t>
            </a:r>
            <a:endParaRPr lang="en-US" sz="1800" dirty="0" b="0"/>
          </a:p>
        </p:txBody>
      </p:sp>
      <p:sp>
        <p:nvSpPr>
          <p:cNvPr id="33" name="Question 6"/>
          <p:cNvSpPr/>
          <p:nvPr/>
        </p:nvSpPr>
        <p:spPr>
          <a:xfrm>
            <a:off x="5138928" y="5852160"/>
            <a:ext cx="2377440" cy="6400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They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are funny.</a:t>
            </a:r>
            <a:endParaRPr lang="en-US" sz="1800" dirty="0" b="1"/>
          </a:p>
        </p:txBody>
      </p:sp>
      <p:sp>
        <p:nvSpPr>
          <p:cNvPr id="34" name="Answer bg 6"/>
          <p:cNvSpPr/>
          <p:nvPr/>
        </p:nvSpPr>
        <p:spPr>
          <a:xfrm>
            <a:off x="7589520" y="5852160"/>
            <a:ext cx="4343400" cy="64008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5" name="Answer 6"/>
          <p:cNvSpPr/>
          <p:nvPr/>
        </p:nvSpPr>
        <p:spPr>
          <a:xfrm>
            <a:off x="7589520" y="5852160"/>
            <a:ext cx="4343400" cy="6400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them</a:t>
            </a: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 ·  I like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them</a:t>
            </a: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 lot.</a:t>
            </a:r>
            <a:endParaRPr lang="en-US" sz="18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qa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right panel"/>
          <p:cNvSpPr/>
          <p:nvPr/>
        </p:nvSpPr>
        <p:spPr>
          <a:xfrm>
            <a:off x="6742786" y="3291840"/>
            <a:ext cx="4912157" cy="310896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8" name="pic" descr="Friendly: smiling face + waving hand, bubble &quot;Hi! Welcome!&quot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143000"/>
            <a:ext cx="2743200" cy="1920240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560116" y="1350752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93446" y="1286561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832104" y="1325880"/>
            <a:ext cx="5257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5</a:t>
            </a:r>
            <a:endParaRPr lang="en-US" sz="2000" dirty="0" b="1"/>
          </a:p>
          <a:p>
            <a:pPr algn="l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Questions and Answers</a:t>
            </a:r>
            <a:endParaRPr lang="en-US" sz="3200" dirty="0" b="1"/>
          </a:p>
          <a:p>
            <a:pPr algn="l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with object pronouns</a:t>
            </a:r>
            <a:endParaRPr lang="en-US" sz="1800" dirty="0" b="0"/>
          </a:p>
        </p:txBody>
      </p:sp>
      <p:sp>
        <p:nvSpPr>
          <p:cNvPr id="8" name="left panel"/>
          <p:cNvSpPr/>
          <p:nvPr/>
        </p:nvSpPr>
        <p:spPr>
          <a:xfrm>
            <a:off x="1305763" y="3291840"/>
            <a:ext cx="4790542" cy="31089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2540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9" name="Q head"/>
          <p:cNvSpPr/>
          <p:nvPr/>
        </p:nvSpPr>
        <p:spPr>
          <a:xfrm>
            <a:off x="1920240" y="3429000"/>
            <a:ext cx="27432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20" name="A head"/>
          <p:cNvSpPr/>
          <p:nvPr/>
        </p:nvSpPr>
        <p:spPr>
          <a:xfrm>
            <a:off x="7040880" y="3429000"/>
            <a:ext cx="27432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21" name="Question 1"/>
          <p:cNvSpPr/>
          <p:nvPr/>
        </p:nvSpPr>
        <p:spPr>
          <a:xfrm>
            <a:off x="1481328" y="3977640"/>
            <a:ext cx="4526280" cy="5669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know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Ana</a:t>
            </a: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?</a:t>
            </a:r>
            <a:endParaRPr lang="en-US" sz="1800" dirty="0"/>
          </a:p>
        </p:txBody>
      </p:sp>
      <p:sp>
        <p:nvSpPr>
          <p:cNvPr id="22" name="Answer bg 1"/>
          <p:cNvSpPr/>
          <p:nvPr/>
        </p:nvSpPr>
        <p:spPr>
          <a:xfrm>
            <a:off x="6949440" y="3977640"/>
            <a:ext cx="4526280" cy="56692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1"/>
          <p:cNvSpPr/>
          <p:nvPr/>
        </p:nvSpPr>
        <p:spPr>
          <a:xfrm>
            <a:off x="6949440" y="3977640"/>
            <a:ext cx="4526280" cy="5669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 work with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her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always helps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me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700" dirty="0" b="1"/>
          </a:p>
        </p:txBody>
      </p:sp>
      <p:sp>
        <p:nvSpPr>
          <p:cNvPr id="24" name="Question 2"/>
          <p:cNvSpPr/>
          <p:nvPr/>
        </p:nvSpPr>
        <p:spPr>
          <a:xfrm>
            <a:off x="1481328" y="4590288"/>
            <a:ext cx="4526280" cy="5669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know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Mr. Lee</a:t>
            </a: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?</a:t>
            </a:r>
            <a:endParaRPr lang="en-US" sz="1800" dirty="0"/>
          </a:p>
        </p:txBody>
      </p:sp>
      <p:sp>
        <p:nvSpPr>
          <p:cNvPr id="25" name="Answer bg 2"/>
          <p:cNvSpPr/>
          <p:nvPr/>
        </p:nvSpPr>
        <p:spPr>
          <a:xfrm>
            <a:off x="6949440" y="4590288"/>
            <a:ext cx="4526280" cy="56692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2"/>
          <p:cNvSpPr/>
          <p:nvPr/>
        </p:nvSpPr>
        <p:spPr>
          <a:xfrm>
            <a:off x="6949440" y="4590288"/>
            <a:ext cx="4526280" cy="5669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 see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him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every day.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He's our neighbor.</a:t>
            </a:r>
            <a:endParaRPr lang="en-US" sz="1700" dirty="0" b="1"/>
          </a:p>
        </p:txBody>
      </p:sp>
      <p:sp>
        <p:nvSpPr>
          <p:cNvPr id="27" name="Question 3"/>
          <p:cNvSpPr/>
          <p:nvPr/>
        </p:nvSpPr>
        <p:spPr>
          <a:xfrm>
            <a:off x="1481328" y="5202936"/>
            <a:ext cx="4526280" cy="5669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like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your coworkers</a:t>
            </a: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?</a:t>
            </a:r>
            <a:endParaRPr lang="en-US" sz="1800" dirty="0"/>
          </a:p>
        </p:txBody>
      </p:sp>
      <p:sp>
        <p:nvSpPr>
          <p:cNvPr id="28" name="Answer bg 3"/>
          <p:cNvSpPr/>
          <p:nvPr/>
        </p:nvSpPr>
        <p:spPr>
          <a:xfrm>
            <a:off x="6949440" y="5202936"/>
            <a:ext cx="4526280" cy="56692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9" name="Answer 3"/>
          <p:cNvSpPr/>
          <p:nvPr/>
        </p:nvSpPr>
        <p:spPr>
          <a:xfrm>
            <a:off x="6949440" y="5202936"/>
            <a:ext cx="4526280" cy="5669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 like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them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 lot.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They're very friendly.</a:t>
            </a:r>
            <a:endParaRPr lang="en-US" sz="1700" dirty="0" b="1"/>
          </a:p>
        </p:txBody>
      </p:sp>
      <p:sp>
        <p:nvSpPr>
          <p:cNvPr id="30" name="Question 4"/>
          <p:cNvSpPr/>
          <p:nvPr/>
        </p:nvSpPr>
        <p:spPr>
          <a:xfrm>
            <a:off x="1481328" y="5815584"/>
            <a:ext cx="4526280" cy="5669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you call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</a:t>
            </a: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later?</a:t>
            </a:r>
            <a:endParaRPr lang="en-US" sz="1800" dirty="0"/>
          </a:p>
        </p:txBody>
      </p:sp>
      <p:sp>
        <p:nvSpPr>
          <p:cNvPr id="31" name="Answer bg 4"/>
          <p:cNvSpPr/>
          <p:nvPr/>
        </p:nvSpPr>
        <p:spPr>
          <a:xfrm>
            <a:off x="6949440" y="5815584"/>
            <a:ext cx="4526280" cy="56692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2" name="Answer 4"/>
          <p:cNvSpPr/>
          <p:nvPr/>
        </p:nvSpPr>
        <p:spPr>
          <a:xfrm>
            <a:off x="6949440" y="5815584"/>
            <a:ext cx="4526280" cy="5669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Sure. I can call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at 6:00.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13294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07533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14300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A: write the word.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54533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me  ·  him  ·  her  ·  it  ·  us  ·  them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word.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your answers.</a:t>
            </a:r>
            <a:endParaRPr lang="en-US" sz="2000" dirty="0" b="0"/>
          </a:p>
        </p:txBody>
      </p:sp>
      <p:sp>
        <p:nvSpPr>
          <p:cNvPr id="31" name="R1 card"/>
          <p:cNvSpPr/>
          <p:nvPr/>
        </p:nvSpPr>
        <p:spPr>
          <a:xfrm>
            <a:off x="1583741" y="2123237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123237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1581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123237"/>
            <a:ext cx="422452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Ana is my neighbor. I see ____ every day.</a:t>
            </a:r>
            <a:endParaRPr lang="en-US" sz="1800" dirty="0"/>
          </a:p>
        </p:txBody>
      </p:sp>
      <p:sp>
        <p:nvSpPr>
          <p:cNvPr id="35" name="R1 ans"/>
          <p:cNvSpPr/>
          <p:nvPr/>
        </p:nvSpPr>
        <p:spPr>
          <a:xfrm>
            <a:off x="6108192" y="2222144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her</a:t>
            </a:r>
            <a:endParaRPr lang="en-US" sz="20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2851404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2851404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28863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2851404"/>
            <a:ext cx="422452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My brothers are very funny. I love ____.</a:t>
            </a:r>
            <a:endParaRPr lang="en-US" sz="1800" dirty="0"/>
          </a:p>
        </p:txBody>
      </p:sp>
      <p:sp>
        <p:nvSpPr>
          <p:cNvPr id="40" name="R2 ans"/>
          <p:cNvSpPr/>
          <p:nvPr/>
        </p:nvSpPr>
        <p:spPr>
          <a:xfrm>
            <a:off x="6108192" y="2950312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them</a:t>
            </a:r>
            <a:endParaRPr lang="en-US" sz="20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579571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579571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361447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579571"/>
            <a:ext cx="422452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Mr. Silva is patient. Ask ____ for help.</a:t>
            </a:r>
            <a:endParaRPr lang="en-US" sz="1800" dirty="0"/>
          </a:p>
        </p:txBody>
      </p:sp>
      <p:sp>
        <p:nvSpPr>
          <p:cNvPr id="45" name="R3 ans"/>
          <p:cNvSpPr/>
          <p:nvPr/>
        </p:nvSpPr>
        <p:spPr>
          <a:xfrm>
            <a:off x="6108192" y="3678479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him</a:t>
            </a:r>
            <a:endParaRPr lang="en-US" sz="20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307738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307738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34263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307738"/>
            <a:ext cx="422452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We're new here. Can you help ____?</a:t>
            </a:r>
            <a:endParaRPr lang="en-US" sz="1800" dirty="0"/>
          </a:p>
        </p:txBody>
      </p:sp>
      <p:sp>
        <p:nvSpPr>
          <p:cNvPr id="50" name="R4 ans"/>
          <p:cNvSpPr/>
          <p:nvPr/>
        </p:nvSpPr>
        <p:spPr>
          <a:xfrm>
            <a:off x="6108192" y="4406646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</a:t>
            </a:r>
            <a:endParaRPr lang="en-US" sz="20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035906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035906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07080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035906"/>
            <a:ext cx="422452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a little shy. Please talk to ____ slowly.</a:t>
            </a:r>
            <a:endParaRPr lang="en-US" sz="1800" dirty="0"/>
          </a:p>
        </p:txBody>
      </p:sp>
      <p:sp>
        <p:nvSpPr>
          <p:cNvPr id="55" name="R5 ans"/>
          <p:cNvSpPr/>
          <p:nvPr/>
        </p:nvSpPr>
        <p:spPr>
          <a:xfrm>
            <a:off x="6108192" y="5134813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me</a:t>
            </a:r>
            <a:endParaRPr lang="en-US" sz="2000" dirty="0" b="1"/>
          </a:p>
        </p:txBody>
      </p:sp>
      <p:sp>
        <p:nvSpPr>
          <p:cNvPr id="56" name="R6 card"/>
          <p:cNvSpPr/>
          <p:nvPr/>
        </p:nvSpPr>
        <p:spPr>
          <a:xfrm>
            <a:off x="1583741" y="5764073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R6 chip"/>
          <p:cNvSpPr/>
          <p:nvPr/>
        </p:nvSpPr>
        <p:spPr>
          <a:xfrm>
            <a:off x="544982" y="5764073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8" name="R6 num"/>
          <p:cNvSpPr/>
          <p:nvPr/>
        </p:nvSpPr>
        <p:spPr>
          <a:xfrm>
            <a:off x="686714" y="5798972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6</a:t>
            </a:r>
            <a:endParaRPr lang="en-US" sz="3200" dirty="0" b="1"/>
          </a:p>
        </p:txBody>
      </p:sp>
      <p:sp>
        <p:nvSpPr>
          <p:cNvPr id="59" name="R6 text"/>
          <p:cNvSpPr/>
          <p:nvPr/>
        </p:nvSpPr>
        <p:spPr>
          <a:xfrm>
            <a:off x="1810512" y="5764073"/>
            <a:ext cx="422452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That's my phone. Can you give ____ to me?</a:t>
            </a:r>
            <a:endParaRPr lang="en-US" sz="1800" dirty="0"/>
          </a:p>
        </p:txBody>
      </p:sp>
      <p:sp>
        <p:nvSpPr>
          <p:cNvPr id="60" name="R6 ans"/>
          <p:cNvSpPr/>
          <p:nvPr/>
        </p:nvSpPr>
        <p:spPr>
          <a:xfrm>
            <a:off x="6108192" y="5862980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checksay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68158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1583741" y="1623974"/>
            <a:ext cx="5130698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1810512" y="1691640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B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1901952" y="209397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look like or like.</a:t>
            </a:r>
            <a:endParaRPr lang="en-US" sz="2000" dirty="0"/>
          </a:p>
        </p:txBody>
      </p:sp>
      <p:sp>
        <p:nvSpPr>
          <p:cNvPr id="19" name="head chip"/>
          <p:cNvSpPr/>
          <p:nvPr/>
        </p:nvSpPr>
        <p:spPr>
          <a:xfrm>
            <a:off x="544982" y="1623974"/>
            <a:ext cx="1039673" cy="98389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0" name="head num"/>
          <p:cNvSpPr/>
          <p:nvPr/>
        </p:nvSpPr>
        <p:spPr>
          <a:xfrm>
            <a:off x="686714" y="1754734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</a:t>
            </a:r>
            <a:endParaRPr lang="en-US" sz="3600" dirty="0" b="1"/>
          </a:p>
        </p:txBody>
      </p:sp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B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 like = looks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like = personality</a:t>
            </a:r>
            <a:endParaRPr lang="en-US" sz="2000" dirty="0" b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your answers.</a:t>
            </a:r>
            <a:endParaRPr lang="en-US" sz="2000" dirty="0" b="0"/>
          </a:p>
        </p:txBody>
      </p:sp>
      <p:sp>
        <p:nvSpPr>
          <p:cNvPr id="31" name="R1 card"/>
          <p:cNvSpPr/>
          <p:nvPr/>
        </p:nvSpPr>
        <p:spPr>
          <a:xfrm>
            <a:off x="1583741" y="2715768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715768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77977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715768"/>
            <a:ext cx="31729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does your brother ____? He's tall, and he has a beard.</a:t>
            </a:r>
            <a:endParaRPr lang="en-US" sz="1600" dirty="0"/>
          </a:p>
        </p:txBody>
      </p:sp>
      <p:sp>
        <p:nvSpPr>
          <p:cNvPr id="35" name="R1 ans"/>
          <p:cNvSpPr/>
          <p:nvPr/>
        </p:nvSpPr>
        <p:spPr>
          <a:xfrm>
            <a:off x="5056632" y="2843784"/>
            <a:ext cx="16002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 like</a:t>
            </a:r>
            <a:endParaRPr lang="en-US" sz="17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3537814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3537814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3601822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3537814"/>
            <a:ext cx="31729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What's your teacher ____? She's very patient.</a:t>
            </a:r>
            <a:endParaRPr lang="en-US" sz="1600" dirty="0"/>
          </a:p>
        </p:txBody>
      </p:sp>
      <p:sp>
        <p:nvSpPr>
          <p:cNvPr id="40" name="R2 ans"/>
          <p:cNvSpPr/>
          <p:nvPr/>
        </p:nvSpPr>
        <p:spPr>
          <a:xfrm>
            <a:off x="5056632" y="3665830"/>
            <a:ext cx="16002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like</a:t>
            </a:r>
            <a:endParaRPr lang="en-US" sz="17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4359859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4359859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442386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4359859"/>
            <a:ext cx="31729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are your neighbors ____? They're friendly.</a:t>
            </a:r>
            <a:endParaRPr lang="en-US" sz="1600" dirty="0"/>
          </a:p>
        </p:txBody>
      </p:sp>
      <p:sp>
        <p:nvSpPr>
          <p:cNvPr id="45" name="R3 ans"/>
          <p:cNvSpPr/>
          <p:nvPr/>
        </p:nvSpPr>
        <p:spPr>
          <a:xfrm>
            <a:off x="5056632" y="4487875"/>
            <a:ext cx="16002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like</a:t>
            </a:r>
            <a:endParaRPr lang="en-US" sz="17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5181905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5181905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5245913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5181905"/>
            <a:ext cx="31729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does she ____? She has curly hair and glasses.</a:t>
            </a:r>
            <a:endParaRPr lang="en-US" sz="1600" dirty="0"/>
          </a:p>
        </p:txBody>
      </p:sp>
      <p:sp>
        <p:nvSpPr>
          <p:cNvPr id="50" name="R4 ans"/>
          <p:cNvSpPr/>
          <p:nvPr/>
        </p:nvSpPr>
        <p:spPr>
          <a:xfrm>
            <a:off x="5056632" y="5309921"/>
            <a:ext cx="16002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 like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mistake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442448" y="1188720"/>
            <a:ext cx="1691640" cy="13716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501091" y="2020824"/>
            <a:ext cx="354330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388206" y="2020824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457200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393192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1828800"/>
            <a:ext cx="3610966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519879" y="1828800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itle"/>
          <p:cNvSpPr/>
          <p:nvPr/>
        </p:nvSpPr>
        <p:spPr>
          <a:xfrm>
            <a:off x="608076" y="45720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Common Mistakes</a:t>
            </a:r>
            <a:endParaRPr lang="en-US" sz="4300" dirty="0" b="1"/>
          </a:p>
        </p:txBody>
      </p:sp>
      <p:pic>
        <p:nvPicPr>
          <p:cNvPr id="21" name="pic" descr="Glasses: a pair of glasses + a woman wearing glasses, labe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1325880"/>
            <a:ext cx="1554480" cy="1088136"/>
          </a:xfrm>
          <a:prstGeom prst="rect">
            <a:avLst/>
          </a:prstGeom>
        </p:spPr>
      </p:pic>
      <p:sp>
        <p:nvSpPr>
          <p:cNvPr id="22" name="Dont head"/>
          <p:cNvSpPr/>
          <p:nvPr/>
        </p:nvSpPr>
        <p:spPr>
          <a:xfrm>
            <a:off x="914400" y="1938528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23" name="Say head"/>
          <p:cNvSpPr/>
          <p:nvPr/>
        </p:nvSpPr>
        <p:spPr>
          <a:xfrm>
            <a:off x="4800600" y="1938528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24" name="Bad 1"/>
          <p:cNvSpPr/>
          <p:nvPr/>
        </p:nvSpPr>
        <p:spPr>
          <a:xfrm>
            <a:off x="914400" y="2468880"/>
            <a:ext cx="3246120" cy="459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has long hairs.</a:t>
            </a:r>
            <a:endParaRPr lang="en-US" sz="1600" dirty="0"/>
          </a:p>
        </p:txBody>
      </p:sp>
      <p:sp>
        <p:nvSpPr>
          <p:cNvPr id="25" name="Good 1"/>
          <p:cNvSpPr/>
          <p:nvPr/>
        </p:nvSpPr>
        <p:spPr>
          <a:xfrm>
            <a:off x="4800600" y="2468880"/>
            <a:ext cx="5394960" cy="459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has long 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hair</a:t>
            </a: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600" dirty="0" b="0"/>
          </a:p>
        </p:txBody>
      </p:sp>
      <p:sp>
        <p:nvSpPr>
          <p:cNvPr id="26" name="Bad 2"/>
          <p:cNvSpPr/>
          <p:nvPr/>
        </p:nvSpPr>
        <p:spPr>
          <a:xfrm>
            <a:off x="914400" y="2992240"/>
            <a:ext cx="3246120" cy="717535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does she like? (about personality)</a:t>
            </a:r>
            <a:endParaRPr lang="en-US" sz="1600" dirty="0"/>
          </a:p>
        </p:txBody>
      </p:sp>
      <p:sp>
        <p:nvSpPr>
          <p:cNvPr id="27" name="Good 2"/>
          <p:cNvSpPr/>
          <p:nvPr/>
        </p:nvSpPr>
        <p:spPr>
          <a:xfrm>
            <a:off x="4800600" y="2992240"/>
            <a:ext cx="5394960" cy="717535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What's she 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like</a:t>
            </a: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? /</a:t>
            </a:r>
            <a:endParaRPr lang="en-US" sz="1600" dirty="0" b="0"/>
          </a:p>
          <a:p>
            <a:pPr algn="l" indent="0" marL="0"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does she 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 like</a:t>
            </a: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?</a:t>
            </a:r>
            <a:endParaRPr lang="en-US" sz="1600" dirty="0" b="0"/>
          </a:p>
        </p:txBody>
      </p:sp>
      <p:sp>
        <p:nvSpPr>
          <p:cNvPr id="28" name="Bad 3"/>
          <p:cNvSpPr/>
          <p:nvPr/>
        </p:nvSpPr>
        <p:spPr>
          <a:xfrm>
            <a:off x="914400" y="3773783"/>
            <a:ext cx="3246120" cy="459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 is a man very tall.</a:t>
            </a:r>
            <a:endParaRPr lang="en-US" sz="1600" dirty="0"/>
          </a:p>
        </p:txBody>
      </p:sp>
      <p:sp>
        <p:nvSpPr>
          <p:cNvPr id="29" name="Good 3"/>
          <p:cNvSpPr/>
          <p:nvPr/>
        </p:nvSpPr>
        <p:spPr>
          <a:xfrm>
            <a:off x="4800600" y="3773783"/>
            <a:ext cx="5394960" cy="459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He's a 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very tall man</a:t>
            </a: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 / He's 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very tall</a:t>
            </a: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600" dirty="0" b="0"/>
          </a:p>
        </p:txBody>
      </p:sp>
      <p:sp>
        <p:nvSpPr>
          <p:cNvPr id="30" name="Bad 4"/>
          <p:cNvSpPr/>
          <p:nvPr/>
        </p:nvSpPr>
        <p:spPr>
          <a:xfrm>
            <a:off x="914400" y="4297142"/>
            <a:ext cx="3246120" cy="459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two talls men</a:t>
            </a:r>
            <a:endParaRPr lang="en-US" sz="1600" dirty="0"/>
          </a:p>
        </p:txBody>
      </p:sp>
      <p:sp>
        <p:nvSpPr>
          <p:cNvPr id="31" name="Good 4"/>
          <p:cNvSpPr/>
          <p:nvPr/>
        </p:nvSpPr>
        <p:spPr>
          <a:xfrm>
            <a:off x="4800600" y="4297142"/>
            <a:ext cx="5394960" cy="459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two 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tall</a:t>
            </a: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men</a:t>
            </a:r>
            <a:endParaRPr lang="en-US" sz="1600" dirty="0" b="0"/>
          </a:p>
        </p:txBody>
      </p:sp>
      <p:sp>
        <p:nvSpPr>
          <p:cNvPr id="32" name="Bad 5"/>
          <p:cNvSpPr/>
          <p:nvPr/>
        </p:nvSpPr>
        <p:spPr>
          <a:xfrm>
            <a:off x="914400" y="4820502"/>
            <a:ext cx="3246120" cy="459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know Ana? Yes, I know.</a:t>
            </a:r>
            <a:endParaRPr lang="en-US" sz="1600" dirty="0"/>
          </a:p>
        </p:txBody>
      </p:sp>
      <p:sp>
        <p:nvSpPr>
          <p:cNvPr id="33" name="Good 5"/>
          <p:cNvSpPr/>
          <p:nvPr/>
        </p:nvSpPr>
        <p:spPr>
          <a:xfrm>
            <a:off x="4800600" y="4820502"/>
            <a:ext cx="5394960" cy="459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 know 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her</a:t>
            </a: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600" dirty="0" b="0"/>
          </a:p>
        </p:txBody>
      </p:sp>
      <p:sp>
        <p:nvSpPr>
          <p:cNvPr id="34" name="Bad 6"/>
          <p:cNvSpPr/>
          <p:nvPr/>
        </p:nvSpPr>
        <p:spPr>
          <a:xfrm>
            <a:off x="914400" y="5343861"/>
            <a:ext cx="3246120" cy="459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work with she.</a:t>
            </a:r>
            <a:endParaRPr lang="en-US" sz="1600" dirty="0"/>
          </a:p>
        </p:txBody>
      </p:sp>
      <p:sp>
        <p:nvSpPr>
          <p:cNvPr id="35" name="Good 6"/>
          <p:cNvSpPr/>
          <p:nvPr/>
        </p:nvSpPr>
        <p:spPr>
          <a:xfrm>
            <a:off x="4800600" y="5343861"/>
            <a:ext cx="5394960" cy="459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work with 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her</a:t>
            </a: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600" dirty="0" b="0"/>
          </a:p>
        </p:txBody>
      </p:sp>
      <p:sp>
        <p:nvSpPr>
          <p:cNvPr id="36" name="Bad 7"/>
          <p:cNvSpPr/>
          <p:nvPr/>
        </p:nvSpPr>
        <p:spPr>
          <a:xfrm>
            <a:off x="914400" y="5867221"/>
            <a:ext cx="3246120" cy="459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 help me every day.</a:t>
            </a:r>
            <a:endParaRPr lang="en-US" sz="1600" dirty="0"/>
          </a:p>
        </p:txBody>
      </p:sp>
      <p:sp>
        <p:nvSpPr>
          <p:cNvPr id="37" name="Good 7"/>
          <p:cNvSpPr/>
          <p:nvPr/>
        </p:nvSpPr>
        <p:spPr>
          <a:xfrm>
            <a:off x="4800600" y="5867221"/>
            <a:ext cx="5394960" cy="459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 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helps me</a:t>
            </a: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every day.</a:t>
            </a:r>
            <a:endParaRPr lang="en-US" sz="16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drill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pic>
        <p:nvPicPr>
          <p:cNvPr id="26" name="pic" descr="Friendly: smiling face + waving hand, bubble &quot;Hi! Welcome!&quot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739" y="3680460"/>
            <a:ext cx="3449901" cy="2414930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560984" y="1342842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89788" y="1277417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771754" y="14173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 Drill</a:t>
            </a:r>
            <a:endParaRPr lang="en-US" sz="4000" dirty="0" b="1"/>
          </a:p>
        </p:txBody>
      </p:sp>
      <p:sp>
        <p:nvSpPr>
          <p:cNvPr id="7" name="Shape 5"/>
          <p:cNvSpPr/>
          <p:nvPr/>
        </p:nvSpPr>
        <p:spPr>
          <a:xfrm>
            <a:off x="6107278" y="138257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107278" y="371429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035040" y="132588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172200" y="1946757"/>
            <a:ext cx="678485" cy="678485"/>
          </a:xfrm>
          <a:prstGeom prst="star32">
            <a:avLst>
              <a:gd name="adj" fmla="val 43755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172200" y="194675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2000" dirty="0"/>
          </a:p>
        </p:txBody>
      </p:sp>
      <p:sp>
        <p:nvSpPr>
          <p:cNvPr id="13" name="s1 label"/>
          <p:cNvSpPr/>
          <p:nvPr/>
        </p:nvSpPr>
        <p:spPr>
          <a:xfrm>
            <a:off x="6995160" y="15087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names a person. B describes.</a:t>
            </a:r>
            <a:endParaRPr lang="en-US" sz="2200" dirty="0" b="1"/>
          </a:p>
        </p:txBody>
      </p:sp>
      <p:sp>
        <p:nvSpPr>
          <p:cNvPr id="14" name="Shape 12"/>
          <p:cNvSpPr/>
          <p:nvPr/>
        </p:nvSpPr>
        <p:spPr>
          <a:xfrm>
            <a:off x="6035040" y="365760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172200" y="4278477"/>
            <a:ext cx="678485" cy="678485"/>
          </a:xfrm>
          <a:prstGeom prst="star32">
            <a:avLst>
              <a:gd name="adj" fmla="val 4375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72200" y="427847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s2 label"/>
          <p:cNvSpPr/>
          <p:nvPr/>
        </p:nvSpPr>
        <p:spPr>
          <a:xfrm>
            <a:off x="6995160" y="38404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asks: What's she like?</a:t>
            </a:r>
            <a:endParaRPr lang="en-US" sz="2200" dirty="0" b="1"/>
          </a:p>
        </p:txBody>
      </p:sp>
      <p:sp>
        <p:nvSpPr>
          <p:cNvPr id="60" name="s1 body"/>
          <p:cNvSpPr/>
          <p:nvPr/>
        </p:nvSpPr>
        <p:spPr>
          <a:xfrm>
            <a:off x="6995160" y="21031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A:</a:t>
            </a: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(a classmate's name)</a:t>
            </a:r>
            <a:endParaRPr lang="en-US" sz="2200" dirty="0" b="0"/>
          </a:p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B:</a:t>
            </a: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She's tall. She has curly hair.</a:t>
            </a:r>
            <a:endParaRPr lang="en-US" sz="2200" dirty="0" b="0"/>
          </a:p>
        </p:txBody>
      </p:sp>
      <p:sp>
        <p:nvSpPr>
          <p:cNvPr id="70" name="s2 body"/>
          <p:cNvSpPr/>
          <p:nvPr/>
        </p:nvSpPr>
        <p:spPr>
          <a:xfrm>
            <a:off x="6995160" y="44348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B:</a:t>
            </a: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She's friendly and funny.</a:t>
            </a:r>
            <a:endParaRPr lang="en-US" sz="2200" dirty="0" b="0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switch roles.</a:t>
            </a:r>
            <a:endParaRPr lang="en-US" sz="2200" dirty="0" b="1"/>
          </a:p>
        </p:txBody>
      </p:sp>
      <p:sp>
        <p:nvSpPr>
          <p:cNvPr id="25" name="sub"/>
          <p:cNvSpPr/>
          <p:nvPr/>
        </p:nvSpPr>
        <p:spPr>
          <a:xfrm>
            <a:off x="771754" y="2148840"/>
            <a:ext cx="4572000" cy="685800"/>
          </a:xfrm>
          <a:prstGeom prst="rect">
            <a:avLst/>
          </a:prstGeom>
          <a:noFill/>
          <a:ln w="38100">
            <a:noFill/>
          </a:ln>
        </p:spPr>
        <p:txBody>
          <a:bodyPr wrap="square" lIns="91440" tIns="36576" rIns="9144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names a classmate. B describes the person. Kind words only.</a:t>
            </a:r>
            <a:endParaRPr lang="en-US" sz="2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tal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pic" descr="The bus station crowd, people 1 to 12: twelve numbered people at a bus station, different heights, hair, beards, glasses and shirt color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987" y="3418942"/>
            <a:ext cx="3804636" cy="2717597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Pick Them Up</a:t>
            </a:r>
            <a:endParaRPr lang="en-US" sz="2600" dirty="0" b="1"/>
          </a:p>
        </p:txBody>
      </p:sp>
      <p:sp>
        <p:nvSpPr>
          <p:cNvPr id="8" name="grouping"/>
          <p:cNvSpPr/>
          <p:nvPr/>
        </p:nvSpPr>
        <p:spPr>
          <a:xfrm>
            <a:off x="6291072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Pairs. A has a card.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show it!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ime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7:00–7:12</a:t>
            </a:r>
            <a:endParaRPr lang="en-US" sz="2000" dirty="0" b="1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A: Can you pick up my cousin?</a:t>
            </a:r>
            <a:endParaRPr lang="en-US" sz="2200" dirty="0" b="1"/>
          </a:p>
          <a:p>
            <a:pPr algn="l" indent="0" marL="0">
              <a:buNone/>
            </a:pPr>
            <a:r>
              <a:rPr lang="en-US" sz="20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B: What does she look like?</a:t>
            </a:r>
            <a:endParaRPr lang="en-US" sz="2000" dirty="0" b="0"/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describes the person.</a:t>
            </a:r>
            <a:endParaRPr lang="en-US" sz="2200" dirty="0" b="1"/>
          </a:p>
          <a:p>
            <a:pPr algn="l" indent="0" marL="0">
              <a:buNone/>
            </a:pPr>
            <a:r>
              <a:rPr lang="en-US" sz="20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She's tall. She has glasses.</a:t>
            </a:r>
            <a:endParaRPr lang="en-US" sz="2000" dirty="0" b="0"/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says the number.</a:t>
            </a:r>
            <a:endParaRPr lang="en-US" sz="2200" dirty="0" b="1"/>
          </a:p>
          <a:p>
            <a:pPr algn="l" indent="0" marL="0">
              <a:buNone/>
            </a:pPr>
            <a:r>
              <a:rPr lang="en-US" sz="20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that her? Number 7?</a:t>
            </a:r>
            <a:endParaRPr lang="en-US" sz="20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o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4982" y="786384"/>
            <a:ext cx="5486400" cy="5731459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147718" y="2196389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992270" y="1937614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343400" y="21031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 Go  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7:12–7:17</a:t>
            </a:r>
            <a:endParaRPr lang="en-US" sz="4000" dirty="0"/>
          </a:p>
        </p:txBody>
      </p:sp>
      <p:pic>
        <p:nvPicPr>
          <p:cNvPr id="16" name="pic" descr="Funny: a joking face and two laughing faces, bubble &quot;Ha ha ha!&quot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651760"/>
            <a:ext cx="3017520" cy="2112264"/>
          </a:xfrm>
          <a:prstGeom prst="rect">
            <a:avLst/>
          </a:prstGeom>
        </p:spPr>
      </p:pic>
      <p:sp>
        <p:nvSpPr>
          <p:cNvPr id="17" name="Num 01"/>
          <p:cNvSpPr/>
          <p:nvPr/>
        </p:nvSpPr>
        <p:spPr>
          <a:xfrm>
            <a:off x="4343400" y="333756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000" dirty="0"/>
          </a:p>
        </p:txBody>
      </p:sp>
      <p:sp>
        <p:nvSpPr>
          <p:cNvPr id="18" name="Label 01"/>
          <p:cNvSpPr/>
          <p:nvPr/>
        </p:nvSpPr>
        <p:spPr>
          <a:xfrm>
            <a:off x="5120640" y="333756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Exit ticket</a:t>
            </a:r>
            <a:endParaRPr lang="en-US" sz="2200" dirty="0" b="1"/>
          </a:p>
        </p:txBody>
      </p:sp>
      <p:sp>
        <p:nvSpPr>
          <p:cNvPr id="19" name="Body 01"/>
          <p:cNvSpPr/>
          <p:nvPr/>
        </p:nvSpPr>
        <p:spPr>
          <a:xfrm>
            <a:off x="4343400" y="3977640"/>
            <a:ext cx="3520440" cy="21945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two sentences:</a:t>
            </a:r>
            <a:endParaRPr lang="en-US" sz="18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How a person looks.</a:t>
            </a:r>
            <a:endParaRPr lang="en-US" sz="18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What the person is like, with because or so:</a:t>
            </a:r>
            <a:endParaRPr lang="en-US" sz="18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My brother is funny, so everyone likes him.</a:t>
            </a:r>
            <a:endParaRPr lang="en-US" sz="18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Give it to me at the door.</a:t>
            </a:r>
            <a:endParaRPr lang="en-US" sz="1800" dirty="0" b="0"/>
          </a:p>
        </p:txBody>
      </p:sp>
      <p:sp>
        <p:nvSpPr>
          <p:cNvPr id="20" name="Num 02"/>
          <p:cNvSpPr/>
          <p:nvPr/>
        </p:nvSpPr>
        <p:spPr>
          <a:xfrm>
            <a:off x="8001000" y="333756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000" dirty="0"/>
          </a:p>
        </p:txBody>
      </p:sp>
      <p:sp>
        <p:nvSpPr>
          <p:cNvPr id="21" name="Label 02"/>
          <p:cNvSpPr/>
          <p:nvPr/>
        </p:nvSpPr>
        <p:spPr>
          <a:xfrm>
            <a:off x="8778240" y="333756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</a:t>
            </a:r>
            <a:endParaRPr lang="en-US" sz="2200" dirty="0" b="1"/>
          </a:p>
        </p:txBody>
      </p:sp>
      <p:sp>
        <p:nvSpPr>
          <p:cNvPr id="22" name="Body 02"/>
          <p:cNvSpPr/>
          <p:nvPr/>
        </p:nvSpPr>
        <p:spPr>
          <a:xfrm>
            <a:off x="8001000" y="3977640"/>
            <a:ext cx="3657600" cy="21945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About 15 minutes.</a:t>
            </a:r>
            <a:endParaRPr lang="en-US" sz="18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Describe a person.</a:t>
            </a:r>
            <a:endParaRPr lang="en-US" sz="18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Write him, her, us, or them.</a:t>
            </a:r>
            <a:endParaRPr lang="en-US" sz="18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Ask about a favorite teacher.</a:t>
            </a:r>
            <a:endParaRPr lang="en-US" sz="18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Write because or so.</a:t>
            </a:r>
            <a:endParaRPr lang="en-US" sz="18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Bring it next week!</a:t>
            </a:r>
            <a:endParaRPr lang="en-US" sz="1800" dirty="0" b="1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progres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126273" y="1165860"/>
            <a:ext cx="4132174" cy="512064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2" name="ican"/>
          <p:cNvSpPr/>
          <p:nvPr/>
        </p:nvSpPr>
        <p:spPr>
          <a:xfrm>
            <a:off x="8503920" y="1280160"/>
            <a:ext cx="3429000" cy="49377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D. I can…</a:t>
            </a:r>
            <a:endParaRPr lang="en-US" sz="2400" dirty="0" b="1"/>
          </a:p>
          <a:p>
            <a:pPr algn="ctr" indent="0" marL="0">
              <a:buNone/>
            </a:pPr>
            <a:r>
              <a:rPr lang="en-US" sz="3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😀   🙂   😐</a:t>
            </a:r>
            <a:endParaRPr lang="en-US" sz="3200" dirty="0" b="0"/>
          </a:p>
          <a:p>
            <a:pPr algn="ctr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one face.</a:t>
            </a:r>
            <a:endParaRPr lang="en-US" sz="1800" dirty="0" b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describe how someone looks.</a:t>
            </a:r>
            <a:endParaRPr lang="en-US" sz="1600" dirty="0" b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describe someone's personality.</a:t>
            </a:r>
            <a:endParaRPr lang="en-US" sz="1600" dirty="0" b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ask What does he look like? What's he like?</a:t>
            </a:r>
            <a:endParaRPr lang="en-US" sz="1600" dirty="0" b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use me, him, her, us, them.</a:t>
            </a:r>
            <a:endParaRPr lang="en-US" sz="1600" dirty="0" b="0"/>
          </a:p>
        </p:txBody>
      </p:sp>
      <p:sp>
        <p:nvSpPr>
          <p:cNvPr id="5" name="Shape 3"/>
          <p:cNvSpPr/>
          <p:nvPr/>
        </p:nvSpPr>
        <p:spPr>
          <a:xfrm flipH="1">
            <a:off x="501091" y="3255264"/>
            <a:ext cx="5577840" cy="325892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6400800" y="3263494"/>
            <a:ext cx="1828800" cy="325892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885322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821131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3063240"/>
            <a:ext cx="5669280" cy="3258921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6537960" y="3063240"/>
            <a:ext cx="1828800" cy="3258921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itle"/>
          <p:cNvSpPr/>
          <p:nvPr/>
        </p:nvSpPr>
        <p:spPr>
          <a:xfrm>
            <a:off x="608076" y="118872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Progress Check   </a:t>
            </a:r>
            <a:r>
              <a:rPr lang="en-US" sz="2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7:25</a:t>
            </a:r>
            <a:endParaRPr lang="en-US" sz="4300" dirty="0"/>
          </a:p>
        </p:txBody>
      </p:sp>
      <p:sp>
        <p:nvSpPr>
          <p:cNvPr id="22" name="A head"/>
          <p:cNvSpPr/>
          <p:nvPr/>
        </p:nvSpPr>
        <p:spPr>
          <a:xfrm>
            <a:off x="914400" y="3246120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Listen to the teacher. Circle a or b.</a:t>
            </a:r>
            <a:endParaRPr lang="en-US" sz="2000" dirty="0" b="1"/>
          </a:p>
        </p:txBody>
      </p:sp>
      <p:sp>
        <p:nvSpPr>
          <p:cNvPr id="23" name="Ans head"/>
          <p:cNvSpPr/>
          <p:nvPr/>
        </p:nvSpPr>
        <p:spPr>
          <a:xfrm>
            <a:off x="6766560" y="3246120"/>
            <a:ext cx="155448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63" name="Bad 1"/>
          <p:cNvSpPr/>
          <p:nvPr/>
        </p:nvSpPr>
        <p:spPr>
          <a:xfrm>
            <a:off x="868680" y="3840480"/>
            <a:ext cx="5440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 </a:t>
            </a: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a tall man with a beard</a:t>
            </a:r>
            <a:endParaRPr lang="en-US" sz="1500" dirty="0" b="1"/>
          </a:p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     </a:t>
            </a: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b. a short man with glasses</a:t>
            </a:r>
            <a:endParaRPr lang="en-US" sz="1500" dirty="0" b="1"/>
          </a:p>
        </p:txBody>
      </p:sp>
      <p:sp>
        <p:nvSpPr>
          <p:cNvPr id="64" name="Good 1"/>
          <p:cNvSpPr/>
          <p:nvPr/>
        </p:nvSpPr>
        <p:spPr>
          <a:xfrm>
            <a:off x="6766560" y="3840480"/>
            <a:ext cx="1463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</a:t>
            </a:r>
            <a:endParaRPr lang="en-US" sz="2400" dirty="0" b="1"/>
          </a:p>
        </p:txBody>
      </p:sp>
      <p:sp>
        <p:nvSpPr>
          <p:cNvPr id="65" name="Bad 2"/>
          <p:cNvSpPr/>
          <p:nvPr/>
        </p:nvSpPr>
        <p:spPr>
          <a:xfrm>
            <a:off x="868680" y="4407408"/>
            <a:ext cx="5440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 </a:t>
            </a: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She's shy.     b. She's patient.</a:t>
            </a:r>
            <a:endParaRPr lang="en-US" sz="1500" dirty="0" b="1"/>
          </a:p>
        </p:txBody>
      </p:sp>
      <p:sp>
        <p:nvSpPr>
          <p:cNvPr id="66" name="Good 2"/>
          <p:cNvSpPr/>
          <p:nvPr/>
        </p:nvSpPr>
        <p:spPr>
          <a:xfrm>
            <a:off x="6766560" y="4407408"/>
            <a:ext cx="1463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</a:t>
            </a:r>
            <a:endParaRPr lang="en-US" sz="2400" dirty="0" b="1"/>
          </a:p>
        </p:txBody>
      </p:sp>
      <p:sp>
        <p:nvSpPr>
          <p:cNvPr id="67" name="Bad 3"/>
          <p:cNvSpPr/>
          <p:nvPr/>
        </p:nvSpPr>
        <p:spPr>
          <a:xfrm>
            <a:off x="868680" y="4974336"/>
            <a:ext cx="5440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 </a:t>
            </a: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the woman with curly hair</a:t>
            </a:r>
            <a:endParaRPr lang="en-US" sz="1500" dirty="0" b="1"/>
          </a:p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     </a:t>
            </a: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b. the woman with straight hair</a:t>
            </a:r>
            <a:endParaRPr lang="en-US" sz="1500" dirty="0" b="1"/>
          </a:p>
        </p:txBody>
      </p:sp>
      <p:sp>
        <p:nvSpPr>
          <p:cNvPr id="68" name="Good 3"/>
          <p:cNvSpPr/>
          <p:nvPr/>
        </p:nvSpPr>
        <p:spPr>
          <a:xfrm>
            <a:off x="6766560" y="4974336"/>
            <a:ext cx="1463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</a:t>
            </a:r>
            <a:endParaRPr lang="en-US" sz="2400" dirty="0" b="1"/>
          </a:p>
        </p:txBody>
      </p:sp>
      <p:sp>
        <p:nvSpPr>
          <p:cNvPr id="69" name="Bad 4"/>
          <p:cNvSpPr/>
          <p:nvPr/>
        </p:nvSpPr>
        <p:spPr>
          <a:xfrm>
            <a:off x="868680" y="5541264"/>
            <a:ext cx="5440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 </a:t>
            </a: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He's quiet and shy.</a:t>
            </a:r>
            <a:endParaRPr lang="en-US" sz="1500" dirty="0" b="1"/>
          </a:p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     </a:t>
            </a: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b. He's funny and friendly.</a:t>
            </a:r>
            <a:endParaRPr lang="en-US" sz="1500" dirty="0" b="1"/>
          </a:p>
        </p:txBody>
      </p:sp>
      <p:sp>
        <p:nvSpPr>
          <p:cNvPr id="70" name="Good 4"/>
          <p:cNvSpPr/>
          <p:nvPr/>
        </p:nvSpPr>
        <p:spPr>
          <a:xfrm>
            <a:off x="6766560" y="5541264"/>
            <a:ext cx="1463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</a:t>
            </a:r>
            <a:endParaRPr lang="en-US" sz="24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oodby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Friendly: smiling face + waving hand, bubble &quot;Hi! Welcome!&quot;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2  ·  Level 3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Goodbye! See You Next Week!</a:t>
            </a:r>
            <a:endParaRPr lang="en-US" sz="44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 you can: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Describe how someone looks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Describe someone's personality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Use me, him, her, us, them</a:t>
            </a:r>
            <a:endParaRPr lang="en-US" sz="2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credits">
    <p:bg>
      <p:bgPr>
        <a:solidFill>
          <a:srgbClr val="C9B8F2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1371600"/>
            <a:ext cx="12191695" cy="5486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8465" y="431597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50469" y="365760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itle"/>
          <p:cNvSpPr/>
          <p:nvPr/>
        </p:nvSpPr>
        <p:spPr>
          <a:xfrm>
            <a:off x="674827" y="640080"/>
            <a:ext cx="5120640" cy="10241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Credits</a:t>
            </a:r>
            <a:endParaRPr lang="en-US" sz="5400" dirty="0"/>
          </a:p>
        </p:txBody>
      </p:sp>
      <p:sp>
        <p:nvSpPr>
          <p:cNvPr id="15" name="pictures"/>
          <p:cNvSpPr/>
          <p:nvPr/>
        </p:nvSpPr>
        <p:spPr>
          <a:xfrm>
            <a:off x="411480" y="2240280"/>
            <a:ext cx="11365992" cy="22402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Pictures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Vocabulary pictures use Twemoji graphics by Twitter, Inc. and other contributors (https://github.com/jdecked/twemoji), licensed under CC BY 4.0 (https://creativecommons.org/licenses/by/4.0/). The graphics were resized and combined, and bodies, glasses, speech bubbles, signs, and labels were added.</a:t>
            </a:r>
            <a:endParaRPr lang="en-US" sz="1600" dirty="0" b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faces on the Progress Check are standard emoji characters shown with the computer's emoji font.</a:t>
            </a:r>
            <a:endParaRPr lang="en-US" sz="1600" dirty="0" b="0"/>
          </a:p>
        </p:txBody>
      </p:sp>
      <p:sp>
        <p:nvSpPr>
          <p:cNvPr id="16" name="names"/>
          <p:cNvSpPr/>
          <p:nvPr/>
        </p:nvSpPr>
        <p:spPr>
          <a:xfrm>
            <a:off x="411480" y="4709160"/>
            <a:ext cx="4206240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Names and story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Omar, Linda, Kevin, Nora, Sam, Ana, Mr. Lee, Mr. Silva, and Lisa are invented names. The listening story is invented.</a:t>
            </a:r>
            <a:endParaRPr lang="en-US" sz="1600" dirty="0" b="0"/>
          </a:p>
        </p:txBody>
      </p:sp>
      <p:sp>
        <p:nvSpPr>
          <p:cNvPr id="17" name="audio"/>
          <p:cNvSpPr/>
          <p:nvPr/>
        </p:nvSpPr>
        <p:spPr>
          <a:xfrm>
            <a:off x="4846320" y="4709160"/>
            <a:ext cx="6931152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and font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synthetic voices made with Chatterbox TTS (MIT License), cloned from short synthetic reference clips made with Kokoro-82M (Apache License 2.0). No recordings of real people were used. Each file carries an inaudible Perth watermark marking it as AI-generated. Font: Lexend Deca (OFL 1.1).</a:t>
            </a:r>
            <a:endParaRPr lang="en-US" sz="1350" dirty="0" b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© 2026 the authors. The authors license this deck under CC BY-NC-SA 4.0.</a:t>
            </a:r>
            <a:endParaRPr lang="en-US" sz="1350" dirty="0" b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3 Lesson 2: Who's Who?</dc:title>
  <dc:subject>PptxGenJS Presentation</dc:subject>
  <dc:creator>Level 1 ESL</dc:creator>
  <cp:lastModifiedBy>Level 1 ESL</cp:lastModifiedBy>
  <cp:revision>1</cp:revision>
  <dcterms:created xsi:type="dcterms:W3CDTF">2026-10-15T20:54:31Z</dcterms:created>
  <dcterms:modified xsi:type="dcterms:W3CDTF">2026-10-15T20:54:31Z</dcterms:modified>
</cp:coreProperties>
</file>