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417" r:id="rId34"/>
    <p:sldId id="418" r:id="rId35"/>
    <p:sldId id="419" r:id="rId36"/>
    <p:sldId id="420" r:id="rId33"/>
    <p:sldId id="421" r:id="rId31"/>
    <p:sldId id="422" r:id="rId30"/>
    <p:sldId id="423" r:id="rId29"/>
    <p:sldId id="424" r:id="rId28"/>
    <p:sldId id="425" r:id="rId27"/>
    <p:sldId id="426" r:id="rId20"/>
    <p:sldId id="427" r:id="rId18"/>
    <p:sldId id="428" r:id="rId17"/>
    <p:sldId id="429" r:id="rId16"/>
    <p:sldId id="430" r:id="rId14"/>
    <p:sldId id="431" r:id="rId13"/>
    <p:sldId id="432" r:id="rId12"/>
    <p:sldId id="433" r:id="rId11"/>
    <p:sldId id="434" r:id="rId10"/>
    <p:sldId id="435" r:id="rId8"/>
    <p:sldId id="436" r:id="rId7"/>
    <p:sldId id="437" r:id="rId6"/>
    <p:sldId id="438" r:id="rId5"/>
    <p:sldId id="439" r:id="rId3"/>
    <p:sldId id="440" r:id="rId57"/>
    <p:sldId id="441" r:id="rId2"/>
    <p:sldId id="442" r:id="rId59"/>
    <p:sldId id="443" r:id="rId6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52.xml"/><Relationship Id="rId3" Type="http://schemas.openxmlformats.org/officeDocument/2006/relationships/slide" Target="slides/slide50.xml"/><Relationship Id="rId5" Type="http://schemas.openxmlformats.org/officeDocument/2006/relationships/slide" Target="slides/slide49.xml"/><Relationship Id="rId6" Type="http://schemas.openxmlformats.org/officeDocument/2006/relationships/slide" Target="slides/slide48.xml"/><Relationship Id="rId7" Type="http://schemas.openxmlformats.org/officeDocument/2006/relationships/slide" Target="slides/slide47.xml"/><Relationship Id="rId8" Type="http://schemas.openxmlformats.org/officeDocument/2006/relationships/slide" Target="slides/slide46.xml"/><Relationship Id="rId10" Type="http://schemas.openxmlformats.org/officeDocument/2006/relationships/slide" Target="slides/slide45.xml"/><Relationship Id="rId11" Type="http://schemas.openxmlformats.org/officeDocument/2006/relationships/slide" Target="slides/slide44.xml"/><Relationship Id="rId12" Type="http://schemas.openxmlformats.org/officeDocument/2006/relationships/slide" Target="slides/slide43.xml"/><Relationship Id="rId13" Type="http://schemas.openxmlformats.org/officeDocument/2006/relationships/slide" Target="slides/slide42.xml"/><Relationship Id="rId14" Type="http://schemas.openxmlformats.org/officeDocument/2006/relationships/slide" Target="slides/slide41.xml"/><Relationship Id="rId16" Type="http://schemas.openxmlformats.org/officeDocument/2006/relationships/slide" Target="slides/slide40.xml"/><Relationship Id="rId17" Type="http://schemas.openxmlformats.org/officeDocument/2006/relationships/slide" Target="slides/slide39.xml"/><Relationship Id="rId18" Type="http://schemas.openxmlformats.org/officeDocument/2006/relationships/slide" Target="slides/slide38.xml"/><Relationship Id="rId20" Type="http://schemas.openxmlformats.org/officeDocument/2006/relationships/slide" Target="slides/slide37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Relationship Id="rId27" Type="http://schemas.openxmlformats.org/officeDocument/2006/relationships/slide" Target="slides/slide36.xml"/><Relationship Id="rId28" Type="http://schemas.openxmlformats.org/officeDocument/2006/relationships/slide" Target="slides/slide35.xml"/><Relationship Id="rId29" Type="http://schemas.openxmlformats.org/officeDocument/2006/relationships/slide" Target="slides/slide34.xml"/><Relationship Id="rId30" Type="http://schemas.openxmlformats.org/officeDocument/2006/relationships/slide" Target="slides/slide33.xml"/><Relationship Id="rId31" Type="http://schemas.openxmlformats.org/officeDocument/2006/relationships/slide" Target="slides/slide32.xml"/><Relationship Id="rId33" Type="http://schemas.openxmlformats.org/officeDocument/2006/relationships/slide" Target="slides/slide31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57" Type="http://schemas.openxmlformats.org/officeDocument/2006/relationships/slide" Target="slides/slide51.xml"/><Relationship Id="rId59" Type="http://schemas.openxmlformats.org/officeDocument/2006/relationships/slide" Target="slides/slide53.xml"/><Relationship Id="rId60" Type="http://schemas.openxmlformats.org/officeDocument/2006/relationships/slide" Target="slides/slide5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Progress Check · 7:25–7:30 · 5 min. Individuals. Open the Progress Check page.</a:t>
            </a:r>
          </a:p>
          <a:p>
            <a:r>
              <a:t>Part A: read each sentence slowly, 2 times. Learners circle a or b. Then click to show the answer (one click per item, 1 to 4).</a:t>
            </a:r>
          </a:p>
          <a:p>
            <a:r>
              <a:t>Say: 1 "I'd like to return these shoes. They're too big." (a) • 2 "Could I exchange this shirt for a large?" (b) • 3 "I'd like to cancel my appointment on Friday." (a) • 4 "Is Tuesday at ten available? I'd like to change my appointment." (b)</a:t>
            </a:r>
          </a:p>
          <a:p>
            <a:r>
              <a:t>Parts B and C: learners do them alone. Walk around and help with the instructions only. B answers: 1 to return, 2 exchange, 3 too small, 4 a refund. C: answers will vary (for example I'd like to return this lamp, because it's broken. / May I speak to the manager, please?).</a:t>
            </a:r>
          </a:p>
          <a:p>
            <a:r>
              <a:t>Part D: read each "I can…" line aloud and point to the 3 faces: 😀 "I can do it." 🙂 "With a little help." 😐 "Not yet."</a:t>
            </a:r>
          </a:p>
          <a:p>
            <a:r>
              <a:t>Scoring: A /4 + B /4 + C /2 = /10. This is not a test grade. It shows who needs more help hearing requests (A) and with I'd like / I'd like to and polite questions (B, C).</a:t>
            </a:r>
          </a:p>
          <a:p>
            <a:r>
              <a:t>Collect the pages (or check them at the start of Week 8). If behind: do the Progress Check at the start of the midterm review, while learners arrive.</a:t>
            </a:r>
          </a:p>
          <a:p>
            <a:r>
              <a:t>Lesson plan: Progress Check step; Progress Check page;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Round 2, phone call (5 min): pairs sit back to back (no looking). A is the receptionist at Valley Eye Center with the available times. B is the patient and wants to change or cancel an appointment. B uses the calendar slip. Then switch with the second slip. Each click shows the next step.</a:t>
            </a:r>
          </a:p>
          <a:p>
            <a:r>
              <a:t>Open times (A only): Mon 2:00 p.m. • Tue full • Wed 3:00 p.m. • Thu 11:00 a.m. • Fri 9:30 a.m. and 4:30 p.m.</a:t>
            </a:r>
          </a:p>
          <a:p>
            <a:r>
              <a:t>Slip 1: Tuesday 10:00 → a new time on Wednesday or Friday (Wednesday 3:00, Friday 9:30, or Friday 4:30). Slip 2: cancel the Thursday 2:00 appointment (because I have to work). Answers will vary.</a:t>
            </a:r>
          </a:p>
          <a:p>
            <a:r>
              <a:t>If behind: Round 1 only.</a:t>
            </a:r>
          </a:p>
          <a:p>
            <a:r>
              <a:t>Lesson plan: Step 5; Talk Time: On the Phone; Answer key.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speech bubbles, signs,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5 · 7:00–7:12 · Talk Time: Service Desk · 12 min. Pairs.</a:t>
            </a:r>
          </a:p>
          <a:p>
            <a:r>
              <a:t>Round 1 (6 min): the clerk reads the Store Policy Card. The customer chooses a Customer Card and returns or exchanges the item. The clerk follows the policy. After each card, switch roles. Each click shows the next step.</a:t>
            </a:r>
          </a:p>
          <a:p>
            <a:r>
              <a:t>Store Policy Card: returns within 30 days • with a receipt: a refund or an exchange • no receipt: store credit or an exchange • sale items: store credit only • more than 30 days: "Sorry, we can't take it." (The customer can ask for the manager.)</a:t>
            </a:r>
          </a:p>
          <a:p>
            <a:r>
              <a:t>Model with one learner (1 min): you are the customer with card 1: "Hi. I'd like to return these shoes." → "What's wrong with them?" → "They're too big." → "Do you have the receipt?" → "Yes, here it is."</a:t>
            </a:r>
          </a:p>
          <a:p>
            <a:r>
              <a:t>Customer Cards (answers): 1 shoes, too big, receipt, 10 days → refund or exchange • 2 lamp, broken, no receipt → store credit • 3 jacket on sale, stain → store credit only • 4 shirt, 45 days → sorry, more than 30 days (the customer can ask for the manager) • 5 coffee maker, wrong color, receipt, 5 days → refund or exchange • 6 pants, too long, no receipt → store credit or exchange. Wording will vary.</a:t>
            </a:r>
          </a:p>
          <a:p>
            <a:r>
              <a:t>Invented stores only (important): Valley Mart, its policy, and the eye center are invented. No play money is needed. Learners never talk about their own purchases, debts, or money problems.</a:t>
            </a:r>
          </a:p>
          <a:p>
            <a:r>
              <a:t>Lesson plan: Step 5; Talk Time: Service Desk; Answer key.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speech bubbles, signs,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Pair drill (last 2 min of Step 4). Pairs.</a:t>
            </a:r>
          </a:p>
          <a:p>
            <a:r>
              <a:t>A is the clerk: "Can I help you?" B returns something from the New Words page with a reason. Switch.</a:t>
            </a:r>
          </a:p>
          <a:p>
            <a:r>
              <a:t>If behind: skip the pair drill. Talk Time practices it.</a:t>
            </a:r>
          </a:p>
          <a:p>
            <a:r>
              <a:t>Lesson plan: Step 4: Pair drill.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speech bubbles, signs,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Common mistakes (never skip this table). Read a line from Don't say. Ask: "What's the right way?" Learners try first. Then click to show the right form. Each click shows one line, in order 1 to 5.</a:t>
            </a:r>
          </a:p>
          <a:p>
            <a:r>
              <a:t>1 and 2: I'd like to + a verb • 3: Could I + verb (no to) • 4: a problem = too • 5: I'd like + a thing.</a:t>
            </a:r>
          </a:p>
          <a:p>
            <a:r>
              <a:t>Say the right form clearly; the learner repeats. Learners can read the Spanish note and the tip on their Grammar page themselves; you don't need to explain them.</a:t>
            </a:r>
          </a:p>
          <a:p>
            <a:r>
              <a:t>Lesson plan: Grammar: Common mistakes; Teacher notes: Typical mistakes.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speech bubbles, signs,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Practice B. Learners circle the right words. Pairs check.</a:t>
            </a:r>
          </a:p>
          <a:p>
            <a:r>
              <a:t>Click to circle each answer (one click per item, 1 to 5): 1 Could, 2 speak, 3 too small, 4 cancel, 5 available.</a:t>
            </a:r>
          </a:p>
          <a:p>
            <a:r>
              <a:t>Lesson plan: Step 4; Grammar Practice B;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Practice A and B (3 min): learners write, then pairs check. Go over the answers.</a:t>
            </a:r>
          </a:p>
          <a:p>
            <a:r>
              <a:t>Click to show each answer (one click per item, 1 to 5): 1 like to, 2 like, 3 like to, 4 like, 5 like to.</a:t>
            </a:r>
          </a:p>
          <a:p>
            <a:r>
              <a:t>Lesson plan: Step 4; Grammar Practice A;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Box 5: I'd like + a thing; I'd like to + a verb. A reads the left side; B reads the right side. Each click shows the right side of one row.</a:t>
            </a:r>
          </a:p>
          <a:p>
            <a:r>
              <a:t>I'd like = I would like: more polite than I want.</a:t>
            </a:r>
          </a:p>
          <a:p>
            <a:r>
              <a:t>Check questions: "I'd like ___ return this." (to) • "I'd like ___ refund." (a) • "It's ___ small. It doesn't fit." (too) • "___ I speak to the manager?" (May / Could)</a:t>
            </a:r>
          </a:p>
          <a:p>
            <a:r>
              <a:t>Lesson plan: Step 4; Grammar Box 5; Teacher notes: I'd like vs. I'd like to.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speech bubbles, signs,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Box 4 (2 min): appointments. Read the phone lines across with one learner: you are the caller; the learner is the receptionist. Each click shows the receptionist's line.</a:t>
            </a:r>
          </a:p>
          <a:p>
            <a:r>
              <a:t>Lesson plan: Step 4; Grammar Box 4.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speech bubbles, signs,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Box 3 (3 min): Could I / Can I / May I…? May I is the most polite and formal. Read the answers: Sure. / Of course. / Sorry, you need the receipt.</a:t>
            </a:r>
          </a:p>
          <a:p>
            <a:r>
              <a:t>Each click shows the answer side of one row.</a:t>
            </a:r>
          </a:p>
          <a:p>
            <a:r>
              <a:t>Lesson plan: Step 4; Grammar Box 3; Teacher notes: Could I / Can I / May I.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speech bubbles, signs,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Box 2: "What's wrong with it?" The class answers from Box 2 (It's too small. It has a stain.). Each click shows the answer side of one row.</a:t>
            </a:r>
          </a:p>
          <a:p>
            <a:r>
              <a:t>too + adjective: It's too small means it's a problem (it doesn't fit). very small is not a problem. Teach too small / too big / too long as fixed phrases.</a:t>
            </a:r>
          </a:p>
          <a:p>
            <a:r>
              <a:t>Lesson plan: Step 4; Grammar Box 2; Teacher notes: too + adjective.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speech bubbles, signs,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4 · 6:30–6:45 · Grammar Q&amp;A · 15 min (slides 13 to 22). Whole class, then pairs. Show the Grammar page. Read across: A reads from the left side; B answers from the right side.</a:t>
            </a:r>
          </a:p>
          <a:p>
            <a:r>
              <a:t>Write on the board: I'd like + a thing (I'd like a bag) and I'd like to + a verb (I'd like to return it).</a:t>
            </a:r>
          </a:p>
          <a:p>
            <a:r>
              <a:t>Boxes 1 and 2 (4 min): you are the clerk: "Can I help you?" The class answers from Box 1. Each click shows the answer side of one row.</a:t>
            </a:r>
          </a:p>
          <a:p>
            <a:r>
              <a:t>Lesson plan: Step 4; Grammar Box 1; Teacher notes: I'd like vs. I'd like to.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speech bubbles, signs,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"Say it" (2 min). Say: "Polite questions go up at the end: Could I exchange it?" Then: "I'd like to is fast: I'd-like-tuh."</a:t>
            </a:r>
          </a:p>
          <a:p>
            <a:r>
              <a:t>Read the lines in the "Say it" box. The class repeats each line twice.</a:t>
            </a:r>
          </a:p>
          <a:p>
            <a:r>
              <a:t>Lesson plan: Step 3: "Say it"; Listening page: Say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Task C (play 2). Click to show each answer (one click per item, 1 to 5): 1 like to, 2 Could, 3 like, 4 like to, 5 like to.</a:t>
            </a:r>
          </a:p>
          <a:p>
            <a:r>
              <a:t>If behind: do Task C together on the board, reading the lines yourself.</a:t>
            </a:r>
          </a:p>
          <a:p>
            <a:r>
              <a:t>Lesson plan: Step 3; Listening Task C;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Play 2 → Tasks B and C. Pairs compare. Then show the answers.</a:t>
            </a:r>
          </a:p>
          <a:p>
            <a:r>
              <a:t>Click to show each answer (one click per item, 1 to 4): 1 too small • 2 Monday • 3 Thursday • 4 4:30.</a:t>
            </a:r>
          </a:p>
          <a:p>
            <a:r>
              <a:t>Lesson plan: Step 3; Listening Task B;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Play 1 → Task A (return or exchange? refund or store credit?). Pairs compare. Check together.</a:t>
            </a:r>
          </a:p>
          <a:p>
            <a:r>
              <a:t>Click to show each answer (one click per item): 1 a (return it) • 2 b (store credit; she has no receipt).</a:t>
            </a:r>
          </a:p>
          <a:p>
            <a:r>
              <a:t>Then read Tasks B and C together (1 min) so learners know what to listen for.</a:t>
            </a:r>
          </a:p>
          <a:p>
            <a:r>
              <a:t>Lesson plan: Step 3; Listening Task A;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3 · 6:18–6:30 · Listening + "Say it" · 12 min (slides 8 to 12). Individuals, then pairs check.</a:t>
            </a:r>
          </a:p>
          <a:p>
            <a:r>
              <a:t>Before you listen (1 min). Point to the customer picture and say: "This is Lina. She's at the service desk at Valley Mart, a big store. She has a phone case. What does she want to do? Listen."</a:t>
            </a:r>
          </a:p>
          <a:p>
            <a:r>
              <a:t>There are three voices: a Narrator, Lina, and the Clerk. Each click highlights the next voice.</a:t>
            </a:r>
          </a:p>
          <a:p>
            <a:r>
              <a:t>The audio (about 1:15) is coming soon. When it is ready, it plays the conversation once; press play again for play 2. Until then, read the listening script (at the end of these notes) with a volunteer.</a:t>
            </a:r>
          </a:p>
          <a:p>
            <a:r>
              <a:t>No speaker? Read the script with a volunteer at a normal, friendly speed.</a:t>
            </a:r>
          </a:p>
          <a:p>
            <a:r>
              <a:t>Audio: the listening audio for this lesson (about 1:15) is coming soon. It will use computer-generated voices (Chatterbox TTS cloned from synthetic Kokoro-82M reference clips); no recordings of real people. Until it is ready, read the listening script (in the notes of the Before You Listen slide) with a volunteer. The names and the story are invented.</a:t>
            </a:r>
          </a:p>
          <a:p>
            <a:r>
              <a:t>Lesson plan: Step 3; Listening script; Listening page.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speech bubbles, signs, and labels (images/CREDITS.md).</a:t>
            </a:r>
          </a:p>
          <a:p>
            <a:r>
              <a:t>Listening script (the audio is coming soon; until then, read it aloud with a volunteer at a normal, friendly speed):</a:t>
            </a:r>
          </a:p>
          <a:p>
            <a:r>
              <a:t>Narrator: Lesson seven. Listening. Lina is at the service desk at Valley Mart. Listen.</a:t>
            </a:r>
          </a:p>
          <a:p>
            <a:r>
              <a:t>Clerk: Hi. Can I help you?</a:t>
            </a:r>
          </a:p>
          <a:p>
            <a:r>
              <a:t>Lina: Yes, I'd like to return this phone case.</a:t>
            </a:r>
          </a:p>
          <a:p>
            <a:r>
              <a:t>Clerk: OK. What's wrong with it?</a:t>
            </a:r>
          </a:p>
          <a:p>
            <a:r>
              <a:t>Lina: It's too small. It doesn't fit my phone.</a:t>
            </a:r>
          </a:p>
          <a:p>
            <a:r>
              <a:t>Clerk: I see. Do you have the receipt?</a:t>
            </a:r>
          </a:p>
          <a:p>
            <a:r>
              <a:t>Lina: No, sorry. I lost it. Could I get a refund?</a:t>
            </a:r>
          </a:p>
          <a:p>
            <a:r>
              <a:t>Clerk: Sorry, you need the receipt for a refund. But I can give you store credit.</a:t>
            </a:r>
          </a:p>
          <a:p>
            <a:r>
              <a:t>Lina: OK, that's fine. I'd like a bigger case.</a:t>
            </a:r>
          </a:p>
          <a:p>
            <a:r>
              <a:t>Clerk: Sure. The bigger cases are in aisle five.</a:t>
            </a:r>
          </a:p>
          <a:p>
            <a:r>
              <a:t>Lina: Thanks. Also, I have an appointment at your eye center on Monday. I'd like to change it.</a:t>
            </a:r>
          </a:p>
          <a:p>
            <a:r>
              <a:t>Clerk: No problem. I can do that here. What day is good for you?</a:t>
            </a:r>
          </a:p>
          <a:p>
            <a:r>
              <a:t>Lina: Is Thursday available?</a:t>
            </a:r>
          </a:p>
          <a:p>
            <a:r>
              <a:t>Clerk: Let me check. Yes, Thursday at four thirty is available.</a:t>
            </a:r>
          </a:p>
          <a:p>
            <a:r>
              <a:t>Lina: Perfect. I'd like to take that time.</a:t>
            </a:r>
          </a:p>
          <a:p>
            <a:r>
              <a:t>Clerk: OK. Your new appointment is Thursday at four thirty.</a:t>
            </a:r>
          </a:p>
          <a:p>
            <a:r>
              <a:t>Lina: Thank you so much.</a:t>
            </a:r>
          </a:p>
          <a:p>
            <a:r>
              <a:t>Narrator: That's the end of the listening.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2 · Check meaning · 1 min. Whole class.</a:t>
            </a:r>
          </a:p>
          <a:p>
            <a:r>
              <a:t>The answers are hidden. Ask each question and wait for the class to answer. Then click to show the answer. Each click shows one answer, in order: 1, 2, 3.</a:t>
            </a:r>
          </a:p>
          <a:p>
            <a:r>
              <a:t>1. "The shirt has a brown spot. It has a…?" (stain) • 2. "The phone doesn't work. It's…?" (broken) • 3. "Who is the boss in the store?" (the manager)</a:t>
            </a:r>
          </a:p>
          <a:p>
            <a:r>
              <a:t>One more question: "Thursday at 4:30 is free. It's…?" (available)</a:t>
            </a:r>
          </a:p>
          <a:p>
            <a:r>
              <a:t>Lesson plan: Step 2: Check meaning.</a:t>
            </a:r>
          </a:p>
          <a:p>
            <a:r>
              <a:t>Pictures: Twemoji graphics by Twitter, Inc. and other contributors (https://github.com/jdecked/twemoji), CC BY 4.0 (https://creativecommons.org/licenses/by/4.0/); resized and combined, with speech bubbles, signs,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2, continued. Point to each picture and say the word. Learners repeat once.</a:t>
            </a:r>
          </a:p>
          <a:p>
            <a:r>
              <a:t>Partner game (2 min): A says a word. B points to the picture and makes a sentence (A: exchange. B: I'd like to exchange this shirt for a large. / I'd like a refund.). Switch.</a:t>
            </a:r>
          </a:p>
          <a:p>
            <a:r>
              <a:t>If behind: teach the ★ words only.</a:t>
            </a:r>
          </a:p>
          <a:p>
            <a:r>
              <a:t>Lesson plan: Step 2; New Words page; Partner game.</a:t>
            </a:r>
          </a:p>
          <a:p>
            <a:r>
              <a:t>Pictures: Twemoji graphics by Twitter, Inc. and other contributors (https://github.com/jdecked/twemoji), CC BY 4.0 (https://creativecommons.org/licenses/by/4.0/); resized and combined, with speech bubbles, signs,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2 · 6:10–6:18 · New Words · 8 min (this slide and the next). Whole class, then pairs.</a:t>
            </a:r>
          </a:p>
          <a:p>
            <a:r>
              <a:t>Point to each picture and say the word. Learners repeat once. ★ = the most important words. Each click shows the next word.</a:t>
            </a:r>
          </a:p>
          <a:p>
            <a:r>
              <a:t>Hold up a T-shirt: "It's too small. I'd like to return it… or exchange it for a large."</a:t>
            </a:r>
          </a:p>
          <a:p>
            <a:r>
              <a:t>Two pairs of words (1 min): refund (money back) vs. store credit (money for this store only). cancel (no appointment) vs. reschedule (a new day or time).</a:t>
            </a:r>
          </a:p>
          <a:p>
            <a:r>
              <a:t>If behind: teach the ★ words only.</a:t>
            </a:r>
          </a:p>
          <a:p>
            <a:r>
              <a:t>Lesson plan: Step 2; Key vocabulary; New Words page.</a:t>
            </a:r>
          </a:p>
          <a:p>
            <a:r>
              <a:t>Pictures: Twemoji graphics by Twitter, Inc. and other contributors (https://github.com/jdecked/twemoji), CC BY 4.0 (https://creativecommons.org/licenses/by/4.0/); resized and combined, with speech bubbles, signs,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1, continued. The four cards from the Opening Talk page. Each click shows the next card.</a:t>
            </a:r>
          </a:p>
          <a:p>
            <a:r>
              <a:t>A asks a card question. B answers with 2–3 sentences. A asks one follow-up question (follow-ups on the right). Then switch.</a:t>
            </a:r>
          </a:p>
          <a:p>
            <a:r>
              <a:t>Homework Check (4 min, last click): partners read their Lesson 6 Homework item 1 (If it rains this weekend, I'll…) to each other. The partner asks one question about it. Walk around. Write 2 common errors on the board (often If it will rain or If rains) and correct them together.</a:t>
            </a:r>
          </a:p>
          <a:p>
            <a:r>
              <a:t>Lesson plan: Step 1; Opening Talk page: cards, follow-ups, homework check.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Welcome learners as they arrive.</a:t>
            </a:r>
          </a:p>
          <a:p>
            <a:r>
              <a:t>Point to the title and read it: "Can I exchange this?" Say: "Tonight we return and exchange things at a store, and we change an appointment by phone."</a:t>
            </a:r>
          </a:p>
          <a:p>
            <a:r>
              <a:t>Read the three lines under "Today you will". Give one quick example of each: "I'd like to return this, because it's too small." • "May I speak to the manager?" • "I'd like to reschedule my appointment."</a:t>
            </a:r>
          </a:p>
          <a:p>
            <a:r>
              <a:t>Invented stores only (important): Valley Mart, its policy, and the eye center are invented. No play money is needed. Learners never talk about their own purchases, debts, or money problems.</a:t>
            </a:r>
          </a:p>
          <a:p>
            <a:r>
              <a:t>Midterm next week: remind learners. The midterm reviews Lessons 1–7.</a:t>
            </a:r>
          </a:p>
          <a:p>
            <a:r>
              <a:t>Lesson plan: Topic; At a glance: Objectives; Teacher notes.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speech bubbles, signs,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each goal slowly. Learners repeat.</a:t>
            </a:r>
          </a:p>
          <a:p>
            <a:r>
              <a:t>Goal 1: I'd like to return / exchange this, and a reason (because it's too small). Goal 2: ask for permission with Could I / Can I / May I…? and answer. Goal 3: ask for a refund or store credit, and ask for the manager politely.</a:t>
            </a:r>
          </a:p>
          <a:p>
            <a:r>
              <a:t>Goal 4: change or cancel an appointment by phone. Goal 5: I'd like + a thing and I'd like to + a verb. Goal 6: read a store return policy and fill out a return form.</a:t>
            </a:r>
          </a:p>
          <a:p>
            <a:r>
              <a:t>"We check at 7:25" = the Progress Check. It is not a test grade.</a:t>
            </a:r>
          </a:p>
          <a:p>
            <a:r>
              <a:t>Lesson plan: At a glance: Objectives.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1 · 6:00–6:10 · Opening Talk + Homework Check · 10 min. Pairs (7 pairs + 1 trio with 15 learners; 3–4 pairs with 7–8).</a:t>
            </a:r>
          </a:p>
          <a:p>
            <a:r>
              <a:t>Before class, write on the board: What will you do if…? If…, I'll…</a:t>
            </a:r>
          </a:p>
          <a:p>
            <a:r>
              <a:t>Model with one learner: "What will you do if it rains this weekend?" → (answer) → "Really? With who?" (Click to show the follow-up.)</a:t>
            </a:r>
          </a:p>
          <a:p>
            <a:r>
              <a:t>Opening Talk (6 min): learners open the Opening Talk page. A asks a card question; B answers with 2–3 sentences; A asks one follow-up. Switch after each card. The cards are on the next slide.</a:t>
            </a:r>
          </a:p>
          <a:p>
            <a:r>
              <a:t>If behind: one card only, then the homework check.</a:t>
            </a:r>
          </a:p>
          <a:p>
            <a:r>
              <a:t>Lesson plan: Step 1; Opening Talk page.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speech bubbles, signs,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6 · 7:12–7:17 · Exit Ticket + Homework · 5 min · NEVER SKIP.</a:t>
            </a:r>
          </a:p>
          <a:p>
            <a:r>
              <a:t>Exit ticket: each learner writes two sentences on a slip: one with I'd like to… and a reason with because (I'd like to exchange this shirt, because it has a stain.), and one polite question with Could I or May I. Collect at the door.</a:t>
            </a:r>
          </a:p>
          <a:p>
            <a:r>
              <a:t>Homework: open the Homework page. Do item 1 together (one sentence on the board). Say: "About 15 minutes. Bring it next week. Next week is the midterm review."</a:t>
            </a:r>
          </a:p>
          <a:p>
            <a:r>
              <a:t>Homework items: 1 what do you say at the service desk? Write I'd like to… and a reason with because • 2 write like or like to • 3 finish the phone call (the patient's words) • 4 review (Lesson 6): 2 sentences with If…, I'll….</a:t>
            </a:r>
          </a:p>
          <a:p>
            <a:r>
              <a:t>Read &amp; Write (7:17–7:25, on the Student Pages): the Valley Mart return policy; questions 1–5; then a return form. If behind: questions 1–5 only; the form becomes homework.</a:t>
            </a:r>
          </a:p>
          <a:p>
            <a:r>
              <a:t>Lesson plan: Step 6; Homework page; Read &amp; Write step.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speech bubbles, signs,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the title: "Goodbye! See you next week!" Learners repeat.</a:t>
            </a:r>
          </a:p>
          <a:p>
            <a:r>
              <a:t>Read the three "Now you can" lines. Say: "Can I help you?" Wait for an answer with I'd like to….</a:t>
            </a:r>
          </a:p>
          <a:p>
            <a:r>
              <a:t>Remind learners: homework is about 15 minutes. Next week is the midterm review (Lessons 1–7).</a:t>
            </a:r>
          </a:p>
          <a:p>
            <a:r>
              <a:t>Lesson plan: At a glance: Objectives; Step 6; Teacher notes: Midterm next week.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speech bubbles, signs,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Credits. You don't need to read this slide in class.</a:t>
            </a:r>
          </a:p>
          <a:p>
            <a:r>
              <a:t>Pictures: Twemoji graphics by Twitter, Inc. and other contributors, CC BY 4.0; the file-by-file list is in images/CREDITS.md.</a:t>
            </a:r>
          </a:p>
          <a:p>
            <a:r>
              <a:t>Audio: the listening audio for this lesson (about 1:15) is coming soon. It will use computer-generated voices (Chatterbox TTS cloned from synthetic Kokoro-82M reference clips); no recordings of real people. Until it is ready, read the listening script (in the notes of the Before You Listen slide) with a volunteer. The names and the story are invented.</a:t>
            </a:r>
          </a:p>
          <a:p>
            <a:r>
              <a:t>Course materials: © 2026 the authors, licensed under CC BY-NC-SA 4.0 (https://creativecommons.org/licenses/by-nc-sa/4.0/).</a:t>
            </a:r>
          </a:p>
          <a:p>
            <a:r>
              <a:t>Lesson plan: Picture Credits. Picture list: images/CREDITS.md.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2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4.png"/><Relationship Id="rId4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5.png"/><Relationship Id="rId4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3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8" Type="http://schemas.openxmlformats.org/officeDocument/2006/relationships/image" Target="../media/image16.png"/><Relationship Id="rId9" Type="http://schemas.openxmlformats.org/officeDocument/2006/relationships/image" Target="../media/image14.png"/><Relationship Id="rId10" Type="http://schemas.openxmlformats.org/officeDocument/2006/relationships/image" Target="../media/image17.png"/><Relationship Id="rId11" Type="http://schemas.openxmlformats.org/officeDocument/2006/relationships/image" Target="../media/image18.png"/><Relationship Id="rId12" Type="http://schemas.openxmlformats.org/officeDocument/2006/relationships/image" Target="../media/image19.png"/><Relationship Id="rId13" Type="http://schemas.openxmlformats.org/officeDocument/2006/relationships/image" Target="../media/image20.png"/><Relationship Id="rId14" Type="http://schemas.openxmlformats.org/officeDocument/2006/relationships/notesSlide" Target="../notesSlides/notesSlide25.xml"/></Relationships>
</file>

<file path=ppt/slides/_rels/slide3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8" Type="http://schemas.openxmlformats.org/officeDocument/2006/relationships/image" Target="../media/image15.png"/><Relationship Id="rId9" Type="http://schemas.openxmlformats.org/officeDocument/2006/relationships/image" Target="../media/image21.png"/><Relationship Id="rId10" Type="http://schemas.openxmlformats.org/officeDocument/2006/relationships/image" Target="../media/image22.png"/><Relationship Id="rId11" Type="http://schemas.openxmlformats.org/officeDocument/2006/relationships/image" Target="../media/image23.png"/><Relationship Id="rId12" Type="http://schemas.openxmlformats.org/officeDocument/2006/relationships/image" Target="../media/image24.png"/><Relationship Id="rId13" Type="http://schemas.openxmlformats.org/officeDocument/2006/relationships/image" Target="../media/image25.png"/><Relationship Id="rId14" Type="http://schemas.openxmlformats.org/officeDocument/2006/relationships/notesSlide" Target="../notesSlides/notesSlide24.xml"/></Relationships>
</file>

<file path=ppt/slides/_rels/slide3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5.png"/><Relationship Id="rId6" Type="http://schemas.openxmlformats.org/officeDocument/2006/relationships/image" Target="../media/image20.png"/><Relationship Id="rId7" Type="http://schemas.openxmlformats.org/officeDocument/2006/relationships/image" Target="../media/image21.png"/><Relationship Id="rId8" Type="http://schemas.openxmlformats.org/officeDocument/2006/relationships/notesSlide" Target="../notesSlides/notesSlide23.xml"/></Relationships>
</file>

<file path=ppt/slides/_rels/slide3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5.png"/><Relationship Id="rId4" Type="http://schemas.openxmlformats.org/officeDocument/2006/relationships/notesSlide" Target="../notesSlides/notesSlide2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4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6.png"/><Relationship Id="rId4" Type="http://schemas.openxmlformats.org/officeDocument/2006/relationships/notesSlide" Target="../notesSlides/notesSlide15.xml"/></Relationships>
</file>

<file path=ppt/slides/_rels/slide4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9.png"/><Relationship Id="rId4" Type="http://schemas.openxmlformats.org/officeDocument/2006/relationships/notesSlide" Target="../notesSlides/notesSlide13.xml"/></Relationships>
</file>

<file path=ppt/slides/_rels/slide4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1.png"/><Relationship Id="rId4" Type="http://schemas.openxmlformats.org/officeDocument/2006/relationships/notesSlide" Target="../notesSlides/notesSlide12.xml"/></Relationships>
</file>

<file path=ppt/slides/_rels/slide4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3.png"/><Relationship Id="rId4" Type="http://schemas.openxmlformats.org/officeDocument/2006/relationships/notesSlide" Target="../notesSlides/notesSlide11.xml"/></Relationships>
</file>

<file path=ppt/slides/_rels/slide4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7.png"/><Relationship Id="rId4" Type="http://schemas.openxmlformats.org/officeDocument/2006/relationships/notesSlide" Target="../notesSlides/notesSlide10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4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5.png"/><Relationship Id="rId4" Type="http://schemas.openxmlformats.org/officeDocument/2006/relationships/notesSlide" Target="../notesSlides/notesSlide6.xml"/></Relationships>
</file>

<file path=ppt/slides/_rels/slide4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6.png"/><Relationship Id="rId4" Type="http://schemas.openxmlformats.org/officeDocument/2006/relationships/notesSlide" Target="../notesSlides/notesSlide5.xml"/></Relationships>
</file>

<file path=ppt/slides/_rels/slide4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8.png"/><Relationship Id="rId4" Type="http://schemas.openxmlformats.org/officeDocument/2006/relationships/notesSlide" Target="../notesSlides/notesSlide4.xml"/></Relationships>
</file>

<file path=ppt/slides/_rels/slide5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4.png"/><Relationship Id="rId4" Type="http://schemas.openxmlformats.org/officeDocument/2006/relationships/notesSlide" Target="../notesSlides/notesSlide2.xml"/></Relationships>
</file>

<file path=ppt/slides/_rels/slide5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2.png"/><Relationship Id="rId4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5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7.png"/><Relationship Id="rId4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3:titl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7223760" y="914400"/>
            <a:ext cx="4480560" cy="512064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pic>
        <p:nvPicPr>
          <p:cNvPr id="4" name="pic" descr="Exchange: a small shirt (S) and a large shirt (L) with arrows both way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80" y="1664208"/>
            <a:ext cx="3474720" cy="2432304"/>
          </a:xfrm>
          <a:prstGeom prst="rect">
            <a:avLst/>
          </a:prstGeom>
        </p:spPr>
      </p:pic>
      <p:sp>
        <p:nvSpPr>
          <p:cNvPr id="5" name="lesson"/>
          <p:cNvSpPr/>
          <p:nvPr/>
        </p:nvSpPr>
        <p:spPr>
          <a:xfrm>
            <a:off x="7635240" y="443484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Lesson 7  ·  Level 3</a:t>
            </a:r>
            <a:endParaRPr lang="en-US" sz="2200" b="1" dirty="0"/>
          </a:p>
        </p:txBody>
      </p:sp>
      <p:sp>
        <p:nvSpPr>
          <p:cNvPr id="6" name="Shape 3"/>
          <p:cNvSpPr/>
          <p:nvPr/>
        </p:nvSpPr>
        <p:spPr>
          <a:xfrm>
            <a:off x="661111" y="1146658"/>
            <a:ext cx="6035040" cy="246888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4"/>
          <p:cNvSpPr/>
          <p:nvPr/>
        </p:nvSpPr>
        <p:spPr>
          <a:xfrm>
            <a:off x="685800" y="1097280"/>
            <a:ext cx="6035040" cy="24688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itle"/>
          <p:cNvSpPr/>
          <p:nvPr/>
        </p:nvSpPr>
        <p:spPr>
          <a:xfrm>
            <a:off x="868680" y="1325880"/>
            <a:ext cx="58064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50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Can I Exchange This?</a:t>
            </a:r>
            <a:endParaRPr lang="en-US" sz="5000" b="1" dirty="0"/>
          </a:p>
        </p:txBody>
      </p:sp>
      <p:sp>
        <p:nvSpPr>
          <p:cNvPr id="9" name="lead"/>
          <p:cNvSpPr/>
          <p:nvPr/>
        </p:nvSpPr>
        <p:spPr>
          <a:xfrm>
            <a:off x="777240" y="3977640"/>
            <a:ext cx="58521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Today you will:</a:t>
            </a:r>
            <a:endParaRPr lang="en-US" sz="2400" b="1" dirty="0"/>
          </a:p>
        </p:txBody>
      </p:sp>
      <p:sp>
        <p:nvSpPr>
          <p:cNvPr id="10" name="bullets"/>
          <p:cNvSpPr/>
          <p:nvPr/>
        </p:nvSpPr>
        <p:spPr>
          <a:xfrm>
            <a:off x="777240" y="4480560"/>
            <a:ext cx="603504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Say I'd like to return / exchange this</a:t>
            </a:r>
            <a:endParaRPr lang="en-US" sz="2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Ask Could I / May I…?</a:t>
            </a:r>
            <a:endParaRPr lang="en-US" sz="2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Change or cancel an appointment</a:t>
            </a:r>
            <a:endParaRPr lang="en-US" sz="22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3:goals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9" name="title"/>
          <p:cNvSpPr/>
          <p:nvPr/>
        </p:nvSpPr>
        <p:spPr>
          <a:xfrm>
            <a:off x="7634326" y="1783080"/>
            <a:ext cx="4229100" cy="1600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Today's</a:t>
            </a:r>
            <a:endParaRPr lang="en-US" sz="4000" dirty="0" b="1"/>
          </a:p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Goals</a:t>
            </a:r>
            <a:endParaRPr lang="en-US" sz="4000" dirty="0" b="1"/>
          </a:p>
        </p:txBody>
      </p:sp>
      <p:sp>
        <p:nvSpPr>
          <p:cNvPr id="30" name="side"/>
          <p:cNvSpPr/>
          <p:nvPr/>
        </p:nvSpPr>
        <p:spPr>
          <a:xfrm>
            <a:off x="7751369" y="3611880"/>
            <a:ext cx="39319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By the end of class, you can do these six things.</a:t>
            </a:r>
            <a:endParaRPr lang="en-US" sz="2000" dirty="0"/>
          </a:p>
          <a:p>
            <a:pPr algn="l"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stores are invented.</a:t>
            </a:r>
            <a:endParaRPr lang="en-US" sz="2000" dirty="0" b="1"/>
          </a:p>
          <a:p>
            <a:pPr algn="l"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We check at 7:25!</a:t>
            </a:r>
            <a:endParaRPr lang="en-US" sz="2000" dirty="0" b="1"/>
          </a:p>
        </p:txBody>
      </p:sp>
      <p:sp>
        <p:nvSpPr>
          <p:cNvPr id="31" name="R1 shadow"/>
          <p:cNvSpPr/>
          <p:nvPr/>
        </p:nvSpPr>
        <p:spPr>
          <a:xfrm>
            <a:off x="544982" y="1383487"/>
            <a:ext cx="6227064" cy="983894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2" name="R1 card"/>
          <p:cNvSpPr/>
          <p:nvPr/>
        </p:nvSpPr>
        <p:spPr>
          <a:xfrm>
            <a:off x="1583741" y="1325880"/>
            <a:ext cx="5130698" cy="983894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3" name="R1 chip"/>
          <p:cNvSpPr/>
          <p:nvPr/>
        </p:nvSpPr>
        <p:spPr>
          <a:xfrm>
            <a:off x="544982" y="1325880"/>
            <a:ext cx="1039673" cy="983894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4" name="R1 num"/>
          <p:cNvSpPr/>
          <p:nvPr/>
        </p:nvSpPr>
        <p:spPr>
          <a:xfrm>
            <a:off x="686714" y="1494587"/>
            <a:ext cx="1109167" cy="64648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01</a:t>
            </a:r>
            <a:endParaRPr lang="en-US" sz="3600" b="1" dirty="0"/>
          </a:p>
        </p:txBody>
      </p:sp>
      <p:sp>
        <p:nvSpPr>
          <p:cNvPr id="35" name="R1 text"/>
          <p:cNvSpPr/>
          <p:nvPr/>
        </p:nvSpPr>
        <p:spPr>
          <a:xfrm>
            <a:off x="1810512" y="1393546"/>
            <a:ext cx="443484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can say I'd like to return this.</a:t>
            </a:r>
            <a:endParaRPr lang="en-US" sz="1800" dirty="0" b="1"/>
          </a:p>
        </p:txBody>
      </p:sp>
      <p:sp>
        <p:nvSpPr>
          <p:cNvPr id="36" name="R1 sub"/>
          <p:cNvSpPr/>
          <p:nvPr/>
        </p:nvSpPr>
        <p:spPr>
          <a:xfrm>
            <a:off x="1901952" y="1795882"/>
            <a:ext cx="4343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…because it's too small.</a:t>
            </a:r>
            <a:endParaRPr lang="en-US" sz="2000" dirty="0"/>
          </a:p>
        </p:txBody>
      </p:sp>
      <p:sp>
        <p:nvSpPr>
          <p:cNvPr id="37" name="R1 dot"/>
          <p:cNvSpPr/>
          <p:nvPr/>
        </p:nvSpPr>
        <p:spPr>
          <a:xfrm rot="10800000">
            <a:off x="6361481" y="1459382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8" name="R2 card"/>
          <p:cNvSpPr/>
          <p:nvPr/>
        </p:nvSpPr>
        <p:spPr>
          <a:xfrm>
            <a:off x="1583741" y="2418588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9" name="R2 chip"/>
          <p:cNvSpPr/>
          <p:nvPr/>
        </p:nvSpPr>
        <p:spPr>
          <a:xfrm>
            <a:off x="544982" y="2418588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0" name="R2 num"/>
          <p:cNvSpPr/>
          <p:nvPr/>
        </p:nvSpPr>
        <p:spPr>
          <a:xfrm>
            <a:off x="686714" y="2418588"/>
            <a:ext cx="1109167" cy="6025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02</a:t>
            </a:r>
            <a:endParaRPr lang="en-US" sz="3200" b="1" dirty="0"/>
          </a:p>
        </p:txBody>
      </p:sp>
      <p:sp>
        <p:nvSpPr>
          <p:cNvPr id="41" name="R2 text"/>
          <p:cNvSpPr/>
          <p:nvPr/>
        </p:nvSpPr>
        <p:spPr>
          <a:xfrm>
            <a:off x="1810512" y="2418588"/>
            <a:ext cx="443484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can ask Could I / Can I / May I…?</a:t>
            </a:r>
            <a:endParaRPr lang="en-US" sz="1800" dirty="0"/>
          </a:p>
        </p:txBody>
      </p:sp>
      <p:sp>
        <p:nvSpPr>
          <p:cNvPr id="42" name="R2 dot"/>
          <p:cNvSpPr/>
          <p:nvPr/>
        </p:nvSpPr>
        <p:spPr>
          <a:xfrm rot="10800000">
            <a:off x="6361481" y="2552090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43" name="R3 card"/>
          <p:cNvSpPr/>
          <p:nvPr/>
        </p:nvSpPr>
        <p:spPr>
          <a:xfrm>
            <a:off x="1583741" y="3129991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4" name="R3 chip"/>
          <p:cNvSpPr/>
          <p:nvPr/>
        </p:nvSpPr>
        <p:spPr>
          <a:xfrm>
            <a:off x="544982" y="3129991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5" name="R3 num"/>
          <p:cNvSpPr/>
          <p:nvPr/>
        </p:nvSpPr>
        <p:spPr>
          <a:xfrm>
            <a:off x="686714" y="3129991"/>
            <a:ext cx="1109167" cy="6025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03</a:t>
            </a:r>
            <a:endParaRPr lang="en-US" sz="3200" b="1" dirty="0"/>
          </a:p>
        </p:txBody>
      </p:sp>
      <p:sp>
        <p:nvSpPr>
          <p:cNvPr id="46" name="R3 text"/>
          <p:cNvSpPr/>
          <p:nvPr/>
        </p:nvSpPr>
        <p:spPr>
          <a:xfrm>
            <a:off x="1810512" y="3129991"/>
            <a:ext cx="443484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can ask for a refund or store credit.</a:t>
            </a:r>
            <a:endParaRPr lang="en-US" sz="1800" dirty="0"/>
          </a:p>
        </p:txBody>
      </p:sp>
      <p:sp>
        <p:nvSpPr>
          <p:cNvPr id="47" name="R3 dot"/>
          <p:cNvSpPr/>
          <p:nvPr/>
        </p:nvSpPr>
        <p:spPr>
          <a:xfrm rot="10800000">
            <a:off x="6361481" y="3263494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48" name="R4 card"/>
          <p:cNvSpPr/>
          <p:nvPr/>
        </p:nvSpPr>
        <p:spPr>
          <a:xfrm>
            <a:off x="1583741" y="3841394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9" name="R4 chip"/>
          <p:cNvSpPr/>
          <p:nvPr/>
        </p:nvSpPr>
        <p:spPr>
          <a:xfrm>
            <a:off x="544982" y="3841394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0" name="R4 num"/>
          <p:cNvSpPr/>
          <p:nvPr/>
        </p:nvSpPr>
        <p:spPr>
          <a:xfrm>
            <a:off x="686714" y="3841394"/>
            <a:ext cx="1109167" cy="6025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04</a:t>
            </a:r>
            <a:endParaRPr lang="en-US" sz="3200" b="1" dirty="0"/>
          </a:p>
        </p:txBody>
      </p:sp>
      <p:sp>
        <p:nvSpPr>
          <p:cNvPr id="51" name="R4 text"/>
          <p:cNvSpPr/>
          <p:nvPr/>
        </p:nvSpPr>
        <p:spPr>
          <a:xfrm>
            <a:off x="1810512" y="3841394"/>
            <a:ext cx="443484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can change or cancel an appointment.</a:t>
            </a:r>
            <a:endParaRPr lang="en-US" sz="1800" dirty="0"/>
          </a:p>
        </p:txBody>
      </p:sp>
      <p:sp>
        <p:nvSpPr>
          <p:cNvPr id="52" name="R4 dot"/>
          <p:cNvSpPr/>
          <p:nvPr/>
        </p:nvSpPr>
        <p:spPr>
          <a:xfrm rot="10800000">
            <a:off x="6361481" y="3974897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53" name="R5 card"/>
          <p:cNvSpPr/>
          <p:nvPr/>
        </p:nvSpPr>
        <p:spPr>
          <a:xfrm>
            <a:off x="1583741" y="4552798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4" name="R5 chip"/>
          <p:cNvSpPr/>
          <p:nvPr/>
        </p:nvSpPr>
        <p:spPr>
          <a:xfrm>
            <a:off x="544982" y="4552798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5" name="R5 num"/>
          <p:cNvSpPr/>
          <p:nvPr/>
        </p:nvSpPr>
        <p:spPr>
          <a:xfrm>
            <a:off x="686714" y="4552798"/>
            <a:ext cx="1109167" cy="6025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05</a:t>
            </a:r>
            <a:endParaRPr lang="en-US" sz="3200" b="1" dirty="0"/>
          </a:p>
        </p:txBody>
      </p:sp>
      <p:sp>
        <p:nvSpPr>
          <p:cNvPr id="56" name="R5 text"/>
          <p:cNvSpPr/>
          <p:nvPr/>
        </p:nvSpPr>
        <p:spPr>
          <a:xfrm>
            <a:off x="1810512" y="4552798"/>
            <a:ext cx="443484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can use I'd like and I'd like to.</a:t>
            </a:r>
            <a:endParaRPr lang="en-US" sz="1800" dirty="0"/>
          </a:p>
        </p:txBody>
      </p:sp>
      <p:sp>
        <p:nvSpPr>
          <p:cNvPr id="57" name="R5 dot"/>
          <p:cNvSpPr/>
          <p:nvPr/>
        </p:nvSpPr>
        <p:spPr>
          <a:xfrm rot="10800000">
            <a:off x="6361481" y="4686300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58" name="R6 card"/>
          <p:cNvSpPr/>
          <p:nvPr/>
        </p:nvSpPr>
        <p:spPr>
          <a:xfrm>
            <a:off x="1583741" y="5264201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9" name="R6 chip"/>
          <p:cNvSpPr/>
          <p:nvPr/>
        </p:nvSpPr>
        <p:spPr>
          <a:xfrm>
            <a:off x="544982" y="5264201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0" name="R6 num"/>
          <p:cNvSpPr/>
          <p:nvPr/>
        </p:nvSpPr>
        <p:spPr>
          <a:xfrm>
            <a:off x="686714" y="5264201"/>
            <a:ext cx="1109167" cy="6025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06</a:t>
            </a:r>
            <a:endParaRPr lang="en-US" sz="3200" b="1" dirty="0"/>
          </a:p>
        </p:txBody>
      </p:sp>
      <p:sp>
        <p:nvSpPr>
          <p:cNvPr id="61" name="R6 text"/>
          <p:cNvSpPr/>
          <p:nvPr/>
        </p:nvSpPr>
        <p:spPr>
          <a:xfrm>
            <a:off x="1810512" y="5264201"/>
            <a:ext cx="443484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can read a return policy and fill out a form.</a:t>
            </a:r>
            <a:endParaRPr lang="en-US" sz="1800" dirty="0"/>
          </a:p>
        </p:txBody>
      </p:sp>
      <p:sp>
        <p:nvSpPr>
          <p:cNvPr id="62" name="R6 dot"/>
          <p:cNvSpPr/>
          <p:nvPr/>
        </p:nvSpPr>
        <p:spPr>
          <a:xfrm rot="10800000">
            <a:off x="6361481" y="5397703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4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4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4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4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4" fill="hold">
                      <p:stCondLst>
                        <p:cond delay="indefinite"/>
                      </p:stCondLst>
                      <p:childTnLst>
                        <p:par>
                          <p:cTn id="95" fill="hold">
                            <p:stCondLst>
                              <p:cond delay="0"/>
                            </p:stCondLst>
                            <p:childTnLst>
                              <p:par>
                                <p:cTn id="9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4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4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4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4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4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3:warmup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487604" y="1352535"/>
            <a:ext cx="5246827" cy="178308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18465" y="1300277"/>
            <a:ext cx="5246827" cy="17830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 flipH="1">
            <a:off x="5503774" y="3276295"/>
            <a:ext cx="6847942" cy="3931006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pic>
        <p:nvPicPr>
          <p:cNvPr id="15" name="pic" descr="Customer: a woman with a shopping bag, a stor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0393" y="1828800"/>
            <a:ext cx="4754880" cy="3328416"/>
          </a:xfrm>
          <a:prstGeom prst="rect">
            <a:avLst/>
          </a:prstGeom>
        </p:spPr>
      </p:pic>
      <p:sp>
        <p:nvSpPr>
          <p:cNvPr id="7" name="title"/>
          <p:cNvSpPr/>
          <p:nvPr/>
        </p:nvSpPr>
        <p:spPr>
          <a:xfrm>
            <a:off x="548640" y="1764792"/>
            <a:ext cx="512064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Opening Talk</a:t>
            </a:r>
            <a:endParaRPr lang="en-US" sz="4000" dirty="0" b="1"/>
          </a:p>
        </p:txBody>
      </p:sp>
      <p:sp>
        <p:nvSpPr>
          <p:cNvPr id="8" name="kicker"/>
          <p:cNvSpPr/>
          <p:nvPr/>
        </p:nvSpPr>
        <p:spPr>
          <a:xfrm>
            <a:off x="599846" y="1371600"/>
            <a:ext cx="484632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OPENING TALK  ·  6:00</a:t>
            </a:r>
            <a:endParaRPr lang="en-US" sz="2000" dirty="0" b="1"/>
          </a:p>
        </p:txBody>
      </p:sp>
      <p:sp>
        <p:nvSpPr>
          <p:cNvPr id="9" name="box1"/>
          <p:cNvSpPr/>
          <p:nvPr/>
        </p:nvSpPr>
        <p:spPr>
          <a:xfrm>
            <a:off x="599846" y="338328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asks a card question.</a:t>
            </a:r>
            <a:endParaRPr lang="en-US" sz="2000" dirty="0" b="1"/>
          </a:p>
          <a:p>
            <a:pPr algn="l"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will you do if it rains this weekend?</a:t>
            </a:r>
            <a:endParaRPr lang="en-US" sz="20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 answers with 2–3 sentences.</a:t>
            </a:r>
            <a:endParaRPr lang="en-US" sz="2000" dirty="0" b="1"/>
          </a:p>
        </p:txBody>
      </p:sp>
      <p:sp>
        <p:nvSpPr>
          <p:cNvPr id="14" name="box2"/>
          <p:cNvSpPr/>
          <p:nvPr/>
        </p:nvSpPr>
        <p:spPr>
          <a:xfrm>
            <a:off x="599846" y="4754880"/>
            <a:ext cx="48463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asks one follow-up.</a:t>
            </a:r>
            <a:endParaRPr lang="en-US" sz="2000" dirty="0" b="1"/>
          </a:p>
          <a:p>
            <a:pPr algn="l" indent="0" marL="0">
              <a:spcAft>
                <a:spcPts val="400"/>
              </a:spcAft>
              <a:buNone/>
            </a:pPr>
            <a:r>
              <a:rPr lang="en-US" sz="20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Really? With who?</a:t>
            </a:r>
            <a:endParaRPr lang="en-US" sz="2000" dirty="0" b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Then switch.</a:t>
            </a:r>
            <a:endParaRPr lang="en-US" sz="20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3:numlist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9" name="title"/>
          <p:cNvSpPr/>
          <p:nvPr/>
        </p:nvSpPr>
        <p:spPr>
          <a:xfrm>
            <a:off x="7634326" y="1783080"/>
            <a:ext cx="4229100" cy="1600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Opening Talk</a:t>
            </a:r>
            <a:endParaRPr lang="en-US" sz="4000" dirty="0" b="1"/>
          </a:p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Cards</a:t>
            </a:r>
            <a:endParaRPr lang="en-US" sz="4000" dirty="0" b="1"/>
          </a:p>
        </p:txBody>
      </p:sp>
      <p:sp>
        <p:nvSpPr>
          <p:cNvPr id="30" name="side"/>
          <p:cNvSpPr/>
          <p:nvPr/>
        </p:nvSpPr>
        <p:spPr>
          <a:xfrm>
            <a:off x="7751369" y="3611880"/>
            <a:ext cx="39319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Work with a partner. Then switch.</a:t>
            </a:r>
            <a:endParaRPr lang="en-US" sz="1800" dirty="0"/>
          </a:p>
          <a:p>
            <a:pPr algn="l"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Follow-ups:</a:t>
            </a:r>
            <a:endParaRPr lang="en-US" sz="1800" dirty="0" b="1"/>
          </a:p>
          <a:p>
            <a:pPr algn="l"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Really? Why? With who? What else will you do?</a:t>
            </a:r>
            <a:endParaRPr lang="en-US" sz="1800" dirty="0" b="1"/>
          </a:p>
        </p:txBody>
      </p:sp>
      <p:sp>
        <p:nvSpPr>
          <p:cNvPr id="31" name="R1 shadow"/>
          <p:cNvSpPr/>
          <p:nvPr/>
        </p:nvSpPr>
        <p:spPr>
          <a:xfrm>
            <a:off x="544982" y="2471623"/>
            <a:ext cx="6227064" cy="60259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2" name="R1 card"/>
          <p:cNvSpPr/>
          <p:nvPr/>
        </p:nvSpPr>
        <p:spPr>
          <a:xfrm>
            <a:off x="1583741" y="2414016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3" name="R1 chip"/>
          <p:cNvSpPr/>
          <p:nvPr/>
        </p:nvSpPr>
        <p:spPr>
          <a:xfrm>
            <a:off x="544982" y="2414016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4" name="R1 num"/>
          <p:cNvSpPr/>
          <p:nvPr/>
        </p:nvSpPr>
        <p:spPr>
          <a:xfrm>
            <a:off x="686714" y="2414016"/>
            <a:ext cx="1109167" cy="6025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01</a:t>
            </a:r>
            <a:endParaRPr lang="en-US" sz="3600" b="1" dirty="0"/>
          </a:p>
        </p:txBody>
      </p:sp>
      <p:sp>
        <p:nvSpPr>
          <p:cNvPr id="35" name="R1 text"/>
          <p:cNvSpPr/>
          <p:nvPr/>
        </p:nvSpPr>
        <p:spPr>
          <a:xfrm>
            <a:off x="1810512" y="2414016"/>
            <a:ext cx="443484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will you do if it rains this weekend?</a:t>
            </a:r>
            <a:endParaRPr lang="en-US" sz="1800" dirty="0"/>
          </a:p>
        </p:txBody>
      </p:sp>
      <p:sp>
        <p:nvSpPr>
          <p:cNvPr id="36" name="R1 dot"/>
          <p:cNvSpPr/>
          <p:nvPr/>
        </p:nvSpPr>
        <p:spPr>
          <a:xfrm rot="10800000">
            <a:off x="6361481" y="2547518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7" name="R2 card"/>
          <p:cNvSpPr/>
          <p:nvPr/>
        </p:nvSpPr>
        <p:spPr>
          <a:xfrm>
            <a:off x="1583741" y="3125419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8" name="R2 chip"/>
          <p:cNvSpPr/>
          <p:nvPr/>
        </p:nvSpPr>
        <p:spPr>
          <a:xfrm>
            <a:off x="544982" y="3125419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9" name="R2 num"/>
          <p:cNvSpPr/>
          <p:nvPr/>
        </p:nvSpPr>
        <p:spPr>
          <a:xfrm>
            <a:off x="686714" y="3125419"/>
            <a:ext cx="1109167" cy="6025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02</a:t>
            </a:r>
            <a:endParaRPr lang="en-US" sz="3200" b="1" dirty="0"/>
          </a:p>
        </p:txBody>
      </p:sp>
      <p:sp>
        <p:nvSpPr>
          <p:cNvPr id="40" name="R2 text"/>
          <p:cNvSpPr/>
          <p:nvPr/>
        </p:nvSpPr>
        <p:spPr>
          <a:xfrm>
            <a:off x="1810512" y="3125419"/>
            <a:ext cx="443484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will you do if the power goes out tonight?</a:t>
            </a:r>
            <a:endParaRPr lang="en-US" sz="1800" dirty="0"/>
          </a:p>
        </p:txBody>
      </p:sp>
      <p:sp>
        <p:nvSpPr>
          <p:cNvPr id="41" name="R2 dot"/>
          <p:cNvSpPr/>
          <p:nvPr/>
        </p:nvSpPr>
        <p:spPr>
          <a:xfrm rot="10800000">
            <a:off x="6361481" y="3258922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42" name="R3 card"/>
          <p:cNvSpPr/>
          <p:nvPr/>
        </p:nvSpPr>
        <p:spPr>
          <a:xfrm>
            <a:off x="1583741" y="3836822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3" name="R3 chip"/>
          <p:cNvSpPr/>
          <p:nvPr/>
        </p:nvSpPr>
        <p:spPr>
          <a:xfrm>
            <a:off x="544982" y="3836822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4" name="R3 num"/>
          <p:cNvSpPr/>
          <p:nvPr/>
        </p:nvSpPr>
        <p:spPr>
          <a:xfrm>
            <a:off x="686714" y="3836822"/>
            <a:ext cx="1109167" cy="6025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03</a:t>
            </a:r>
            <a:endParaRPr lang="en-US" sz="3200" b="1" dirty="0"/>
          </a:p>
        </p:txBody>
      </p:sp>
      <p:sp>
        <p:nvSpPr>
          <p:cNvPr id="45" name="R3 text"/>
          <p:cNvSpPr/>
          <p:nvPr/>
        </p:nvSpPr>
        <p:spPr>
          <a:xfrm>
            <a:off x="1810512" y="3836822"/>
            <a:ext cx="443484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will the weather probably be like tomorrow?</a:t>
            </a:r>
            <a:endParaRPr lang="en-US" sz="1800" dirty="0"/>
          </a:p>
        </p:txBody>
      </p:sp>
      <p:sp>
        <p:nvSpPr>
          <p:cNvPr id="46" name="R3 dot"/>
          <p:cNvSpPr/>
          <p:nvPr/>
        </p:nvSpPr>
        <p:spPr>
          <a:xfrm rot="10800000">
            <a:off x="6361481" y="3970325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47" name="R4 card"/>
          <p:cNvSpPr/>
          <p:nvPr/>
        </p:nvSpPr>
        <p:spPr>
          <a:xfrm>
            <a:off x="1583741" y="4548226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8" name="R4 chip"/>
          <p:cNvSpPr/>
          <p:nvPr/>
        </p:nvSpPr>
        <p:spPr>
          <a:xfrm>
            <a:off x="544982" y="4548226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9" name="R4 num"/>
          <p:cNvSpPr/>
          <p:nvPr/>
        </p:nvSpPr>
        <p:spPr>
          <a:xfrm>
            <a:off x="686714" y="4548226"/>
            <a:ext cx="1109167" cy="6025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04</a:t>
            </a:r>
            <a:endParaRPr lang="en-US" sz="3200" b="1" dirty="0"/>
          </a:p>
        </p:txBody>
      </p:sp>
      <p:sp>
        <p:nvSpPr>
          <p:cNvPr id="50" name="R4 text"/>
          <p:cNvSpPr/>
          <p:nvPr/>
        </p:nvSpPr>
        <p:spPr>
          <a:xfrm>
            <a:off x="1810512" y="4548226"/>
            <a:ext cx="443484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will you do if you have a free day next week?</a:t>
            </a:r>
            <a:endParaRPr lang="en-US" sz="1800" dirty="0"/>
          </a:p>
        </p:txBody>
      </p:sp>
      <p:sp>
        <p:nvSpPr>
          <p:cNvPr id="51" name="R4 dot"/>
          <p:cNvSpPr/>
          <p:nvPr/>
        </p:nvSpPr>
        <p:spPr>
          <a:xfrm rot="10800000">
            <a:off x="6361481" y="4681728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52" name="R5 card"/>
          <p:cNvSpPr/>
          <p:nvPr/>
        </p:nvSpPr>
        <p:spPr>
          <a:xfrm>
            <a:off x="1583741" y="5259629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3" name="R5 chip"/>
          <p:cNvSpPr/>
          <p:nvPr/>
        </p:nvSpPr>
        <p:spPr>
          <a:xfrm>
            <a:off x="544982" y="5259629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4" name="R5 num"/>
          <p:cNvSpPr/>
          <p:nvPr/>
        </p:nvSpPr>
        <p:spPr>
          <a:xfrm>
            <a:off x="686714" y="5259629"/>
            <a:ext cx="1109167" cy="6025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05</a:t>
            </a:r>
            <a:endParaRPr lang="en-US" sz="3200" b="1" dirty="0"/>
          </a:p>
        </p:txBody>
      </p:sp>
      <p:sp>
        <p:nvSpPr>
          <p:cNvPr id="55" name="R5 text"/>
          <p:cNvSpPr/>
          <p:nvPr/>
        </p:nvSpPr>
        <p:spPr>
          <a:xfrm>
            <a:off x="1810512" y="5259629"/>
            <a:ext cx="443484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Homework check: Lesson 6, item 1.</a:t>
            </a:r>
            <a:endParaRPr lang="en-US" sz="1800" dirty="0"/>
          </a:p>
        </p:txBody>
      </p:sp>
      <p:sp>
        <p:nvSpPr>
          <p:cNvPr id="56" name="R5 dot"/>
          <p:cNvSpPr/>
          <p:nvPr/>
        </p:nvSpPr>
        <p:spPr>
          <a:xfrm rot="10800000">
            <a:off x="6361481" y="5393131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4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4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4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3:words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 flipH="1" flipV="1">
            <a:off x="541325" y="2231136"/>
            <a:ext cx="10958170" cy="434340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 flipH="1" flipV="1">
            <a:off x="541325" y="2090318"/>
            <a:ext cx="10958170" cy="434340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630738" y="517002"/>
            <a:ext cx="6063386" cy="1331366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5666537" y="462686"/>
            <a:ext cx="6063386" cy="133136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itle"/>
          <p:cNvSpPr/>
          <p:nvPr/>
        </p:nvSpPr>
        <p:spPr>
          <a:xfrm>
            <a:off x="5938114" y="594360"/>
            <a:ext cx="56692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9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New Words</a:t>
            </a:r>
            <a:endParaRPr lang="en-US" sz="4900" dirty="0" b="1"/>
          </a:p>
        </p:txBody>
      </p:sp>
      <p:sp>
        <p:nvSpPr>
          <p:cNvPr id="9" name="instr card"/>
          <p:cNvSpPr/>
          <p:nvPr/>
        </p:nvSpPr>
        <p:spPr>
          <a:xfrm>
            <a:off x="1121969" y="587045"/>
            <a:ext cx="3557930" cy="114300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3" name="instr"/>
          <p:cNvSpPr/>
          <p:nvPr/>
        </p:nvSpPr>
        <p:spPr>
          <a:xfrm>
            <a:off x="1325880" y="685800"/>
            <a:ext cx="246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Look. Listen.</a:t>
            </a:r>
            <a:endParaRPr lang="en-US" sz="2200" dirty="0" b="1"/>
          </a:p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Repeat.</a:t>
            </a:r>
            <a:endParaRPr lang="en-US" sz="2200" dirty="0" b="1"/>
          </a:p>
        </p:txBody>
      </p:sp>
      <p:pic>
        <p:nvPicPr>
          <p:cNvPr id="17" name="Word picture 1" descr="Return: a person with a box, an arrow back to a store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448410" y="2286000"/>
            <a:ext cx="1920240" cy="1344168"/>
          </a:xfrm>
          <a:prstGeom prst="rect">
            <a:avLst/>
          </a:prstGeom>
        </p:spPr>
      </p:pic>
      <p:sp>
        <p:nvSpPr>
          <p:cNvPr id="18" name="Word label 1"/>
          <p:cNvSpPr/>
          <p:nvPr/>
        </p:nvSpPr>
        <p:spPr>
          <a:xfrm>
            <a:off x="854050" y="3703320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return</a:t>
            </a:r>
            <a:endParaRPr lang="en-US" sz="2000" dirty="0" b="1"/>
          </a:p>
        </p:txBody>
      </p:sp>
      <p:pic>
        <p:nvPicPr>
          <p:cNvPr id="19" name="Word picture 2" descr="Exchange: a small shirt (S) and a large shirt (L) with arrows both ways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060290" y="2286000"/>
            <a:ext cx="1920240" cy="1344168"/>
          </a:xfrm>
          <a:prstGeom prst="rect">
            <a:avLst/>
          </a:prstGeom>
        </p:spPr>
      </p:pic>
      <p:sp>
        <p:nvSpPr>
          <p:cNvPr id="20" name="Word label 2"/>
          <p:cNvSpPr/>
          <p:nvPr/>
        </p:nvSpPr>
        <p:spPr>
          <a:xfrm>
            <a:off x="4465930" y="3703320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exchange</a:t>
            </a:r>
            <a:endParaRPr lang="en-US" sz="2000" dirty="0" b="1"/>
          </a:p>
        </p:txBody>
      </p:sp>
      <p:pic>
        <p:nvPicPr>
          <p:cNvPr id="21" name="Word picture 3" descr="Refund: money, an arrow to a hand, label &quot;money back&quot;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672170" y="2286000"/>
            <a:ext cx="1920240" cy="1344168"/>
          </a:xfrm>
          <a:prstGeom prst="rect">
            <a:avLst/>
          </a:prstGeom>
        </p:spPr>
      </p:pic>
      <p:sp>
        <p:nvSpPr>
          <p:cNvPr id="22" name="Word label 3"/>
          <p:cNvSpPr/>
          <p:nvPr/>
        </p:nvSpPr>
        <p:spPr>
          <a:xfrm>
            <a:off x="8077810" y="3703320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refund</a:t>
            </a:r>
            <a:endParaRPr lang="en-US" sz="2000" dirty="0" b="1"/>
          </a:p>
        </p:txBody>
      </p:sp>
      <p:pic>
        <p:nvPicPr>
          <p:cNvPr id="23" name="Word picture 4" descr="Store credit: a drawn store credit card &quot;$24.00, Valley Mart&quot; (invented store)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448410" y="4315968"/>
            <a:ext cx="1920240" cy="1344168"/>
          </a:xfrm>
          <a:prstGeom prst="rect">
            <a:avLst/>
          </a:prstGeom>
        </p:spPr>
      </p:pic>
      <p:sp>
        <p:nvSpPr>
          <p:cNvPr id="24" name="Word label 4"/>
          <p:cNvSpPr/>
          <p:nvPr/>
        </p:nvSpPr>
        <p:spPr>
          <a:xfrm>
            <a:off x="854050" y="5733288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store credit</a:t>
            </a:r>
            <a:endParaRPr lang="en-US" sz="2000" dirty="0" b="1"/>
          </a:p>
        </p:txBody>
      </p:sp>
      <p:pic>
        <p:nvPicPr>
          <p:cNvPr id="25" name="Word picture 5" descr="Size: three shirts, S / M / L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60290" y="4315968"/>
            <a:ext cx="1920240" cy="1344168"/>
          </a:xfrm>
          <a:prstGeom prst="rect">
            <a:avLst/>
          </a:prstGeom>
        </p:spPr>
      </p:pic>
      <p:sp>
        <p:nvSpPr>
          <p:cNvPr id="26" name="Word label 5"/>
          <p:cNvSpPr/>
          <p:nvPr/>
        </p:nvSpPr>
        <p:spPr>
          <a:xfrm>
            <a:off x="4465930" y="5733288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size</a:t>
            </a:r>
            <a:endParaRPr lang="en-US" sz="2000" dirty="0" b="1"/>
          </a:p>
        </p:txBody>
      </p:sp>
      <p:pic>
        <p:nvPicPr>
          <p:cNvPr id="27" name="Word picture 6" descr="Broken: a phone with cracks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672170" y="4315968"/>
            <a:ext cx="1920240" cy="1344168"/>
          </a:xfrm>
          <a:prstGeom prst="rect">
            <a:avLst/>
          </a:prstGeom>
        </p:spPr>
      </p:pic>
      <p:sp>
        <p:nvSpPr>
          <p:cNvPr id="28" name="Word label 6"/>
          <p:cNvSpPr/>
          <p:nvPr/>
        </p:nvSpPr>
        <p:spPr>
          <a:xfrm>
            <a:off x="8077810" y="5733288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broken</a:t>
            </a:r>
            <a:endParaRPr lang="en-US" sz="20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3:words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 flipH="1" flipV="1">
            <a:off x="541325" y="2231136"/>
            <a:ext cx="10958170" cy="434340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 flipH="1" flipV="1">
            <a:off x="541325" y="2090318"/>
            <a:ext cx="10958170" cy="434340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630738" y="517002"/>
            <a:ext cx="6063386" cy="1331366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5666537" y="462686"/>
            <a:ext cx="6063386" cy="133136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itle"/>
          <p:cNvSpPr/>
          <p:nvPr/>
        </p:nvSpPr>
        <p:spPr>
          <a:xfrm>
            <a:off x="5938114" y="594360"/>
            <a:ext cx="56692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9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More New Words</a:t>
            </a:r>
            <a:endParaRPr lang="en-US" sz="4900" dirty="0" b="1"/>
          </a:p>
        </p:txBody>
      </p:sp>
      <p:sp>
        <p:nvSpPr>
          <p:cNvPr id="9" name="instr card"/>
          <p:cNvSpPr/>
          <p:nvPr/>
        </p:nvSpPr>
        <p:spPr>
          <a:xfrm>
            <a:off x="1121969" y="587045"/>
            <a:ext cx="3557930" cy="114300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3" name="instr"/>
          <p:cNvSpPr/>
          <p:nvPr/>
        </p:nvSpPr>
        <p:spPr>
          <a:xfrm>
            <a:off x="1325880" y="685800"/>
            <a:ext cx="246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Partner game:</a:t>
            </a:r>
            <a:endParaRPr lang="en-US" sz="2200" dirty="0" b="1"/>
          </a:p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says. B points.</a:t>
            </a:r>
            <a:endParaRPr lang="en-US" sz="2200" dirty="0" b="1"/>
          </a:p>
        </p:txBody>
      </p:sp>
      <p:pic>
        <p:nvPicPr>
          <p:cNvPr id="17" name="Word picture 1" descr="Customer: a woman with a shopping bag, a store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448410" y="2286000"/>
            <a:ext cx="1920240" cy="1344168"/>
          </a:xfrm>
          <a:prstGeom prst="rect">
            <a:avLst/>
          </a:prstGeom>
        </p:spPr>
      </p:pic>
      <p:sp>
        <p:nvSpPr>
          <p:cNvPr id="18" name="Word label 1"/>
          <p:cNvSpPr/>
          <p:nvPr/>
        </p:nvSpPr>
        <p:spPr>
          <a:xfrm>
            <a:off x="854050" y="3703320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customer</a:t>
            </a:r>
            <a:endParaRPr lang="en-US" sz="2000" dirty="0" b="1"/>
          </a:p>
        </p:txBody>
      </p:sp>
      <p:pic>
        <p:nvPicPr>
          <p:cNvPr id="19" name="Word picture 2" descr="Manager: an office worker with a MANAGER name ta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060290" y="2286000"/>
            <a:ext cx="1920240" cy="1344168"/>
          </a:xfrm>
          <a:prstGeom prst="rect">
            <a:avLst/>
          </a:prstGeom>
        </p:spPr>
      </p:pic>
      <p:sp>
        <p:nvSpPr>
          <p:cNvPr id="20" name="Word label 2"/>
          <p:cNvSpPr/>
          <p:nvPr/>
        </p:nvSpPr>
        <p:spPr>
          <a:xfrm>
            <a:off x="4465930" y="3703320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manager</a:t>
            </a:r>
            <a:endParaRPr lang="en-US" sz="2000" dirty="0" b="1"/>
          </a:p>
        </p:txBody>
      </p:sp>
      <p:pic>
        <p:nvPicPr>
          <p:cNvPr id="21" name="Word picture 3" descr="Cancel: a drawn calendar with an appointment crossed out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672170" y="2286000"/>
            <a:ext cx="1920240" cy="1344168"/>
          </a:xfrm>
          <a:prstGeom prst="rect">
            <a:avLst/>
          </a:prstGeom>
        </p:spPr>
      </p:pic>
      <p:sp>
        <p:nvSpPr>
          <p:cNvPr id="22" name="Word label 3"/>
          <p:cNvSpPr/>
          <p:nvPr/>
        </p:nvSpPr>
        <p:spPr>
          <a:xfrm>
            <a:off x="8077810" y="3703320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cancel</a:t>
            </a:r>
            <a:endParaRPr lang="en-US" sz="2000" dirty="0" b="1"/>
          </a:p>
        </p:txBody>
      </p:sp>
      <p:pic>
        <p:nvPicPr>
          <p:cNvPr id="23" name="Word picture 4" descr="Reschedule: a drawn calendar: Monday 10:00 crossed out, an arrow to Thursday 4:30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448410" y="4315968"/>
            <a:ext cx="1920240" cy="1344168"/>
          </a:xfrm>
          <a:prstGeom prst="rect">
            <a:avLst/>
          </a:prstGeom>
        </p:spPr>
      </p:pic>
      <p:sp>
        <p:nvSpPr>
          <p:cNvPr id="24" name="Word label 4"/>
          <p:cNvSpPr/>
          <p:nvPr/>
        </p:nvSpPr>
        <p:spPr>
          <a:xfrm>
            <a:off x="854050" y="5733288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reschedule</a:t>
            </a:r>
            <a:endParaRPr lang="en-US" sz="2000" dirty="0" b="1"/>
          </a:p>
        </p:txBody>
      </p:sp>
      <p:pic>
        <p:nvPicPr>
          <p:cNvPr id="25" name="Word picture 5" descr="Available: three time slots; 4:30 checked green, the others crossed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60290" y="4315968"/>
            <a:ext cx="1920240" cy="1344168"/>
          </a:xfrm>
          <a:prstGeom prst="rect">
            <a:avLst/>
          </a:prstGeom>
        </p:spPr>
      </p:pic>
      <p:sp>
        <p:nvSpPr>
          <p:cNvPr id="26" name="Word label 5"/>
          <p:cNvSpPr/>
          <p:nvPr/>
        </p:nvSpPr>
        <p:spPr>
          <a:xfrm>
            <a:off x="4465930" y="5733288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available</a:t>
            </a:r>
            <a:endParaRPr lang="en-US" sz="2000" dirty="0" b="1"/>
          </a:p>
        </p:txBody>
      </p:sp>
      <p:pic>
        <p:nvPicPr>
          <p:cNvPr id="27" name="Word picture 6" descr="Stain: a shirt with a brown spot circled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672170" y="4315968"/>
            <a:ext cx="1920240" cy="1344168"/>
          </a:xfrm>
          <a:prstGeom prst="rect">
            <a:avLst/>
          </a:prstGeom>
        </p:spPr>
      </p:pic>
      <p:sp>
        <p:nvSpPr>
          <p:cNvPr id="28" name="Word label 6"/>
          <p:cNvSpPr/>
          <p:nvPr/>
        </p:nvSpPr>
        <p:spPr>
          <a:xfrm>
            <a:off x="8077810" y="5733288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stain</a:t>
            </a:r>
            <a:endParaRPr lang="en-US" sz="20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3:check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title"/>
          <p:cNvSpPr/>
          <p:nvPr/>
        </p:nvSpPr>
        <p:spPr>
          <a:xfrm>
            <a:off x="685800" y="502920"/>
            <a:ext cx="107899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Check the Meaning</a:t>
            </a:r>
            <a:endParaRPr lang="en-US" sz="4300" dirty="0" b="1"/>
          </a:p>
        </p:txBody>
      </p:sp>
      <p:sp>
        <p:nvSpPr>
          <p:cNvPr id="3" name="sub"/>
          <p:cNvSpPr/>
          <p:nvPr/>
        </p:nvSpPr>
        <p:spPr>
          <a:xfrm>
            <a:off x="685800" y="1554480"/>
            <a:ext cx="107899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Look at the picture. Answer the question.</a:t>
            </a:r>
            <a:endParaRPr lang="en-US" sz="2400" dirty="0"/>
          </a:p>
        </p:txBody>
      </p:sp>
      <p:sp>
        <p:nvSpPr>
          <p:cNvPr id="4" name="R1 shadow"/>
          <p:cNvSpPr/>
          <p:nvPr/>
        </p:nvSpPr>
        <p:spPr>
          <a:xfrm>
            <a:off x="758952" y="2395728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5" name="R1 card"/>
          <p:cNvSpPr/>
          <p:nvPr/>
        </p:nvSpPr>
        <p:spPr>
          <a:xfrm>
            <a:off x="685800" y="2286000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 w="19050">
            <a:solidFill>
              <a:srgbClr val="8FAFE3"/>
            </a:solidFill>
            <a:prstDash val="solid"/>
          </a:ln>
        </p:spPr>
        <p:txBody>
          <a:bodyPr/>
          <a:p/>
        </p:txBody>
      </p:sp>
      <p:sp>
        <p:nvSpPr>
          <p:cNvPr id="6" name="R1 circle"/>
          <p:cNvSpPr/>
          <p:nvPr/>
        </p:nvSpPr>
        <p:spPr>
          <a:xfrm>
            <a:off x="960120" y="2560320"/>
            <a:ext cx="731520" cy="731520"/>
          </a:xfrm>
          <a:prstGeom prst="ellipse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7" name="R1 num"/>
          <p:cNvSpPr/>
          <p:nvPr/>
        </p:nvSpPr>
        <p:spPr>
          <a:xfrm>
            <a:off x="960120" y="25603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</a:t>
            </a:r>
            <a:endParaRPr lang="en-US" sz="2500" dirty="0"/>
          </a:p>
        </p:txBody>
      </p:sp>
      <p:sp>
        <p:nvSpPr>
          <p:cNvPr id="8" name="R1 q"/>
          <p:cNvSpPr/>
          <p:nvPr/>
        </p:nvSpPr>
        <p:spPr>
          <a:xfrm>
            <a:off x="960120" y="3931920"/>
            <a:ext cx="27889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shirt has a brown spot. It has a…?</a:t>
            </a:r>
            <a:endParaRPr lang="en-US" sz="1800" dirty="0" b="1"/>
          </a:p>
        </p:txBody>
      </p:sp>
      <p:pic>
        <p:nvPicPr>
          <p:cNvPr id="101" name="R1 pic" descr="Stain: a shirt with a brown spot circled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83080" y="2560320"/>
            <a:ext cx="1920240" cy="1344168"/>
          </a:xfrm>
          <a:prstGeom prst="rect">
            <a:avLst/>
          </a:prstGeom>
        </p:spPr>
      </p:pic>
      <p:sp>
        <p:nvSpPr>
          <p:cNvPr id="10" name="R2 shadow"/>
          <p:cNvSpPr/>
          <p:nvPr/>
        </p:nvSpPr>
        <p:spPr>
          <a:xfrm>
            <a:off x="4416552" y="2395728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1" name="R2 card"/>
          <p:cNvSpPr/>
          <p:nvPr/>
        </p:nvSpPr>
        <p:spPr>
          <a:xfrm>
            <a:off x="4343400" y="2286000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C9B8F2"/>
          </a:solidFill>
          <a:ln w="19050">
            <a:solidFill>
              <a:srgbClr val="8FAFE3"/>
            </a:solidFill>
            <a:prstDash val="solid"/>
          </a:ln>
        </p:spPr>
        <p:txBody>
          <a:bodyPr/>
          <a:p/>
        </p:txBody>
      </p:sp>
      <p:sp>
        <p:nvSpPr>
          <p:cNvPr id="12" name="R2 circle"/>
          <p:cNvSpPr/>
          <p:nvPr/>
        </p:nvSpPr>
        <p:spPr>
          <a:xfrm>
            <a:off x="4617720" y="2560320"/>
            <a:ext cx="731520" cy="731520"/>
          </a:xfrm>
          <a:prstGeom prst="ellipse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13" name="R2 num"/>
          <p:cNvSpPr/>
          <p:nvPr/>
        </p:nvSpPr>
        <p:spPr>
          <a:xfrm>
            <a:off x="4617720" y="25603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</a:t>
            </a:r>
            <a:endParaRPr lang="en-US" sz="2500" dirty="0"/>
          </a:p>
        </p:txBody>
      </p:sp>
      <p:sp>
        <p:nvSpPr>
          <p:cNvPr id="14" name="R2 q"/>
          <p:cNvSpPr/>
          <p:nvPr/>
        </p:nvSpPr>
        <p:spPr>
          <a:xfrm>
            <a:off x="4617720" y="3931920"/>
            <a:ext cx="27889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phone doesn't work. It's…?</a:t>
            </a:r>
            <a:endParaRPr lang="en-US" sz="1800" dirty="0" b="1"/>
          </a:p>
        </p:txBody>
      </p:sp>
      <p:pic>
        <p:nvPicPr>
          <p:cNvPr id="102" name="R2 pic" descr="Broken: a phone with cracks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40680" y="2560320"/>
            <a:ext cx="1920240" cy="1344168"/>
          </a:xfrm>
          <a:prstGeom prst="rect">
            <a:avLst/>
          </a:prstGeom>
        </p:spPr>
      </p:pic>
      <p:sp>
        <p:nvSpPr>
          <p:cNvPr id="16" name="R3 shadow"/>
          <p:cNvSpPr/>
          <p:nvPr/>
        </p:nvSpPr>
        <p:spPr>
          <a:xfrm>
            <a:off x="8074152" y="2395728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7" name="R3 card"/>
          <p:cNvSpPr/>
          <p:nvPr/>
        </p:nvSpPr>
        <p:spPr>
          <a:xfrm>
            <a:off x="8001000" y="2286000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 w="19050">
            <a:solidFill>
              <a:srgbClr val="8FAFE3"/>
            </a:solidFill>
            <a:prstDash val="solid"/>
          </a:ln>
        </p:spPr>
        <p:txBody>
          <a:bodyPr/>
          <a:p/>
        </p:txBody>
      </p:sp>
      <p:sp>
        <p:nvSpPr>
          <p:cNvPr id="18" name="R3 circle"/>
          <p:cNvSpPr/>
          <p:nvPr/>
        </p:nvSpPr>
        <p:spPr>
          <a:xfrm>
            <a:off x="8275320" y="2560320"/>
            <a:ext cx="731520" cy="731520"/>
          </a:xfrm>
          <a:prstGeom prst="ellipse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19" name="R3 num"/>
          <p:cNvSpPr/>
          <p:nvPr/>
        </p:nvSpPr>
        <p:spPr>
          <a:xfrm>
            <a:off x="8275320" y="25603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</a:t>
            </a:r>
            <a:endParaRPr lang="en-US" sz="2500" dirty="0"/>
          </a:p>
        </p:txBody>
      </p:sp>
      <p:sp>
        <p:nvSpPr>
          <p:cNvPr id="20" name="R3 q"/>
          <p:cNvSpPr/>
          <p:nvPr/>
        </p:nvSpPr>
        <p:spPr>
          <a:xfrm>
            <a:off x="8275320" y="3931920"/>
            <a:ext cx="27889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Who is the boss in the store?</a:t>
            </a:r>
            <a:endParaRPr lang="en-US" sz="1800" dirty="0" b="1"/>
          </a:p>
        </p:txBody>
      </p:sp>
      <p:pic>
        <p:nvPicPr>
          <p:cNvPr id="103" name="R3 pic" descr="Manager: an office worker with a MANAGER name ta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98280" y="2560320"/>
            <a:ext cx="1920240" cy="1344168"/>
          </a:xfrm>
          <a:prstGeom prst="rect">
            <a:avLst/>
          </a:prstGeom>
        </p:spPr>
      </p:pic>
      <p:sp>
        <p:nvSpPr>
          <p:cNvPr id="25" name="R1 ans"/>
          <p:cNvSpPr/>
          <p:nvPr/>
        </p:nvSpPr>
        <p:spPr>
          <a:xfrm>
            <a:off x="960120" y="4709160"/>
            <a:ext cx="2286000" cy="68580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stain</a:t>
            </a:r>
            <a:endParaRPr lang="en-US" sz="2800" dirty="0" b="1"/>
          </a:p>
        </p:txBody>
      </p:sp>
      <p:sp>
        <p:nvSpPr>
          <p:cNvPr id="26" name="R2 ans"/>
          <p:cNvSpPr/>
          <p:nvPr/>
        </p:nvSpPr>
        <p:spPr>
          <a:xfrm>
            <a:off x="4617720" y="4709160"/>
            <a:ext cx="2286000" cy="68580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broken</a:t>
            </a:r>
            <a:endParaRPr lang="en-US" sz="2800" dirty="0" b="1"/>
          </a:p>
        </p:txBody>
      </p:sp>
      <p:sp>
        <p:nvSpPr>
          <p:cNvPr id="27" name="R3 ans"/>
          <p:cNvSpPr/>
          <p:nvPr/>
        </p:nvSpPr>
        <p:spPr>
          <a:xfrm>
            <a:off x="8275320" y="4709160"/>
            <a:ext cx="2286000" cy="68580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manager</a:t>
            </a:r>
            <a:endParaRPr lang="en-US" sz="22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3:befor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3063240" cy="685800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8156448" y="1289304"/>
            <a:ext cx="3429000" cy="498348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321040" y="1097280"/>
            <a:ext cx="3429000" cy="498348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3394847" y="1032586"/>
            <a:ext cx="4424782" cy="1863547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3420770" y="956462"/>
            <a:ext cx="4424782" cy="1863547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itle1"/>
          <p:cNvSpPr/>
          <p:nvPr/>
        </p:nvSpPr>
        <p:spPr>
          <a:xfrm>
            <a:off x="3566160" y="1078992"/>
            <a:ext cx="4114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Before You</a:t>
            </a:r>
            <a:endParaRPr lang="en-US" sz="4400" dirty="0" b="1"/>
          </a:p>
        </p:txBody>
      </p:sp>
      <p:sp>
        <p:nvSpPr>
          <p:cNvPr id="9" name="title2"/>
          <p:cNvSpPr/>
          <p:nvPr/>
        </p:nvSpPr>
        <p:spPr>
          <a:xfrm>
            <a:off x="3566160" y="1828800"/>
            <a:ext cx="4114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</a:t>
            </a:r>
            <a:endParaRPr lang="en-US" sz="4400" dirty="0" b="1"/>
          </a:p>
        </p:txBody>
      </p:sp>
      <p:sp>
        <p:nvSpPr>
          <p:cNvPr id="10" name="context"/>
          <p:cNvSpPr/>
          <p:nvPr/>
        </p:nvSpPr>
        <p:spPr>
          <a:xfrm>
            <a:off x="3487522" y="3108960"/>
            <a:ext cx="4206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Lina is at the service desk at Valley Mart, a big store. She has a phone case.</a:t>
            </a:r>
            <a:endParaRPr lang="en-US" sz="1800" dirty="0"/>
          </a:p>
        </p:txBody>
      </p:sp>
      <p:sp>
        <p:nvSpPr>
          <p:cNvPr id="11" name="R1 num"/>
          <p:cNvSpPr/>
          <p:nvPr/>
        </p:nvSpPr>
        <p:spPr>
          <a:xfrm>
            <a:off x="3383280" y="4114800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01</a:t>
            </a:r>
            <a:endParaRPr lang="en-US" sz="3600" dirty="0"/>
          </a:p>
        </p:txBody>
      </p:sp>
      <p:sp>
        <p:nvSpPr>
          <p:cNvPr id="13" name="R2 num"/>
          <p:cNvSpPr/>
          <p:nvPr/>
        </p:nvSpPr>
        <p:spPr>
          <a:xfrm>
            <a:off x="3383280" y="4919472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02</a:t>
            </a:r>
            <a:endParaRPr lang="en-US" sz="3600" dirty="0"/>
          </a:p>
        </p:txBody>
      </p:sp>
      <p:sp>
        <p:nvSpPr>
          <p:cNvPr id="15" name="R3 num"/>
          <p:cNvSpPr/>
          <p:nvPr/>
        </p:nvSpPr>
        <p:spPr>
          <a:xfrm>
            <a:off x="3383280" y="5724144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03</a:t>
            </a:r>
            <a:endParaRPr lang="en-US" sz="3600" dirty="0"/>
          </a:p>
        </p:txBody>
      </p:sp>
      <p:sp>
        <p:nvSpPr>
          <p:cNvPr id="17" name="line 1"/>
          <p:cNvSpPr/>
          <p:nvPr/>
        </p:nvSpPr>
        <p:spPr>
          <a:xfrm>
            <a:off x="3503066" y="4928616"/>
            <a:ext cx="4480560" cy="0"/>
          </a:xfrm>
          <a:prstGeom prst="line">
            <a:avLst/>
          </a:prstGeom>
          <a:noFill/>
          <a:ln w="6350">
            <a:solidFill>
              <a:srgbClr val="1B2236"/>
            </a:solidFill>
            <a:prstDash val="solid"/>
          </a:ln>
        </p:spPr>
        <p:txBody>
          <a:bodyPr/>
          <a:p/>
        </p:txBody>
      </p:sp>
      <p:sp>
        <p:nvSpPr>
          <p:cNvPr id="18" name="line 2"/>
          <p:cNvSpPr/>
          <p:nvPr/>
        </p:nvSpPr>
        <p:spPr>
          <a:xfrm>
            <a:off x="3503066" y="5733288"/>
            <a:ext cx="4480560" cy="0"/>
          </a:xfrm>
          <a:prstGeom prst="line">
            <a:avLst/>
          </a:prstGeom>
          <a:noFill/>
          <a:ln w="6350">
            <a:solidFill>
              <a:srgbClr val="1B2236"/>
            </a:solidFill>
            <a:prstDash val="solid"/>
          </a:ln>
        </p:spPr>
        <p:txBody>
          <a:bodyPr/>
          <a:p/>
        </p:txBody>
      </p:sp>
      <p:pic>
        <p:nvPicPr>
          <p:cNvPr id="24" name="pic" descr="Customer: a woman with a shopping bag, a stor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020" y="2423160"/>
            <a:ext cx="2743200" cy="1920240"/>
          </a:xfrm>
          <a:prstGeom prst="rect">
            <a:avLst/>
          </a:prstGeom>
        </p:spPr>
      </p:pic>
      <p:sp>
        <p:nvSpPr>
          <p:cNvPr id="25" name="R1 hl"/>
          <p:cNvSpPr/>
          <p:nvPr/>
        </p:nvSpPr>
        <p:spPr>
          <a:xfrm>
            <a:off x="4389120" y="4251960"/>
            <a:ext cx="3566160" cy="54864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7" name="R1 voice"/>
          <p:cNvSpPr/>
          <p:nvPr/>
        </p:nvSpPr>
        <p:spPr>
          <a:xfrm>
            <a:off x="4389120" y="4251960"/>
            <a:ext cx="356616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Narrator</a:t>
            </a:r>
            <a:endParaRPr lang="en-US" sz="2200" dirty="0" b="1"/>
          </a:p>
        </p:txBody>
      </p:sp>
      <p:sp>
        <p:nvSpPr>
          <p:cNvPr id="29" name="R2 hl"/>
          <p:cNvSpPr/>
          <p:nvPr/>
        </p:nvSpPr>
        <p:spPr>
          <a:xfrm>
            <a:off x="4389120" y="5056632"/>
            <a:ext cx="3566160" cy="54864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31" name="R2 voice"/>
          <p:cNvSpPr/>
          <p:nvPr/>
        </p:nvSpPr>
        <p:spPr>
          <a:xfrm>
            <a:off x="4389120" y="5056632"/>
            <a:ext cx="356616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Lina</a:t>
            </a:r>
            <a:endParaRPr lang="en-US" sz="2200" dirty="0" b="1"/>
          </a:p>
        </p:txBody>
      </p:sp>
      <p:sp>
        <p:nvSpPr>
          <p:cNvPr id="33" name="R3 hl"/>
          <p:cNvSpPr/>
          <p:nvPr/>
        </p:nvSpPr>
        <p:spPr>
          <a:xfrm>
            <a:off x="4389120" y="5861304"/>
            <a:ext cx="3566160" cy="54864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35" name="R3 voice"/>
          <p:cNvSpPr/>
          <p:nvPr/>
        </p:nvSpPr>
        <p:spPr>
          <a:xfrm>
            <a:off x="4389120" y="5861304"/>
            <a:ext cx="356616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Clerk</a:t>
            </a:r>
            <a:endParaRPr lang="en-US" sz="2200" dirty="0" b="1"/>
          </a:p>
        </p:txBody>
      </p:sp>
      <p:sp>
        <p:nvSpPr>
          <p:cNvPr id="37" name="listen head"/>
          <p:cNvSpPr/>
          <p:nvPr/>
        </p:nvSpPr>
        <p:spPr>
          <a:xfrm>
            <a:off x="8549640" y="1280160"/>
            <a:ext cx="30175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 for:</a:t>
            </a:r>
            <a:endParaRPr lang="en-US" sz="2400" dirty="0" b="1"/>
          </a:p>
        </p:txBody>
      </p:sp>
      <p:sp>
        <p:nvSpPr>
          <p:cNvPr id="39" name="listen 1"/>
          <p:cNvSpPr/>
          <p:nvPr/>
        </p:nvSpPr>
        <p:spPr>
          <a:xfrm>
            <a:off x="8549640" y="1965960"/>
            <a:ext cx="3063240" cy="9144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does she want to do?</a:t>
            </a:r>
            <a:endParaRPr lang="en-US" sz="2200" dirty="0"/>
          </a:p>
        </p:txBody>
      </p:sp>
      <p:sp>
        <p:nvSpPr>
          <p:cNvPr id="41" name="listen 2"/>
          <p:cNvSpPr/>
          <p:nvPr/>
        </p:nvSpPr>
        <p:spPr>
          <a:xfrm>
            <a:off x="8549640" y="3017520"/>
            <a:ext cx="3063240" cy="9144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Refund or store credit?</a:t>
            </a:r>
            <a:endParaRPr lang="en-US" sz="2200" dirty="0"/>
          </a:p>
        </p:txBody>
      </p:sp>
      <p:sp>
        <p:nvSpPr>
          <p:cNvPr id="43" name="audio"/>
          <p:cNvSpPr/>
          <p:nvPr/>
        </p:nvSpPr>
        <p:spPr>
          <a:xfrm>
            <a:off x="8549640" y="4069080"/>
            <a:ext cx="3063240" cy="9144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Audio: about 1:15. It plays once.</a:t>
            </a:r>
            <a:endParaRPr lang="en-US" sz="2200" dirty="0"/>
          </a:p>
        </p:txBody>
      </p:sp>
      <p:sp>
        <p:nvSpPr>
          <p:cNvPr id="46" name="play"/>
          <p:cNvSpPr/>
          <p:nvPr/>
        </p:nvSpPr>
        <p:spPr>
          <a:xfrm>
            <a:off x="8549640" y="5029200"/>
            <a:ext cx="3017520" cy="7315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Play 1: </a:t>
            </a: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Task A</a:t>
            </a:r>
            <a:endParaRPr lang="en-US" sz="2200" dirty="0" b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3:gaps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head shadow"/>
          <p:cNvSpPr/>
          <p:nvPr/>
        </p:nvSpPr>
        <p:spPr>
          <a:xfrm>
            <a:off x="544982" y="1407262"/>
            <a:ext cx="7086600" cy="983894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head card"/>
          <p:cNvSpPr/>
          <p:nvPr/>
        </p:nvSpPr>
        <p:spPr>
          <a:xfrm>
            <a:off x="548640" y="1349654"/>
            <a:ext cx="7086600" cy="983894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head1"/>
          <p:cNvSpPr/>
          <p:nvPr/>
        </p:nvSpPr>
        <p:spPr>
          <a:xfrm>
            <a:off x="777240" y="1417320"/>
            <a:ext cx="544068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Listen. Circle a or b.</a:t>
            </a:r>
            <a:endParaRPr lang="en-US" sz="2000" dirty="0" b="1"/>
          </a:p>
        </p:txBody>
      </p:sp>
      <p:sp>
        <p:nvSpPr>
          <p:cNvPr id="9" name="head2"/>
          <p:cNvSpPr/>
          <p:nvPr/>
        </p:nvSpPr>
        <p:spPr>
          <a:xfrm>
            <a:off x="868680" y="1819656"/>
            <a:ext cx="5349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Play 1</a:t>
            </a:r>
            <a:endParaRPr lang="en-US" sz="2000" dirty="0"/>
          </a:p>
        </p:txBody>
      </p:sp>
      <p:sp>
        <p:nvSpPr>
          <p:cNvPr id="29" name="title"/>
          <p:cNvSpPr/>
          <p:nvPr/>
        </p:nvSpPr>
        <p:spPr>
          <a:xfrm>
            <a:off x="8001000" y="1783080"/>
            <a:ext cx="3840480" cy="1600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Listening A</a:t>
            </a:r>
            <a:endParaRPr lang="en-US" sz="4000" dirty="0" b="1"/>
          </a:p>
        </p:txBody>
      </p:sp>
      <p:sp>
        <p:nvSpPr>
          <p:cNvPr id="30" name="side"/>
          <p:cNvSpPr/>
          <p:nvPr/>
        </p:nvSpPr>
        <p:spPr>
          <a:xfrm>
            <a:off x="8046720" y="3611880"/>
            <a:ext cx="3749039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Pairs: compare your answers.</a:t>
            </a:r>
            <a:endParaRPr lang="en-US" sz="2000" dirty="0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Then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check together.</a:t>
            </a:r>
            <a:endParaRPr lang="en-US" sz="2000" dirty="0" b="0"/>
          </a:p>
        </p:txBody>
      </p:sp>
      <p:sp>
        <p:nvSpPr>
          <p:cNvPr id="31" name="R1 card"/>
          <p:cNvSpPr/>
          <p:nvPr/>
        </p:nvSpPr>
        <p:spPr>
          <a:xfrm>
            <a:off x="1583741" y="2397557"/>
            <a:ext cx="6035040" cy="132588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2" name="R1 chip"/>
          <p:cNvSpPr/>
          <p:nvPr/>
        </p:nvSpPr>
        <p:spPr>
          <a:xfrm>
            <a:off x="544982" y="2397557"/>
            <a:ext cx="1039673" cy="132588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3" name="R1 num"/>
          <p:cNvSpPr/>
          <p:nvPr/>
        </p:nvSpPr>
        <p:spPr>
          <a:xfrm>
            <a:off x="686714" y="2767889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</a:t>
            </a:r>
            <a:endParaRPr lang="en-US" sz="3200" dirty="0" b="1"/>
          </a:p>
        </p:txBody>
      </p:sp>
      <p:sp>
        <p:nvSpPr>
          <p:cNvPr id="34" name="R1 text"/>
          <p:cNvSpPr/>
          <p:nvPr/>
        </p:nvSpPr>
        <p:spPr>
          <a:xfrm>
            <a:off x="1810512" y="2397557"/>
            <a:ext cx="4773168" cy="1325880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does Lina want to do first?</a:t>
            </a:r>
            <a:b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</a:b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a.</a:t>
            </a: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return a phone case</a:t>
            </a:r>
            <a:b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</a:b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b.</a:t>
            </a: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buy a phone</a:t>
            </a:r>
            <a:endParaRPr lang="en-US" sz="1800" dirty="0"/>
          </a:p>
        </p:txBody>
      </p:sp>
      <p:sp>
        <p:nvSpPr>
          <p:cNvPr id="35" name="R1 ans"/>
          <p:cNvSpPr/>
          <p:nvPr/>
        </p:nvSpPr>
        <p:spPr>
          <a:xfrm>
            <a:off x="6656832" y="2831897"/>
            <a:ext cx="91440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</a:t>
            </a:r>
            <a:endParaRPr lang="en-US" sz="2000" dirty="0" b="1"/>
          </a:p>
        </p:txBody>
      </p:sp>
      <p:sp>
        <p:nvSpPr>
          <p:cNvPr id="36" name="R2 card"/>
          <p:cNvSpPr/>
          <p:nvPr/>
        </p:nvSpPr>
        <p:spPr>
          <a:xfrm>
            <a:off x="1583741" y="3796589"/>
            <a:ext cx="6035040" cy="132588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7" name="R2 chip"/>
          <p:cNvSpPr/>
          <p:nvPr/>
        </p:nvSpPr>
        <p:spPr>
          <a:xfrm>
            <a:off x="544982" y="3796589"/>
            <a:ext cx="1039673" cy="132588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8" name="R2 num"/>
          <p:cNvSpPr/>
          <p:nvPr/>
        </p:nvSpPr>
        <p:spPr>
          <a:xfrm>
            <a:off x="686714" y="4166921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</a:t>
            </a:r>
            <a:endParaRPr lang="en-US" sz="3200" dirty="0" b="1"/>
          </a:p>
        </p:txBody>
      </p:sp>
      <p:sp>
        <p:nvSpPr>
          <p:cNvPr id="39" name="R2 text"/>
          <p:cNvSpPr/>
          <p:nvPr/>
        </p:nvSpPr>
        <p:spPr>
          <a:xfrm>
            <a:off x="1810512" y="3796589"/>
            <a:ext cx="4773168" cy="1325880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does she get?</a:t>
            </a:r>
            <a:b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</a:b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a.</a:t>
            </a: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a refund (money back)</a:t>
            </a:r>
            <a:b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</a:b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b.</a:t>
            </a: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store credit</a:t>
            </a:r>
            <a:endParaRPr lang="en-US" sz="1800" dirty="0"/>
          </a:p>
        </p:txBody>
      </p:sp>
      <p:sp>
        <p:nvSpPr>
          <p:cNvPr id="40" name="R2 ans"/>
          <p:cNvSpPr/>
          <p:nvPr/>
        </p:nvSpPr>
        <p:spPr>
          <a:xfrm>
            <a:off x="6656832" y="4230929"/>
            <a:ext cx="91440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</a:t>
            </a:r>
            <a:endParaRPr lang="en-US" sz="20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3:gaps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head shadow"/>
          <p:cNvSpPr/>
          <p:nvPr/>
        </p:nvSpPr>
        <p:spPr>
          <a:xfrm>
            <a:off x="544982" y="1407262"/>
            <a:ext cx="7086600" cy="983894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head card"/>
          <p:cNvSpPr/>
          <p:nvPr/>
        </p:nvSpPr>
        <p:spPr>
          <a:xfrm>
            <a:off x="548640" y="1349654"/>
            <a:ext cx="7086600" cy="983894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head1"/>
          <p:cNvSpPr/>
          <p:nvPr/>
        </p:nvSpPr>
        <p:spPr>
          <a:xfrm>
            <a:off x="777240" y="1417320"/>
            <a:ext cx="544068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 again.</a:t>
            </a:r>
            <a:endParaRPr lang="en-US" sz="2000" dirty="0" b="1"/>
          </a:p>
        </p:txBody>
      </p:sp>
      <p:sp>
        <p:nvSpPr>
          <p:cNvPr id="9" name="head2"/>
          <p:cNvSpPr/>
          <p:nvPr/>
        </p:nvSpPr>
        <p:spPr>
          <a:xfrm>
            <a:off x="868680" y="1819656"/>
            <a:ext cx="5349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Circle the right answer.</a:t>
            </a:r>
            <a:endParaRPr lang="en-US" sz="2000" dirty="0"/>
          </a:p>
        </p:txBody>
      </p:sp>
      <p:sp>
        <p:nvSpPr>
          <p:cNvPr id="29" name="title"/>
          <p:cNvSpPr/>
          <p:nvPr/>
        </p:nvSpPr>
        <p:spPr>
          <a:xfrm>
            <a:off x="8001000" y="1783080"/>
            <a:ext cx="3840480" cy="1600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Listening B</a:t>
            </a:r>
            <a:endParaRPr lang="en-US" sz="4000" dirty="0" b="1"/>
          </a:p>
        </p:txBody>
      </p:sp>
      <p:sp>
        <p:nvSpPr>
          <p:cNvPr id="30" name="side"/>
          <p:cNvSpPr/>
          <p:nvPr/>
        </p:nvSpPr>
        <p:spPr>
          <a:xfrm>
            <a:off x="8046720" y="3611880"/>
            <a:ext cx="3749039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Pairs: compare your answers.</a:t>
            </a:r>
            <a:endParaRPr lang="en-US" sz="2000" dirty="0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Then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check together.</a:t>
            </a:r>
            <a:endParaRPr lang="en-US" sz="2000" dirty="0" b="0"/>
          </a:p>
        </p:txBody>
      </p:sp>
      <p:sp>
        <p:nvSpPr>
          <p:cNvPr id="31" name="R1 card"/>
          <p:cNvSpPr/>
          <p:nvPr/>
        </p:nvSpPr>
        <p:spPr>
          <a:xfrm>
            <a:off x="1583741" y="2397557"/>
            <a:ext cx="6035040" cy="96012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2" name="R1 chip"/>
          <p:cNvSpPr/>
          <p:nvPr/>
        </p:nvSpPr>
        <p:spPr>
          <a:xfrm>
            <a:off x="544982" y="2397557"/>
            <a:ext cx="1039673" cy="96012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3" name="R1 num"/>
          <p:cNvSpPr/>
          <p:nvPr/>
        </p:nvSpPr>
        <p:spPr>
          <a:xfrm>
            <a:off x="686714" y="2585009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</a:t>
            </a:r>
            <a:endParaRPr lang="en-US" sz="3200" dirty="0" b="1"/>
          </a:p>
        </p:txBody>
      </p:sp>
      <p:sp>
        <p:nvSpPr>
          <p:cNvPr id="34" name="R1 text"/>
          <p:cNvSpPr/>
          <p:nvPr/>
        </p:nvSpPr>
        <p:spPr>
          <a:xfrm>
            <a:off x="1810512" y="2397557"/>
            <a:ext cx="4041648" cy="960120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What's wrong with the phone case?</a:t>
            </a:r>
            <a:br>
              <a:rPr lang="en-US" sz="17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</a:b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too big</a:t>
            </a:r>
            <a:r>
              <a:rPr lang="en-US" sz="17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/ 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too small</a:t>
            </a:r>
            <a:r>
              <a:rPr lang="en-US" sz="17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/ 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broken</a:t>
            </a:r>
            <a:endParaRPr lang="en-US" sz="1700" dirty="0"/>
          </a:p>
        </p:txBody>
      </p:sp>
      <p:sp>
        <p:nvSpPr>
          <p:cNvPr id="35" name="R1 ans"/>
          <p:cNvSpPr/>
          <p:nvPr/>
        </p:nvSpPr>
        <p:spPr>
          <a:xfrm>
            <a:off x="5925312" y="2649017"/>
            <a:ext cx="164592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too small</a:t>
            </a:r>
            <a:endParaRPr lang="en-US" sz="1700" dirty="0" b="1"/>
          </a:p>
        </p:txBody>
      </p:sp>
      <p:sp>
        <p:nvSpPr>
          <p:cNvPr id="36" name="R2 card"/>
          <p:cNvSpPr/>
          <p:nvPr/>
        </p:nvSpPr>
        <p:spPr>
          <a:xfrm>
            <a:off x="1583741" y="3430829"/>
            <a:ext cx="6035040" cy="96012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7" name="R2 chip"/>
          <p:cNvSpPr/>
          <p:nvPr/>
        </p:nvSpPr>
        <p:spPr>
          <a:xfrm>
            <a:off x="544982" y="3430829"/>
            <a:ext cx="1039673" cy="96012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8" name="R2 num"/>
          <p:cNvSpPr/>
          <p:nvPr/>
        </p:nvSpPr>
        <p:spPr>
          <a:xfrm>
            <a:off x="686714" y="3618281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</a:t>
            </a:r>
            <a:endParaRPr lang="en-US" sz="3200" dirty="0" b="1"/>
          </a:p>
        </p:txBody>
      </p:sp>
      <p:sp>
        <p:nvSpPr>
          <p:cNvPr id="39" name="R2 text"/>
          <p:cNvSpPr/>
          <p:nvPr/>
        </p:nvSpPr>
        <p:spPr>
          <a:xfrm>
            <a:off x="1810512" y="3430829"/>
            <a:ext cx="4041648" cy="960120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When is her eye appointment now?</a:t>
            </a:r>
            <a:br>
              <a:rPr lang="en-US" sz="17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</a:b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Monday</a:t>
            </a:r>
            <a:r>
              <a:rPr lang="en-US" sz="17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/ 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Tuesday</a:t>
            </a:r>
            <a:r>
              <a:rPr lang="en-US" sz="17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/ 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Friday</a:t>
            </a:r>
            <a:endParaRPr lang="en-US" sz="1700" dirty="0"/>
          </a:p>
        </p:txBody>
      </p:sp>
      <p:sp>
        <p:nvSpPr>
          <p:cNvPr id="40" name="R2 ans"/>
          <p:cNvSpPr/>
          <p:nvPr/>
        </p:nvSpPr>
        <p:spPr>
          <a:xfrm>
            <a:off x="5925312" y="3682289"/>
            <a:ext cx="164592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Monday</a:t>
            </a:r>
            <a:endParaRPr lang="en-US" sz="1700" dirty="0" b="1"/>
          </a:p>
        </p:txBody>
      </p:sp>
      <p:sp>
        <p:nvSpPr>
          <p:cNvPr id="41" name="R3 card"/>
          <p:cNvSpPr/>
          <p:nvPr/>
        </p:nvSpPr>
        <p:spPr>
          <a:xfrm>
            <a:off x="1583741" y="4464101"/>
            <a:ext cx="6035040" cy="96012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2" name="R3 chip"/>
          <p:cNvSpPr/>
          <p:nvPr/>
        </p:nvSpPr>
        <p:spPr>
          <a:xfrm>
            <a:off x="544982" y="4464101"/>
            <a:ext cx="1039673" cy="96012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3" name="R3 num"/>
          <p:cNvSpPr/>
          <p:nvPr/>
        </p:nvSpPr>
        <p:spPr>
          <a:xfrm>
            <a:off x="686714" y="4651553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</a:t>
            </a:r>
            <a:endParaRPr lang="en-US" sz="3200" dirty="0" b="1"/>
          </a:p>
        </p:txBody>
      </p:sp>
      <p:sp>
        <p:nvSpPr>
          <p:cNvPr id="44" name="R3 text"/>
          <p:cNvSpPr/>
          <p:nvPr/>
        </p:nvSpPr>
        <p:spPr>
          <a:xfrm>
            <a:off x="1810512" y="4464101"/>
            <a:ext cx="4041648" cy="960120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is the new day?</a:t>
            </a:r>
            <a:br>
              <a:rPr lang="en-US" sz="17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</a:b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Wednesday</a:t>
            </a:r>
            <a:r>
              <a:rPr lang="en-US" sz="17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/ 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Thursday</a:t>
            </a:r>
            <a:r>
              <a:rPr lang="en-US" sz="17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/ 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Saturday</a:t>
            </a:r>
            <a:endParaRPr lang="en-US" sz="1700" dirty="0"/>
          </a:p>
        </p:txBody>
      </p:sp>
      <p:sp>
        <p:nvSpPr>
          <p:cNvPr id="45" name="R3 ans"/>
          <p:cNvSpPr/>
          <p:nvPr/>
        </p:nvSpPr>
        <p:spPr>
          <a:xfrm>
            <a:off x="5925312" y="4715561"/>
            <a:ext cx="164592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Thursday</a:t>
            </a:r>
            <a:endParaRPr lang="en-US" sz="1700" dirty="0" b="1"/>
          </a:p>
        </p:txBody>
      </p:sp>
      <p:sp>
        <p:nvSpPr>
          <p:cNvPr id="46" name="R4 card"/>
          <p:cNvSpPr/>
          <p:nvPr/>
        </p:nvSpPr>
        <p:spPr>
          <a:xfrm>
            <a:off x="1583741" y="5497373"/>
            <a:ext cx="6035040" cy="96012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7" name="R4 chip"/>
          <p:cNvSpPr/>
          <p:nvPr/>
        </p:nvSpPr>
        <p:spPr>
          <a:xfrm>
            <a:off x="544982" y="5497373"/>
            <a:ext cx="1039673" cy="96012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8" name="R4 num"/>
          <p:cNvSpPr/>
          <p:nvPr/>
        </p:nvSpPr>
        <p:spPr>
          <a:xfrm>
            <a:off x="686714" y="5684825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4</a:t>
            </a:r>
            <a:endParaRPr lang="en-US" sz="3200" dirty="0" b="1"/>
          </a:p>
        </p:txBody>
      </p:sp>
      <p:sp>
        <p:nvSpPr>
          <p:cNvPr id="49" name="R4 text"/>
          <p:cNvSpPr/>
          <p:nvPr/>
        </p:nvSpPr>
        <p:spPr>
          <a:xfrm>
            <a:off x="1810512" y="5497373"/>
            <a:ext cx="4041648" cy="960120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is the new time?</a:t>
            </a:r>
            <a:br>
              <a:rPr lang="en-US" sz="17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</a:b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4:00</a:t>
            </a:r>
            <a:r>
              <a:rPr lang="en-US" sz="17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/ 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4:30</a:t>
            </a:r>
            <a:r>
              <a:rPr lang="en-US" sz="17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/ 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5:30</a:t>
            </a:r>
            <a:endParaRPr lang="en-US" sz="1700" dirty="0"/>
          </a:p>
        </p:txBody>
      </p:sp>
      <p:sp>
        <p:nvSpPr>
          <p:cNvPr id="50" name="R4 ans"/>
          <p:cNvSpPr/>
          <p:nvPr/>
        </p:nvSpPr>
        <p:spPr>
          <a:xfrm>
            <a:off x="5925312" y="5748833"/>
            <a:ext cx="164592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4:30</a:t>
            </a:r>
            <a:endParaRPr lang="en-US" sz="17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3:gaps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head shadow"/>
          <p:cNvSpPr/>
          <p:nvPr/>
        </p:nvSpPr>
        <p:spPr>
          <a:xfrm>
            <a:off x="544982" y="1407262"/>
            <a:ext cx="7086600" cy="983894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head card"/>
          <p:cNvSpPr/>
          <p:nvPr/>
        </p:nvSpPr>
        <p:spPr>
          <a:xfrm>
            <a:off x="548640" y="1349654"/>
            <a:ext cx="7086600" cy="983894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head1"/>
          <p:cNvSpPr/>
          <p:nvPr/>
        </p:nvSpPr>
        <p:spPr>
          <a:xfrm>
            <a:off x="777240" y="1417320"/>
            <a:ext cx="544068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 again.</a:t>
            </a:r>
            <a:endParaRPr lang="en-US" sz="2000" dirty="0" b="1"/>
          </a:p>
        </p:txBody>
      </p:sp>
      <p:sp>
        <p:nvSpPr>
          <p:cNvPr id="9" name="head2"/>
          <p:cNvSpPr/>
          <p:nvPr/>
        </p:nvSpPr>
        <p:spPr>
          <a:xfrm>
            <a:off x="868680" y="1819656"/>
            <a:ext cx="5349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Write like, like to, or Could.</a:t>
            </a:r>
            <a:endParaRPr lang="en-US" sz="2000" dirty="0"/>
          </a:p>
        </p:txBody>
      </p:sp>
      <p:sp>
        <p:nvSpPr>
          <p:cNvPr id="29" name="title"/>
          <p:cNvSpPr/>
          <p:nvPr/>
        </p:nvSpPr>
        <p:spPr>
          <a:xfrm>
            <a:off x="8001000" y="1783080"/>
            <a:ext cx="3840480" cy="1600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Listening C</a:t>
            </a:r>
            <a:endParaRPr lang="en-US" sz="4000" dirty="0" b="1"/>
          </a:p>
        </p:txBody>
      </p:sp>
      <p:sp>
        <p:nvSpPr>
          <p:cNvPr id="30" name="side"/>
          <p:cNvSpPr/>
          <p:nvPr/>
        </p:nvSpPr>
        <p:spPr>
          <a:xfrm>
            <a:off x="8046720" y="3611880"/>
            <a:ext cx="3749039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Pairs: compare your answers.</a:t>
            </a:r>
            <a:endParaRPr lang="en-US" sz="2000" dirty="0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Then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check together.</a:t>
            </a:r>
            <a:endParaRPr lang="en-US" sz="2000" dirty="0" b="0"/>
          </a:p>
        </p:txBody>
      </p:sp>
      <p:sp>
        <p:nvSpPr>
          <p:cNvPr id="31" name="R1 card"/>
          <p:cNvSpPr/>
          <p:nvPr/>
        </p:nvSpPr>
        <p:spPr>
          <a:xfrm>
            <a:off x="1583741" y="2397557"/>
            <a:ext cx="6035040" cy="713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2" name="R1 chip"/>
          <p:cNvSpPr/>
          <p:nvPr/>
        </p:nvSpPr>
        <p:spPr>
          <a:xfrm>
            <a:off x="544982" y="2397557"/>
            <a:ext cx="1039673" cy="713232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3" name="R1 num"/>
          <p:cNvSpPr/>
          <p:nvPr/>
        </p:nvSpPr>
        <p:spPr>
          <a:xfrm>
            <a:off x="686714" y="2461565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</a:t>
            </a:r>
            <a:endParaRPr lang="en-US" sz="3200" dirty="0" b="1"/>
          </a:p>
        </p:txBody>
      </p:sp>
      <p:sp>
        <p:nvSpPr>
          <p:cNvPr id="34" name="R1 text"/>
          <p:cNvSpPr/>
          <p:nvPr/>
        </p:nvSpPr>
        <p:spPr>
          <a:xfrm>
            <a:off x="1810512" y="2397557"/>
            <a:ext cx="4407408" cy="713232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Yes, I'd ____ return this phone case.</a:t>
            </a:r>
            <a:endParaRPr lang="en-US" sz="1800" dirty="0"/>
          </a:p>
        </p:txBody>
      </p:sp>
      <p:sp>
        <p:nvSpPr>
          <p:cNvPr id="35" name="R1 ans"/>
          <p:cNvSpPr/>
          <p:nvPr/>
        </p:nvSpPr>
        <p:spPr>
          <a:xfrm>
            <a:off x="6291072" y="2525573"/>
            <a:ext cx="128016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like to</a:t>
            </a:r>
            <a:endParaRPr lang="en-US" sz="2000" dirty="0" b="1"/>
          </a:p>
        </p:txBody>
      </p:sp>
      <p:sp>
        <p:nvSpPr>
          <p:cNvPr id="36" name="R2 card"/>
          <p:cNvSpPr/>
          <p:nvPr/>
        </p:nvSpPr>
        <p:spPr>
          <a:xfrm>
            <a:off x="1583741" y="3183941"/>
            <a:ext cx="6035040" cy="713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7" name="R2 chip"/>
          <p:cNvSpPr/>
          <p:nvPr/>
        </p:nvSpPr>
        <p:spPr>
          <a:xfrm>
            <a:off x="544982" y="3183941"/>
            <a:ext cx="1039673" cy="713232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8" name="R2 num"/>
          <p:cNvSpPr/>
          <p:nvPr/>
        </p:nvSpPr>
        <p:spPr>
          <a:xfrm>
            <a:off x="686714" y="3247949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</a:t>
            </a:r>
            <a:endParaRPr lang="en-US" sz="3200" dirty="0" b="1"/>
          </a:p>
        </p:txBody>
      </p:sp>
      <p:sp>
        <p:nvSpPr>
          <p:cNvPr id="39" name="R2 text"/>
          <p:cNvSpPr/>
          <p:nvPr/>
        </p:nvSpPr>
        <p:spPr>
          <a:xfrm>
            <a:off x="1810512" y="3183941"/>
            <a:ext cx="4407408" cy="713232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____ I get a refund?</a:t>
            </a:r>
            <a:endParaRPr lang="en-US" sz="1800" dirty="0"/>
          </a:p>
        </p:txBody>
      </p:sp>
      <p:sp>
        <p:nvSpPr>
          <p:cNvPr id="40" name="R2 ans"/>
          <p:cNvSpPr/>
          <p:nvPr/>
        </p:nvSpPr>
        <p:spPr>
          <a:xfrm>
            <a:off x="6291072" y="3311957"/>
            <a:ext cx="128016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Could</a:t>
            </a:r>
            <a:endParaRPr lang="en-US" sz="2000" dirty="0" b="1"/>
          </a:p>
        </p:txBody>
      </p:sp>
      <p:sp>
        <p:nvSpPr>
          <p:cNvPr id="41" name="R3 card"/>
          <p:cNvSpPr/>
          <p:nvPr/>
        </p:nvSpPr>
        <p:spPr>
          <a:xfrm>
            <a:off x="1583741" y="3970325"/>
            <a:ext cx="6035040" cy="713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2" name="R3 chip"/>
          <p:cNvSpPr/>
          <p:nvPr/>
        </p:nvSpPr>
        <p:spPr>
          <a:xfrm>
            <a:off x="544982" y="3970325"/>
            <a:ext cx="1039673" cy="713232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3" name="R3 num"/>
          <p:cNvSpPr/>
          <p:nvPr/>
        </p:nvSpPr>
        <p:spPr>
          <a:xfrm>
            <a:off x="686714" y="4034333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</a:t>
            </a:r>
            <a:endParaRPr lang="en-US" sz="3200" dirty="0" b="1"/>
          </a:p>
        </p:txBody>
      </p:sp>
      <p:sp>
        <p:nvSpPr>
          <p:cNvPr id="44" name="R3 text"/>
          <p:cNvSpPr/>
          <p:nvPr/>
        </p:nvSpPr>
        <p:spPr>
          <a:xfrm>
            <a:off x="1810512" y="3970325"/>
            <a:ext cx="4407408" cy="713232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OK, that's fine. I'd ____ a bigger case.</a:t>
            </a:r>
            <a:endParaRPr lang="en-US" sz="1800" dirty="0"/>
          </a:p>
        </p:txBody>
      </p:sp>
      <p:sp>
        <p:nvSpPr>
          <p:cNvPr id="45" name="R3 ans"/>
          <p:cNvSpPr/>
          <p:nvPr/>
        </p:nvSpPr>
        <p:spPr>
          <a:xfrm>
            <a:off x="6291072" y="4098341"/>
            <a:ext cx="128016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like</a:t>
            </a:r>
            <a:endParaRPr lang="en-US" sz="2000" dirty="0" b="1"/>
          </a:p>
        </p:txBody>
      </p:sp>
      <p:sp>
        <p:nvSpPr>
          <p:cNvPr id="46" name="R4 card"/>
          <p:cNvSpPr/>
          <p:nvPr/>
        </p:nvSpPr>
        <p:spPr>
          <a:xfrm>
            <a:off x="1583741" y="4756709"/>
            <a:ext cx="6035040" cy="713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7" name="R4 chip"/>
          <p:cNvSpPr/>
          <p:nvPr/>
        </p:nvSpPr>
        <p:spPr>
          <a:xfrm>
            <a:off x="544982" y="4756709"/>
            <a:ext cx="1039673" cy="713232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8" name="R4 num"/>
          <p:cNvSpPr/>
          <p:nvPr/>
        </p:nvSpPr>
        <p:spPr>
          <a:xfrm>
            <a:off x="686714" y="4820717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4</a:t>
            </a:r>
            <a:endParaRPr lang="en-US" sz="3200" dirty="0" b="1"/>
          </a:p>
        </p:txBody>
      </p:sp>
      <p:sp>
        <p:nvSpPr>
          <p:cNvPr id="49" name="R4 text"/>
          <p:cNvSpPr/>
          <p:nvPr/>
        </p:nvSpPr>
        <p:spPr>
          <a:xfrm>
            <a:off x="1810512" y="4756709"/>
            <a:ext cx="4407408" cy="713232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I'd ____ change it.</a:t>
            </a:r>
            <a:endParaRPr lang="en-US" sz="1800" dirty="0"/>
          </a:p>
        </p:txBody>
      </p:sp>
      <p:sp>
        <p:nvSpPr>
          <p:cNvPr id="50" name="R4 ans"/>
          <p:cNvSpPr/>
          <p:nvPr/>
        </p:nvSpPr>
        <p:spPr>
          <a:xfrm>
            <a:off x="6291072" y="4884725"/>
            <a:ext cx="128016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like to</a:t>
            </a:r>
            <a:endParaRPr lang="en-US" sz="2000" dirty="0" b="1"/>
          </a:p>
        </p:txBody>
      </p:sp>
      <p:sp>
        <p:nvSpPr>
          <p:cNvPr id="51" name="R5 card"/>
          <p:cNvSpPr/>
          <p:nvPr/>
        </p:nvSpPr>
        <p:spPr>
          <a:xfrm>
            <a:off x="1583741" y="5543093"/>
            <a:ext cx="6035040" cy="713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2" name="R5 chip"/>
          <p:cNvSpPr/>
          <p:nvPr/>
        </p:nvSpPr>
        <p:spPr>
          <a:xfrm>
            <a:off x="544982" y="5543093"/>
            <a:ext cx="1039673" cy="713232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3" name="R5 num"/>
          <p:cNvSpPr/>
          <p:nvPr/>
        </p:nvSpPr>
        <p:spPr>
          <a:xfrm>
            <a:off x="686714" y="5607101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5</a:t>
            </a:r>
            <a:endParaRPr lang="en-US" sz="3200" dirty="0" b="1"/>
          </a:p>
        </p:txBody>
      </p:sp>
      <p:sp>
        <p:nvSpPr>
          <p:cNvPr id="54" name="R5 text"/>
          <p:cNvSpPr/>
          <p:nvPr/>
        </p:nvSpPr>
        <p:spPr>
          <a:xfrm>
            <a:off x="1810512" y="5543093"/>
            <a:ext cx="4407408" cy="713232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Perfect. I'd ____ take that time.</a:t>
            </a:r>
            <a:endParaRPr lang="en-US" sz="1800" dirty="0"/>
          </a:p>
        </p:txBody>
      </p:sp>
      <p:sp>
        <p:nvSpPr>
          <p:cNvPr id="55" name="R5 ans"/>
          <p:cNvSpPr/>
          <p:nvPr/>
        </p:nvSpPr>
        <p:spPr>
          <a:xfrm>
            <a:off x="6291072" y="5671109"/>
            <a:ext cx="128016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like to</a:t>
            </a:r>
            <a:endParaRPr lang="en-US" sz="20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3:checksay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head shadow"/>
          <p:cNvSpPr/>
          <p:nvPr/>
        </p:nvSpPr>
        <p:spPr>
          <a:xfrm>
            <a:off x="544982" y="1681582"/>
            <a:ext cx="6227064" cy="983894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head card"/>
          <p:cNvSpPr/>
          <p:nvPr/>
        </p:nvSpPr>
        <p:spPr>
          <a:xfrm>
            <a:off x="544982" y="1623974"/>
            <a:ext cx="6169457" cy="983894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head1"/>
          <p:cNvSpPr/>
          <p:nvPr/>
        </p:nvSpPr>
        <p:spPr>
          <a:xfrm>
            <a:off x="777240" y="1691640"/>
            <a:ext cx="566928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Say it: polite and fast</a:t>
            </a:r>
            <a:endParaRPr lang="en-US" sz="2000" dirty="0" b="1"/>
          </a:p>
        </p:txBody>
      </p:sp>
      <p:sp>
        <p:nvSpPr>
          <p:cNvPr id="9" name="head2"/>
          <p:cNvSpPr/>
          <p:nvPr/>
        </p:nvSpPr>
        <p:spPr>
          <a:xfrm>
            <a:off x="868680" y="2093976"/>
            <a:ext cx="5577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class repeats each line two times.</a:t>
            </a:r>
            <a:endParaRPr lang="en-US" sz="2000" dirty="0"/>
          </a:p>
        </p:txBody>
      </p:sp>
      <p:sp>
        <p:nvSpPr>
          <p:cNvPr id="29" name="title"/>
          <p:cNvSpPr/>
          <p:nvPr/>
        </p:nvSpPr>
        <p:spPr>
          <a:xfrm>
            <a:off x="7634326" y="1783080"/>
            <a:ext cx="4229100" cy="1600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Say It</a:t>
            </a:r>
            <a:endParaRPr lang="en-US" sz="4000" dirty="0" b="1"/>
          </a:p>
        </p:txBody>
      </p:sp>
      <p:sp>
        <p:nvSpPr>
          <p:cNvPr id="30" name="side"/>
          <p:cNvSpPr/>
          <p:nvPr/>
        </p:nvSpPr>
        <p:spPr>
          <a:xfrm>
            <a:off x="7751369" y="3611880"/>
            <a:ext cx="39319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Polite questions go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up</a:t>
            </a: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↗ at the end.</a:t>
            </a:r>
            <a:endParaRPr lang="en-US" sz="2000" dirty="0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I'd like to is fast:</a:t>
            </a:r>
            <a:endParaRPr lang="en-US" sz="2000" dirty="0" b="0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I'd-like-tuh.</a:t>
            </a:r>
            <a:endParaRPr lang="en-US" sz="2000" dirty="0" b="0"/>
          </a:p>
        </p:txBody>
      </p:sp>
      <p:sp>
        <p:nvSpPr>
          <p:cNvPr id="31" name="S1 card"/>
          <p:cNvSpPr/>
          <p:nvPr/>
        </p:nvSpPr>
        <p:spPr>
          <a:xfrm>
            <a:off x="548640" y="2715768"/>
            <a:ext cx="6766560" cy="77724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2" name="S1 text"/>
          <p:cNvSpPr/>
          <p:nvPr/>
        </p:nvSpPr>
        <p:spPr>
          <a:xfrm>
            <a:off x="777240" y="2715768"/>
            <a:ext cx="6355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Could I</a:t>
            </a: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exchange it? ↗</a:t>
            </a:r>
            <a:endParaRPr lang="en-US" sz="2200" dirty="0" b="1"/>
          </a:p>
        </p:txBody>
      </p:sp>
      <p:sp>
        <p:nvSpPr>
          <p:cNvPr id="33" name="S2 card"/>
          <p:cNvSpPr/>
          <p:nvPr/>
        </p:nvSpPr>
        <p:spPr>
          <a:xfrm>
            <a:off x="548640" y="3601822"/>
            <a:ext cx="6766560" cy="77724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4" name="S2 text"/>
          <p:cNvSpPr/>
          <p:nvPr/>
        </p:nvSpPr>
        <p:spPr>
          <a:xfrm>
            <a:off x="777240" y="3601822"/>
            <a:ext cx="6355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I'd like to</a:t>
            </a: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(I'd-like-tuh) return this.</a:t>
            </a:r>
            <a:endParaRPr lang="en-US" sz="2200" dirty="0" b="1"/>
          </a:p>
        </p:txBody>
      </p:sp>
      <p:sp>
        <p:nvSpPr>
          <p:cNvPr id="35" name="S3 card"/>
          <p:cNvSpPr/>
          <p:nvPr/>
        </p:nvSpPr>
        <p:spPr>
          <a:xfrm>
            <a:off x="548640" y="4487875"/>
            <a:ext cx="6766560" cy="77724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6" name="S3 text"/>
          <p:cNvSpPr/>
          <p:nvPr/>
        </p:nvSpPr>
        <p:spPr>
          <a:xfrm>
            <a:off x="777240" y="4487875"/>
            <a:ext cx="6355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May I</a:t>
            </a: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speak to the manager? ↗</a:t>
            </a:r>
            <a:endParaRPr lang="en-US" sz="2200" dirty="0" b="1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3:tabl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5076429" y="533095"/>
            <a:ext cx="5814670" cy="123444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110582" y="457200"/>
            <a:ext cx="5814670" cy="12344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" name="left panel"/>
          <p:cNvSpPr/>
          <p:nvPr/>
        </p:nvSpPr>
        <p:spPr>
          <a:xfrm flipV="1">
            <a:off x="-106985" y="-101498"/>
            <a:ext cx="3844138" cy="6418174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pic>
        <p:nvPicPr>
          <p:cNvPr id="17" name="pic" descr="Return: a person with a box, an arrow back to a stor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265152"/>
            <a:ext cx="3326587" cy="2328611"/>
          </a:xfrm>
          <a:prstGeom prst="rect">
            <a:avLst/>
          </a:prstGeom>
        </p:spPr>
      </p:pic>
      <p:sp>
        <p:nvSpPr>
          <p:cNvPr id="7" name="head"/>
          <p:cNvSpPr/>
          <p:nvPr/>
        </p:nvSpPr>
        <p:spPr>
          <a:xfrm>
            <a:off x="5333695" y="566928"/>
            <a:ext cx="4846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Grammar Box 1</a:t>
            </a:r>
            <a:endParaRPr lang="en-US" sz="2000" dirty="0" b="1"/>
          </a:p>
          <a:p>
            <a:pPr algn="l" indent="0" marL="0">
              <a:spcAft>
                <a:spcPts val="400"/>
              </a:spcAft>
              <a:buNone/>
            </a:pPr>
            <a:r>
              <a:rPr lang="en-US" sz="2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Can I help you?</a:t>
            </a:r>
            <a:endParaRPr lang="en-US" sz="2600" dirty="0" b="1"/>
          </a:p>
        </p:txBody>
      </p:sp>
      <p:sp>
        <p:nvSpPr>
          <p:cNvPr id="8" name="Q head"/>
          <p:cNvSpPr/>
          <p:nvPr/>
        </p:nvSpPr>
        <p:spPr>
          <a:xfrm>
            <a:off x="5166360" y="182880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QUESTION</a:t>
            </a:r>
            <a:endParaRPr lang="en-US" sz="2000" dirty="0" b="1"/>
          </a:p>
        </p:txBody>
      </p:sp>
      <p:sp>
        <p:nvSpPr>
          <p:cNvPr id="11" name="A head"/>
          <p:cNvSpPr/>
          <p:nvPr/>
        </p:nvSpPr>
        <p:spPr>
          <a:xfrm>
            <a:off x="7223760" y="1828800"/>
            <a:ext cx="4709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ANSWER</a:t>
            </a:r>
            <a:endParaRPr lang="en-US" sz="2000" dirty="0" b="1"/>
          </a:p>
        </p:txBody>
      </p:sp>
      <p:sp>
        <p:nvSpPr>
          <p:cNvPr id="18" name="Question 1"/>
          <p:cNvSpPr/>
          <p:nvPr/>
        </p:nvSpPr>
        <p:spPr>
          <a:xfrm>
            <a:off x="5138928" y="2286000"/>
            <a:ext cx="2011680" cy="11155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9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Can I help you?</a:t>
            </a:r>
            <a:endParaRPr lang="en-US" sz="1900" dirty="0" b="1"/>
          </a:p>
        </p:txBody>
      </p:sp>
      <p:sp>
        <p:nvSpPr>
          <p:cNvPr id="19" name="Answer bg 1"/>
          <p:cNvSpPr/>
          <p:nvPr/>
        </p:nvSpPr>
        <p:spPr>
          <a:xfrm>
            <a:off x="7223760" y="2286000"/>
            <a:ext cx="4709160" cy="111556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0" name="Answer 1"/>
          <p:cNvSpPr/>
          <p:nvPr/>
        </p:nvSpPr>
        <p:spPr>
          <a:xfrm>
            <a:off x="7223760" y="2286000"/>
            <a:ext cx="4709160" cy="11155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Yes, </a:t>
            </a: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I'd like to return</a:t>
            </a: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/ </a:t>
            </a: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exchange</a:t>
            </a:r>
            <a:endParaRPr lang="en-US" sz="1800" dirty="0" b="1"/>
          </a:p>
          <a:p>
            <a:pPr algn="l" indent="0" marL="0"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this shirt. / these shoes.</a:t>
            </a:r>
            <a:endParaRPr lang="en-US" sz="1800" dirty="0" b="1"/>
          </a:p>
        </p:txBody>
      </p:sp>
      <p:sp>
        <p:nvSpPr>
          <p:cNvPr id="21" name="Question 2"/>
          <p:cNvSpPr/>
          <p:nvPr/>
        </p:nvSpPr>
        <p:spPr>
          <a:xfrm>
            <a:off x="5138928" y="3474720"/>
            <a:ext cx="2011680" cy="11155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9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Can I help you?</a:t>
            </a:r>
            <a:endParaRPr lang="en-US" sz="1900" dirty="0" b="1"/>
          </a:p>
        </p:txBody>
      </p:sp>
      <p:sp>
        <p:nvSpPr>
          <p:cNvPr id="22" name="Answer bg 2"/>
          <p:cNvSpPr/>
          <p:nvPr/>
        </p:nvSpPr>
        <p:spPr>
          <a:xfrm>
            <a:off x="7223760" y="3474720"/>
            <a:ext cx="4709160" cy="111556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3" name="Answer 2"/>
          <p:cNvSpPr/>
          <p:nvPr/>
        </p:nvSpPr>
        <p:spPr>
          <a:xfrm>
            <a:off x="7223760" y="3474720"/>
            <a:ext cx="4709160" cy="11155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Yes, </a:t>
            </a: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I'd like a refund</a:t>
            </a: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, / </a:t>
            </a: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store credit</a:t>
            </a: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,</a:t>
            </a:r>
            <a:endParaRPr lang="en-US" sz="1800" dirty="0" b="1"/>
          </a:p>
          <a:p>
            <a:pPr algn="l" indent="0" marL="0"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please.</a:t>
            </a:r>
            <a:endParaRPr lang="en-US" sz="18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3:qa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right panel"/>
          <p:cNvSpPr/>
          <p:nvPr/>
        </p:nvSpPr>
        <p:spPr>
          <a:xfrm>
            <a:off x="6742786" y="3291840"/>
            <a:ext cx="4912157" cy="310896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pic>
        <p:nvPicPr>
          <p:cNvPr id="18" name="pic" descr="Size: three shirts, S / M / 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1143000"/>
            <a:ext cx="2743200" cy="1920240"/>
          </a:xfrm>
          <a:prstGeom prst="rect">
            <a:avLst/>
          </a:prstGeom>
        </p:spPr>
      </p:pic>
      <p:sp>
        <p:nvSpPr>
          <p:cNvPr id="5" name="Shape 3"/>
          <p:cNvSpPr/>
          <p:nvPr/>
        </p:nvSpPr>
        <p:spPr>
          <a:xfrm>
            <a:off x="560116" y="1350752"/>
            <a:ext cx="5663794" cy="1566367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93446" y="1286561"/>
            <a:ext cx="5663794" cy="1566367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" name="head"/>
          <p:cNvSpPr/>
          <p:nvPr/>
        </p:nvSpPr>
        <p:spPr>
          <a:xfrm>
            <a:off x="832104" y="1325880"/>
            <a:ext cx="5257800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Grammar Box 2</a:t>
            </a:r>
            <a:endParaRPr lang="en-US" sz="2000" dirty="0" b="1"/>
          </a:p>
          <a:p>
            <a:pPr algn="l" indent="0" marL="0">
              <a:buNone/>
            </a:pPr>
            <a:r>
              <a:rPr lang="en-US" sz="2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Reasons</a:t>
            </a:r>
            <a:endParaRPr lang="en-US" sz="2800" dirty="0" b="1"/>
          </a:p>
          <a:p>
            <a:pPr algn="l" indent="0" marL="0">
              <a:buNone/>
            </a:pPr>
            <a:r>
              <a:rPr lang="en-US" sz="18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because + a reason</a:t>
            </a:r>
            <a:endParaRPr lang="en-US" sz="1800" dirty="0" b="0"/>
          </a:p>
        </p:txBody>
      </p:sp>
      <p:sp>
        <p:nvSpPr>
          <p:cNvPr id="8" name="left panel"/>
          <p:cNvSpPr/>
          <p:nvPr/>
        </p:nvSpPr>
        <p:spPr>
          <a:xfrm>
            <a:off x="1305763" y="3291840"/>
            <a:ext cx="4790542" cy="310896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 w="25400">
            <a:solidFill>
              <a:srgbClr val="8FAFE3"/>
            </a:solidFill>
            <a:prstDash val="solid"/>
          </a:ln>
        </p:spPr>
        <p:txBody>
          <a:bodyPr/>
          <a:p/>
        </p:txBody>
      </p:sp>
      <p:sp>
        <p:nvSpPr>
          <p:cNvPr id="19" name="Q head"/>
          <p:cNvSpPr/>
          <p:nvPr/>
        </p:nvSpPr>
        <p:spPr>
          <a:xfrm>
            <a:off x="1920240" y="3429000"/>
            <a:ext cx="2743200" cy="4572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QUESTION</a:t>
            </a:r>
            <a:endParaRPr lang="en-US" sz="2000" dirty="0" b="1"/>
          </a:p>
        </p:txBody>
      </p:sp>
      <p:sp>
        <p:nvSpPr>
          <p:cNvPr id="20" name="A head"/>
          <p:cNvSpPr/>
          <p:nvPr/>
        </p:nvSpPr>
        <p:spPr>
          <a:xfrm>
            <a:off x="7040880" y="3429000"/>
            <a:ext cx="2743200" cy="4572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ANSWER (because + a reason)</a:t>
            </a:r>
            <a:endParaRPr lang="en-US" sz="2000" dirty="0" b="1"/>
          </a:p>
        </p:txBody>
      </p:sp>
      <p:sp>
        <p:nvSpPr>
          <p:cNvPr id="21" name="Highlight 1"/>
          <p:cNvSpPr/>
          <p:nvPr/>
        </p:nvSpPr>
        <p:spPr>
          <a:xfrm>
            <a:off x="1481328" y="4069080"/>
            <a:ext cx="1463040" cy="54864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2" name="Helper 1"/>
          <p:cNvSpPr/>
          <p:nvPr/>
        </p:nvSpPr>
        <p:spPr>
          <a:xfrm>
            <a:off x="1481328" y="3977640"/>
            <a:ext cx="1463040" cy="7315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Why? /</a:t>
            </a:r>
            <a:endParaRPr lang="en-US" sz="2200" dirty="0" b="1"/>
          </a:p>
        </p:txBody>
      </p:sp>
      <p:sp>
        <p:nvSpPr>
          <p:cNvPr id="23" name="Question 1"/>
          <p:cNvSpPr/>
          <p:nvPr/>
        </p:nvSpPr>
        <p:spPr>
          <a:xfrm>
            <a:off x="3035808" y="3977640"/>
            <a:ext cx="2971800" cy="7315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What's wrong with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it?</a:t>
            </a:r>
            <a:endParaRPr lang="en-US" sz="2000" dirty="0" b="1"/>
          </a:p>
        </p:txBody>
      </p:sp>
      <p:sp>
        <p:nvSpPr>
          <p:cNvPr id="24" name="Answer bg 1"/>
          <p:cNvSpPr/>
          <p:nvPr/>
        </p:nvSpPr>
        <p:spPr>
          <a:xfrm>
            <a:off x="6949440" y="3977640"/>
            <a:ext cx="4526280" cy="7315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5" name="Answer 1"/>
          <p:cNvSpPr/>
          <p:nvPr/>
        </p:nvSpPr>
        <p:spPr>
          <a:xfrm>
            <a:off x="6949440" y="3977640"/>
            <a:ext cx="4526280" cy="7315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9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Because</a:t>
            </a:r>
            <a:r>
              <a:rPr lang="en-US" sz="19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it's </a:t>
            </a:r>
            <a:r>
              <a:rPr lang="en-US" sz="19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too small</a:t>
            </a:r>
            <a:r>
              <a:rPr lang="en-US" sz="19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 / </a:t>
            </a:r>
            <a:r>
              <a:rPr lang="en-US" sz="19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too big</a:t>
            </a:r>
            <a:r>
              <a:rPr lang="en-US" sz="19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 / broken.</a:t>
            </a:r>
            <a:endParaRPr lang="en-US" sz="1900" dirty="0" b="1"/>
          </a:p>
        </p:txBody>
      </p:sp>
      <p:sp>
        <p:nvSpPr>
          <p:cNvPr id="26" name="Highlight 2"/>
          <p:cNvSpPr/>
          <p:nvPr/>
        </p:nvSpPr>
        <p:spPr>
          <a:xfrm>
            <a:off x="1481328" y="4846320"/>
            <a:ext cx="1463040" cy="54864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7" name="Helper 2"/>
          <p:cNvSpPr/>
          <p:nvPr/>
        </p:nvSpPr>
        <p:spPr>
          <a:xfrm>
            <a:off x="1481328" y="4754880"/>
            <a:ext cx="1463040" cy="7315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Why? /</a:t>
            </a:r>
            <a:endParaRPr lang="en-US" sz="2200" dirty="0" b="1"/>
          </a:p>
        </p:txBody>
      </p:sp>
      <p:sp>
        <p:nvSpPr>
          <p:cNvPr id="28" name="Question 2"/>
          <p:cNvSpPr/>
          <p:nvPr/>
        </p:nvSpPr>
        <p:spPr>
          <a:xfrm>
            <a:off x="3035808" y="4754880"/>
            <a:ext cx="2971800" cy="7315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What's wrong with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them?</a:t>
            </a:r>
            <a:endParaRPr lang="en-US" sz="2000" dirty="0" b="1"/>
          </a:p>
        </p:txBody>
      </p:sp>
      <p:sp>
        <p:nvSpPr>
          <p:cNvPr id="29" name="Answer bg 2"/>
          <p:cNvSpPr/>
          <p:nvPr/>
        </p:nvSpPr>
        <p:spPr>
          <a:xfrm>
            <a:off x="6949440" y="4754880"/>
            <a:ext cx="4526280" cy="7315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30" name="Answer 2"/>
          <p:cNvSpPr/>
          <p:nvPr/>
        </p:nvSpPr>
        <p:spPr>
          <a:xfrm>
            <a:off x="6949440" y="4754880"/>
            <a:ext cx="4526280" cy="7315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9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Because</a:t>
            </a:r>
            <a:r>
              <a:rPr lang="en-US" sz="19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they have a stain. / don't fit.</a:t>
            </a:r>
            <a:endParaRPr lang="en-US" sz="19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3:qa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right panel"/>
          <p:cNvSpPr/>
          <p:nvPr/>
        </p:nvSpPr>
        <p:spPr>
          <a:xfrm>
            <a:off x="6742786" y="3291840"/>
            <a:ext cx="4912157" cy="310896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pic>
        <p:nvPicPr>
          <p:cNvPr id="18" name="pic" descr="Manager: an office worker with a MANAGER name ta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1143000"/>
            <a:ext cx="2743200" cy="1920240"/>
          </a:xfrm>
          <a:prstGeom prst="rect">
            <a:avLst/>
          </a:prstGeom>
        </p:spPr>
      </p:pic>
      <p:sp>
        <p:nvSpPr>
          <p:cNvPr id="5" name="Shape 3"/>
          <p:cNvSpPr/>
          <p:nvPr/>
        </p:nvSpPr>
        <p:spPr>
          <a:xfrm>
            <a:off x="560116" y="1350752"/>
            <a:ext cx="5663794" cy="1566367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93446" y="1286561"/>
            <a:ext cx="5663794" cy="1566367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" name="head"/>
          <p:cNvSpPr/>
          <p:nvPr/>
        </p:nvSpPr>
        <p:spPr>
          <a:xfrm>
            <a:off x="832104" y="1325880"/>
            <a:ext cx="5257800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Grammar Box 3</a:t>
            </a:r>
            <a:endParaRPr lang="en-US" sz="2000" dirty="0" b="1"/>
          </a:p>
          <a:p>
            <a:pPr algn="l" indent="0" marL="0">
              <a:buNone/>
            </a:pPr>
            <a:r>
              <a:rPr lang="en-US" sz="2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Asking for Permission</a:t>
            </a:r>
            <a:endParaRPr lang="en-US" sz="2800" dirty="0" b="1"/>
          </a:p>
          <a:p>
            <a:pPr algn="l" indent="0" marL="0">
              <a:buNone/>
            </a:pPr>
            <a:r>
              <a:rPr lang="en-US" sz="18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Could I / Can I / May I…?</a:t>
            </a:r>
            <a:endParaRPr lang="en-US" sz="1800" dirty="0" b="0"/>
          </a:p>
        </p:txBody>
      </p:sp>
      <p:sp>
        <p:nvSpPr>
          <p:cNvPr id="8" name="left panel"/>
          <p:cNvSpPr/>
          <p:nvPr/>
        </p:nvSpPr>
        <p:spPr>
          <a:xfrm>
            <a:off x="1305763" y="3291840"/>
            <a:ext cx="4790542" cy="310896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 w="25400">
            <a:solidFill>
              <a:srgbClr val="8FAFE3"/>
            </a:solidFill>
            <a:prstDash val="solid"/>
          </a:ln>
        </p:spPr>
        <p:txBody>
          <a:bodyPr/>
          <a:p/>
        </p:txBody>
      </p:sp>
      <p:sp>
        <p:nvSpPr>
          <p:cNvPr id="19" name="Q head"/>
          <p:cNvSpPr/>
          <p:nvPr/>
        </p:nvSpPr>
        <p:spPr>
          <a:xfrm>
            <a:off x="1920240" y="3429000"/>
            <a:ext cx="2743200" cy="4572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QUESTION</a:t>
            </a:r>
            <a:endParaRPr lang="en-US" sz="2000" dirty="0" b="1"/>
          </a:p>
        </p:txBody>
      </p:sp>
      <p:sp>
        <p:nvSpPr>
          <p:cNvPr id="20" name="A head"/>
          <p:cNvSpPr/>
          <p:nvPr/>
        </p:nvSpPr>
        <p:spPr>
          <a:xfrm>
            <a:off x="7040880" y="3429000"/>
            <a:ext cx="2743200" cy="4572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ANSWER</a:t>
            </a:r>
            <a:endParaRPr lang="en-US" sz="2000" dirty="0" b="1"/>
          </a:p>
        </p:txBody>
      </p:sp>
      <p:sp>
        <p:nvSpPr>
          <p:cNvPr id="21" name="Highlight 1"/>
          <p:cNvSpPr/>
          <p:nvPr/>
        </p:nvSpPr>
        <p:spPr>
          <a:xfrm>
            <a:off x="1481328" y="4293108"/>
            <a:ext cx="1828800" cy="54864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2" name="Helper 1"/>
          <p:cNvSpPr/>
          <p:nvPr/>
        </p:nvSpPr>
        <p:spPr>
          <a:xfrm>
            <a:off x="1481328" y="3977640"/>
            <a:ext cx="1828800" cy="1179576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Could I</a:t>
            </a: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/ </a:t>
            </a: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Can I</a:t>
            </a:r>
            <a:endParaRPr lang="en-US" sz="1600" dirty="0" b="1"/>
          </a:p>
        </p:txBody>
      </p:sp>
      <p:sp>
        <p:nvSpPr>
          <p:cNvPr id="23" name="Question 1"/>
          <p:cNvSpPr/>
          <p:nvPr/>
        </p:nvSpPr>
        <p:spPr>
          <a:xfrm>
            <a:off x="3401568" y="3977640"/>
            <a:ext cx="2606040" cy="1179576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exchange it for a large? / get a refund?</a:t>
            </a:r>
            <a:endParaRPr lang="en-US" sz="1600" dirty="0" b="1"/>
          </a:p>
        </p:txBody>
      </p:sp>
      <p:sp>
        <p:nvSpPr>
          <p:cNvPr id="24" name="Answer bg 1"/>
          <p:cNvSpPr/>
          <p:nvPr/>
        </p:nvSpPr>
        <p:spPr>
          <a:xfrm>
            <a:off x="6949440" y="3977640"/>
            <a:ext cx="4526280" cy="1179576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5" name="Answer 1"/>
          <p:cNvSpPr/>
          <p:nvPr/>
        </p:nvSpPr>
        <p:spPr>
          <a:xfrm>
            <a:off x="6949440" y="3977640"/>
            <a:ext cx="4526280" cy="1179576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9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Sure. / Of course.</a:t>
            </a:r>
            <a:endParaRPr lang="en-US" sz="1900" dirty="0" b="1"/>
          </a:p>
        </p:txBody>
      </p:sp>
      <p:sp>
        <p:nvSpPr>
          <p:cNvPr id="26" name="Highlight 2"/>
          <p:cNvSpPr/>
          <p:nvPr/>
        </p:nvSpPr>
        <p:spPr>
          <a:xfrm>
            <a:off x="1481328" y="5518404"/>
            <a:ext cx="1828800" cy="54864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7" name="Helper 2"/>
          <p:cNvSpPr/>
          <p:nvPr/>
        </p:nvSpPr>
        <p:spPr>
          <a:xfrm>
            <a:off x="1481328" y="5202936"/>
            <a:ext cx="1828800" cy="1179576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May I</a:t>
            </a: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(very polite)</a:t>
            </a:r>
            <a:endParaRPr lang="en-US" sz="1600" dirty="0" b="1"/>
          </a:p>
        </p:txBody>
      </p:sp>
      <p:sp>
        <p:nvSpPr>
          <p:cNvPr id="28" name="Question 2"/>
          <p:cNvSpPr/>
          <p:nvPr/>
        </p:nvSpPr>
        <p:spPr>
          <a:xfrm>
            <a:off x="3401568" y="5202936"/>
            <a:ext cx="2606040" cy="1179576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speak to the manager? / pay with a card?</a:t>
            </a:r>
            <a:endParaRPr lang="en-US" sz="1600" dirty="0" b="1"/>
          </a:p>
        </p:txBody>
      </p:sp>
      <p:sp>
        <p:nvSpPr>
          <p:cNvPr id="29" name="Answer bg 2"/>
          <p:cNvSpPr/>
          <p:nvPr/>
        </p:nvSpPr>
        <p:spPr>
          <a:xfrm>
            <a:off x="6949440" y="5202936"/>
            <a:ext cx="4526280" cy="1179576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30" name="Answer 2"/>
          <p:cNvSpPr/>
          <p:nvPr/>
        </p:nvSpPr>
        <p:spPr>
          <a:xfrm>
            <a:off x="6949440" y="5202936"/>
            <a:ext cx="4526280" cy="1179576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9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Sorry, you need the receipt. / Sorry, cash only.</a:t>
            </a:r>
            <a:endParaRPr lang="en-US" sz="19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3:tabl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5076429" y="533095"/>
            <a:ext cx="5814670" cy="123444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110582" y="457200"/>
            <a:ext cx="5814670" cy="12344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" name="left panel"/>
          <p:cNvSpPr/>
          <p:nvPr/>
        </p:nvSpPr>
        <p:spPr>
          <a:xfrm flipV="1">
            <a:off x="-106985" y="-101498"/>
            <a:ext cx="3844138" cy="6418174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pic>
        <p:nvPicPr>
          <p:cNvPr id="17" name="pic" descr="Reschedule: a drawn calendar: Monday 10:00 crossed out, an arrow to Thursday 4:3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265152"/>
            <a:ext cx="3326587" cy="2328611"/>
          </a:xfrm>
          <a:prstGeom prst="rect">
            <a:avLst/>
          </a:prstGeom>
        </p:spPr>
      </p:pic>
      <p:sp>
        <p:nvSpPr>
          <p:cNvPr id="7" name="head"/>
          <p:cNvSpPr/>
          <p:nvPr/>
        </p:nvSpPr>
        <p:spPr>
          <a:xfrm>
            <a:off x="5333695" y="566928"/>
            <a:ext cx="4846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Grammar Box 4</a:t>
            </a:r>
            <a:endParaRPr lang="en-US" sz="2000" dirty="0" b="1"/>
          </a:p>
          <a:p>
            <a:pPr algn="l" indent="0" marL="0">
              <a:spcAft>
                <a:spcPts val="400"/>
              </a:spcAft>
              <a:buNone/>
            </a:pPr>
            <a:r>
              <a:rPr lang="en-US" sz="2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Changing an Appointment</a:t>
            </a:r>
            <a:endParaRPr lang="en-US" sz="2400" dirty="0" b="1"/>
          </a:p>
        </p:txBody>
      </p:sp>
      <p:sp>
        <p:nvSpPr>
          <p:cNvPr id="8" name="Q head"/>
          <p:cNvSpPr/>
          <p:nvPr/>
        </p:nvSpPr>
        <p:spPr>
          <a:xfrm>
            <a:off x="5166360" y="18288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CALLER</a:t>
            </a:r>
            <a:endParaRPr lang="en-US" sz="2000" dirty="0" b="1"/>
          </a:p>
        </p:txBody>
      </p:sp>
      <p:sp>
        <p:nvSpPr>
          <p:cNvPr id="11" name="A head"/>
          <p:cNvSpPr/>
          <p:nvPr/>
        </p:nvSpPr>
        <p:spPr>
          <a:xfrm>
            <a:off x="8503920" y="1828800"/>
            <a:ext cx="3429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RECEPTIONIST</a:t>
            </a:r>
            <a:endParaRPr lang="en-US" sz="2000" dirty="0" b="1"/>
          </a:p>
        </p:txBody>
      </p:sp>
      <p:sp>
        <p:nvSpPr>
          <p:cNvPr id="18" name="Question 1"/>
          <p:cNvSpPr/>
          <p:nvPr/>
        </p:nvSpPr>
        <p:spPr>
          <a:xfrm>
            <a:off x="5138928" y="2286000"/>
            <a:ext cx="329184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I'd like to change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my appointment. / 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reschedule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my appointment.</a:t>
            </a:r>
            <a:endParaRPr lang="en-US" sz="1700" dirty="0" b="1"/>
          </a:p>
        </p:txBody>
      </p:sp>
      <p:sp>
        <p:nvSpPr>
          <p:cNvPr id="19" name="Answer bg 1"/>
          <p:cNvSpPr/>
          <p:nvPr/>
        </p:nvSpPr>
        <p:spPr>
          <a:xfrm>
            <a:off x="8503920" y="2286000"/>
            <a:ext cx="3429000" cy="97840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0" name="Answer 1"/>
          <p:cNvSpPr/>
          <p:nvPr/>
        </p:nvSpPr>
        <p:spPr>
          <a:xfrm>
            <a:off x="8503920" y="2286000"/>
            <a:ext cx="342900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day is good for you?</a:t>
            </a:r>
            <a:endParaRPr lang="en-US" sz="1800" dirty="0" b="1"/>
          </a:p>
        </p:txBody>
      </p:sp>
      <p:sp>
        <p:nvSpPr>
          <p:cNvPr id="21" name="Question 2"/>
          <p:cNvSpPr/>
          <p:nvPr/>
        </p:nvSpPr>
        <p:spPr>
          <a:xfrm>
            <a:off x="5138928" y="3337560"/>
            <a:ext cx="329184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Is Thursday 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available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?</a:t>
            </a:r>
            <a:endParaRPr lang="en-US" sz="1700" dirty="0" b="1"/>
          </a:p>
        </p:txBody>
      </p:sp>
      <p:sp>
        <p:nvSpPr>
          <p:cNvPr id="22" name="Answer bg 2"/>
          <p:cNvSpPr/>
          <p:nvPr/>
        </p:nvSpPr>
        <p:spPr>
          <a:xfrm>
            <a:off x="8503920" y="3337560"/>
            <a:ext cx="3429000" cy="97840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3" name="Answer 2"/>
          <p:cNvSpPr/>
          <p:nvPr/>
        </p:nvSpPr>
        <p:spPr>
          <a:xfrm>
            <a:off x="8503920" y="3337560"/>
            <a:ext cx="342900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Yes, at 4:30. / Sorry, we're full. Is Friday OK?</a:t>
            </a:r>
            <a:endParaRPr lang="en-US" sz="1800" dirty="0" b="1"/>
          </a:p>
        </p:txBody>
      </p:sp>
      <p:sp>
        <p:nvSpPr>
          <p:cNvPr id="24" name="Question 3"/>
          <p:cNvSpPr/>
          <p:nvPr/>
        </p:nvSpPr>
        <p:spPr>
          <a:xfrm>
            <a:off x="5138928" y="4389120"/>
            <a:ext cx="329184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I'd like to cancel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my appointment.</a:t>
            </a:r>
            <a:endParaRPr lang="en-US" sz="1700" dirty="0" b="1"/>
          </a:p>
        </p:txBody>
      </p:sp>
      <p:sp>
        <p:nvSpPr>
          <p:cNvPr id="25" name="Answer bg 3"/>
          <p:cNvSpPr/>
          <p:nvPr/>
        </p:nvSpPr>
        <p:spPr>
          <a:xfrm>
            <a:off x="8503920" y="4389120"/>
            <a:ext cx="3429000" cy="97840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6" name="Answer 3"/>
          <p:cNvSpPr/>
          <p:nvPr/>
        </p:nvSpPr>
        <p:spPr>
          <a:xfrm>
            <a:off x="8503920" y="4389120"/>
            <a:ext cx="342900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OK. Your appointment is canceled.</a:t>
            </a:r>
            <a:endParaRPr lang="en-US" sz="18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3:qa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right panel"/>
          <p:cNvSpPr/>
          <p:nvPr/>
        </p:nvSpPr>
        <p:spPr>
          <a:xfrm>
            <a:off x="6742786" y="3291840"/>
            <a:ext cx="4912157" cy="310896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pic>
        <p:nvPicPr>
          <p:cNvPr id="18" name="pic" descr="Refund: money, an arrow to a hand, label &quot;money back&quot;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1143000"/>
            <a:ext cx="2743200" cy="1920240"/>
          </a:xfrm>
          <a:prstGeom prst="rect">
            <a:avLst/>
          </a:prstGeom>
        </p:spPr>
      </p:pic>
      <p:sp>
        <p:nvSpPr>
          <p:cNvPr id="5" name="Shape 3"/>
          <p:cNvSpPr/>
          <p:nvPr/>
        </p:nvSpPr>
        <p:spPr>
          <a:xfrm>
            <a:off x="560116" y="1350752"/>
            <a:ext cx="5663794" cy="1566367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93446" y="1286561"/>
            <a:ext cx="5663794" cy="1566367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" name="head"/>
          <p:cNvSpPr/>
          <p:nvPr/>
        </p:nvSpPr>
        <p:spPr>
          <a:xfrm>
            <a:off x="832104" y="1325880"/>
            <a:ext cx="5257800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Grammar Box 5</a:t>
            </a:r>
            <a:endParaRPr lang="en-US" sz="2000" dirty="0" b="1"/>
          </a:p>
          <a:p>
            <a:pPr algn="l" indent="0" marL="0">
              <a:buNone/>
            </a:pPr>
            <a:r>
              <a:rPr lang="en-US" sz="2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I'd like or I'd like to?</a:t>
            </a:r>
            <a:endParaRPr lang="en-US" sz="2800" dirty="0" b="1"/>
          </a:p>
          <a:p>
            <a:pPr algn="l" indent="0" marL="0">
              <a:buNone/>
            </a:pPr>
            <a:r>
              <a:rPr lang="en-US" sz="18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I'd like + a thing  ·  I'd like to + a verb</a:t>
            </a:r>
            <a:endParaRPr lang="en-US" sz="1800" dirty="0" b="0"/>
          </a:p>
        </p:txBody>
      </p:sp>
      <p:sp>
        <p:nvSpPr>
          <p:cNvPr id="8" name="left panel"/>
          <p:cNvSpPr/>
          <p:nvPr/>
        </p:nvSpPr>
        <p:spPr>
          <a:xfrm>
            <a:off x="1305763" y="3291840"/>
            <a:ext cx="4790542" cy="310896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 w="25400">
            <a:solidFill>
              <a:srgbClr val="8FAFE3"/>
            </a:solidFill>
            <a:prstDash val="solid"/>
          </a:ln>
        </p:spPr>
        <p:txBody>
          <a:bodyPr/>
          <a:p/>
        </p:txBody>
      </p:sp>
      <p:sp>
        <p:nvSpPr>
          <p:cNvPr id="19" name="Q head"/>
          <p:cNvSpPr/>
          <p:nvPr/>
        </p:nvSpPr>
        <p:spPr>
          <a:xfrm>
            <a:off x="1481328" y="3429000"/>
            <a:ext cx="4480560" cy="4572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I'd like + A THING</a:t>
            </a:r>
            <a:endParaRPr lang="en-US" sz="1700" dirty="0" b="1"/>
          </a:p>
        </p:txBody>
      </p:sp>
      <p:sp>
        <p:nvSpPr>
          <p:cNvPr id="20" name="A head"/>
          <p:cNvSpPr/>
          <p:nvPr/>
        </p:nvSpPr>
        <p:spPr>
          <a:xfrm>
            <a:off x="6949440" y="3429000"/>
            <a:ext cx="4480560" cy="4572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I'd like to + A VERB</a:t>
            </a:r>
            <a:endParaRPr lang="en-US" sz="1700" dirty="0" b="1"/>
          </a:p>
        </p:txBody>
      </p:sp>
      <p:sp>
        <p:nvSpPr>
          <p:cNvPr id="21" name="Question 1"/>
          <p:cNvSpPr/>
          <p:nvPr/>
        </p:nvSpPr>
        <p:spPr>
          <a:xfrm>
            <a:off x="1481328" y="3977640"/>
            <a:ext cx="4526280" cy="7315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I'd like 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refund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</a:t>
            </a:r>
            <a:endParaRPr lang="en-US" sz="2000" dirty="0" b="1"/>
          </a:p>
        </p:txBody>
      </p:sp>
      <p:sp>
        <p:nvSpPr>
          <p:cNvPr id="22" name="Answer bg 1"/>
          <p:cNvSpPr/>
          <p:nvPr/>
        </p:nvSpPr>
        <p:spPr>
          <a:xfrm>
            <a:off x="6949440" y="3977640"/>
            <a:ext cx="4526280" cy="7315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3" name="Answer 1"/>
          <p:cNvSpPr/>
          <p:nvPr/>
        </p:nvSpPr>
        <p:spPr>
          <a:xfrm>
            <a:off x="6949440" y="3977640"/>
            <a:ext cx="4526280" cy="7315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9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I'd like </a:t>
            </a:r>
            <a:r>
              <a:rPr lang="en-US" sz="19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 return</a:t>
            </a:r>
            <a:r>
              <a:rPr lang="en-US" sz="19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this.</a:t>
            </a:r>
            <a:endParaRPr lang="en-US" sz="1900" dirty="0" b="1"/>
          </a:p>
        </p:txBody>
      </p:sp>
      <p:sp>
        <p:nvSpPr>
          <p:cNvPr id="24" name="Question 2"/>
          <p:cNvSpPr/>
          <p:nvPr/>
        </p:nvSpPr>
        <p:spPr>
          <a:xfrm>
            <a:off x="1481328" y="4754880"/>
            <a:ext cx="4526280" cy="7315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I'd like 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bigger size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</a:t>
            </a:r>
            <a:endParaRPr lang="en-US" sz="2000" dirty="0" b="1"/>
          </a:p>
        </p:txBody>
      </p:sp>
      <p:sp>
        <p:nvSpPr>
          <p:cNvPr id="25" name="Answer bg 2"/>
          <p:cNvSpPr/>
          <p:nvPr/>
        </p:nvSpPr>
        <p:spPr>
          <a:xfrm>
            <a:off x="6949440" y="4754880"/>
            <a:ext cx="4526280" cy="7315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6" name="Answer 2"/>
          <p:cNvSpPr/>
          <p:nvPr/>
        </p:nvSpPr>
        <p:spPr>
          <a:xfrm>
            <a:off x="6949440" y="4754880"/>
            <a:ext cx="4526280" cy="7315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9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I'd like </a:t>
            </a:r>
            <a:r>
              <a:rPr lang="en-US" sz="19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 exchange</a:t>
            </a:r>
            <a:r>
              <a:rPr lang="en-US" sz="19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it.</a:t>
            </a:r>
            <a:endParaRPr lang="en-US" sz="1900" dirty="0" b="1"/>
          </a:p>
        </p:txBody>
      </p:sp>
      <p:sp>
        <p:nvSpPr>
          <p:cNvPr id="27" name="Question 3"/>
          <p:cNvSpPr/>
          <p:nvPr/>
        </p:nvSpPr>
        <p:spPr>
          <a:xfrm>
            <a:off x="1481328" y="5532120"/>
            <a:ext cx="4526280" cy="7315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I'd like 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 appointment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on Friday.</a:t>
            </a:r>
            <a:endParaRPr lang="en-US" sz="2000" dirty="0" b="1"/>
          </a:p>
        </p:txBody>
      </p:sp>
      <p:sp>
        <p:nvSpPr>
          <p:cNvPr id="28" name="Answer bg 3"/>
          <p:cNvSpPr/>
          <p:nvPr/>
        </p:nvSpPr>
        <p:spPr>
          <a:xfrm>
            <a:off x="6949440" y="5532120"/>
            <a:ext cx="4526280" cy="7315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9" name="Answer 3"/>
          <p:cNvSpPr/>
          <p:nvPr/>
        </p:nvSpPr>
        <p:spPr>
          <a:xfrm>
            <a:off x="6949440" y="5532120"/>
            <a:ext cx="4526280" cy="7315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9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I'd like </a:t>
            </a:r>
            <a:r>
              <a:rPr lang="en-US" sz="19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 cancel</a:t>
            </a:r>
            <a:r>
              <a:rPr lang="en-US" sz="19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my appointment.</a:t>
            </a:r>
            <a:endParaRPr lang="en-US" sz="19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3:gaps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head shadow"/>
          <p:cNvSpPr/>
          <p:nvPr/>
        </p:nvSpPr>
        <p:spPr>
          <a:xfrm>
            <a:off x="544982" y="1407262"/>
            <a:ext cx="7086600" cy="983894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head card"/>
          <p:cNvSpPr/>
          <p:nvPr/>
        </p:nvSpPr>
        <p:spPr>
          <a:xfrm>
            <a:off x="548640" y="1349654"/>
            <a:ext cx="7086600" cy="983894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head1"/>
          <p:cNvSpPr/>
          <p:nvPr/>
        </p:nvSpPr>
        <p:spPr>
          <a:xfrm>
            <a:off x="777240" y="1417320"/>
            <a:ext cx="544068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Practice A: write the words.</a:t>
            </a:r>
            <a:endParaRPr lang="en-US" sz="2000" dirty="0" b="1"/>
          </a:p>
        </p:txBody>
      </p:sp>
      <p:sp>
        <p:nvSpPr>
          <p:cNvPr id="9" name="head2"/>
          <p:cNvSpPr/>
          <p:nvPr/>
        </p:nvSpPr>
        <p:spPr>
          <a:xfrm>
            <a:off x="868680" y="1819656"/>
            <a:ext cx="5349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like  ·  like to</a:t>
            </a:r>
            <a:endParaRPr lang="en-US" sz="2000" dirty="0"/>
          </a:p>
        </p:txBody>
      </p:sp>
      <p:sp>
        <p:nvSpPr>
          <p:cNvPr id="29" name="title"/>
          <p:cNvSpPr/>
          <p:nvPr/>
        </p:nvSpPr>
        <p:spPr>
          <a:xfrm>
            <a:off x="8001000" y="1783080"/>
            <a:ext cx="3840480" cy="1600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Practice A</a:t>
            </a:r>
            <a:endParaRPr lang="en-US" sz="4000" dirty="0" b="1"/>
          </a:p>
        </p:txBody>
      </p:sp>
      <p:sp>
        <p:nvSpPr>
          <p:cNvPr id="30" name="side"/>
          <p:cNvSpPr/>
          <p:nvPr/>
        </p:nvSpPr>
        <p:spPr>
          <a:xfrm>
            <a:off x="8046720" y="3611880"/>
            <a:ext cx="3749039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Write like or like to.</a:t>
            </a:r>
            <a:endParaRPr lang="en-US" sz="2000" dirty="0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Pairs: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check your answers.</a:t>
            </a:r>
            <a:endParaRPr lang="en-US" sz="2000" dirty="0" b="0"/>
          </a:p>
        </p:txBody>
      </p:sp>
      <p:sp>
        <p:nvSpPr>
          <p:cNvPr id="31" name="R1 card"/>
          <p:cNvSpPr/>
          <p:nvPr/>
        </p:nvSpPr>
        <p:spPr>
          <a:xfrm>
            <a:off x="1583741" y="2397557"/>
            <a:ext cx="6035040" cy="713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2" name="R1 chip"/>
          <p:cNvSpPr/>
          <p:nvPr/>
        </p:nvSpPr>
        <p:spPr>
          <a:xfrm>
            <a:off x="544982" y="2397557"/>
            <a:ext cx="1039673" cy="713232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3" name="R1 num"/>
          <p:cNvSpPr/>
          <p:nvPr/>
        </p:nvSpPr>
        <p:spPr>
          <a:xfrm>
            <a:off x="686714" y="2461565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</a:t>
            </a:r>
            <a:endParaRPr lang="en-US" sz="3200" dirty="0" b="1"/>
          </a:p>
        </p:txBody>
      </p:sp>
      <p:sp>
        <p:nvSpPr>
          <p:cNvPr id="34" name="R1 text"/>
          <p:cNvSpPr/>
          <p:nvPr/>
        </p:nvSpPr>
        <p:spPr>
          <a:xfrm>
            <a:off x="1810512" y="2397557"/>
            <a:ext cx="4407408" cy="713232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I'd ____ return these shoes.</a:t>
            </a:r>
            <a:endParaRPr lang="en-US" sz="1800" dirty="0"/>
          </a:p>
        </p:txBody>
      </p:sp>
      <p:sp>
        <p:nvSpPr>
          <p:cNvPr id="35" name="R1 ans"/>
          <p:cNvSpPr/>
          <p:nvPr/>
        </p:nvSpPr>
        <p:spPr>
          <a:xfrm>
            <a:off x="6291072" y="2525573"/>
            <a:ext cx="128016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like to</a:t>
            </a:r>
            <a:endParaRPr lang="en-US" sz="2000" dirty="0" b="1"/>
          </a:p>
        </p:txBody>
      </p:sp>
      <p:sp>
        <p:nvSpPr>
          <p:cNvPr id="36" name="R2 card"/>
          <p:cNvSpPr/>
          <p:nvPr/>
        </p:nvSpPr>
        <p:spPr>
          <a:xfrm>
            <a:off x="1583741" y="3183941"/>
            <a:ext cx="6035040" cy="713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7" name="R2 chip"/>
          <p:cNvSpPr/>
          <p:nvPr/>
        </p:nvSpPr>
        <p:spPr>
          <a:xfrm>
            <a:off x="544982" y="3183941"/>
            <a:ext cx="1039673" cy="713232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8" name="R2 num"/>
          <p:cNvSpPr/>
          <p:nvPr/>
        </p:nvSpPr>
        <p:spPr>
          <a:xfrm>
            <a:off x="686714" y="3247949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</a:t>
            </a:r>
            <a:endParaRPr lang="en-US" sz="3200" dirty="0" b="1"/>
          </a:p>
        </p:txBody>
      </p:sp>
      <p:sp>
        <p:nvSpPr>
          <p:cNvPr id="39" name="R2 text"/>
          <p:cNvSpPr/>
          <p:nvPr/>
        </p:nvSpPr>
        <p:spPr>
          <a:xfrm>
            <a:off x="1810512" y="3183941"/>
            <a:ext cx="4407408" cy="713232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I'd ____ a bag, please.</a:t>
            </a:r>
            <a:endParaRPr lang="en-US" sz="1800" dirty="0"/>
          </a:p>
        </p:txBody>
      </p:sp>
      <p:sp>
        <p:nvSpPr>
          <p:cNvPr id="40" name="R2 ans"/>
          <p:cNvSpPr/>
          <p:nvPr/>
        </p:nvSpPr>
        <p:spPr>
          <a:xfrm>
            <a:off x="6291072" y="3311957"/>
            <a:ext cx="128016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like</a:t>
            </a:r>
            <a:endParaRPr lang="en-US" sz="2000" dirty="0" b="1"/>
          </a:p>
        </p:txBody>
      </p:sp>
      <p:sp>
        <p:nvSpPr>
          <p:cNvPr id="41" name="R3 card"/>
          <p:cNvSpPr/>
          <p:nvPr/>
        </p:nvSpPr>
        <p:spPr>
          <a:xfrm>
            <a:off x="1583741" y="3970325"/>
            <a:ext cx="6035040" cy="713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2" name="R3 chip"/>
          <p:cNvSpPr/>
          <p:nvPr/>
        </p:nvSpPr>
        <p:spPr>
          <a:xfrm>
            <a:off x="544982" y="3970325"/>
            <a:ext cx="1039673" cy="713232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3" name="R3 num"/>
          <p:cNvSpPr/>
          <p:nvPr/>
        </p:nvSpPr>
        <p:spPr>
          <a:xfrm>
            <a:off x="686714" y="4034333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</a:t>
            </a:r>
            <a:endParaRPr lang="en-US" sz="3200" dirty="0" b="1"/>
          </a:p>
        </p:txBody>
      </p:sp>
      <p:sp>
        <p:nvSpPr>
          <p:cNvPr id="44" name="R3 text"/>
          <p:cNvSpPr/>
          <p:nvPr/>
        </p:nvSpPr>
        <p:spPr>
          <a:xfrm>
            <a:off x="1810512" y="3970325"/>
            <a:ext cx="4407408" cy="713232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I'd ____ exchange this shirt for a medium.</a:t>
            </a:r>
            <a:endParaRPr lang="en-US" sz="1800" dirty="0"/>
          </a:p>
        </p:txBody>
      </p:sp>
      <p:sp>
        <p:nvSpPr>
          <p:cNvPr id="45" name="R3 ans"/>
          <p:cNvSpPr/>
          <p:nvPr/>
        </p:nvSpPr>
        <p:spPr>
          <a:xfrm>
            <a:off x="6291072" y="4098341"/>
            <a:ext cx="128016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like to</a:t>
            </a:r>
            <a:endParaRPr lang="en-US" sz="2000" dirty="0" b="1"/>
          </a:p>
        </p:txBody>
      </p:sp>
      <p:sp>
        <p:nvSpPr>
          <p:cNvPr id="46" name="R4 card"/>
          <p:cNvSpPr/>
          <p:nvPr/>
        </p:nvSpPr>
        <p:spPr>
          <a:xfrm>
            <a:off x="1583741" y="4756709"/>
            <a:ext cx="6035040" cy="713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7" name="R4 chip"/>
          <p:cNvSpPr/>
          <p:nvPr/>
        </p:nvSpPr>
        <p:spPr>
          <a:xfrm>
            <a:off x="544982" y="4756709"/>
            <a:ext cx="1039673" cy="713232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8" name="R4 num"/>
          <p:cNvSpPr/>
          <p:nvPr/>
        </p:nvSpPr>
        <p:spPr>
          <a:xfrm>
            <a:off x="686714" y="4820717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4</a:t>
            </a:r>
            <a:endParaRPr lang="en-US" sz="3200" dirty="0" b="1"/>
          </a:p>
        </p:txBody>
      </p:sp>
      <p:sp>
        <p:nvSpPr>
          <p:cNvPr id="49" name="R4 text"/>
          <p:cNvSpPr/>
          <p:nvPr/>
        </p:nvSpPr>
        <p:spPr>
          <a:xfrm>
            <a:off x="1810512" y="4756709"/>
            <a:ext cx="4407408" cy="713232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I'd ____ a refund, please.</a:t>
            </a:r>
            <a:endParaRPr lang="en-US" sz="1800" dirty="0"/>
          </a:p>
        </p:txBody>
      </p:sp>
      <p:sp>
        <p:nvSpPr>
          <p:cNvPr id="50" name="R4 ans"/>
          <p:cNvSpPr/>
          <p:nvPr/>
        </p:nvSpPr>
        <p:spPr>
          <a:xfrm>
            <a:off x="6291072" y="4884725"/>
            <a:ext cx="128016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like</a:t>
            </a:r>
            <a:endParaRPr lang="en-US" sz="2000" dirty="0" b="1"/>
          </a:p>
        </p:txBody>
      </p:sp>
      <p:sp>
        <p:nvSpPr>
          <p:cNvPr id="51" name="R5 card"/>
          <p:cNvSpPr/>
          <p:nvPr/>
        </p:nvSpPr>
        <p:spPr>
          <a:xfrm>
            <a:off x="1583741" y="5543093"/>
            <a:ext cx="6035040" cy="713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2" name="R5 chip"/>
          <p:cNvSpPr/>
          <p:nvPr/>
        </p:nvSpPr>
        <p:spPr>
          <a:xfrm>
            <a:off x="544982" y="5543093"/>
            <a:ext cx="1039673" cy="713232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3" name="R5 num"/>
          <p:cNvSpPr/>
          <p:nvPr/>
        </p:nvSpPr>
        <p:spPr>
          <a:xfrm>
            <a:off x="686714" y="5607101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5</a:t>
            </a:r>
            <a:endParaRPr lang="en-US" sz="3200" dirty="0" b="1"/>
          </a:p>
        </p:txBody>
      </p:sp>
      <p:sp>
        <p:nvSpPr>
          <p:cNvPr id="54" name="R5 text"/>
          <p:cNvSpPr/>
          <p:nvPr/>
        </p:nvSpPr>
        <p:spPr>
          <a:xfrm>
            <a:off x="1810512" y="5543093"/>
            <a:ext cx="4407408" cy="713232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I'd ____ cancel my appointment.</a:t>
            </a:r>
            <a:endParaRPr lang="en-US" sz="1800" dirty="0"/>
          </a:p>
        </p:txBody>
      </p:sp>
      <p:sp>
        <p:nvSpPr>
          <p:cNvPr id="55" name="R5 ans"/>
          <p:cNvSpPr/>
          <p:nvPr/>
        </p:nvSpPr>
        <p:spPr>
          <a:xfrm>
            <a:off x="6291072" y="5671109"/>
            <a:ext cx="128016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like to</a:t>
            </a:r>
            <a:endParaRPr lang="en-US" sz="20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3:choic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164592" y="2980944"/>
            <a:ext cx="11582705" cy="3623767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233172" y="1137194"/>
            <a:ext cx="5607101" cy="137525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66090" y="1080821"/>
            <a:ext cx="5607101" cy="137525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0" y="2856586"/>
            <a:ext cx="11582705" cy="3623767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title"/>
          <p:cNvSpPr/>
          <p:nvPr/>
        </p:nvSpPr>
        <p:spPr>
          <a:xfrm>
            <a:off x="416052" y="1452067"/>
            <a:ext cx="5680253" cy="94731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en-US" sz="4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Practice B</a:t>
            </a:r>
            <a:endParaRPr lang="en-US" sz="4800" dirty="0" b="1"/>
          </a:p>
        </p:txBody>
      </p:sp>
      <p:sp>
        <p:nvSpPr>
          <p:cNvPr id="7" name="instr"/>
          <p:cNvSpPr/>
          <p:nvPr/>
        </p:nvSpPr>
        <p:spPr>
          <a:xfrm>
            <a:off x="6745529" y="1234440"/>
            <a:ext cx="47548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Circle the right words.</a:t>
            </a:r>
            <a:endParaRPr lang="en-US" sz="2000" dirty="0"/>
          </a:p>
        </p:txBody>
      </p:sp>
      <p:sp>
        <p:nvSpPr>
          <p:cNvPr id="8" name="R1 stmt"/>
          <p:cNvSpPr/>
          <p:nvPr/>
        </p:nvSpPr>
        <p:spPr>
          <a:xfrm>
            <a:off x="502920" y="3108960"/>
            <a:ext cx="6583680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1. ____ I exchange this?</a:t>
            </a:r>
            <a:endParaRPr lang="en-US" sz="2000" dirty="0"/>
          </a:p>
        </p:txBody>
      </p:sp>
      <p:sp>
        <p:nvSpPr>
          <p:cNvPr id="9" name="R1 opt1"/>
          <p:cNvSpPr/>
          <p:nvPr/>
        </p:nvSpPr>
        <p:spPr>
          <a:xfrm>
            <a:off x="7269480" y="3108960"/>
            <a:ext cx="173736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Could</a:t>
            </a:r>
            <a:endParaRPr lang="en-US" sz="1700" dirty="0" b="1"/>
          </a:p>
        </p:txBody>
      </p:sp>
      <p:sp>
        <p:nvSpPr>
          <p:cNvPr id="10" name="R1 opt2"/>
          <p:cNvSpPr/>
          <p:nvPr/>
        </p:nvSpPr>
        <p:spPr>
          <a:xfrm>
            <a:off x="9235440" y="3108960"/>
            <a:ext cx="173736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Would</a:t>
            </a:r>
            <a:endParaRPr lang="en-US" sz="1700" dirty="0" b="1"/>
          </a:p>
        </p:txBody>
      </p:sp>
      <p:sp>
        <p:nvSpPr>
          <p:cNvPr id="11" name="R1 circle"/>
          <p:cNvSpPr/>
          <p:nvPr/>
        </p:nvSpPr>
        <p:spPr>
          <a:xfrm>
            <a:off x="7141464" y="3054096"/>
            <a:ext cx="1993392" cy="640080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12" name="R2 stmt"/>
          <p:cNvSpPr/>
          <p:nvPr/>
        </p:nvSpPr>
        <p:spPr>
          <a:xfrm>
            <a:off x="502920" y="3767328"/>
            <a:ext cx="6583680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2. May I ____ to the manager?</a:t>
            </a:r>
            <a:endParaRPr lang="en-US" sz="2000" dirty="0"/>
          </a:p>
        </p:txBody>
      </p:sp>
      <p:sp>
        <p:nvSpPr>
          <p:cNvPr id="13" name="R2 opt1"/>
          <p:cNvSpPr/>
          <p:nvPr/>
        </p:nvSpPr>
        <p:spPr>
          <a:xfrm>
            <a:off x="7269480" y="3767328"/>
            <a:ext cx="173736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speak</a:t>
            </a:r>
            <a:endParaRPr lang="en-US" sz="1700" dirty="0" b="1"/>
          </a:p>
        </p:txBody>
      </p:sp>
      <p:sp>
        <p:nvSpPr>
          <p:cNvPr id="14" name="R2 opt2"/>
          <p:cNvSpPr/>
          <p:nvPr/>
        </p:nvSpPr>
        <p:spPr>
          <a:xfrm>
            <a:off x="9235440" y="3767328"/>
            <a:ext cx="173736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 speak</a:t>
            </a:r>
            <a:endParaRPr lang="en-US" sz="1700" dirty="0" b="1"/>
          </a:p>
        </p:txBody>
      </p:sp>
      <p:sp>
        <p:nvSpPr>
          <p:cNvPr id="15" name="R2 circle"/>
          <p:cNvSpPr/>
          <p:nvPr/>
        </p:nvSpPr>
        <p:spPr>
          <a:xfrm>
            <a:off x="7141464" y="3712464"/>
            <a:ext cx="1993392" cy="640080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16" name="R3 stmt"/>
          <p:cNvSpPr/>
          <p:nvPr/>
        </p:nvSpPr>
        <p:spPr>
          <a:xfrm>
            <a:off x="502920" y="4425696"/>
            <a:ext cx="6583680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3. It's ____. It doesn't fit.</a:t>
            </a:r>
            <a:endParaRPr lang="en-US" sz="2000" dirty="0"/>
          </a:p>
        </p:txBody>
      </p:sp>
      <p:sp>
        <p:nvSpPr>
          <p:cNvPr id="17" name="R3 opt1"/>
          <p:cNvSpPr/>
          <p:nvPr/>
        </p:nvSpPr>
        <p:spPr>
          <a:xfrm>
            <a:off x="7269480" y="4425696"/>
            <a:ext cx="173736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too small</a:t>
            </a:r>
            <a:endParaRPr lang="en-US" sz="1700" dirty="0" b="1"/>
          </a:p>
        </p:txBody>
      </p:sp>
      <p:sp>
        <p:nvSpPr>
          <p:cNvPr id="18" name="R3 opt2"/>
          <p:cNvSpPr/>
          <p:nvPr/>
        </p:nvSpPr>
        <p:spPr>
          <a:xfrm>
            <a:off x="9235440" y="4425696"/>
            <a:ext cx="173736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small too</a:t>
            </a:r>
            <a:endParaRPr lang="en-US" sz="1700" dirty="0" b="1"/>
          </a:p>
        </p:txBody>
      </p:sp>
      <p:sp>
        <p:nvSpPr>
          <p:cNvPr id="19" name="R3 circle"/>
          <p:cNvSpPr/>
          <p:nvPr/>
        </p:nvSpPr>
        <p:spPr>
          <a:xfrm>
            <a:off x="7141464" y="4370832"/>
            <a:ext cx="1993392" cy="640080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0" name="R4 stmt"/>
          <p:cNvSpPr/>
          <p:nvPr/>
        </p:nvSpPr>
        <p:spPr>
          <a:xfrm>
            <a:off x="502920" y="5084064"/>
            <a:ext cx="6583680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4. I'd like to ____ my appointment.</a:t>
            </a:r>
            <a:endParaRPr lang="en-US" sz="2000" dirty="0"/>
          </a:p>
        </p:txBody>
      </p:sp>
      <p:sp>
        <p:nvSpPr>
          <p:cNvPr id="21" name="R4 opt1"/>
          <p:cNvSpPr/>
          <p:nvPr/>
        </p:nvSpPr>
        <p:spPr>
          <a:xfrm>
            <a:off x="7269480" y="5084064"/>
            <a:ext cx="173736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cancel</a:t>
            </a:r>
            <a:endParaRPr lang="en-US" sz="1700" dirty="0" b="1"/>
          </a:p>
        </p:txBody>
      </p:sp>
      <p:sp>
        <p:nvSpPr>
          <p:cNvPr id="22" name="R4 opt2"/>
          <p:cNvSpPr/>
          <p:nvPr/>
        </p:nvSpPr>
        <p:spPr>
          <a:xfrm>
            <a:off x="9235440" y="5084064"/>
            <a:ext cx="173736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canceling</a:t>
            </a:r>
            <a:endParaRPr lang="en-US" sz="1700" dirty="0" b="1"/>
          </a:p>
        </p:txBody>
      </p:sp>
      <p:sp>
        <p:nvSpPr>
          <p:cNvPr id="23" name="R4 circle"/>
          <p:cNvSpPr/>
          <p:nvPr/>
        </p:nvSpPr>
        <p:spPr>
          <a:xfrm>
            <a:off x="7141464" y="5029200"/>
            <a:ext cx="1993392" cy="640080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4" name="R5 stmt"/>
          <p:cNvSpPr/>
          <p:nvPr/>
        </p:nvSpPr>
        <p:spPr>
          <a:xfrm>
            <a:off x="502920" y="5742432"/>
            <a:ext cx="6583680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5. Is Thursday ____?</a:t>
            </a:r>
            <a:endParaRPr lang="en-US" sz="2000" dirty="0"/>
          </a:p>
        </p:txBody>
      </p:sp>
      <p:sp>
        <p:nvSpPr>
          <p:cNvPr id="25" name="R5 opt1"/>
          <p:cNvSpPr/>
          <p:nvPr/>
        </p:nvSpPr>
        <p:spPr>
          <a:xfrm>
            <a:off x="7269480" y="5742432"/>
            <a:ext cx="173736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available</a:t>
            </a:r>
            <a:endParaRPr lang="en-US" sz="1700" dirty="0" b="1"/>
          </a:p>
        </p:txBody>
      </p:sp>
      <p:sp>
        <p:nvSpPr>
          <p:cNvPr id="26" name="R5 opt2"/>
          <p:cNvSpPr/>
          <p:nvPr/>
        </p:nvSpPr>
        <p:spPr>
          <a:xfrm>
            <a:off x="9235440" y="5742432"/>
            <a:ext cx="173736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free time</a:t>
            </a:r>
            <a:endParaRPr lang="en-US" sz="1700" dirty="0" b="1"/>
          </a:p>
        </p:txBody>
      </p:sp>
      <p:sp>
        <p:nvSpPr>
          <p:cNvPr id="27" name="R5 circle"/>
          <p:cNvSpPr/>
          <p:nvPr/>
        </p:nvSpPr>
        <p:spPr>
          <a:xfrm>
            <a:off x="7141464" y="5687568"/>
            <a:ext cx="1993392" cy="640080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3:mistakes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 flipH="1" flipV="1">
            <a:off x="8060436" y="1132027"/>
            <a:ext cx="4274820" cy="586039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0442448" y="1188720"/>
            <a:ext cx="1691640" cy="137160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 flipH="1">
            <a:off x="501091" y="2020824"/>
            <a:ext cx="3543300" cy="470916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 flipH="1">
            <a:off x="4388206" y="2020824"/>
            <a:ext cx="5860390" cy="470916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479328" y="457200"/>
            <a:ext cx="7295083" cy="114300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522122" y="393192"/>
            <a:ext cx="7295083" cy="11430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 flipH="1">
            <a:off x="658368" y="1828800"/>
            <a:ext cx="3610966" cy="470916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 flipH="1">
            <a:off x="4519879" y="1828800"/>
            <a:ext cx="5860390" cy="470916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1" name="title"/>
          <p:cNvSpPr/>
          <p:nvPr/>
        </p:nvSpPr>
        <p:spPr>
          <a:xfrm>
            <a:off x="608076" y="457200"/>
            <a:ext cx="69494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Common Mistakes</a:t>
            </a:r>
            <a:endParaRPr lang="en-US" sz="4300" dirty="0" b="1"/>
          </a:p>
        </p:txBody>
      </p:sp>
      <p:pic>
        <p:nvPicPr>
          <p:cNvPr id="21" name="pic" descr="Stain: a shirt with a brown spot circle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0" y="1325880"/>
            <a:ext cx="1554480" cy="1088136"/>
          </a:xfrm>
          <a:prstGeom prst="rect">
            <a:avLst/>
          </a:prstGeom>
        </p:spPr>
      </p:pic>
      <p:sp>
        <p:nvSpPr>
          <p:cNvPr id="22" name="Dont head"/>
          <p:cNvSpPr/>
          <p:nvPr/>
        </p:nvSpPr>
        <p:spPr>
          <a:xfrm>
            <a:off x="914400" y="1938528"/>
            <a:ext cx="310896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B42318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Don't say</a:t>
            </a:r>
            <a:endParaRPr lang="en-US" sz="2200" dirty="0"/>
          </a:p>
        </p:txBody>
      </p:sp>
      <p:sp>
        <p:nvSpPr>
          <p:cNvPr id="23" name="Say head"/>
          <p:cNvSpPr/>
          <p:nvPr/>
        </p:nvSpPr>
        <p:spPr>
          <a:xfrm>
            <a:off x="4800600" y="1938528"/>
            <a:ext cx="530352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E6B45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Say</a:t>
            </a:r>
            <a:endParaRPr lang="en-US" sz="2200" dirty="0"/>
          </a:p>
        </p:txBody>
      </p:sp>
      <p:sp>
        <p:nvSpPr>
          <p:cNvPr id="24" name="Bad 1"/>
          <p:cNvSpPr/>
          <p:nvPr/>
        </p:nvSpPr>
        <p:spPr>
          <a:xfrm>
            <a:off x="914400" y="2468880"/>
            <a:ext cx="324612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I'd like return this.</a:t>
            </a:r>
            <a:endParaRPr lang="en-US" sz="1700" dirty="0"/>
          </a:p>
        </p:txBody>
      </p:sp>
      <p:sp>
        <p:nvSpPr>
          <p:cNvPr id="25" name="Good 1"/>
          <p:cNvSpPr/>
          <p:nvPr/>
        </p:nvSpPr>
        <p:spPr>
          <a:xfrm>
            <a:off x="4800600" y="2468880"/>
            <a:ext cx="539496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I'd like 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</a:t>
            </a:r>
            <a:r>
              <a:rPr lang="en-US" sz="17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return this.</a:t>
            </a:r>
            <a:endParaRPr lang="en-US" sz="1700" dirty="0" b="0"/>
          </a:p>
        </p:txBody>
      </p:sp>
      <p:sp>
        <p:nvSpPr>
          <p:cNvPr id="26" name="Bad 2"/>
          <p:cNvSpPr/>
          <p:nvPr/>
        </p:nvSpPr>
        <p:spPr>
          <a:xfrm>
            <a:off x="914400" y="3035808"/>
            <a:ext cx="324612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want change my appointment.</a:t>
            </a:r>
            <a:endParaRPr lang="en-US" sz="1700" dirty="0"/>
          </a:p>
        </p:txBody>
      </p:sp>
      <p:sp>
        <p:nvSpPr>
          <p:cNvPr id="27" name="Good 2"/>
          <p:cNvSpPr/>
          <p:nvPr/>
        </p:nvSpPr>
        <p:spPr>
          <a:xfrm>
            <a:off x="4800600" y="3035808"/>
            <a:ext cx="539496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I'd like 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</a:t>
            </a:r>
            <a:r>
              <a:rPr lang="en-US" sz="17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change my appointment.</a:t>
            </a:r>
            <a:endParaRPr lang="en-US" sz="1700" dirty="0" b="0"/>
          </a:p>
        </p:txBody>
      </p:sp>
      <p:sp>
        <p:nvSpPr>
          <p:cNvPr id="28" name="Bad 3"/>
          <p:cNvSpPr/>
          <p:nvPr/>
        </p:nvSpPr>
        <p:spPr>
          <a:xfrm>
            <a:off x="914400" y="3602736"/>
            <a:ext cx="324612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Could I to exchange it?</a:t>
            </a:r>
            <a:endParaRPr lang="en-US" sz="1700" dirty="0"/>
          </a:p>
        </p:txBody>
      </p:sp>
      <p:sp>
        <p:nvSpPr>
          <p:cNvPr id="29" name="Good 3"/>
          <p:cNvSpPr/>
          <p:nvPr/>
        </p:nvSpPr>
        <p:spPr>
          <a:xfrm>
            <a:off x="4800600" y="3602736"/>
            <a:ext cx="539496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Could I 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exchange</a:t>
            </a:r>
            <a:r>
              <a:rPr lang="en-US" sz="17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it?</a:t>
            </a:r>
            <a:endParaRPr lang="en-US" sz="1700" dirty="0" b="0"/>
          </a:p>
        </p:txBody>
      </p:sp>
      <p:sp>
        <p:nvSpPr>
          <p:cNvPr id="30" name="Bad 4"/>
          <p:cNvSpPr/>
          <p:nvPr/>
        </p:nvSpPr>
        <p:spPr>
          <a:xfrm>
            <a:off x="914400" y="4169664"/>
            <a:ext cx="3246120" cy="7772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It's very small. It doesn't fit.</a:t>
            </a:r>
            <a:endParaRPr lang="en-US" sz="1700" dirty="0"/>
          </a:p>
        </p:txBody>
      </p:sp>
      <p:sp>
        <p:nvSpPr>
          <p:cNvPr id="31" name="Good 4"/>
          <p:cNvSpPr/>
          <p:nvPr/>
        </p:nvSpPr>
        <p:spPr>
          <a:xfrm>
            <a:off x="4800600" y="4169664"/>
            <a:ext cx="5394960" cy="7772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It's 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too</a:t>
            </a:r>
            <a:r>
              <a:rPr lang="en-US" sz="17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small. It doesn't fit.</a:t>
            </a:r>
            <a:endParaRPr lang="en-US" sz="1700" dirty="0" b="0"/>
          </a:p>
        </p:txBody>
      </p:sp>
      <p:sp>
        <p:nvSpPr>
          <p:cNvPr id="32" name="Bad 5"/>
          <p:cNvSpPr/>
          <p:nvPr/>
        </p:nvSpPr>
        <p:spPr>
          <a:xfrm>
            <a:off x="914400" y="5010912"/>
            <a:ext cx="324612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I'd like to a refund.</a:t>
            </a:r>
            <a:endParaRPr lang="en-US" sz="1700" dirty="0"/>
          </a:p>
        </p:txBody>
      </p:sp>
      <p:sp>
        <p:nvSpPr>
          <p:cNvPr id="33" name="Good 5"/>
          <p:cNvSpPr/>
          <p:nvPr/>
        </p:nvSpPr>
        <p:spPr>
          <a:xfrm>
            <a:off x="4800600" y="5010912"/>
            <a:ext cx="539496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I'd like 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</a:t>
            </a:r>
            <a:r>
              <a:rPr lang="en-US" sz="17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refund.</a:t>
            </a:r>
            <a:endParaRPr lang="en-US" sz="1700" dirty="0" b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3:drill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pic>
        <p:nvPicPr>
          <p:cNvPr id="26" name="pic" descr="Return: a person with a box, an arrow back to a stor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4739" y="3680460"/>
            <a:ext cx="3449901" cy="2414930"/>
          </a:xfrm>
          <a:prstGeom prst="rect">
            <a:avLst/>
          </a:prstGeom>
        </p:spPr>
      </p:pic>
      <p:sp>
        <p:nvSpPr>
          <p:cNvPr id="4" name="Shape 2"/>
          <p:cNvSpPr/>
          <p:nvPr/>
        </p:nvSpPr>
        <p:spPr>
          <a:xfrm>
            <a:off x="560984" y="1342842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89788" y="1277417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" name="title"/>
          <p:cNvSpPr/>
          <p:nvPr/>
        </p:nvSpPr>
        <p:spPr>
          <a:xfrm>
            <a:off x="771754" y="141732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Pair Drill</a:t>
            </a:r>
            <a:endParaRPr lang="en-US" sz="4000" dirty="0" b="1"/>
          </a:p>
        </p:txBody>
      </p:sp>
      <p:sp>
        <p:nvSpPr>
          <p:cNvPr id="7" name="Shape 5"/>
          <p:cNvSpPr/>
          <p:nvPr/>
        </p:nvSpPr>
        <p:spPr>
          <a:xfrm>
            <a:off x="6107278" y="1382572"/>
            <a:ext cx="5577840" cy="192024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6107278" y="3714292"/>
            <a:ext cx="5577840" cy="192024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6035040" y="1325880"/>
            <a:ext cx="5577840" cy="192024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6172200" y="1946757"/>
            <a:ext cx="678485" cy="678485"/>
          </a:xfrm>
          <a:prstGeom prst="star32">
            <a:avLst>
              <a:gd name="adj" fmla="val 43755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172200" y="1946757"/>
            <a:ext cx="678485" cy="6784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01</a:t>
            </a:r>
            <a:endParaRPr lang="en-US" sz="2000" dirty="0"/>
          </a:p>
        </p:txBody>
      </p:sp>
      <p:sp>
        <p:nvSpPr>
          <p:cNvPr id="13" name="s1 label"/>
          <p:cNvSpPr/>
          <p:nvPr/>
        </p:nvSpPr>
        <p:spPr>
          <a:xfrm>
            <a:off x="6995160" y="1508760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is the clerk.</a:t>
            </a:r>
            <a:endParaRPr lang="en-US" sz="2200" dirty="0" b="1"/>
          </a:p>
        </p:txBody>
      </p:sp>
      <p:sp>
        <p:nvSpPr>
          <p:cNvPr id="14" name="Shape 12"/>
          <p:cNvSpPr/>
          <p:nvPr/>
        </p:nvSpPr>
        <p:spPr>
          <a:xfrm>
            <a:off x="6035040" y="3657600"/>
            <a:ext cx="5577840" cy="192024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6172200" y="4278477"/>
            <a:ext cx="678485" cy="678485"/>
          </a:xfrm>
          <a:prstGeom prst="star32">
            <a:avLst>
              <a:gd name="adj" fmla="val 4375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172200" y="4278477"/>
            <a:ext cx="678485" cy="6784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02</a:t>
            </a:r>
            <a:endParaRPr lang="en-US" sz="2000" dirty="0"/>
          </a:p>
        </p:txBody>
      </p:sp>
      <p:sp>
        <p:nvSpPr>
          <p:cNvPr id="17" name="s2 label"/>
          <p:cNvSpPr/>
          <p:nvPr/>
        </p:nvSpPr>
        <p:spPr>
          <a:xfrm>
            <a:off x="6995160" y="3840480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 returns something.</a:t>
            </a:r>
            <a:endParaRPr lang="en-US" sz="2200" dirty="0" b="1"/>
          </a:p>
        </p:txBody>
      </p:sp>
      <p:sp>
        <p:nvSpPr>
          <p:cNvPr id="60" name="s1 body"/>
          <p:cNvSpPr/>
          <p:nvPr/>
        </p:nvSpPr>
        <p:spPr>
          <a:xfrm>
            <a:off x="6995160" y="2103120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A:</a:t>
            </a:r>
            <a:r>
              <a:rPr lang="en-US" sz="20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Can I help you?</a:t>
            </a:r>
            <a:endParaRPr lang="en-US" sz="2000" dirty="0" b="0"/>
          </a:p>
        </p:txBody>
      </p:sp>
      <p:sp>
        <p:nvSpPr>
          <p:cNvPr id="70" name="s2 body"/>
          <p:cNvSpPr/>
          <p:nvPr/>
        </p:nvSpPr>
        <p:spPr>
          <a:xfrm>
            <a:off x="6995160" y="4434840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B:</a:t>
            </a:r>
            <a:r>
              <a:rPr lang="en-US" sz="20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I'd like to return…, because…</a:t>
            </a:r>
            <a:endParaRPr lang="en-US" sz="2000" dirty="0" b="0"/>
          </a:p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Then switch roles.</a:t>
            </a:r>
            <a:endParaRPr lang="en-US" sz="2000" dirty="0" b="1"/>
          </a:p>
        </p:txBody>
      </p:sp>
      <p:sp>
        <p:nvSpPr>
          <p:cNvPr id="25" name="sub"/>
          <p:cNvSpPr/>
          <p:nvPr/>
        </p:nvSpPr>
        <p:spPr>
          <a:xfrm>
            <a:off x="771754" y="2148840"/>
            <a:ext cx="4572000" cy="685800"/>
          </a:xfrm>
          <a:prstGeom prst="rect">
            <a:avLst/>
          </a:prstGeom>
          <a:noFill/>
          <a:ln w="38100">
            <a:noFill/>
          </a:ln>
        </p:spPr>
        <p:txBody>
          <a:bodyPr wrap="square" lIns="91440" tIns="36576" rIns="91440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is the clerk. B returns something with a reason.</a:t>
            </a:r>
            <a:endParaRPr lang="en-US" sz="20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3:talk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-171907" y="-142646"/>
            <a:ext cx="5937199" cy="7143293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127000">
            <a:solidFill>
              <a:srgbClr val="F1F5FB"/>
            </a:solidFill>
            <a:prstDash val="solid"/>
          </a:ln>
        </p:spPr>
        <p:txBody>
          <a:bodyPr/>
          <a:p/>
        </p:txBody>
      </p:sp>
      <p:pic>
        <p:nvPicPr>
          <p:cNvPr id="18" name="pic" descr="Store credit: a drawn store credit card &quot;$24.00, Valley Mart&quot; (invented store)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164" y="3418942"/>
            <a:ext cx="3882281" cy="2717597"/>
          </a:xfrm>
          <a:prstGeom prst="rect">
            <a:avLst/>
          </a:prstGeom>
        </p:spPr>
      </p:pic>
      <p:sp>
        <p:nvSpPr>
          <p:cNvPr id="5" name="Shape 3"/>
          <p:cNvSpPr/>
          <p:nvPr/>
        </p:nvSpPr>
        <p:spPr>
          <a:xfrm>
            <a:off x="308610" y="1260546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337414" y="1195121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" name="head"/>
          <p:cNvSpPr/>
          <p:nvPr/>
        </p:nvSpPr>
        <p:spPr>
          <a:xfrm>
            <a:off x="502920" y="1298448"/>
            <a:ext cx="466344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Talk Time</a:t>
            </a:r>
            <a:endParaRPr lang="en-US" sz="4000" dirty="0" b="1"/>
          </a:p>
          <a:p>
            <a:pPr algn="l" indent="0" marL="0">
              <a:spcAft>
                <a:spcPts val="200"/>
              </a:spcAft>
              <a:buNone/>
            </a:pPr>
            <a:r>
              <a:rPr lang="en-US" sz="2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Service Desk</a:t>
            </a:r>
            <a:endParaRPr lang="en-US" sz="2600" dirty="0" b="1"/>
          </a:p>
        </p:txBody>
      </p:sp>
      <p:sp>
        <p:nvSpPr>
          <p:cNvPr id="8" name="grouping"/>
          <p:cNvSpPr/>
          <p:nvPr/>
        </p:nvSpPr>
        <p:spPr>
          <a:xfrm>
            <a:off x="6291072" y="178308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Round 1: pairs.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= clerk. B = customer.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9734702" y="2103120"/>
            <a:ext cx="1992478" cy="0"/>
          </a:xfrm>
          <a:prstGeom prst="line">
            <a:avLst/>
          </a:prstGeom>
          <a:noFill/>
          <a:ln w="6350">
            <a:solidFill>
              <a:srgbClr val="1B2236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9734702" y="2571293"/>
            <a:ext cx="1992478" cy="0"/>
          </a:xfrm>
          <a:prstGeom prst="line">
            <a:avLst/>
          </a:prstGeom>
          <a:noFill/>
          <a:ln w="6350">
            <a:solidFill>
              <a:srgbClr val="1B2236"/>
            </a:solidFill>
            <a:prstDash val="solid"/>
          </a:ln>
        </p:spPr>
        <p:txBody>
          <a:bodyPr/>
          <a:p/>
        </p:txBody>
      </p:sp>
      <p:sp>
        <p:nvSpPr>
          <p:cNvPr id="11" name="time"/>
          <p:cNvSpPr/>
          <p:nvPr/>
        </p:nvSpPr>
        <p:spPr>
          <a:xfrm>
            <a:off x="9784080" y="2130552"/>
            <a:ext cx="1920240" cy="3840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7:00–7:12</a:t>
            </a:r>
            <a:endParaRPr lang="en-US" sz="2000" dirty="0" b="1"/>
          </a:p>
        </p:txBody>
      </p:sp>
      <p:sp>
        <p:nvSpPr>
          <p:cNvPr id="12" name="Shape 10"/>
          <p:cNvSpPr/>
          <p:nvPr/>
        </p:nvSpPr>
        <p:spPr>
          <a:xfrm>
            <a:off x="6416345" y="3198571"/>
            <a:ext cx="5486400" cy="3411626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6291986" y="3071470"/>
            <a:ext cx="5486400" cy="3411626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9" name="Step num 1"/>
          <p:cNvSpPr/>
          <p:nvPr/>
        </p:nvSpPr>
        <p:spPr>
          <a:xfrm>
            <a:off x="6583680" y="3511296"/>
            <a:ext cx="566928" cy="566928"/>
          </a:xfrm>
          <a:prstGeom prst="ellipse">
            <a:avLst/>
          </a:prstGeom>
          <a:solidFill>
            <a:srgbClr val="FFE28C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</a:t>
            </a:r>
            <a:endParaRPr lang="en-US" sz="2200" dirty="0"/>
          </a:p>
        </p:txBody>
      </p:sp>
      <p:sp>
        <p:nvSpPr>
          <p:cNvPr id="20" name="Step 1"/>
          <p:cNvSpPr/>
          <p:nvPr/>
        </p:nvSpPr>
        <p:spPr>
          <a:xfrm>
            <a:off x="7315200" y="3401568"/>
            <a:ext cx="420624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clerk reads the Store Policy Card.</a:t>
            </a:r>
            <a:endParaRPr lang="en-US" sz="1700" dirty="0" b="1"/>
          </a:p>
          <a:p>
            <a:pPr algn="l" indent="0" marL="0">
              <a:buNone/>
            </a:pPr>
            <a:r>
              <a:rPr lang="en-US" sz="1700" dirty="0" b="0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30 days · receipt: refund · no receipt: store credit</a:t>
            </a:r>
            <a:endParaRPr lang="en-US" sz="1700" dirty="0" b="0"/>
          </a:p>
        </p:txBody>
      </p:sp>
      <p:sp>
        <p:nvSpPr>
          <p:cNvPr id="21" name="Step num 2"/>
          <p:cNvSpPr/>
          <p:nvPr/>
        </p:nvSpPr>
        <p:spPr>
          <a:xfrm>
            <a:off x="6583680" y="4489704"/>
            <a:ext cx="566928" cy="566928"/>
          </a:xfrm>
          <a:prstGeom prst="ellipse">
            <a:avLst/>
          </a:prstGeom>
          <a:solidFill>
            <a:srgbClr val="FFE28C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</a:t>
            </a:r>
            <a:endParaRPr lang="en-US" sz="2200" dirty="0"/>
          </a:p>
        </p:txBody>
      </p:sp>
      <p:sp>
        <p:nvSpPr>
          <p:cNvPr id="22" name="Step 2"/>
          <p:cNvSpPr/>
          <p:nvPr/>
        </p:nvSpPr>
        <p:spPr>
          <a:xfrm>
            <a:off x="7315200" y="4379976"/>
            <a:ext cx="420624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customer chooses a card.</a:t>
            </a:r>
            <a:endParaRPr lang="en-US" sz="1700" dirty="0" b="1"/>
          </a:p>
          <a:p>
            <a:pPr algn="l" indent="0" marL="0">
              <a:buNone/>
            </a:pPr>
            <a:r>
              <a:rPr lang="en-US" sz="1700" dirty="0" b="0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Hi. I'd like to return these shoes.</a:t>
            </a:r>
            <a:endParaRPr lang="en-US" sz="1700" dirty="0" b="0"/>
          </a:p>
        </p:txBody>
      </p:sp>
      <p:sp>
        <p:nvSpPr>
          <p:cNvPr id="23" name="Step num 3"/>
          <p:cNvSpPr/>
          <p:nvPr/>
        </p:nvSpPr>
        <p:spPr>
          <a:xfrm>
            <a:off x="6583680" y="5468112"/>
            <a:ext cx="566928" cy="566928"/>
          </a:xfrm>
          <a:prstGeom prst="ellipse">
            <a:avLst/>
          </a:prstGeom>
          <a:solidFill>
            <a:srgbClr val="FFE28C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</a:t>
            </a:r>
            <a:endParaRPr lang="en-US" sz="2200" dirty="0"/>
          </a:p>
        </p:txBody>
      </p:sp>
      <p:sp>
        <p:nvSpPr>
          <p:cNvPr id="24" name="Step 3"/>
          <p:cNvSpPr/>
          <p:nvPr/>
        </p:nvSpPr>
        <p:spPr>
          <a:xfrm>
            <a:off x="7315200" y="5358384"/>
            <a:ext cx="420624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clerk follows the policy. Switch.</a:t>
            </a:r>
            <a:endParaRPr lang="en-US" sz="1700" dirty="0" b="1"/>
          </a:p>
          <a:p>
            <a:pPr algn="l" indent="0" marL="0">
              <a:buNone/>
            </a:pPr>
            <a:r>
              <a:rPr lang="en-US" sz="1700" dirty="0" b="0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 you have the receipt?</a:t>
            </a:r>
            <a:endParaRPr lang="en-US" sz="1700" dirty="0" b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3:talk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-171907" y="-142646"/>
            <a:ext cx="5937199" cy="7143293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127000">
            <a:solidFill>
              <a:srgbClr val="F1F5FB"/>
            </a:solidFill>
            <a:prstDash val="solid"/>
          </a:ln>
        </p:spPr>
        <p:txBody>
          <a:bodyPr/>
          <a:p/>
        </p:txBody>
      </p:sp>
      <p:pic>
        <p:nvPicPr>
          <p:cNvPr id="18" name="pic" descr="Available: three time slots; 4:30 checked green, the others crosse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164" y="3418942"/>
            <a:ext cx="3882281" cy="2717597"/>
          </a:xfrm>
          <a:prstGeom prst="rect">
            <a:avLst/>
          </a:prstGeom>
        </p:spPr>
      </p:pic>
      <p:sp>
        <p:nvSpPr>
          <p:cNvPr id="5" name="Shape 3"/>
          <p:cNvSpPr/>
          <p:nvPr/>
        </p:nvSpPr>
        <p:spPr>
          <a:xfrm>
            <a:off x="308610" y="1260546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337414" y="1195121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" name="head"/>
          <p:cNvSpPr/>
          <p:nvPr/>
        </p:nvSpPr>
        <p:spPr>
          <a:xfrm>
            <a:off x="502920" y="1298448"/>
            <a:ext cx="466344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Talk Time</a:t>
            </a:r>
            <a:endParaRPr lang="en-US" sz="4000" dirty="0" b="1"/>
          </a:p>
          <a:p>
            <a:pPr algn="l" indent="0" marL="0">
              <a:spcAft>
                <a:spcPts val="200"/>
              </a:spcAft>
              <a:buNone/>
            </a:pPr>
            <a:r>
              <a:rPr lang="en-US" sz="2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On the Phone</a:t>
            </a:r>
            <a:endParaRPr lang="en-US" sz="2600" dirty="0" b="1"/>
          </a:p>
        </p:txBody>
      </p:sp>
      <p:sp>
        <p:nvSpPr>
          <p:cNvPr id="8" name="grouping"/>
          <p:cNvSpPr/>
          <p:nvPr/>
        </p:nvSpPr>
        <p:spPr>
          <a:xfrm>
            <a:off x="6291072" y="178308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Round 2: back to back.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 looking.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9734702" y="2103120"/>
            <a:ext cx="1992478" cy="0"/>
          </a:xfrm>
          <a:prstGeom prst="line">
            <a:avLst/>
          </a:prstGeom>
          <a:noFill/>
          <a:ln w="6350">
            <a:solidFill>
              <a:srgbClr val="1B2236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9734702" y="2571293"/>
            <a:ext cx="1992478" cy="0"/>
          </a:xfrm>
          <a:prstGeom prst="line">
            <a:avLst/>
          </a:prstGeom>
          <a:noFill/>
          <a:ln w="6350">
            <a:solidFill>
              <a:srgbClr val="1B2236"/>
            </a:solidFill>
            <a:prstDash val="solid"/>
          </a:ln>
        </p:spPr>
        <p:txBody>
          <a:bodyPr/>
          <a:p/>
        </p:txBody>
      </p:sp>
      <p:sp>
        <p:nvSpPr>
          <p:cNvPr id="11" name="time"/>
          <p:cNvSpPr/>
          <p:nvPr/>
        </p:nvSpPr>
        <p:spPr>
          <a:xfrm>
            <a:off x="9784080" y="2130552"/>
            <a:ext cx="1920240" cy="3840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7:00–7:12</a:t>
            </a:r>
            <a:endParaRPr lang="en-US" sz="2000" dirty="0" b="1"/>
          </a:p>
        </p:txBody>
      </p:sp>
      <p:sp>
        <p:nvSpPr>
          <p:cNvPr id="12" name="Shape 10"/>
          <p:cNvSpPr/>
          <p:nvPr/>
        </p:nvSpPr>
        <p:spPr>
          <a:xfrm>
            <a:off x="6416345" y="3198571"/>
            <a:ext cx="5486400" cy="3411626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6291986" y="3071470"/>
            <a:ext cx="5486400" cy="3411626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9" name="Step num 1"/>
          <p:cNvSpPr/>
          <p:nvPr/>
        </p:nvSpPr>
        <p:spPr>
          <a:xfrm>
            <a:off x="6583680" y="3511296"/>
            <a:ext cx="566928" cy="566928"/>
          </a:xfrm>
          <a:prstGeom prst="ellipse">
            <a:avLst/>
          </a:prstGeom>
          <a:solidFill>
            <a:srgbClr val="FFE28C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</a:t>
            </a:r>
            <a:endParaRPr lang="en-US" sz="2200" dirty="0"/>
          </a:p>
        </p:txBody>
      </p:sp>
      <p:sp>
        <p:nvSpPr>
          <p:cNvPr id="20" name="Step 1"/>
          <p:cNvSpPr/>
          <p:nvPr/>
        </p:nvSpPr>
        <p:spPr>
          <a:xfrm>
            <a:off x="7315200" y="3401568"/>
            <a:ext cx="420624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is the receptionist.</a:t>
            </a:r>
            <a:endParaRPr lang="en-US" sz="1700" dirty="0" b="1"/>
          </a:p>
          <a:p>
            <a:pPr algn="l" indent="0" marL="0">
              <a:buNone/>
            </a:pPr>
            <a:r>
              <a:rPr lang="en-US" sz="1700" dirty="0" b="0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has the open times.</a:t>
            </a:r>
            <a:endParaRPr lang="en-US" sz="1700" dirty="0" b="0"/>
          </a:p>
        </p:txBody>
      </p:sp>
      <p:sp>
        <p:nvSpPr>
          <p:cNvPr id="21" name="Step num 2"/>
          <p:cNvSpPr/>
          <p:nvPr/>
        </p:nvSpPr>
        <p:spPr>
          <a:xfrm>
            <a:off x="6583680" y="4489704"/>
            <a:ext cx="566928" cy="566928"/>
          </a:xfrm>
          <a:prstGeom prst="ellipse">
            <a:avLst/>
          </a:prstGeom>
          <a:solidFill>
            <a:srgbClr val="FFE28C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</a:t>
            </a:r>
            <a:endParaRPr lang="en-US" sz="2200" dirty="0"/>
          </a:p>
        </p:txBody>
      </p:sp>
      <p:sp>
        <p:nvSpPr>
          <p:cNvPr id="22" name="Step 2"/>
          <p:cNvSpPr/>
          <p:nvPr/>
        </p:nvSpPr>
        <p:spPr>
          <a:xfrm>
            <a:off x="7315200" y="4379976"/>
            <a:ext cx="420624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 is the patient. B uses a slip.</a:t>
            </a:r>
            <a:endParaRPr lang="en-US" sz="1700" dirty="0" b="1"/>
          </a:p>
          <a:p>
            <a:pPr algn="l" indent="0" marL="0">
              <a:buNone/>
            </a:pPr>
            <a:r>
              <a:rPr lang="en-US" sz="1700" dirty="0" b="0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I'd like to reschedule my appointment.</a:t>
            </a:r>
            <a:endParaRPr lang="en-US" sz="1700" dirty="0" b="0"/>
          </a:p>
        </p:txBody>
      </p:sp>
      <p:sp>
        <p:nvSpPr>
          <p:cNvPr id="23" name="Step num 3"/>
          <p:cNvSpPr/>
          <p:nvPr/>
        </p:nvSpPr>
        <p:spPr>
          <a:xfrm>
            <a:off x="6583680" y="5468112"/>
            <a:ext cx="566928" cy="566928"/>
          </a:xfrm>
          <a:prstGeom prst="ellipse">
            <a:avLst/>
          </a:prstGeom>
          <a:solidFill>
            <a:srgbClr val="FFE28C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</a:t>
            </a:r>
            <a:endParaRPr lang="en-US" sz="2200" dirty="0"/>
          </a:p>
        </p:txBody>
      </p:sp>
      <p:sp>
        <p:nvSpPr>
          <p:cNvPr id="24" name="Step 3"/>
          <p:cNvSpPr/>
          <p:nvPr/>
        </p:nvSpPr>
        <p:spPr>
          <a:xfrm>
            <a:off x="7315200" y="5358384"/>
            <a:ext cx="420624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offers a time. Then switch.</a:t>
            </a:r>
            <a:endParaRPr lang="en-US" sz="1700" dirty="0" b="1"/>
          </a:p>
          <a:p>
            <a:pPr algn="l" indent="0" marL="0">
              <a:buNone/>
            </a:pPr>
            <a:r>
              <a:rPr lang="en-US" sz="1700" dirty="0" b="0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Yes, Wednesday at 3:00 is available.</a:t>
            </a:r>
            <a:endParaRPr lang="en-US" sz="1700" dirty="0" b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3:go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544982" y="786384"/>
            <a:ext cx="5486400" cy="5731459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4147718" y="2196389"/>
            <a:ext cx="7699248" cy="416052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3992270" y="1937614"/>
            <a:ext cx="7699248" cy="416052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" name="title"/>
          <p:cNvSpPr/>
          <p:nvPr/>
        </p:nvSpPr>
        <p:spPr>
          <a:xfrm>
            <a:off x="4343400" y="2103120"/>
            <a:ext cx="7315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Before You Go   </a:t>
            </a: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7:12–7:17</a:t>
            </a:r>
            <a:endParaRPr lang="en-US" sz="4000" dirty="0"/>
          </a:p>
        </p:txBody>
      </p:sp>
      <p:pic>
        <p:nvPicPr>
          <p:cNvPr id="16" name="pic" descr="Cancel: a drawn calendar with an appointment crossed ou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2651760"/>
            <a:ext cx="3017520" cy="2112264"/>
          </a:xfrm>
          <a:prstGeom prst="rect">
            <a:avLst/>
          </a:prstGeom>
        </p:spPr>
      </p:pic>
      <p:sp>
        <p:nvSpPr>
          <p:cNvPr id="17" name="Num 01"/>
          <p:cNvSpPr/>
          <p:nvPr/>
        </p:nvSpPr>
        <p:spPr>
          <a:xfrm>
            <a:off x="4343400" y="2971800"/>
            <a:ext cx="7315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3000" dirty="0" b="1">
                <a:solidFill>
                  <a:srgbClr val="8FAFE3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01</a:t>
            </a:r>
            <a:endParaRPr lang="en-US" sz="3000" dirty="0"/>
          </a:p>
        </p:txBody>
      </p:sp>
      <p:sp>
        <p:nvSpPr>
          <p:cNvPr id="18" name="Label 01"/>
          <p:cNvSpPr/>
          <p:nvPr/>
        </p:nvSpPr>
        <p:spPr>
          <a:xfrm>
            <a:off x="5120640" y="2971800"/>
            <a:ext cx="265176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Exit ticket</a:t>
            </a:r>
            <a:endParaRPr lang="en-US" sz="2200" dirty="0" b="1"/>
          </a:p>
        </p:txBody>
      </p:sp>
      <p:sp>
        <p:nvSpPr>
          <p:cNvPr id="19" name="Body 01"/>
          <p:cNvSpPr/>
          <p:nvPr/>
        </p:nvSpPr>
        <p:spPr>
          <a:xfrm>
            <a:off x="4343400" y="3520440"/>
            <a:ext cx="3520440" cy="24688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Write two sentences:</a:t>
            </a:r>
            <a:endParaRPr lang="en-US" sz="1700" dirty="0" b="1"/>
          </a:p>
          <a:p>
            <a:pPr algn="l" indent="0" marL="0">
              <a:spcAft>
                <a:spcPts val="200"/>
              </a:spcAft>
              <a:buNone/>
            </a:pPr>
            <a:r>
              <a:rPr lang="en-US" sz="17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1. I'd like to… and a reason with because:</a:t>
            </a:r>
            <a:endParaRPr lang="en-US" sz="1700" dirty="0" b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7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I'd like to exchange this shirt, because it has a stain.</a:t>
            </a:r>
            <a:endParaRPr lang="en-US" sz="1700" dirty="0" b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7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2. A polite question with Could I or May I.</a:t>
            </a:r>
            <a:endParaRPr lang="en-US" sz="1700" dirty="0" b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7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Give it to me at the door.</a:t>
            </a:r>
            <a:endParaRPr lang="en-US" sz="1700" dirty="0" b="0"/>
          </a:p>
        </p:txBody>
      </p:sp>
      <p:sp>
        <p:nvSpPr>
          <p:cNvPr id="20" name="Num 02"/>
          <p:cNvSpPr/>
          <p:nvPr/>
        </p:nvSpPr>
        <p:spPr>
          <a:xfrm>
            <a:off x="8001000" y="2971800"/>
            <a:ext cx="7315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3000" dirty="0" b="1">
                <a:solidFill>
                  <a:srgbClr val="8FAFE3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02</a:t>
            </a:r>
            <a:endParaRPr lang="en-US" sz="3000" dirty="0"/>
          </a:p>
        </p:txBody>
      </p:sp>
      <p:sp>
        <p:nvSpPr>
          <p:cNvPr id="21" name="Label 02"/>
          <p:cNvSpPr/>
          <p:nvPr/>
        </p:nvSpPr>
        <p:spPr>
          <a:xfrm>
            <a:off x="8778240" y="2971800"/>
            <a:ext cx="265176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Homework</a:t>
            </a:r>
            <a:endParaRPr lang="en-US" sz="2200" dirty="0" b="1"/>
          </a:p>
        </p:txBody>
      </p:sp>
      <p:sp>
        <p:nvSpPr>
          <p:cNvPr id="22" name="Body 02"/>
          <p:cNvSpPr/>
          <p:nvPr/>
        </p:nvSpPr>
        <p:spPr>
          <a:xfrm>
            <a:off x="8001000" y="3520440"/>
            <a:ext cx="3657600" cy="24688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About 15 minutes.</a:t>
            </a:r>
            <a:endParaRPr lang="en-US" sz="1700" dirty="0" b="1"/>
          </a:p>
          <a:p>
            <a:pPr algn="l" indent="0" marL="0">
              <a:spcAft>
                <a:spcPts val="200"/>
              </a:spcAft>
              <a:buNone/>
            </a:pPr>
            <a:r>
              <a:rPr lang="en-US" sz="17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1. Write I'd like to… + because.</a:t>
            </a:r>
            <a:endParaRPr lang="en-US" sz="1700" dirty="0" b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7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2. Write like or like to.</a:t>
            </a:r>
            <a:endParaRPr lang="en-US" sz="1700" dirty="0" b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7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3. Finish the phone call.</a:t>
            </a:r>
            <a:endParaRPr lang="en-US" sz="1700" dirty="0" b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7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4. Review: 2 sentences with If…, I'll….</a:t>
            </a:r>
            <a:endParaRPr lang="en-US" sz="1700" dirty="0" b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Next week: the midterm review!</a:t>
            </a:r>
            <a:endParaRPr lang="en-US" sz="1700" dirty="0" b="1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3:progress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 flipH="1" flipV="1">
            <a:off x="8060436" y="1132027"/>
            <a:ext cx="4274820" cy="586039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8126273" y="1165860"/>
            <a:ext cx="4132174" cy="512064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2" name="ican"/>
          <p:cNvSpPr/>
          <p:nvPr/>
        </p:nvSpPr>
        <p:spPr>
          <a:xfrm>
            <a:off x="8503920" y="1280160"/>
            <a:ext cx="3429000" cy="493776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D. I can…</a:t>
            </a:r>
            <a:endParaRPr lang="en-US" sz="2400" dirty="0" b="1"/>
          </a:p>
          <a:p>
            <a:pPr algn="ctr" indent="0" marL="0">
              <a:buNone/>
            </a:pPr>
            <a:r>
              <a:rPr lang="en-US" sz="32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😀   🙂   😐</a:t>
            </a:r>
            <a:endParaRPr lang="en-US" sz="3200" dirty="0" b="0"/>
          </a:p>
          <a:p>
            <a:pPr algn="ctr" indent="0" marL="0">
              <a:buNone/>
            </a:pPr>
            <a:r>
              <a:rPr lang="en-US" sz="18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Check one face.</a:t>
            </a:r>
            <a:endParaRPr lang="en-US" sz="1800" dirty="0" b="0"/>
          </a:p>
          <a:p>
            <a:pPr algn="ctr" indent="0" marL="0">
              <a:spcBef>
                <a:spcPts val="900"/>
              </a:spcBef>
              <a:buNone/>
            </a:pP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can say I'd like to return / exchange this.</a:t>
            </a:r>
            <a:endParaRPr lang="en-US" sz="1600" dirty="0" b="0"/>
          </a:p>
          <a:p>
            <a:pPr algn="ctr" indent="0" marL="0">
              <a:spcBef>
                <a:spcPts val="900"/>
              </a:spcBef>
              <a:buNone/>
            </a:pP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can give a reason.</a:t>
            </a:r>
            <a:endParaRPr lang="en-US" sz="1600" dirty="0" b="0"/>
          </a:p>
          <a:p>
            <a:pPr algn="ctr" indent="0" marL="0">
              <a:spcBef>
                <a:spcPts val="900"/>
              </a:spcBef>
              <a:buNone/>
            </a:pP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can ask for permission with Could I / May I…?</a:t>
            </a:r>
            <a:endParaRPr lang="en-US" sz="1600" dirty="0" b="0"/>
          </a:p>
          <a:p>
            <a:pPr algn="ctr" indent="0" marL="0">
              <a:spcBef>
                <a:spcPts val="900"/>
              </a:spcBef>
              <a:buNone/>
            </a:pP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can change or cancel an appointment.</a:t>
            </a:r>
            <a:endParaRPr lang="en-US" sz="1600" dirty="0" b="0"/>
          </a:p>
        </p:txBody>
      </p:sp>
      <p:sp>
        <p:nvSpPr>
          <p:cNvPr id="5" name="Shape 3"/>
          <p:cNvSpPr/>
          <p:nvPr/>
        </p:nvSpPr>
        <p:spPr>
          <a:xfrm flipH="1">
            <a:off x="501091" y="3255264"/>
            <a:ext cx="5577840" cy="3258921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 flipH="1">
            <a:off x="6400800" y="3263494"/>
            <a:ext cx="1828800" cy="3258921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479328" y="885322"/>
            <a:ext cx="7295083" cy="1566367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522122" y="821131"/>
            <a:ext cx="7295083" cy="1566367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 flipH="1">
            <a:off x="658368" y="3063240"/>
            <a:ext cx="5669280" cy="3258921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 flipH="1">
            <a:off x="6537960" y="3063240"/>
            <a:ext cx="1828800" cy="3258921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1" name="title"/>
          <p:cNvSpPr/>
          <p:nvPr/>
        </p:nvSpPr>
        <p:spPr>
          <a:xfrm>
            <a:off x="608076" y="1188720"/>
            <a:ext cx="69494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Progress Check   </a:t>
            </a:r>
            <a:r>
              <a:rPr lang="en-US" sz="24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7:25</a:t>
            </a:r>
            <a:endParaRPr lang="en-US" sz="4300" dirty="0"/>
          </a:p>
        </p:txBody>
      </p:sp>
      <p:sp>
        <p:nvSpPr>
          <p:cNvPr id="22" name="A head"/>
          <p:cNvSpPr/>
          <p:nvPr/>
        </p:nvSpPr>
        <p:spPr>
          <a:xfrm>
            <a:off x="914400" y="3246120"/>
            <a:ext cx="530352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A. Listen to the teacher. Circle a or b.</a:t>
            </a:r>
            <a:endParaRPr lang="en-US" sz="1800" dirty="0" b="1"/>
          </a:p>
        </p:txBody>
      </p:sp>
      <p:sp>
        <p:nvSpPr>
          <p:cNvPr id="23" name="Ans head"/>
          <p:cNvSpPr/>
          <p:nvPr/>
        </p:nvSpPr>
        <p:spPr>
          <a:xfrm>
            <a:off x="6766560" y="3246120"/>
            <a:ext cx="155448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E6B45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Answer</a:t>
            </a:r>
            <a:endParaRPr lang="en-US" sz="2000" dirty="0" b="1"/>
          </a:p>
        </p:txBody>
      </p:sp>
      <p:sp>
        <p:nvSpPr>
          <p:cNvPr id="63" name="Bad 1"/>
          <p:cNvSpPr/>
          <p:nvPr/>
        </p:nvSpPr>
        <p:spPr>
          <a:xfrm>
            <a:off x="868680" y="3840480"/>
            <a:ext cx="5440680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1. </a:t>
            </a:r>
            <a:r>
              <a:rPr lang="en-US" sz="17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a. return   b. exchange</a:t>
            </a:r>
            <a:endParaRPr lang="en-US" sz="1700" dirty="0" b="1"/>
          </a:p>
        </p:txBody>
      </p:sp>
      <p:sp>
        <p:nvSpPr>
          <p:cNvPr id="64" name="Good 1"/>
          <p:cNvSpPr/>
          <p:nvPr/>
        </p:nvSpPr>
        <p:spPr>
          <a:xfrm>
            <a:off x="6766560" y="3840480"/>
            <a:ext cx="1463040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</a:t>
            </a:r>
            <a:endParaRPr lang="en-US" sz="2000" dirty="0" b="1"/>
          </a:p>
        </p:txBody>
      </p:sp>
      <p:sp>
        <p:nvSpPr>
          <p:cNvPr id="65" name="Bad 2"/>
          <p:cNvSpPr/>
          <p:nvPr/>
        </p:nvSpPr>
        <p:spPr>
          <a:xfrm>
            <a:off x="868680" y="4407408"/>
            <a:ext cx="5440680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2. </a:t>
            </a:r>
            <a:r>
              <a:rPr lang="en-US" sz="17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a. return   b. exchange</a:t>
            </a:r>
            <a:endParaRPr lang="en-US" sz="1700" dirty="0" b="1"/>
          </a:p>
        </p:txBody>
      </p:sp>
      <p:sp>
        <p:nvSpPr>
          <p:cNvPr id="66" name="Good 2"/>
          <p:cNvSpPr/>
          <p:nvPr/>
        </p:nvSpPr>
        <p:spPr>
          <a:xfrm>
            <a:off x="6766560" y="4407408"/>
            <a:ext cx="1463040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</a:t>
            </a:r>
            <a:endParaRPr lang="en-US" sz="2000" dirty="0" b="1"/>
          </a:p>
        </p:txBody>
      </p:sp>
      <p:sp>
        <p:nvSpPr>
          <p:cNvPr id="67" name="Bad 3"/>
          <p:cNvSpPr/>
          <p:nvPr/>
        </p:nvSpPr>
        <p:spPr>
          <a:xfrm>
            <a:off x="868680" y="4974336"/>
            <a:ext cx="5440680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3. </a:t>
            </a:r>
            <a:r>
              <a:rPr lang="en-US" sz="17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a. cancel   b. reschedule</a:t>
            </a:r>
            <a:endParaRPr lang="en-US" sz="1700" dirty="0" b="1"/>
          </a:p>
        </p:txBody>
      </p:sp>
      <p:sp>
        <p:nvSpPr>
          <p:cNvPr id="68" name="Good 3"/>
          <p:cNvSpPr/>
          <p:nvPr/>
        </p:nvSpPr>
        <p:spPr>
          <a:xfrm>
            <a:off x="6766560" y="4974336"/>
            <a:ext cx="1463040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</a:t>
            </a:r>
            <a:endParaRPr lang="en-US" sz="2000" dirty="0" b="1"/>
          </a:p>
        </p:txBody>
      </p:sp>
      <p:sp>
        <p:nvSpPr>
          <p:cNvPr id="69" name="Bad 4"/>
          <p:cNvSpPr/>
          <p:nvPr/>
        </p:nvSpPr>
        <p:spPr>
          <a:xfrm>
            <a:off x="868680" y="5541264"/>
            <a:ext cx="5440680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4. </a:t>
            </a:r>
            <a:r>
              <a:rPr lang="en-US" sz="17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a. cancel   b. reschedule</a:t>
            </a:r>
            <a:endParaRPr lang="en-US" sz="1700" dirty="0" b="1"/>
          </a:p>
        </p:txBody>
      </p:sp>
      <p:sp>
        <p:nvSpPr>
          <p:cNvPr id="70" name="Good 4"/>
          <p:cNvSpPr/>
          <p:nvPr/>
        </p:nvSpPr>
        <p:spPr>
          <a:xfrm>
            <a:off x="6766560" y="5541264"/>
            <a:ext cx="1463040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</a:t>
            </a:r>
            <a:endParaRPr lang="en-US" sz="20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3:goodby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7223760" y="914400"/>
            <a:ext cx="4480560" cy="512064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pic>
        <p:nvPicPr>
          <p:cNvPr id="4" name="pic" descr="Refund: money, an arrow to a hand, label &quot;money back&quot;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80" y="1664208"/>
            <a:ext cx="3474720" cy="2432304"/>
          </a:xfrm>
          <a:prstGeom prst="rect">
            <a:avLst/>
          </a:prstGeom>
        </p:spPr>
      </p:pic>
      <p:sp>
        <p:nvSpPr>
          <p:cNvPr id="5" name="lesson"/>
          <p:cNvSpPr/>
          <p:nvPr/>
        </p:nvSpPr>
        <p:spPr>
          <a:xfrm>
            <a:off x="7635240" y="443484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Lesson 7  ·  Level 3</a:t>
            </a:r>
            <a:endParaRPr lang="en-US" sz="2200" b="1" dirty="0"/>
          </a:p>
        </p:txBody>
      </p:sp>
      <p:sp>
        <p:nvSpPr>
          <p:cNvPr id="6" name="Shape 3"/>
          <p:cNvSpPr/>
          <p:nvPr/>
        </p:nvSpPr>
        <p:spPr>
          <a:xfrm>
            <a:off x="661111" y="1146658"/>
            <a:ext cx="6035040" cy="246888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4"/>
          <p:cNvSpPr/>
          <p:nvPr/>
        </p:nvSpPr>
        <p:spPr>
          <a:xfrm>
            <a:off x="685800" y="1097280"/>
            <a:ext cx="6035040" cy="24688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itle"/>
          <p:cNvSpPr/>
          <p:nvPr/>
        </p:nvSpPr>
        <p:spPr>
          <a:xfrm>
            <a:off x="868680" y="1325880"/>
            <a:ext cx="58064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44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Goodbye! See You Next Week!</a:t>
            </a:r>
            <a:endParaRPr lang="en-US" sz="4400" b="1" dirty="0"/>
          </a:p>
        </p:txBody>
      </p:sp>
      <p:sp>
        <p:nvSpPr>
          <p:cNvPr id="9" name="lead"/>
          <p:cNvSpPr/>
          <p:nvPr/>
        </p:nvSpPr>
        <p:spPr>
          <a:xfrm>
            <a:off x="777240" y="3977640"/>
            <a:ext cx="58521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Now you can:</a:t>
            </a:r>
            <a:endParaRPr lang="en-US" sz="2400" b="1" dirty="0"/>
          </a:p>
        </p:txBody>
      </p:sp>
      <p:sp>
        <p:nvSpPr>
          <p:cNvPr id="10" name="bullets"/>
          <p:cNvSpPr/>
          <p:nvPr/>
        </p:nvSpPr>
        <p:spPr>
          <a:xfrm>
            <a:off x="777240" y="4480560"/>
            <a:ext cx="603504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Say I'd like to return / exchange this</a:t>
            </a:r>
            <a:endParaRPr lang="en-US" sz="2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Ask Could I / May I…?</a:t>
            </a:r>
            <a:endParaRPr lang="en-US" sz="2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Change or cancel an appointment</a:t>
            </a:r>
            <a:endParaRPr lang="en-US" sz="22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3:credits">
    <p:bg>
      <p:bgPr>
        <a:solidFill>
          <a:srgbClr val="C9B8F2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DCE6F5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0" y="1371600"/>
            <a:ext cx="12191695" cy="548640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18465" y="431597"/>
            <a:ext cx="5361127" cy="159562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50469" y="365760"/>
            <a:ext cx="5361127" cy="159562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" name="title"/>
          <p:cNvSpPr/>
          <p:nvPr/>
        </p:nvSpPr>
        <p:spPr>
          <a:xfrm>
            <a:off x="674827" y="640080"/>
            <a:ext cx="5120640" cy="102412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en-US" sz="5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Credits</a:t>
            </a:r>
            <a:endParaRPr lang="en-US" sz="5400" dirty="0"/>
          </a:p>
        </p:txBody>
      </p:sp>
      <p:sp>
        <p:nvSpPr>
          <p:cNvPr id="15" name="pictures"/>
          <p:cNvSpPr/>
          <p:nvPr/>
        </p:nvSpPr>
        <p:spPr>
          <a:xfrm>
            <a:off x="411480" y="2240280"/>
            <a:ext cx="11365992" cy="22402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274320" tIns="36576" rIns="274320" bIns="36576" rtlCol="0" anchor="ctr">
            <a:noAutofit/>
          </a:bodyPr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Pictures</a:t>
            </a:r>
            <a:endParaRPr lang="en-US" sz="2000" dirty="0" b="1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Vocabulary pictures use Twemoji graphics by Twitter, Inc. and other contributors (https://github.com/jdecked/twemoji), licensed under CC BY 4.0 (https://creativecommons.org/licenses/by/4.0/). The graphics were resized and combined, and speech bubbles, signs, and labels were added.</a:t>
            </a:r>
            <a:endParaRPr lang="en-US" sz="1600" dirty="0" b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faces on the Progress Check are standard emoji characters shown with the computer's emoji font.</a:t>
            </a:r>
            <a:endParaRPr lang="en-US" sz="1600" dirty="0" b="0"/>
          </a:p>
        </p:txBody>
      </p:sp>
      <p:sp>
        <p:nvSpPr>
          <p:cNvPr id="16" name="names"/>
          <p:cNvSpPr/>
          <p:nvPr/>
        </p:nvSpPr>
        <p:spPr>
          <a:xfrm>
            <a:off x="411480" y="4709160"/>
            <a:ext cx="4206240" cy="17830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274320" tIns="36576" rIns="274320" bIns="36576" rtlCol="0" anchor="ctr">
            <a:noAutofit/>
          </a:bodyPr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Names and story</a:t>
            </a:r>
            <a:endParaRPr lang="en-US" sz="2000" dirty="0" b="1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Lina, Valley Mart, and Valley Eye Center are invented names. The listening story is invented.</a:t>
            </a:r>
            <a:endParaRPr lang="en-US" sz="1600" dirty="0" b="0"/>
          </a:p>
        </p:txBody>
      </p:sp>
      <p:sp>
        <p:nvSpPr>
          <p:cNvPr id="17" name="audio"/>
          <p:cNvSpPr/>
          <p:nvPr/>
        </p:nvSpPr>
        <p:spPr>
          <a:xfrm>
            <a:off x="4846320" y="4709160"/>
            <a:ext cx="6931152" cy="17830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274320" tIns="36576" rIns="274320" bIns="36576" rtlCol="0" anchor="ctr">
            <a:noAutofit/>
          </a:bodyPr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Audio and font</a:t>
            </a:r>
            <a:endParaRPr lang="en-US" sz="2000" dirty="0" b="1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Audio (coming soon): synthetic voices made with Chatterbox TTS (MIT License), cloned from short synthetic reference clips made with Kokoro-82M (Apache License 2.0). No recordings of real people. Each file will carry an inaudible Perth watermark marking it as AI-generated. Font: Lexend Deca (OFL 1.1).</a:t>
            </a:r>
            <a:endParaRPr lang="en-US" sz="1350" dirty="0" b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© 2026 the authors. The authors license this deck under CC BY-NC-SA 4.0.</a:t>
            </a:r>
            <a:endParaRPr lang="en-US" sz="1350" dirty="0" b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Level 3 Lesson 7: Can I Exchange This?</dc:title>
  <dc:subject>PptxGenJS Presentation</dc:subject>
  <dc:creator>Level 1 ESL</dc:creator>
  <cp:lastModifiedBy>Level 1 ESL</cp:lastModifiedBy>
  <cp:revision>1</cp:revision>
  <dcterms:created xsi:type="dcterms:W3CDTF">2026-10-15T20:54:31Z</dcterms:created>
  <dcterms:modified xsi:type="dcterms:W3CDTF">2026-10-15T20:54:31Z</dcterms:modified>
</cp:coreProperties>
</file>