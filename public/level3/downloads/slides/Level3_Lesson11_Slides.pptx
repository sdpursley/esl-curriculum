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521" r:id="rId31"/>
    <p:sldId id="522" r:id="rId33"/>
    <p:sldId id="523" r:id="rId34"/>
    <p:sldId id="524" r:id="rId35"/>
    <p:sldId id="525" r:id="rId36"/>
    <p:sldId id="526" r:id="rId30"/>
    <p:sldId id="527" r:id="rId29"/>
    <p:sldId id="528" r:id="rId28"/>
    <p:sldId id="529" r:id="rId27"/>
    <p:sldId id="530" r:id="rId20"/>
    <p:sldId id="531" r:id="rId18"/>
    <p:sldId id="532" r:id="rId17"/>
    <p:sldId id="533" r:id="rId16"/>
    <p:sldId id="534" r:id="rId14"/>
    <p:sldId id="535" r:id="rId13"/>
    <p:sldId id="536" r:id="rId12"/>
    <p:sldId id="537" r:id="rId11"/>
    <p:sldId id="538" r:id="rId10"/>
    <p:sldId id="539" r:id="rId8"/>
    <p:sldId id="540" r:id="rId7"/>
    <p:sldId id="541" r:id="rId6"/>
    <p:sldId id="542" r:id="rId5"/>
    <p:sldId id="543" r:id="rId4"/>
    <p:sldId id="544" r:id="rId3"/>
    <p:sldId id="545" r:id="rId2"/>
    <p:sldId id="546" r:id="rId5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0.xml"/><Relationship Id="rId3" Type="http://schemas.openxmlformats.org/officeDocument/2006/relationships/slide" Target="slides/slide49.xml"/><Relationship Id="rId4" Type="http://schemas.openxmlformats.org/officeDocument/2006/relationships/slide" Target="slides/slide48.xml"/><Relationship Id="rId5" Type="http://schemas.openxmlformats.org/officeDocument/2006/relationships/slide" Target="slides/slide47.xml"/><Relationship Id="rId6" Type="http://schemas.openxmlformats.org/officeDocument/2006/relationships/slide" Target="slides/slide46.xml"/><Relationship Id="rId7" Type="http://schemas.openxmlformats.org/officeDocument/2006/relationships/slide" Target="slides/slide45.xml"/><Relationship Id="rId8" Type="http://schemas.openxmlformats.org/officeDocument/2006/relationships/slide" Target="slides/slide44.xml"/><Relationship Id="rId10" Type="http://schemas.openxmlformats.org/officeDocument/2006/relationships/slide" Target="slides/slide43.xml"/><Relationship Id="rId11" Type="http://schemas.openxmlformats.org/officeDocument/2006/relationships/slide" Target="slides/slide42.xml"/><Relationship Id="rId12" Type="http://schemas.openxmlformats.org/officeDocument/2006/relationships/slide" Target="slides/slide41.xml"/><Relationship Id="rId13" Type="http://schemas.openxmlformats.org/officeDocument/2006/relationships/slide" Target="slides/slide40.xml"/><Relationship Id="rId14" Type="http://schemas.openxmlformats.org/officeDocument/2006/relationships/slide" Target="slides/slide39.xml"/><Relationship Id="rId16" Type="http://schemas.openxmlformats.org/officeDocument/2006/relationships/slide" Target="slides/slide38.xml"/><Relationship Id="rId17" Type="http://schemas.openxmlformats.org/officeDocument/2006/relationships/slide" Target="slides/slide37.xml"/><Relationship Id="rId18" Type="http://schemas.openxmlformats.org/officeDocument/2006/relationships/slide" Target="slides/slide36.xml"/><Relationship Id="rId20" Type="http://schemas.openxmlformats.org/officeDocument/2006/relationships/slide" Target="slides/slide3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4.xml"/><Relationship Id="rId28" Type="http://schemas.openxmlformats.org/officeDocument/2006/relationships/slide" Target="slides/slide33.xml"/><Relationship Id="rId29" Type="http://schemas.openxmlformats.org/officeDocument/2006/relationships/slide" Target="slides/slide32.xml"/><Relationship Id="rId30" Type="http://schemas.openxmlformats.org/officeDocument/2006/relationships/slide" Target="slides/slide31.xml"/><Relationship Id="rId31"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"How was the class tonight?" and wait for an -ing or -ed answer.</a:t>
            </a:r>
          </a:p>
          <a:p>
            <a:r>
              <a:t>Remind learners: homework is about 15 minutes. Bring it next week.</a:t>
            </a:r>
          </a:p>
          <a:p>
            <a:r>
              <a:t>Lesson plan: At a glance: Objectives; Step 6.</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Check · 7:25–7:30 · 5 min. Individuals. Open the Progress Check page.</a:t>
            </a:r>
          </a:p>
          <a:p>
            <a:r>
              <a:t>Part A: read each sentence slowly, 2 times. Learners circle a or b. Then click to show the answer (one click per item, 1 to 4).</a:t>
            </a:r>
          </a:p>
          <a:p>
            <a:r>
              <a:t>Say: 1 "The concert was boring." (a) • 2 "I was surprised." (b) • 3 "The museum was interesting." (a) • 4 "We were tired, so we left." (b)</a:t>
            </a:r>
          </a:p>
          <a:p>
            <a:r>
              <a:t>Parts B and C: learners do them alone. Walk around and help with the instructions only. B answers: 1 exciting, 2 bored, 3 confusing, 4 relaxed. C: answers will vary (for example The festival was exciting. I was excited. / I thought it was boring, so I left early.).</a:t>
            </a:r>
          </a:p>
          <a:p>
            <a:r>
              <a:t>Part D: read each "I can…" line aloud and point to the 3 faces: 😀 "I can do it." 🙂 "With a little help." 😐 "Not yet."</a:t>
            </a:r>
          </a:p>
          <a:p>
            <a:r>
              <a:t>Scoring: A /4 + B /4 + C /2 = /10. This is not a test grade. It shows who needs more help hearing the endings (A) and choosing -ing / -ed (B, C).</a:t>
            </a:r>
          </a:p>
          <a:p>
            <a:r>
              <a:t>Collect the pages (or check them at the start of Week 13). If behind: do the Progress Check in Week 13 at 6:00, while learners arrive.</a:t>
            </a:r>
          </a:p>
          <a:p>
            <a:r>
              <a:t>Lesson plan: Progress Check step; Progress Check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7:12–7:17 · Exit Ticket + Homework · 5 min · NEVER SKIP.</a:t>
            </a:r>
          </a:p>
          <a:p>
            <a:r>
              <a:t>Exit ticket: each learner writes two sentences on a slip: one with -ing and one with -ed about the same event, and a reason with because or so (The concert was exciting, so I was excited all night.). Collect at the door.</a:t>
            </a:r>
          </a:p>
          <a:p>
            <a:r>
              <a:t>Homework: open the Homework page. Do item 1 together (one sentence on the board). Say: "About 15 minutes. Bring it next week."</a:t>
            </a:r>
          </a:p>
          <a:p>
            <a:r>
              <a:t>Homework items: 1 write the sentence with -ing or -ed • 2 an event, a movie, or a game from this month: 3 sentences (how it was, how you felt, and why) • 3 ask a family member or a coworker: What was the best event or movie this year? Why? • 4 review (Lesson 10): 3 steps for making a cup of coffee or tea with First, Then, Finally.</a:t>
            </a:r>
          </a:p>
          <a:p>
            <a:r>
              <a:t>Read &amp; Write (7:17–7:25, on the Student Pages): three short reviews; questions 1–5; then a 3–4 sentence review with 1–5 stars and one reason. If behind: questions 1–5 only; the review becomes homework.</a:t>
            </a:r>
          </a:p>
          <a:p>
            <a:r>
              <a:t>Lesson plan: Step 6; Homework page; Read &amp; Write step.</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groups (4 min): each group chooses "the best weekend event" for the class bulletin board and agrees on two reasons (It was exciting, and it was free.). One person reports to the class. Each click shows the next step.</a:t>
            </a:r>
          </a:p>
          <a:p>
            <a:r>
              <a:t>Mixed levels: stronger learners add a second reason and a recommendation (You should go!). Newer learners use Boxes 1 and 2 as a script.</a:t>
            </a:r>
          </a:p>
          <a:p>
            <a:r>
              <a:t>If behind: Round 1 only.</a:t>
            </a:r>
          </a:p>
          <a:p>
            <a:r>
              <a:t>Lesson plan: Step 5; Talk Time page: Round 2; Teacher notes: Mixed levels.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7:00–7:12 · Talk Time: Star Ratings · 12 min.</a:t>
            </a:r>
          </a:p>
          <a:p>
            <a:r>
              <a:t>Round 1 (7 min): each learner chooses an event card (1–6) or a real event (a TV show or a sports game is fine). A tells B about it: how it was, how they felt, and one reason. B asks two follow-up questions and gives it 1–5 stars in the table. Switch. Each click shows the next step.</a:t>
            </a:r>
          </a:p>
          <a:p>
            <a:r>
              <a:t>Model with one learner (1 min): "Last Saturday, I went to the Fall Fair. It was exciting, but the lines were long, so I was tired." The learner asks: "Who did you go with? Was the food good?" → "4 stars!"</a:t>
            </a:r>
          </a:p>
          <a:p>
            <a:r>
              <a:t>General events only (important): use community events, TV, movies, or sports. Learners never have to share where they spend their money or free time; the event cards are always an option.</a:t>
            </a:r>
          </a:p>
          <a:p>
            <a:r>
              <a:t>Lesson plan: Step 5; Talk Time page.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drill (last 2 min of Step 4). Pairs.</a:t>
            </a:r>
          </a:p>
          <a:p>
            <a:r>
              <a:t>A asks "How was your weekend?" B answers with one -ing and one -ed word (It was relaxing. I was relaxed.). Switch.</a:t>
            </a:r>
          </a:p>
          <a:p>
            <a:r>
              <a:t>If behind: skip the pair drill. Talk Time practices it.</a:t>
            </a:r>
          </a:p>
          <a:p>
            <a:r>
              <a:t>Lesson plan: Step 4: Pair drill.</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(never skip this table). Read a line from Don't say. Ask: "What's the right way?" Learners try first. Then click to show the right form. Each click shows one line, in order 1 to 4.</a:t>
            </a:r>
          </a:p>
          <a:p>
            <a:r>
              <a:t>1 and 3: the person's feeling = -ed • 2: the thing = -ing • 4: I thought it was… needs it. Also listen for It was excited.</a:t>
            </a:r>
          </a:p>
          <a:p>
            <a:r>
              <a:t>Say the right form clearly; the learner repeats. Learners can read the Spanish note and the tip on their Grammar page themselves; you don't need to explain them.</a:t>
            </a:r>
          </a:p>
          <a:p>
            <a:r>
              <a:t>Lesson plan: Grammar: Common mistakes; Teacher notes: Typical mistakes.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right word. Pairs check.</a:t>
            </a:r>
          </a:p>
          <a:p>
            <a:r>
              <a:t>Click to circle each answer (one click per item, 1 to 5): 1 exciting, 2 excited, 3 interested, 4 confusing, 5 relaxed.</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boring, 2 bored, 3 interesting, 4 surprised, 5 tiring, 6 confused.</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(1 min): the -ing / -ed table; read across. Each click shows one -ed word.</a:t>
            </a:r>
          </a:p>
          <a:p>
            <a:r>
              <a:t>Check questions: "The movie was ___ (bore)." (boring) • "I was very ___ (excite)." (excited) • "Were you ___ (interest)?" (interested) • "I thought it was ___ (confuse)." (confusing)</a:t>
            </a:r>
          </a:p>
          <a:p>
            <a:r>
              <a:t>Lesson plan: Step 4; Grammar Box 4.</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(2 min): an opinion + a reason: I thought it was confusing, so I left early. Each click shows the answer side of one row.</a:t>
            </a:r>
          </a:p>
          <a:p>
            <a:r>
              <a:t>I thought it was… gives an opinion in the past. Accept I think it was… too.</a:t>
            </a:r>
          </a:p>
          <a:p>
            <a:r>
              <a:t>Lesson plan: Step 4; Grammar Box 3; Teacher notes: I thought it was.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How did you feel? Each click shows the answer side of one row.</a:t>
            </a:r>
          </a:p>
          <a:p>
            <a:r>
              <a:t>Careful: I'm boring means people don't enjoy talking to me. Learners laugh when they hear it; use that.</a:t>
            </a:r>
          </a:p>
          <a:p>
            <a:r>
              <a:t>Lesson plan: Step 4; Grammar Box 2; Teacher notes: Careful.</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on the board: a TV (the thing) → a face (the person). Under the TV write boring, under the face bored. Say: "-ing is the thing. -ed is the person's feeling."</a:t>
            </a:r>
          </a:p>
          <a:p>
            <a:r>
              <a:t>Boxes 1 and 2 (4 min): read a question from the left; the class answers from the right. Point out: It was… + -ing; I was… + -ed. Each click shows the answer side of one row.</a:t>
            </a:r>
          </a:p>
          <a:p>
            <a:r>
              <a:t>Lesson plan: Step 4; Grammar Box 1; Teacher notes: The one rule.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(2 min). Say: "-ed has 3 sounds." Read: relaxed (t), bored (d), interested (id, one more syllable). The class repeats each word twice. Then the line in the box.</a:t>
            </a:r>
          </a:p>
          <a:p>
            <a:r>
              <a:t>-ed sounds: /t/ after x, k, s, sh, ch, p (relaxed); /id/ after t, d (interested, one more syllable); /d/ for the rest (bored, tired, surprised). Don't teach the rule; just model and repeat.</a:t>
            </a:r>
          </a:p>
          <a:p>
            <a:r>
              <a:t>Lesson plan: Step 3: "Say it"; Listening page: Say it; Teacher notes: -ed sounds.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exciting, 2 tired, 3 interesting, 4 confusing, 5 bored, 6 relaxing.</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show each answer (one click per item, 1 to 5): 1 c (exciting) • 2 a (tired) • 3 e (confusing) • 4 d (bored) • 5 b (relaxing).</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(did they like it?). Pairs compare. Check together.</a:t>
            </a:r>
          </a:p>
          <a:p>
            <a:r>
              <a:t>Click to circle each answer (one click per line): Elena (the food festival) 😀 • Luis (the photo workshop) 😐.</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6:18–6:30 · Listening + "Say it" · 12 min (slides 8 to 12). Individuals, then pairs check.</a:t>
            </a:r>
          </a:p>
          <a:p>
            <a:r>
              <a:t>Before you listen (1 min). Say: "It's Monday. Elena and Luis are coworkers. They're talking about the weekend. Did they like their weekend events? Listen."</a:t>
            </a:r>
          </a:p>
          <a:p>
            <a:r>
              <a:t>There are three voices: a Narrator, Elena, and Luis. Each click highlights the next voice.</a:t>
            </a:r>
          </a:p>
          <a:p>
            <a:r>
              <a:t>The audio (about 1:15) is coming soon. When it is ready, it plays the conversation once; press play again for play 2. Until then, read the listening script (at the end of these notes) with a volunteer.</a:t>
            </a:r>
          </a:p>
          <a:p>
            <a:r>
              <a:t>No speaker? Read the script with a volunteer at a normal, friendly speed.</a:t>
            </a:r>
          </a:p>
          <a:p>
            <a:r>
              <a:t>Audio: the listening audio for this lesson (about 1:15)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speech bubbles, signs, and labels (images/CREDITS.md).</a:t>
            </a:r>
          </a:p>
          <a:p>
            <a:r>
              <a:t>Listening script (the audio is coming soon; until then, read it aloud with a volunteer at a normal, friendly speed):</a:t>
            </a:r>
          </a:p>
          <a:p>
            <a:r>
              <a:t>Narrator: Lesson eleven. Listening. It's Monday morning. Elena and Luis are coworkers. They're talking about the weekend. Listen.</a:t>
            </a:r>
          </a:p>
          <a:p>
            <a:r>
              <a:t>Luis: Hi, Elena. How was your weekend? Did you do anything fun?</a:t>
            </a:r>
          </a:p>
          <a:p>
            <a:r>
              <a:t>Elena: It was great! I went to the food festival at Riverside Park with my sister.</a:t>
            </a:r>
          </a:p>
          <a:p>
            <a:r>
              <a:t>Luis: Really? How was it?</a:t>
            </a:r>
          </a:p>
          <a:p>
            <a:r>
              <a:t>Elena: It was so exciting. There was live music, and we tried food from ten countries.</a:t>
            </a:r>
          </a:p>
          <a:p>
            <a:r>
              <a:t>Luis: Was it crowded?</a:t>
            </a:r>
          </a:p>
          <a:p>
            <a:r>
              <a:t>Elena: Yes, very. The lines were long, so I was a little tired at the end. How about you?</a:t>
            </a:r>
          </a:p>
          <a:p>
            <a:r>
              <a:t>Luis: I went to a photo workshop at the city museum on Sunday. I was really interested in it.</a:t>
            </a:r>
          </a:p>
          <a:p>
            <a:r>
              <a:t>Elena: Oh, nice! Was it interesting?</a:t>
            </a:r>
          </a:p>
          <a:p>
            <a:r>
              <a:t>Luis: Not really. I thought it was confusing. The teacher talked very fast.</a:t>
            </a:r>
          </a:p>
          <a:p>
            <a:r>
              <a:t>Elena: Oh no. Were you bored?</a:t>
            </a:r>
          </a:p>
          <a:p>
            <a:r>
              <a:t>Luis: Yes, I was bored, so I left early. But the museum coffee shop was really relaxing.</a:t>
            </a:r>
          </a:p>
          <a:p>
            <a:r>
              <a:t>Elena: Next time, come to the festival with me. You'll love it!</a:t>
            </a:r>
          </a:p>
          <a:p>
            <a:r>
              <a:t>Luis: OK. That sounds fun. Maybe next month.</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"A big event in a park with food and music is a…?" (festival) • 2. "You see old pictures and things at a…?" (museum) • 3. "You go to hear music at a…?" (concert)</a:t>
            </a:r>
          </a:p>
          <a:p>
            <a:r>
              <a:t>Lesson plan: Step 2: Check meaning.</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B says two sentences (A: points to the beach. B: It was relaxing. I was relaxed.). Switch.</a:t>
            </a:r>
          </a:p>
          <a:p>
            <a:r>
              <a:t>If behind: teach the ★ words only.</a:t>
            </a:r>
          </a:p>
          <a:p>
            <a:r>
              <a:t>Lesson plan: Step 2; New Words page; Partner game.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"Bored or boring?" Say: "Tonight we talk about events: how they were and how we felt."</a:t>
            </a:r>
          </a:p>
          <a:p>
            <a:r>
              <a:t>Read the three lines under "Today you will". Give one quick example of each: "It was exciting." • "I was excited." • "I thought it was confusing, so I left early."</a:t>
            </a:r>
          </a:p>
          <a:p>
            <a:r>
              <a:t>General events only (important): use community events, TV, movies, or sports. Learners never have to share where they spend their money or free time; the event cards are always an option.</a:t>
            </a:r>
          </a:p>
          <a:p>
            <a:r>
              <a:t>Lesson plan: Topic; At a glance: Objectives;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It was exciting. / It was boring. Goal 2: I was excited. / I was bored. Goal 3: -ing (the thing, the experience) or -ed (the person's feeling).</a:t>
            </a:r>
          </a:p>
          <a:p>
            <a:r>
              <a:t>Goal 4: I thought it was confusing, so I left early. Goal 5: read three short reviews and write a 3–4 sentence review with stars.</a:t>
            </a:r>
          </a:p>
          <a:p>
            <a:r>
              <a:t>"We check at 7:25" = the Progress Check. It is not a test grade.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6:00–6:10 · Opening Talk + Homework Check · 10 min. Pairs (7 pairs + 1 trio with 15 learners; 3–4 pairs with 7–8).</a:t>
            </a:r>
          </a:p>
          <a:p>
            <a:r>
              <a:t>Before class, write on the board: First, … Next, … Then, … Finally, …</a:t>
            </a:r>
          </a:p>
          <a:p>
            <a:r>
              <a:t>Model with one learner: "How do you make your favorite food?" → (answer) → "What do you do after that?" (Click to show the follow-up.)</a:t>
            </a:r>
          </a:p>
          <a:p>
            <a:r>
              <a:t>Opening Talk (6 min): learners open the Opening Talk page. A asks a card question; B answers with 2–3 sentences; A asks one follow-up. Switch after each card. The cards are on the next slide.</a:t>
            </a:r>
          </a:p>
          <a:p>
            <a:r>
              <a:t>If behind: one card only, then the homework check.</a:t>
            </a:r>
          </a:p>
          <a:p>
            <a:r>
              <a:t>Lesson plan: Step 1; Opening Talk page.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with 2–3 sentences. A asks one follow-up question (follow-ups on the right). Then switch.</a:t>
            </a:r>
          </a:p>
          <a:p>
            <a:r>
              <a:t>Homework Check (4 min, last click): partners read their Lesson 10 Homework item 2 (4 steps) to each other. The partner mimes the steps. Walk around. Write 2 common errors on the board (often You press or No open) and correct them together.</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6:10–6:18 · New Words · 8 min (this slide and the next). Whole class, then pairs.</a:t>
            </a:r>
          </a:p>
          <a:p>
            <a:r>
              <a:t>Point to each picture and say both words. Learners repeat once. For each pair, point to the left picture: "It was exciting." Point to the face: "I was excited." Each click shows the next word.</a:t>
            </a:r>
          </a:p>
          <a:p>
            <a:r>
              <a:t>Show it with your face: yawn: "The movie was boring. I was bored." Look confused: "The map was confusing. I was confused."</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1:15)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6.png"/><Relationship Id="rId9" Type="http://schemas.openxmlformats.org/officeDocument/2006/relationships/image" Target="../media/image14.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1.png"/><Relationship Id="rId9" Type="http://schemas.openxmlformats.org/officeDocument/2006/relationships/image" Target="../media/image15.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5.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5.png"/><Relationship Id="rId4" Type="http://schemas.openxmlformats.org/officeDocument/2006/relationships/notesSlide" Target="../notesSlides/notesSlide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5.png"/><Relationship Id="rId4" Type="http://schemas.openxmlformats.org/officeDocument/2006/relationships/notesSlide" Target="../notesSlides/notesSlide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26.xml><?xml version="1.0" encoding="utf-8"?>
<p:sld xmlns:a="http://schemas.openxmlformats.org/drawingml/2006/main" xmlns:p="http://schemas.openxmlformats.org/presentationml/2006/main" xmlns:r="http://schemas.openxmlformats.org/officeDocument/2006/relationships">
  <p:cSld name="L3: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Boring / bored: a long page, an arrow, a yawning fac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11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Bored or Boring?</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something was (-ing)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you felt (-ed)</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an opinion with a reason</a:t>
            </a:r>
            <a:endParaRPr lang="en-US" sz="22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L3: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-ing = the thing. -ed = the feeling.</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7:25!</a:t>
            </a:r>
            <a:endParaRPr lang="en-US" sz="2000" dirty="0" b="1"/>
          </a:p>
        </p:txBody>
      </p:sp>
      <p:sp>
        <p:nvSpPr>
          <p:cNvPr id="31" name="R1 shadow"/>
          <p:cNvSpPr/>
          <p:nvPr/>
        </p:nvSpPr>
        <p:spPr>
          <a:xfrm>
            <a:off x="544982" y="2093062"/>
            <a:ext cx="6227064" cy="983894"/>
          </a:xfrm>
          <a:prstGeom prst="round1Rect">
            <a:avLst>
              <a:gd name="adj" fmla="val 23087"/>
            </a:avLst>
          </a:prstGeom>
          <a:solidFill>
            <a:srgbClr val="8FAFE3"/>
          </a:solidFill>
          <a:ln/>
        </p:spPr>
        <p:txBody>
          <a:bodyPr/>
          <a:p/>
        </p:txBody>
      </p:sp>
      <p:sp>
        <p:nvSpPr>
          <p:cNvPr id="32" name="R1 card"/>
          <p:cNvSpPr/>
          <p:nvPr/>
        </p:nvSpPr>
        <p:spPr>
          <a:xfrm>
            <a:off x="1583741" y="2035454"/>
            <a:ext cx="5130698" cy="983894"/>
          </a:xfrm>
          <a:prstGeom prst="round1Rect">
            <a:avLst>
              <a:gd name="adj" fmla="val 23087"/>
            </a:avLst>
          </a:prstGeom>
          <a:solidFill>
            <a:srgbClr val="FFFFFF"/>
          </a:solidFill>
          <a:ln/>
        </p:spPr>
        <p:txBody>
          <a:bodyPr/>
          <a:p/>
        </p:txBody>
      </p:sp>
      <p:sp>
        <p:nvSpPr>
          <p:cNvPr id="33" name="R1 chip"/>
          <p:cNvSpPr/>
          <p:nvPr/>
        </p:nvSpPr>
        <p:spPr>
          <a:xfrm>
            <a:off x="544982" y="2035454"/>
            <a:ext cx="1039673" cy="983894"/>
          </a:xfrm>
          <a:prstGeom prst="rect">
            <a:avLst/>
          </a:prstGeom>
          <a:solidFill>
            <a:srgbClr val="B9D2F7"/>
          </a:solidFill>
          <a:ln/>
        </p:spPr>
        <p:txBody>
          <a:bodyPr/>
          <a:p/>
        </p:txBody>
      </p:sp>
      <p:sp>
        <p:nvSpPr>
          <p:cNvPr id="34" name="R1 num"/>
          <p:cNvSpPr/>
          <p:nvPr/>
        </p:nvSpPr>
        <p:spPr>
          <a:xfrm>
            <a:off x="686714" y="2204161"/>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103120"/>
            <a:ext cx="443484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I can say how something was.</a:t>
            </a:r>
            <a:endParaRPr lang="en-US" sz="2000" dirty="0" b="1"/>
          </a:p>
        </p:txBody>
      </p:sp>
      <p:sp>
        <p:nvSpPr>
          <p:cNvPr id="36" name="R1 sub"/>
          <p:cNvSpPr/>
          <p:nvPr/>
        </p:nvSpPr>
        <p:spPr>
          <a:xfrm>
            <a:off x="1901952" y="2505456"/>
            <a:ext cx="434340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It was exciting. / It was boring.</a:t>
            </a:r>
            <a:endParaRPr lang="en-US" sz="2000" dirty="0"/>
          </a:p>
        </p:txBody>
      </p:sp>
      <p:sp>
        <p:nvSpPr>
          <p:cNvPr id="37" name="R1 dot"/>
          <p:cNvSpPr/>
          <p:nvPr/>
        </p:nvSpPr>
        <p:spPr>
          <a:xfrm rot="10800000">
            <a:off x="6361481" y="2168957"/>
            <a:ext cx="88697" cy="76810"/>
          </a:xfrm>
          <a:prstGeom prst="triangle">
            <a:avLst/>
          </a:prstGeom>
          <a:solidFill>
            <a:srgbClr val="8FAFE3"/>
          </a:solidFill>
          <a:ln/>
        </p:spPr>
        <p:txBody>
          <a:bodyPr/>
          <a:p/>
        </p:txBody>
      </p:sp>
      <p:sp>
        <p:nvSpPr>
          <p:cNvPr id="38" name="R2 card"/>
          <p:cNvSpPr/>
          <p:nvPr/>
        </p:nvSpPr>
        <p:spPr>
          <a:xfrm>
            <a:off x="1583741" y="3128162"/>
            <a:ext cx="5130698" cy="602361"/>
          </a:xfrm>
          <a:prstGeom prst="round1Rect">
            <a:avLst>
              <a:gd name="adj" fmla="val 23087"/>
            </a:avLst>
          </a:prstGeom>
          <a:solidFill>
            <a:srgbClr val="FFFFFF"/>
          </a:solidFill>
          <a:ln/>
        </p:spPr>
        <p:txBody>
          <a:bodyPr/>
          <a:p/>
        </p:txBody>
      </p:sp>
      <p:sp>
        <p:nvSpPr>
          <p:cNvPr id="39" name="R2 chip"/>
          <p:cNvSpPr/>
          <p:nvPr/>
        </p:nvSpPr>
        <p:spPr>
          <a:xfrm>
            <a:off x="544982" y="3128162"/>
            <a:ext cx="1039673" cy="602361"/>
          </a:xfrm>
          <a:prstGeom prst="rect">
            <a:avLst/>
          </a:prstGeom>
          <a:solidFill>
            <a:srgbClr val="B9D2F7"/>
          </a:solidFill>
          <a:ln/>
        </p:spPr>
        <p:txBody>
          <a:bodyPr/>
          <a:p/>
        </p:txBody>
      </p:sp>
      <p:sp>
        <p:nvSpPr>
          <p:cNvPr id="40" name="R2 num"/>
          <p:cNvSpPr/>
          <p:nvPr/>
        </p:nvSpPr>
        <p:spPr>
          <a:xfrm>
            <a:off x="686714" y="3128162"/>
            <a:ext cx="1109167" cy="60236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1" name="R2 text"/>
          <p:cNvSpPr/>
          <p:nvPr/>
        </p:nvSpPr>
        <p:spPr>
          <a:xfrm>
            <a:off x="1810512" y="3128162"/>
            <a:ext cx="4434840" cy="602361"/>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say how I felt: I was excited.</a:t>
            </a:r>
            <a:endParaRPr lang="en-US" sz="1800" dirty="0"/>
          </a:p>
        </p:txBody>
      </p:sp>
      <p:sp>
        <p:nvSpPr>
          <p:cNvPr id="42" name="R2 dot"/>
          <p:cNvSpPr/>
          <p:nvPr/>
        </p:nvSpPr>
        <p:spPr>
          <a:xfrm rot="10800000">
            <a:off x="6361481" y="3261665"/>
            <a:ext cx="88697" cy="76810"/>
          </a:xfrm>
          <a:prstGeom prst="triangle">
            <a:avLst/>
          </a:prstGeom>
          <a:solidFill>
            <a:srgbClr val="8FAFE3"/>
          </a:solidFill>
          <a:ln/>
        </p:spPr>
        <p:txBody>
          <a:bodyPr/>
          <a:p/>
        </p:txBody>
      </p:sp>
      <p:sp>
        <p:nvSpPr>
          <p:cNvPr id="43" name="R3 card"/>
          <p:cNvSpPr/>
          <p:nvPr/>
        </p:nvSpPr>
        <p:spPr>
          <a:xfrm>
            <a:off x="1583741" y="3839337"/>
            <a:ext cx="5130698" cy="602361"/>
          </a:xfrm>
          <a:prstGeom prst="round1Rect">
            <a:avLst>
              <a:gd name="adj" fmla="val 23087"/>
            </a:avLst>
          </a:prstGeom>
          <a:solidFill>
            <a:srgbClr val="FFFFFF"/>
          </a:solidFill>
          <a:ln/>
        </p:spPr>
        <p:txBody>
          <a:bodyPr/>
          <a:p/>
        </p:txBody>
      </p:sp>
      <p:sp>
        <p:nvSpPr>
          <p:cNvPr id="44" name="R3 chip"/>
          <p:cNvSpPr/>
          <p:nvPr/>
        </p:nvSpPr>
        <p:spPr>
          <a:xfrm>
            <a:off x="544982" y="3839337"/>
            <a:ext cx="1039673" cy="602361"/>
          </a:xfrm>
          <a:prstGeom prst="rect">
            <a:avLst/>
          </a:prstGeom>
          <a:solidFill>
            <a:srgbClr val="B9D2F7"/>
          </a:solidFill>
          <a:ln/>
        </p:spPr>
        <p:txBody>
          <a:bodyPr/>
          <a:p/>
        </p:txBody>
      </p:sp>
      <p:sp>
        <p:nvSpPr>
          <p:cNvPr id="45" name="R3 num"/>
          <p:cNvSpPr/>
          <p:nvPr/>
        </p:nvSpPr>
        <p:spPr>
          <a:xfrm>
            <a:off x="686714" y="3839337"/>
            <a:ext cx="1109167" cy="60236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6" name="R3 text"/>
          <p:cNvSpPr/>
          <p:nvPr/>
        </p:nvSpPr>
        <p:spPr>
          <a:xfrm>
            <a:off x="1810512" y="3839337"/>
            <a:ext cx="4434840" cy="602361"/>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 can choose -ing or -ed.</a:t>
            </a:r>
            <a:endParaRPr lang="en-US" sz="2000" dirty="0"/>
          </a:p>
        </p:txBody>
      </p:sp>
      <p:sp>
        <p:nvSpPr>
          <p:cNvPr id="47" name="R3 dot"/>
          <p:cNvSpPr/>
          <p:nvPr/>
        </p:nvSpPr>
        <p:spPr>
          <a:xfrm rot="10800000">
            <a:off x="6361481" y="3972839"/>
            <a:ext cx="88697" cy="76810"/>
          </a:xfrm>
          <a:prstGeom prst="triangle">
            <a:avLst/>
          </a:prstGeom>
          <a:solidFill>
            <a:srgbClr val="8FAFE3"/>
          </a:solidFill>
          <a:ln/>
        </p:spPr>
        <p:txBody>
          <a:bodyPr/>
          <a:p/>
        </p:txBody>
      </p:sp>
      <p:sp>
        <p:nvSpPr>
          <p:cNvPr id="48" name="R4 card"/>
          <p:cNvSpPr/>
          <p:nvPr/>
        </p:nvSpPr>
        <p:spPr>
          <a:xfrm>
            <a:off x="1583741" y="4550512"/>
            <a:ext cx="5130698" cy="602361"/>
          </a:xfrm>
          <a:prstGeom prst="round1Rect">
            <a:avLst>
              <a:gd name="adj" fmla="val 23087"/>
            </a:avLst>
          </a:prstGeom>
          <a:solidFill>
            <a:srgbClr val="FFFFFF"/>
          </a:solidFill>
          <a:ln/>
        </p:spPr>
        <p:txBody>
          <a:bodyPr/>
          <a:p/>
        </p:txBody>
      </p:sp>
      <p:sp>
        <p:nvSpPr>
          <p:cNvPr id="49" name="R4 chip"/>
          <p:cNvSpPr/>
          <p:nvPr/>
        </p:nvSpPr>
        <p:spPr>
          <a:xfrm>
            <a:off x="544982" y="4550512"/>
            <a:ext cx="1039673" cy="602361"/>
          </a:xfrm>
          <a:prstGeom prst="rect">
            <a:avLst/>
          </a:prstGeom>
          <a:solidFill>
            <a:srgbClr val="B9D2F7"/>
          </a:solidFill>
          <a:ln/>
        </p:spPr>
        <p:txBody>
          <a:bodyPr/>
          <a:p/>
        </p:txBody>
      </p:sp>
      <p:sp>
        <p:nvSpPr>
          <p:cNvPr id="50" name="R4 num"/>
          <p:cNvSpPr/>
          <p:nvPr/>
        </p:nvSpPr>
        <p:spPr>
          <a:xfrm>
            <a:off x="686714" y="4550512"/>
            <a:ext cx="1109167" cy="60236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1" name="R4 text"/>
          <p:cNvSpPr/>
          <p:nvPr/>
        </p:nvSpPr>
        <p:spPr>
          <a:xfrm>
            <a:off x="1810512" y="4550512"/>
            <a:ext cx="4434840" cy="602361"/>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give an opinion with a reason.</a:t>
            </a:r>
            <a:endParaRPr lang="en-US" sz="1800" dirty="0"/>
          </a:p>
        </p:txBody>
      </p:sp>
      <p:sp>
        <p:nvSpPr>
          <p:cNvPr id="52" name="R4 dot"/>
          <p:cNvSpPr/>
          <p:nvPr/>
        </p:nvSpPr>
        <p:spPr>
          <a:xfrm rot="10800000">
            <a:off x="6361481" y="4684014"/>
            <a:ext cx="88697" cy="76810"/>
          </a:xfrm>
          <a:prstGeom prst="triangle">
            <a:avLst/>
          </a:prstGeom>
          <a:solidFill>
            <a:srgbClr val="8FAFE3"/>
          </a:solidFill>
          <a:ln/>
        </p:spPr>
        <p:txBody>
          <a:bodyPr/>
          <a:p/>
        </p:txBody>
      </p:sp>
      <p:sp>
        <p:nvSpPr>
          <p:cNvPr id="53" name="R5 card"/>
          <p:cNvSpPr/>
          <p:nvPr/>
        </p:nvSpPr>
        <p:spPr>
          <a:xfrm>
            <a:off x="1583741" y="5261686"/>
            <a:ext cx="5130698" cy="602361"/>
          </a:xfrm>
          <a:prstGeom prst="round1Rect">
            <a:avLst>
              <a:gd name="adj" fmla="val 23087"/>
            </a:avLst>
          </a:prstGeom>
          <a:solidFill>
            <a:srgbClr val="FFFFFF"/>
          </a:solidFill>
          <a:ln/>
        </p:spPr>
        <p:txBody>
          <a:bodyPr/>
          <a:p/>
        </p:txBody>
      </p:sp>
      <p:sp>
        <p:nvSpPr>
          <p:cNvPr id="54" name="R5 chip"/>
          <p:cNvSpPr/>
          <p:nvPr/>
        </p:nvSpPr>
        <p:spPr>
          <a:xfrm>
            <a:off x="544982" y="5261686"/>
            <a:ext cx="1039673" cy="602361"/>
          </a:xfrm>
          <a:prstGeom prst="rect">
            <a:avLst/>
          </a:prstGeom>
          <a:solidFill>
            <a:srgbClr val="B9D2F7"/>
          </a:solidFill>
          <a:ln/>
        </p:spPr>
        <p:txBody>
          <a:bodyPr/>
          <a:p/>
        </p:txBody>
      </p:sp>
      <p:sp>
        <p:nvSpPr>
          <p:cNvPr id="55" name="R5 num"/>
          <p:cNvSpPr/>
          <p:nvPr/>
        </p:nvSpPr>
        <p:spPr>
          <a:xfrm>
            <a:off x="686714" y="5261686"/>
            <a:ext cx="1109167" cy="60236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6" name="R5 text"/>
          <p:cNvSpPr/>
          <p:nvPr/>
        </p:nvSpPr>
        <p:spPr>
          <a:xfrm>
            <a:off x="1810512" y="5261686"/>
            <a:ext cx="4434840" cy="602361"/>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read reviews and write a review.</a:t>
            </a:r>
            <a:endParaRPr lang="en-US" sz="1800" dirty="0"/>
          </a:p>
        </p:txBody>
      </p:sp>
      <p:sp>
        <p:nvSpPr>
          <p:cNvPr id="57" name="R5 dot"/>
          <p:cNvSpPr/>
          <p:nvPr/>
        </p:nvSpPr>
        <p:spPr>
          <a:xfrm rot="10800000">
            <a:off x="6361481" y="5395189"/>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4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par>
                                <p:cTn id="57" presetID="10" presetClass="entr" presetSubtype="0" fill="hold" nodeType="withEffect">
                                  <p:stCondLst>
                                    <p:cond delay="0"/>
                                  </p:stCondLst>
                                  <p:childTnLst>
                                    <p:set>
                                      <p:cBhvr>
                                        <p:cTn id="58" dur="1" fill="hold">
                                          <p:stCondLst>
                                            <p:cond delay="0"/>
                                          </p:stCondLst>
                                        </p:cTn>
                                        <p:tgtEl>
                                          <p:spTgt spid="47"/>
                                        </p:tgtEl>
                                        <p:attrNameLst>
                                          <p:attrName>style.visibility</p:attrName>
                                        </p:attrNameLst>
                                      </p:cBhvr>
                                      <p:to>
                                        <p:strVal val="visible"/>
                                      </p:to>
                                    </p:set>
                                    <p:animEffect transition="in" filter="fade">
                                      <p:cBhvr>
                                        <p:cTn id="59" dur="400"/>
                                        <p:tgtEl>
                                          <p:spTgt spid="4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par>
                                <p:cTn id="74" presetID="10" presetClass="entr" presetSubtype="0" fill="hold"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400"/>
                                        <p:tgtEl>
                                          <p:spTgt spid="52"/>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par>
                                <p:cTn id="91" presetID="10" presetClass="entr" presetSubtype="0" fill="hold" nodeType="withEffect">
                                  <p:stCondLst>
                                    <p:cond delay="0"/>
                                  </p:stCondLst>
                                  <p:childTnLst>
                                    <p:set>
                                      <p:cBhvr>
                                        <p:cTn id="92" dur="1" fill="hold">
                                          <p:stCondLst>
                                            <p:cond delay="0"/>
                                          </p:stCondLst>
                                        </p:cTn>
                                        <p:tgtEl>
                                          <p:spTgt spid="57"/>
                                        </p:tgtEl>
                                        <p:attrNameLst>
                                          <p:attrName>style.visibility</p:attrName>
                                        </p:attrNameLst>
                                      </p:cBhvr>
                                      <p:to>
                                        <p:strVal val="visible"/>
                                      </p:to>
                                    </p:set>
                                    <p:animEffect transition="in" filter="fade">
                                      <p:cBhvr>
                                        <p:cTn id="93"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name="L3: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Festival: a tent, a balloon, a taco"/>
          <p:cNvPicPr>
            <a:picLocks noChangeAspect="1"/>
          </p:cNvPicPr>
          <p:nvPr/>
        </p:nvPicPr>
        <p:blipFill>
          <a:blip r:embed="rId3"/>
          <a:stretch>
            <a:fillRect/>
          </a:stretch>
        </p:blipFill>
        <p:spPr>
          <a:xfrm>
            <a:off x="6800393" y="1828800"/>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How do you make your favorite food?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with 2–3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What do you do after that?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3: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Work with a partner. Then switch.</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What do you do next? And after that? Is it easy?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do you make your favorite food?</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do you send a photo on your phone?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do you do first when you get home?</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instructions do you follow at work or at home?</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10, item 2.</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Exciting / excited: a roller coaster, an arrow, a star-struck fac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exciting / excited</a:t>
            </a:r>
            <a:endParaRPr lang="en-US" sz="1800" dirty="0" b="1"/>
          </a:p>
        </p:txBody>
      </p:sp>
      <p:pic>
        <p:nvPicPr>
          <p:cNvPr id="19" name="Word picture 2" descr="Boring / bored: a long page, an arrow, a yawning fac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boring / bored</a:t>
            </a:r>
            <a:endParaRPr lang="en-US" sz="2000" dirty="0" b="1"/>
          </a:p>
        </p:txBody>
      </p:sp>
      <p:pic>
        <p:nvPicPr>
          <p:cNvPr id="21" name="Word picture 3" descr="Interesting / interested: an open book, an arrow, a face with a monocl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interesting / interested</a:t>
            </a:r>
            <a:endParaRPr lang="en-US" sz="1800" dirty="0" b="1"/>
          </a:p>
        </p:txBody>
      </p:sp>
      <p:pic>
        <p:nvPicPr>
          <p:cNvPr id="23" name="Word picture 4" descr="Confusing / confused: a map, an arrow, a confused fac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confusing / confused</a:t>
            </a:r>
            <a:endParaRPr lang="en-US" sz="1800" dirty="0" b="1"/>
          </a:p>
        </p:txBody>
      </p:sp>
      <p:pic>
        <p:nvPicPr>
          <p:cNvPr id="25" name="Word picture 5" descr="Relaxing / relaxed: a beach, an arrow, a relieved fac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relaxing / relaxed</a:t>
            </a:r>
            <a:endParaRPr lang="en-US" sz="1800" dirty="0" b="1"/>
          </a:p>
        </p:txBody>
      </p:sp>
      <p:pic>
        <p:nvPicPr>
          <p:cNvPr id="27" name="Word picture 6" descr="Tiring / tired: a runner, an arrow, a tired fac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tiring / tired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A points. B says.</a:t>
            </a:r>
            <a:endParaRPr lang="en-US" sz="2200" dirty="0" b="1"/>
          </a:p>
        </p:txBody>
      </p:sp>
      <p:pic>
        <p:nvPicPr>
          <p:cNvPr id="17" name="Word picture 1" descr="Surprising / surprised: a gift, an arrow, a surprised fac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surprising / surprised</a:t>
            </a:r>
            <a:endParaRPr lang="en-US" sz="1800" dirty="0" b="1"/>
          </a:p>
        </p:txBody>
      </p:sp>
      <p:pic>
        <p:nvPicPr>
          <p:cNvPr id="19" name="Word picture 2" descr="Festival: a tent, a balloon, a taco"/>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festival</a:t>
            </a:r>
            <a:endParaRPr lang="en-US" sz="2000" dirty="0" b="1"/>
          </a:p>
        </p:txBody>
      </p:sp>
      <p:pic>
        <p:nvPicPr>
          <p:cNvPr id="21" name="Word picture 3" descr="Concert: a microphone, a guitar, music note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concert</a:t>
            </a:r>
            <a:endParaRPr lang="en-US" sz="2000" dirty="0" b="1"/>
          </a:p>
        </p:txBody>
      </p:sp>
      <p:pic>
        <p:nvPicPr>
          <p:cNvPr id="23" name="Word picture 4" descr="Museum: a classical building and a framed pictur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museum</a:t>
            </a:r>
            <a:endParaRPr lang="en-US" sz="2000" dirty="0" b="1"/>
          </a:p>
        </p:txBody>
      </p:sp>
      <p:pic>
        <p:nvPicPr>
          <p:cNvPr id="25" name="Word picture 5" descr="Fair: a Ferris wheel"/>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fair</a:t>
            </a:r>
            <a:endParaRPr lang="en-US" sz="2000" dirty="0" b="1"/>
          </a:p>
        </p:txBody>
      </p:sp>
      <p:pic>
        <p:nvPicPr>
          <p:cNvPr id="27" name="Word picture 6" descr="Review (stars): a drawn review card: 4 of 5 stars, &quot;Great food! The music was fun.&quot;"/>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review (stars)</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3: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big event in a park with food and music?</a:t>
            </a:r>
            <a:endParaRPr lang="en-US" sz="1800" dirty="0" b="1"/>
          </a:p>
        </p:txBody>
      </p:sp>
      <p:pic>
        <p:nvPicPr>
          <p:cNvPr id="101" name="R1 pic" descr="Festival: a tent, a balloon, a taco"/>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You see old pictures and things at a…?</a:t>
            </a:r>
            <a:endParaRPr lang="en-US" sz="1800" dirty="0" b="1"/>
          </a:p>
        </p:txBody>
      </p:sp>
      <p:pic>
        <p:nvPicPr>
          <p:cNvPr id="102" name="R2 pic" descr="Museum: a classical building and a framed picture"/>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You go to hear music at a…?</a:t>
            </a:r>
            <a:endParaRPr lang="en-US" sz="1800" dirty="0" b="1"/>
          </a:p>
        </p:txBody>
      </p:sp>
      <p:pic>
        <p:nvPicPr>
          <p:cNvPr id="103" name="R3 pic" descr="Concert: a microphone, a guitar, music notes"/>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 festival</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museum</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concert</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3: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It's Monday. Elena and Luis are coworkers. They're talking about the weekend.</a:t>
            </a:r>
            <a:endParaRPr lang="en-US" sz="18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Festival: a tent, a balloon, a taco"/>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Elena</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Luis</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Did they like their weekend events?</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How was it? How did they feel?</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1:15.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3: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Did they like it?</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Check ✓ a face.</a:t>
            </a:r>
            <a:endParaRPr lang="en-US" sz="2000" dirty="0"/>
          </a:p>
        </p:txBody>
      </p:sp>
      <p:sp>
        <p:nvSpPr>
          <p:cNvPr id="8" name="R1 stmt"/>
          <p:cNvSpPr/>
          <p:nvPr/>
        </p:nvSpPr>
        <p:spPr>
          <a:xfrm>
            <a:off x="502920" y="3108960"/>
            <a:ext cx="7178040" cy="530352"/>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Elena: the food festival</a:t>
            </a:r>
            <a:endParaRPr lang="en-US" sz="2200" dirty="0"/>
          </a:p>
        </p:txBody>
      </p:sp>
      <p:sp>
        <p:nvSpPr>
          <p:cNvPr id="9" name="R1 opt1"/>
          <p:cNvSpPr/>
          <p:nvPr/>
        </p:nvSpPr>
        <p:spPr>
          <a:xfrm>
            <a:off x="7863840" y="3108960"/>
            <a:ext cx="13716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t>
            </a:r>
            <a:endParaRPr lang="en-US" sz="2000" dirty="0" b="1"/>
          </a:p>
        </p:txBody>
      </p:sp>
      <p:sp>
        <p:nvSpPr>
          <p:cNvPr id="10" name="R1 opt2"/>
          <p:cNvSpPr/>
          <p:nvPr/>
        </p:nvSpPr>
        <p:spPr>
          <a:xfrm>
            <a:off x="9601200" y="3108960"/>
            <a:ext cx="13716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t>
            </a:r>
            <a:endParaRPr lang="en-US" sz="2000" dirty="0" b="1"/>
          </a:p>
        </p:txBody>
      </p:sp>
      <p:sp>
        <p:nvSpPr>
          <p:cNvPr id="11" name="R1 circle"/>
          <p:cNvSpPr/>
          <p:nvPr/>
        </p:nvSpPr>
        <p:spPr>
          <a:xfrm>
            <a:off x="7735824" y="3054096"/>
            <a:ext cx="16276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913632"/>
            <a:ext cx="7178040" cy="530352"/>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Luis: the photo workshop</a:t>
            </a:r>
            <a:endParaRPr lang="en-US" sz="2200" dirty="0"/>
          </a:p>
        </p:txBody>
      </p:sp>
      <p:sp>
        <p:nvSpPr>
          <p:cNvPr id="13" name="R2 opt1"/>
          <p:cNvSpPr/>
          <p:nvPr/>
        </p:nvSpPr>
        <p:spPr>
          <a:xfrm>
            <a:off x="7863840" y="3913632"/>
            <a:ext cx="13716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t>
            </a:r>
            <a:endParaRPr lang="en-US" sz="2000" dirty="0" b="1"/>
          </a:p>
        </p:txBody>
      </p:sp>
      <p:sp>
        <p:nvSpPr>
          <p:cNvPr id="14" name="R2 opt2"/>
          <p:cNvSpPr/>
          <p:nvPr/>
        </p:nvSpPr>
        <p:spPr>
          <a:xfrm>
            <a:off x="9601200" y="3913632"/>
            <a:ext cx="13716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t>
            </a:r>
            <a:endParaRPr lang="en-US" sz="2000" dirty="0" b="1"/>
          </a:p>
        </p:txBody>
      </p:sp>
      <p:sp>
        <p:nvSpPr>
          <p:cNvPr id="15" name="R2 circle"/>
          <p:cNvSpPr/>
          <p:nvPr/>
        </p:nvSpPr>
        <p:spPr>
          <a:xfrm>
            <a:off x="9473184" y="3858768"/>
            <a:ext cx="16276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 Match.</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letter.</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B</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a:t>
            </a:r>
            <a:r>
              <a:rPr lang="en-US" sz="2000" dirty="0">
                <a:solidFill>
                  <a:srgbClr val="1B2236"/>
                </a:solidFill>
                <a:latin typeface="Lexend Deca" pitchFamily="34" charset="0"/>
                <a:ea typeface="Lexend Deca" pitchFamily="34" charset="-122"/>
                <a:cs typeface="Lexend Deca" pitchFamily="34" charset="-120"/>
              </a:rPr>
              <a:t> tired</a:t>
            </a:r>
            <a:endParaRPr lang="en-US" sz="2000" dirty="0"/>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b.</a:t>
            </a:r>
            <a:r>
              <a:rPr lang="en-US" sz="2000" dirty="0" b="0">
                <a:solidFill>
                  <a:srgbClr val="1B2236"/>
                </a:solidFill>
                <a:latin typeface="Lexend Deca" pitchFamily="34" charset="0"/>
                <a:ea typeface="Lexend Deca" pitchFamily="34" charset="-122"/>
                <a:cs typeface="Lexend Deca" pitchFamily="34" charset="-120"/>
              </a:rPr>
              <a:t> relaxing</a:t>
            </a:r>
            <a:endParaRPr lang="en-US" sz="2000" dirty="0" b="0"/>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c.</a:t>
            </a:r>
            <a:r>
              <a:rPr lang="en-US" sz="2000" dirty="0" b="0">
                <a:solidFill>
                  <a:srgbClr val="1B2236"/>
                </a:solidFill>
                <a:latin typeface="Lexend Deca" pitchFamily="34" charset="0"/>
                <a:ea typeface="Lexend Deca" pitchFamily="34" charset="-122"/>
                <a:cs typeface="Lexend Deca" pitchFamily="34" charset="-120"/>
              </a:rPr>
              <a:t> exciting</a:t>
            </a:r>
            <a:endParaRPr lang="en-US" sz="2000" dirty="0" b="0"/>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d.</a:t>
            </a:r>
            <a:r>
              <a:rPr lang="en-US" sz="2000" dirty="0" b="0">
                <a:solidFill>
                  <a:srgbClr val="1B2236"/>
                </a:solidFill>
                <a:latin typeface="Lexend Deca" pitchFamily="34" charset="0"/>
                <a:ea typeface="Lexend Deca" pitchFamily="34" charset="-122"/>
                <a:cs typeface="Lexend Deca" pitchFamily="34" charset="-120"/>
              </a:rPr>
              <a:t> bored</a:t>
            </a:r>
            <a:endParaRPr lang="en-US" sz="2000" dirty="0" b="0"/>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e.</a:t>
            </a:r>
            <a:r>
              <a:rPr lang="en-US" sz="2000" dirty="0" b="0">
                <a:solidFill>
                  <a:srgbClr val="1B2236"/>
                </a:solidFill>
                <a:latin typeface="Lexend Deca" pitchFamily="34" charset="0"/>
                <a:ea typeface="Lexend Deca" pitchFamily="34" charset="-122"/>
                <a:cs typeface="Lexend Deca" pitchFamily="34" charset="-120"/>
              </a:rPr>
              <a:t> confusing</a:t>
            </a:r>
            <a:endParaRPr lang="en-US" sz="2000" dirty="0" b="0"/>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3950208" cy="713232"/>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food festival</a:t>
            </a:r>
            <a:endParaRPr lang="en-US" sz="1800" dirty="0"/>
          </a:p>
        </p:txBody>
      </p:sp>
      <p:sp>
        <p:nvSpPr>
          <p:cNvPr id="35" name="R1 ans"/>
          <p:cNvSpPr/>
          <p:nvPr/>
        </p:nvSpPr>
        <p:spPr>
          <a:xfrm>
            <a:off x="5833872" y="2525573"/>
            <a:ext cx="17373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(exciting)</a:t>
            </a:r>
            <a:endParaRPr lang="en-US" sz="17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3950208" cy="713232"/>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Elena at the end</a:t>
            </a:r>
            <a:endParaRPr lang="en-US" sz="1800" dirty="0"/>
          </a:p>
        </p:txBody>
      </p:sp>
      <p:sp>
        <p:nvSpPr>
          <p:cNvPr id="40" name="R2 ans"/>
          <p:cNvSpPr/>
          <p:nvPr/>
        </p:nvSpPr>
        <p:spPr>
          <a:xfrm>
            <a:off x="5833872" y="3311957"/>
            <a:ext cx="17373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 (tired)</a:t>
            </a:r>
            <a:endParaRPr lang="en-US" sz="20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3950208" cy="713232"/>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photo workshop</a:t>
            </a:r>
            <a:endParaRPr lang="en-US" sz="1800" dirty="0"/>
          </a:p>
        </p:txBody>
      </p:sp>
      <p:sp>
        <p:nvSpPr>
          <p:cNvPr id="45" name="R3 ans"/>
          <p:cNvSpPr/>
          <p:nvPr/>
        </p:nvSpPr>
        <p:spPr>
          <a:xfrm>
            <a:off x="5833872" y="4098341"/>
            <a:ext cx="17373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e (confusing)</a:t>
            </a:r>
            <a:endParaRPr lang="en-US" sz="17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3950208" cy="713232"/>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Luis at the workshop</a:t>
            </a:r>
            <a:endParaRPr lang="en-US" sz="1800" dirty="0"/>
          </a:p>
        </p:txBody>
      </p:sp>
      <p:sp>
        <p:nvSpPr>
          <p:cNvPr id="50" name="R4 ans"/>
          <p:cNvSpPr/>
          <p:nvPr/>
        </p:nvSpPr>
        <p:spPr>
          <a:xfrm>
            <a:off x="5833872" y="4884725"/>
            <a:ext cx="17373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 (bored)</a:t>
            </a:r>
            <a:endParaRPr lang="en-US" sz="20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3950208" cy="713232"/>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museum coffee shop</a:t>
            </a:r>
            <a:endParaRPr lang="en-US" sz="1800" dirty="0"/>
          </a:p>
        </p:txBody>
      </p:sp>
      <p:sp>
        <p:nvSpPr>
          <p:cNvPr id="55" name="R5 ans"/>
          <p:cNvSpPr/>
          <p:nvPr/>
        </p:nvSpPr>
        <p:spPr>
          <a:xfrm>
            <a:off x="5833872" y="5671109"/>
            <a:ext cx="17373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(relaxing)</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-ing or -ed.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Pairs: compare your answers.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It was so excit____.</a:t>
            </a:r>
            <a:endParaRPr lang="en-US" sz="18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exciting</a:t>
            </a:r>
            <a:endParaRPr lang="en-US" sz="16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was a little tir____ at the end.</a:t>
            </a:r>
            <a:endParaRPr lang="en-US" sz="18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tired</a:t>
            </a:r>
            <a:endParaRPr lang="en-US" sz="16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Oh, nice! Was it interest____?</a:t>
            </a:r>
            <a:endParaRPr lang="en-US" sz="18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interesting</a:t>
            </a:r>
            <a:endParaRPr lang="en-US" sz="16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thought it was confus____.</a:t>
            </a:r>
            <a:endParaRPr lang="en-US" sz="18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confusing</a:t>
            </a:r>
            <a:endParaRPr lang="en-US" sz="16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 was bor____, so I left early.</a:t>
            </a:r>
            <a:endParaRPr lang="en-US" sz="18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bored</a:t>
            </a:r>
            <a:endParaRPr lang="en-US" sz="16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But the museum coffee shop was really relax____.</a:t>
            </a:r>
            <a:endParaRPr lang="en-US" sz="18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relaxing</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3: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Say it: -ed sounds</a:t>
            </a:r>
            <a:endParaRPr lang="en-US" sz="20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class repeats each line.</a:t>
            </a:r>
            <a:endParaRPr lang="en-US" sz="20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-ed has </a:t>
            </a:r>
            <a:r>
              <a:rPr lang="en-US" sz="2000" dirty="0" b="1">
                <a:solidFill>
                  <a:srgbClr val="5B3FC4"/>
                </a:solidFill>
                <a:latin typeface="Lexend Deca" pitchFamily="34" charset="0"/>
                <a:ea typeface="Lexend Deca" pitchFamily="34" charset="-122"/>
                <a:cs typeface="Lexend Deca" pitchFamily="34" charset="-120"/>
              </a:rPr>
              <a:t>3 sounds.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t  ·  d  ·  id</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word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777240"/>
          </a:xfrm>
          <a:prstGeom prst="round1Rect">
            <a:avLst>
              <a:gd name="adj" fmla="val 23087"/>
            </a:avLst>
          </a:prstGeom>
          <a:solidFill>
            <a:srgbClr val="FFFFFF"/>
          </a:solidFill>
          <a:ln/>
        </p:spPr>
        <p:txBody>
          <a:bodyPr/>
          <a:p/>
        </p:txBody>
      </p:sp>
      <p:sp>
        <p:nvSpPr>
          <p:cNvPr id="32" name="S1 text"/>
          <p:cNvSpPr/>
          <p:nvPr/>
        </p:nvSpPr>
        <p:spPr>
          <a:xfrm>
            <a:off x="777240" y="2715768"/>
            <a:ext cx="6355080" cy="777240"/>
          </a:xfrm>
          <a:prstGeom prst="rect">
            <a:avLst/>
          </a:prstGeom>
          <a:noFill/>
          <a:ln/>
        </p:spPr>
        <p:txBody>
          <a:bodyPr wrap="square"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relax</a:t>
            </a:r>
            <a:r>
              <a:rPr lang="en-US" sz="2200" dirty="0" b="1">
                <a:solidFill>
                  <a:srgbClr val="5B3FC4"/>
                </a:solidFill>
                <a:latin typeface="Lexend Deca" pitchFamily="34" charset="0"/>
                <a:ea typeface="Lexend Deca" pitchFamily="34" charset="-122"/>
                <a:cs typeface="Lexend Deca" pitchFamily="34" charset="-120"/>
              </a:rPr>
              <a:t>ed</a:t>
            </a:r>
            <a:r>
              <a:rPr lang="en-US" sz="2200" dirty="0" b="1">
                <a:solidFill>
                  <a:srgbClr val="1B2236"/>
                </a:solidFill>
                <a:latin typeface="Lexend Deca" pitchFamily="34" charset="0"/>
                <a:ea typeface="Lexend Deca" pitchFamily="34" charset="-122"/>
                <a:cs typeface="Lexend Deca" pitchFamily="34" charset="-120"/>
              </a:rPr>
              <a:t> (t)  ·  bor</a:t>
            </a:r>
            <a:r>
              <a:rPr lang="en-US" sz="2200" dirty="0" b="1">
                <a:solidFill>
                  <a:srgbClr val="5B3FC4"/>
                </a:solidFill>
                <a:latin typeface="Lexend Deca" pitchFamily="34" charset="0"/>
                <a:ea typeface="Lexend Deca" pitchFamily="34" charset="-122"/>
                <a:cs typeface="Lexend Deca" pitchFamily="34" charset="-120"/>
              </a:rPr>
              <a:t>ed</a:t>
            </a:r>
            <a:r>
              <a:rPr lang="en-US" sz="2200" dirty="0" b="1">
                <a:solidFill>
                  <a:srgbClr val="1B2236"/>
                </a:solidFill>
                <a:latin typeface="Lexend Deca" pitchFamily="34" charset="0"/>
                <a:ea typeface="Lexend Deca" pitchFamily="34" charset="-122"/>
                <a:cs typeface="Lexend Deca" pitchFamily="34" charset="-120"/>
              </a:rPr>
              <a:t> (d)</a:t>
            </a:r>
            <a:endParaRPr lang="en-US" sz="2200" dirty="0" b="1"/>
          </a:p>
        </p:txBody>
      </p:sp>
      <p:sp>
        <p:nvSpPr>
          <p:cNvPr id="33" name="S2 card"/>
          <p:cNvSpPr/>
          <p:nvPr/>
        </p:nvSpPr>
        <p:spPr>
          <a:xfrm>
            <a:off x="548640" y="3601822"/>
            <a:ext cx="6766560" cy="777240"/>
          </a:xfrm>
          <a:prstGeom prst="round1Rect">
            <a:avLst>
              <a:gd name="adj" fmla="val 23087"/>
            </a:avLst>
          </a:prstGeom>
          <a:solidFill>
            <a:srgbClr val="FFFFFF"/>
          </a:solidFill>
          <a:ln/>
        </p:spPr>
        <p:txBody>
          <a:bodyPr/>
          <a:p/>
        </p:txBody>
      </p:sp>
      <p:sp>
        <p:nvSpPr>
          <p:cNvPr id="34" name="S2 text"/>
          <p:cNvSpPr/>
          <p:nvPr/>
        </p:nvSpPr>
        <p:spPr>
          <a:xfrm>
            <a:off x="777240" y="3601822"/>
            <a:ext cx="6355080" cy="777240"/>
          </a:xfrm>
          <a:prstGeom prst="rect">
            <a:avLst/>
          </a:prstGeom>
          <a:noFill/>
          <a:ln/>
        </p:spPr>
        <p:txBody>
          <a:bodyPr wrap="square"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interest</a:t>
            </a:r>
            <a:r>
              <a:rPr lang="en-US" sz="2200" dirty="0" b="1">
                <a:solidFill>
                  <a:srgbClr val="5B3FC4"/>
                </a:solidFill>
                <a:latin typeface="Lexend Deca" pitchFamily="34" charset="0"/>
                <a:ea typeface="Lexend Deca" pitchFamily="34" charset="-122"/>
                <a:cs typeface="Lexend Deca" pitchFamily="34" charset="-120"/>
              </a:rPr>
              <a:t>ed</a:t>
            </a:r>
            <a:r>
              <a:rPr lang="en-US" sz="2200" dirty="0" b="1">
                <a:solidFill>
                  <a:srgbClr val="1B2236"/>
                </a:solidFill>
                <a:latin typeface="Lexend Deca" pitchFamily="34" charset="0"/>
                <a:ea typeface="Lexend Deca" pitchFamily="34" charset="-122"/>
                <a:cs typeface="Lexend Deca" pitchFamily="34" charset="-120"/>
              </a:rPr>
              <a:t> (id)</a:t>
            </a:r>
            <a:endParaRPr lang="en-US" sz="2200" dirty="0" b="1"/>
          </a:p>
        </p:txBody>
      </p:sp>
      <p:sp>
        <p:nvSpPr>
          <p:cNvPr id="35" name="S3 card"/>
          <p:cNvSpPr/>
          <p:nvPr/>
        </p:nvSpPr>
        <p:spPr>
          <a:xfrm>
            <a:off x="548640" y="4487875"/>
            <a:ext cx="6766560" cy="777240"/>
          </a:xfrm>
          <a:prstGeom prst="round1Rect">
            <a:avLst>
              <a:gd name="adj" fmla="val 23087"/>
            </a:avLst>
          </a:prstGeom>
          <a:solidFill>
            <a:srgbClr val="FFFFFF"/>
          </a:solidFill>
          <a:ln/>
        </p:spPr>
        <p:txBody>
          <a:bodyPr/>
          <a:p/>
        </p:txBody>
      </p:sp>
      <p:sp>
        <p:nvSpPr>
          <p:cNvPr id="36" name="S3 text"/>
          <p:cNvSpPr/>
          <p:nvPr/>
        </p:nvSpPr>
        <p:spPr>
          <a:xfrm>
            <a:off x="777240" y="4487875"/>
            <a:ext cx="6355080" cy="777240"/>
          </a:xfrm>
          <a:prstGeom prst="rect">
            <a:avLst/>
          </a:prstGeom>
          <a:noFill/>
          <a:ln/>
        </p:spPr>
        <p:txBody>
          <a:bodyPr wrap="square"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I was bored, so I left early.</a:t>
            </a:r>
            <a:endParaRPr lang="en-US" sz="2200" dirty="0" b="1"/>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name="L3:qa">
    <p:bg>
      <p:bgPr>
        <a:solidFill>
          <a:srgbClr val="F1F5FB"/>
        </a:solidFill>
      </p:bgPr>
    </p:bg>
    <p:spTree>
      <p:nvGrpSpPr>
        <p:cNvPr id="1" name=""/>
        <p:cNvGrpSpPr/>
        <p:nvPr/>
      </p:nvGrpSpPr>
      <p:grpSpPr/>
      <p:sp>
        <p:nvSpPr>
          <p:cNvPr id="2" name="right panel"/>
          <p:cNvSpPr/>
          <p:nvPr/>
        </p:nvSpPr>
        <p:spPr>
          <a:xfrm>
            <a:off x="6742786" y="3291840"/>
            <a:ext cx="4912157" cy="3108960"/>
          </a:xfrm>
          <a:prstGeom prst="round1Rect">
            <a:avLst>
              <a:gd name="adj" fmla="val 23087"/>
            </a:avLst>
          </a:prstGeom>
          <a:solidFill>
            <a:srgbClr val="B9D2F7"/>
          </a:solidFill>
          <a:ln w="76200">
            <a:solidFill>
              <a:srgbClr val="FFFFFF"/>
            </a:solidFill>
            <a:prstDash val="solid"/>
          </a:ln>
        </p:spPr>
        <p:txBody>
          <a:bodyPr/>
          <a:p/>
        </p:txBody>
      </p:sp>
      <p:pic>
        <p:nvPicPr>
          <p:cNvPr id="18" name="pic" descr="Exciting / excited: a roller coaster, an arrow, a star-struck face"/>
          <p:cNvPicPr>
            <a:picLocks noChangeAspect="1"/>
          </p:cNvPicPr>
          <p:nvPr/>
        </p:nvPicPr>
        <p:blipFill>
          <a:blip r:embed="rId3"/>
          <a:stretch>
            <a:fillRect/>
          </a:stretch>
        </p:blipFill>
        <p:spPr>
          <a:xfrm>
            <a:off x="7818120" y="1143000"/>
            <a:ext cx="2743200" cy="1920240"/>
          </a:xfrm>
          <a:prstGeom prst="rect">
            <a:avLst/>
          </a:prstGeom>
        </p:spPr>
      </p:pic>
      <p:sp>
        <p:nvSpPr>
          <p:cNvPr id="5" name="Shape 3"/>
          <p:cNvSpPr/>
          <p:nvPr/>
        </p:nvSpPr>
        <p:spPr>
          <a:xfrm>
            <a:off x="560116" y="1350752"/>
            <a:ext cx="5663794" cy="1566367"/>
          </a:xfrm>
          <a:prstGeom prst="roundRect">
            <a:avLst>
              <a:gd name="adj" fmla="val 16667"/>
            </a:avLst>
          </a:prstGeom>
          <a:solidFill>
            <a:srgbClr val="8FAFE3"/>
          </a:solidFill>
          <a:ln/>
        </p:spPr>
        <p:txBody>
          <a:bodyPr/>
          <a:p/>
        </p:txBody>
      </p:sp>
      <p:sp>
        <p:nvSpPr>
          <p:cNvPr id="6" name="Shape 4"/>
          <p:cNvSpPr/>
          <p:nvPr/>
        </p:nvSpPr>
        <p:spPr>
          <a:xfrm>
            <a:off x="593446" y="1286561"/>
            <a:ext cx="5663794" cy="1566367"/>
          </a:xfrm>
          <a:prstGeom prst="roundRect">
            <a:avLst>
              <a:gd name="adj" fmla="val 16667"/>
            </a:avLst>
          </a:prstGeom>
          <a:solidFill>
            <a:srgbClr val="FFFFFF"/>
          </a:solidFill>
          <a:ln/>
        </p:spPr>
        <p:txBody>
          <a:bodyPr/>
          <a:p/>
        </p:txBody>
      </p:sp>
      <p:sp>
        <p:nvSpPr>
          <p:cNvPr id="7" name="head"/>
          <p:cNvSpPr/>
          <p:nvPr/>
        </p:nvSpPr>
        <p:spPr>
          <a:xfrm>
            <a:off x="832104" y="1325880"/>
            <a:ext cx="5257800" cy="150876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buNone/>
            </a:pPr>
            <a:r>
              <a:rPr lang="en-US" sz="3000" dirty="0" b="1">
                <a:solidFill>
                  <a:srgbClr val="1B2236"/>
                </a:solidFill>
                <a:latin typeface="Lexend Deca" pitchFamily="34" charset="0"/>
                <a:ea typeface="Lexend Deca" pitchFamily="34" charset="-122"/>
                <a:cs typeface="Lexend Deca" pitchFamily="34" charset="-120"/>
              </a:rPr>
              <a:t>How was it?</a:t>
            </a:r>
            <a:endParaRPr lang="en-US" sz="3000" dirty="0" b="1"/>
          </a:p>
          <a:p>
            <a:pPr algn="l" indent="0" marL="0">
              <a:buNone/>
            </a:pPr>
            <a:r>
              <a:rPr lang="en-US" sz="1800" dirty="0" b="0">
                <a:solidFill>
                  <a:srgbClr val="1B2236"/>
                </a:solidFill>
                <a:latin typeface="Lexend Deca" pitchFamily="34" charset="0"/>
                <a:ea typeface="Lexend Deca" pitchFamily="34" charset="-122"/>
                <a:cs typeface="Lexend Deca" pitchFamily="34" charset="-120"/>
              </a:rPr>
              <a:t>the thing: -ing</a:t>
            </a:r>
            <a:endParaRPr lang="en-US" sz="1800" dirty="0" b="0"/>
          </a:p>
        </p:txBody>
      </p:sp>
      <p:sp>
        <p:nvSpPr>
          <p:cNvPr id="8" name="left panel"/>
          <p:cNvSpPr/>
          <p:nvPr/>
        </p:nvSpPr>
        <p:spPr>
          <a:xfrm>
            <a:off x="1305763" y="3291840"/>
            <a:ext cx="4790542" cy="3108960"/>
          </a:xfrm>
          <a:prstGeom prst="round1Rect">
            <a:avLst>
              <a:gd name="adj" fmla="val 23087"/>
            </a:avLst>
          </a:prstGeom>
          <a:solidFill>
            <a:srgbClr val="FFFFFF"/>
          </a:solidFill>
          <a:ln w="25400">
            <a:solidFill>
              <a:srgbClr val="8FAFE3"/>
            </a:solidFill>
            <a:prstDash val="solid"/>
          </a:ln>
        </p:spPr>
        <p:txBody>
          <a:bodyPr/>
          <a:p/>
        </p:txBody>
      </p:sp>
      <p:sp>
        <p:nvSpPr>
          <p:cNvPr id="19" name="Q head"/>
          <p:cNvSpPr/>
          <p:nvPr/>
        </p:nvSpPr>
        <p:spPr>
          <a:xfrm>
            <a:off x="192024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20" name="A head"/>
          <p:cNvSpPr/>
          <p:nvPr/>
        </p:nvSpPr>
        <p:spPr>
          <a:xfrm>
            <a:off x="704088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21" name="Highlight 1"/>
          <p:cNvSpPr/>
          <p:nvPr/>
        </p:nvSpPr>
        <p:spPr>
          <a:xfrm>
            <a:off x="1481328" y="4293108"/>
            <a:ext cx="192024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Helper 1"/>
          <p:cNvSpPr/>
          <p:nvPr/>
        </p:nvSpPr>
        <p:spPr>
          <a:xfrm>
            <a:off x="1481328" y="3977640"/>
            <a:ext cx="1920240" cy="1179576"/>
          </a:xfrm>
          <a:prstGeom prst="rect">
            <a:avLst/>
          </a:prstGeom>
          <a:no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How was</a:t>
            </a:r>
            <a:endParaRPr lang="en-US" sz="1500" dirty="0" b="1"/>
          </a:p>
        </p:txBody>
      </p:sp>
      <p:sp>
        <p:nvSpPr>
          <p:cNvPr id="23" name="Question 1"/>
          <p:cNvSpPr/>
          <p:nvPr/>
        </p:nvSpPr>
        <p:spPr>
          <a:xfrm>
            <a:off x="3493008" y="3977640"/>
            <a:ext cx="2514600" cy="117957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concert? / the festival?</a:t>
            </a:r>
            <a:endParaRPr lang="en-US" sz="1700" dirty="0" b="1"/>
          </a:p>
        </p:txBody>
      </p:sp>
      <p:sp>
        <p:nvSpPr>
          <p:cNvPr id="24" name="Answer bg 1"/>
          <p:cNvSpPr/>
          <p:nvPr/>
        </p:nvSpPr>
        <p:spPr>
          <a:xfrm>
            <a:off x="6949440" y="3977640"/>
            <a:ext cx="4526280" cy="1179576"/>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5" name="Answer 1"/>
          <p:cNvSpPr/>
          <p:nvPr/>
        </p:nvSpPr>
        <p:spPr>
          <a:xfrm>
            <a:off x="6949440" y="3977640"/>
            <a:ext cx="4526280" cy="1179576"/>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was</a:t>
            </a:r>
            <a:r>
              <a:rPr lang="en-US" sz="1800" dirty="0" b="1">
                <a:solidFill>
                  <a:srgbClr val="1B2236"/>
                </a:solidFill>
                <a:latin typeface="Lexend Deca" pitchFamily="34" charset="0"/>
                <a:ea typeface="Lexend Deca" pitchFamily="34" charset="-122"/>
                <a:cs typeface="Lexend Deca" pitchFamily="34" charset="-120"/>
              </a:rPr>
              <a:t> excit</a:t>
            </a:r>
            <a:r>
              <a:rPr lang="en-US" sz="1800" dirty="0" b="1">
                <a:solidFill>
                  <a:srgbClr val="1B2236"/>
                </a:solidFill>
                <a:latin typeface="Lexend Deca" pitchFamily="34" charset="0"/>
                <a:ea typeface="Lexend Deca" pitchFamily="34" charset="-122"/>
                <a:cs typeface="Lexend Deca" pitchFamily="34" charset="-120"/>
              </a:rPr>
              <a:t>ing</a:t>
            </a:r>
            <a:r>
              <a:rPr lang="en-US" sz="1800" dirty="0" b="1">
                <a:solidFill>
                  <a:srgbClr val="1B2236"/>
                </a:solidFill>
                <a:latin typeface="Lexend Deca" pitchFamily="34" charset="0"/>
                <a:ea typeface="Lexend Deca" pitchFamily="34" charset="-122"/>
                <a:cs typeface="Lexend Deca" pitchFamily="34" charset="-120"/>
              </a:rPr>
              <a:t>! / bor</a:t>
            </a:r>
            <a:r>
              <a:rPr lang="en-US" sz="1800" dirty="0" b="1">
                <a:solidFill>
                  <a:srgbClr val="1B2236"/>
                </a:solidFill>
                <a:latin typeface="Lexend Deca" pitchFamily="34" charset="0"/>
                <a:ea typeface="Lexend Deca" pitchFamily="34" charset="-122"/>
                <a:cs typeface="Lexend Deca" pitchFamily="34" charset="-120"/>
              </a:rPr>
              <a:t>ing</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p:txBody>
      </p:sp>
      <p:sp>
        <p:nvSpPr>
          <p:cNvPr id="26" name="Highlight 2"/>
          <p:cNvSpPr/>
          <p:nvPr/>
        </p:nvSpPr>
        <p:spPr>
          <a:xfrm>
            <a:off x="1481328" y="5518404"/>
            <a:ext cx="192024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Helper 2"/>
          <p:cNvSpPr/>
          <p:nvPr/>
        </p:nvSpPr>
        <p:spPr>
          <a:xfrm>
            <a:off x="1481328" y="5202936"/>
            <a:ext cx="1920240" cy="1179576"/>
          </a:xfrm>
          <a:prstGeom prst="rect">
            <a:avLst/>
          </a:prstGeom>
          <a:no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Was</a:t>
            </a:r>
            <a:r>
              <a:rPr lang="en-US" sz="1500" dirty="0" b="1">
                <a:solidFill>
                  <a:srgbClr val="1B2236"/>
                </a:solidFill>
                <a:latin typeface="Lexend Deca" pitchFamily="34" charset="0"/>
                <a:ea typeface="Lexend Deca" pitchFamily="34" charset="-122"/>
                <a:cs typeface="Lexend Deca" pitchFamily="34" charset="-120"/>
              </a:rPr>
              <a:t> the workshop</a:t>
            </a:r>
            <a:endParaRPr lang="en-US" sz="1500" dirty="0" b="1"/>
          </a:p>
        </p:txBody>
      </p:sp>
      <p:sp>
        <p:nvSpPr>
          <p:cNvPr id="28" name="Question 2"/>
          <p:cNvSpPr/>
          <p:nvPr/>
        </p:nvSpPr>
        <p:spPr>
          <a:xfrm>
            <a:off x="3493008" y="5202936"/>
            <a:ext cx="2514600" cy="117957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interest</a:t>
            </a:r>
            <a:r>
              <a:rPr lang="en-US" sz="1700" dirty="0" b="1">
                <a:solidFill>
                  <a:srgbClr val="1B2236"/>
                </a:solidFill>
                <a:latin typeface="Lexend Deca" pitchFamily="34" charset="0"/>
                <a:ea typeface="Lexend Deca" pitchFamily="34" charset="-122"/>
                <a:cs typeface="Lexend Deca" pitchFamily="34" charset="-120"/>
              </a:rPr>
              <a:t>ing</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9" name="Answer bg 2"/>
          <p:cNvSpPr/>
          <p:nvPr/>
        </p:nvSpPr>
        <p:spPr>
          <a:xfrm>
            <a:off x="6949440" y="5202936"/>
            <a:ext cx="4526280" cy="1179576"/>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0" name="Answer 2"/>
          <p:cNvSpPr/>
          <p:nvPr/>
        </p:nvSpPr>
        <p:spPr>
          <a:xfrm>
            <a:off x="6949440" y="5202936"/>
            <a:ext cx="4526280" cy="1179576"/>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it was. / No, it was confus</a:t>
            </a:r>
            <a:r>
              <a:rPr lang="en-US" sz="1800" dirty="0" b="1">
                <a:solidFill>
                  <a:srgbClr val="1B2236"/>
                </a:solidFill>
                <a:latin typeface="Lexend Deca" pitchFamily="34" charset="0"/>
                <a:ea typeface="Lexend Deca" pitchFamily="34" charset="-122"/>
                <a:cs typeface="Lexend Deca" pitchFamily="34" charset="-120"/>
              </a:rPr>
              <a:t>ing</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name="L3:qa">
    <p:bg>
      <p:bgPr>
        <a:solidFill>
          <a:srgbClr val="F1F5FB"/>
        </a:solidFill>
      </p:bgPr>
    </p:bg>
    <p:spTree>
      <p:nvGrpSpPr>
        <p:cNvPr id="1" name=""/>
        <p:cNvGrpSpPr/>
        <p:nvPr/>
      </p:nvGrpSpPr>
      <p:grpSpPr/>
      <p:sp>
        <p:nvSpPr>
          <p:cNvPr id="2" name="right panel"/>
          <p:cNvSpPr/>
          <p:nvPr/>
        </p:nvSpPr>
        <p:spPr>
          <a:xfrm>
            <a:off x="6742786" y="3291840"/>
            <a:ext cx="4912157" cy="3108960"/>
          </a:xfrm>
          <a:prstGeom prst="round1Rect">
            <a:avLst>
              <a:gd name="adj" fmla="val 23087"/>
            </a:avLst>
          </a:prstGeom>
          <a:solidFill>
            <a:srgbClr val="B9D2F7"/>
          </a:solidFill>
          <a:ln w="76200">
            <a:solidFill>
              <a:srgbClr val="FFFFFF"/>
            </a:solidFill>
            <a:prstDash val="solid"/>
          </a:ln>
        </p:spPr>
        <p:txBody>
          <a:bodyPr/>
          <a:p/>
        </p:txBody>
      </p:sp>
      <p:pic>
        <p:nvPicPr>
          <p:cNvPr id="18" name="pic" descr="Tiring / tired: a runner, an arrow, a tired face"/>
          <p:cNvPicPr>
            <a:picLocks noChangeAspect="1"/>
          </p:cNvPicPr>
          <p:nvPr/>
        </p:nvPicPr>
        <p:blipFill>
          <a:blip r:embed="rId3"/>
          <a:stretch>
            <a:fillRect/>
          </a:stretch>
        </p:blipFill>
        <p:spPr>
          <a:xfrm>
            <a:off x="7818120" y="1143000"/>
            <a:ext cx="2743200" cy="1920240"/>
          </a:xfrm>
          <a:prstGeom prst="rect">
            <a:avLst/>
          </a:prstGeom>
        </p:spPr>
      </p:pic>
      <p:sp>
        <p:nvSpPr>
          <p:cNvPr id="5" name="Shape 3"/>
          <p:cNvSpPr/>
          <p:nvPr/>
        </p:nvSpPr>
        <p:spPr>
          <a:xfrm>
            <a:off x="560116" y="1350752"/>
            <a:ext cx="5663794" cy="1566367"/>
          </a:xfrm>
          <a:prstGeom prst="roundRect">
            <a:avLst>
              <a:gd name="adj" fmla="val 16667"/>
            </a:avLst>
          </a:prstGeom>
          <a:solidFill>
            <a:srgbClr val="8FAFE3"/>
          </a:solidFill>
          <a:ln/>
        </p:spPr>
        <p:txBody>
          <a:bodyPr/>
          <a:p/>
        </p:txBody>
      </p:sp>
      <p:sp>
        <p:nvSpPr>
          <p:cNvPr id="6" name="Shape 4"/>
          <p:cNvSpPr/>
          <p:nvPr/>
        </p:nvSpPr>
        <p:spPr>
          <a:xfrm>
            <a:off x="593446" y="1286561"/>
            <a:ext cx="5663794" cy="1566367"/>
          </a:xfrm>
          <a:prstGeom prst="roundRect">
            <a:avLst>
              <a:gd name="adj" fmla="val 16667"/>
            </a:avLst>
          </a:prstGeom>
          <a:solidFill>
            <a:srgbClr val="FFFFFF"/>
          </a:solidFill>
          <a:ln/>
        </p:spPr>
        <p:txBody>
          <a:bodyPr/>
          <a:p/>
        </p:txBody>
      </p:sp>
      <p:sp>
        <p:nvSpPr>
          <p:cNvPr id="7" name="head"/>
          <p:cNvSpPr/>
          <p:nvPr/>
        </p:nvSpPr>
        <p:spPr>
          <a:xfrm>
            <a:off x="832104" y="1325880"/>
            <a:ext cx="5257800" cy="150876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buNone/>
            </a:pPr>
            <a:r>
              <a:rPr lang="en-US" sz="3000" dirty="0" b="1">
                <a:solidFill>
                  <a:srgbClr val="1B2236"/>
                </a:solidFill>
                <a:latin typeface="Lexend Deca" pitchFamily="34" charset="0"/>
                <a:ea typeface="Lexend Deca" pitchFamily="34" charset="-122"/>
                <a:cs typeface="Lexend Deca" pitchFamily="34" charset="-120"/>
              </a:rPr>
              <a:t>How did you feel?</a:t>
            </a:r>
            <a:endParaRPr lang="en-US" sz="3000" dirty="0" b="1"/>
          </a:p>
          <a:p>
            <a:pPr algn="l" indent="0" marL="0">
              <a:buNone/>
            </a:pPr>
            <a:r>
              <a:rPr lang="en-US" sz="1800" dirty="0" b="0">
                <a:solidFill>
                  <a:srgbClr val="1B2236"/>
                </a:solidFill>
                <a:latin typeface="Lexend Deca" pitchFamily="34" charset="0"/>
                <a:ea typeface="Lexend Deca" pitchFamily="34" charset="-122"/>
                <a:cs typeface="Lexend Deca" pitchFamily="34" charset="-120"/>
              </a:rPr>
              <a:t>the person: -ed</a:t>
            </a:r>
            <a:endParaRPr lang="en-US" sz="1800" dirty="0" b="0"/>
          </a:p>
        </p:txBody>
      </p:sp>
      <p:sp>
        <p:nvSpPr>
          <p:cNvPr id="8" name="left panel"/>
          <p:cNvSpPr/>
          <p:nvPr/>
        </p:nvSpPr>
        <p:spPr>
          <a:xfrm>
            <a:off x="1305763" y="3291840"/>
            <a:ext cx="4790542" cy="3108960"/>
          </a:xfrm>
          <a:prstGeom prst="round1Rect">
            <a:avLst>
              <a:gd name="adj" fmla="val 23087"/>
            </a:avLst>
          </a:prstGeom>
          <a:solidFill>
            <a:srgbClr val="FFFFFF"/>
          </a:solidFill>
          <a:ln w="25400">
            <a:solidFill>
              <a:srgbClr val="8FAFE3"/>
            </a:solidFill>
            <a:prstDash val="solid"/>
          </a:ln>
        </p:spPr>
        <p:txBody>
          <a:bodyPr/>
          <a:p/>
        </p:txBody>
      </p:sp>
      <p:sp>
        <p:nvSpPr>
          <p:cNvPr id="19" name="Q head"/>
          <p:cNvSpPr/>
          <p:nvPr/>
        </p:nvSpPr>
        <p:spPr>
          <a:xfrm>
            <a:off x="192024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20" name="A head"/>
          <p:cNvSpPr/>
          <p:nvPr/>
        </p:nvSpPr>
        <p:spPr>
          <a:xfrm>
            <a:off x="704088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21" name="Highlight 1"/>
          <p:cNvSpPr/>
          <p:nvPr/>
        </p:nvSpPr>
        <p:spPr>
          <a:xfrm>
            <a:off x="1481328" y="4069080"/>
            <a:ext cx="182880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Helper 1"/>
          <p:cNvSpPr/>
          <p:nvPr/>
        </p:nvSpPr>
        <p:spPr>
          <a:xfrm>
            <a:off x="1481328" y="3977640"/>
            <a:ext cx="1828800" cy="731520"/>
          </a:xfrm>
          <a:prstGeom prst="rect">
            <a:avLst/>
          </a:prstGeom>
          <a:no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How did you</a:t>
            </a:r>
            <a:endParaRPr lang="en-US" sz="1500" dirty="0" b="1"/>
          </a:p>
        </p:txBody>
      </p:sp>
      <p:sp>
        <p:nvSpPr>
          <p:cNvPr id="23" name="Question 1"/>
          <p:cNvSpPr/>
          <p:nvPr/>
        </p:nvSpPr>
        <p:spPr>
          <a:xfrm>
            <a:off x="3401568" y="3977640"/>
            <a:ext cx="2606040" cy="7315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feel</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4" name="Answer bg 1"/>
          <p:cNvSpPr/>
          <p:nvPr/>
        </p:nvSpPr>
        <p:spPr>
          <a:xfrm>
            <a:off x="6949440" y="397764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5" name="Answer 1"/>
          <p:cNvSpPr/>
          <p:nvPr/>
        </p:nvSpPr>
        <p:spPr>
          <a:xfrm>
            <a:off x="6949440" y="397764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was</a:t>
            </a:r>
            <a:r>
              <a:rPr lang="en-US" sz="1800" dirty="0" b="1">
                <a:solidFill>
                  <a:srgbClr val="1B2236"/>
                </a:solidFill>
                <a:latin typeface="Lexend Deca" pitchFamily="34" charset="0"/>
                <a:ea typeface="Lexend Deca" pitchFamily="34" charset="-122"/>
                <a:cs typeface="Lexend Deca" pitchFamily="34" charset="-120"/>
              </a:rPr>
              <a:t> excit</a:t>
            </a:r>
            <a:r>
              <a:rPr lang="en-US" sz="1800" dirty="0" b="1">
                <a:solidFill>
                  <a:srgbClr val="1B2236"/>
                </a:solidFill>
                <a:latin typeface="Lexend Deca" pitchFamily="34" charset="0"/>
                <a:ea typeface="Lexend Deca" pitchFamily="34" charset="-122"/>
                <a:cs typeface="Lexend Deca" pitchFamily="34" charset="-120"/>
              </a:rPr>
              <a:t>ed</a:t>
            </a:r>
            <a:r>
              <a:rPr lang="en-US" sz="1800" dirty="0" b="1">
                <a:solidFill>
                  <a:srgbClr val="1B2236"/>
                </a:solidFill>
                <a:latin typeface="Lexend Deca" pitchFamily="34" charset="0"/>
                <a:ea typeface="Lexend Deca" pitchFamily="34" charset="-122"/>
                <a:cs typeface="Lexend Deca" pitchFamily="34" charset="-120"/>
              </a:rPr>
              <a:t>. / bor</a:t>
            </a:r>
            <a:r>
              <a:rPr lang="en-US" sz="1800" dirty="0" b="1">
                <a:solidFill>
                  <a:srgbClr val="1B2236"/>
                </a:solidFill>
                <a:latin typeface="Lexend Deca" pitchFamily="34" charset="0"/>
                <a:ea typeface="Lexend Deca" pitchFamily="34" charset="-122"/>
                <a:cs typeface="Lexend Deca" pitchFamily="34" charset="-120"/>
              </a:rPr>
              <a:t>ed</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p:txBody>
      </p:sp>
      <p:sp>
        <p:nvSpPr>
          <p:cNvPr id="26" name="Highlight 2"/>
          <p:cNvSpPr/>
          <p:nvPr/>
        </p:nvSpPr>
        <p:spPr>
          <a:xfrm>
            <a:off x="1481328" y="4846320"/>
            <a:ext cx="182880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Helper 2"/>
          <p:cNvSpPr/>
          <p:nvPr/>
        </p:nvSpPr>
        <p:spPr>
          <a:xfrm>
            <a:off x="1481328" y="4754880"/>
            <a:ext cx="1828800" cy="731520"/>
          </a:xfrm>
          <a:prstGeom prst="rect">
            <a:avLst/>
          </a:prstGeom>
          <a:no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Were you</a:t>
            </a:r>
            <a:endParaRPr lang="en-US" sz="1500" dirty="0" b="1"/>
          </a:p>
        </p:txBody>
      </p:sp>
      <p:sp>
        <p:nvSpPr>
          <p:cNvPr id="28" name="Question 2"/>
          <p:cNvSpPr/>
          <p:nvPr/>
        </p:nvSpPr>
        <p:spPr>
          <a:xfrm>
            <a:off x="3401568" y="4754880"/>
            <a:ext cx="2606040" cy="7315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interest</a:t>
            </a:r>
            <a:r>
              <a:rPr lang="en-US" sz="1700" dirty="0" b="1">
                <a:solidFill>
                  <a:srgbClr val="1B2236"/>
                </a:solidFill>
                <a:latin typeface="Lexend Deca" pitchFamily="34" charset="0"/>
                <a:ea typeface="Lexend Deca" pitchFamily="34" charset="-122"/>
                <a:cs typeface="Lexend Deca" pitchFamily="34" charset="-120"/>
              </a:rPr>
              <a:t>ed</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9" name="Answer bg 2"/>
          <p:cNvSpPr/>
          <p:nvPr/>
        </p:nvSpPr>
        <p:spPr>
          <a:xfrm>
            <a:off x="6949440" y="475488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0" name="Answer 2"/>
          <p:cNvSpPr/>
          <p:nvPr/>
        </p:nvSpPr>
        <p:spPr>
          <a:xfrm>
            <a:off x="6949440" y="475488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was very interest</a:t>
            </a:r>
            <a:r>
              <a:rPr lang="en-US" sz="1800" dirty="0" b="1">
                <a:solidFill>
                  <a:srgbClr val="1B2236"/>
                </a:solidFill>
                <a:latin typeface="Lexend Deca" pitchFamily="34" charset="0"/>
                <a:ea typeface="Lexend Deca" pitchFamily="34" charset="-122"/>
                <a:cs typeface="Lexend Deca" pitchFamily="34" charset="-120"/>
              </a:rPr>
              <a:t>ed</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p:txBody>
      </p:sp>
      <p:sp>
        <p:nvSpPr>
          <p:cNvPr id="31" name="Highlight 3"/>
          <p:cNvSpPr/>
          <p:nvPr/>
        </p:nvSpPr>
        <p:spPr>
          <a:xfrm>
            <a:off x="1481328" y="5623560"/>
            <a:ext cx="182880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Helper 3"/>
          <p:cNvSpPr/>
          <p:nvPr/>
        </p:nvSpPr>
        <p:spPr>
          <a:xfrm>
            <a:off x="1481328" y="5532120"/>
            <a:ext cx="1828800" cy="731520"/>
          </a:xfrm>
          <a:prstGeom prst="rect">
            <a:avLst/>
          </a:prstGeom>
          <a:no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Was she</a:t>
            </a:r>
            <a:endParaRPr lang="en-US" sz="1500" dirty="0" b="1"/>
          </a:p>
        </p:txBody>
      </p:sp>
      <p:sp>
        <p:nvSpPr>
          <p:cNvPr id="33" name="Question 3"/>
          <p:cNvSpPr/>
          <p:nvPr/>
        </p:nvSpPr>
        <p:spPr>
          <a:xfrm>
            <a:off x="3401568" y="5532120"/>
            <a:ext cx="2606040" cy="7315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tir</a:t>
            </a:r>
            <a:r>
              <a:rPr lang="en-US" sz="1700" dirty="0" b="1">
                <a:solidFill>
                  <a:srgbClr val="1B2236"/>
                </a:solidFill>
                <a:latin typeface="Lexend Deca" pitchFamily="34" charset="0"/>
                <a:ea typeface="Lexend Deca" pitchFamily="34" charset="-122"/>
                <a:cs typeface="Lexend Deca" pitchFamily="34" charset="-120"/>
              </a:rPr>
              <a:t>ed</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4" name="Answer bg 3"/>
          <p:cNvSpPr/>
          <p:nvPr/>
        </p:nvSpPr>
        <p:spPr>
          <a:xfrm>
            <a:off x="6949440" y="553212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3"/>
          <p:cNvSpPr/>
          <p:nvPr/>
        </p:nvSpPr>
        <p:spPr>
          <a:xfrm>
            <a:off x="6949440" y="553212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she was tir</a:t>
            </a:r>
            <a:r>
              <a:rPr lang="en-US" sz="1800" dirty="0" b="1">
                <a:solidFill>
                  <a:srgbClr val="1B2236"/>
                </a:solidFill>
                <a:latin typeface="Lexend Deca" pitchFamily="34" charset="0"/>
                <a:ea typeface="Lexend Deca" pitchFamily="34" charset="-122"/>
                <a:cs typeface="Lexend Deca" pitchFamily="34" charset="-120"/>
              </a:rPr>
              <a:t>ed</a:t>
            </a:r>
            <a:r>
              <a:rPr lang="en-US" sz="1800" dirty="0" b="1">
                <a:solidFill>
                  <a:srgbClr val="1B2236"/>
                </a:solidFill>
                <a:latin typeface="Lexend Deca" pitchFamily="34" charset="0"/>
                <a:ea typeface="Lexend Deca" pitchFamily="34" charset="-122"/>
                <a:cs typeface="Lexend Deca" pitchFamily="34" charset="-120"/>
              </a:rPr>
              <a:t> at the end.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eview (stars): a drawn review card: 4 of 5 stars, &quot;Great food! The music was fun.&qu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An Opinion + a Reason</a:t>
            </a:r>
            <a:endParaRPr lang="en-US" sz="2800" dirty="0" b="1"/>
          </a:p>
        </p:txBody>
      </p:sp>
      <p:sp>
        <p:nvSpPr>
          <p:cNvPr id="8" name="Q head"/>
          <p:cNvSpPr/>
          <p:nvPr/>
        </p:nvSpPr>
        <p:spPr>
          <a:xfrm>
            <a:off x="5166360" y="1828800"/>
            <a:ext cx="21945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406640" y="1828800"/>
            <a:ext cx="45262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194560" cy="1207008"/>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What did you think?</a:t>
            </a:r>
            <a:endParaRPr lang="en-US" sz="2000" dirty="0" b="1"/>
          </a:p>
        </p:txBody>
      </p:sp>
      <p:sp>
        <p:nvSpPr>
          <p:cNvPr id="19" name="Answer bg 1"/>
          <p:cNvSpPr/>
          <p:nvPr/>
        </p:nvSpPr>
        <p:spPr>
          <a:xfrm>
            <a:off x="7406640" y="2286000"/>
            <a:ext cx="45262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406640" y="2286000"/>
            <a:ext cx="452628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thought it was</a:t>
            </a:r>
            <a:r>
              <a:rPr lang="en-US" sz="1800" dirty="0" b="1">
                <a:solidFill>
                  <a:srgbClr val="1B2236"/>
                </a:solidFill>
                <a:latin typeface="Lexend Deca" pitchFamily="34" charset="0"/>
                <a:ea typeface="Lexend Deca" pitchFamily="34" charset="-122"/>
                <a:cs typeface="Lexend Deca" pitchFamily="34" charset="-120"/>
              </a:rPr>
              <a:t> confus</a:t>
            </a:r>
            <a:r>
              <a:rPr lang="en-US" sz="1800" dirty="0" b="1">
                <a:solidFill>
                  <a:srgbClr val="1B2236"/>
                </a:solidFill>
                <a:latin typeface="Lexend Deca" pitchFamily="34" charset="0"/>
                <a:ea typeface="Lexend Deca" pitchFamily="34" charset="-122"/>
                <a:cs typeface="Lexend Deca" pitchFamily="34" charset="-120"/>
              </a:rPr>
              <a:t>ing</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so</a:t>
            </a:r>
            <a:r>
              <a:rPr lang="en-US" sz="1800" dirty="0" b="1">
                <a:solidFill>
                  <a:srgbClr val="1B2236"/>
                </a:solidFill>
                <a:latin typeface="Lexend Deca" pitchFamily="34" charset="0"/>
                <a:ea typeface="Lexend Deca" pitchFamily="34" charset="-122"/>
                <a:cs typeface="Lexend Deca" pitchFamily="34" charset="-120"/>
              </a:rPr>
              <a:t> I left early.</a:t>
            </a:r>
            <a:endParaRPr lang="en-US" sz="1800" dirty="0" b="1"/>
          </a:p>
        </p:txBody>
      </p:sp>
      <p:sp>
        <p:nvSpPr>
          <p:cNvPr id="21" name="Question 2"/>
          <p:cNvSpPr/>
          <p:nvPr/>
        </p:nvSpPr>
        <p:spPr>
          <a:xfrm>
            <a:off x="5138928" y="3566160"/>
            <a:ext cx="2194560" cy="1207008"/>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Did you like it?</a:t>
            </a:r>
            <a:endParaRPr lang="en-US" sz="2000" dirty="0" b="1"/>
          </a:p>
        </p:txBody>
      </p:sp>
      <p:sp>
        <p:nvSpPr>
          <p:cNvPr id="22" name="Answer bg 2"/>
          <p:cNvSpPr/>
          <p:nvPr/>
        </p:nvSpPr>
        <p:spPr>
          <a:xfrm>
            <a:off x="7406640" y="3566160"/>
            <a:ext cx="45262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406640" y="3566160"/>
            <a:ext cx="452628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a:t>
            </a:r>
            <a:r>
              <a:rPr lang="en-US" sz="1800" dirty="0" b="1">
                <a:solidFill>
                  <a:srgbClr val="1B2236"/>
                </a:solidFill>
                <a:latin typeface="Lexend Deca" pitchFamily="34" charset="0"/>
                <a:ea typeface="Lexend Deca" pitchFamily="34" charset="-122"/>
                <a:cs typeface="Lexend Deca" pitchFamily="34" charset="-120"/>
              </a:rPr>
              <a:t>I thought it was</a:t>
            </a:r>
            <a:r>
              <a:rPr lang="en-US" sz="1800" dirty="0" b="1">
                <a:solidFill>
                  <a:srgbClr val="1B2236"/>
                </a:solidFill>
                <a:latin typeface="Lexend Deca" pitchFamily="34" charset="0"/>
                <a:ea typeface="Lexend Deca" pitchFamily="34" charset="-122"/>
                <a:cs typeface="Lexend Deca" pitchFamily="34" charset="-120"/>
              </a:rPr>
              <a:t> relax</a:t>
            </a:r>
            <a:r>
              <a:rPr lang="en-US" sz="1800" dirty="0" b="1">
                <a:solidFill>
                  <a:srgbClr val="1B2236"/>
                </a:solidFill>
                <a:latin typeface="Lexend Deca" pitchFamily="34" charset="0"/>
                <a:ea typeface="Lexend Deca" pitchFamily="34" charset="-122"/>
                <a:cs typeface="Lexend Deca" pitchFamily="34" charset="-120"/>
              </a:rPr>
              <a:t>ing</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because</a:t>
            </a:r>
            <a:r>
              <a:rPr lang="en-US" sz="1800" dirty="0" b="1">
                <a:solidFill>
                  <a:srgbClr val="1B2236"/>
                </a:solidFill>
                <a:latin typeface="Lexend Deca" pitchFamily="34" charset="0"/>
                <a:ea typeface="Lexend Deca" pitchFamily="34" charset="-122"/>
                <a:cs typeface="Lexend Deca" pitchFamily="34" charset="-120"/>
              </a:rPr>
              <a:t> the music was soft.</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urprising / surprised: a gift, an arrow, a surprised fac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600" dirty="0" b="1">
                <a:solidFill>
                  <a:srgbClr val="1B2236"/>
                </a:solidFill>
                <a:latin typeface="Lexend Deca" pitchFamily="34" charset="0"/>
                <a:ea typeface="Lexend Deca" pitchFamily="34" charset="-122"/>
                <a:cs typeface="Lexend Deca" pitchFamily="34" charset="-120"/>
              </a:rPr>
              <a:t>-ing or -ed?</a:t>
            </a:r>
            <a:endParaRPr lang="en-US" sz="26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THE THING: It was…</a:t>
            </a:r>
            <a:endParaRPr lang="en-US" sz="16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THE PERSON: I was…</a:t>
            </a:r>
            <a:endParaRPr lang="en-US" sz="1600" dirty="0" b="1"/>
          </a:p>
        </p:txBody>
      </p:sp>
      <p:sp>
        <p:nvSpPr>
          <p:cNvPr id="18" name="Question 1"/>
          <p:cNvSpPr/>
          <p:nvPr/>
        </p:nvSpPr>
        <p:spPr>
          <a:xfrm>
            <a:off x="5138928" y="2286000"/>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exciting</a:t>
            </a:r>
            <a:endParaRPr lang="en-US" sz="1900" dirty="0" b="1"/>
          </a:p>
        </p:txBody>
      </p:sp>
      <p:sp>
        <p:nvSpPr>
          <p:cNvPr id="19" name="Answer bg 1"/>
          <p:cNvSpPr/>
          <p:nvPr/>
        </p:nvSpPr>
        <p:spPr>
          <a:xfrm>
            <a:off x="7863840" y="2286000"/>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excited</a:t>
            </a:r>
            <a:endParaRPr lang="en-US" sz="1900" dirty="0" b="1"/>
          </a:p>
        </p:txBody>
      </p:sp>
      <p:sp>
        <p:nvSpPr>
          <p:cNvPr id="21" name="Question 2"/>
          <p:cNvSpPr/>
          <p:nvPr/>
        </p:nvSpPr>
        <p:spPr>
          <a:xfrm>
            <a:off x="5138928" y="2889504"/>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boring</a:t>
            </a:r>
            <a:endParaRPr lang="en-US" sz="1900" dirty="0" b="1"/>
          </a:p>
        </p:txBody>
      </p:sp>
      <p:sp>
        <p:nvSpPr>
          <p:cNvPr id="22" name="Answer bg 2"/>
          <p:cNvSpPr/>
          <p:nvPr/>
        </p:nvSpPr>
        <p:spPr>
          <a:xfrm>
            <a:off x="7863840" y="2889504"/>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2889504"/>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bored</a:t>
            </a:r>
            <a:endParaRPr lang="en-US" sz="1900" dirty="0" b="1"/>
          </a:p>
        </p:txBody>
      </p:sp>
      <p:sp>
        <p:nvSpPr>
          <p:cNvPr id="24" name="Question 3"/>
          <p:cNvSpPr/>
          <p:nvPr/>
        </p:nvSpPr>
        <p:spPr>
          <a:xfrm>
            <a:off x="5138928" y="3493008"/>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interesting</a:t>
            </a:r>
            <a:endParaRPr lang="en-US" sz="1900" dirty="0" b="1"/>
          </a:p>
        </p:txBody>
      </p:sp>
      <p:sp>
        <p:nvSpPr>
          <p:cNvPr id="25" name="Answer bg 3"/>
          <p:cNvSpPr/>
          <p:nvPr/>
        </p:nvSpPr>
        <p:spPr>
          <a:xfrm>
            <a:off x="7863840" y="3493008"/>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3493008"/>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interested</a:t>
            </a:r>
            <a:endParaRPr lang="en-US" sz="1900" dirty="0" b="1"/>
          </a:p>
        </p:txBody>
      </p:sp>
      <p:sp>
        <p:nvSpPr>
          <p:cNvPr id="27" name="Question 4"/>
          <p:cNvSpPr/>
          <p:nvPr/>
        </p:nvSpPr>
        <p:spPr>
          <a:xfrm>
            <a:off x="5138928" y="4096512"/>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confusing</a:t>
            </a:r>
            <a:endParaRPr lang="en-US" sz="1900" dirty="0" b="1"/>
          </a:p>
        </p:txBody>
      </p:sp>
      <p:sp>
        <p:nvSpPr>
          <p:cNvPr id="28" name="Answer bg 4"/>
          <p:cNvSpPr/>
          <p:nvPr/>
        </p:nvSpPr>
        <p:spPr>
          <a:xfrm>
            <a:off x="7863840" y="4096512"/>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4096512"/>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confused</a:t>
            </a:r>
            <a:endParaRPr lang="en-US" sz="1900" dirty="0" b="1"/>
          </a:p>
        </p:txBody>
      </p:sp>
      <p:sp>
        <p:nvSpPr>
          <p:cNvPr id="30" name="Question 5"/>
          <p:cNvSpPr/>
          <p:nvPr/>
        </p:nvSpPr>
        <p:spPr>
          <a:xfrm>
            <a:off x="5138928" y="4700016"/>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relaxing</a:t>
            </a:r>
            <a:endParaRPr lang="en-US" sz="1900" dirty="0" b="1"/>
          </a:p>
        </p:txBody>
      </p:sp>
      <p:sp>
        <p:nvSpPr>
          <p:cNvPr id="31" name="Answer bg 5"/>
          <p:cNvSpPr/>
          <p:nvPr/>
        </p:nvSpPr>
        <p:spPr>
          <a:xfrm>
            <a:off x="7863840" y="4700016"/>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7863840" y="4700016"/>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relaxed</a:t>
            </a:r>
            <a:endParaRPr lang="en-US" sz="1900" dirty="0" b="1"/>
          </a:p>
        </p:txBody>
      </p:sp>
      <p:sp>
        <p:nvSpPr>
          <p:cNvPr id="33" name="Question 6"/>
          <p:cNvSpPr/>
          <p:nvPr/>
        </p:nvSpPr>
        <p:spPr>
          <a:xfrm>
            <a:off x="5138928" y="5303520"/>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tiring</a:t>
            </a:r>
            <a:endParaRPr lang="en-US" sz="1900" dirty="0" b="1"/>
          </a:p>
        </p:txBody>
      </p:sp>
      <p:sp>
        <p:nvSpPr>
          <p:cNvPr id="34" name="Answer bg 6"/>
          <p:cNvSpPr/>
          <p:nvPr/>
        </p:nvSpPr>
        <p:spPr>
          <a:xfrm>
            <a:off x="7863840" y="5303520"/>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7863840" y="5303520"/>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tired</a:t>
            </a:r>
            <a:endParaRPr lang="en-US" sz="1900" dirty="0" b="1"/>
          </a:p>
        </p:txBody>
      </p:sp>
      <p:sp>
        <p:nvSpPr>
          <p:cNvPr id="36" name="Question 7"/>
          <p:cNvSpPr/>
          <p:nvPr/>
        </p:nvSpPr>
        <p:spPr>
          <a:xfrm>
            <a:off x="5138928" y="5907024"/>
            <a:ext cx="265176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surprising</a:t>
            </a:r>
            <a:endParaRPr lang="en-US" sz="1900" dirty="0" b="1"/>
          </a:p>
        </p:txBody>
      </p:sp>
      <p:sp>
        <p:nvSpPr>
          <p:cNvPr id="37" name="Answer bg 7"/>
          <p:cNvSpPr/>
          <p:nvPr/>
        </p:nvSpPr>
        <p:spPr>
          <a:xfrm>
            <a:off x="7863840" y="5907024"/>
            <a:ext cx="4069080" cy="530352"/>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7863840" y="5907024"/>
            <a:ext cx="4069080" cy="530352"/>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surprised</a:t>
            </a:r>
            <a:endParaRPr lang="en-US" sz="19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 write -ing or -ed.</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thing: -ing  ·  the feeling: -ed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Write -ing or -ed.</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class was very bor____. Everyone was sleepy.</a:t>
            </a:r>
            <a:endParaRPr lang="en-US" sz="1800" dirty="0"/>
          </a:p>
        </p:txBody>
      </p:sp>
      <p:sp>
        <p:nvSpPr>
          <p:cNvPr id="35" name="R1 ans"/>
          <p:cNvSpPr/>
          <p:nvPr/>
        </p:nvSpPr>
        <p:spPr>
          <a:xfrm>
            <a:off x="6108192" y="2222144"/>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boring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was bor____, so I went home.</a:t>
            </a:r>
            <a:endParaRPr lang="en-US" sz="1800" dirty="0"/>
          </a:p>
        </p:txBody>
      </p:sp>
      <p:sp>
        <p:nvSpPr>
          <p:cNvPr id="40" name="R2 ans"/>
          <p:cNvSpPr/>
          <p:nvPr/>
        </p:nvSpPr>
        <p:spPr>
          <a:xfrm>
            <a:off x="6108192" y="2950312"/>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bored</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museum was interest____.</a:t>
            </a:r>
            <a:endParaRPr lang="en-US" sz="1800" dirty="0"/>
          </a:p>
        </p:txBody>
      </p:sp>
      <p:sp>
        <p:nvSpPr>
          <p:cNvPr id="45" name="R3 ans"/>
          <p:cNvSpPr/>
          <p:nvPr/>
        </p:nvSpPr>
        <p:spPr>
          <a:xfrm>
            <a:off x="6108192" y="3678479"/>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interesting</a:t>
            </a:r>
            <a:endParaRPr lang="en-US" sz="17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 was surpris____. It was her birthday party!</a:t>
            </a:r>
            <a:endParaRPr lang="en-US" sz="1800" dirty="0"/>
          </a:p>
        </p:txBody>
      </p:sp>
      <p:sp>
        <p:nvSpPr>
          <p:cNvPr id="50" name="R4 ans"/>
          <p:cNvSpPr/>
          <p:nvPr/>
        </p:nvSpPr>
        <p:spPr>
          <a:xfrm>
            <a:off x="6108192" y="4406646"/>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surprised</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Work was tir____ today. I worked 10 hours.</a:t>
            </a:r>
            <a:endParaRPr lang="en-US" sz="1800" dirty="0"/>
          </a:p>
        </p:txBody>
      </p:sp>
      <p:sp>
        <p:nvSpPr>
          <p:cNvPr id="55" name="R5 ans"/>
          <p:cNvSpPr/>
          <p:nvPr/>
        </p:nvSpPr>
        <p:spPr>
          <a:xfrm>
            <a:off x="6108192" y="5134813"/>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tiring</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22452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map was hard. I was confus____.</a:t>
            </a:r>
            <a:endParaRPr lang="en-US" sz="1800" dirty="0"/>
          </a:p>
        </p:txBody>
      </p:sp>
      <p:sp>
        <p:nvSpPr>
          <p:cNvPr id="60" name="R6 ans"/>
          <p:cNvSpPr/>
          <p:nvPr/>
        </p:nvSpPr>
        <p:spPr>
          <a:xfrm>
            <a:off x="6108192" y="5862980"/>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confused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3: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right word.</a:t>
            </a:r>
            <a:endParaRPr lang="en-US" sz="2000" dirty="0"/>
          </a:p>
        </p:txBody>
      </p:sp>
      <p:sp>
        <p:nvSpPr>
          <p:cNvPr id="8" name="R1 stmt"/>
          <p:cNvSpPr/>
          <p:nvPr/>
        </p:nvSpPr>
        <p:spPr>
          <a:xfrm>
            <a:off x="502920" y="3108960"/>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1. The soccer game was ____.</a:t>
            </a:r>
            <a:endParaRPr lang="en-US" sz="2000" dirty="0"/>
          </a:p>
        </p:txBody>
      </p:sp>
      <p:sp>
        <p:nvSpPr>
          <p:cNvPr id="9" name="R1 opt1"/>
          <p:cNvSpPr/>
          <p:nvPr/>
        </p:nvSpPr>
        <p:spPr>
          <a:xfrm>
            <a:off x="7269480" y="3108960"/>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exciting</a:t>
            </a:r>
            <a:endParaRPr lang="en-US" sz="1600" dirty="0" b="1"/>
          </a:p>
        </p:txBody>
      </p:sp>
      <p:sp>
        <p:nvSpPr>
          <p:cNvPr id="10" name="R1 opt2"/>
          <p:cNvSpPr/>
          <p:nvPr/>
        </p:nvSpPr>
        <p:spPr>
          <a:xfrm>
            <a:off x="9235440" y="3108960"/>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excited</a:t>
            </a:r>
            <a:endParaRPr lang="en-US" sz="1600" dirty="0" b="1"/>
          </a:p>
        </p:txBody>
      </p:sp>
      <p:sp>
        <p:nvSpPr>
          <p:cNvPr id="11" name="R1 circle"/>
          <p:cNvSpPr/>
          <p:nvPr/>
        </p:nvSpPr>
        <p:spPr>
          <a:xfrm>
            <a:off x="7141464" y="3054096"/>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767328"/>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2. The kids were ____.</a:t>
            </a:r>
            <a:endParaRPr lang="en-US" sz="2000" dirty="0"/>
          </a:p>
        </p:txBody>
      </p:sp>
      <p:sp>
        <p:nvSpPr>
          <p:cNvPr id="13" name="R2 opt1"/>
          <p:cNvSpPr/>
          <p:nvPr/>
        </p:nvSpPr>
        <p:spPr>
          <a:xfrm>
            <a:off x="7269480" y="3767328"/>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exciting</a:t>
            </a:r>
            <a:endParaRPr lang="en-US" sz="1600" dirty="0" b="1"/>
          </a:p>
        </p:txBody>
      </p:sp>
      <p:sp>
        <p:nvSpPr>
          <p:cNvPr id="14" name="R2 opt2"/>
          <p:cNvSpPr/>
          <p:nvPr/>
        </p:nvSpPr>
        <p:spPr>
          <a:xfrm>
            <a:off x="9235440" y="3767328"/>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excited</a:t>
            </a:r>
            <a:endParaRPr lang="en-US" sz="1600" dirty="0" b="1"/>
          </a:p>
        </p:txBody>
      </p:sp>
      <p:sp>
        <p:nvSpPr>
          <p:cNvPr id="15" name="R2 circle"/>
          <p:cNvSpPr/>
          <p:nvPr/>
        </p:nvSpPr>
        <p:spPr>
          <a:xfrm>
            <a:off x="9107424" y="3712464"/>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425696"/>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3. Are you ____ in art?</a:t>
            </a:r>
            <a:endParaRPr lang="en-US" sz="2000" dirty="0"/>
          </a:p>
        </p:txBody>
      </p:sp>
      <p:sp>
        <p:nvSpPr>
          <p:cNvPr id="17" name="R3 opt1"/>
          <p:cNvSpPr/>
          <p:nvPr/>
        </p:nvSpPr>
        <p:spPr>
          <a:xfrm>
            <a:off x="7269480" y="4425696"/>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interesting</a:t>
            </a:r>
            <a:endParaRPr lang="en-US" sz="1600" dirty="0" b="1"/>
          </a:p>
        </p:txBody>
      </p:sp>
      <p:sp>
        <p:nvSpPr>
          <p:cNvPr id="18" name="R3 opt2"/>
          <p:cNvSpPr/>
          <p:nvPr/>
        </p:nvSpPr>
        <p:spPr>
          <a:xfrm>
            <a:off x="9235440" y="4425696"/>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interested</a:t>
            </a:r>
            <a:endParaRPr lang="en-US" sz="1600" dirty="0" b="1"/>
          </a:p>
        </p:txBody>
      </p:sp>
      <p:sp>
        <p:nvSpPr>
          <p:cNvPr id="19" name="R3 circle"/>
          <p:cNvSpPr/>
          <p:nvPr/>
        </p:nvSpPr>
        <p:spPr>
          <a:xfrm>
            <a:off x="9107424" y="4370832"/>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5084064"/>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4. The instructions were ____.</a:t>
            </a:r>
            <a:endParaRPr lang="en-US" sz="2000" dirty="0"/>
          </a:p>
        </p:txBody>
      </p:sp>
      <p:sp>
        <p:nvSpPr>
          <p:cNvPr id="21" name="R4 opt1"/>
          <p:cNvSpPr/>
          <p:nvPr/>
        </p:nvSpPr>
        <p:spPr>
          <a:xfrm>
            <a:off x="7269480" y="5084064"/>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confusing</a:t>
            </a:r>
            <a:endParaRPr lang="en-US" sz="1600" dirty="0" b="1"/>
          </a:p>
        </p:txBody>
      </p:sp>
      <p:sp>
        <p:nvSpPr>
          <p:cNvPr id="22" name="R4 opt2"/>
          <p:cNvSpPr/>
          <p:nvPr/>
        </p:nvSpPr>
        <p:spPr>
          <a:xfrm>
            <a:off x="9235440" y="5084064"/>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confused</a:t>
            </a:r>
            <a:endParaRPr lang="en-US" sz="1600" dirty="0" b="1"/>
          </a:p>
        </p:txBody>
      </p:sp>
      <p:sp>
        <p:nvSpPr>
          <p:cNvPr id="23" name="R4 circle"/>
          <p:cNvSpPr/>
          <p:nvPr/>
        </p:nvSpPr>
        <p:spPr>
          <a:xfrm>
            <a:off x="7141464" y="5029200"/>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742432"/>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5. After the beach, I felt ____.</a:t>
            </a:r>
            <a:endParaRPr lang="en-US" sz="2000" dirty="0"/>
          </a:p>
        </p:txBody>
      </p:sp>
      <p:sp>
        <p:nvSpPr>
          <p:cNvPr id="25" name="R5 opt1"/>
          <p:cNvSpPr/>
          <p:nvPr/>
        </p:nvSpPr>
        <p:spPr>
          <a:xfrm>
            <a:off x="7269480" y="5742432"/>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relaxing</a:t>
            </a:r>
            <a:endParaRPr lang="en-US" sz="1600" dirty="0" b="1"/>
          </a:p>
        </p:txBody>
      </p:sp>
      <p:sp>
        <p:nvSpPr>
          <p:cNvPr id="26" name="R5 opt2"/>
          <p:cNvSpPr/>
          <p:nvPr/>
        </p:nvSpPr>
        <p:spPr>
          <a:xfrm>
            <a:off x="9235440" y="5742432"/>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relaxed</a:t>
            </a:r>
            <a:endParaRPr lang="en-US" sz="1600" dirty="0" b="1"/>
          </a:p>
        </p:txBody>
      </p:sp>
      <p:sp>
        <p:nvSpPr>
          <p:cNvPr id="27" name="R5 circle"/>
          <p:cNvSpPr/>
          <p:nvPr/>
        </p:nvSpPr>
        <p:spPr>
          <a:xfrm>
            <a:off x="9107424" y="5687568"/>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3: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Confusing / confused: a map, an arrow, a confused face"/>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I'm boring. (for a feeling)</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 </a:t>
            </a:r>
            <a:r>
              <a:rPr lang="en-US" sz="1700" dirty="0" b="1">
                <a:solidFill>
                  <a:srgbClr val="1B2236"/>
                </a:solidFill>
                <a:latin typeface="Lexend Deca" pitchFamily="34" charset="0"/>
                <a:ea typeface="Lexend Deca" pitchFamily="34" charset="-122"/>
                <a:cs typeface="Lexend Deca" pitchFamily="34" charset="-120"/>
              </a:rPr>
              <a:t>bored</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The movie was bored.</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movie was </a:t>
            </a:r>
            <a:r>
              <a:rPr lang="en-US" sz="1700" dirty="0" b="1">
                <a:solidFill>
                  <a:srgbClr val="1B2236"/>
                </a:solidFill>
                <a:latin typeface="Lexend Deca" pitchFamily="34" charset="0"/>
                <a:ea typeface="Lexend Deca" pitchFamily="34" charset="-122"/>
                <a:cs typeface="Lexend Deca" pitchFamily="34" charset="-120"/>
              </a:rPr>
              <a:t>boring</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was interesting in the museum.</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was </a:t>
            </a:r>
            <a:r>
              <a:rPr lang="en-US" sz="1700" dirty="0" b="1">
                <a:solidFill>
                  <a:srgbClr val="1B2236"/>
                </a:solidFill>
                <a:latin typeface="Lexend Deca" pitchFamily="34" charset="0"/>
                <a:ea typeface="Lexend Deca" pitchFamily="34" charset="-122"/>
                <a:cs typeface="Lexend Deca" pitchFamily="34" charset="-120"/>
              </a:rPr>
              <a:t>interested</a:t>
            </a:r>
            <a:r>
              <a:rPr lang="en-US" sz="1700" dirty="0" b="1">
                <a:solidFill>
                  <a:srgbClr val="1B2236"/>
                </a:solidFill>
                <a:latin typeface="Lexend Deca" pitchFamily="34" charset="0"/>
                <a:ea typeface="Lexend Deca" pitchFamily="34" charset="-122"/>
                <a:cs typeface="Lexend Deca" pitchFamily="34" charset="-120"/>
              </a:rPr>
              <a:t> in the museum.</a:t>
            </a:r>
            <a:endParaRPr lang="en-US" sz="1700" dirty="0" b="1"/>
          </a:p>
        </p:txBody>
      </p:sp>
      <p:sp>
        <p:nvSpPr>
          <p:cNvPr id="30" name="Bad 4"/>
          <p:cNvSpPr/>
          <p:nvPr/>
        </p:nvSpPr>
        <p:spPr>
          <a:xfrm>
            <a:off x="914400" y="444398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thought was confusing.</a:t>
            </a:r>
            <a:endParaRPr lang="en-US" sz="1700" dirty="0"/>
          </a:p>
        </p:txBody>
      </p:sp>
      <p:sp>
        <p:nvSpPr>
          <p:cNvPr id="31" name="Good 4"/>
          <p:cNvSpPr/>
          <p:nvPr/>
        </p:nvSpPr>
        <p:spPr>
          <a:xfrm>
            <a:off x="4800600" y="444398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thought </a:t>
            </a: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 was confusing.</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3:drill">
    <p:bg>
      <p:bgPr>
        <a:solidFill>
          <a:srgbClr val="F1F5FB"/>
        </a:solidFill>
      </p:bgPr>
    </p:bg>
    <p:spTree>
      <p:nvGrpSpPr>
        <p:cNvPr id="1" name=""/>
        <p:cNvGrpSpPr/>
        <p:nvPr/>
      </p:nvGrpSpPr>
      <p:grpSpPr/>
      <p:pic>
        <p:nvPicPr>
          <p:cNvPr id="26" name="pic" descr="Relaxing / relaxed: a beach, an arrow, a relieved fac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Drill</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one -ing, one -ed.</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r>
              <a:rPr lang="en-US" sz="2000" dirty="0" b="0">
                <a:solidFill>
                  <a:srgbClr val="1B2236"/>
                </a:solidFill>
                <a:latin typeface="Lexend Deca" pitchFamily="34" charset="0"/>
                <a:ea typeface="Lexend Deca" pitchFamily="34" charset="-122"/>
                <a:cs typeface="Lexend Deca" pitchFamily="34" charset="-120"/>
              </a:rPr>
              <a:t> How was your weekend?</a:t>
            </a:r>
            <a:endParaRPr lang="en-US" sz="20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r>
              <a:rPr lang="en-US" sz="2000" dirty="0" b="0">
                <a:solidFill>
                  <a:srgbClr val="1B2236"/>
                </a:solidFill>
                <a:latin typeface="Lexend Deca" pitchFamily="34" charset="0"/>
                <a:ea typeface="Lexend Deca" pitchFamily="34" charset="-122"/>
                <a:cs typeface="Lexend Deca" pitchFamily="34" charset="-120"/>
              </a:rPr>
              <a:t> It was relaxing. I was relaxed.</a:t>
            </a:r>
            <a:endParaRPr lang="en-US" sz="2000" dirty="0" b="0"/>
          </a:p>
          <a:p>
            <a:pPr algn="l" indent="0" marL="0">
              <a:buNone/>
            </a:pPr>
            <a:r>
              <a:rPr lang="en-US" sz="2000" dirty="0" b="1">
                <a:solidFill>
                  <a:srgbClr val="1B2236"/>
                </a:solidFill>
                <a:latin typeface="Lexend Deca" pitchFamily="34" charset="0"/>
                <a:ea typeface="Lexend Deca" pitchFamily="34" charset="-122"/>
                <a:cs typeface="Lexend Deca" pitchFamily="34" charset="-120"/>
              </a:rPr>
              <a:t>Then switch roles.</a:t>
            </a:r>
            <a:endParaRPr lang="en-US" sz="20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B answers with one -ing and one -ed word.</a:t>
            </a:r>
            <a:endParaRPr lang="en-US" sz="20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name="L3: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ix event cards: six numbered cards: a taco, music notes, a car, a Ferris wheel, a laptop, a soccer ball; cards, stars, text drawn"/>
          <p:cNvPicPr>
            <a:picLocks noChangeAspect="1"/>
          </p:cNvPicPr>
          <p:nvPr/>
        </p:nvPicPr>
        <p:blipFill>
          <a:blip r:embed="rId3"/>
          <a:stretch>
            <a:fillRect/>
          </a:stretch>
        </p:blipFill>
        <p:spPr>
          <a:xfrm>
            <a:off x="726034" y="3548268"/>
            <a:ext cx="3882542" cy="2458944"/>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Star Ratings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Round 1: 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An event card or a real event.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7:00–7:12</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tells B about an event.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How was it? How did you feel? Why?</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asks 2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Who did you go with? Was the food good?</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gives it 1–5 stars.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4 stars!</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3: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air: a Ferris wheel"/>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The Best Weekend Event</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Round 2: groups of 3–4.</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Agree on two reasons.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7:00–7:12</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Choose the best weekend event.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For the class board.</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Agree on two reasons.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It was exciting, and it was free.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person reports to the class.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Our best event is… because… and…</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3: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7:12–7:17</a:t>
            </a:r>
            <a:endParaRPr lang="en-US" sz="4000" dirty="0"/>
          </a:p>
        </p:txBody>
      </p:sp>
      <p:pic>
        <p:nvPicPr>
          <p:cNvPr id="16" name="pic" descr="Review (stars): a drawn review card: 4 of 5 stars, &quot;Great food! The music was fun.&quot;"/>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Write two sentences: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One with -ing and one with -ed, about the same event.</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Add a reason with because or so:</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The concert was exciting, so I was excited all night.</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Give it to me at the door.</a:t>
            </a:r>
            <a:endParaRPr lang="en-US" sz="17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About 15 minutes.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1. Write the sentence with -ing or -ed.</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2. An event: 3 sentences.</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3. Ask: What was the best event this year?</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4. Review: 3 steps for coffee or tea.</a:t>
            </a:r>
            <a:endParaRPr lang="en-US" sz="1700" dirty="0" b="0"/>
          </a:p>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Bring it next week!</a:t>
            </a:r>
            <a:endParaRPr lang="en-US" sz="1700" dirty="0" b="1"/>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L3:progres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8126273" y="1165860"/>
            <a:ext cx="4132174" cy="5120640"/>
          </a:xfrm>
          <a:prstGeom prst="rect">
            <a:avLst/>
          </a:prstGeom>
          <a:solidFill>
            <a:srgbClr val="B9D2F7"/>
          </a:solidFill>
          <a:ln/>
        </p:spPr>
        <p:txBody>
          <a:bodyPr/>
          <a:p/>
        </p:txBody>
      </p:sp>
      <p:sp>
        <p:nvSpPr>
          <p:cNvPr id="62" name="ican"/>
          <p:cNvSpPr/>
          <p:nvPr/>
        </p:nvSpPr>
        <p:spPr>
          <a:xfrm>
            <a:off x="8503920" y="1280160"/>
            <a:ext cx="3429000" cy="4937760"/>
          </a:xfrm>
          <a:prstGeom prst="rect">
            <a:avLst/>
          </a:prstGeom>
          <a:noFill/>
          <a:ln w="38100">
            <a:noFill/>
          </a:ln>
        </p:spPr>
        <p:txBody>
          <a:bodyPr wrap="square" lIns="73152" tIns="36576" rIns="73152" bIns="36576" rtlCol="0" anchor="ctr">
            <a:noAutofit/>
          </a:bodyPr>
          <a:lstStyle/>
          <a:p>
            <a:pPr algn="ctr" indent="0" marL="0">
              <a:buNone/>
            </a:pPr>
            <a:r>
              <a:rPr lang="en-US" sz="2400" dirty="0" b="1">
                <a:solidFill>
                  <a:srgbClr val="1B2236"/>
                </a:solidFill>
                <a:latin typeface="Lexend Deca" pitchFamily="34" charset="0"/>
                <a:ea typeface="Lexend Deca" pitchFamily="34" charset="-122"/>
                <a:cs typeface="Lexend Deca" pitchFamily="34" charset="-120"/>
              </a:rPr>
              <a:t>D. I can…</a:t>
            </a:r>
            <a:endParaRPr lang="en-US" sz="2400" dirty="0" b="1"/>
          </a:p>
          <a:p>
            <a:pPr algn="ctr" indent="0" marL="0">
              <a:buNone/>
            </a:pPr>
            <a:r>
              <a:rPr lang="en-US" sz="3200" dirty="0" b="0">
                <a:solidFill>
                  <a:srgbClr val="1B2236"/>
                </a:solidFill>
                <a:latin typeface="Lexend Deca" pitchFamily="34" charset="0"/>
                <a:ea typeface="Lexend Deca" pitchFamily="34" charset="-122"/>
                <a:cs typeface="Lexend Deca" pitchFamily="34" charset="-120"/>
              </a:rPr>
              <a:t>😀   🙂   😐</a:t>
            </a:r>
            <a:endParaRPr lang="en-US" sz="3200" dirty="0" b="0"/>
          </a:p>
          <a:p>
            <a:pPr algn="ctr" indent="0" marL="0">
              <a:buNone/>
            </a:pPr>
            <a:r>
              <a:rPr lang="en-US" sz="1800" dirty="0" b="0">
                <a:solidFill>
                  <a:srgbClr val="1B2236"/>
                </a:solidFill>
                <a:latin typeface="Lexend Deca" pitchFamily="34" charset="0"/>
                <a:ea typeface="Lexend Deca" pitchFamily="34" charset="-122"/>
                <a:cs typeface="Lexend Deca" pitchFamily="34" charset="-120"/>
              </a:rPr>
              <a:t>Check one face.</a:t>
            </a:r>
            <a:endParaRPr lang="en-US" sz="18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say how something was (It was interesting).</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say how I felt (I was interested).</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give an opinion with a reason.</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write a short review.</a:t>
            </a:r>
            <a:endParaRPr lang="en-US" sz="1600" dirty="0" b="0"/>
          </a:p>
        </p:txBody>
      </p:sp>
      <p:sp>
        <p:nvSpPr>
          <p:cNvPr id="5" name="Shape 3"/>
          <p:cNvSpPr/>
          <p:nvPr/>
        </p:nvSpPr>
        <p:spPr>
          <a:xfrm flipH="1">
            <a:off x="501091" y="3255264"/>
            <a:ext cx="5577840" cy="3258921"/>
          </a:xfrm>
          <a:prstGeom prst="round1Rect">
            <a:avLst>
              <a:gd name="adj" fmla="val 23087"/>
            </a:avLst>
          </a:prstGeom>
          <a:solidFill>
            <a:srgbClr val="8FAFE3"/>
          </a:solidFill>
          <a:ln/>
        </p:spPr>
        <p:txBody>
          <a:bodyPr/>
          <a:p/>
        </p:txBody>
      </p:sp>
      <p:sp>
        <p:nvSpPr>
          <p:cNvPr id="6" name="Shape 4"/>
          <p:cNvSpPr/>
          <p:nvPr/>
        </p:nvSpPr>
        <p:spPr>
          <a:xfrm flipH="1">
            <a:off x="6400800" y="3263494"/>
            <a:ext cx="1828800" cy="3258921"/>
          </a:xfrm>
          <a:prstGeom prst="round1Rect">
            <a:avLst>
              <a:gd name="adj" fmla="val 23087"/>
            </a:avLst>
          </a:prstGeom>
          <a:solidFill>
            <a:srgbClr val="8FAFE3"/>
          </a:solidFill>
          <a:ln/>
        </p:spPr>
        <p:txBody>
          <a:bodyPr/>
          <a:p/>
        </p:txBody>
      </p:sp>
      <p:sp>
        <p:nvSpPr>
          <p:cNvPr id="7" name="Shape 5"/>
          <p:cNvSpPr/>
          <p:nvPr/>
        </p:nvSpPr>
        <p:spPr>
          <a:xfrm>
            <a:off x="479328" y="885322"/>
            <a:ext cx="7295083" cy="1566367"/>
          </a:xfrm>
          <a:prstGeom prst="roundRect">
            <a:avLst>
              <a:gd name="adj" fmla="val 16667"/>
            </a:avLst>
          </a:prstGeom>
          <a:solidFill>
            <a:srgbClr val="8FAFE3"/>
          </a:solidFill>
          <a:ln/>
        </p:spPr>
        <p:txBody>
          <a:bodyPr/>
          <a:p/>
        </p:txBody>
      </p:sp>
      <p:sp>
        <p:nvSpPr>
          <p:cNvPr id="8" name="Shape 6"/>
          <p:cNvSpPr/>
          <p:nvPr/>
        </p:nvSpPr>
        <p:spPr>
          <a:xfrm>
            <a:off x="522122" y="821131"/>
            <a:ext cx="7295083" cy="1566367"/>
          </a:xfrm>
          <a:prstGeom prst="roundRect">
            <a:avLst>
              <a:gd name="adj" fmla="val 16667"/>
            </a:avLst>
          </a:prstGeom>
          <a:solidFill>
            <a:srgbClr val="FFFFFF"/>
          </a:solidFill>
          <a:ln/>
        </p:spPr>
        <p:txBody>
          <a:bodyPr/>
          <a:p/>
        </p:txBody>
      </p:sp>
      <p:sp>
        <p:nvSpPr>
          <p:cNvPr id="9" name="Shape 7"/>
          <p:cNvSpPr/>
          <p:nvPr/>
        </p:nvSpPr>
        <p:spPr>
          <a:xfrm flipH="1">
            <a:off x="658368" y="3063240"/>
            <a:ext cx="5669280" cy="3258921"/>
          </a:xfrm>
          <a:prstGeom prst="round1Rect">
            <a:avLst>
              <a:gd name="adj" fmla="val 23087"/>
            </a:avLst>
          </a:prstGeom>
          <a:solidFill>
            <a:srgbClr val="FFFFFF"/>
          </a:solidFill>
          <a:ln/>
        </p:spPr>
        <p:txBody>
          <a:bodyPr/>
          <a:p/>
        </p:txBody>
      </p:sp>
      <p:sp>
        <p:nvSpPr>
          <p:cNvPr id="10" name="Shape 8"/>
          <p:cNvSpPr/>
          <p:nvPr/>
        </p:nvSpPr>
        <p:spPr>
          <a:xfrm flipH="1">
            <a:off x="6537960" y="3063240"/>
            <a:ext cx="1828800" cy="3258921"/>
          </a:xfrm>
          <a:prstGeom prst="round1Rect">
            <a:avLst>
              <a:gd name="adj" fmla="val 23087"/>
            </a:avLst>
          </a:prstGeom>
          <a:solidFill>
            <a:srgbClr val="FFFFFF"/>
          </a:solidFill>
          <a:ln/>
        </p:spPr>
        <p:txBody>
          <a:bodyPr/>
          <a:p/>
        </p:txBody>
      </p:sp>
      <p:sp>
        <p:nvSpPr>
          <p:cNvPr id="11" name="title"/>
          <p:cNvSpPr/>
          <p:nvPr/>
        </p:nvSpPr>
        <p:spPr>
          <a:xfrm>
            <a:off x="608076" y="118872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Progress Check   </a:t>
            </a:r>
            <a:r>
              <a:rPr lang="en-US" sz="2400" dirty="0" b="1">
                <a:solidFill>
                  <a:srgbClr val="5B3FC4"/>
                </a:solidFill>
                <a:latin typeface="Lexend Deca" pitchFamily="34" charset="0"/>
                <a:ea typeface="Lexend Deca" pitchFamily="34" charset="-122"/>
                <a:cs typeface="Lexend Deca" pitchFamily="34" charset="-120"/>
              </a:rPr>
              <a:t>7:25</a:t>
            </a:r>
            <a:endParaRPr lang="en-US" sz="4300" dirty="0"/>
          </a:p>
        </p:txBody>
      </p:sp>
      <p:sp>
        <p:nvSpPr>
          <p:cNvPr id="22" name="A head"/>
          <p:cNvSpPr/>
          <p:nvPr/>
        </p:nvSpPr>
        <p:spPr>
          <a:xfrm>
            <a:off x="914400" y="3246120"/>
            <a:ext cx="5303520" cy="5029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Listen to the teacher. Circle a or b.</a:t>
            </a:r>
            <a:endParaRPr lang="en-US" sz="1800" dirty="0" b="1"/>
          </a:p>
        </p:txBody>
      </p:sp>
      <p:sp>
        <p:nvSpPr>
          <p:cNvPr id="23" name="Ans head"/>
          <p:cNvSpPr/>
          <p:nvPr/>
        </p:nvSpPr>
        <p:spPr>
          <a:xfrm>
            <a:off x="6766560" y="3246120"/>
            <a:ext cx="1554480" cy="50292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1E6B45"/>
                </a:solidFill>
                <a:latin typeface="Lexend Deca" pitchFamily="34" charset="0"/>
                <a:ea typeface="Lexend Deca" pitchFamily="34" charset="-122"/>
                <a:cs typeface="Lexend Deca" pitchFamily="34" charset="-120"/>
              </a:rPr>
              <a:t>Answer</a:t>
            </a:r>
            <a:endParaRPr lang="en-US" sz="2000" dirty="0" b="1"/>
          </a:p>
        </p:txBody>
      </p:sp>
      <p:sp>
        <p:nvSpPr>
          <p:cNvPr id="63" name="Bad 1"/>
          <p:cNvSpPr/>
          <p:nvPr/>
        </p:nvSpPr>
        <p:spPr>
          <a:xfrm>
            <a:off x="868680" y="3840480"/>
            <a:ext cx="5440680" cy="530352"/>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1. </a:t>
            </a:r>
            <a:r>
              <a:rPr lang="en-US" sz="1600" dirty="0" b="0">
                <a:solidFill>
                  <a:srgbClr val="1B2236"/>
                </a:solidFill>
                <a:latin typeface="Lexend Deca" pitchFamily="34" charset="0"/>
                <a:ea typeface="Lexend Deca" pitchFamily="34" charset="-122"/>
                <a:cs typeface="Lexend Deca" pitchFamily="34" charset="-120"/>
              </a:rPr>
              <a:t>a. The concert was not fun.   b. The concert was fun.</a:t>
            </a:r>
            <a:endParaRPr lang="en-US" sz="1600" dirty="0" b="1"/>
          </a:p>
        </p:txBody>
      </p:sp>
      <p:sp>
        <p:nvSpPr>
          <p:cNvPr id="64" name="Good 1"/>
          <p:cNvSpPr/>
          <p:nvPr/>
        </p:nvSpPr>
        <p:spPr>
          <a:xfrm>
            <a:off x="6766560" y="3840480"/>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
        <p:nvSpPr>
          <p:cNvPr id="65" name="Bad 2"/>
          <p:cNvSpPr/>
          <p:nvPr/>
        </p:nvSpPr>
        <p:spPr>
          <a:xfrm>
            <a:off x="868680" y="4407408"/>
            <a:ext cx="5440680" cy="530352"/>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2. </a:t>
            </a:r>
            <a:r>
              <a:rPr lang="en-US" sz="1600" dirty="0" b="0">
                <a:solidFill>
                  <a:srgbClr val="1B2236"/>
                </a:solidFill>
                <a:latin typeface="Lexend Deca" pitchFamily="34" charset="0"/>
                <a:ea typeface="Lexend Deca" pitchFamily="34" charset="-122"/>
                <a:cs typeface="Lexend Deca" pitchFamily="34" charset="-120"/>
              </a:rPr>
              <a:t>a. It was surprising.   b. I felt surprised.</a:t>
            </a:r>
            <a:endParaRPr lang="en-US" sz="1600" dirty="0" b="1"/>
          </a:p>
        </p:txBody>
      </p:sp>
      <p:sp>
        <p:nvSpPr>
          <p:cNvPr id="66" name="Good 2"/>
          <p:cNvSpPr/>
          <p:nvPr/>
        </p:nvSpPr>
        <p:spPr>
          <a:xfrm>
            <a:off x="6766560" y="4407408"/>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
        <p:nvSpPr>
          <p:cNvPr id="67" name="Bad 3"/>
          <p:cNvSpPr/>
          <p:nvPr/>
        </p:nvSpPr>
        <p:spPr>
          <a:xfrm>
            <a:off x="868680" y="4974336"/>
            <a:ext cx="5440680" cy="530352"/>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3. </a:t>
            </a:r>
            <a:r>
              <a:rPr lang="en-US" sz="1600" dirty="0" b="0">
                <a:solidFill>
                  <a:srgbClr val="1B2236"/>
                </a:solidFill>
                <a:latin typeface="Lexend Deca" pitchFamily="34" charset="0"/>
                <a:ea typeface="Lexend Deca" pitchFamily="34" charset="-122"/>
                <a:cs typeface="Lexend Deca" pitchFamily="34" charset="-120"/>
              </a:rPr>
              <a:t>a. I liked the museum.   b. I didn't like the museum.</a:t>
            </a:r>
            <a:endParaRPr lang="en-US" sz="1600" dirty="0" b="1"/>
          </a:p>
        </p:txBody>
      </p:sp>
      <p:sp>
        <p:nvSpPr>
          <p:cNvPr id="68" name="Good 3"/>
          <p:cNvSpPr/>
          <p:nvPr/>
        </p:nvSpPr>
        <p:spPr>
          <a:xfrm>
            <a:off x="6766560" y="4974336"/>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
        <p:nvSpPr>
          <p:cNvPr id="69" name="Bad 4"/>
          <p:cNvSpPr/>
          <p:nvPr/>
        </p:nvSpPr>
        <p:spPr>
          <a:xfrm>
            <a:off x="868680" y="5541264"/>
            <a:ext cx="5440680" cy="530352"/>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4. </a:t>
            </a:r>
            <a:r>
              <a:rPr lang="en-US" sz="1600" dirty="0" b="0">
                <a:solidFill>
                  <a:srgbClr val="1B2236"/>
                </a:solidFill>
                <a:latin typeface="Lexend Deca" pitchFamily="34" charset="0"/>
                <a:ea typeface="Lexend Deca" pitchFamily="34" charset="-122"/>
                <a:cs typeface="Lexend Deca" pitchFamily="34" charset="-120"/>
              </a:rPr>
              <a:t>a. They stayed until the end.   b. They left because they were tired.</a:t>
            </a:r>
            <a:endParaRPr lang="en-US" sz="1600" dirty="0" b="1"/>
          </a:p>
        </p:txBody>
      </p:sp>
      <p:sp>
        <p:nvSpPr>
          <p:cNvPr id="70" name="Good 4"/>
          <p:cNvSpPr/>
          <p:nvPr/>
        </p:nvSpPr>
        <p:spPr>
          <a:xfrm>
            <a:off x="6766560" y="5541264"/>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400"/>
                                        <p:tgtEl>
                                          <p:spTgt spid="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fade">
                                      <p:cBhvr>
                                        <p:cTn id="17" dur="4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0"/>
                                        </p:tgtEl>
                                        <p:attrNameLst>
                                          <p:attrName>style.visibility</p:attrName>
                                        </p:attrNameLst>
                                      </p:cBhvr>
                                      <p:to>
                                        <p:strVal val="visible"/>
                                      </p:to>
                                    </p:set>
                                    <p:animEffect transition="in" filter="fade">
                                      <p:cBhvr>
                                        <p:cTn id="2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3: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Relaxing / relaxed: a beach, an arrow, a relieved fac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11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something was (-ing)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you felt (-ed)</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an opinion with a reason</a:t>
            </a:r>
            <a:endParaRPr lang="en-US" sz="22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3: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speech bubbles,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Progress 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Elena and Luis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3 Lesson 11: Bored or Boring?</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