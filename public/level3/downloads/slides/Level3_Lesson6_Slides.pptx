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90" r:id="rId32"/>
    <p:sldId id="391" r:id="rId21"/>
    <p:sldId id="392" r:id="rId19"/>
    <p:sldId id="393" r:id="rId15"/>
    <p:sldId id="394" r:id="rId37"/>
    <p:sldId id="395" r:id="rId38"/>
    <p:sldId id="396" r:id="rId39"/>
    <p:sldId id="397" r:id="rId40"/>
    <p:sldId id="398" r:id="rId41"/>
    <p:sldId id="399" r:id="rId42"/>
    <p:sldId id="400" r:id="rId43"/>
    <p:sldId id="401" r:id="rId44"/>
    <p:sldId id="402" r:id="rId45"/>
    <p:sldId id="403" r:id="rId46"/>
    <p:sldId id="404" r:id="rId47"/>
    <p:sldId id="405" r:id="rId48"/>
    <p:sldId id="406" r:id="rId49"/>
    <p:sldId id="407" r:id="rId50"/>
    <p:sldId id="408" r:id="rId51"/>
    <p:sldId id="409" r:id="rId52"/>
    <p:sldId id="410" r:id="rId53"/>
    <p:sldId id="411" r:id="rId54"/>
    <p:sldId id="412" r:id="rId55"/>
    <p:sldId id="413" r:id="rId56"/>
    <p:sldId id="414" r:id="rId9"/>
    <p:sldId id="415" r:id="rId58"/>
    <p:sldId id="416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53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circle a or b. Then click to show the answer (one click per item, 1 to 4).</a:t>
            </a:r>
          </a:p>
          <a:p>
            <a:r>
              <a:t>Say: 1 "If it snows tomorrow, I'll stay home." (a) • 2 "It will probably rain tonight." (a) • 3 "If the power goes out, we'll use flashlights." (b) • 4 "It probably won't be hot tomorrow." (b)</a:t>
            </a:r>
          </a:p>
          <a:p>
            <a:r>
              <a:t>Parts B and C: learners do them alone. Walk around and help with the instructions only. B answers: 1 rains, 2 'll call, 3 probably won't, 4 it snows. C: answers will vary (for example If the power goes out, I'll use a flashlight. / It will probably rain this weekend.).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hearing if sentences and predictions (A) and with the forms (B, C).</a:t>
            </a:r>
          </a:p>
          <a:p>
            <a:r>
              <a:t>Collect the pages (or check them at the start of Week 7). If behind: do the Progress Check in Week 7 at 6:00, while learners arrive.</a:t>
            </a:r>
          </a:p>
          <a:p>
            <a:r>
              <a:t>Lesson plan: Progress Check step; Progress Check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 or reads a problem. B answers with 2–3 sentences (for a problem card, B offers help with I'll…). A asks one follow-up question. Then switch.</a:t>
            </a:r>
          </a:p>
          <a:p>
            <a:r>
              <a:t>Homework Check (4 min, last click): partners read their Lesson 5 Homework item 1 (offers with I'll) to each other. The partner says one more offer. Walk around. Write 2 common errors on the board (often I help you or I will to…) and correct them together.</a:t>
            </a:r>
          </a:p>
          <a:p>
            <a:r>
              <a:t>Lesson plan: Step 1; Opening Talk page: cards, follow-ups,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 (7 pairs + 1 trio with 15 learners; 3–4 pairs with 7–8).</a:t>
            </a:r>
          </a:p>
          <a:p>
            <a:r>
              <a:t>Before class, write on the board: I'll… / I'm going to… / Don't worry, I won't…</a:t>
            </a:r>
          </a:p>
          <a:p>
            <a:r>
              <a:t>Model with one learner: "What are you going to do this weekend?" → (answer) → "Really? Who with?" (Click to show the follow-up.)</a:t>
            </a:r>
          </a:p>
          <a:p>
            <a:r>
              <a:t>Opening Talk (6 min): learners open the Opening Talk page. A asks a card question or reads a problem; B answers with 2–3 sentences; A asks one follow-up. Switch after each card. The cards are on the next slide.</a:t>
            </a:r>
          </a:p>
          <a:p>
            <a:r>
              <a:t>If behind: one card only, then the homework check.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understand a short weather forecast and a weather alert. Goal 2: If the power goes out, I'll use a flashlight. Goal 3: What will you do if…?</a:t>
            </a:r>
          </a:p>
          <a:p>
            <a:r>
              <a:t>Goal 4: It will probably rain. It probably won't snow. Goal 5: simple safety tips with should (review). Goal 6: read a weather alert text and fill in a simple "My Ready Plan" card.</a:t>
            </a:r>
          </a:p>
          <a:p>
            <a:r>
              <a:t>"We check at 7:25" = the Progress Check. It is not a test grade.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"Be ready." Say: "Tonight we talk about weather alerts, storms, heat, and power outages, and what to do if…"</a:t>
            </a:r>
          </a:p>
          <a:p>
            <a:r>
              <a:t>Read the three lines under "Today you will". Give one quick example of each: "If the power goes out, I'll use a flashlight." • "It will probably rain. It probably won't snow." • "If it's very hot, we'll go to the library."</a:t>
            </a:r>
          </a:p>
          <a:p>
            <a:r>
              <a:t>Choose your weather: use the weather that fits your area (snow, heat, storms, floods). Skip a word that never happens where you live, or teach it quickly for the news.</a:t>
            </a:r>
          </a:p>
          <a:p>
            <a:r>
              <a:t>Feelings: some learners have lived through a hurricane, a flood, or an earthquake. Keep the stories in the lesson invented. Never ask about real disasters. "I don't want to say" is always OK.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Act out heat wave (fan your face), snowstorm (shiver), and power outage (click a light switch: "Oh no! No lights!").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Group the words (1 min): draw three columns on the board: WEATHER (forecast, storm, snowstorm, flood, heat wave), PROBLEMS (weather alert, power outage), and BE READY (flashlight, battery, emergency kit, bottled water, shelter). Learners say where each word goes.</a:t>
            </a:r>
          </a:p>
          <a:p>
            <a:r>
              <a:t>Partner game (2 min): A says a word. B points to the picture and makes a sentence (A: flashlight. B: If the power goes out, I'll use a flashlight. / I have a flashlight in my kitchen.). Switch.</a:t>
            </a:r>
          </a:p>
          <a:p>
            <a:r>
              <a:t>If behind: teach the ★ words only.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"No lights, no fridge, no TV. It's a…?" (power outage) • 2. "Where do you put a flashlight, water, and batteries?" (an emergency kit) • 3. "A safe public building for a storm?" (a shelter)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Say: "First, you'll hear a weather alert on the radio. Then two roommates, Nadia and Ben, talk about it. What is the weather problem? Listen."</a:t>
            </a:r>
          </a:p>
          <a:p>
            <a:r>
              <a:t>There are three voices: a Narrator (who also reads the weather alert), Nadia, and Ben. Each click highlights the next voice.</a:t>
            </a:r>
          </a:p>
          <a:p>
            <a:r>
              <a:t>The audio (L3_L6_listening.mp3, about 1:16) plays once. Press play again for play 2. A third play is fine if the class needs it.</a:t>
            </a:r>
          </a:p>
          <a:p>
            <a:r>
              <a:t>No speaker? Read the script with a volunteer at a normal, friendly speed.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(what is the weather problem?). Pairs compare. Check together.</a:t>
            </a:r>
          </a:p>
          <a:p>
            <a:r>
              <a:t>Click to show the answer: b (a storm: strong wind and heavy rain).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6): ✓ 1 batteries, ✓ 2 bottled water, ✗ 3 candles, ✓ 4 charged phones, ✗ 5 a snow shovel, ✗ 6 a new fridge. (3 checks.)</a:t>
            </a:r>
          </a:p>
          <a:p>
            <a:r>
              <a:t>Candles: keep them out of practice plans (fire risk); use flashlights.</a:t>
            </a:r>
          </a:p>
          <a:p>
            <a:r>
              <a:t>Lesson plan: Step 3; Listening Task B; Answer key; Teacher notes: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goes, won't • 2 'll • 3 won't • 4 'll • 5 is • 6 'll.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Say: "It will is usually it'll. It sounds like id-ul." Read it'll, we'll, I'll.</a:t>
            </a:r>
          </a:p>
          <a:p>
            <a:r>
              <a:t>Then read the line in the "Say it" box, stressing the key words: If the POWER goes OUT, we'll use a FLASHLIGHT. The class repeats each line twice.</a:t>
            </a:r>
          </a:p>
          <a:p>
            <a:r>
              <a:t>Lesson plan: Step 3: "Say it"; Listening page: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21). Whole class, then pairs. Show the Grammar page. The left side is the question. The right side is the answer.</a:t>
            </a:r>
          </a:p>
          <a:p>
            <a:r>
              <a:t>Draw on the board: IF + present → will. Under it write: If it rains, I'll take the bus. Circle rains and say "present, no will." Circle 'll and say "the result: will."</a:t>
            </a:r>
          </a:p>
          <a:p>
            <a:r>
              <a:t>Box 1 (3 min): read a question from the left; the class answers from the right. Each click shows the answer side of one row. Then ask learners: "What will you do if it snows tomorrow?"</a:t>
            </a:r>
          </a:p>
          <a:p>
            <a:r>
              <a:t>After if, use the present: If it rains (not If it will rain). In English if needs a subject: If it rains (not If rains).</a:t>
            </a:r>
          </a:p>
          <a:p>
            <a:r>
              <a:t>Lesson plan: Step 4; Grammar Box 1; Teacher notes: After if, use the present.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 (2 min): the two halves can change places: I'll stay home if it snows. No comma when if is in the middle.</a:t>
            </a:r>
          </a:p>
          <a:p>
            <a:r>
              <a:t>A reads the left side; B reads the right side. Each click shows the right side of one row.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Boxes 3 and 4 (3 min): draw a line from 0% to 100% on the board. Put won't at 0%, probably won't at 25%, maybe at 50%, probably at 75%, will at 100%.</a:t>
            </a:r>
          </a:p>
          <a:p>
            <a:r>
              <a:t>Box 3: read across. Each click shows the answer side of one row.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predictions with probably and maybe. Point to the 0%–100% line. Each click shows one prediction, from 100% to 0%.</a:t>
            </a:r>
          </a:p>
          <a:p>
            <a:r>
              <a:t>probably goes after will and before won't: It will probably rain. It probably won't snow. Maybe goes at the start: Maybe it will snow.</a:t>
            </a:r>
          </a:p>
          <a:p>
            <a:r>
              <a:t>Check questions: "If it ___ tomorrow, I'll stay home." (snows) • "If the power goes out, we ___ use flashlights." ('ll) • "It will ___ rain." (probably) • "It ___ won't snow." (probably)</a:t>
            </a:r>
          </a:p>
          <a:p>
            <a:r>
              <a:t>Lesson plan: Step 4; Grammar Box 4; Teacher notes: probably.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5 is a quick should review. A reads the question; B answers from the right side. The click shows the answers.</a:t>
            </a:r>
          </a:p>
          <a:p>
            <a:r>
              <a:t>Safety (important): keep candles out of practice plans (fire risk); use flashlights. Never use a grill or a generator inside. Use local alert systems only as examples. Don't do real sign-ups in class. Say once: "In a real emergency, call 911."</a:t>
            </a:r>
          </a:p>
          <a:p>
            <a:r>
              <a:t>Lesson plan: Step 4; Grammar Box 5; Teacher notes: Safety.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rains, 'll take • 2 goes, 'll use • 3 'll stay, snows • 4 don't have, 'll bring • 5 is, 'll go • 6 will, closes.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right words. Pairs check.</a:t>
            </a:r>
          </a:p>
          <a:p>
            <a:r>
              <a:t>Click to circle each answer (one click per item, 1 to 6): 1 rains, 2 probably rain, 3 probably won't, 4 it snows, 5 will use, 6 should.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6.</a:t>
            </a:r>
          </a:p>
          <a:p>
            <a:r>
              <a:t>1: never put will right after if • 2: if needs a subject (it) • 3: the result needs will • 4 and 5: probably goes after will and before won't • 6: should + verb (no to).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Lesson plan: Grammar: Common mistakes; Teacher notes: Typical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says "What will you do if…" + a problem (the bus doesn't come? / it's very hot tomorrow?); B answers with If…, I'll…. Switch.</a:t>
            </a:r>
          </a:p>
          <a:p>
            <a:r>
              <a:t>If behind: skip the pair drill. Talk Time practices it.</a:t>
            </a:r>
          </a:p>
          <a:p>
            <a:r>
              <a:t>Lesson plan: Step 4: Pair drill.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What If? Chain + Ready Plan · 12 min. Groups of 3–4.</a:t>
            </a:r>
          </a:p>
          <a:p>
            <a:r>
              <a:t>Round 1, the chain (5 min): the first person says a sentence from a start card (If it snows tomorrow, I'll stay home.). The next person starts with the end of that sentence (If I stay home, I'll cook soup.), and so on around the group. Keep going until the chain stops, then start a new card. Each click shows the next step.</a:t>
            </a:r>
          </a:p>
          <a:p>
            <a:r>
              <a:t>Model with two learners (1 min): "If it snows tomorrow, I'll stay home." → Learner 1: "If I stay home, I'll watch TV." → Learner 2: "If I watch TV, I'll…" Laugh at funny chains; that's fine.</a:t>
            </a:r>
          </a:p>
          <a:p>
            <a:r>
              <a:t>Start cards: 1 If it snows tomorrow, I'll stay home. 2 If the power goes out tonight, I'll use a flashlight. 3 If it's very hot this weekend, I'll go to the beach. 4 If the bus doesn't come, I'll walk to work. 5 If it rains on Saturday, I'll clean my house. 6 If I win some money, I'll buy a new car.</a:t>
            </a:r>
          </a:p>
          <a:p>
            <a:r>
              <a:t>Useful: If I…, I'll… • Then… • That's funny! • Your turn.</a:t>
            </a:r>
          </a:p>
          <a:p>
            <a:r>
              <a:t>Lesson plan: Step 5; Talk Time: What If? Chain.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2, Ready Plan (6 min): each group gets one Scenario Card (a storm, a heat wave, or a power outage). Together they write 4 sentences with If…, we'll… and a list of 5 things for the emergency kit. Then one person presents the plan in 1 minute. Each click shows the next step.</a:t>
            </a:r>
          </a:p>
          <a:p>
            <a:r>
              <a:t>Scenario Cards: A. A big storm: strong wind and rain tonight. The power will probably go out. • B. A heat wave: about 100 degrees for 4 days. • C. A power outage: no power for 2 days in winter.</a:t>
            </a:r>
          </a:p>
          <a:p>
            <a:r>
              <a:t>Sample Ready Plan (power outage): If the power goes out, we'll use flashlights. If the fridge doesn't work, we'll eat the cold food first. If our phones die, we'll use a radio with batteries. If it's very cold, we'll wear coats. Kit: flashlight, batteries, bottled water, food in cans, a first aid kit.</a:t>
            </a:r>
          </a:p>
          <a:p>
            <a:r>
              <a:t>If behind: Round 1 only.</a:t>
            </a:r>
          </a:p>
          <a:p>
            <a:r>
              <a:t>Safety (important): keep candles out of practice plans (fire risk); use flashlights. Never use a grill or a generator inside. Use local alert systems only as examples. Don't do real sign-ups in class. Say once: "In a real emergency, call 911."</a:t>
            </a:r>
          </a:p>
          <a:p>
            <a:r>
              <a:t>Lesson plan: Step 5; Talk Time: Ready Plan; Answer key.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slip: one with If…, I'll…, and one prediction with probably and because or so (It will probably rain tomorrow, so I'll take my umbrella.). Collect at the door.</a:t>
            </a:r>
          </a:p>
          <a:p>
            <a:r>
              <a:t>Homework: open the Homework page. Do item 1 together (one sentence on the board). Say: "About 15 minutes. Bring it next week."</a:t>
            </a:r>
          </a:p>
          <a:p>
            <a:r>
              <a:t>Homework items: 1 finish the sentences with I'll… • 2 write 3 predictions for tomorrow with will probably, probably won't, or maybe • 3 ask a family member or a friend: What will you do if the power goes out? (2 answers) • 4 review (Lesson 5): 2 offers with I'll.</a:t>
            </a:r>
          </a:p>
          <a:p>
            <a:r>
              <a:t>Read &amp; Write (7:17–7:25, on the Student Pages): a weather alert text and a kit checklist; questions 1–5; then the "My Ready Plan" card. Say: "First names only. Don't write phone numbers or addresses." An invented plan is fine. If behind: questions 1–5 only; the plan card becomes homework.</a:t>
            </a:r>
          </a:p>
          <a:p>
            <a:r>
              <a:t>Lesson plan: Step 6; Homework page; Read &amp; Write step.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Ask one learner: "What will you do if it rains tomorrow?" and wait for an answer with If…, I'll….</a:t>
            </a:r>
          </a:p>
          <a:p>
            <a:r>
              <a:t>Remind learners: homework is about 15 minutes. Bring it next week.</a:t>
            </a:r>
          </a:p>
          <a:p>
            <a:r>
              <a:t>Lesson plan: At a glance: Objectives; Step 6.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Emergency kit: a red kit bag with a flashlight, batteries, water, a band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6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 Ready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will happen if…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Make predictions with probably / maybe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Make a simple Ready Plan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six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stories are invented.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1383487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1325880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1325880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149458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139354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understand a weather alert.</a:t>
            </a:r>
            <a:endParaRPr lang="en-US" sz="1800" dirty="0" b="1"/>
          </a:p>
        </p:txBody>
      </p:sp>
      <p:sp>
        <p:nvSpPr>
          <p:cNvPr id="36" name="R1 sub"/>
          <p:cNvSpPr/>
          <p:nvPr/>
        </p:nvSpPr>
        <p:spPr>
          <a:xfrm>
            <a:off x="1901952" y="179588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big storm will arrive tonight.</a:t>
            </a:r>
            <a:endParaRPr lang="en-US" sz="2000" dirty="0"/>
          </a:p>
        </p:txBody>
      </p:sp>
      <p:sp>
        <p:nvSpPr>
          <p:cNvPr id="37" name="R1 dot"/>
          <p:cNvSpPr/>
          <p:nvPr/>
        </p:nvSpPr>
        <p:spPr>
          <a:xfrm rot="10800000">
            <a:off x="6361481" y="14593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8" name="R2 card"/>
          <p:cNvSpPr/>
          <p:nvPr/>
        </p:nvSpPr>
        <p:spPr>
          <a:xfrm>
            <a:off x="1583741" y="241858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R2 chip"/>
          <p:cNvSpPr/>
          <p:nvPr/>
        </p:nvSpPr>
        <p:spPr>
          <a:xfrm>
            <a:off x="544982" y="241858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0" name="R2 num"/>
          <p:cNvSpPr/>
          <p:nvPr/>
        </p:nvSpPr>
        <p:spPr>
          <a:xfrm>
            <a:off x="686714" y="241858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1" name="R2 text"/>
          <p:cNvSpPr/>
          <p:nvPr/>
        </p:nvSpPr>
        <p:spPr>
          <a:xfrm>
            <a:off x="1810512" y="241858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will happen if….</a:t>
            </a:r>
            <a:endParaRPr lang="en-US" sz="1800" dirty="0"/>
          </a:p>
        </p:txBody>
      </p:sp>
      <p:sp>
        <p:nvSpPr>
          <p:cNvPr id="42" name="R2 dot"/>
          <p:cNvSpPr/>
          <p:nvPr/>
        </p:nvSpPr>
        <p:spPr>
          <a:xfrm rot="10800000">
            <a:off x="6361481" y="255209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3" name="R3 card"/>
          <p:cNvSpPr/>
          <p:nvPr/>
        </p:nvSpPr>
        <p:spPr>
          <a:xfrm>
            <a:off x="1583741" y="312999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R3 chip"/>
          <p:cNvSpPr/>
          <p:nvPr/>
        </p:nvSpPr>
        <p:spPr>
          <a:xfrm>
            <a:off x="544982" y="312999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5" name="R3 num"/>
          <p:cNvSpPr/>
          <p:nvPr/>
        </p:nvSpPr>
        <p:spPr>
          <a:xfrm>
            <a:off x="686714" y="312999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6" name="R3 text"/>
          <p:cNvSpPr/>
          <p:nvPr/>
        </p:nvSpPr>
        <p:spPr>
          <a:xfrm>
            <a:off x="1810512" y="312999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What will you do if…?</a:t>
            </a:r>
            <a:endParaRPr lang="en-US" sz="1800" dirty="0"/>
          </a:p>
        </p:txBody>
      </p:sp>
      <p:sp>
        <p:nvSpPr>
          <p:cNvPr id="47" name="R3 dot"/>
          <p:cNvSpPr/>
          <p:nvPr/>
        </p:nvSpPr>
        <p:spPr>
          <a:xfrm rot="10800000">
            <a:off x="6361481" y="32634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8" name="R4 card"/>
          <p:cNvSpPr/>
          <p:nvPr/>
        </p:nvSpPr>
        <p:spPr>
          <a:xfrm>
            <a:off x="1583741" y="384139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R4 chip"/>
          <p:cNvSpPr/>
          <p:nvPr/>
        </p:nvSpPr>
        <p:spPr>
          <a:xfrm>
            <a:off x="544982" y="384139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0" name="R4 num"/>
          <p:cNvSpPr/>
          <p:nvPr/>
        </p:nvSpPr>
        <p:spPr>
          <a:xfrm>
            <a:off x="686714" y="3841394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1" name="R4 text"/>
          <p:cNvSpPr/>
          <p:nvPr/>
        </p:nvSpPr>
        <p:spPr>
          <a:xfrm>
            <a:off x="1810512" y="384139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make predictions with probably and maybe.</a:t>
            </a:r>
            <a:endParaRPr lang="en-US" sz="1800" dirty="0"/>
          </a:p>
        </p:txBody>
      </p:sp>
      <p:sp>
        <p:nvSpPr>
          <p:cNvPr id="52" name="R4 dot"/>
          <p:cNvSpPr/>
          <p:nvPr/>
        </p:nvSpPr>
        <p:spPr>
          <a:xfrm rot="10800000">
            <a:off x="6361481" y="397489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3" name="R5 card"/>
          <p:cNvSpPr/>
          <p:nvPr/>
        </p:nvSpPr>
        <p:spPr>
          <a:xfrm>
            <a:off x="1583741" y="455279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R5 chip"/>
          <p:cNvSpPr/>
          <p:nvPr/>
        </p:nvSpPr>
        <p:spPr>
          <a:xfrm>
            <a:off x="544982" y="455279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5" name="R5 num"/>
          <p:cNvSpPr/>
          <p:nvPr/>
        </p:nvSpPr>
        <p:spPr>
          <a:xfrm>
            <a:off x="686714" y="455279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6" name="R5 text"/>
          <p:cNvSpPr/>
          <p:nvPr/>
        </p:nvSpPr>
        <p:spPr>
          <a:xfrm>
            <a:off x="1810512" y="455279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safety tips with should.</a:t>
            </a:r>
            <a:endParaRPr lang="en-US" sz="1800" dirty="0"/>
          </a:p>
        </p:txBody>
      </p:sp>
      <p:sp>
        <p:nvSpPr>
          <p:cNvPr id="57" name="R5 dot"/>
          <p:cNvSpPr/>
          <p:nvPr/>
        </p:nvSpPr>
        <p:spPr>
          <a:xfrm rot="10800000">
            <a:off x="6361481" y="468630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8" name="R6 card"/>
          <p:cNvSpPr/>
          <p:nvPr/>
        </p:nvSpPr>
        <p:spPr>
          <a:xfrm>
            <a:off x="1583741" y="526420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R6 chip"/>
          <p:cNvSpPr/>
          <p:nvPr/>
        </p:nvSpPr>
        <p:spPr>
          <a:xfrm>
            <a:off x="544982" y="526420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0" name="R6 num"/>
          <p:cNvSpPr/>
          <p:nvPr/>
        </p:nvSpPr>
        <p:spPr>
          <a:xfrm>
            <a:off x="686714" y="526420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1" name="R6 text"/>
          <p:cNvSpPr/>
          <p:nvPr/>
        </p:nvSpPr>
        <p:spPr>
          <a:xfrm>
            <a:off x="1810512" y="526420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fill in a Ready Plan card.</a:t>
            </a:r>
            <a:endParaRPr lang="en-US" sz="1800" dirty="0"/>
          </a:p>
        </p:txBody>
      </p:sp>
      <p:sp>
        <p:nvSpPr>
          <p:cNvPr id="62" name="R6 dot"/>
          <p:cNvSpPr/>
          <p:nvPr/>
        </p:nvSpPr>
        <p:spPr>
          <a:xfrm rot="10800000">
            <a:off x="6361481" y="5397703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Forecast: a TV, sun / rain / snow icons with da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1828800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going to do this weekend?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2–3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Who with?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Who with? Why? Thanks! That's very kind.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going to do this weekend?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"I'm moving to a new apartment on Saturday." (B offers help with I'll…)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going to do after class tonight?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"I forgot my lunch today." (B offers help with I'll…)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5, item 1.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Forecast: a TV, sun / rain / snow icons with day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forecast</a:t>
            </a:r>
            <a:endParaRPr lang="en-US" sz="2000" dirty="0" b="1"/>
          </a:p>
        </p:txBody>
      </p:sp>
      <p:pic>
        <p:nvPicPr>
          <p:cNvPr id="19" name="Word picture 2" descr="Storm: a cloud with lightning and rain, win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storm</a:t>
            </a:r>
            <a:endParaRPr lang="en-US" sz="2000" dirty="0" b="1"/>
          </a:p>
        </p:txBody>
      </p:sp>
      <p:pic>
        <p:nvPicPr>
          <p:cNvPr id="21" name="Word picture 3" descr="Snowstorm: a snow cloud, snowflakes, a snowma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snowstorm</a:t>
            </a:r>
            <a:endParaRPr lang="en-US" sz="2000" dirty="0" b="1"/>
          </a:p>
        </p:txBody>
      </p:sp>
      <p:pic>
        <p:nvPicPr>
          <p:cNvPr id="23" name="Word picture 4" descr="Flood: a house with water around it, wave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flood</a:t>
            </a:r>
            <a:endParaRPr lang="en-US" sz="2000" dirty="0" b="1"/>
          </a:p>
        </p:txBody>
      </p:sp>
      <p:pic>
        <p:nvPicPr>
          <p:cNvPr id="25" name="Word picture 5" descr="Heat wave: the sun, a thermometer, a hot fac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heat wave</a:t>
            </a:r>
            <a:endParaRPr lang="en-US" sz="2000" dirty="0" b="1"/>
          </a:p>
        </p:txBody>
      </p:sp>
      <p:pic>
        <p:nvPicPr>
          <p:cNvPr id="27" name="Word picture 6" descr="Weather alert: a drawn phone with an ALERT message, a warning sig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weather alert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Power outage: a dark house at night, a light bulb crossed out, the mo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power outage</a:t>
            </a:r>
            <a:endParaRPr lang="en-US" sz="2000" dirty="0" b="1"/>
          </a:p>
        </p:txBody>
      </p:sp>
      <p:pic>
        <p:nvPicPr>
          <p:cNvPr id="19" name="Word picture 2" descr="Flashlight: a flashlight with a light bea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flashlight</a:t>
            </a:r>
            <a:endParaRPr lang="en-US" sz="2000" dirty="0" b="1"/>
          </a:p>
        </p:txBody>
      </p:sp>
      <p:pic>
        <p:nvPicPr>
          <p:cNvPr id="21" name="Word picture 3" descr="Battery: two batterie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battery</a:t>
            </a:r>
            <a:endParaRPr lang="en-US" sz="2000" dirty="0" b="1"/>
          </a:p>
        </p:txBody>
      </p:sp>
      <p:pic>
        <p:nvPicPr>
          <p:cNvPr id="23" name="Word picture 4" descr="Emergency kit: a red kit bag with a flashlight, batteries, water, a band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emergency kit</a:t>
            </a:r>
            <a:endParaRPr lang="en-US" sz="2000" dirty="0" b="1"/>
          </a:p>
        </p:txBody>
      </p:sp>
      <p:pic>
        <p:nvPicPr>
          <p:cNvPr id="25" name="Word picture 5" descr="Bottled water: four water bottles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bottled water</a:t>
            </a:r>
            <a:endParaRPr lang="en-US" sz="2000" dirty="0" b="1"/>
          </a:p>
        </p:txBody>
      </p:sp>
      <p:pic>
        <p:nvPicPr>
          <p:cNvPr id="27" name="Word picture 6" descr="Shelter: a public building with a SHELTER sign, a person walking to i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shelter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lights, no fridge, no TV. It's a…?</a:t>
            </a:r>
            <a:endParaRPr lang="en-US" sz="1800" dirty="0" b="1"/>
          </a:p>
        </p:txBody>
      </p:sp>
      <p:pic>
        <p:nvPicPr>
          <p:cNvPr id="101" name="R1 pic" descr="Power outage: a dark house at night, a light bulb crossed out, the mo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flashlight, water, and batteries go in…?</a:t>
            </a:r>
            <a:endParaRPr lang="en-US" sz="1800" dirty="0" b="1"/>
          </a:p>
        </p:txBody>
      </p:sp>
      <p:pic>
        <p:nvPicPr>
          <p:cNvPr id="102" name="R2 pic" descr="Emergency kit: a red kit bag with a flashlight, batteries, water, a band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safe public building for a storm?</a:t>
            </a:r>
            <a:endParaRPr lang="en-US" sz="1800" dirty="0" b="1"/>
          </a:p>
        </p:txBody>
      </p:sp>
      <p:pic>
        <p:nvPicPr>
          <p:cNvPr id="103" name="R3 pic" descr="Shelter: a public building with a SHELTER sign, a person walking to 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power outage</a:t>
            </a:r>
            <a:endParaRPr lang="en-US" sz="22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emergency kit</a:t>
            </a:r>
            <a:endParaRPr lang="en-US" sz="1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shelter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First, a weather alert on the radio. Then two roommates, Nadia and Ben, talk about it.</a:t>
            </a:r>
            <a:endParaRPr lang="en-US" sz="17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Weather alert: a drawn phone with an ALERT message, a warning sig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Nadia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Ben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weather problem?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they use or buy?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1:16.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is the weather problem?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17373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173736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97362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590288" cy="173736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weather problem?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heat wave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storm with strong wind and heavy rain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snowstorm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473952" y="3037637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What will Ben and Nadia use or buy?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✓.</a:t>
            </a:r>
            <a:endParaRPr lang="en-US" sz="2000" dirty="0" b="1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80924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batteries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8778240" y="310896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0" name="R1 opt2"/>
          <p:cNvSpPr/>
          <p:nvPr/>
        </p:nvSpPr>
        <p:spPr>
          <a:xfrm>
            <a:off x="10058400" y="310896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1" name="R1 circle"/>
          <p:cNvSpPr/>
          <p:nvPr/>
        </p:nvSpPr>
        <p:spPr>
          <a:xfrm>
            <a:off x="8650224" y="3054096"/>
            <a:ext cx="11704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80924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bottled water</a:t>
            </a:r>
            <a:endParaRPr lang="en-US" sz="2000" dirty="0"/>
          </a:p>
        </p:txBody>
      </p:sp>
      <p:sp>
        <p:nvSpPr>
          <p:cNvPr id="13" name="R2 opt1"/>
          <p:cNvSpPr/>
          <p:nvPr/>
        </p:nvSpPr>
        <p:spPr>
          <a:xfrm>
            <a:off x="8778240" y="365760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4" name="R2 opt2"/>
          <p:cNvSpPr/>
          <p:nvPr/>
        </p:nvSpPr>
        <p:spPr>
          <a:xfrm>
            <a:off x="10058400" y="365760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5" name="R2 circle"/>
          <p:cNvSpPr/>
          <p:nvPr/>
        </p:nvSpPr>
        <p:spPr>
          <a:xfrm>
            <a:off x="8650224" y="3602736"/>
            <a:ext cx="11704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80924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candles</a:t>
            </a:r>
            <a:endParaRPr lang="en-US" sz="2000" dirty="0"/>
          </a:p>
        </p:txBody>
      </p:sp>
      <p:sp>
        <p:nvSpPr>
          <p:cNvPr id="17" name="R3 opt1"/>
          <p:cNvSpPr/>
          <p:nvPr/>
        </p:nvSpPr>
        <p:spPr>
          <a:xfrm>
            <a:off x="8778240" y="420624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8" name="R3 opt2"/>
          <p:cNvSpPr/>
          <p:nvPr/>
        </p:nvSpPr>
        <p:spPr>
          <a:xfrm>
            <a:off x="10058400" y="420624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9" name="R3 circle"/>
          <p:cNvSpPr/>
          <p:nvPr/>
        </p:nvSpPr>
        <p:spPr>
          <a:xfrm>
            <a:off x="9930384" y="4151376"/>
            <a:ext cx="11704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80924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charged phones</a:t>
            </a:r>
            <a:endParaRPr lang="en-US" sz="2000" dirty="0"/>
          </a:p>
        </p:txBody>
      </p:sp>
      <p:sp>
        <p:nvSpPr>
          <p:cNvPr id="21" name="R4 opt1"/>
          <p:cNvSpPr/>
          <p:nvPr/>
        </p:nvSpPr>
        <p:spPr>
          <a:xfrm>
            <a:off x="8778240" y="475488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22" name="R4 opt2"/>
          <p:cNvSpPr/>
          <p:nvPr/>
        </p:nvSpPr>
        <p:spPr>
          <a:xfrm>
            <a:off x="10058400" y="475488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23" name="R4 circle"/>
          <p:cNvSpPr/>
          <p:nvPr/>
        </p:nvSpPr>
        <p:spPr>
          <a:xfrm>
            <a:off x="8650224" y="4700016"/>
            <a:ext cx="11704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80924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a snow shovel</a:t>
            </a:r>
            <a:endParaRPr lang="en-US" sz="2000" dirty="0"/>
          </a:p>
        </p:txBody>
      </p:sp>
      <p:sp>
        <p:nvSpPr>
          <p:cNvPr id="25" name="R5 opt1"/>
          <p:cNvSpPr/>
          <p:nvPr/>
        </p:nvSpPr>
        <p:spPr>
          <a:xfrm>
            <a:off x="8778240" y="530352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26" name="R5 opt2"/>
          <p:cNvSpPr/>
          <p:nvPr/>
        </p:nvSpPr>
        <p:spPr>
          <a:xfrm>
            <a:off x="10058400" y="530352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27" name="R5 circle"/>
          <p:cNvSpPr/>
          <p:nvPr/>
        </p:nvSpPr>
        <p:spPr>
          <a:xfrm>
            <a:off x="9930384" y="5248656"/>
            <a:ext cx="11704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80924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6. a new fridge</a:t>
            </a:r>
            <a:endParaRPr lang="en-US" sz="2000" dirty="0"/>
          </a:p>
        </p:txBody>
      </p:sp>
      <p:sp>
        <p:nvSpPr>
          <p:cNvPr id="29" name="R6 opt1"/>
          <p:cNvSpPr/>
          <p:nvPr/>
        </p:nvSpPr>
        <p:spPr>
          <a:xfrm>
            <a:off x="8778240" y="585216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30" name="R6 opt2"/>
          <p:cNvSpPr/>
          <p:nvPr/>
        </p:nvSpPr>
        <p:spPr>
          <a:xfrm>
            <a:off x="10058400" y="585216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31" name="R6 circle"/>
          <p:cNvSpPr/>
          <p:nvPr/>
        </p:nvSpPr>
        <p:spPr>
          <a:xfrm>
            <a:off x="9930384" y="5797296"/>
            <a:ext cx="11704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power ____ out, we ____ have any lights.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08192" y="2222144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goes, won't</a:t>
            </a:r>
            <a:endParaRPr lang="en-US" sz="17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I____ buy some after work.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08192" y="2950312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power goes out, the fridge ____ work.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08192" y="3678479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won't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we____ eat the food in the fridge first!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08192" y="440664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storm ____ really bad, will we go to work tomorrow?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08192" y="5134813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It____ probably rain all night.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08192" y="5862980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it'll, we'll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repeats each line.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will =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it'll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sounds like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id-ul.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it'll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(id-ul)  ·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we'll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I'll</a:t>
            </a:r>
            <a:endParaRPr lang="en-US" sz="22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power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goes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out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</a:t>
            </a:r>
            <a:endParaRPr lang="en-US" sz="22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we'll use a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flashlight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Flashlight: a flashlight with a light be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you do if…?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+ present, will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069080"/>
            <a:ext cx="192024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92024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do</a:t>
            </a:r>
            <a:endParaRPr lang="en-US" sz="1500" dirty="0" b="1"/>
          </a:p>
        </p:txBody>
      </p:sp>
      <p:sp>
        <p:nvSpPr>
          <p:cNvPr id="23" name="Question 1"/>
          <p:cNvSpPr/>
          <p:nvPr/>
        </p:nvSpPr>
        <p:spPr>
          <a:xfrm>
            <a:off x="3493008" y="3977640"/>
            <a:ext cx="25146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power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goes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out?</a:t>
            </a:r>
            <a:endParaRPr lang="en-US" sz="1600" dirty="0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power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goes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out, 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use a flashlight. / 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 my landlord.</a:t>
            </a:r>
            <a:endParaRPr lang="en-US" sz="16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4846320"/>
            <a:ext cx="192024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4754880"/>
            <a:ext cx="192024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do</a:t>
            </a:r>
            <a:endParaRPr lang="en-US" sz="1500" dirty="0" b="1"/>
          </a:p>
        </p:txBody>
      </p:sp>
      <p:sp>
        <p:nvSpPr>
          <p:cNvPr id="28" name="Question 2"/>
          <p:cNvSpPr/>
          <p:nvPr/>
        </p:nvSpPr>
        <p:spPr>
          <a:xfrm>
            <a:off x="3493008" y="4754880"/>
            <a:ext cx="25146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snows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tomorrow?</a:t>
            </a:r>
            <a:endParaRPr lang="en-US" sz="1600" dirty="0"/>
          </a:p>
        </p:txBody>
      </p:sp>
      <p:sp>
        <p:nvSpPr>
          <p:cNvPr id="29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snows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stay home. / 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the bus.</a:t>
            </a:r>
            <a:endParaRPr lang="en-US" sz="1600" dirty="0" b="1"/>
          </a:p>
        </p:txBody>
      </p:sp>
      <p:sp>
        <p:nvSpPr>
          <p:cNvPr id="31" name="Highlight 3"/>
          <p:cNvSpPr/>
          <p:nvPr/>
        </p:nvSpPr>
        <p:spPr>
          <a:xfrm>
            <a:off x="1481328" y="5623560"/>
            <a:ext cx="192024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Helper 3"/>
          <p:cNvSpPr/>
          <p:nvPr/>
        </p:nvSpPr>
        <p:spPr>
          <a:xfrm>
            <a:off x="1481328" y="5532120"/>
            <a:ext cx="192024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do</a:t>
            </a:r>
            <a:endParaRPr lang="en-US" sz="1500" dirty="0" b="1"/>
          </a:p>
        </p:txBody>
      </p:sp>
      <p:sp>
        <p:nvSpPr>
          <p:cNvPr id="33" name="Question 3"/>
          <p:cNvSpPr/>
          <p:nvPr/>
        </p:nvSpPr>
        <p:spPr>
          <a:xfrm>
            <a:off x="3493008" y="5532120"/>
            <a:ext cx="25146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's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very hot?</a:t>
            </a:r>
            <a:endParaRPr lang="en-US" sz="1600" dirty="0"/>
          </a:p>
        </p:txBody>
      </p:sp>
      <p:sp>
        <p:nvSpPr>
          <p:cNvPr id="34" name="Answer bg 3"/>
          <p:cNvSpPr/>
          <p:nvPr/>
        </p:nvSpPr>
        <p:spPr>
          <a:xfrm>
            <a:off x="6949440" y="553212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Answer 3"/>
          <p:cNvSpPr/>
          <p:nvPr/>
        </p:nvSpPr>
        <p:spPr>
          <a:xfrm>
            <a:off x="6949440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's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very hot, 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drink a lot of water. / 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go to the library.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Snowstorm: a snow cloud, snowflakes, a snowm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First or Second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first: comma  ·  if second: no comma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481328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FIRST (comma)</a:t>
            </a:r>
            <a:endParaRPr lang="en-US" sz="1700" dirty="0" b="1"/>
          </a:p>
        </p:txBody>
      </p:sp>
      <p:sp>
        <p:nvSpPr>
          <p:cNvPr id="20" name="A head"/>
          <p:cNvSpPr/>
          <p:nvPr/>
        </p:nvSpPr>
        <p:spPr>
          <a:xfrm>
            <a:off x="6949440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SECOND (no comma)</a:t>
            </a:r>
            <a:endParaRPr lang="en-US" sz="1700" dirty="0" b="1"/>
          </a:p>
        </p:txBody>
      </p:sp>
      <p:sp>
        <p:nvSpPr>
          <p:cNvPr id="21" name="Question 1"/>
          <p:cNvSpPr/>
          <p:nvPr/>
        </p:nvSpPr>
        <p:spPr>
          <a:xfrm>
            <a:off x="1481328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rains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I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the bus.</a:t>
            </a:r>
            <a:endParaRPr lang="en-US" sz="2000" dirty="0"/>
          </a:p>
        </p:txBody>
      </p:sp>
      <p:sp>
        <p:nvSpPr>
          <p:cNvPr id="22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the bus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rains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 b="1"/>
          </a:p>
        </p:txBody>
      </p:sp>
      <p:sp>
        <p:nvSpPr>
          <p:cNvPr id="24" name="Question 2"/>
          <p:cNvSpPr/>
          <p:nvPr/>
        </p:nvSpPr>
        <p:spPr>
          <a:xfrm>
            <a:off x="1481328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school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closes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my kids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stay home.</a:t>
            </a:r>
            <a:endParaRPr lang="en-US" sz="2000" dirty="0"/>
          </a:p>
        </p:txBody>
      </p:sp>
      <p:sp>
        <p:nvSpPr>
          <p:cNvPr id="25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kids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stay home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school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closes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torm: a cloud with lightning and rain, wi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  ·  short answers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Will…?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snows tomorrow,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school be closed?</a:t>
            </a:r>
            <a:endParaRPr lang="en-US" sz="19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it will. / Probably. / Maybe.</a:t>
            </a:r>
            <a:endParaRPr lang="en-US" sz="1800" dirty="0" b="1"/>
          </a:p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 not. / No, it won't.</a:t>
            </a:r>
            <a:endParaRPr lang="en-US" sz="18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566160"/>
            <a:ext cx="265176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storm is bad,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buses run?</a:t>
            </a:r>
            <a:endParaRPr lang="en-US" sz="19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566160"/>
            <a:ext cx="406908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566160"/>
            <a:ext cx="406908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 not. / Maybe. / I don't know.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Forecast: a TV, sun / rain / snow icons with da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 and maybe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sure?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406640" y="18288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Prediction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19456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100% sure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7406640" y="2286000"/>
            <a:ext cx="4526280" cy="7040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406640" y="2286000"/>
            <a:ext cx="452628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rain.</a:t>
            </a:r>
            <a:endParaRPr lang="en-US" sz="20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063240"/>
            <a:ext cx="219456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75% sure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7406640" y="3063240"/>
            <a:ext cx="4526280" cy="7040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406640" y="3063240"/>
            <a:ext cx="452628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will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rain.</a:t>
            </a:r>
            <a:endParaRPr lang="en-US" sz="20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3840480"/>
            <a:ext cx="219456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50% sure</a:t>
            </a:r>
            <a:endParaRPr lang="en-US" sz="2000" dirty="0" b="1"/>
          </a:p>
        </p:txBody>
      </p:sp>
      <p:sp>
        <p:nvSpPr>
          <p:cNvPr id="25" name="Answer bg 3"/>
          <p:cNvSpPr/>
          <p:nvPr/>
        </p:nvSpPr>
        <p:spPr>
          <a:xfrm>
            <a:off x="7406640" y="3840480"/>
            <a:ext cx="4526280" cy="7040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406640" y="3840480"/>
            <a:ext cx="452628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Maybe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will rain.</a:t>
            </a:r>
            <a:endParaRPr lang="en-US" sz="20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4617720"/>
            <a:ext cx="219456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25% sure</a:t>
            </a:r>
            <a:endParaRPr lang="en-US" sz="2000" dirty="0" b="1"/>
          </a:p>
        </p:txBody>
      </p:sp>
      <p:sp>
        <p:nvSpPr>
          <p:cNvPr id="28" name="Answer bg 4"/>
          <p:cNvSpPr/>
          <p:nvPr/>
        </p:nvSpPr>
        <p:spPr>
          <a:xfrm>
            <a:off x="7406640" y="4617720"/>
            <a:ext cx="4526280" cy="7040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406640" y="4617720"/>
            <a:ext cx="452628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 won't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rain.</a:t>
            </a:r>
            <a:endParaRPr lang="en-US" sz="2000" dirty="0" b="1"/>
          </a:p>
        </p:txBody>
      </p:sp>
      <p:sp>
        <p:nvSpPr>
          <p:cNvPr id="30" name="Question 5"/>
          <p:cNvSpPr/>
          <p:nvPr/>
        </p:nvSpPr>
        <p:spPr>
          <a:xfrm>
            <a:off x="5138928" y="5394960"/>
            <a:ext cx="219456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0%</a:t>
            </a:r>
            <a:endParaRPr lang="en-US" sz="2000" dirty="0" b="1"/>
          </a:p>
        </p:txBody>
      </p:sp>
      <p:sp>
        <p:nvSpPr>
          <p:cNvPr id="31" name="Answer bg 5"/>
          <p:cNvSpPr/>
          <p:nvPr/>
        </p:nvSpPr>
        <p:spPr>
          <a:xfrm>
            <a:off x="7406640" y="5394960"/>
            <a:ext cx="4526280" cy="7040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Answer 5"/>
          <p:cNvSpPr/>
          <p:nvPr/>
        </p:nvSpPr>
        <p:spPr>
          <a:xfrm>
            <a:off x="7406640" y="5394960"/>
            <a:ext cx="452628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won't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rain.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Bottled water: four water bott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5  ·  review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Safety tips with should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8138160" y="18288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926080" cy="13898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 do before a storm?</a:t>
            </a:r>
            <a:endParaRPr lang="en-US" sz="1900" dirty="0" b="1"/>
          </a:p>
        </p:txBody>
      </p:sp>
      <p:sp>
        <p:nvSpPr>
          <p:cNvPr id="19" name="Answer bg 1"/>
          <p:cNvSpPr/>
          <p:nvPr/>
        </p:nvSpPr>
        <p:spPr>
          <a:xfrm>
            <a:off x="8138160" y="2286000"/>
            <a:ext cx="3794760" cy="13898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8138160" y="2286000"/>
            <a:ext cx="3794760" cy="13898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buy batteries. / keep bottled water at home. / charge your phone.</a:t>
            </a:r>
            <a:endParaRPr lang="en-US" sz="1800" dirty="0" b="1"/>
          </a:p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shouldn't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use candles. / drive in a flood.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A: write the verbs.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+ present  ·  will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verbs.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37673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it ____ (rain), I ____ (take) the bus.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5650992" y="2222144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rains, 'll take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37673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power ____ (go) out, we ____ (use) flashlights.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5650992" y="2950312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goes, 'll use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37673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 (stay) home if it ____ (snow).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5650992" y="3678479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 stay, snows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37673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you ____ (not / have) water, I ____ (bring) some.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5650992" y="4406646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have, 'll bring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37673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it ____ (be) very hot, we ____ (go) to the library.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5650992" y="5134813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is, 'll go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37673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____ you do if school ____ (close)?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5650992" y="5862980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will, closes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right words.</a:t>
            </a:r>
            <a:endParaRPr lang="en-US" sz="22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21792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If it ____, I'll stay home.</a:t>
            </a:r>
            <a:endParaRPr lang="en-US" sz="1800" dirty="0"/>
          </a:p>
        </p:txBody>
      </p:sp>
      <p:sp>
        <p:nvSpPr>
          <p:cNvPr id="9" name="R1 opt1"/>
          <p:cNvSpPr/>
          <p:nvPr/>
        </p:nvSpPr>
        <p:spPr>
          <a:xfrm>
            <a:off x="6903720" y="310896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rains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9052560" y="310896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 rain</a:t>
            </a:r>
            <a:endParaRPr lang="en-US" sz="1500" dirty="0" b="1"/>
          </a:p>
        </p:txBody>
      </p:sp>
      <p:sp>
        <p:nvSpPr>
          <p:cNvPr id="11" name="R1 circle"/>
          <p:cNvSpPr/>
          <p:nvPr/>
        </p:nvSpPr>
        <p:spPr>
          <a:xfrm>
            <a:off x="6775704" y="3054096"/>
            <a:ext cx="217627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21792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It will ____ tonight.</a:t>
            </a:r>
            <a:endParaRPr lang="en-US" sz="1800" dirty="0"/>
          </a:p>
        </p:txBody>
      </p:sp>
      <p:sp>
        <p:nvSpPr>
          <p:cNvPr id="13" name="R2 opt1"/>
          <p:cNvSpPr/>
          <p:nvPr/>
        </p:nvSpPr>
        <p:spPr>
          <a:xfrm>
            <a:off x="6903720" y="365760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 rain</a:t>
            </a:r>
            <a:endParaRPr lang="en-US" sz="1500" dirty="0" b="1"/>
          </a:p>
        </p:txBody>
      </p:sp>
      <p:sp>
        <p:nvSpPr>
          <p:cNvPr id="14" name="R2 opt2"/>
          <p:cNvSpPr/>
          <p:nvPr/>
        </p:nvSpPr>
        <p:spPr>
          <a:xfrm>
            <a:off x="9052560" y="365760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 probably</a:t>
            </a:r>
            <a:endParaRPr lang="en-US" sz="1500" dirty="0" b="1"/>
          </a:p>
        </p:txBody>
      </p:sp>
      <p:sp>
        <p:nvSpPr>
          <p:cNvPr id="15" name="R2 circle"/>
          <p:cNvSpPr/>
          <p:nvPr/>
        </p:nvSpPr>
        <p:spPr>
          <a:xfrm>
            <a:off x="6775704" y="3602736"/>
            <a:ext cx="217627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21792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It ____ snow.</a:t>
            </a:r>
            <a:endParaRPr lang="en-US" sz="1800" dirty="0"/>
          </a:p>
        </p:txBody>
      </p:sp>
      <p:sp>
        <p:nvSpPr>
          <p:cNvPr id="17" name="R3 opt1"/>
          <p:cNvSpPr/>
          <p:nvPr/>
        </p:nvSpPr>
        <p:spPr>
          <a:xfrm>
            <a:off x="6903720" y="420624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 won't</a:t>
            </a:r>
            <a:endParaRPr lang="en-US" sz="1500" dirty="0" b="1"/>
          </a:p>
        </p:txBody>
      </p:sp>
      <p:sp>
        <p:nvSpPr>
          <p:cNvPr id="18" name="R3 opt2"/>
          <p:cNvSpPr/>
          <p:nvPr/>
        </p:nvSpPr>
        <p:spPr>
          <a:xfrm>
            <a:off x="9052560" y="420624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won't probably</a:t>
            </a:r>
            <a:endParaRPr lang="en-US" sz="1500" dirty="0" b="1"/>
          </a:p>
        </p:txBody>
      </p:sp>
      <p:sp>
        <p:nvSpPr>
          <p:cNvPr id="19" name="R3 circle"/>
          <p:cNvSpPr/>
          <p:nvPr/>
        </p:nvSpPr>
        <p:spPr>
          <a:xfrm>
            <a:off x="6775704" y="4151376"/>
            <a:ext cx="217627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21792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If ____, school will be closed.</a:t>
            </a:r>
            <a:endParaRPr lang="en-US" sz="1800" dirty="0"/>
          </a:p>
        </p:txBody>
      </p:sp>
      <p:sp>
        <p:nvSpPr>
          <p:cNvPr id="21" name="R4 opt1"/>
          <p:cNvSpPr/>
          <p:nvPr/>
        </p:nvSpPr>
        <p:spPr>
          <a:xfrm>
            <a:off x="6903720" y="475488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snows</a:t>
            </a:r>
            <a:endParaRPr lang="en-US" sz="1500" dirty="0" b="1"/>
          </a:p>
        </p:txBody>
      </p:sp>
      <p:sp>
        <p:nvSpPr>
          <p:cNvPr id="22" name="R4 opt2"/>
          <p:cNvSpPr/>
          <p:nvPr/>
        </p:nvSpPr>
        <p:spPr>
          <a:xfrm>
            <a:off x="9052560" y="475488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snows</a:t>
            </a:r>
            <a:endParaRPr lang="en-US" sz="1500" dirty="0" b="1"/>
          </a:p>
        </p:txBody>
      </p:sp>
      <p:sp>
        <p:nvSpPr>
          <p:cNvPr id="23" name="R4 circle"/>
          <p:cNvSpPr/>
          <p:nvPr/>
        </p:nvSpPr>
        <p:spPr>
          <a:xfrm>
            <a:off x="6775704" y="4700016"/>
            <a:ext cx="217627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21792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If the power goes out tonight, I ____ a flashlight.</a:t>
            </a:r>
            <a:endParaRPr lang="en-US" sz="1800" dirty="0"/>
          </a:p>
        </p:txBody>
      </p:sp>
      <p:sp>
        <p:nvSpPr>
          <p:cNvPr id="25" name="R5 opt1"/>
          <p:cNvSpPr/>
          <p:nvPr/>
        </p:nvSpPr>
        <p:spPr>
          <a:xfrm>
            <a:off x="6903720" y="530352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</a:t>
            </a:r>
            <a:endParaRPr lang="en-US" sz="1500" dirty="0" b="1"/>
          </a:p>
        </p:txBody>
      </p:sp>
      <p:sp>
        <p:nvSpPr>
          <p:cNvPr id="26" name="R5 opt2"/>
          <p:cNvSpPr/>
          <p:nvPr/>
        </p:nvSpPr>
        <p:spPr>
          <a:xfrm>
            <a:off x="9052560" y="530352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 use</a:t>
            </a:r>
            <a:endParaRPr lang="en-US" sz="1500" dirty="0" b="1"/>
          </a:p>
        </p:txBody>
      </p:sp>
      <p:sp>
        <p:nvSpPr>
          <p:cNvPr id="27" name="R5 circle"/>
          <p:cNvSpPr/>
          <p:nvPr/>
        </p:nvSpPr>
        <p:spPr>
          <a:xfrm>
            <a:off x="8924544" y="5248656"/>
            <a:ext cx="217627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21792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6. You ____ keep water at home.</a:t>
            </a:r>
            <a:endParaRPr lang="en-US" sz="1800" dirty="0"/>
          </a:p>
        </p:txBody>
      </p:sp>
      <p:sp>
        <p:nvSpPr>
          <p:cNvPr id="29" name="R6 opt1"/>
          <p:cNvSpPr/>
          <p:nvPr/>
        </p:nvSpPr>
        <p:spPr>
          <a:xfrm>
            <a:off x="6903720" y="585216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endParaRPr lang="en-US" sz="1500" dirty="0" b="1"/>
          </a:p>
        </p:txBody>
      </p:sp>
      <p:sp>
        <p:nvSpPr>
          <p:cNvPr id="30" name="R6 opt2"/>
          <p:cNvSpPr/>
          <p:nvPr/>
        </p:nvSpPr>
        <p:spPr>
          <a:xfrm>
            <a:off x="9052560" y="585216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 to</a:t>
            </a:r>
            <a:endParaRPr lang="en-US" sz="1500" dirty="0" b="1"/>
          </a:p>
        </p:txBody>
      </p:sp>
      <p:sp>
        <p:nvSpPr>
          <p:cNvPr id="31" name="R6 circle"/>
          <p:cNvSpPr/>
          <p:nvPr/>
        </p:nvSpPr>
        <p:spPr>
          <a:xfrm>
            <a:off x="6775704" y="5797296"/>
            <a:ext cx="217627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Battery: two batter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it will rain, I'll stay home.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rains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I'll stay home.</a:t>
            </a:r>
            <a:endParaRPr lang="en-US" sz="1700" dirty="0" b="0"/>
          </a:p>
        </p:txBody>
      </p:sp>
      <p:sp>
        <p:nvSpPr>
          <p:cNvPr id="26" name="Bad 2"/>
          <p:cNvSpPr/>
          <p:nvPr/>
        </p:nvSpPr>
        <p:spPr>
          <a:xfrm>
            <a:off x="914400" y="331012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rains, I'll take the bus.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31012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rains, I'll take the bus.</a:t>
            </a:r>
            <a:endParaRPr lang="en-US" sz="1700" dirty="0" b="0"/>
          </a:p>
        </p:txBody>
      </p:sp>
      <p:sp>
        <p:nvSpPr>
          <p:cNvPr id="28" name="Bad 3"/>
          <p:cNvSpPr/>
          <p:nvPr/>
        </p:nvSpPr>
        <p:spPr>
          <a:xfrm>
            <a:off x="914400" y="3877056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power goes out, I use a flashlight. (tonight)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877056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power goes out, I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use a flashlight.</a:t>
            </a:r>
            <a:endParaRPr lang="en-US" sz="1700" dirty="0" b="0"/>
          </a:p>
        </p:txBody>
      </p:sp>
      <p:sp>
        <p:nvSpPr>
          <p:cNvPr id="30" name="Bad 4"/>
          <p:cNvSpPr/>
          <p:nvPr/>
        </p:nvSpPr>
        <p:spPr>
          <a:xfrm>
            <a:off x="914400" y="471830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will rain probably.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71830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will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rain.</a:t>
            </a:r>
            <a:endParaRPr lang="en-US" sz="1700" dirty="0" b="0"/>
          </a:p>
        </p:txBody>
      </p:sp>
      <p:sp>
        <p:nvSpPr>
          <p:cNvPr id="32" name="Bad 5"/>
          <p:cNvSpPr/>
          <p:nvPr/>
        </p:nvSpPr>
        <p:spPr>
          <a:xfrm>
            <a:off x="914400" y="5285232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won't probably snow.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285232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 won't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snow.</a:t>
            </a:r>
            <a:endParaRPr lang="en-US" sz="1700" dirty="0" b="0"/>
          </a:p>
        </p:txBody>
      </p:sp>
      <p:sp>
        <p:nvSpPr>
          <p:cNvPr id="34" name="Bad 6"/>
          <p:cNvSpPr/>
          <p:nvPr/>
        </p:nvSpPr>
        <p:spPr>
          <a:xfrm>
            <a:off x="914400" y="585216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should to buy batteries.</a:t>
            </a:r>
            <a:endParaRPr lang="en-US" sz="1700" dirty="0"/>
          </a:p>
        </p:txBody>
      </p:sp>
      <p:sp>
        <p:nvSpPr>
          <p:cNvPr id="35" name="Good 6"/>
          <p:cNvSpPr/>
          <p:nvPr/>
        </p:nvSpPr>
        <p:spPr>
          <a:xfrm>
            <a:off x="4800600" y="585216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 buy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batteries.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Heat wave: the sun, a thermometer, a hot fa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What will you do if the bus doesn't come?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…if it's very hot tomorrow?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If…, I'll….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 roles.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What will you do if…? B answers with If…, I'll…. Then switch.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Snowstorm: a snow cloud, snowflakes, a snowm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If? Chain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Round 1: groups of 3–4.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 around the group.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Person 1 reads a start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it snows tomorrow, I'll stay home.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Person 2 starts with the end.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stay home, I'll cook soup.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Keep going around the group.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cook soup, I'll invite my neighbor.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Emergency kit: a red kit bag with a flashlight, batteries, water, a band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Ready Plan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Round 2: your group.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scenario card.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Choose one scenario.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big storm · A heat wave · A power outage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4 sentences with If…, we'll….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power goes out, we'll use flashlights.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 5 things for your kit. Present.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person presents the plan in 1 minute.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Read &amp; Write: a weather alert text: a drawn phone with an invented heat-wave alert message, a hot fa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564" y="2651760"/>
            <a:ext cx="1642872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One with If…, I'll….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A prediction with probably and because or so: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will probably rain tomorrow, so I'll take my umbrella.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7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Finish the sentences with I'll….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3 predictions for tomorrow.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Ask: What will you do if the power goes out?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2 offers with I'll.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7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understand a weather forecast.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will happen if….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make a simple emergency plan.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make predictions with probably and maybe.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Circle a or b.</a:t>
            </a:r>
            <a:endParaRPr lang="en-US" sz="18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stay home   b. go to work</a:t>
            </a:r>
            <a:endParaRPr lang="en-US" sz="16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It will probably rain.   b. It won't rain.</a:t>
            </a:r>
            <a:endParaRPr lang="en-US" sz="16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candles   b. flashlights</a:t>
            </a:r>
            <a:endParaRPr lang="en-US" sz="16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It will be hot.   b. It probably won't be hot.</a:t>
            </a:r>
            <a:endParaRPr lang="en-US" sz="16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Flashlight: a flashlight with a light be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6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will happen if…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Make predictions with probably / maybe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Make a simple Ready Plan</a:t>
            </a:r>
            <a:endParaRPr lang="en-US" sz="2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speech bubbles, signs,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Nadia and Ben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6: Be Ready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