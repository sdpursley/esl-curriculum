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32.xml" ContentType="application/vnd.openxmlformats-officedocument.presentationml.notesSlide+xml"/>
  <Override PartName="/ppt/slides/slide27.xml" ContentType="application/vnd.openxmlformats-officedocument.presentationml.slide+xml"/>
  <Override PartName="/ppt/notesSlides/notesSlide33.xml" ContentType="application/vnd.openxmlformats-officedocument.presentationml.notesSlide+xml"/>
  <Override PartName="/ppt/slides/slide28.xml" ContentType="application/vnd.openxmlformats-officedocument.presentationml.slide+xml"/>
  <Override PartName="/ppt/notesSlides/notesSlide34.xml" ContentType="application/vnd.openxmlformats-officedocument.presentationml.notesSlide+xml"/>
  <Override PartName="/ppt/slides/slide29.xml" ContentType="application/vnd.openxmlformats-officedocument.presentationml.slide+xml"/>
  <Override PartName="/ppt/notesSlides/notesSlide36.xml" ContentType="application/vnd.openxmlformats-officedocument.presentationml.notesSlide+xml"/>
  <Override PartName="/ppt/slides/slide31.xml" ContentType="application/vnd.openxmlformats-officedocument.presentationml.slide+xml"/>
  <Override PartName="/ppt/notesSlides/notesSlide38.xml" ContentType="application/vnd.openxmlformats-officedocument.presentationml.notesSlide+xml"/>
  <Override PartName="/ppt/slides/slide33.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67" r:id="rId13"/>
    <p:sldId id="257" r:id="rId3"/>
    <p:sldId id="265" r:id="rId11"/>
    <p:sldId id="276" r:id="rId27"/>
    <p:sldId id="264" r:id="rId10"/>
    <p:sldId id="280" r:id="rId31"/>
    <p:sldId id="287" r:id="rId38"/>
    <p:sldId id="260" r:id="rId6"/>
    <p:sldId id="266" r:id="rId12"/>
    <p:sldId id="259" r:id="rId5"/>
    <p:sldId id="277" r:id="rId28"/>
    <p:sldId id="293" r:id="rId44"/>
    <p:sldId id="289" r:id="rId40"/>
    <p:sldId id="278" r:id="rId29"/>
    <p:sldId id="270" r:id="rId16"/>
    <p:sldId id="288" r:id="rId39"/>
    <p:sldId id="271" r:id="rId17"/>
    <p:sldId id="279" r:id="rId30"/>
    <p:sldId id="291" r:id="rId42"/>
    <p:sldId id="281" r:id="rId32"/>
    <p:sldId id="261" r:id="rId7"/>
    <p:sldId id="283" r:id="rId34"/>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5" Type="http://schemas.openxmlformats.org/officeDocument/2006/relationships/slide" Target="slides/slide13.xml"/><Relationship Id="rId6" Type="http://schemas.openxmlformats.org/officeDocument/2006/relationships/slide" Target="slides/slide12.xml"/><Relationship Id="rId7" Type="http://schemas.openxmlformats.org/officeDocument/2006/relationships/slide" Target="slides/slide21.xml"/><Relationship Id="rId10" Type="http://schemas.openxmlformats.org/officeDocument/2006/relationships/slide" Target="slides/slide8.xml"/><Relationship Id="rId11" Type="http://schemas.openxmlformats.org/officeDocument/2006/relationships/slide" Target="slides/slide5.xml"/><Relationship Id="rId12" Type="http://schemas.openxmlformats.org/officeDocument/2006/relationships/slide" Target="slides/slide14.xml"/><Relationship Id="rId13" Type="http://schemas.openxmlformats.org/officeDocument/2006/relationships/slide" Target="slides/slide2.xml"/><Relationship Id="rId16" Type="http://schemas.openxmlformats.org/officeDocument/2006/relationships/slide" Target="slides/slide17.xml"/><Relationship Id="rId17" Type="http://schemas.openxmlformats.org/officeDocument/2006/relationships/slide" Target="slides/slide18.xml"/><Relationship Id="rId20" Type="http://schemas.openxmlformats.org/officeDocument/2006/relationships/slide" Target="slides/slide23.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6.xml"/><Relationship Id="rId28" Type="http://schemas.openxmlformats.org/officeDocument/2006/relationships/slide" Target="slides/slide11.xml"/><Relationship Id="rId29" Type="http://schemas.openxmlformats.org/officeDocument/2006/relationships/slide" Target="slides/slide16.xml"/><Relationship Id="rId30" Type="http://schemas.openxmlformats.org/officeDocument/2006/relationships/slide" Target="slides/slide4.xml"/><Relationship Id="rId31" Type="http://schemas.openxmlformats.org/officeDocument/2006/relationships/slide" Target="slides/slide15.xml"/><Relationship Id="rId32" Type="http://schemas.openxmlformats.org/officeDocument/2006/relationships/slide" Target="slides/slide19.xml"/><Relationship Id="rId34" Type="http://schemas.openxmlformats.org/officeDocument/2006/relationships/slide" Target="slides/slide22.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2" Type="http://schemas.openxmlformats.org/officeDocument/2006/relationships/slide" Target="slides/slide31.xml"/><Relationship Id="rId44"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Say: "Today: food." Point to the taco: "This is a taco. Tortillas. Beans."</a:t>
            </a:r>
          </a:p>
          <a:p>
            <a:r>
              <a:rPr lang="en-US"/>
              <a:t>This is the first lesson after the midterm (Week 8). Keep the energy light.</a:t>
            </a:r>
          </a:p>
          <a:p>
            <a:r>
              <a:rPr lang="en-US"/>
              <a:t>Before class: print the Student Pages (number expected + 3 spares). Cut one New Words page per group of 3–4 for food picture cards, or point to the page. Have the phone + small speaker and L1_L8_listening.mp3 ready. Prep time: 30 min.</a:t>
            </a:r>
          </a:p>
          <a:p>
            <a:r>
              <a:rPr lang="en-US"/>
              <a:t>Food tip: ask about allergies and food rules without making anyone explain why. "I don't eat ___." is always an OK answer. Never ask how much learners spend on food.</a:t>
            </a:r>
          </a:p>
          <a:p>
            <a:r>
              <a:rPr lang="en-US"/>
              <a:t>Teach in English. Show, point, and gesture. Say less, show more.</a:t>
            </a:r>
          </a:p>
          <a:p>
            <a:r>
              <a:rPr lang="en-US"/>
              <a:t>Class plan: 6:00 Hello + Review, 6:10 New Words, 6:20 Listening, 6:32 Grammar, 6:45 Break, 7:00 Talk Time, 7:10 Exit Ticket + Homework, 7:15 Real-World Reading, 7:25 Progress Check.</a:t>
            </a:r>
          </a:p>
          <a:p>
            <a:r>
              <a:rPr lang="en-US"/>
              <a:t>Source: level1_curriculum/lesson8/Level1_Lesson8.md (At a glance, How to Use This Plan, Clock-time plan).</a:t>
            </a:r>
          </a:p>
          <a:p>
            <a:r>
              <a:rPr lang="en-US"/>
              <a:t>Pictures: Twemoji graphics by Twitter, Inc. and other contributors (https://github.com/jdecked/twemoji), CC BY 4.0 (https://creativecommons.org/licenses/by/4.0/); resized and combined, labels added (see lesson8/images/CREDITS.md).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Pairs. 15 learners: 7 pairs + 1 group of 3. 7–8 learners: 3–4 pairs. Late arrivals join any pair.</a:t>
            </a:r>
          </a:p>
          <a:p>
            <a:r>
              <a:rPr lang="en-US"/>
              <a:t>Before class, write on the board: How much is this shirt? Do you like coffee? Do you work on weekends?</a:t>
            </a:r>
          </a:p>
          <a:p>
            <a:r>
              <a:rPr lang="en-US"/>
              <a:t>Model with one learner: "Do you like coffee?" "Yes, I do." / "No, I don't."</a:t>
            </a:r>
          </a:p>
          <a:p>
            <a:r>
              <a:rPr lang="en-US"/>
              <a:t>Click to show the A question. Click again for the B answers. Pairs use the Hello + Review page: 1 How much is this shirt? It's $___. 2 How much are these shoes? They're $___. 3 Do you like coffee? 4 What color is your shirt? It's ___. Switch. Then find a new partner.</a:t>
            </a:r>
          </a:p>
          <a:p>
            <a:r>
              <a:rPr lang="en-US"/>
              <a:t>Homework check (last 3 min): partners show the Lesson 7 homework (prices). Walk around and look.</a:t>
            </a:r>
          </a:p>
          <a:p>
            <a:r>
              <a:rPr lang="en-US"/>
              <a:t>New learners: pair them with a strong partner. They can review Lesson 7 New Words at home. If behind: one partner only.</a:t>
            </a:r>
          </a:p>
          <a:p>
            <a:r>
              <a:rPr lang="en-US"/>
              <a:t>Source: level1_curriculum/lesson8/Level1_Lesson8.md (Step 1: Hello + Review; Student Pages: Hello + Review).</a:t>
            </a:r>
          </a:p>
          <a:p>
            <a:r>
              <a:rPr lang="en-US"/>
              <a:t>Review picture: the blue shirt from Lesson 7 (lesson7/images/L1_L7_shirt.png). Twemoji graphics by Twitter, Inc. and other contributors (https://github.com/jdecked/twemoji), CC BY 4.0 (https://creativecommons.org/licenses/by/4.0/); resized and recolored (see lesson7/images/CREDITS.md).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Box 3: "What do you want?" Click: "I want a taco and a soda." Ask again. Click: "A coffee, please."</a:t>
            </a:r>
          </a:p>
          <a:p>
            <a:r>
              <a:rPr lang="en-US"/>
              <a:t>Learners repeat the question and both answers.</a:t>
            </a:r>
          </a:p>
          <a:p>
            <a:r>
              <a:rPr lang="en-US"/>
              <a:t>like or want? like = it's good for me (I like fish). want = I ask for it now (I want a taco).</a:t>
            </a:r>
          </a:p>
          <a:p>
            <a:r>
              <a:rPr lang="en-US"/>
              <a:t>One thing: I want a taco. I want an apple.</a:t>
            </a:r>
          </a:p>
          <a:p>
            <a:r>
              <a:rPr lang="en-US"/>
              <a:t>Check question: "I ___ a soda." (want).</a:t>
            </a:r>
          </a:p>
          <a:p>
            <a:r>
              <a:rPr lang="en-US"/>
              <a:t>Source: level1_curriculum/lesson8/Level1_Lesson8.md (Step 4: Grammar Q&amp;A, Box 3; Grammar Box 3; Questions and answers).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Show the Grammar page. Left = question. Right = answer. Point left, then right.</a:t>
            </a:r>
          </a:p>
          <a:p>
            <a:r>
              <a:rPr lang="en-US"/>
              <a:t>Box 1: "Do you like fish?" Click: "Yes, I do." / "No, I don't." Ask the class each question. Click to show each answer. Learners repeat the question and the answer.</a:t>
            </a:r>
          </a:p>
          <a:p>
            <a:r>
              <a:rPr lang="en-US"/>
              <a:t>Short answers: Yes, I do. / No, I don't. After I, use don't + verb: I don't like coffee.</a:t>
            </a:r>
          </a:p>
          <a:p>
            <a:r>
              <a:rPr lang="en-US"/>
              <a:t>Check question: "Do you ___ fish?" (like).</a:t>
            </a:r>
          </a:p>
          <a:p>
            <a:r>
              <a:rPr lang="en-US"/>
              <a:t>Source: level1_curriculum/lesson8/Level1_Lesson8.md (Step 4: Grammar Q&amp;A, Boxes 1–2; Grammar Box 1; Questions and answers).</a:t>
            </a:r>
          </a:p>
          <a:p>
            <a:r>
              <a:rPr lang="en-US"/>
              <a:t>Pictures: Twemoji graphics by Twitter, Inc. and other contributors (https://github.com/jdecked/twemoji), CC BY 4.0 (https://creativecommons.org/licenses/by/4.0/); resized and combined, labels added (see lesson8/images/CREDITS.md).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Progress Check (5 min). Individuals. Open the Progress Check page.</a:t>
            </a:r>
          </a:p>
          <a:p>
            <a:r>
              <a:rPr lang="en-US"/>
              <a:t>Part A: read each word slowly, 2 times: 1 breakfast, 2 fish, 3 juice, 4 beans, 5 lunch. Learners circle.</a:t>
            </a:r>
          </a:p>
          <a:p>
            <a:r>
              <a:rPr lang="en-US"/>
              <a:t>Parts B and C: learners match and write on their own. Help with the instructions only. Click to show the Part B answers when you check together: 1 b, 2 c, 3 a, 4 d.</a:t>
            </a:r>
          </a:p>
          <a:p>
            <a:r>
              <a:rPr lang="en-US"/>
              <a:t>Part C (like / don't like / want): answers vary.</a:t>
            </a:r>
          </a:p>
          <a:p>
            <a:r>
              <a:rPr lang="en-US"/>
              <a:t>Part D: read each "I can…" line and point to the 3 faces: 😀 "I can." 🙂 "With help." 😐 "Not yet." Learners check one.</a:t>
            </a:r>
          </a:p>
          <a:p>
            <a:r>
              <a:rPr lang="en-US"/>
              <a:t>Score: A /5 + B /4 + C /3 = /12. Not a test grade. After the midterm, these checks are light. Collect if you want. If behind: do it next week at 6:00.</a:t>
            </a:r>
          </a:p>
          <a:p>
            <a:r>
              <a:rPr lang="en-US"/>
              <a:t>Source: level1_curriculum/lesson8/Level1_Lesson8.md (Progress Check step; Student Pages: Progress Check; Answer key).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you listen (1 min). Say: "Ana is at a taco truck. She asks: Do you like…? She wants food." Point to the Task A pictures.</a:t>
            </a:r>
          </a:p>
          <a:p>
            <a:r>
              <a:rPr lang="en-US"/>
              <a:t>Click to show each listen. Listen 1: Task A (circle what Ana orders). Listen 2: Task B (does the server like fish tacos? circle 😀 or 😐). Listen 3: Task C (write the prices, cash, change, for here / to go).</a:t>
            </a:r>
          </a:p>
          <a:p>
            <a:r>
              <a:rPr lang="en-US"/>
              <a:t>Say it!: read each line. Learners repeat: "I want a fish taco and a soda, please." "For here or to go?" "To go, please."</a:t>
            </a:r>
          </a:p>
          <a:p>
            <a:r>
              <a:rPr lang="en-US"/>
              <a:t>The audio L1_L8_listening.mp3 (about 1:10) plays the conversation once. Press play again for the next listen. Pairs compare after each task. Write answers on the board.</a:t>
            </a:r>
          </a:p>
          <a:p>
            <a:r>
              <a:rPr lang="en-US"/>
              <a:t>No speaker? Read the script with a volunteer. Say the prices as words: three dollars, two dollars, five dollars, ten dollars.</a:t>
            </a:r>
          </a:p>
          <a:p>
            <a:r>
              <a:rPr lang="en-US"/>
              <a:t>Voices: Narrator, Server, Ana. Synthetic voices made with Chatterbox TTS (MIT), copied from short reference clips made with Kokoro-82M (Apache 2.0); no recordings of real people.</a:t>
            </a:r>
          </a:p>
          <a:p>
            <a:r>
              <a:rPr lang="en-US"/>
              <a:t>If behind: play 2 times; do Task C together.</a:t>
            </a:r>
          </a:p>
          <a:p>
            <a:r>
              <a:rPr lang="en-US"/>
              <a:t>Source: level1_curriculum/lesson8/Level1_Lesson8.md (Step 3: Listening; Listening script).</a:t>
            </a:r>
          </a:p>
          <a:p>
            <a:r>
              <a:rPr lang="en-US"/>
              <a:t>Pictures: Twemoji graphics by Twitter, Inc. and other contributors (https://github.com/jdecked/twemoji), CC BY 4.0 (https://creativecommons.org/licenses/by/4.0/); resized and combined, labels added (see lesson8/images/CREDITS.md).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Hold up or draw a taco: "This is a taco. Tortillas. Beans." Mime eating: "Breakfast. Lunch. Dinner."</a:t>
            </a:r>
          </a:p>
          <a:p>
            <a:r>
              <a:rPr lang="en-US"/>
              <a:t>Click to show each picture. Point and say the word. Learners repeat 2 times. ★ words 2 more times.</a:t>
            </a:r>
          </a:p>
          <a:p>
            <a:r>
              <a:rPr lang="en-US"/>
              <a:t>★ = most important words. If behind: teach the ★ words only.</a:t>
            </a:r>
          </a:p>
          <a:p>
            <a:r>
              <a:rPr lang="en-US"/>
              <a:t>Source: level1_curriculum/lesson8/Level1_Lesson8.md (Step 2: New Words; Student Pages: New Words).</a:t>
            </a:r>
          </a:p>
          <a:p>
            <a:r>
              <a:rPr lang="en-US"/>
              <a:t>Pictures: Twemoji graphics by Twitter, Inc. and other contributors (https://github.com/jdecked/twemoji), CC BY 4.0 (https://creativecommons.org/licenses/by/4.0/); resized and combined, labels added (see lesson8/images/CREDITS.md).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Box 2: "I like tacos. I like fruit. I like juice." Click to show the I like lines. Then "I don't like coffee. I don't like meat." Click to show them.</a:t>
            </a:r>
          </a:p>
          <a:p>
            <a:r>
              <a:rPr lang="en-US"/>
              <a:t>Learners say one true sentence: I like ___. / I don't like ___.</a:t>
            </a:r>
          </a:p>
          <a:p>
            <a:r>
              <a:rPr lang="en-US"/>
              <a:t>like = it's good for me (I like fish). No "the" for things in general: I like tacos, not I like the tacos.</a:t>
            </a:r>
          </a:p>
          <a:p>
            <a:r>
              <a:rPr lang="en-US"/>
              <a:t>Big mistake this week: Me like tacos and I like the tacos. Cross them out on the board.</a:t>
            </a:r>
          </a:p>
          <a:p>
            <a:r>
              <a:rPr lang="en-US"/>
              <a:t>Spanish speakers: like does not work like gustar. Learners can read the Spanish note on their Grammar page.</a:t>
            </a:r>
          </a:p>
          <a:p>
            <a:r>
              <a:rPr lang="en-US"/>
              <a:t>Source: level1_curriculum/lesson8/Level1_Lesson8.md (Step 4: Grammar Q&amp;A, Boxes 1–2; Grammar Box 2; Teacher notes).</a:t>
            </a:r>
          </a:p>
          <a:p>
            <a:r>
              <a:rPr lang="en-US"/>
              <a:t>Pictures: Twemoji graphics by Twitter, Inc. and other contributors (https://github.com/jdecked/twemoji), CC BY 4.0 (https://creativecommons.org/licenses/by/4.0/); resized and combined, labels added (see lesson8/images/CREDITS.md).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Click to show each goal, one at a time. Read it aloud. Learners repeat.</a:t>
            </a:r>
          </a:p>
          <a:p>
            <a:r>
              <a:rPr lang="en-US"/>
              <a:t>Goal 1: point to the food pictures: breakfast, lunch, dinner, beans, tortillas, meat, fish, fruit, vegetables, juice, soda, pizza.</a:t>
            </a:r>
          </a:p>
          <a:p>
            <a:r>
              <a:rPr lang="en-US"/>
              <a:t>Goal 2: "Do you like fish?" "Yes, I do." / "No, I don't."</a:t>
            </a:r>
          </a:p>
          <a:p>
            <a:r>
              <a:rPr lang="en-US"/>
              <a:t>Goal 3: "I like tacos. I don't like coffee."</a:t>
            </a:r>
          </a:p>
          <a:p>
            <a:r>
              <a:rPr lang="en-US"/>
              <a:t>Goal 4: "I want a taco and a soda." / "A coffee, please." The server asks: "For here or to go?" "Anything else?"</a:t>
            </a:r>
          </a:p>
          <a:p>
            <a:r>
              <a:rPr lang="en-US"/>
              <a:t>Goal 5: Real-World Reading at 7:15: a simple picture menu with prices.</a:t>
            </a:r>
          </a:p>
          <a:p>
            <a:r>
              <a:rPr lang="en-US"/>
              <a:t>Source: level1_curriculum/lesson8/Level1_Lesson8.md (At a glance: Objectives).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1, food survey (4 min). Groups of 3–4. Each learner asks 3 classmates "Do you like…?" and writes 😀 or 😐 on the survey (fish, beans, pizza, juice).</a:t>
            </a:r>
          </a:p>
          <a:p>
            <a:r>
              <a:rPr lang="en-US"/>
              <a:t>Model: "Do you like fish?" "Yes, I do." Write 😀. Click to show each step.</a:t>
            </a:r>
          </a:p>
          <a:p>
            <a:r>
              <a:rPr lang="en-US"/>
              <a:t>Allergies and food rules: accept "I don't eat ___." or "I don't like ___." with no questions about why.</a:t>
            </a:r>
          </a:p>
          <a:p>
            <a:r>
              <a:rPr lang="en-US"/>
              <a:t>If behind: do only the survey.</a:t>
            </a:r>
          </a:p>
          <a:p>
            <a:r>
              <a:rPr lang="en-US"/>
              <a:t>Source: level1_curriculum/lesson8/Level1_Lesson8.md (Step 5: Talk Time, Part 1; Student Pages: Talk Time B, Food survey; Teacher notes).</a:t>
            </a:r>
          </a:p>
          <a:p>
            <a:r>
              <a:rPr lang="en-US"/>
              <a:t>Pictures: Twemoji graphics by Twitter, Inc. and other contributors (https://github.com/jdecked/twemoji), CC BY 4.0 (https://creativecommons.org/licenses/by/4.0/); resized and combined, labels added (see lesson8/images/CREDITS.md).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Exit ticket (never skip): each learner says "I like ___." or "I want ___." or writes one sentence. Copying from the box is fine.</a:t>
            </a:r>
          </a:p>
          <a:p>
            <a:r>
              <a:rPr lang="en-US"/>
              <a:t>Homework (10 minutes): open the Homework page. Do item 1, line 1 together. Point to each instruction.</a:t>
            </a:r>
          </a:p>
          <a:p>
            <a:r>
              <a:rPr lang="en-US"/>
              <a:t>Homework: 1) write about you (I like… / I don't like… / For breakfast, I want… / For lunch, I like…); 2) unscramble; 3) ask a family member or a friend "Do you like fish?" and write the answer; 4) look at a menu (paper or phone) and write 3 foods and prices; 5) review: write one price from Lesson 7 and say it aloud.</a:t>
            </a:r>
          </a:p>
          <a:p>
            <a:r>
              <a:rPr lang="en-US"/>
              <a:t>Homework answers (answer key, Homework 2): 1 I like fruit. 2 I don't like coffee. 3 I want a taco.</a:t>
            </a:r>
          </a:p>
          <a:p>
            <a:r>
              <a:rPr lang="en-US"/>
              <a:t>Source: level1_curriculum/lesson8/Level1_Lesson8.md (Step 6: Exit Ticket + Homework; Student Pages: Homework; Answer key).</a:t>
            </a:r>
          </a:p>
          <a:p>
            <a:r>
              <a:rPr lang="en-US"/>
              <a:t>Pictures: Twemoji graphics by Twitter, Inc. and other contributors (https://github.com/jdecked/twemoji), CC BY 4.0 (https://creativecommons.org/licenses/by/4.0/); resized and combined, labels added (see lesson8/images/CREDITS.md).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Credits for the pictures, audio, and font.</a:t>
            </a:r>
          </a:p>
          <a:p>
            <a:r>
              <a:rPr lang="en-US"/>
              <a:t>Pictures: Twemoji (CC BY 4.0), https://github.com/jdecked/twemoji; resized and combined, labels added. The picture menu is drawn in code. Review picture (blue shirt) from Lesson 7. Audio: Chatterbox TTS (MIT) voices copied from short Kokoro-82M (Apache 2.0) reference clips; no recordings of real people.</a:t>
            </a:r>
          </a:p>
          <a:p>
            <a:r>
              <a:rPr lang="en-US"/>
              <a:t>Sources: Level1_Lesson8.md (Picture Credits), lesson8/images/CREDITS.md, lesson8/audio/README.md.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Click to show each picture. Say the word. Learners repeat 2 times.</a:t>
            </a:r>
          </a:p>
          <a:p>
            <a:r>
              <a:rPr lang="en-US"/>
              <a:t>Pairs (4 min): A points to a picture, B says the word. Then A asks "Do you like ___?" and B answers "Yes, I do." / "No, I don't."</a:t>
            </a:r>
          </a:p>
          <a:p>
            <a:r>
              <a:rPr lang="en-US"/>
              <a:t>Spanish tip (on the page only): I like tacos (no "the" for things in general).</a:t>
            </a:r>
          </a:p>
          <a:p>
            <a:r>
              <a:rPr lang="en-US"/>
              <a:t>★ = most important words. soda and pizza have no ★. If behind: teach the ★ words only.</a:t>
            </a:r>
          </a:p>
          <a:p>
            <a:r>
              <a:rPr lang="en-US"/>
              <a:t>Source: level1_curriculum/lesson8/Level1_Lesson8.md (Step 2: New Words; Student Pages: New Words).</a:t>
            </a:r>
          </a:p>
          <a:p>
            <a:r>
              <a:rPr lang="en-US"/>
              <a:t>Pictures: Twemoji graphics by Twitter, Inc. and other contributors (https://github.com/jdecked/twemoji), CC BY 4.0 (https://creativecommons.org/licenses/by/4.0/); resized and combined, labels added (see lesson8/images/CREDITS.md).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Box 4: mime the counter. "For here or to go?" Click: "To go, please." Another answer: "For here, please."</a:t>
            </a:r>
          </a:p>
          <a:p>
            <a:r>
              <a:rPr lang="en-US"/>
              <a:t>Right box: "Anything else?" Click: "No, thanks." The server asks if you want more. Answer No, thanks. or name one more food.</a:t>
            </a:r>
          </a:p>
          <a:p>
            <a:r>
              <a:rPr lang="en-US"/>
              <a:t>Check question: "To go or ___ here?" (for).</a:t>
            </a:r>
          </a:p>
          <a:p>
            <a:r>
              <a:rPr lang="en-US"/>
              <a:t>Pair drill (last 3–4 min): A asks Do you like…? B answers; then A orders from the menu and B is the server. If behind: skip the pair drill; Talk Time practices the same language.</a:t>
            </a:r>
          </a:p>
          <a:p>
            <a:r>
              <a:rPr lang="en-US"/>
              <a:t>Source: level1_curriculum/lesson8/Level1_Lesson8.md (Step 4: Grammar Q&amp;A, Box 4 and pair drill; Grammar Box 4).</a:t>
            </a:r>
          </a:p>
          <a:p>
            <a:r>
              <a:rPr lang="en-US"/>
              <a:t>Pictures: Twemoji graphics by Twitter, Inc. and other contributors (https://github.com/jdecked/twemoji), CC BY 4.0 (https://creativecommons.org/licenses/by/4.0/); resized and combined, labels added (see lesson8/images/CREDITS.md).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each "Don't say" line. Shake your head. Click to show the correct line. Learners repeat it.</a:t>
            </a:r>
          </a:p>
          <a:p>
            <a:r>
              <a:rPr lang="en-US"/>
              <a:t>Me like tacos → I like tacos. I like the tacos (for food in general) → I like tacos.</a:t>
            </a:r>
          </a:p>
          <a:p>
            <a:r>
              <a:rPr lang="en-US"/>
              <a:t>I no like coffee → I don't like coffee. I want taco → I want a taco (one thing).</a:t>
            </a:r>
          </a:p>
          <a:p>
            <a:r>
              <a:rPr lang="en-US"/>
              <a:t>Tip: like = general preference. want = order now. Point to Grammar Box 2 for the big mistake.</a:t>
            </a:r>
          </a:p>
          <a:p>
            <a:r>
              <a:rPr lang="en-US"/>
              <a:t>Source: level1_curriculum/lesson8/Level1_Lesson8.md (Grammar: Common mistakes; Teacher notes).</a:t>
            </a:r>
          </a:p>
          <a:p>
            <a:r>
              <a:rPr lang="en-US"/>
              <a:t>Pictures: Twemoji graphics by Twitter, Inc. and other contributors (https://github.com/jdecked/twemoji), CC BY 4.0 (https://creativecommons.org/licenses/by/4.0/); resized and combined, labels added (see lesson8/images/CREDITS.md).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Real-World Reading (10 min, Weeks 9–14). Whole class, then pairs. Use the Real-World Reading page (the same menu as Talk Time).</a:t>
            </a:r>
          </a:p>
          <a:p>
            <a:r>
              <a:rPr lang="en-US"/>
              <a:t>See it (2 min), Task A: point to each food and the price. Say the prices as words: "three dollars".</a:t>
            </a:r>
          </a:p>
          <a:p>
            <a:r>
              <a:rPr lang="en-US"/>
              <a:t>Hear it (2 min): say 3 prices; learners point.</a:t>
            </a:r>
          </a:p>
          <a:p>
            <a:r>
              <a:rPr lang="en-US"/>
              <a:t>Learners write the prices. Then click to show each answer: taco $3, juice $2, pizza slice $3, soda $1 (answer key).</a:t>
            </a:r>
          </a:p>
          <a:p>
            <a:r>
              <a:rPr lang="en-US"/>
              <a:t>Learners who can't read yet: they point to pictures and say the food words with everyone.</a:t>
            </a:r>
          </a:p>
          <a:p>
            <a:r>
              <a:rPr lang="en-US"/>
              <a:t>Source: level1_curriculum/lesson8/Level1_Lesson8.md (Real-World Reading step; Student Pages: Real-World Reading A; Answer key).</a:t>
            </a:r>
          </a:p>
          <a:p>
            <a:r>
              <a:rPr lang="en-US"/>
              <a:t>The picture menu is drawn in code; the food names and prices are invented (see lesson8/images/CREDITS.md).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Listen 1 (Task A). Learners circle what Ana orders: the food and the drink.</a:t>
            </a:r>
          </a:p>
          <a:p>
            <a:r>
              <a:rPr lang="en-US"/>
              <a:t>Pairs compare: "Show your partner." Then click to show each answer: fish taco and soda (not pizza, not juice).</a:t>
            </a:r>
          </a:p>
          <a:p>
            <a:r>
              <a:rPr lang="en-US"/>
              <a:t>In the audio: "OK. I want a fish taco and a soda, please."</a:t>
            </a:r>
          </a:p>
          <a:p>
            <a:r>
              <a:rPr lang="en-US"/>
              <a:t>Source: level1_curriculum/lesson8/Level1_Lesson8.md (Step 3: Listening; Student Pages: Listening A; Answer key, Listening A).</a:t>
            </a:r>
          </a:p>
          <a:p>
            <a:r>
              <a:rPr lang="en-US"/>
              <a:t>Pictures: Twemoji graphics by Twitter, Inc. and other contributors (https://github.com/jdecked/twemoji), CC BY 4.0 (https://creativecommons.org/licenses/by/4.0/); resized and combined, labels added (see lesson8/images/CREDITS.md).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Task C: learners read the menu and copy two lines (for example: taco $3). Answers vary.</a:t>
            </a:r>
          </a:p>
          <a:p>
            <a:r>
              <a:rPr lang="en-US"/>
              <a:t>Task D (pairs): partner A says a food; B says the price. Then switch. Partners: A is the server, B orders one thing from the menu (no money this time).</a:t>
            </a:r>
          </a:p>
          <a:p>
            <a:r>
              <a:rPr lang="en-US"/>
              <a:t>Click to show each way to say the price. Learners repeat.</a:t>
            </a:r>
          </a:p>
          <a:p>
            <a:r>
              <a:rPr lang="en-US"/>
              <a:t>Menu: taco $3, beans &amp; rice $4, fruit $2, juice $2, soda $1, pizza slice $3.</a:t>
            </a:r>
          </a:p>
          <a:p>
            <a:r>
              <a:rPr lang="en-US"/>
              <a:t>Source: level1_curriculum/lesson8/Level1_Lesson8.md (Real-World Reading step; Student Pages: Real-World Reading C and D).</a:t>
            </a:r>
          </a:p>
          <a:p>
            <a:r>
              <a:rPr lang="en-US"/>
              <a:t>The picture menu is drawn in code; the food names and prices are invented (see lesson8/images/CREDITS.md).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Say: "Great work! See you next week!" Remind learners: bring the homework next week.</a:t>
            </a:r>
          </a:p>
          <a:p>
            <a:r>
              <a:rPr lang="en-US"/>
              <a:t>Collect the Progress Check pages if you want.</a:t>
            </a:r>
          </a:p>
          <a:p>
            <a:r>
              <a:rPr lang="en-US"/>
              <a:t>Source: level1_curriculum/lesson8/Level1_Lesson8.md (At a glance: Objectives).</a:t>
            </a:r>
          </a:p>
          <a:p>
            <a:r>
              <a:rPr lang="en-US"/>
              <a:t>Pictures: Twemoji graphics by Twitter, Inc. and other contributors (https://github.com/jdecked/twemoji), CC BY 4.0 (https://creativecommons.org/licenses/by/4.0/); resized and combined, labels added (see lesson8/images/CREDITS.md).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Listen 2 (Task B): does the server like fish tacos? Learners circle 😀 likes or 😐 doesn't like. Listen 3 (Task C): learners write the numbers and check for here or to go.</a:t>
            </a:r>
          </a:p>
          <a:p>
            <a:r>
              <a:rPr lang="en-US"/>
              <a:t>Pairs compare. Then click to show each answer.</a:t>
            </a:r>
          </a:p>
          <a:p>
            <a:r>
              <a:rPr lang="en-US"/>
              <a:t>Task B: 😀 likes ("Yes, I do. They're really good.").</a:t>
            </a:r>
          </a:p>
          <a:p>
            <a:r>
              <a:rPr lang="en-US"/>
              <a:t>Task C: the taco is $3, the soda is $2, the total is $5, Ana gives $10, her change is $5, and she wants the food to go.</a:t>
            </a:r>
          </a:p>
          <a:p>
            <a:r>
              <a:rPr lang="en-US"/>
              <a:t>If behind: play the audio 2 times, and do Task C together.</a:t>
            </a:r>
          </a:p>
          <a:p>
            <a:r>
              <a:rPr lang="en-US"/>
              <a:t>Source: level1_curriculum/lesson8/Level1_Lesson8.md (Step 3: Listening; Answer key, Listening B and 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2, taco truck (5 min). A–B pairs. Give half the class the Student A page (server, menu with prices) and half the Student B page (customer). Partners don't show their role cards.</a:t>
            </a:r>
          </a:p>
          <a:p>
            <a:r>
              <a:rPr lang="en-US"/>
              <a:t>Model with one learner first: "Hi! What do you want?" Click: "I want a taco, please." "For here or to go?" "To go, please." "How much is it?" "It's $3." "Here's $5." "Your change is $2."</a:t>
            </a:r>
          </a:p>
          <a:p>
            <a:r>
              <a:rPr lang="en-US"/>
              <a:t>A is the server: says Hi! What do you want? / For here or to go? / Anything else? / That's $___, and writes what the partner orders and the price.</a:t>
            </a:r>
          </a:p>
          <a:p>
            <a:r>
              <a:rPr lang="en-US"/>
              <a:t>B is the customer: orders, says for here or to go, asks the price, and pays. B writes the food, the price, and the change. Then switch.</a:t>
            </a:r>
          </a:p>
          <a:p>
            <a:r>
              <a:rPr lang="en-US"/>
              <a:t>Menu prices: taco $3, beans &amp; rice $4, fruit $2, juice $2, soda $1, pizza slice $3.</a:t>
            </a:r>
          </a:p>
          <a:p>
            <a:r>
              <a:rPr lang="en-US"/>
              <a:t>Odd number: two customers share one server. Learners who can't write yet can point on the menu and say "A taco, please." / "To go."</a:t>
            </a:r>
          </a:p>
          <a:p>
            <a:r>
              <a:rPr lang="en-US"/>
              <a:t>Source: level1_curriculum/lesson8/Level1_Lesson8.md (Step 5: Talk Time, Part 2; Student Pages: Talk Time A and B; picture menu; Teacher notes).</a:t>
            </a:r>
          </a:p>
          <a:p>
            <a:r>
              <a:rPr lang="en-US"/>
              <a:t>The picture menu is drawn in code; the food names and prices are invented (see lesson8/images/CREDITS.md).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Learners write like, don't, want, or to go. Then pairs check.</a:t>
            </a:r>
          </a:p>
          <a:p>
            <a:r>
              <a:rPr lang="en-US"/>
              <a:t>Click to show each answer: 1 like, 2 don't, 3 want, 4 To go, 5 like, 6 like or want (answers will vary: either is OK if it fits).</a:t>
            </a:r>
          </a:p>
          <a:p>
            <a:r>
              <a:rPr lang="en-US"/>
              <a:t>Source: level1_curriculum/lesson8/Level1_Lesson8.md (Grammar: Practice; Answer key, Grammar practice).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it (4 min), Task B: read each line together. Learners circle.</a:t>
            </a:r>
          </a:p>
          <a:p>
            <a:r>
              <a:rPr lang="en-US"/>
              <a:t>Then click to show each answer: 1 for here (you eat at the truck), 2 to go (you take the food home), 3 Anything else? (the server asks).</a:t>
            </a:r>
          </a:p>
          <a:p>
            <a:r>
              <a:rPr lang="en-US"/>
              <a:t>If behind: do Tasks A and B only.</a:t>
            </a:r>
          </a:p>
          <a:p>
            <a:r>
              <a:rPr lang="en-US"/>
              <a:t>Source: level1_curriculum/lesson8/Level1_Lesson8.md (Real-World Reading step; Student Pages: Real-World Reading B; Answer key).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Box 5: prices at the counter (from Lesson 7). Left = server. Right = you.</a:t>
            </a:r>
          </a:p>
          <a:p>
            <a:r>
              <a:rPr lang="en-US"/>
              <a:t>"How much is it?" Click: "It's $5. / five dollars." "That's $5." Click: "Here's $10." "Your change is $5." Click: "Thank you!"</a:t>
            </a:r>
          </a:p>
          <a:p>
            <a:r>
              <a:rPr lang="en-US"/>
              <a:t>Learners repeat each line. Then pairs: A is the server, B pays. Switch.</a:t>
            </a:r>
          </a:p>
          <a:p>
            <a:r>
              <a:rPr lang="en-US"/>
              <a:t>This is the same language as Listening C (total $5, cash $10, change $5).</a:t>
            </a:r>
          </a:p>
          <a:p>
            <a:r>
              <a:rPr lang="en-US"/>
              <a:t>Source: level1_curriculum/lesson8/Level1_Lesson8.md (Grammar Box 5; Answer key, Listening C).</a:t>
            </a:r>
          </a:p>
          <a:p>
            <a:r>
              <a:rPr lang="en-US"/>
              <a:t>Pictures: Twemoji graphics by Twitter, Inc. and other contributors (https://github.com/jdecked/twemoji), CC BY 4.0 (https://creativecommons.org/licenses/by/4.0/); resized and combined, labels added (see lesson8/images/CREDITS.md).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1.xml"/><Relationship Id="rIdImg1" Type="http://schemas.openxmlformats.org/officeDocument/2006/relationships/image" Target="../media/L1_L8_tortillas.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Img1" Type="http://schemas.openxmlformats.org/officeDocument/2006/relationships/image" Target="../media/L1_L7_shirt.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Img1" Type="http://schemas.openxmlformats.org/officeDocument/2006/relationships/image" Target="../media/L1_L8_menu.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Img1" Type="http://schemas.openxmlformats.org/officeDocument/2006/relationships/image" Target="../media/L1_L8_breakfast.png"/><Relationship Id="rIdImg2" Type="http://schemas.openxmlformats.org/officeDocument/2006/relationships/image" Target="../media/L1_L8_lunch.png"/><Relationship Id="rIdImg3" Type="http://schemas.openxmlformats.org/officeDocument/2006/relationships/image" Target="../media/L1_L8_dinner.png"/><Relationship Id="rIdImg4" Type="http://schemas.openxmlformats.org/officeDocument/2006/relationships/image" Target="../media/L1_L8_beans.png"/><Relationship Id="rIdImg5" Type="http://schemas.openxmlformats.org/officeDocument/2006/relationships/image" Target="../media/L1_L8_tortillas.png"/><Relationship Id="rIdImg6" Type="http://schemas.openxmlformats.org/officeDocument/2006/relationships/image" Target="../media/L1_L8_meat.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Img1" Type="http://schemas.openxmlformats.org/officeDocument/2006/relationships/image" Target="../media/L1_L8_fish.png"/><Relationship Id="rIdImg2" Type="http://schemas.openxmlformats.org/officeDocument/2006/relationships/image" Target="../media/L1_L8_fruit.png"/><Relationship Id="rIdImg3" Type="http://schemas.openxmlformats.org/officeDocument/2006/relationships/image" Target="../media/L1_L8_vegetables.png"/><Relationship Id="rIdImg4" Type="http://schemas.openxmlformats.org/officeDocument/2006/relationships/image" Target="../media/L1_L8_juice.png"/><Relationship Id="rIdImg5" Type="http://schemas.openxmlformats.org/officeDocument/2006/relationships/image" Target="../media/L1_L8_soda.png"/><Relationship Id="rIdImg6" Type="http://schemas.openxmlformats.org/officeDocument/2006/relationships/image" Target="../media/L1_L8_pizza.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Img1" Type="http://schemas.openxmlformats.org/officeDocument/2006/relationships/image" Target="../media/L1_L8_tortillas.png"/><Relationship Id="rIdImg2" Type="http://schemas.openxmlformats.org/officeDocument/2006/relationships/image" Target="../media/L1_L8_soda.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2.xml"/><Relationship Id="rIdImg1" Type="http://schemas.openxmlformats.org/officeDocument/2006/relationships/image" Target="../media/L1_L8_to_go.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Img1" Type="http://schemas.openxmlformats.org/officeDocument/2006/relationships/image" Target="../media/L1_L8_fish.png"/><Relationship Id="rIdImg2" Type="http://schemas.openxmlformats.org/officeDocument/2006/relationships/image" Target="../media/L1_L8_tortillas.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Img1" Type="http://schemas.openxmlformats.org/officeDocument/2006/relationships/image" Target="../media/L1_L8_fruit.png"/><Relationship Id="rIdImg2" Type="http://schemas.openxmlformats.org/officeDocument/2006/relationships/image" Target="../media/L1_L8_meat.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Img1" Type="http://schemas.openxmlformats.org/officeDocument/2006/relationships/image" Target="../media/L1_L8_tortillas.png"/><Relationship Id="rIdImg2" Type="http://schemas.openxmlformats.org/officeDocument/2006/relationships/image" Target="../media/L1_L8_pizza.png"/><Relationship Id="rIdImg3" Type="http://schemas.openxmlformats.org/officeDocument/2006/relationships/image" Target="../media/L1_L8_soda.png"/><Relationship Id="rIdImg4" Type="http://schemas.openxmlformats.org/officeDocument/2006/relationships/image" Target="../media/L1_L8_juice.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Img1" Type="http://schemas.openxmlformats.org/officeDocument/2006/relationships/image" Target="../media/L1_L8_tortillas.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Img1" Type="http://schemas.openxmlformats.org/officeDocument/2006/relationships/image" Target="../media/L1_L8_fish.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Img1" Type="http://schemas.openxmlformats.org/officeDocument/2006/relationships/image" Target="../media/L1_L8_breakfast.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28.xml"/><Relationship Id="rIdImg1" Type="http://schemas.openxmlformats.org/officeDocument/2006/relationships/image" Target="../media/L1_L8_pizza.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Img1" Type="http://schemas.openxmlformats.org/officeDocument/2006/relationships/image" Target="../media/L1_L8_menu.png"/><Relationship Id="rIdImg2" Type="http://schemas.openxmlformats.org/officeDocument/2006/relationships/image" Target="../media/L1_L8_to_go.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A taco picture" descr="a taco">    </p:cNvPr>
          <p:cNvPicPr>
            <a:picLocks noChangeAspect="1"/>
          </p:cNvPicPr>
          <p:nvPr/>
        </p:nvPicPr>
        <p:blipFill>
          <a:blip r:embed="rIdImg1"/>
          <a:stretch>
            <a:fillRect/>
          </a:stretch>
        </p:blipFill>
        <p:spPr>
          <a:xfrm>
            <a:off x="7726680" y="1664208"/>
            <a:ext cx="3474720" cy="2432304"/>
          </a:xfrm>
          <a:prstGeom prst="rect">
            <a:avLst/>
          </a:prstGeom>
        </p:spPr>
      </p:pic>
      <p:sp>
        <p:nvSpPr>
          <p:cNvPr id="5" name="Text 2"/>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8  ·  Level 1</a:t>
            </a:r>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ext 5"/>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Let's Eat!</a:t>
            </a:r>
          </a:p>
        </p:txBody>
      </p:sp>
      <p:sp>
        <p:nvSpPr>
          <p:cNvPr id="9" name="Text 6"/>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p>
        </p:txBody>
      </p:sp>
      <p:sp>
        <p:nvSpPr>
          <p:cNvPr id="10" name="Text 7"/>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Do you like fish?</a:t>
            </a:r>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I like tacos.</a:t>
            </a:r>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Order: A taco, please. To go.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2093062"/>
            <a:ext cx="6227064" cy="983894"/>
          </a:xfrm>
          <a:prstGeom prst="round1Rect">
            <a:avLst>
              <a:gd name="adj" fmla="val 23087"/>
            </a:avLst>
          </a:prstGeom>
          <a:solidFill>
            <a:srgbClr val="8FAFE3"/>
          </a:solidFill>
          <a:ln/>
        </p:spPr>
        <p:txBody>
          <a:bodyPr/>
          <a:p/>
        </p:txBody>
      </p:sp>
      <p:sp>
        <p:nvSpPr>
          <p:cNvPr id="3" name="Shape 1"/>
          <p:cNvSpPr/>
          <p:nvPr/>
        </p:nvSpPr>
        <p:spPr>
          <a:xfrm>
            <a:off x="1583741" y="2035454"/>
            <a:ext cx="5130698" cy="983894"/>
          </a:xfrm>
          <a:prstGeom prst="round1Rect">
            <a:avLst>
              <a:gd name="adj" fmla="val 23087"/>
            </a:avLst>
          </a:prstGeom>
          <a:solidFill>
            <a:srgbClr val="FFFFFF"/>
          </a:solidFill>
          <a:ln/>
        </p:spPr>
        <p:txBody>
          <a:bodyPr/>
          <a:p/>
        </p:txBody>
      </p:sp>
      <p:sp>
        <p:nvSpPr>
          <p:cNvPr id="4" name="Shape 2"/>
          <p:cNvSpPr/>
          <p:nvPr/>
        </p:nvSpPr>
        <p:spPr>
          <a:xfrm>
            <a:off x="1583741" y="3127248"/>
            <a:ext cx="5130698" cy="602590"/>
          </a:xfrm>
          <a:prstGeom prst="round1Rect">
            <a:avLst>
              <a:gd name="adj" fmla="val 23087"/>
            </a:avLst>
          </a:prstGeom>
          <a:solidFill>
            <a:srgbClr val="FFFFFF"/>
          </a:solidFill>
          <a:ln/>
        </p:spPr>
        <p:txBody>
          <a:bodyPr/>
          <a:p/>
        </p:txBody>
      </p:sp>
      <p:sp>
        <p:nvSpPr>
          <p:cNvPr id="5" name="Shape 3"/>
          <p:cNvSpPr/>
          <p:nvPr/>
        </p:nvSpPr>
        <p:spPr>
          <a:xfrm>
            <a:off x="1583741" y="3838651"/>
            <a:ext cx="5130698" cy="602590"/>
          </a:xfrm>
          <a:prstGeom prst="round1Rect">
            <a:avLst>
              <a:gd name="adj" fmla="val 23087"/>
            </a:avLst>
          </a:prstGeom>
          <a:solidFill>
            <a:srgbClr val="FFFFFF"/>
          </a:solidFill>
          <a:ln/>
        </p:spPr>
        <p:txBody>
          <a:bodyPr/>
          <a:p/>
        </p:txBody>
      </p:sp>
      <p:sp>
        <p:nvSpPr>
          <p:cNvPr id="6" name="Shape 4"/>
          <p:cNvSpPr/>
          <p:nvPr/>
        </p:nvSpPr>
        <p:spPr>
          <a:xfrm>
            <a:off x="1583741" y="4550054"/>
            <a:ext cx="5130698" cy="602590"/>
          </a:xfrm>
          <a:prstGeom prst="round1Rect">
            <a:avLst>
              <a:gd name="adj" fmla="val 23087"/>
            </a:avLst>
          </a:prstGeom>
          <a:solidFill>
            <a:srgbClr val="FFFFFF"/>
          </a:solidFill>
          <a:ln/>
        </p:spPr>
        <p:txBody>
          <a:bodyPr/>
          <a:p/>
        </p:txBody>
      </p:sp>
      <p:sp>
        <p:nvSpPr>
          <p:cNvPr id="7" name="Shape 5"/>
          <p:cNvSpPr/>
          <p:nvPr/>
        </p:nvSpPr>
        <p:spPr>
          <a:xfrm>
            <a:off x="1583741" y="5261458"/>
            <a:ext cx="5130698" cy="602590"/>
          </a:xfrm>
          <a:prstGeom prst="round1Rect">
            <a:avLst>
              <a:gd name="adj" fmla="val 23087"/>
            </a:avLst>
          </a:prstGeom>
          <a:solidFill>
            <a:srgbClr val="FFFFFF"/>
          </a:solidFill>
          <a:ln/>
        </p:spPr>
        <p:txBody>
          <a:bodyPr/>
          <a:p/>
        </p:txBody>
      </p:sp>
      <p:sp>
        <p:nvSpPr>
          <p:cNvPr id="8" name="Text 6"/>
          <p:cNvSpPr/>
          <p:nvPr/>
        </p:nvSpPr>
        <p:spPr>
          <a:xfrm>
            <a:off x="1810512" y="2103120"/>
            <a:ext cx="443484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 can name foods and drinks.</a:t>
            </a:r>
          </a:p>
        </p:txBody>
      </p:sp>
      <p:sp>
        <p:nvSpPr>
          <p:cNvPr id="9" name="Text 7"/>
          <p:cNvSpPr/>
          <p:nvPr/>
        </p:nvSpPr>
        <p:spPr>
          <a:xfrm>
            <a:off x="1901952" y="2505456"/>
            <a:ext cx="434340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breakfast, lunch, dinner</a:t>
            </a:r>
          </a:p>
        </p:txBody>
      </p:sp>
      <p:sp>
        <p:nvSpPr>
          <p:cNvPr id="11" name="Text 9"/>
          <p:cNvSpPr/>
          <p:nvPr/>
        </p:nvSpPr>
        <p:spPr>
          <a:xfrm>
            <a:off x="1810512" y="3127248"/>
            <a:ext cx="4434840" cy="602590"/>
          </a:xfrm>
          <a:prstGeom prst="rect">
            <a:avLst/>
          </a:prstGeom>
          <a:noFill/>
          <a:ln/>
        </p:spPr>
        <p:txBody>
          <a:bodyPr wrap="square" rtlCol="0" anchor="ctr"/>
          <a:lstStyle/>
          <a:p>
            <a:pPr algn="l" indent="0" marL="0">
              <a:buNone/>
            </a:pPr>
            <a:r>
              <a:rPr lang="en-US" sz="1900" dirty="0">
                <a:solidFill>
                  <a:srgbClr val="1B2236"/>
                </a:solidFill>
                <a:latin typeface="Lexend Deca" pitchFamily="34" charset="0"/>
                <a:ea typeface="Lexend Deca" pitchFamily="34" charset="-122"/>
                <a:cs typeface="Lexend Deca" pitchFamily="34" charset="-120"/>
              </a:rPr>
              <a:t>I can ask: Do you like fish?</a:t>
            </a:r>
          </a:p>
        </p:txBody>
      </p:sp>
      <p:sp>
        <p:nvSpPr>
          <p:cNvPr id="13" name="Text 11"/>
          <p:cNvSpPr/>
          <p:nvPr/>
        </p:nvSpPr>
        <p:spPr>
          <a:xfrm>
            <a:off x="1810512" y="3838651"/>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say: I like… / I don't like…</a:t>
            </a:r>
          </a:p>
        </p:txBody>
      </p:sp>
      <p:sp>
        <p:nvSpPr>
          <p:cNvPr id="15" name="Text 13"/>
          <p:cNvSpPr/>
          <p:nvPr/>
        </p:nvSpPr>
        <p:spPr>
          <a:xfrm>
            <a:off x="1810512" y="4550054"/>
            <a:ext cx="4434840" cy="602590"/>
          </a:xfrm>
          <a:prstGeom prst="rect">
            <a:avLst/>
          </a:prstGeom>
          <a:noFill/>
          <a:ln/>
        </p:spPr>
        <p:txBody>
          <a:bodyPr wrap="square" rtlCol="0" anchor="ctr"/>
          <a:lstStyle/>
          <a:p>
            <a:pPr algn="l" indent="0" marL="0">
              <a:buNone/>
            </a:pPr>
            <a:r>
              <a:rPr lang="en-US" sz="1900" dirty="0">
                <a:solidFill>
                  <a:srgbClr val="1B2236"/>
                </a:solidFill>
                <a:latin typeface="Lexend Deca" pitchFamily="34" charset="0"/>
                <a:ea typeface="Lexend Deca" pitchFamily="34" charset="-122"/>
                <a:cs typeface="Lexend Deca" pitchFamily="34" charset="-120"/>
              </a:rPr>
              <a:t>I can order: A taco, please.</a:t>
            </a:r>
          </a:p>
        </p:txBody>
      </p:sp>
      <p:sp>
        <p:nvSpPr>
          <p:cNvPr id="17" name="Text 15"/>
          <p:cNvSpPr/>
          <p:nvPr/>
        </p:nvSpPr>
        <p:spPr>
          <a:xfrm>
            <a:off x="1810512" y="5261458"/>
            <a:ext cx="4434840" cy="602590"/>
          </a:xfrm>
          <a:prstGeom prst="rect">
            <a:avLst/>
          </a:prstGeom>
          <a:noFill/>
          <a:ln/>
        </p:spPr>
        <p:txBody>
          <a:bodyPr wrap="square" rtlCol="0" anchor="ctr"/>
          <a:lstStyle/>
          <a:p>
            <a:pPr algn="l" indent="0" marL="0">
              <a:buNone/>
            </a:pPr>
            <a:r>
              <a:rPr lang="en-US" sz="1900" dirty="0">
                <a:solidFill>
                  <a:srgbClr val="1B2236"/>
                </a:solidFill>
                <a:latin typeface="Lexend Deca" pitchFamily="34" charset="0"/>
                <a:ea typeface="Lexend Deca" pitchFamily="34" charset="-122"/>
                <a:cs typeface="Lexend Deca" pitchFamily="34" charset="-120"/>
              </a:rPr>
              <a:t>I can read a picture menu.</a:t>
            </a:r>
          </a:p>
        </p:txBody>
      </p:sp>
      <p:sp>
        <p:nvSpPr>
          <p:cNvPr id="19" name="Shape 17"/>
          <p:cNvSpPr/>
          <p:nvPr/>
        </p:nvSpPr>
        <p:spPr>
          <a:xfrm>
            <a:off x="544982" y="2035454"/>
            <a:ext cx="1039673" cy="983894"/>
          </a:xfrm>
          <a:prstGeom prst="rect">
            <a:avLst/>
          </a:prstGeom>
          <a:solidFill>
            <a:srgbClr val="B9D2F7"/>
          </a:solidFill>
          <a:ln/>
        </p:spPr>
        <p:txBody>
          <a:bodyPr/>
          <a:p/>
        </p:txBody>
      </p:sp>
      <p:sp>
        <p:nvSpPr>
          <p:cNvPr id="20" name="Text 18"/>
          <p:cNvSpPr/>
          <p:nvPr/>
        </p:nvSpPr>
        <p:spPr>
          <a:xfrm>
            <a:off x="686714" y="2166214"/>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dirty="0"/>
          </a:p>
        </p:txBody>
      </p:sp>
      <p:sp>
        <p:nvSpPr>
          <p:cNvPr id="21" name="Shape 19"/>
          <p:cNvSpPr/>
          <p:nvPr/>
        </p:nvSpPr>
        <p:spPr>
          <a:xfrm>
            <a:off x="544982" y="3127248"/>
            <a:ext cx="1039673" cy="602590"/>
          </a:xfrm>
          <a:prstGeom prst="rect">
            <a:avLst/>
          </a:prstGeom>
          <a:solidFill>
            <a:srgbClr val="B9D2F7"/>
          </a:solidFill>
          <a:ln/>
        </p:spPr>
        <p:txBody>
          <a:bodyPr/>
          <a:p/>
        </p:txBody>
      </p:sp>
      <p:sp>
        <p:nvSpPr>
          <p:cNvPr id="22" name="Text 20"/>
          <p:cNvSpPr/>
          <p:nvPr/>
        </p:nvSpPr>
        <p:spPr>
          <a:xfrm>
            <a:off x="686714" y="3112618"/>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dirty="0"/>
          </a:p>
        </p:txBody>
      </p:sp>
      <p:sp>
        <p:nvSpPr>
          <p:cNvPr id="23" name="Shape 21"/>
          <p:cNvSpPr/>
          <p:nvPr/>
        </p:nvSpPr>
        <p:spPr>
          <a:xfrm>
            <a:off x="544982" y="3838651"/>
            <a:ext cx="1039673" cy="602590"/>
          </a:xfrm>
          <a:prstGeom prst="rect">
            <a:avLst/>
          </a:prstGeom>
          <a:solidFill>
            <a:srgbClr val="B9D2F7"/>
          </a:solidFill>
          <a:ln/>
        </p:spPr>
        <p:txBody>
          <a:bodyPr/>
          <a:p/>
        </p:txBody>
      </p:sp>
      <p:sp>
        <p:nvSpPr>
          <p:cNvPr id="24" name="Text 22"/>
          <p:cNvSpPr/>
          <p:nvPr/>
        </p:nvSpPr>
        <p:spPr>
          <a:xfrm>
            <a:off x="686714" y="3816706"/>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dirty="0"/>
          </a:p>
        </p:txBody>
      </p:sp>
      <p:sp>
        <p:nvSpPr>
          <p:cNvPr id="25" name="Shape 23"/>
          <p:cNvSpPr/>
          <p:nvPr/>
        </p:nvSpPr>
        <p:spPr>
          <a:xfrm>
            <a:off x="544982" y="4550054"/>
            <a:ext cx="1039673" cy="602590"/>
          </a:xfrm>
          <a:prstGeom prst="rect">
            <a:avLst/>
          </a:prstGeom>
          <a:solidFill>
            <a:srgbClr val="B9D2F7"/>
          </a:solidFill>
          <a:ln/>
        </p:spPr>
        <p:txBody>
          <a:bodyPr/>
          <a:p/>
        </p:txBody>
      </p:sp>
      <p:sp>
        <p:nvSpPr>
          <p:cNvPr id="26" name="Text 24"/>
          <p:cNvSpPr/>
          <p:nvPr/>
        </p:nvSpPr>
        <p:spPr>
          <a:xfrm>
            <a:off x="686714" y="4543654"/>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dirty="0"/>
          </a:p>
        </p:txBody>
      </p:sp>
      <p:sp>
        <p:nvSpPr>
          <p:cNvPr id="27" name="Shape 25"/>
          <p:cNvSpPr/>
          <p:nvPr/>
        </p:nvSpPr>
        <p:spPr>
          <a:xfrm>
            <a:off x="544982" y="5279746"/>
            <a:ext cx="1039673" cy="602590"/>
          </a:xfrm>
          <a:prstGeom prst="rect">
            <a:avLst/>
          </a:prstGeom>
          <a:solidFill>
            <a:srgbClr val="B9D2F7"/>
          </a:solidFill>
          <a:ln/>
        </p:spPr>
        <p:txBody>
          <a:bodyPr/>
          <a:p/>
        </p:txBody>
      </p:sp>
      <p:sp>
        <p:nvSpPr>
          <p:cNvPr id="28" name="Text 26"/>
          <p:cNvSpPr/>
          <p:nvPr/>
        </p:nvSpPr>
        <p:spPr>
          <a:xfrm>
            <a:off x="686714" y="5269687"/>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Tonight you learn these things.</a:t>
            </a:r>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Food and drinks</a:t>
            </a:r>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For here or to go?</a:t>
            </a:r>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Progress Check at 7:25!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par>
                                <p:cTn id="20" presetID="10" presetClass="entr" presetSubtype="0"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400"/>
                                        <p:tgtEl>
                                          <p:spTgt spid="4"/>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par>
                                <p:cTn id="34" presetID="10"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400"/>
                                        <p:tgtEl>
                                          <p:spTgt spid="5"/>
                                        </p:tgtEl>
                                      </p:cBhvr>
                                    </p:animEffect>
                                  </p:childTnLst>
                                </p:cTn>
                              </p:par>
                              <p:par>
                                <p:cTn id="42" presetID="10" presetClass="entr" presetSubtype="0"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400"/>
                                        <p:tgtEl>
                                          <p:spTgt spid="13"/>
                                        </p:tgtEl>
                                      </p:cBhvr>
                                    </p:animEffect>
                                  </p:childTnLst>
                                </p:cTn>
                              </p:par>
                              <p:par>
                                <p:cTn id="45" presetID="10"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400"/>
                                        <p:tgtEl>
                                          <p:spTgt spid="6"/>
                                        </p:tgtEl>
                                      </p:cBhvr>
                                    </p:animEffect>
                                  </p:childTnLst>
                                </p:cTn>
                              </p:par>
                              <p:par>
                                <p:cTn id="56" presetID="10" presetClass="entr" presetSubtype="0" fill="hold"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400"/>
                                        <p:tgtEl>
                                          <p:spTgt spid="15"/>
                                        </p:tgtEl>
                                      </p:cBhvr>
                                    </p:animEffect>
                                  </p:childTnLst>
                                </p:cTn>
                              </p:par>
                              <p:par>
                                <p:cTn id="59" presetID="10" presetClass="entr" presetSubtype="0" fill="hold"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0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fade">
                                      <p:cBhvr>
                                        <p:cTn id="69" dur="400"/>
                                        <p:tgtEl>
                                          <p:spTgt spid="7"/>
                                        </p:tgtEl>
                                      </p:cBhvr>
                                    </p:animEffect>
                                  </p:childTnLst>
                                </p:cTn>
                              </p:par>
                              <p:par>
                                <p:cTn id="70" presetID="10" presetClass="entr" presetSubtype="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00"/>
                                        <p:tgtEl>
                                          <p:spTgt spid="17"/>
                                        </p:tgtEl>
                                      </p:cBhvr>
                                    </p:animEffect>
                                  </p:childTnLst>
                                </p:cTn>
                              </p:par>
                              <p:par>
                                <p:cTn id="73" presetID="10" presetClass="entr" presetSubtype="0" fill="hold"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00"/>
                                        <p:tgtEl>
                                          <p:spTgt spid="27"/>
                                        </p:tgtEl>
                                      </p:cBhvr>
                                    </p:animEffect>
                                  </p:childTnLst>
                                </p:cTn>
                              </p:par>
                              <p:par>
                                <p:cTn id="76" presetID="10" presetClass="entr" presetSubtype="0" fill="hold"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487604" y="1352535"/>
            <a:ext cx="5246827" cy="1277417"/>
          </a:xfrm>
          <a:prstGeom prst="roundRect">
            <a:avLst>
              <a:gd name="adj" fmla="val 16667"/>
            </a:avLst>
          </a:prstGeom>
          <a:solidFill>
            <a:srgbClr val="8FAFE3"/>
          </a:solidFill>
          <a:ln/>
        </p:spPr>
        <p:txBody>
          <a:bodyPr/>
          <a:p/>
        </p:txBody>
      </p:sp>
      <p:sp>
        <p:nvSpPr>
          <p:cNvPr id="3" name="Shape 1"/>
          <p:cNvSpPr/>
          <p:nvPr/>
        </p:nvSpPr>
        <p:spPr>
          <a:xfrm>
            <a:off x="518465" y="1300277"/>
            <a:ext cx="5246827" cy="1277417"/>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Blue shirt (from Lesson 7) picture" descr="blue shirt (from Lesson 7)"/>
          <p:cNvPicPr>
            <a:picLocks noChangeAspect="1"/>
          </p:cNvPicPr>
          <p:nvPr/>
        </p:nvPicPr>
        <p:blipFill>
          <a:blip r:embed="rIdImg1"/>
          <a:stretch>
            <a:fillRect/>
          </a:stretch>
        </p:blipFill>
        <p:spPr>
          <a:xfrm>
            <a:off x="6799936" y="2104034"/>
            <a:ext cx="4754880" cy="3328416"/>
          </a:xfrm>
          <a:prstGeom prst="rect">
            <a:avLst/>
          </a:prstGeom>
        </p:spPr>
      </p:pic>
      <p:sp>
        <p:nvSpPr>
          <p:cNvPr id="7" name="Text 5"/>
          <p:cNvSpPr/>
          <p:nvPr/>
        </p:nvSpPr>
        <p:spPr>
          <a:xfrm>
            <a:off x="548640" y="1764792"/>
            <a:ext cx="5120640" cy="777240"/>
          </a:xfrm>
          <a:prstGeom prst="rect">
            <a:avLst/>
          </a:prstGeom>
          <a:noFill/>
          <a:ln/>
        </p:spPr>
        <p:txBody>
          <a:bodyPr wrap="square" rtlCol="0" anchor="ctr"/>
          <a:lstStyle/>
          <a:p>
            <a:pPr algn="l" indent="0" marL="0">
              <a:buNone/>
            </a:pPr>
            <a:r>
              <a:rPr lang="en-US" sz="4600" dirty="0" b="1">
                <a:solidFill>
                  <a:srgbClr val="1B2236"/>
                </a:solidFill>
                <a:latin typeface="Lexend Deca" pitchFamily="34" charset="0"/>
                <a:ea typeface="Lexend Deca" pitchFamily="34" charset="-122"/>
                <a:cs typeface="Lexend Deca" pitchFamily="34" charset="-120"/>
              </a:rPr>
              <a:t>Hello + Review</a:t>
            </a:r>
          </a:p>
        </p:txBody>
      </p:sp>
      <p:sp>
        <p:nvSpPr>
          <p:cNvPr id="8" name="Text 6"/>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WARM-UP  ·  6:00</a:t>
            </a:r>
          </a:p>
        </p:txBody>
      </p:sp>
      <p:sp>
        <p:nvSpPr>
          <p:cNvPr id="9" name="Text 7"/>
          <p:cNvSpPr/>
          <p:nvPr/>
        </p:nvSpPr>
        <p:spPr>
          <a:xfrm>
            <a:off x="599846" y="3017520"/>
            <a:ext cx="4846320" cy="868680"/>
          </a:xfrm>
          <a:prstGeom prst="rect">
            <a:avLst/>
          </a:prstGeom>
          <a:noFill/>
          <a:ln/>
        </p:spPr>
        <p:txBody>
          <a:bodyPr wrap="square" lIns="0" tIns="0" rIns="0" bIns="0" rtlCol="0" anchor="t"/>
          <a:lstStyle/>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How much is this shirt?</a:t>
            </a:r>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How much are these shoes?</a:t>
            </a:r>
          </a:p>
        </p:txBody>
      </p:sp>
      <p:sp>
        <p:nvSpPr>
          <p:cNvPr id="13" name="Model A"/>
          <p:cNvSpPr/>
          <p:nvPr/>
        </p:nvSpPr>
        <p:spPr>
          <a:xfrm>
            <a:off x="599846" y="4023360"/>
            <a:ext cx="4846320" cy="502920"/>
          </a:xfrm>
          <a:prstGeom prst="rect">
            <a:avLst/>
          </a:prstGeom>
          <a:noFill/>
          <a:ln/>
        </p:spPr>
        <p:txBody>
          <a:bodyPr wrap="square" lIns="0" tIns="0" rIns="0" bIns="0" rtlCol="0" anchor="t"/>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 Do you like coffee?</a:t>
            </a:r>
          </a:p>
        </p:txBody>
      </p:sp>
      <p:sp>
        <p:nvSpPr>
          <p:cNvPr id="14" name="Model B"/>
          <p:cNvSpPr/>
          <p:nvPr/>
        </p:nvSpPr>
        <p:spPr>
          <a:xfrm>
            <a:off x="599846" y="4709160"/>
            <a:ext cx="4846320" cy="146304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B: Yes, I do.</a:t>
            </a:r>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No, I don't.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8640" y="2414015"/>
            <a:ext cx="6163056" cy="603504"/>
          </a:xfrm>
          <a:prstGeom prst="round1Rect">
            <a:avLst>
              <a:gd name="adj" fmla="val 23087"/>
            </a:avLst>
          </a:prstGeom>
          <a:solidFill>
            <a:srgbClr val="8FAFE3"/>
          </a:solidFill>
          <a:ln/>
        </p:spPr>
        <p:txBody>
          <a:bodyPr/>
          <a:p/>
        </p:txBody>
      </p:sp>
      <p:sp>
        <p:nvSpPr>
          <p:cNvPr id="3" name="Shape 1"/>
          <p:cNvSpPr/>
          <p:nvPr/>
        </p:nvSpPr>
        <p:spPr>
          <a:xfrm>
            <a:off x="1583741" y="2414015"/>
            <a:ext cx="5130698" cy="603504"/>
          </a:xfrm>
          <a:prstGeom prst="round1Rect">
            <a:avLst>
              <a:gd name="adj" fmla="val 23087"/>
            </a:avLst>
          </a:prstGeom>
          <a:solidFill>
            <a:srgbClr val="FFFFFF"/>
          </a:solidFill>
          <a:ln/>
        </p:spPr>
        <p:txBody>
          <a:bodyPr/>
          <a:p/>
        </p:txBody>
      </p:sp>
      <p:sp>
        <p:nvSpPr>
          <p:cNvPr id="4" name="Shape 2"/>
          <p:cNvSpPr/>
          <p:nvPr/>
        </p:nvSpPr>
        <p:spPr>
          <a:xfrm>
            <a:off x="1583741" y="3127248"/>
            <a:ext cx="5130698" cy="602590"/>
          </a:xfrm>
          <a:prstGeom prst="round1Rect">
            <a:avLst>
              <a:gd name="adj" fmla="val 23087"/>
            </a:avLst>
          </a:prstGeom>
          <a:solidFill>
            <a:srgbClr val="FFFFFF"/>
          </a:solidFill>
          <a:ln/>
        </p:spPr>
        <p:txBody>
          <a:bodyPr/>
          <a:p/>
        </p:txBody>
      </p:sp>
      <p:sp>
        <p:nvSpPr>
          <p:cNvPr id="5" name="Shape 3"/>
          <p:cNvSpPr/>
          <p:nvPr/>
        </p:nvSpPr>
        <p:spPr>
          <a:xfrm>
            <a:off x="1583741" y="3838651"/>
            <a:ext cx="5130698" cy="602590"/>
          </a:xfrm>
          <a:prstGeom prst="round1Rect">
            <a:avLst>
              <a:gd name="adj" fmla="val 23087"/>
            </a:avLst>
          </a:prstGeom>
          <a:solidFill>
            <a:srgbClr val="FFFFFF"/>
          </a:solidFill>
          <a:ln/>
        </p:spPr>
        <p:txBody>
          <a:bodyPr/>
          <a:p/>
        </p:txBody>
      </p:sp>
      <p:sp>
        <p:nvSpPr>
          <p:cNvPr id="171" name="Shape 3"/>
          <p:cNvSpPr/>
          <p:nvPr/>
        </p:nvSpPr>
        <p:spPr>
          <a:xfrm>
            <a:off x="1583741" y="4551883"/>
            <a:ext cx="5130698" cy="602590"/>
          </a:xfrm>
          <a:prstGeom prst="round1Rect">
            <a:avLst>
              <a:gd name="adj" fmla="val 23087"/>
            </a:avLst>
          </a:prstGeom>
          <a:solidFill>
            <a:srgbClr val="FFFFFF"/>
          </a:solidFill>
          <a:ln/>
        </p:spPr>
        <p:txBody>
          <a:bodyPr/>
          <a:p/>
        </p:txBody>
      </p:sp>
      <p:sp>
        <p:nvSpPr>
          <p:cNvPr id="8" name="Text 6"/>
          <p:cNvSpPr/>
          <p:nvPr/>
        </p:nvSpPr>
        <p:spPr>
          <a:xfrm>
            <a:off x="1810512" y="2414015"/>
            <a:ext cx="3246120" cy="603504"/>
          </a:xfrm>
          <a:prstGeom prst="rect">
            <a:avLst/>
          </a:prstGeom>
          <a:noFill/>
          <a:ln/>
        </p:spPr>
        <p:txBody>
          <a:bodyPr wrap="square" rtlCol="0" anchor="ctr"/>
          <a:lstStyle/>
          <a:p>
            <a:pPr algn="l" indent="0" marL="0">
              <a:buNone/>
            </a:pPr>
            <a:r>
              <a:rPr lang="en-US" sz="1800" dirty="0" b="0">
                <a:solidFill>
                  <a:srgbClr val="1B2236"/>
                </a:solidFill>
                <a:latin typeface="Lexend Deca" pitchFamily="34" charset="0"/>
                <a:ea typeface="Lexend Deca" pitchFamily="34" charset="-122"/>
                <a:cs typeface="Lexend Deca" pitchFamily="34" charset="-120"/>
              </a:rPr>
              <a:t>taco  $___</a:t>
            </a:r>
            <a:endParaRPr lang="en-US" sz="1800" dirty="0"/>
          </a:p>
        </p:txBody>
      </p:sp>
      <p:sp>
        <p:nvSpPr>
          <p:cNvPr id="11" name="Text 9"/>
          <p:cNvSpPr/>
          <p:nvPr/>
        </p:nvSpPr>
        <p:spPr>
          <a:xfrm>
            <a:off x="1810512" y="3127248"/>
            <a:ext cx="324612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juice  $___</a:t>
            </a:r>
            <a:endParaRPr lang="en-US" sz="1800" dirty="0"/>
          </a:p>
        </p:txBody>
      </p:sp>
      <p:sp>
        <p:nvSpPr>
          <p:cNvPr id="13" name="Text 11"/>
          <p:cNvSpPr/>
          <p:nvPr/>
        </p:nvSpPr>
        <p:spPr>
          <a:xfrm>
            <a:off x="1810512" y="3838651"/>
            <a:ext cx="324612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pizza slice  $___</a:t>
            </a:r>
            <a:endParaRPr lang="en-US" sz="1800" dirty="0"/>
          </a:p>
        </p:txBody>
      </p:sp>
      <p:sp>
        <p:nvSpPr>
          <p:cNvPr id="172" name="Text 11"/>
          <p:cNvSpPr/>
          <p:nvPr/>
        </p:nvSpPr>
        <p:spPr>
          <a:xfrm>
            <a:off x="1810512" y="4551883"/>
            <a:ext cx="324612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soda  $___</a:t>
            </a:r>
            <a:endParaRPr lang="en-US" sz="1800" dirty="0"/>
          </a:p>
        </p:txBody>
      </p:sp>
      <p:sp>
        <p:nvSpPr>
          <p:cNvPr id="19" name="Shape 17"/>
          <p:cNvSpPr/>
          <p:nvPr/>
        </p:nvSpPr>
        <p:spPr>
          <a:xfrm>
            <a:off x="544982" y="2414015"/>
            <a:ext cx="1039673" cy="603504"/>
          </a:xfrm>
          <a:prstGeom prst="rect">
            <a:avLst/>
          </a:prstGeom>
          <a:solidFill>
            <a:srgbClr val="B9D2F7"/>
          </a:solidFill>
          <a:ln/>
        </p:spPr>
        <p:txBody>
          <a:bodyPr/>
          <a:p/>
        </p:txBody>
      </p:sp>
      <p:sp>
        <p:nvSpPr>
          <p:cNvPr id="20" name="Text 18"/>
          <p:cNvSpPr/>
          <p:nvPr/>
        </p:nvSpPr>
        <p:spPr>
          <a:xfrm>
            <a:off x="686714" y="2395727"/>
            <a:ext cx="1109167" cy="585216"/>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1</a:t>
            </a:r>
            <a:endParaRPr lang="en-US" sz="3600" dirty="0"/>
          </a:p>
        </p:txBody>
      </p:sp>
      <p:sp>
        <p:nvSpPr>
          <p:cNvPr id="21" name="Shape 19"/>
          <p:cNvSpPr/>
          <p:nvPr/>
        </p:nvSpPr>
        <p:spPr>
          <a:xfrm>
            <a:off x="544982" y="3127248"/>
            <a:ext cx="1039673" cy="602590"/>
          </a:xfrm>
          <a:prstGeom prst="rect">
            <a:avLst/>
          </a:prstGeom>
          <a:solidFill>
            <a:srgbClr val="B9D2F7"/>
          </a:solidFill>
          <a:ln/>
        </p:spPr>
        <p:txBody>
          <a:bodyPr/>
          <a:p/>
        </p:txBody>
      </p:sp>
      <p:sp>
        <p:nvSpPr>
          <p:cNvPr id="22" name="Text 20"/>
          <p:cNvSpPr/>
          <p:nvPr/>
        </p:nvSpPr>
        <p:spPr>
          <a:xfrm>
            <a:off x="686714" y="3112618"/>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2</a:t>
            </a:r>
            <a:endParaRPr lang="en-US" sz="3200" dirty="0"/>
          </a:p>
        </p:txBody>
      </p:sp>
      <p:sp>
        <p:nvSpPr>
          <p:cNvPr id="23" name="Shape 21"/>
          <p:cNvSpPr/>
          <p:nvPr/>
        </p:nvSpPr>
        <p:spPr>
          <a:xfrm>
            <a:off x="544982" y="3838651"/>
            <a:ext cx="1039673" cy="602590"/>
          </a:xfrm>
          <a:prstGeom prst="rect">
            <a:avLst/>
          </a:prstGeom>
          <a:solidFill>
            <a:srgbClr val="B9D2F7"/>
          </a:solidFill>
          <a:ln/>
        </p:spPr>
        <p:txBody>
          <a:bodyPr/>
          <a:p/>
        </p:txBody>
      </p:sp>
      <p:sp>
        <p:nvSpPr>
          <p:cNvPr id="173" name="Shape 21"/>
          <p:cNvSpPr/>
          <p:nvPr/>
        </p:nvSpPr>
        <p:spPr>
          <a:xfrm>
            <a:off x="544982" y="4551883"/>
            <a:ext cx="1039673" cy="602590"/>
          </a:xfrm>
          <a:prstGeom prst="rect">
            <a:avLst/>
          </a:prstGeom>
          <a:solidFill>
            <a:srgbClr val="B9D2F7"/>
          </a:solidFill>
          <a:ln/>
        </p:spPr>
        <p:txBody>
          <a:bodyPr/>
          <a:p/>
        </p:txBody>
      </p:sp>
      <p:sp>
        <p:nvSpPr>
          <p:cNvPr id="24" name="Text 22"/>
          <p:cNvSpPr/>
          <p:nvPr/>
        </p:nvSpPr>
        <p:spPr>
          <a:xfrm>
            <a:off x="686714" y="3816706"/>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3</a:t>
            </a:r>
            <a:endParaRPr lang="en-US" sz="3200" dirty="0"/>
          </a:p>
        </p:txBody>
      </p:sp>
      <p:sp>
        <p:nvSpPr>
          <p:cNvPr id="174" name="Text 22"/>
          <p:cNvSpPr/>
          <p:nvPr/>
        </p:nvSpPr>
        <p:spPr>
          <a:xfrm>
            <a:off x="686714" y="4529938"/>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4</a:t>
            </a:r>
            <a:endParaRPr lang="en-US" sz="3200" dirty="0"/>
          </a:p>
        </p:txBody>
      </p:sp>
      <p:sp>
        <p:nvSpPr>
          <p:cNvPr id="29" name="Text 27"/>
          <p:cNvSpPr/>
          <p:nvPr/>
        </p:nvSpPr>
        <p:spPr>
          <a:xfrm>
            <a:off x="7634326" y="685800"/>
            <a:ext cx="4229100" cy="914400"/>
          </a:xfrm>
          <a:prstGeom prst="rect">
            <a:avLst/>
          </a:prstGeom>
          <a:noFill/>
          <a:ln/>
        </p:spPr>
        <p:txBody>
          <a:bodyPr wrap="square" rtlCol="0" anchor="b"/>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Read the Menu</a:t>
            </a:r>
            <a:endParaRPr lang="en-US" sz="3600" dirty="0"/>
          </a:p>
        </p:txBody>
      </p:sp>
      <p:sp>
        <p:nvSpPr>
          <p:cNvPr id="30" name="Text 28"/>
          <p:cNvSpPr/>
          <p:nvPr/>
        </p:nvSpPr>
        <p:spPr>
          <a:xfrm>
            <a:off x="7751369" y="4800600"/>
            <a:ext cx="3931920" cy="1280160"/>
          </a:xfrm>
          <a:prstGeom prst="rect">
            <a:avLst/>
          </a:prstGeom>
          <a:noFill/>
          <a:ln/>
        </p:spPr>
        <p:txBody>
          <a:bodyPr wrap="square" lIns="0" tIns="0" rIns="0" bIns="0" rtlCol="0" anchor="t"/>
          <a:lstStyle/>
          <a:p>
            <a:pPr algn="l" indent="0" marL="0">
              <a:lnSpc>
                <a:spcPct val="120000"/>
              </a:lnSpc>
              <a:spcAft>
                <a:spcPts val="1400"/>
              </a:spcAft>
              <a:buNone/>
            </a:pPr>
            <a:r>
              <a:rPr lang="en-US" sz="1900" dirty="0" b="0">
                <a:solidFill>
                  <a:srgbClr val="1B2236"/>
                </a:solidFill>
                <a:latin typeface="Lexend Deca" pitchFamily="34" charset="0"/>
                <a:ea typeface="Lexend Deca" pitchFamily="34" charset="-122"/>
                <a:cs typeface="Lexend Deca" pitchFamily="34" charset="-120"/>
              </a:rPr>
              <a:t>Real-World Reading</a:t>
            </a:r>
          </a:p>
          <a:p>
            <a:pPr algn="l" indent="0" marL="0">
              <a:lnSpc>
                <a:spcPct val="120000"/>
              </a:lnSpc>
              <a:spcAft>
                <a:spcPts val="1400"/>
              </a:spcAft>
              <a:buNone/>
            </a:pPr>
            <a:r>
              <a:rPr lang="en-US" sz="1900" dirty="0" b="1">
                <a:solidFill>
                  <a:srgbClr val="5B3FC4"/>
                </a:solidFill>
                <a:latin typeface="Lexend Deca" pitchFamily="34" charset="0"/>
                <a:ea typeface="Lexend Deca" pitchFamily="34" charset="-122"/>
                <a:cs typeface="Lexend Deca" pitchFamily="34" charset="-120"/>
              </a:rPr>
              <a:t>Task A:</a:t>
            </a:r>
            <a:r>
              <a:rPr lang="en-US" sz="1900" dirty="0" b="0">
                <a:solidFill>
                  <a:srgbClr val="1B2236"/>
                </a:solidFill>
                <a:latin typeface="Lexend Deca" pitchFamily="34" charset="0"/>
                <a:ea typeface="Lexend Deca" pitchFamily="34" charset="-122"/>
                <a:cs typeface="Lexend Deca" pitchFamily="34" charset="-120"/>
              </a:rPr>
              <a:t> write the prices.</a:t>
            </a:r>
          </a:p>
        </p:txBody>
      </p:sp>
      <p:sp>
        <p:nvSpPr>
          <p:cNvPr id="160" name="Answer 1"/>
          <p:cNvSpPr/>
          <p:nvPr/>
        </p:nvSpPr>
        <p:spPr>
          <a:xfrm>
            <a:off x="5120640" y="2487168"/>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$3</a:t>
            </a:r>
          </a:p>
        </p:txBody>
      </p:sp>
      <p:sp>
        <p:nvSpPr>
          <p:cNvPr id="161" name="Answer 2"/>
          <p:cNvSpPr/>
          <p:nvPr/>
        </p:nvSpPr>
        <p:spPr>
          <a:xfrm>
            <a:off x="5120640" y="3200400"/>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$2</a:t>
            </a:r>
          </a:p>
        </p:txBody>
      </p:sp>
      <p:sp>
        <p:nvSpPr>
          <p:cNvPr id="162" name="Answer 3"/>
          <p:cNvSpPr/>
          <p:nvPr/>
        </p:nvSpPr>
        <p:spPr>
          <a:xfrm>
            <a:off x="5120640" y="3911803"/>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$3</a:t>
            </a:r>
          </a:p>
        </p:txBody>
      </p:sp>
      <p:sp>
        <p:nvSpPr>
          <p:cNvPr id="175" name="Answer 3"/>
          <p:cNvSpPr/>
          <p:nvPr/>
        </p:nvSpPr>
        <p:spPr>
          <a:xfrm>
            <a:off x="5120640" y="4625035"/>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$1</a:t>
            </a:r>
          </a:p>
        </p:txBody>
      </p:sp>
      <p:pic>
        <p:nvPicPr>
          <p:cNvPr id="170" name="Picture menu: taco $3, beans &amp; rice $4,  picture" descr="picture menu: taco $3, beans &amp; rice $4, fruit $2, juice $2, soda $1, pizza slice $3"/>
          <p:cNvPicPr>
            <a:picLocks noChangeAspect="1"/>
          </p:cNvPicPr>
          <p:nvPr/>
        </p:nvPicPr>
        <p:blipFill>
          <a:blip r:embed="rIdImg1"/>
          <a:stretch>
            <a:fillRect/>
          </a:stretch>
        </p:blipFill>
        <p:spPr>
          <a:xfrm>
            <a:off x="7726679" y="1783080"/>
            <a:ext cx="4023360" cy="28163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400"/>
                                        <p:tgtEl>
                                          <p:spTgt spid="1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1"/>
                                        </p:tgtEl>
                                        <p:attrNameLst>
                                          <p:attrName>style.visibility</p:attrName>
                                        </p:attrNameLst>
                                      </p:cBhvr>
                                      <p:to>
                                        <p:strVal val="visible"/>
                                      </p:to>
                                    </p:set>
                                    <p:animEffect transition="in" filter="fade">
                                      <p:cBhvr>
                                        <p:cTn id="12" dur="400"/>
                                        <p:tgtEl>
                                          <p:spTgt spid="16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2"/>
                                        </p:tgtEl>
                                        <p:attrNameLst>
                                          <p:attrName>style.visibility</p:attrName>
                                        </p:attrNameLst>
                                      </p:cBhvr>
                                      <p:to>
                                        <p:strVal val="visible"/>
                                      </p:to>
                                    </p:set>
                                    <p:animEffect transition="in" filter="fade">
                                      <p:cBhvr>
                                        <p:cTn id="17" dur="400"/>
                                        <p:tgtEl>
                                          <p:spTgt spid="16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5"/>
                                        </p:tgtEl>
                                        <p:attrNameLst>
                                          <p:attrName>style.visibility</p:attrName>
                                        </p:attrNameLst>
                                      </p:cBhvr>
                                      <p:to>
                                        <p:strVal val="visible"/>
                                      </p:to>
                                    </p:set>
                                    <p:animEffect transition="in" filter="fade">
                                      <p:cBhvr>
                                        <p:cTn id="22" dur="4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10">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ext 6"/>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p>
        </p:txBody>
      </p:sp>
      <p:sp>
        <p:nvSpPr>
          <p:cNvPr id="9" name="Shape 7"/>
          <p:cNvSpPr/>
          <p:nvPr/>
        </p:nvSpPr>
        <p:spPr>
          <a:xfrm>
            <a:off x="1121969" y="587045"/>
            <a:ext cx="3557930" cy="1143000"/>
          </a:xfrm>
          <a:prstGeom prst="round1Rect">
            <a:avLst>
              <a:gd name="adj" fmla="val 23087"/>
            </a:avLst>
          </a:prstGeom>
          <a:solidFill>
            <a:srgbClr val="FFFFFF"/>
          </a:solidFill>
          <a:ln/>
        </p:spPr>
        <p:txBody>
          <a:bodyPr/>
          <a:p/>
        </p:txBody>
      </p:sp>
      <p:sp>
        <p:nvSpPr>
          <p:cNvPr id="13" name="Text 11"/>
          <p:cNvSpPr/>
          <p:nvPr/>
        </p:nvSpPr>
        <p:spPr>
          <a:xfrm>
            <a:off x="1325880" y="685800"/>
            <a:ext cx="320040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p>
        </p:txBody>
      </p:sp>
      <p:pic>
        <p:nvPicPr>
          <p:cNvPr id="17" name="Breakfast picture" descr="breakfast"/>
          <p:cNvPicPr>
            <a:picLocks noChangeAspect="1"/>
          </p:cNvPicPr>
          <p:nvPr/>
        </p:nvPicPr>
        <p:blipFill>
          <a:blip r:embed="rIdImg1"/>
          <a:stretch>
            <a:fillRect/>
          </a:stretch>
        </p:blipFill>
        <p:spPr>
          <a:xfrm>
            <a:off x="950976" y="2286000"/>
            <a:ext cx="1920240" cy="1344168"/>
          </a:xfrm>
          <a:prstGeom prst="rect">
            <a:avLst/>
          </a:prstGeom>
        </p:spPr>
      </p:pic>
      <p:sp>
        <p:nvSpPr>
          <p:cNvPr id="18" name="Word label 1"/>
          <p:cNvSpPr/>
          <p:nvPr/>
        </p:nvSpPr>
        <p:spPr>
          <a:xfrm>
            <a:off x="5394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breakfast</a:t>
            </a:r>
          </a:p>
        </p:txBody>
      </p:sp>
      <p:pic>
        <p:nvPicPr>
          <p:cNvPr id="19" name="Lunch picture" descr="lunch"/>
          <p:cNvPicPr>
            <a:picLocks noChangeAspect="1"/>
          </p:cNvPicPr>
          <p:nvPr/>
        </p:nvPicPr>
        <p:blipFill>
          <a:blip r:embed="rIdImg2"/>
          <a:stretch>
            <a:fillRect/>
          </a:stretch>
        </p:blipFill>
        <p:spPr>
          <a:xfrm>
            <a:off x="3694176" y="2286000"/>
            <a:ext cx="1920240" cy="1344168"/>
          </a:xfrm>
          <a:prstGeom prst="rect">
            <a:avLst/>
          </a:prstGeom>
        </p:spPr>
      </p:pic>
      <p:sp>
        <p:nvSpPr>
          <p:cNvPr id="20" name="Word label 2"/>
          <p:cNvSpPr/>
          <p:nvPr/>
        </p:nvSpPr>
        <p:spPr>
          <a:xfrm>
            <a:off x="32826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lunch</a:t>
            </a:r>
          </a:p>
        </p:txBody>
      </p:sp>
      <p:pic>
        <p:nvPicPr>
          <p:cNvPr id="21" name="Dinner picture" descr="dinner"/>
          <p:cNvPicPr>
            <a:picLocks noChangeAspect="1"/>
          </p:cNvPicPr>
          <p:nvPr/>
        </p:nvPicPr>
        <p:blipFill>
          <a:blip r:embed="rIdImg3"/>
          <a:stretch>
            <a:fillRect/>
          </a:stretch>
        </p:blipFill>
        <p:spPr>
          <a:xfrm>
            <a:off x="6428232" y="2286000"/>
            <a:ext cx="1920240" cy="1344168"/>
          </a:xfrm>
          <a:prstGeom prst="rect">
            <a:avLst/>
          </a:prstGeom>
        </p:spPr>
      </p:pic>
      <p:sp>
        <p:nvSpPr>
          <p:cNvPr id="22" name="Word label 3"/>
          <p:cNvSpPr/>
          <p:nvPr/>
        </p:nvSpPr>
        <p:spPr>
          <a:xfrm>
            <a:off x="60167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dinner</a:t>
            </a:r>
          </a:p>
        </p:txBody>
      </p:sp>
      <p:pic>
        <p:nvPicPr>
          <p:cNvPr id="23" name="Beans picture" descr="beans"/>
          <p:cNvPicPr>
            <a:picLocks noChangeAspect="1"/>
          </p:cNvPicPr>
          <p:nvPr/>
        </p:nvPicPr>
        <p:blipFill>
          <a:blip r:embed="rIdImg4"/>
          <a:stretch>
            <a:fillRect/>
          </a:stretch>
        </p:blipFill>
        <p:spPr>
          <a:xfrm>
            <a:off x="9171432" y="2286000"/>
            <a:ext cx="1920240" cy="1344168"/>
          </a:xfrm>
          <a:prstGeom prst="rect">
            <a:avLst/>
          </a:prstGeom>
        </p:spPr>
      </p:pic>
      <p:sp>
        <p:nvSpPr>
          <p:cNvPr id="24" name="Word label 4"/>
          <p:cNvSpPr/>
          <p:nvPr/>
        </p:nvSpPr>
        <p:spPr>
          <a:xfrm>
            <a:off x="87599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beans</a:t>
            </a:r>
          </a:p>
        </p:txBody>
      </p:sp>
      <p:pic>
        <p:nvPicPr>
          <p:cNvPr id="25" name="Tortillas picture" descr="tortillas"/>
          <p:cNvPicPr>
            <a:picLocks noChangeAspect="1"/>
          </p:cNvPicPr>
          <p:nvPr/>
        </p:nvPicPr>
        <p:blipFill>
          <a:blip r:embed="rIdImg5"/>
          <a:stretch>
            <a:fillRect/>
          </a:stretch>
        </p:blipFill>
        <p:spPr>
          <a:xfrm>
            <a:off x="3685032" y="4315968"/>
            <a:ext cx="1920240" cy="1344168"/>
          </a:xfrm>
          <a:prstGeom prst="rect">
            <a:avLst/>
          </a:prstGeom>
        </p:spPr>
      </p:pic>
      <p:sp>
        <p:nvSpPr>
          <p:cNvPr id="26" name="Word label 5"/>
          <p:cNvSpPr/>
          <p:nvPr/>
        </p:nvSpPr>
        <p:spPr>
          <a:xfrm>
            <a:off x="32735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tortillas</a:t>
            </a:r>
          </a:p>
        </p:txBody>
      </p:sp>
      <p:pic>
        <p:nvPicPr>
          <p:cNvPr id="27" name="Meat picture" descr="meat"/>
          <p:cNvPicPr>
            <a:picLocks noChangeAspect="1"/>
          </p:cNvPicPr>
          <p:nvPr/>
        </p:nvPicPr>
        <p:blipFill>
          <a:blip r:embed="rIdImg6"/>
          <a:stretch>
            <a:fillRect/>
          </a:stretch>
        </p:blipFill>
        <p:spPr>
          <a:xfrm>
            <a:off x="6428232" y="4315968"/>
            <a:ext cx="1920240" cy="1344168"/>
          </a:xfrm>
          <a:prstGeom prst="rect">
            <a:avLst/>
          </a:prstGeom>
        </p:spPr>
      </p:pic>
      <p:sp>
        <p:nvSpPr>
          <p:cNvPr id="28" name="Word label 6"/>
          <p:cNvSpPr/>
          <p:nvPr/>
        </p:nvSpPr>
        <p:spPr>
          <a:xfrm>
            <a:off x="60167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meat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4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400"/>
                                        <p:tgtEl>
                                          <p:spTgt spid="21"/>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4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4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400"/>
                                        <p:tgtEl>
                                          <p:spTgt spid="25"/>
                                        </p:tgtEl>
                                      </p:cBhvr>
                                    </p:animEffect>
                                  </p:childTnLst>
                                </p:cTn>
                              </p:par>
                              <p:par>
                                <p:cTn id="40" presetID="10"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4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ext 6"/>
          <p:cNvSpPr/>
          <p:nvPr/>
        </p:nvSpPr>
        <p:spPr>
          <a:xfrm>
            <a:off x="5938114" y="594360"/>
            <a:ext cx="5669280" cy="114300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More New Words</a:t>
            </a:r>
          </a:p>
        </p:txBody>
      </p:sp>
      <p:sp>
        <p:nvSpPr>
          <p:cNvPr id="9" name="Shape 7"/>
          <p:cNvSpPr/>
          <p:nvPr/>
        </p:nvSpPr>
        <p:spPr>
          <a:xfrm>
            <a:off x="1121969" y="587045"/>
            <a:ext cx="4106570" cy="1143000"/>
          </a:xfrm>
          <a:prstGeom prst="round1Rect">
            <a:avLst>
              <a:gd name="adj" fmla="val 23087"/>
            </a:avLst>
          </a:prstGeom>
          <a:solidFill>
            <a:srgbClr val="FFFFFF"/>
          </a:solidFill>
          <a:ln/>
        </p:spPr>
        <p:txBody>
          <a:bodyPr/>
          <a:p/>
        </p:txBody>
      </p:sp>
      <p:sp>
        <p:nvSpPr>
          <p:cNvPr id="13" name="Text 11"/>
          <p:cNvSpPr/>
          <p:nvPr/>
        </p:nvSpPr>
        <p:spPr>
          <a:xfrm>
            <a:off x="1325880" y="685800"/>
            <a:ext cx="3749039"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Partners:</a:t>
            </a:r>
          </a:p>
          <a:p>
            <a:pPr algn="l" indent="0" marL="0">
              <a:buNone/>
            </a:pPr>
            <a:r>
              <a:rPr lang="en-US" sz="2200" dirty="0" b="1">
                <a:solidFill>
                  <a:srgbClr val="1B2236"/>
                </a:solidFill>
                <a:latin typeface="Lexend Deca" pitchFamily="34" charset="0"/>
                <a:ea typeface="Lexend Deca" pitchFamily="34" charset="-122"/>
                <a:cs typeface="Lexend Deca" pitchFamily="34" charset="-120"/>
              </a:rPr>
              <a:t>A points. B says.</a:t>
            </a:r>
          </a:p>
        </p:txBody>
      </p:sp>
      <p:pic>
        <p:nvPicPr>
          <p:cNvPr id="17" name="Fish picture" descr="fish"/>
          <p:cNvPicPr>
            <a:picLocks noChangeAspect="1"/>
          </p:cNvPicPr>
          <p:nvPr/>
        </p:nvPicPr>
        <p:blipFill>
          <a:blip r:embed="rIdImg1"/>
          <a:stretch>
            <a:fillRect/>
          </a:stretch>
        </p:blipFill>
        <p:spPr>
          <a:xfrm>
            <a:off x="950976" y="2286000"/>
            <a:ext cx="1920240" cy="1344168"/>
          </a:xfrm>
          <a:prstGeom prst="rect">
            <a:avLst/>
          </a:prstGeom>
        </p:spPr>
      </p:pic>
      <p:sp>
        <p:nvSpPr>
          <p:cNvPr id="18" name="Word label 1"/>
          <p:cNvSpPr/>
          <p:nvPr/>
        </p:nvSpPr>
        <p:spPr>
          <a:xfrm>
            <a:off x="5394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fish</a:t>
            </a:r>
          </a:p>
        </p:txBody>
      </p:sp>
      <p:pic>
        <p:nvPicPr>
          <p:cNvPr id="19" name="Fruit picture" descr="fruit"/>
          <p:cNvPicPr>
            <a:picLocks noChangeAspect="1"/>
          </p:cNvPicPr>
          <p:nvPr/>
        </p:nvPicPr>
        <p:blipFill>
          <a:blip r:embed="rIdImg2"/>
          <a:stretch>
            <a:fillRect/>
          </a:stretch>
        </p:blipFill>
        <p:spPr>
          <a:xfrm>
            <a:off x="3694176" y="2286000"/>
            <a:ext cx="1920240" cy="1344168"/>
          </a:xfrm>
          <a:prstGeom prst="rect">
            <a:avLst/>
          </a:prstGeom>
        </p:spPr>
      </p:pic>
      <p:sp>
        <p:nvSpPr>
          <p:cNvPr id="20" name="Word label 2"/>
          <p:cNvSpPr/>
          <p:nvPr/>
        </p:nvSpPr>
        <p:spPr>
          <a:xfrm>
            <a:off x="32826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fruit</a:t>
            </a:r>
          </a:p>
        </p:txBody>
      </p:sp>
      <p:pic>
        <p:nvPicPr>
          <p:cNvPr id="21" name="Vegetables picture" descr="vegetables"/>
          <p:cNvPicPr>
            <a:picLocks noChangeAspect="1"/>
          </p:cNvPicPr>
          <p:nvPr/>
        </p:nvPicPr>
        <p:blipFill>
          <a:blip r:embed="rIdImg3"/>
          <a:stretch>
            <a:fillRect/>
          </a:stretch>
        </p:blipFill>
        <p:spPr>
          <a:xfrm>
            <a:off x="6428232" y="2286000"/>
            <a:ext cx="1920240" cy="1344168"/>
          </a:xfrm>
          <a:prstGeom prst="rect">
            <a:avLst/>
          </a:prstGeom>
        </p:spPr>
      </p:pic>
      <p:sp>
        <p:nvSpPr>
          <p:cNvPr id="22" name="Word label 3"/>
          <p:cNvSpPr/>
          <p:nvPr/>
        </p:nvSpPr>
        <p:spPr>
          <a:xfrm>
            <a:off x="60167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vegetables</a:t>
            </a:r>
          </a:p>
        </p:txBody>
      </p:sp>
      <p:pic>
        <p:nvPicPr>
          <p:cNvPr id="23" name="Juice picture" descr="juice"/>
          <p:cNvPicPr>
            <a:picLocks noChangeAspect="1"/>
          </p:cNvPicPr>
          <p:nvPr/>
        </p:nvPicPr>
        <p:blipFill>
          <a:blip r:embed="rIdImg4"/>
          <a:stretch>
            <a:fillRect/>
          </a:stretch>
        </p:blipFill>
        <p:spPr>
          <a:xfrm>
            <a:off x="9171432" y="2286000"/>
            <a:ext cx="1920240" cy="1344168"/>
          </a:xfrm>
          <a:prstGeom prst="rect">
            <a:avLst/>
          </a:prstGeom>
        </p:spPr>
      </p:pic>
      <p:sp>
        <p:nvSpPr>
          <p:cNvPr id="24" name="Word label 4"/>
          <p:cNvSpPr/>
          <p:nvPr/>
        </p:nvSpPr>
        <p:spPr>
          <a:xfrm>
            <a:off x="87599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juice</a:t>
            </a:r>
          </a:p>
        </p:txBody>
      </p:sp>
      <p:pic>
        <p:nvPicPr>
          <p:cNvPr id="25" name="Soda picture" descr="soda"/>
          <p:cNvPicPr>
            <a:picLocks noChangeAspect="1"/>
          </p:cNvPicPr>
          <p:nvPr/>
        </p:nvPicPr>
        <p:blipFill>
          <a:blip r:embed="rIdImg5"/>
          <a:stretch>
            <a:fillRect/>
          </a:stretch>
        </p:blipFill>
        <p:spPr>
          <a:xfrm>
            <a:off x="3685032" y="4315968"/>
            <a:ext cx="1920240" cy="1344168"/>
          </a:xfrm>
          <a:prstGeom prst="rect">
            <a:avLst/>
          </a:prstGeom>
        </p:spPr>
      </p:pic>
      <p:sp>
        <p:nvSpPr>
          <p:cNvPr id="26" name="Word label 5"/>
          <p:cNvSpPr/>
          <p:nvPr/>
        </p:nvSpPr>
        <p:spPr>
          <a:xfrm>
            <a:off x="32735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1B2236"/>
                </a:solidFill>
                <a:latin typeface="Lexend Deca" pitchFamily="34" charset="0"/>
                <a:ea typeface="Lexend Deca" pitchFamily="34" charset="-122"/>
                <a:cs typeface="Lexend Deca" pitchFamily="34" charset="-120"/>
              </a:rPr>
              <a:t>soda</a:t>
            </a:r>
          </a:p>
        </p:txBody>
      </p:sp>
      <p:pic>
        <p:nvPicPr>
          <p:cNvPr id="27" name="Pizza picture" descr="pizza"/>
          <p:cNvPicPr>
            <a:picLocks noChangeAspect="1"/>
          </p:cNvPicPr>
          <p:nvPr/>
        </p:nvPicPr>
        <p:blipFill>
          <a:blip r:embed="rIdImg6"/>
          <a:stretch>
            <a:fillRect/>
          </a:stretch>
        </p:blipFill>
        <p:spPr>
          <a:xfrm>
            <a:off x="6428232" y="4315968"/>
            <a:ext cx="1920240" cy="1344168"/>
          </a:xfrm>
          <a:prstGeom prst="rect">
            <a:avLst/>
          </a:prstGeom>
        </p:spPr>
      </p:pic>
      <p:sp>
        <p:nvSpPr>
          <p:cNvPr id="28" name="Word label 6"/>
          <p:cNvSpPr/>
          <p:nvPr/>
        </p:nvSpPr>
        <p:spPr>
          <a:xfrm>
            <a:off x="60167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1B2236"/>
                </a:solidFill>
                <a:latin typeface="Lexend Deca" pitchFamily="34" charset="0"/>
                <a:ea typeface="Lexend Deca" pitchFamily="34" charset="-122"/>
                <a:cs typeface="Lexend Deca" pitchFamily="34" charset="-120"/>
              </a:rPr>
              <a:t>pizza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4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400"/>
                                        <p:tgtEl>
                                          <p:spTgt spid="21"/>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4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4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400"/>
                                        <p:tgtEl>
                                          <p:spTgt spid="25"/>
                                        </p:tgtEl>
                                      </p:cBhvr>
                                    </p:animEffect>
                                  </p:childTnLst>
                                </p:cTn>
                              </p:par>
                              <p:par>
                                <p:cTn id="40" presetID="10"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4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ext 6"/>
          <p:cNvSpPr/>
          <p:nvPr/>
        </p:nvSpPr>
        <p:spPr>
          <a:xfrm>
            <a:off x="3566160" y="1078992"/>
            <a:ext cx="4114800" cy="157276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 Listen</a:t>
            </a:r>
          </a:p>
        </p:txBody>
      </p:sp>
      <p:sp>
        <p:nvSpPr>
          <p:cNvPr id="10" name="Text 8"/>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Ana is at a taco truck.</a:t>
            </a:r>
          </a:p>
        </p:txBody>
      </p:sp>
      <p:sp>
        <p:nvSpPr>
          <p:cNvPr id="11" name="Text 9"/>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Text 11"/>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Text 13"/>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Shape 15"/>
          <p:cNvSpPr/>
          <p:nvPr/>
        </p:nvSpPr>
        <p:spPr>
          <a:xfrm>
            <a:off x="3503066" y="4928616"/>
            <a:ext cx="4480560" cy="0"/>
          </a:xfrm>
          <a:prstGeom prst="line">
            <a:avLst/>
          </a:prstGeom>
          <a:noFill/>
          <a:ln w="6350">
            <a:solidFill>
              <a:srgbClr val="1B2236"/>
            </a:solidFill>
            <a:prstDash val="solid"/>
          </a:ln>
        </p:spPr>
        <p:txBody>
          <a:bodyPr/>
          <a:p/>
        </p:txBody>
      </p:sp>
      <p:sp>
        <p:nvSpPr>
          <p:cNvPr id="18" name="Shape 16"/>
          <p:cNvSpPr/>
          <p:nvPr/>
        </p:nvSpPr>
        <p:spPr>
          <a:xfrm>
            <a:off x="3503066" y="5733288"/>
            <a:ext cx="4480560" cy="0"/>
          </a:xfrm>
          <a:prstGeom prst="line">
            <a:avLst/>
          </a:prstGeom>
          <a:noFill/>
          <a:ln w="6350">
            <a:solidFill>
              <a:srgbClr val="1B2236"/>
            </a:solidFill>
            <a:prstDash val="solid"/>
          </a:ln>
        </p:spPr>
        <p:txBody>
          <a:bodyPr/>
          <a:p/>
        </p:txBody>
      </p:sp>
      <p:pic>
        <p:nvPicPr>
          <p:cNvPr id="24" name="Taco picture" descr="taco"/>
          <p:cNvPicPr>
            <a:picLocks noChangeAspect="1"/>
          </p:cNvPicPr>
          <p:nvPr/>
        </p:nvPicPr>
        <p:blipFill>
          <a:blip r:embed="rIdImg1"/>
          <a:stretch>
            <a:fillRect/>
          </a:stretch>
        </p:blipFill>
        <p:spPr>
          <a:xfrm>
            <a:off x="284378" y="1138930"/>
            <a:ext cx="2493568" cy="1745498"/>
          </a:xfrm>
          <a:prstGeom prst="rect">
            <a:avLst/>
          </a:prstGeom>
        </p:spPr>
      </p:pic>
      <p:sp>
        <p:nvSpPr>
          <p:cNvPr id="25" name="Highlight 1"/>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1"/>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Listen 1: What Ana orders.</a:t>
            </a:r>
          </a:p>
        </p:txBody>
      </p:sp>
      <p:sp>
        <p:nvSpPr>
          <p:cNvPr id="29" name="Highlight 2"/>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Helper 2"/>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Listen 2: Fish tacos?</a:t>
            </a:r>
          </a:p>
        </p:txBody>
      </p:sp>
      <p:sp>
        <p:nvSpPr>
          <p:cNvPr id="33" name="Highlight 3"/>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Helper 3"/>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Listen 3: The numbers.</a:t>
            </a:r>
          </a:p>
        </p:txBody>
      </p:sp>
      <p:sp>
        <p:nvSpPr>
          <p:cNvPr id="37" name="Order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Say it!</a:t>
            </a:r>
          </a:p>
        </p:txBody>
      </p:sp>
      <p:sp>
        <p:nvSpPr>
          <p:cNvPr id="39" name="Step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want a fish taco and a soda, please.</a:t>
            </a:r>
          </a:p>
        </p:txBody>
      </p:sp>
      <p:sp>
        <p:nvSpPr>
          <p:cNvPr id="41" name="Step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For here or to go?</a:t>
            </a:r>
          </a:p>
        </p:txBody>
      </p:sp>
      <p:sp>
        <p:nvSpPr>
          <p:cNvPr id="43" name="Step 3"/>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To go, please.</a:t>
            </a:r>
          </a:p>
        </p:txBody>
      </p:sp>
      <p:sp>
        <p:nvSpPr>
          <p:cNvPr id="46" name="Example"/>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a:solidFill>
                  <a:srgbClr val="1B2236"/>
                </a:solidFill>
                <a:latin typeface="Lexend Deca" pitchFamily="34" charset="0"/>
                <a:ea typeface="Lexend Deca" pitchFamily="34" charset="-122"/>
                <a:cs typeface="Lexend Deca" pitchFamily="34" charset="-120"/>
              </a:rPr>
              <a:t>Listen and </a:t>
            </a:r>
            <a:r>
              <a:rPr lang="en-US" sz="2200" dirty="0" b="1">
                <a:solidFill>
                  <a:srgbClr val="5B3FC4"/>
                </a:solidFill>
                <a:latin typeface="Lexend Deca" pitchFamily="34" charset="0"/>
                <a:ea typeface="Lexend Deca" pitchFamily="34" charset="-122"/>
                <a:cs typeface="Lexend Deca" pitchFamily="34" charset="-120"/>
              </a:rPr>
              <a:t>repeat.</a:t>
            </a:r>
          </a:p>
        </p:txBody>
      </p:sp>
      <p:pic>
        <p:nvPicPr>
          <p:cNvPr id="90" name="Soda picture" descr="soda"/>
          <p:cNvPicPr>
            <a:picLocks noChangeAspect="1"/>
          </p:cNvPicPr>
          <p:nvPr/>
        </p:nvPicPr>
        <p:blipFill>
          <a:blip r:embed="rIdImg2"/>
          <a:stretch>
            <a:fillRect/>
          </a:stretch>
        </p:blipFill>
        <p:spPr>
          <a:xfrm>
            <a:off x="284378" y="3973570"/>
            <a:ext cx="2493568" cy="17454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4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00"/>
                                        <p:tgtEl>
                                          <p:spTgt spid="33"/>
                                        </p:tgtEl>
                                      </p:cBhvr>
                                    </p:animEffect>
                                  </p:childTnLst>
                                </p:cTn>
                              </p:par>
                              <p:par>
                                <p:cTn id="24" presetID="10" presetClass="entr" presetSubtype="0" fill="hold"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8266176" y="3721608"/>
            <a:ext cx="3566160" cy="2331720"/>
          </a:xfrm>
          <a:prstGeom prst="round1Rect">
            <a:avLst>
              <a:gd name="adj" fmla="val 23087"/>
            </a:avLst>
          </a:prstGeom>
          <a:solidFill>
            <a:srgbClr val="8FAFE3"/>
          </a:solidFill>
          <a:ln/>
        </p:spPr>
        <p:txBody>
          <a:bodyPr/>
          <a:p/>
        </p:txBody>
      </p:sp>
      <p:sp>
        <p:nvSpPr>
          <p:cNvPr id="3" name="Shape 1"/>
          <p:cNvSpPr/>
          <p:nvPr/>
        </p:nvSpPr>
        <p:spPr>
          <a:xfrm>
            <a:off x="8229600" y="3657600"/>
            <a:ext cx="3566160" cy="2331720"/>
          </a:xfrm>
          <a:prstGeom prst="round1Rect">
            <a:avLst>
              <a:gd name="adj" fmla="val 23087"/>
            </a:avLst>
          </a:prstGeom>
          <a:solidFill>
            <a:srgbClr val="FFFFFF"/>
          </a:solidFill>
          <a:ln/>
        </p:spPr>
        <p:txBody>
          <a:bodyPr/>
          <a:p/>
        </p:txBody>
      </p:sp>
      <p:sp>
        <p:nvSpPr>
          <p:cNvPr id="8" name="Text 6"/>
          <p:cNvSpPr/>
          <p:nvPr/>
        </p:nvSpPr>
        <p:spPr>
          <a:xfrm>
            <a:off x="8412480" y="3794760"/>
            <a:ext cx="3200400" cy="731520"/>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Anything else?</a:t>
            </a:r>
          </a:p>
        </p:txBody>
      </p:sp>
      <p:sp>
        <p:nvSpPr>
          <p:cNvPr id="9" name="Text 7"/>
          <p:cNvSpPr/>
          <p:nvPr/>
        </p:nvSpPr>
        <p:spPr>
          <a:xfrm>
            <a:off x="8412480" y="4572000"/>
            <a:ext cx="3200400" cy="1371600"/>
          </a:xfrm>
          <a:prstGeom prst="rect">
            <a:avLst/>
          </a:prstGeom>
          <a:noFill/>
          <a:ln/>
        </p:spPr>
        <p:txBody>
          <a:bodyPr wrap="square" lIns="0" tIns="0" rIns="0" bIns="0"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No, thanks.</a:t>
            </a:r>
          </a:p>
        </p:txBody>
      </p:sp>
      <p:sp>
        <p:nvSpPr>
          <p:cNvPr id="29" name="Text 27"/>
          <p:cNvSpPr/>
          <p:nvPr/>
        </p:nvSpPr>
        <p:spPr>
          <a:xfrm>
            <a:off x="8229600" y="640080"/>
            <a:ext cx="3657600" cy="822960"/>
          </a:xfrm>
          <a:prstGeom prst="rect">
            <a:avLst/>
          </a:prstGeom>
          <a:noFill/>
          <a:ln/>
        </p:spPr>
        <p:txBody>
          <a:bodyPr wrap="square" rtlCol="0" anchor="b"/>
          <a:lstStyle/>
          <a:p>
            <a:pPr algn="l" indent="0" marL="0">
              <a:buNone/>
            </a:pPr>
            <a:r>
              <a:rPr lang="en-US" sz="3200" dirty="0" b="1">
                <a:solidFill>
                  <a:srgbClr val="1B2236"/>
                </a:solidFill>
                <a:latin typeface="Lexend Deca" pitchFamily="34" charset="0"/>
                <a:ea typeface="Lexend Deca" pitchFamily="34" charset="-122"/>
                <a:cs typeface="Lexend Deca" pitchFamily="34" charset="-120"/>
              </a:rPr>
              <a:t>Grammar Box 4</a:t>
            </a:r>
          </a:p>
        </p:txBody>
      </p:sp>
      <p:sp>
        <p:nvSpPr>
          <p:cNvPr id="30" name="Text 28"/>
          <p:cNvSpPr/>
          <p:nvPr/>
        </p:nvSpPr>
        <p:spPr>
          <a:xfrm>
            <a:off x="8229600" y="1554480"/>
            <a:ext cx="3657600" cy="173736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Server asks.</a:t>
            </a:r>
          </a:p>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You answer.</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switch.</a:t>
            </a:r>
          </a:p>
        </p:txBody>
      </p:sp>
      <p:pic>
        <p:nvPicPr>
          <p:cNvPr id="60" name="Food to go picture" descr="food to go"/>
          <p:cNvPicPr>
            <a:picLocks noChangeAspect="1"/>
          </p:cNvPicPr>
          <p:nvPr/>
        </p:nvPicPr>
        <p:blipFill>
          <a:blip r:embed="rIdImg1"/>
          <a:stretch>
            <a:fillRect/>
          </a:stretch>
        </p:blipFill>
        <p:spPr>
          <a:xfrm>
            <a:off x="1645919" y="502920"/>
            <a:ext cx="5029200" cy="3520440"/>
          </a:xfrm>
          <a:prstGeom prst="rect">
            <a:avLst/>
          </a:prstGeom>
        </p:spPr>
      </p:pic>
      <p:sp>
        <p:nvSpPr>
          <p:cNvPr id="34" name="Answer 1"/>
          <p:cNvSpPr/>
          <p:nvPr/>
        </p:nvSpPr>
        <p:spPr>
          <a:xfrm>
            <a:off x="548640" y="5074920"/>
            <a:ext cx="7315200" cy="77724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600" dirty="0" b="1">
                <a:solidFill>
                  <a:srgbClr val="5B3FC4"/>
                </a:solidFill>
                <a:latin typeface="Lexend Deca" pitchFamily="34" charset="0"/>
                <a:ea typeface="Lexend Deca" pitchFamily="34" charset="-122"/>
                <a:cs typeface="Lexend Deca" pitchFamily="34" charset="-120"/>
              </a:rPr>
              <a:t>To go,</a:t>
            </a:r>
            <a:r>
              <a:rPr lang="en-US" sz="2600" dirty="0" b="1">
                <a:solidFill>
                  <a:srgbClr val="1B2236"/>
                </a:solidFill>
                <a:latin typeface="Lexend Deca" pitchFamily="34" charset="0"/>
                <a:ea typeface="Lexend Deca" pitchFamily="34" charset="-122"/>
                <a:cs typeface="Lexend Deca" pitchFamily="34" charset="-120"/>
              </a:rPr>
              <a:t> please. / </a:t>
            </a:r>
            <a:r>
              <a:rPr lang="en-US" sz="2600" dirty="0" b="1">
                <a:solidFill>
                  <a:srgbClr val="5B3FC4"/>
                </a:solidFill>
                <a:latin typeface="Lexend Deca" pitchFamily="34" charset="0"/>
                <a:ea typeface="Lexend Deca" pitchFamily="34" charset="-122"/>
                <a:cs typeface="Lexend Deca" pitchFamily="34" charset="-120"/>
              </a:rPr>
              <a:t>For here,</a:t>
            </a:r>
            <a:r>
              <a:rPr lang="en-US" sz="2600" dirty="0" b="1">
                <a:solidFill>
                  <a:srgbClr val="1B2236"/>
                </a:solidFill>
                <a:latin typeface="Lexend Deca" pitchFamily="34" charset="0"/>
                <a:ea typeface="Lexend Deca" pitchFamily="34" charset="-122"/>
                <a:cs typeface="Lexend Deca" pitchFamily="34" charset="-120"/>
              </a:rPr>
              <a:t> please.</a:t>
            </a:r>
          </a:p>
        </p:txBody>
      </p:sp>
      <p:sp>
        <p:nvSpPr>
          <p:cNvPr id="130" name="Preview question"/>
          <p:cNvSpPr/>
          <p:nvPr/>
        </p:nvSpPr>
        <p:spPr>
          <a:xfrm>
            <a:off x="548640" y="4251960"/>
            <a:ext cx="7315200" cy="685800"/>
          </a:xfrm>
          <a:prstGeom prst="rect">
            <a:avLst/>
          </a:prstGeom>
          <a:noFill/>
          <a:ln/>
        </p:spPr>
        <p:txBody>
          <a:bodyPr wrap="square" lIns="0" tIns="0" rIns="0" bIns="0" rtlCol="0" anchor="t"/>
          <a:lstStyle/>
          <a:p>
            <a:pPr algn="l" indent="0" marL="0">
              <a:buNone/>
            </a:pPr>
            <a:r>
              <a:rPr lang="en-US" sz="2800" dirty="0" b="1">
                <a:solidFill>
                  <a:srgbClr val="1B2236"/>
                </a:solidFill>
                <a:latin typeface="Lexend Deca" pitchFamily="34" charset="0"/>
                <a:ea typeface="Lexend Deca" pitchFamily="34" charset="-122"/>
                <a:cs typeface="Lexend Deca" pitchFamily="34" charset="-120"/>
              </a:rPr>
              <a:t>For here or to go?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076429" y="533095"/>
            <a:ext cx="5814670" cy="1554480"/>
          </a:xfrm>
          <a:prstGeom prst="roundRect">
            <a:avLst>
              <a:gd name="adj" fmla="val 16667"/>
            </a:avLst>
          </a:prstGeom>
          <a:solidFill>
            <a:srgbClr val="8FAFE3"/>
          </a:solidFill>
          <a:ln/>
        </p:spPr>
        <p:txBody>
          <a:bodyPr/>
          <a:p/>
        </p:txBody>
      </p:sp>
      <p:sp>
        <p:nvSpPr>
          <p:cNvPr id="3" name="Shape 1"/>
          <p:cNvSpPr/>
          <p:nvPr/>
        </p:nvSpPr>
        <p:spPr>
          <a:xfrm>
            <a:off x="5110582" y="457200"/>
            <a:ext cx="5814670" cy="1554480"/>
          </a:xfrm>
          <a:prstGeom prst="roundRect">
            <a:avLst>
              <a:gd name="adj" fmla="val 16667"/>
            </a:avLst>
          </a:prstGeom>
          <a:solidFill>
            <a:srgbClr val="FFFFFF"/>
          </a:solidFill>
          <a:ln/>
        </p:spPr>
        <p:txBody>
          <a:bodyPr/>
          <a:p/>
        </p:txBody>
      </p:sp>
      <p:sp>
        <p:nvSpPr>
          <p:cNvPr id="4" name="Shape 2"/>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Fish picture" descr="fish"/>
          <p:cNvPicPr>
            <a:picLocks noChangeAspect="1"/>
          </p:cNvPicPr>
          <p:nvPr/>
        </p:nvPicPr>
        <p:blipFill>
          <a:blip r:embed="rIdImg1"/>
          <a:stretch>
            <a:fillRect/>
          </a:stretch>
        </p:blipFill>
        <p:spPr>
          <a:xfrm>
            <a:off x="182880" y="811530"/>
            <a:ext cx="3429000" cy="2400300"/>
          </a:xfrm>
          <a:prstGeom prst="rect">
            <a:avLst/>
          </a:prstGeom>
        </p:spPr>
      </p:pic>
      <p:sp>
        <p:nvSpPr>
          <p:cNvPr id="7" name="Text 5"/>
          <p:cNvSpPr/>
          <p:nvPr/>
        </p:nvSpPr>
        <p:spPr>
          <a:xfrm>
            <a:off x="5333695" y="566928"/>
            <a:ext cx="4846320" cy="13258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p>
          <a:p>
            <a:pPr algn="l" indent="0" marL="0">
              <a:spcAft>
                <a:spcPts val="400"/>
              </a:spcAft>
              <a:buNone/>
            </a:pPr>
            <a:r>
              <a:rPr lang="en-US" sz="3000" dirty="0" b="1">
                <a:solidFill>
                  <a:srgbClr val="1B2236"/>
                </a:solidFill>
                <a:latin typeface="Lexend Deca" pitchFamily="34" charset="0"/>
                <a:ea typeface="Lexend Deca" pitchFamily="34" charset="-122"/>
                <a:cs typeface="Lexend Deca" pitchFamily="34" charset="-120"/>
              </a:rPr>
              <a:t>Do you like…?</a:t>
            </a:r>
          </a:p>
        </p:txBody>
      </p:sp>
      <p:sp>
        <p:nvSpPr>
          <p:cNvPr id="8" name="Text 6"/>
          <p:cNvSpPr/>
          <p:nvPr/>
        </p:nvSpPr>
        <p:spPr>
          <a:xfrm>
            <a:off x="5166360" y="219456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a:p>
        </p:txBody>
      </p:sp>
      <p:sp>
        <p:nvSpPr>
          <p:cNvPr id="11" name="Text 9"/>
          <p:cNvSpPr/>
          <p:nvPr/>
        </p:nvSpPr>
        <p:spPr>
          <a:xfrm>
            <a:off x="8321040" y="219456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a:p>
        </p:txBody>
      </p:sp>
      <p:sp>
        <p:nvSpPr>
          <p:cNvPr id="20" name="Question 1"/>
          <p:cNvSpPr/>
          <p:nvPr/>
        </p:nvSpPr>
        <p:spPr>
          <a:xfrm>
            <a:off x="5138928" y="2697480"/>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Do</a:t>
            </a:r>
            <a:r>
              <a:rPr lang="en-US" sz="2000" dirty="0" b="1">
                <a:solidFill>
                  <a:srgbClr val="1B2236"/>
                </a:solidFill>
                <a:latin typeface="Lexend Deca" pitchFamily="34" charset="0"/>
                <a:ea typeface="Lexend Deca" pitchFamily="34" charset="-122"/>
                <a:cs typeface="Lexend Deca" pitchFamily="34" charset="-120"/>
              </a:rPr>
              <a:t> you like fish?</a:t>
            </a:r>
          </a:p>
        </p:txBody>
      </p:sp>
      <p:sp>
        <p:nvSpPr>
          <p:cNvPr id="22" name="Answer bg 1"/>
          <p:cNvSpPr/>
          <p:nvPr/>
        </p:nvSpPr>
        <p:spPr>
          <a:xfrm>
            <a:off x="8321040" y="2697480"/>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1" name="Answer 1"/>
          <p:cNvSpPr/>
          <p:nvPr/>
        </p:nvSpPr>
        <p:spPr>
          <a:xfrm>
            <a:off x="8321040" y="2697480"/>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Yes, I </a:t>
            </a:r>
            <a:r>
              <a:rPr lang="en-US" sz="1900" dirty="0" b="1">
                <a:solidFill>
                  <a:srgbClr val="5B3FC4"/>
                </a:solidFill>
                <a:latin typeface="Lexend Deca" pitchFamily="34" charset="0"/>
                <a:ea typeface="Lexend Deca" pitchFamily="34" charset="-122"/>
                <a:cs typeface="Lexend Deca" pitchFamily="34" charset="-120"/>
              </a:rPr>
              <a:t>do.</a:t>
            </a:r>
          </a:p>
          <a:p>
            <a:pPr algn="l" indent="0" marL="0">
              <a:buNone/>
            </a:pPr>
            <a:r>
              <a:rPr lang="en-US" sz="1900" dirty="0" b="0">
                <a:solidFill>
                  <a:srgbClr val="1B2236"/>
                </a:solidFill>
                <a:latin typeface="Lexend Deca" pitchFamily="34" charset="0"/>
                <a:ea typeface="Lexend Deca" pitchFamily="34" charset="-122"/>
                <a:cs typeface="Lexend Deca" pitchFamily="34" charset="-120"/>
              </a:rPr>
              <a:t>No, I </a:t>
            </a:r>
            <a:r>
              <a:rPr lang="en-US" sz="1900" dirty="0" b="1">
                <a:solidFill>
                  <a:srgbClr val="5B3FC4"/>
                </a:solidFill>
                <a:latin typeface="Lexend Deca" pitchFamily="34" charset="0"/>
                <a:ea typeface="Lexend Deca" pitchFamily="34" charset="-122"/>
                <a:cs typeface="Lexend Deca" pitchFamily="34" charset="-120"/>
              </a:rPr>
              <a:t>don't.</a:t>
            </a:r>
          </a:p>
        </p:txBody>
      </p:sp>
      <p:sp>
        <p:nvSpPr>
          <p:cNvPr id="25" name="Question 2"/>
          <p:cNvSpPr/>
          <p:nvPr/>
        </p:nvSpPr>
        <p:spPr>
          <a:xfrm>
            <a:off x="5138928" y="3675888"/>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Do</a:t>
            </a:r>
            <a:r>
              <a:rPr lang="en-US" sz="2000" dirty="0" b="1">
                <a:solidFill>
                  <a:srgbClr val="1B2236"/>
                </a:solidFill>
                <a:latin typeface="Lexend Deca" pitchFamily="34" charset="0"/>
                <a:ea typeface="Lexend Deca" pitchFamily="34" charset="-122"/>
                <a:cs typeface="Lexend Deca" pitchFamily="34" charset="-120"/>
              </a:rPr>
              <a:t> you like tacos?</a:t>
            </a:r>
          </a:p>
        </p:txBody>
      </p:sp>
      <p:sp>
        <p:nvSpPr>
          <p:cNvPr id="27" name="Answer bg 2"/>
          <p:cNvSpPr/>
          <p:nvPr/>
        </p:nvSpPr>
        <p:spPr>
          <a:xfrm>
            <a:off x="8321040" y="3675888"/>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2"/>
          <p:cNvSpPr/>
          <p:nvPr/>
        </p:nvSpPr>
        <p:spPr>
          <a:xfrm>
            <a:off x="8321040" y="3675888"/>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Yes, I </a:t>
            </a:r>
            <a:r>
              <a:rPr lang="en-US" sz="1900" dirty="0" b="1">
                <a:solidFill>
                  <a:srgbClr val="5B3FC4"/>
                </a:solidFill>
                <a:latin typeface="Lexend Deca" pitchFamily="34" charset="0"/>
                <a:ea typeface="Lexend Deca" pitchFamily="34" charset="-122"/>
                <a:cs typeface="Lexend Deca" pitchFamily="34" charset="-120"/>
              </a:rPr>
              <a:t>do.</a:t>
            </a:r>
          </a:p>
          <a:p>
            <a:pPr algn="l" indent="0" marL="0">
              <a:buNone/>
            </a:pPr>
            <a:r>
              <a:rPr lang="en-US" sz="1900" dirty="0" b="0">
                <a:solidFill>
                  <a:srgbClr val="1B2236"/>
                </a:solidFill>
                <a:latin typeface="Lexend Deca" pitchFamily="34" charset="0"/>
                <a:ea typeface="Lexend Deca" pitchFamily="34" charset="-122"/>
                <a:cs typeface="Lexend Deca" pitchFamily="34" charset="-120"/>
              </a:rPr>
              <a:t>I like tacos.</a:t>
            </a:r>
          </a:p>
        </p:txBody>
      </p:sp>
      <p:sp>
        <p:nvSpPr>
          <p:cNvPr id="72" name="Answer bg 3"/>
          <p:cNvSpPr/>
          <p:nvPr/>
        </p:nvSpPr>
        <p:spPr>
          <a:xfrm>
            <a:off x="8321040" y="4654296"/>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82" name="Answer 3"/>
          <p:cNvSpPr/>
          <p:nvPr/>
        </p:nvSpPr>
        <p:spPr>
          <a:xfrm>
            <a:off x="8321040" y="4654296"/>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No, I </a:t>
            </a:r>
            <a:r>
              <a:rPr lang="en-US" sz="1900" dirty="0" b="1">
                <a:solidFill>
                  <a:srgbClr val="5B3FC4"/>
                </a:solidFill>
                <a:latin typeface="Lexend Deca" pitchFamily="34" charset="0"/>
                <a:ea typeface="Lexend Deca" pitchFamily="34" charset="-122"/>
                <a:cs typeface="Lexend Deca" pitchFamily="34" charset="-120"/>
              </a:rPr>
              <a:t>don't.</a:t>
            </a:r>
          </a:p>
          <a:p>
            <a:pPr algn="l" indent="0" marL="0">
              <a:buNone/>
            </a:pPr>
            <a:r>
              <a:rPr lang="en-US" sz="1900" dirty="0" b="0">
                <a:solidFill>
                  <a:srgbClr val="1B2236"/>
                </a:solidFill>
                <a:latin typeface="Lexend Deca" pitchFamily="34" charset="0"/>
                <a:ea typeface="Lexend Deca" pitchFamily="34" charset="-122"/>
                <a:cs typeface="Lexend Deca" pitchFamily="34" charset="-120"/>
              </a:rPr>
              <a:t>I don't like coffee.</a:t>
            </a:r>
          </a:p>
        </p:txBody>
      </p:sp>
      <p:sp>
        <p:nvSpPr>
          <p:cNvPr id="73" name="Answer bg 4"/>
          <p:cNvSpPr/>
          <p:nvPr/>
        </p:nvSpPr>
        <p:spPr>
          <a:xfrm>
            <a:off x="8321040" y="5632704"/>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83" name="Answer 4"/>
          <p:cNvSpPr/>
          <p:nvPr/>
        </p:nvSpPr>
        <p:spPr>
          <a:xfrm>
            <a:off x="8321040" y="5632704"/>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Yes, I </a:t>
            </a:r>
            <a:r>
              <a:rPr lang="en-US" sz="1900" dirty="0" b="1">
                <a:solidFill>
                  <a:srgbClr val="5B3FC4"/>
                </a:solidFill>
                <a:latin typeface="Lexend Deca" pitchFamily="34" charset="0"/>
                <a:ea typeface="Lexend Deca" pitchFamily="34" charset="-122"/>
                <a:cs typeface="Lexend Deca" pitchFamily="34" charset="-120"/>
              </a:rPr>
              <a:t>do.</a:t>
            </a:r>
          </a:p>
          <a:p>
            <a:pPr algn="l" indent="0" marL="0">
              <a:buNone/>
            </a:pPr>
            <a:r>
              <a:rPr lang="en-US" sz="1900" dirty="0" b="0">
                <a:solidFill>
                  <a:srgbClr val="1B2236"/>
                </a:solidFill>
                <a:latin typeface="Lexend Deca" pitchFamily="34" charset="0"/>
                <a:ea typeface="Lexend Deca" pitchFamily="34" charset="-122"/>
                <a:cs typeface="Lexend Deca" pitchFamily="34" charset="-120"/>
              </a:rPr>
              <a:t>I like fruit.</a:t>
            </a:r>
          </a:p>
        </p:txBody>
      </p:sp>
      <p:sp>
        <p:nvSpPr>
          <p:cNvPr id="93" name="Question 4"/>
          <p:cNvSpPr/>
          <p:nvPr/>
        </p:nvSpPr>
        <p:spPr>
          <a:xfrm>
            <a:off x="5138928" y="5632704"/>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Do</a:t>
            </a:r>
            <a:r>
              <a:rPr lang="en-US" sz="2000" dirty="0" b="1">
                <a:solidFill>
                  <a:srgbClr val="1B2236"/>
                </a:solidFill>
                <a:latin typeface="Lexend Deca" pitchFamily="34" charset="0"/>
                <a:ea typeface="Lexend Deca" pitchFamily="34" charset="-122"/>
                <a:cs typeface="Lexend Deca" pitchFamily="34" charset="-120"/>
              </a:rPr>
              <a:t> you like fruit?</a:t>
            </a:r>
          </a:p>
        </p:txBody>
      </p:sp>
      <p:sp>
        <p:nvSpPr>
          <p:cNvPr id="92" name="Question 3"/>
          <p:cNvSpPr/>
          <p:nvPr/>
        </p:nvSpPr>
        <p:spPr>
          <a:xfrm>
            <a:off x="5138928" y="4654296"/>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Do</a:t>
            </a:r>
            <a:r>
              <a:rPr lang="en-US" sz="2000" dirty="0" b="1">
                <a:solidFill>
                  <a:srgbClr val="1B2236"/>
                </a:solidFill>
                <a:latin typeface="Lexend Deca" pitchFamily="34" charset="0"/>
                <a:ea typeface="Lexend Deca" pitchFamily="34" charset="-122"/>
                <a:cs typeface="Lexend Deca" pitchFamily="34" charset="-120"/>
              </a:rPr>
              <a:t> you like coffee?</a:t>
            </a:r>
          </a:p>
        </p:txBody>
      </p:sp>
      <p:pic>
        <p:nvPicPr>
          <p:cNvPr id="95" name="Tacos picture" descr="tacos"/>
          <p:cNvPicPr>
            <a:picLocks noChangeAspect="1"/>
          </p:cNvPicPr>
          <p:nvPr/>
        </p:nvPicPr>
        <p:blipFill>
          <a:blip r:embed="rIdImg2"/>
          <a:stretch>
            <a:fillRect/>
          </a:stretch>
        </p:blipFill>
        <p:spPr>
          <a:xfrm>
            <a:off x="182880" y="3646170"/>
            <a:ext cx="3429000" cy="2400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par>
                                <p:cTn id="16" presetID="10" presetClass="entr" presetSubtype="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4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fade">
                                      <p:cBhvr>
                                        <p:cTn id="23" dur="400"/>
                                        <p:tgtEl>
                                          <p:spTgt spid="72"/>
                                        </p:tgtEl>
                                      </p:cBhvr>
                                    </p:animEffect>
                                  </p:childTnLst>
                                </p:cTn>
                              </p:par>
                              <p:par>
                                <p:cTn id="24" presetID="10" presetClass="entr" presetSubtype="0" fill="hold" nodeType="withEffect">
                                  <p:stCondLst>
                                    <p:cond delay="0"/>
                                  </p:stCondLst>
                                  <p:childTnLst>
                                    <p:set>
                                      <p:cBhvr>
                                        <p:cTn id="25" dur="1" fill="hold">
                                          <p:stCondLst>
                                            <p:cond delay="0"/>
                                          </p:stCondLst>
                                        </p:cTn>
                                        <p:tgtEl>
                                          <p:spTgt spid="82"/>
                                        </p:tgtEl>
                                        <p:attrNameLst>
                                          <p:attrName>style.visibility</p:attrName>
                                        </p:attrNameLst>
                                      </p:cBhvr>
                                      <p:to>
                                        <p:strVal val="visible"/>
                                      </p:to>
                                    </p:set>
                                    <p:animEffect transition="in" filter="fade">
                                      <p:cBhvr>
                                        <p:cTn id="26" dur="400"/>
                                        <p:tgtEl>
                                          <p:spTgt spid="8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3"/>
                                        </p:tgtEl>
                                        <p:attrNameLst>
                                          <p:attrName>style.visibility</p:attrName>
                                        </p:attrNameLst>
                                      </p:cBhvr>
                                      <p:to>
                                        <p:strVal val="visible"/>
                                      </p:to>
                                    </p:set>
                                    <p:animEffect transition="in" filter="fade">
                                      <p:cBhvr>
                                        <p:cTn id="31" dur="400"/>
                                        <p:tgtEl>
                                          <p:spTgt spid="73"/>
                                        </p:tgtEl>
                                      </p:cBhvr>
                                    </p:animEffect>
                                  </p:childTnLst>
                                </p:cTn>
                              </p:par>
                              <p:par>
                                <p:cTn id="32" presetID="10" presetClass="entr" presetSubtype="0" fill="hold" nodeType="withEffect">
                                  <p:stCondLst>
                                    <p:cond delay="0"/>
                                  </p:stCondLst>
                                  <p:childTnLst>
                                    <p:set>
                                      <p:cBhvr>
                                        <p:cTn id="33" dur="1" fill="hold">
                                          <p:stCondLst>
                                            <p:cond delay="0"/>
                                          </p:stCondLst>
                                        </p:cTn>
                                        <p:tgtEl>
                                          <p:spTgt spid="83"/>
                                        </p:tgtEl>
                                        <p:attrNameLst>
                                          <p:attrName>style.visibility</p:attrName>
                                        </p:attrNameLst>
                                      </p:cBhvr>
                                      <p:to>
                                        <p:strVal val="visible"/>
                                      </p:to>
                                    </p:set>
                                    <p:animEffect transition="in" filter="fade">
                                      <p:cBhvr>
                                        <p:cTn id="34" dur="4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6742786" y="3649370"/>
            <a:ext cx="4912157" cy="2561234"/>
          </a:xfrm>
          <a:prstGeom prst="round1Rect">
            <a:avLst>
              <a:gd name="adj" fmla="val 23087"/>
            </a:avLst>
          </a:prstGeom>
          <a:solidFill>
            <a:srgbClr val="B9D2F7"/>
          </a:solidFill>
          <a:ln w="76200">
            <a:solidFill>
              <a:srgbClr val="FFFFFF"/>
            </a:solidFill>
            <a:prstDash val="solid"/>
          </a:ln>
        </p:spPr>
        <p:txBody>
          <a:bodyPr/>
          <a:p/>
        </p:txBody>
      </p:sp>
      <p:sp>
        <p:nvSpPr>
          <p:cNvPr id="5" name="Shape 3"/>
          <p:cNvSpPr/>
          <p:nvPr/>
        </p:nvSpPr>
        <p:spPr>
          <a:xfrm>
            <a:off x="560116" y="1350752"/>
            <a:ext cx="5663794" cy="1566367"/>
          </a:xfrm>
          <a:prstGeom prst="roundRect">
            <a:avLst>
              <a:gd name="adj" fmla="val 16667"/>
            </a:avLst>
          </a:prstGeom>
          <a:solidFill>
            <a:srgbClr val="8FAFE3"/>
          </a:solidFill>
          <a:ln/>
        </p:spPr>
        <p:txBody>
          <a:bodyPr/>
          <a:p/>
        </p:txBody>
      </p:sp>
      <p:sp>
        <p:nvSpPr>
          <p:cNvPr id="6" name="Shape 4"/>
          <p:cNvSpPr/>
          <p:nvPr/>
        </p:nvSpPr>
        <p:spPr>
          <a:xfrm>
            <a:off x="593446" y="1286561"/>
            <a:ext cx="5663794" cy="1566367"/>
          </a:xfrm>
          <a:prstGeom prst="roundRect">
            <a:avLst>
              <a:gd name="adj" fmla="val 16667"/>
            </a:avLst>
          </a:prstGeom>
          <a:solidFill>
            <a:srgbClr val="FFFFFF"/>
          </a:solidFill>
          <a:ln/>
        </p:spPr>
        <p:txBody>
          <a:bodyPr/>
          <a:p/>
        </p:txBody>
      </p:sp>
      <p:sp>
        <p:nvSpPr>
          <p:cNvPr id="40" name="Optional shadow"/>
          <p:cNvSpPr/>
          <p:nvPr/>
        </p:nvSpPr>
        <p:spPr>
          <a:xfrm>
            <a:off x="6709867" y="1350569"/>
            <a:ext cx="4937760" cy="2011680"/>
          </a:xfrm>
          <a:prstGeom prst="roundRect">
            <a:avLst>
              <a:gd name="adj" fmla="val 16667"/>
            </a:avLst>
          </a:prstGeom>
          <a:solidFill>
            <a:srgbClr val="8FAFE3"/>
          </a:solidFill>
          <a:ln/>
        </p:spPr>
        <p:txBody>
          <a:bodyPr/>
          <a:p/>
        </p:txBody>
      </p:sp>
      <p:sp>
        <p:nvSpPr>
          <p:cNvPr id="41" name="Optional card"/>
          <p:cNvSpPr/>
          <p:nvPr/>
        </p:nvSpPr>
        <p:spPr>
          <a:xfrm>
            <a:off x="6742786" y="1286561"/>
            <a:ext cx="4937760" cy="2011680"/>
          </a:xfrm>
          <a:prstGeom prst="roundRect">
            <a:avLst>
              <a:gd name="adj" fmla="val 16667"/>
            </a:avLst>
          </a:prstGeom>
          <a:solidFill>
            <a:srgbClr val="FFFFFF"/>
          </a:solidFill>
          <a:ln/>
        </p:spPr>
        <p:txBody>
          <a:bodyPr/>
          <a:p/>
        </p:txBody>
      </p:sp>
      <p:sp>
        <p:nvSpPr>
          <p:cNvPr id="42" name="Optional text"/>
          <p:cNvSpPr/>
          <p:nvPr/>
        </p:nvSpPr>
        <p:spPr>
          <a:xfrm>
            <a:off x="6949440" y="1371600"/>
            <a:ext cx="4572000" cy="1828800"/>
          </a:xfrm>
          <a:prstGeom prst="rect">
            <a:avLst/>
          </a:prstGeom>
          <a:noFill/>
          <a:ln/>
        </p:spPr>
        <p:txBody>
          <a:bodyPr wrap="square" rtlCol="0" anchor="ct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like or want?</a:t>
            </a:r>
          </a:p>
          <a:p>
            <a:pPr algn="l" indent="0" marL="0">
              <a:buNone/>
            </a:pPr>
            <a:r>
              <a:rPr lang="en-US" sz="2000" dirty="0" b="1">
                <a:solidFill>
                  <a:srgbClr val="5B3FC4"/>
                </a:solidFill>
                <a:latin typeface="Lexend Deca" pitchFamily="34" charset="0"/>
                <a:ea typeface="Lexend Deca" pitchFamily="34" charset="-122"/>
                <a:cs typeface="Lexend Deca" pitchFamily="34" charset="-120"/>
              </a:rPr>
              <a:t>like</a:t>
            </a:r>
            <a:r>
              <a:rPr lang="en-US" sz="2000" dirty="0" b="1">
                <a:solidFill>
                  <a:srgbClr val="5B3FC4"/>
                </a:solidFill>
                <a:latin typeface="Lexend Deca" pitchFamily="34" charset="0"/>
                <a:ea typeface="Lexend Deca" pitchFamily="34" charset="-122"/>
                <a:cs typeface="Lexend Deca" pitchFamily="34" charset="-120"/>
              </a:rPr>
              <a:t> = it's good for me</a:t>
            </a:r>
          </a:p>
          <a:p>
            <a:pPr algn="l" indent="0" marL="0">
              <a:buNone/>
            </a:pPr>
            <a:r>
              <a:rPr lang="en-US" sz="2000" dirty="0" b="1">
                <a:solidFill>
                  <a:srgbClr val="5B3FC4"/>
                </a:solidFill>
                <a:latin typeface="Lexend Deca" pitchFamily="34" charset="0"/>
                <a:ea typeface="Lexend Deca" pitchFamily="34" charset="-122"/>
                <a:cs typeface="Lexend Deca" pitchFamily="34" charset="-120"/>
              </a:rPr>
              <a:t>want</a:t>
            </a:r>
            <a:r>
              <a:rPr lang="en-US" sz="2000" dirty="0" b="1">
                <a:solidFill>
                  <a:srgbClr val="5B3FC4"/>
                </a:solidFill>
                <a:latin typeface="Lexend Deca" pitchFamily="34" charset="0"/>
                <a:ea typeface="Lexend Deca" pitchFamily="34" charset="-122"/>
                <a:cs typeface="Lexend Deca" pitchFamily="34" charset="-120"/>
              </a:rPr>
              <a:t> = I ask for it now</a:t>
            </a:r>
          </a:p>
          <a:p>
            <a:pPr algn="l" indent="0" marL="0">
              <a:buNone/>
            </a:pPr>
            <a:r>
              <a:rPr lang="en-US" sz="2000" dirty="0" b="0">
                <a:solidFill>
                  <a:srgbClr val="1B2236"/>
                </a:solidFill>
                <a:latin typeface="Lexend Deca" pitchFamily="34" charset="0"/>
                <a:ea typeface="Lexend Deca" pitchFamily="34" charset="-122"/>
                <a:cs typeface="Lexend Deca" pitchFamily="34" charset="-120"/>
              </a:rPr>
              <a:t>I want </a:t>
            </a:r>
            <a:r>
              <a:rPr lang="en-US" sz="2000" dirty="0" b="1">
                <a:solidFill>
                  <a:srgbClr val="5B3FC4"/>
                </a:solidFill>
                <a:latin typeface="Lexend Deca" pitchFamily="34" charset="0"/>
                <a:ea typeface="Lexend Deca" pitchFamily="34" charset="-122"/>
                <a:cs typeface="Lexend Deca" pitchFamily="34" charset="-120"/>
              </a:rPr>
              <a:t>a</a:t>
            </a:r>
            <a:r>
              <a:rPr lang="en-US" sz="2000" dirty="0" b="0">
                <a:solidFill>
                  <a:srgbClr val="1B2236"/>
                </a:solidFill>
                <a:latin typeface="Lexend Deca" pitchFamily="34" charset="0"/>
                <a:ea typeface="Lexend Deca" pitchFamily="34" charset="-122"/>
                <a:cs typeface="Lexend Deca" pitchFamily="34" charset="-120"/>
              </a:rPr>
              <a:t> taco. I want </a:t>
            </a:r>
            <a:r>
              <a:rPr lang="en-US" sz="2000" dirty="0" b="1">
                <a:solidFill>
                  <a:srgbClr val="5B3FC4"/>
                </a:solidFill>
                <a:latin typeface="Lexend Deca" pitchFamily="34" charset="0"/>
                <a:ea typeface="Lexend Deca" pitchFamily="34" charset="-122"/>
                <a:cs typeface="Lexend Deca" pitchFamily="34" charset="-120"/>
              </a:rPr>
              <a:t>an</a:t>
            </a:r>
            <a:r>
              <a:rPr lang="en-US" sz="2000" dirty="0" b="0">
                <a:solidFill>
                  <a:srgbClr val="1B2236"/>
                </a:solidFill>
                <a:latin typeface="Lexend Deca" pitchFamily="34" charset="0"/>
                <a:ea typeface="Lexend Deca" pitchFamily="34" charset="-122"/>
                <a:cs typeface="Lexend Deca" pitchFamily="34" charset="-120"/>
              </a:rPr>
              <a:t> apple.</a:t>
            </a:r>
          </a:p>
        </p:txBody>
      </p:sp>
      <p:sp>
        <p:nvSpPr>
          <p:cNvPr id="7" name="Text 5"/>
          <p:cNvSpPr/>
          <p:nvPr/>
        </p:nvSpPr>
        <p:spPr>
          <a:xfrm>
            <a:off x="832104" y="1371600"/>
            <a:ext cx="5257800" cy="141732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3</a:t>
            </a:r>
          </a:p>
          <a:p>
            <a:pPr algn="l" indent="0" marL="0">
              <a:buNone/>
            </a:pPr>
            <a:r>
              <a:rPr lang="en-US" sz="2800" dirty="0" b="1">
                <a:solidFill>
                  <a:srgbClr val="1B2236"/>
                </a:solidFill>
                <a:latin typeface="Lexend Deca" pitchFamily="34" charset="0"/>
                <a:ea typeface="Lexend Deca" pitchFamily="34" charset="-122"/>
                <a:cs typeface="Lexend Deca" pitchFamily="34" charset="-120"/>
              </a:rPr>
              <a:t>What do you want?</a:t>
            </a:r>
          </a:p>
        </p:txBody>
      </p:sp>
      <p:sp>
        <p:nvSpPr>
          <p:cNvPr id="8" name="Shape 6"/>
          <p:cNvSpPr/>
          <p:nvPr/>
        </p:nvSpPr>
        <p:spPr>
          <a:xfrm>
            <a:off x="1305763" y="3649370"/>
            <a:ext cx="4790542" cy="2599639"/>
          </a:xfrm>
          <a:prstGeom prst="round1Rect">
            <a:avLst>
              <a:gd name="adj" fmla="val 23087"/>
            </a:avLst>
          </a:prstGeom>
          <a:solidFill>
            <a:srgbClr val="FFFFFF"/>
          </a:solidFill>
          <a:ln w="25400">
            <a:solidFill>
              <a:srgbClr val="8FAFE3"/>
            </a:solidFill>
            <a:prstDash val="solid"/>
          </a:ln>
        </p:spPr>
        <p:txBody>
          <a:bodyPr/>
          <a:p/>
        </p:txBody>
      </p:sp>
      <p:sp>
        <p:nvSpPr>
          <p:cNvPr id="19" name="Q head"/>
          <p:cNvSpPr/>
          <p:nvPr/>
        </p:nvSpPr>
        <p:spPr>
          <a:xfrm>
            <a:off x="1920240" y="379476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a:p>
        </p:txBody>
      </p:sp>
      <p:sp>
        <p:nvSpPr>
          <p:cNvPr id="20" name="A head"/>
          <p:cNvSpPr/>
          <p:nvPr/>
        </p:nvSpPr>
        <p:spPr>
          <a:xfrm>
            <a:off x="7040880" y="379476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a:p>
        </p:txBody>
      </p:sp>
      <p:sp>
        <p:nvSpPr>
          <p:cNvPr id="21" name="Highlight 1"/>
          <p:cNvSpPr/>
          <p:nvPr/>
        </p:nvSpPr>
        <p:spPr>
          <a:xfrm>
            <a:off x="1481328" y="4453128"/>
            <a:ext cx="14173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2" name="Helper 1"/>
          <p:cNvSpPr/>
          <p:nvPr/>
        </p:nvSpPr>
        <p:spPr>
          <a:xfrm>
            <a:off x="1481328" y="4315968"/>
            <a:ext cx="1417320" cy="822960"/>
          </a:xfrm>
          <a:prstGeom prst="rect">
            <a:avLst/>
          </a:prstGeom>
          <a:noFill/>
          <a:ln w="38100">
            <a:noFill/>
          </a:ln>
        </p:spPr>
        <p:txBody>
          <a:bodyPr wrap="square" lIns="73152" tIns="36576" rIns="73152" bIns="36576" rtlCol="0" anchor="ctr">
            <a:noAutofit/>
          </a:bodyPr>
          <a:lstStyle/>
          <a:p>
            <a:pPr algn="ctr" indent="0" marL="0">
              <a:buNone/>
            </a:pPr>
            <a:r>
              <a:rPr lang="en-US" sz="2600" dirty="0" b="1">
                <a:solidFill>
                  <a:srgbClr val="1B2236"/>
                </a:solidFill>
                <a:latin typeface="Lexend Deca" pitchFamily="34" charset="0"/>
                <a:ea typeface="Lexend Deca" pitchFamily="34" charset="-122"/>
                <a:cs typeface="Lexend Deca" pitchFamily="34" charset="-120"/>
              </a:rPr>
              <a:t>1</a:t>
            </a:r>
          </a:p>
        </p:txBody>
      </p:sp>
      <p:sp>
        <p:nvSpPr>
          <p:cNvPr id="23" name="Question 1"/>
          <p:cNvSpPr/>
          <p:nvPr/>
        </p:nvSpPr>
        <p:spPr>
          <a:xfrm>
            <a:off x="2944368" y="4315968"/>
            <a:ext cx="3063240" cy="82296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do you want?</a:t>
            </a:r>
          </a:p>
        </p:txBody>
      </p:sp>
      <p:sp>
        <p:nvSpPr>
          <p:cNvPr id="25" name="Answer bg 1"/>
          <p:cNvSpPr/>
          <p:nvPr/>
        </p:nvSpPr>
        <p:spPr>
          <a:xfrm>
            <a:off x="6949440" y="4334256"/>
            <a:ext cx="4526280" cy="786384"/>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Answer 1"/>
          <p:cNvSpPr/>
          <p:nvPr/>
        </p:nvSpPr>
        <p:spPr>
          <a:xfrm>
            <a:off x="6949440" y="4315968"/>
            <a:ext cx="4526280" cy="822960"/>
          </a:xfrm>
          <a:prstGeom prst="rect">
            <a:avLst/>
          </a:prstGeom>
          <a:noFill/>
          <a:ln w="38100">
            <a:noFill/>
          </a:ln>
        </p:spPr>
        <p:txBody>
          <a:bodyPr wrap="square" lIns="73152" tIns="36576" rIns="73152" bIns="36576" rtlCol="0" anchor="ctr">
            <a:noAutofit/>
          </a:bodyPr>
          <a:lstStyle/>
          <a:p>
            <a:pPr algn="l" indent="0" marL="0">
              <a:buNone/>
            </a:pPr>
            <a:r>
              <a:rPr lang="en-US" sz="2000" dirty="0" b="0">
                <a:solidFill>
                  <a:srgbClr val="1B2236"/>
                </a:solidFill>
                <a:latin typeface="Lexend Deca" pitchFamily="34" charset="0"/>
                <a:ea typeface="Lexend Deca" pitchFamily="34" charset="-122"/>
                <a:cs typeface="Lexend Deca" pitchFamily="34" charset="-120"/>
              </a:rPr>
              <a:t>I </a:t>
            </a:r>
            <a:r>
              <a:rPr lang="en-US" sz="2000" dirty="0" b="1">
                <a:solidFill>
                  <a:srgbClr val="5B3FC4"/>
                </a:solidFill>
                <a:latin typeface="Lexend Deca" pitchFamily="34" charset="0"/>
                <a:ea typeface="Lexend Deca" pitchFamily="34" charset="-122"/>
                <a:cs typeface="Lexend Deca" pitchFamily="34" charset="-120"/>
              </a:rPr>
              <a:t>want</a:t>
            </a:r>
            <a:r>
              <a:rPr lang="en-US" sz="2000" dirty="0" b="0">
                <a:solidFill>
                  <a:srgbClr val="1B2236"/>
                </a:solidFill>
                <a:latin typeface="Lexend Deca" pitchFamily="34" charset="0"/>
                <a:ea typeface="Lexend Deca" pitchFamily="34" charset="-122"/>
                <a:cs typeface="Lexend Deca" pitchFamily="34" charset="-120"/>
              </a:rPr>
              <a:t> a taco</a:t>
            </a:r>
          </a:p>
          <a:p>
            <a:pPr algn="l" indent="0" marL="0">
              <a:buNone/>
            </a:pPr>
            <a:r>
              <a:rPr lang="en-US" sz="2000" dirty="0" b="0">
                <a:solidFill>
                  <a:srgbClr val="1B2236"/>
                </a:solidFill>
                <a:latin typeface="Lexend Deca" pitchFamily="34" charset="0"/>
                <a:ea typeface="Lexend Deca" pitchFamily="34" charset="-122"/>
                <a:cs typeface="Lexend Deca" pitchFamily="34" charset="-120"/>
              </a:rPr>
              <a:t>and a soda.</a:t>
            </a:r>
          </a:p>
        </p:txBody>
      </p:sp>
      <p:sp>
        <p:nvSpPr>
          <p:cNvPr id="26" name="Highlight 2"/>
          <p:cNvSpPr/>
          <p:nvPr/>
        </p:nvSpPr>
        <p:spPr>
          <a:xfrm>
            <a:off x="1481328" y="5367528"/>
            <a:ext cx="14173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2"/>
          <p:cNvSpPr/>
          <p:nvPr/>
        </p:nvSpPr>
        <p:spPr>
          <a:xfrm>
            <a:off x="1481328" y="5230368"/>
            <a:ext cx="1417320" cy="822960"/>
          </a:xfrm>
          <a:prstGeom prst="rect">
            <a:avLst/>
          </a:prstGeom>
          <a:noFill/>
          <a:ln w="38100">
            <a:noFill/>
          </a:ln>
        </p:spPr>
        <p:txBody>
          <a:bodyPr wrap="square" lIns="73152" tIns="36576" rIns="73152" bIns="36576" rtlCol="0" anchor="ctr">
            <a:noAutofit/>
          </a:bodyPr>
          <a:lstStyle/>
          <a:p>
            <a:pPr algn="ctr" indent="0" marL="0">
              <a:buNone/>
            </a:pPr>
            <a:r>
              <a:rPr lang="en-US" sz="2600" dirty="0" b="1">
                <a:solidFill>
                  <a:srgbClr val="1B2236"/>
                </a:solidFill>
                <a:latin typeface="Lexend Deca" pitchFamily="34" charset="0"/>
                <a:ea typeface="Lexend Deca" pitchFamily="34" charset="-122"/>
                <a:cs typeface="Lexend Deca" pitchFamily="34" charset="-120"/>
              </a:rPr>
              <a:t>2</a:t>
            </a:r>
          </a:p>
        </p:txBody>
      </p:sp>
      <p:sp>
        <p:nvSpPr>
          <p:cNvPr id="28" name="Question 2"/>
          <p:cNvSpPr/>
          <p:nvPr/>
        </p:nvSpPr>
        <p:spPr>
          <a:xfrm>
            <a:off x="2944368" y="5230368"/>
            <a:ext cx="3063240" cy="82296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do you want?</a:t>
            </a:r>
          </a:p>
        </p:txBody>
      </p:sp>
      <p:sp>
        <p:nvSpPr>
          <p:cNvPr id="30" name="Answer bg 2"/>
          <p:cNvSpPr/>
          <p:nvPr/>
        </p:nvSpPr>
        <p:spPr>
          <a:xfrm>
            <a:off x="6949440" y="5248656"/>
            <a:ext cx="4526280" cy="786384"/>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2"/>
          <p:cNvSpPr/>
          <p:nvPr/>
        </p:nvSpPr>
        <p:spPr>
          <a:xfrm>
            <a:off x="6949440" y="5230368"/>
            <a:ext cx="4526280" cy="82296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A coffee, </a:t>
            </a:r>
            <a:r>
              <a:rPr lang="en-US" sz="2000" dirty="0" b="1">
                <a:solidFill>
                  <a:srgbClr val="5B3FC4"/>
                </a:solidFill>
                <a:latin typeface="Lexend Deca" pitchFamily="34" charset="0"/>
                <a:ea typeface="Lexend Deca" pitchFamily="34" charset="-122"/>
                <a:cs typeface="Lexend Deca" pitchFamily="34" charset="-120"/>
              </a:rPr>
              <a:t>please.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4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39496" y="1360627"/>
            <a:ext cx="3045866" cy="4995367"/>
          </a:xfrm>
          <a:prstGeom prst="rect">
            <a:avLst/>
          </a:prstGeom>
          <a:solidFill>
            <a:srgbClr val="B9D2F7"/>
          </a:solidFill>
          <a:ln/>
        </p:spPr>
        <p:txBody>
          <a:bodyPr/>
          <a:p/>
        </p:txBody>
      </p:sp>
      <p:pic>
        <p:nvPicPr>
          <p:cNvPr id="21" name="Fruit picture" descr="fruit"/>
          <p:cNvPicPr>
            <a:picLocks noChangeAspect="1"/>
          </p:cNvPicPr>
          <p:nvPr/>
        </p:nvPicPr>
        <p:blipFill>
          <a:blip r:embed="rIdImg1"/>
          <a:stretch>
            <a:fillRect/>
          </a:stretch>
        </p:blipFill>
        <p:spPr>
          <a:xfrm>
            <a:off x="649224" y="1616796"/>
            <a:ext cx="2826410" cy="1978487"/>
          </a:xfrm>
          <a:prstGeom prst="rect">
            <a:avLst/>
          </a:prstGeom>
        </p:spPr>
      </p:pic>
      <p:sp>
        <p:nvSpPr>
          <p:cNvPr id="4" name="Shape 2"/>
          <p:cNvSpPr/>
          <p:nvPr/>
        </p:nvSpPr>
        <p:spPr>
          <a:xfrm>
            <a:off x="4582058" y="4619549"/>
            <a:ext cx="4033418" cy="1492301"/>
          </a:xfrm>
          <a:prstGeom prst="round1Rect">
            <a:avLst>
              <a:gd name="adj" fmla="val 23087"/>
            </a:avLst>
          </a:prstGeom>
          <a:solidFill>
            <a:srgbClr val="8FAFE3"/>
          </a:solidFill>
          <a:ln/>
        </p:spPr>
        <p:txBody>
          <a:bodyPr/>
          <a:p/>
        </p:txBody>
      </p:sp>
      <p:sp>
        <p:nvSpPr>
          <p:cNvPr id="5" name="Shape 3"/>
          <p:cNvSpPr/>
          <p:nvPr/>
        </p:nvSpPr>
        <p:spPr>
          <a:xfrm>
            <a:off x="4508906" y="4572000"/>
            <a:ext cx="4033418" cy="1492301"/>
          </a:xfrm>
          <a:prstGeom prst="round1Rect">
            <a:avLst>
              <a:gd name="adj" fmla="val 23087"/>
            </a:avLst>
          </a:prstGeom>
          <a:solidFill>
            <a:srgbClr val="B9D2F7"/>
          </a:solidFill>
          <a:ln/>
        </p:spPr>
        <p:txBody>
          <a:bodyPr/>
          <a:p/>
        </p:txBody>
      </p:sp>
      <p:sp>
        <p:nvSpPr>
          <p:cNvPr id="6" name="Shape 4"/>
          <p:cNvSpPr/>
          <p:nvPr/>
        </p:nvSpPr>
        <p:spPr>
          <a:xfrm>
            <a:off x="4395201" y="1473464"/>
            <a:ext cx="7210044" cy="1331366"/>
          </a:xfrm>
          <a:prstGeom prst="roundRect">
            <a:avLst>
              <a:gd name="adj" fmla="val 16667"/>
            </a:avLst>
          </a:prstGeom>
          <a:solidFill>
            <a:srgbClr val="8FAFE3"/>
          </a:solidFill>
          <a:ln/>
        </p:spPr>
        <p:txBody>
          <a:bodyPr/>
          <a:p/>
        </p:txBody>
      </p:sp>
      <p:sp>
        <p:nvSpPr>
          <p:cNvPr id="7" name="Shape 5"/>
          <p:cNvSpPr/>
          <p:nvPr/>
        </p:nvSpPr>
        <p:spPr>
          <a:xfrm>
            <a:off x="4437583" y="1419149"/>
            <a:ext cx="7210044" cy="1331366"/>
          </a:xfrm>
          <a:prstGeom prst="roundRect">
            <a:avLst>
              <a:gd name="adj" fmla="val 16667"/>
            </a:avLst>
          </a:prstGeom>
          <a:solidFill>
            <a:srgbClr val="FFFFFF"/>
          </a:solidFill>
          <a:ln/>
        </p:spPr>
        <p:txBody>
          <a:bodyPr/>
          <a:p/>
        </p:txBody>
      </p:sp>
      <p:sp>
        <p:nvSpPr>
          <p:cNvPr id="8" name="Text 6"/>
          <p:cNvSpPr/>
          <p:nvPr/>
        </p:nvSpPr>
        <p:spPr>
          <a:xfrm>
            <a:off x="4800600" y="1481328"/>
            <a:ext cx="6583680" cy="123444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2</a:t>
            </a:r>
          </a:p>
          <a:p>
            <a:pPr algn="l" indent="0" marL="0">
              <a:buNone/>
            </a:pPr>
            <a:r>
              <a:rPr lang="en-US" sz="3400" dirty="0" b="1">
                <a:solidFill>
                  <a:srgbClr val="1B2236"/>
                </a:solidFill>
                <a:latin typeface="Lexend Deca" pitchFamily="34" charset="0"/>
                <a:ea typeface="Lexend Deca" pitchFamily="34" charset="-122"/>
                <a:cs typeface="Lexend Deca" pitchFamily="34" charset="-120"/>
              </a:rPr>
              <a:t>I like… / I don't like…</a:t>
            </a:r>
          </a:p>
        </p:txBody>
      </p:sp>
      <p:sp>
        <p:nvSpPr>
          <p:cNvPr id="9" name="Text 7"/>
          <p:cNvSpPr/>
          <p:nvPr/>
        </p:nvSpPr>
        <p:spPr>
          <a:xfrm>
            <a:off x="4713732" y="3063240"/>
            <a:ext cx="4206240" cy="502920"/>
          </a:xfrm>
          <a:prstGeom prst="rect">
            <a:avLst/>
          </a:prstGeom>
          <a:noFill/>
          <a:ln/>
        </p:spPr>
        <p:txBody>
          <a:bodyPr wrap="square" lIns="0" tIns="0" rIns="0" bIns="0" rtlCol="0" anchor="ctr"/>
          <a:lstStyle/>
          <a:p>
            <a:pPr algn="l" indent="0" marL="0">
              <a:buNone/>
            </a:pPr>
            <a:r>
              <a:rPr lang="en-US" sz="2100" dirty="0" b="1">
                <a:solidFill>
                  <a:srgbClr val="1B2236"/>
                </a:solidFill>
                <a:latin typeface="Lexend Deca" pitchFamily="34" charset="0"/>
                <a:ea typeface="Lexend Deca" pitchFamily="34" charset="-122"/>
                <a:cs typeface="Lexend Deca" pitchFamily="34" charset="-120"/>
              </a:rPr>
              <a:t>Yes, I do.</a:t>
            </a:r>
          </a:p>
        </p:txBody>
      </p:sp>
      <p:sp>
        <p:nvSpPr>
          <p:cNvPr id="10" name="Text 8"/>
          <p:cNvSpPr/>
          <p:nvPr/>
        </p:nvSpPr>
        <p:spPr>
          <a:xfrm>
            <a:off x="4713732" y="3611880"/>
            <a:ext cx="4206240" cy="868680"/>
          </a:xfrm>
          <a:prstGeom prst="rect">
            <a:avLst/>
          </a:prstGeom>
          <a:noFill/>
          <a:ln/>
        </p:spPr>
        <p:txBody>
          <a:bodyPr wrap="square" lIns="0" tIns="0" rIns="0" bIns="0" rtlCol="0" anchor="t"/>
          <a:lstStyle/>
          <a:p>
            <a:pPr algn="l" indent="0" marL="0">
              <a:buNone/>
            </a:pPr>
            <a:r>
              <a:rPr lang="en-US" sz="2200" dirty="0" b="0">
                <a:solidFill>
                  <a:srgbClr val="1B2236"/>
                </a:solidFill>
                <a:latin typeface="Lexend Deca" pitchFamily="34" charset="0"/>
                <a:ea typeface="Lexend Deca" pitchFamily="34" charset="-122"/>
                <a:cs typeface="Lexend Deca" pitchFamily="34" charset="-120"/>
              </a:rPr>
              <a:t>I like </a:t>
            </a:r>
            <a:r>
              <a:rPr lang="en-US" sz="2200" dirty="0" b="1">
                <a:solidFill>
                  <a:srgbClr val="5B3FC4"/>
                </a:solidFill>
                <a:latin typeface="Lexend Deca" pitchFamily="34" charset="0"/>
                <a:ea typeface="Lexend Deca" pitchFamily="34" charset="-122"/>
                <a:cs typeface="Lexend Deca" pitchFamily="34" charset="-120"/>
              </a:rPr>
              <a:t>tacos.</a:t>
            </a:r>
          </a:p>
          <a:p>
            <a:pPr algn="l" indent="0" marL="0">
              <a:buNone/>
            </a:pPr>
            <a:r>
              <a:rPr lang="en-US" sz="2200" dirty="0" b="0">
                <a:solidFill>
                  <a:srgbClr val="1B2236"/>
                </a:solidFill>
                <a:latin typeface="Lexend Deca" pitchFamily="34" charset="0"/>
                <a:ea typeface="Lexend Deca" pitchFamily="34" charset="-122"/>
                <a:cs typeface="Lexend Deca" pitchFamily="34" charset="-120"/>
              </a:rPr>
              <a:t>I like </a:t>
            </a:r>
            <a:r>
              <a:rPr lang="en-US" sz="2200" dirty="0" b="1">
                <a:solidFill>
                  <a:srgbClr val="5B3FC4"/>
                </a:solidFill>
                <a:latin typeface="Lexend Deca" pitchFamily="34" charset="0"/>
                <a:ea typeface="Lexend Deca" pitchFamily="34" charset="-122"/>
                <a:cs typeface="Lexend Deca" pitchFamily="34" charset="-120"/>
              </a:rPr>
              <a:t>fruit.</a:t>
            </a:r>
            <a:r>
              <a:rPr lang="en-US" sz="2200" dirty="0" b="0">
                <a:solidFill>
                  <a:srgbClr val="1B2236"/>
                </a:solidFill>
                <a:latin typeface="Lexend Deca" pitchFamily="34" charset="0"/>
                <a:ea typeface="Lexend Deca" pitchFamily="34" charset="-122"/>
                <a:cs typeface="Lexend Deca" pitchFamily="34" charset="-120"/>
              </a:rPr>
              <a:t>  I like </a:t>
            </a:r>
            <a:r>
              <a:rPr lang="en-US" sz="2200" dirty="0" b="1">
                <a:solidFill>
                  <a:srgbClr val="5B3FC4"/>
                </a:solidFill>
                <a:latin typeface="Lexend Deca" pitchFamily="34" charset="0"/>
                <a:ea typeface="Lexend Deca" pitchFamily="34" charset="-122"/>
                <a:cs typeface="Lexend Deca" pitchFamily="34" charset="-120"/>
              </a:rPr>
              <a:t>juice.</a:t>
            </a:r>
          </a:p>
        </p:txBody>
      </p:sp>
      <p:sp>
        <p:nvSpPr>
          <p:cNvPr id="11" name="Text 9"/>
          <p:cNvSpPr/>
          <p:nvPr/>
        </p:nvSpPr>
        <p:spPr>
          <a:xfrm>
            <a:off x="4713732" y="4663440"/>
            <a:ext cx="3840480" cy="502920"/>
          </a:xfrm>
          <a:prstGeom prst="rect">
            <a:avLst/>
          </a:prstGeom>
          <a:noFill/>
          <a:ln/>
        </p:spPr>
        <p:txBody>
          <a:bodyPr wrap="square" lIns="0" tIns="0" rIns="0" bIns="0" rtlCol="0" anchor="ct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No, I don't.</a:t>
            </a:r>
          </a:p>
        </p:txBody>
      </p:sp>
      <p:sp>
        <p:nvSpPr>
          <p:cNvPr id="12" name="Text 10"/>
          <p:cNvSpPr/>
          <p:nvPr/>
        </p:nvSpPr>
        <p:spPr>
          <a:xfrm>
            <a:off x="4713732" y="5193792"/>
            <a:ext cx="3749040" cy="822960"/>
          </a:xfrm>
          <a:prstGeom prst="rect">
            <a:avLst/>
          </a:prstGeom>
          <a:noFill/>
          <a:ln/>
        </p:spPr>
        <p:txBody>
          <a:bodyPr wrap="square" lIns="0" tIns="0" rIns="0" bIns="0" rtlCol="0" anchor="t"/>
          <a:lstStyle/>
          <a:p>
            <a:pPr algn="l" indent="0" marL="0">
              <a:buNone/>
            </a:pPr>
            <a:r>
              <a:rPr lang="en-US" sz="2000" dirty="0" b="0">
                <a:solidFill>
                  <a:srgbClr val="1B2236"/>
                </a:solidFill>
                <a:latin typeface="Lexend Deca" pitchFamily="34" charset="0"/>
                <a:ea typeface="Lexend Deca" pitchFamily="34" charset="-122"/>
                <a:cs typeface="Lexend Deca" pitchFamily="34" charset="-120"/>
              </a:rPr>
              <a:t>I don't like </a:t>
            </a:r>
            <a:r>
              <a:rPr lang="en-US" sz="2000" dirty="0" b="1">
                <a:solidFill>
                  <a:srgbClr val="5B3FC4"/>
                </a:solidFill>
                <a:latin typeface="Lexend Deca" pitchFamily="34" charset="0"/>
                <a:ea typeface="Lexend Deca" pitchFamily="34" charset="-122"/>
                <a:cs typeface="Lexend Deca" pitchFamily="34" charset="-120"/>
              </a:rPr>
              <a:t>coffee.</a:t>
            </a:r>
          </a:p>
          <a:p>
            <a:pPr algn="l" indent="0" marL="0">
              <a:buNone/>
            </a:pPr>
            <a:r>
              <a:rPr lang="en-US" sz="2000" dirty="0" b="0">
                <a:solidFill>
                  <a:srgbClr val="1B2236"/>
                </a:solidFill>
                <a:latin typeface="Lexend Deca" pitchFamily="34" charset="0"/>
                <a:ea typeface="Lexend Deca" pitchFamily="34" charset="-122"/>
                <a:cs typeface="Lexend Deca" pitchFamily="34" charset="-120"/>
              </a:rPr>
              <a:t>I don't like </a:t>
            </a:r>
            <a:r>
              <a:rPr lang="en-US" sz="2000" dirty="0" b="1">
                <a:solidFill>
                  <a:srgbClr val="5B3FC4"/>
                </a:solidFill>
                <a:latin typeface="Lexend Deca" pitchFamily="34" charset="0"/>
                <a:ea typeface="Lexend Deca" pitchFamily="34" charset="-122"/>
                <a:cs typeface="Lexend Deca" pitchFamily="34" charset="-120"/>
              </a:rPr>
              <a:t>meat.</a:t>
            </a:r>
          </a:p>
        </p:txBody>
      </p:sp>
      <p:sp>
        <p:nvSpPr>
          <p:cNvPr id="13" name="Text 11"/>
          <p:cNvSpPr/>
          <p:nvPr/>
        </p:nvSpPr>
        <p:spPr>
          <a:xfrm>
            <a:off x="8915400" y="3108960"/>
            <a:ext cx="2697480" cy="1234440"/>
          </a:xfrm>
          <a:prstGeom prst="rect">
            <a:avLst/>
          </a:prstGeom>
          <a:noFill/>
          <a:ln/>
        </p:spPr>
        <p:txBody>
          <a:bodyPr wrap="square" lIns="0" tIns="0" rIns="0" bIns="0" rtlCol="0" anchor="ctr"/>
          <a:lstStyle/>
          <a:p>
            <a:pPr algn="ctr" indent="0" marL="0">
              <a:buNone/>
            </a:pPr>
            <a:r>
              <a:rPr lang="en-US" sz="3800" dirty="0" b="1">
                <a:solidFill>
                  <a:srgbClr val="5B3FC4"/>
                </a:solidFill>
                <a:latin typeface="Lexend Deca" pitchFamily="34" charset="0"/>
                <a:ea typeface="Lexend Deca" pitchFamily="34" charset="-122"/>
                <a:cs typeface="Lexend Deca" pitchFamily="34" charset="-120"/>
              </a:rPr>
              <a:t>like</a:t>
            </a:r>
          </a:p>
          <a:p>
            <a:pPr algn="ctr" indent="0" marL="0">
              <a:buNone/>
            </a:pPr>
            <a:r>
              <a:rPr lang="en-US" sz="2000" dirty="0" b="1">
                <a:solidFill>
                  <a:srgbClr val="1B2236"/>
                </a:solidFill>
                <a:latin typeface="Lexend Deca" pitchFamily="34" charset="0"/>
                <a:ea typeface="Lexend Deca" pitchFamily="34" charset="-122"/>
                <a:cs typeface="Lexend Deca" pitchFamily="34" charset="-120"/>
              </a:rPr>
              <a:t>+ tacos, fruit</a:t>
            </a:r>
          </a:p>
        </p:txBody>
      </p:sp>
      <p:sp>
        <p:nvSpPr>
          <p:cNvPr id="17" name="Text 15"/>
          <p:cNvSpPr/>
          <p:nvPr/>
        </p:nvSpPr>
        <p:spPr>
          <a:xfrm>
            <a:off x="8915400" y="4709160"/>
            <a:ext cx="2697480" cy="1234440"/>
          </a:xfrm>
          <a:prstGeom prst="rect">
            <a:avLst/>
          </a:prstGeom>
          <a:noFill/>
          <a:ln/>
        </p:spPr>
        <p:txBody>
          <a:bodyPr wrap="square" lIns="0" tIns="0" rIns="0" bIns="0" rtlCol="0" anchor="ctr"/>
          <a:lstStyle/>
          <a:p>
            <a:pPr algn="ctr" indent="0" marL="0">
              <a:buNone/>
            </a:pPr>
            <a:r>
              <a:rPr lang="en-US" sz="3800" dirty="0" b="1">
                <a:solidFill>
                  <a:srgbClr val="5B3FC4"/>
                </a:solidFill>
                <a:latin typeface="Lexend Deca" pitchFamily="34" charset="0"/>
                <a:ea typeface="Lexend Deca" pitchFamily="34" charset="-122"/>
                <a:cs typeface="Lexend Deca" pitchFamily="34" charset="-120"/>
              </a:rPr>
              <a:t>don't like</a:t>
            </a:r>
          </a:p>
          <a:p>
            <a:pPr algn="ctr" indent="0" marL="0">
              <a:buNone/>
            </a:pPr>
            <a:r>
              <a:rPr lang="en-US" sz="2000" dirty="0" b="1">
                <a:solidFill>
                  <a:srgbClr val="1B2236"/>
                </a:solidFill>
                <a:latin typeface="Lexend Deca" pitchFamily="34" charset="0"/>
                <a:ea typeface="Lexend Deca" pitchFamily="34" charset="-122"/>
                <a:cs typeface="Lexend Deca" pitchFamily="34" charset="-120"/>
              </a:rPr>
              <a:t>+ coffee, meat</a:t>
            </a:r>
          </a:p>
        </p:txBody>
      </p:sp>
      <p:pic>
        <p:nvPicPr>
          <p:cNvPr id="96" name="Meat picture" descr="meat"/>
          <p:cNvPicPr>
            <a:picLocks noChangeAspect="1"/>
          </p:cNvPicPr>
          <p:nvPr/>
        </p:nvPicPr>
        <p:blipFill>
          <a:blip r:embed="rIdImg2"/>
          <a:stretch>
            <a:fillRect/>
          </a:stretch>
        </p:blipFill>
        <p:spPr>
          <a:xfrm>
            <a:off x="649224" y="4039956"/>
            <a:ext cx="2826410" cy="19784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1508760"/>
          </a:xfrm>
          <a:prstGeom prst="round1Rect">
            <a:avLst>
              <a:gd name="adj" fmla="val 23087"/>
            </a:avLst>
          </a:prstGeom>
          <a:solidFill>
            <a:srgbClr val="FFFFFF"/>
          </a:solidFill>
          <a:ln/>
        </p:spPr>
        <p:txBody>
          <a:bodyPr/>
          <a:p/>
        </p:txBody>
      </p:sp>
      <p:sp>
        <p:nvSpPr>
          <p:cNvPr id="5" name="Shape 3"/>
          <p:cNvSpPr/>
          <p:nvPr/>
        </p:nvSpPr>
        <p:spPr>
          <a:xfrm>
            <a:off x="1583741" y="4041648"/>
            <a:ext cx="5130698" cy="1508760"/>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Circle what she orders.</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Ana is at a taco truck.</a:t>
            </a:r>
          </a:p>
        </p:txBody>
      </p:sp>
      <p:sp>
        <p:nvSpPr>
          <p:cNvPr id="11" name="Text 9"/>
          <p:cNvSpPr/>
          <p:nvPr/>
        </p:nvSpPr>
        <p:spPr>
          <a:xfrm>
            <a:off x="1810512" y="2423160"/>
            <a:ext cx="3566160" cy="384048"/>
          </a:xfrm>
          <a:prstGeom prst="rect">
            <a:avLst/>
          </a:prstGeom>
          <a:noFill/>
          <a:ln/>
        </p:spPr>
        <p:txBody>
          <a:bodyPr wrap="square" rtlCol="0" anchor="ctr" tIns="0" bIns="0"/>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the food</a:t>
            </a:r>
          </a:p>
        </p:txBody>
      </p:sp>
      <p:sp>
        <p:nvSpPr>
          <p:cNvPr id="13" name="Text 11"/>
          <p:cNvSpPr/>
          <p:nvPr/>
        </p:nvSpPr>
        <p:spPr>
          <a:xfrm>
            <a:off x="1810512" y="4069080"/>
            <a:ext cx="3566160" cy="384048"/>
          </a:xfrm>
          <a:prstGeom prst="rect">
            <a:avLst/>
          </a:prstGeom>
          <a:noFill/>
          <a:ln/>
        </p:spPr>
        <p:txBody>
          <a:bodyPr wrap="square" rtlCol="0" anchor="ctr" tIns="0" bIns="0"/>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the drink</a:t>
            </a:r>
          </a:p>
        </p:txBody>
      </p:sp>
      <p:sp>
        <p:nvSpPr>
          <p:cNvPr id="21" name="Shape 19"/>
          <p:cNvSpPr/>
          <p:nvPr/>
        </p:nvSpPr>
        <p:spPr>
          <a:xfrm>
            <a:off x="544982" y="2395728"/>
            <a:ext cx="1039673" cy="1508760"/>
          </a:xfrm>
          <a:prstGeom prst="rect">
            <a:avLst/>
          </a:prstGeom>
          <a:solidFill>
            <a:srgbClr val="B9D2F7"/>
          </a:solidFill>
          <a:ln/>
        </p:spPr>
        <p:txBody>
          <a:bodyPr/>
          <a:p/>
        </p:txBody>
      </p:sp>
      <p:sp>
        <p:nvSpPr>
          <p:cNvPr id="22" name="Text 20"/>
          <p:cNvSpPr/>
          <p:nvPr/>
        </p:nvSpPr>
        <p:spPr>
          <a:xfrm>
            <a:off x="686714" y="285292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4041648"/>
            <a:ext cx="1039673" cy="1508760"/>
          </a:xfrm>
          <a:prstGeom prst="rect">
            <a:avLst/>
          </a:prstGeom>
          <a:solidFill>
            <a:srgbClr val="B9D2F7"/>
          </a:solidFill>
          <a:ln/>
        </p:spPr>
        <p:txBody>
          <a:bodyPr/>
          <a:p/>
        </p:txBody>
      </p:sp>
      <p:sp>
        <p:nvSpPr>
          <p:cNvPr id="24" name="Text 22"/>
          <p:cNvSpPr/>
          <p:nvPr/>
        </p:nvSpPr>
        <p:spPr>
          <a:xfrm>
            <a:off x="686714" y="449884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A</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Circle: </a:t>
            </a:r>
            <a:r>
              <a:rPr lang="en-US" sz="2000" dirty="0" b="1">
                <a:solidFill>
                  <a:srgbClr val="5B3FC4"/>
                </a:solidFill>
                <a:latin typeface="Lexend Deca" pitchFamily="34" charset="0"/>
                <a:ea typeface="Lexend Deca" pitchFamily="34" charset="-122"/>
                <a:cs typeface="Lexend Deca" pitchFamily="34" charset="-120"/>
              </a:rPr>
              <a:t>a or b</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show your partner.</a:t>
            </a:r>
          </a:p>
        </p:txBody>
      </p:sp>
      <p:sp>
        <p:nvSpPr>
          <p:cNvPr id="34" name="Answer 1"/>
          <p:cNvSpPr/>
          <p:nvPr/>
        </p:nvSpPr>
        <p:spPr>
          <a:xfrm>
            <a:off x="4343400" y="2916936"/>
            <a:ext cx="2240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  fish taco</a:t>
            </a:r>
          </a:p>
        </p:txBody>
      </p:sp>
      <p:sp>
        <p:nvSpPr>
          <p:cNvPr id="35" name="Answer 2"/>
          <p:cNvSpPr/>
          <p:nvPr/>
        </p:nvSpPr>
        <p:spPr>
          <a:xfrm>
            <a:off x="4343400" y="4562856"/>
            <a:ext cx="2240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  soda</a:t>
            </a:r>
          </a:p>
        </p:txBody>
      </p:sp>
      <p:pic>
        <p:nvPicPr>
          <p:cNvPr id="36" name="Fish taco picture" descr="fish taco"/>
          <p:cNvPicPr>
            <a:picLocks noChangeAspect="1"/>
          </p:cNvPicPr>
          <p:nvPr/>
        </p:nvPicPr>
        <p:blipFill>
          <a:blip r:embed="rIdImg1"/>
          <a:stretch>
            <a:fillRect/>
          </a:stretch>
        </p:blipFill>
        <p:spPr>
          <a:xfrm>
            <a:off x="1755648" y="2807208"/>
            <a:ext cx="1097280" cy="768096"/>
          </a:xfrm>
          <a:prstGeom prst="rect">
            <a:avLst/>
          </a:prstGeom>
        </p:spPr>
      </p:pic>
      <p:sp>
        <p:nvSpPr>
          <p:cNvPr id="37" name="Choice a  red"/>
          <p:cNvSpPr/>
          <p:nvPr/>
        </p:nvSpPr>
        <p:spPr>
          <a:xfrm>
            <a:off x="1527048" y="3557016"/>
            <a:ext cx="1371600" cy="329184"/>
          </a:xfrm>
          <a:prstGeom prst="rect">
            <a:avLst/>
          </a:prstGeom>
          <a:noFill/>
          <a:ln/>
        </p:spPr>
        <p:txBody>
          <a:bodyPr wrap="square" rtlCol="0" anchor="ctr" tIns="0" bIns="0"/>
          <a:lstStyle/>
          <a:p>
            <a:pPr algn="ctr" indent="0" marL="0">
              <a:buNone/>
            </a:pPr>
            <a:r>
              <a:rPr lang="en-US" sz="1600" dirty="0" b="0">
                <a:solidFill>
                  <a:srgbClr val="1B2236"/>
                </a:solidFill>
                <a:latin typeface="Lexend Deca" pitchFamily="34" charset="0"/>
                <a:ea typeface="Lexend Deca" pitchFamily="34" charset="-122"/>
                <a:cs typeface="Lexend Deca" pitchFamily="34" charset="-120"/>
              </a:rPr>
              <a:t>a  </a:t>
            </a:r>
            <a:r>
              <a:rPr lang="en-US" sz="1600" dirty="0" b="1">
                <a:solidFill>
                  <a:srgbClr val="5B3FC4"/>
                </a:solidFill>
                <a:latin typeface="Lexend Deca" pitchFamily="34" charset="0"/>
                <a:ea typeface="Lexend Deca" pitchFamily="34" charset="-122"/>
                <a:cs typeface="Lexend Deca" pitchFamily="34" charset="-120"/>
              </a:rPr>
              <a:t>fish taco</a:t>
            </a:r>
          </a:p>
        </p:txBody>
      </p:sp>
      <p:pic>
        <p:nvPicPr>
          <p:cNvPr id="38" name="Pizza picture" descr="pizza"/>
          <p:cNvPicPr>
            <a:picLocks noChangeAspect="1"/>
          </p:cNvPicPr>
          <p:nvPr/>
        </p:nvPicPr>
        <p:blipFill>
          <a:blip r:embed="rIdImg2"/>
          <a:stretch>
            <a:fillRect/>
          </a:stretch>
        </p:blipFill>
        <p:spPr>
          <a:xfrm>
            <a:off x="2944368" y="2807208"/>
            <a:ext cx="1097280" cy="768096"/>
          </a:xfrm>
          <a:prstGeom prst="rect">
            <a:avLst/>
          </a:prstGeom>
        </p:spPr>
      </p:pic>
      <p:sp>
        <p:nvSpPr>
          <p:cNvPr id="39" name="Choice b  blue"/>
          <p:cNvSpPr/>
          <p:nvPr/>
        </p:nvSpPr>
        <p:spPr>
          <a:xfrm>
            <a:off x="2898648" y="3557016"/>
            <a:ext cx="1188720" cy="329184"/>
          </a:xfrm>
          <a:prstGeom prst="rect">
            <a:avLst/>
          </a:prstGeom>
          <a:noFill/>
          <a:ln/>
        </p:spPr>
        <p:txBody>
          <a:bodyPr wrap="square" rtlCol="0" anchor="ctr" tIns="0" bIns="0"/>
          <a:lstStyle/>
          <a:p>
            <a:pPr algn="ctr" indent="0" marL="0">
              <a:buNone/>
            </a:pPr>
            <a:r>
              <a:rPr lang="en-US" sz="1600" dirty="0" b="0">
                <a:solidFill>
                  <a:srgbClr val="1B2236"/>
                </a:solidFill>
                <a:latin typeface="Lexend Deca" pitchFamily="34" charset="0"/>
                <a:ea typeface="Lexend Deca" pitchFamily="34" charset="-122"/>
                <a:cs typeface="Lexend Deca" pitchFamily="34" charset="-120"/>
              </a:rPr>
              <a:t>b  </a:t>
            </a:r>
            <a:r>
              <a:rPr lang="en-US" sz="1600" dirty="0" b="1">
                <a:solidFill>
                  <a:srgbClr val="5B3FC4"/>
                </a:solidFill>
                <a:latin typeface="Lexend Deca" pitchFamily="34" charset="0"/>
                <a:ea typeface="Lexend Deca" pitchFamily="34" charset="-122"/>
                <a:cs typeface="Lexend Deca" pitchFamily="34" charset="-120"/>
              </a:rPr>
              <a:t>pizza</a:t>
            </a:r>
          </a:p>
        </p:txBody>
      </p:sp>
      <p:pic>
        <p:nvPicPr>
          <p:cNvPr id="42" name="Soda picture" descr="soda"/>
          <p:cNvPicPr>
            <a:picLocks noChangeAspect="1"/>
          </p:cNvPicPr>
          <p:nvPr/>
        </p:nvPicPr>
        <p:blipFill>
          <a:blip r:embed="rIdImg3"/>
          <a:stretch>
            <a:fillRect/>
          </a:stretch>
        </p:blipFill>
        <p:spPr>
          <a:xfrm>
            <a:off x="1755648" y="4453128"/>
            <a:ext cx="1097280" cy="768096"/>
          </a:xfrm>
          <a:prstGeom prst="rect">
            <a:avLst/>
          </a:prstGeom>
        </p:spPr>
      </p:pic>
      <p:sp>
        <p:nvSpPr>
          <p:cNvPr id="43" name="Choice a  black"/>
          <p:cNvSpPr/>
          <p:nvPr/>
        </p:nvSpPr>
        <p:spPr>
          <a:xfrm>
            <a:off x="1527048" y="5202936"/>
            <a:ext cx="1371600" cy="329184"/>
          </a:xfrm>
          <a:prstGeom prst="rect">
            <a:avLst/>
          </a:prstGeom>
          <a:noFill/>
          <a:ln/>
        </p:spPr>
        <p:txBody>
          <a:bodyPr wrap="square" rtlCol="0" anchor="ctr" tIns="0" bIns="0"/>
          <a:lstStyle/>
          <a:p>
            <a:pPr algn="ctr" indent="0" marL="0">
              <a:buNone/>
            </a:pPr>
            <a:r>
              <a:rPr lang="en-US" sz="1600" dirty="0" b="0">
                <a:solidFill>
                  <a:srgbClr val="1B2236"/>
                </a:solidFill>
                <a:latin typeface="Lexend Deca" pitchFamily="34" charset="0"/>
                <a:ea typeface="Lexend Deca" pitchFamily="34" charset="-122"/>
                <a:cs typeface="Lexend Deca" pitchFamily="34" charset="-120"/>
              </a:rPr>
              <a:t>a  </a:t>
            </a:r>
            <a:r>
              <a:rPr lang="en-US" sz="1600" dirty="0" b="1">
                <a:solidFill>
                  <a:srgbClr val="5B3FC4"/>
                </a:solidFill>
                <a:latin typeface="Lexend Deca" pitchFamily="34" charset="0"/>
                <a:ea typeface="Lexend Deca" pitchFamily="34" charset="-122"/>
                <a:cs typeface="Lexend Deca" pitchFamily="34" charset="-120"/>
              </a:rPr>
              <a:t>soda</a:t>
            </a:r>
          </a:p>
        </p:txBody>
      </p:sp>
      <p:pic>
        <p:nvPicPr>
          <p:cNvPr id="44" name="Juice picture" descr="juice"/>
          <p:cNvPicPr>
            <a:picLocks noChangeAspect="1"/>
          </p:cNvPicPr>
          <p:nvPr/>
        </p:nvPicPr>
        <p:blipFill>
          <a:blip r:embed="rIdImg4"/>
          <a:stretch>
            <a:fillRect/>
          </a:stretch>
        </p:blipFill>
        <p:spPr>
          <a:xfrm>
            <a:off x="2944368" y="4453128"/>
            <a:ext cx="1097280" cy="768096"/>
          </a:xfrm>
          <a:prstGeom prst="rect">
            <a:avLst/>
          </a:prstGeom>
        </p:spPr>
      </p:pic>
      <p:sp>
        <p:nvSpPr>
          <p:cNvPr id="45" name="Choice b  white"/>
          <p:cNvSpPr/>
          <p:nvPr/>
        </p:nvSpPr>
        <p:spPr>
          <a:xfrm>
            <a:off x="2898648" y="5202936"/>
            <a:ext cx="1188720" cy="329184"/>
          </a:xfrm>
          <a:prstGeom prst="rect">
            <a:avLst/>
          </a:prstGeom>
          <a:noFill/>
          <a:ln/>
        </p:spPr>
        <p:txBody>
          <a:bodyPr wrap="square" rtlCol="0" anchor="ctr" tIns="0" bIns="0"/>
          <a:lstStyle/>
          <a:p>
            <a:pPr algn="ctr" indent="0" marL="0">
              <a:buNone/>
            </a:pPr>
            <a:r>
              <a:rPr lang="en-US" sz="1600" dirty="0" b="0">
                <a:solidFill>
                  <a:srgbClr val="1B2236"/>
                </a:solidFill>
                <a:latin typeface="Lexend Deca" pitchFamily="34" charset="0"/>
                <a:ea typeface="Lexend Deca" pitchFamily="34" charset="-122"/>
                <a:cs typeface="Lexend Deca" pitchFamily="34" charset="-120"/>
              </a:rPr>
              <a:t>b  </a:t>
            </a:r>
            <a:r>
              <a:rPr lang="en-US" sz="1600" dirty="0" b="1">
                <a:solidFill>
                  <a:srgbClr val="5B3FC4"/>
                </a:solidFill>
                <a:latin typeface="Lexend Deca" pitchFamily="34" charset="0"/>
                <a:ea typeface="Lexend Deca" pitchFamily="34" charset="-122"/>
                <a:cs typeface="Lexend Deca" pitchFamily="34" charset="-120"/>
              </a:rPr>
              <a:t>juice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3429000"/>
          </a:xfrm>
          <a:prstGeom prst="rect">
            <a:avLst/>
          </a:prstGeom>
          <a:solidFill>
            <a:srgbClr val="B9D2F7"/>
          </a:solidFill>
          <a:ln/>
        </p:spPr>
        <p:txBody>
          <a:bodyPr/>
          <a:p/>
        </p:txBody>
      </p:sp>
      <p:sp>
        <p:nvSpPr>
          <p:cNvPr id="5" name="Shape 3"/>
          <p:cNvSpPr/>
          <p:nvPr/>
        </p:nvSpPr>
        <p:spPr>
          <a:xfrm flipH="1">
            <a:off x="501091" y="2798064"/>
            <a:ext cx="4526280" cy="3429000"/>
          </a:xfrm>
          <a:prstGeom prst="round1Rect">
            <a:avLst>
              <a:gd name="adj" fmla="val 23087"/>
            </a:avLst>
          </a:prstGeom>
          <a:solidFill>
            <a:srgbClr val="8FAFE3"/>
          </a:solidFill>
          <a:ln/>
        </p:spPr>
        <p:txBody>
          <a:bodyPr/>
          <a:p/>
        </p:txBody>
      </p:sp>
      <p:sp>
        <p:nvSpPr>
          <p:cNvPr id="6" name="Shape 4"/>
          <p:cNvSpPr/>
          <p:nvPr/>
        </p:nvSpPr>
        <p:spPr>
          <a:xfrm flipH="1">
            <a:off x="5217566" y="2806294"/>
            <a:ext cx="5440680" cy="3429000"/>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2606040"/>
            <a:ext cx="4526280" cy="3429000"/>
          </a:xfrm>
          <a:prstGeom prst="round1Rect">
            <a:avLst>
              <a:gd name="adj" fmla="val 23087"/>
            </a:avLst>
          </a:prstGeom>
          <a:solidFill>
            <a:srgbClr val="FFFFFF"/>
          </a:solidFill>
          <a:ln/>
        </p:spPr>
        <p:txBody>
          <a:bodyPr/>
          <a:p/>
        </p:txBody>
      </p:sp>
      <p:sp>
        <p:nvSpPr>
          <p:cNvPr id="10" name="Shape 8"/>
          <p:cNvSpPr/>
          <p:nvPr/>
        </p:nvSpPr>
        <p:spPr>
          <a:xfrm flipH="1">
            <a:off x="5349240" y="2606040"/>
            <a:ext cx="5440680" cy="3429000"/>
          </a:xfrm>
          <a:prstGeom prst="round1Rect">
            <a:avLst>
              <a:gd name="adj" fmla="val 23087"/>
            </a:avLst>
          </a:prstGeom>
          <a:solidFill>
            <a:srgbClr val="FFFFFF"/>
          </a:solidFill>
          <a:ln/>
        </p:spPr>
        <p:txBody>
          <a:bodyPr/>
          <a:p/>
        </p:txBody>
      </p:sp>
      <p:sp>
        <p:nvSpPr>
          <p:cNvPr id="11" name="Text 9"/>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a:p>
        </p:txBody>
      </p:sp>
      <p:pic>
        <p:nvPicPr>
          <p:cNvPr id="21" name="Taco picture" descr="taco"/>
          <p:cNvPicPr>
            <a:picLocks noChangeAspect="1"/>
          </p:cNvPicPr>
          <p:nvPr/>
        </p:nvPicPr>
        <p:blipFill>
          <a:blip r:embed="rIdImg1"/>
          <a:stretch>
            <a:fillRect/>
          </a:stretch>
        </p:blipFill>
        <p:spPr>
          <a:xfrm>
            <a:off x="9124406" y="1188720"/>
            <a:ext cx="1959429" cy="1371600"/>
          </a:xfrm>
          <a:prstGeom prst="rect">
            <a:avLst/>
          </a:prstGeom>
        </p:spPr>
      </p:pic>
      <p:sp>
        <p:nvSpPr>
          <p:cNvPr id="22" name="Dont head"/>
          <p:cNvSpPr/>
          <p:nvPr/>
        </p:nvSpPr>
        <p:spPr>
          <a:xfrm>
            <a:off x="914400" y="2697480"/>
            <a:ext cx="40233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5577840" y="2697480"/>
            <a:ext cx="49377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320040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Me like tacos.</a:t>
            </a:r>
          </a:p>
        </p:txBody>
      </p:sp>
      <p:sp>
        <p:nvSpPr>
          <p:cNvPr id="25" name="Good 1"/>
          <p:cNvSpPr/>
          <p:nvPr/>
        </p:nvSpPr>
        <p:spPr>
          <a:xfrm>
            <a:off x="5577840" y="320040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I like</a:t>
            </a:r>
            <a:r>
              <a:rPr lang="en-US" sz="2000" dirty="0" b="1">
                <a:solidFill>
                  <a:srgbClr val="1B2236"/>
                </a:solidFill>
                <a:latin typeface="Lexend Deca" pitchFamily="34" charset="0"/>
                <a:ea typeface="Lexend Deca" pitchFamily="34" charset="-122"/>
                <a:cs typeface="Lexend Deca" pitchFamily="34" charset="-120"/>
              </a:rPr>
              <a:t> tacos.</a:t>
            </a:r>
          </a:p>
        </p:txBody>
      </p:sp>
      <p:sp>
        <p:nvSpPr>
          <p:cNvPr id="26" name="Bad 2"/>
          <p:cNvSpPr/>
          <p:nvPr/>
        </p:nvSpPr>
        <p:spPr>
          <a:xfrm>
            <a:off x="914400" y="370332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like the tacos.</a:t>
            </a:r>
          </a:p>
        </p:txBody>
      </p:sp>
      <p:sp>
        <p:nvSpPr>
          <p:cNvPr id="27" name="Good 2"/>
          <p:cNvSpPr/>
          <p:nvPr/>
        </p:nvSpPr>
        <p:spPr>
          <a:xfrm>
            <a:off x="5577840" y="370332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 like tacos.</a:t>
            </a:r>
          </a:p>
        </p:txBody>
      </p:sp>
      <p:sp>
        <p:nvSpPr>
          <p:cNvPr id="28" name="Bad 3"/>
          <p:cNvSpPr/>
          <p:nvPr/>
        </p:nvSpPr>
        <p:spPr>
          <a:xfrm>
            <a:off x="914400" y="420624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no like coffee.</a:t>
            </a:r>
          </a:p>
        </p:txBody>
      </p:sp>
      <p:sp>
        <p:nvSpPr>
          <p:cNvPr id="29" name="Good 3"/>
          <p:cNvSpPr/>
          <p:nvPr/>
        </p:nvSpPr>
        <p:spPr>
          <a:xfrm>
            <a:off x="5577840" y="420624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 </a:t>
            </a:r>
            <a:r>
              <a:rPr lang="en-US" sz="2000" dirty="0" b="1">
                <a:solidFill>
                  <a:srgbClr val="5B3FC4"/>
                </a:solidFill>
                <a:latin typeface="Lexend Deca" pitchFamily="34" charset="0"/>
                <a:ea typeface="Lexend Deca" pitchFamily="34" charset="-122"/>
                <a:cs typeface="Lexend Deca" pitchFamily="34" charset="-120"/>
              </a:rPr>
              <a:t>don't</a:t>
            </a:r>
            <a:r>
              <a:rPr lang="en-US" sz="2000" dirty="0" b="1">
                <a:solidFill>
                  <a:srgbClr val="1B2236"/>
                </a:solidFill>
                <a:latin typeface="Lexend Deca" pitchFamily="34" charset="0"/>
                <a:ea typeface="Lexend Deca" pitchFamily="34" charset="-122"/>
                <a:cs typeface="Lexend Deca" pitchFamily="34" charset="-120"/>
              </a:rPr>
              <a:t> like coffee.</a:t>
            </a:r>
          </a:p>
        </p:txBody>
      </p:sp>
      <p:sp>
        <p:nvSpPr>
          <p:cNvPr id="60" name="Bad 4"/>
          <p:cNvSpPr/>
          <p:nvPr/>
        </p:nvSpPr>
        <p:spPr>
          <a:xfrm>
            <a:off x="914400" y="470916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want taco.</a:t>
            </a:r>
          </a:p>
        </p:txBody>
      </p:sp>
      <p:sp>
        <p:nvSpPr>
          <p:cNvPr id="61" name="Good 4"/>
          <p:cNvSpPr/>
          <p:nvPr/>
        </p:nvSpPr>
        <p:spPr>
          <a:xfrm>
            <a:off x="5577840" y="470916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 want </a:t>
            </a:r>
            <a:r>
              <a:rPr lang="en-US" sz="2000" dirty="0" b="1">
                <a:solidFill>
                  <a:srgbClr val="5B3FC4"/>
                </a:solidFill>
                <a:latin typeface="Lexend Deca" pitchFamily="34" charset="0"/>
                <a:ea typeface="Lexend Deca" pitchFamily="34" charset="-122"/>
                <a:cs typeface="Lexend Deca" pitchFamily="34" charset="-120"/>
              </a:rPr>
              <a:t>a</a:t>
            </a:r>
            <a:r>
              <a:rPr lang="en-US" sz="2000" dirty="0" b="1">
                <a:solidFill>
                  <a:srgbClr val="1B2236"/>
                </a:solidFill>
                <a:latin typeface="Lexend Deca" pitchFamily="34" charset="0"/>
                <a:ea typeface="Lexend Deca" pitchFamily="34" charset="-122"/>
                <a:cs typeface="Lexend Deca" pitchFamily="34" charset="-120"/>
              </a:rPr>
              <a:t> taco.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fade">
                                      <p:cBhvr>
                                        <p:cTn id="22"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Fish picture" descr="fish"/>
          <p:cNvPicPr>
            <a:picLocks noChangeAspect="1"/>
          </p:cNvPicPr>
          <p:nvPr/>
        </p:nvPicPr>
        <p:blipFill>
          <a:blip r:embed="rIdImg1"/>
          <a:stretch>
            <a:fillRect/>
          </a:stretch>
        </p:blipFill>
        <p:spPr>
          <a:xfrm>
            <a:off x="502920" y="3168396"/>
            <a:ext cx="4663440" cy="3264408"/>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Text 5"/>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Food Survey</a:t>
            </a:r>
          </a:p>
        </p:txBody>
      </p:sp>
      <p:sp>
        <p:nvSpPr>
          <p:cNvPr id="8" name="Text 6"/>
          <p:cNvSpPr/>
          <p:nvPr/>
        </p:nvSpPr>
        <p:spPr>
          <a:xfrm>
            <a:off x="6035040" y="1783080"/>
            <a:ext cx="356616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Groups of 3–4.</a:t>
            </a:r>
          </a:p>
          <a:p>
            <a:pPr algn="l" indent="0" marL="0">
              <a:buNone/>
            </a:pPr>
            <a:r>
              <a:rPr lang="en-US" sz="1800" dirty="0">
                <a:solidFill>
                  <a:srgbClr val="1B2236"/>
                </a:solidFill>
                <a:latin typeface="Lexend Deca" pitchFamily="34" charset="0"/>
                <a:ea typeface="Lexend Deca" pitchFamily="34" charset="-122"/>
                <a:cs typeface="Lexend Deca" pitchFamily="34" charset="-120"/>
              </a:rPr>
              <a:t>Ask 3 classmates.</a:t>
            </a:r>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ext 9"/>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7:00–7:10</a:t>
            </a:r>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Ask:</a:t>
            </a:r>
          </a:p>
          <a:p>
            <a:pPr algn="l" indent="0" marL="0">
              <a:buNone/>
            </a:pPr>
            <a:r>
              <a:rPr lang="en-US" sz="1900" dirty="0" b="0">
                <a:solidFill>
                  <a:srgbClr val="5B3FC4"/>
                </a:solidFill>
                <a:latin typeface="Lexend Deca" pitchFamily="34" charset="0"/>
                <a:ea typeface="Lexend Deca" pitchFamily="34" charset="-122"/>
                <a:cs typeface="Lexend Deca" pitchFamily="34" charset="-120"/>
              </a:rPr>
              <a:t>Do you like fish?</a:t>
            </a:r>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They answer:</a:t>
            </a:r>
          </a:p>
          <a:p>
            <a:pPr algn="l" indent="0" marL="0">
              <a:buNone/>
            </a:pPr>
            <a:r>
              <a:rPr lang="en-US" sz="1900" dirty="0" b="0">
                <a:solidFill>
                  <a:srgbClr val="1B2236"/>
                </a:solidFill>
                <a:latin typeface="Lexend Deca" pitchFamily="34" charset="0"/>
                <a:ea typeface="Lexend Deca" pitchFamily="34" charset="-122"/>
                <a:cs typeface="Lexend Deca" pitchFamily="34" charset="-120"/>
              </a:rPr>
              <a:t>Yes, I do. / No, I don't.</a:t>
            </a:r>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Write 😀 or 😐.</a:t>
            </a:r>
          </a:p>
          <a:p>
            <a:pPr algn="l" indent="0" marL="0">
              <a:buNone/>
            </a:pPr>
            <a:r>
              <a:rPr lang="en-US" sz="1900" dirty="0" b="0">
                <a:solidFill>
                  <a:srgbClr val="1B2236"/>
                </a:solidFill>
                <a:latin typeface="Lexend Deca" pitchFamily="34" charset="0"/>
                <a:ea typeface="Lexend Deca" pitchFamily="34" charset="-122"/>
                <a:cs typeface="Lexend Deca" pitchFamily="34" charset="-120"/>
              </a:rPr>
              <a:t>fish · beans · pizza · juice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ext 4"/>
          <p:cNvSpPr/>
          <p:nvPr/>
        </p:nvSpPr>
        <p:spPr>
          <a:xfrm>
            <a:off x="4343400" y="2103120"/>
            <a:ext cx="54864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a:t>
            </a:r>
            <a:r>
              <a:rPr lang="en-US" sz="2200" dirty="0" b="1">
                <a:solidFill>
                  <a:srgbClr val="5B3FC4"/>
                </a:solidFill>
                <a:latin typeface="Lexend Deca" pitchFamily="34" charset="0"/>
                <a:ea typeface="Lexend Deca" pitchFamily="34" charset="-122"/>
                <a:cs typeface="Lexend Deca" pitchFamily="34" charset="-120"/>
              </a:rPr>
              <a:t>   7:10–7:15</a:t>
            </a:r>
            <a:endParaRPr lang="en-US" sz="4000" dirty="0"/>
          </a:p>
        </p:txBody>
      </p:sp>
      <p:pic>
        <p:nvPicPr>
          <p:cNvPr id="16" name="Breakfast picture" descr="breakfast"/>
          <p:cNvPicPr>
            <a:picLocks noChangeAspect="1"/>
          </p:cNvPicPr>
          <p:nvPr/>
        </p:nvPicPr>
        <p:blipFill>
          <a:blip r:embed="rIdImg1"/>
          <a:stretch>
            <a:fillRect/>
          </a:stretch>
        </p:blipFill>
        <p:spPr>
          <a:xfrm>
            <a:off x="777240" y="2651760"/>
            <a:ext cx="3017520" cy="2112264"/>
          </a:xfrm>
          <a:prstGeom prst="rect">
            <a:avLst/>
          </a:prstGeom>
        </p:spPr>
      </p:pic>
      <p:sp>
        <p:nvSpPr>
          <p:cNvPr id="17" name="Num 01"/>
          <p:cNvSpPr/>
          <p:nvPr/>
        </p:nvSpPr>
        <p:spPr>
          <a:xfrm>
            <a:off x="4343400" y="333756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333756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a:p>
        </p:txBody>
      </p:sp>
      <p:sp>
        <p:nvSpPr>
          <p:cNvPr id="19" name="Body 01"/>
          <p:cNvSpPr/>
          <p:nvPr/>
        </p:nvSpPr>
        <p:spPr>
          <a:xfrm>
            <a:off x="4343400" y="3977640"/>
            <a:ext cx="3520440" cy="20116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Say:</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I like ___.</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I want ___.</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Or write:</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one sentence.</a:t>
            </a:r>
          </a:p>
        </p:txBody>
      </p:sp>
      <p:sp>
        <p:nvSpPr>
          <p:cNvPr id="20" name="Num 02"/>
          <p:cNvSpPr/>
          <p:nvPr/>
        </p:nvSpPr>
        <p:spPr>
          <a:xfrm>
            <a:off x="8001000" y="333756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333756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a:p>
        </p:txBody>
      </p:sp>
      <p:sp>
        <p:nvSpPr>
          <p:cNvPr id="22" name="Body 02"/>
          <p:cNvSpPr/>
          <p:nvPr/>
        </p:nvSpPr>
        <p:spPr>
          <a:xfrm>
            <a:off x="8001000" y="3977640"/>
            <a:ext cx="3611880" cy="20116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800" dirty="0" b="0">
                <a:solidFill>
                  <a:srgbClr val="1B2236"/>
                </a:solidFill>
                <a:latin typeface="Lexend Deca" pitchFamily="34" charset="0"/>
                <a:ea typeface="Lexend Deca" pitchFamily="34" charset="-122"/>
                <a:cs typeface="Lexend Deca" pitchFamily="34" charset="-120"/>
              </a:rPr>
              <a:t>1. Write about you.</a:t>
            </a:r>
          </a:p>
          <a:p>
            <a:pPr algn="l" indent="0" marL="0">
              <a:spcAft>
                <a:spcPts val="200"/>
              </a:spcAft>
              <a:buNone/>
            </a:pPr>
            <a:r>
              <a:rPr lang="en-US" sz="1800" dirty="0" b="0">
                <a:solidFill>
                  <a:srgbClr val="1B2236"/>
                </a:solidFill>
                <a:latin typeface="Lexend Deca" pitchFamily="34" charset="0"/>
                <a:ea typeface="Lexend Deca" pitchFamily="34" charset="-122"/>
                <a:cs typeface="Lexend Deca" pitchFamily="34" charset="-120"/>
              </a:rPr>
              <a:t>2. Unscramble.</a:t>
            </a:r>
          </a:p>
          <a:p>
            <a:pPr algn="l" indent="0" marL="0">
              <a:spcAft>
                <a:spcPts val="200"/>
              </a:spcAft>
              <a:buNone/>
            </a:pPr>
            <a:r>
              <a:rPr lang="en-US" sz="1800" dirty="0" b="0">
                <a:solidFill>
                  <a:srgbClr val="1B2236"/>
                </a:solidFill>
                <a:latin typeface="Lexend Deca" pitchFamily="34" charset="0"/>
                <a:ea typeface="Lexend Deca" pitchFamily="34" charset="-122"/>
                <a:cs typeface="Lexend Deca" pitchFamily="34" charset="-120"/>
              </a:rPr>
              <a:t>3. Ask: Do you like fish?</a:t>
            </a:r>
          </a:p>
          <a:p>
            <a:pPr algn="l" indent="0" marL="0">
              <a:spcAft>
                <a:spcPts val="200"/>
              </a:spcAft>
              <a:buNone/>
            </a:pPr>
            <a:r>
              <a:rPr lang="en-US" sz="1800" dirty="0" b="0">
                <a:solidFill>
                  <a:srgbClr val="1B2236"/>
                </a:solidFill>
                <a:latin typeface="Lexend Deca" pitchFamily="34" charset="0"/>
                <a:ea typeface="Lexend Deca" pitchFamily="34" charset="-122"/>
                <a:cs typeface="Lexend Deca" pitchFamily="34" charset="-120"/>
              </a:rPr>
              <a:t>4. Menu: 3 foods + prices.</a:t>
            </a:r>
          </a:p>
          <a:p>
            <a:pPr algn="l" indent="0" marL="0">
              <a:spcAft>
                <a:spcPts val="200"/>
              </a:spcAft>
              <a:buNone/>
            </a:pPr>
            <a:r>
              <a:rPr lang="en-US" sz="1800" dirty="0" b="0">
                <a:solidFill>
                  <a:srgbClr val="1B2236"/>
                </a:solidFill>
                <a:latin typeface="Lexend Deca" pitchFamily="34" charset="0"/>
                <a:ea typeface="Lexend Deca" pitchFamily="34" charset="-122"/>
                <a:cs typeface="Lexend Deca" pitchFamily="34" charset="-120"/>
              </a:rPr>
              <a:t>5. One price from Lesson 7.</a:t>
            </a:r>
          </a:p>
          <a:p>
            <a:pPr algn="l" indent="0" marL="0">
              <a:spcAft>
                <a:spcPts val="200"/>
              </a:spcAft>
              <a:buNone/>
            </a:pPr>
            <a:r>
              <a:rPr lang="en-US" sz="1800" dirty="0" b="1">
                <a:solidFill>
                  <a:srgbClr val="1B2236"/>
                </a:solidFill>
                <a:latin typeface="Lexend Deca" pitchFamily="34" charset="0"/>
                <a:ea typeface="Lexend Deca" pitchFamily="34" charset="-122"/>
                <a:cs typeface="Lexend Deca" pitchFamily="34" charset="-120"/>
              </a:rPr>
              <a:t>Bring it next week!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5">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076429" y="533095"/>
            <a:ext cx="5814670" cy="1554480"/>
          </a:xfrm>
          <a:prstGeom prst="roundRect">
            <a:avLst>
              <a:gd name="adj" fmla="val 16667"/>
            </a:avLst>
          </a:prstGeom>
          <a:solidFill>
            <a:srgbClr val="8FAFE3"/>
          </a:solidFill>
          <a:ln/>
        </p:spPr>
        <p:txBody>
          <a:bodyPr/>
          <a:p/>
        </p:txBody>
      </p:sp>
      <p:sp>
        <p:nvSpPr>
          <p:cNvPr id="3" name="Shape 1"/>
          <p:cNvSpPr/>
          <p:nvPr/>
        </p:nvSpPr>
        <p:spPr>
          <a:xfrm>
            <a:off x="5110582" y="457200"/>
            <a:ext cx="5814670" cy="1554480"/>
          </a:xfrm>
          <a:prstGeom prst="roundRect">
            <a:avLst>
              <a:gd name="adj" fmla="val 16667"/>
            </a:avLst>
          </a:prstGeom>
          <a:solidFill>
            <a:srgbClr val="FFFFFF"/>
          </a:solidFill>
          <a:ln/>
        </p:spPr>
        <p:txBody>
          <a:bodyPr/>
          <a:p/>
        </p:txBody>
      </p:sp>
      <p:sp>
        <p:nvSpPr>
          <p:cNvPr id="4" name="Shape 2"/>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sp>
        <p:nvSpPr>
          <p:cNvPr id="120" name="Alphabet"/>
          <p:cNvSpPr/>
          <p:nvPr/>
        </p:nvSpPr>
        <p:spPr>
          <a:xfrm>
            <a:off x="228600" y="1737360"/>
            <a:ext cx="3337560" cy="3291840"/>
          </a:xfrm>
          <a:prstGeom prst="rect">
            <a:avLst/>
          </a:prstGeom>
          <a:noFill/>
          <a:ln/>
        </p:spPr>
        <p:txBody>
          <a:bodyPr wrap="square" rtlCol="0" anchor="ctr"/>
          <a:lstStyle/>
          <a:p>
            <a:pPr algn="ctr" indent="0" marL="0">
              <a:spcBef>
                <a:spcPts val="900"/>
              </a:spcBef>
              <a:buNone/>
            </a:pPr>
            <a:r>
              <a:rPr lang="en-US" sz="2800" dirty="0" b="1">
                <a:solidFill>
                  <a:srgbClr val="1B2236"/>
                </a:solidFill>
                <a:latin typeface="Lexend Deca" pitchFamily="34" charset="0"/>
                <a:ea typeface="Lexend Deca" pitchFamily="34" charset="-122"/>
                <a:cs typeface="Lexend Deca" pitchFamily="34" charset="-120"/>
              </a:rPr>
              <a:t>taco  $3</a:t>
            </a:r>
          </a:p>
          <a:p>
            <a:pPr algn="ctr" indent="0" marL="0">
              <a:spcBef>
                <a:spcPts val="900"/>
              </a:spcBef>
              <a:buNone/>
            </a:pPr>
            <a:r>
              <a:rPr lang="en-US" sz="2200" dirty="0" b="1">
                <a:solidFill>
                  <a:srgbClr val="5B3FC4"/>
                </a:solidFill>
                <a:latin typeface="Lexend Deca" pitchFamily="34" charset="0"/>
                <a:ea typeface="Lexend Deca" pitchFamily="34" charset="-122"/>
                <a:cs typeface="Lexend Deca" pitchFamily="34" charset="-120"/>
              </a:rPr>
              <a:t>three dollars</a:t>
            </a:r>
          </a:p>
          <a:p>
            <a:pPr algn="ctr" indent="0" marL="0">
              <a:spcBef>
                <a:spcPts val="900"/>
              </a:spcBef>
              <a:buNone/>
            </a:pPr>
            <a:r>
              <a:rPr lang="en-US" sz="2000" dirty="0" b="1">
                <a:solidFill>
                  <a:srgbClr val="1B2236"/>
                </a:solidFill>
                <a:latin typeface="Lexend Deca" pitchFamily="34" charset="0"/>
                <a:ea typeface="Lexend Deca" pitchFamily="34" charset="-122"/>
                <a:cs typeface="Lexend Deca" pitchFamily="34" charset="-120"/>
              </a:rPr>
              <a:t>C: copy 2 lines.</a:t>
            </a:r>
          </a:p>
          <a:p>
            <a:pPr algn="ctr" indent="0" marL="0">
              <a:spcBef>
                <a:spcPts val="900"/>
              </a:spcBef>
              <a:buNone/>
            </a:pPr>
            <a:r>
              <a:rPr lang="en-US" sz="2000" dirty="0" b="1">
                <a:solidFill>
                  <a:srgbClr val="1B2236"/>
                </a:solidFill>
                <a:latin typeface="Lexend Deca" pitchFamily="34" charset="0"/>
                <a:ea typeface="Lexend Deca" pitchFamily="34" charset="-122"/>
                <a:cs typeface="Lexend Deca" pitchFamily="34" charset="-120"/>
              </a:rPr>
              <a:t>D: say the prices.</a:t>
            </a:r>
          </a:p>
        </p:txBody>
      </p:sp>
      <p:sp>
        <p:nvSpPr>
          <p:cNvPr id="7" name="Text 5"/>
          <p:cNvSpPr/>
          <p:nvPr/>
        </p:nvSpPr>
        <p:spPr>
          <a:xfrm>
            <a:off x="5333695" y="566928"/>
            <a:ext cx="4846320" cy="13258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Real-World Reading  ·  Tasks C + D</a:t>
            </a:r>
          </a:p>
          <a:p>
            <a:pPr algn="l" indent="0" marL="0">
              <a:spcAft>
                <a:spcPts val="400"/>
              </a:spcAft>
              <a:buNone/>
            </a:pPr>
            <a:r>
              <a:rPr lang="en-US" sz="3400" dirty="0" b="1">
                <a:solidFill>
                  <a:srgbClr val="1B2236"/>
                </a:solidFill>
                <a:latin typeface="Lexend Deca" pitchFamily="34" charset="0"/>
                <a:ea typeface="Lexend Deca" pitchFamily="34" charset="-122"/>
                <a:cs typeface="Lexend Deca" pitchFamily="34" charset="-120"/>
              </a:rPr>
              <a:t>Copy and Say</a:t>
            </a:r>
          </a:p>
        </p:txBody>
      </p:sp>
      <p:sp>
        <p:nvSpPr>
          <p:cNvPr id="8" name="Text 6"/>
          <p:cNvSpPr/>
          <p:nvPr/>
        </p:nvSpPr>
        <p:spPr>
          <a:xfrm>
            <a:off x="4983480" y="214884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MENU</a:t>
            </a:r>
          </a:p>
        </p:txBody>
      </p:sp>
      <p:sp>
        <p:nvSpPr>
          <p:cNvPr id="11" name="Text 9"/>
          <p:cNvSpPr/>
          <p:nvPr/>
        </p:nvSpPr>
        <p:spPr>
          <a:xfrm>
            <a:off x="8046720" y="214884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SAY</a:t>
            </a:r>
          </a:p>
        </p:txBody>
      </p:sp>
      <p:sp>
        <p:nvSpPr>
          <p:cNvPr id="18" name="Highlight 1"/>
          <p:cNvSpPr/>
          <p:nvPr/>
        </p:nvSpPr>
        <p:spPr>
          <a:xfrm>
            <a:off x="4937760" y="2697479"/>
            <a:ext cx="2999232" cy="566928"/>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9" name="Helper 1"/>
          <p:cNvSpPr/>
          <p:nvPr/>
        </p:nvSpPr>
        <p:spPr>
          <a:xfrm>
            <a:off x="4937760" y="2651760"/>
            <a:ext cx="2999232" cy="658368"/>
          </a:xfrm>
          <a:prstGeom prst="rect">
            <a:avLst/>
          </a:prstGeom>
          <a:no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beans &amp; rice  $4</a:t>
            </a:r>
          </a:p>
        </p:txBody>
      </p:sp>
      <p:sp>
        <p:nvSpPr>
          <p:cNvPr id="22" name="Answer bg 1"/>
          <p:cNvSpPr/>
          <p:nvPr/>
        </p:nvSpPr>
        <p:spPr>
          <a:xfrm>
            <a:off x="8001000" y="2651760"/>
            <a:ext cx="3794760" cy="6583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1" name="Answer 1"/>
          <p:cNvSpPr/>
          <p:nvPr/>
        </p:nvSpPr>
        <p:spPr>
          <a:xfrm>
            <a:off x="8001000" y="2651760"/>
            <a:ext cx="3794760" cy="6583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four dollars</a:t>
            </a:r>
          </a:p>
        </p:txBody>
      </p:sp>
      <p:sp>
        <p:nvSpPr>
          <p:cNvPr id="23" name="Highlight 2"/>
          <p:cNvSpPr/>
          <p:nvPr/>
        </p:nvSpPr>
        <p:spPr>
          <a:xfrm>
            <a:off x="4937760" y="3465575"/>
            <a:ext cx="2999232" cy="566928"/>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Helper 2"/>
          <p:cNvSpPr/>
          <p:nvPr/>
        </p:nvSpPr>
        <p:spPr>
          <a:xfrm>
            <a:off x="4937760" y="3419856"/>
            <a:ext cx="2999232" cy="658368"/>
          </a:xfrm>
          <a:prstGeom prst="rect">
            <a:avLst/>
          </a:prstGeom>
          <a:no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fruit  $2</a:t>
            </a:r>
          </a:p>
        </p:txBody>
      </p:sp>
      <p:sp>
        <p:nvSpPr>
          <p:cNvPr id="27" name="Answer bg 2"/>
          <p:cNvSpPr/>
          <p:nvPr/>
        </p:nvSpPr>
        <p:spPr>
          <a:xfrm>
            <a:off x="8001000" y="3419856"/>
            <a:ext cx="3794760" cy="6583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2"/>
          <p:cNvSpPr/>
          <p:nvPr/>
        </p:nvSpPr>
        <p:spPr>
          <a:xfrm>
            <a:off x="8001000" y="3419856"/>
            <a:ext cx="3794760" cy="6583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two dollars</a:t>
            </a:r>
          </a:p>
        </p:txBody>
      </p:sp>
      <p:sp>
        <p:nvSpPr>
          <p:cNvPr id="132" name="Highlight 3"/>
          <p:cNvSpPr/>
          <p:nvPr/>
        </p:nvSpPr>
        <p:spPr>
          <a:xfrm>
            <a:off x="4937760" y="4233672"/>
            <a:ext cx="2999232" cy="566928"/>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42" name="Helper 3"/>
          <p:cNvSpPr/>
          <p:nvPr/>
        </p:nvSpPr>
        <p:spPr>
          <a:xfrm>
            <a:off x="4937760" y="4187952"/>
            <a:ext cx="2999232" cy="658368"/>
          </a:xfrm>
          <a:prstGeom prst="rect">
            <a:avLst/>
          </a:prstGeom>
          <a:no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soda  $1</a:t>
            </a:r>
          </a:p>
        </p:txBody>
      </p:sp>
      <p:sp>
        <p:nvSpPr>
          <p:cNvPr id="162" name="Answer bg 3"/>
          <p:cNvSpPr/>
          <p:nvPr/>
        </p:nvSpPr>
        <p:spPr>
          <a:xfrm>
            <a:off x="8001000" y="4187952"/>
            <a:ext cx="3794760" cy="6583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72" name="Answer 3"/>
          <p:cNvSpPr/>
          <p:nvPr/>
        </p:nvSpPr>
        <p:spPr>
          <a:xfrm>
            <a:off x="8001000" y="4187952"/>
            <a:ext cx="3794760" cy="6583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one dollar</a:t>
            </a:r>
          </a:p>
        </p:txBody>
      </p:sp>
      <p:sp>
        <p:nvSpPr>
          <p:cNvPr id="133" name="Highlight 4"/>
          <p:cNvSpPr/>
          <p:nvPr/>
        </p:nvSpPr>
        <p:spPr>
          <a:xfrm>
            <a:off x="4937760" y="5001768"/>
            <a:ext cx="2999232" cy="566928"/>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43" name="Helper 4"/>
          <p:cNvSpPr/>
          <p:nvPr/>
        </p:nvSpPr>
        <p:spPr>
          <a:xfrm>
            <a:off x="4937760" y="4956048"/>
            <a:ext cx="2999232" cy="658368"/>
          </a:xfrm>
          <a:prstGeom prst="rect">
            <a:avLst/>
          </a:prstGeom>
          <a:no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pizza slice  $3</a:t>
            </a:r>
          </a:p>
        </p:txBody>
      </p:sp>
      <p:sp>
        <p:nvSpPr>
          <p:cNvPr id="163" name="Answer bg 4"/>
          <p:cNvSpPr/>
          <p:nvPr/>
        </p:nvSpPr>
        <p:spPr>
          <a:xfrm>
            <a:off x="8001000" y="4956048"/>
            <a:ext cx="3794760" cy="6583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73" name="Answer 4"/>
          <p:cNvSpPr/>
          <p:nvPr/>
        </p:nvSpPr>
        <p:spPr>
          <a:xfrm>
            <a:off x="8001000" y="4956048"/>
            <a:ext cx="3794760" cy="6583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three dollars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400"/>
                                        <p:tgtEl>
                                          <p:spTgt spid="27"/>
                                        </p:tgtEl>
                                      </p:cBhvr>
                                    </p:animEffect>
                                  </p:childTnLst>
                                </p:cTn>
                              </p:par>
                              <p:par>
                                <p:cTn id="16" presetID="10" presetClass="entr" presetSubtype="0" fill="hold"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4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2"/>
                                        </p:tgtEl>
                                        <p:attrNameLst>
                                          <p:attrName>style.visibility</p:attrName>
                                        </p:attrNameLst>
                                      </p:cBhvr>
                                      <p:to>
                                        <p:strVal val="visible"/>
                                      </p:to>
                                    </p:set>
                                    <p:animEffect transition="in" filter="fade">
                                      <p:cBhvr>
                                        <p:cTn id="23" dur="400"/>
                                        <p:tgtEl>
                                          <p:spTgt spid="162"/>
                                        </p:tgtEl>
                                      </p:cBhvr>
                                    </p:animEffect>
                                  </p:childTnLst>
                                </p:cTn>
                              </p:par>
                              <p:par>
                                <p:cTn id="24" presetID="10" presetClass="entr" presetSubtype="0" fill="hold" nodeType="withEffect">
                                  <p:stCondLst>
                                    <p:cond delay="0"/>
                                  </p:stCondLst>
                                  <p:childTnLst>
                                    <p:set>
                                      <p:cBhvr>
                                        <p:cTn id="25" dur="1" fill="hold">
                                          <p:stCondLst>
                                            <p:cond delay="0"/>
                                          </p:stCondLst>
                                        </p:cTn>
                                        <p:tgtEl>
                                          <p:spTgt spid="172"/>
                                        </p:tgtEl>
                                        <p:attrNameLst>
                                          <p:attrName>style.visibility</p:attrName>
                                        </p:attrNameLst>
                                      </p:cBhvr>
                                      <p:to>
                                        <p:strVal val="visible"/>
                                      </p:to>
                                    </p:set>
                                    <p:animEffect transition="in" filter="fade">
                                      <p:cBhvr>
                                        <p:cTn id="26" dur="400"/>
                                        <p:tgtEl>
                                          <p:spTgt spid="17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63"/>
                                        </p:tgtEl>
                                        <p:attrNameLst>
                                          <p:attrName>style.visibility</p:attrName>
                                        </p:attrNameLst>
                                      </p:cBhvr>
                                      <p:to>
                                        <p:strVal val="visible"/>
                                      </p:to>
                                    </p:set>
                                    <p:animEffect transition="in" filter="fade">
                                      <p:cBhvr>
                                        <p:cTn id="31" dur="400"/>
                                        <p:tgtEl>
                                          <p:spTgt spid="163"/>
                                        </p:tgtEl>
                                      </p:cBhvr>
                                    </p:animEffect>
                                  </p:childTnLst>
                                </p:cTn>
                              </p:par>
                              <p:par>
                                <p:cTn id="32" presetID="10" presetClass="entr" presetSubtype="0" fill="hold" nodeType="withEffect">
                                  <p:stCondLst>
                                    <p:cond delay="0"/>
                                  </p:stCondLst>
                                  <p:childTnLst>
                                    <p:set>
                                      <p:cBhvr>
                                        <p:cTn id="33" dur="1" fill="hold">
                                          <p:stCondLst>
                                            <p:cond delay="0"/>
                                          </p:stCondLst>
                                        </p:cTn>
                                        <p:tgtEl>
                                          <p:spTgt spid="173"/>
                                        </p:tgtEl>
                                        <p:attrNameLst>
                                          <p:attrName>style.visibility</p:attrName>
                                        </p:attrNameLst>
                                      </p:cBhvr>
                                      <p:to>
                                        <p:strVal val="visible"/>
                                      </p:to>
                                    </p:set>
                                    <p:animEffect transition="in" filter="fade">
                                      <p:cBhvr>
                                        <p:cTn id="34" dur="4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6">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3429000"/>
          </a:xfrm>
          <a:prstGeom prst="rect">
            <a:avLst/>
          </a:prstGeom>
          <a:solidFill>
            <a:srgbClr val="B9D2F7"/>
          </a:solidFill>
          <a:ln/>
        </p:spPr>
        <p:txBody>
          <a:bodyPr/>
          <a:p/>
        </p:txBody>
      </p:sp>
      <p:sp>
        <p:nvSpPr>
          <p:cNvPr id="62" name="I can"/>
          <p:cNvSpPr/>
          <p:nvPr/>
        </p:nvSpPr>
        <p:spPr>
          <a:xfrm>
            <a:off x="8503920" y="1234440"/>
            <a:ext cx="3291840" cy="1737360"/>
          </a:xfrm>
          <a:prstGeom prst="rect">
            <a:avLst/>
          </a:prstGeom>
          <a:noFill/>
          <a:ln w="38100">
            <a:noFill/>
          </a:ln>
        </p:spPr>
        <p:txBody>
          <a:bodyPr wrap="square" lIns="73152" tIns="36576" rIns="73152" bIns="36576" rtlCol="0" anchor="ctr">
            <a:noAutofit/>
          </a:bodyPr>
          <a:lstStyle/>
          <a:p>
            <a:pPr algn="ctr" indent="0" marL="0">
              <a:buNone/>
            </a:pPr>
            <a:r>
              <a:rPr lang="en-US" sz="2400" dirty="0" b="1">
                <a:solidFill>
                  <a:srgbClr val="1B2236"/>
                </a:solidFill>
                <a:latin typeface="Lexend Deca" pitchFamily="34" charset="0"/>
                <a:ea typeface="Lexend Deca" pitchFamily="34" charset="-122"/>
                <a:cs typeface="Lexend Deca" pitchFamily="34" charset="-120"/>
              </a:rPr>
              <a:t>D. I can…</a:t>
            </a:r>
            <a:endParaRPr lang="en-US" sz="2200" dirty="0"/>
          </a:p>
          <a:p>
            <a:pPr algn="ctr" indent="0" marL="0">
              <a:buNone/>
            </a:pPr>
            <a:r>
              <a:rPr lang="en-US" sz="3200" dirty="0" b="0">
                <a:solidFill>
                  <a:srgbClr val="1B2236"/>
                </a:solidFill>
                <a:latin typeface="Lexend Deca" pitchFamily="34" charset="0"/>
                <a:ea typeface="Lexend Deca" pitchFamily="34" charset="-122"/>
                <a:cs typeface="Lexend Deca" pitchFamily="34" charset="-120"/>
              </a:rPr>
              <a:t>😀   🙂   😐</a:t>
            </a:r>
            <a:endParaRPr lang="en-US" sz="2200" dirty="0"/>
          </a:p>
          <a:p>
            <a:pPr algn="ctr" indent="0" marL="0">
              <a:buNone/>
            </a:pPr>
            <a:r>
              <a:rPr lang="en-US" sz="2000" dirty="0" b="0">
                <a:solidFill>
                  <a:srgbClr val="1B2236"/>
                </a:solidFill>
                <a:latin typeface="Lexend Deca" pitchFamily="34" charset="0"/>
                <a:ea typeface="Lexend Deca" pitchFamily="34" charset="-122"/>
                <a:cs typeface="Lexend Deca" pitchFamily="34" charset="-120"/>
              </a:rPr>
              <a:t>Check one face.</a:t>
            </a:r>
            <a:endParaRPr lang="en-US" sz="2200" dirty="0"/>
          </a:p>
        </p:txBody>
      </p:sp>
      <p:sp>
        <p:nvSpPr>
          <p:cNvPr id="5" name="Shape 3"/>
          <p:cNvSpPr/>
          <p:nvPr/>
        </p:nvSpPr>
        <p:spPr>
          <a:xfrm flipH="1">
            <a:off x="501091" y="3255264"/>
            <a:ext cx="4000500" cy="3258921"/>
          </a:xfrm>
          <a:prstGeom prst="round1Rect">
            <a:avLst>
              <a:gd name="adj" fmla="val 23087"/>
            </a:avLst>
          </a:prstGeom>
          <a:solidFill>
            <a:srgbClr val="8FAFE3"/>
          </a:solidFill>
          <a:ln/>
        </p:spPr>
        <p:txBody>
          <a:bodyPr/>
          <a:p/>
        </p:txBody>
      </p:sp>
      <p:sp>
        <p:nvSpPr>
          <p:cNvPr id="6" name="Shape 4"/>
          <p:cNvSpPr/>
          <p:nvPr/>
        </p:nvSpPr>
        <p:spPr>
          <a:xfrm flipH="1">
            <a:off x="4845406" y="3263494"/>
            <a:ext cx="5860390" cy="3258921"/>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3063240"/>
            <a:ext cx="4068165" cy="3258921"/>
          </a:xfrm>
          <a:prstGeom prst="round1Rect">
            <a:avLst>
              <a:gd name="adj" fmla="val 23087"/>
            </a:avLst>
          </a:prstGeom>
          <a:solidFill>
            <a:srgbClr val="FFFFFF"/>
          </a:solidFill>
          <a:ln/>
        </p:spPr>
        <p:txBody>
          <a:bodyPr/>
          <a:p/>
        </p:txBody>
      </p:sp>
      <p:sp>
        <p:nvSpPr>
          <p:cNvPr id="10" name="Shape 8"/>
          <p:cNvSpPr/>
          <p:nvPr/>
        </p:nvSpPr>
        <p:spPr>
          <a:xfrm flipH="1">
            <a:off x="4977079" y="3063240"/>
            <a:ext cx="5860390" cy="3258921"/>
          </a:xfrm>
          <a:prstGeom prst="round1Rect">
            <a:avLst>
              <a:gd name="adj" fmla="val 23087"/>
            </a:avLst>
          </a:prstGeom>
          <a:solidFill>
            <a:srgbClr val="FFFFFF"/>
          </a:solidFill>
          <a:ln/>
        </p:spPr>
        <p:txBody>
          <a:bodyPr/>
          <a:p/>
        </p:txBody>
      </p:sp>
      <p:sp>
        <p:nvSpPr>
          <p:cNvPr id="11" name="Text 9"/>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Progress Check</a:t>
            </a:r>
            <a:r>
              <a:rPr lang="en-US" sz="2400" dirty="0" b="1">
                <a:solidFill>
                  <a:srgbClr val="5B3FC4"/>
                </a:solidFill>
                <a:latin typeface="Lexend Deca" pitchFamily="34" charset="0"/>
                <a:ea typeface="Lexend Deca" pitchFamily="34" charset="-122"/>
                <a:cs typeface="Lexend Deca" pitchFamily="34" charset="-120"/>
              </a:rPr>
              <a:t>   7:25</a:t>
            </a:r>
            <a:endParaRPr lang="en-US" sz="4300" dirty="0"/>
          </a:p>
        </p:txBody>
      </p:sp>
      <p:sp>
        <p:nvSpPr>
          <p:cNvPr id="22" name="Dont head"/>
          <p:cNvSpPr/>
          <p:nvPr/>
        </p:nvSpPr>
        <p:spPr>
          <a:xfrm>
            <a:off x="914400" y="3246120"/>
            <a:ext cx="310896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B. Match the question</a:t>
            </a:r>
          </a:p>
        </p:txBody>
      </p:sp>
      <p:sp>
        <p:nvSpPr>
          <p:cNvPr id="23" name="Say head"/>
          <p:cNvSpPr/>
          <p:nvPr/>
        </p:nvSpPr>
        <p:spPr>
          <a:xfrm>
            <a:off x="5257800" y="3246120"/>
            <a:ext cx="48463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Answer</a:t>
            </a:r>
            <a:endParaRPr lang="en-US" sz="2200" dirty="0"/>
          </a:p>
        </p:txBody>
      </p:sp>
      <p:sp>
        <p:nvSpPr>
          <p:cNvPr id="24" name="Bad 1"/>
          <p:cNvSpPr/>
          <p:nvPr/>
        </p:nvSpPr>
        <p:spPr>
          <a:xfrm>
            <a:off x="914400" y="3840480"/>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1. Do you like tacos?</a:t>
            </a:r>
          </a:p>
        </p:txBody>
      </p:sp>
      <p:sp>
        <p:nvSpPr>
          <p:cNvPr id="25" name="Good 1"/>
          <p:cNvSpPr/>
          <p:nvPr/>
        </p:nvSpPr>
        <p:spPr>
          <a:xfrm>
            <a:off x="5257800" y="3840480"/>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 Yes, I do.</a:t>
            </a:r>
          </a:p>
        </p:txBody>
      </p:sp>
      <p:sp>
        <p:nvSpPr>
          <p:cNvPr id="26" name="Bad 2"/>
          <p:cNvSpPr/>
          <p:nvPr/>
        </p:nvSpPr>
        <p:spPr>
          <a:xfrm>
            <a:off x="914400" y="4407408"/>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2. What do you want?</a:t>
            </a:r>
          </a:p>
        </p:txBody>
      </p:sp>
      <p:sp>
        <p:nvSpPr>
          <p:cNvPr id="27" name="Good 2"/>
          <p:cNvSpPr/>
          <p:nvPr/>
        </p:nvSpPr>
        <p:spPr>
          <a:xfrm>
            <a:off x="5257800" y="4407408"/>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c. I want a soda.</a:t>
            </a:r>
          </a:p>
        </p:txBody>
      </p:sp>
      <p:sp>
        <p:nvSpPr>
          <p:cNvPr id="28" name="Bad 3"/>
          <p:cNvSpPr/>
          <p:nvPr/>
        </p:nvSpPr>
        <p:spPr>
          <a:xfrm>
            <a:off x="914400" y="4974336"/>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3. For here or to go?</a:t>
            </a:r>
          </a:p>
        </p:txBody>
      </p:sp>
      <p:sp>
        <p:nvSpPr>
          <p:cNvPr id="29" name="Good 3"/>
          <p:cNvSpPr/>
          <p:nvPr/>
        </p:nvSpPr>
        <p:spPr>
          <a:xfrm>
            <a:off x="5257800" y="4974336"/>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 To go, please.</a:t>
            </a:r>
          </a:p>
        </p:txBody>
      </p:sp>
      <p:sp>
        <p:nvSpPr>
          <p:cNvPr id="60" name="Bad 4"/>
          <p:cNvSpPr/>
          <p:nvPr/>
        </p:nvSpPr>
        <p:spPr>
          <a:xfrm>
            <a:off x="914400" y="5541264"/>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4. How much is it?</a:t>
            </a:r>
          </a:p>
        </p:txBody>
      </p:sp>
      <p:sp>
        <p:nvSpPr>
          <p:cNvPr id="61" name="Good 4"/>
          <p:cNvSpPr/>
          <p:nvPr/>
        </p:nvSpPr>
        <p:spPr>
          <a:xfrm>
            <a:off x="5257800" y="5541264"/>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d. It's $5.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fade">
                                      <p:cBhvr>
                                        <p:cTn id="22"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zza picture" descr="pizza">    </p:cNvPr>
          <p:cNvPicPr>
            <a:picLocks noChangeAspect="1"/>
          </p:cNvPicPr>
          <p:nvPr/>
        </p:nvPicPr>
        <p:blipFill>
          <a:blip r:embed="rIdImg1"/>
          <a:stretch>
            <a:fillRect/>
          </a:stretch>
        </p:blipFill>
        <p:spPr>
          <a:xfrm>
            <a:off x="7726680" y="1664208"/>
            <a:ext cx="3474720" cy="2432304"/>
          </a:xfrm>
          <a:prstGeom prst="rect">
            <a:avLst/>
          </a:prstGeom>
        </p:spPr>
      </p:pic>
      <p:sp>
        <p:nvSpPr>
          <p:cNvPr id="5" name="Text 2"/>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8  ·  Level 1</a:t>
            </a:r>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ext 5"/>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Great Work! See You Next Week!</a:t>
            </a:r>
            <a:endParaRPr lang="en-US" sz="5000" dirty="0"/>
          </a:p>
        </p:txBody>
      </p:sp>
      <p:sp>
        <p:nvSpPr>
          <p:cNvPr id="9" name="Text 6"/>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p>
        </p:txBody>
      </p:sp>
      <p:sp>
        <p:nvSpPr>
          <p:cNvPr id="10" name="Text 7"/>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000" dirty="0">
                <a:solidFill>
                  <a:srgbClr val="1B2236"/>
                </a:solidFill>
                <a:latin typeface="Lexend Deca" pitchFamily="34" charset="0"/>
                <a:ea typeface="Lexend Deca" pitchFamily="34" charset="-122"/>
                <a:cs typeface="Lexend Deca" pitchFamily="34" charset="-120"/>
              </a:rPr>
              <a:t>•  Ask: Do you like fish?</a:t>
            </a:r>
          </a:p>
          <a:p>
            <a:pPr algn="l" indent="0" marL="0">
              <a:lnSpc>
                <a:spcPct val="115000"/>
              </a:lnSpc>
              <a:buNone/>
            </a:pPr>
            <a:r>
              <a:rPr lang="en-US" sz="2000" dirty="0">
                <a:solidFill>
                  <a:srgbClr val="1B2236"/>
                </a:solidFill>
                <a:latin typeface="Lexend Deca" pitchFamily="34" charset="0"/>
                <a:ea typeface="Lexend Deca" pitchFamily="34" charset="-122"/>
                <a:cs typeface="Lexend Deca" pitchFamily="34" charset="-120"/>
              </a:rPr>
              <a:t>•  Say: I like tacos. I don't like coffee.</a:t>
            </a:r>
          </a:p>
          <a:p>
            <a:pPr algn="l" indent="0" marL="0">
              <a:lnSpc>
                <a:spcPct val="115000"/>
              </a:lnSpc>
              <a:buNone/>
            </a:pPr>
            <a:r>
              <a:rPr lang="en-US" sz="2000" dirty="0">
                <a:solidFill>
                  <a:srgbClr val="1B2236"/>
                </a:solidFill>
                <a:latin typeface="Lexend Deca" pitchFamily="34" charset="0"/>
                <a:ea typeface="Lexend Deca" pitchFamily="34" charset="-122"/>
                <a:cs typeface="Lexend Deca" pitchFamily="34" charset="-120"/>
              </a:rPr>
              <a:t>•  Order: A taco, please. To go, please.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C9B8F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ext 5"/>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Twemoji credit"/>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1500" dirty="0" b="1">
                <a:solidFill>
                  <a:srgbClr val="5B3FC4"/>
                </a:solidFill>
                <a:latin typeface="Lexend Deca" pitchFamily="34" charset="0"/>
                <a:ea typeface="Lexend Deca" pitchFamily="34" charset="-122"/>
                <a:cs typeface="Lexend Deca" pitchFamily="34" charset="-120"/>
              </a:rPr>
              <a:t>Pictures</a:t>
            </a:r>
          </a:p>
          <a:p>
            <a:pPr algn="l" indent="0" marL="0">
              <a:spcAft>
                <a:spcPts val="600"/>
              </a:spcAft>
              <a:buNone/>
            </a:pPr>
            <a:r>
              <a:rPr lang="en-US" sz="1500" dirty="0" b="0">
                <a:solidFill>
                  <a:srgbClr val="1B2236"/>
                </a:solidFill>
                <a:latin typeface="Lexend Deca" pitchFamily="34" charset="0"/>
                <a:ea typeface="Lexend Deca" pitchFamily="34" charset="-122"/>
                <a:cs typeface="Lexend Deca" pitchFamily="34" charset="-120"/>
              </a:rPr>
              <a:t>Pictures use Twemoji graphics by Twitter, Inc. and other contributors (https://github.com/jdecked/twemoji), licensed under CC BY 4.0 (https://creativecommons.org/licenses/by/4.0/). The graphics were resized and combined, and labels were added. The picture menu is drawn in code. Labels on the pictures use the DejaVu Sans font. The review picture (the blue shirt) is from Lesson 7.</a:t>
            </a:r>
          </a:p>
          <a:p>
            <a:pPr algn="l" indent="0" marL="0">
              <a:spcAft>
                <a:spcPts val="600"/>
              </a:spcAft>
              <a:buNone/>
            </a:pPr>
            <a:r>
              <a:rPr lang="en-US" sz="1500" dirty="0" b="0">
                <a:solidFill>
                  <a:srgbClr val="1B2236"/>
                </a:solidFill>
                <a:latin typeface="Lexend Deca" pitchFamily="34" charset="0"/>
                <a:ea typeface="Lexend Deca" pitchFamily="34" charset="-122"/>
                <a:cs typeface="Lexend Deca" pitchFamily="34" charset="-120"/>
              </a:rPr>
              <a:t>Other small pictures (the faces on the Progress Check and the survey) are standard emoji characters shown with the computer's emoji font.</a:t>
            </a:r>
          </a:p>
        </p:txBody>
      </p:sp>
      <p:sp>
        <p:nvSpPr>
          <p:cNvPr id="16" name="Deck license"/>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a:t>
            </a:r>
          </a:p>
          <a:p>
            <a:pPr algn="l" indent="0" marL="0">
              <a:spcAft>
                <a:spcPts val="600"/>
              </a:spcAft>
              <a:buNone/>
            </a:pPr>
            <a:r>
              <a:rPr lang="en-US" sz="1500" dirty="0" b="0">
                <a:solidFill>
                  <a:srgbClr val="1B2236"/>
                </a:solidFill>
                <a:latin typeface="Lexend Deca" pitchFamily="34" charset="0"/>
                <a:ea typeface="Lexend Deca" pitchFamily="34" charset="-122"/>
                <a:cs typeface="Lexend Deca" pitchFamily="34" charset="-120"/>
              </a:rPr>
              <a:t>All names, foods, and prices on the slides (Ana, the taco truck, the menu) are invented. No real restaurant is named.</a:t>
            </a:r>
          </a:p>
        </p:txBody>
      </p:sp>
      <p:sp>
        <p:nvSpPr>
          <p:cNvPr id="17" name="AudioFontCredits"/>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(Narrator, Server, Ana) made with Chatterbox TTS (Resemble AI, MIT License), copied from short reference clips made with Kokoro-82M (Apache 2.0); no recordings of real people were used. Each file carries an inaudible Perth watermark. Font: Lexend Deca (OFL 1.1).</a:t>
            </a:r>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713232"/>
          </a:xfrm>
          <a:prstGeom prst="round1Rect">
            <a:avLst>
              <a:gd name="adj" fmla="val 23087"/>
            </a:avLst>
          </a:prstGeom>
          <a:solidFill>
            <a:srgbClr val="FFFFFF"/>
          </a:solidFill>
          <a:ln/>
        </p:spPr>
        <p:txBody>
          <a:bodyPr/>
          <a:p/>
        </p:txBody>
      </p:sp>
      <p:sp>
        <p:nvSpPr>
          <p:cNvPr id="5" name="Shape 3"/>
          <p:cNvSpPr/>
          <p:nvPr/>
        </p:nvSpPr>
        <p:spPr>
          <a:xfrm>
            <a:off x="1583741" y="3182112"/>
            <a:ext cx="5130698" cy="713232"/>
          </a:xfrm>
          <a:prstGeom prst="round1Rect">
            <a:avLst>
              <a:gd name="adj" fmla="val 23087"/>
            </a:avLst>
          </a:prstGeom>
          <a:solidFill>
            <a:srgbClr val="FFFFFF"/>
          </a:solidFill>
          <a:ln/>
        </p:spPr>
        <p:txBody>
          <a:bodyPr/>
          <a:p/>
        </p:txBody>
      </p:sp>
      <p:sp>
        <p:nvSpPr>
          <p:cNvPr id="6" name="Shape 4"/>
          <p:cNvSpPr/>
          <p:nvPr/>
        </p:nvSpPr>
        <p:spPr>
          <a:xfrm>
            <a:off x="1583741" y="3968496"/>
            <a:ext cx="5130698" cy="713232"/>
          </a:xfrm>
          <a:prstGeom prst="round1Rect">
            <a:avLst>
              <a:gd name="adj" fmla="val 23087"/>
            </a:avLst>
          </a:prstGeom>
          <a:solidFill>
            <a:srgbClr val="FFFFFF"/>
          </a:solidFill>
          <a:ln/>
        </p:spPr>
        <p:txBody>
          <a:bodyPr/>
          <a:p/>
        </p:txBody>
      </p:sp>
      <p:sp>
        <p:nvSpPr>
          <p:cNvPr id="7" name="Shape 5"/>
          <p:cNvSpPr/>
          <p:nvPr/>
        </p:nvSpPr>
        <p:spPr>
          <a:xfrm>
            <a:off x="1583741" y="4754880"/>
            <a:ext cx="5130698" cy="713232"/>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Listen again. Circle. Write.</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B: fish tacos?  C: the numbers.</a:t>
            </a:r>
          </a:p>
        </p:txBody>
      </p:sp>
      <p:sp>
        <p:nvSpPr>
          <p:cNvPr id="11" name="Text 9"/>
          <p:cNvSpPr/>
          <p:nvPr/>
        </p:nvSpPr>
        <p:spPr>
          <a:xfrm>
            <a:off x="1810512" y="2395728"/>
            <a:ext cx="3401568"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B. Does the server like</a:t>
            </a:r>
          </a:p>
          <a:p>
            <a:pPr algn="l" indent="0" marL="0">
              <a:buNone/>
            </a:pPr>
            <a:r>
              <a:rPr lang="en-US" sz="1700" dirty="0">
                <a:solidFill>
                  <a:srgbClr val="1B2236"/>
                </a:solidFill>
                <a:latin typeface="Lexend Deca" pitchFamily="34" charset="0"/>
                <a:ea typeface="Lexend Deca" pitchFamily="34" charset="-122"/>
                <a:cs typeface="Lexend Deca" pitchFamily="34" charset="-120"/>
              </a:rPr>
              <a:t>fish tacos?  likes · doesn't like</a:t>
            </a:r>
          </a:p>
        </p:txBody>
      </p:sp>
      <p:sp>
        <p:nvSpPr>
          <p:cNvPr id="13" name="Text 11"/>
          <p:cNvSpPr/>
          <p:nvPr/>
        </p:nvSpPr>
        <p:spPr>
          <a:xfrm>
            <a:off x="1810512" y="3182112"/>
            <a:ext cx="3401568"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C. The taco is $___.</a:t>
            </a:r>
          </a:p>
          <a:p>
            <a:pPr algn="l" indent="0" marL="0">
              <a:buNone/>
            </a:pPr>
            <a:r>
              <a:rPr lang="en-US" sz="1700" dirty="0">
                <a:solidFill>
                  <a:srgbClr val="1B2236"/>
                </a:solidFill>
                <a:latin typeface="Lexend Deca" pitchFamily="34" charset="0"/>
                <a:ea typeface="Lexend Deca" pitchFamily="34" charset="-122"/>
                <a:cs typeface="Lexend Deca" pitchFamily="34" charset="-120"/>
              </a:rPr>
              <a:t>The soda is $___.</a:t>
            </a:r>
          </a:p>
        </p:txBody>
      </p:sp>
      <p:sp>
        <p:nvSpPr>
          <p:cNvPr id="15" name="Text 13"/>
          <p:cNvSpPr/>
          <p:nvPr/>
        </p:nvSpPr>
        <p:spPr>
          <a:xfrm>
            <a:off x="1810512" y="3968496"/>
            <a:ext cx="3401568"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C. The total is $___.</a:t>
            </a:r>
          </a:p>
          <a:p>
            <a:pPr algn="l" indent="0" marL="0">
              <a:buNone/>
            </a:pPr>
            <a:r>
              <a:rPr lang="en-US" sz="1700" dirty="0">
                <a:solidFill>
                  <a:srgbClr val="1B2236"/>
                </a:solidFill>
                <a:latin typeface="Lexend Deca" pitchFamily="34" charset="0"/>
                <a:ea typeface="Lexend Deca" pitchFamily="34" charset="-122"/>
                <a:cs typeface="Lexend Deca" pitchFamily="34" charset="-120"/>
              </a:rPr>
              <a:t>Ana gives $___.</a:t>
            </a:r>
          </a:p>
        </p:txBody>
      </p:sp>
      <p:sp>
        <p:nvSpPr>
          <p:cNvPr id="17" name="Text 15"/>
          <p:cNvSpPr/>
          <p:nvPr/>
        </p:nvSpPr>
        <p:spPr>
          <a:xfrm>
            <a:off x="1810512" y="4754880"/>
            <a:ext cx="3401568"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C. Her change is $___.</a:t>
            </a:r>
          </a:p>
          <a:p>
            <a:pPr algn="l" indent="0" marL="0">
              <a:buNone/>
            </a:pPr>
            <a:r>
              <a:rPr lang="en-US" sz="1700" dirty="0">
                <a:solidFill>
                  <a:srgbClr val="1B2236"/>
                </a:solidFill>
                <a:latin typeface="Lexend Deca" pitchFamily="34" charset="0"/>
                <a:ea typeface="Lexend Deca" pitchFamily="34" charset="-122"/>
                <a:cs typeface="Lexend Deca" pitchFamily="34" charset="-120"/>
              </a:rPr>
              <a:t>for here   to go</a:t>
            </a:r>
          </a:p>
        </p:txBody>
      </p:sp>
      <p:sp>
        <p:nvSpPr>
          <p:cNvPr id="21" name="Shape 19"/>
          <p:cNvSpPr/>
          <p:nvPr/>
        </p:nvSpPr>
        <p:spPr>
          <a:xfrm>
            <a:off x="544982" y="2395728"/>
            <a:ext cx="1039673" cy="713232"/>
          </a:xfrm>
          <a:prstGeom prst="rect">
            <a:avLst/>
          </a:prstGeom>
          <a:solidFill>
            <a:srgbClr val="B9D2F7"/>
          </a:solidFill>
          <a:ln/>
        </p:spPr>
        <p:txBody>
          <a:bodyPr/>
          <a:p/>
        </p:txBody>
      </p:sp>
      <p:sp>
        <p:nvSpPr>
          <p:cNvPr id="22" name="Text 20"/>
          <p:cNvSpPr/>
          <p:nvPr/>
        </p:nvSpPr>
        <p:spPr>
          <a:xfrm>
            <a:off x="686714" y="24597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3182112"/>
            <a:ext cx="1039673" cy="713232"/>
          </a:xfrm>
          <a:prstGeom prst="rect">
            <a:avLst/>
          </a:prstGeom>
          <a:solidFill>
            <a:srgbClr val="B9D2F7"/>
          </a:solidFill>
          <a:ln/>
        </p:spPr>
        <p:txBody>
          <a:bodyPr/>
          <a:p/>
        </p:txBody>
      </p:sp>
      <p:sp>
        <p:nvSpPr>
          <p:cNvPr id="24" name="Text 22"/>
          <p:cNvSpPr/>
          <p:nvPr/>
        </p:nvSpPr>
        <p:spPr>
          <a:xfrm>
            <a:off x="686714" y="3246120"/>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5" name="Shape 23"/>
          <p:cNvSpPr/>
          <p:nvPr/>
        </p:nvSpPr>
        <p:spPr>
          <a:xfrm>
            <a:off x="544982" y="3968496"/>
            <a:ext cx="1039673" cy="713232"/>
          </a:xfrm>
          <a:prstGeom prst="rect">
            <a:avLst/>
          </a:prstGeom>
          <a:solidFill>
            <a:srgbClr val="B9D2F7"/>
          </a:solidFill>
          <a:ln/>
        </p:spPr>
        <p:txBody>
          <a:bodyPr/>
          <a:p/>
        </p:txBody>
      </p:sp>
      <p:sp>
        <p:nvSpPr>
          <p:cNvPr id="26" name="Text 24"/>
          <p:cNvSpPr/>
          <p:nvPr/>
        </p:nvSpPr>
        <p:spPr>
          <a:xfrm>
            <a:off x="686714" y="40325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a:p>
        </p:txBody>
      </p:sp>
      <p:sp>
        <p:nvSpPr>
          <p:cNvPr id="27" name="Shape 25"/>
          <p:cNvSpPr/>
          <p:nvPr/>
        </p:nvSpPr>
        <p:spPr>
          <a:xfrm>
            <a:off x="544982" y="4754880"/>
            <a:ext cx="1039673" cy="713232"/>
          </a:xfrm>
          <a:prstGeom prst="rect">
            <a:avLst/>
          </a:prstGeom>
          <a:solidFill>
            <a:srgbClr val="B9D2F7"/>
          </a:solidFill>
          <a:ln/>
        </p:spPr>
        <p:txBody>
          <a:bodyPr/>
          <a:p/>
        </p:txBody>
      </p:sp>
      <p:sp>
        <p:nvSpPr>
          <p:cNvPr id="28" name="Text 26"/>
          <p:cNvSpPr/>
          <p:nvPr/>
        </p:nvSpPr>
        <p:spPr>
          <a:xfrm>
            <a:off x="686714" y="481888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B + C</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B: </a:t>
            </a:r>
            <a:r>
              <a:rPr lang="en-US" sz="2000" dirty="0" b="1">
                <a:solidFill>
                  <a:srgbClr val="5B3FC4"/>
                </a:solidFill>
                <a:latin typeface="Lexend Deca" pitchFamily="34" charset="0"/>
                <a:ea typeface="Lexend Deca" pitchFamily="34" charset="-122"/>
                <a:cs typeface="Lexend Deca" pitchFamily="34" charset="-120"/>
              </a:rPr>
              <a:t>circle.</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C: </a:t>
            </a:r>
            <a:r>
              <a:rPr lang="en-US" sz="2000" dirty="0" b="1">
                <a:solidFill>
                  <a:srgbClr val="5B3FC4"/>
                </a:solidFill>
                <a:latin typeface="Lexend Deca" pitchFamily="34" charset="0"/>
                <a:ea typeface="Lexend Deca" pitchFamily="34" charset="-122"/>
                <a:cs typeface="Lexend Deca" pitchFamily="34" charset="-120"/>
              </a:rPr>
              <a:t>write the numbers.</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show your partner.</a:t>
            </a:r>
          </a:p>
        </p:txBody>
      </p:sp>
      <p:sp>
        <p:nvSpPr>
          <p:cNvPr id="34" name="Answer 1"/>
          <p:cNvSpPr/>
          <p:nvPr/>
        </p:nvSpPr>
        <p:spPr>
          <a:xfrm>
            <a:off x="5193792" y="2523744"/>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likes</a:t>
            </a:r>
          </a:p>
        </p:txBody>
      </p:sp>
      <p:sp>
        <p:nvSpPr>
          <p:cNvPr id="35" name="Answer 2"/>
          <p:cNvSpPr/>
          <p:nvPr/>
        </p:nvSpPr>
        <p:spPr>
          <a:xfrm>
            <a:off x="5193792" y="3310128"/>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$3 · $2</a:t>
            </a:r>
          </a:p>
        </p:txBody>
      </p:sp>
      <p:sp>
        <p:nvSpPr>
          <p:cNvPr id="36" name="Answer 3"/>
          <p:cNvSpPr/>
          <p:nvPr/>
        </p:nvSpPr>
        <p:spPr>
          <a:xfrm>
            <a:off x="5193792" y="4096511"/>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$5 · $10</a:t>
            </a:r>
          </a:p>
        </p:txBody>
      </p:sp>
      <p:sp>
        <p:nvSpPr>
          <p:cNvPr id="37" name="Answer 4"/>
          <p:cNvSpPr/>
          <p:nvPr/>
        </p:nvSpPr>
        <p:spPr>
          <a:xfrm>
            <a:off x="5193792" y="4882896"/>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$5 · to go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487604" y="1352535"/>
            <a:ext cx="5246827" cy="1277417"/>
          </a:xfrm>
          <a:prstGeom prst="roundRect">
            <a:avLst>
              <a:gd name="adj" fmla="val 16667"/>
            </a:avLst>
          </a:prstGeom>
          <a:solidFill>
            <a:srgbClr val="8FAFE3"/>
          </a:solidFill>
          <a:ln/>
        </p:spPr>
        <p:txBody>
          <a:bodyPr/>
          <a:p/>
        </p:txBody>
      </p:sp>
      <p:sp>
        <p:nvSpPr>
          <p:cNvPr id="3" name="Shape 1"/>
          <p:cNvSpPr/>
          <p:nvPr/>
        </p:nvSpPr>
        <p:spPr>
          <a:xfrm>
            <a:off x="518465" y="1300277"/>
            <a:ext cx="5246827" cy="1277417"/>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sp>
        <p:nvSpPr>
          <p:cNvPr id="7" name="Text 5"/>
          <p:cNvSpPr/>
          <p:nvPr/>
        </p:nvSpPr>
        <p:spPr>
          <a:xfrm>
            <a:off x="548640" y="1764792"/>
            <a:ext cx="5120640" cy="777240"/>
          </a:xfrm>
          <a:prstGeom prst="rect">
            <a:avLst/>
          </a:prstGeom>
          <a:noFill/>
          <a:ln/>
        </p:spPr>
        <p:txBody>
          <a:bodyPr wrap="square" rtlCol="0" anchor="ctr"/>
          <a:lstStyle/>
          <a:p>
            <a:pPr algn="l" indent="0" marL="0">
              <a:buNone/>
            </a:pPr>
            <a:r>
              <a:rPr lang="en-US" sz="3400" dirty="0" b="1">
                <a:solidFill>
                  <a:srgbClr val="1B2236"/>
                </a:solidFill>
                <a:latin typeface="Lexend Deca" pitchFamily="34" charset="0"/>
                <a:ea typeface="Lexend Deca" pitchFamily="34" charset="-122"/>
                <a:cs typeface="Lexend Deca" pitchFamily="34" charset="-120"/>
              </a:rPr>
              <a:t>Taco Truck</a:t>
            </a:r>
          </a:p>
        </p:txBody>
      </p:sp>
      <p:sp>
        <p:nvSpPr>
          <p:cNvPr id="8" name="Text 6"/>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TALK TIME  ·  PART 2</a:t>
            </a:r>
          </a:p>
        </p:txBody>
      </p:sp>
      <p:sp>
        <p:nvSpPr>
          <p:cNvPr id="9" name="Text 7"/>
          <p:cNvSpPr/>
          <p:nvPr/>
        </p:nvSpPr>
        <p:spPr>
          <a:xfrm>
            <a:off x="599846" y="3017520"/>
            <a:ext cx="4114800" cy="868680"/>
          </a:xfrm>
          <a:prstGeom prst="rect">
            <a:avLst/>
          </a:prstGeom>
          <a:noFill/>
          <a:ln/>
        </p:spPr>
        <p:txBody>
          <a:bodyPr wrap="square" lIns="0" tIns="0" rIns="0" bIns="0" rtlCol="0" anchor="t"/>
          <a:lstStyle/>
          <a:p>
            <a:pPr algn="l" indent="0" marL="0">
              <a:lnSpc>
                <a:spcPct val="110000"/>
              </a:lnSpc>
              <a:buNone/>
            </a:pPr>
            <a:r>
              <a:rPr lang="en-US" sz="2200" dirty="0">
                <a:solidFill>
                  <a:srgbClr val="1B2236"/>
                </a:solidFill>
                <a:latin typeface="Lexend Deca" pitchFamily="34" charset="0"/>
                <a:ea typeface="Lexend Deca" pitchFamily="34" charset="-122"/>
                <a:cs typeface="Lexend Deca" pitchFamily="34" charset="-120"/>
              </a:rPr>
              <a:t>A is the server.</a:t>
            </a:r>
          </a:p>
          <a:p>
            <a:pPr algn="l" indent="0" marL="0">
              <a:lnSpc>
                <a:spcPct val="110000"/>
              </a:lnSpc>
              <a:buNone/>
            </a:pPr>
            <a:r>
              <a:rPr lang="en-US" sz="2200" dirty="0">
                <a:solidFill>
                  <a:srgbClr val="1B2236"/>
                </a:solidFill>
                <a:latin typeface="Lexend Deca" pitchFamily="34" charset="0"/>
                <a:ea typeface="Lexend Deca" pitchFamily="34" charset="-122"/>
                <a:cs typeface="Lexend Deca" pitchFamily="34" charset="-120"/>
              </a:rPr>
              <a:t>B is the customer.</a:t>
            </a:r>
          </a:p>
        </p:txBody>
      </p:sp>
      <p:sp>
        <p:nvSpPr>
          <p:cNvPr id="13" name="Model A"/>
          <p:cNvSpPr/>
          <p:nvPr/>
        </p:nvSpPr>
        <p:spPr>
          <a:xfrm>
            <a:off x="599846" y="3931920"/>
            <a:ext cx="4754880" cy="731520"/>
          </a:xfrm>
          <a:prstGeom prst="rect">
            <a:avLst/>
          </a:prstGeom>
          <a:noFill/>
          <a:ln/>
        </p:spPr>
        <p:txBody>
          <a:bodyPr wrap="square" lIns="0" tIns="0" rIns="0" bIns="0" rtlCol="0" anchor="t"/>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 Hi! What do you want?</a:t>
            </a:r>
          </a:p>
        </p:txBody>
      </p:sp>
      <p:sp>
        <p:nvSpPr>
          <p:cNvPr id="14" name="Model B"/>
          <p:cNvSpPr/>
          <p:nvPr/>
        </p:nvSpPr>
        <p:spPr>
          <a:xfrm>
            <a:off x="599846" y="4709160"/>
            <a:ext cx="4754880" cy="548640"/>
          </a:xfrm>
          <a:prstGeom prst="rect">
            <a:avLst/>
          </a:prstGeom>
          <a:noFill/>
          <a:ln/>
        </p:spPr>
        <p:txBody>
          <a:bodyPr wrap="square" lIns="0" tIns="0" rIns="0" bIns="0" rtlCol="0" anchor="t"/>
          <a:lstStyle/>
          <a:p>
            <a:pPr algn="l" indent="0" marL="0">
              <a:spcAft>
                <a:spcPts val="400"/>
              </a:spcAft>
              <a:buNone/>
            </a:pPr>
            <a:r>
              <a:rPr lang="en-US" sz="2200" dirty="0" b="1">
                <a:solidFill>
                  <a:srgbClr val="5B3FC4"/>
                </a:solidFill>
                <a:latin typeface="Lexend Deca" pitchFamily="34" charset="0"/>
                <a:ea typeface="Lexend Deca" pitchFamily="34" charset="-122"/>
                <a:cs typeface="Lexend Deca" pitchFamily="34" charset="-120"/>
              </a:rPr>
              <a:t>B: I want a taco, please.</a:t>
            </a:r>
          </a:p>
        </p:txBody>
      </p:sp>
      <p:sp>
        <p:nvSpPr>
          <p:cNvPr id="139" name="List shadow"/>
          <p:cNvSpPr/>
          <p:nvPr/>
        </p:nvSpPr>
        <p:spPr>
          <a:xfrm>
            <a:off x="6053328" y="1298448"/>
            <a:ext cx="5760720" cy="3154680"/>
          </a:xfrm>
          <a:prstGeom prst="roundRect">
            <a:avLst>
              <a:gd name="adj" fmla="val 16667"/>
            </a:avLst>
          </a:prstGeom>
          <a:solidFill>
            <a:srgbClr val="8FAFE3"/>
          </a:solidFill>
          <a:ln/>
        </p:spPr>
        <p:txBody>
          <a:bodyPr/>
          <a:p/>
        </p:txBody>
      </p:sp>
      <p:sp>
        <p:nvSpPr>
          <p:cNvPr id="140" name="List card"/>
          <p:cNvSpPr/>
          <p:nvPr/>
        </p:nvSpPr>
        <p:spPr>
          <a:xfrm>
            <a:off x="5989320" y="1234440"/>
            <a:ext cx="5760720" cy="3154680"/>
          </a:xfrm>
          <a:prstGeom prst="roundRect">
            <a:avLst>
              <a:gd name="adj" fmla="val 16667"/>
            </a:avLst>
          </a:prstGeom>
          <a:solidFill>
            <a:srgbClr val="FFFFFF"/>
          </a:solidFill>
          <a:ln/>
        </p:spPr>
        <p:txBody>
          <a:bodyPr/>
          <a:p/>
        </p:txBody>
      </p:sp>
      <p:sp>
        <p:nvSpPr>
          <p:cNvPr id="141" name="Question list"/>
          <p:cNvSpPr/>
          <p:nvPr/>
        </p:nvSpPr>
        <p:spPr>
          <a:xfrm>
            <a:off x="6263640" y="1463040"/>
            <a:ext cx="5303520" cy="2834640"/>
          </a:xfrm>
          <a:prstGeom prst="rect">
            <a:avLst/>
          </a:prstGeom>
          <a:noFill/>
          <a:ln/>
        </p:spPr>
        <p:txBody>
          <a:bodyPr wrap="square" lIns="0" tIns="0" rIns="0" bIns="0" rtlCol="0" anchor="t"/>
          <a:lstStyle/>
          <a:p>
            <a:pPr algn="l" indent="0" marL="0">
              <a:lnSpc>
                <a:spcPct val="110000"/>
              </a:lnSpc>
              <a:buNone/>
            </a:pPr>
            <a:r>
              <a:rPr lang="en-US" sz="2200" dirty="0" b="1">
                <a:solidFill>
                  <a:srgbClr val="5B3FC4"/>
                </a:solidFill>
                <a:latin typeface="Lexend Deca" pitchFamily="34" charset="0"/>
                <a:ea typeface="Lexend Deca" pitchFamily="34" charset="-122"/>
                <a:cs typeface="Lexend Deca" pitchFamily="34" charset="-120"/>
              </a:rPr>
              <a:t>A says:</a:t>
            </a:r>
          </a:p>
          <a:p>
            <a:pPr algn="l" indent="0" marL="0">
              <a:lnSpc>
                <a:spcPct val="110000"/>
              </a:lnSpc>
              <a:buNone/>
            </a:pPr>
            <a:r>
              <a:rPr lang="en-US" sz="2200" dirty="0" b="0">
                <a:solidFill>
                  <a:srgbClr val="1B2236"/>
                </a:solidFill>
                <a:latin typeface="Lexend Deca" pitchFamily="34" charset="0"/>
                <a:ea typeface="Lexend Deca" pitchFamily="34" charset="-122"/>
                <a:cs typeface="Lexend Deca" pitchFamily="34" charset="-120"/>
              </a:rPr>
              <a:t>For here or to go?</a:t>
            </a:r>
          </a:p>
          <a:p>
            <a:pPr algn="l" indent="0" marL="0">
              <a:lnSpc>
                <a:spcPct val="110000"/>
              </a:lnSpc>
              <a:buNone/>
            </a:pPr>
            <a:r>
              <a:rPr lang="en-US" sz="2200" dirty="0" b="0">
                <a:solidFill>
                  <a:srgbClr val="1B2236"/>
                </a:solidFill>
                <a:latin typeface="Lexend Deca" pitchFamily="34" charset="0"/>
                <a:ea typeface="Lexend Deca" pitchFamily="34" charset="-122"/>
                <a:cs typeface="Lexend Deca" pitchFamily="34" charset="-120"/>
              </a:rPr>
              <a:t>Anything else? That's $___.</a:t>
            </a:r>
          </a:p>
          <a:p>
            <a:pPr algn="l" indent="0" marL="0">
              <a:lnSpc>
                <a:spcPct val="110000"/>
              </a:lnSpc>
              <a:buNone/>
            </a:pPr>
            <a:r>
              <a:rPr lang="en-US" sz="2200" dirty="0" b="1">
                <a:solidFill>
                  <a:srgbClr val="5B3FC4"/>
                </a:solidFill>
                <a:latin typeface="Lexend Deca" pitchFamily="34" charset="0"/>
                <a:ea typeface="Lexend Deca" pitchFamily="34" charset="-122"/>
                <a:cs typeface="Lexend Deca" pitchFamily="34" charset="-120"/>
              </a:rPr>
              <a:t>B says:</a:t>
            </a:r>
            <a:r>
              <a:rPr lang="en-US" sz="2200" dirty="0" b="0">
                <a:solidFill>
                  <a:srgbClr val="1B2236"/>
                </a:solidFill>
                <a:latin typeface="Lexend Deca" pitchFamily="34" charset="0"/>
                <a:ea typeface="Lexend Deca" pitchFamily="34" charset="-122"/>
                <a:cs typeface="Lexend Deca" pitchFamily="34" charset="-120"/>
              </a:rPr>
              <a:t> To go, please.</a:t>
            </a:r>
          </a:p>
          <a:p>
            <a:pPr algn="l" indent="0" marL="0">
              <a:lnSpc>
                <a:spcPct val="110000"/>
              </a:lnSpc>
              <a:buNone/>
            </a:pPr>
            <a:r>
              <a:rPr lang="en-US" sz="2200" dirty="0" b="0">
                <a:solidFill>
                  <a:srgbClr val="1B2236"/>
                </a:solidFill>
                <a:latin typeface="Lexend Deca" pitchFamily="34" charset="0"/>
                <a:ea typeface="Lexend Deca" pitchFamily="34" charset="-122"/>
                <a:cs typeface="Lexend Deca" pitchFamily="34" charset="-120"/>
              </a:rPr>
              <a:t>How much is it? </a:t>
            </a:r>
            <a:r>
              <a:rPr lang="en-US" sz="2200" dirty="0" b="1">
                <a:solidFill>
                  <a:srgbClr val="5B3FC4"/>
                </a:solidFill>
                <a:latin typeface="Lexend Deca" pitchFamily="34" charset="0"/>
                <a:ea typeface="Lexend Deca" pitchFamily="34" charset="-122"/>
                <a:cs typeface="Lexend Deca" pitchFamily="34" charset="-120"/>
              </a:rPr>
              <a:t>Here's $___.</a:t>
            </a:r>
          </a:p>
          <a:p>
            <a:pPr algn="l" indent="0" marL="0">
              <a:lnSpc>
                <a:spcPct val="110000"/>
              </a:lnSpc>
              <a:buNone/>
            </a:pPr>
            <a:r>
              <a:rPr lang="en-US" sz="2200" dirty="0" b="1">
                <a:solidFill>
                  <a:srgbClr val="5B3FC4"/>
                </a:solidFill>
                <a:latin typeface="Lexend Deca" pitchFamily="34" charset="0"/>
                <a:ea typeface="Lexend Deca" pitchFamily="34" charset="-122"/>
                <a:cs typeface="Lexend Deca" pitchFamily="34" charset="-120"/>
              </a:rPr>
              <a:t>Then:</a:t>
            </a:r>
            <a:r>
              <a:rPr lang="en-US" sz="2200" dirty="0" b="0">
                <a:solidFill>
                  <a:srgbClr val="1B2236"/>
                </a:solidFill>
                <a:latin typeface="Lexend Deca" pitchFamily="34" charset="0"/>
                <a:ea typeface="Lexend Deca" pitchFamily="34" charset="-122"/>
                <a:cs typeface="Lexend Deca" pitchFamily="34" charset="-120"/>
              </a:rPr>
              <a:t> switch.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658368"/>
          </a:xfrm>
          <a:prstGeom prst="round1Rect">
            <a:avLst>
              <a:gd name="adj" fmla="val 23087"/>
            </a:avLst>
          </a:prstGeom>
          <a:solidFill>
            <a:srgbClr val="FFFFFF"/>
          </a:solidFill>
          <a:ln/>
        </p:spPr>
        <p:txBody>
          <a:bodyPr/>
          <a:p/>
        </p:txBody>
      </p:sp>
      <p:sp>
        <p:nvSpPr>
          <p:cNvPr id="5" name="Shape 3"/>
          <p:cNvSpPr/>
          <p:nvPr/>
        </p:nvSpPr>
        <p:spPr>
          <a:xfrm>
            <a:off x="1583741" y="3108960"/>
            <a:ext cx="5130698" cy="658368"/>
          </a:xfrm>
          <a:prstGeom prst="round1Rect">
            <a:avLst>
              <a:gd name="adj" fmla="val 23087"/>
            </a:avLst>
          </a:prstGeom>
          <a:solidFill>
            <a:srgbClr val="FFFFFF"/>
          </a:solidFill>
          <a:ln/>
        </p:spPr>
        <p:txBody>
          <a:bodyPr/>
          <a:p/>
        </p:txBody>
      </p:sp>
      <p:sp>
        <p:nvSpPr>
          <p:cNvPr id="6" name="Shape 4"/>
          <p:cNvSpPr/>
          <p:nvPr/>
        </p:nvSpPr>
        <p:spPr>
          <a:xfrm>
            <a:off x="1583741" y="3822191"/>
            <a:ext cx="5130698" cy="658368"/>
          </a:xfrm>
          <a:prstGeom prst="round1Rect">
            <a:avLst>
              <a:gd name="adj" fmla="val 23087"/>
            </a:avLst>
          </a:prstGeom>
          <a:solidFill>
            <a:srgbClr val="FFFFFF"/>
          </a:solidFill>
          <a:ln/>
        </p:spPr>
        <p:txBody>
          <a:bodyPr/>
          <a:p/>
        </p:txBody>
      </p:sp>
      <p:sp>
        <p:nvSpPr>
          <p:cNvPr id="7" name="Shape 5"/>
          <p:cNvSpPr/>
          <p:nvPr/>
        </p:nvSpPr>
        <p:spPr>
          <a:xfrm>
            <a:off x="1583741" y="4535424"/>
            <a:ext cx="5130698" cy="658368"/>
          </a:xfrm>
          <a:prstGeom prst="round1Rect">
            <a:avLst>
              <a:gd name="adj" fmla="val 23087"/>
            </a:avLst>
          </a:prstGeom>
          <a:solidFill>
            <a:srgbClr val="FFFFFF"/>
          </a:solidFill>
          <a:ln/>
        </p:spPr>
        <p:txBody>
          <a:bodyPr/>
          <a:p/>
        </p:txBody>
      </p:sp>
      <p:sp>
        <p:nvSpPr>
          <p:cNvPr id="50" name="Row card 5"/>
          <p:cNvSpPr/>
          <p:nvPr/>
        </p:nvSpPr>
        <p:spPr>
          <a:xfrm>
            <a:off x="1583741" y="5248656"/>
            <a:ext cx="5130698" cy="658368"/>
          </a:xfrm>
          <a:prstGeom prst="round1Rect">
            <a:avLst>
              <a:gd name="adj" fmla="val 23087"/>
            </a:avLst>
          </a:prstGeom>
          <a:solidFill>
            <a:srgbClr val="FFFFFF"/>
          </a:solidFill>
          <a:ln/>
        </p:spPr>
        <p:txBody>
          <a:bodyPr/>
          <a:p/>
        </p:txBody>
      </p:sp>
      <p:sp>
        <p:nvSpPr>
          <p:cNvPr id="55" name="Row card 5"/>
          <p:cNvSpPr/>
          <p:nvPr/>
        </p:nvSpPr>
        <p:spPr>
          <a:xfrm>
            <a:off x="1583741" y="5961888"/>
            <a:ext cx="5130698" cy="658368"/>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Write like, don't, want, or to go.</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Look at Grammar Boxes 1–4.</a:t>
            </a:r>
          </a:p>
        </p:txBody>
      </p:sp>
      <p:sp>
        <p:nvSpPr>
          <p:cNvPr id="11" name="Text 9"/>
          <p:cNvSpPr/>
          <p:nvPr/>
        </p:nvSpPr>
        <p:spPr>
          <a:xfrm>
            <a:off x="1810512" y="2395728"/>
            <a:ext cx="3429000" cy="658368"/>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____ fruit.</a:t>
            </a:r>
          </a:p>
        </p:txBody>
      </p:sp>
      <p:sp>
        <p:nvSpPr>
          <p:cNvPr id="13" name="Text 11"/>
          <p:cNvSpPr/>
          <p:nvPr/>
        </p:nvSpPr>
        <p:spPr>
          <a:xfrm>
            <a:off x="1810512" y="3108960"/>
            <a:ext cx="3429000" cy="658368"/>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____ like soda.</a:t>
            </a:r>
          </a:p>
        </p:txBody>
      </p:sp>
      <p:sp>
        <p:nvSpPr>
          <p:cNvPr id="15" name="Text 13"/>
          <p:cNvSpPr/>
          <p:nvPr/>
        </p:nvSpPr>
        <p:spPr>
          <a:xfrm>
            <a:off x="1810512" y="3822191"/>
            <a:ext cx="3429000" cy="658368"/>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____ a taco, please.</a:t>
            </a:r>
          </a:p>
        </p:txBody>
      </p:sp>
      <p:sp>
        <p:nvSpPr>
          <p:cNvPr id="17" name="Text 15"/>
          <p:cNvSpPr/>
          <p:nvPr/>
        </p:nvSpPr>
        <p:spPr>
          <a:xfrm>
            <a:off x="1810512" y="4535424"/>
            <a:ext cx="3429000" cy="658368"/>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To go or for here?</a:t>
            </a:r>
          </a:p>
          <a:p>
            <a:pPr algn="l" indent="0" marL="0">
              <a:buNone/>
            </a:pPr>
            <a:r>
              <a:rPr lang="en-US" sz="1800" dirty="0">
                <a:solidFill>
                  <a:srgbClr val="1B2236"/>
                </a:solidFill>
                <a:latin typeface="Lexend Deca" pitchFamily="34" charset="0"/>
                <a:ea typeface="Lexend Deca" pitchFamily="34" charset="-122"/>
                <a:cs typeface="Lexend Deca" pitchFamily="34" charset="-120"/>
              </a:rPr>
              <a:t>→ ____, please.</a:t>
            </a:r>
          </a:p>
        </p:txBody>
      </p:sp>
      <p:sp>
        <p:nvSpPr>
          <p:cNvPr id="51" name="Row text 5"/>
          <p:cNvSpPr/>
          <p:nvPr/>
        </p:nvSpPr>
        <p:spPr>
          <a:xfrm>
            <a:off x="1810512" y="5248656"/>
            <a:ext cx="3429000" cy="658368"/>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Do you ____ fish?</a:t>
            </a:r>
          </a:p>
          <a:p>
            <a:pPr algn="l" indent="0" marL="0">
              <a:buNone/>
            </a:pPr>
            <a:r>
              <a:rPr lang="en-US" sz="1800" dirty="0">
                <a:solidFill>
                  <a:srgbClr val="1B2236"/>
                </a:solidFill>
                <a:latin typeface="Lexend Deca" pitchFamily="34" charset="0"/>
                <a:ea typeface="Lexend Deca" pitchFamily="34" charset="-122"/>
                <a:cs typeface="Lexend Deca" pitchFamily="34" charset="-120"/>
              </a:rPr>
              <a:t>→ Yes, I do.</a:t>
            </a:r>
          </a:p>
        </p:txBody>
      </p:sp>
      <p:sp>
        <p:nvSpPr>
          <p:cNvPr id="58" name="Row text 5"/>
          <p:cNvSpPr/>
          <p:nvPr/>
        </p:nvSpPr>
        <p:spPr>
          <a:xfrm>
            <a:off x="1810512" y="5961888"/>
            <a:ext cx="3429000" cy="658368"/>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____ coffee</a:t>
            </a:r>
          </a:p>
          <a:p>
            <a:pPr algn="l" indent="0" marL="0">
              <a:buNone/>
            </a:pPr>
            <a:r>
              <a:rPr lang="en-US" sz="1800" dirty="0">
                <a:solidFill>
                  <a:srgbClr val="1B2236"/>
                </a:solidFill>
                <a:latin typeface="Lexend Deca" pitchFamily="34" charset="0"/>
                <a:ea typeface="Lexend Deca" pitchFamily="34" charset="-122"/>
                <a:cs typeface="Lexend Deca" pitchFamily="34" charset="-120"/>
              </a:rPr>
              <a:t>in the morning.</a:t>
            </a:r>
          </a:p>
        </p:txBody>
      </p:sp>
      <p:sp>
        <p:nvSpPr>
          <p:cNvPr id="21" name="Shape 19"/>
          <p:cNvSpPr/>
          <p:nvPr/>
        </p:nvSpPr>
        <p:spPr>
          <a:xfrm>
            <a:off x="544982" y="2395728"/>
            <a:ext cx="1039673" cy="658368"/>
          </a:xfrm>
          <a:prstGeom prst="rect">
            <a:avLst/>
          </a:prstGeom>
          <a:solidFill>
            <a:srgbClr val="B9D2F7"/>
          </a:solidFill>
          <a:ln/>
        </p:spPr>
        <p:txBody>
          <a:bodyPr/>
          <a:p/>
        </p:txBody>
      </p:sp>
      <p:sp>
        <p:nvSpPr>
          <p:cNvPr id="22" name="Text 20"/>
          <p:cNvSpPr/>
          <p:nvPr/>
        </p:nvSpPr>
        <p:spPr>
          <a:xfrm>
            <a:off x="686714" y="24323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3108960"/>
            <a:ext cx="1039673" cy="658368"/>
          </a:xfrm>
          <a:prstGeom prst="rect">
            <a:avLst/>
          </a:prstGeom>
          <a:solidFill>
            <a:srgbClr val="B9D2F7"/>
          </a:solidFill>
          <a:ln/>
        </p:spPr>
        <p:txBody>
          <a:bodyPr/>
          <a:p/>
        </p:txBody>
      </p:sp>
      <p:sp>
        <p:nvSpPr>
          <p:cNvPr id="24" name="Text 22"/>
          <p:cNvSpPr/>
          <p:nvPr/>
        </p:nvSpPr>
        <p:spPr>
          <a:xfrm>
            <a:off x="686714" y="31455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5" name="Shape 23"/>
          <p:cNvSpPr/>
          <p:nvPr/>
        </p:nvSpPr>
        <p:spPr>
          <a:xfrm>
            <a:off x="544982" y="3822191"/>
            <a:ext cx="1039673" cy="658368"/>
          </a:xfrm>
          <a:prstGeom prst="rect">
            <a:avLst/>
          </a:prstGeom>
          <a:solidFill>
            <a:srgbClr val="B9D2F7"/>
          </a:solidFill>
          <a:ln/>
        </p:spPr>
        <p:txBody>
          <a:bodyPr/>
          <a:p/>
        </p:txBody>
      </p:sp>
      <p:sp>
        <p:nvSpPr>
          <p:cNvPr id="26" name="Text 24"/>
          <p:cNvSpPr/>
          <p:nvPr/>
        </p:nvSpPr>
        <p:spPr>
          <a:xfrm>
            <a:off x="686714" y="385876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a:p>
        </p:txBody>
      </p:sp>
      <p:sp>
        <p:nvSpPr>
          <p:cNvPr id="27" name="Shape 25"/>
          <p:cNvSpPr/>
          <p:nvPr/>
        </p:nvSpPr>
        <p:spPr>
          <a:xfrm>
            <a:off x="544982" y="4535424"/>
            <a:ext cx="1039673" cy="658368"/>
          </a:xfrm>
          <a:prstGeom prst="rect">
            <a:avLst/>
          </a:prstGeom>
          <a:solidFill>
            <a:srgbClr val="B9D2F7"/>
          </a:solidFill>
          <a:ln/>
        </p:spPr>
        <p:txBody>
          <a:bodyPr/>
          <a:p/>
        </p:txBody>
      </p:sp>
      <p:sp>
        <p:nvSpPr>
          <p:cNvPr id="28" name="Text 26"/>
          <p:cNvSpPr/>
          <p:nvPr/>
        </p:nvSpPr>
        <p:spPr>
          <a:xfrm>
            <a:off x="686714" y="4572000"/>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a:p>
        </p:txBody>
      </p:sp>
      <p:sp>
        <p:nvSpPr>
          <p:cNvPr id="52" name="Row chip 5"/>
          <p:cNvSpPr/>
          <p:nvPr/>
        </p:nvSpPr>
        <p:spPr>
          <a:xfrm>
            <a:off x="544982" y="5248656"/>
            <a:ext cx="1039673" cy="658368"/>
          </a:xfrm>
          <a:prstGeom prst="rect">
            <a:avLst/>
          </a:prstGeom>
          <a:solidFill>
            <a:srgbClr val="B9D2F7"/>
          </a:solidFill>
          <a:ln/>
        </p:spPr>
        <p:txBody>
          <a:bodyPr/>
          <a:p/>
        </p:txBody>
      </p:sp>
      <p:sp>
        <p:nvSpPr>
          <p:cNvPr id="56" name="Row chip 5"/>
          <p:cNvSpPr/>
          <p:nvPr/>
        </p:nvSpPr>
        <p:spPr>
          <a:xfrm>
            <a:off x="544982" y="5961888"/>
            <a:ext cx="1039673" cy="658368"/>
          </a:xfrm>
          <a:prstGeom prst="rect">
            <a:avLst/>
          </a:prstGeom>
          <a:solidFill>
            <a:srgbClr val="B9D2F7"/>
          </a:solidFill>
          <a:ln/>
        </p:spPr>
        <p:txBody>
          <a:bodyPr/>
          <a:p/>
        </p:txBody>
      </p:sp>
      <p:sp>
        <p:nvSpPr>
          <p:cNvPr id="53" name="Row number 5"/>
          <p:cNvSpPr/>
          <p:nvPr/>
        </p:nvSpPr>
        <p:spPr>
          <a:xfrm>
            <a:off x="686714" y="528523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a:p>
        </p:txBody>
      </p:sp>
      <p:sp>
        <p:nvSpPr>
          <p:cNvPr id="57" name="Row number 5"/>
          <p:cNvSpPr/>
          <p:nvPr/>
        </p:nvSpPr>
        <p:spPr>
          <a:xfrm>
            <a:off x="686714" y="599846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6</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like, don't, want?</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like: </a:t>
            </a:r>
            <a:r>
              <a:rPr lang="en-US" sz="2000" dirty="0" b="1">
                <a:solidFill>
                  <a:srgbClr val="5B3FC4"/>
                </a:solidFill>
                <a:latin typeface="Lexend Deca" pitchFamily="34" charset="0"/>
                <a:ea typeface="Lexend Deca" pitchFamily="34" charset="-122"/>
                <a:cs typeface="Lexend Deca" pitchFamily="34" charset="-120"/>
              </a:rPr>
              <a:t>good for me</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want: </a:t>
            </a:r>
            <a:r>
              <a:rPr lang="en-US" sz="2000" dirty="0" b="1">
                <a:solidFill>
                  <a:srgbClr val="5B3FC4"/>
                </a:solidFill>
                <a:latin typeface="Lexend Deca" pitchFamily="34" charset="0"/>
                <a:ea typeface="Lexend Deca" pitchFamily="34" charset="-122"/>
                <a:cs typeface="Lexend Deca" pitchFamily="34" charset="-120"/>
              </a:rPr>
              <a:t>I ask now</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check your answers.</a:t>
            </a:r>
          </a:p>
        </p:txBody>
      </p:sp>
      <p:sp>
        <p:nvSpPr>
          <p:cNvPr id="34" name="Answer 1"/>
          <p:cNvSpPr/>
          <p:nvPr/>
        </p:nvSpPr>
        <p:spPr>
          <a:xfrm>
            <a:off x="5257800" y="249631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like</a:t>
            </a:r>
          </a:p>
        </p:txBody>
      </p:sp>
      <p:sp>
        <p:nvSpPr>
          <p:cNvPr id="35" name="Answer 2"/>
          <p:cNvSpPr/>
          <p:nvPr/>
        </p:nvSpPr>
        <p:spPr>
          <a:xfrm>
            <a:off x="5257800" y="3209544"/>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don't</a:t>
            </a:r>
          </a:p>
        </p:txBody>
      </p:sp>
      <p:sp>
        <p:nvSpPr>
          <p:cNvPr id="36" name="Answer 3"/>
          <p:cNvSpPr/>
          <p:nvPr/>
        </p:nvSpPr>
        <p:spPr>
          <a:xfrm>
            <a:off x="5257800" y="392277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want</a:t>
            </a:r>
          </a:p>
        </p:txBody>
      </p:sp>
      <p:sp>
        <p:nvSpPr>
          <p:cNvPr id="37" name="Answer 4"/>
          <p:cNvSpPr/>
          <p:nvPr/>
        </p:nvSpPr>
        <p:spPr>
          <a:xfrm>
            <a:off x="5257800" y="4636008"/>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To go</a:t>
            </a:r>
          </a:p>
        </p:txBody>
      </p:sp>
      <p:sp>
        <p:nvSpPr>
          <p:cNvPr id="54" name="Answer 5"/>
          <p:cNvSpPr/>
          <p:nvPr/>
        </p:nvSpPr>
        <p:spPr>
          <a:xfrm>
            <a:off x="5257800" y="5349240"/>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like</a:t>
            </a:r>
          </a:p>
        </p:txBody>
      </p:sp>
      <p:sp>
        <p:nvSpPr>
          <p:cNvPr id="59" name="Answer 5"/>
          <p:cNvSpPr/>
          <p:nvPr/>
        </p:nvSpPr>
        <p:spPr>
          <a:xfrm>
            <a:off x="5257800" y="606247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like / want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400"/>
                                        <p:tgtEl>
                                          <p:spTgt spid="5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fade">
                                      <p:cBhvr>
                                        <p:cTn id="32"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713232"/>
          </a:xfrm>
          <a:prstGeom prst="round1Rect">
            <a:avLst>
              <a:gd name="adj" fmla="val 23087"/>
            </a:avLst>
          </a:prstGeom>
          <a:solidFill>
            <a:srgbClr val="FFFFFF"/>
          </a:solidFill>
          <a:ln/>
        </p:spPr>
        <p:txBody>
          <a:bodyPr/>
          <a:p/>
        </p:txBody>
      </p:sp>
      <p:sp>
        <p:nvSpPr>
          <p:cNvPr id="5" name="Shape 3"/>
          <p:cNvSpPr/>
          <p:nvPr/>
        </p:nvSpPr>
        <p:spPr>
          <a:xfrm>
            <a:off x="1583741" y="3182112"/>
            <a:ext cx="5130698" cy="713232"/>
          </a:xfrm>
          <a:prstGeom prst="round1Rect">
            <a:avLst>
              <a:gd name="adj" fmla="val 23087"/>
            </a:avLst>
          </a:prstGeom>
          <a:solidFill>
            <a:srgbClr val="FFFFFF"/>
          </a:solidFill>
          <a:ln/>
        </p:spPr>
        <p:txBody>
          <a:bodyPr/>
          <a:p/>
        </p:txBody>
      </p:sp>
      <p:sp>
        <p:nvSpPr>
          <p:cNvPr id="6" name="Shape 4"/>
          <p:cNvSpPr/>
          <p:nvPr/>
        </p:nvSpPr>
        <p:spPr>
          <a:xfrm>
            <a:off x="1583741" y="3968496"/>
            <a:ext cx="5130698" cy="1188720"/>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Read. Circle.</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for here or to go?</a:t>
            </a:r>
          </a:p>
        </p:txBody>
      </p:sp>
      <p:sp>
        <p:nvSpPr>
          <p:cNvPr id="11" name="Text 9"/>
          <p:cNvSpPr/>
          <p:nvPr/>
        </p:nvSpPr>
        <p:spPr>
          <a:xfrm>
            <a:off x="1810512" y="2395728"/>
            <a:ext cx="3520440" cy="713232"/>
          </a:xfrm>
          <a:prstGeom prst="rect">
            <a:avLst/>
          </a:prstGeom>
          <a:noFill/>
          <a:ln/>
        </p:spPr>
        <p:txBody>
          <a:bodyPr wrap="square" rtlCol="0" anchor="ctr" tIns="0" bIns="0"/>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You eat at the truck.</a:t>
            </a:r>
          </a:p>
          <a:p>
            <a:pPr algn="l" indent="0" marL="0">
              <a:buNone/>
            </a:pPr>
            <a:r>
              <a:rPr lang="en-US" sz="1800" dirty="0" b="1">
                <a:solidFill>
                  <a:srgbClr val="1B2236"/>
                </a:solidFill>
                <a:latin typeface="Lexend Deca" pitchFamily="34" charset="0"/>
                <a:ea typeface="Lexend Deca" pitchFamily="34" charset="-122"/>
                <a:cs typeface="Lexend Deca" pitchFamily="34" charset="-120"/>
              </a:rPr>
              <a:t>for here   to go</a:t>
            </a:r>
          </a:p>
        </p:txBody>
      </p:sp>
      <p:sp>
        <p:nvSpPr>
          <p:cNvPr id="13" name="Text 11"/>
          <p:cNvSpPr/>
          <p:nvPr/>
        </p:nvSpPr>
        <p:spPr>
          <a:xfrm>
            <a:off x="1810512" y="3182112"/>
            <a:ext cx="3520440" cy="713232"/>
          </a:xfrm>
          <a:prstGeom prst="rect">
            <a:avLst/>
          </a:prstGeom>
          <a:noFill/>
          <a:ln/>
        </p:spPr>
        <p:txBody>
          <a:bodyPr wrap="square" rtlCol="0" anchor="ctr" tIns="0" bIns="0"/>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You take the food home.</a:t>
            </a:r>
          </a:p>
          <a:p>
            <a:pPr algn="l" indent="0" marL="0">
              <a:buNone/>
            </a:pPr>
            <a:r>
              <a:rPr lang="en-US" sz="1800" dirty="0" b="1">
                <a:solidFill>
                  <a:srgbClr val="1B2236"/>
                </a:solidFill>
                <a:latin typeface="Lexend Deca" pitchFamily="34" charset="0"/>
                <a:ea typeface="Lexend Deca" pitchFamily="34" charset="-122"/>
                <a:cs typeface="Lexend Deca" pitchFamily="34" charset="-120"/>
              </a:rPr>
              <a:t>for here   to go</a:t>
            </a:r>
          </a:p>
        </p:txBody>
      </p:sp>
      <p:sp>
        <p:nvSpPr>
          <p:cNvPr id="15" name="Text 13"/>
          <p:cNvSpPr/>
          <p:nvPr/>
        </p:nvSpPr>
        <p:spPr>
          <a:xfrm>
            <a:off x="1810512" y="3968496"/>
            <a:ext cx="2926080" cy="1188720"/>
          </a:xfrm>
          <a:prstGeom prst="rect">
            <a:avLst/>
          </a:prstGeom>
          <a:noFill/>
          <a:ln/>
        </p:spPr>
        <p:txBody>
          <a:bodyPr wrap="square" rtlCol="0" anchor="ctr" tIns="0" bIns="0"/>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The server asks:</a:t>
            </a:r>
          </a:p>
          <a:p>
            <a:pPr algn="l" indent="0" marL="0">
              <a:buNone/>
            </a:pPr>
            <a:r>
              <a:rPr lang="en-US" sz="1800" dirty="0" b="1">
                <a:solidFill>
                  <a:srgbClr val="1B2236"/>
                </a:solidFill>
                <a:latin typeface="Lexend Deca" pitchFamily="34" charset="0"/>
                <a:ea typeface="Lexend Deca" pitchFamily="34" charset="-122"/>
                <a:cs typeface="Lexend Deca" pitchFamily="34" charset="-120"/>
              </a:rPr>
              <a:t>Anything else?</a:t>
            </a:r>
          </a:p>
          <a:p>
            <a:pPr algn="l" indent="0" marL="0">
              <a:buNone/>
            </a:pPr>
            <a:r>
              <a:rPr lang="en-US" sz="1800" dirty="0" b="1">
                <a:solidFill>
                  <a:srgbClr val="1B2236"/>
                </a:solidFill>
                <a:latin typeface="Lexend Deca" pitchFamily="34" charset="0"/>
                <a:ea typeface="Lexend Deca" pitchFamily="34" charset="-122"/>
                <a:cs typeface="Lexend Deca" pitchFamily="34" charset="-120"/>
              </a:rPr>
              <a:t>How old are you?</a:t>
            </a:r>
          </a:p>
        </p:txBody>
      </p:sp>
      <p:sp>
        <p:nvSpPr>
          <p:cNvPr id="21" name="Shape 19"/>
          <p:cNvSpPr/>
          <p:nvPr/>
        </p:nvSpPr>
        <p:spPr>
          <a:xfrm>
            <a:off x="544982" y="2395728"/>
            <a:ext cx="1039673" cy="713232"/>
          </a:xfrm>
          <a:prstGeom prst="rect">
            <a:avLst/>
          </a:prstGeom>
          <a:solidFill>
            <a:srgbClr val="B9D2F7"/>
          </a:solidFill>
          <a:ln/>
        </p:spPr>
        <p:txBody>
          <a:bodyPr/>
          <a:p/>
        </p:txBody>
      </p:sp>
      <p:sp>
        <p:nvSpPr>
          <p:cNvPr id="22" name="Text 20"/>
          <p:cNvSpPr/>
          <p:nvPr/>
        </p:nvSpPr>
        <p:spPr>
          <a:xfrm>
            <a:off x="686714" y="24597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3182112"/>
            <a:ext cx="1039673" cy="713232"/>
          </a:xfrm>
          <a:prstGeom prst="rect">
            <a:avLst/>
          </a:prstGeom>
          <a:solidFill>
            <a:srgbClr val="B9D2F7"/>
          </a:solidFill>
          <a:ln/>
        </p:spPr>
        <p:txBody>
          <a:bodyPr/>
          <a:p/>
        </p:txBody>
      </p:sp>
      <p:sp>
        <p:nvSpPr>
          <p:cNvPr id="24" name="Text 22"/>
          <p:cNvSpPr/>
          <p:nvPr/>
        </p:nvSpPr>
        <p:spPr>
          <a:xfrm>
            <a:off x="686714" y="3246120"/>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5" name="Shape 23"/>
          <p:cNvSpPr/>
          <p:nvPr/>
        </p:nvSpPr>
        <p:spPr>
          <a:xfrm>
            <a:off x="544982" y="3968496"/>
            <a:ext cx="1039673" cy="1188720"/>
          </a:xfrm>
          <a:prstGeom prst="rect">
            <a:avLst/>
          </a:prstGeom>
          <a:solidFill>
            <a:srgbClr val="B9D2F7"/>
          </a:solidFill>
          <a:ln/>
        </p:spPr>
        <p:txBody>
          <a:bodyPr/>
          <a:p/>
        </p:txBody>
      </p:sp>
      <p:sp>
        <p:nvSpPr>
          <p:cNvPr id="26" name="Text 24"/>
          <p:cNvSpPr/>
          <p:nvPr/>
        </p:nvSpPr>
        <p:spPr>
          <a:xfrm>
            <a:off x="686714" y="427024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For Here</a:t>
            </a:r>
          </a:p>
          <a:p>
            <a:pPr algn="l" indent="0" marL="0">
              <a:buNone/>
            </a:pPr>
            <a:r>
              <a:rPr lang="en-US" sz="4000" dirty="0" b="1">
                <a:solidFill>
                  <a:srgbClr val="1B2236"/>
                </a:solidFill>
                <a:latin typeface="Lexend Deca" pitchFamily="34" charset="0"/>
                <a:ea typeface="Lexend Deca" pitchFamily="34" charset="-122"/>
                <a:cs typeface="Lexend Deca" pitchFamily="34" charset="-120"/>
              </a:rPr>
              <a:t>or To Go?</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Read each line.</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Circle: </a:t>
            </a:r>
            <a:r>
              <a:rPr lang="en-US" sz="2000" dirty="0" b="1">
                <a:solidFill>
                  <a:srgbClr val="5B3FC4"/>
                </a:solidFill>
                <a:latin typeface="Lexend Deca" pitchFamily="34" charset="0"/>
                <a:ea typeface="Lexend Deca" pitchFamily="34" charset="-122"/>
                <a:cs typeface="Lexend Deca" pitchFamily="34" charset="-120"/>
              </a:rPr>
              <a:t>for here</a:t>
            </a:r>
            <a:r>
              <a:rPr lang="en-US" sz="2000" dirty="0" b="0">
                <a:solidFill>
                  <a:srgbClr val="1B2236"/>
                </a:solidFill>
                <a:latin typeface="Lexend Deca" pitchFamily="34" charset="0"/>
                <a:ea typeface="Lexend Deca" pitchFamily="34" charset="-122"/>
                <a:cs typeface="Lexend Deca" pitchFamily="34" charset="-120"/>
              </a:rPr>
              <a:t> or </a:t>
            </a:r>
            <a:r>
              <a:rPr lang="en-US" sz="2000" dirty="0" b="1">
                <a:solidFill>
                  <a:srgbClr val="5B3FC4"/>
                </a:solidFill>
                <a:latin typeface="Lexend Deca" pitchFamily="34" charset="0"/>
                <a:ea typeface="Lexend Deca" pitchFamily="34" charset="-122"/>
                <a:cs typeface="Lexend Deca" pitchFamily="34" charset="-120"/>
              </a:rPr>
              <a:t>to go.</a:t>
            </a:r>
          </a:p>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Pairs: check your answers.</a:t>
            </a:r>
          </a:p>
        </p:txBody>
      </p:sp>
      <p:sp>
        <p:nvSpPr>
          <p:cNvPr id="34" name="Answer 1"/>
          <p:cNvSpPr/>
          <p:nvPr/>
        </p:nvSpPr>
        <p:spPr>
          <a:xfrm>
            <a:off x="5394960" y="2523744"/>
            <a:ext cx="1261872"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 here</a:t>
            </a:r>
          </a:p>
        </p:txBody>
      </p:sp>
      <p:sp>
        <p:nvSpPr>
          <p:cNvPr id="35" name="Answer 2"/>
          <p:cNvSpPr/>
          <p:nvPr/>
        </p:nvSpPr>
        <p:spPr>
          <a:xfrm>
            <a:off x="5394960" y="3310128"/>
            <a:ext cx="1261872"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to go</a:t>
            </a:r>
          </a:p>
        </p:txBody>
      </p:sp>
      <p:sp>
        <p:nvSpPr>
          <p:cNvPr id="36" name="Answer 3"/>
          <p:cNvSpPr/>
          <p:nvPr/>
        </p:nvSpPr>
        <p:spPr>
          <a:xfrm>
            <a:off x="4754880" y="4526280"/>
            <a:ext cx="19202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Anything else?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5">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076429" y="533095"/>
            <a:ext cx="5814670" cy="1554480"/>
          </a:xfrm>
          <a:prstGeom prst="roundRect">
            <a:avLst>
              <a:gd name="adj" fmla="val 16667"/>
            </a:avLst>
          </a:prstGeom>
          <a:solidFill>
            <a:srgbClr val="8FAFE3"/>
          </a:solidFill>
          <a:ln/>
        </p:spPr>
        <p:txBody>
          <a:bodyPr/>
          <a:p/>
        </p:txBody>
      </p:sp>
      <p:sp>
        <p:nvSpPr>
          <p:cNvPr id="3" name="Shape 1"/>
          <p:cNvSpPr/>
          <p:nvPr/>
        </p:nvSpPr>
        <p:spPr>
          <a:xfrm>
            <a:off x="5110582" y="457200"/>
            <a:ext cx="5814670" cy="1554480"/>
          </a:xfrm>
          <a:prstGeom prst="roundRect">
            <a:avLst>
              <a:gd name="adj" fmla="val 16667"/>
            </a:avLst>
          </a:prstGeom>
          <a:solidFill>
            <a:srgbClr val="FFFFFF"/>
          </a:solidFill>
          <a:ln/>
        </p:spPr>
        <p:txBody>
          <a:bodyPr/>
          <a:p/>
        </p:txBody>
      </p:sp>
      <p:sp>
        <p:nvSpPr>
          <p:cNvPr id="4" name="Shape 2"/>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ture menu with prices picture" descr="picture menu with prices"/>
          <p:cNvPicPr>
            <a:picLocks noChangeAspect="1"/>
          </p:cNvPicPr>
          <p:nvPr/>
        </p:nvPicPr>
        <p:blipFill>
          <a:blip r:embed="rIdImg1"/>
          <a:stretch>
            <a:fillRect/>
          </a:stretch>
        </p:blipFill>
        <p:spPr>
          <a:xfrm>
            <a:off x="182880" y="811530"/>
            <a:ext cx="3429000" cy="2400300"/>
          </a:xfrm>
          <a:prstGeom prst="rect">
            <a:avLst/>
          </a:prstGeom>
        </p:spPr>
      </p:pic>
      <p:sp>
        <p:nvSpPr>
          <p:cNvPr id="7" name="Text 5"/>
          <p:cNvSpPr/>
          <p:nvPr/>
        </p:nvSpPr>
        <p:spPr>
          <a:xfrm>
            <a:off x="5333695" y="566928"/>
            <a:ext cx="4846320" cy="13258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5</a:t>
            </a:r>
          </a:p>
          <a:p>
            <a:pPr algn="l" indent="0" marL="0">
              <a:spcAft>
                <a:spcPts val="400"/>
              </a:spcAft>
              <a:buNone/>
            </a:pPr>
            <a:r>
              <a:rPr lang="en-US" sz="3000" dirty="0" b="1">
                <a:solidFill>
                  <a:srgbClr val="1B2236"/>
                </a:solidFill>
                <a:latin typeface="Lexend Deca" pitchFamily="34" charset="0"/>
                <a:ea typeface="Lexend Deca" pitchFamily="34" charset="-122"/>
                <a:cs typeface="Lexend Deca" pitchFamily="34" charset="-120"/>
              </a:rPr>
              <a:t>How much is it?</a:t>
            </a:r>
          </a:p>
        </p:txBody>
      </p:sp>
      <p:sp>
        <p:nvSpPr>
          <p:cNvPr id="8" name="Text 6"/>
          <p:cNvSpPr/>
          <p:nvPr/>
        </p:nvSpPr>
        <p:spPr>
          <a:xfrm>
            <a:off x="5166360" y="219456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SERVER</a:t>
            </a:r>
            <a:endParaRPr lang="en-US" sz="2000" dirty="0"/>
          </a:p>
        </p:txBody>
      </p:sp>
      <p:sp>
        <p:nvSpPr>
          <p:cNvPr id="11" name="Text 9"/>
          <p:cNvSpPr/>
          <p:nvPr/>
        </p:nvSpPr>
        <p:spPr>
          <a:xfrm>
            <a:off x="8321040" y="219456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YOU</a:t>
            </a:r>
            <a:endParaRPr lang="en-US" sz="2000" dirty="0"/>
          </a:p>
        </p:txBody>
      </p:sp>
      <p:sp>
        <p:nvSpPr>
          <p:cNvPr id="20" name="Question 1"/>
          <p:cNvSpPr/>
          <p:nvPr/>
        </p:nvSpPr>
        <p:spPr>
          <a:xfrm>
            <a:off x="5138928" y="2697480"/>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How much is it?</a:t>
            </a:r>
          </a:p>
        </p:txBody>
      </p:sp>
      <p:sp>
        <p:nvSpPr>
          <p:cNvPr id="22" name="Answer bg 1"/>
          <p:cNvSpPr/>
          <p:nvPr/>
        </p:nvSpPr>
        <p:spPr>
          <a:xfrm>
            <a:off x="8321040" y="2697480"/>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1" name="Answer 1"/>
          <p:cNvSpPr/>
          <p:nvPr/>
        </p:nvSpPr>
        <p:spPr>
          <a:xfrm>
            <a:off x="8321040" y="2697480"/>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It's </a:t>
            </a:r>
            <a:r>
              <a:rPr lang="en-US" sz="1900" dirty="0" b="1">
                <a:solidFill>
                  <a:srgbClr val="5B3FC4"/>
                </a:solidFill>
                <a:latin typeface="Lexend Deca" pitchFamily="34" charset="0"/>
                <a:ea typeface="Lexend Deca" pitchFamily="34" charset="-122"/>
                <a:cs typeface="Lexend Deca" pitchFamily="34" charset="-120"/>
              </a:rPr>
              <a:t>$5.</a:t>
            </a:r>
          </a:p>
          <a:p>
            <a:pPr algn="l" indent="0" marL="0">
              <a:buNone/>
            </a:pPr>
            <a:r>
              <a:rPr lang="en-US" sz="1900" dirty="0" b="1">
                <a:solidFill>
                  <a:srgbClr val="5B3FC4"/>
                </a:solidFill>
                <a:latin typeface="Lexend Deca" pitchFamily="34" charset="0"/>
                <a:ea typeface="Lexend Deca" pitchFamily="34" charset="-122"/>
                <a:cs typeface="Lexend Deca" pitchFamily="34" charset="-120"/>
              </a:rPr>
              <a:t>five dollars.</a:t>
            </a:r>
          </a:p>
        </p:txBody>
      </p:sp>
      <p:sp>
        <p:nvSpPr>
          <p:cNvPr id="25" name="Question 2"/>
          <p:cNvSpPr/>
          <p:nvPr/>
        </p:nvSpPr>
        <p:spPr>
          <a:xfrm>
            <a:off x="5138928" y="3675888"/>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That's $5.</a:t>
            </a:r>
          </a:p>
        </p:txBody>
      </p:sp>
      <p:sp>
        <p:nvSpPr>
          <p:cNvPr id="27" name="Answer bg 2"/>
          <p:cNvSpPr/>
          <p:nvPr/>
        </p:nvSpPr>
        <p:spPr>
          <a:xfrm>
            <a:off x="8321040" y="3675888"/>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2"/>
          <p:cNvSpPr/>
          <p:nvPr/>
        </p:nvSpPr>
        <p:spPr>
          <a:xfrm>
            <a:off x="8321040" y="3675888"/>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Here's </a:t>
            </a:r>
            <a:r>
              <a:rPr lang="en-US" sz="1900" dirty="0" b="1">
                <a:solidFill>
                  <a:srgbClr val="5B3FC4"/>
                </a:solidFill>
                <a:latin typeface="Lexend Deca" pitchFamily="34" charset="0"/>
                <a:ea typeface="Lexend Deca" pitchFamily="34" charset="-122"/>
                <a:cs typeface="Lexend Deca" pitchFamily="34" charset="-120"/>
              </a:rPr>
              <a:t>$10.</a:t>
            </a:r>
          </a:p>
        </p:txBody>
      </p:sp>
      <p:sp>
        <p:nvSpPr>
          <p:cNvPr id="72" name="Answer bg 3"/>
          <p:cNvSpPr/>
          <p:nvPr/>
        </p:nvSpPr>
        <p:spPr>
          <a:xfrm>
            <a:off x="8321040" y="4654296"/>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82" name="Answer 3"/>
          <p:cNvSpPr/>
          <p:nvPr/>
        </p:nvSpPr>
        <p:spPr>
          <a:xfrm>
            <a:off x="8321040" y="4654296"/>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Thank you!</a:t>
            </a:r>
          </a:p>
        </p:txBody>
      </p:sp>
      <p:sp>
        <p:nvSpPr>
          <p:cNvPr id="92" name="Question 3"/>
          <p:cNvSpPr/>
          <p:nvPr/>
        </p:nvSpPr>
        <p:spPr>
          <a:xfrm>
            <a:off x="5138928" y="4654296"/>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Your change is $5.</a:t>
            </a:r>
          </a:p>
        </p:txBody>
      </p:sp>
      <p:pic>
        <p:nvPicPr>
          <p:cNvPr id="95" name="Food to go picture" descr="food to go"/>
          <p:cNvPicPr>
            <a:picLocks noChangeAspect="1"/>
          </p:cNvPicPr>
          <p:nvPr/>
        </p:nvPicPr>
        <p:blipFill>
          <a:blip r:embed="rIdImg2"/>
          <a:stretch>
            <a:fillRect/>
          </a:stretch>
        </p:blipFill>
        <p:spPr>
          <a:xfrm>
            <a:off x="182880" y="3646170"/>
            <a:ext cx="3429000" cy="2400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par>
                                <p:cTn id="16" presetID="10" presetClass="entr" presetSubtype="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4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fade">
                                      <p:cBhvr>
                                        <p:cTn id="23" dur="400"/>
                                        <p:tgtEl>
                                          <p:spTgt spid="72"/>
                                        </p:tgtEl>
                                      </p:cBhvr>
                                    </p:animEffect>
                                  </p:childTnLst>
                                </p:cTn>
                              </p:par>
                              <p:par>
                                <p:cTn id="24" presetID="10" presetClass="entr" presetSubtype="0" fill="hold" nodeType="withEffect">
                                  <p:stCondLst>
                                    <p:cond delay="0"/>
                                  </p:stCondLst>
                                  <p:childTnLst>
                                    <p:set>
                                      <p:cBhvr>
                                        <p:cTn id="25" dur="1" fill="hold">
                                          <p:stCondLst>
                                            <p:cond delay="0"/>
                                          </p:stCondLst>
                                        </p:cTn>
                                        <p:tgtEl>
                                          <p:spTgt spid="82"/>
                                        </p:tgtEl>
                                        <p:attrNameLst>
                                          <p:attrName>style.visibility</p:attrName>
                                        </p:attrNameLst>
                                      </p:cBhvr>
                                      <p:to>
                                        <p:strVal val="visible"/>
                                      </p:to>
                                    </p:set>
                                    <p:animEffect transition="in" filter="fade">
                                      <p:cBhvr>
                                        <p:cTn id="26" dur="4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1 Lesson 7: How Much Is It?</dc:title>
  <dc:subject>Adult ESL Level 1, Lesson 7</dc:subject>
  <dc:creator>Level 1 ESL</dc:creator>
  <cp:lastModifiedBy>Level 1 ESL</cp:lastModifiedBy>
  <cp:revision>1</cp:revision>
  <dcterms:created xsi:type="dcterms:W3CDTF">2026-10-15T20:54:31Z</dcterms:created>
  <dcterms:modified xsi:type="dcterms:W3CDTF">2026-10-15T20:54:31Z</dcterms:modified>
</cp:coreProperties>
</file>