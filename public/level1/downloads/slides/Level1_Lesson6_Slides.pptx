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31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7" r:id="rId13"/>
    <p:sldId id="257" r:id="rId3"/>
    <p:sldId id="265" r:id="rId11"/>
    <p:sldId id="276" r:id="rId27"/>
    <p:sldId id="264" r:id="rId10"/>
    <p:sldId id="280" r:id="rId31"/>
    <p:sldId id="287" r:id="rId38"/>
    <p:sldId id="260" r:id="rId6"/>
    <p:sldId id="266" r:id="rId12"/>
    <p:sldId id="259" r:id="rId5"/>
    <p:sldId id="277" r:id="rId28"/>
    <p:sldId id="289" r:id="rId40"/>
    <p:sldId id="278" r:id="rId29"/>
    <p:sldId id="270" r:id="rId16"/>
    <p:sldId id="288" r:id="rId39"/>
    <p:sldId id="271" r:id="rId17"/>
    <p:sldId id="286" r:id="rId37"/>
    <p:sldId id="290" r:id="rId41"/>
    <p:sldId id="281" r:id="rId32"/>
    <p:sldId id="279" r:id="rId30"/>
    <p:sldId id="261" r:id="rId7"/>
    <p:sldId id="283" r:id="rId34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21.xml"/><Relationship Id="rId10" Type="http://schemas.openxmlformats.org/officeDocument/2006/relationships/slide" Target="slides/slide8.xml"/><Relationship Id="rId11" Type="http://schemas.openxmlformats.org/officeDocument/2006/relationships/slide" Target="slides/slide5.xml"/><Relationship Id="rId12" Type="http://schemas.openxmlformats.org/officeDocument/2006/relationships/slide" Target="slides/slide14.xml"/><Relationship Id="rId13" Type="http://schemas.openxmlformats.org/officeDocument/2006/relationships/slide" Target="slides/slide2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20" Type="http://schemas.openxmlformats.org/officeDocument/2006/relationships/slide" Target="slides/slide23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6.xml"/><Relationship Id="rId28" Type="http://schemas.openxmlformats.org/officeDocument/2006/relationships/slide" Target="slides/slide11.xml"/><Relationship Id="rId29" Type="http://schemas.openxmlformats.org/officeDocument/2006/relationships/slide" Target="slides/slide16.xml"/><Relationship Id="rId30" Type="http://schemas.openxmlformats.org/officeDocument/2006/relationships/slide" Target="slides/slide4.xml"/><Relationship Id="rId31" Type="http://schemas.openxmlformats.org/officeDocument/2006/relationships/slide" Target="slides/slide15.xml"/><Relationship Id="rId32" Type="http://schemas.openxmlformats.org/officeDocument/2006/relationships/slide" Target="slides/slide19.xml"/><Relationship Id="rId34" Type="http://schemas.openxmlformats.org/officeDocument/2006/relationships/slide" Target="slides/slide22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Welcome. Say: "Today: time and days." Point to the clock: "What time is it?"</a:t>
            </a:r>
          </a:p>
          <a:p>
            <a:r>
              <a:rPr lang="en-US"/>
              <a:t>Bring a clock you can move. A paper plate with two paper hands and a pin works well. Teach :00 and :30 first, then :15 and :45.</a:t>
            </a:r>
          </a:p>
          <a:p>
            <a:r>
              <a:rPr lang="en-US"/>
              <a:t>Teach in English. Show, point, and gesture. Say less, show more.</a:t>
            </a:r>
          </a:p>
          <a:p>
            <a:r>
              <a:rPr lang="en-US"/>
              <a:t>Class plan: 6:00 Hello + Review, 6:10 New Words, 6:20 Listening, 6:32 Grammar, 6:45 Break, 7:00 Talk Time, 7:10 Exit Ticket + Homework, 7:15 Letters &amp; Numbers, 7:25 Progress Check.</a:t>
            </a:r>
          </a:p>
          <a:p>
            <a:r>
              <a:rPr lang="en-US"/>
              <a:t>Source: level1_curriculum/lesson6/Level1_Lesson6.md (At a glance, How to Use This Plan, Clock-time plan).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lesson6/images/CREDITS.md).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Pairs. Review of last week (jobs). 15 learners: 7 pairs + 1 group of 3. 7–8 learners: 3–4 pairs. Late arrivals join any pair.</a:t>
            </a:r>
          </a:p>
          <a:p>
            <a:r>
              <a:rPr lang="en-US"/>
              <a:t>Before class, write on the board: What do you do? Where do you work? Do you work at night? and the 3 "everyone" answers: I'm a student. I'm a homemaker. I don't work now.</a:t>
            </a:r>
          </a:p>
          <a:p>
            <a:r>
              <a:rPr lang="en-US"/>
              <a:t>Model with one learner: "What do you do?" "I'm a cashier." "Where do you work?" "I work at a store."</a:t>
            </a:r>
          </a:p>
          <a:p>
            <a:r>
              <a:rPr lang="en-US"/>
              <a:t>Click to show the A question. Click again for the B answers. Partners switch, then find a new partner. Help: "Can you repeat, please?" "How do you spell it?"</a:t>
            </a:r>
          </a:p>
          <a:p>
            <a:r>
              <a:rPr lang="en-US"/>
              <a:t>Last 3 minutes: homework check. Partners show each other the Lesson 5 homework. Look at item 2 (a / an).</a:t>
            </a:r>
          </a:p>
          <a:p>
            <a:r>
              <a:rPr lang="en-US"/>
              <a:t>New learners: pair them with a strong partner. If behind: one partner only.</a:t>
            </a:r>
          </a:p>
          <a:p>
            <a:r>
              <a:rPr lang="en-US"/>
              <a:t>Source: level1_curriculum/lesson6/Level1_Lesson6.md (Step 1: Hello + Review; Student Pages: Hello + Review).</a:t>
            </a:r>
          </a:p>
          <a:p>
            <a:r>
              <a:rPr lang="en-US"/>
              <a:t>Review picture: the cook from Lesson 5 (lesson5/images/L1_L5_cook.png). Pictures: Twemoji graphics by Twitter, Inc. and other contributors (https://github.com/jdecked/twemoji), CC BY 4.0 (https://creativecommons.org/licenses/by/4.0/); resized and combined with drawn parts (see lesson6/images/CREDITS.md).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Box 3: ask "When do you work?" Click: "On Monday and Tuesday. In the morning."</a:t>
            </a:r>
          </a:p>
          <a:p>
            <a:r>
              <a:rPr lang="en-US"/>
              <a:t>Learners who don't work: "When is English class?" Click: "On Monday, at 6:00."</a:t>
            </a:r>
          </a:p>
          <a:p>
            <a:r>
              <a:rPr lang="en-US"/>
              <a:t>Box 4 (top right): at + a time, on + a day, in + the morning / the afternoon / the evening. Say once: at night (not in the night).</a:t>
            </a:r>
          </a:p>
          <a:p>
            <a:r>
              <a:rPr lang="en-US"/>
              <a:t>Check question: "I work ___ the morning." (in)</a:t>
            </a:r>
          </a:p>
          <a:p>
            <a:r>
              <a:rPr lang="en-US"/>
              <a:t>Don't ask about real work hours if a learner doesn't offer them. "English class is on Monday at 6:00" is always a good answer.</a:t>
            </a:r>
          </a:p>
          <a:p>
            <a:r>
              <a:rPr lang="en-US"/>
              <a:t>Source: level1_curriculum/lesson6/Level1_Lesson6.md (Step 4: Grammar Q&amp;A, Boxes 3 and 4; Teacher notes).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the Grammar page. The left side is the question. The right side is the answer. Point left, then right.</a:t>
            </a:r>
          </a:p>
          <a:p>
            <a:r>
              <a:rPr lang="en-US"/>
              <a:t>Move the class clock: 6:00, 6:30, 6:15, 6:45. Ask "What time is it?" The class answers "It's…" each time. Click to show each answer.</a:t>
            </a:r>
          </a:p>
          <a:p>
            <a:r>
              <a:rPr lang="en-US"/>
              <a:t>Teach :00 and :30 first. :15 and :45 are said as numbers: six fifteen, six forty-five. (Quarter past / quarter to is Level 2; accept it if a learner knows it.)</a:t>
            </a:r>
          </a:p>
          <a:p>
            <a:r>
              <a:rPr lang="en-US"/>
              <a:t>The big mistake: "They are six." In English: It's six o'clock. Tap the clock: "It's six."</a:t>
            </a:r>
          </a:p>
          <a:p>
            <a:r>
              <a:rPr lang="en-US"/>
              <a:t>Source: level1_curriculum/lesson6/Level1_Lesson6.md (Step 4: Grammar Q&amp;A, Box 1; Teacher notes).</a:t>
            </a:r>
          </a:p>
          <a:p>
            <a:r>
              <a:rPr lang="en-US"/>
              <a:t>Pictures: drawn in code for this curriculum (see lesson6/images/CREDITS.md).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Progress Check (5 min). Individuals. Open the Progress Check page.</a:t>
            </a:r>
          </a:p>
          <a:p>
            <a:r>
              <a:rPr lang="en-US"/>
              <a:t>Part A: read the 5 times slowly, 2 times each: 1 6:30, 2 7:15, 3 3:00, 4 9:45, 5 11:30. Learners circle.</a:t>
            </a:r>
          </a:p>
          <a:p>
            <a:r>
              <a:rPr lang="en-US"/>
              <a:t>Parts B and C: learners match and write on their own. Help with the instructions only. Click to show the Part B answers when you check together: 1 c, 2 a, 3 d, 4 b.</a:t>
            </a:r>
          </a:p>
          <a:p>
            <a:r>
              <a:rPr lang="en-US"/>
              <a:t>Part C answers: 1 at, 2 on, 3 in.</a:t>
            </a:r>
          </a:p>
          <a:p>
            <a:r>
              <a:rPr lang="en-US"/>
              <a:t>Part D: read each "I can…" line and point to the 3 faces: 😀 "I can do it." 🙂 "A little." 😐 "Not yet." Learners check one.</a:t>
            </a:r>
          </a:p>
          <a:p>
            <a:r>
              <a:rPr lang="en-US"/>
              <a:t>Score: A /5 + B /4 + C /3 = /12. This is not a test grade. Part A shows who can hear times; Part C shows at / on / in. Collect the pages. If behind: do it in Week 7 at 6:00, while learners arrive.</a:t>
            </a:r>
          </a:p>
          <a:p>
            <a:r>
              <a:rPr lang="en-US"/>
              <a:t>Source: level1_curriculum/lesson6/Level1_Lesson6.md (Progress Check;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Before you listen (1 min). Say: "Kim calls a laundromat." Mime washing clothes. "She hears a message. Then she calls a school." Hold up your phone.</a:t>
            </a:r>
          </a:p>
          <a:p>
            <a:r>
              <a:rPr lang="en-US"/>
              <a:t>Click to show each listen. Listen 1: Task A (circle the time). Listen 2: Task B (check the days). Listen 3: Task C (write the times and the word).</a:t>
            </a:r>
          </a:p>
          <a:p>
            <a:r>
              <a:rPr lang="en-US"/>
              <a:t>Say it!: read each line. Learners repeat.</a:t>
            </a:r>
          </a:p>
          <a:p>
            <a:r>
              <a:rPr lang="en-US"/>
              <a:t>The audio L1_L6_listening.mp3 (about 1:00) plays the message and the call once. Press play again for the next listen. Pairs compare after each task.</a:t>
            </a:r>
          </a:p>
          <a:p>
            <a:r>
              <a:rPr lang="en-US"/>
              <a:t>No speaker? Read the script with a volunteer (one person reads the message and the receptionist; the other reads Kim).</a:t>
            </a:r>
          </a:p>
          <a:p>
            <a:r>
              <a:rPr lang="en-US"/>
              <a:t>Voices: Narrator, store message, Receptionist, Kim. Synthetic voices made with Chatterbox TTS (MIT), copied from short reference clips made with Kokoro-82M (Apache 2.0); no recordings of real people.</a:t>
            </a:r>
          </a:p>
          <a:p>
            <a:r>
              <a:rPr lang="en-US"/>
              <a:t>Source: level1_curriculum/lesson6/Level1_Lesson6.md (Step 3: Listening; Listening script).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lesson6/images/CREDITS.md).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Show the class clock. Set it to 9:00: "What time is it? It's nine o'clock." Move it to 9:30: "It's nine thirty." Write on the board: 9:00 = nine o'clock, 9:30 = nine thirty = half past nine.</a:t>
            </a:r>
          </a:p>
          <a:p>
            <a:r>
              <a:rPr lang="en-US"/>
              <a:t>Click to show each picture. Point and say the word. Learners repeat 2 times.</a:t>
            </a:r>
          </a:p>
          <a:p>
            <a:r>
              <a:rPr lang="en-US"/>
              <a:t>morning / afternoon / evening: move your arm like the sun (low, high, gone).</a:t>
            </a:r>
          </a:p>
          <a:p>
            <a:r>
              <a:rPr lang="en-US"/>
              <a:t>Say "It's six o'clock", never "They are six".</a:t>
            </a:r>
          </a:p>
          <a:p>
            <a:r>
              <a:rPr lang="en-US"/>
              <a:t>★ = most important words. If behind: teach :00 and :30 only.</a:t>
            </a:r>
          </a:p>
          <a:p>
            <a:r>
              <a:rPr lang="en-US"/>
              <a:t>Source: level1_curriculum/lesson6/Level1_Lesson6.md (Step 2: New Words; Student Pages: New Words).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lesson6/images/CREDITS.md).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Draw 3 boxes on the board: at 6:00 (a clock), on Monday (a calendar), in the morning (a sun).</a:t>
            </a:r>
          </a:p>
          <a:p>
            <a:r>
              <a:rPr lang="en-US"/>
              <a:t>Ask: "What time is class?" Click: "It's at 6:00." Say: "at + time."</a:t>
            </a:r>
          </a:p>
          <a:p>
            <a:r>
              <a:rPr lang="en-US"/>
              <a:t>Ask: "What day is class?" Click: "It's on Monday." Say: "on + day." Say on Monday, not the Monday.</a:t>
            </a:r>
          </a:p>
          <a:p>
            <a:r>
              <a:rPr lang="en-US"/>
              <a:t>Check questions: "Class is ___ 6:00." (at) "Class is ___ Monday." (on)</a:t>
            </a:r>
          </a:p>
          <a:p>
            <a:r>
              <a:rPr lang="en-US"/>
              <a:t>Source: level1_curriculum/lesson6/Level1_Lesson6.md (Step 4: Grammar Q&amp;A, Boxes 2 and 4; Grammar Box 2;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lesson6/images/CREDITS.md).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Click to show each goal, one at a time. Read it aloud. Learners repeat.</a:t>
            </a:r>
          </a:p>
          <a:p>
            <a:r>
              <a:rPr lang="en-US"/>
              <a:t>Goal 1: move the class clock. "What time is it?" "It's six thirty."</a:t>
            </a:r>
          </a:p>
          <a:p>
            <a:r>
              <a:rPr lang="en-US"/>
              <a:t>Goal 3: at + a time (at 6:00), on + a day (on Monday), in + the morning.</a:t>
            </a:r>
          </a:p>
          <a:p>
            <a:r>
              <a:rPr lang="en-US"/>
              <a:t>Goal 5: learners who don't work can say: "English class is on Monday, at 6:00."</a:t>
            </a:r>
          </a:p>
          <a:p>
            <a:r>
              <a:rPr lang="en-US"/>
              <a:t>Letters &amp; Numbers at 7:15: writing times, short day names (Mon., Tue.), and a store-hours sign.</a:t>
            </a:r>
          </a:p>
          <a:p>
            <a:r>
              <a:rPr lang="en-US"/>
              <a:t>Source: level1_curriculum/lesson6/Level1_Lesson6.md (At a glance: Objectives).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A–B pairs. Give half the class the Student A page and half the Student B page. Partners don't show their pages.</a:t>
            </a:r>
          </a:p>
          <a:p>
            <a:r>
              <a:rPr lang="en-US"/>
              <a:t>Model with one learner (you are A): "Is the library open on Monday?" "No, it isn't." "Is it open on Tuesday?" "Yes, it is." "What time is it open?" "From 10:00 to 6:00." Write it in an empty table on the board.</a:t>
            </a:r>
          </a:p>
          <a:p>
            <a:r>
              <a:rPr lang="en-US"/>
              <a:t>Click to show each step. Part 1 (6 min): A asks about B's 3 places and writes the days and times. Then B asks about A's places. Check (1 min): partners show their pages and compare.</a:t>
            </a:r>
          </a:p>
          <a:p>
            <a:r>
              <a:rPr lang="en-US"/>
              <a:t>Answer key: Clinic Mon.–Fri. 8:00–5:00. Store every day 7:00–10:00. Laundromat Mon.–Sat. 6:00–9:00. Library Tue.–Sat. 10:00–6:00. Restaurant every day 11:00–9:00. Bank Mon.–Fri. 9:00–4:00.</a:t>
            </a:r>
          </a:p>
          <a:p>
            <a:r>
              <a:rPr lang="en-US"/>
              <a:t>With an odd number, two Bs share one A. Learners who can't read or write yet ask the questions while a partner writes, or they point to the days.</a:t>
            </a:r>
          </a:p>
          <a:p>
            <a:r>
              <a:rPr lang="en-US"/>
              <a:t>Source: level1_curriculum/lesson6/Level1_Lesson6.md (Step 5: Talk Time, Part 1; Student Pages: Talk Time A and B; Answer key).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lesson6/images/CREDITS.md).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Exit ticket (never skip): set the class clock to a time. Each learner says the time ("It's seven fifteen.") or writes one sentence: Class is on ___, at ___. Copying is fine.</a:t>
            </a:r>
          </a:p>
          <a:p>
            <a:r>
              <a:rPr lang="en-US"/>
              <a:t>Homework (10 minutes): open the Homework page. Do item 1 together (the first line). Point to each instruction.</a:t>
            </a:r>
          </a:p>
          <a:p>
            <a:r>
              <a:rPr lang="en-US"/>
              <a:t>Homework: 1) English class is on ___, at ___. I work on ___ (or I don't work now); 2) at, on, or in; 3) write the time with numbers; 4) ask a family member or a friend 3 times: What time is it?; 5) review: I'm a / an ___ (or My mother is a / an ___).</a:t>
            </a:r>
          </a:p>
          <a:p>
            <a:r>
              <a:rPr lang="en-US"/>
              <a:t>Homework answers: item 2: 1 on, 2 at, 3 in, 4 on, 5 at. Item 3: 1 7:00, 2 8:30, 3 4:15, 4 5:45.</a:t>
            </a:r>
          </a:p>
          <a:p>
            <a:r>
              <a:rPr lang="en-US"/>
              <a:t>Source: level1_curriculum/lesson6/Level1_Lesson6.md (Step 6: Exit Ticket + Homework; Student Pages: Homework; Answer key).</a:t>
            </a:r>
          </a:p>
          <a:p>
            <a:r>
              <a:rPr lang="en-US"/>
              <a:t>Pictures: drawn in code for this curriculum (see lesson6/images/CREDITS.md).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Credits for the pictures, audio, and font.</a:t>
            </a:r>
          </a:p>
          <a:p>
            <a:r>
              <a:rPr lang="en-US"/>
              <a:t>Pictures: Twemoji (CC BY 4.0), https://github.com/jdecked/twemoji. Clock faces and the store-hours sign drawn in code. Review picture (cook) from Lesson 5. Audio: Chatterbox TTS (MIT) voices copied from short Kokoro-82M (Apache 2.0) reference clips; no recordings of real people.</a:t>
            </a:r>
          </a:p>
          <a:p>
            <a:r>
              <a:rPr lang="en-US"/>
              <a:t>Sources: Level1_Lesson6.md (Picture Credits), lesson6/images/CREDITS.md.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Click to show each picture. Say the word. Learners repeat 2 times.</a:t>
            </a:r>
          </a:p>
          <a:p>
            <a:r>
              <a:rPr lang="en-US"/>
              <a:t>Days: say Monday to Sunday. Learners repeat. Then: "Week = 7 days. Weekend = Saturday and Sunday."</a:t>
            </a:r>
          </a:p>
          <a:p>
            <a:r>
              <a:rPr lang="en-US"/>
              <a:t>open / closed: point to the signs. "The store is open." "The store is closed."</a:t>
            </a:r>
          </a:p>
          <a:p>
            <a:r>
              <a:rPr lang="en-US"/>
              <a:t>Pairs (4 min): A sets a time on the class clock (or draws hands on paper), B says it. Then A points to a picture, B says the word.</a:t>
            </a:r>
          </a:p>
          <a:p>
            <a:r>
              <a:rPr lang="en-US"/>
              <a:t>★ = most important words.</a:t>
            </a:r>
          </a:p>
          <a:p>
            <a:r>
              <a:rPr lang="en-US"/>
              <a:t>Source: level1_curriculum/lesson6/Level1_Lesson6.md (Step 2: New Words; Student Pages: New Words).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lesson6/images/CREDITS.md).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Point to the CLOSED sign: "Is the store open on Sunday?" Click: "No, it isn't. It's closed."</a:t>
            </a:r>
          </a:p>
          <a:p>
            <a:r>
              <a:rPr lang="en-US"/>
              <a:t>Right box: "Is it open on Monday?" "What time is it open?" Click: "Yes, it is. From 9:00 to 5:00."</a:t>
            </a:r>
          </a:p>
          <a:p>
            <a:r>
              <a:rPr lang="en-US"/>
              <a:t>Say closed, not close: "The store is closed."</a:t>
            </a:r>
          </a:p>
          <a:p>
            <a:r>
              <a:rPr lang="en-US"/>
              <a:t>Pair drill (last 3–4 min): A asks from the left side of the Grammar page; B answers from the right side. Then switch.</a:t>
            </a:r>
          </a:p>
          <a:p>
            <a:r>
              <a:rPr lang="en-US"/>
              <a:t>If behind: skip the pair drill. It becomes homework, and Talk Time practices the same questions.</a:t>
            </a:r>
          </a:p>
          <a:p>
            <a:r>
              <a:rPr lang="en-US"/>
              <a:t>Source: level1_curriculum/lesson6/Level1_Lesson6.md (Step 4: Grammar Q&amp;A, Box 5; pair drill).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lesson6/images/CREDITS.md).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each "Don't say" line. Shake your head. Click to show the correct line. Learners repeat it.</a:t>
            </a:r>
          </a:p>
          <a:p>
            <a:r>
              <a:rPr lang="en-US"/>
              <a:t>The big mistake this week: "They are six." Spanish says "Son las seis." In English: It's six o'clock. Tap the clock: "It's six."</a:t>
            </a:r>
          </a:p>
          <a:p>
            <a:r>
              <a:rPr lang="en-US"/>
              <a:t>at 6:00, on Monday (not the Monday), in the morning, but at night.</a:t>
            </a:r>
          </a:p>
          <a:p>
            <a:r>
              <a:rPr lang="en-US"/>
              <a:t>Days always start with a capital letter: Monday. Say closed, not close.</a:t>
            </a:r>
          </a:p>
          <a:p>
            <a:r>
              <a:rPr lang="en-US"/>
              <a:t>Source: level1_curriculum/lesson6/Level1_Lesson6.md (Grammar: Common mistakes; Teacher notes).</a:t>
            </a:r>
          </a:p>
          <a:p>
            <a:r>
              <a:rPr lang="en-US"/>
              <a:t>Pictures: Twemoji graphics by Twitter, Inc. and other contributors (https://github.com/jdecked/twemoji), CC BY 4.0 (https://creativecommons.org/licenses/by/4.0/); resized and combined with drawn parts (see lesson6/images/CREDITS.md).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Task D (2 min). Read the sign together. Say: "AM = morning. PM = afternoon and night."</a:t>
            </a:r>
          </a:p>
          <a:p>
            <a:r>
              <a:rPr lang="en-US"/>
              <a:t>Read each line. Learners circle Yes or No and write the time. Then click to show each answer: 1 Yes, 2 No, 3 9:00 (9 AM) to 5:00 (5 PM).</a:t>
            </a:r>
          </a:p>
          <a:p>
            <a:r>
              <a:rPr lang="en-US"/>
              <a:t>Learners who can't read yet: read the sign aloud for them and let them answer by pointing.</a:t>
            </a:r>
          </a:p>
          <a:p>
            <a:r>
              <a:rPr lang="en-US"/>
              <a:t>If behind: do Tasks A and B only (skip this slide).</a:t>
            </a:r>
          </a:p>
          <a:p>
            <a:r>
              <a:rPr lang="en-US"/>
              <a:t>Source: level1_curriculum/lesson6/Level1_Lesson6.md (Letters &amp; Numbers, Task D; Answer key, Task D).</a:t>
            </a:r>
          </a:p>
          <a:p>
            <a:r>
              <a:rPr lang="en-US"/>
              <a:t>Picture: the store-hours sign is drawn in code; the hours are invented (see lesson6/images/CREDITS.md).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1 (Task A). Learners circle one time on each line.</a:t>
            </a:r>
          </a:p>
          <a:p>
            <a:r>
              <a:rPr lang="en-US"/>
              <a:t>Pairs compare: "Show your partner." Then click to show each answer: 1 7:00, 2 9:00, 3 6:00.</a:t>
            </a:r>
          </a:p>
          <a:p>
            <a:r>
              <a:rPr lang="en-US"/>
              <a:t>The message: open Monday to Saturday, from seven in the morning to nine at night. The English class is at six o'clock.</a:t>
            </a:r>
          </a:p>
          <a:p>
            <a:r>
              <a:rPr lang="en-US"/>
              <a:t>Source: level1_curriculum/lesson6/Level1_Lesson6.md (Step 3: Listening; Student Pages: Listening A; Answer key, Listening Task 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Task C (2 min). Days start with a capital letter: Monday. The short form is 3 letters + a period: Mon.</a:t>
            </a:r>
          </a:p>
          <a:p>
            <a:r>
              <a:rPr lang="en-US"/>
              <a:t>Read each day. Learners repeat. Click to show each short form: Mon., Tue., Wed., Thu., Fri., Sat., Sun. Learners write them.</a:t>
            </a:r>
          </a:p>
          <a:p>
            <a:r>
              <a:rPr lang="en-US"/>
              <a:t>AM / PM: say once on the next slide. Signs use them; learners don't need to say them.</a:t>
            </a:r>
          </a:p>
          <a:p>
            <a:r>
              <a:rPr lang="en-US"/>
              <a:t>Learners who can't read or write yet: in Task C they copy Mon. and Sat. only. A helper, if you have one, sits with them.</a:t>
            </a:r>
          </a:p>
          <a:p>
            <a:r>
              <a:rPr lang="en-US"/>
              <a:t>Source: level1_curriculum/lesson6/Level1_Lesson6.md (Letters &amp; Numbers, Task C; Answer key, Task C; Teacher notes).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Say: "Great work! See you next week!" Remind learners: bring the homework next week.</a:t>
            </a:r>
          </a:p>
          <a:p>
            <a:r>
              <a:rPr lang="en-US"/>
              <a:t>Collect the Progress Check pages (or check them at the start of Week 7).</a:t>
            </a:r>
          </a:p>
          <a:p>
            <a:r>
              <a:rPr lang="en-US"/>
              <a:t>Looking ahead: Lesson 7 (money and clothes) uses numbers again for prices (It's $12) and this / these.</a:t>
            </a:r>
          </a:p>
          <a:p>
            <a:r>
              <a:rPr lang="en-US"/>
              <a:t>Source: level1_curriculum/lesson6/Level1_Lesson6.md (Teacher notes: Looking ahead).</a:t>
            </a:r>
          </a:p>
          <a:p>
            <a:r>
              <a:rPr lang="en-US"/>
              <a:t>Pictures: drawn in code for this curriculum (see lesson6/images/CREDITS.md).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Letters &amp; Numbers (10 min). Whole class, then pairs. Use the Letters &amp; Numbers page.</a:t>
            </a:r>
          </a:p>
          <a:p>
            <a:r>
              <a:rPr lang="en-US"/>
              <a:t>Task A (2 min): point to each clock. Say: six o'clock, six fifteen, six thirty, six forty-five. Learners repeat. Click to show each time.</a:t>
            </a:r>
          </a:p>
          <a:p>
            <a:r>
              <a:rPr lang="en-US"/>
              <a:t>Show the : (two dots) between the hour and the minutes.</a:t>
            </a:r>
          </a:p>
          <a:p>
            <a:r>
              <a:rPr lang="en-US"/>
              <a:t>7:15 and 7:50 sound alike. Say "fif-TEEN" and "FIF-ty" with a clap, as in Lesson 3.</a:t>
            </a:r>
          </a:p>
          <a:p>
            <a:r>
              <a:rPr lang="en-US"/>
              <a:t>Learners who can't read or write yet: they say the times with everyone and point to the clocks.</a:t>
            </a:r>
          </a:p>
          <a:p>
            <a:r>
              <a:rPr lang="en-US"/>
              <a:t>Source: level1_curriculum/lesson6/Level1_Lesson6.md (Letters &amp; Numbers, Task A; Teacher notes).</a:t>
            </a:r>
          </a:p>
          <a:p>
            <a:r>
              <a:rPr lang="en-US"/>
              <a:t>Pictures: drawn in code for this curriculum (see lesson6/images/CREDITS.md).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Listen 2 (Task B): learners check the days on their page. Listen 3 (Task C): learners write the times and the word.</a:t>
            </a:r>
          </a:p>
          <a:p>
            <a:r>
              <a:rPr lang="en-US"/>
              <a:t>Pairs compare. Then click to show each answer.</a:t>
            </a:r>
          </a:p>
          <a:p>
            <a:r>
              <a:rPr lang="en-US"/>
              <a:t>Task B: the laundromat is open Mon., Tue., Wed., Thu., Fri., Sat. (not Sun.). The English class is on Mon. and Wed.</a:t>
            </a:r>
          </a:p>
          <a:p>
            <a:r>
              <a:rPr lang="en-US"/>
              <a:t>Task C: 1 from 9:00 to 3:00, 2 weekend.</a:t>
            </a:r>
          </a:p>
          <a:p>
            <a:r>
              <a:rPr lang="en-US"/>
              <a:t>If behind: play the audio 2 times, and do Task C together.</a:t>
            </a:r>
          </a:p>
          <a:p>
            <a:r>
              <a:rPr lang="en-US"/>
              <a:t>Source: level1_curriculum/lesson6/Level1_Lesson6.md (Step 3: Listening; Answer key, Listening Tasks B and 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2 (3 min). New question: "When do you work?" (or "When do you study? When is English class?").</a:t>
            </a:r>
          </a:p>
          <a:p>
            <a:r>
              <a:rPr lang="en-US"/>
              <a:t>Model it: "When do you work?" Click: "On Monday and Friday, in the morning."</a:t>
            </a:r>
          </a:p>
          <a:p>
            <a:r>
              <a:rPr lang="en-US"/>
              <a:t>Each learner says one sentence: "I work on Monday and Friday, in the morning." / "I don't work now. English class is on ___, at 6:00."</a:t>
            </a:r>
          </a:p>
          <a:p>
            <a:r>
              <a:rPr lang="en-US"/>
              <a:t>Strong learners can add from… to…: "I work from 8:00 to 4:00." Don't ask about real hours if a learner doesn't offer them.</a:t>
            </a:r>
          </a:p>
          <a:p>
            <a:r>
              <a:rPr lang="en-US"/>
              <a:t>If behind: skip Part 2.</a:t>
            </a:r>
          </a:p>
          <a:p>
            <a:r>
              <a:rPr lang="en-US"/>
              <a:t>Source: level1_curriculum/lesson6/Level1_Lesson6.md (Step 5: Talk Time, Part 2; Teacher notes).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Learners write at, on, or in on each line. Then pairs check.</a:t>
            </a:r>
          </a:p>
          <a:p>
            <a:r>
              <a:rPr lang="en-US"/>
              <a:t>Click to show each answer: 1 at, 2 on, 3 in, 4 at, 5 on.</a:t>
            </a:r>
          </a:p>
          <a:p>
            <a:r>
              <a:rPr lang="en-US"/>
              <a:t>Say: "at + time. on + day. in + the morning." Line 4 is the exception: at night.</a:t>
            </a:r>
          </a:p>
          <a:p>
            <a:r>
              <a:rPr lang="en-US"/>
              <a:t>Source: level1_curriculum/lesson6/Level1_Lesson6.md (Grammar: Practice; Answer key, Grammar practice).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Task B (3 min). Say each time 2 times: 1 7:30, 2 8:00, 3 9:15, 4 10:45. Learners write them with numbers.</a:t>
            </a:r>
          </a:p>
          <a:p>
            <a:r>
              <a:rPr lang="en-US"/>
              <a:t>Then click to show each answer.</a:t>
            </a:r>
          </a:p>
          <a:p>
            <a:r>
              <a:rPr lang="en-US"/>
              <a:t>Partners: A says a time, B writes it. Switch.</a:t>
            </a:r>
          </a:p>
          <a:p>
            <a:r>
              <a:rPr lang="en-US"/>
              <a:t>If behind: do Tasks A and B only.</a:t>
            </a:r>
          </a:p>
          <a:p>
            <a:r>
              <a:rPr lang="en-US"/>
              <a:t>Source: level1_curriculum/lesson6/Level1_Lesson6.md (Letters &amp; Numbers, Task B; Answer key, Letters &amp; Numbers Task 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5_1" Type="http://schemas.openxmlformats.org/officeDocument/2006/relationships/image" Target="../media/L1_L6_clock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L4_1" Type="http://schemas.openxmlformats.org/officeDocument/2006/relationships/image" Target="../media/L1_L5_cook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L5_1" Type="http://schemas.openxmlformats.org/officeDocument/2006/relationships/image" Target="../media/L1_L6_hours_sign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L5_1" Type="http://schemas.openxmlformats.org/officeDocument/2006/relationships/image" Target="../media/L1_L6_clock.png"/><Relationship Id="rIdL5_2" Type="http://schemas.openxmlformats.org/officeDocument/2006/relationships/image" Target="../media/L1_L6_oclock.png"/><Relationship Id="rIdL5_3" Type="http://schemas.openxmlformats.org/officeDocument/2006/relationships/image" Target="../media/L1_L6_morning.png"/><Relationship Id="rIdL5_4" Type="http://schemas.openxmlformats.org/officeDocument/2006/relationships/image" Target="../media/L1_L6_afternoon.png"/><Relationship Id="rIdL5_5" Type="http://schemas.openxmlformats.org/officeDocument/2006/relationships/image" Target="../media/L1_L6_thirty.png"/><Relationship Id="rIdL5_6" Type="http://schemas.openxmlformats.org/officeDocument/2006/relationships/image" Target="../media/L1_L6_evening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L5_1" Type="http://schemas.openxmlformats.org/officeDocument/2006/relationships/image" Target="../media/L1_L6_day.png"/><Relationship Id="rIdL5_2" Type="http://schemas.openxmlformats.org/officeDocument/2006/relationships/image" Target="../media/L1_L6_week.png"/><Relationship Id="rIdL5_3" Type="http://schemas.openxmlformats.org/officeDocument/2006/relationships/image" Target="../media/L1_L6_weekend.png"/><Relationship Id="rIdL5_4" Type="http://schemas.openxmlformats.org/officeDocument/2006/relationships/image" Target="../media/L1_L6_open.png"/><Relationship Id="rIdL5_5" Type="http://schemas.openxmlformats.org/officeDocument/2006/relationships/image" Target="../media/L1_L6_closed.png"/><Relationship Id="rIdL5_6" Type="http://schemas.openxmlformats.org/officeDocument/2006/relationships/image" Target="../media/L1_L6_days_of_week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5_1" Type="http://schemas.openxmlformats.org/officeDocument/2006/relationships/image" Target="../media/L1_L6_open.png"/><Relationship Id="rIdL5_2" Type="http://schemas.openxmlformats.org/officeDocument/2006/relationships/image" Target="../media/L1_L6_clock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2.xml"/><Relationship Id="rIdL5_1" Type="http://schemas.openxmlformats.org/officeDocument/2006/relationships/image" Target="../media/L1_L6_closed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L5_1" Type="http://schemas.openxmlformats.org/officeDocument/2006/relationships/image" Target="../media/L1_L6_time_600.png"/><Relationship Id="rIdL5_2" Type="http://schemas.openxmlformats.org/officeDocument/2006/relationships/image" Target="../media/L1_L6_time_630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5_1" Type="http://schemas.openxmlformats.org/officeDocument/2006/relationships/image" Target="../media/L1_L6_clock.png"/><Relationship Id="rIdL5_2" Type="http://schemas.openxmlformats.org/officeDocument/2006/relationships/image" Target="../media/L1_L6_day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L5_1" Type="http://schemas.openxmlformats.org/officeDocument/2006/relationships/image" Target="../media/L1_L6_oclock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L5_1" Type="http://schemas.openxmlformats.org/officeDocument/2006/relationships/image" Target="../media/L1_L6_days_of_week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L5_1" Type="http://schemas.openxmlformats.org/officeDocument/2006/relationships/image" Target="../media/L1_L6_week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L5_1" Type="http://schemas.openxmlformats.org/officeDocument/2006/relationships/image" Target="../media/L1_L6_weekend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5_1" Type="http://schemas.openxmlformats.org/officeDocument/2006/relationships/image" Target="../media/L1_L6_time_600.png"/><Relationship Id="rIdL5_2" Type="http://schemas.openxmlformats.org/officeDocument/2006/relationships/image" Target="../media/L1_L6_time_615.png"/><Relationship Id="rIdL5_3" Type="http://schemas.openxmlformats.org/officeDocument/2006/relationships/image" Target="../media/L1_L6_time_630.png"/><Relationship Id="rIdL5_4" Type="http://schemas.openxmlformats.org/officeDocument/2006/relationships/image" Target="../media/L1_L6_time_645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Clock picture" descr="clock">    </p:cNvPr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6  ·  Level 1</a:t>
            </a:r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Is It?</a:t>
            </a:r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What time is it?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Say: It's six thirty.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the days of the week.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and tell the time.</a:t>
            </a:r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six thirty. (6:30)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the days of the week.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at 6:00, on Monday, in the morning.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ask: Is it open on Sunday?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when I work.</a:t>
            </a:r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Tonight you learn these things.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Times: 6:15, 6:30, 6:45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Days: Mon., Tue., Wed.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at 7:25!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Cook (from Lesson 5) picture" descr="cook (from Lesson 5)"/>
          <p:cNvPicPr>
            <a:picLocks noChangeAspect="1"/>
          </p:cNvPicPr>
          <p:nvPr/>
        </p:nvPicPr>
        <p:blipFill>
          <a:blip r:embed="rIdL4_1"/>
          <a:stretch>
            <a:fillRect/>
          </a:stretch>
        </p:blipFill>
        <p:spPr>
          <a:xfrm>
            <a:off x="6799936" y="2104034"/>
            <a:ext cx="4754880" cy="3328416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Hello + Review</a:t>
            </a:r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  ·  6:00</a:t>
            </a:r>
          </a:p>
        </p:txBody>
      </p:sp>
      <p:sp>
        <p:nvSpPr>
          <p:cNvPr id="9" name="Text 7"/>
          <p:cNvSpPr/>
          <p:nvPr/>
        </p:nvSpPr>
        <p:spPr>
          <a:xfrm>
            <a:off x="599846" y="30175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do?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do you work?</a:t>
            </a:r>
          </a:p>
        </p:txBody>
      </p:sp>
      <p:sp>
        <p:nvSpPr>
          <p:cNvPr id="13" name="Model A"/>
          <p:cNvSpPr/>
          <p:nvPr/>
        </p:nvSpPr>
        <p:spPr>
          <a:xfrm>
            <a:off x="599846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Do you work at night?</a:t>
            </a:r>
          </a:p>
        </p:txBody>
      </p:sp>
      <p:sp>
        <p:nvSpPr>
          <p:cNvPr id="14" name="Model B"/>
          <p:cNvSpPr/>
          <p:nvPr/>
        </p:nvSpPr>
        <p:spPr>
          <a:xfrm>
            <a:off x="599846" y="4709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Yes, I do.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don't.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414015"/>
            <a:ext cx="6163056" cy="60350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414015"/>
            <a:ext cx="5130698" cy="60350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414015"/>
            <a:ext cx="37490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store is open on Saturday.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749039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store is open on Sunday.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01752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Monday: ___ to ___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414015"/>
            <a:ext cx="1039673" cy="60350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39572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685800"/>
            <a:ext cx="42291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the Sign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480060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or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 = morning.</a:t>
            </a:r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PM = afternoon and night.</a:t>
            </a:r>
          </a:p>
        </p:txBody>
      </p:sp>
      <p:sp>
        <p:nvSpPr>
          <p:cNvPr id="160" name="Answer 1"/>
          <p:cNvSpPr/>
          <p:nvPr/>
        </p:nvSpPr>
        <p:spPr>
          <a:xfrm>
            <a:off x="5623560" y="2487168"/>
            <a:ext cx="960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</a:p>
        </p:txBody>
      </p:sp>
      <p:sp>
        <p:nvSpPr>
          <p:cNvPr id="161" name="Answer 2"/>
          <p:cNvSpPr/>
          <p:nvPr/>
        </p:nvSpPr>
        <p:spPr>
          <a:xfrm>
            <a:off x="5623560" y="3200400"/>
            <a:ext cx="9601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</a:p>
        </p:txBody>
      </p:sp>
      <p:sp>
        <p:nvSpPr>
          <p:cNvPr id="162" name="Answer 3"/>
          <p:cNvSpPr/>
          <p:nvPr/>
        </p:nvSpPr>
        <p:spPr>
          <a:xfrm>
            <a:off x="4846320" y="3911803"/>
            <a:ext cx="17830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9:00–5:00</a:t>
            </a:r>
          </a:p>
        </p:txBody>
      </p:sp>
      <p:pic>
        <p:nvPicPr>
          <p:cNvPr id="170" name="Store hours sign picture" descr="store hours sign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7726679" y="1783080"/>
            <a:ext cx="4023360" cy="2816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6858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</a:p>
        </p:txBody>
      </p:sp>
      <p:pic>
        <p:nvPicPr>
          <p:cNvPr id="17" name="Clock picture" descr="clock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950976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5394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clock</a:t>
            </a:r>
          </a:p>
        </p:txBody>
      </p:sp>
      <p:pic>
        <p:nvPicPr>
          <p:cNvPr id="19" name="O'clock picture" descr="o'clock"/>
          <p:cNvPicPr>
            <a:picLocks noChangeAspect="1"/>
          </p:cNvPicPr>
          <p:nvPr/>
        </p:nvPicPr>
        <p:blipFill>
          <a:blip r:embed="rIdL5_2"/>
          <a:stretch>
            <a:fillRect/>
          </a:stretch>
        </p:blipFill>
        <p:spPr>
          <a:xfrm>
            <a:off x="3694176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32826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o'clock</a:t>
            </a:r>
          </a:p>
        </p:txBody>
      </p:sp>
      <p:pic>
        <p:nvPicPr>
          <p:cNvPr id="21" name="Morning picture" descr="morning"/>
          <p:cNvPicPr>
            <a:picLocks noChangeAspect="1"/>
          </p:cNvPicPr>
          <p:nvPr/>
        </p:nvPicPr>
        <p:blipFill>
          <a:blip r:embed="rIdL5_3"/>
          <a:stretch>
            <a:fillRect/>
          </a:stretch>
        </p:blipFill>
        <p:spPr>
          <a:xfrm>
            <a:off x="6428232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60167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morning</a:t>
            </a:r>
          </a:p>
        </p:txBody>
      </p:sp>
      <p:pic>
        <p:nvPicPr>
          <p:cNvPr id="23" name="Afternoon picture" descr="afternoon"/>
          <p:cNvPicPr>
            <a:picLocks noChangeAspect="1"/>
          </p:cNvPicPr>
          <p:nvPr/>
        </p:nvPicPr>
        <p:blipFill>
          <a:blip r:embed="rIdL5_4"/>
          <a:stretch>
            <a:fillRect/>
          </a:stretch>
        </p:blipFill>
        <p:spPr>
          <a:xfrm>
            <a:off x="9171432" y="2286000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7599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afternoon</a:t>
            </a:r>
          </a:p>
        </p:txBody>
      </p:sp>
      <p:pic>
        <p:nvPicPr>
          <p:cNvPr id="25" name="Thirty (half past) picture" descr="thirty (half past)"/>
          <p:cNvPicPr>
            <a:picLocks noChangeAspect="1"/>
          </p:cNvPicPr>
          <p:nvPr/>
        </p:nvPicPr>
        <p:blipFill>
          <a:blip r:embed="rIdL5_5"/>
          <a:stretch>
            <a:fillRect/>
          </a:stretch>
        </p:blipFill>
        <p:spPr>
          <a:xfrm>
            <a:off x="3685032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3273552" y="5733288"/>
            <a:ext cx="274320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thirty</a:t>
            </a:r>
          </a:p>
          <a:p>
            <a:pPr algn="ctr" indent="0" marL="0">
              <a:buNone/>
            </a:pP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(half past)</a:t>
            </a:r>
          </a:p>
        </p:txBody>
      </p:sp>
      <p:pic>
        <p:nvPicPr>
          <p:cNvPr id="27" name="Evening / night picture" descr="evening / night"/>
          <p:cNvPicPr>
            <a:picLocks noChangeAspect="1"/>
          </p:cNvPicPr>
          <p:nvPr/>
        </p:nvPicPr>
        <p:blipFill>
          <a:blip r:embed="rIdL5_6"/>
          <a:stretch>
            <a:fillRect/>
          </a:stretch>
        </p:blipFill>
        <p:spPr>
          <a:xfrm>
            <a:off x="6428232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6016752" y="5733288"/>
            <a:ext cx="274320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evening / night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410657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325880" y="685800"/>
            <a:ext cx="37490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Partners: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points. B says.</a:t>
            </a:r>
          </a:p>
        </p:txBody>
      </p:sp>
      <p:pic>
        <p:nvPicPr>
          <p:cNvPr id="17" name="Day picture" descr="day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950976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5394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day</a:t>
            </a:r>
          </a:p>
        </p:txBody>
      </p:sp>
      <p:pic>
        <p:nvPicPr>
          <p:cNvPr id="19" name="Week picture" descr="week"/>
          <p:cNvPicPr>
            <a:picLocks noChangeAspect="1"/>
          </p:cNvPicPr>
          <p:nvPr/>
        </p:nvPicPr>
        <p:blipFill>
          <a:blip r:embed="rIdL5_2"/>
          <a:stretch>
            <a:fillRect/>
          </a:stretch>
        </p:blipFill>
        <p:spPr>
          <a:xfrm>
            <a:off x="3694176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3282696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week</a:t>
            </a:r>
          </a:p>
        </p:txBody>
      </p:sp>
      <p:pic>
        <p:nvPicPr>
          <p:cNvPr id="21" name="Weekend picture" descr="weekend"/>
          <p:cNvPicPr>
            <a:picLocks noChangeAspect="1"/>
          </p:cNvPicPr>
          <p:nvPr/>
        </p:nvPicPr>
        <p:blipFill>
          <a:blip r:embed="rIdL5_3"/>
          <a:stretch>
            <a:fillRect/>
          </a:stretch>
        </p:blipFill>
        <p:spPr>
          <a:xfrm>
            <a:off x="6428232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60167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weekend</a:t>
            </a:r>
          </a:p>
        </p:txBody>
      </p:sp>
      <p:pic>
        <p:nvPicPr>
          <p:cNvPr id="23" name="Open picture" descr="open"/>
          <p:cNvPicPr>
            <a:picLocks noChangeAspect="1"/>
          </p:cNvPicPr>
          <p:nvPr/>
        </p:nvPicPr>
        <p:blipFill>
          <a:blip r:embed="rIdL5_4"/>
          <a:stretch>
            <a:fillRect/>
          </a:stretch>
        </p:blipFill>
        <p:spPr>
          <a:xfrm>
            <a:off x="9171432" y="2286000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759952" y="3703320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</a:t>
            </a:r>
          </a:p>
        </p:txBody>
      </p:sp>
      <p:pic>
        <p:nvPicPr>
          <p:cNvPr id="25" name="Closed picture" descr="closed"/>
          <p:cNvPicPr>
            <a:picLocks noChangeAspect="1"/>
          </p:cNvPicPr>
          <p:nvPr/>
        </p:nvPicPr>
        <p:blipFill>
          <a:blip r:embed="rIdL5_5"/>
          <a:stretch>
            <a:fillRect/>
          </a:stretch>
        </p:blipFill>
        <p:spPr>
          <a:xfrm>
            <a:off x="3685032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32735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closed</a:t>
            </a:r>
          </a:p>
        </p:txBody>
      </p:sp>
      <p:pic>
        <p:nvPicPr>
          <p:cNvPr id="27" name="Days of the week picture" descr="days of the week"/>
          <p:cNvPicPr>
            <a:picLocks noChangeAspect="1"/>
          </p:cNvPicPr>
          <p:nvPr/>
        </p:nvPicPr>
        <p:blipFill>
          <a:blip r:embed="rIdL5_6"/>
          <a:stretch>
            <a:fillRect/>
          </a:stretch>
        </p:blipFill>
        <p:spPr>
          <a:xfrm>
            <a:off x="6428232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6016752" y="5733288"/>
            <a:ext cx="274320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days of the week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Listen</a:t>
            </a:r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 calls a laundromat. Then she calls a school.</a:t>
            </a:r>
          </a:p>
        </p:txBody>
      </p:sp>
      <p:sp>
        <p:nvSpPr>
          <p:cNvPr id="11" name="Text 9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Open picture" descr="open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284378" y="1138930"/>
            <a:ext cx="2493568" cy="1745498"/>
          </a:xfrm>
          <a:prstGeom prst="rect">
            <a:avLst/>
          </a:prstGeom>
        </p:spPr>
      </p:pic>
      <p:sp>
        <p:nvSpPr>
          <p:cNvPr id="25" name="Highlight 1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1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1: The times.</a:t>
            </a:r>
          </a:p>
        </p:txBody>
      </p:sp>
      <p:sp>
        <p:nvSpPr>
          <p:cNvPr id="29" name="Highlight 2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Helper 2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2: The days.</a:t>
            </a:r>
          </a:p>
        </p:txBody>
      </p:sp>
      <p:sp>
        <p:nvSpPr>
          <p:cNvPr id="33" name="Highlight 3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Helper 3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3: Write.</a:t>
            </a:r>
          </a:p>
        </p:txBody>
      </p:sp>
      <p:sp>
        <p:nvSpPr>
          <p:cNvPr id="37" name="Order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it!</a:t>
            </a:r>
          </a:p>
        </p:txBody>
      </p:sp>
      <p:sp>
        <p:nvSpPr>
          <p:cNvPr id="39" name="Step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is the English class?</a:t>
            </a:r>
          </a:p>
        </p:txBody>
      </p:sp>
      <p:sp>
        <p:nvSpPr>
          <p:cNvPr id="41" name="Step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at six o'clock.</a:t>
            </a:r>
          </a:p>
        </p:txBody>
      </p:sp>
      <p:sp>
        <p:nvSpPr>
          <p:cNvPr id="43" name="Step 3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 school open on Friday?</a:t>
            </a:r>
          </a:p>
        </p:txBody>
      </p:sp>
      <p:sp>
        <p:nvSpPr>
          <p:cNvPr id="46" name="Example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and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</a:p>
        </p:txBody>
      </p:sp>
      <p:pic>
        <p:nvPicPr>
          <p:cNvPr id="90" name="Clock picture" descr="clock"/>
          <p:cNvPicPr>
            <a:picLocks noChangeAspect="1"/>
          </p:cNvPicPr>
          <p:nvPr/>
        </p:nvPicPr>
        <p:blipFill>
          <a:blip r:embed="rIdL5_2"/>
          <a:stretch>
            <a:fillRect/>
          </a:stretch>
        </p:blipFill>
        <p:spPr>
          <a:xfrm>
            <a:off x="284378" y="3973570"/>
            <a:ext cx="2493568" cy="17454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66176" y="3721608"/>
            <a:ext cx="3566160" cy="23317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229600" y="3657600"/>
            <a:ext cx="3566160" cy="23317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0" y="37947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it open on Monday?</a:t>
            </a:r>
          </a:p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is it open?</a:t>
            </a:r>
          </a:p>
        </p:txBody>
      </p:sp>
      <p:sp>
        <p:nvSpPr>
          <p:cNvPr id="9" name="Text 7"/>
          <p:cNvSpPr/>
          <p:nvPr/>
        </p:nvSpPr>
        <p:spPr>
          <a:xfrm>
            <a:off x="8412480" y="45720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it is.</a:t>
            </a:r>
          </a:p>
          <a:p>
            <a:pPr algn="l" indent="0" marL="0">
              <a:buNone/>
            </a:pPr>
            <a:r>
              <a:rPr lang="en-US" sz="21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From 9:00 to 5:00.</a:t>
            </a:r>
          </a:p>
        </p:txBody>
      </p:sp>
      <p:sp>
        <p:nvSpPr>
          <p:cNvPr id="29" name="Text 27"/>
          <p:cNvSpPr/>
          <p:nvPr/>
        </p:nvSpPr>
        <p:spPr>
          <a:xfrm>
            <a:off x="8229600" y="640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5</a:t>
            </a:r>
          </a:p>
        </p:txBody>
      </p:sp>
      <p:sp>
        <p:nvSpPr>
          <p:cNvPr id="30" name="Text 28"/>
          <p:cNvSpPr/>
          <p:nvPr/>
        </p:nvSpPr>
        <p:spPr>
          <a:xfrm>
            <a:off x="8229600" y="15544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 to the sign.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Ask.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partner answers.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</a:p>
        </p:txBody>
      </p:sp>
      <p:pic>
        <p:nvPicPr>
          <p:cNvPr id="60" name="Closed picture" descr="closed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1645919" y="502920"/>
            <a:ext cx="5029200" cy="3520440"/>
          </a:xfrm>
          <a:prstGeom prst="rect">
            <a:avLst/>
          </a:prstGeom>
        </p:spPr>
      </p:pic>
      <p:sp>
        <p:nvSpPr>
          <p:cNvPr id="34" name="Answer 1"/>
          <p:cNvSpPr/>
          <p:nvPr/>
        </p:nvSpPr>
        <p:spPr>
          <a:xfrm>
            <a:off x="548640" y="5074920"/>
            <a:ext cx="7315200" cy="77724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it isn't. </a:t>
            </a: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closed.</a:t>
            </a:r>
          </a:p>
        </p:txBody>
      </p:sp>
      <p:sp>
        <p:nvSpPr>
          <p:cNvPr id="130" name="Preview question"/>
          <p:cNvSpPr/>
          <p:nvPr/>
        </p:nvSpPr>
        <p:spPr>
          <a:xfrm>
            <a:off x="548640" y="4251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 store open on Sunday?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6:00 clock picture" descr="6:00 clock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182880" y="811530"/>
            <a:ext cx="3429000" cy="240030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is it?</a:t>
            </a:r>
          </a:p>
        </p:txBody>
      </p:sp>
      <p:sp>
        <p:nvSpPr>
          <p:cNvPr id="8" name="Text 6"/>
          <p:cNvSpPr/>
          <p:nvPr/>
        </p:nvSpPr>
        <p:spPr>
          <a:xfrm>
            <a:off x="516636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2104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0" name="Question 1"/>
          <p:cNvSpPr/>
          <p:nvPr/>
        </p:nvSpPr>
        <p:spPr>
          <a:xfrm>
            <a:off x="5138928" y="2697480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is it?</a:t>
            </a:r>
          </a:p>
        </p:txBody>
      </p:sp>
      <p:sp>
        <p:nvSpPr>
          <p:cNvPr id="22" name="Answer bg 1"/>
          <p:cNvSpPr/>
          <p:nvPr/>
        </p:nvSpPr>
        <p:spPr>
          <a:xfrm>
            <a:off x="8321040" y="2697480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321040" y="2697480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6:00.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six o'clock</a:t>
            </a:r>
          </a:p>
        </p:txBody>
      </p:sp>
      <p:sp>
        <p:nvSpPr>
          <p:cNvPr id="25" name="Question 2"/>
          <p:cNvSpPr/>
          <p:nvPr/>
        </p:nvSpPr>
        <p:spPr>
          <a:xfrm>
            <a:off x="5138928" y="3675888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is it?</a:t>
            </a:r>
          </a:p>
        </p:txBody>
      </p:sp>
      <p:sp>
        <p:nvSpPr>
          <p:cNvPr id="27" name="Answer bg 2"/>
          <p:cNvSpPr/>
          <p:nvPr/>
        </p:nvSpPr>
        <p:spPr>
          <a:xfrm>
            <a:off x="8321040" y="3675888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321040" y="3675888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6:30.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six thirty</a:t>
            </a:r>
          </a:p>
        </p:txBody>
      </p:sp>
      <p:sp>
        <p:nvSpPr>
          <p:cNvPr id="72" name="Answer bg 3"/>
          <p:cNvSpPr/>
          <p:nvPr/>
        </p:nvSpPr>
        <p:spPr>
          <a:xfrm>
            <a:off x="8321040" y="4654296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Answer 3"/>
          <p:cNvSpPr/>
          <p:nvPr/>
        </p:nvSpPr>
        <p:spPr>
          <a:xfrm>
            <a:off x="8321040" y="4654296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6:15.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six fifteen</a:t>
            </a:r>
          </a:p>
        </p:txBody>
      </p:sp>
      <p:sp>
        <p:nvSpPr>
          <p:cNvPr id="73" name="Answer bg 4"/>
          <p:cNvSpPr/>
          <p:nvPr/>
        </p:nvSpPr>
        <p:spPr>
          <a:xfrm>
            <a:off x="8321040" y="5632704"/>
            <a:ext cx="3520440" cy="84124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3" name="Answer 4"/>
          <p:cNvSpPr/>
          <p:nvPr/>
        </p:nvSpPr>
        <p:spPr>
          <a:xfrm>
            <a:off x="8321040" y="5632704"/>
            <a:ext cx="35204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6:45.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six forty-five</a:t>
            </a:r>
          </a:p>
        </p:txBody>
      </p:sp>
      <p:sp>
        <p:nvSpPr>
          <p:cNvPr id="93" name="Question 4"/>
          <p:cNvSpPr/>
          <p:nvPr/>
        </p:nvSpPr>
        <p:spPr>
          <a:xfrm>
            <a:off x="5138928" y="5632704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is it?</a:t>
            </a:r>
          </a:p>
        </p:txBody>
      </p:sp>
      <p:sp>
        <p:nvSpPr>
          <p:cNvPr id="92" name="Question 3"/>
          <p:cNvSpPr/>
          <p:nvPr/>
        </p:nvSpPr>
        <p:spPr>
          <a:xfrm>
            <a:off x="5138928" y="4654296"/>
            <a:ext cx="3063240" cy="84124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is it?</a:t>
            </a:r>
          </a:p>
        </p:txBody>
      </p:sp>
      <p:pic>
        <p:nvPicPr>
          <p:cNvPr id="95" name="6:30 clock picture" descr="6:30 clock"/>
          <p:cNvPicPr>
            <a:picLocks noChangeAspect="1"/>
          </p:cNvPicPr>
          <p:nvPr/>
        </p:nvPicPr>
        <p:blipFill>
          <a:blip r:embed="rIdL5_2"/>
          <a:stretch>
            <a:fillRect/>
          </a:stretch>
        </p:blipFill>
        <p:spPr>
          <a:xfrm>
            <a:off x="182880" y="3646170"/>
            <a:ext cx="3429000" cy="2400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Optional shadow"/>
          <p:cNvSpPr/>
          <p:nvPr/>
        </p:nvSpPr>
        <p:spPr>
          <a:xfrm>
            <a:off x="6709867" y="1350569"/>
            <a:ext cx="4937760" cy="20116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1" name="Optional card"/>
          <p:cNvSpPr/>
          <p:nvPr/>
        </p:nvSpPr>
        <p:spPr>
          <a:xfrm>
            <a:off x="6742786" y="1286561"/>
            <a:ext cx="4937760" cy="2011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Optional text"/>
          <p:cNvSpPr/>
          <p:nvPr/>
        </p:nvSpPr>
        <p:spPr>
          <a:xfrm>
            <a:off x="6949440" y="1371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</a:p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6:00 ·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night</a:t>
            </a:r>
          </a:p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Monday ·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weekend</a:t>
            </a:r>
          </a:p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morning ·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evening</a:t>
            </a:r>
          </a:p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do you work?</a:t>
            </a:r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20" name="A head"/>
          <p:cNvSpPr/>
          <p:nvPr/>
        </p:nvSpPr>
        <p:spPr>
          <a:xfrm>
            <a:off x="704088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1" name="Highlight 1"/>
          <p:cNvSpPr/>
          <p:nvPr/>
        </p:nvSpPr>
        <p:spPr>
          <a:xfrm>
            <a:off x="1481328" y="44531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43159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</a:p>
        </p:txBody>
      </p:sp>
      <p:sp>
        <p:nvSpPr>
          <p:cNvPr id="23" name="Question 1"/>
          <p:cNvSpPr/>
          <p:nvPr/>
        </p:nvSpPr>
        <p:spPr>
          <a:xfrm>
            <a:off x="2944368" y="43159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work?</a:t>
            </a:r>
          </a:p>
        </p:txBody>
      </p:sp>
      <p:sp>
        <p:nvSpPr>
          <p:cNvPr id="25" name="Answer bg 1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Answer 1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Monday and Tuesday.</a:t>
            </a:r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morning.</a:t>
            </a:r>
          </a:p>
        </p:txBody>
      </p:sp>
      <p:sp>
        <p:nvSpPr>
          <p:cNvPr id="26" name="Highlight 2"/>
          <p:cNvSpPr/>
          <p:nvPr/>
        </p:nvSpPr>
        <p:spPr>
          <a:xfrm>
            <a:off x="1481328" y="5367528"/>
            <a:ext cx="14173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30368"/>
            <a:ext cx="14173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</a:p>
        </p:txBody>
      </p:sp>
      <p:sp>
        <p:nvSpPr>
          <p:cNvPr id="28" name="Question 2"/>
          <p:cNvSpPr/>
          <p:nvPr/>
        </p:nvSpPr>
        <p:spPr>
          <a:xfrm>
            <a:off x="2944368" y="5230368"/>
            <a:ext cx="30632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English</a:t>
            </a:r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class?</a:t>
            </a:r>
          </a:p>
        </p:txBody>
      </p:sp>
      <p:sp>
        <p:nvSpPr>
          <p:cNvPr id="30" name="Answer bg 2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2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Monday,</a:t>
            </a:r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6:00.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21" name="Clock picture" descr="clock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649224" y="1616796"/>
            <a:ext cx="2826410" cy="1978487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</a:p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is class?</a:t>
            </a:r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 is class?</a:t>
            </a:r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6:00.</a:t>
            </a:r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7:30.</a:t>
            </a:r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day is class?</a:t>
            </a:r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19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Monday.</a:t>
            </a:r>
          </a:p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19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Monday and Wednesday.</a:t>
            </a:r>
          </a:p>
        </p:txBody>
      </p:sp>
      <p:sp>
        <p:nvSpPr>
          <p:cNvPr id="13" name="Text 11"/>
          <p:cNvSpPr/>
          <p:nvPr/>
        </p:nvSpPr>
        <p:spPr>
          <a:xfrm>
            <a:off x="8915400" y="31089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a time</a:t>
            </a:r>
          </a:p>
        </p:txBody>
      </p:sp>
      <p:sp>
        <p:nvSpPr>
          <p:cNvPr id="17" name="Text 15"/>
          <p:cNvSpPr/>
          <p:nvPr/>
        </p:nvSpPr>
        <p:spPr>
          <a:xfrm>
            <a:off x="8915400" y="47091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a day</a:t>
            </a:r>
          </a:p>
        </p:txBody>
      </p:sp>
      <p:pic>
        <p:nvPicPr>
          <p:cNvPr id="96" name="Day picture" descr="day"/>
          <p:cNvPicPr>
            <a:picLocks noChangeAspect="1"/>
          </p:cNvPicPr>
          <p:nvPr/>
        </p:nvPicPr>
        <p:blipFill>
          <a:blip r:embed="rIdL5_2"/>
          <a:stretch>
            <a:fillRect/>
          </a:stretch>
        </p:blipFill>
        <p:spPr>
          <a:xfrm>
            <a:off x="649224" y="4039956"/>
            <a:ext cx="2826410" cy="19784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9144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447288"/>
            <a:ext cx="5130698" cy="9144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498848"/>
            <a:ext cx="5130698" cy="9144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Circle the time.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Kim calls a laundromat and a school.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laundromat opens at…</a:t>
            </a:r>
          </a:p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   8:00   9:00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44728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laundromat closes at…</a:t>
            </a:r>
          </a:p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   9:00   10:00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449884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English class is at…</a:t>
            </a:r>
          </a:p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6:00   6:30   7:00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9144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5603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447288"/>
            <a:ext cx="1039673" cy="9144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61188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498848"/>
            <a:ext cx="1039673" cy="9144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66344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show your partner.</a:t>
            </a:r>
          </a:p>
        </p:txBody>
      </p:sp>
      <p:sp>
        <p:nvSpPr>
          <p:cNvPr id="34" name="Answer 1"/>
          <p:cNvSpPr/>
          <p:nvPr/>
        </p:nvSpPr>
        <p:spPr>
          <a:xfrm>
            <a:off x="5486400" y="2624328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</a:t>
            </a:r>
          </a:p>
        </p:txBody>
      </p:sp>
      <p:sp>
        <p:nvSpPr>
          <p:cNvPr id="35" name="Answer 2"/>
          <p:cNvSpPr/>
          <p:nvPr/>
        </p:nvSpPr>
        <p:spPr>
          <a:xfrm>
            <a:off x="5486400" y="3675887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9:00</a:t>
            </a:r>
          </a:p>
        </p:txBody>
      </p:sp>
      <p:sp>
        <p:nvSpPr>
          <p:cNvPr id="36" name="Answer 3"/>
          <p:cNvSpPr/>
          <p:nvPr/>
        </p:nvSpPr>
        <p:spPr>
          <a:xfrm>
            <a:off x="5486400" y="4727448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798064"/>
            <a:ext cx="4526280" cy="3840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5217566" y="2806294"/>
            <a:ext cx="5440680" cy="3840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2606040"/>
            <a:ext cx="4526280" cy="38404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5349240" y="2606040"/>
            <a:ext cx="5440680" cy="38404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pic>
        <p:nvPicPr>
          <p:cNvPr id="21" name="O'clock picture" descr="o'clock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9124406" y="1188720"/>
            <a:ext cx="1959429" cy="1371600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2697480"/>
            <a:ext cx="40233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5577840" y="2697480"/>
            <a:ext cx="49377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20040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are six.</a:t>
            </a:r>
          </a:p>
        </p:txBody>
      </p:sp>
      <p:sp>
        <p:nvSpPr>
          <p:cNvPr id="25" name="Good 1"/>
          <p:cNvSpPr/>
          <p:nvPr/>
        </p:nvSpPr>
        <p:spPr>
          <a:xfrm>
            <a:off x="5577840" y="320040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six.</a:t>
            </a:r>
          </a:p>
        </p:txBody>
      </p:sp>
      <p:sp>
        <p:nvSpPr>
          <p:cNvPr id="26" name="Bad 2"/>
          <p:cNvSpPr/>
          <p:nvPr/>
        </p:nvSpPr>
        <p:spPr>
          <a:xfrm>
            <a:off x="914400" y="370332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 is in 6:00.</a:t>
            </a:r>
          </a:p>
        </p:txBody>
      </p:sp>
      <p:sp>
        <p:nvSpPr>
          <p:cNvPr id="27" name="Good 2"/>
          <p:cNvSpPr/>
          <p:nvPr/>
        </p:nvSpPr>
        <p:spPr>
          <a:xfrm>
            <a:off x="5577840" y="370332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 is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6:00.</a:t>
            </a:r>
          </a:p>
        </p:txBody>
      </p:sp>
      <p:sp>
        <p:nvSpPr>
          <p:cNvPr id="28" name="Bad 3"/>
          <p:cNvSpPr/>
          <p:nvPr/>
        </p:nvSpPr>
        <p:spPr>
          <a:xfrm>
            <a:off x="914400" y="420624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the Monday.</a:t>
            </a:r>
          </a:p>
        </p:txBody>
      </p:sp>
      <p:sp>
        <p:nvSpPr>
          <p:cNvPr id="29" name="Good 3"/>
          <p:cNvSpPr/>
          <p:nvPr/>
        </p:nvSpPr>
        <p:spPr>
          <a:xfrm>
            <a:off x="5577840" y="420624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Monday.</a:t>
            </a:r>
          </a:p>
        </p:txBody>
      </p:sp>
      <p:sp>
        <p:nvSpPr>
          <p:cNvPr id="60" name="Bad 4"/>
          <p:cNvSpPr/>
          <p:nvPr/>
        </p:nvSpPr>
        <p:spPr>
          <a:xfrm>
            <a:off x="914400" y="470916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in the night.</a:t>
            </a:r>
          </a:p>
        </p:txBody>
      </p:sp>
      <p:sp>
        <p:nvSpPr>
          <p:cNvPr id="61" name="Good 4"/>
          <p:cNvSpPr/>
          <p:nvPr/>
        </p:nvSpPr>
        <p:spPr>
          <a:xfrm>
            <a:off x="5577840" y="470916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night.</a:t>
            </a:r>
          </a:p>
        </p:txBody>
      </p:sp>
      <p:sp>
        <p:nvSpPr>
          <p:cNvPr id="62" name="Bad 5"/>
          <p:cNvSpPr/>
          <p:nvPr/>
        </p:nvSpPr>
        <p:spPr>
          <a:xfrm>
            <a:off x="914400" y="521208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monday</a:t>
            </a:r>
          </a:p>
        </p:txBody>
      </p:sp>
      <p:sp>
        <p:nvSpPr>
          <p:cNvPr id="63" name="Good 5"/>
          <p:cNvSpPr/>
          <p:nvPr/>
        </p:nvSpPr>
        <p:spPr>
          <a:xfrm>
            <a:off x="5577840" y="521208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onday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(capital letter)</a:t>
            </a:r>
          </a:p>
        </p:txBody>
      </p:sp>
      <p:sp>
        <p:nvSpPr>
          <p:cNvPr id="64" name="Bad 6"/>
          <p:cNvSpPr/>
          <p:nvPr/>
        </p:nvSpPr>
        <p:spPr>
          <a:xfrm>
            <a:off x="914400" y="5715000"/>
            <a:ext cx="4160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store is close.</a:t>
            </a:r>
          </a:p>
        </p:txBody>
      </p:sp>
      <p:sp>
        <p:nvSpPr>
          <p:cNvPr id="65" name="Good 6"/>
          <p:cNvSpPr/>
          <p:nvPr/>
        </p:nvSpPr>
        <p:spPr>
          <a:xfrm>
            <a:off x="5577840" y="5715000"/>
            <a:ext cx="502920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store is </a:t>
            </a: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closed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Days of the week picture" descr="days of the week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502920" y="3168396"/>
            <a:ext cx="4663440" cy="3264408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Schedule Gap</a:t>
            </a:r>
          </a:p>
        </p:txBody>
      </p:sp>
      <p:sp>
        <p:nvSpPr>
          <p:cNvPr id="8" name="Text 6"/>
          <p:cNvSpPr/>
          <p:nvPr/>
        </p:nvSpPr>
        <p:spPr>
          <a:xfrm>
            <a:off x="6035040" y="17830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A–B pairs.</a:t>
            </a:r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show your page.</a:t>
            </a:r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asks: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 library open on Monday?</a:t>
            </a:r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answers: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it is. / No, it isn't.</a:t>
            </a:r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asks: What time is it open?</a:t>
            </a:r>
          </a:p>
          <a:p>
            <a:pPr algn="l" indent="0" marL="0">
              <a:buNone/>
            </a:pP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From ___ to ___.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7:10–7:15</a:t>
            </a:r>
            <a:endParaRPr lang="en-US" sz="4000" dirty="0"/>
          </a:p>
        </p:txBody>
      </p:sp>
      <p:pic>
        <p:nvPicPr>
          <p:cNvPr id="16" name="Week picture" descr="week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19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the time: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seven fifteen.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write: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 is on ___,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___.</a:t>
            </a:r>
          </a:p>
        </p:txBody>
      </p:sp>
      <p:sp>
        <p:nvSpPr>
          <p:cNvPr id="20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22" name="Body 02"/>
          <p:cNvSpPr/>
          <p:nvPr/>
        </p:nvSpPr>
        <p:spPr>
          <a:xfrm>
            <a:off x="8001000" y="3977640"/>
            <a:ext cx="361188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about your week.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at, on, or in.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Write the time.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Ask: What time is it?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Write about a job.</a:t>
            </a:r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533095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554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0" name="Alphabet"/>
          <p:cNvSpPr/>
          <p:nvPr/>
        </p:nvSpPr>
        <p:spPr>
          <a:xfrm>
            <a:off x="228600" y="1737360"/>
            <a:ext cx="3337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900"/>
              </a:spcBef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Capital letter: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</a:t>
            </a: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onday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Short form: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Mon.</a:t>
            </a:r>
          </a:p>
          <a:p>
            <a:pPr algn="ctr" indent="0" marL="0">
              <a:spcBef>
                <a:spcPts val="900"/>
              </a:spcBef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 letters + .</a:t>
            </a:r>
          </a:p>
        </p:txBody>
      </p:sp>
      <p:sp>
        <p:nvSpPr>
          <p:cNvPr id="7" name="Text 5"/>
          <p:cNvSpPr/>
          <p:nvPr/>
        </p:nvSpPr>
        <p:spPr>
          <a:xfrm>
            <a:off x="5333695" y="566928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Letters &amp; Numbers  ·  Task C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Days of the Week</a:t>
            </a:r>
          </a:p>
        </p:txBody>
      </p:sp>
      <p:sp>
        <p:nvSpPr>
          <p:cNvPr id="8" name="Text 6"/>
          <p:cNvSpPr/>
          <p:nvPr/>
        </p:nvSpPr>
        <p:spPr>
          <a:xfrm>
            <a:off x="498348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Day</a:t>
            </a:r>
          </a:p>
        </p:txBody>
      </p:sp>
      <p:sp>
        <p:nvSpPr>
          <p:cNvPr id="11" name="Text 9"/>
          <p:cNvSpPr/>
          <p:nvPr/>
        </p:nvSpPr>
        <p:spPr>
          <a:xfrm>
            <a:off x="804672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Short form</a:t>
            </a:r>
          </a:p>
        </p:txBody>
      </p:sp>
      <p:sp>
        <p:nvSpPr>
          <p:cNvPr id="18" name="Highlight 1"/>
          <p:cNvSpPr/>
          <p:nvPr/>
        </p:nvSpPr>
        <p:spPr>
          <a:xfrm>
            <a:off x="4937760" y="2697479"/>
            <a:ext cx="2999232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9" name="Helper 1"/>
          <p:cNvSpPr/>
          <p:nvPr/>
        </p:nvSpPr>
        <p:spPr>
          <a:xfrm>
            <a:off x="4937760" y="2651760"/>
            <a:ext cx="2999232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onday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·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uesday</a:t>
            </a:r>
          </a:p>
        </p:txBody>
      </p:sp>
      <p:sp>
        <p:nvSpPr>
          <p:cNvPr id="22" name="Answer bg 1"/>
          <p:cNvSpPr/>
          <p:nvPr/>
        </p:nvSpPr>
        <p:spPr>
          <a:xfrm>
            <a:off x="8001000" y="2651760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001000" y="2651760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on.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·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ue.</a:t>
            </a:r>
          </a:p>
        </p:txBody>
      </p:sp>
      <p:sp>
        <p:nvSpPr>
          <p:cNvPr id="23" name="Highlight 2"/>
          <p:cNvSpPr/>
          <p:nvPr/>
        </p:nvSpPr>
        <p:spPr>
          <a:xfrm>
            <a:off x="4937760" y="3465575"/>
            <a:ext cx="2999232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Helper 2"/>
          <p:cNvSpPr/>
          <p:nvPr/>
        </p:nvSpPr>
        <p:spPr>
          <a:xfrm>
            <a:off x="4937760" y="3419856"/>
            <a:ext cx="2999232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ednesday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·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hursday</a:t>
            </a:r>
          </a:p>
        </p:txBody>
      </p:sp>
      <p:sp>
        <p:nvSpPr>
          <p:cNvPr id="27" name="Answer bg 2"/>
          <p:cNvSpPr/>
          <p:nvPr/>
        </p:nvSpPr>
        <p:spPr>
          <a:xfrm>
            <a:off x="8001000" y="3419856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001000" y="3419856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ed.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·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hu.</a:t>
            </a:r>
          </a:p>
        </p:txBody>
      </p:sp>
      <p:sp>
        <p:nvSpPr>
          <p:cNvPr id="132" name="Highlight 3"/>
          <p:cNvSpPr/>
          <p:nvPr/>
        </p:nvSpPr>
        <p:spPr>
          <a:xfrm>
            <a:off x="4937760" y="4233672"/>
            <a:ext cx="2999232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2" name="Helper 3"/>
          <p:cNvSpPr/>
          <p:nvPr/>
        </p:nvSpPr>
        <p:spPr>
          <a:xfrm>
            <a:off x="4937760" y="4187952"/>
            <a:ext cx="2999232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riday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·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aturday</a:t>
            </a:r>
          </a:p>
        </p:txBody>
      </p:sp>
      <p:sp>
        <p:nvSpPr>
          <p:cNvPr id="162" name="Answer bg 3"/>
          <p:cNvSpPr/>
          <p:nvPr/>
        </p:nvSpPr>
        <p:spPr>
          <a:xfrm>
            <a:off x="8001000" y="4187952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2" name="Answer 3"/>
          <p:cNvSpPr/>
          <p:nvPr/>
        </p:nvSpPr>
        <p:spPr>
          <a:xfrm>
            <a:off x="8001000" y="4187952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ri.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·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at.</a:t>
            </a:r>
          </a:p>
        </p:txBody>
      </p:sp>
      <p:sp>
        <p:nvSpPr>
          <p:cNvPr id="133" name="Highlight 4"/>
          <p:cNvSpPr/>
          <p:nvPr/>
        </p:nvSpPr>
        <p:spPr>
          <a:xfrm>
            <a:off x="4937760" y="5001768"/>
            <a:ext cx="2999232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3" name="Helper 4"/>
          <p:cNvSpPr/>
          <p:nvPr/>
        </p:nvSpPr>
        <p:spPr>
          <a:xfrm>
            <a:off x="4937760" y="4956048"/>
            <a:ext cx="2999232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unday</a:t>
            </a:r>
          </a:p>
        </p:txBody>
      </p:sp>
      <p:sp>
        <p:nvSpPr>
          <p:cNvPr id="163" name="Answer bg 4"/>
          <p:cNvSpPr/>
          <p:nvPr/>
        </p:nvSpPr>
        <p:spPr>
          <a:xfrm>
            <a:off x="8001000" y="4956048"/>
            <a:ext cx="3794760" cy="6583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73" name="Answer 4"/>
          <p:cNvSpPr/>
          <p:nvPr/>
        </p:nvSpPr>
        <p:spPr>
          <a:xfrm>
            <a:off x="8001000" y="4956048"/>
            <a:ext cx="37947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 can"/>
          <p:cNvSpPr/>
          <p:nvPr/>
        </p:nvSpPr>
        <p:spPr>
          <a:xfrm>
            <a:off x="8503920" y="1234440"/>
            <a:ext cx="3291840" cy="17373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200" dirty="0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2200" dirty="0"/>
          </a:p>
          <a:p>
            <a:pPr algn="ctr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40005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845406" y="3263494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4068165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977079" y="3063240"/>
            <a:ext cx="586039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7:25</a:t>
            </a:r>
            <a:endParaRPr lang="en-US" sz="4300" dirty="0"/>
          </a:p>
        </p:txBody>
      </p:sp>
      <p:sp>
        <p:nvSpPr>
          <p:cNvPr id="22" name="Dont head"/>
          <p:cNvSpPr/>
          <p:nvPr/>
        </p:nvSpPr>
        <p:spPr>
          <a:xfrm>
            <a:off x="914400" y="324612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Match the question</a:t>
            </a:r>
          </a:p>
        </p:txBody>
      </p:sp>
      <p:sp>
        <p:nvSpPr>
          <p:cNvPr id="23" name="Say head"/>
          <p:cNvSpPr/>
          <p:nvPr/>
        </p:nvSpPr>
        <p:spPr>
          <a:xfrm>
            <a:off x="5257800" y="3246120"/>
            <a:ext cx="48463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3840480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What time is it?</a:t>
            </a:r>
          </a:p>
        </p:txBody>
      </p:sp>
      <p:sp>
        <p:nvSpPr>
          <p:cNvPr id="25" name="Good 1"/>
          <p:cNvSpPr/>
          <p:nvPr/>
        </p:nvSpPr>
        <p:spPr>
          <a:xfrm>
            <a:off x="5257800" y="3840480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It's 7:30.</a:t>
            </a:r>
          </a:p>
        </p:txBody>
      </p:sp>
      <p:sp>
        <p:nvSpPr>
          <p:cNvPr id="26" name="Bad 2"/>
          <p:cNvSpPr/>
          <p:nvPr/>
        </p:nvSpPr>
        <p:spPr>
          <a:xfrm>
            <a:off x="914400" y="4407408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What day is class?</a:t>
            </a:r>
          </a:p>
        </p:txBody>
      </p:sp>
      <p:sp>
        <p:nvSpPr>
          <p:cNvPr id="27" name="Good 2"/>
          <p:cNvSpPr/>
          <p:nvPr/>
        </p:nvSpPr>
        <p:spPr>
          <a:xfrm>
            <a:off x="5257800" y="4407408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It's on Monday.</a:t>
            </a:r>
          </a:p>
        </p:txBody>
      </p:sp>
      <p:sp>
        <p:nvSpPr>
          <p:cNvPr id="28" name="Bad 3"/>
          <p:cNvSpPr/>
          <p:nvPr/>
        </p:nvSpPr>
        <p:spPr>
          <a:xfrm>
            <a:off x="914400" y="4974336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Is the bank open on Sunday?</a:t>
            </a:r>
          </a:p>
        </p:txBody>
      </p:sp>
      <p:sp>
        <p:nvSpPr>
          <p:cNvPr id="29" name="Good 3"/>
          <p:cNvSpPr/>
          <p:nvPr/>
        </p:nvSpPr>
        <p:spPr>
          <a:xfrm>
            <a:off x="5257800" y="4974336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No, it isn't. It's closed.</a:t>
            </a:r>
          </a:p>
        </p:txBody>
      </p:sp>
      <p:sp>
        <p:nvSpPr>
          <p:cNvPr id="60" name="Bad 4"/>
          <p:cNvSpPr/>
          <p:nvPr/>
        </p:nvSpPr>
        <p:spPr>
          <a:xfrm>
            <a:off x="914400" y="5541264"/>
            <a:ext cx="39319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What time is it open?</a:t>
            </a:r>
          </a:p>
        </p:txBody>
      </p:sp>
      <p:sp>
        <p:nvSpPr>
          <p:cNvPr id="61" name="Good 4"/>
          <p:cNvSpPr/>
          <p:nvPr/>
        </p:nvSpPr>
        <p:spPr>
          <a:xfrm>
            <a:off x="5257800" y="5541264"/>
            <a:ext cx="48463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From 9:00 to 5:00.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Weekend picture" descr="weekend">    </p:cNvPr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6  ·  Level 1</a:t>
            </a:r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Great Work! See You Next Week!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What time is it?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Say: Class is at 6:00.</a:t>
            </a:r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Is it open on Sunday?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clock faces, digital clocks, week strips, OPEN / CLOSED signs, and labels were added. The four clock faces and the store-hours sign are drawn in code. Labels on the pictures use the DejaVu Sans font. The review picture (the cook) is from Lesson 5.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Other small pictures (the faces on the Progress Check) are standard emoji characters shown with the computer's emoji font.</a:t>
            </a:r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All names, places, and hours on the slides (Kim, the laundromat, the school, the store) are invented.</a:t>
            </a:r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(Narrator, store message, Receptionist, Kim) made with Chatterbox TTS (Resemble AI, MIT License), copied from short reference clips made with Kokoro-82M (Apache 2.0); no recordings of real people were used. Each file carries an inaudible Perth watermark. Font: Lexend Deca (OFL 1.1).</a:t>
            </a:r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Letters &amp; Numbers: Task A</a:t>
            </a:r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 Say the time.</a:t>
            </a:r>
          </a:p>
        </p:txBody>
      </p:sp>
      <p:sp>
        <p:nvSpPr>
          <p:cNvPr id="4" name="Shape 2"/>
          <p:cNvSpPr/>
          <p:nvPr/>
        </p:nvSpPr>
        <p:spPr>
          <a:xfrm>
            <a:off x="621792" y="2487168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2514600"/>
            <a:ext cx="640080" cy="64008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141732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</a:t>
            </a:r>
          </a:p>
        </p:txBody>
      </p:sp>
      <p:pic>
        <p:nvPicPr>
          <p:cNvPr id="101" name="6:00 clock picture" descr="6:00 clock"/>
          <p:cNvPicPr>
            <a:picLocks noChangeAspect="1"/>
          </p:cNvPicPr>
          <p:nvPr/>
        </p:nvPicPr>
        <p:blipFill>
          <a:blip r:embed="rIdL5_1"/>
          <a:stretch>
            <a:fillRect/>
          </a:stretch>
        </p:blipFill>
        <p:spPr>
          <a:xfrm>
            <a:off x="685800" y="3383280"/>
            <a:ext cx="2331720" cy="1632204"/>
          </a:xfrm>
          <a:prstGeom prst="rect">
            <a:avLst/>
          </a:prstGeom>
        </p:spPr>
      </p:pic>
      <p:sp>
        <p:nvSpPr>
          <p:cNvPr id="10" name="Shape 8"/>
          <p:cNvSpPr/>
          <p:nvPr/>
        </p:nvSpPr>
        <p:spPr>
          <a:xfrm>
            <a:off x="3456432" y="2487168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83280" y="2377440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520440" y="2514600"/>
            <a:ext cx="640080" cy="64008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52044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</a:p>
        </p:txBody>
      </p:sp>
      <p:sp>
        <p:nvSpPr>
          <p:cNvPr id="14" name="Text 12"/>
          <p:cNvSpPr/>
          <p:nvPr/>
        </p:nvSpPr>
        <p:spPr>
          <a:xfrm>
            <a:off x="425196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</a:t>
            </a:r>
          </a:p>
        </p:txBody>
      </p:sp>
      <p:pic>
        <p:nvPicPr>
          <p:cNvPr id="102" name="6:15 clock picture" descr="6:15 clock"/>
          <p:cNvPicPr>
            <a:picLocks noChangeAspect="1"/>
          </p:cNvPicPr>
          <p:nvPr/>
        </p:nvPicPr>
        <p:blipFill>
          <a:blip r:embed="rIdL5_2"/>
          <a:stretch>
            <a:fillRect/>
          </a:stretch>
        </p:blipFill>
        <p:spPr>
          <a:xfrm>
            <a:off x="3520440" y="3383280"/>
            <a:ext cx="2331720" cy="1632204"/>
          </a:xfrm>
          <a:prstGeom prst="rect">
            <a:avLst/>
          </a:prstGeom>
        </p:spPr>
      </p:pic>
      <p:sp>
        <p:nvSpPr>
          <p:cNvPr id="16" name="Shape 14"/>
          <p:cNvSpPr/>
          <p:nvPr/>
        </p:nvSpPr>
        <p:spPr>
          <a:xfrm>
            <a:off x="6291072" y="2487168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0" name="Card4 30"/>
          <p:cNvSpPr/>
          <p:nvPr/>
        </p:nvSpPr>
        <p:spPr>
          <a:xfrm>
            <a:off x="9125712" y="2487168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17920" y="2377440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31" name="Card4 31"/>
          <p:cNvSpPr/>
          <p:nvPr/>
        </p:nvSpPr>
        <p:spPr>
          <a:xfrm>
            <a:off x="9052560" y="2377440"/>
            <a:ext cx="2606040" cy="3017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355080" y="2514600"/>
            <a:ext cx="640080" cy="64008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2" name="Card4 32"/>
          <p:cNvSpPr/>
          <p:nvPr/>
        </p:nvSpPr>
        <p:spPr>
          <a:xfrm>
            <a:off x="9189720" y="2514600"/>
            <a:ext cx="640080" cy="64008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550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</a:p>
        </p:txBody>
      </p:sp>
      <p:sp>
        <p:nvSpPr>
          <p:cNvPr id="33" name="Card4 33"/>
          <p:cNvSpPr/>
          <p:nvPr/>
        </p:nvSpPr>
        <p:spPr>
          <a:xfrm>
            <a:off x="91897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</a:p>
        </p:txBody>
      </p:sp>
      <p:sp>
        <p:nvSpPr>
          <p:cNvPr id="20" name="Text 18"/>
          <p:cNvSpPr/>
          <p:nvPr/>
        </p:nvSpPr>
        <p:spPr>
          <a:xfrm>
            <a:off x="708660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</a:t>
            </a:r>
          </a:p>
        </p:txBody>
      </p:sp>
      <p:sp>
        <p:nvSpPr>
          <p:cNvPr id="34" name="Card4 34"/>
          <p:cNvSpPr/>
          <p:nvPr/>
        </p:nvSpPr>
        <p:spPr>
          <a:xfrm>
            <a:off x="992124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_____</a:t>
            </a:r>
          </a:p>
        </p:txBody>
      </p:sp>
      <p:pic>
        <p:nvPicPr>
          <p:cNvPr id="103" name="6:30 clock picture" descr="6:30 clock"/>
          <p:cNvPicPr>
            <a:picLocks noChangeAspect="1"/>
          </p:cNvPicPr>
          <p:nvPr/>
        </p:nvPicPr>
        <p:blipFill>
          <a:blip r:embed="rIdL5_3"/>
          <a:stretch>
            <a:fillRect/>
          </a:stretch>
        </p:blipFill>
        <p:spPr>
          <a:xfrm>
            <a:off x="6355080" y="3383280"/>
            <a:ext cx="2331720" cy="1632204"/>
          </a:xfrm>
          <a:prstGeom prst="rect">
            <a:avLst/>
          </a:prstGeom>
        </p:spPr>
      </p:pic>
      <p:pic>
        <p:nvPicPr>
          <p:cNvPr id="104" name="6:45 clock picture" descr="6:45 clock"/>
          <p:cNvPicPr>
            <a:picLocks noChangeAspect="1"/>
          </p:cNvPicPr>
          <p:nvPr/>
        </p:nvPicPr>
        <p:blipFill>
          <a:blip r:embed="rIdL5_4"/>
          <a:stretch>
            <a:fillRect/>
          </a:stretch>
        </p:blipFill>
        <p:spPr>
          <a:xfrm>
            <a:off x="9189720" y="3383280"/>
            <a:ext cx="2331720" cy="1632204"/>
          </a:xfrm>
          <a:prstGeom prst="rect">
            <a:avLst/>
          </a:prstGeom>
        </p:spPr>
      </p:pic>
      <p:sp>
        <p:nvSpPr>
          <p:cNvPr id="25" name="Answer do"/>
          <p:cNvSpPr/>
          <p:nvPr/>
        </p:nvSpPr>
        <p:spPr>
          <a:xfrm>
            <a:off x="1417320" y="2523744"/>
            <a:ext cx="160020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6:00</a:t>
            </a:r>
          </a:p>
        </p:txBody>
      </p:sp>
      <p:sp>
        <p:nvSpPr>
          <p:cNvPr id="26" name="Answer are"/>
          <p:cNvSpPr/>
          <p:nvPr/>
        </p:nvSpPr>
        <p:spPr>
          <a:xfrm>
            <a:off x="4251960" y="2523744"/>
            <a:ext cx="160020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6:15</a:t>
            </a:r>
          </a:p>
        </p:txBody>
      </p:sp>
      <p:sp>
        <p:nvSpPr>
          <p:cNvPr id="27" name="Answer does"/>
          <p:cNvSpPr/>
          <p:nvPr/>
        </p:nvSpPr>
        <p:spPr>
          <a:xfrm>
            <a:off x="7086600" y="2523744"/>
            <a:ext cx="160020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6:30</a:t>
            </a:r>
          </a:p>
        </p:txBody>
      </p:sp>
      <p:sp>
        <p:nvSpPr>
          <p:cNvPr id="35" name="Card4 35"/>
          <p:cNvSpPr/>
          <p:nvPr/>
        </p:nvSpPr>
        <p:spPr>
          <a:xfrm>
            <a:off x="9921240" y="2523744"/>
            <a:ext cx="160020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6:45</a:t>
            </a:r>
          </a:p>
        </p:txBody>
      </p:sp>
      <p:sp>
        <p:nvSpPr>
          <p:cNvPr id="120" name="People line"/>
          <p:cNvSpPr/>
          <p:nvPr/>
        </p:nvSpPr>
        <p:spPr>
          <a:xfrm>
            <a:off x="685800" y="5669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 : 30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the hour : the minutes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75488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Check the days. Write.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the days.  C: the times and a word.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The laundromat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open on…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The English class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on…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On Friday, the school is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 from ___ to ___.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4754880"/>
            <a:ext cx="32461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The school is closed</a:t>
            </a:r>
          </a:p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the ___.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75488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81888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 + C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days.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show your partner.</a:t>
            </a:r>
          </a:p>
        </p:txBody>
      </p:sp>
      <p:sp>
        <p:nvSpPr>
          <p:cNvPr id="34" name="Answer 1"/>
          <p:cNvSpPr/>
          <p:nvPr/>
        </p:nvSpPr>
        <p:spPr>
          <a:xfrm>
            <a:off x="5029200" y="2523744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Mon.–Sat.</a:t>
            </a:r>
          </a:p>
        </p:txBody>
      </p:sp>
      <p:sp>
        <p:nvSpPr>
          <p:cNvPr id="35" name="Answer 2"/>
          <p:cNvSpPr/>
          <p:nvPr/>
        </p:nvSpPr>
        <p:spPr>
          <a:xfrm>
            <a:off x="5029200" y="3310128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Mon., Wed.</a:t>
            </a:r>
          </a:p>
        </p:txBody>
      </p:sp>
      <p:sp>
        <p:nvSpPr>
          <p:cNvPr id="36" name="Answer 3"/>
          <p:cNvSpPr/>
          <p:nvPr/>
        </p:nvSpPr>
        <p:spPr>
          <a:xfrm>
            <a:off x="5029200" y="4096511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9:00–3:00</a:t>
            </a:r>
          </a:p>
        </p:txBody>
      </p:sp>
      <p:sp>
        <p:nvSpPr>
          <p:cNvPr id="37" name="Answer 4"/>
          <p:cNvSpPr/>
          <p:nvPr/>
        </p:nvSpPr>
        <p:spPr>
          <a:xfrm>
            <a:off x="5029200" y="4882896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weekend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Do You Work?</a:t>
            </a:r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  ·  PART 2</a:t>
            </a:r>
          </a:p>
        </p:txBody>
      </p:sp>
      <p:sp>
        <p:nvSpPr>
          <p:cNvPr id="9" name="Text 7"/>
          <p:cNvSpPr/>
          <p:nvPr/>
        </p:nvSpPr>
        <p:spPr>
          <a:xfrm>
            <a:off x="599846" y="30175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your partner.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one sentence.</a:t>
            </a:r>
          </a:p>
        </p:txBody>
      </p:sp>
      <p:sp>
        <p:nvSpPr>
          <p:cNvPr id="13" name="Model A"/>
          <p:cNvSpPr/>
          <p:nvPr/>
        </p:nvSpPr>
        <p:spPr>
          <a:xfrm>
            <a:off x="599846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When do you work?</a:t>
            </a:r>
          </a:p>
        </p:txBody>
      </p:sp>
      <p:sp>
        <p:nvSpPr>
          <p:cNvPr id="14" name="Model B"/>
          <p:cNvSpPr/>
          <p:nvPr/>
        </p:nvSpPr>
        <p:spPr>
          <a:xfrm>
            <a:off x="599846" y="4709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On Monday and Friday,</a:t>
            </a:r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morning.</a:t>
            </a:r>
          </a:p>
        </p:txBody>
      </p:sp>
      <p:sp>
        <p:nvSpPr>
          <p:cNvPr id="139" name="List shadow"/>
          <p:cNvSpPr/>
          <p:nvPr/>
        </p:nvSpPr>
        <p:spPr>
          <a:xfrm>
            <a:off x="6053328" y="1298448"/>
            <a:ext cx="5760720" cy="3611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0" name="List card"/>
          <p:cNvSpPr/>
          <p:nvPr/>
        </p:nvSpPr>
        <p:spPr>
          <a:xfrm>
            <a:off x="5989320" y="1234440"/>
            <a:ext cx="5760720" cy="3611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1" name="Question list"/>
          <p:cNvSpPr/>
          <p:nvPr/>
        </p:nvSpPr>
        <p:spPr>
          <a:xfrm>
            <a:off x="6263640" y="146304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ask: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do you study?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is English class?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___ and ___,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___.</a:t>
            </a:r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don't work now. English class is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___,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___.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75488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Row card 5"/>
          <p:cNvSpPr/>
          <p:nvPr/>
        </p:nvSpPr>
        <p:spPr>
          <a:xfrm>
            <a:off x="1583741" y="554126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at, on, or in.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one word.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 is ____ 6:00.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 is ____ Monday and Wednesday.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____ the morning.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4754880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____ night.</a:t>
            </a:r>
          </a:p>
        </p:txBody>
      </p:sp>
      <p:sp>
        <p:nvSpPr>
          <p:cNvPr id="51" name="Row text 5"/>
          <p:cNvSpPr/>
          <p:nvPr/>
        </p:nvSpPr>
        <p:spPr>
          <a:xfrm>
            <a:off x="1810512" y="5541264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store is closed ____ Sunday.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75488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81888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52" name="Row chip 5"/>
          <p:cNvSpPr/>
          <p:nvPr/>
        </p:nvSpPr>
        <p:spPr>
          <a:xfrm>
            <a:off x="544982" y="554126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ow number 5"/>
          <p:cNvSpPr/>
          <p:nvPr/>
        </p:nvSpPr>
        <p:spPr>
          <a:xfrm>
            <a:off x="686714" y="56052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at, on, in?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6:00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Monday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morning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</a:p>
        </p:txBody>
      </p:sp>
      <p:sp>
        <p:nvSpPr>
          <p:cNvPr id="34" name="Answer 1"/>
          <p:cNvSpPr/>
          <p:nvPr/>
        </p:nvSpPr>
        <p:spPr>
          <a:xfrm>
            <a:off x="5486400" y="2523744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</a:p>
        </p:txBody>
      </p:sp>
      <p:sp>
        <p:nvSpPr>
          <p:cNvPr id="35" name="Answer 2"/>
          <p:cNvSpPr/>
          <p:nvPr/>
        </p:nvSpPr>
        <p:spPr>
          <a:xfrm>
            <a:off x="5486400" y="3310128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</a:p>
        </p:txBody>
      </p:sp>
      <p:sp>
        <p:nvSpPr>
          <p:cNvPr id="36" name="Answer 3"/>
          <p:cNvSpPr/>
          <p:nvPr/>
        </p:nvSpPr>
        <p:spPr>
          <a:xfrm>
            <a:off x="5486400" y="4096511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</a:t>
            </a:r>
          </a:p>
        </p:txBody>
      </p:sp>
      <p:sp>
        <p:nvSpPr>
          <p:cNvPr id="37" name="Answer 4"/>
          <p:cNvSpPr/>
          <p:nvPr/>
        </p:nvSpPr>
        <p:spPr>
          <a:xfrm>
            <a:off x="5486400" y="4882896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</a:t>
            </a:r>
          </a:p>
        </p:txBody>
      </p:sp>
      <p:sp>
        <p:nvSpPr>
          <p:cNvPr id="54" name="Answer 5"/>
          <p:cNvSpPr/>
          <p:nvPr/>
        </p:nvSpPr>
        <p:spPr>
          <a:xfrm>
            <a:off x="5486400" y="5669280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14072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349654"/>
            <a:ext cx="6163056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239572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182112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3968496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4754880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Write the time.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numbers.</a:t>
            </a:r>
          </a:p>
        </p:txBody>
      </p:sp>
      <p:sp>
        <p:nvSpPr>
          <p:cNvPr id="11" name="Text 9"/>
          <p:cNvSpPr/>
          <p:nvPr/>
        </p:nvSpPr>
        <p:spPr>
          <a:xfrm>
            <a:off x="1810512" y="2395728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 : ___</a:t>
            </a:r>
          </a:p>
        </p:txBody>
      </p:sp>
      <p:sp>
        <p:nvSpPr>
          <p:cNvPr id="13" name="Text 11"/>
          <p:cNvSpPr/>
          <p:nvPr/>
        </p:nvSpPr>
        <p:spPr>
          <a:xfrm>
            <a:off x="1810512" y="3182112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 : ___</a:t>
            </a:r>
          </a:p>
        </p:txBody>
      </p:sp>
      <p:sp>
        <p:nvSpPr>
          <p:cNvPr id="15" name="Text 13"/>
          <p:cNvSpPr/>
          <p:nvPr/>
        </p:nvSpPr>
        <p:spPr>
          <a:xfrm>
            <a:off x="1810512" y="3968496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 : ___</a:t>
            </a:r>
          </a:p>
        </p:txBody>
      </p:sp>
      <p:sp>
        <p:nvSpPr>
          <p:cNvPr id="17" name="Text 15"/>
          <p:cNvSpPr/>
          <p:nvPr/>
        </p:nvSpPr>
        <p:spPr>
          <a:xfrm>
            <a:off x="1810512" y="4754880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 : ___</a:t>
            </a:r>
          </a:p>
        </p:txBody>
      </p:sp>
      <p:sp>
        <p:nvSpPr>
          <p:cNvPr id="21" name="Shape 19"/>
          <p:cNvSpPr/>
          <p:nvPr/>
        </p:nvSpPr>
        <p:spPr>
          <a:xfrm>
            <a:off x="544982" y="239572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24597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182112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246120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3968496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0325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4754880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481888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</a:t>
            </a:r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</a:t>
            </a:r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 times.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 a time.</a:t>
            </a:r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writes it.</a:t>
            </a:r>
          </a:p>
        </p:txBody>
      </p:sp>
      <p:sp>
        <p:nvSpPr>
          <p:cNvPr id="34" name="Answer 1"/>
          <p:cNvSpPr/>
          <p:nvPr/>
        </p:nvSpPr>
        <p:spPr>
          <a:xfrm>
            <a:off x="5486400" y="2523744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7:30</a:t>
            </a:r>
          </a:p>
        </p:txBody>
      </p:sp>
      <p:sp>
        <p:nvSpPr>
          <p:cNvPr id="35" name="Answer 2"/>
          <p:cNvSpPr/>
          <p:nvPr/>
        </p:nvSpPr>
        <p:spPr>
          <a:xfrm>
            <a:off x="5486400" y="3310128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8:00</a:t>
            </a:r>
          </a:p>
        </p:txBody>
      </p:sp>
      <p:sp>
        <p:nvSpPr>
          <p:cNvPr id="36" name="Answer 3"/>
          <p:cNvSpPr/>
          <p:nvPr/>
        </p:nvSpPr>
        <p:spPr>
          <a:xfrm>
            <a:off x="5486400" y="4096511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9:15</a:t>
            </a:r>
          </a:p>
        </p:txBody>
      </p:sp>
      <p:sp>
        <p:nvSpPr>
          <p:cNvPr id="37" name="Answer 4"/>
          <p:cNvSpPr/>
          <p:nvPr/>
        </p:nvSpPr>
        <p:spPr>
          <a:xfrm>
            <a:off x="5486400" y="4882896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10:45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Lesson 4: This Is My Family</dc:title>
  <dc:subject>Adult ESL Level 1, Lesson 4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