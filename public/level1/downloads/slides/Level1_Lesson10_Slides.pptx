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2.xml" ContentType="application/vnd.openxmlformats-officedocument.presentationml.notesSlide+xml"/>
  <Override PartName="/ppt/slides/slide27.xml" ContentType="application/vnd.openxmlformats-officedocument.presentationml.slide+xml"/>
  <Override PartName="/ppt/notesSlides/notesSlide33.xml" ContentType="application/vnd.openxmlformats-officedocument.presentationml.notesSlide+xml"/>
  <Override PartName="/ppt/slides/slide28.xml" ContentType="application/vnd.openxmlformats-officedocument.presentationml.slide+xml"/>
  <Override PartName="/ppt/notesSlides/notesSlide34.xml" ContentType="application/vnd.openxmlformats-officedocument.presentationml.notesSlide+xml"/>
  <Override PartName="/ppt/slides/slide29.xml" ContentType="application/vnd.openxmlformats-officedocument.presentationml.slide+xml"/>
  <Override PartName="/ppt/notesSlides/notesSlide36.xml" ContentType="application/vnd.openxmlformats-officedocument.presentationml.notesSlide+xml"/>
  <Override PartName="/ppt/slides/slide31.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67" r:id="rId13"/>
    <p:sldId id="257" r:id="rId3"/>
    <p:sldId id="265" r:id="rId11"/>
    <p:sldId id="276" r:id="rId27"/>
    <p:sldId id="264" r:id="rId10"/>
    <p:sldId id="287" r:id="rId38"/>
    <p:sldId id="280" r:id="rId31"/>
    <p:sldId id="266" r:id="rId12"/>
    <p:sldId id="260" r:id="rId6"/>
    <p:sldId id="259" r:id="rId5"/>
    <p:sldId id="277" r:id="rId28"/>
    <p:sldId id="289" r:id="rId40"/>
    <p:sldId id="278" r:id="rId29"/>
    <p:sldId id="270" r:id="rId16"/>
    <p:sldId id="288" r:id="rId39"/>
    <p:sldId id="271" r:id="rId17"/>
    <p:sldId id="279" r:id="rId30"/>
    <p:sldId id="291" r:id="rId42"/>
    <p:sldId id="281" r:id="rId32"/>
    <p:sldId id="261" r:id="rId7"/>
    <p:sldId id="283" r:id="rId34"/>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21.xml"/><Relationship Id="rId10" Type="http://schemas.openxmlformats.org/officeDocument/2006/relationships/slide" Target="slides/slide8.xml"/><Relationship Id="rId11" Type="http://schemas.openxmlformats.org/officeDocument/2006/relationships/slide" Target="slides/slide5.xml"/><Relationship Id="rId12" Type="http://schemas.openxmlformats.org/officeDocument/2006/relationships/slide" Target="slides/slide14.xml"/><Relationship Id="rId13" Type="http://schemas.openxmlformats.org/officeDocument/2006/relationships/slide" Target="slides/slide2.xml"/><Relationship Id="rId16" Type="http://schemas.openxmlformats.org/officeDocument/2006/relationships/slide" Target="slides/slide17.xml"/><Relationship Id="rId17" Type="http://schemas.openxmlformats.org/officeDocument/2006/relationships/slide" Target="slides/slide18.xml"/><Relationship Id="rId20" Type="http://schemas.openxmlformats.org/officeDocument/2006/relationships/slide" Target="slides/slide23.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6.xml"/><Relationship Id="rId28" Type="http://schemas.openxmlformats.org/officeDocument/2006/relationships/slide" Target="slides/slide11.xml"/><Relationship Id="rId29" Type="http://schemas.openxmlformats.org/officeDocument/2006/relationships/slide" Target="slides/slide16.xml"/><Relationship Id="rId30" Type="http://schemas.openxmlformats.org/officeDocument/2006/relationships/slide" Target="slides/slide4.xml"/><Relationship Id="rId31" Type="http://schemas.openxmlformats.org/officeDocument/2006/relationships/slide" Target="slides/slide15.xml"/><Relationship Id="rId32" Type="http://schemas.openxmlformats.org/officeDocument/2006/relationships/slide" Target="slides/slide19.xml"/><Relationship Id="rId34" Type="http://schemas.openxmlformats.org/officeDocument/2006/relationships/slide" Target="slides/slide22.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2"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Say: "Today: homes." Point to the house: "This is a house."</a:t>
            </a:r>
          </a:p>
          <a:p>
            <a:r>
              <a:rPr lang="en-US"/>
              <a:t>Before class: print the Student Pages (number expected + 3 spares), one set of picture cards per group of 3–4, the floor-plan picture for Talk Time, and the apartment ad for Real-World Reading. Have the phone + small speaker and L1_L10_listening.mp3 ready. Prep time: 30 min.</a:t>
            </a:r>
          </a:p>
          <a:p>
            <a:r>
              <a:rPr lang="en-US"/>
              <a:t>The apartment and the ad are invented. Never ask for real rent or real addresses. A dream home is fine.</a:t>
            </a:r>
          </a:p>
          <a:p>
            <a:r>
              <a:rPr lang="en-US"/>
              <a:t>Teach in English. Show, point, and gesture. Say less, show more.</a:t>
            </a:r>
          </a:p>
          <a:p>
            <a:r>
              <a:rPr lang="en-US"/>
              <a:t>Class plan: 6:00 Hello + Review, 6:10 New Words, 6:20 Listening, 6:32 Grammar, 6:45 Break, 7:00 Talk Time, 7:10 Exit Ticket + Homework, 7:15 Real-World Reading, 7:25 Progress Check.</a:t>
            </a:r>
          </a:p>
          <a:p>
            <a:r>
              <a:rPr lang="en-US"/>
              <a:t>Source: level1_curriculum/lesson10/Level1_Lesson10.md (At a glance, Clock-time plan, Teacher notes).</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Pairs. 15 learners: 7 pairs + 1 group of 3. 7–8 learners: 3–4 pairs. Late arrivals join any pair.</a:t>
            </a:r>
          </a:p>
          <a:p>
            <a:r>
              <a:rPr lang="en-US"/>
              <a:t>Before class, write on the board: When is your birthday? How's the weather today? Is there a kitchen?</a:t>
            </a:r>
          </a:p>
          <a:p>
            <a:r>
              <a:rPr lang="en-US"/>
              <a:t>Model with one learner: "When is your birthday?" "It's in May." Then "Is there a kitchen in your home?"</a:t>
            </a:r>
          </a:p>
          <a:p>
            <a:r>
              <a:rPr lang="en-US"/>
              <a:t>Click to show the A question. Click again for the B answers. Pairs use the Hello + Review page: 1 When is your birthday? 2 How's the weather today? 3 What day is today? It's ___. Switch. Then find a new partner.</a:t>
            </a:r>
          </a:p>
          <a:p>
            <a:r>
              <a:rPr lang="en-US"/>
              <a:t>Homework check (last 3 min): partners show last week's homework. Walk around and look.</a:t>
            </a:r>
          </a:p>
          <a:p>
            <a:r>
              <a:rPr lang="en-US"/>
              <a:t>New learners: pair them with a strong partner. If behind: one partner only.</a:t>
            </a:r>
          </a:p>
          <a:p>
            <a:r>
              <a:rPr lang="en-US"/>
              <a:t>Source: level1_curriculum/lesson10/Level1_Lesson10.md (Step 1: Hello + Review; Student Pages: Hello + Review).</a:t>
            </a:r>
          </a:p>
          <a:p>
            <a:r>
              <a:rPr lang="en-US"/>
              <a:t>Review picture: the birthday cake from Lesson 9 (lesson9/images/L1_L9_birthday.png). Twemoji graphics by Twitter, Inc. and other contributors (https://github.com/jdecked/twemoji), CC BY 4.0 (https://creativecommons.org/licenses/by/4.0/); resized and combined (see lesson9/images/CREDITS.md).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4: "Is there a bed?" Click: "Yes, there is." / "No, there isn't." "Are there chairs?" Click: "Yes, there are." / "No, there aren't."</a:t>
            </a:r>
          </a:p>
          <a:p>
            <a:r>
              <a:rPr lang="en-US"/>
              <a:t>Box 5 (side card): rooms + in the: "There is a table in the kitchen. There are two windows in the bedroom."</a:t>
            </a:r>
          </a:p>
          <a:p>
            <a:r>
              <a:rPr lang="en-US"/>
              <a:t>Pair drill (last 3–4 min): A looks at the floor plan; B asks Is there…? Are there…? How many…? Switch. If behind: skip the pair drill; Talk Time practices the same language.</a:t>
            </a:r>
          </a:p>
          <a:p>
            <a:r>
              <a:rPr lang="en-US"/>
              <a:t>Source: level1_curriculum/lesson10/Level1_Lesson10.md (Step 4: Grammar Q&amp;A, pair drill; Grammar Boxes 4 and 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Left = question. Right = answer. Point left, then right.</a:t>
            </a:r>
          </a:p>
          <a:p>
            <a:r>
              <a:rPr lang="en-US"/>
              <a:t>Box 2: "Is there a sofa?" Click: "Yes, there is." / "No, there isn't." "Is there a washing machine?" Click: "No, there isn't."</a:t>
            </a:r>
          </a:p>
          <a:p>
            <a:r>
              <a:rPr lang="en-US"/>
              <a:t>Box 3: "Are there windows?" Click: "Yes, there are." / "No, there aren't." "How many bedrooms are there?" Click: "There are two."</a:t>
            </a:r>
          </a:p>
          <a:p>
            <a:r>
              <a:rPr lang="en-US"/>
              <a:t>One thing → Is there…? Two or more → Are there…?</a:t>
            </a:r>
          </a:p>
          <a:p>
            <a:r>
              <a:rPr lang="en-US"/>
              <a:t>Check question: "___ there a sofa?" (Is)</a:t>
            </a:r>
          </a:p>
          <a:p>
            <a:r>
              <a:rPr lang="en-US"/>
              <a:t>Source: level1_curriculum/lesson10/Level1_Lesson10.md (Step 4: Grammar Q&amp;A, Boxes 2–3; Grammar Boxes 2 and 3).</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Progress Check (5 min). Individuals. Open the Progress Check page.</a:t>
            </a:r>
          </a:p>
          <a:p>
            <a:r>
              <a:rPr lang="en-US"/>
              <a:t>Part A: read each word slowly, 2 times: 1 apartment, 2 kitchen, 3 sofa, 4 bedroom, 5 window. Learners circle.</a:t>
            </a:r>
          </a:p>
          <a:p>
            <a:r>
              <a:rPr lang="en-US"/>
              <a:t>Parts B and C: learners match and write on their own. Help with the instructions only. Click to show the Part B answers when you check together: 1 b, 2 c, 3 a, 4 d.</a:t>
            </a:r>
          </a:p>
          <a:p>
            <a:r>
              <a:rPr lang="en-US"/>
              <a:t>Part C answers: 1 is, 2 are, 3 Is, 4 Are.</a:t>
            </a:r>
          </a:p>
          <a:p>
            <a:r>
              <a:rPr lang="en-US"/>
              <a:t>Part D: read each "I can…" line and point to the 3 faces. Learners check one.</a:t>
            </a:r>
          </a:p>
          <a:p>
            <a:r>
              <a:rPr lang="en-US"/>
              <a:t>Score: A /5 + B /4 + C /4 = /13. Not a test grade. Collect if you want. If behind: do it next week at 6:00.</a:t>
            </a:r>
          </a:p>
          <a:p>
            <a:r>
              <a:rPr lang="en-US"/>
              <a:t>Source: level1_curriculum/lesson10/Level1_Lesson10.md (Progress Check step; Student Pages: Progress Check; Answer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you listen (1 min). Say: "Rosa calls about an apartment. She asks: Is there…? Are there…?"</a:t>
            </a:r>
          </a:p>
          <a:p>
            <a:r>
              <a:rPr lang="en-US"/>
              <a:t>Click to show each listen. Listen 1: Task A (check what the apartment has). Listen 2: Task B (circle the number of bedrooms and bathrooms). Listen 3: Task C (when is the rent due?).</a:t>
            </a:r>
          </a:p>
          <a:p>
            <a:r>
              <a:rPr lang="en-US"/>
              <a:t>Say it!: read each line. Learners repeat: "There are two bedrooms." "Is there a washing machine?"</a:t>
            </a:r>
          </a:p>
          <a:p>
            <a:r>
              <a:rPr lang="en-US"/>
              <a:t>The audio L1_L10_listening.mp3 (about 1:10) plays the conversation once. Press play again for the next listen. Pairs compare after each task. Write answers on the board.</a:t>
            </a:r>
          </a:p>
          <a:p>
            <a:r>
              <a:rPr lang="en-US"/>
              <a:t>No speaker? Read the script with a volunteer. The apartment is invented. Never ask learners for real rent.</a:t>
            </a:r>
          </a:p>
          <a:p>
            <a:r>
              <a:rPr lang="en-US"/>
              <a:t>Voices: Narrator, Agent, Rosa. Synthetic voices made with Chatterbox TTS (MIT), copied from short reference clips made with Kokoro-82M (Apache 2.0); no recordings of real people. Green Street Apartments is invented.</a:t>
            </a:r>
          </a:p>
          <a:p>
            <a:r>
              <a:rPr lang="en-US"/>
              <a:t>If behind: play 2 times; do Task C together.</a:t>
            </a:r>
          </a:p>
          <a:p>
            <a:r>
              <a:rPr lang="en-US"/>
              <a:t>Source: level1_curriculum/lesson10/Level1_Lesson10.md (Step 3: Listening; Listening script).</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to the floor plan: "Kitchen. Bedroom. Bathroom. Living room."</a:t>
            </a:r>
          </a:p>
          <a:p>
            <a:r>
              <a:rPr lang="en-US"/>
              <a:t>Click to show each picture. Point and say the word. Learners repeat 2 times. ★ words 2 more times.</a:t>
            </a:r>
          </a:p>
          <a:p>
            <a:r>
              <a:rPr lang="en-US"/>
              <a:t>Tip: apartment = a home in a building. house = a home that stands alone.</a:t>
            </a:r>
          </a:p>
          <a:p>
            <a:r>
              <a:rPr lang="en-US"/>
              <a:t>★ = most important words. If behind: teach the ★ words only.</a:t>
            </a:r>
          </a:p>
          <a:p>
            <a:r>
              <a:rPr lang="en-US"/>
              <a:t>Source: level1_curriculum/lesson10/Level1_Lesson10.md (Step 2: New Words; Student Pages: New Words).</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the Grammar page. Box 1: "There is a kitchen. There is a bed." Click. "There are two bedrooms. There are chairs." Click.</a:t>
            </a:r>
          </a:p>
          <a:p>
            <a:r>
              <a:rPr lang="en-US"/>
              <a:t>Write on the board: one → is; two or more → are. Learners repeat.</a:t>
            </a:r>
          </a:p>
          <a:p>
            <a:r>
              <a:rPr lang="en-US"/>
              <a:t>Spanish hay = there is / there are (two English forms). Learners can read the Spanish note on their Grammar page.</a:t>
            </a:r>
          </a:p>
          <a:p>
            <a:r>
              <a:rPr lang="en-US"/>
              <a:t>Yes, use a for one countable thing: There is a bed.</a:t>
            </a:r>
          </a:p>
          <a:p>
            <a:r>
              <a:rPr lang="en-US"/>
              <a:t>Check questions: "There ___ a table." (is) • "There ___ two chairs." (are)</a:t>
            </a:r>
          </a:p>
          <a:p>
            <a:r>
              <a:rPr lang="en-US"/>
              <a:t>Source: level1_curriculum/lesson10/Level1_Lesson10.md (Step 4: Grammar Q&amp;A, Box 1; Grammar Box 1; Questions and answers; Teacher notes).</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Click to show each goal, one at a time. Read it aloud. Learners repeat.</a:t>
            </a:r>
          </a:p>
          <a:p>
            <a:r>
              <a:rPr lang="en-US"/>
              <a:t>Goal 1: rooms and furniture: house, apartment, kitchen, bedroom, bathroom, living room, bed, table, chair, sofa, refrigerator, window.</a:t>
            </a:r>
          </a:p>
          <a:p>
            <a:r>
              <a:rPr lang="en-US"/>
              <a:t>Goal 2: "There is a kitchen. There are two bedrooms."</a:t>
            </a:r>
          </a:p>
          <a:p>
            <a:r>
              <a:rPr lang="en-US"/>
              <a:t>Goal 3: "Is there a sofa?" "Are there windows?"</a:t>
            </a:r>
          </a:p>
          <a:p>
            <a:r>
              <a:rPr lang="en-US"/>
              <a:t>Goal 4: "How many bedrooms are there?" "There are two."</a:t>
            </a:r>
          </a:p>
          <a:p>
            <a:r>
              <a:rPr lang="en-US"/>
              <a:t>Goal 5: understand a simple apartment phone call; read an apartment ad (BR / BA / mo) at 7:15.</a:t>
            </a:r>
          </a:p>
          <a:p>
            <a:r>
              <a:rPr lang="en-US"/>
              <a:t>Source: level1_curriculum/lesson10/Level1_Lesson10.md (At a glance: Objectives).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1, floor plan (6 min). A–B pairs. A looks at the floor plan (Student A page); partners don't show it. B asks and draws or writes. Then compare. Then switch.</a:t>
            </a:r>
          </a:p>
          <a:p>
            <a:r>
              <a:rPr lang="en-US"/>
              <a:t>B asks: Is there a kitchen? How many bedrooms are there? Is there a washing machine? Are there windows? A answers from the plan: Yes, there is. / No, there isn't. / There are ___.</a:t>
            </a:r>
          </a:p>
          <a:p>
            <a:r>
              <a:rPr lang="en-US"/>
              <a:t>Click to show each step.</a:t>
            </a:r>
          </a:p>
          <a:p>
            <a:r>
              <a:rPr lang="en-US"/>
              <a:t>Learners who can't write yet: they point on the floor plan and say "Yes, there is."</a:t>
            </a:r>
          </a:p>
          <a:p>
            <a:r>
              <a:rPr lang="en-US"/>
              <a:t>Source: level1_curriculum/lesson10/Level1_Lesson10.md (Step 5: Talk Time, Part 1; Student Pages: Talk Time A and B; Teacher notes).</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Exit ticket (never skip): each learner says "There is a ___." or "There are ___." Copying is fine.</a:t>
            </a:r>
          </a:p>
          <a:p>
            <a:r>
              <a:rPr lang="en-US"/>
              <a:t>Homework (10 minutes): open the Homework page. Do item 1, line 1 together. Point to each instruction.</a:t>
            </a:r>
          </a:p>
          <a:p>
            <a:r>
              <a:rPr lang="en-US"/>
              <a:t>Homework: 1) write about a home (yours or a dream home; never write a real rent amount if you don't want to); 2) write is or are; 3) draw a simple floor plan and label 3 rooms; 4) ask a family member "Is there a table in the kitchen?" and write the answer; 5) review: write today's date (Lesson 9).</a:t>
            </a:r>
          </a:p>
          <a:p>
            <a:r>
              <a:rPr lang="en-US"/>
              <a:t>Homework answers (answer key, Homework 2): 1 is, 2 are, 3 is, 4 are.</a:t>
            </a:r>
          </a:p>
          <a:p>
            <a:r>
              <a:rPr lang="en-US"/>
              <a:t>Source: level1_curriculum/lesson10/Level1_Lesson10.md (Step 6: Exit Ticket + Homework; Student Pages: Homework; Answer key).</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Credits for the pictures, audio, and font.</a:t>
            </a:r>
          </a:p>
          <a:p>
            <a:r>
              <a:rPr lang="en-US"/>
              <a:t>Pictures: Twemoji (CC BY 4.0), https://github.com/jdecked/twemoji; resized and combined, labels added; floor plan and apartment ad drawn in code. Review picture (birthday cake) from Lesson 9. Audio: Chatterbox TTS (MIT) voices copied from short Kokoro-82M (Apache 2.0) reference clips; no recordings of real people.</a:t>
            </a:r>
          </a:p>
          <a:p>
            <a:r>
              <a:rPr lang="en-US"/>
              <a:t>Sources: Level1_Lesson10.md (Picture Credits), lesson10/images/CREDITS.md, lesson10/audio/README.md.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Hold up the furniture cards: "Bed. Table. Chair. Sofa." Click to show each picture. Learners repeat 2 times.</a:t>
            </a:r>
          </a:p>
          <a:p>
            <a:r>
              <a:rPr lang="en-US"/>
              <a:t>Pairs (4 min): A points to a picture, B says the word. Then A asks "Is there a ___?" B answers "Yes, there is." / "No, there isn't."</a:t>
            </a:r>
          </a:p>
          <a:p>
            <a:r>
              <a:rPr lang="en-US"/>
              <a:t>★ = most important words. sofa, refrigerator, and window have no ★. If behind: teach the ★ words only.</a:t>
            </a:r>
          </a:p>
          <a:p>
            <a:r>
              <a:rPr lang="en-US"/>
              <a:t>Source: level1_curriculum/lesson10/Level1_Lesson10.md (Step 2: New Words; Student Pages: New Words).</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is this different from Spanish? Spanish hay is one word. English has two forms: there is and there are. Click to show.</a:t>
            </a:r>
          </a:p>
          <a:p>
            <a:r>
              <a:rPr lang="en-US"/>
              <a:t>Right box: "Do I say a with there is?" Click: "Yes for one countable thing: There is a bed."</a:t>
            </a:r>
          </a:p>
          <a:p>
            <a:r>
              <a:rPr lang="en-US"/>
              <a:t>Point to the floor plan: "There is a kitchen. There is a bathroom. Is there a living room? Yes, there is."</a:t>
            </a:r>
          </a:p>
          <a:p>
            <a:r>
              <a:rPr lang="en-US"/>
              <a:t>Source: level1_curriculum/lesson10/Level1_Lesson10.md (Grammar: Questions and answers; Teacher notes).</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each "Don't say" line. Shake your head. Click to show the correct line. Learners repeat it.</a:t>
            </a:r>
          </a:p>
          <a:p>
            <a:r>
              <a:rPr lang="en-US"/>
              <a:t>Have two bedrooms → There are two bedrooms. There is two beds → There are two beds. Is there windows? → Are there windows?</a:t>
            </a:r>
          </a:p>
          <a:p>
            <a:r>
              <a:rPr lang="en-US"/>
              <a:t>Big mistake this week: Have two bedrooms / There is two beds. Point to Grammar Box 1.</a:t>
            </a:r>
          </a:p>
          <a:p>
            <a:r>
              <a:rPr lang="en-US"/>
              <a:t>Source: level1_curriculum/lesson10/Level1_Lesson10.md (Grammar: Common mistakes; Teacher notes).</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Real-World Reading (10 min). Whole class, then pairs. Use the Real-World Reading page.</a:t>
            </a:r>
          </a:p>
          <a:p>
            <a:r>
              <a:rPr lang="en-US"/>
              <a:t>See it (2 min), Task A: point to BR, BA, and the price on the ad.</a:t>
            </a:r>
          </a:p>
          <a:p>
            <a:r>
              <a:rPr lang="en-US"/>
              <a:t>Learners answer. Then click to show each answer (answer key): 2 bedrooms, 1 bathroom, $900 per month.</a:t>
            </a:r>
          </a:p>
          <a:p>
            <a:r>
              <a:rPr lang="en-US"/>
              <a:t>Hear it (2 min): say "2 BR, 1 BA"; learners point.</a:t>
            </a:r>
          </a:p>
          <a:p>
            <a:r>
              <a:rPr lang="en-US"/>
              <a:t>The ad is invented. Never ask learners for real rent. Learners who can't read yet: they point to the pictures and say key words with everyone.</a:t>
            </a:r>
          </a:p>
          <a:p>
            <a:r>
              <a:rPr lang="en-US"/>
              <a:t>Source: level1_curriculum/lesson10/Level1_Lesson10.md (Real-World Reading step; Student Pages: Real-World Reading A; Answer key).</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2 (Task B): learners circle how many bedrooms and bathrooms. Listen 3 (Task C): when is the rent due?</a:t>
            </a:r>
          </a:p>
          <a:p>
            <a:r>
              <a:rPr lang="en-US"/>
              <a:t>Pairs compare. Then click to show each answer.</a:t>
            </a:r>
          </a:p>
          <a:p>
            <a:r>
              <a:rPr lang="en-US"/>
              <a:t>Task B: bedrooms 2, bathrooms 1 ("There are two bedrooms and one bathroom.").</a:t>
            </a:r>
          </a:p>
          <a:p>
            <a:r>
              <a:rPr lang="en-US"/>
              <a:t>Task C: on the first ("The rent is due on the first of the month.").</a:t>
            </a:r>
          </a:p>
          <a:p>
            <a:r>
              <a:rPr lang="en-US"/>
              <a:t>Say it with a partner (page D): "Is there a refrigerator?" "Yes, there is." / "No, there isn't." "How many bedrooms are there?" "There are two."</a:t>
            </a:r>
          </a:p>
          <a:p>
            <a:r>
              <a:rPr lang="en-US"/>
              <a:t>If behind: play the audio 2 times, and do Task C together.</a:t>
            </a:r>
          </a:p>
          <a:p>
            <a:r>
              <a:rPr lang="en-US"/>
              <a:t>Source: level1_curriculum/lesson10/Level1_Lesson10.md (Step 3: Listening; Student Pages: Listening B, C, D; Answer key).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C: learners read the ad and circle Yes or No. Click to show each answer (answer key): 1 Yes, 2 Yes (the ad: 2 BR, 1 BA).</a:t>
            </a:r>
          </a:p>
          <a:p>
            <a:r>
              <a:rPr lang="en-US"/>
              <a:t>Task D (pairs): A asks "How many bedrooms?" B answers from the ad: "There are two." Then switch.</a:t>
            </a:r>
          </a:p>
          <a:p>
            <a:r>
              <a:rPr lang="en-US"/>
              <a:t>Source: level1_curriculum/lesson10/Level1_Lesson10.md (Real-World Reading step; Student Pages: Real-World Reading C and D; Answer key).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"Great work! See you next week!" Remind learners: bring the homework next week.</a:t>
            </a:r>
          </a:p>
          <a:p>
            <a:r>
              <a:rPr lang="en-US"/>
              <a:t>Collect the Progress Check pages if you want.</a:t>
            </a:r>
          </a:p>
          <a:p>
            <a:r>
              <a:rPr lang="en-US"/>
              <a:t>Source: level1_curriculum/lesson10/Level1_Lesson10.md (At a glance: Objectives).</a:t>
            </a:r>
          </a:p>
          <a:p>
            <a:r>
              <a:rPr lang="en-US"/>
              <a:t>Pictures: Twemoji graphics by Twitter, Inc. and other contributors (https://github.com/jdecked/twemoji), CC BY 4.0 (https://creativecommons.org/licenses/by/4.0/); resized and combined, labels added. The floor plan and the apartment ad are drawn in code (see lesson10/images/CREDITS.md).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1 (Task A). Rosa calls about an apartment. Learners check ✓ what the apartment has.</a:t>
            </a:r>
          </a:p>
          <a:p>
            <a:r>
              <a:rPr lang="en-US"/>
              <a:t>Pairs compare. Then click to show each answer: two bedrooms ✓; washing machine ✗ ("No, there isn't."); refrigerator ✓; windows in the kitchen ✓; big living room ✓.</a:t>
            </a:r>
          </a:p>
          <a:p>
            <a:r>
              <a:rPr lang="en-US"/>
              <a:t>Source: level1_curriculum/lesson10/Level1_Lesson10.md (Step 3: Listening; Student Pages: Listening A; Answer key, Listening 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2, dream home (3 min). Each learner says 3 sentences about a dream home: There is… There are…</a:t>
            </a:r>
          </a:p>
          <a:p>
            <a:r>
              <a:rPr lang="en-US"/>
              <a:t>Model: "There is a kitchen." Click: "There are two bedrooms."</a:t>
            </a:r>
          </a:p>
          <a:p>
            <a:r>
              <a:rPr lang="en-US"/>
              <a:t>The partner can ask: Is there ___? How many ___ are there? Then switch.</a:t>
            </a:r>
          </a:p>
          <a:p>
            <a:r>
              <a:rPr lang="en-US"/>
              <a:t>A dream home is fine. Never ask for real rent or real addresses.</a:t>
            </a:r>
          </a:p>
          <a:p>
            <a:r>
              <a:rPr lang="en-US"/>
              <a:t>If behind: do half of Talk Time only.</a:t>
            </a:r>
          </a:p>
          <a:p>
            <a:r>
              <a:rPr lang="en-US"/>
              <a:t>Source: level1_curriculum/lesson10/Level1_Lesson10.md (Step 5: Talk Time, Part 2; Student Pages: Talk Time B, Dream home; Teacher notes).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Learners write is, are, Is, or Are on lines 1–5. Then pairs check.</a:t>
            </a:r>
          </a:p>
          <a:p>
            <a:r>
              <a:rPr lang="en-US"/>
              <a:t>Click to show each answer: 1 is, 2 are, 3 Is, 4 Are, 5 are (How many bedrooms are there?).</a:t>
            </a:r>
          </a:p>
          <a:p>
            <a:r>
              <a:rPr lang="en-US"/>
              <a:t>Lines 6–7 on the page: write one sentence with There is… and one with There are… (answers will vary).</a:t>
            </a:r>
          </a:p>
          <a:p>
            <a:r>
              <a:rPr lang="en-US"/>
              <a:t>Source: level1_curriculum/lesson10/Level1_Lesson10.md (Grammar: Practice; Answer key, Grammar practice; Grammar Box 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it (4 min), Task B: abbreviations. Learners match each one to a, b, or c.</a:t>
            </a:r>
          </a:p>
          <a:p>
            <a:r>
              <a:rPr lang="en-US"/>
              <a:t>Then click to show each answer: 2 BR → b bedrooms; 1 BA → a bathroom; /mo → c per month.</a:t>
            </a:r>
          </a:p>
          <a:p>
            <a:r>
              <a:rPr lang="en-US"/>
              <a:t>If behind: do Tasks A and B only.</a:t>
            </a:r>
          </a:p>
          <a:p>
            <a:r>
              <a:rPr lang="en-US"/>
              <a:t>Source: level1_curriculum/lesson10/Level1_Lesson10.md (Real-World Reading step; Student Pages: Real-World Reading B; Answer key, Real-World Reading 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xml"/><Relationship Id="rIdImg1" Type="http://schemas.openxmlformats.org/officeDocument/2006/relationships/image" Target="../media/L1_L10_house.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Img1" Type="http://schemas.openxmlformats.org/officeDocument/2006/relationships/image" Target="../media/L1_L9_birthday.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Img1" Type="http://schemas.openxmlformats.org/officeDocument/2006/relationships/image" Target="../media/L1_L10_apartment_ad.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Img1" Type="http://schemas.openxmlformats.org/officeDocument/2006/relationships/image" Target="../media/L1_L10_house.png"/><Relationship Id="rIdImg2" Type="http://schemas.openxmlformats.org/officeDocument/2006/relationships/image" Target="../media/L1_L10_apartment.png"/><Relationship Id="rIdImg3" Type="http://schemas.openxmlformats.org/officeDocument/2006/relationships/image" Target="../media/L1_L10_kitchen.png"/><Relationship Id="rIdImg4" Type="http://schemas.openxmlformats.org/officeDocument/2006/relationships/image" Target="../media/L1_L10_bedroom.png"/><Relationship Id="rIdImg5" Type="http://schemas.openxmlformats.org/officeDocument/2006/relationships/image" Target="../media/L1_L10_bathroom.png"/><Relationship Id="rIdImg6" Type="http://schemas.openxmlformats.org/officeDocument/2006/relationships/image" Target="../media/L1_L10_living_room.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Img1" Type="http://schemas.openxmlformats.org/officeDocument/2006/relationships/image" Target="../media/L1_L10_bed.png"/><Relationship Id="rIdImg2" Type="http://schemas.openxmlformats.org/officeDocument/2006/relationships/image" Target="../media/L1_L10_table.png"/><Relationship Id="rIdImg3" Type="http://schemas.openxmlformats.org/officeDocument/2006/relationships/image" Target="../media/L1_L10_chair.png"/><Relationship Id="rIdImg4" Type="http://schemas.openxmlformats.org/officeDocument/2006/relationships/image" Target="../media/L1_L10_sofa.png"/><Relationship Id="rIdImg5" Type="http://schemas.openxmlformats.org/officeDocument/2006/relationships/image" Target="../media/L1_L10_refrigerator.png"/><Relationship Id="rIdImg6" Type="http://schemas.openxmlformats.org/officeDocument/2006/relationships/image" Target="../media/L1_L10_window.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Img1" Type="http://schemas.openxmlformats.org/officeDocument/2006/relationships/image" Target="../media/L1_L10_apartment.png"/><Relationship Id="rIdImg2" Type="http://schemas.openxmlformats.org/officeDocument/2006/relationships/image" Target="../media/L1_L10_refrigerator.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2.xml"/><Relationship Id="rIdImg1" Type="http://schemas.openxmlformats.org/officeDocument/2006/relationships/image" Target="../media/L1_L10_floor_plan.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Img1" Type="http://schemas.openxmlformats.org/officeDocument/2006/relationships/image" Target="../media/L1_L10_sofa.png"/><Relationship Id="rIdImg2" Type="http://schemas.openxmlformats.org/officeDocument/2006/relationships/image" Target="../media/L1_L10_window.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Img1" Type="http://schemas.openxmlformats.org/officeDocument/2006/relationships/image" Target="../media/L1_L10_kitchen.png"/><Relationship Id="rIdImg2" Type="http://schemas.openxmlformats.org/officeDocument/2006/relationships/image" Target="../media/L1_L10_bedroom.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Img1" Type="http://schemas.openxmlformats.org/officeDocument/2006/relationships/image" Target="../media/L1_L10_bed.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Img1" Type="http://schemas.openxmlformats.org/officeDocument/2006/relationships/image" Target="../media/L1_L10_floor_plan.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Img1" Type="http://schemas.openxmlformats.org/officeDocument/2006/relationships/image" Target="../media/L1_L10_sofa.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28.xml"/><Relationship Id="rIdImg1" Type="http://schemas.openxmlformats.org/officeDocument/2006/relationships/image" Target="../media/L1_L10_apartment.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House picture" descr="house">    </p:cNvPr>
          <p:cNvPicPr>
            <a:picLocks noChangeAspect="1"/>
          </p:cNvPicPr>
          <p:nvPr/>
        </p:nvPicPr>
        <p:blipFill>
          <a:blip r:embed="rIdImg1"/>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10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Home Sweet Home</a:t>
            </a:r>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There is a kitchen.</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Is there a sofa?</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How many bedrooms are there?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2093062"/>
            <a:ext cx="6227064" cy="983894"/>
          </a:xfrm>
          <a:prstGeom prst="round1Rect">
            <a:avLst>
              <a:gd name="adj" fmla="val 23087"/>
            </a:avLst>
          </a:prstGeom>
          <a:solidFill>
            <a:srgbClr val="8FAFE3"/>
          </a:solidFill>
          <a:ln/>
        </p:spPr>
        <p:txBody>
          <a:bodyPr/>
          <a:p/>
        </p:txBody>
      </p:sp>
      <p:sp>
        <p:nvSpPr>
          <p:cNvPr id="3" name="Shape 1"/>
          <p:cNvSpPr/>
          <p:nvPr/>
        </p:nvSpPr>
        <p:spPr>
          <a:xfrm>
            <a:off x="1583741" y="2035454"/>
            <a:ext cx="5130698" cy="98389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5" name="Shape 3"/>
          <p:cNvSpPr/>
          <p:nvPr/>
        </p:nvSpPr>
        <p:spPr>
          <a:xfrm>
            <a:off x="1583741" y="3838651"/>
            <a:ext cx="5130698" cy="602590"/>
          </a:xfrm>
          <a:prstGeom prst="round1Rect">
            <a:avLst>
              <a:gd name="adj" fmla="val 23087"/>
            </a:avLst>
          </a:prstGeom>
          <a:solidFill>
            <a:srgbClr val="FFFFFF"/>
          </a:solidFill>
          <a:ln/>
        </p:spPr>
        <p:txBody>
          <a:bodyPr/>
          <a:p/>
        </p:txBody>
      </p:sp>
      <p:sp>
        <p:nvSpPr>
          <p:cNvPr id="6" name="Shape 4"/>
          <p:cNvSpPr/>
          <p:nvPr/>
        </p:nvSpPr>
        <p:spPr>
          <a:xfrm>
            <a:off x="1583741" y="4550054"/>
            <a:ext cx="5130698" cy="602590"/>
          </a:xfrm>
          <a:prstGeom prst="round1Rect">
            <a:avLst>
              <a:gd name="adj" fmla="val 23087"/>
            </a:avLst>
          </a:prstGeom>
          <a:solidFill>
            <a:srgbClr val="FFFFFF"/>
          </a:solidFill>
          <a:ln/>
        </p:spPr>
        <p:txBody>
          <a:bodyPr/>
          <a:p/>
        </p:txBody>
      </p:sp>
      <p:sp>
        <p:nvSpPr>
          <p:cNvPr id="7" name="Shape 5"/>
          <p:cNvSpPr/>
          <p:nvPr/>
        </p:nvSpPr>
        <p:spPr>
          <a:xfrm>
            <a:off x="1583741" y="5261458"/>
            <a:ext cx="5130698" cy="602590"/>
          </a:xfrm>
          <a:prstGeom prst="round1Rect">
            <a:avLst>
              <a:gd name="adj" fmla="val 23087"/>
            </a:avLst>
          </a:prstGeom>
          <a:solidFill>
            <a:srgbClr val="FFFFFF"/>
          </a:solidFill>
          <a:ln/>
        </p:spPr>
        <p:txBody>
          <a:bodyPr/>
          <a:p/>
        </p:txBody>
      </p:sp>
      <p:sp>
        <p:nvSpPr>
          <p:cNvPr id="8" name="Text 6"/>
          <p:cNvSpPr/>
          <p:nvPr/>
        </p:nvSpPr>
        <p:spPr>
          <a:xfrm>
            <a:off x="1810512" y="2103120"/>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name rooms and furniture.</a:t>
            </a:r>
          </a:p>
        </p:txBody>
      </p:sp>
      <p:sp>
        <p:nvSpPr>
          <p:cNvPr id="9" name="Text 7"/>
          <p:cNvSpPr/>
          <p:nvPr/>
        </p:nvSpPr>
        <p:spPr>
          <a:xfrm>
            <a:off x="1901952" y="2505456"/>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kitchen, bedroom, bed, table</a:t>
            </a:r>
          </a:p>
        </p:txBody>
      </p:sp>
      <p:sp>
        <p:nvSpPr>
          <p:cNvPr id="11" name="Text 9"/>
          <p:cNvSpPr/>
          <p:nvPr/>
        </p:nvSpPr>
        <p:spPr>
          <a:xfrm>
            <a:off x="1810512" y="3127248"/>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say: There is… / There are…</a:t>
            </a:r>
          </a:p>
        </p:txBody>
      </p:sp>
      <p:sp>
        <p:nvSpPr>
          <p:cNvPr id="13" name="Text 11"/>
          <p:cNvSpPr/>
          <p:nvPr/>
        </p:nvSpPr>
        <p:spPr>
          <a:xfrm>
            <a:off x="1810512" y="3838651"/>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Is there a…? Are there…?</a:t>
            </a:r>
          </a:p>
        </p:txBody>
      </p:sp>
      <p:sp>
        <p:nvSpPr>
          <p:cNvPr id="15" name="Text 13"/>
          <p:cNvSpPr/>
          <p:nvPr/>
        </p:nvSpPr>
        <p:spPr>
          <a:xfrm>
            <a:off x="1810512" y="4550054"/>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ask: How many… are there?</a:t>
            </a:r>
          </a:p>
        </p:txBody>
      </p:sp>
      <p:sp>
        <p:nvSpPr>
          <p:cNvPr id="17" name="Text 15"/>
          <p:cNvSpPr/>
          <p:nvPr/>
        </p:nvSpPr>
        <p:spPr>
          <a:xfrm>
            <a:off x="1810512" y="5261458"/>
            <a:ext cx="4434840" cy="602590"/>
          </a:xfrm>
          <a:prstGeom prst="rect">
            <a:avLst/>
          </a:prstGeom>
          <a:noFill/>
          <a:ln/>
        </p:spPr>
        <p:txBody>
          <a:bodyPr wrap="square" rtlCol="0" anchor="ct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can read an apartment ad.</a:t>
            </a:r>
          </a:p>
        </p:txBody>
      </p:sp>
      <p:sp>
        <p:nvSpPr>
          <p:cNvPr id="19" name="Shape 17"/>
          <p:cNvSpPr/>
          <p:nvPr/>
        </p:nvSpPr>
        <p:spPr>
          <a:xfrm>
            <a:off x="544982" y="2035454"/>
            <a:ext cx="1039673" cy="983894"/>
          </a:xfrm>
          <a:prstGeom prst="rect">
            <a:avLst/>
          </a:prstGeom>
          <a:solidFill>
            <a:srgbClr val="B9D2F7"/>
          </a:solidFill>
          <a:ln/>
        </p:spPr>
        <p:txBody>
          <a:bodyPr/>
          <a:p/>
        </p:txBody>
      </p:sp>
      <p:sp>
        <p:nvSpPr>
          <p:cNvPr id="20" name="Text 18"/>
          <p:cNvSpPr/>
          <p:nvPr/>
        </p:nvSpPr>
        <p:spPr>
          <a:xfrm>
            <a:off x="686714" y="2166214"/>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dirty="0"/>
          </a:p>
        </p:txBody>
      </p:sp>
      <p:sp>
        <p:nvSpPr>
          <p:cNvPr id="23" name="Shape 21"/>
          <p:cNvSpPr/>
          <p:nvPr/>
        </p:nvSpPr>
        <p:spPr>
          <a:xfrm>
            <a:off x="544982" y="3838651"/>
            <a:ext cx="1039673" cy="602590"/>
          </a:xfrm>
          <a:prstGeom prst="rect">
            <a:avLst/>
          </a:prstGeom>
          <a:solidFill>
            <a:srgbClr val="B9D2F7"/>
          </a:solidFill>
          <a:ln/>
        </p:spPr>
        <p:txBody>
          <a:bodyPr/>
          <a:p/>
        </p:txBody>
      </p:sp>
      <p:sp>
        <p:nvSpPr>
          <p:cNvPr id="24" name="Text 22"/>
          <p:cNvSpPr/>
          <p:nvPr/>
        </p:nvSpPr>
        <p:spPr>
          <a:xfrm>
            <a:off x="686714" y="3816706"/>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dirty="0"/>
          </a:p>
        </p:txBody>
      </p:sp>
      <p:sp>
        <p:nvSpPr>
          <p:cNvPr id="25" name="Shape 23"/>
          <p:cNvSpPr/>
          <p:nvPr/>
        </p:nvSpPr>
        <p:spPr>
          <a:xfrm>
            <a:off x="544982" y="4550054"/>
            <a:ext cx="1039673" cy="602590"/>
          </a:xfrm>
          <a:prstGeom prst="rect">
            <a:avLst/>
          </a:prstGeom>
          <a:solidFill>
            <a:srgbClr val="B9D2F7"/>
          </a:solidFill>
          <a:ln/>
        </p:spPr>
        <p:txBody>
          <a:bodyPr/>
          <a:p/>
        </p:txBody>
      </p:sp>
      <p:sp>
        <p:nvSpPr>
          <p:cNvPr id="26" name="Text 24"/>
          <p:cNvSpPr/>
          <p:nvPr/>
        </p:nvSpPr>
        <p:spPr>
          <a:xfrm>
            <a:off x="686714" y="4543654"/>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dirty="0"/>
          </a:p>
        </p:txBody>
      </p:sp>
      <p:sp>
        <p:nvSpPr>
          <p:cNvPr id="27" name="Shape 25"/>
          <p:cNvSpPr/>
          <p:nvPr/>
        </p:nvSpPr>
        <p:spPr>
          <a:xfrm>
            <a:off x="544982" y="5279746"/>
            <a:ext cx="1039673" cy="602590"/>
          </a:xfrm>
          <a:prstGeom prst="rect">
            <a:avLst/>
          </a:prstGeom>
          <a:solidFill>
            <a:srgbClr val="B9D2F7"/>
          </a:solidFill>
          <a:ln/>
        </p:spPr>
        <p:txBody>
          <a:bodyPr/>
          <a:p/>
        </p:txBody>
      </p:sp>
      <p:sp>
        <p:nvSpPr>
          <p:cNvPr id="28" name="Text 26"/>
          <p:cNvSpPr/>
          <p:nvPr/>
        </p:nvSpPr>
        <p:spPr>
          <a:xfrm>
            <a:off x="686714" y="5269687"/>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Tonight you learn these things.</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Rooms and furniture</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There is / There are</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Progress Check at 7:25!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400"/>
                                        <p:tgtEl>
                                          <p:spTgt spid="4"/>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400"/>
                                        <p:tgtEl>
                                          <p:spTgt spid="5"/>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400"/>
                                        <p:tgtEl>
                                          <p:spTgt spid="6"/>
                                        </p:tgtEl>
                                      </p:cBhvr>
                                    </p:animEffect>
                                  </p:childTnLst>
                                </p:cTn>
                              </p:par>
                              <p:par>
                                <p:cTn id="56" presetID="10" presetClass="entr" presetSubtype="0"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400"/>
                                        <p:tgtEl>
                                          <p:spTgt spid="15"/>
                                        </p:tgtEl>
                                      </p:cBhvr>
                                    </p:animEffect>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400"/>
                                        <p:tgtEl>
                                          <p:spTgt spid="7"/>
                                        </p:tgtEl>
                                      </p:cBhvr>
                                    </p:animEffect>
                                  </p:childTnLst>
                                </p:cTn>
                              </p:par>
                              <p:par>
                                <p:cTn id="70" presetID="10"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00"/>
                                        <p:tgtEl>
                                          <p:spTgt spid="17"/>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Birthday cake (from Lesson 9) picture" descr="birthday cake (from Lesson 9)"/>
          <p:cNvPicPr>
            <a:picLocks noChangeAspect="1"/>
          </p:cNvPicPr>
          <p:nvPr/>
        </p:nvPicPr>
        <p:blipFill>
          <a:blip r:embed="rIdImg1"/>
          <a:stretch>
            <a:fillRect/>
          </a:stretch>
        </p:blipFill>
        <p:spPr>
          <a:xfrm>
            <a:off x="6799936" y="2104034"/>
            <a:ext cx="4754880" cy="3328416"/>
          </a:xfrm>
          <a:prstGeom prst="rect">
            <a:avLst/>
          </a:prstGeom>
        </p:spPr>
      </p:pic>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4600" dirty="0" b="1">
                <a:solidFill>
                  <a:srgbClr val="1B2236"/>
                </a:solidFill>
                <a:latin typeface="Lexend Deca" pitchFamily="34" charset="0"/>
                <a:ea typeface="Lexend Deca" pitchFamily="34" charset="-122"/>
                <a:cs typeface="Lexend Deca" pitchFamily="34" charset="-120"/>
              </a:rPr>
              <a:t>Hello + Review</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WARM-UP  ·  6:00</a:t>
            </a:r>
          </a:p>
        </p:txBody>
      </p:sp>
      <p:sp>
        <p:nvSpPr>
          <p:cNvPr id="9" name="Text 7"/>
          <p:cNvSpPr/>
          <p:nvPr/>
        </p:nvSpPr>
        <p:spPr>
          <a:xfrm>
            <a:off x="599846" y="3017520"/>
            <a:ext cx="4846320" cy="868680"/>
          </a:xfrm>
          <a:prstGeom prst="rect">
            <a:avLst/>
          </a:prstGeom>
          <a:noFill/>
          <a:ln/>
        </p:spPr>
        <p:txBody>
          <a:bodyPr wrap="square" lIns="0" tIns="0" rIns="0" bIns="0" rtlCol="0" anchor="t"/>
          <a:lstStyle/>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How's the weather today?</a:t>
            </a:r>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day is today?</a:t>
            </a:r>
          </a:p>
        </p:txBody>
      </p:sp>
      <p:sp>
        <p:nvSpPr>
          <p:cNvPr id="13" name="Model A"/>
          <p:cNvSpPr/>
          <p:nvPr/>
        </p:nvSpPr>
        <p:spPr>
          <a:xfrm>
            <a:off x="599846" y="4023360"/>
            <a:ext cx="4846320" cy="5029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 When is your birthday?</a:t>
            </a:r>
          </a:p>
        </p:txBody>
      </p:sp>
      <p:sp>
        <p:nvSpPr>
          <p:cNvPr id="14" name="Model B"/>
          <p:cNvSpPr/>
          <p:nvPr/>
        </p:nvSpPr>
        <p:spPr>
          <a:xfrm>
            <a:off x="599846" y="4709160"/>
            <a:ext cx="4846320" cy="146304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B: It's in May.</a:t>
            </a:r>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It's on May 5th.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8640" y="2414015"/>
            <a:ext cx="6163056" cy="603504"/>
          </a:xfrm>
          <a:prstGeom prst="round1Rect">
            <a:avLst>
              <a:gd name="adj" fmla="val 23087"/>
            </a:avLst>
          </a:prstGeom>
          <a:solidFill>
            <a:srgbClr val="8FAFE3"/>
          </a:solidFill>
          <a:ln/>
        </p:spPr>
        <p:txBody>
          <a:bodyPr/>
          <a:p/>
        </p:txBody>
      </p:sp>
      <p:sp>
        <p:nvSpPr>
          <p:cNvPr id="3" name="Shape 1"/>
          <p:cNvSpPr/>
          <p:nvPr/>
        </p:nvSpPr>
        <p:spPr>
          <a:xfrm>
            <a:off x="1583741" y="2414015"/>
            <a:ext cx="5130698" cy="60350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5" name="Shape 3"/>
          <p:cNvSpPr/>
          <p:nvPr/>
        </p:nvSpPr>
        <p:spPr>
          <a:xfrm>
            <a:off x="1583741" y="3838651"/>
            <a:ext cx="5130698" cy="602590"/>
          </a:xfrm>
          <a:prstGeom prst="round1Rect">
            <a:avLst>
              <a:gd name="adj" fmla="val 23087"/>
            </a:avLst>
          </a:prstGeom>
          <a:solidFill>
            <a:srgbClr val="FFFFFF"/>
          </a:solidFill>
          <a:ln/>
        </p:spPr>
        <p:txBody>
          <a:bodyPr/>
          <a:p/>
        </p:txBody>
      </p:sp>
      <p:sp>
        <p:nvSpPr>
          <p:cNvPr id="8" name="Text 6"/>
          <p:cNvSpPr/>
          <p:nvPr/>
        </p:nvSpPr>
        <p:spPr>
          <a:xfrm>
            <a:off x="1810512" y="2414015"/>
            <a:ext cx="3246120" cy="603504"/>
          </a:xfrm>
          <a:prstGeom prst="rect">
            <a:avLst/>
          </a:prstGeom>
          <a:noFill/>
          <a:ln/>
        </p:spPr>
        <p:txBody>
          <a:bodyPr wrap="square" rtlCol="0" anchor="ct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How many bedrooms? (BR)</a:t>
            </a:r>
            <a:endParaRPr lang="en-US" sz="1700" dirty="0"/>
          </a:p>
        </p:txBody>
      </p:sp>
      <p:sp>
        <p:nvSpPr>
          <p:cNvPr id="11" name="Text 9"/>
          <p:cNvSpPr/>
          <p:nvPr/>
        </p:nvSpPr>
        <p:spPr>
          <a:xfrm>
            <a:off x="1810512" y="3127248"/>
            <a:ext cx="324612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How many bathrooms? (BA)</a:t>
            </a:r>
            <a:endParaRPr lang="en-US" sz="1700" dirty="0"/>
          </a:p>
        </p:txBody>
      </p:sp>
      <p:sp>
        <p:nvSpPr>
          <p:cNvPr id="13" name="Text 11"/>
          <p:cNvSpPr/>
          <p:nvPr/>
        </p:nvSpPr>
        <p:spPr>
          <a:xfrm>
            <a:off x="1810512" y="3838651"/>
            <a:ext cx="324612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How much per month?</a:t>
            </a:r>
            <a:endParaRPr lang="en-US" sz="1700" dirty="0"/>
          </a:p>
        </p:txBody>
      </p:sp>
      <p:sp>
        <p:nvSpPr>
          <p:cNvPr id="19" name="Shape 17"/>
          <p:cNvSpPr/>
          <p:nvPr/>
        </p:nvSpPr>
        <p:spPr>
          <a:xfrm>
            <a:off x="544982" y="2414015"/>
            <a:ext cx="1039673" cy="603504"/>
          </a:xfrm>
          <a:prstGeom prst="rect">
            <a:avLst/>
          </a:prstGeom>
          <a:solidFill>
            <a:srgbClr val="B9D2F7"/>
          </a:solidFill>
          <a:ln/>
        </p:spPr>
        <p:txBody>
          <a:bodyPr/>
          <a:p/>
        </p:txBody>
      </p:sp>
      <p:sp>
        <p:nvSpPr>
          <p:cNvPr id="20" name="Text 18"/>
          <p:cNvSpPr/>
          <p:nvPr/>
        </p:nvSpPr>
        <p:spPr>
          <a:xfrm>
            <a:off x="686714" y="2395727"/>
            <a:ext cx="1109167" cy="585216"/>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2</a:t>
            </a:r>
            <a:endParaRPr lang="en-US" sz="3200" dirty="0"/>
          </a:p>
        </p:txBody>
      </p:sp>
      <p:sp>
        <p:nvSpPr>
          <p:cNvPr id="23" name="Shape 21"/>
          <p:cNvSpPr/>
          <p:nvPr/>
        </p:nvSpPr>
        <p:spPr>
          <a:xfrm>
            <a:off x="544982" y="3838651"/>
            <a:ext cx="1039673" cy="602590"/>
          </a:xfrm>
          <a:prstGeom prst="rect">
            <a:avLst/>
          </a:prstGeom>
          <a:solidFill>
            <a:srgbClr val="B9D2F7"/>
          </a:solidFill>
          <a:ln/>
        </p:spPr>
        <p:txBody>
          <a:bodyPr/>
          <a:p/>
        </p:txBody>
      </p:sp>
      <p:sp>
        <p:nvSpPr>
          <p:cNvPr id="24" name="Text 22"/>
          <p:cNvSpPr/>
          <p:nvPr/>
        </p:nvSpPr>
        <p:spPr>
          <a:xfrm>
            <a:off x="686714" y="3816706"/>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3</a:t>
            </a:r>
            <a:endParaRPr lang="en-US" sz="3200" dirty="0"/>
          </a:p>
        </p:txBody>
      </p:sp>
      <p:sp>
        <p:nvSpPr>
          <p:cNvPr id="29" name="Text 27"/>
          <p:cNvSpPr/>
          <p:nvPr/>
        </p:nvSpPr>
        <p:spPr>
          <a:xfrm>
            <a:off x="7634326" y="685800"/>
            <a:ext cx="4229100" cy="9144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Read the Ad</a:t>
            </a:r>
            <a:endParaRPr lang="en-US" sz="3600" dirty="0"/>
          </a:p>
        </p:txBody>
      </p:sp>
      <p:sp>
        <p:nvSpPr>
          <p:cNvPr id="30" name="Text 28"/>
          <p:cNvSpPr/>
          <p:nvPr/>
        </p:nvSpPr>
        <p:spPr>
          <a:xfrm>
            <a:off x="7751369" y="4800600"/>
            <a:ext cx="3931920" cy="1280160"/>
          </a:xfrm>
          <a:prstGeom prst="rect">
            <a:avLst/>
          </a:prstGeom>
          <a:noFill/>
          <a:ln/>
        </p:spPr>
        <p:txBody>
          <a:bodyPr wrap="square" lIns="0" tIns="0" rIns="0" bIns="0" rtlCol="0" anchor="t"/>
          <a:lstStyle/>
          <a:p>
            <a:pPr algn="l" indent="0" marL="0">
              <a:lnSpc>
                <a:spcPct val="120000"/>
              </a:lnSpc>
              <a:spcAft>
                <a:spcPts val="1400"/>
              </a:spcAft>
              <a:buNone/>
            </a:pPr>
            <a:r>
              <a:rPr lang="en-US" sz="1900" dirty="0" b="0">
                <a:solidFill>
                  <a:srgbClr val="1B2236"/>
                </a:solidFill>
                <a:latin typeface="Lexend Deca" pitchFamily="34" charset="0"/>
                <a:ea typeface="Lexend Deca" pitchFamily="34" charset="-122"/>
                <a:cs typeface="Lexend Deca" pitchFamily="34" charset="-120"/>
              </a:rPr>
              <a:t>Real-World Reading</a:t>
            </a:r>
          </a:p>
          <a:p>
            <a:pPr algn="l" indent="0" marL="0">
              <a:lnSpc>
                <a:spcPct val="120000"/>
              </a:lnSpc>
              <a:spcAft>
                <a:spcPts val="1400"/>
              </a:spcAft>
              <a:buNone/>
            </a:pPr>
            <a:r>
              <a:rPr lang="en-US" sz="1900" dirty="0" b="1">
                <a:solidFill>
                  <a:srgbClr val="5B3FC4"/>
                </a:solidFill>
                <a:latin typeface="Lexend Deca" pitchFamily="34" charset="0"/>
                <a:ea typeface="Lexend Deca" pitchFamily="34" charset="-122"/>
                <a:cs typeface="Lexend Deca" pitchFamily="34" charset="-120"/>
              </a:rPr>
              <a:t>Task A:</a:t>
            </a:r>
            <a:r>
              <a:rPr lang="en-US" sz="1900" dirty="0" b="0">
                <a:solidFill>
                  <a:srgbClr val="1B2236"/>
                </a:solidFill>
                <a:latin typeface="Lexend Deca" pitchFamily="34" charset="0"/>
                <a:ea typeface="Lexend Deca" pitchFamily="34" charset="-122"/>
                <a:cs typeface="Lexend Deca" pitchFamily="34" charset="-120"/>
              </a:rPr>
              <a:t> answer.</a:t>
            </a:r>
          </a:p>
        </p:txBody>
      </p:sp>
      <p:sp>
        <p:nvSpPr>
          <p:cNvPr id="160" name="Answer 1"/>
          <p:cNvSpPr/>
          <p:nvPr/>
        </p:nvSpPr>
        <p:spPr>
          <a:xfrm>
            <a:off x="5120640" y="2487168"/>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2</a:t>
            </a:r>
          </a:p>
        </p:txBody>
      </p:sp>
      <p:sp>
        <p:nvSpPr>
          <p:cNvPr id="161" name="Answer 2"/>
          <p:cNvSpPr/>
          <p:nvPr/>
        </p:nvSpPr>
        <p:spPr>
          <a:xfrm>
            <a:off x="5120640" y="3200400"/>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1</a:t>
            </a:r>
          </a:p>
        </p:txBody>
      </p:sp>
      <p:sp>
        <p:nvSpPr>
          <p:cNvPr id="162" name="Answer 3"/>
          <p:cNvSpPr/>
          <p:nvPr/>
        </p:nvSpPr>
        <p:spPr>
          <a:xfrm>
            <a:off x="5120640" y="3911803"/>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$900</a:t>
            </a:r>
          </a:p>
        </p:txBody>
      </p:sp>
      <p:pic>
        <p:nvPicPr>
          <p:cNvPr id="170" name="Apartment ad: For rent, 2 BR, 1 BA, livi picture" descr="apartment ad: For rent, 2 BR, 1 BA, living room + kitchen, $900 / month, call 555-0199"/>
          <p:cNvPicPr>
            <a:picLocks noChangeAspect="1"/>
          </p:cNvPicPr>
          <p:nvPr/>
        </p:nvPicPr>
        <p:blipFill>
          <a:blip r:embed="rIdImg1"/>
          <a:stretch>
            <a:fillRect/>
          </a:stretch>
        </p:blipFill>
        <p:spPr>
          <a:xfrm>
            <a:off x="7726679" y="1783080"/>
            <a:ext cx="4023360" cy="2816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4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gtEl>
                                        <p:attrNameLst>
                                          <p:attrName>style.visibility</p:attrName>
                                        </p:attrNameLst>
                                      </p:cBhvr>
                                      <p:to>
                                        <p:strVal val="visible"/>
                                      </p:to>
                                    </p:set>
                                    <p:animEffect transition="in" filter="fade">
                                      <p:cBhvr>
                                        <p:cTn id="12" dur="400"/>
                                        <p:tgtEl>
                                          <p:spTgt spid="1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fade">
                                      <p:cBhvr>
                                        <p:cTn id="17" dur="4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p>
        </p:txBody>
      </p:sp>
      <p:sp>
        <p:nvSpPr>
          <p:cNvPr id="9" name="Shape 7"/>
          <p:cNvSpPr/>
          <p:nvPr/>
        </p:nvSpPr>
        <p:spPr>
          <a:xfrm>
            <a:off x="1121969" y="587045"/>
            <a:ext cx="3557930" cy="1143000"/>
          </a:xfrm>
          <a:prstGeom prst="round1Rect">
            <a:avLst>
              <a:gd name="adj" fmla="val 23087"/>
            </a:avLst>
          </a:prstGeom>
          <a:solidFill>
            <a:srgbClr val="FFFFFF"/>
          </a:solidFill>
          <a:ln/>
        </p:spPr>
        <p:txBody>
          <a:bodyPr/>
          <a:p/>
        </p:txBody>
      </p:sp>
      <p:sp>
        <p:nvSpPr>
          <p:cNvPr id="13" name="Text 11"/>
          <p:cNvSpPr/>
          <p:nvPr/>
        </p:nvSpPr>
        <p:spPr>
          <a:xfrm>
            <a:off x="1325880" y="685800"/>
            <a:ext cx="320040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p>
        </p:txBody>
      </p:sp>
      <p:pic>
        <p:nvPicPr>
          <p:cNvPr id="17" name="House picture" descr="house"/>
          <p:cNvPicPr>
            <a:picLocks noChangeAspect="1"/>
          </p:cNvPicPr>
          <p:nvPr/>
        </p:nvPicPr>
        <p:blipFill>
          <a:blip r:embed="rIdImg1"/>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house</a:t>
            </a:r>
          </a:p>
        </p:txBody>
      </p:sp>
      <p:pic>
        <p:nvPicPr>
          <p:cNvPr id="19" name="Apartment picture" descr="apartment"/>
          <p:cNvPicPr>
            <a:picLocks noChangeAspect="1"/>
          </p:cNvPicPr>
          <p:nvPr/>
        </p:nvPicPr>
        <p:blipFill>
          <a:blip r:embed="rIdImg2"/>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apartment</a:t>
            </a:r>
          </a:p>
        </p:txBody>
      </p:sp>
      <p:pic>
        <p:nvPicPr>
          <p:cNvPr id="21" name="Kitchen picture" descr="kitchen"/>
          <p:cNvPicPr>
            <a:picLocks noChangeAspect="1"/>
          </p:cNvPicPr>
          <p:nvPr/>
        </p:nvPicPr>
        <p:blipFill>
          <a:blip r:embed="rIdImg3"/>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kitchen</a:t>
            </a:r>
          </a:p>
        </p:txBody>
      </p:sp>
      <p:pic>
        <p:nvPicPr>
          <p:cNvPr id="23" name="Bedroom picture" descr="bedroom"/>
          <p:cNvPicPr>
            <a:picLocks noChangeAspect="1"/>
          </p:cNvPicPr>
          <p:nvPr/>
        </p:nvPicPr>
        <p:blipFill>
          <a:blip r:embed="rIdImg4"/>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bedroom</a:t>
            </a:r>
          </a:p>
        </p:txBody>
      </p:sp>
      <p:pic>
        <p:nvPicPr>
          <p:cNvPr id="25" name="Bathroom picture" descr="bathroom"/>
          <p:cNvPicPr>
            <a:picLocks noChangeAspect="1"/>
          </p:cNvPicPr>
          <p:nvPr/>
        </p:nvPicPr>
        <p:blipFill>
          <a:blip r:embed="rIdImg5"/>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bathroom</a:t>
            </a:r>
          </a:p>
        </p:txBody>
      </p:sp>
      <p:pic>
        <p:nvPicPr>
          <p:cNvPr id="27" name="Living room picture" descr="living room"/>
          <p:cNvPicPr>
            <a:picLocks noChangeAspect="1"/>
          </p:cNvPicPr>
          <p:nvPr/>
        </p:nvPicPr>
        <p:blipFill>
          <a:blip r:embed="rIdImg6"/>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living room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More New Words</a:t>
            </a:r>
          </a:p>
        </p:txBody>
      </p:sp>
      <p:sp>
        <p:nvSpPr>
          <p:cNvPr id="9" name="Shape 7"/>
          <p:cNvSpPr/>
          <p:nvPr/>
        </p:nvSpPr>
        <p:spPr>
          <a:xfrm>
            <a:off x="1121969" y="587045"/>
            <a:ext cx="4106570" cy="1143000"/>
          </a:xfrm>
          <a:prstGeom prst="round1Rect">
            <a:avLst>
              <a:gd name="adj" fmla="val 23087"/>
            </a:avLst>
          </a:prstGeom>
          <a:solidFill>
            <a:srgbClr val="FFFFFF"/>
          </a:solidFill>
          <a:ln/>
        </p:spPr>
        <p:txBody>
          <a:bodyPr/>
          <a:p/>
        </p:txBody>
      </p:sp>
      <p:sp>
        <p:nvSpPr>
          <p:cNvPr id="13" name="Text 11"/>
          <p:cNvSpPr/>
          <p:nvPr/>
        </p:nvSpPr>
        <p:spPr>
          <a:xfrm>
            <a:off x="1325880" y="685800"/>
            <a:ext cx="3749039"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Partners:</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B says.</a:t>
            </a:r>
          </a:p>
        </p:txBody>
      </p:sp>
      <p:pic>
        <p:nvPicPr>
          <p:cNvPr id="17" name="Bed picture" descr="bed"/>
          <p:cNvPicPr>
            <a:picLocks noChangeAspect="1"/>
          </p:cNvPicPr>
          <p:nvPr/>
        </p:nvPicPr>
        <p:blipFill>
          <a:blip r:embed="rIdImg1"/>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bed</a:t>
            </a:r>
          </a:p>
        </p:txBody>
      </p:sp>
      <p:pic>
        <p:nvPicPr>
          <p:cNvPr id="19" name="Table picture" descr="table"/>
          <p:cNvPicPr>
            <a:picLocks noChangeAspect="1"/>
          </p:cNvPicPr>
          <p:nvPr/>
        </p:nvPicPr>
        <p:blipFill>
          <a:blip r:embed="rIdImg2"/>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table</a:t>
            </a:r>
          </a:p>
        </p:txBody>
      </p:sp>
      <p:pic>
        <p:nvPicPr>
          <p:cNvPr id="21" name="Chair picture" descr="chair"/>
          <p:cNvPicPr>
            <a:picLocks noChangeAspect="1"/>
          </p:cNvPicPr>
          <p:nvPr/>
        </p:nvPicPr>
        <p:blipFill>
          <a:blip r:embed="rIdImg3"/>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chair</a:t>
            </a:r>
          </a:p>
        </p:txBody>
      </p:sp>
      <p:pic>
        <p:nvPicPr>
          <p:cNvPr id="23" name="Sofa picture" descr="sofa"/>
          <p:cNvPicPr>
            <a:picLocks noChangeAspect="1"/>
          </p:cNvPicPr>
          <p:nvPr/>
        </p:nvPicPr>
        <p:blipFill>
          <a:blip r:embed="rIdImg4"/>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sofa</a:t>
            </a:r>
          </a:p>
        </p:txBody>
      </p:sp>
      <p:pic>
        <p:nvPicPr>
          <p:cNvPr id="25" name="Refrigerator picture" descr="refrigerator"/>
          <p:cNvPicPr>
            <a:picLocks noChangeAspect="1"/>
          </p:cNvPicPr>
          <p:nvPr/>
        </p:nvPicPr>
        <p:blipFill>
          <a:blip r:embed="rIdImg5"/>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refrigerator</a:t>
            </a:r>
          </a:p>
        </p:txBody>
      </p:sp>
      <p:pic>
        <p:nvPicPr>
          <p:cNvPr id="27" name="Window picture" descr="window"/>
          <p:cNvPicPr>
            <a:picLocks noChangeAspect="1"/>
          </p:cNvPicPr>
          <p:nvPr/>
        </p:nvPicPr>
        <p:blipFill>
          <a:blip r:embed="rIdImg6"/>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window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ext 6"/>
          <p:cNvSpPr/>
          <p:nvPr/>
        </p:nvSpPr>
        <p:spPr>
          <a:xfrm>
            <a:off x="3566160" y="1078992"/>
            <a:ext cx="4114800" cy="157276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 Listen</a:t>
            </a:r>
          </a:p>
        </p:txBody>
      </p:sp>
      <p:sp>
        <p:nvSpPr>
          <p:cNvPr id="10" name="Text 8"/>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Rosa calls about an apartment.</a:t>
            </a:r>
          </a:p>
        </p:txBody>
      </p:sp>
      <p:sp>
        <p:nvSpPr>
          <p:cNvPr id="11" name="Text 9"/>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Text 11"/>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Text 13"/>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Shape 15"/>
          <p:cNvSpPr/>
          <p:nvPr/>
        </p:nvSpPr>
        <p:spPr>
          <a:xfrm>
            <a:off x="3503066" y="4928616"/>
            <a:ext cx="4480560" cy="0"/>
          </a:xfrm>
          <a:prstGeom prst="line">
            <a:avLst/>
          </a:prstGeom>
          <a:noFill/>
          <a:ln w="6350">
            <a:solidFill>
              <a:srgbClr val="1B2236"/>
            </a:solidFill>
            <a:prstDash val="solid"/>
          </a:ln>
        </p:spPr>
        <p:txBody>
          <a:bodyPr/>
          <a:p/>
        </p:txBody>
      </p:sp>
      <p:sp>
        <p:nvSpPr>
          <p:cNvPr id="18" name="Shape 16"/>
          <p:cNvSpPr/>
          <p:nvPr/>
        </p:nvSpPr>
        <p:spPr>
          <a:xfrm>
            <a:off x="3503066" y="5733288"/>
            <a:ext cx="4480560" cy="0"/>
          </a:xfrm>
          <a:prstGeom prst="line">
            <a:avLst/>
          </a:prstGeom>
          <a:noFill/>
          <a:ln w="6350">
            <a:solidFill>
              <a:srgbClr val="1B2236"/>
            </a:solidFill>
            <a:prstDash val="solid"/>
          </a:ln>
        </p:spPr>
        <p:txBody>
          <a:bodyPr/>
          <a:p/>
        </p:txBody>
      </p:sp>
      <p:pic>
        <p:nvPicPr>
          <p:cNvPr id="24" name="Apartment picture" descr="apartment"/>
          <p:cNvPicPr>
            <a:picLocks noChangeAspect="1"/>
          </p:cNvPicPr>
          <p:nvPr/>
        </p:nvPicPr>
        <p:blipFill>
          <a:blip r:embed="rIdImg1"/>
          <a:stretch>
            <a:fillRect/>
          </a:stretch>
        </p:blipFill>
        <p:spPr>
          <a:xfrm>
            <a:off x="284378" y="1138930"/>
            <a:ext cx="2493568" cy="1745498"/>
          </a:xfrm>
          <a:prstGeom prst="rect">
            <a:avLst/>
          </a:prstGeom>
        </p:spPr>
      </p:pic>
      <p:sp>
        <p:nvSpPr>
          <p:cNvPr id="25" name="Highlight 1"/>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1"/>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1: What is there?</a:t>
            </a:r>
          </a:p>
        </p:txBody>
      </p:sp>
      <p:sp>
        <p:nvSpPr>
          <p:cNvPr id="29" name="Highlight 2"/>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Helper 2"/>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2: How many rooms?</a:t>
            </a:r>
          </a:p>
        </p:txBody>
      </p:sp>
      <p:sp>
        <p:nvSpPr>
          <p:cNvPr id="33" name="Highlight 3"/>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Helper 3"/>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3: The rent.</a:t>
            </a:r>
          </a:p>
        </p:txBody>
      </p:sp>
      <p:sp>
        <p:nvSpPr>
          <p:cNvPr id="37" name="Order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Say it!</a:t>
            </a:r>
          </a:p>
        </p:txBody>
      </p:sp>
      <p:sp>
        <p:nvSpPr>
          <p:cNvPr id="39" name="Step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There are two bedrooms.</a:t>
            </a:r>
          </a:p>
        </p:txBody>
      </p:sp>
      <p:sp>
        <p:nvSpPr>
          <p:cNvPr id="41" name="Step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Is there a washing machine?</a:t>
            </a:r>
          </a:p>
        </p:txBody>
      </p:sp>
      <p:sp>
        <p:nvSpPr>
          <p:cNvPr id="43" name="Step 3"/>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No, there isn't.</a:t>
            </a:r>
          </a:p>
        </p:txBody>
      </p:sp>
      <p:sp>
        <p:nvSpPr>
          <p:cNvPr id="46" name="Example"/>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a:solidFill>
                  <a:srgbClr val="1B2236"/>
                </a:solidFill>
                <a:latin typeface="Lexend Deca" pitchFamily="34" charset="0"/>
                <a:ea typeface="Lexend Deca" pitchFamily="34" charset="-122"/>
                <a:cs typeface="Lexend Deca" pitchFamily="34" charset="-120"/>
              </a:rPr>
              <a:t>Listen and </a:t>
            </a:r>
            <a:r>
              <a:rPr lang="en-US" sz="2200" dirty="0" b="1">
                <a:solidFill>
                  <a:srgbClr val="5B3FC4"/>
                </a:solidFill>
                <a:latin typeface="Lexend Deca" pitchFamily="34" charset="0"/>
                <a:ea typeface="Lexend Deca" pitchFamily="34" charset="-122"/>
                <a:cs typeface="Lexend Deca" pitchFamily="34" charset="-120"/>
              </a:rPr>
              <a:t>repeat.</a:t>
            </a:r>
          </a:p>
        </p:txBody>
      </p:sp>
      <p:pic>
        <p:nvPicPr>
          <p:cNvPr id="90" name="Refrigerator picture" descr="refrigerator"/>
          <p:cNvPicPr>
            <a:picLocks noChangeAspect="1"/>
          </p:cNvPicPr>
          <p:nvPr/>
        </p:nvPicPr>
        <p:blipFill>
          <a:blip r:embed="rIdImg2"/>
          <a:stretch>
            <a:fillRect/>
          </a:stretch>
        </p:blipFill>
        <p:spPr>
          <a:xfrm>
            <a:off x="284378" y="3973570"/>
            <a:ext cx="2493568" cy="17454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8266176" y="3721608"/>
            <a:ext cx="3566160" cy="2331720"/>
          </a:xfrm>
          <a:prstGeom prst="round1Rect">
            <a:avLst>
              <a:gd name="adj" fmla="val 23087"/>
            </a:avLst>
          </a:prstGeom>
          <a:solidFill>
            <a:srgbClr val="8FAFE3"/>
          </a:solidFill>
          <a:ln/>
        </p:spPr>
        <p:txBody>
          <a:bodyPr/>
          <a:p/>
        </p:txBody>
      </p:sp>
      <p:sp>
        <p:nvSpPr>
          <p:cNvPr id="3" name="Shape 1"/>
          <p:cNvSpPr/>
          <p:nvPr/>
        </p:nvSpPr>
        <p:spPr>
          <a:xfrm>
            <a:off x="8229600" y="3657600"/>
            <a:ext cx="3566160" cy="2331720"/>
          </a:xfrm>
          <a:prstGeom prst="round1Rect">
            <a:avLst>
              <a:gd name="adj" fmla="val 23087"/>
            </a:avLst>
          </a:prstGeom>
          <a:solidFill>
            <a:srgbClr val="FFFFFF"/>
          </a:solidFill>
          <a:ln/>
        </p:spPr>
        <p:txBody>
          <a:bodyPr/>
          <a:p/>
        </p:txBody>
      </p:sp>
      <p:sp>
        <p:nvSpPr>
          <p:cNvPr id="8" name="Text 6"/>
          <p:cNvSpPr/>
          <p:nvPr/>
        </p:nvSpPr>
        <p:spPr>
          <a:xfrm>
            <a:off x="8412480" y="3794760"/>
            <a:ext cx="3200400" cy="731520"/>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Do I say a with there is?</a:t>
            </a:r>
          </a:p>
        </p:txBody>
      </p:sp>
      <p:sp>
        <p:nvSpPr>
          <p:cNvPr id="9" name="Text 7"/>
          <p:cNvSpPr/>
          <p:nvPr/>
        </p:nvSpPr>
        <p:spPr>
          <a:xfrm>
            <a:off x="8412480" y="4572000"/>
            <a:ext cx="3200400" cy="1371600"/>
          </a:xfrm>
          <a:prstGeom prst="rect">
            <a:avLst/>
          </a:prstGeom>
          <a:noFill/>
          <a:ln/>
        </p:spPr>
        <p:txBody>
          <a:bodyPr wrap="square" lIns="0" tIns="0" rIns="0" bIns="0"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Yes: There is a bed.</a:t>
            </a:r>
          </a:p>
        </p:txBody>
      </p:sp>
      <p:sp>
        <p:nvSpPr>
          <p:cNvPr id="29" name="Text 27"/>
          <p:cNvSpPr/>
          <p:nvPr/>
        </p:nvSpPr>
        <p:spPr>
          <a:xfrm>
            <a:off x="8229600" y="640080"/>
            <a:ext cx="3657600" cy="822960"/>
          </a:xfrm>
          <a:prstGeom prst="rect">
            <a:avLst/>
          </a:prstGeom>
          <a:noFill/>
          <a:ln/>
        </p:spPr>
        <p:txBody>
          <a:bodyPr wrap="square" rtlCol="0" anchor="b"/>
          <a:lstStyle/>
          <a:p>
            <a:pPr algn="l" indent="0" marL="0">
              <a:buNone/>
            </a:pPr>
            <a:r>
              <a:rPr lang="en-US" sz="3200" dirty="0" b="1">
                <a:solidFill>
                  <a:srgbClr val="1B2236"/>
                </a:solidFill>
                <a:latin typeface="Lexend Deca" pitchFamily="34" charset="0"/>
                <a:ea typeface="Lexend Deca" pitchFamily="34" charset="-122"/>
                <a:cs typeface="Lexend Deca" pitchFamily="34" charset="-120"/>
              </a:rPr>
              <a:t>is or are?</a:t>
            </a:r>
          </a:p>
        </p:txBody>
      </p:sp>
      <p:sp>
        <p:nvSpPr>
          <p:cNvPr id="30" name="Text 28"/>
          <p:cNvSpPr/>
          <p:nvPr/>
        </p:nvSpPr>
        <p:spPr>
          <a:xfrm>
            <a:off x="8229600" y="1554480"/>
            <a:ext cx="3657600" cy="173736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One thing: </a:t>
            </a:r>
            <a:r>
              <a:rPr lang="en-US" sz="2000" dirty="0" b="1">
                <a:solidFill>
                  <a:srgbClr val="5B3FC4"/>
                </a:solidFill>
                <a:latin typeface="Lexend Deca" pitchFamily="34" charset="0"/>
                <a:ea typeface="Lexend Deca" pitchFamily="34" charset="-122"/>
                <a:cs typeface="Lexend Deca" pitchFamily="34" charset="-120"/>
              </a:rPr>
              <a:t>is</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Two or more: are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Spanish: hay</a:t>
            </a:r>
          </a:p>
        </p:txBody>
      </p:sp>
      <p:pic>
        <p:nvPicPr>
          <p:cNvPr id="60" name="Floor plan: bedroom, kitchen, bathroom,  picture" descr="floor plan: bedroom, kitchen, bathroom, living room"/>
          <p:cNvPicPr>
            <a:picLocks noChangeAspect="1"/>
          </p:cNvPicPr>
          <p:nvPr/>
        </p:nvPicPr>
        <p:blipFill>
          <a:blip r:embed="rIdImg1"/>
          <a:stretch>
            <a:fillRect/>
          </a:stretch>
        </p:blipFill>
        <p:spPr>
          <a:xfrm>
            <a:off x="1645919" y="502920"/>
            <a:ext cx="5029200" cy="3520440"/>
          </a:xfrm>
          <a:prstGeom prst="rect">
            <a:avLst/>
          </a:prstGeom>
        </p:spPr>
      </p:pic>
      <p:sp>
        <p:nvSpPr>
          <p:cNvPr id="34" name="Answer 1"/>
          <p:cNvSpPr/>
          <p:nvPr/>
        </p:nvSpPr>
        <p:spPr>
          <a:xfrm>
            <a:off x="548640" y="5074920"/>
            <a:ext cx="7315200" cy="77724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800" dirty="0" b="1">
                <a:solidFill>
                  <a:srgbClr val="5B3FC4"/>
                </a:solidFill>
                <a:latin typeface="Lexend Deca" pitchFamily="34" charset="0"/>
                <a:ea typeface="Lexend Deca" pitchFamily="34" charset="-122"/>
                <a:cs typeface="Lexend Deca" pitchFamily="34" charset="-120"/>
              </a:rPr>
              <a:t>There is</a:t>
            </a:r>
            <a:r>
              <a:rPr lang="en-US" sz="2800" dirty="0" b="1">
                <a:solidFill>
                  <a:srgbClr val="1B2236"/>
                </a:solidFill>
                <a:latin typeface="Lexend Deca" pitchFamily="34" charset="0"/>
                <a:ea typeface="Lexend Deca" pitchFamily="34" charset="-122"/>
                <a:cs typeface="Lexend Deca" pitchFamily="34" charset="-120"/>
              </a:rPr>
              <a:t> / </a:t>
            </a:r>
            <a:r>
              <a:rPr lang="en-US" sz="2800" dirty="0" b="1">
                <a:solidFill>
                  <a:srgbClr val="5B3FC4"/>
                </a:solidFill>
                <a:latin typeface="Lexend Deca" pitchFamily="34" charset="0"/>
                <a:ea typeface="Lexend Deca" pitchFamily="34" charset="-122"/>
                <a:cs typeface="Lexend Deca" pitchFamily="34" charset="-120"/>
              </a:rPr>
              <a:t>There are</a:t>
            </a:r>
          </a:p>
        </p:txBody>
      </p:sp>
      <p:sp>
        <p:nvSpPr>
          <p:cNvPr id="130" name="Preview question"/>
          <p:cNvSpPr/>
          <p:nvPr/>
        </p:nvSpPr>
        <p:spPr>
          <a:xfrm>
            <a:off x="548640" y="4251960"/>
            <a:ext cx="7315200" cy="685800"/>
          </a:xfrm>
          <a:prstGeom prst="rect">
            <a:avLst/>
          </a:prstGeom>
          <a:noFill/>
          <a:ln/>
        </p:spPr>
        <p:txBody>
          <a:bodyPr wrap="square" lIns="0" tIns="0" rIns="0" bIns="0" rtlCol="0" anchor="t"/>
          <a:lstStyle/>
          <a:p>
            <a:pPr algn="l" indent="0" marL="0">
              <a:buNone/>
            </a:pPr>
            <a:r>
              <a:rPr lang="en-US" sz="2800" dirty="0" b="1">
                <a:solidFill>
                  <a:srgbClr val="1B2236"/>
                </a:solidFill>
                <a:latin typeface="Lexend Deca" pitchFamily="34" charset="0"/>
                <a:ea typeface="Lexend Deca" pitchFamily="34" charset="-122"/>
                <a:cs typeface="Lexend Deca" pitchFamily="34" charset="-120"/>
              </a:rPr>
              <a:t>Spanish: hay. English?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Sofa picture" descr="sofa"/>
          <p:cNvPicPr>
            <a:picLocks noChangeAspect="1"/>
          </p:cNvPicPr>
          <p:nvPr/>
        </p:nvPicPr>
        <p:blipFill>
          <a:blip r:embed="rIdImg1"/>
          <a:stretch>
            <a:fillRect/>
          </a:stretch>
        </p:blipFill>
        <p:spPr>
          <a:xfrm>
            <a:off x="182880" y="811530"/>
            <a:ext cx="3429000" cy="2400300"/>
          </a:xfrm>
          <a:prstGeom prst="rect">
            <a:avLst/>
          </a:prstGeom>
        </p:spPr>
      </p:pic>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Boxes 2 + 3</a:t>
            </a:r>
          </a:p>
          <a:p>
            <a:pPr algn="l" indent="0" marL="0">
              <a:spcAft>
                <a:spcPts val="400"/>
              </a:spcAft>
              <a:buNone/>
            </a:pPr>
            <a:r>
              <a:rPr lang="en-US" sz="3000" dirty="0" b="1">
                <a:solidFill>
                  <a:srgbClr val="1B2236"/>
                </a:solidFill>
                <a:latin typeface="Lexend Deca" pitchFamily="34" charset="0"/>
                <a:ea typeface="Lexend Deca" pitchFamily="34" charset="-122"/>
                <a:cs typeface="Lexend Deca" pitchFamily="34" charset="-120"/>
              </a:rPr>
              <a:t>Is there…? Are there…?</a:t>
            </a:r>
          </a:p>
        </p:txBody>
      </p:sp>
      <p:sp>
        <p:nvSpPr>
          <p:cNvPr id="8" name="Text 6"/>
          <p:cNvSpPr/>
          <p:nvPr/>
        </p:nvSpPr>
        <p:spPr>
          <a:xfrm>
            <a:off x="516636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a:p>
        </p:txBody>
      </p:sp>
      <p:sp>
        <p:nvSpPr>
          <p:cNvPr id="11" name="Text 9"/>
          <p:cNvSpPr/>
          <p:nvPr/>
        </p:nvSpPr>
        <p:spPr>
          <a:xfrm>
            <a:off x="832104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a:p>
        </p:txBody>
      </p:sp>
      <p:sp>
        <p:nvSpPr>
          <p:cNvPr id="20" name="Question 1"/>
          <p:cNvSpPr/>
          <p:nvPr/>
        </p:nvSpPr>
        <p:spPr>
          <a:xfrm>
            <a:off x="5138928" y="2697480"/>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Is</a:t>
            </a:r>
            <a:r>
              <a:rPr lang="en-US" sz="2000" dirty="0" b="1">
                <a:solidFill>
                  <a:srgbClr val="1B2236"/>
                </a:solidFill>
                <a:latin typeface="Lexend Deca" pitchFamily="34" charset="0"/>
                <a:ea typeface="Lexend Deca" pitchFamily="34" charset="-122"/>
                <a:cs typeface="Lexend Deca" pitchFamily="34" charset="-120"/>
              </a:rPr>
              <a:t> there a sofa?</a:t>
            </a:r>
          </a:p>
        </p:txBody>
      </p:sp>
      <p:sp>
        <p:nvSpPr>
          <p:cNvPr id="22" name="Answer bg 1"/>
          <p:cNvSpPr/>
          <p:nvPr/>
        </p:nvSpPr>
        <p:spPr>
          <a:xfrm>
            <a:off x="8321040" y="2697480"/>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321040" y="2697480"/>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there </a:t>
            </a:r>
            <a:r>
              <a:rPr lang="en-US" sz="1900" dirty="0" b="1">
                <a:solidFill>
                  <a:srgbClr val="5B3FC4"/>
                </a:solidFill>
                <a:latin typeface="Lexend Deca" pitchFamily="34" charset="0"/>
                <a:ea typeface="Lexend Deca" pitchFamily="34" charset="-122"/>
                <a:cs typeface="Lexend Deca" pitchFamily="34" charset="-120"/>
              </a:rPr>
              <a:t>is.</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No, there isn't.</a:t>
            </a:r>
          </a:p>
        </p:txBody>
      </p:sp>
      <p:sp>
        <p:nvSpPr>
          <p:cNvPr id="25" name="Question 2"/>
          <p:cNvSpPr/>
          <p:nvPr/>
        </p:nvSpPr>
        <p:spPr>
          <a:xfrm>
            <a:off x="5138928" y="3675888"/>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Is</a:t>
            </a:r>
            <a:r>
              <a:rPr lang="en-US" sz="2000" dirty="0" b="1">
                <a:solidFill>
                  <a:srgbClr val="1B2236"/>
                </a:solidFill>
                <a:latin typeface="Lexend Deca" pitchFamily="34" charset="0"/>
                <a:ea typeface="Lexend Deca" pitchFamily="34" charset="-122"/>
                <a:cs typeface="Lexend Deca" pitchFamily="34" charset="-120"/>
              </a:rPr>
              <a:t> there a washing machine?</a:t>
            </a:r>
          </a:p>
        </p:txBody>
      </p:sp>
      <p:sp>
        <p:nvSpPr>
          <p:cNvPr id="27" name="Answer bg 2"/>
          <p:cNvSpPr/>
          <p:nvPr/>
        </p:nvSpPr>
        <p:spPr>
          <a:xfrm>
            <a:off x="8321040" y="3675888"/>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321040" y="3675888"/>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No, there </a:t>
            </a:r>
            <a:r>
              <a:rPr lang="en-US" sz="1900" dirty="0" b="1">
                <a:solidFill>
                  <a:srgbClr val="5B3FC4"/>
                </a:solidFill>
                <a:latin typeface="Lexend Deca" pitchFamily="34" charset="0"/>
                <a:ea typeface="Lexend Deca" pitchFamily="34" charset="-122"/>
                <a:cs typeface="Lexend Deca" pitchFamily="34" charset="-120"/>
              </a:rPr>
              <a:t>isn't.</a:t>
            </a:r>
          </a:p>
        </p:txBody>
      </p:sp>
      <p:sp>
        <p:nvSpPr>
          <p:cNvPr id="72" name="Answer bg 3"/>
          <p:cNvSpPr/>
          <p:nvPr/>
        </p:nvSpPr>
        <p:spPr>
          <a:xfrm>
            <a:off x="8321040" y="4654296"/>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2" name="Answer 3"/>
          <p:cNvSpPr/>
          <p:nvPr/>
        </p:nvSpPr>
        <p:spPr>
          <a:xfrm>
            <a:off x="8321040" y="4654296"/>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Yes, there </a:t>
            </a:r>
            <a:r>
              <a:rPr lang="en-US" sz="1900" dirty="0" b="1">
                <a:solidFill>
                  <a:srgbClr val="5B3FC4"/>
                </a:solidFill>
                <a:latin typeface="Lexend Deca" pitchFamily="34" charset="0"/>
                <a:ea typeface="Lexend Deca" pitchFamily="34" charset="-122"/>
                <a:cs typeface="Lexend Deca" pitchFamily="34" charset="-120"/>
              </a:rPr>
              <a:t>are.</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No, there aren't.</a:t>
            </a:r>
          </a:p>
        </p:txBody>
      </p:sp>
      <p:sp>
        <p:nvSpPr>
          <p:cNvPr id="73" name="Answer bg 4"/>
          <p:cNvSpPr/>
          <p:nvPr/>
        </p:nvSpPr>
        <p:spPr>
          <a:xfrm>
            <a:off x="8321040" y="5632704"/>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3" name="Answer 4"/>
          <p:cNvSpPr/>
          <p:nvPr/>
        </p:nvSpPr>
        <p:spPr>
          <a:xfrm>
            <a:off x="8321040" y="5632704"/>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There are </a:t>
            </a:r>
            <a:r>
              <a:rPr lang="en-US" sz="1900" dirty="0" b="1">
                <a:solidFill>
                  <a:srgbClr val="5B3FC4"/>
                </a:solidFill>
                <a:latin typeface="Lexend Deca" pitchFamily="34" charset="0"/>
                <a:ea typeface="Lexend Deca" pitchFamily="34" charset="-122"/>
                <a:cs typeface="Lexend Deca" pitchFamily="34" charset="-120"/>
              </a:rPr>
              <a:t>two.</a:t>
            </a:r>
          </a:p>
        </p:txBody>
      </p:sp>
      <p:sp>
        <p:nvSpPr>
          <p:cNvPr id="93" name="Question 4"/>
          <p:cNvSpPr/>
          <p:nvPr/>
        </p:nvSpPr>
        <p:spPr>
          <a:xfrm>
            <a:off x="5138928" y="5632704"/>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many bedrooms </a:t>
            </a:r>
            <a:r>
              <a:rPr lang="en-US" sz="2000" dirty="0" b="1">
                <a:solidFill>
                  <a:srgbClr val="5B3FC4"/>
                </a:solidFill>
                <a:latin typeface="Lexend Deca" pitchFamily="34" charset="0"/>
                <a:ea typeface="Lexend Deca" pitchFamily="34" charset="-122"/>
                <a:cs typeface="Lexend Deca" pitchFamily="34" charset="-120"/>
              </a:rPr>
              <a:t>are</a:t>
            </a:r>
            <a:r>
              <a:rPr lang="en-US" sz="2000" dirty="0" b="1">
                <a:solidFill>
                  <a:srgbClr val="1B2236"/>
                </a:solidFill>
                <a:latin typeface="Lexend Deca" pitchFamily="34" charset="0"/>
                <a:ea typeface="Lexend Deca" pitchFamily="34" charset="-122"/>
                <a:cs typeface="Lexend Deca" pitchFamily="34" charset="-120"/>
              </a:rPr>
              <a:t> there?</a:t>
            </a:r>
          </a:p>
        </p:txBody>
      </p:sp>
      <p:sp>
        <p:nvSpPr>
          <p:cNvPr id="92" name="Question 3"/>
          <p:cNvSpPr/>
          <p:nvPr/>
        </p:nvSpPr>
        <p:spPr>
          <a:xfrm>
            <a:off x="5138928" y="4654296"/>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Are</a:t>
            </a:r>
            <a:r>
              <a:rPr lang="en-US" sz="2000" dirty="0" b="1">
                <a:solidFill>
                  <a:srgbClr val="1B2236"/>
                </a:solidFill>
                <a:latin typeface="Lexend Deca" pitchFamily="34" charset="0"/>
                <a:ea typeface="Lexend Deca" pitchFamily="34" charset="-122"/>
                <a:cs typeface="Lexend Deca" pitchFamily="34" charset="-120"/>
              </a:rPr>
              <a:t> there windows?</a:t>
            </a:r>
          </a:p>
        </p:txBody>
      </p:sp>
      <p:pic>
        <p:nvPicPr>
          <p:cNvPr id="95" name="Window picture" descr="window"/>
          <p:cNvPicPr>
            <a:picLocks noChangeAspect="1"/>
          </p:cNvPicPr>
          <p:nvPr/>
        </p:nvPicPr>
        <p:blipFill>
          <a:blip r:embed="rIdImg2"/>
          <a:stretch>
            <a:fillRect/>
          </a:stretch>
        </p:blipFill>
        <p:spPr>
          <a:xfrm>
            <a:off x="182880" y="3646170"/>
            <a:ext cx="3429000" cy="240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400"/>
                                        <p:tgtEl>
                                          <p:spTgt spid="72"/>
                                        </p:tgtEl>
                                      </p:cBhvr>
                                    </p:animEffect>
                                  </p:childTnLst>
                                </p:cTn>
                              </p:par>
                              <p:par>
                                <p:cTn id="24" presetID="10" presetClass="entr" presetSubtype="0" fill="hold" nodeType="withEffect">
                                  <p:stCondLst>
                                    <p:cond delay="0"/>
                                  </p:stCondLst>
                                  <p:childTnLst>
                                    <p:set>
                                      <p:cBhvr>
                                        <p:cTn id="25" dur="1" fill="hold">
                                          <p:stCondLst>
                                            <p:cond delay="0"/>
                                          </p:stCondLst>
                                        </p:cTn>
                                        <p:tgtEl>
                                          <p:spTgt spid="82"/>
                                        </p:tgtEl>
                                        <p:attrNameLst>
                                          <p:attrName>style.visibility</p:attrName>
                                        </p:attrNameLst>
                                      </p:cBhvr>
                                      <p:to>
                                        <p:strVal val="visible"/>
                                      </p:to>
                                    </p:set>
                                    <p:animEffect transition="in" filter="fade">
                                      <p:cBhvr>
                                        <p:cTn id="26" dur="400"/>
                                        <p:tgtEl>
                                          <p:spTgt spid="8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p:cTn id="31" dur="400"/>
                                        <p:tgtEl>
                                          <p:spTgt spid="73"/>
                                        </p:tgtEl>
                                      </p:cBhvr>
                                    </p:animEffect>
                                  </p:childTnLst>
                                </p:cTn>
                              </p:par>
                              <p:par>
                                <p:cTn id="32" presetID="10" presetClass="entr" presetSubtype="0" fill="hold" nodeType="with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fade">
                                      <p:cBhvr>
                                        <p:cTn id="34"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6742786" y="3649370"/>
            <a:ext cx="4912157" cy="2561234"/>
          </a:xfrm>
          <a:prstGeom prst="round1Rect">
            <a:avLst>
              <a:gd name="adj" fmla="val 23087"/>
            </a:avLst>
          </a:prstGeom>
          <a:solidFill>
            <a:srgbClr val="B9D2F7"/>
          </a:solidFill>
          <a:ln w="76200">
            <a:solidFill>
              <a:srgbClr val="FFFFFF"/>
            </a:solidFill>
            <a:prstDash val="solid"/>
          </a:ln>
        </p:spPr>
        <p:txBody>
          <a:bodyPr/>
          <a:p/>
        </p:txBody>
      </p:sp>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40" name="Optional shadow"/>
          <p:cNvSpPr/>
          <p:nvPr/>
        </p:nvSpPr>
        <p:spPr>
          <a:xfrm>
            <a:off x="6709867" y="1350569"/>
            <a:ext cx="4937760" cy="2011680"/>
          </a:xfrm>
          <a:prstGeom prst="roundRect">
            <a:avLst>
              <a:gd name="adj" fmla="val 16667"/>
            </a:avLst>
          </a:prstGeom>
          <a:solidFill>
            <a:srgbClr val="8FAFE3"/>
          </a:solidFill>
          <a:ln/>
        </p:spPr>
        <p:txBody>
          <a:bodyPr/>
          <a:p/>
        </p:txBody>
      </p:sp>
      <p:sp>
        <p:nvSpPr>
          <p:cNvPr id="41" name="Optional card"/>
          <p:cNvSpPr/>
          <p:nvPr/>
        </p:nvSpPr>
        <p:spPr>
          <a:xfrm>
            <a:off x="6742786" y="1286561"/>
            <a:ext cx="4937760" cy="2011680"/>
          </a:xfrm>
          <a:prstGeom prst="roundRect">
            <a:avLst>
              <a:gd name="adj" fmla="val 16667"/>
            </a:avLst>
          </a:prstGeom>
          <a:solidFill>
            <a:srgbClr val="FFFFFF"/>
          </a:solidFill>
          <a:ln/>
        </p:spPr>
        <p:txBody>
          <a:bodyPr/>
          <a:p/>
        </p:txBody>
      </p:sp>
      <p:sp>
        <p:nvSpPr>
          <p:cNvPr id="42" name="Optional text"/>
          <p:cNvSpPr/>
          <p:nvPr/>
        </p:nvSpPr>
        <p:spPr>
          <a:xfrm>
            <a:off x="6949440" y="1371600"/>
            <a:ext cx="4572000" cy="182880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Box 5: in the + room</a:t>
            </a:r>
          </a:p>
          <a:p>
            <a:pPr algn="l" indent="0" marL="0">
              <a:buNone/>
            </a:pPr>
            <a:r>
              <a:rPr lang="en-US" sz="1800" dirty="0" b="1">
                <a:solidFill>
                  <a:srgbClr val="1B2236"/>
                </a:solidFill>
                <a:latin typeface="Lexend Deca" pitchFamily="34" charset="0"/>
                <a:ea typeface="Lexend Deca" pitchFamily="34" charset="-122"/>
                <a:cs typeface="Lexend Deca" pitchFamily="34" charset="-120"/>
              </a:rPr>
              <a:t>There is a table</a:t>
            </a:r>
          </a:p>
          <a:p>
            <a:pPr algn="l" indent="0" marL="0">
              <a:buNone/>
            </a:pPr>
            <a:r>
              <a:rPr lang="en-US" sz="1800" dirty="0" b="1">
                <a:solidFill>
                  <a:srgbClr val="5B3FC4"/>
                </a:solidFill>
                <a:latin typeface="Lexend Deca" pitchFamily="34" charset="0"/>
                <a:ea typeface="Lexend Deca" pitchFamily="34" charset="-122"/>
                <a:cs typeface="Lexend Deca" pitchFamily="34" charset="-120"/>
              </a:rPr>
              <a:t>in the</a:t>
            </a:r>
            <a:r>
              <a:rPr lang="en-US" sz="1800" dirty="0" b="1">
                <a:solidFill>
                  <a:srgbClr val="5B3FC4"/>
                </a:solidFill>
                <a:latin typeface="Lexend Deca" pitchFamily="34" charset="0"/>
                <a:ea typeface="Lexend Deca" pitchFamily="34" charset="-122"/>
                <a:cs typeface="Lexend Deca" pitchFamily="34" charset="-120"/>
              </a:rPr>
              <a:t> </a:t>
            </a:r>
            <a:r>
              <a:rPr lang="en-US" sz="1800" dirty="0" b="1">
                <a:solidFill>
                  <a:srgbClr val="1B2236"/>
                </a:solidFill>
                <a:latin typeface="Lexend Deca" pitchFamily="34" charset="0"/>
                <a:ea typeface="Lexend Deca" pitchFamily="34" charset="-122"/>
                <a:cs typeface="Lexend Deca" pitchFamily="34" charset="-120"/>
              </a:rPr>
              <a:t>kitchen.</a:t>
            </a:r>
          </a:p>
          <a:p>
            <a:pPr algn="l" indent="0" marL="0">
              <a:buNone/>
            </a:pPr>
            <a:r>
              <a:rPr lang="en-US" sz="1800" dirty="0" b="0">
                <a:solidFill>
                  <a:srgbClr val="1B2236"/>
                </a:solidFill>
                <a:latin typeface="Lexend Deca" pitchFamily="34" charset="0"/>
                <a:ea typeface="Lexend Deca" pitchFamily="34" charset="-122"/>
                <a:cs typeface="Lexend Deca" pitchFamily="34" charset="-120"/>
              </a:rPr>
              <a:t>There are two windows</a:t>
            </a:r>
          </a:p>
          <a:p>
            <a:pPr algn="l" indent="0" marL="0">
              <a:buNone/>
            </a:pPr>
            <a:r>
              <a:rPr lang="en-US" sz="1800" dirty="0" b="1">
                <a:solidFill>
                  <a:srgbClr val="5B3FC4"/>
                </a:solidFill>
                <a:latin typeface="Lexend Deca" pitchFamily="34" charset="0"/>
                <a:ea typeface="Lexend Deca" pitchFamily="34" charset="-122"/>
                <a:cs typeface="Lexend Deca" pitchFamily="34" charset="-120"/>
              </a:rPr>
              <a:t>in the</a:t>
            </a:r>
            <a:r>
              <a:rPr lang="en-US" sz="1800" dirty="0" b="0">
                <a:solidFill>
                  <a:srgbClr val="1B2236"/>
                </a:solidFill>
                <a:latin typeface="Lexend Deca" pitchFamily="34" charset="0"/>
                <a:ea typeface="Lexend Deca" pitchFamily="34" charset="-122"/>
                <a:cs typeface="Lexend Deca" pitchFamily="34" charset="-120"/>
              </a:rPr>
              <a:t> bedroom.</a:t>
            </a:r>
          </a:p>
        </p:txBody>
      </p:sp>
      <p:sp>
        <p:nvSpPr>
          <p:cNvPr id="7" name="Text 5"/>
          <p:cNvSpPr/>
          <p:nvPr/>
        </p:nvSpPr>
        <p:spPr>
          <a:xfrm>
            <a:off x="832104" y="1371600"/>
            <a:ext cx="5257800" cy="141732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Boxes 4 + 5</a:t>
            </a:r>
          </a:p>
          <a:p>
            <a:pPr algn="l" indent="0" marL="0">
              <a:buNone/>
            </a:pPr>
            <a:r>
              <a:rPr lang="en-US" sz="2800" dirty="0" b="1">
                <a:solidFill>
                  <a:srgbClr val="1B2236"/>
                </a:solidFill>
                <a:latin typeface="Lexend Deca" pitchFamily="34" charset="0"/>
                <a:ea typeface="Lexend Deca" pitchFamily="34" charset="-122"/>
                <a:cs typeface="Lexend Deca" pitchFamily="34" charset="-120"/>
              </a:rPr>
              <a:t>Short answers</a:t>
            </a:r>
          </a:p>
        </p:txBody>
      </p:sp>
      <p:sp>
        <p:nvSpPr>
          <p:cNvPr id="8" name="Shape 6"/>
          <p:cNvSpPr/>
          <p:nvPr/>
        </p:nvSpPr>
        <p:spPr>
          <a:xfrm>
            <a:off x="1305763" y="3649370"/>
            <a:ext cx="4790542" cy="2599639"/>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a:p>
        </p:txBody>
      </p:sp>
      <p:sp>
        <p:nvSpPr>
          <p:cNvPr id="20" name="A head"/>
          <p:cNvSpPr/>
          <p:nvPr/>
        </p:nvSpPr>
        <p:spPr>
          <a:xfrm>
            <a:off x="704088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SHORT ANSWER</a:t>
            </a:r>
            <a:endParaRPr lang="en-US" sz="2000" dirty="0"/>
          </a:p>
        </p:txBody>
      </p:sp>
      <p:sp>
        <p:nvSpPr>
          <p:cNvPr id="21" name="Highlight 1"/>
          <p:cNvSpPr/>
          <p:nvPr/>
        </p:nvSpPr>
        <p:spPr>
          <a:xfrm>
            <a:off x="1481328" y="44531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43159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1</a:t>
            </a:r>
          </a:p>
        </p:txBody>
      </p:sp>
      <p:sp>
        <p:nvSpPr>
          <p:cNvPr id="23" name="Question 1"/>
          <p:cNvSpPr/>
          <p:nvPr/>
        </p:nvSpPr>
        <p:spPr>
          <a:xfrm>
            <a:off x="2944368" y="43159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Is there a bed?</a:t>
            </a:r>
          </a:p>
        </p:txBody>
      </p:sp>
      <p:sp>
        <p:nvSpPr>
          <p:cNvPr id="25" name="Answer bg 1"/>
          <p:cNvSpPr/>
          <p:nvPr/>
        </p:nvSpPr>
        <p:spPr>
          <a:xfrm>
            <a:off x="6949440" y="43342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Answer 1"/>
          <p:cNvSpPr/>
          <p:nvPr/>
        </p:nvSpPr>
        <p:spPr>
          <a:xfrm>
            <a:off x="6949440" y="43159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Yes, there </a:t>
            </a:r>
            <a:r>
              <a:rPr lang="en-US" sz="2000" dirty="0" b="1">
                <a:solidFill>
                  <a:srgbClr val="5B3FC4"/>
                </a:solidFill>
                <a:latin typeface="Lexend Deca" pitchFamily="34" charset="0"/>
                <a:ea typeface="Lexend Deca" pitchFamily="34" charset="-122"/>
                <a:cs typeface="Lexend Deca" pitchFamily="34" charset="-120"/>
              </a:rPr>
              <a:t>is.</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No, there isn't.</a:t>
            </a:r>
          </a:p>
        </p:txBody>
      </p:sp>
      <p:sp>
        <p:nvSpPr>
          <p:cNvPr id="26" name="Highlight 2"/>
          <p:cNvSpPr/>
          <p:nvPr/>
        </p:nvSpPr>
        <p:spPr>
          <a:xfrm>
            <a:off x="1481328" y="53675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303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2</a:t>
            </a:r>
          </a:p>
        </p:txBody>
      </p:sp>
      <p:sp>
        <p:nvSpPr>
          <p:cNvPr id="28" name="Question 2"/>
          <p:cNvSpPr/>
          <p:nvPr/>
        </p:nvSpPr>
        <p:spPr>
          <a:xfrm>
            <a:off x="2944368" y="52303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Are there chairs?</a:t>
            </a:r>
          </a:p>
        </p:txBody>
      </p:sp>
      <p:sp>
        <p:nvSpPr>
          <p:cNvPr id="30" name="Answer bg 2"/>
          <p:cNvSpPr/>
          <p:nvPr/>
        </p:nvSpPr>
        <p:spPr>
          <a:xfrm>
            <a:off x="6949440" y="52486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2"/>
          <p:cNvSpPr/>
          <p:nvPr/>
        </p:nvSpPr>
        <p:spPr>
          <a:xfrm>
            <a:off x="6949440" y="52303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Yes, there </a:t>
            </a:r>
            <a:r>
              <a:rPr lang="en-US" sz="2000" dirty="0" b="1">
                <a:solidFill>
                  <a:srgbClr val="5B3FC4"/>
                </a:solidFill>
                <a:latin typeface="Lexend Deca" pitchFamily="34" charset="0"/>
                <a:ea typeface="Lexend Deca" pitchFamily="34" charset="-122"/>
                <a:cs typeface="Lexend Deca" pitchFamily="34" charset="-120"/>
              </a:rPr>
              <a:t>are.</a:t>
            </a:r>
          </a:p>
          <a:p>
            <a:pPr algn="l" indent="0" marL="0">
              <a:buNone/>
            </a:pPr>
            <a:r>
              <a:rPr lang="en-US" sz="2000" dirty="0" b="1">
                <a:solidFill>
                  <a:srgbClr val="1B2236"/>
                </a:solidFill>
                <a:latin typeface="Lexend Deca" pitchFamily="34" charset="0"/>
                <a:ea typeface="Lexend Deca" pitchFamily="34" charset="-122"/>
                <a:cs typeface="Lexend Deca" pitchFamily="34" charset="-120"/>
              </a:rPr>
              <a:t>No, there aren't.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39496" y="1360627"/>
            <a:ext cx="3045866" cy="4995367"/>
          </a:xfrm>
          <a:prstGeom prst="rect">
            <a:avLst/>
          </a:prstGeom>
          <a:solidFill>
            <a:srgbClr val="B9D2F7"/>
          </a:solidFill>
          <a:ln/>
        </p:spPr>
        <p:txBody>
          <a:bodyPr/>
          <a:p/>
        </p:txBody>
      </p:sp>
      <p:pic>
        <p:nvPicPr>
          <p:cNvPr id="21" name="Kitchen picture" descr="kitchen"/>
          <p:cNvPicPr>
            <a:picLocks noChangeAspect="1"/>
          </p:cNvPicPr>
          <p:nvPr/>
        </p:nvPicPr>
        <p:blipFill>
          <a:blip r:embed="rIdImg1"/>
          <a:stretch>
            <a:fillRect/>
          </a:stretch>
        </p:blipFill>
        <p:spPr>
          <a:xfrm>
            <a:off x="649224" y="1616796"/>
            <a:ext cx="2826410" cy="1978487"/>
          </a:xfrm>
          <a:prstGeom prst="rect">
            <a:avLst/>
          </a:prstGeom>
        </p:spPr>
      </p:pic>
      <p:sp>
        <p:nvSpPr>
          <p:cNvPr id="4" name="Shape 2"/>
          <p:cNvSpPr/>
          <p:nvPr/>
        </p:nvSpPr>
        <p:spPr>
          <a:xfrm>
            <a:off x="4582058" y="4619549"/>
            <a:ext cx="4033418" cy="1492301"/>
          </a:xfrm>
          <a:prstGeom prst="round1Rect">
            <a:avLst>
              <a:gd name="adj" fmla="val 23087"/>
            </a:avLst>
          </a:prstGeom>
          <a:solidFill>
            <a:srgbClr val="8FAFE3"/>
          </a:solidFill>
          <a:ln/>
        </p:spPr>
        <p:txBody>
          <a:bodyPr/>
          <a:p/>
        </p:txBody>
      </p:sp>
      <p:sp>
        <p:nvSpPr>
          <p:cNvPr id="5" name="Shape 3"/>
          <p:cNvSpPr/>
          <p:nvPr/>
        </p:nvSpPr>
        <p:spPr>
          <a:xfrm>
            <a:off x="4508906" y="4572000"/>
            <a:ext cx="4033418" cy="1492301"/>
          </a:xfrm>
          <a:prstGeom prst="round1Rect">
            <a:avLst>
              <a:gd name="adj" fmla="val 23087"/>
            </a:avLst>
          </a:prstGeom>
          <a:solidFill>
            <a:srgbClr val="B9D2F7"/>
          </a:solidFill>
          <a:ln/>
        </p:spPr>
        <p:txBody>
          <a:bodyPr/>
          <a:p/>
        </p:txBody>
      </p:sp>
      <p:sp>
        <p:nvSpPr>
          <p:cNvPr id="6" name="Shape 4"/>
          <p:cNvSpPr/>
          <p:nvPr/>
        </p:nvSpPr>
        <p:spPr>
          <a:xfrm>
            <a:off x="4395201" y="1473464"/>
            <a:ext cx="7210044" cy="1331366"/>
          </a:xfrm>
          <a:prstGeom prst="roundRect">
            <a:avLst>
              <a:gd name="adj" fmla="val 16667"/>
            </a:avLst>
          </a:prstGeom>
          <a:solidFill>
            <a:srgbClr val="8FAFE3"/>
          </a:solidFill>
          <a:ln/>
        </p:spPr>
        <p:txBody>
          <a:bodyPr/>
          <a:p/>
        </p:txBody>
      </p:sp>
      <p:sp>
        <p:nvSpPr>
          <p:cNvPr id="7" name="Shape 5"/>
          <p:cNvSpPr/>
          <p:nvPr/>
        </p:nvSpPr>
        <p:spPr>
          <a:xfrm>
            <a:off x="4437583" y="1419149"/>
            <a:ext cx="7210044" cy="1331366"/>
          </a:xfrm>
          <a:prstGeom prst="roundRect">
            <a:avLst>
              <a:gd name="adj" fmla="val 16667"/>
            </a:avLst>
          </a:prstGeom>
          <a:solidFill>
            <a:srgbClr val="FFFFFF"/>
          </a:solidFill>
          <a:ln/>
        </p:spPr>
        <p:txBody>
          <a:bodyPr/>
          <a:p/>
        </p:txBody>
      </p:sp>
      <p:sp>
        <p:nvSpPr>
          <p:cNvPr id="8" name="Text 6"/>
          <p:cNvSpPr/>
          <p:nvPr/>
        </p:nvSpPr>
        <p:spPr>
          <a:xfrm>
            <a:off x="4800600" y="1481328"/>
            <a:ext cx="6583680" cy="123444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1</a:t>
            </a:r>
          </a:p>
          <a:p>
            <a:pPr algn="l" indent="0" marL="0">
              <a:buNone/>
            </a:pPr>
            <a:r>
              <a:rPr lang="en-US" sz="3400" dirty="0" b="1">
                <a:solidFill>
                  <a:srgbClr val="1B2236"/>
                </a:solidFill>
                <a:latin typeface="Lexend Deca" pitchFamily="34" charset="0"/>
                <a:ea typeface="Lexend Deca" pitchFamily="34" charset="-122"/>
                <a:cs typeface="Lexend Deca" pitchFamily="34" charset="-120"/>
              </a:rPr>
              <a:t>There is / There are</a:t>
            </a:r>
          </a:p>
        </p:txBody>
      </p:sp>
      <p:sp>
        <p:nvSpPr>
          <p:cNvPr id="9" name="Text 7"/>
          <p:cNvSpPr/>
          <p:nvPr/>
        </p:nvSpPr>
        <p:spPr>
          <a:xfrm>
            <a:off x="4713732" y="3063240"/>
            <a:ext cx="4206240" cy="502920"/>
          </a:xfrm>
          <a:prstGeom prst="rect">
            <a:avLst/>
          </a:prstGeom>
          <a:noFill/>
          <a:ln/>
        </p:spPr>
        <p:txBody>
          <a:bodyPr wrap="square" lIns="0" tIns="0" rIns="0" bIns="0" rtlCol="0" anchor="ctr"/>
          <a:lstStyle/>
          <a:p>
            <a:pPr algn="l" indent="0" marL="0">
              <a:buNone/>
            </a:pPr>
            <a:r>
              <a:rPr lang="en-US" sz="2100" dirty="0" b="1">
                <a:solidFill>
                  <a:srgbClr val="1B2236"/>
                </a:solidFill>
                <a:latin typeface="Lexend Deca" pitchFamily="34" charset="0"/>
                <a:ea typeface="Lexend Deca" pitchFamily="34" charset="-122"/>
                <a:cs typeface="Lexend Deca" pitchFamily="34" charset="-120"/>
              </a:rPr>
              <a:t>One thing:</a:t>
            </a:r>
          </a:p>
        </p:txBody>
      </p:sp>
      <p:sp>
        <p:nvSpPr>
          <p:cNvPr id="10" name="Text 8"/>
          <p:cNvSpPr/>
          <p:nvPr/>
        </p:nvSpPr>
        <p:spPr>
          <a:xfrm>
            <a:off x="4713732" y="3611880"/>
            <a:ext cx="4206240" cy="868680"/>
          </a:xfrm>
          <a:prstGeom prst="rect">
            <a:avLst/>
          </a:prstGeom>
          <a:noFill/>
          <a:ln/>
        </p:spPr>
        <p:txBody>
          <a:bodyPr wrap="square" lIns="0" tIns="0" rIns="0" bIns="0" rtlCol="0" anchor="t"/>
          <a:lstStyle/>
          <a:p>
            <a:pPr algn="l" indent="0" marL="0">
              <a:buNone/>
            </a:pPr>
            <a:r>
              <a:rPr lang="en-US" sz="2200" dirty="0" b="0">
                <a:solidFill>
                  <a:srgbClr val="1B2236"/>
                </a:solidFill>
                <a:latin typeface="Lexend Deca" pitchFamily="34" charset="0"/>
                <a:ea typeface="Lexend Deca" pitchFamily="34" charset="-122"/>
                <a:cs typeface="Lexend Deca" pitchFamily="34" charset="-120"/>
              </a:rPr>
              <a:t>There </a:t>
            </a:r>
            <a:r>
              <a:rPr lang="en-US" sz="2200" dirty="0" b="1">
                <a:solidFill>
                  <a:srgbClr val="5B3FC4"/>
                </a:solidFill>
                <a:latin typeface="Lexend Deca" pitchFamily="34" charset="0"/>
                <a:ea typeface="Lexend Deca" pitchFamily="34" charset="-122"/>
                <a:cs typeface="Lexend Deca" pitchFamily="34" charset="-120"/>
              </a:rPr>
              <a:t>is</a:t>
            </a:r>
            <a:r>
              <a:rPr lang="en-US" sz="2200" dirty="0" b="0">
                <a:solidFill>
                  <a:srgbClr val="1B2236"/>
                </a:solidFill>
                <a:latin typeface="Lexend Deca" pitchFamily="34" charset="0"/>
                <a:ea typeface="Lexend Deca" pitchFamily="34" charset="-122"/>
                <a:cs typeface="Lexend Deca" pitchFamily="34" charset="-120"/>
              </a:rPr>
              <a:t> a kitchen.</a:t>
            </a:r>
          </a:p>
          <a:p>
            <a:pPr algn="l" indent="0" marL="0">
              <a:buNone/>
            </a:pPr>
            <a:r>
              <a:rPr lang="en-US" sz="2200" dirty="0" b="0">
                <a:solidFill>
                  <a:srgbClr val="1B2236"/>
                </a:solidFill>
                <a:latin typeface="Lexend Deca" pitchFamily="34" charset="0"/>
                <a:ea typeface="Lexend Deca" pitchFamily="34" charset="-122"/>
                <a:cs typeface="Lexend Deca" pitchFamily="34" charset="-120"/>
              </a:rPr>
              <a:t>There </a:t>
            </a:r>
            <a:r>
              <a:rPr lang="en-US" sz="2200" dirty="0" b="1">
                <a:solidFill>
                  <a:srgbClr val="5B3FC4"/>
                </a:solidFill>
                <a:latin typeface="Lexend Deca" pitchFamily="34" charset="0"/>
                <a:ea typeface="Lexend Deca" pitchFamily="34" charset="-122"/>
                <a:cs typeface="Lexend Deca" pitchFamily="34" charset="-120"/>
              </a:rPr>
              <a:t>is</a:t>
            </a:r>
            <a:r>
              <a:rPr lang="en-US" sz="2200" dirty="0" b="0">
                <a:solidFill>
                  <a:srgbClr val="1B2236"/>
                </a:solidFill>
                <a:latin typeface="Lexend Deca" pitchFamily="34" charset="0"/>
                <a:ea typeface="Lexend Deca" pitchFamily="34" charset="-122"/>
                <a:cs typeface="Lexend Deca" pitchFamily="34" charset="-120"/>
              </a:rPr>
              <a:t> a bed.</a:t>
            </a:r>
          </a:p>
        </p:txBody>
      </p:sp>
      <p:sp>
        <p:nvSpPr>
          <p:cNvPr id="11" name="Text 9"/>
          <p:cNvSpPr/>
          <p:nvPr/>
        </p:nvSpPr>
        <p:spPr>
          <a:xfrm>
            <a:off x="4713732" y="4663440"/>
            <a:ext cx="3840480" cy="502920"/>
          </a:xfrm>
          <a:prstGeom prst="rect">
            <a:avLst/>
          </a:prstGeom>
          <a:noFill/>
          <a:ln/>
        </p:spPr>
        <p:txBody>
          <a:bodyPr wrap="square" lIns="0" tIns="0" rIns="0" bIns="0"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Two or more:</a:t>
            </a:r>
          </a:p>
        </p:txBody>
      </p:sp>
      <p:sp>
        <p:nvSpPr>
          <p:cNvPr id="12" name="Text 10"/>
          <p:cNvSpPr/>
          <p:nvPr/>
        </p:nvSpPr>
        <p:spPr>
          <a:xfrm>
            <a:off x="4713732" y="5193792"/>
            <a:ext cx="3749040" cy="822960"/>
          </a:xfrm>
          <a:prstGeom prst="rect">
            <a:avLst/>
          </a:prstGeom>
          <a:noFill/>
          <a:ln/>
        </p:spPr>
        <p:txBody>
          <a:bodyPr wrap="square" lIns="0" tIns="0" rIns="0" bIns="0" rtlCol="0" anchor="t"/>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There </a:t>
            </a:r>
            <a:r>
              <a:rPr lang="en-US" sz="2000" dirty="0" b="1">
                <a:solidFill>
                  <a:srgbClr val="5B3FC4"/>
                </a:solidFill>
                <a:latin typeface="Lexend Deca" pitchFamily="34" charset="0"/>
                <a:ea typeface="Lexend Deca" pitchFamily="34" charset="-122"/>
                <a:cs typeface="Lexend Deca" pitchFamily="34" charset="-120"/>
              </a:rPr>
              <a:t>are</a:t>
            </a:r>
            <a:r>
              <a:rPr lang="en-US" sz="2000" dirty="0" b="0">
                <a:solidFill>
                  <a:srgbClr val="1B2236"/>
                </a:solidFill>
                <a:latin typeface="Lexend Deca" pitchFamily="34" charset="0"/>
                <a:ea typeface="Lexend Deca" pitchFamily="34" charset="-122"/>
                <a:cs typeface="Lexend Deca" pitchFamily="34" charset="-120"/>
              </a:rPr>
              <a:t> two bedrooms.</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There </a:t>
            </a:r>
            <a:r>
              <a:rPr lang="en-US" sz="2000" dirty="0" b="1">
                <a:solidFill>
                  <a:srgbClr val="5B3FC4"/>
                </a:solidFill>
                <a:latin typeface="Lexend Deca" pitchFamily="34" charset="0"/>
                <a:ea typeface="Lexend Deca" pitchFamily="34" charset="-122"/>
                <a:cs typeface="Lexend Deca" pitchFamily="34" charset="-120"/>
              </a:rPr>
              <a:t>are</a:t>
            </a:r>
            <a:r>
              <a:rPr lang="en-US" sz="2000" dirty="0" b="0">
                <a:solidFill>
                  <a:srgbClr val="1B2236"/>
                </a:solidFill>
                <a:latin typeface="Lexend Deca" pitchFamily="34" charset="0"/>
                <a:ea typeface="Lexend Deca" pitchFamily="34" charset="-122"/>
                <a:cs typeface="Lexend Deca" pitchFamily="34" charset="-120"/>
              </a:rPr>
              <a:t> chairs.</a:t>
            </a:r>
          </a:p>
        </p:txBody>
      </p:sp>
      <p:sp>
        <p:nvSpPr>
          <p:cNvPr id="13" name="Text 11"/>
          <p:cNvSpPr/>
          <p:nvPr/>
        </p:nvSpPr>
        <p:spPr>
          <a:xfrm>
            <a:off x="8915400" y="31089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is</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 a kitchen</a:t>
            </a:r>
          </a:p>
        </p:txBody>
      </p:sp>
      <p:sp>
        <p:nvSpPr>
          <p:cNvPr id="17" name="Text 15"/>
          <p:cNvSpPr/>
          <p:nvPr/>
        </p:nvSpPr>
        <p:spPr>
          <a:xfrm>
            <a:off x="8915400" y="47091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are</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 two bedrooms</a:t>
            </a:r>
          </a:p>
        </p:txBody>
      </p:sp>
      <p:pic>
        <p:nvPicPr>
          <p:cNvPr id="96" name="Bedroom picture" descr="bedroom"/>
          <p:cNvPicPr>
            <a:picLocks noChangeAspect="1"/>
          </p:cNvPicPr>
          <p:nvPr/>
        </p:nvPicPr>
        <p:blipFill>
          <a:blip r:embed="rIdImg2"/>
          <a:stretch>
            <a:fillRect/>
          </a:stretch>
        </p:blipFill>
        <p:spPr>
          <a:xfrm>
            <a:off x="649224" y="4039956"/>
            <a:ext cx="2826410" cy="19784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1508760"/>
          </a:xfrm>
          <a:prstGeom prst="round1Rect">
            <a:avLst>
              <a:gd name="adj" fmla="val 23087"/>
            </a:avLst>
          </a:prstGeom>
          <a:solidFill>
            <a:srgbClr val="FFFFFF"/>
          </a:solidFill>
          <a:ln/>
        </p:spPr>
        <p:txBody>
          <a:bodyPr/>
          <a:p/>
        </p:txBody>
      </p:sp>
      <p:sp>
        <p:nvSpPr>
          <p:cNvPr id="5" name="Shape 3"/>
          <p:cNvSpPr/>
          <p:nvPr/>
        </p:nvSpPr>
        <p:spPr>
          <a:xfrm>
            <a:off x="1583741" y="4041648"/>
            <a:ext cx="5130698" cy="1508760"/>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 Circle.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many? When is the rent due?</a:t>
            </a:r>
          </a:p>
        </p:txBody>
      </p:sp>
      <p:sp>
        <p:nvSpPr>
          <p:cNvPr id="11" name="Text 9"/>
          <p:cNvSpPr/>
          <p:nvPr/>
        </p:nvSpPr>
        <p:spPr>
          <a:xfrm>
            <a:off x="1810512" y="2423160"/>
            <a:ext cx="2651760" cy="1325880"/>
          </a:xfrm>
          <a:prstGeom prst="rect">
            <a:avLst/>
          </a:prstGeom>
          <a:noFill/>
          <a:ln/>
        </p:spPr>
        <p:txBody>
          <a:bodyPr wrap="square" rtlCol="0" anchor="ctr" tIns="0" bIns="0"/>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 Circle.</a:t>
            </a:r>
          </a:p>
          <a:p>
            <a:pPr algn="l" indent="0" marL="0">
              <a:buNone/>
            </a:pPr>
            <a:r>
              <a:rPr lang="en-US" sz="1900" dirty="0" b="1">
                <a:solidFill>
                  <a:srgbClr val="1B2236"/>
                </a:solidFill>
                <a:latin typeface="Lexend Deca" pitchFamily="34" charset="0"/>
                <a:ea typeface="Lexend Deca" pitchFamily="34" charset="-122"/>
                <a:cs typeface="Lexend Deca" pitchFamily="34" charset="-120"/>
              </a:rPr>
              <a:t>Bedrooms:   1   2   3</a:t>
            </a:r>
          </a:p>
          <a:p>
            <a:pPr algn="l" indent="0" marL="0">
              <a:buNone/>
            </a:pPr>
            <a:r>
              <a:rPr lang="en-US" sz="1900" dirty="0" b="1">
                <a:solidFill>
                  <a:srgbClr val="1B2236"/>
                </a:solidFill>
                <a:latin typeface="Lexend Deca" pitchFamily="34" charset="0"/>
                <a:ea typeface="Lexend Deca" pitchFamily="34" charset="-122"/>
                <a:cs typeface="Lexend Deca" pitchFamily="34" charset="-120"/>
              </a:rPr>
              <a:t>Bathrooms:   1   2</a:t>
            </a:r>
          </a:p>
        </p:txBody>
      </p:sp>
      <p:sp>
        <p:nvSpPr>
          <p:cNvPr id="13" name="Text 11"/>
          <p:cNvSpPr/>
          <p:nvPr/>
        </p:nvSpPr>
        <p:spPr>
          <a:xfrm>
            <a:off x="1810512" y="4041648"/>
            <a:ext cx="2651760" cy="1463040"/>
          </a:xfrm>
          <a:prstGeom prst="rect">
            <a:avLst/>
          </a:prstGeom>
          <a:noFill/>
          <a:ln/>
        </p:spPr>
        <p:txBody>
          <a:bodyPr wrap="square" rtlCol="0" anchor="ctr" tIns="0" bIns="0"/>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 The rent is due…</a:t>
            </a:r>
          </a:p>
          <a:p>
            <a:pPr algn="l" indent="0" marL="0">
              <a:buNone/>
            </a:pPr>
            <a:r>
              <a:rPr lang="en-US" sz="1700" dirty="0" b="1">
                <a:solidFill>
                  <a:srgbClr val="1B2236"/>
                </a:solidFill>
                <a:latin typeface="Lexend Deca" pitchFamily="34" charset="0"/>
                <a:ea typeface="Lexend Deca" pitchFamily="34" charset="-122"/>
                <a:cs typeface="Lexend Deca" pitchFamily="34" charset="-120"/>
              </a:rPr>
              <a:t>on the first</a:t>
            </a:r>
          </a:p>
          <a:p>
            <a:pPr algn="l" indent="0" marL="0">
              <a:buNone/>
            </a:pPr>
            <a:r>
              <a:rPr lang="en-US" sz="1700" dirty="0" b="1">
                <a:solidFill>
                  <a:srgbClr val="1B2236"/>
                </a:solidFill>
                <a:latin typeface="Lexend Deca" pitchFamily="34" charset="0"/>
                <a:ea typeface="Lexend Deca" pitchFamily="34" charset="-122"/>
                <a:cs typeface="Lexend Deca" pitchFamily="34" charset="-120"/>
              </a:rPr>
              <a:t>on Friday</a:t>
            </a:r>
          </a:p>
          <a:p>
            <a:pPr algn="l" indent="0" marL="0">
              <a:buNone/>
            </a:pPr>
            <a:r>
              <a:rPr lang="en-US" sz="1700" dirty="0" b="1">
                <a:solidFill>
                  <a:srgbClr val="1B2236"/>
                </a:solidFill>
                <a:latin typeface="Lexend Deca" pitchFamily="34" charset="0"/>
                <a:ea typeface="Lexend Deca" pitchFamily="34" charset="-122"/>
                <a:cs typeface="Lexend Deca" pitchFamily="34" charset="-120"/>
              </a:rPr>
              <a:t>on the weekend</a:t>
            </a:r>
          </a:p>
        </p:txBody>
      </p:sp>
      <p:sp>
        <p:nvSpPr>
          <p:cNvPr id="21" name="Shape 19"/>
          <p:cNvSpPr/>
          <p:nvPr/>
        </p:nvSpPr>
        <p:spPr>
          <a:xfrm>
            <a:off x="544982" y="2395728"/>
            <a:ext cx="1039673" cy="1508760"/>
          </a:xfrm>
          <a:prstGeom prst="rect">
            <a:avLst/>
          </a:prstGeom>
          <a:solidFill>
            <a:srgbClr val="B9D2F7"/>
          </a:solidFill>
          <a:ln/>
        </p:spPr>
        <p:txBody>
          <a:bodyPr/>
          <a:p/>
        </p:txBody>
      </p:sp>
      <p:sp>
        <p:nvSpPr>
          <p:cNvPr id="22" name="Text 20"/>
          <p:cNvSpPr/>
          <p:nvPr/>
        </p:nvSpPr>
        <p:spPr>
          <a:xfrm>
            <a:off x="686714" y="285292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4041648"/>
            <a:ext cx="1039673" cy="1508760"/>
          </a:xfrm>
          <a:prstGeom prst="rect">
            <a:avLst/>
          </a:prstGeom>
          <a:solidFill>
            <a:srgbClr val="B9D2F7"/>
          </a:solidFill>
          <a:ln/>
        </p:spPr>
        <p:txBody>
          <a:bodyPr/>
          <a:p/>
        </p:txBody>
      </p:sp>
      <p:sp>
        <p:nvSpPr>
          <p:cNvPr id="24" name="Text 22"/>
          <p:cNvSpPr/>
          <p:nvPr/>
        </p:nvSpPr>
        <p:spPr>
          <a:xfrm>
            <a:off x="686714" y="449884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 + C</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B: </a:t>
            </a:r>
            <a:r>
              <a:rPr lang="en-US" sz="2000" dirty="0" b="1">
                <a:solidFill>
                  <a:srgbClr val="5B3FC4"/>
                </a:solidFill>
                <a:latin typeface="Lexend Deca" pitchFamily="34" charset="0"/>
                <a:ea typeface="Lexend Deca" pitchFamily="34" charset="-122"/>
                <a:cs typeface="Lexend Deca" pitchFamily="34" charset="-120"/>
              </a:rPr>
              <a:t>circle the numbers.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 </a:t>
            </a:r>
            <a:r>
              <a:rPr lang="en-US" sz="2000" dirty="0" b="1">
                <a:solidFill>
                  <a:srgbClr val="5B3FC4"/>
                </a:solidFill>
                <a:latin typeface="Lexend Deca" pitchFamily="34" charset="0"/>
                <a:ea typeface="Lexend Deca" pitchFamily="34" charset="-122"/>
                <a:cs typeface="Lexend Deca" pitchFamily="34" charset="-120"/>
              </a:rPr>
              <a:t>when is the rent due?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4526280" y="2670048"/>
            <a:ext cx="2103120" cy="82296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2 bedrooms</a:t>
            </a:r>
          </a:p>
          <a:p>
            <a:pPr algn="ctr" indent="0" marL="0">
              <a:buNone/>
            </a:pPr>
            <a:r>
              <a:rPr lang="en-US" sz="1900" dirty="0" b="1">
                <a:solidFill>
                  <a:srgbClr val="1B2236"/>
                </a:solidFill>
                <a:latin typeface="Lexend Deca" pitchFamily="34" charset="0"/>
                <a:ea typeface="Lexend Deca" pitchFamily="34" charset="-122"/>
                <a:cs typeface="Lexend Deca" pitchFamily="34" charset="-120"/>
              </a:rPr>
              <a:t>1 bathroom</a:t>
            </a:r>
          </a:p>
        </p:txBody>
      </p:sp>
      <p:sp>
        <p:nvSpPr>
          <p:cNvPr id="35" name="Answer 2"/>
          <p:cNvSpPr/>
          <p:nvPr/>
        </p:nvSpPr>
        <p:spPr>
          <a:xfrm>
            <a:off x="4526280" y="4526280"/>
            <a:ext cx="2103120" cy="50292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on the first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5" name="Shape 3"/>
          <p:cNvSpPr/>
          <p:nvPr/>
        </p:nvSpPr>
        <p:spPr>
          <a:xfrm flipH="1">
            <a:off x="501091" y="2798064"/>
            <a:ext cx="4526280" cy="3429000"/>
          </a:xfrm>
          <a:prstGeom prst="round1Rect">
            <a:avLst>
              <a:gd name="adj" fmla="val 23087"/>
            </a:avLst>
          </a:prstGeom>
          <a:solidFill>
            <a:srgbClr val="8FAFE3"/>
          </a:solidFill>
          <a:ln/>
        </p:spPr>
        <p:txBody>
          <a:bodyPr/>
          <a:p/>
        </p:txBody>
      </p:sp>
      <p:sp>
        <p:nvSpPr>
          <p:cNvPr id="6" name="Shape 4"/>
          <p:cNvSpPr/>
          <p:nvPr/>
        </p:nvSpPr>
        <p:spPr>
          <a:xfrm flipH="1">
            <a:off x="5217566" y="2806294"/>
            <a:ext cx="5440680" cy="3429000"/>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2606040"/>
            <a:ext cx="4526280" cy="3429000"/>
          </a:xfrm>
          <a:prstGeom prst="round1Rect">
            <a:avLst>
              <a:gd name="adj" fmla="val 23087"/>
            </a:avLst>
          </a:prstGeom>
          <a:solidFill>
            <a:srgbClr val="FFFFFF"/>
          </a:solidFill>
          <a:ln/>
        </p:spPr>
        <p:txBody>
          <a:bodyPr/>
          <a:p/>
        </p:txBody>
      </p:sp>
      <p:sp>
        <p:nvSpPr>
          <p:cNvPr id="10" name="Shape 8"/>
          <p:cNvSpPr/>
          <p:nvPr/>
        </p:nvSpPr>
        <p:spPr>
          <a:xfrm flipH="1">
            <a:off x="5349240" y="2606040"/>
            <a:ext cx="5440680" cy="3429000"/>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a:p>
        </p:txBody>
      </p:sp>
      <p:pic>
        <p:nvPicPr>
          <p:cNvPr id="21" name="Bed picture" descr="bed"/>
          <p:cNvPicPr>
            <a:picLocks noChangeAspect="1"/>
          </p:cNvPicPr>
          <p:nvPr/>
        </p:nvPicPr>
        <p:blipFill>
          <a:blip r:embed="rIdImg1"/>
          <a:stretch>
            <a:fillRect/>
          </a:stretch>
        </p:blipFill>
        <p:spPr>
          <a:xfrm>
            <a:off x="9124406" y="1188720"/>
            <a:ext cx="1959429" cy="1371600"/>
          </a:xfrm>
          <a:prstGeom prst="rect">
            <a:avLst/>
          </a:prstGeom>
        </p:spPr>
      </p:pic>
      <p:sp>
        <p:nvSpPr>
          <p:cNvPr id="22" name="Dont head"/>
          <p:cNvSpPr/>
          <p:nvPr/>
        </p:nvSpPr>
        <p:spPr>
          <a:xfrm>
            <a:off x="914400" y="2697480"/>
            <a:ext cx="40233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5577840" y="2697480"/>
            <a:ext cx="49377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320040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Have two bedrooms.</a:t>
            </a:r>
          </a:p>
        </p:txBody>
      </p:sp>
      <p:sp>
        <p:nvSpPr>
          <p:cNvPr id="25" name="Good 1"/>
          <p:cNvSpPr/>
          <p:nvPr/>
        </p:nvSpPr>
        <p:spPr>
          <a:xfrm>
            <a:off x="5577840" y="320040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There are</a:t>
            </a:r>
            <a:r>
              <a:rPr lang="en-US" sz="2000" dirty="0" b="1">
                <a:solidFill>
                  <a:srgbClr val="1B2236"/>
                </a:solidFill>
                <a:latin typeface="Lexend Deca" pitchFamily="34" charset="0"/>
                <a:ea typeface="Lexend Deca" pitchFamily="34" charset="-122"/>
                <a:cs typeface="Lexend Deca" pitchFamily="34" charset="-120"/>
              </a:rPr>
              <a:t> two bedrooms.</a:t>
            </a:r>
          </a:p>
        </p:txBody>
      </p:sp>
      <p:sp>
        <p:nvSpPr>
          <p:cNvPr id="26" name="Bad 2"/>
          <p:cNvSpPr/>
          <p:nvPr/>
        </p:nvSpPr>
        <p:spPr>
          <a:xfrm>
            <a:off x="914400" y="370332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There is two beds.</a:t>
            </a:r>
          </a:p>
        </p:txBody>
      </p:sp>
      <p:sp>
        <p:nvSpPr>
          <p:cNvPr id="27" name="Good 2"/>
          <p:cNvSpPr/>
          <p:nvPr/>
        </p:nvSpPr>
        <p:spPr>
          <a:xfrm>
            <a:off x="5577840" y="370332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There </a:t>
            </a:r>
            <a:r>
              <a:rPr lang="en-US" sz="2000" dirty="0" b="1">
                <a:solidFill>
                  <a:srgbClr val="5B3FC4"/>
                </a:solidFill>
                <a:latin typeface="Lexend Deca" pitchFamily="34" charset="0"/>
                <a:ea typeface="Lexend Deca" pitchFamily="34" charset="-122"/>
                <a:cs typeface="Lexend Deca" pitchFamily="34" charset="-120"/>
              </a:rPr>
              <a:t>are</a:t>
            </a:r>
            <a:r>
              <a:rPr lang="en-US" sz="2000" dirty="0" b="1">
                <a:solidFill>
                  <a:srgbClr val="1B2236"/>
                </a:solidFill>
                <a:latin typeface="Lexend Deca" pitchFamily="34" charset="0"/>
                <a:ea typeface="Lexend Deca" pitchFamily="34" charset="-122"/>
                <a:cs typeface="Lexend Deca" pitchFamily="34" charset="-120"/>
              </a:rPr>
              <a:t> two beds.</a:t>
            </a:r>
          </a:p>
        </p:txBody>
      </p:sp>
      <p:sp>
        <p:nvSpPr>
          <p:cNvPr id="28" name="Bad 3"/>
          <p:cNvSpPr/>
          <p:nvPr/>
        </p:nvSpPr>
        <p:spPr>
          <a:xfrm>
            <a:off x="914400" y="420624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Is there windows?</a:t>
            </a:r>
          </a:p>
        </p:txBody>
      </p:sp>
      <p:sp>
        <p:nvSpPr>
          <p:cNvPr id="29" name="Good 3"/>
          <p:cNvSpPr/>
          <p:nvPr/>
        </p:nvSpPr>
        <p:spPr>
          <a:xfrm>
            <a:off x="5577840" y="420624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Are</a:t>
            </a:r>
            <a:r>
              <a:rPr lang="en-US" sz="2000" dirty="0" b="1">
                <a:solidFill>
                  <a:srgbClr val="1B2236"/>
                </a:solidFill>
                <a:latin typeface="Lexend Deca" pitchFamily="34" charset="0"/>
                <a:ea typeface="Lexend Deca" pitchFamily="34" charset="-122"/>
                <a:cs typeface="Lexend Deca" pitchFamily="34" charset="-120"/>
              </a:rPr>
              <a:t> there windows?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Floor plan: bedroom, kitchen, bathroom,  picture" descr="floor plan: bedroom, kitchen, bathroom, living room"/>
          <p:cNvPicPr>
            <a:picLocks noChangeAspect="1"/>
          </p:cNvPicPr>
          <p:nvPr/>
        </p:nvPicPr>
        <p:blipFill>
          <a:blip r:embed="rIdImg1"/>
          <a:stretch>
            <a:fillRect/>
          </a:stretch>
        </p:blipFill>
        <p:spPr>
          <a:xfrm>
            <a:off x="502920" y="3168396"/>
            <a:ext cx="4663440" cy="3264408"/>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Text 5"/>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Floor Plan</a:t>
            </a:r>
          </a:p>
        </p:txBody>
      </p:sp>
      <p:sp>
        <p:nvSpPr>
          <p:cNvPr id="8" name="Text 6"/>
          <p:cNvSpPr/>
          <p:nvPr/>
        </p:nvSpPr>
        <p:spPr>
          <a:xfrm>
            <a:off x="6035040" y="1783080"/>
            <a:ext cx="356616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A–B pairs.</a:t>
            </a:r>
          </a:p>
          <a:p>
            <a:pPr algn="l" indent="0" marL="0">
              <a:buNone/>
            </a:pPr>
            <a:r>
              <a:rPr lang="en-US" sz="1800" dirty="0">
                <a:solidFill>
                  <a:srgbClr val="1B2236"/>
                </a:solidFill>
                <a:latin typeface="Lexend Deca" pitchFamily="34" charset="0"/>
                <a:ea typeface="Lexend Deca" pitchFamily="34" charset="-122"/>
                <a:cs typeface="Lexend Deca" pitchFamily="34" charset="-120"/>
              </a:rPr>
              <a:t>A looks at the plan.</a:t>
            </a:r>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ext 9"/>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7:00–7:10</a:t>
            </a:r>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 asks:</a:t>
            </a:r>
          </a:p>
          <a:p>
            <a:pPr algn="l" indent="0" marL="0">
              <a:buNone/>
            </a:pPr>
            <a:r>
              <a:rPr lang="en-US" sz="1900" dirty="0" b="0">
                <a:solidFill>
                  <a:srgbClr val="5B3FC4"/>
                </a:solidFill>
                <a:latin typeface="Lexend Deca" pitchFamily="34" charset="0"/>
                <a:ea typeface="Lexend Deca" pitchFamily="34" charset="-122"/>
                <a:cs typeface="Lexend Deca" pitchFamily="34" charset="-120"/>
              </a:rPr>
              <a:t>Is there a kitchen?</a:t>
            </a:r>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answers:</a:t>
            </a:r>
          </a:p>
          <a:p>
            <a:pPr algn="l" indent="0" marL="0">
              <a:buNone/>
            </a:pPr>
            <a:r>
              <a:rPr lang="en-US" sz="1800" dirty="0" b="0">
                <a:solidFill>
                  <a:srgbClr val="1B2236"/>
                </a:solidFill>
                <a:latin typeface="Lexend Deca" pitchFamily="34" charset="0"/>
                <a:ea typeface="Lexend Deca" pitchFamily="34" charset="-122"/>
                <a:cs typeface="Lexend Deca" pitchFamily="34" charset="-120"/>
              </a:rPr>
              <a:t>Yes, there is. / No, there isn't.</a:t>
            </a:r>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 writes or draws.</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Compare. Then switch.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ext 4"/>
          <p:cNvSpPr/>
          <p:nvPr/>
        </p:nvSpPr>
        <p:spPr>
          <a:xfrm>
            <a:off x="4343400" y="2103120"/>
            <a:ext cx="54864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a:t>
            </a:r>
            <a:r>
              <a:rPr lang="en-US" sz="2200" dirty="0" b="1">
                <a:solidFill>
                  <a:srgbClr val="5B3FC4"/>
                </a:solidFill>
                <a:latin typeface="Lexend Deca" pitchFamily="34" charset="0"/>
                <a:ea typeface="Lexend Deca" pitchFamily="34" charset="-122"/>
                <a:cs typeface="Lexend Deca" pitchFamily="34" charset="-120"/>
              </a:rPr>
              <a:t>   7:10–7:15</a:t>
            </a:r>
            <a:endParaRPr lang="en-US" sz="4000" dirty="0"/>
          </a:p>
        </p:txBody>
      </p:sp>
      <p:pic>
        <p:nvPicPr>
          <p:cNvPr id="16" name="Sofa picture" descr="sofa"/>
          <p:cNvPicPr>
            <a:picLocks noChangeAspect="1"/>
          </p:cNvPicPr>
          <p:nvPr/>
        </p:nvPicPr>
        <p:blipFill>
          <a:blip r:embed="rIdImg1"/>
          <a:stretch>
            <a:fillRect/>
          </a:stretch>
        </p:blipFill>
        <p:spPr>
          <a:xfrm>
            <a:off x="777240" y="2651760"/>
            <a:ext cx="3017520" cy="2112264"/>
          </a:xfrm>
          <a:prstGeom prst="rect">
            <a:avLst/>
          </a:prstGeom>
        </p:spPr>
      </p:pic>
      <p:sp>
        <p:nvSpPr>
          <p:cNvPr id="17" name="Num 01"/>
          <p:cNvSpPr/>
          <p:nvPr/>
        </p:nvSpPr>
        <p:spPr>
          <a:xfrm>
            <a:off x="43434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a:p>
        </p:txBody>
      </p:sp>
      <p:sp>
        <p:nvSpPr>
          <p:cNvPr id="19" name="Body 01"/>
          <p:cNvSpPr/>
          <p:nvPr/>
        </p:nvSpPr>
        <p:spPr>
          <a:xfrm>
            <a:off x="4343400" y="3977640"/>
            <a:ext cx="352044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Say:</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There is a ___.</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There are ___.</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Or write:</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one sentence.</a:t>
            </a:r>
          </a:p>
        </p:txBody>
      </p:sp>
      <p:sp>
        <p:nvSpPr>
          <p:cNvPr id="20" name="Num 02"/>
          <p:cNvSpPr/>
          <p:nvPr/>
        </p:nvSpPr>
        <p:spPr>
          <a:xfrm>
            <a:off x="80010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a:p>
        </p:txBody>
      </p:sp>
      <p:sp>
        <p:nvSpPr>
          <p:cNvPr id="22" name="Body 02"/>
          <p:cNvSpPr/>
          <p:nvPr/>
        </p:nvSpPr>
        <p:spPr>
          <a:xfrm>
            <a:off x="8001000" y="3977640"/>
            <a:ext cx="361188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1. Write about a home.</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2. Write is or are.</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3. Draw a floor plan.</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4. Ask a family member.</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5. Write today's date.</a:t>
            </a:r>
          </a:p>
          <a:p>
            <a:pPr algn="l" indent="0" marL="0">
              <a:spcAft>
                <a:spcPts val="200"/>
              </a:spcAft>
              <a:buNone/>
            </a:pPr>
            <a:r>
              <a:rPr lang="en-US" sz="1800" dirty="0" b="1">
                <a:solidFill>
                  <a:srgbClr val="1B2236"/>
                </a:solidFill>
                <a:latin typeface="Lexend Deca" pitchFamily="34" charset="0"/>
                <a:ea typeface="Lexend Deca" pitchFamily="34" charset="-122"/>
                <a:cs typeface="Lexend Deca" pitchFamily="34" charset="-120"/>
              </a:rPr>
              <a:t>Bring it next week!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sp>
        <p:nvSpPr>
          <p:cNvPr id="120" name="Alphabet"/>
          <p:cNvSpPr/>
          <p:nvPr/>
        </p:nvSpPr>
        <p:spPr>
          <a:xfrm>
            <a:off x="228600" y="1737360"/>
            <a:ext cx="3337560" cy="3291840"/>
          </a:xfrm>
          <a:prstGeom prst="rect">
            <a:avLst/>
          </a:prstGeom>
          <a:noFill/>
          <a:ln/>
        </p:spPr>
        <p:txBody>
          <a:bodyPr wrap="square" rtlCol="0" anchor="ctr"/>
          <a:lstStyle/>
          <a:p>
            <a:pPr algn="ctr" indent="0" marL="0">
              <a:spcBef>
                <a:spcPts val="900"/>
              </a:spcBef>
              <a:buNone/>
            </a:pPr>
            <a:r>
              <a:rPr lang="en-US" sz="2800" dirty="0" b="1">
                <a:solidFill>
                  <a:srgbClr val="1B2236"/>
                </a:solidFill>
                <a:latin typeface="Lexend Deca" pitchFamily="34" charset="0"/>
                <a:ea typeface="Lexend Deca" pitchFamily="34" charset="-122"/>
                <a:cs typeface="Lexend Deca" pitchFamily="34" charset="-120"/>
              </a:rPr>
              <a:t>2 BR, 1 BA</a:t>
            </a:r>
          </a:p>
          <a:p>
            <a:pPr algn="ctr" indent="0" marL="0">
              <a:spcBef>
                <a:spcPts val="900"/>
              </a:spcBef>
              <a:buNone/>
            </a:pPr>
            <a:r>
              <a:rPr lang="en-US" sz="2200" dirty="0" b="1">
                <a:solidFill>
                  <a:srgbClr val="5B3FC4"/>
                </a:solidFill>
                <a:latin typeface="Lexend Deca" pitchFamily="34" charset="0"/>
                <a:ea typeface="Lexend Deca" pitchFamily="34" charset="-122"/>
                <a:cs typeface="Lexend Deca" pitchFamily="34" charset="-120"/>
              </a:rPr>
              <a:t>$900 / month</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C: circle Yes or No.</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D: A asks, B answers.</a:t>
            </a:r>
          </a:p>
        </p:txBody>
      </p:sp>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Real-World Reading  ·  Tasks C + D</a:t>
            </a:r>
          </a:p>
          <a:p>
            <a:pPr algn="l" indent="0" marL="0">
              <a:spcAft>
                <a:spcPts val="400"/>
              </a:spcAft>
              <a:buNone/>
            </a:pPr>
            <a:r>
              <a:rPr lang="en-US" sz="3400" dirty="0" b="1">
                <a:solidFill>
                  <a:srgbClr val="1B2236"/>
                </a:solidFill>
                <a:latin typeface="Lexend Deca" pitchFamily="34" charset="0"/>
                <a:ea typeface="Lexend Deca" pitchFamily="34" charset="-122"/>
                <a:cs typeface="Lexend Deca" pitchFamily="34" charset="-120"/>
              </a:rPr>
              <a:t>Yes or No?</a:t>
            </a:r>
          </a:p>
        </p:txBody>
      </p:sp>
      <p:sp>
        <p:nvSpPr>
          <p:cNvPr id="8" name="Text 6"/>
          <p:cNvSpPr/>
          <p:nvPr/>
        </p:nvSpPr>
        <p:spPr>
          <a:xfrm>
            <a:off x="498348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THE AD</a:t>
            </a:r>
          </a:p>
        </p:txBody>
      </p:sp>
      <p:sp>
        <p:nvSpPr>
          <p:cNvPr id="11" name="Text 9"/>
          <p:cNvSpPr/>
          <p:nvPr/>
        </p:nvSpPr>
        <p:spPr>
          <a:xfrm>
            <a:off x="804672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p>
        </p:txBody>
      </p:sp>
      <p:sp>
        <p:nvSpPr>
          <p:cNvPr id="18" name="Highlight 1"/>
          <p:cNvSpPr/>
          <p:nvPr/>
        </p:nvSpPr>
        <p:spPr>
          <a:xfrm>
            <a:off x="4937760" y="2697479"/>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9" name="Helper 1"/>
          <p:cNvSpPr/>
          <p:nvPr/>
        </p:nvSpPr>
        <p:spPr>
          <a:xfrm>
            <a:off x="4937760" y="2651760"/>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There are two bedrooms.</a:t>
            </a:r>
          </a:p>
        </p:txBody>
      </p:sp>
      <p:sp>
        <p:nvSpPr>
          <p:cNvPr id="22" name="Answer bg 1"/>
          <p:cNvSpPr/>
          <p:nvPr/>
        </p:nvSpPr>
        <p:spPr>
          <a:xfrm>
            <a:off x="8001000" y="2651760"/>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001000" y="2651760"/>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Yes</a:t>
            </a:r>
          </a:p>
        </p:txBody>
      </p:sp>
      <p:sp>
        <p:nvSpPr>
          <p:cNvPr id="23" name="Highlight 2"/>
          <p:cNvSpPr/>
          <p:nvPr/>
        </p:nvSpPr>
        <p:spPr>
          <a:xfrm>
            <a:off x="4937760" y="3465575"/>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Helper 2"/>
          <p:cNvSpPr/>
          <p:nvPr/>
        </p:nvSpPr>
        <p:spPr>
          <a:xfrm>
            <a:off x="4937760" y="3419856"/>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There is one bathroom.</a:t>
            </a:r>
          </a:p>
        </p:txBody>
      </p:sp>
      <p:sp>
        <p:nvSpPr>
          <p:cNvPr id="27" name="Answer bg 2"/>
          <p:cNvSpPr/>
          <p:nvPr/>
        </p:nvSpPr>
        <p:spPr>
          <a:xfrm>
            <a:off x="8001000" y="3419856"/>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001000" y="3419856"/>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Yes</a:t>
            </a:r>
          </a:p>
        </p:txBody>
      </p:sp>
      <p:sp>
        <p:nvSpPr>
          <p:cNvPr id="132" name="Highlight 3"/>
          <p:cNvSpPr/>
          <p:nvPr/>
        </p:nvSpPr>
        <p:spPr>
          <a:xfrm>
            <a:off x="4937760" y="4233672"/>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42" name="Helper 3"/>
          <p:cNvSpPr/>
          <p:nvPr/>
        </p:nvSpPr>
        <p:spPr>
          <a:xfrm>
            <a:off x="4937760" y="4187952"/>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How many bedrooms?</a:t>
            </a:r>
          </a:p>
        </p:txBody>
      </p:sp>
      <p:sp>
        <p:nvSpPr>
          <p:cNvPr id="162" name="Answer bg 3"/>
          <p:cNvSpPr/>
          <p:nvPr/>
        </p:nvSpPr>
        <p:spPr>
          <a:xfrm>
            <a:off x="8001000" y="4187952"/>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72" name="Answer 3"/>
          <p:cNvSpPr/>
          <p:nvPr/>
        </p:nvSpPr>
        <p:spPr>
          <a:xfrm>
            <a:off x="8001000" y="4187952"/>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There are two.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4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4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2"/>
                                        </p:tgtEl>
                                        <p:attrNameLst>
                                          <p:attrName>style.visibility</p:attrName>
                                        </p:attrNameLst>
                                      </p:cBhvr>
                                      <p:to>
                                        <p:strVal val="visible"/>
                                      </p:to>
                                    </p:set>
                                    <p:animEffect transition="in" filter="fade">
                                      <p:cBhvr>
                                        <p:cTn id="23" dur="400"/>
                                        <p:tgtEl>
                                          <p:spTgt spid="162"/>
                                        </p:tgtEl>
                                      </p:cBhvr>
                                    </p:animEffect>
                                  </p:childTnLst>
                                </p:cTn>
                              </p:par>
                              <p:par>
                                <p:cTn id="24" presetID="10" presetClass="entr" presetSubtype="0" fill="hold" nodeType="withEffect">
                                  <p:stCondLst>
                                    <p:cond delay="0"/>
                                  </p:stCondLst>
                                  <p:childTnLst>
                                    <p:set>
                                      <p:cBhvr>
                                        <p:cTn id="25" dur="1" fill="hold">
                                          <p:stCondLst>
                                            <p:cond delay="0"/>
                                          </p:stCondLst>
                                        </p:cTn>
                                        <p:tgtEl>
                                          <p:spTgt spid="172"/>
                                        </p:tgtEl>
                                        <p:attrNameLst>
                                          <p:attrName>style.visibility</p:attrName>
                                        </p:attrNameLst>
                                      </p:cBhvr>
                                      <p:to>
                                        <p:strVal val="visible"/>
                                      </p:to>
                                    </p:set>
                                    <p:animEffect transition="in" filter="fade">
                                      <p:cBhvr>
                                        <p:cTn id="26" dur="4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62" name="I can"/>
          <p:cNvSpPr/>
          <p:nvPr/>
        </p:nvSpPr>
        <p:spPr>
          <a:xfrm>
            <a:off x="8503920" y="1234440"/>
            <a:ext cx="3291840" cy="17373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200" dirty="0"/>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2200" dirty="0"/>
          </a:p>
          <a:p>
            <a:pPr algn="ctr" indent="0" marL="0">
              <a:buNone/>
            </a:pPr>
            <a:r>
              <a:rPr lang="en-US" sz="2000" dirty="0" b="0">
                <a:solidFill>
                  <a:srgbClr val="1B2236"/>
                </a:solidFill>
                <a:latin typeface="Lexend Deca" pitchFamily="34" charset="0"/>
                <a:ea typeface="Lexend Deca" pitchFamily="34" charset="-122"/>
                <a:cs typeface="Lexend Deca" pitchFamily="34" charset="-120"/>
              </a:rPr>
              <a:t>Check one face.</a:t>
            </a:r>
            <a:endParaRPr lang="en-US" sz="2200" dirty="0"/>
          </a:p>
        </p:txBody>
      </p:sp>
      <p:sp>
        <p:nvSpPr>
          <p:cNvPr id="5" name="Shape 3"/>
          <p:cNvSpPr/>
          <p:nvPr/>
        </p:nvSpPr>
        <p:spPr>
          <a:xfrm flipH="1">
            <a:off x="501091" y="3255264"/>
            <a:ext cx="4000500" cy="3258921"/>
          </a:xfrm>
          <a:prstGeom prst="round1Rect">
            <a:avLst>
              <a:gd name="adj" fmla="val 23087"/>
            </a:avLst>
          </a:prstGeom>
          <a:solidFill>
            <a:srgbClr val="8FAFE3"/>
          </a:solidFill>
          <a:ln/>
        </p:spPr>
        <p:txBody>
          <a:bodyPr/>
          <a:p/>
        </p:txBody>
      </p:sp>
      <p:sp>
        <p:nvSpPr>
          <p:cNvPr id="6" name="Shape 4"/>
          <p:cNvSpPr/>
          <p:nvPr/>
        </p:nvSpPr>
        <p:spPr>
          <a:xfrm flipH="1">
            <a:off x="4845406" y="3263494"/>
            <a:ext cx="586039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4068165" cy="3258921"/>
          </a:xfrm>
          <a:prstGeom prst="round1Rect">
            <a:avLst>
              <a:gd name="adj" fmla="val 23087"/>
            </a:avLst>
          </a:prstGeom>
          <a:solidFill>
            <a:srgbClr val="FFFFFF"/>
          </a:solidFill>
          <a:ln/>
        </p:spPr>
        <p:txBody>
          <a:bodyPr/>
          <a:p/>
        </p:txBody>
      </p:sp>
      <p:sp>
        <p:nvSpPr>
          <p:cNvPr id="10" name="Shape 8"/>
          <p:cNvSpPr/>
          <p:nvPr/>
        </p:nvSpPr>
        <p:spPr>
          <a:xfrm flipH="1">
            <a:off x="4977079" y="3063240"/>
            <a:ext cx="5860390" cy="3258921"/>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a:t>
            </a:r>
            <a:r>
              <a:rPr lang="en-US" sz="2400" dirty="0" b="1">
                <a:solidFill>
                  <a:srgbClr val="5B3FC4"/>
                </a:solidFill>
                <a:latin typeface="Lexend Deca" pitchFamily="34" charset="0"/>
                <a:ea typeface="Lexend Deca" pitchFamily="34" charset="-122"/>
                <a:cs typeface="Lexend Deca" pitchFamily="34" charset="-120"/>
              </a:rPr>
              <a:t>   7:25</a:t>
            </a:r>
            <a:endParaRPr lang="en-US" sz="4300" dirty="0"/>
          </a:p>
        </p:txBody>
      </p:sp>
      <p:sp>
        <p:nvSpPr>
          <p:cNvPr id="22" name="Dont head"/>
          <p:cNvSpPr/>
          <p:nvPr/>
        </p:nvSpPr>
        <p:spPr>
          <a:xfrm>
            <a:off x="914400" y="3246120"/>
            <a:ext cx="310896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B. Match the question</a:t>
            </a:r>
          </a:p>
        </p:txBody>
      </p:sp>
      <p:sp>
        <p:nvSpPr>
          <p:cNvPr id="23" name="Say head"/>
          <p:cNvSpPr/>
          <p:nvPr/>
        </p:nvSpPr>
        <p:spPr>
          <a:xfrm>
            <a:off x="5257800" y="3246120"/>
            <a:ext cx="48463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Answer</a:t>
            </a:r>
            <a:endParaRPr lang="en-US" sz="2200" dirty="0"/>
          </a:p>
        </p:txBody>
      </p:sp>
      <p:sp>
        <p:nvSpPr>
          <p:cNvPr id="24" name="Bad 1"/>
          <p:cNvSpPr/>
          <p:nvPr/>
        </p:nvSpPr>
        <p:spPr>
          <a:xfrm>
            <a:off x="914400" y="3840480"/>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Is there a bed?</a:t>
            </a:r>
          </a:p>
        </p:txBody>
      </p:sp>
      <p:sp>
        <p:nvSpPr>
          <p:cNvPr id="25" name="Good 1"/>
          <p:cNvSpPr/>
          <p:nvPr/>
        </p:nvSpPr>
        <p:spPr>
          <a:xfrm>
            <a:off x="5257800" y="3840480"/>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 Yes, there is.</a:t>
            </a:r>
          </a:p>
        </p:txBody>
      </p:sp>
      <p:sp>
        <p:nvSpPr>
          <p:cNvPr id="26" name="Bad 2"/>
          <p:cNvSpPr/>
          <p:nvPr/>
        </p:nvSpPr>
        <p:spPr>
          <a:xfrm>
            <a:off x="914400" y="4407408"/>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Are there chairs?</a:t>
            </a:r>
          </a:p>
        </p:txBody>
      </p:sp>
      <p:sp>
        <p:nvSpPr>
          <p:cNvPr id="27" name="Good 2"/>
          <p:cNvSpPr/>
          <p:nvPr/>
        </p:nvSpPr>
        <p:spPr>
          <a:xfrm>
            <a:off x="5257800" y="4407408"/>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c. Yes, there are.</a:t>
            </a:r>
          </a:p>
        </p:txBody>
      </p:sp>
      <p:sp>
        <p:nvSpPr>
          <p:cNvPr id="28" name="Bad 3"/>
          <p:cNvSpPr/>
          <p:nvPr/>
        </p:nvSpPr>
        <p:spPr>
          <a:xfrm>
            <a:off x="914400" y="4974336"/>
            <a:ext cx="3931920" cy="548640"/>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3. How many bedrooms are there?</a:t>
            </a:r>
          </a:p>
        </p:txBody>
      </p:sp>
      <p:sp>
        <p:nvSpPr>
          <p:cNvPr id="29" name="Good 3"/>
          <p:cNvSpPr/>
          <p:nvPr/>
        </p:nvSpPr>
        <p:spPr>
          <a:xfrm>
            <a:off x="5257800" y="4974336"/>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 There are two.</a:t>
            </a:r>
          </a:p>
        </p:txBody>
      </p:sp>
      <p:sp>
        <p:nvSpPr>
          <p:cNvPr id="60" name="Bad 4"/>
          <p:cNvSpPr/>
          <p:nvPr/>
        </p:nvSpPr>
        <p:spPr>
          <a:xfrm>
            <a:off x="914400" y="5541264"/>
            <a:ext cx="3931920" cy="548640"/>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4. Is there a washing machine?</a:t>
            </a:r>
          </a:p>
        </p:txBody>
      </p:sp>
      <p:sp>
        <p:nvSpPr>
          <p:cNvPr id="61" name="Good 4"/>
          <p:cNvSpPr/>
          <p:nvPr/>
        </p:nvSpPr>
        <p:spPr>
          <a:xfrm>
            <a:off x="5257800" y="5541264"/>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d. No, there isn't.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Apartment picture" descr="apartment">    </p:cNvPr>
          <p:cNvPicPr>
            <a:picLocks noChangeAspect="1"/>
          </p:cNvPicPr>
          <p:nvPr/>
        </p:nvPicPr>
        <p:blipFill>
          <a:blip r:embed="rIdImg1"/>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10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Great Work! See You Next Week!</a:t>
            </a:r>
            <a:endParaRPr lang="en-US" sz="5000" dirty="0"/>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Say: There is a kitchen.</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Ask: Is there a sofa? Are there windows?</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Ask: How many bedrooms are there?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C9B8F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ext 5"/>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Twemoji credit"/>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1500" dirty="0" b="1">
                <a:solidFill>
                  <a:srgbClr val="5B3FC4"/>
                </a:solidFill>
                <a:latin typeface="Lexend Deca" pitchFamily="34" charset="0"/>
                <a:ea typeface="Lexend Deca" pitchFamily="34" charset="-122"/>
                <a:cs typeface="Lexend Deca" pitchFamily="34" charset="-120"/>
              </a:rPr>
              <a:t>Pictures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Pictures use Twemoji graphics by Twitter, Inc. and other contributors (https://github.com/jdecked/twemoji), licensed under CC BY 4.0 (https://creativecommons.org/licenses/by/4.0/). The graphics were resized and combined, and labels were added. The floor plan and the apartment ad are drawn in code. Labels on the pictures use the DejaVu Sans font. The review picture (the birthday cake) is from Lesson 9.</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Other small pictures (the faces on the Progress Check) are standard emoji characters shown with the computer's emoji font.</a:t>
            </a:r>
          </a:p>
        </p:txBody>
      </p:sp>
      <p:sp>
        <p:nvSpPr>
          <p:cNvPr id="16" name="Deck license"/>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All names, places, prices, and phone numbers on the slides (Rosa, Green Street Apartments, the ad) are invented.</a:t>
            </a:r>
          </a:p>
        </p:txBody>
      </p:sp>
      <p:sp>
        <p:nvSpPr>
          <p:cNvPr id="17" name="AudioFontCredits"/>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(Narrator, Agent, Rosa) made with Chatterbox TTS (Resemble AI, MIT License), copied from short reference clips made with Kokoro-82M (Apache 2.0); no recordings of real people were used. Each file carries an inaudible Perth watermark. Font: Lexend Deca (OFL 1.1).</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42" name="Shape 4"/>
          <p:cNvSpPr/>
          <p:nvPr/>
        </p:nvSpPr>
        <p:spPr>
          <a:xfrm>
            <a:off x="1583741" y="5541264"/>
            <a:ext cx="5130698" cy="713232"/>
          </a:xfrm>
          <a:prstGeom prst="round1Rect">
            <a:avLst>
              <a:gd name="adj" fmla="val 23087"/>
            </a:avLst>
          </a:prstGeom>
          <a:solidFill>
            <a:srgbClr val="FFFFFF"/>
          </a:solidFill>
          <a:ln/>
        </p:spPr>
        <p:txBody>
          <a:bodyPr/>
          <a:p/>
        </p:txBody>
      </p:sp>
      <p:sp>
        <p:nvSpPr>
          <p:cNvPr id="37" name="Shape 4"/>
          <p:cNvSpPr/>
          <p:nvPr/>
        </p:nvSpPr>
        <p:spPr>
          <a:xfrm>
            <a:off x="1583741" y="4754880"/>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Listen. Check what it has.</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Rosa calls about an apartment.</a:t>
            </a:r>
          </a:p>
        </p:txBody>
      </p:sp>
      <p:sp>
        <p:nvSpPr>
          <p:cNvPr id="11" name="Text 9"/>
          <p:cNvSpPr/>
          <p:nvPr/>
        </p:nvSpPr>
        <p:spPr>
          <a:xfrm>
            <a:off x="1810512" y="2395728"/>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two bedrooms</a:t>
            </a:r>
          </a:p>
        </p:txBody>
      </p:sp>
      <p:sp>
        <p:nvSpPr>
          <p:cNvPr id="13" name="Text 11"/>
          <p:cNvSpPr/>
          <p:nvPr/>
        </p:nvSpPr>
        <p:spPr>
          <a:xfrm>
            <a:off x="1810512" y="3182112"/>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washing machine</a:t>
            </a:r>
          </a:p>
        </p:txBody>
      </p:sp>
      <p:sp>
        <p:nvSpPr>
          <p:cNvPr id="15" name="Text 13"/>
          <p:cNvSpPr/>
          <p:nvPr/>
        </p:nvSpPr>
        <p:spPr>
          <a:xfrm>
            <a:off x="1810512" y="3968496"/>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refrigerator</a:t>
            </a:r>
          </a:p>
        </p:txBody>
      </p:sp>
      <p:sp>
        <p:nvSpPr>
          <p:cNvPr id="43" name="Text 13"/>
          <p:cNvSpPr/>
          <p:nvPr/>
        </p:nvSpPr>
        <p:spPr>
          <a:xfrm>
            <a:off x="1810512" y="5541264"/>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big living room</a:t>
            </a:r>
          </a:p>
        </p:txBody>
      </p:sp>
      <p:sp>
        <p:nvSpPr>
          <p:cNvPr id="38" name="Text 13"/>
          <p:cNvSpPr/>
          <p:nvPr/>
        </p:nvSpPr>
        <p:spPr>
          <a:xfrm>
            <a:off x="1810512" y="4754880"/>
            <a:ext cx="3108960"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windows in the kitchen</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44" name="Shape 23"/>
          <p:cNvSpPr/>
          <p:nvPr/>
        </p:nvSpPr>
        <p:spPr>
          <a:xfrm>
            <a:off x="544982" y="5541264"/>
            <a:ext cx="1039673" cy="713232"/>
          </a:xfrm>
          <a:prstGeom prst="rect">
            <a:avLst/>
          </a:prstGeom>
          <a:solidFill>
            <a:srgbClr val="B9D2F7"/>
          </a:solidFill>
          <a:ln/>
        </p:spPr>
        <p:txBody>
          <a:bodyPr/>
          <a:p/>
        </p:txBody>
      </p:sp>
      <p:sp>
        <p:nvSpPr>
          <p:cNvPr id="39" name="Shape 23"/>
          <p:cNvSpPr/>
          <p:nvPr/>
        </p:nvSpPr>
        <p:spPr>
          <a:xfrm>
            <a:off x="544982" y="4754880"/>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45" name="Text 24"/>
          <p:cNvSpPr/>
          <p:nvPr/>
        </p:nvSpPr>
        <p:spPr>
          <a:xfrm>
            <a:off x="686714" y="56052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a:p>
        </p:txBody>
      </p:sp>
      <p:sp>
        <p:nvSpPr>
          <p:cNvPr id="40" name="Text 24"/>
          <p:cNvSpPr/>
          <p:nvPr/>
        </p:nvSpPr>
        <p:spPr>
          <a:xfrm>
            <a:off x="686714" y="481888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Check ✓: </a:t>
            </a:r>
            <a:r>
              <a:rPr lang="en-US" sz="2000" dirty="0" b="1">
                <a:solidFill>
                  <a:srgbClr val="5B3FC4"/>
                </a:solidFill>
                <a:latin typeface="Lexend Deca" pitchFamily="34" charset="0"/>
                <a:ea typeface="Lexend Deca" pitchFamily="34" charset="-122"/>
                <a:cs typeface="Lexend Deca" pitchFamily="34" charset="-120"/>
              </a:rPr>
              <a:t>what is there?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4983480" y="2523744"/>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 yes</a:t>
            </a:r>
          </a:p>
        </p:txBody>
      </p:sp>
      <p:sp>
        <p:nvSpPr>
          <p:cNvPr id="35" name="Answer 2"/>
          <p:cNvSpPr/>
          <p:nvPr/>
        </p:nvSpPr>
        <p:spPr>
          <a:xfrm>
            <a:off x="4983480" y="3310128"/>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 no</a:t>
            </a:r>
          </a:p>
        </p:txBody>
      </p:sp>
      <p:sp>
        <p:nvSpPr>
          <p:cNvPr id="36" name="Answer 3"/>
          <p:cNvSpPr/>
          <p:nvPr/>
        </p:nvSpPr>
        <p:spPr>
          <a:xfrm>
            <a:off x="4983480" y="4096511"/>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 yes</a:t>
            </a:r>
          </a:p>
        </p:txBody>
      </p:sp>
      <p:sp>
        <p:nvSpPr>
          <p:cNvPr id="46" name="Answer 3"/>
          <p:cNvSpPr/>
          <p:nvPr/>
        </p:nvSpPr>
        <p:spPr>
          <a:xfrm>
            <a:off x="4983480" y="5669279"/>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 yes</a:t>
            </a:r>
          </a:p>
        </p:txBody>
      </p:sp>
      <p:sp>
        <p:nvSpPr>
          <p:cNvPr id="41" name="Answer 3"/>
          <p:cNvSpPr/>
          <p:nvPr/>
        </p:nvSpPr>
        <p:spPr>
          <a:xfrm>
            <a:off x="4983480" y="4882895"/>
            <a:ext cx="16916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 yes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4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3400" dirty="0" b="1">
                <a:solidFill>
                  <a:srgbClr val="1B2236"/>
                </a:solidFill>
                <a:latin typeface="Lexend Deca" pitchFamily="34" charset="0"/>
                <a:ea typeface="Lexend Deca" pitchFamily="34" charset="-122"/>
                <a:cs typeface="Lexend Deca" pitchFamily="34" charset="-120"/>
              </a:rPr>
              <a:t>Dream Home</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TALK TIME  ·  PART 2</a:t>
            </a:r>
          </a:p>
        </p:txBody>
      </p:sp>
      <p:sp>
        <p:nvSpPr>
          <p:cNvPr id="9" name="Text 7"/>
          <p:cNvSpPr/>
          <p:nvPr/>
        </p:nvSpPr>
        <p:spPr>
          <a:xfrm>
            <a:off x="599846" y="3017520"/>
            <a:ext cx="4114800" cy="868680"/>
          </a:xfrm>
          <a:prstGeom prst="rect">
            <a:avLst/>
          </a:prstGeom>
          <a:noFill/>
          <a:ln/>
        </p:spPr>
        <p:txBody>
          <a:bodyPr wrap="square" lIns="0" tIns="0" rIns="0" bIns="0" rtlCol="0" anchor="t"/>
          <a:lstStyle/>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Say 3 sentences.</a:t>
            </a:r>
          </a:p>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Then switch.</a:t>
            </a:r>
          </a:p>
        </p:txBody>
      </p:sp>
      <p:sp>
        <p:nvSpPr>
          <p:cNvPr id="13" name="Model A"/>
          <p:cNvSpPr/>
          <p:nvPr/>
        </p:nvSpPr>
        <p:spPr>
          <a:xfrm>
            <a:off x="599846" y="3931920"/>
            <a:ext cx="4754880" cy="7315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There is a kitchen.</a:t>
            </a:r>
          </a:p>
        </p:txBody>
      </p:sp>
      <p:sp>
        <p:nvSpPr>
          <p:cNvPr id="14" name="Model B"/>
          <p:cNvSpPr/>
          <p:nvPr/>
        </p:nvSpPr>
        <p:spPr>
          <a:xfrm>
            <a:off x="599846" y="4709160"/>
            <a:ext cx="4754880" cy="54864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There are two bedrooms.</a:t>
            </a:r>
          </a:p>
        </p:txBody>
      </p:sp>
      <p:sp>
        <p:nvSpPr>
          <p:cNvPr id="139" name="List shadow"/>
          <p:cNvSpPr/>
          <p:nvPr/>
        </p:nvSpPr>
        <p:spPr>
          <a:xfrm>
            <a:off x="6053328" y="1298448"/>
            <a:ext cx="5760720" cy="3154680"/>
          </a:xfrm>
          <a:prstGeom prst="roundRect">
            <a:avLst>
              <a:gd name="adj" fmla="val 16667"/>
            </a:avLst>
          </a:prstGeom>
          <a:solidFill>
            <a:srgbClr val="8FAFE3"/>
          </a:solidFill>
          <a:ln/>
        </p:spPr>
        <p:txBody>
          <a:bodyPr/>
          <a:p/>
        </p:txBody>
      </p:sp>
      <p:sp>
        <p:nvSpPr>
          <p:cNvPr id="140" name="List card"/>
          <p:cNvSpPr/>
          <p:nvPr/>
        </p:nvSpPr>
        <p:spPr>
          <a:xfrm>
            <a:off x="5989320" y="1234440"/>
            <a:ext cx="5760720" cy="3154680"/>
          </a:xfrm>
          <a:prstGeom prst="roundRect">
            <a:avLst>
              <a:gd name="adj" fmla="val 16667"/>
            </a:avLst>
          </a:prstGeom>
          <a:solidFill>
            <a:srgbClr val="FFFFFF"/>
          </a:solidFill>
          <a:ln/>
        </p:spPr>
        <p:txBody>
          <a:bodyPr/>
          <a:p/>
        </p:txBody>
      </p:sp>
      <p:sp>
        <p:nvSpPr>
          <p:cNvPr id="141" name="Question list"/>
          <p:cNvSpPr/>
          <p:nvPr/>
        </p:nvSpPr>
        <p:spPr>
          <a:xfrm>
            <a:off x="6263640" y="1463040"/>
            <a:ext cx="5303520" cy="2834640"/>
          </a:xfrm>
          <a:prstGeom prst="rect">
            <a:avLst/>
          </a:prstGeom>
          <a:noFill/>
          <a:ln/>
        </p:spPr>
        <p:txBody>
          <a:bodyPr wrap="square" lIns="0" tIns="0" rIns="0" bIns="0" rtlCol="0" anchor="t"/>
          <a:lstStyle/>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You say:</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There is ___.</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There are ___.</a:t>
            </a:r>
          </a:p>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Partner asks:</a:t>
            </a:r>
            <a:r>
              <a:rPr lang="en-US" sz="2200" dirty="0" b="0">
                <a:solidFill>
                  <a:srgbClr val="1B2236"/>
                </a:solidFill>
                <a:latin typeface="Lexend Deca" pitchFamily="34" charset="0"/>
                <a:ea typeface="Lexend Deca" pitchFamily="34" charset="-122"/>
                <a:cs typeface="Lexend Deca" pitchFamily="34" charset="-120"/>
              </a:rPr>
              <a:t> Is there ___?</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How many ___ </a:t>
            </a:r>
            <a:r>
              <a:rPr lang="en-US" sz="2200" dirty="0" b="1">
                <a:solidFill>
                  <a:srgbClr val="5B3FC4"/>
                </a:solidFill>
                <a:latin typeface="Lexend Deca" pitchFamily="34" charset="0"/>
                <a:ea typeface="Lexend Deca" pitchFamily="34" charset="-122"/>
                <a:cs typeface="Lexend Deca" pitchFamily="34" charset="-120"/>
              </a:rPr>
              <a:t>are there?</a:t>
            </a:r>
          </a:p>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Then:</a:t>
            </a:r>
            <a:r>
              <a:rPr lang="en-US" sz="2200" dirty="0" b="0">
                <a:solidFill>
                  <a:srgbClr val="1B2236"/>
                </a:solidFill>
                <a:latin typeface="Lexend Deca" pitchFamily="34" charset="0"/>
                <a:ea typeface="Lexend Deca" pitchFamily="34" charset="-122"/>
                <a:cs typeface="Lexend Deca" pitchFamily="34" charset="-120"/>
              </a:rPr>
              <a:t> switch.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7" name="Shape 5"/>
          <p:cNvSpPr/>
          <p:nvPr/>
        </p:nvSpPr>
        <p:spPr>
          <a:xfrm>
            <a:off x="1583741" y="4754880"/>
            <a:ext cx="5130698" cy="713232"/>
          </a:xfrm>
          <a:prstGeom prst="round1Rect">
            <a:avLst>
              <a:gd name="adj" fmla="val 23087"/>
            </a:avLst>
          </a:prstGeom>
          <a:solidFill>
            <a:srgbClr val="FFFFFF"/>
          </a:solidFill>
          <a:ln/>
        </p:spPr>
        <p:txBody>
          <a:bodyPr/>
          <a:p/>
        </p:txBody>
      </p:sp>
      <p:sp>
        <p:nvSpPr>
          <p:cNvPr id="50" name="Row card 5"/>
          <p:cNvSpPr/>
          <p:nvPr/>
        </p:nvSpPr>
        <p:spPr>
          <a:xfrm>
            <a:off x="1583741" y="5541264"/>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Write is, are, Is, or Are.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Look at Grammar Boxes 1–4.</a:t>
            </a:r>
          </a:p>
        </p:txBody>
      </p:sp>
      <p:sp>
        <p:nvSpPr>
          <p:cNvPr id="11" name="Text 9"/>
          <p:cNvSpPr/>
          <p:nvPr/>
        </p:nvSpPr>
        <p:spPr>
          <a:xfrm>
            <a:off x="1810512" y="2395728"/>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There ____ a table.</a:t>
            </a:r>
          </a:p>
        </p:txBody>
      </p:sp>
      <p:sp>
        <p:nvSpPr>
          <p:cNvPr id="13" name="Text 11"/>
          <p:cNvSpPr/>
          <p:nvPr/>
        </p:nvSpPr>
        <p:spPr>
          <a:xfrm>
            <a:off x="1810512" y="3182112"/>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There ____ two chairs.</a:t>
            </a:r>
          </a:p>
        </p:txBody>
      </p:sp>
      <p:sp>
        <p:nvSpPr>
          <p:cNvPr id="15" name="Text 13"/>
          <p:cNvSpPr/>
          <p:nvPr/>
        </p:nvSpPr>
        <p:spPr>
          <a:xfrm>
            <a:off x="1810512" y="3968496"/>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there a sofa?</a:t>
            </a:r>
          </a:p>
        </p:txBody>
      </p:sp>
      <p:sp>
        <p:nvSpPr>
          <p:cNvPr id="17" name="Text 15"/>
          <p:cNvSpPr/>
          <p:nvPr/>
        </p:nvSpPr>
        <p:spPr>
          <a:xfrm>
            <a:off x="1810512" y="4754880"/>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____ there windows?</a:t>
            </a:r>
          </a:p>
        </p:txBody>
      </p:sp>
      <p:sp>
        <p:nvSpPr>
          <p:cNvPr id="51" name="Row text 5"/>
          <p:cNvSpPr/>
          <p:nvPr/>
        </p:nvSpPr>
        <p:spPr>
          <a:xfrm>
            <a:off x="1810512" y="5541264"/>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many bedrooms</a:t>
            </a:r>
          </a:p>
          <a:p>
            <a:pPr algn="l" indent="0" marL="0">
              <a:buNone/>
            </a:pPr>
            <a:r>
              <a:rPr lang="en-US" sz="1800" dirty="0">
                <a:solidFill>
                  <a:srgbClr val="1B2236"/>
                </a:solidFill>
                <a:latin typeface="Lexend Deca" pitchFamily="34" charset="0"/>
                <a:ea typeface="Lexend Deca" pitchFamily="34" charset="-122"/>
                <a:cs typeface="Lexend Deca" pitchFamily="34" charset="-120"/>
              </a:rPr>
              <a:t>____ there?</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7" name="Shape 25"/>
          <p:cNvSpPr/>
          <p:nvPr/>
        </p:nvSpPr>
        <p:spPr>
          <a:xfrm>
            <a:off x="544982" y="4754880"/>
            <a:ext cx="1039673" cy="713232"/>
          </a:xfrm>
          <a:prstGeom prst="rect">
            <a:avLst/>
          </a:prstGeom>
          <a:solidFill>
            <a:srgbClr val="B9D2F7"/>
          </a:solidFill>
          <a:ln/>
        </p:spPr>
        <p:txBody>
          <a:bodyPr/>
          <a:p/>
        </p:txBody>
      </p:sp>
      <p:sp>
        <p:nvSpPr>
          <p:cNvPr id="28" name="Text 26"/>
          <p:cNvSpPr/>
          <p:nvPr/>
        </p:nvSpPr>
        <p:spPr>
          <a:xfrm>
            <a:off x="686714" y="481888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52" name="Row chip 5"/>
          <p:cNvSpPr/>
          <p:nvPr/>
        </p:nvSpPr>
        <p:spPr>
          <a:xfrm>
            <a:off x="544982" y="5541264"/>
            <a:ext cx="1039673" cy="713232"/>
          </a:xfrm>
          <a:prstGeom prst="rect">
            <a:avLst/>
          </a:prstGeom>
          <a:solidFill>
            <a:srgbClr val="B9D2F7"/>
          </a:solidFill>
          <a:ln/>
        </p:spPr>
        <p:txBody>
          <a:bodyPr/>
          <a:p/>
        </p:txBody>
      </p:sp>
      <p:sp>
        <p:nvSpPr>
          <p:cNvPr id="53" name="Row number 5"/>
          <p:cNvSpPr/>
          <p:nvPr/>
        </p:nvSpPr>
        <p:spPr>
          <a:xfrm>
            <a:off x="686714" y="56052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is, are, Is, Are?</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one: </a:t>
            </a:r>
            <a:r>
              <a:rPr lang="en-US" sz="2000" dirty="0" b="1">
                <a:solidFill>
                  <a:srgbClr val="5B3FC4"/>
                </a:solidFill>
                <a:latin typeface="Lexend Deca" pitchFamily="34" charset="0"/>
                <a:ea typeface="Lexend Deca" pitchFamily="34" charset="-122"/>
                <a:cs typeface="Lexend Deca" pitchFamily="34" charset="-120"/>
              </a:rPr>
              <a:t>is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two or more: </a:t>
            </a:r>
            <a:r>
              <a:rPr lang="en-US" sz="2000" dirty="0" b="1">
                <a:solidFill>
                  <a:srgbClr val="5B3FC4"/>
                </a:solidFill>
                <a:latin typeface="Lexend Deca" pitchFamily="34" charset="0"/>
                <a:ea typeface="Lexend Deca" pitchFamily="34" charset="-122"/>
                <a:cs typeface="Lexend Deca" pitchFamily="34" charset="-120"/>
              </a:rPr>
              <a:t>are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check your answers.</a:t>
            </a:r>
          </a:p>
        </p:txBody>
      </p:sp>
      <p:sp>
        <p:nvSpPr>
          <p:cNvPr id="34" name="Answer 1"/>
          <p:cNvSpPr/>
          <p:nvPr/>
        </p:nvSpPr>
        <p:spPr>
          <a:xfrm>
            <a:off x="5486400" y="2523744"/>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is</a:t>
            </a:r>
          </a:p>
        </p:txBody>
      </p:sp>
      <p:sp>
        <p:nvSpPr>
          <p:cNvPr id="35" name="Answer 2"/>
          <p:cNvSpPr/>
          <p:nvPr/>
        </p:nvSpPr>
        <p:spPr>
          <a:xfrm>
            <a:off x="5486400" y="3310128"/>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are</a:t>
            </a:r>
          </a:p>
        </p:txBody>
      </p:sp>
      <p:sp>
        <p:nvSpPr>
          <p:cNvPr id="36" name="Answer 3"/>
          <p:cNvSpPr/>
          <p:nvPr/>
        </p:nvSpPr>
        <p:spPr>
          <a:xfrm>
            <a:off x="5486400" y="4096511"/>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Is</a:t>
            </a:r>
          </a:p>
        </p:txBody>
      </p:sp>
      <p:sp>
        <p:nvSpPr>
          <p:cNvPr id="37" name="Answer 4"/>
          <p:cNvSpPr/>
          <p:nvPr/>
        </p:nvSpPr>
        <p:spPr>
          <a:xfrm>
            <a:off x="5486400" y="4882896"/>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Are</a:t>
            </a:r>
          </a:p>
        </p:txBody>
      </p:sp>
      <p:sp>
        <p:nvSpPr>
          <p:cNvPr id="54" name="Answer 5"/>
          <p:cNvSpPr/>
          <p:nvPr/>
        </p:nvSpPr>
        <p:spPr>
          <a:xfrm>
            <a:off x="5486400" y="5669280"/>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Match. Draw a line.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Words in the ad.</a:t>
            </a:r>
          </a:p>
        </p:txBody>
      </p:sp>
      <p:sp>
        <p:nvSpPr>
          <p:cNvPr id="11" name="Text 9"/>
          <p:cNvSpPr/>
          <p:nvPr/>
        </p:nvSpPr>
        <p:spPr>
          <a:xfrm>
            <a:off x="1810512" y="2395728"/>
            <a:ext cx="2834640" cy="713232"/>
          </a:xfrm>
          <a:prstGeom prst="rect">
            <a:avLst/>
          </a:prstGeom>
          <a:noFill/>
          <a:ln/>
        </p:spPr>
        <p:txBody>
          <a:bodyPr wrap="square" rtlCol="0" anchor="ctr" tIns="0" bIns="0"/>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2 BR</a:t>
            </a:r>
          </a:p>
        </p:txBody>
      </p:sp>
      <p:sp>
        <p:nvSpPr>
          <p:cNvPr id="13" name="Text 11"/>
          <p:cNvSpPr/>
          <p:nvPr/>
        </p:nvSpPr>
        <p:spPr>
          <a:xfrm>
            <a:off x="1810512" y="3182112"/>
            <a:ext cx="2834640" cy="713232"/>
          </a:xfrm>
          <a:prstGeom prst="rect">
            <a:avLst/>
          </a:prstGeom>
          <a:noFill/>
          <a:ln/>
        </p:spPr>
        <p:txBody>
          <a:bodyPr wrap="square" rtlCol="0" anchor="ctr" tIns="0" bIns="0"/>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1 BA</a:t>
            </a:r>
          </a:p>
        </p:txBody>
      </p:sp>
      <p:sp>
        <p:nvSpPr>
          <p:cNvPr id="15" name="Text 13"/>
          <p:cNvSpPr/>
          <p:nvPr/>
        </p:nvSpPr>
        <p:spPr>
          <a:xfrm>
            <a:off x="1810512" y="3968496"/>
            <a:ext cx="2834640" cy="713232"/>
          </a:xfrm>
          <a:prstGeom prst="rect">
            <a:avLst/>
          </a:prstGeom>
          <a:noFill/>
          <a:ln/>
        </p:spPr>
        <p:txBody>
          <a:bodyPr wrap="square" rtlCol="0" anchor="ctr" tIns="0" bIns="0"/>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/mo</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Ad Words</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a. </a:t>
            </a:r>
            <a:r>
              <a:rPr lang="en-US" sz="2000" dirty="0" b="1">
                <a:solidFill>
                  <a:srgbClr val="5B3FC4"/>
                </a:solidFill>
                <a:latin typeface="Lexend Deca" pitchFamily="34" charset="0"/>
                <a:ea typeface="Lexend Deca" pitchFamily="34" charset="-122"/>
                <a:cs typeface="Lexend Deca" pitchFamily="34" charset="-120"/>
              </a:rPr>
              <a:t>bathroom</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b. </a:t>
            </a:r>
            <a:r>
              <a:rPr lang="en-US" sz="2000" dirty="0" b="1">
                <a:solidFill>
                  <a:srgbClr val="5B3FC4"/>
                </a:solidFill>
                <a:latin typeface="Lexend Deca" pitchFamily="34" charset="0"/>
                <a:ea typeface="Lexend Deca" pitchFamily="34" charset="-122"/>
                <a:cs typeface="Lexend Deca" pitchFamily="34" charset="-120"/>
              </a:rPr>
              <a:t>bedrooms</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c. </a:t>
            </a:r>
            <a:r>
              <a:rPr lang="en-US" sz="2000" dirty="0" b="1">
                <a:solidFill>
                  <a:srgbClr val="5B3FC4"/>
                </a:solidFill>
                <a:latin typeface="Lexend Deca" pitchFamily="34" charset="0"/>
                <a:ea typeface="Lexend Deca" pitchFamily="34" charset="-122"/>
                <a:cs typeface="Lexend Deca" pitchFamily="34" charset="-120"/>
              </a:rPr>
              <a:t>per month</a:t>
            </a:r>
          </a:p>
        </p:txBody>
      </p:sp>
      <p:sp>
        <p:nvSpPr>
          <p:cNvPr id="34" name="Answer 1"/>
          <p:cNvSpPr/>
          <p:nvPr/>
        </p:nvSpPr>
        <p:spPr>
          <a:xfrm>
            <a:off x="4754880" y="2523744"/>
            <a:ext cx="19202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 bedrooms</a:t>
            </a:r>
          </a:p>
        </p:txBody>
      </p:sp>
      <p:sp>
        <p:nvSpPr>
          <p:cNvPr id="35" name="Answer 2"/>
          <p:cNvSpPr/>
          <p:nvPr/>
        </p:nvSpPr>
        <p:spPr>
          <a:xfrm>
            <a:off x="4754880" y="3310128"/>
            <a:ext cx="19202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 bathroom</a:t>
            </a:r>
          </a:p>
        </p:txBody>
      </p:sp>
      <p:sp>
        <p:nvSpPr>
          <p:cNvPr id="36" name="Answer 3"/>
          <p:cNvSpPr/>
          <p:nvPr/>
        </p:nvSpPr>
        <p:spPr>
          <a:xfrm>
            <a:off x="4754880" y="4096512"/>
            <a:ext cx="19202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 per month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Lesson 7: How Much Is It?</dc:title>
  <dc:subject>Adult ESL Level 1, Lesson 7</dc:subject>
  <dc:creator>Level 1 ESL</dc:creator>
  <cp:lastModifiedBy>Level 1 ESL</cp:lastModifiedBy>
  <cp:revision>1</cp:revision>
  <dcterms:created xsi:type="dcterms:W3CDTF">2026-10-15T20:54:31Z</dcterms:created>
  <dcterms:modified xsi:type="dcterms:W3CDTF">2026-10-15T20:54:31Z</dcterms:modified>
</cp:coreProperties>
</file>