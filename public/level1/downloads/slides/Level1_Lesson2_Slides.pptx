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68" r:id="rId14"/>
    <p:sldId id="272" r:id="rId18"/>
    <p:sldId id="277" r:id="rId28"/>
    <p:sldId id="260" r:id="rId6"/>
    <p:sldId id="259" r:id="rId5"/>
    <p:sldId id="266" r:id="rId12"/>
    <p:sldId id="280" r:id="rId31"/>
    <p:sldId id="278" r:id="rId29"/>
    <p:sldId id="270" r:id="rId16"/>
    <p:sldId id="271" r:id="rId17"/>
    <p:sldId id="281" r:id="rId32"/>
    <p:sldId id="282" r:id="rId33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4" Type="http://schemas.openxmlformats.org/officeDocument/2006/relationships/slide" Target="slides/slide10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Smile and say: "Hello! Welcome back to English class."</a:t>
            </a:r>
          </a:p>
          <a:p>
            <a:r>
              <a:rPr lang="en-US"/>
              <a:t>Point to the title. Read it slowly: "Where are you from?" Learners repeat.</a:t>
            </a:r>
          </a:p>
          <a:p>
            <a:r>
              <a:rPr lang="en-US"/>
              <a:t>Point to yourself and say: "I'm from ___." (a real or practice place). Point to the map and the flags.</a:t>
            </a:r>
          </a:p>
          <a:p>
            <a:r>
              <a:rPr lang="en-US"/>
              <a:t>Read the three lines, one at a time. Learners repeat each one. Keep it short. Show and smile.</a:t>
            </a:r>
          </a:p>
          <a:p>
            <a:r>
              <a:rPr lang="en-US"/>
              <a:t>Source: Level1_Lesson2.md, Lesson 2 (Topic; At a glance: Objectives).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6:00-6:10 (10 minutes). Pairs, then new pairs. 15 learners: 7 pairs + 1 group of 3. 7-8 learners: 3-4 pairs. Late arrivals join any pair.</a:t>
            </a:r>
          </a:p>
          <a:p>
            <a:r>
              <a:rPr lang="en-US"/>
              <a:t>Before class: write on the board: What's your name? How do you spell it? How are you? Are you a student?</a:t>
            </a:r>
          </a:p>
          <a:p>
            <a:r>
              <a:rPr lang="en-US"/>
              <a:t>Model with one learner: "Hello! What's your name?" "Rosa." "How do you spell it?" "R-O-S-A." "How are you?" "I'm fine, thanks. And you?"</a:t>
            </a:r>
          </a:p>
          <a:p>
            <a:r>
              <a:rPr lang="en-US"/>
              <a:t>Click 1: A asks "How are you?" Click 2: B answers "I'm fine, thanks. And you?"</a:t>
            </a:r>
          </a:p>
          <a:p>
            <a:r>
              <a:rPr lang="en-US"/>
              <a:t>Do: pairs use the Hello + Review page. A asks the 4 questions (the last one is "Are you a student?" "Yes, I am."); B answers. Then switch. Then find a new partner and do it again.</a:t>
            </a:r>
          </a:p>
          <a:p>
            <a:r>
              <a:rPr lang="en-US"/>
              <a:t>Help phrases: "Can you repeat, please?" "I don't understand."</a:t>
            </a:r>
          </a:p>
          <a:p>
            <a:r>
              <a:rPr lang="en-US"/>
              <a:t>Homework check (last 3 minutes): partners show each other their Lesson 1 homework. Walk around and look. Collect any Lesson 1 Progress Checks that were not done.</a:t>
            </a:r>
          </a:p>
          <a:p>
            <a:r>
              <a:rPr lang="en-US"/>
              <a:t>New learners: give them a name tag and pair them with a strong partner.</a:t>
            </a:r>
          </a:p>
          <a:p>
            <a:r>
              <a:rPr lang="en-US"/>
              <a:t>If you are behind: one partner only.</a:t>
            </a:r>
          </a:p>
          <a:p>
            <a:r>
              <a:rPr lang="en-US"/>
              <a:t>Source: Level1_Lesson2.md, Lesson 2 (Step 1: Hello + Review; Student Pages: Hello + Review).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of Grammar Q&amp;A (6:32-6:45). Whole class.</a:t>
            </a:r>
          </a:p>
          <a:p>
            <a:r>
              <a:rPr lang="en-US"/>
              <a:t>Point left: "Question." Point right: "Answer." Read the question in row 1. Wait. Click to show the answers. Do row 2 the same way (2 clicks).</a:t>
            </a:r>
          </a:p>
          <a:p>
            <a:r>
              <a:rPr lang="en-US"/>
              <a:t>Ask about learners in the room: "Is Rosa from Mexico?" "No, she isn't. She's from Guatemala."</a:t>
            </a:r>
          </a:p>
          <a:p>
            <a:r>
              <a:rPr lang="en-US"/>
              <a:t>Stress the short answers: Yes, she IS. No, she ISN'T. Never "Yes, she's." ("No, she's not." is also correct; the page teaches "isn't".)</a:t>
            </a:r>
          </a:p>
          <a:p>
            <a:r>
              <a:rPr lang="en-US"/>
              <a:t>Check questions: "Is he from Mexico? No, he ___." (isn't)</a:t>
            </a:r>
          </a:p>
          <a:p>
            <a:r>
              <a:rPr lang="en-US"/>
              <a:t>Source: Level1_Lesson2.md, Lesson 2 (Step 4: Grammar Q&amp;A; Student Pages: Grammar Box 2; Teacher notes: Short answers).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6:32-6:45 for all of Grammar. Whole class, then pairs.</a:t>
            </a:r>
          </a:p>
          <a:p>
            <a:r>
              <a:rPr lang="en-US"/>
              <a:t>Point left: "Question." Point right: "Answer." The left side is the question. The right side is the answer.</a:t>
            </a:r>
          </a:p>
          <a:p>
            <a:r>
              <a:rPr lang="en-US"/>
              <a:t>Read a question. Wait. Click to show the answer. The class reads it. Do all 4 rows (4 clicks).</a:t>
            </a:r>
          </a:p>
          <a:p>
            <a:r>
              <a:rPr lang="en-US"/>
              <a:t>Then point to a learner: "Where is he from?" Class: "He's from..." Ask "Where are you from?" to 2-3 learners. Any country or city is OK.</a:t>
            </a:r>
          </a:p>
          <a:p>
            <a:r>
              <a:rPr lang="en-US"/>
              <a:t>Other answers on the page: "She's from Colombia." "San Salvador."</a:t>
            </a:r>
          </a:p>
          <a:p>
            <a:r>
              <a:rPr lang="en-US"/>
              <a:t>Source: Level1_Lesson2.md, Lesson 2 (Step 4: Grammar Q&amp;A; Student Pages: Grammar Box 1).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7:25-7:30 (5 minutes). Learners work alone. Open the Progress Check page.</a:t>
            </a:r>
          </a:p>
          <a:p>
            <a:r>
              <a:rPr lang="en-US"/>
              <a:t>Part A: read the 5 numbers slowly, 2 times each: 1 13, 2 6, 3 20, 4 11, 5 17. Learners circle.</a:t>
            </a:r>
          </a:p>
          <a:p>
            <a:r>
              <a:rPr lang="en-US"/>
              <a:t>Part B (this slide): learners match each question to an answer on their page. Then click once for each answer: 1 c, 2 d, 3 a, 4 b.</a:t>
            </a:r>
          </a:p>
          <a:p>
            <a:r>
              <a:rPr lang="en-US"/>
              <a:t>Part C: learners write am, is, or are (1 am, 2 is, 3 are).</a:t>
            </a:r>
          </a:p>
          <a:p>
            <a:r>
              <a:rPr lang="en-US"/>
              <a:t>Part D: read each "I can..." line aloud and point to the 3 faces: 😀 "I can do it." 🙂 "A little." 😐 "Not yet." Learners check one.</a:t>
            </a:r>
          </a:p>
          <a:p>
            <a:r>
              <a:rPr lang="en-US"/>
              <a:t>Score: A /5 + B /4 + C /3 = /12. This is not a test grade. It shows who needs help with numbers (Part A) and with am / is / are (Parts B and C). Collect the pages, or check them at the start of Week 3.</a:t>
            </a:r>
          </a:p>
          <a:p>
            <a:r>
              <a:rPr lang="en-US"/>
              <a:t>If you are behind: do the Progress Check in Week 3 at 6:00, while learners arrive.</a:t>
            </a:r>
          </a:p>
          <a:p>
            <a:r>
              <a:rPr lang="en-US"/>
              <a:t>Source: Level1_Lesson2.md, Lesson 2 (Progress Check step; Answer key: Progress Check Parts A-C, scoring; Student Pages: Progress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Quick check of the new words (about 2 minutes). Whole class.</a:t>
            </a:r>
          </a:p>
          <a:p>
            <a:r>
              <a:rPr lang="en-US"/>
              <a:t>Point to picture 1. Ask: "What's this?" Wait. Learners say the word. Then click to show it. Learners repeat 2 times.</a:t>
            </a:r>
          </a:p>
          <a:p>
            <a:r>
              <a:rPr lang="en-US"/>
              <a:t>Do the same with pictures 2 and 3. Answers: 1 Honduras, 2 she, 3 How old?</a:t>
            </a:r>
          </a:p>
          <a:p>
            <a:r>
              <a:rPr lang="en-US"/>
              <a:t>For 2, point to a woman in the room: "she." For 3, hold up fingers: "How old? 12."</a:t>
            </a:r>
          </a:p>
          <a:p>
            <a:r>
              <a:rPr lang="en-US"/>
              <a:t>Source: Level1_Lesson2.md, Lesson 2 (Key vocabulary; Step 2: New Words).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6:20-6:32 for all of Listening (Tasks A, B, C). Learners work alone, then check with a partner.</a:t>
            </a:r>
          </a:p>
          <a:p>
            <a:r>
              <a:rPr lang="en-US"/>
              <a:t>Before you listen (1 minute): say: "This is Rosa. This is Marco. They are new students. It's the break." Point to the flags on Task A: "Where are they from? Listen."</a:t>
            </a:r>
          </a:p>
          <a:p>
            <a:r>
              <a:rPr lang="en-US"/>
              <a:t>Click once for each listen: Listen 1 = Task A (where from?), Listen 2 = Task B (Yes or No), Listen 3 = Task C (how old?).</a:t>
            </a:r>
          </a:p>
          <a:p>
            <a:r>
              <a:rPr lang="en-US"/>
              <a:t>The audio (L1_L2_listening.mp3, about 1:17) plays the conversation once. Press play again for the next listen. No speaker? Read the script with a volunteer, slowly.</a:t>
            </a:r>
          </a:p>
          <a:p>
            <a:r>
              <a:rPr lang="en-US"/>
              <a:t>Say it (2 minutes, after Task C): read "Where are you from?" and "How old is he?" The class repeats each line 2 times. Then pairs ask and answer each other.</a:t>
            </a:r>
          </a:p>
          <a:p>
            <a:r>
              <a:rPr lang="en-US"/>
              <a:t>If you are behind: play the audio 2 times, not 3.</a:t>
            </a:r>
          </a:p>
          <a:p>
            <a:r>
              <a:rPr lang="en-US"/>
              <a:t>Source: Level1_Lesson2.md, Lesson 2 (Step 3: Listening + Say it; Listening script; Student Pages: Listening).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6:10-6:20 (10 minutes, with the next slide). Whole class, then pairs.</a:t>
            </a:r>
          </a:p>
          <a:p>
            <a:r>
              <a:rPr lang="en-US"/>
              <a:t>★ = the most important words. Teach these first.</a:t>
            </a:r>
          </a:p>
          <a:p>
            <a:r>
              <a:rPr lang="en-US"/>
              <a:t>Click once for each word. Point to the picture and say the word. Learners repeat 2 times.</a:t>
            </a:r>
          </a:p>
          <a:p>
            <a:r>
              <a:rPr lang="en-US"/>
              <a:t>Point to a country on the world map, then to the flag: "Mexico. This is a country."</a:t>
            </a:r>
          </a:p>
          <a:p>
            <a:r>
              <a:rPr lang="en-US"/>
              <a:t>country / city: "Mexico is a country. Guadalajara is a city." Then: "Honduras: country. Tegucigalpa: city."</a:t>
            </a:r>
          </a:p>
          <a:p>
            <a:r>
              <a:rPr lang="en-US"/>
              <a:t>Stress the strong part: MEX-i-co, gua-te-MA-la, hon-DU-ras, el SAL-va-dor.</a:t>
            </a:r>
          </a:p>
          <a:p>
            <a:r>
              <a:rPr lang="en-US"/>
              <a:t>Learners from other countries: write their country on the board and say it together. Every country is welcome.</a:t>
            </a:r>
          </a:p>
          <a:p>
            <a:r>
              <a:rPr lang="en-US"/>
              <a:t>If you are behind: teach the ★ words only.</a:t>
            </a:r>
          </a:p>
          <a:p>
            <a:r>
              <a:rPr lang="en-US"/>
              <a:t>Source: Level1_Lesson2.md, Lesson 2 (Key vocabulary; Step 2: New Words; Student Pages: New Words).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of Grammar Q&amp;A (6:32-6:45). Whole class.</a:t>
            </a:r>
          </a:p>
          <a:p>
            <a:r>
              <a:rPr lang="en-US"/>
              <a:t>Box 4: ask "How old are you?" Answer for yourself (a real or a practice age). Click 1: "I'm 35." Write I'm 35. on the board. Then write "I have 35 years" and draw a big X on it.</a:t>
            </a:r>
          </a:p>
          <a:p>
            <a:r>
              <a:rPr lang="en-US"/>
              <a:t>Read "How old is he?" Click 2: "He's 12." "She's 9." The class repeats.</a:t>
            </a:r>
          </a:p>
          <a:p>
            <a:r>
              <a:rPr lang="en-US"/>
              <a:t>Box 3 (2 minutes): point to the big words: I'm = I am. He's = He is. Read the long form; the class reads the short form. Write: I -&gt; am. he, she, it -&gt; is. you, we, they -&gt; are.</a:t>
            </a:r>
          </a:p>
          <a:p>
            <a:r>
              <a:rPr lang="en-US"/>
              <a:t>Other short forms on the page: you're, she's, it's, we're, they're; not: I'm not, he isn't, they aren't.</a:t>
            </a:r>
          </a:p>
          <a:p>
            <a:r>
              <a:rPr lang="en-US"/>
              <a:t>Age is optional. Say: "You can say a practice age."</a:t>
            </a:r>
          </a:p>
          <a:p>
            <a:r>
              <a:rPr lang="en-US"/>
              <a:t>Source: Level1_Lesson2.md, Lesson 2 (Step 4: Grammar Q&amp;A; Student Pages: Grammar Boxes 3 and 4; Questions and answers; Teacher notes).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once for each line. Read it slowly. Learners repeat.</a:t>
            </a:r>
          </a:p>
          <a:p>
            <a:r>
              <a:rPr lang="en-US"/>
              <a:t>1: Point to yourself: "I'm from Mexico. I'm from Guadalajara." (or your own place). Ask: "What city?"</a:t>
            </a:r>
          </a:p>
          <a:p>
            <a:r>
              <a:rPr lang="en-US"/>
              <a:t>2: Ask one learner: "Where are you from?" Wait for the answer.</a:t>
            </a:r>
          </a:p>
          <a:p>
            <a:r>
              <a:rPr lang="en-US"/>
              <a:t>3: Point to a learner: "Is he from Honduras?" Answer: "Yes, he is." or "No, he isn't."</a:t>
            </a:r>
          </a:p>
          <a:p>
            <a:r>
              <a:rPr lang="en-US"/>
              <a:t>4: Say: "I'm 35." (a real or practice age). Not "I have 35 years."</a:t>
            </a:r>
          </a:p>
          <a:p>
            <a:r>
              <a:rPr lang="en-US"/>
              <a:t>5: Point to the numbers 0-20 on the board.</a:t>
            </a:r>
          </a:p>
          <a:p>
            <a:r>
              <a:rPr lang="en-US"/>
              <a:t>Say: "At 7:25 we check. 'Not yet' is OK."</a:t>
            </a:r>
          </a:p>
          <a:p>
            <a:r>
              <a:rPr lang="en-US"/>
              <a:t>Source: Level1_Lesson2.md, Lesson 2 (At a glance: Objectives; Progress Check, Part 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 (Task A). Learners work alone, then check with a partner.</a:t>
            </a:r>
          </a:p>
          <a:p>
            <a:r>
              <a:rPr lang="en-US"/>
              <a:t>Point to the 4 flags and say: "a, Mexico. b, El Salvador. c, the United States. d, Honduras." Learners repeat.</a:t>
            </a:r>
          </a:p>
          <a:p>
            <a:r>
              <a:rPr lang="en-US"/>
              <a:t>Say: "Listen. Where are they from? Write the letter." Play the audio. Then: "Show your partner."</a:t>
            </a:r>
          </a:p>
          <a:p>
            <a:r>
              <a:rPr lang="en-US"/>
              <a:t>Click once for each answer (4 clicks): 1 Rosa b (El Salvador), 2 Marco a (Mexico), 3 Marco's friends d (Honduras), 4 the teacher c (the United States).</a:t>
            </a:r>
          </a:p>
          <a:p>
            <a:r>
              <a:rPr lang="en-US"/>
              <a:t>Script lines: Marco: "I'm from Mexico." Rosa: "I'm from El Salvador." Marco: "They're from Honduras." Marco: "She's from the United States."</a:t>
            </a:r>
          </a:p>
          <a:p>
            <a:r>
              <a:rPr lang="en-US"/>
              <a:t>Source: Level1_Lesson2.md, Lesson 2 (Step 3: Listening; Listening script; Answer key: Listening Task A; Student Pages: Listening A).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7:00-7:10 (10 minutes). Pairs, then groups of 3-4. 7-8 learners: pairs, then one group (the whole class).</a:t>
            </a:r>
          </a:p>
          <a:p>
            <a:r>
              <a:rPr lang="en-US"/>
              <a:t>Model with one learner: "Where are you from?" "Honduras." "What city?" "San Pedro Sula." Write it in the table on the board. Then turn to the class: "This is Marco. He's from Honduras. He's from San Pedro Sula."</a:t>
            </a:r>
          </a:p>
          <a:p>
            <a:r>
              <a:rPr lang="en-US"/>
              <a:t>Click once for each step.</a:t>
            </a:r>
          </a:p>
          <a:p>
            <a:r>
              <a:rPr lang="en-US"/>
              <a:t>Part 1 (3 minutes): pairs interview each other and write the partner's name, country, and city on the Talk Time page.</a:t>
            </a:r>
          </a:p>
          <a:p>
            <a:r>
              <a:rPr lang="en-US"/>
              <a:t>Part 2 (4 minutes): each pair joins another pair. Each learner introduces the partner: "This is ___. He's / She's from ___." The group asks one question: "What city?" or "Is she from ___?"</a:t>
            </a:r>
          </a:p>
          <a:p>
            <a:r>
              <a:rPr lang="en-US"/>
              <a:t>Part 3 (2 minutes): each learner puts a sticky note with their name on the world map (or you write the names on the board under each country).</a:t>
            </a:r>
          </a:p>
          <a:p>
            <a:r>
              <a:rPr lang="en-US"/>
              <a:t>Any country or city is OK. Never ask how or why someone came here.</a:t>
            </a:r>
          </a:p>
          <a:p>
            <a:r>
              <a:rPr lang="en-US"/>
              <a:t>Baseline snapshot: while groups talk, call about 5 learners you didn't check in Week 1, one at a time, for 2 minutes. Use the checklist in the answer key.</a:t>
            </a:r>
          </a:p>
          <a:p>
            <a:r>
              <a:rPr lang="en-US"/>
              <a:t>If you are behind: skip Part 3.</a:t>
            </a:r>
          </a:p>
          <a:p>
            <a:r>
              <a:rPr lang="en-US"/>
              <a:t>Source: Level1_Lesson2.md, Lesson 2 (Step 5: Talk Time: Class Map; Student Pages: Talk Time; Teacher notes: Countries and privacy).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7:10-7:15 (5 minutes). Never skip this step.</a:t>
            </a:r>
          </a:p>
          <a:p>
            <a:r>
              <a:rPr lang="en-US"/>
              <a:t>Exit ticket: each learner says one sentence to you at the door ("I'm from ___." or "This is ___. She's from ___.") or writes one sentence on a slip. Copying from the grammar box is fine.</a:t>
            </a:r>
          </a:p>
          <a:p>
            <a:r>
              <a:rPr lang="en-US"/>
              <a:t>Homework (10 minutes): open the Homework page. Do item 1 together. Point to each instruction so learners know what to do at home.</a:t>
            </a:r>
          </a:p>
          <a:p>
            <a:r>
              <a:rPr lang="en-US"/>
              <a:t>Say: "Bring it next week!"</a:t>
            </a:r>
          </a:p>
          <a:p>
            <a:r>
              <a:rPr lang="en-US"/>
              <a:t>Source: Level1_Lesson2.md, Lesson 2 (Step 6: Exit Ticket + Homework; Student Pages: Homework).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B). Learners work alone, then check with a partner.</a:t>
            </a:r>
          </a:p>
          <a:p>
            <a:r>
              <a:rPr lang="en-US"/>
              <a:t>Say: "Listen again. Yes or No?" Read the 4 sentences first. Play the audio. Then: "Show your partner."</a:t>
            </a:r>
          </a:p>
          <a:p>
            <a:r>
              <a:rPr lang="en-US"/>
              <a:t>Click once for each answer (4 clicks): 1 Yes, 2 No (Rosa is from El Salvador), 3 Yes, 4 No (the teacher is from the United States).</a:t>
            </a:r>
          </a:p>
          <a:p>
            <a:r>
              <a:rPr lang="en-US"/>
              <a:t>After each No, say the right sentence: "No, she isn't. She's from El Salvador." The class repeats.</a:t>
            </a:r>
          </a:p>
          <a:p>
            <a:r>
              <a:rPr lang="en-US"/>
              <a:t>Source: Level1_Lesson2.md, Lesson 2 (Step 3: Listening; Answer key: Listening Task B; Student Pages: Listening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for the record. You don't need to show it in class.</a:t>
            </a:r>
          </a:p>
          <a:p>
            <a:r>
              <a:rPr lang="en-US"/>
              <a:t>Pictures: 12 vocabulary cards (country, city, Mexico, Guatemala, Honduras, El Salvador, Colombia, the United States, he, she, they, How old?) made from Twemoji graphics, CC BY 4.0. The file-by-file list is in images/CREDITS.md.</a:t>
            </a:r>
          </a:p>
          <a:p>
            <a:r>
              <a:rPr lang="en-US"/>
              <a:t>Audio: L1_L2_listening.mp3 (about 1:17), synthetic voices made with Chatterbox TTS (MIT License), cloned from short reference clips made with Kokoro-82M (Apache 2.0). No recordings of real people. Names in the script are invented.</a:t>
            </a:r>
          </a:p>
          <a:p>
            <a:r>
              <a:rPr lang="en-US"/>
              <a:t>Source: Level1_Lesson2.md (Picture Credits); images/CREDITS.md; audio/README.md.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once for each word. Point to the picture and say the word. Learners repeat 2 times.</a:t>
            </a:r>
          </a:p>
          <a:p>
            <a:r>
              <a:rPr lang="en-US"/>
              <a:t>Stress: co-LOM-bi-a, the u-NI-ted STATES. Say "the United States" (or "the U.S."). Other countries have no "the".</a:t>
            </a:r>
          </a:p>
          <a:p>
            <a:r>
              <a:rPr lang="en-US"/>
              <a:t>he / she / they: point to a man in the room: "he." A woman: "she." A group: "they." Learners point as you say the word (fast, like a game).</a:t>
            </a:r>
          </a:p>
          <a:p>
            <a:r>
              <a:rPr lang="en-US"/>
              <a:t>How old?: point to the cake. "How old? ... 12. 20. 35." Hold up fingers.</a:t>
            </a:r>
          </a:p>
          <a:p>
            <a:r>
              <a:rPr lang="en-US"/>
              <a:t>Partner game (4 minutes): A points to a picture, B says the word. Then switch. Then: A points to a classmate, B says he or she.</a:t>
            </a:r>
          </a:p>
          <a:p>
            <a:r>
              <a:rPr lang="en-US"/>
              <a:t>Pairs: 15 learners = 7 pairs + 1 group of 3. 7-8 learners = 3-4 pairs.</a:t>
            </a:r>
          </a:p>
          <a:p>
            <a:r>
              <a:rPr lang="en-US"/>
              <a:t>If you are behind: teach the ★ words only. Colombia stays on the page for home study.</a:t>
            </a:r>
          </a:p>
          <a:p>
            <a:r>
              <a:rPr lang="en-US"/>
              <a:t>Source: Level1_Lesson2.md, Lesson 2 (Key vocabulary; Step 2: New Words; Student Pages: New Words, Partner game; Teacher notes: the United States).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3 (Task C). Learners write the number. Then: "Show your partner."</a:t>
            </a:r>
          </a:p>
          <a:p>
            <a:r>
              <a:rPr lang="en-US"/>
              <a:t>Click 1: 12. Click 2: twelve. Rosa says: "He's twelve years old." Hold up 10 fingers, then 2.</a:t>
            </a:r>
          </a:p>
          <a:p>
            <a:r>
              <a:rPr lang="en-US"/>
              <a:t>Say it (2 minutes): read "Where are you from?" and "How old is he?" The class repeats each line 2 times. Then pairs ask and answer each other.</a:t>
            </a:r>
          </a:p>
          <a:p>
            <a:r>
              <a:rPr lang="en-US"/>
              <a:t>Age is optional: learners can use a practice age.</a:t>
            </a:r>
          </a:p>
          <a:p>
            <a:r>
              <a:rPr lang="en-US"/>
              <a:t>If you are behind: play the audio 2 times in total, and do Task C together on the board.</a:t>
            </a:r>
          </a:p>
          <a:p>
            <a:r>
              <a:rPr lang="en-US"/>
              <a:t>Source: Level1_Lesson2.md, Lesson 2 (Step 3: Listening + Say it; Answer key: Listening Task C; Student Pages: Listening C, Say it; Teacher notes: Age is optional).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after the grammar boxes, or any time you hear these mistakes.</a:t>
            </a:r>
          </a:p>
          <a:p>
            <a:r>
              <a:rPr lang="en-US"/>
              <a:t>Read the left side. Ask: "OK?" Shake your head: "No." Click to show the right answer. The class repeats it 2 times (4 clicks).</a:t>
            </a:r>
          </a:p>
          <a:p>
            <a:r>
              <a:rPr lang="en-US"/>
              <a:t>The big mistake this week: English always needs the person. Listen for "Is from Mexico" and give back "She's from Mexico."</a:t>
            </a:r>
          </a:p>
          <a:p>
            <a:r>
              <a:rPr lang="en-US"/>
              <a:t>The second big mistake: "I have 35 years" -&gt; "I'm 35."</a:t>
            </a:r>
          </a:p>
          <a:p>
            <a:r>
              <a:rPr lang="en-US"/>
              <a:t>Also on the page: "She are from Peru." -&gt; "She is from Peru." "I'm from mexico." -&gt; "I'm from Mexico." (capital M).</a:t>
            </a:r>
          </a:p>
          <a:p>
            <a:r>
              <a:rPr lang="en-US"/>
              <a:t>Correct by saying the right form clearly. The learner repeats. Learners can read the Spanish note on their Grammar page; you don't need to explain it.</a:t>
            </a:r>
          </a:p>
          <a:p>
            <a:r>
              <a:rPr lang="en-US"/>
              <a:t>Source: Level1_Lesson2.md, Lesson 2 (Student Pages: Common mistakes; Teacher notes: The big mistake this week).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about 1 minute, before New Words. Whole class.</a:t>
            </a:r>
          </a:p>
          <a:p>
            <a:r>
              <a:rPr lang="en-US"/>
              <a:t>Click once for each row. Say each word and do the action. Learners copy your gesture.</a:t>
            </a:r>
          </a:p>
          <a:p>
            <a:r>
              <a:rPr lang="en-US"/>
              <a:t>Hand to your ear: "Listen." Point to your mouth: "Repeat." Point and mime a circle: "Point. Circle." Mime writing: "Write." Point to two people: "Partner." Point to 3-4 people: "Group."</a:t>
            </a:r>
          </a:p>
          <a:p>
            <a:r>
              <a:rPr lang="en-US"/>
              <a:t>Use the same short words every time. Say less, show more.</a:t>
            </a:r>
          </a:p>
          <a:p>
            <a:r>
              <a:rPr lang="en-US"/>
              <a:t>Instruction rule: model it (do it with one learner while everyone watches), check it (ask: "Listen or write?"), then go.</a:t>
            </a:r>
          </a:p>
          <a:p>
            <a:r>
              <a:rPr lang="en-US"/>
              <a:t>Pairs: turn to a neighbor; with an odd number, make one group of 3. Groups: 3-4 learners. Mingle: everyone stands and talks to many classmates.</a:t>
            </a:r>
          </a:p>
          <a:p>
            <a:r>
              <a:rPr lang="en-US"/>
              <a:t>Point to the clock: class 6:00-7:30, break 6:45-7:00.</a:t>
            </a:r>
          </a:p>
          <a:p>
            <a:r>
              <a:rPr lang="en-US"/>
              <a:t>Source: Level1_Lesson2.md (How to Use This Plan: Instruction rule, Grouping toolkit; Clock-time plan).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of Grammar (6:32-6:45). Learners write alone first.</a:t>
            </a:r>
          </a:p>
          <a:p>
            <a:r>
              <a:rPr lang="en-US"/>
              <a:t>Say: "Write am, is, or are." Do number 1 together. Pairs check: "Show your partner."</a:t>
            </a:r>
          </a:p>
          <a:p>
            <a:r>
              <a:rPr lang="en-US"/>
              <a:t>Click once for each answer: 1 am, 2 is, 3 are, 4 Is / is, 5 are. (Page item 6, "How old ___ you? I'm 30.", is are.)</a:t>
            </a:r>
          </a:p>
          <a:p>
            <a:r>
              <a:rPr lang="en-US"/>
              <a:t>Check questions: "She ___ from Colombia." (is) "Where ___ they from?" (are)</a:t>
            </a:r>
          </a:p>
          <a:p>
            <a:r>
              <a:rPr lang="en-US"/>
              <a:t>Pair drill (last 3-4 minutes): A asks from the left side of the grammar boxes about B or a classmate; B answers from the right side. Then switch.</a:t>
            </a:r>
          </a:p>
          <a:p>
            <a:r>
              <a:rPr lang="en-US"/>
              <a:t>If you are behind: skip the pair drill. It becomes homework, and Talk Time practices the same questions.</a:t>
            </a:r>
          </a:p>
          <a:p>
            <a:r>
              <a:rPr lang="en-US"/>
              <a:t>Source: Level1_Lesson2.md, Lesson 2 (Step 4: Grammar Q&amp;A; Student Pages: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Time: 7:15-7:25 (10 minutes). Whole class, then pairs. Write 0-20 on the board (or use number cards) before class.</a:t>
            </a:r>
          </a:p>
          <a:p>
            <a:r>
              <a:rPr lang="en-US"/>
              <a:t>See it (2 minutes): point to each number, 0 to 20, and say it once. Hold up fingers for 0-10.</a:t>
            </a:r>
          </a:p>
          <a:p>
            <a:r>
              <a:rPr lang="en-US"/>
              <a:t>Say it (3 minutes): learners repeat 0-10, then 11-20.</a:t>
            </a:r>
          </a:p>
          <a:p>
            <a:r>
              <a:rPr lang="en-US"/>
              <a:t>Tricky numbers: say each one 3 times. Click to show the tip. Spend the most time on 3 (th: tongue between the teeth), 13-19 (stress the end: thir-TEEN), 12 / 20 (twelve, twenty), and 7 (v, not b).</a:t>
            </a:r>
          </a:p>
          <a:p>
            <a:r>
              <a:rPr lang="en-US"/>
              <a:t>Quick check (1 minute): say a number; learners hold up fingers or point on the page.</a:t>
            </a:r>
          </a:p>
          <a:p>
            <a:r>
              <a:rPr lang="en-US"/>
              <a:t>Learners who can't read or write yet: they say the numbers with everyone, hold up fingers, and point instead of circle.</a:t>
            </a:r>
          </a:p>
          <a:p>
            <a:r>
              <a:rPr lang="en-US"/>
              <a:t>If you are behind: do Tasks A and B only.</a:t>
            </a:r>
          </a:p>
          <a:p>
            <a:r>
              <a:rPr lang="en-US"/>
              <a:t>Source: Level1_Lesson2.md, Lesson 2 (Letters &amp; Numbers step; Student Pages: Letters &amp; Numbers A, Tricky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B (3 minutes). Learners listen and circle on their page.</a:t>
            </a:r>
          </a:p>
          <a:p>
            <a:r>
              <a:rPr lang="en-US"/>
              <a:t>Say each number 2 times, slowly: 1 twelve, 2 three, 3 fifteen, 4 seven, 5 twenty.</a:t>
            </a:r>
          </a:p>
          <a:p>
            <a:r>
              <a:rPr lang="en-US"/>
              <a:t>Click once for each answer (5 clicks): 1 12, 2 3, 3 15, 4 7, 5 20. Learners check their page.</a:t>
            </a:r>
          </a:p>
          <a:p>
            <a:r>
              <a:rPr lang="en-US"/>
              <a:t>Task C: read the 3 ages, 2 times each: 1 "He's 9." 2 "She's 14." 3 "They're 18 and 20." Learners write numbers, not words.</a:t>
            </a:r>
          </a:p>
          <a:p>
            <a:r>
              <a:rPr lang="en-US"/>
              <a:t>Task D: learners write "maria is from colombia." again with capital letters: Maria is from Colombia.</a:t>
            </a:r>
          </a:p>
          <a:p>
            <a:r>
              <a:rPr lang="en-US"/>
              <a:t>Task E (pairs): A says a number from 0 to 20; B writes it. A checks. Switch.</a:t>
            </a:r>
          </a:p>
          <a:p>
            <a:r>
              <a:rPr lang="en-US"/>
              <a:t>Learners who can't read or write yet: they point instead of circle. A helper, if you have one, sits with them.</a:t>
            </a:r>
          </a:p>
          <a:p>
            <a:r>
              <a:rPr lang="en-US"/>
              <a:t>Source: Level1_Lesson2.md, Lesson 2 (Letters &amp; Numbers step; Answer key: Letters &amp; Numbers Tasks B-D; Student Pages: Letters &amp; Numbers B-E).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Wave and say: "Great work! See you next week!" Learners answer: "See you!" or "Bye!"</a:t>
            </a:r>
          </a:p>
          <a:p>
            <a:r>
              <a:rPr lang="en-US"/>
              <a:t>Read the three lines. Learners repeat. Ask one or two learners: "Where are you from?"</a:t>
            </a:r>
          </a:p>
          <a:p>
            <a:r>
              <a:rPr lang="en-US"/>
              <a:t>Remind them: "Homework. Bring it next week!"</a:t>
            </a:r>
          </a:p>
          <a:p>
            <a:r>
              <a:rPr lang="en-US"/>
              <a:t>Looking ahead: Lesson 3 adds his / her and numbers to 100.</a:t>
            </a:r>
          </a:p>
          <a:p>
            <a:r>
              <a:rPr lang="en-US"/>
              <a:t>Source: Level1_Lesson2.md, Lesson 2 (Objectives; Step 6; Teacher notes: Looking ahead).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a drawn border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L1_L2_country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G1img" Type="http://schemas.openxmlformats.org/officeDocument/2006/relationships/image" Target="../media/L1_L2_the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"1.0" encoding="UTF-8" standalone="yes"?>
<Relationships xmlns="http://schemas.openxmlformats.org/package/2006/relationships"><Relationship Id="rIdG1" Type="http://schemas.openxmlformats.org/officeDocument/2006/relationships/image" Target="../media/L1_L2_country.png"/><Relationship Id="rIdG2" Type="http://schemas.openxmlformats.org/officeDocument/2006/relationships/image" Target="../media/L1_L2_city.png"/><Relationship Id="rIdG3" Type="http://schemas.openxmlformats.org/officeDocument/2006/relationships/image" Target="../media/L1_L2_mexico.png"/><Relationship Id="rIdG4" Type="http://schemas.openxmlformats.org/officeDocument/2006/relationships/image" Target="../media/L1_L2_guatemala.png"/><Relationship Id="rIdG5" Type="http://schemas.openxmlformats.org/officeDocument/2006/relationships/image" Target="../media/L1_L2_honduras.png"/><Relationship Id="rIdG6" Type="http://schemas.openxmlformats.org/officeDocument/2006/relationships/image" Target="../media/L1_L2_el_salvado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"1.0" encoding="UTF-8" standalone="yes"?>
<Relationships xmlns="http://schemas.openxmlformats.org/package/2006/relationships"><Relationship Id="rIdG1" Type="http://schemas.openxmlformats.org/officeDocument/2006/relationships/image" Target="../media/L1_L2_colombia.png"/><Relationship Id="rIdG2" Type="http://schemas.openxmlformats.org/officeDocument/2006/relationships/image" Target="../media/L1_L2_united_states.png"/><Relationship Id="rIdG3" Type="http://schemas.openxmlformats.org/officeDocument/2006/relationships/image" Target="../media/L1_L2_he.png"/><Relationship Id="rIdG4" Type="http://schemas.openxmlformats.org/officeDocument/2006/relationships/image" Target="../media/L1_L2_she.png"/><Relationship Id="rIdG5" Type="http://schemas.openxmlformats.org/officeDocument/2006/relationships/image" Target="../media/L1_L2_they.png"/><Relationship Id="rIdG6" Type="http://schemas.openxmlformats.org/officeDocument/2006/relationships/image" Target="../media/L1_L2_how_ol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7.xml.rels><?xml version="1.0" encoding="UTF-8" standalone="yes"?>
<Relationships xmlns="http://schemas.openxmlformats.org/package/2006/relationships"><Relationship Id="rIdG3w1" Type="http://schemas.openxmlformats.org/officeDocument/2006/relationships/image" Target="../media/L1_L2_honduras.png"/><Relationship Id="rIdG3w2" Type="http://schemas.openxmlformats.org/officeDocument/2006/relationships/image" Target="../media/L1_L2_she.png"/><Relationship Id="rIdG3w3" Type="http://schemas.openxmlformats.org/officeDocument/2006/relationships/image" Target="../media/L1_L2_how_ol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G1" Type="http://schemas.openxmlformats.org/officeDocument/2006/relationships/image" Target="../media/L1_L2_countr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0.xml.rels><?xml version="1.0" encoding="UTF-8" standalone="yes"?>
<Relationships xmlns="http://schemas.openxmlformats.org/package/2006/relationships"><Relationship Id="rIdG1" Type="http://schemas.openxmlformats.org/officeDocument/2006/relationships/image" Target="../media/L1_L2_mexic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L281" Type="http://schemas.openxmlformats.org/officeDocument/2006/relationships/image" Target="../media/L1_L2_el_salvador.png"/><Relationship Id="rIdL282" Type="http://schemas.openxmlformats.org/officeDocument/2006/relationships/image" Target="../media/L1_L2_united_states.png"/><Relationship Id="rIdL283" Type="http://schemas.openxmlformats.org/officeDocument/2006/relationships/image" Target="../media/L1_L2_honduras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2.xml.rels><?xml version="1.0" encoding="UTF-8" standalone="yes"?>
<Relationships xmlns="http://schemas.openxmlformats.org/package/2006/relationships"><Relationship Id="rIdG1" Type="http://schemas.openxmlformats.org/officeDocument/2006/relationships/image" Target="../media/L1_L2_h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G1" Type="http://schemas.openxmlformats.org/officeDocument/2006/relationships/image" Target="../media/L1_L2_mexic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G1" Type="http://schemas.openxmlformats.org/officeDocument/2006/relationships/image" Target="../media/L1_L2_how_ol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G1" Type="http://schemas.openxmlformats.org/officeDocument/2006/relationships/image" Target="../media/L1_L2_sh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"1.0" encoding="UTF-8" standalone="yes"?>
<Relationships xmlns="http://schemas.openxmlformats.org/package/2006/relationships"><Relationship Id="rIdG1" Type="http://schemas.openxmlformats.org/officeDocument/2006/relationships/image" Target="../media/L1_L2_cit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
<Relationships xmlns="http://schemas.openxmlformats.org/package/2006/relationships"><Relationship Id="rIdG1" Type="http://schemas.openxmlformats.org/officeDocument/2006/relationships/image" Target="../media/L1_L2_guatemala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L1_L2_they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World map with flags of Mexico, Guatemala and the United St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where you are from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Where are you from?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your age: I'm 35.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where I'm from.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from ___.  ·  What city?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Where are you from?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Yes, he is. No, he isn't.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my age: I'm 35.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and write 0 to 20.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Repeat.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Name tag" descr="Three people with the word they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name?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200" dirty="0"/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are you?</a:t>
            </a:r>
            <a:endParaRPr lang="en-US" sz="2200" dirty="0"/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fine, thanks.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you?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Point. Circle.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Partner. Group.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 it. Check it. Then go.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turn to a neighbor.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World map and three flags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country</a:t>
            </a:r>
            <a:endParaRPr lang="en-US" sz="2000" dirty="0"/>
          </a:p>
        </p:txBody>
      </p:sp>
      <p:pic>
        <p:nvPicPr>
          <p:cNvPr id="19" name="Word picture 2" descr="City buildings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city</a:t>
            </a:r>
            <a:endParaRPr lang="en-US" sz="2000" dirty="0"/>
          </a:p>
        </p:txBody>
      </p:sp>
      <p:pic>
        <p:nvPicPr>
          <p:cNvPr id="21" name="Word picture 3" descr="Flag of Mexico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Mexico</a:t>
            </a:r>
            <a:endParaRPr lang="en-US" sz="2000" dirty="0"/>
          </a:p>
        </p:txBody>
      </p:sp>
      <p:pic>
        <p:nvPicPr>
          <p:cNvPr id="23" name="Word picture 4" descr="Flag of Guatemala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Guatemala</a:t>
            </a:r>
            <a:endParaRPr lang="en-US" sz="2000" dirty="0"/>
          </a:p>
        </p:txBody>
      </p:sp>
      <p:pic>
        <p:nvPicPr>
          <p:cNvPr id="25" name="Word picture 5" descr="Flag of Honduras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Honduras</a:t>
            </a:r>
            <a:endParaRPr lang="en-US" sz="2000" dirty="0"/>
          </a:p>
        </p:txBody>
      </p:sp>
      <p:pic>
        <p:nvPicPr>
          <p:cNvPr id="27" name="Word picture 6" descr="Flag of El Salvador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 Salvador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  <a:endParaRPr lang="en-US" sz="2200" dirty="0"/>
          </a:p>
        </p:txBody>
      </p:sp>
      <p:pic>
        <p:nvPicPr>
          <p:cNvPr id="17" name="Word picture 1" descr="Flag of Colombi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Colombia</a:t>
            </a:r>
            <a:endParaRPr lang="en-US" sz="2000" dirty="0"/>
          </a:p>
        </p:txBody>
      </p:sp>
      <p:pic>
        <p:nvPicPr>
          <p:cNvPr id="19" name="Word picture 2" descr="Flag of the United States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United States</a:t>
            </a:r>
            <a:endParaRPr lang="en-US" sz="2000" dirty="0"/>
          </a:p>
        </p:txBody>
      </p:sp>
      <p:pic>
        <p:nvPicPr>
          <p:cNvPr id="21" name="Word picture 3" descr="Man with the word he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</a:t>
            </a:r>
            <a:endParaRPr lang="en-US" sz="2000" dirty="0"/>
          </a:p>
        </p:txBody>
      </p:sp>
      <p:pic>
        <p:nvPicPr>
          <p:cNvPr id="23" name="Word picture 4" descr="Woman with the word she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endParaRPr lang="en-US" sz="2000" dirty="0"/>
          </a:p>
        </p:txBody>
      </p:sp>
      <p:pic>
        <p:nvPicPr>
          <p:cNvPr id="25" name="Word picture 5" descr="Three people with the word they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</a:t>
            </a:r>
            <a:endParaRPr lang="en-US" sz="2000" dirty="0"/>
          </a:p>
        </p:txBody>
      </p:sp>
      <p:pic>
        <p:nvPicPr>
          <p:cNvPr id="27" name="Word picture 6" descr="Birthday cake and a question mark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What's the word?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1" name="Quiz picture 1" descr="Flag of Honduras"/>
          <p:cNvPicPr>
            <a:picLocks noChangeAspect="1"/>
          </p:cNvPicPr>
          <p:nvPr/>
        </p:nvPicPr>
        <p:blipFill>
          <a:blip r:embed="rIdG3w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2" name="Quiz picture 2" descr="Woman with the word she"/>
          <p:cNvPicPr>
            <a:picLocks noChangeAspect="1"/>
          </p:cNvPicPr>
          <p:nvPr/>
        </p:nvPicPr>
        <p:blipFill>
          <a:blip r:embed="rIdG3w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3" name="Quiz picture 3" descr="Birthday cake and a question mark"/>
          <p:cNvPicPr>
            <a:picLocks noChangeAspect="1"/>
          </p:cNvPicPr>
          <p:nvPr/>
        </p:nvPicPr>
        <p:blipFill>
          <a:blip r:embed="rIdG3w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Honduras</a:t>
            </a:r>
            <a:endParaRPr lang="en-US" sz="2800" dirty="0"/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endParaRPr lang="en-US" sz="2800" dirty="0"/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old?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and Marco are new students. It's the break.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ture teacher" descr="World map with flags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Where from?</a:t>
            </a:r>
            <a:endParaRPr lang="en-US" sz="2000" dirty="0"/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Yes or No?</a:t>
            </a:r>
            <a:endParaRPr lang="en-US" sz="2000" dirty="0"/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How old?</a:t>
            </a:r>
            <a:endParaRPr lang="en-US" sz="2000" dirty="0"/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  <a:endParaRPr lang="en-US" sz="2400" dirty="0"/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2200" dirty="0"/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city?</a:t>
            </a:r>
            <a:endParaRPr lang="en-US" sz="2200" dirty="0"/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he?</a:t>
            </a:r>
            <a:endParaRPr lang="en-US" sz="2200" dirty="0"/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or No? Check ✓.</a:t>
            </a:r>
            <a:endParaRPr lang="en-US" sz="2200" dirty="0"/>
          </a:p>
        </p:txBody>
      </p:sp>
      <p:sp>
        <p:nvSpPr>
          <p:cNvPr id="27" name="Statement 1"/>
          <p:cNvSpPr/>
          <p:nvPr/>
        </p:nvSpPr>
        <p:spPr>
          <a:xfrm>
            <a:off x="502920" y="320040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Marco is from Mexico.</a:t>
            </a:r>
            <a:endParaRPr lang="en-US" sz="2000" dirty="0"/>
          </a:p>
        </p:txBody>
      </p:sp>
      <p:sp>
        <p:nvSpPr>
          <p:cNvPr id="28" name="True 1"/>
          <p:cNvSpPr/>
          <p:nvPr/>
        </p:nvSpPr>
        <p:spPr>
          <a:xfrm>
            <a:off x="658368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13639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00507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Rosa is from Mexico.</a:t>
            </a:r>
            <a:endParaRPr lang="en-US" sz="2000" dirty="0"/>
          </a:p>
        </p:txBody>
      </p:sp>
      <p:sp>
        <p:nvSpPr>
          <p:cNvPr id="32" name="True 2"/>
          <p:cNvSpPr/>
          <p:nvPr/>
        </p:nvSpPr>
        <p:spPr>
          <a:xfrm>
            <a:off x="658368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8193024" y="394106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809743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Marco's friends are from Honduras.</a:t>
            </a:r>
            <a:endParaRPr lang="en-US" sz="2000" dirty="0"/>
          </a:p>
        </p:txBody>
      </p:sp>
      <p:sp>
        <p:nvSpPr>
          <p:cNvPr id="37" name="True 3"/>
          <p:cNvSpPr/>
          <p:nvPr/>
        </p:nvSpPr>
        <p:spPr>
          <a:xfrm>
            <a:off x="658368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6455664" y="4745735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614415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The teacher is from Mexico.</a:t>
            </a:r>
            <a:endParaRPr lang="en-US" sz="2000" dirty="0"/>
          </a:p>
        </p:txBody>
      </p:sp>
      <p:sp>
        <p:nvSpPr>
          <p:cNvPr id="41" name="True 4"/>
          <p:cNvSpPr/>
          <p:nvPr/>
        </p:nvSpPr>
        <p:spPr>
          <a:xfrm>
            <a:off x="658368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832104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8193024" y="5550407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spell" descr="Flag of Mexico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097280" y="3108960"/>
            <a:ext cx="1463040" cy="1024128"/>
          </a:xfrm>
          <a:prstGeom prst="rect">
            <a:avLst/>
          </a:prstGeom>
        </p:spPr>
      </p:pic>
      <p:pic>
        <p:nvPicPr>
          <p:cNvPr id="83" name="Picture 83" descr="Flag of Honduras"/>
          <p:cNvPicPr>
            <a:picLocks noChangeAspect="1"/>
          </p:cNvPicPr>
          <p:nvPr/>
        </p:nvPicPr>
        <p:blipFill>
          <a:blip r:embed="rIdL283"/>
          <a:stretch>
            <a:fillRect/>
          </a:stretch>
        </p:blipFill>
        <p:spPr>
          <a:xfrm>
            <a:off x="3474720" y="4709160"/>
            <a:ext cx="1463040" cy="1024128"/>
          </a:xfrm>
          <a:prstGeom prst="rect">
            <a:avLst/>
          </a:prstGeom>
        </p:spPr>
      </p:pic>
      <p:pic>
        <p:nvPicPr>
          <p:cNvPr id="82" name="Picture 82" descr="Flag of the United States"/>
          <p:cNvPicPr>
            <a:picLocks noChangeAspect="1"/>
          </p:cNvPicPr>
          <p:nvPr/>
        </p:nvPicPr>
        <p:blipFill>
          <a:blip r:embed="rIdL282"/>
          <a:stretch>
            <a:fillRect/>
          </a:stretch>
        </p:blipFill>
        <p:spPr>
          <a:xfrm>
            <a:off x="1097280" y="4709160"/>
            <a:ext cx="1463040" cy="1024128"/>
          </a:xfrm>
          <a:prstGeom prst="rect">
            <a:avLst/>
          </a:prstGeom>
        </p:spPr>
      </p:pic>
      <p:pic>
        <p:nvPicPr>
          <p:cNvPr id="81" name="Picture 81" descr="Flag of El Salvador"/>
          <p:cNvPicPr>
            <a:picLocks noChangeAspect="1"/>
          </p:cNvPicPr>
          <p:nvPr/>
        </p:nvPicPr>
        <p:blipFill>
          <a:blip r:embed="rIdL281"/>
          <a:stretch>
            <a:fillRect/>
          </a:stretch>
        </p:blipFill>
        <p:spPr>
          <a:xfrm>
            <a:off x="3474720" y="3108960"/>
            <a:ext cx="1463040" cy="1024128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63640" y="1527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Rosa</a:t>
            </a:r>
            <a:endParaRPr lang="en-US" sz="1800" dirty="0"/>
          </a:p>
        </p:txBody>
      </p:sp>
      <p:sp>
        <p:nvSpPr>
          <p:cNvPr id="95" name="Row label 2"/>
          <p:cNvSpPr/>
          <p:nvPr/>
        </p:nvSpPr>
        <p:spPr>
          <a:xfrm>
            <a:off x="6263640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Marco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3858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Marco's friends</a:t>
            </a:r>
            <a:endParaRPr lang="en-US" sz="1800" dirty="0"/>
          </a:p>
        </p:txBody>
      </p:sp>
      <p:sp>
        <p:nvSpPr>
          <p:cNvPr id="96" name="Row label 4"/>
          <p:cNvSpPr/>
          <p:nvPr/>
        </p:nvSpPr>
        <p:spPr>
          <a:xfrm>
            <a:off x="6263640" y="4773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The teacher</a:t>
            </a:r>
            <a:endParaRPr lang="en-US" sz="1800" dirty="0"/>
          </a:p>
        </p:txBody>
      </p:sp>
      <p:sp>
        <p:nvSpPr>
          <p:cNvPr id="60" name="Letter 60"/>
          <p:cNvSpPr/>
          <p:nvPr/>
        </p:nvSpPr>
        <p:spPr>
          <a:xfrm>
            <a:off x="8686800" y="1417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61" name="Letter 61"/>
          <p:cNvSpPr/>
          <p:nvPr/>
        </p:nvSpPr>
        <p:spPr>
          <a:xfrm>
            <a:off x="9372600" y="1417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63" name="Letter 63"/>
          <p:cNvSpPr/>
          <p:nvPr/>
        </p:nvSpPr>
        <p:spPr>
          <a:xfrm>
            <a:off x="10058400" y="1417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200" dirty="0"/>
          </a:p>
        </p:txBody>
      </p:sp>
      <p:sp>
        <p:nvSpPr>
          <p:cNvPr id="64" name="Letter 64"/>
          <p:cNvSpPr/>
          <p:nvPr/>
        </p:nvSpPr>
        <p:spPr>
          <a:xfrm>
            <a:off x="10744200" y="1417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200" dirty="0"/>
          </a:p>
        </p:txBody>
      </p:sp>
      <p:sp>
        <p:nvSpPr>
          <p:cNvPr id="66" name="Letter 66"/>
          <p:cNvSpPr/>
          <p:nvPr/>
        </p:nvSpPr>
        <p:spPr>
          <a:xfrm>
            <a:off x="8686800" y="23317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67" name="Letter 67"/>
          <p:cNvSpPr/>
          <p:nvPr/>
        </p:nvSpPr>
        <p:spPr>
          <a:xfrm>
            <a:off x="9372600" y="23317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69" name="Letter 69"/>
          <p:cNvSpPr/>
          <p:nvPr/>
        </p:nvSpPr>
        <p:spPr>
          <a:xfrm>
            <a:off x="10058400" y="23317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200" dirty="0"/>
          </a:p>
        </p:txBody>
      </p:sp>
      <p:sp>
        <p:nvSpPr>
          <p:cNvPr id="70" name="Letter 70"/>
          <p:cNvSpPr/>
          <p:nvPr/>
        </p:nvSpPr>
        <p:spPr>
          <a:xfrm>
            <a:off x="10744200" y="23317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200" dirty="0"/>
          </a:p>
        </p:txBody>
      </p:sp>
      <p:sp>
        <p:nvSpPr>
          <p:cNvPr id="72" name="Letter 72"/>
          <p:cNvSpPr/>
          <p:nvPr/>
        </p:nvSpPr>
        <p:spPr>
          <a:xfrm>
            <a:off x="8686800" y="3749039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73" name="Letter 73"/>
          <p:cNvSpPr/>
          <p:nvPr/>
        </p:nvSpPr>
        <p:spPr>
          <a:xfrm>
            <a:off x="9372600" y="3749039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75" name="Letter 75"/>
          <p:cNvSpPr/>
          <p:nvPr/>
        </p:nvSpPr>
        <p:spPr>
          <a:xfrm>
            <a:off x="10058400" y="3749039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200" dirty="0"/>
          </a:p>
        </p:txBody>
      </p:sp>
      <p:sp>
        <p:nvSpPr>
          <p:cNvPr id="76" name="Letter 76"/>
          <p:cNvSpPr/>
          <p:nvPr/>
        </p:nvSpPr>
        <p:spPr>
          <a:xfrm>
            <a:off x="10744200" y="3749039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200" dirty="0"/>
          </a:p>
        </p:txBody>
      </p:sp>
      <p:sp>
        <p:nvSpPr>
          <p:cNvPr id="78" name="Letter 78"/>
          <p:cNvSpPr/>
          <p:nvPr/>
        </p:nvSpPr>
        <p:spPr>
          <a:xfrm>
            <a:off x="8686800" y="4663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98" name="Letter 98"/>
          <p:cNvSpPr/>
          <p:nvPr/>
        </p:nvSpPr>
        <p:spPr>
          <a:xfrm>
            <a:off x="10744200" y="4663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200" dirty="0"/>
          </a:p>
        </p:txBody>
      </p:sp>
      <p:sp>
        <p:nvSpPr>
          <p:cNvPr id="97" name="Letter 97"/>
          <p:cNvSpPr/>
          <p:nvPr/>
        </p:nvSpPr>
        <p:spPr>
          <a:xfrm>
            <a:off x="10058400" y="4663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200" dirty="0"/>
          </a:p>
        </p:txBody>
      </p:sp>
      <p:sp>
        <p:nvSpPr>
          <p:cNvPr id="79" name="Letter 79"/>
          <p:cNvSpPr/>
          <p:nvPr/>
        </p:nvSpPr>
        <p:spPr>
          <a:xfrm>
            <a:off x="9372600" y="466344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25" name="Subtitle"/>
          <p:cNvSpPr/>
          <p:nvPr/>
        </p:nvSpPr>
        <p:spPr>
          <a:xfrm>
            <a:off x="771754" y="2148840"/>
            <a:ext cx="457200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Where are they from? Write the letter.</a:t>
            </a:r>
            <a:endParaRPr lang="en-US" sz="2000" dirty="0"/>
          </a:p>
        </p:txBody>
      </p:sp>
      <p:sp>
        <p:nvSpPr>
          <p:cNvPr id="88" name="Flag caption 4"/>
          <p:cNvSpPr/>
          <p:nvPr/>
        </p:nvSpPr>
        <p:spPr>
          <a:xfrm>
            <a:off x="3063240" y="5760720"/>
            <a:ext cx="2286000" cy="41148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Honduras</a:t>
            </a:r>
            <a:endParaRPr lang="en-US" sz="1600" dirty="0"/>
          </a:p>
        </p:txBody>
      </p:sp>
      <p:sp>
        <p:nvSpPr>
          <p:cNvPr id="87" name="Flag caption 3"/>
          <p:cNvSpPr/>
          <p:nvPr/>
        </p:nvSpPr>
        <p:spPr>
          <a:xfrm>
            <a:off x="685800" y="5760720"/>
            <a:ext cx="2286000" cy="41148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United States</a:t>
            </a:r>
            <a:endParaRPr lang="en-US" sz="1600" dirty="0"/>
          </a:p>
        </p:txBody>
      </p:sp>
      <p:sp>
        <p:nvSpPr>
          <p:cNvPr id="86" name="Flag caption 2"/>
          <p:cNvSpPr/>
          <p:nvPr/>
        </p:nvSpPr>
        <p:spPr>
          <a:xfrm>
            <a:off x="3063240" y="4160520"/>
            <a:ext cx="2286000" cy="41148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El Salvador</a:t>
            </a:r>
            <a:endParaRPr lang="en-US" sz="1600" dirty="0"/>
          </a:p>
        </p:txBody>
      </p:sp>
      <p:sp>
        <p:nvSpPr>
          <p:cNvPr id="85" name="Flag caption 1"/>
          <p:cNvSpPr/>
          <p:nvPr/>
        </p:nvSpPr>
        <p:spPr>
          <a:xfrm>
            <a:off x="685800" y="4160520"/>
            <a:ext cx="2286000" cy="41148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Mexico</a:t>
            </a:r>
            <a:endParaRPr lang="en-US" sz="1600" dirty="0"/>
          </a:p>
        </p:txBody>
      </p:sp>
      <p:sp>
        <p:nvSpPr>
          <p:cNvPr id="28" name="Circle 1"/>
          <p:cNvSpPr/>
          <p:nvPr/>
        </p:nvSpPr>
        <p:spPr>
          <a:xfrm>
            <a:off x="9322308" y="152704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Circle 2"/>
          <p:cNvSpPr/>
          <p:nvPr/>
        </p:nvSpPr>
        <p:spPr>
          <a:xfrm>
            <a:off x="8636508" y="244144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Circle 3"/>
          <p:cNvSpPr/>
          <p:nvPr/>
        </p:nvSpPr>
        <p:spPr>
          <a:xfrm>
            <a:off x="10693908" y="385876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10008108" y="477316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4550054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5261458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Rosa's son?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Rosa's son is ___ years old.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___ years old.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550054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5261458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he?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repeat 2 times.</a:t>
            </a:r>
            <a:endParaRPr lang="en-US" sz="2000" dirty="0"/>
          </a:p>
        </p:txBody>
      </p:sp>
      <p:sp>
        <p:nvSpPr>
          <p:cNvPr id="34" name="Answer 1"/>
          <p:cNvSpPr/>
          <p:nvPr/>
        </p:nvSpPr>
        <p:spPr>
          <a:xfrm>
            <a:off x="5468112" y="3200400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468112" y="3911803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twelve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ture goodbye" descr="Man with the word he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2000" dirty="0"/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from Mexico.</a:t>
            </a:r>
            <a:endParaRPr lang="en-US" sz="2200" dirty="0"/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he from?</a:t>
            </a:r>
            <a:endParaRPr lang="en-US" sz="2000" dirty="0"/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from Guatemala.</a:t>
            </a:r>
            <a:endParaRPr lang="en-US" sz="2200" dirty="0"/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from Honduras.</a:t>
            </a:r>
            <a:endParaRPr lang="en-US" sz="2200" dirty="0"/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Guadalajara.</a:t>
            </a:r>
            <a:endParaRPr lang="en-US" sz="2200" dirty="0"/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city?</a:t>
            </a:r>
            <a:endParaRPr lang="en-US" sz="2000" dirty="0"/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they from?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Flag of Mexico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598664" y="1217386"/>
            <a:ext cx="3254350" cy="227804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 from Mexico?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Mexico?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/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he /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/ they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Mexico?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Yes, they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No, they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ture letter" descr="Birthday cake and a question mark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Boxes 3 + 4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are you?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are you?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35.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35 years old.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he? / she?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I am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He is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am, is, or are.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from Honduras.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from Colombia.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____ you from?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he from Mexico?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____.</a:t>
            </a:r>
            <a:endParaRPr lang="en-US" sz="2000" dirty="0"/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 from El Salvador.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am, is,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are?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he, she,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you, we, they: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/>
          </a:p>
        </p:txBody>
      </p:sp>
      <p:sp>
        <p:nvSpPr>
          <p:cNvPr id="34" name="Answer 1"/>
          <p:cNvSpPr/>
          <p:nvPr/>
        </p:nvSpPr>
        <p:spPr>
          <a:xfrm>
            <a:off x="5376672" y="2523744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376672" y="3310128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5376672" y="4096511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5376672" y="4882896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/ is</a:t>
            </a:r>
            <a:endParaRPr lang="en-US" sz="2200" dirty="0"/>
          </a:p>
        </p:txBody>
      </p:sp>
      <p:sp>
        <p:nvSpPr>
          <p:cNvPr id="54" name="Answer 5"/>
          <p:cNvSpPr/>
          <p:nvPr/>
        </p:nvSpPr>
        <p:spPr>
          <a:xfrm>
            <a:off x="5376672" y="5669280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35433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3610966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Picture name tag" descr="Woman with the word she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from Mexico.</a:t>
            </a:r>
            <a:endParaRPr lang="en-US" sz="2000" dirty="0"/>
          </a:p>
        </p:txBody>
      </p:sp>
      <p:sp>
        <p:nvSpPr>
          <p:cNvPr id="25" name="Good 1"/>
          <p:cNvSpPr/>
          <p:nvPr/>
        </p:nvSpPr>
        <p:spPr>
          <a:xfrm>
            <a:off x="4800600" y="384048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 Mexico.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35 years.</a:t>
            </a:r>
            <a:endParaRPr lang="en-US" sz="2000" dirty="0"/>
          </a:p>
        </p:txBody>
      </p:sp>
      <p:sp>
        <p:nvSpPr>
          <p:cNvPr id="27" name="Good 2"/>
          <p:cNvSpPr/>
          <p:nvPr/>
        </p:nvSpPr>
        <p:spPr>
          <a:xfrm>
            <a:off x="4800600" y="440740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35.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you are from?</a:t>
            </a:r>
            <a:endParaRPr lang="en-US" sz="2000" dirty="0"/>
          </a:p>
        </p:txBody>
      </p:sp>
      <p:sp>
        <p:nvSpPr>
          <p:cNvPr id="29" name="Good 3"/>
          <p:cNvSpPr/>
          <p:nvPr/>
        </p:nvSpPr>
        <p:spPr>
          <a:xfrm>
            <a:off x="4800600" y="4974336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from?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she's.</a:t>
            </a:r>
            <a:endParaRPr lang="en-US" sz="2000" dirty="0"/>
          </a:p>
        </p:txBody>
      </p:sp>
      <p:sp>
        <p:nvSpPr>
          <p:cNvPr id="61" name="Good 4"/>
          <p:cNvSpPr/>
          <p:nvPr/>
        </p:nvSpPr>
        <p:spPr>
          <a:xfrm>
            <a:off x="4800600" y="55412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ture classmates" descr="City buildings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Map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partner.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tell a group.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city?</a:t>
            </a:r>
            <a:endParaRPr lang="en-US" sz="2200" dirty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it.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Name, country, city.</a:t>
            </a:r>
            <a:endParaRPr lang="en-US" sz="2200" dirty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___.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/ She's from ___.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Picture pen" descr="Flag of Guatemal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from ___.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 it on paper.</a:t>
            </a:r>
            <a:endParaRPr lang="en-US" sz="2000" dirty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about you.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am, is, or are.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the country.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Ask a friend. Write.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Spell your name.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 0–20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0 1 2 3 4 5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6 7 8 9 10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11 12 13 14 15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16 17 18 19 20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Tricky Numbers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 ·  SAY 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TIP</a:t>
            </a:r>
            <a:endParaRPr lang="en-US" sz="2000" dirty="0"/>
          </a:p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Question 1"/>
          <p:cNvSpPr/>
          <p:nvPr/>
        </p:nvSpPr>
        <p:spPr>
          <a:xfrm>
            <a:off x="6263640" y="2651760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668512" y="2651760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668512" y="2651760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: tongue between teeth</a:t>
            </a:r>
            <a:endParaRPr lang="en-US" sz="1800" dirty="0"/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</a:t>
            </a:r>
            <a:endParaRPr lang="en-US" sz="2600" dirty="0"/>
          </a:p>
        </p:txBody>
      </p:sp>
      <p:sp>
        <p:nvSpPr>
          <p:cNvPr id="25" name="Question 2"/>
          <p:cNvSpPr/>
          <p:nvPr/>
        </p:nvSpPr>
        <p:spPr>
          <a:xfrm>
            <a:off x="6263640" y="3419856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668512" y="3419856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668512" y="3419856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: teeth on lip, not b</a:t>
            </a:r>
            <a:endParaRPr lang="en-US" sz="1800" dirty="0"/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</a:t>
            </a:r>
            <a:endParaRPr lang="en-US" sz="2600" dirty="0"/>
          </a:p>
        </p:txBody>
      </p:sp>
      <p:sp>
        <p:nvSpPr>
          <p:cNvPr id="152" name="Question 3"/>
          <p:cNvSpPr/>
          <p:nvPr/>
        </p:nvSpPr>
        <p:spPr>
          <a:xfrm>
            <a:off x="6263640" y="4187952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twelve</a:t>
            </a:r>
            <a:endParaRPr lang="en-US" sz="2200" dirty="0"/>
          </a:p>
        </p:txBody>
      </p:sp>
      <p:sp>
        <p:nvSpPr>
          <p:cNvPr id="162" name="Answer bg 3"/>
          <p:cNvSpPr/>
          <p:nvPr/>
        </p:nvSpPr>
        <p:spPr>
          <a:xfrm>
            <a:off x="8668512" y="418795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668512" y="4187952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"twenty"</a:t>
            </a:r>
            <a:endParaRPr lang="en-US" sz="1800" dirty="0"/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13–19</a:t>
            </a:r>
            <a:endParaRPr lang="en-US" sz="2200" dirty="0"/>
          </a:p>
        </p:txBody>
      </p:sp>
      <p:sp>
        <p:nvSpPr>
          <p:cNvPr id="153" name="Question 4"/>
          <p:cNvSpPr/>
          <p:nvPr/>
        </p:nvSpPr>
        <p:spPr>
          <a:xfrm>
            <a:off x="6263640" y="4956048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thir-TEEN</a:t>
            </a:r>
            <a:endParaRPr lang="en-US" sz="2200" dirty="0"/>
          </a:p>
        </p:txBody>
      </p:sp>
      <p:sp>
        <p:nvSpPr>
          <p:cNvPr id="163" name="Answer bg 4"/>
          <p:cNvSpPr/>
          <p:nvPr/>
        </p:nvSpPr>
        <p:spPr>
          <a:xfrm>
            <a:off x="8668512" y="4956048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668512" y="4956048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strong</a:t>
            </a:r>
            <a:endParaRPr lang="en-US" sz="1800" dirty="0"/>
          </a:p>
        </p:txBody>
      </p:sp>
      <p:sp>
        <p:nvSpPr>
          <p:cNvPr id="134" name="Highlight 5"/>
          <p:cNvSpPr/>
          <p:nvPr/>
        </p:nvSpPr>
        <p:spPr>
          <a:xfrm>
            <a:off x="5138928" y="5769864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4" name="Helper 5"/>
          <p:cNvSpPr/>
          <p:nvPr/>
        </p:nvSpPr>
        <p:spPr>
          <a:xfrm>
            <a:off x="5138928" y="5724144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600" dirty="0"/>
          </a:p>
        </p:txBody>
      </p:sp>
      <p:sp>
        <p:nvSpPr>
          <p:cNvPr id="154" name="Question 5"/>
          <p:cNvSpPr/>
          <p:nvPr/>
        </p:nvSpPr>
        <p:spPr>
          <a:xfrm>
            <a:off x="6263640" y="5724144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TWEN-ty</a:t>
            </a:r>
            <a:endParaRPr lang="en-US" sz="2200" dirty="0"/>
          </a:p>
        </p:txBody>
      </p:sp>
      <p:sp>
        <p:nvSpPr>
          <p:cNvPr id="164" name="Answer bg 5"/>
          <p:cNvSpPr/>
          <p:nvPr/>
        </p:nvSpPr>
        <p:spPr>
          <a:xfrm>
            <a:off x="8668512" y="5724144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4" name="Answer 5"/>
          <p:cNvSpPr/>
          <p:nvPr/>
        </p:nvSpPr>
        <p:spPr>
          <a:xfrm>
            <a:off x="8668512" y="5724144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TWEN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strong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Numbers: Task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teacher.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number.</a:t>
            </a:r>
            <a:endParaRPr lang="en-US" sz="2200" dirty="0"/>
          </a:p>
        </p:txBody>
      </p:sp>
      <p:sp>
        <p:nvSpPr>
          <p:cNvPr id="27" name="Statement 1"/>
          <p:cNvSpPr/>
          <p:nvPr/>
        </p:nvSpPr>
        <p:spPr>
          <a:xfrm>
            <a:off x="1463040" y="3127248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29184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548640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</a:t>
            </a:r>
            <a:endParaRPr lang="en-US" sz="2000" dirty="0"/>
          </a:p>
        </p:txBody>
      </p:sp>
      <p:sp>
        <p:nvSpPr>
          <p:cNvPr id="200" name="Option C 1"/>
          <p:cNvSpPr/>
          <p:nvPr/>
        </p:nvSpPr>
        <p:spPr>
          <a:xfrm>
            <a:off x="768096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5358384" y="3063240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1463040" y="3785616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29184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548640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</a:t>
            </a:r>
            <a:endParaRPr lang="en-US" sz="2000" dirty="0"/>
          </a:p>
        </p:txBody>
      </p:sp>
      <p:sp>
        <p:nvSpPr>
          <p:cNvPr id="201" name="Option C 2"/>
          <p:cNvSpPr/>
          <p:nvPr/>
        </p:nvSpPr>
        <p:spPr>
          <a:xfrm>
            <a:off x="768096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3163824" y="372160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1463040" y="4443984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29184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548640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15</a:t>
            </a:r>
            <a:endParaRPr lang="en-US" sz="2000" dirty="0"/>
          </a:p>
        </p:txBody>
      </p:sp>
      <p:sp>
        <p:nvSpPr>
          <p:cNvPr id="202" name="Option C 3"/>
          <p:cNvSpPr/>
          <p:nvPr/>
        </p:nvSpPr>
        <p:spPr>
          <a:xfrm>
            <a:off x="768096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5358384" y="4379976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1463040" y="5102352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329184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548640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11</a:t>
            </a:r>
            <a:endParaRPr lang="en-US" sz="2000" dirty="0"/>
          </a:p>
        </p:txBody>
      </p:sp>
      <p:sp>
        <p:nvSpPr>
          <p:cNvPr id="203" name="Option C 4"/>
          <p:cNvSpPr/>
          <p:nvPr/>
        </p:nvSpPr>
        <p:spPr>
          <a:xfrm>
            <a:off x="768096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17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3163824" y="503834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1463040" y="5760720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329184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47" name="False 5"/>
          <p:cNvSpPr/>
          <p:nvPr/>
        </p:nvSpPr>
        <p:spPr>
          <a:xfrm>
            <a:off x="548640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</a:t>
            </a:r>
            <a:endParaRPr lang="en-US" sz="2000" dirty="0"/>
          </a:p>
        </p:txBody>
      </p:sp>
      <p:sp>
        <p:nvSpPr>
          <p:cNvPr id="204" name="Option C 5"/>
          <p:cNvSpPr/>
          <p:nvPr/>
        </p:nvSpPr>
        <p:spPr>
          <a:xfrm>
            <a:off x="768096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Circle 5"/>
          <p:cNvSpPr/>
          <p:nvPr/>
        </p:nvSpPr>
        <p:spPr>
          <a:xfrm>
            <a:off x="3163824" y="569671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the question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Where are you from?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from Honduras.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Is she from Mexico?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she isn't.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old is he?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He's 12.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Where are they from?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They're from Colombia.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Three people with the word th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where you are from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Where are you from?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your age: I'm 35.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 on cards, and labels were added.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  <a:endParaRPr lang="en-US" sz="22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Rosa, Marco, and Maria are invented names. Learners can use a practice age.</a:t>
            </a:r>
            <a:endParaRPr lang="en-US" sz="22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Rosa, Marco) made with Chatterbox TTS (Resemble AI, MIT License), cloned from short synthetic clips made with Kokoro-82M (Apache 2.0); no recordings of real people were used. Each file carries an inaudible Perth watermark. Font: Lexend Deca (OFL 1.1).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1: Hello! What's Your Name?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