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notesSlides/notesSlide24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3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67" r:id="rId13"/>
    <p:sldId id="257" r:id="rId3"/>
    <p:sldId id="279" r:id="rId30"/>
    <p:sldId id="265" r:id="rId11"/>
    <p:sldId id="276" r:id="rId27"/>
    <p:sldId id="262" r:id="rId8"/>
    <p:sldId id="264" r:id="rId10"/>
    <p:sldId id="272" r:id="rId18"/>
    <p:sldId id="268" r:id="rId14"/>
    <p:sldId id="277" r:id="rId28"/>
    <p:sldId id="260" r:id="rId6"/>
    <p:sldId id="259" r:id="rId5"/>
    <p:sldId id="266" r:id="rId12"/>
    <p:sldId id="280" r:id="rId31"/>
    <p:sldId id="278" r:id="rId29"/>
    <p:sldId id="270" r:id="rId16"/>
    <p:sldId id="271" r:id="rId17"/>
    <p:sldId id="281" r:id="rId32"/>
    <p:sldId id="282" r:id="rId33"/>
    <p:sldId id="261" r:id="rId7"/>
    <p:sldId id="283" r:id="rId34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5" Type="http://schemas.openxmlformats.org/officeDocument/2006/relationships/slide" Target="slides/slide10.xml"/><Relationship Id="rId6" Type="http://schemas.openxmlformats.org/officeDocument/2006/relationships/slide" Target="slides/slide9.xml"/><Relationship Id="rId7" Type="http://schemas.openxmlformats.org/officeDocument/2006/relationships/slide" Target="slides/slide12.xml"/><Relationship Id="rId8" Type="http://schemas.openxmlformats.org/officeDocument/2006/relationships/slide" Target="slides/slide14.xml"/><Relationship Id="rId10" Type="http://schemas.openxmlformats.org/officeDocument/2006/relationships/slide" Target="slides/slide11.xml"/><Relationship Id="rId11" Type="http://schemas.openxmlformats.org/officeDocument/2006/relationships/slide" Target="slides/slide4.xml"/><Relationship Id="rId12" Type="http://schemas.openxmlformats.org/officeDocument/2006/relationships/slide" Target="slides/slide15.xml"/><Relationship Id="rId13" Type="http://schemas.openxmlformats.org/officeDocument/2006/relationships/slide" Target="slides/slide3.xml"/><Relationship Id="rId14" Type="http://schemas.openxmlformats.org/officeDocument/2006/relationships/slide" Target="slides/slide7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6.xml"/><Relationship Id="rId20" Type="http://schemas.openxmlformats.org/officeDocument/2006/relationships/slide" Target="slides/slide18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5.xml"/><Relationship Id="rId28" Type="http://schemas.openxmlformats.org/officeDocument/2006/relationships/slide" Target="slides/slide8.xml"/><Relationship Id="rId29" Type="http://schemas.openxmlformats.org/officeDocument/2006/relationships/slide" Target="slides/slide13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Relationship Id="rId34" Type="http://schemas.openxmlformats.org/officeDocument/2006/relationships/slide" Target="slides/slide23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everyone. Smile, wave, and say: "Hello! Welcome to English class."</a:t>
            </a:r>
          </a:p>
          <a:p>
            <a:r>
              <a:rPr lang="en-US" dirty="0"/>
              <a:t>Point to the title. Read it slowly: "Hello! What's your name?" Learners repeat.</a:t>
            </a:r>
          </a:p>
          <a:p>
            <a:r>
              <a:rPr lang="en-US" dirty="0"/>
              <a:t>Read the three goals, one at a time. Learners repeat each one. Use gestures: wave for hello and goodbye, point to yourself for your name, write in the air for spell.</a:t>
            </a:r>
          </a:p>
          <a:p>
            <a:r>
              <a:rPr lang="en-US" dirty="0"/>
              <a:t>Keep it short. Don't explain. Show and smile.</a:t>
            </a:r>
          </a:p>
          <a:p>
            <a:r>
              <a:rPr lang="en-US" dirty="0"/>
              <a:t>Source: Level1_Lesson1.md, Lesson 1 (Topic; At a glance: Objectives).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combined, with a drawn speech bubble.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6:00-6:10 (10 minutes). Everyone stands. 15 learners: two circles. 7-8 learners: one circle.</a:t>
            </a:r>
          </a:p>
          <a:p>
            <a:r>
              <a:rPr lang="en-US" dirty="0"/>
              <a:t>Before class: write on the board "Hello! My name is ___." Each learner writes a first name on a name tag.</a:t>
            </a:r>
          </a:p>
          <a:p>
            <a:r>
              <a:rPr lang="en-US" dirty="0"/>
              <a:t>Model: wave and say "Hello! My name is" and your name. Point to yourself. Then point to a learner and wait. Help with "My name is...".</a:t>
            </a:r>
          </a:p>
          <a:p>
            <a:r>
              <a:rPr lang="en-US" dirty="0"/>
              <a:t>Click 1: Ana says "Hello! My name is Ana."</a:t>
            </a:r>
          </a:p>
          <a:p>
            <a:r>
              <a:rPr lang="en-US" dirty="0"/>
              <a:t>Click 2: Carlos answers "Hello, Ana!" and says "I'm Carlos."</a:t>
            </a:r>
          </a:p>
          <a:p>
            <a:r>
              <a:rPr lang="en-US" dirty="0"/>
              <a:t>Round 1: around the circle, each person says "Hello! My name is ___." The group answers "Hello, ___!"</a:t>
            </a:r>
          </a:p>
          <a:p>
            <a:r>
              <a:rPr lang="en-US" dirty="0"/>
              <a:t>Round 2: the same with "I'm ___." Point to the board: My name is = I'm.</a:t>
            </a:r>
          </a:p>
          <a:p>
            <a:r>
              <a:rPr lang="en-US" dirty="0"/>
              <a:t>Late arrivals: they join a circle. Give them a name tag.</a:t>
            </a:r>
          </a:p>
          <a:p>
            <a:r>
              <a:rPr lang="en-US" dirty="0"/>
              <a:t>If you are behind: go around once only.</a:t>
            </a:r>
          </a:p>
          <a:p>
            <a:r>
              <a:rPr lang="en-US" dirty="0"/>
              <a:t>Source: Level1_Lesson1.md, Lesson 1 (Step 1: Welcome + Hello Circle).</a:t>
            </a:r>
          </a:p>
          <a:p>
            <a:r>
              <a:rPr lang="en-US" dirty="0"/>
              <a:t>Picture: name tag drawn for this curriculum (no outside source).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of Grammar Q&amp;A (6:35-6:45). Whole class.</a:t>
            </a:r>
          </a:p>
          <a:p>
            <a:r>
              <a:rPr lang="en-US" dirty="0"/>
              <a:t>Point left: "Question." Point right: "Answer."</a:t>
            </a:r>
          </a:p>
          <a:p>
            <a:r>
              <a:rPr lang="en-US" dirty="0"/>
              <a:t>Read the question in row 1. Wait. Click to show the answer. The class reads it: "My name is Ana." or "I'm Ana." Do row 2 the same way (2 clicks).</a:t>
            </a:r>
          </a:p>
          <a:p>
            <a:r>
              <a:rPr lang="en-US" dirty="0"/>
              <a:t>Point to the picture: Ana = first name. Ruiz = last name. In English, the first name comes first: Ana Ruiz.</a:t>
            </a:r>
          </a:p>
          <a:p>
            <a:r>
              <a:rPr lang="en-US" dirty="0"/>
              <a:t>Some learners have two last names. That is fine.</a:t>
            </a:r>
          </a:p>
          <a:p>
            <a:r>
              <a:rPr lang="en-US" dirty="0"/>
              <a:t>Then ask a few learners: "What's your name?" "What's your last name?" A practice name is OK.</a:t>
            </a:r>
          </a:p>
          <a:p>
            <a:r>
              <a:rPr lang="en-US" dirty="0"/>
              <a:t>Source: Level1_Lesson1.md, Lesson 1 (Step 5: Grammar Q&amp;A; Student Pages: Grammar Box 2; Questions and answers).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resized, with a drawn ID card.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6:35-6:45 for all the grammar boxes. Whole class, then pairs.</a:t>
            </a:r>
          </a:p>
          <a:p>
            <a:r>
              <a:rPr lang="en-US" dirty="0"/>
              <a:t>Point left: "Say." Point right: "Answer."</a:t>
            </a:r>
          </a:p>
          <a:p>
            <a:r>
              <a:rPr lang="en-US" dirty="0"/>
              <a:t>Read the left side. Wait. Click to show the answer. The class reads the answer. Do all 4 rows like this (4 clicks).</a:t>
            </a:r>
          </a:p>
          <a:p>
            <a:r>
              <a:rPr lang="en-US" dirty="0"/>
              <a:t>Act it out: wave for Hello and Goodbye. Shake hands for Nice to meet you. Smile for How are you?</a:t>
            </a:r>
          </a:p>
          <a:p>
            <a:r>
              <a:rPr lang="en-US" dirty="0"/>
              <a:t>Then do it again: you read the left side, the class answers without looking.</a:t>
            </a:r>
          </a:p>
          <a:p>
            <a:r>
              <a:rPr lang="en-US" dirty="0"/>
              <a:t>Source: Level1_Lesson1.md, Lesson 1 (Step 5: Grammar Q&amp;A; Student Pages: Grammar Box 1).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combined, with a drawn speech bubble.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7:25-7:30 (5 minutes). Learners work alone. Open the Progress Check page.</a:t>
            </a:r>
          </a:p>
          <a:p>
            <a:r>
              <a:rPr lang="en-US" dirty="0"/>
              <a:t>Part A: read the 5 letters slowly, 2 times each: 1 I, 2 J, 3 E, 4 H, 5 G. Learners circle.</a:t>
            </a:r>
          </a:p>
          <a:p>
            <a:r>
              <a:rPr lang="en-US" dirty="0"/>
              <a:t>Part B (this slide): learners match each question to an answer on their page. Then click once for each answer: 1 c, 2 d, 3 a, 4 b.</a:t>
            </a:r>
          </a:p>
          <a:p>
            <a:r>
              <a:rPr lang="en-US" dirty="0"/>
              <a:t>Part C: learners write their first and last name.</a:t>
            </a:r>
          </a:p>
          <a:p>
            <a:r>
              <a:rPr lang="en-US" dirty="0"/>
              <a:t>Part D: read each "I can..." line aloud and point to the 3 faces: 😀 "I can do it." 🙂 "A little." 😐 "Not yet." Learners check one. "Not yet" is OK.</a:t>
            </a:r>
          </a:p>
          <a:p>
            <a:r>
              <a:rPr lang="en-US" dirty="0"/>
              <a:t>This is not a test grade. Collect the pages, or check them at the start of Week 2. It shows who needs more help with letters.</a:t>
            </a:r>
          </a:p>
          <a:p>
            <a:r>
              <a:rPr lang="en-US" dirty="0"/>
              <a:t>If you are behind: do the Progress Check in Week 2 at 6:00, while learners arrive.</a:t>
            </a:r>
          </a:p>
          <a:p>
            <a:r>
              <a:rPr lang="en-US" dirty="0"/>
              <a:t>Source: Level1_Lesson1.md, Lesson 1 (Progress Check step; Answer key: Progress Check Parts A, B, scoring; Student Pages: Progress Check).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check of the new words (about 2 minutes). Whole class.</a:t>
            </a:r>
          </a:p>
          <a:p>
            <a:r>
              <a:rPr lang="en-US" dirty="0"/>
              <a:t>Point to picture 1. Ask: "What's this?" Wait. Learners say the word. Then click to show it. Learners repeat 2 times.</a:t>
            </a:r>
          </a:p>
          <a:p>
            <a:r>
              <a:rPr lang="en-US" dirty="0"/>
              <a:t>Do the same with pictures 2 and 3. Answers: 1 goodbye, 2 teacher, 3 book.</a:t>
            </a:r>
          </a:p>
          <a:p>
            <a:r>
              <a:rPr lang="en-US" dirty="0"/>
              <a:t>Wave and walk to the door for goodbye. Point to yourself for teacher. Hold up a real book.</a:t>
            </a:r>
          </a:p>
          <a:p>
            <a:r>
              <a:rPr lang="en-US" dirty="0"/>
              <a:t>Source: Level1_Lesson1.md, Lesson 1 (Key vocabulary; Step 3: New Words).</a:t>
            </a:r>
          </a:p>
          <a:p>
            <a:r>
              <a:rPr lang="en-US" dirty="0"/>
              <a:t>Pictures: Twemoji graphics by Twitter, Inc. and other contributors (https://github.com/jdecked/twemoji), CC BY 4.0 (https://creativecommons.org/licenses/by/4.0/); resized and combined, with drawn speech bubbles and borders.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about 2 minutes, at the end of New Words. Whole class.</a:t>
            </a:r>
          </a:p>
          <a:p>
            <a:r>
              <a:rPr lang="en-US" dirty="0"/>
              <a:t>Click once for each row. Say the word with its gesture. Learners repeat.</a:t>
            </a:r>
          </a:p>
          <a:p>
            <a:r>
              <a:rPr lang="en-US" dirty="0"/>
              <a:t>👂 Hand to your ear: "Listen."  🗣️ Point to your mouth: "Repeat."  ✏️ Mime writing: "Write."</a:t>
            </a:r>
          </a:p>
          <a:p>
            <a:r>
              <a:rPr lang="en-US" dirty="0"/>
              <a:t>Help box: say each phrase slowly. Learners repeat 2 times. Shrug for "I don't understand."</a:t>
            </a:r>
          </a:p>
          <a:p>
            <a:r>
              <a:rPr lang="en-US" dirty="0"/>
              <a:t>Practice "Can you repeat, please?" right away: say a word very fast, and wait for someone to ask. Smile and say it again slowly.</a:t>
            </a:r>
          </a:p>
          <a:p>
            <a:r>
              <a:rPr lang="en-US" dirty="0"/>
              <a:t>Use these phrases every week. Point to this slide when someone is stuck.</a:t>
            </a:r>
          </a:p>
          <a:p>
            <a:r>
              <a:rPr lang="en-US" dirty="0"/>
              <a:t>Source: Level1_Lesson1.md, Lesson 1 (Classroom phrases; Step 3: New Words; Student Pages: Classroom Phrases).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resized, with a drawn border.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6:15-6:25 (10 minutes, with the next slide). Whole class.</a:t>
            </a:r>
          </a:p>
          <a:p>
            <a:r>
              <a:rPr lang="en-US" dirty="0"/>
              <a:t>★ = the most important words. Teach these first.</a:t>
            </a:r>
          </a:p>
          <a:p>
            <a:r>
              <a:rPr lang="en-US" dirty="0"/>
              <a:t>Click once for each word. Point to the picture and say the word slowly. Learners repeat 2 times.</a:t>
            </a:r>
          </a:p>
          <a:p>
            <a:r>
              <a:rPr lang="en-US" dirty="0"/>
              <a:t>Act it out: hello (wave), goodbye (wave and walk to the door), spell (write A-N-A in the air).</a:t>
            </a:r>
          </a:p>
          <a:p>
            <a:r>
              <a:rPr lang="en-US" dirty="0"/>
              <a:t>First name / last name: write your own name on the board. Point to the first part: "First name." Point to the second part: "Last name." Do the same with 2 learners' names.</a:t>
            </a:r>
          </a:p>
          <a:p>
            <a:r>
              <a:rPr lang="en-US" dirty="0"/>
              <a:t>If you are behind: teach the ★ words only.</a:t>
            </a:r>
          </a:p>
          <a:p>
            <a:r>
              <a:rPr lang="en-US" dirty="0"/>
              <a:t>Source: Level1_Lesson1.md, Lesson 1 (Key vocabulary; Step 3: New Words; Student Pages: New Words).</a:t>
            </a:r>
          </a:p>
          <a:p>
            <a:r>
              <a:rPr lang="en-US" dirty="0"/>
              <a:t>Pictures: Twemoji graphics by Twitter, Inc. and other contributors (https://github.com/jdecked/twemoji), CC BY 4.0 (https://creativecommons.org/licenses/by/4.0/); resized and combined. ID cards, the name tag, speech bubbles, letter tiles, the table, and labels were drawn for this curriculum.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of Grammar Q&amp;A (6:35-6:45). Whole class.</a:t>
            </a:r>
          </a:p>
          <a:p>
            <a:r>
              <a:rPr lang="en-US" dirty="0"/>
              <a:t>Read: "How do you spell it?" Click 1: the class spells R-U-I-Z and V-E-G-A with you. Say each letter in English, with a short stop.</a:t>
            </a:r>
          </a:p>
          <a:p>
            <a:r>
              <a:rPr lang="en-US" dirty="0"/>
              <a:t>Read: "Can you repeat, please?" Click 2: the class answers "Yes. V-E-G-A." and "Sure. R-U-I-Z."</a:t>
            </a:r>
          </a:p>
          <a:p>
            <a:r>
              <a:rPr lang="en-US" dirty="0"/>
              <a:t>Point to the big words and write them on the board: What's = What is. I'm = I am.</a:t>
            </a:r>
          </a:p>
          <a:p>
            <a:r>
              <a:rPr lang="en-US" dirty="0"/>
              <a:t>Check question: "How do you ___ it?" (spell).</a:t>
            </a:r>
          </a:p>
          <a:p>
            <a:r>
              <a:rPr lang="en-US" dirty="0"/>
              <a:t>Watch the letters learners mix up: A / E / I, G / J, V / B. Say them slowly and point.</a:t>
            </a:r>
          </a:p>
          <a:p>
            <a:r>
              <a:rPr lang="en-US" dirty="0"/>
              <a:t>Source: Level1_Lesson1.md, Lesson 1 (Step 5: Grammar Q&amp;A; Student Pages: Grammar Box 3; Questions and answers; Teacher notes).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combined, with drawn letters.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Click once for each line. Read it slowly. Learners repeat.</a:t>
            </a:r>
          </a:p>
          <a:p>
            <a:r>
              <a:rPr lang="en-US" dirty="0"/>
              <a:t>1: Wave and say "Hello!" Walk to the door, wave, and say "Goodbye!"</a:t>
            </a:r>
          </a:p>
          <a:p>
            <a:r>
              <a:rPr lang="en-US" dirty="0"/>
              <a:t>2: Write your name on the board. Point to the first part: "First name." Point to the second part: "Last name."</a:t>
            </a:r>
          </a:p>
          <a:p>
            <a:r>
              <a:rPr lang="en-US" dirty="0"/>
              <a:t>3: Write A-N-A in the air and say "A-N-A."</a:t>
            </a:r>
          </a:p>
          <a:p>
            <a:r>
              <a:rPr lang="en-US" dirty="0"/>
              <a:t>4: Say a word very fast. Then ask: "Can you repeat, please?"</a:t>
            </a:r>
          </a:p>
          <a:p>
            <a:r>
              <a:rPr lang="en-US" dirty="0"/>
              <a:t>5: Point to the alphabet on the board.</a:t>
            </a:r>
          </a:p>
          <a:p>
            <a:r>
              <a:rPr lang="en-US" dirty="0"/>
              <a:t>Say: "At 7:25 we check. 'Not yet' is OK."</a:t>
            </a:r>
          </a:p>
          <a:p>
            <a:r>
              <a:rPr lang="en-US" dirty="0"/>
              <a:t>Source: Level1_Lesson1.md, Lesson 1 (At a glance: Objectives; Progress Check, Part 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Listen 2 (Task B). Learners work alone, then check with a partner.</a:t>
            </a:r>
          </a:p>
          <a:p>
            <a:r>
              <a:rPr lang="en-US" dirty="0"/>
              <a:t>Say: "Listen again. Circle the letters." Point to the ⭕ icon. R (Ana) and A (Carlos) are already there.</a:t>
            </a:r>
          </a:p>
          <a:p>
            <a:r>
              <a:rPr lang="en-US" dirty="0"/>
              <a:t>Play the audio. Then: "Show your partner."</a:t>
            </a:r>
          </a:p>
          <a:p>
            <a:r>
              <a:rPr lang="en-US" dirty="0"/>
              <a:t>Click once for each answer (6 clicks). Ana: R-U-I-Z (U, I, Z). Carlos: V-E-G-A (V, E, G).</a:t>
            </a:r>
          </a:p>
          <a:p>
            <a:r>
              <a:rPr lang="en-US" dirty="0"/>
              <a:t>Say each letter slowly. Learners repeat. Watch E / I and G / J: many learners mix them up.</a:t>
            </a:r>
          </a:p>
          <a:p>
            <a:r>
              <a:rPr lang="en-US" dirty="0"/>
              <a:t>Source: Level1_Lesson1.md, Lesson 1 (Step 4: Listening; Answer key: Listening Task B; Student Pages: Listening B).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resized, with drawn letter tiles.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7:00-7:10 (10 minutes). Everyone stands and mingles.</a:t>
            </a:r>
          </a:p>
          <a:p>
            <a:r>
              <a:rPr lang="en-US" dirty="0"/>
              <a:t>15 learners: each person talks to 5-6 people. 7-8 learners: talk to everyone. 5 or fewer: sit at one table and go around; everyone writes everyone's name.</a:t>
            </a:r>
          </a:p>
          <a:p>
            <a:r>
              <a:rPr lang="en-US" dirty="0"/>
              <a:t>Model with one learner first: "Hello! What's your name?" "Rosa." "How do you spell it?" "R-O-S-A." Write R-O-S-A on the board as you hear it. Show the learner: "Is this right?" "Yes!"</a:t>
            </a:r>
          </a:p>
          <a:p>
            <a:r>
              <a:rPr lang="en-US" dirty="0"/>
              <a:t>Click once for each step. Learners greet, ask, and write the first and last name on the sign-in sheet. The partner looks and checks ✓ the spelling. Then "Goodbye!" and a new person.</a:t>
            </a:r>
          </a:p>
          <a:p>
            <a:r>
              <a:rPr lang="en-US" dirty="0"/>
              <a:t>When someone is stuck, point to the board: "Can you repeat, please?"</a:t>
            </a:r>
          </a:p>
          <a:p>
            <a:r>
              <a:rPr lang="en-US" dirty="0"/>
              <a:t>Baseline snapshot: while learners mingle, you (or a second volunteer) call about 5 learners, one at a time, for 2 minutes. Use the checklist in the answer key. Do the rest in Weeks 2 and 3.</a:t>
            </a:r>
          </a:p>
          <a:p>
            <a:r>
              <a:rPr lang="en-US" dirty="0"/>
              <a:t>A practice name is fine. Practice phone numbers only (555-0100 to 555-0199).</a:t>
            </a:r>
          </a:p>
          <a:p>
            <a:r>
              <a:rPr lang="en-US" dirty="0"/>
              <a:t>If you are behind: learners talk to 3 people.</a:t>
            </a:r>
          </a:p>
          <a:p>
            <a:r>
              <a:rPr lang="en-US" dirty="0"/>
              <a:t>Source: Level1_Lesson1.md, Lesson 1 (Step 6: Talk Time; Student Pages: Talk Time; Baseline snapshot checklist; Teacher notes).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combined, with a drawn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7:10-7:15 (5 minutes). Never skip this step.</a:t>
            </a:r>
          </a:p>
          <a:p>
            <a:r>
              <a:rPr lang="en-US" dirty="0"/>
              <a:t>Exit ticket: each learner says one sentence to you at the door: "My name is ___." and a practice phone number (555-01__). Or they write one sentence on a slip: "My name is ___." Copying from the grammar box is fine.</a:t>
            </a:r>
          </a:p>
          <a:p>
            <a:r>
              <a:rPr lang="en-US" dirty="0"/>
              <a:t>15 learners: stand at the door and listen to each person quickly. 7-8 learners: each person says it to the whole group.</a:t>
            </a:r>
          </a:p>
          <a:p>
            <a:r>
              <a:rPr lang="en-US" dirty="0"/>
              <a:t>Homework (10 minutes): open the Homework page. Do item 1 together. Point to each icon so learners know what to do at home.</a:t>
            </a:r>
          </a:p>
          <a:p>
            <a:r>
              <a:rPr lang="en-US" dirty="0"/>
              <a:t>Say: "Bring it next week!"</a:t>
            </a:r>
          </a:p>
          <a:p>
            <a:r>
              <a:rPr lang="en-US" dirty="0"/>
              <a:t>Source: Level1_Lesson1.md, Lesson 1 (Step 7: Exit Ticket + Homework; Student Pages: Homework).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resized, with a drawn border.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6:25-6:35 for all of Listening (Tasks A, B, C). Learners work alone, then check with a partner.</a:t>
            </a:r>
          </a:p>
          <a:p>
            <a:r>
              <a:rPr lang="en-US" dirty="0"/>
              <a:t>Before you listen (1 minute): point to the names. Say: "This is Ana. This is Carlos. First night. They say their names. They spell their names."</a:t>
            </a:r>
          </a:p>
          <a:p>
            <a:r>
              <a:rPr lang="en-US" dirty="0"/>
              <a:t>Listen 1 (Task A): play the audio. Pause after Ana spells her name and ask: "Ana or Carlos?" Learners point.</a:t>
            </a:r>
          </a:p>
          <a:p>
            <a:r>
              <a:rPr lang="en-US" dirty="0"/>
              <a:t>Learners check Ana or Carlos for each line. Then: "Show your partner."</a:t>
            </a:r>
          </a:p>
          <a:p>
            <a:r>
              <a:rPr lang="en-US" dirty="0"/>
              <a:t>Click once for each answer: 1 Ana, 2 Carlos, 3 Carlos, 4 Carlos.</a:t>
            </a:r>
          </a:p>
          <a:p>
            <a:r>
              <a:rPr lang="en-US" dirty="0"/>
              <a:t>The audio plays the conversation once. Press play again for the next listen. No speaker? Read the script with a volunteer, slowly.</a:t>
            </a:r>
          </a:p>
          <a:p>
            <a:r>
              <a:rPr lang="en-US" dirty="0"/>
              <a:t>If you are behind: play the audio 2 times in total, not 3.</a:t>
            </a:r>
          </a:p>
          <a:p>
            <a:r>
              <a:rPr lang="en-US" dirty="0"/>
              <a:t>Source: Level1_Lesson1.md, Lesson 1 (Step 4: Listening; Listening script; Answer key: Listening Task A; Student Pages: Listening 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for the record. You don't need to show it in class.</a:t>
            </a:r>
          </a:p>
          <a:p>
            <a:r>
              <a:rPr lang="en-US" dirty="0"/>
              <a:t>Pictures: 12 vocabulary cards (hello, goodbye, name, first name, last name, spell, letter, teacher, student, classmate, book, pen) made from Twemoji graphics, CC BY 4.0, with drawn ID cards, a name tag, speech bubbles, letter tiles, a table, and labels. The file-by-file list is in images/CREDITS.md.</a:t>
            </a:r>
          </a:p>
          <a:p>
            <a:r>
              <a:rPr lang="en-US" dirty="0"/>
              <a:t>Audio: L1_listening.mp3, synthetic voices (Chatterbox TTS, MIT License) with an inaudible Perth watermark.</a:t>
            </a:r>
          </a:p>
          <a:p>
            <a:r>
              <a:rPr lang="en-US" dirty="0"/>
              <a:t>Source: Level1_Lesson1.md (Picture Credits); images/CREDITS.md.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 up a real book and a real pen first.</a:t>
            </a:r>
          </a:p>
          <a:p>
            <a:r>
              <a:rPr lang="en-US" dirty="0"/>
              <a:t>Click once for each word. Point to the picture and say the word. Learners repeat 2 times.</a:t>
            </a:r>
          </a:p>
          <a:p>
            <a:r>
              <a:rPr lang="en-US" dirty="0"/>
              <a:t>Partner game (4 minutes): A points to a picture. B says the word. Then switch.</a:t>
            </a:r>
          </a:p>
          <a:p>
            <a:r>
              <a:rPr lang="en-US" dirty="0"/>
              <a:t>Pairs: 15 learners = 7 pairs + 1 group of 3. 7-8 learners = 3-4 pairs.</a:t>
            </a:r>
          </a:p>
          <a:p>
            <a:r>
              <a:rPr lang="en-US" dirty="0"/>
              <a:t>Show the icons: 👥 partner, ☝️ point, 🗣️ say.</a:t>
            </a:r>
          </a:p>
          <a:p>
            <a:r>
              <a:rPr lang="en-US" dirty="0"/>
              <a:t>If you are behind: teach the ★ words only (teacher, student). The other words stay on the page for home study.</a:t>
            </a:r>
          </a:p>
          <a:p>
            <a:r>
              <a:rPr lang="en-US" dirty="0"/>
              <a:t>Source: Level1_Lesson1.md, Lesson 1 (Key vocabulary; Step 3: New Words; Student Pages: New Words, Partner game).</a:t>
            </a:r>
          </a:p>
          <a:p>
            <a:r>
              <a:rPr lang="en-US" dirty="0"/>
              <a:t>Pictures: Twemoji graphics by Twitter, Inc. and other contributors (https://github.com/jdecked/twemoji), CC BY 4.0 (https://creativecommons.org/licenses/by/4.0/); resized and combined. ID cards, the name tag, speech bubbles, letter tiles, the table, and labels were drawn for this curriculum.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Listen 3 (Task C). Learners write the two last names. Then: "Show your partner."</a:t>
            </a:r>
          </a:p>
          <a:p>
            <a:r>
              <a:rPr lang="en-US" dirty="0"/>
              <a:t>Click 1: RUIZ (Ana). Click 2: VEGA (Carlos). Spell each name slowly. Learners repeat.</a:t>
            </a:r>
          </a:p>
          <a:p>
            <a:r>
              <a:rPr lang="en-US" dirty="0"/>
              <a:t>Say it (2 minutes): play or read the 2 lines: "How do you spell it?" and "Can you repeat, please?" The class repeats each line 2 times.</a:t>
            </a:r>
          </a:p>
          <a:p>
            <a:r>
              <a:rPr lang="en-US" dirty="0"/>
              <a:t>Use a flat, clear voice first. Then make it friendly.</a:t>
            </a:r>
          </a:p>
          <a:p>
            <a:r>
              <a:rPr lang="en-US" dirty="0"/>
              <a:t>If you are behind: play the audio 2 times in total, and do Task C together on the board.</a:t>
            </a:r>
          </a:p>
          <a:p>
            <a:r>
              <a:rPr lang="en-US" dirty="0"/>
              <a:t>Source: Level1_Lesson1.md, Lesson 1 (Step 4: Listening; Answer key: Listening Task C; Student Pages: Listening C, Say it).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slide after the grammar boxes, or any time you hear these mistakes.</a:t>
            </a:r>
          </a:p>
          <a:p>
            <a:r>
              <a:rPr lang="en-US" dirty="0"/>
              <a:t>Read the left side. Ask: "OK?" Shake your head: "No." Click to show the right answer. The class repeats it 2 times.</a:t>
            </a:r>
          </a:p>
          <a:p>
            <a:r>
              <a:rPr lang="en-US" dirty="0"/>
              <a:t>4 clicks: My name is Ana. / I'm Ana. / What's your name? / How do you spell it?</a:t>
            </a:r>
          </a:p>
          <a:p>
            <a:r>
              <a:rPr lang="en-US" dirty="0"/>
              <a:t>Correct by saying the right form clearly. The learner repeats. Don't explain the grammar.</a:t>
            </a:r>
          </a:p>
          <a:p>
            <a:r>
              <a:rPr lang="en-US" dirty="0"/>
              <a:t>Also listen for Spanish letter names: E said as "eh", I said as "ee". Say the English letter slowly and point to it.</a:t>
            </a:r>
          </a:p>
          <a:p>
            <a:r>
              <a:rPr lang="en-US" dirty="0"/>
              <a:t>Source: Level1_Lesson1.md, Lesson 1 (Student Pages: Common mistakes; Teacher notes: Typical mistakes this week).</a:t>
            </a:r>
          </a:p>
          <a:p>
            <a:r>
              <a:rPr lang="en-US" dirty="0"/>
              <a:t>Picture: name tag drawn for this curriculum (no outside source).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6:10-6:15 (5 minutes). Whole class.</a:t>
            </a:r>
          </a:p>
          <a:p>
            <a:r>
              <a:rPr lang="en-US" dirty="0"/>
              <a:t>Click once for each row. Point to the icon and do the action. Learners copy your gesture.</a:t>
            </a:r>
          </a:p>
          <a:p>
            <a:r>
              <a:rPr lang="en-US" dirty="0"/>
              <a:t>👂 Hand to your ear: "Listen."  🗣️ "Say."  ✏️ Mime writing: "Write."  👥 Point to two people: "Partner."  🚶 Walk a few steps: "Walk and talk."</a:t>
            </a:r>
          </a:p>
          <a:p>
            <a:r>
              <a:rPr lang="en-US" dirty="0"/>
              <a:t>Point to the clock: class at 6:00, break at 6:45, back at 7:00, end at 7:30.</a:t>
            </a:r>
          </a:p>
          <a:p>
            <a:r>
              <a:rPr lang="en-US" dirty="0"/>
              <a:t>Say the 3 rules: (1) "English in class. A classmate can help you for a few seconds. Then back to English." (2) "Homework every week. It's short." (3) "Phones are OK for the audio and a dictionary."</a:t>
            </a:r>
          </a:p>
          <a:p>
            <a:r>
              <a:rPr lang="en-US" dirty="0"/>
              <a:t>Also say: "You can use a real name or a practice name."</a:t>
            </a:r>
          </a:p>
          <a:p>
            <a:r>
              <a:rPr lang="en-US" dirty="0"/>
              <a:t>If you are behind: show the icons and say the 3 rules only.</a:t>
            </a:r>
          </a:p>
          <a:p>
            <a:r>
              <a:rPr lang="en-US" dirty="0"/>
              <a:t>Source: Level1_Lesson1.md, Lesson 1 (Step 2: Orientation; Student Pages: The Icons, How Our Class Works).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of Grammar (6:35-6:45). Learners write alone first.</a:t>
            </a:r>
          </a:p>
          <a:p>
            <a:r>
              <a:rPr lang="en-US" dirty="0"/>
              <a:t>Say: "Write one word." Point to the ✏️ icon. Do number 1 together.</a:t>
            </a:r>
          </a:p>
          <a:p>
            <a:r>
              <a:rPr lang="en-US" dirty="0"/>
              <a:t>Pairs check: "Show your partner."</a:t>
            </a:r>
          </a:p>
          <a:p>
            <a:r>
              <a:rPr lang="en-US" dirty="0"/>
              <a:t>Click once for each answer: 1 name, 2 What's, 3 spell, 4 repeat, 5 am.</a:t>
            </a:r>
          </a:p>
          <a:p>
            <a:r>
              <a:rPr lang="en-US" dirty="0"/>
              <a:t>Number 5 is a first look at Box 4: "Are you a student?" "Yes, I am." Point to yourself: "Am I a student?" Class: "No, you're not. You're a teacher!" Don't teach more; Lesson 2 does.</a:t>
            </a:r>
          </a:p>
          <a:p>
            <a:r>
              <a:rPr lang="en-US" dirty="0"/>
              <a:t>Pair drill (last 3-4 minutes): A asks a question, B answers with real information or a practice name. Then switch.</a:t>
            </a:r>
          </a:p>
          <a:p>
            <a:r>
              <a:rPr lang="en-US" dirty="0"/>
              <a:t>If you are behind: skip the pair drill. Talk Time practices the same questions.</a:t>
            </a:r>
          </a:p>
          <a:p>
            <a:r>
              <a:rPr lang="en-US" dirty="0"/>
              <a:t>Source: Level1_Lesson1.md, Lesson 1 (Step 5: Grammar Q&amp;A; Student Pages: Practice; Answer key: Grammar practice).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7:15-7:25 (10 minutes). Whole class, then pairs. Write A to Z on the board before class.</a:t>
            </a:r>
          </a:p>
          <a:p>
            <a:r>
              <a:rPr lang="en-US" dirty="0"/>
              <a:t>See it (2 minutes): point to each letter, A to Z. Say each letter once. Point to a capital and its small letter: "Big A, small a."</a:t>
            </a:r>
          </a:p>
          <a:p>
            <a:r>
              <a:rPr lang="en-US" dirty="0"/>
              <a:t>Say it (4 minutes): learners repeat after you in groups of 4-5 letters (A B C D, E F G, H I J K...).</a:t>
            </a:r>
          </a:p>
          <a:p>
            <a:r>
              <a:rPr lang="en-US" dirty="0"/>
              <a:t>Tricky letters: say each letter 3 times, slowly. Click to show the example word. Spend the most time on A / E / I and G / J.</a:t>
            </a:r>
          </a:p>
          <a:p>
            <a:r>
              <a:rPr lang="en-US" dirty="0"/>
              <a:t>Quick check (1 minute): say a tricky letter; learners point to it. "E." (E, not I.) "G." (G, not J.)</a:t>
            </a:r>
          </a:p>
          <a:p>
            <a:r>
              <a:rPr lang="en-US" dirty="0"/>
              <a:t>Learners who can't read or write yet: they say the letters with everyone and point instead of writing.</a:t>
            </a:r>
          </a:p>
          <a:p>
            <a:r>
              <a:rPr lang="en-US" dirty="0"/>
              <a:t>If you are behind: do the tricky letters and Task D (spell your name to a partner) only.</a:t>
            </a:r>
          </a:p>
          <a:p>
            <a:r>
              <a:rPr lang="en-US" dirty="0"/>
              <a:t>Source: Level1_Lesson1.md, Lesson 1 (Letters &amp; Numbers step; Student Pages: Letters &amp; Numbers A, Tricky letters).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Task B (3 minutes). Learners listen and circle on their page.</a:t>
            </a:r>
          </a:p>
          <a:p>
            <a:r>
              <a:rPr lang="en-US" dirty="0"/>
              <a:t>Say each letter 2 times, slowly: 1 E, 2 G, 3 I, 4 J, 5 A.</a:t>
            </a:r>
          </a:p>
          <a:p>
            <a:r>
              <a:rPr lang="en-US" dirty="0"/>
              <a:t>Click once for each answer (5 clicks). Learners check their page.</a:t>
            </a:r>
          </a:p>
          <a:p>
            <a:r>
              <a:rPr lang="en-US" dirty="0"/>
              <a:t>Then Task C: learners write their name in capital letters and small letters.</a:t>
            </a:r>
          </a:p>
          <a:p>
            <a:r>
              <a:rPr lang="en-US" dirty="0"/>
              <a:t>Then Task D (pairs): A spells their name; B writes it. A checks. Switch.</a:t>
            </a:r>
          </a:p>
          <a:p>
            <a:r>
              <a:rPr lang="en-US" dirty="0"/>
              <a:t>Learners who can't read or write yet: they point instead of circle, and copy their name from their name tag.</a:t>
            </a:r>
          </a:p>
          <a:p>
            <a:r>
              <a:rPr lang="en-US" dirty="0"/>
              <a:t>Source: Level1_Lesson1.md, Lesson 1 (Letters &amp; Numbers step; Answer key: Letters &amp; Numbers Task B; Student Pages: Letters &amp; Numbers B-D).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Wave and say: "Goodbye! See you next week!" Learners answer: "Goodbye!" or "Bye!"</a:t>
            </a:r>
          </a:p>
          <a:p>
            <a:r>
              <a:rPr lang="en-US" dirty="0"/>
              <a:t>Read the three lines. Learners repeat. Say: "Great work tonight!"</a:t>
            </a:r>
          </a:p>
          <a:p>
            <a:r>
              <a:rPr lang="en-US" dirty="0"/>
              <a:t>Remind them: "Homework. Bring it next week!"</a:t>
            </a:r>
          </a:p>
          <a:p>
            <a:r>
              <a:rPr lang="en-US" dirty="0"/>
              <a:t>Source: Level1_Lesson1.md, Lesson 1 (Objectives; Grammar Box 1; Step 7).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combined, with a drawn speech bubble.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image" Target="../media/g1_L1_hello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G1img" Type="http://schemas.openxmlformats.org/officeDocument/2006/relationships/image" Target="../media/g1_L1_name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4.xml.rels><?xml version="1.0" encoding="UTF-8" standalone="yes"?>
<Relationships xmlns="http://schemas.openxmlformats.org/package/2006/relationships"><Relationship Id="rIdG1" Type="http://schemas.openxmlformats.org/officeDocument/2006/relationships/image" Target="../media/g2_L1_hello.png"/><Relationship Id="rIdG2" Type="http://schemas.openxmlformats.org/officeDocument/2006/relationships/image" Target="../media/g2_L1_goodbye.png"/><Relationship Id="rIdG3" Type="http://schemas.openxmlformats.org/officeDocument/2006/relationships/image" Target="../media/g2_L1_name.png"/><Relationship Id="rIdG4" Type="http://schemas.openxmlformats.org/officeDocument/2006/relationships/image" Target="../media/g2_L1_first_name.png"/><Relationship Id="rIdG5" Type="http://schemas.openxmlformats.org/officeDocument/2006/relationships/image" Target="../media/g2_L1_last_name.png"/><Relationship Id="rIdG6" Type="http://schemas.openxmlformats.org/officeDocument/2006/relationships/image" Target="../media/g2_L1_spell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5.xml.rels><?xml version="1.0" encoding="UTF-8" standalone="yes"?>
<Relationships xmlns="http://schemas.openxmlformats.org/package/2006/relationships"><Relationship Id="rIdG1" Type="http://schemas.openxmlformats.org/officeDocument/2006/relationships/image" Target="../media/g2_L1_letter.png"/><Relationship Id="rIdG2" Type="http://schemas.openxmlformats.org/officeDocument/2006/relationships/image" Target="../media/g2_L1_teacher.png"/><Relationship Id="rIdG3" Type="http://schemas.openxmlformats.org/officeDocument/2006/relationships/image" Target="../media/g2_L1_student.png"/><Relationship Id="rIdG4" Type="http://schemas.openxmlformats.org/officeDocument/2006/relationships/image" Target="../media/g2_L1_classmate.png"/><Relationship Id="rIdG5" Type="http://schemas.openxmlformats.org/officeDocument/2006/relationships/image" Target="../media/g2_L1_book.png"/><Relationship Id="rIdG6" Type="http://schemas.openxmlformats.org/officeDocument/2006/relationships/image" Target="../media/g2_L1_pen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7.xml.rels><?xml version="1.0" encoding="UTF-8" standalone="yes"?>
<Relationships xmlns="http://schemas.openxmlformats.org/package/2006/relationships"><Relationship Id="rIdG1" Type="http://schemas.openxmlformats.org/officeDocument/2006/relationships/image" Target="../media/g4_L1_spell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9.xml.rels><?xml version="1.0" encoding="UTF-8" standalone="yes"?>
<Relationships xmlns="http://schemas.openxmlformats.org/package/2006/relationships"><Relationship Id="rIdG1" Type="http://schemas.openxmlformats.org/officeDocument/2006/relationships/image" Target="../media/g4_L1_goodbye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10.xml.rels><?xml version="1.0" encoding="UTF-8" standalone="yes"?>
<Relationships xmlns="http://schemas.openxmlformats.org/package/2006/relationships"><Relationship Id="rIdG1" Type="http://schemas.openxmlformats.org/officeDocument/2006/relationships/image" Target="../media/g5_L1_first_name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11.xml.rels><?xml version="1.0" encoding="UTF-8" standalone="yes"?>
<Relationships xmlns="http://schemas.openxmlformats.org/package/2006/relationships"><Relationship Id="rIdG1" Type="http://schemas.openxmlformats.org/officeDocument/2006/relationships/image" Target="../media/g2_L1_teacher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13.xml.rels><?xml version="1.0" encoding="UTF-8" standalone="yes"?>
<Relationships xmlns="http://schemas.openxmlformats.org/package/2006/relationships"><Relationship Id="rIdG1" Type="http://schemas.openxmlformats.org/officeDocument/2006/relationships/image" Target="../media/g2_L1_name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G3w1" Type="http://schemas.openxmlformats.org/officeDocument/2006/relationships/image" Target="../media/g2_L1_goodbye.png"/><Relationship Id="rIdG3w2" Type="http://schemas.openxmlformats.org/officeDocument/2006/relationships/image" Target="../media/g2_L1_teacher.png"/><Relationship Id="rIdG3w3" Type="http://schemas.openxmlformats.org/officeDocument/2006/relationships/image" Target="../media/g2_L1_book.png"/></Relationships>
</file>

<file path=ppt/slides/_rels/slide15.xml.rels><?xml version="1.0" encoding="UTF-8" standalone="yes"?>
<Relationships xmlns="http://schemas.openxmlformats.org/package/2006/relationships"><Relationship Id="rIdG1" Type="http://schemas.openxmlformats.org/officeDocument/2006/relationships/image" Target="../media/g5_L1_letter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6.xml.rels><?xml version="1.0" encoding="UTF-8" standalone="yes"?>
<Relationships xmlns="http://schemas.openxmlformats.org/package/2006/relationships"><Relationship Id="rIdG1" Type="http://schemas.openxmlformats.org/officeDocument/2006/relationships/image" Target="../media/g2_L1_classmate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7.xml.rels><?xml version="1.0" encoding="UTF-8" standalone="yes"?>
<Relationships xmlns="http://schemas.openxmlformats.org/package/2006/relationships"><Relationship Id="rIdG1" Type="http://schemas.openxmlformats.org/officeDocument/2006/relationships/image" Target="../media/g2_L1_pen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image" Target="../media/g4_L1_goodbye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Image 0" descr="Smiling face and waving hand saying Hi!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1  ·  Level 1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50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Hello! What's Your Name?</a:t>
            </a:r>
            <a:endParaRPr lang="en-US" sz="5000" dirty="0"/>
          </a:p>
        </p:txBody>
      </p:sp>
      <p:sp>
        <p:nvSpPr>
          <p:cNvPr id="9" name="Text 6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 you will: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Say hello and goodbye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Say and spell your name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Ask: Can you repeat, please?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6172200" y="594360"/>
            <a:ext cx="914400" cy="863781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6245679" y="582930"/>
            <a:ext cx="930729" cy="930729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 rot="900000">
            <a:off x="6498771" y="849902"/>
            <a:ext cx="397601" cy="397601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87604" y="1352535"/>
            <a:ext cx="5246827" cy="127741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8465" y="1300277"/>
            <a:ext cx="5246827" cy="127741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 flipH="1">
            <a:off x="5503774" y="3276295"/>
            <a:ext cx="6847942" cy="3931006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5" name="Name tag" descr="Name tag: HELLO my name is Ana"/>
          <p:cNvPicPr>
            <a:picLocks noChangeAspect="1"/>
          </p:cNvPicPr>
          <p:nvPr/>
        </p:nvPicPr>
        <p:blipFill>
          <a:blip r:embed="rIdG1img"/>
          <a:stretch>
            <a:fillRect/>
          </a:stretch>
        </p:blipFill>
        <p:spPr>
          <a:xfrm>
            <a:off x="6799936" y="2104034"/>
            <a:ext cx="4754880" cy="3328416"/>
          </a:xfrm>
          <a:prstGeom prst="rect">
            <a:avLst/>
          </a:prstGeom>
        </p:spPr>
      </p:pic>
      <p:sp>
        <p:nvSpPr>
          <p:cNvPr id="7" name="Text 5"/>
          <p:cNvSpPr/>
          <p:nvPr/>
        </p:nvSpPr>
        <p:spPr>
          <a:xfrm>
            <a:off x="548640" y="1764792"/>
            <a:ext cx="5120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Hello Circle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599846" y="137160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WARM-UP  ·  6:00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99846" y="301752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Hello! My name is ___.</a:t>
            </a:r>
            <a:endParaRPr lang="en-US" sz="2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___.</a:t>
            </a:r>
            <a:endParaRPr lang="en-US" sz="2200" dirty="0"/>
          </a:p>
        </p:txBody>
      </p:sp>
      <p:sp>
        <p:nvSpPr>
          <p:cNvPr id="13" name="Model Ana"/>
          <p:cNvSpPr/>
          <p:nvPr/>
        </p:nvSpPr>
        <p:spPr>
          <a:xfrm>
            <a:off x="599846" y="402336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Ana: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Hello! My name is Ana.</a:t>
            </a:r>
            <a:endParaRPr lang="en-US" sz="2200" dirty="0"/>
          </a:p>
        </p:txBody>
      </p:sp>
      <p:sp>
        <p:nvSpPr>
          <p:cNvPr id="14" name="Model Carlos"/>
          <p:cNvSpPr/>
          <p:nvPr/>
        </p:nvSpPr>
        <p:spPr>
          <a:xfrm>
            <a:off x="599846" y="4709160"/>
            <a:ext cx="4114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Carlos: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Hello, Ana!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Carlos.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822546" y="4854550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904842" y="4841748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 rot="900000">
            <a:off x="5188306" y="5140757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" y="209306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583741" y="2035454"/>
            <a:ext cx="5130698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583741" y="312724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583741" y="3838651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583741" y="4550054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583741" y="526145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10512" y="2103120"/>
            <a:ext cx="4434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say hello and goodbye.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901952" y="2505456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Hello!  ·  Hi!  ·  Goodbye!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 rot="10800000">
            <a:off x="6361481" y="223022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810512" y="3127248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say my first and last name.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 rot="10800000">
            <a:off x="6361481" y="3260750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810512" y="3838651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spell my name.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 rot="10800000">
            <a:off x="6361481" y="3955694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810512" y="4550054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ask: Can you repeat, please?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 rot="10800000">
            <a:off x="6361481" y="466709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810512" y="5261458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say and write A to Z.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 rot="10800000">
            <a:off x="6361481" y="5377586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544982" y="2035454"/>
            <a:ext cx="1039673" cy="983894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86714" y="2166214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dirty="0"/>
          </a:p>
        </p:txBody>
      </p:sp>
      <p:sp>
        <p:nvSpPr>
          <p:cNvPr id="21" name="Shape 19"/>
          <p:cNvSpPr/>
          <p:nvPr/>
        </p:nvSpPr>
        <p:spPr>
          <a:xfrm>
            <a:off x="544982" y="3127248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86714" y="311261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dirty="0"/>
          </a:p>
        </p:txBody>
      </p:sp>
      <p:sp>
        <p:nvSpPr>
          <p:cNvPr id="23" name="Shape 21"/>
          <p:cNvSpPr/>
          <p:nvPr/>
        </p:nvSpPr>
        <p:spPr>
          <a:xfrm>
            <a:off x="544982" y="3838651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86714" y="381670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544982" y="4550054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86714" y="454365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dirty="0"/>
          </a:p>
        </p:txBody>
      </p:sp>
      <p:sp>
        <p:nvSpPr>
          <p:cNvPr id="27" name="Shape 25"/>
          <p:cNvSpPr/>
          <p:nvPr/>
        </p:nvSpPr>
        <p:spPr>
          <a:xfrm>
            <a:off x="544982" y="527974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86714" y="526968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05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Today's</a:t>
            </a:r>
            <a:endParaRPr lang="en-US" sz="4000" dirty="0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Goals</a:t>
            </a:r>
            <a:endParaRPr lang="en-US" sz="4000" dirty="0"/>
          </a:p>
        </p:txBody>
      </p:sp>
      <p:sp>
        <p:nvSpPr>
          <p:cNvPr id="30" name="Text 28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the end of class, you can do these five things.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Repeat.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 check at 7:25!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184087" y="180411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242576" y="179501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 rot="900000">
            <a:off x="6444038" y="200752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New Words</a:t>
            </a:r>
            <a:endParaRPr lang="en-US" sz="4900" dirty="0"/>
          </a:p>
        </p:txBody>
      </p:sp>
      <p:sp>
        <p:nvSpPr>
          <p:cNvPr id="9" name="Shape 7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1286561" y="744322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345050" y="73522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 rot="900000">
            <a:off x="1546512" y="94773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14884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Look. Listen.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Repeat.</a:t>
            </a:r>
            <a:endParaRPr lang="en-US" sz="2200" dirty="0"/>
          </a:p>
        </p:txBody>
      </p:sp>
      <p:pic>
        <p:nvPicPr>
          <p:cNvPr id="17" name="Word picture 1" descr="Smiling face and waving hand saying Hi!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 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hello</a:t>
            </a:r>
            <a:endParaRPr lang="en-US" sz="2000" dirty="0"/>
          </a:p>
        </p:txBody>
      </p:sp>
      <p:pic>
        <p:nvPicPr>
          <p:cNvPr id="19" name="Word picture 2" descr="Person walking to a door, waving, saying Bye!"/>
          <p:cNvPicPr>
            <a:picLocks noChangeAspect="1"/>
          </p:cNvPicPr>
          <p:nvPr/>
        </p:nvPicPr>
        <p:blipFill>
          <a:blip r:embed="rIdG2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 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goodbye</a:t>
            </a:r>
            <a:endParaRPr lang="en-US" sz="2000" dirty="0"/>
          </a:p>
        </p:txBody>
      </p:sp>
      <p:pic>
        <p:nvPicPr>
          <p:cNvPr id="21" name="Word picture 3" descr="Name tag: HELLO my name is Ana"/>
          <p:cNvPicPr>
            <a:picLocks noChangeAspect="1"/>
          </p:cNvPicPr>
          <p:nvPr/>
        </p:nvPicPr>
        <p:blipFill>
          <a:blip r:embed="rIdG3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 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</a:t>
            </a:r>
            <a:endParaRPr lang="en-US" sz="2000" dirty="0"/>
          </a:p>
        </p:txBody>
      </p:sp>
      <p:pic>
        <p:nvPicPr>
          <p:cNvPr id="23" name="Word picture 4" descr="ID card with FIRST NAME highlighted"/>
          <p:cNvPicPr>
            <a:picLocks noChangeAspect="1"/>
          </p:cNvPicPr>
          <p:nvPr/>
        </p:nvPicPr>
        <p:blipFill>
          <a:blip r:embed="rIdG4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 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first name</a:t>
            </a:r>
            <a:endParaRPr lang="en-US" sz="2000" dirty="0"/>
          </a:p>
        </p:txBody>
      </p:sp>
      <p:pic>
        <p:nvPicPr>
          <p:cNvPr id="25" name="Word picture 5" descr="ID card with LAST NAME highlighted"/>
          <p:cNvPicPr>
            <a:picLocks noChangeAspect="1"/>
          </p:cNvPicPr>
          <p:nvPr/>
        </p:nvPicPr>
        <p:blipFill>
          <a:blip r:embed="rIdG5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 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last name</a:t>
            </a:r>
            <a:endParaRPr lang="en-US" sz="2000" dirty="0"/>
          </a:p>
        </p:txBody>
      </p:sp>
      <p:pic>
        <p:nvPicPr>
          <p:cNvPr id="27" name="Word picture 6" descr="Speaking head and letter tiles A-N-A"/>
          <p:cNvPicPr>
            <a:picLocks noChangeAspect="1"/>
          </p:cNvPicPr>
          <p:nvPr/>
        </p:nvPicPr>
        <p:blipFill>
          <a:blip r:embed="rIdG6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 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spell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 New Words</a:t>
            </a:r>
            <a:endParaRPr lang="en-US" sz="4400" dirty="0"/>
          </a:p>
        </p:txBody>
      </p:sp>
      <p:sp>
        <p:nvSpPr>
          <p:cNvPr id="9" name="Shape 7"/>
          <p:cNvSpPr/>
          <p:nvPr/>
        </p:nvSpPr>
        <p:spPr>
          <a:xfrm>
            <a:off x="1121969" y="587045"/>
            <a:ext cx="410657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1286561" y="744322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345050" y="73522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 rot="900000">
            <a:off x="1546512" y="94773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148840" y="68580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👥 ☝️ 🗣️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points. B says.</a:t>
            </a:r>
            <a:endParaRPr lang="en-US" sz="2200" dirty="0"/>
          </a:p>
        </p:txBody>
      </p:sp>
      <p:pic>
        <p:nvPicPr>
          <p:cNvPr id="17" name="Word picture 1" descr="Capital and small letters: A a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letter</a:t>
            </a:r>
            <a:endParaRPr lang="en-US" sz="2000" dirty="0"/>
          </a:p>
        </p:txBody>
      </p:sp>
      <p:pic>
        <p:nvPicPr>
          <p:cNvPr id="19" name="Word picture 2" descr="Teacher at a board"/>
          <p:cNvPicPr>
            <a:picLocks noChangeAspect="1"/>
          </p:cNvPicPr>
          <p:nvPr/>
        </p:nvPicPr>
        <p:blipFill>
          <a:blip r:embed="rIdG2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 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teacher</a:t>
            </a:r>
            <a:endParaRPr lang="en-US" sz="2000" dirty="0"/>
          </a:p>
        </p:txBody>
      </p:sp>
      <p:pic>
        <p:nvPicPr>
          <p:cNvPr id="21" name="Word picture 3" descr="Student with paper and pencil"/>
          <p:cNvPicPr>
            <a:picLocks noChangeAspect="1"/>
          </p:cNvPicPr>
          <p:nvPr/>
        </p:nvPicPr>
        <p:blipFill>
          <a:blip r:embed="rIdG3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 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student</a:t>
            </a:r>
            <a:endParaRPr lang="en-US" sz="2000" dirty="0"/>
          </a:p>
        </p:txBody>
      </p:sp>
      <p:pic>
        <p:nvPicPr>
          <p:cNvPr id="23" name="Word picture 4" descr="Two learners at one table with books"/>
          <p:cNvPicPr>
            <a:picLocks noChangeAspect="1"/>
          </p:cNvPicPr>
          <p:nvPr/>
        </p:nvPicPr>
        <p:blipFill>
          <a:blip r:embed="rIdG4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classmate</a:t>
            </a:r>
            <a:endParaRPr lang="en-US" sz="2000" dirty="0"/>
          </a:p>
        </p:txBody>
      </p:sp>
      <p:pic>
        <p:nvPicPr>
          <p:cNvPr id="25" name="Word picture 5" descr="Open book and closed book"/>
          <p:cNvPicPr>
            <a:picLocks noChangeAspect="1"/>
          </p:cNvPicPr>
          <p:nvPr/>
        </p:nvPicPr>
        <p:blipFill>
          <a:blip r:embed="rIdG5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book</a:t>
            </a:r>
            <a:endParaRPr lang="en-US" sz="2000" dirty="0"/>
          </a:p>
        </p:txBody>
      </p:sp>
      <p:pic>
        <p:nvPicPr>
          <p:cNvPr id="27" name="Word picture 6" descr="Pen"/>
          <p:cNvPicPr>
            <a:picLocks noChangeAspect="1"/>
          </p:cNvPicPr>
          <p:nvPr/>
        </p:nvPicPr>
        <p:blipFill>
          <a:blip r:embed="rIdG6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pen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A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👂 ✅  Listen. Who is it?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Ana or Carlos?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10865815" y="269565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10924304" y="268655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 rot="900000">
            <a:off x="11125766" y="289906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27" name="Statement 1"/>
          <p:cNvSpPr/>
          <p:nvPr/>
        </p:nvSpPr>
        <p:spPr>
          <a:xfrm>
            <a:off x="502920" y="3200400"/>
            <a:ext cx="59436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Last name: Ruiz</a:t>
            </a:r>
            <a:endParaRPr lang="en-US" sz="2200" dirty="0"/>
          </a:p>
        </p:txBody>
      </p:sp>
      <p:sp>
        <p:nvSpPr>
          <p:cNvPr id="28" name="True 1"/>
          <p:cNvSpPr/>
          <p:nvPr/>
        </p:nvSpPr>
        <p:spPr>
          <a:xfrm>
            <a:off x="6583680" y="3200400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Ana</a:t>
            </a:r>
            <a:endParaRPr lang="en-US" sz="2000" dirty="0"/>
          </a:p>
        </p:txBody>
      </p:sp>
      <p:sp>
        <p:nvSpPr>
          <p:cNvPr id="29" name="False 1"/>
          <p:cNvSpPr/>
          <p:nvPr/>
        </p:nvSpPr>
        <p:spPr>
          <a:xfrm>
            <a:off x="8321040" y="3200400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Carlos</a:t>
            </a:r>
            <a:endParaRPr lang="en-US" sz="2000" dirty="0"/>
          </a:p>
        </p:txBody>
      </p:sp>
      <p:sp>
        <p:nvSpPr>
          <p:cNvPr id="30" name="Circle 1"/>
          <p:cNvSpPr/>
          <p:nvPr/>
        </p:nvSpPr>
        <p:spPr>
          <a:xfrm>
            <a:off x="6455664" y="3136392"/>
            <a:ext cx="162763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1" name="Statement 2"/>
          <p:cNvSpPr/>
          <p:nvPr/>
        </p:nvSpPr>
        <p:spPr>
          <a:xfrm>
            <a:off x="502920" y="4005072"/>
            <a:ext cx="59436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Last name: Vega</a:t>
            </a:r>
            <a:endParaRPr lang="en-US" sz="2200" dirty="0"/>
          </a:p>
        </p:txBody>
      </p:sp>
      <p:sp>
        <p:nvSpPr>
          <p:cNvPr id="32" name="True 2"/>
          <p:cNvSpPr/>
          <p:nvPr/>
        </p:nvSpPr>
        <p:spPr>
          <a:xfrm>
            <a:off x="6583680" y="4005072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Ana</a:t>
            </a:r>
            <a:endParaRPr lang="en-US" sz="2000" dirty="0"/>
          </a:p>
        </p:txBody>
      </p:sp>
      <p:sp>
        <p:nvSpPr>
          <p:cNvPr id="33" name="False 2"/>
          <p:cNvSpPr/>
          <p:nvPr/>
        </p:nvSpPr>
        <p:spPr>
          <a:xfrm>
            <a:off x="8321040" y="4005072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Carlos</a:t>
            </a:r>
            <a:endParaRPr lang="en-US" sz="2000" dirty="0"/>
          </a:p>
        </p:txBody>
      </p:sp>
      <p:sp>
        <p:nvSpPr>
          <p:cNvPr id="34" name="Circle 2"/>
          <p:cNvSpPr/>
          <p:nvPr/>
        </p:nvSpPr>
        <p:spPr>
          <a:xfrm>
            <a:off x="8193024" y="3941064"/>
            <a:ext cx="162763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6" name="Statement 3"/>
          <p:cNvSpPr/>
          <p:nvPr/>
        </p:nvSpPr>
        <p:spPr>
          <a:xfrm>
            <a:off x="502920" y="4809743"/>
            <a:ext cx="59436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“I'm fine, thanks.”</a:t>
            </a:r>
            <a:endParaRPr lang="en-US" sz="2200" dirty="0"/>
          </a:p>
        </p:txBody>
      </p:sp>
      <p:sp>
        <p:nvSpPr>
          <p:cNvPr id="37" name="True 3"/>
          <p:cNvSpPr/>
          <p:nvPr/>
        </p:nvSpPr>
        <p:spPr>
          <a:xfrm>
            <a:off x="6583680" y="4809743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Ana</a:t>
            </a:r>
            <a:endParaRPr lang="en-US" sz="2000" dirty="0"/>
          </a:p>
        </p:txBody>
      </p:sp>
      <p:sp>
        <p:nvSpPr>
          <p:cNvPr id="38" name="False 3"/>
          <p:cNvSpPr/>
          <p:nvPr/>
        </p:nvSpPr>
        <p:spPr>
          <a:xfrm>
            <a:off x="8321040" y="4809743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Carlos</a:t>
            </a:r>
            <a:endParaRPr lang="en-US" sz="2000" dirty="0"/>
          </a:p>
        </p:txBody>
      </p:sp>
      <p:sp>
        <p:nvSpPr>
          <p:cNvPr id="39" name="Circle 3"/>
          <p:cNvSpPr/>
          <p:nvPr/>
        </p:nvSpPr>
        <p:spPr>
          <a:xfrm>
            <a:off x="8193024" y="4745735"/>
            <a:ext cx="162763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0" name="Statement 4"/>
          <p:cNvSpPr/>
          <p:nvPr/>
        </p:nvSpPr>
        <p:spPr>
          <a:xfrm>
            <a:off x="502920" y="5614415"/>
            <a:ext cx="59436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Gets a book and a pen.</a:t>
            </a:r>
            <a:endParaRPr lang="en-US" sz="2200" dirty="0"/>
          </a:p>
        </p:txBody>
      </p:sp>
      <p:sp>
        <p:nvSpPr>
          <p:cNvPr id="41" name="True 4"/>
          <p:cNvSpPr/>
          <p:nvPr/>
        </p:nvSpPr>
        <p:spPr>
          <a:xfrm>
            <a:off x="6583680" y="5614415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Ana</a:t>
            </a:r>
            <a:endParaRPr lang="en-US" sz="2000" dirty="0"/>
          </a:p>
        </p:txBody>
      </p:sp>
      <p:sp>
        <p:nvSpPr>
          <p:cNvPr id="42" name="False 4"/>
          <p:cNvSpPr/>
          <p:nvPr/>
        </p:nvSpPr>
        <p:spPr>
          <a:xfrm>
            <a:off x="8321040" y="5614415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Carlos</a:t>
            </a:r>
            <a:endParaRPr lang="en-US" sz="2000" dirty="0"/>
          </a:p>
        </p:txBody>
      </p:sp>
      <p:sp>
        <p:nvSpPr>
          <p:cNvPr id="43" name="Circle 4"/>
          <p:cNvSpPr/>
          <p:nvPr/>
        </p:nvSpPr>
        <p:spPr>
          <a:xfrm>
            <a:off x="8193024" y="5550407"/>
            <a:ext cx="162763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spell" descr="Speaking head and letter tiles A-N-A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1274739" y="3680460"/>
            <a:ext cx="3449900" cy="2414930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560984" y="1342842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89788" y="1277417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1754" y="14173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B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6107278" y="138257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107278" y="371429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035040" y="132588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172200" y="1946757"/>
            <a:ext cx="678485" cy="678485"/>
          </a:xfrm>
          <a:prstGeom prst="star32">
            <a:avLst>
              <a:gd name="adj" fmla="val 43755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172200" y="194675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995160" y="150876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👩 Ana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035040" y="365760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172200" y="4278477"/>
            <a:ext cx="678485" cy="678485"/>
          </a:xfrm>
          <a:prstGeom prst="star32">
            <a:avLst>
              <a:gd name="adj" fmla="val 4375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72200" y="427847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995160" y="384048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👨 Carlos</a:t>
            </a:r>
            <a:endParaRPr lang="en-US" sz="2200" dirty="0"/>
          </a:p>
        </p:txBody>
      </p:sp>
      <p:sp>
        <p:nvSpPr>
          <p:cNvPr id="60" name="Letter 60"/>
          <p:cNvSpPr/>
          <p:nvPr/>
        </p:nvSpPr>
        <p:spPr>
          <a:xfrm>
            <a:off x="6835140" y="219456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</a:t>
            </a:r>
            <a:endParaRPr lang="en-US" sz="2200" dirty="0"/>
          </a:p>
        </p:txBody>
      </p:sp>
      <p:sp>
        <p:nvSpPr>
          <p:cNvPr id="61" name="Letter 61"/>
          <p:cNvSpPr/>
          <p:nvPr/>
        </p:nvSpPr>
        <p:spPr>
          <a:xfrm>
            <a:off x="7520940" y="219456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</a:t>
            </a:r>
            <a:endParaRPr lang="en-US" sz="2200" dirty="0"/>
          </a:p>
        </p:txBody>
      </p:sp>
      <p:sp>
        <p:nvSpPr>
          <p:cNvPr id="63" name="Letter 63"/>
          <p:cNvSpPr/>
          <p:nvPr/>
        </p:nvSpPr>
        <p:spPr>
          <a:xfrm>
            <a:off x="8069580" y="219456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</a:t>
            </a:r>
            <a:endParaRPr lang="en-US" sz="2200" dirty="0"/>
          </a:p>
        </p:txBody>
      </p:sp>
      <p:sp>
        <p:nvSpPr>
          <p:cNvPr id="64" name="Letter 64"/>
          <p:cNvSpPr/>
          <p:nvPr/>
        </p:nvSpPr>
        <p:spPr>
          <a:xfrm>
            <a:off x="8846820" y="219456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</a:t>
            </a:r>
            <a:endParaRPr lang="en-US" sz="2200" dirty="0"/>
          </a:p>
        </p:txBody>
      </p:sp>
      <p:sp>
        <p:nvSpPr>
          <p:cNvPr id="66" name="Letter 66"/>
          <p:cNvSpPr/>
          <p:nvPr/>
        </p:nvSpPr>
        <p:spPr>
          <a:xfrm>
            <a:off x="9395460" y="219456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</a:t>
            </a:r>
            <a:endParaRPr lang="en-US" sz="2200" dirty="0"/>
          </a:p>
        </p:txBody>
      </p:sp>
      <p:sp>
        <p:nvSpPr>
          <p:cNvPr id="67" name="Letter 67"/>
          <p:cNvSpPr/>
          <p:nvPr/>
        </p:nvSpPr>
        <p:spPr>
          <a:xfrm>
            <a:off x="10172700" y="219456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Z</a:t>
            </a:r>
            <a:endParaRPr lang="en-US" sz="2200" dirty="0"/>
          </a:p>
        </p:txBody>
      </p:sp>
      <p:sp>
        <p:nvSpPr>
          <p:cNvPr id="69" name="Letter 69"/>
          <p:cNvSpPr/>
          <p:nvPr/>
        </p:nvSpPr>
        <p:spPr>
          <a:xfrm>
            <a:off x="10721340" y="219456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</a:t>
            </a:r>
            <a:endParaRPr lang="en-US" sz="2200" dirty="0"/>
          </a:p>
        </p:txBody>
      </p:sp>
      <p:sp>
        <p:nvSpPr>
          <p:cNvPr id="70" name="Letter 70"/>
          <p:cNvSpPr/>
          <p:nvPr/>
        </p:nvSpPr>
        <p:spPr>
          <a:xfrm>
            <a:off x="6926580" y="452628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</a:t>
            </a:r>
            <a:endParaRPr lang="en-US" sz="2200" dirty="0"/>
          </a:p>
        </p:txBody>
      </p:sp>
      <p:sp>
        <p:nvSpPr>
          <p:cNvPr id="72" name="Letter 72"/>
          <p:cNvSpPr/>
          <p:nvPr/>
        </p:nvSpPr>
        <p:spPr>
          <a:xfrm>
            <a:off x="7475220" y="452628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</a:t>
            </a:r>
            <a:endParaRPr lang="en-US" sz="2200" dirty="0"/>
          </a:p>
        </p:txBody>
      </p:sp>
      <p:sp>
        <p:nvSpPr>
          <p:cNvPr id="73" name="Letter 73"/>
          <p:cNvSpPr/>
          <p:nvPr/>
        </p:nvSpPr>
        <p:spPr>
          <a:xfrm>
            <a:off x="8252460" y="452628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</a:t>
            </a:r>
            <a:endParaRPr lang="en-US" sz="2200" dirty="0"/>
          </a:p>
        </p:txBody>
      </p:sp>
      <p:sp>
        <p:nvSpPr>
          <p:cNvPr id="75" name="Letter 75"/>
          <p:cNvSpPr/>
          <p:nvPr/>
        </p:nvSpPr>
        <p:spPr>
          <a:xfrm>
            <a:off x="8801100" y="452628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</a:t>
            </a:r>
            <a:endParaRPr lang="en-US" sz="2200" dirty="0"/>
          </a:p>
        </p:txBody>
      </p:sp>
      <p:sp>
        <p:nvSpPr>
          <p:cNvPr id="76" name="Letter 76"/>
          <p:cNvSpPr/>
          <p:nvPr/>
        </p:nvSpPr>
        <p:spPr>
          <a:xfrm>
            <a:off x="9578340" y="452628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</a:t>
            </a:r>
            <a:endParaRPr lang="en-US" sz="2200" dirty="0"/>
          </a:p>
        </p:txBody>
      </p:sp>
      <p:sp>
        <p:nvSpPr>
          <p:cNvPr id="78" name="Letter 78"/>
          <p:cNvSpPr/>
          <p:nvPr/>
        </p:nvSpPr>
        <p:spPr>
          <a:xfrm>
            <a:off x="10126980" y="452628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J</a:t>
            </a:r>
            <a:endParaRPr lang="en-US" sz="2200" dirty="0"/>
          </a:p>
        </p:txBody>
      </p:sp>
      <p:sp>
        <p:nvSpPr>
          <p:cNvPr id="79" name="Letter 79"/>
          <p:cNvSpPr/>
          <p:nvPr/>
        </p:nvSpPr>
        <p:spPr>
          <a:xfrm>
            <a:off x="10904220" y="452628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4702759" y="5703113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4761248" y="5694015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 rot="900000">
            <a:off x="4962710" y="5906524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25" name="Subtitle"/>
          <p:cNvSpPr/>
          <p:nvPr/>
        </p:nvSpPr>
        <p:spPr>
          <a:xfrm>
            <a:off x="771754" y="2148840"/>
            <a:ext cx="457200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91440" tIns="36576" rIns="9144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👂 ⭕  Listen. Circle the letters.</a:t>
            </a:r>
            <a:endParaRPr lang="en-US" sz="2000" dirty="0"/>
          </a:p>
        </p:txBody>
      </p:sp>
      <p:sp>
        <p:nvSpPr>
          <p:cNvPr id="28" name="Circle 1"/>
          <p:cNvSpPr/>
          <p:nvPr/>
        </p:nvSpPr>
        <p:spPr>
          <a:xfrm>
            <a:off x="7470648" y="2304288"/>
            <a:ext cx="512064" cy="512064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2" name="Circle 2"/>
          <p:cNvSpPr/>
          <p:nvPr/>
        </p:nvSpPr>
        <p:spPr>
          <a:xfrm>
            <a:off x="8796528" y="2304288"/>
            <a:ext cx="512064" cy="512064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7" name="Circle 3"/>
          <p:cNvSpPr/>
          <p:nvPr/>
        </p:nvSpPr>
        <p:spPr>
          <a:xfrm>
            <a:off x="10122408" y="2304288"/>
            <a:ext cx="512064" cy="512064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3" name="Circle 4"/>
          <p:cNvSpPr/>
          <p:nvPr/>
        </p:nvSpPr>
        <p:spPr>
          <a:xfrm>
            <a:off x="6876288" y="4636008"/>
            <a:ext cx="512064" cy="512064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4" name="Circle 5"/>
          <p:cNvSpPr/>
          <p:nvPr/>
        </p:nvSpPr>
        <p:spPr>
          <a:xfrm>
            <a:off x="8202168" y="4636008"/>
            <a:ext cx="512064" cy="512064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5" name="Circle 6"/>
          <p:cNvSpPr/>
          <p:nvPr/>
        </p:nvSpPr>
        <p:spPr>
          <a:xfrm>
            <a:off x="9528048" y="4636008"/>
            <a:ext cx="512064" cy="512064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" y="209306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583741" y="2035454"/>
            <a:ext cx="5130698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583741" y="312724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583741" y="3838651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583741" y="4550054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583741" y="526145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10512" y="2103120"/>
            <a:ext cx="4434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👂 ✏️  Listen again.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901952" y="2505456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last names.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810512" y="3127248"/>
            <a:ext cx="36118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👩 Ana:  __  __  __  __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810512" y="3838651"/>
            <a:ext cx="36118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👨 Carlos:  __  __  __  __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810512" y="4550054"/>
            <a:ext cx="47548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it: 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do you spell it?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810512" y="5261458"/>
            <a:ext cx="47548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it: 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 you repeat, please?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4982" y="2035454"/>
            <a:ext cx="1039673" cy="983894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86714" y="2166214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</a:t>
            </a:r>
            <a:endParaRPr lang="en-US" sz="3600" dirty="0"/>
          </a:p>
        </p:txBody>
      </p:sp>
      <p:sp>
        <p:nvSpPr>
          <p:cNvPr id="21" name="Shape 19"/>
          <p:cNvSpPr/>
          <p:nvPr/>
        </p:nvSpPr>
        <p:spPr>
          <a:xfrm>
            <a:off x="544982" y="3127248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86714" y="311261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3200" dirty="0"/>
          </a:p>
        </p:txBody>
      </p:sp>
      <p:sp>
        <p:nvSpPr>
          <p:cNvPr id="23" name="Shape 21"/>
          <p:cNvSpPr/>
          <p:nvPr/>
        </p:nvSpPr>
        <p:spPr>
          <a:xfrm>
            <a:off x="544982" y="3838651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86714" y="381670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544982" y="4550054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86714" y="454365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🗣️</a:t>
            </a:r>
            <a:endParaRPr lang="en-US" sz="3200" dirty="0"/>
          </a:p>
        </p:txBody>
      </p:sp>
      <p:sp>
        <p:nvSpPr>
          <p:cNvPr id="27" name="Shape 25"/>
          <p:cNvSpPr/>
          <p:nvPr/>
        </p:nvSpPr>
        <p:spPr>
          <a:xfrm>
            <a:off x="544982" y="527974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86714" y="526968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🗣️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C</a:t>
            </a:r>
            <a:endParaRPr lang="en-US" sz="4000" dirty="0"/>
          </a:p>
        </p:txBody>
      </p:sp>
      <p:sp>
        <p:nvSpPr>
          <p:cNvPr id="30" name="Text 28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compare your answers.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say it: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and repeat.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184087" y="180411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242576" y="179501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 rot="900000">
            <a:off x="6444038" y="200752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34" name="Answer 1"/>
          <p:cNvSpPr/>
          <p:nvPr/>
        </p:nvSpPr>
        <p:spPr>
          <a:xfrm>
            <a:off x="5468112" y="3200400"/>
            <a:ext cx="105156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RUIZ</a:t>
            </a:r>
            <a:endParaRPr lang="en-US" sz="2200" dirty="0"/>
          </a:p>
        </p:txBody>
      </p:sp>
      <p:sp>
        <p:nvSpPr>
          <p:cNvPr id="35" name="Answer 2"/>
          <p:cNvSpPr/>
          <p:nvPr/>
        </p:nvSpPr>
        <p:spPr>
          <a:xfrm>
            <a:off x="5468112" y="3911803"/>
            <a:ext cx="105156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VEGA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76429" y="533095"/>
            <a:ext cx="5814670" cy="15544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554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ture goodbye" descr="Person walking to a door, waving, saying Bye!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699516" y="2265152"/>
            <a:ext cx="3326587" cy="2328611"/>
          </a:xfrm>
          <a:prstGeom prst="rect">
            <a:avLst/>
          </a:prstGeom>
        </p:spPr>
      </p:pic>
      <p:sp>
        <p:nvSpPr>
          <p:cNvPr id="7" name="Text 5"/>
          <p:cNvSpPr/>
          <p:nvPr/>
        </p:nvSpPr>
        <p:spPr>
          <a:xfrm>
            <a:off x="5333695" y="566928"/>
            <a:ext cx="484632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1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3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Hello and Goodbye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166360" y="21945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321040" y="21945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0245852" y="1335938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0328148" y="1323137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 rot="900000">
            <a:off x="10611612" y="1622146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20" name="Question 1"/>
          <p:cNvSpPr/>
          <p:nvPr/>
        </p:nvSpPr>
        <p:spPr>
          <a:xfrm>
            <a:off x="5138928" y="2697480"/>
            <a:ext cx="3063240" cy="84124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Hello! / Hi!</a:t>
            </a:r>
            <a:endParaRPr lang="en-US" sz="2200" dirty="0"/>
          </a:p>
        </p:txBody>
      </p:sp>
      <p:sp>
        <p:nvSpPr>
          <p:cNvPr id="22" name="Answer bg 1"/>
          <p:cNvSpPr/>
          <p:nvPr/>
        </p:nvSpPr>
        <p:spPr>
          <a:xfrm>
            <a:off x="8321040" y="2697480"/>
            <a:ext cx="3520440" cy="84124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1" name="Answer 1"/>
          <p:cNvSpPr/>
          <p:nvPr/>
        </p:nvSpPr>
        <p:spPr>
          <a:xfrm>
            <a:off x="8321040" y="2697480"/>
            <a:ext cx="3520440" cy="84124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Hello! / Hi!</a:t>
            </a:r>
            <a:endParaRPr lang="en-US" sz="2200" dirty="0"/>
          </a:p>
        </p:txBody>
      </p:sp>
      <p:sp>
        <p:nvSpPr>
          <p:cNvPr id="25" name="Question 2"/>
          <p:cNvSpPr/>
          <p:nvPr/>
        </p:nvSpPr>
        <p:spPr>
          <a:xfrm>
            <a:off x="5138928" y="3675888"/>
            <a:ext cx="3063240" cy="84124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Nice to meet you.</a:t>
            </a:r>
            <a:endParaRPr lang="en-US" sz="2200" dirty="0"/>
          </a:p>
        </p:txBody>
      </p:sp>
      <p:sp>
        <p:nvSpPr>
          <p:cNvPr id="27" name="Answer bg 2"/>
          <p:cNvSpPr/>
          <p:nvPr/>
        </p:nvSpPr>
        <p:spPr>
          <a:xfrm>
            <a:off x="8321040" y="3675888"/>
            <a:ext cx="3520440" cy="84124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2"/>
          <p:cNvSpPr/>
          <p:nvPr/>
        </p:nvSpPr>
        <p:spPr>
          <a:xfrm>
            <a:off x="8321040" y="3675888"/>
            <a:ext cx="3520440" cy="84124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Nice to meet you, too.</a:t>
            </a:r>
            <a:endParaRPr lang="en-US" sz="2200" dirty="0"/>
          </a:p>
        </p:txBody>
      </p:sp>
      <p:sp>
        <p:nvSpPr>
          <p:cNvPr id="72" name="Answer bg 3"/>
          <p:cNvSpPr/>
          <p:nvPr/>
        </p:nvSpPr>
        <p:spPr>
          <a:xfrm>
            <a:off x="8321040" y="4654296"/>
            <a:ext cx="3520440" cy="84124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82" name="Answer 3"/>
          <p:cNvSpPr/>
          <p:nvPr/>
        </p:nvSpPr>
        <p:spPr>
          <a:xfrm>
            <a:off x="8321040" y="4654296"/>
            <a:ext cx="3520440" cy="84124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fine, thanks. And you?</a:t>
            </a:r>
            <a:endParaRPr lang="en-US" sz="2200" dirty="0"/>
          </a:p>
          <a:p>
            <a:pPr algn="l" indent="0" marL="0"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good, thanks. And you?</a:t>
            </a:r>
            <a:endParaRPr lang="en-US" sz="2200" dirty="0"/>
          </a:p>
        </p:txBody>
      </p:sp>
      <p:sp>
        <p:nvSpPr>
          <p:cNvPr id="73" name="Answer bg 4"/>
          <p:cNvSpPr/>
          <p:nvPr/>
        </p:nvSpPr>
        <p:spPr>
          <a:xfrm>
            <a:off x="8321040" y="5632704"/>
            <a:ext cx="3520440" cy="84124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83" name="Answer 4"/>
          <p:cNvSpPr/>
          <p:nvPr/>
        </p:nvSpPr>
        <p:spPr>
          <a:xfrm>
            <a:off x="8321040" y="5632704"/>
            <a:ext cx="3520440" cy="84124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Goodbye!</a:t>
            </a:r>
            <a:endParaRPr lang="en-US" sz="2200" dirty="0"/>
          </a:p>
          <a:p>
            <a:pPr algn="l" indent="0" marL="0"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See you next week!</a:t>
            </a:r>
            <a:endParaRPr lang="en-US" sz="2200" dirty="0"/>
          </a:p>
        </p:txBody>
      </p:sp>
      <p:sp>
        <p:nvSpPr>
          <p:cNvPr id="93" name="Question 4"/>
          <p:cNvSpPr/>
          <p:nvPr/>
        </p:nvSpPr>
        <p:spPr>
          <a:xfrm>
            <a:off x="5138928" y="5632704"/>
            <a:ext cx="3063240" cy="84124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Goodbye! / Bye!</a:t>
            </a:r>
            <a:endParaRPr lang="en-US" sz="2200" dirty="0"/>
          </a:p>
        </p:txBody>
      </p:sp>
      <p:sp>
        <p:nvSpPr>
          <p:cNvPr id="92" name="Question 3"/>
          <p:cNvSpPr/>
          <p:nvPr/>
        </p:nvSpPr>
        <p:spPr>
          <a:xfrm>
            <a:off x="5138928" y="4654296"/>
            <a:ext cx="3063240" cy="84124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are you?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42786" y="3649370"/>
            <a:ext cx="4912157" cy="256123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8" name="Picture first name" descr="ID card with FIRST NAME highlighted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7598664" y="1217386"/>
            <a:ext cx="3254350" cy="2278045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560116" y="1350752"/>
            <a:ext cx="5663794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93446" y="1286561"/>
            <a:ext cx="5663794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32104" y="1371600"/>
            <a:ext cx="52578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2</a:t>
            </a:r>
            <a:endParaRPr lang="en-US" sz="2000" dirty="0"/>
          </a:p>
          <a:p>
            <a:pPr algn="l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What's your name?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1305763" y="3649370"/>
            <a:ext cx="4790542" cy="2599639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2540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741578" y="3253435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23874" y="3240634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 rot="900000">
            <a:off x="1107338" y="3539642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19" name="Q head"/>
          <p:cNvSpPr/>
          <p:nvPr/>
        </p:nvSpPr>
        <p:spPr>
          <a:xfrm>
            <a:off x="1920240" y="3794760"/>
            <a:ext cx="274320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/>
          </a:p>
        </p:txBody>
      </p:sp>
      <p:sp>
        <p:nvSpPr>
          <p:cNvPr id="20" name="A head"/>
          <p:cNvSpPr/>
          <p:nvPr/>
        </p:nvSpPr>
        <p:spPr>
          <a:xfrm>
            <a:off x="7040880" y="3794760"/>
            <a:ext cx="274320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/>
          </a:p>
        </p:txBody>
      </p:sp>
      <p:sp>
        <p:nvSpPr>
          <p:cNvPr id="21" name="Highlight 1"/>
          <p:cNvSpPr/>
          <p:nvPr/>
        </p:nvSpPr>
        <p:spPr>
          <a:xfrm>
            <a:off x="1481328" y="4453128"/>
            <a:ext cx="141732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2" name="Helper 1"/>
          <p:cNvSpPr/>
          <p:nvPr/>
        </p:nvSpPr>
        <p:spPr>
          <a:xfrm>
            <a:off x="1481328" y="4315968"/>
            <a:ext cx="141732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What's</a:t>
            </a:r>
            <a:endParaRPr lang="en-US" sz="2600" dirty="0"/>
          </a:p>
        </p:txBody>
      </p:sp>
      <p:sp>
        <p:nvSpPr>
          <p:cNvPr id="23" name="Question 1"/>
          <p:cNvSpPr/>
          <p:nvPr/>
        </p:nvSpPr>
        <p:spPr>
          <a:xfrm>
            <a:off x="2944368" y="4315968"/>
            <a:ext cx="306324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your name? /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first name?</a:t>
            </a:r>
            <a:endParaRPr lang="en-US" sz="2200" dirty="0"/>
          </a:p>
        </p:txBody>
      </p:sp>
      <p:sp>
        <p:nvSpPr>
          <p:cNvPr id="25" name="Answer bg 1"/>
          <p:cNvSpPr/>
          <p:nvPr/>
        </p:nvSpPr>
        <p:spPr>
          <a:xfrm>
            <a:off x="6949440" y="4334256"/>
            <a:ext cx="4526280" cy="78638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Answer 1"/>
          <p:cNvSpPr/>
          <p:nvPr/>
        </p:nvSpPr>
        <p:spPr>
          <a:xfrm>
            <a:off x="6949440" y="4315968"/>
            <a:ext cx="452628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My name is / I'm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Ana. / Carlos.</a:t>
            </a:r>
            <a:endParaRPr lang="en-US" sz="2200" dirty="0"/>
          </a:p>
        </p:txBody>
      </p:sp>
      <p:sp>
        <p:nvSpPr>
          <p:cNvPr id="26" name="Highlight 2"/>
          <p:cNvSpPr/>
          <p:nvPr/>
        </p:nvSpPr>
        <p:spPr>
          <a:xfrm>
            <a:off x="1481328" y="5367528"/>
            <a:ext cx="141732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7" name="Helper 2"/>
          <p:cNvSpPr/>
          <p:nvPr/>
        </p:nvSpPr>
        <p:spPr>
          <a:xfrm>
            <a:off x="1481328" y="5230368"/>
            <a:ext cx="141732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What's</a:t>
            </a:r>
            <a:endParaRPr lang="en-US" sz="2600" dirty="0"/>
          </a:p>
        </p:txBody>
      </p:sp>
      <p:sp>
        <p:nvSpPr>
          <p:cNvPr id="28" name="Question 2"/>
          <p:cNvSpPr/>
          <p:nvPr/>
        </p:nvSpPr>
        <p:spPr>
          <a:xfrm>
            <a:off x="2944368" y="5230368"/>
            <a:ext cx="306324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your last name?</a:t>
            </a:r>
            <a:endParaRPr lang="en-US" sz="2200" dirty="0"/>
          </a:p>
        </p:txBody>
      </p:sp>
      <p:sp>
        <p:nvSpPr>
          <p:cNvPr id="30" name="Answer bg 2"/>
          <p:cNvSpPr/>
          <p:nvPr/>
        </p:nvSpPr>
        <p:spPr>
          <a:xfrm>
            <a:off x="6949440" y="5248656"/>
            <a:ext cx="4526280" cy="78638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9" name="Answer 2"/>
          <p:cNvSpPr/>
          <p:nvPr/>
        </p:nvSpPr>
        <p:spPr>
          <a:xfrm>
            <a:off x="6949440" y="5230368"/>
            <a:ext cx="452628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/ My last name is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Ruiz. / Vega.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63240" cy="6858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156448" y="1289304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321040" y="1097280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94847" y="1032586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20770" y="956462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566160" y="1078992"/>
            <a:ext cx="4114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Classroom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3566160" y="182880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Phrases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3487522" y="310896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Repeat. Use these phrases in class.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383280" y="411480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3383280" y="4919472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3383280" y="572414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600" dirty="0"/>
          </a:p>
        </p:txBody>
      </p:sp>
      <p:sp>
        <p:nvSpPr>
          <p:cNvPr id="17" name="Shape 15"/>
          <p:cNvSpPr/>
          <p:nvPr/>
        </p:nvSpPr>
        <p:spPr>
          <a:xfrm>
            <a:off x="3503066" y="4928616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3503066" y="5733288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pic>
        <p:nvPicPr>
          <p:cNvPr id="24" name="Picture teacher" descr="Teacher at a board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160020" y="2423160"/>
            <a:ext cx="2743200" cy="1920240"/>
          </a:xfrm>
          <a:prstGeom prst="rect">
            <a:avLst/>
          </a:prstGeom>
        </p:spPr>
      </p:pic>
      <p:sp>
        <p:nvSpPr>
          <p:cNvPr id="25" name="Highlight 1"/>
          <p:cNvSpPr/>
          <p:nvPr/>
        </p:nvSpPr>
        <p:spPr>
          <a:xfrm>
            <a:off x="5349240" y="4251960"/>
            <a:ext cx="260604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Wh 1"/>
          <p:cNvSpPr/>
          <p:nvPr/>
        </p:nvSpPr>
        <p:spPr>
          <a:xfrm>
            <a:off x="4389120" y="4251960"/>
            <a:ext cx="960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👂</a:t>
            </a:r>
            <a:endParaRPr lang="en-US" sz="2200" dirty="0"/>
          </a:p>
        </p:txBody>
      </p:sp>
      <p:sp>
        <p:nvSpPr>
          <p:cNvPr id="27" name="Helper 1"/>
          <p:cNvSpPr/>
          <p:nvPr/>
        </p:nvSpPr>
        <p:spPr>
          <a:xfrm>
            <a:off x="5349240" y="4251960"/>
            <a:ext cx="260604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</a:t>
            </a:r>
            <a:endParaRPr lang="en-US" sz="2200" dirty="0"/>
          </a:p>
        </p:txBody>
      </p:sp>
      <p:sp>
        <p:nvSpPr>
          <p:cNvPr id="29" name="Highlight 2"/>
          <p:cNvSpPr/>
          <p:nvPr/>
        </p:nvSpPr>
        <p:spPr>
          <a:xfrm>
            <a:off x="5349240" y="5056632"/>
            <a:ext cx="260604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0" name="Wh 2"/>
          <p:cNvSpPr/>
          <p:nvPr/>
        </p:nvSpPr>
        <p:spPr>
          <a:xfrm>
            <a:off x="4389120" y="5056632"/>
            <a:ext cx="960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🗣️</a:t>
            </a:r>
            <a:endParaRPr lang="en-US" sz="2200" dirty="0"/>
          </a:p>
        </p:txBody>
      </p:sp>
      <p:sp>
        <p:nvSpPr>
          <p:cNvPr id="31" name="Helper 2"/>
          <p:cNvSpPr/>
          <p:nvPr/>
        </p:nvSpPr>
        <p:spPr>
          <a:xfrm>
            <a:off x="5349240" y="5056632"/>
            <a:ext cx="260604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Repeat.</a:t>
            </a:r>
            <a:endParaRPr lang="en-US" sz="2200" dirty="0"/>
          </a:p>
        </p:txBody>
      </p:sp>
      <p:sp>
        <p:nvSpPr>
          <p:cNvPr id="33" name="Highlight 3"/>
          <p:cNvSpPr/>
          <p:nvPr/>
        </p:nvSpPr>
        <p:spPr>
          <a:xfrm>
            <a:off x="5349240" y="5861304"/>
            <a:ext cx="260604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4" name="Wh 3"/>
          <p:cNvSpPr/>
          <p:nvPr/>
        </p:nvSpPr>
        <p:spPr>
          <a:xfrm>
            <a:off x="4389120" y="5861304"/>
            <a:ext cx="960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✏️</a:t>
            </a:r>
            <a:endParaRPr lang="en-US" sz="2200" dirty="0"/>
          </a:p>
        </p:txBody>
      </p:sp>
      <p:sp>
        <p:nvSpPr>
          <p:cNvPr id="35" name="Helper 3"/>
          <p:cNvSpPr/>
          <p:nvPr/>
        </p:nvSpPr>
        <p:spPr>
          <a:xfrm>
            <a:off x="5349240" y="5861304"/>
            <a:ext cx="260604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Write.</a:t>
            </a:r>
            <a:endParaRPr lang="en-US" sz="2200" dirty="0"/>
          </a:p>
        </p:txBody>
      </p:sp>
      <p:sp>
        <p:nvSpPr>
          <p:cNvPr id="37" name="Order head"/>
          <p:cNvSpPr/>
          <p:nvPr/>
        </p:nvSpPr>
        <p:spPr>
          <a:xfrm>
            <a:off x="8549640" y="1280160"/>
            <a:ext cx="3017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Help!</a:t>
            </a:r>
            <a:endParaRPr lang="en-US" sz="2400" dirty="0"/>
          </a:p>
        </p:txBody>
      </p:sp>
      <p:sp>
        <p:nvSpPr>
          <p:cNvPr id="38" name="Step num 1"/>
          <p:cNvSpPr/>
          <p:nvPr/>
        </p:nvSpPr>
        <p:spPr>
          <a:xfrm>
            <a:off x="8549640" y="1965960"/>
            <a:ext cx="548640" cy="548640"/>
          </a:xfrm>
          <a:prstGeom prst="ellipse">
            <a:avLst/>
          </a:prstGeom>
          <a:solidFill>
            <a:srgbClr val="FFFFFF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🔁</a:t>
            </a:r>
            <a:endParaRPr lang="en-US" sz="2200" dirty="0"/>
          </a:p>
        </p:txBody>
      </p:sp>
      <p:sp>
        <p:nvSpPr>
          <p:cNvPr id="39" name="Step 1"/>
          <p:cNvSpPr/>
          <p:nvPr/>
        </p:nvSpPr>
        <p:spPr>
          <a:xfrm>
            <a:off x="9235440" y="1965960"/>
            <a:ext cx="23774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 you repeat, please?</a:t>
            </a:r>
            <a:endParaRPr lang="en-US" sz="2200" dirty="0"/>
          </a:p>
        </p:txBody>
      </p:sp>
      <p:sp>
        <p:nvSpPr>
          <p:cNvPr id="40" name="Step num 2"/>
          <p:cNvSpPr/>
          <p:nvPr/>
        </p:nvSpPr>
        <p:spPr>
          <a:xfrm>
            <a:off x="8549640" y="3017520"/>
            <a:ext cx="548640" cy="548640"/>
          </a:xfrm>
          <a:prstGeom prst="ellipse">
            <a:avLst/>
          </a:prstGeom>
          <a:solidFill>
            <a:srgbClr val="FFFFFF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🤷</a:t>
            </a:r>
            <a:endParaRPr lang="en-US" sz="2200" dirty="0"/>
          </a:p>
        </p:txBody>
      </p:sp>
      <p:sp>
        <p:nvSpPr>
          <p:cNvPr id="41" name="Step 2"/>
          <p:cNvSpPr/>
          <p:nvPr/>
        </p:nvSpPr>
        <p:spPr>
          <a:xfrm>
            <a:off x="9235440" y="3017520"/>
            <a:ext cx="23774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don't understand.</a:t>
            </a:r>
            <a:endParaRPr lang="en-US" sz="2200" dirty="0"/>
          </a:p>
        </p:txBody>
      </p:sp>
      <p:sp>
        <p:nvSpPr>
          <p:cNvPr id="42" name="Step num 3"/>
          <p:cNvSpPr/>
          <p:nvPr/>
        </p:nvSpPr>
        <p:spPr>
          <a:xfrm>
            <a:off x="8549640" y="4069080"/>
            <a:ext cx="548640" cy="548640"/>
          </a:xfrm>
          <a:prstGeom prst="ellipse">
            <a:avLst/>
          </a:prstGeom>
          <a:solidFill>
            <a:srgbClr val="FFFFFF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❓</a:t>
            </a:r>
            <a:endParaRPr lang="en-US" sz="2200" dirty="0"/>
          </a:p>
        </p:txBody>
      </p:sp>
      <p:sp>
        <p:nvSpPr>
          <p:cNvPr id="43" name="Step 3"/>
          <p:cNvSpPr/>
          <p:nvPr/>
        </p:nvSpPr>
        <p:spPr>
          <a:xfrm>
            <a:off x="9235440" y="4069080"/>
            <a:ext cx="23774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do you say ___ in English?</a:t>
            </a:r>
            <a:endParaRPr lang="en-US" sz="2200" dirty="0"/>
          </a:p>
        </p:txBody>
      </p:sp>
      <p:sp>
        <p:nvSpPr>
          <p:cNvPr id="46" name="Example"/>
          <p:cNvSpPr/>
          <p:nvPr/>
        </p:nvSpPr>
        <p:spPr>
          <a:xfrm>
            <a:off x="8549640" y="5029200"/>
            <a:ext cx="301752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Ask in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English!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126273" y="1165860"/>
            <a:ext cx="4132174" cy="3429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2" name="I can"/>
          <p:cNvSpPr/>
          <p:nvPr/>
        </p:nvSpPr>
        <p:spPr>
          <a:xfrm>
            <a:off x="8503920" y="1234440"/>
            <a:ext cx="3291840" cy="17373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D. ✅ I can…</a:t>
            </a:r>
            <a:endParaRPr lang="en-US" sz="2200" dirty="0"/>
          </a:p>
          <a:p>
            <a:pPr algn="ctr" indent="0" marL="0">
              <a:buNone/>
            </a:pPr>
            <a:r>
              <a:rPr lang="en-US" sz="3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😀   🙂   😐</a:t>
            </a:r>
            <a:endParaRPr lang="en-US" sz="2200" dirty="0"/>
          </a:p>
          <a:p>
            <a:pPr algn="ctr" indent="0" marL="0"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one face.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 flipH="1">
            <a:off x="501091" y="3255264"/>
            <a:ext cx="4000500" cy="3258921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4845406" y="3263494"/>
            <a:ext cx="5860390" cy="3258921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885322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821131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3063240"/>
            <a:ext cx="4068165" cy="3258921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4977079" y="3063240"/>
            <a:ext cx="5860390" cy="3258921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08076" y="118872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Progress Check</a:t>
            </a:r>
            <a:r>
              <a:rPr lang="en-US" sz="24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  7:25</a:t>
            </a:r>
            <a:endParaRPr lang="en-US" sz="4300" dirty="0"/>
          </a:p>
        </p:txBody>
      </p:sp>
      <p:sp>
        <p:nvSpPr>
          <p:cNvPr id="18" name="Shape 16"/>
          <p:cNvSpPr/>
          <p:nvPr/>
        </p:nvSpPr>
        <p:spPr>
          <a:xfrm>
            <a:off x="9562795" y="2746858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645091" y="2734056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 rot="900000">
            <a:off x="9928555" y="3033065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22" name="Dont head"/>
          <p:cNvSpPr/>
          <p:nvPr/>
        </p:nvSpPr>
        <p:spPr>
          <a:xfrm>
            <a:off x="914400" y="3246120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📖 🔗 Question</a:t>
            </a:r>
            <a:endParaRPr lang="en-US" sz="2200" dirty="0"/>
          </a:p>
        </p:txBody>
      </p:sp>
      <p:sp>
        <p:nvSpPr>
          <p:cNvPr id="23" name="Say head"/>
          <p:cNvSpPr/>
          <p:nvPr/>
        </p:nvSpPr>
        <p:spPr>
          <a:xfrm>
            <a:off x="5257800" y="3246120"/>
            <a:ext cx="48463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200" dirty="0"/>
          </a:p>
        </p:txBody>
      </p:sp>
      <p:sp>
        <p:nvSpPr>
          <p:cNvPr id="24" name="Bad 1"/>
          <p:cNvSpPr/>
          <p:nvPr/>
        </p:nvSpPr>
        <p:spPr>
          <a:xfrm>
            <a:off x="914400" y="3840480"/>
            <a:ext cx="3749039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What's your name?</a:t>
            </a:r>
            <a:endParaRPr lang="en-US" sz="2200" dirty="0"/>
          </a:p>
        </p:txBody>
      </p:sp>
      <p:sp>
        <p:nvSpPr>
          <p:cNvPr id="25" name="Good 1"/>
          <p:cNvSpPr/>
          <p:nvPr/>
        </p:nvSpPr>
        <p:spPr>
          <a:xfrm>
            <a:off x="5257800" y="3840480"/>
            <a:ext cx="48463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c.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My name is Ana.</a:t>
            </a:r>
            <a:endParaRPr lang="en-US" sz="2200" dirty="0"/>
          </a:p>
        </p:txBody>
      </p:sp>
      <p:sp>
        <p:nvSpPr>
          <p:cNvPr id="26" name="Bad 2"/>
          <p:cNvSpPr/>
          <p:nvPr/>
        </p:nvSpPr>
        <p:spPr>
          <a:xfrm>
            <a:off x="914400" y="4407408"/>
            <a:ext cx="3749039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What's your last name?</a:t>
            </a:r>
            <a:endParaRPr lang="en-US" sz="2200" dirty="0"/>
          </a:p>
        </p:txBody>
      </p:sp>
      <p:sp>
        <p:nvSpPr>
          <p:cNvPr id="27" name="Good 2"/>
          <p:cNvSpPr/>
          <p:nvPr/>
        </p:nvSpPr>
        <p:spPr>
          <a:xfrm>
            <a:off x="5257800" y="4407408"/>
            <a:ext cx="48463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d.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It's Ruiz.</a:t>
            </a:r>
            <a:endParaRPr lang="en-US" sz="2200" dirty="0"/>
          </a:p>
        </p:txBody>
      </p:sp>
      <p:sp>
        <p:nvSpPr>
          <p:cNvPr id="28" name="Bad 3"/>
          <p:cNvSpPr/>
          <p:nvPr/>
        </p:nvSpPr>
        <p:spPr>
          <a:xfrm>
            <a:off x="914400" y="4974336"/>
            <a:ext cx="3749039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How do you spell it?</a:t>
            </a:r>
            <a:endParaRPr lang="en-US" sz="2200" dirty="0"/>
          </a:p>
        </p:txBody>
      </p:sp>
      <p:sp>
        <p:nvSpPr>
          <p:cNvPr id="29" name="Good 3"/>
          <p:cNvSpPr/>
          <p:nvPr/>
        </p:nvSpPr>
        <p:spPr>
          <a:xfrm>
            <a:off x="5257800" y="4974336"/>
            <a:ext cx="48463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R-U-I-Z.</a:t>
            </a:r>
            <a:endParaRPr lang="en-US" sz="2200" dirty="0"/>
          </a:p>
        </p:txBody>
      </p:sp>
      <p:sp>
        <p:nvSpPr>
          <p:cNvPr id="60" name="Bad 4"/>
          <p:cNvSpPr/>
          <p:nvPr/>
        </p:nvSpPr>
        <p:spPr>
          <a:xfrm>
            <a:off x="914400" y="5541264"/>
            <a:ext cx="3749039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How are you?</a:t>
            </a:r>
            <a:endParaRPr lang="en-US" sz="2200" dirty="0"/>
          </a:p>
        </p:txBody>
      </p:sp>
      <p:sp>
        <p:nvSpPr>
          <p:cNvPr id="61" name="Good 4"/>
          <p:cNvSpPr/>
          <p:nvPr/>
        </p:nvSpPr>
        <p:spPr>
          <a:xfrm>
            <a:off x="5257800" y="5541264"/>
            <a:ext cx="48463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b.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I'm fine, thanks.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126273" y="1165860"/>
            <a:ext cx="4132174" cy="3429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H="1">
            <a:off x="501091" y="3255264"/>
            <a:ext cx="3543300" cy="3258921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4388206" y="3263494"/>
            <a:ext cx="5860390" cy="3258921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885322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821131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3063240"/>
            <a:ext cx="3610966" cy="3258921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4519879" y="3063240"/>
            <a:ext cx="5860390" cy="3258921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08076" y="118872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Common Mistakes</a:t>
            </a:r>
            <a:endParaRPr lang="en-US" sz="4300" dirty="0"/>
          </a:p>
        </p:txBody>
      </p:sp>
      <p:sp>
        <p:nvSpPr>
          <p:cNvPr id="18" name="Shape 16"/>
          <p:cNvSpPr/>
          <p:nvPr/>
        </p:nvSpPr>
        <p:spPr>
          <a:xfrm>
            <a:off x="9562795" y="2746858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645091" y="2734056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 rot="900000">
            <a:off x="9928555" y="3033065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pic>
        <p:nvPicPr>
          <p:cNvPr id="21" name="Picture name tag" descr="Name tag: HELLO my name is Ana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8915400" y="1280160"/>
            <a:ext cx="2551176" cy="1785823"/>
          </a:xfrm>
          <a:prstGeom prst="rect">
            <a:avLst/>
          </a:prstGeom>
        </p:spPr>
      </p:pic>
      <p:sp>
        <p:nvSpPr>
          <p:cNvPr id="22" name="Dont head"/>
          <p:cNvSpPr/>
          <p:nvPr/>
        </p:nvSpPr>
        <p:spPr>
          <a:xfrm>
            <a:off x="914400" y="3246120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23" name="Say head"/>
          <p:cNvSpPr/>
          <p:nvPr/>
        </p:nvSpPr>
        <p:spPr>
          <a:xfrm>
            <a:off x="4800600" y="3246120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24" name="Bad 1"/>
          <p:cNvSpPr/>
          <p:nvPr/>
        </p:nvSpPr>
        <p:spPr>
          <a:xfrm>
            <a:off x="914400" y="3840480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My name Ana.</a:t>
            </a:r>
            <a:endParaRPr lang="en-US" sz="2200" dirty="0"/>
          </a:p>
        </p:txBody>
      </p:sp>
      <p:sp>
        <p:nvSpPr>
          <p:cNvPr id="25" name="Good 1"/>
          <p:cNvSpPr/>
          <p:nvPr/>
        </p:nvSpPr>
        <p:spPr>
          <a:xfrm>
            <a:off x="4800600" y="3840480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My name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</a:t>
            </a: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Ana.</a:t>
            </a:r>
            <a:endParaRPr lang="en-US" sz="2200" dirty="0"/>
          </a:p>
        </p:txBody>
      </p:sp>
      <p:sp>
        <p:nvSpPr>
          <p:cNvPr id="26" name="Bad 2"/>
          <p:cNvSpPr/>
          <p:nvPr/>
        </p:nvSpPr>
        <p:spPr>
          <a:xfrm>
            <a:off x="914400" y="4407408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Ana.</a:t>
            </a:r>
            <a:endParaRPr lang="en-US" sz="2200" dirty="0"/>
          </a:p>
        </p:txBody>
      </p:sp>
      <p:sp>
        <p:nvSpPr>
          <p:cNvPr id="27" name="Good 2"/>
          <p:cNvSpPr/>
          <p:nvPr/>
        </p:nvSpPr>
        <p:spPr>
          <a:xfrm>
            <a:off x="4800600" y="4407408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</a:t>
            </a: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Ana.</a:t>
            </a:r>
            <a:endParaRPr lang="en-US" sz="2200" dirty="0"/>
          </a:p>
        </p:txBody>
      </p:sp>
      <p:sp>
        <p:nvSpPr>
          <p:cNvPr id="28" name="Bad 3"/>
          <p:cNvSpPr/>
          <p:nvPr/>
        </p:nvSpPr>
        <p:spPr>
          <a:xfrm>
            <a:off x="914400" y="4974336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your name?</a:t>
            </a:r>
            <a:endParaRPr lang="en-US" sz="2200" dirty="0"/>
          </a:p>
        </p:txBody>
      </p:sp>
      <p:sp>
        <p:nvSpPr>
          <p:cNvPr id="29" name="Good 3"/>
          <p:cNvSpPr/>
          <p:nvPr/>
        </p:nvSpPr>
        <p:spPr>
          <a:xfrm>
            <a:off x="4800600" y="4974336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's</a:t>
            </a: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your name?</a:t>
            </a:r>
            <a:endParaRPr lang="en-US" sz="2200" dirty="0"/>
          </a:p>
        </p:txBody>
      </p:sp>
      <p:sp>
        <p:nvSpPr>
          <p:cNvPr id="60" name="Bad 4"/>
          <p:cNvSpPr/>
          <p:nvPr/>
        </p:nvSpPr>
        <p:spPr>
          <a:xfrm>
            <a:off x="914400" y="5541264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you spell it?</a:t>
            </a:r>
            <a:endParaRPr lang="en-US" sz="2200" dirty="0"/>
          </a:p>
        </p:txBody>
      </p:sp>
      <p:sp>
        <p:nvSpPr>
          <p:cNvPr id="61" name="Good 4"/>
          <p:cNvSpPr/>
          <p:nvPr/>
        </p:nvSpPr>
        <p:spPr>
          <a:xfrm>
            <a:off x="4800600" y="5541264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</a:t>
            </a: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spell it?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Which Word?</a:t>
            </a:r>
            <a:endParaRPr lang="en-US" sz="4300" dirty="0"/>
          </a:p>
        </p:txBody>
      </p:sp>
      <p:sp>
        <p:nvSpPr>
          <p:cNvPr id="3" name="Text 1"/>
          <p:cNvSpPr/>
          <p:nvPr/>
        </p:nvSpPr>
        <p:spPr>
          <a:xfrm>
            <a:off x="685800" y="15544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☝️ 🗣️  Look at the picture. Say the word.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589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858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601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601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960120" y="4023360"/>
            <a:ext cx="27889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_________</a:t>
            </a:r>
            <a:endParaRPr lang="en-US" sz="2600" dirty="0"/>
          </a:p>
        </p:txBody>
      </p:sp>
      <p:pic>
        <p:nvPicPr>
          <p:cNvPr id="101" name="Quiz picture 1" descr="Person walking to a door, waving, saying Bye!"/>
          <p:cNvPicPr>
            <a:picLocks noChangeAspect="1"/>
          </p:cNvPicPr>
          <p:nvPr/>
        </p:nvPicPr>
        <p:blipFill>
          <a:blip r:embed="rIdG3w1"/>
          <a:stretch>
            <a:fillRect/>
          </a:stretch>
        </p:blipFill>
        <p:spPr>
          <a:xfrm>
            <a:off x="1783080" y="2560320"/>
            <a:ext cx="1920240" cy="1344168"/>
          </a:xfrm>
          <a:prstGeom prst="rect">
            <a:avLst/>
          </a:prstGeom>
        </p:spPr>
      </p:pic>
      <p:sp>
        <p:nvSpPr>
          <p:cNvPr id="10" name="Shape 8"/>
          <p:cNvSpPr/>
          <p:nvPr/>
        </p:nvSpPr>
        <p:spPr>
          <a:xfrm>
            <a:off x="44165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3434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C9B8F2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6177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6177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4617720" y="4023360"/>
            <a:ext cx="27889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_________</a:t>
            </a:r>
            <a:endParaRPr lang="en-US" sz="2600" dirty="0"/>
          </a:p>
        </p:txBody>
      </p:sp>
      <p:pic>
        <p:nvPicPr>
          <p:cNvPr id="102" name="Quiz picture 2" descr="Teacher at a board"/>
          <p:cNvPicPr>
            <a:picLocks noChangeAspect="1"/>
          </p:cNvPicPr>
          <p:nvPr/>
        </p:nvPicPr>
        <p:blipFill>
          <a:blip r:embed="rIdG3w2"/>
          <a:stretch>
            <a:fillRect/>
          </a:stretch>
        </p:blipFill>
        <p:spPr>
          <a:xfrm>
            <a:off x="5440680" y="2560320"/>
            <a:ext cx="1920240" cy="1344168"/>
          </a:xfrm>
          <a:prstGeom prst="rect">
            <a:avLst/>
          </a:prstGeom>
        </p:spPr>
      </p:pic>
      <p:sp>
        <p:nvSpPr>
          <p:cNvPr id="16" name="Shape 14"/>
          <p:cNvSpPr/>
          <p:nvPr/>
        </p:nvSpPr>
        <p:spPr>
          <a:xfrm>
            <a:off x="80741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0010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2753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2753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500" dirty="0"/>
          </a:p>
        </p:txBody>
      </p:sp>
      <p:sp>
        <p:nvSpPr>
          <p:cNvPr id="20" name="Text 18"/>
          <p:cNvSpPr/>
          <p:nvPr/>
        </p:nvSpPr>
        <p:spPr>
          <a:xfrm>
            <a:off x="8275320" y="4023360"/>
            <a:ext cx="27889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_________</a:t>
            </a:r>
            <a:endParaRPr lang="en-US" sz="2600" dirty="0"/>
          </a:p>
        </p:txBody>
      </p:sp>
      <p:pic>
        <p:nvPicPr>
          <p:cNvPr id="103" name="Quiz picture 3" descr="Open book and closed book"/>
          <p:cNvPicPr>
            <a:picLocks noChangeAspect="1"/>
          </p:cNvPicPr>
          <p:nvPr/>
        </p:nvPicPr>
        <p:blipFill>
          <a:blip r:embed="rIdG3w3"/>
          <a:stretch>
            <a:fillRect/>
          </a:stretch>
        </p:blipFill>
        <p:spPr>
          <a:xfrm>
            <a:off x="9098280" y="2560320"/>
            <a:ext cx="1920240" cy="1344168"/>
          </a:xfrm>
          <a:prstGeom prst="rect">
            <a:avLst/>
          </a:prstGeom>
        </p:spPr>
      </p:pic>
      <p:sp>
        <p:nvSpPr>
          <p:cNvPr id="22" name="Shape 20"/>
          <p:cNvSpPr/>
          <p:nvPr/>
        </p:nvSpPr>
        <p:spPr>
          <a:xfrm>
            <a:off x="10972800" y="5120640"/>
            <a:ext cx="777240" cy="734214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11035257" y="5110925"/>
            <a:ext cx="791119" cy="791119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 rot="900000">
            <a:off x="11250386" y="5337851"/>
            <a:ext cx="337961" cy="337961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25" name="Answer do"/>
          <p:cNvSpPr/>
          <p:nvPr/>
        </p:nvSpPr>
        <p:spPr>
          <a:xfrm>
            <a:off x="9601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goodbye</a:t>
            </a:r>
            <a:endParaRPr lang="en-US" sz="2800" dirty="0"/>
          </a:p>
        </p:txBody>
      </p:sp>
      <p:sp>
        <p:nvSpPr>
          <p:cNvPr id="26" name="Answer are"/>
          <p:cNvSpPr/>
          <p:nvPr/>
        </p:nvSpPr>
        <p:spPr>
          <a:xfrm>
            <a:off x="46177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teacher</a:t>
            </a:r>
            <a:endParaRPr lang="en-US" sz="2800" dirty="0"/>
          </a:p>
        </p:txBody>
      </p:sp>
      <p:sp>
        <p:nvSpPr>
          <p:cNvPr id="27" name="Answer does"/>
          <p:cNvSpPr/>
          <p:nvPr/>
        </p:nvSpPr>
        <p:spPr>
          <a:xfrm>
            <a:off x="82753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book</a:t>
            </a:r>
            <a:endParaRPr lang="en-US" sz="28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9496" y="1360627"/>
            <a:ext cx="3045866" cy="4995367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21" name="Picture letter" descr="Capital and small letters: A a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649224" y="2869067"/>
            <a:ext cx="2826410" cy="1978487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4582058" y="4619549"/>
            <a:ext cx="4033418" cy="1492301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08906" y="4572000"/>
            <a:ext cx="4033418" cy="1492301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395201" y="1473464"/>
            <a:ext cx="7210044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437583" y="1419149"/>
            <a:ext cx="7210044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800600" y="1481328"/>
            <a:ext cx="6583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3</a:t>
            </a:r>
            <a:endParaRPr lang="en-US" sz="2000" dirty="0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do you spell it?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713732" y="30632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do you spell it?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713732" y="361188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R-U-I-Z.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V-E-G-A.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713732" y="466344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 you repeat, please?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713732" y="519379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Yes.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V-E-G-A.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Sure.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R-U-I-Z.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915400" y="3108960"/>
            <a:ext cx="2697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What's</a:t>
            </a:r>
            <a:endParaRPr lang="en-US" sz="6000" dirty="0"/>
          </a:p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= What is</a:t>
            </a:r>
            <a:endParaRPr lang="en-US" sz="6000" dirty="0"/>
          </a:p>
        </p:txBody>
      </p:sp>
      <p:sp>
        <p:nvSpPr>
          <p:cNvPr id="17" name="Text 15"/>
          <p:cNvSpPr/>
          <p:nvPr/>
        </p:nvSpPr>
        <p:spPr>
          <a:xfrm>
            <a:off x="8915400" y="4709160"/>
            <a:ext cx="2697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</a:t>
            </a:r>
            <a:endParaRPr lang="en-US" sz="6000" dirty="0"/>
          </a:p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= I am</a:t>
            </a:r>
            <a:endParaRPr lang="en-US" sz="6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ture classmates" descr="Two learners at one table with books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725707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3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 Mingle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6291072" y="17830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🚶 🗣️ ✏️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Ask 5–6 classmates.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7:00–7:10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9033358" y="198699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9091847" y="197789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 rot="900000">
            <a:off x="9293308" y="219040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Hello! What's your name?</a:t>
            </a:r>
            <a:endParaRPr lang="en-US" sz="2200" dirty="0"/>
          </a:p>
          <a:p>
            <a:pPr algn="l" indent="0" marL="0">
              <a:buNone/>
            </a:pPr>
            <a:r>
              <a:rPr lang="en-US" sz="20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do you spell it?</a:t>
            </a:r>
            <a:endParaRPr lang="en-US" sz="2200" dirty="0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✏️ Write the name.</a:t>
            </a:r>
            <a:endParaRPr lang="en-US" sz="2200" dirty="0"/>
          </a:p>
          <a:p>
            <a:pPr algn="l" indent="0" marL="0"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First name and last name.</a:t>
            </a:r>
            <a:endParaRPr lang="en-US" sz="2200" dirty="0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✅ Your partner checks.</a:t>
            </a:r>
            <a:endParaRPr lang="en-US" sz="2200" dirty="0"/>
          </a:p>
          <a:p>
            <a:pPr algn="l" indent="0" marL="0"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Goodbye! Find a new person.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" y="786384"/>
            <a:ext cx="5486400" cy="5731459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147718" y="2196389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992270" y="1937614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343400" y="2103120"/>
            <a:ext cx="5486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 Go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  7:10–7:15</a:t>
            </a:r>
            <a:endParaRPr lang="en-US" sz="4000" dirty="0"/>
          </a:p>
        </p:txBody>
      </p:sp>
      <p:sp>
        <p:nvSpPr>
          <p:cNvPr id="13" name="Shape 11"/>
          <p:cNvSpPr/>
          <p:nvPr/>
        </p:nvSpPr>
        <p:spPr>
          <a:xfrm>
            <a:off x="9907524" y="2565806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966013" y="2556708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 rot="900000">
            <a:off x="10167475" y="2769218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pic>
        <p:nvPicPr>
          <p:cNvPr id="16" name="Picture pen" descr="Pen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777240" y="2651760"/>
            <a:ext cx="3017520" cy="2112264"/>
          </a:xfrm>
          <a:prstGeom prst="rect">
            <a:avLst/>
          </a:prstGeom>
        </p:spPr>
      </p:pic>
      <p:sp>
        <p:nvSpPr>
          <p:cNvPr id="17" name="Num 01"/>
          <p:cNvSpPr/>
          <p:nvPr/>
        </p:nvSpPr>
        <p:spPr>
          <a:xfrm>
            <a:off x="4343400" y="333756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000" dirty="0"/>
          </a:p>
        </p:txBody>
      </p:sp>
      <p:sp>
        <p:nvSpPr>
          <p:cNvPr id="18" name="Label 01"/>
          <p:cNvSpPr/>
          <p:nvPr/>
        </p:nvSpPr>
        <p:spPr>
          <a:xfrm>
            <a:off x="5120640" y="333756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Exit ticket</a:t>
            </a:r>
            <a:endParaRPr lang="en-US" sz="2200" dirty="0"/>
          </a:p>
        </p:txBody>
      </p:sp>
      <p:sp>
        <p:nvSpPr>
          <p:cNvPr id="19" name="Body 01"/>
          <p:cNvSpPr/>
          <p:nvPr/>
        </p:nvSpPr>
        <p:spPr>
          <a:xfrm>
            <a:off x="4343400" y="3977640"/>
            <a:ext cx="3520440" cy="2011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one sentence: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My name is ___.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Or write it on paper.</a:t>
            </a:r>
            <a:endParaRPr lang="en-US" sz="2000" dirty="0"/>
          </a:p>
        </p:txBody>
      </p:sp>
      <p:sp>
        <p:nvSpPr>
          <p:cNvPr id="20" name="Num 02"/>
          <p:cNvSpPr/>
          <p:nvPr/>
        </p:nvSpPr>
        <p:spPr>
          <a:xfrm>
            <a:off x="8001000" y="333756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000" dirty="0"/>
          </a:p>
        </p:txBody>
      </p:sp>
      <p:sp>
        <p:nvSpPr>
          <p:cNvPr id="21" name="Label 02"/>
          <p:cNvSpPr/>
          <p:nvPr/>
        </p:nvSpPr>
        <p:spPr>
          <a:xfrm>
            <a:off x="8778240" y="333756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🏠 Homework</a:t>
            </a:r>
            <a:endParaRPr lang="en-US" sz="2200" dirty="0"/>
          </a:p>
        </p:txBody>
      </p:sp>
      <p:sp>
        <p:nvSpPr>
          <p:cNvPr id="22" name="Body 02"/>
          <p:cNvSpPr/>
          <p:nvPr/>
        </p:nvSpPr>
        <p:spPr>
          <a:xfrm>
            <a:off x="8001000" y="3977640"/>
            <a:ext cx="3611880" cy="2011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✏️ Write your name.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🗣️ Ask a friend's name.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📖 Write the words.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🗣️ Say A to Z, 2 times.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Bring it next week!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9B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1371600"/>
            <a:ext cx="12191695" cy="5486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18465" y="431597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50469" y="365760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74827" y="640080"/>
            <a:ext cx="5120640" cy="1024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Credits</a:t>
            </a:r>
            <a:endParaRPr lang="en-US" sz="5400" dirty="0"/>
          </a:p>
        </p:txBody>
      </p:sp>
      <p:sp>
        <p:nvSpPr>
          <p:cNvPr id="12" name="Shape 10"/>
          <p:cNvSpPr/>
          <p:nvPr/>
        </p:nvSpPr>
        <p:spPr>
          <a:xfrm>
            <a:off x="275234" y="75895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333723" y="66797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 rot="900000">
            <a:off x="535185" y="279307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15" name="Twemoji credit"/>
          <p:cNvSpPr/>
          <p:nvPr/>
        </p:nvSpPr>
        <p:spPr>
          <a:xfrm>
            <a:off x="411480" y="2240280"/>
            <a:ext cx="11365992" cy="22402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Pictures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Vocabulary pictures use Twemoji graphics by Twitter, Inc. and other contributors (https://github.com/jdecked/twemoji), licensed under CC BY 4.0 (https://creativecommons.org/licenses/by/4.0/). The graphics were resized and combined, and ID cards, a name tag, speech bubbles, letters, and labels were added.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Task icons are standard emoji characters shown with the computer's emoji font.</a:t>
            </a:r>
            <a:endParaRPr lang="en-US" sz="2200" dirty="0"/>
          </a:p>
        </p:txBody>
      </p:sp>
      <p:sp>
        <p:nvSpPr>
          <p:cNvPr id="16" name="Deck license"/>
          <p:cNvSpPr/>
          <p:nvPr/>
        </p:nvSpPr>
        <p:spPr>
          <a:xfrm>
            <a:off x="411480" y="4709160"/>
            <a:ext cx="4206240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Names and numbers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Ana Ruiz and Carlos Vega are invented names. Practice phone numbers start with 555-01.</a:t>
            </a:r>
            <a:endParaRPr lang="en-US" sz="2200" dirty="0"/>
          </a:p>
        </p:txBody>
      </p:sp>
      <p:sp>
        <p:nvSpPr>
          <p:cNvPr id="17" name="AudioFontCredits"/>
          <p:cNvSpPr/>
          <p:nvPr/>
        </p:nvSpPr>
        <p:spPr>
          <a:xfrm>
            <a:off x="4846320" y="4709160"/>
            <a:ext cx="6931152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and font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Audio: synthetic voices made with Chatterbox TTS (MIT License); each file carries an inaudible Perth watermark marking it as AI-generated. Font: Lexend Deca (OFL 1.1).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© 2026 the authors. The authors license this deck under CC BY-NC-SA 4.0.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" y="209306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583741" y="2035454"/>
            <a:ext cx="5130698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583741" y="312724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583741" y="3838651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583741" y="4550054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583741" y="526145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10512" y="2103120"/>
            <a:ext cx="4434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👂  Listen.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901952" y="2505456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Every task has an icon.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 rot="10800000">
            <a:off x="6361481" y="223022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810512" y="3127248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🗣️  Say. Repeat.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 rot="10800000">
            <a:off x="6361481" y="3260750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810512" y="3838651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✏️  Write.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 rot="10800000">
            <a:off x="6361481" y="3955694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810512" y="4550054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👥  Work with a partner.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 rot="10800000">
            <a:off x="6361481" y="466709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810512" y="5261458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🚶  Walk and talk.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 rot="10800000">
            <a:off x="6361481" y="5377586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544982" y="2035454"/>
            <a:ext cx="1039673" cy="983894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86714" y="2166214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dirty="0"/>
          </a:p>
        </p:txBody>
      </p:sp>
      <p:sp>
        <p:nvSpPr>
          <p:cNvPr id="21" name="Shape 19"/>
          <p:cNvSpPr/>
          <p:nvPr/>
        </p:nvSpPr>
        <p:spPr>
          <a:xfrm>
            <a:off x="544982" y="3127248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86714" y="311261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dirty="0"/>
          </a:p>
        </p:txBody>
      </p:sp>
      <p:sp>
        <p:nvSpPr>
          <p:cNvPr id="23" name="Shape 21"/>
          <p:cNvSpPr/>
          <p:nvPr/>
        </p:nvSpPr>
        <p:spPr>
          <a:xfrm>
            <a:off x="544982" y="3838651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86714" y="381670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544982" y="4550054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86714" y="454365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dirty="0"/>
          </a:p>
        </p:txBody>
      </p:sp>
      <p:sp>
        <p:nvSpPr>
          <p:cNvPr id="27" name="Shape 25"/>
          <p:cNvSpPr/>
          <p:nvPr/>
        </p:nvSpPr>
        <p:spPr>
          <a:xfrm>
            <a:off x="544982" y="527974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86714" y="526968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05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Our</a:t>
            </a:r>
            <a:endParaRPr lang="en-US" sz="4000" dirty="0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Class Works</a:t>
            </a:r>
            <a:endParaRPr lang="en-US" sz="4000" dirty="0"/>
          </a:p>
        </p:txBody>
      </p:sp>
      <p:sp>
        <p:nvSpPr>
          <p:cNvPr id="30" name="Text 28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Class: 6:00–7:30</a:t>
            </a:r>
            <a:b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Break: 6:45–7:00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English in class.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 every week.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Phones OK: audio, dictionary.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184087" y="180411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242576" y="179501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 rot="900000">
            <a:off x="6444038" y="200752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" y="140726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583741" y="1349654"/>
            <a:ext cx="5130698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583741" y="2395728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583741" y="3182112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583741" y="3968496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583741" y="4754880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0" name="Row card 5"/>
          <p:cNvSpPr/>
          <p:nvPr/>
        </p:nvSpPr>
        <p:spPr>
          <a:xfrm>
            <a:off x="1583741" y="5541264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10512" y="1417320"/>
            <a:ext cx="4434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missing word.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901952" y="1819656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Use one word.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810512" y="2395728"/>
            <a:ext cx="3611880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9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What's your ____?</a:t>
            </a:r>
            <a:endParaRPr lang="en-US" sz="20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My name is Ana.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810512" y="3182112"/>
            <a:ext cx="3611880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9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____ your last name?</a:t>
            </a:r>
            <a:endParaRPr lang="en-US" sz="20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Vega.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810512" y="3968496"/>
            <a:ext cx="3611880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9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do you ____ it?</a:t>
            </a:r>
            <a:endParaRPr lang="en-US" sz="20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V-E-G-A.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810512" y="4754880"/>
            <a:ext cx="3611880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9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 you ____, please?</a:t>
            </a:r>
            <a:endParaRPr lang="en-US" sz="20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Yes. V-E-G-A.</a:t>
            </a:r>
            <a:endParaRPr lang="en-US" sz="2000" dirty="0"/>
          </a:p>
        </p:txBody>
      </p:sp>
      <p:sp>
        <p:nvSpPr>
          <p:cNvPr id="51" name="Row text 5"/>
          <p:cNvSpPr/>
          <p:nvPr/>
        </p:nvSpPr>
        <p:spPr>
          <a:xfrm>
            <a:off x="1810512" y="5541264"/>
            <a:ext cx="3611880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9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 you a student?</a:t>
            </a:r>
            <a:endParaRPr lang="en-US" sz="20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I ____.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4982" y="1349654"/>
            <a:ext cx="1039673" cy="983894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86714" y="1480414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✏️</a:t>
            </a:r>
            <a:endParaRPr lang="en-US" sz="3600" dirty="0"/>
          </a:p>
        </p:txBody>
      </p:sp>
      <p:sp>
        <p:nvSpPr>
          <p:cNvPr id="21" name="Shape 19"/>
          <p:cNvSpPr/>
          <p:nvPr/>
        </p:nvSpPr>
        <p:spPr>
          <a:xfrm>
            <a:off x="544982" y="2395728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86714" y="24597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3200" dirty="0"/>
          </a:p>
        </p:txBody>
      </p:sp>
      <p:sp>
        <p:nvSpPr>
          <p:cNvPr id="23" name="Shape 21"/>
          <p:cNvSpPr/>
          <p:nvPr/>
        </p:nvSpPr>
        <p:spPr>
          <a:xfrm>
            <a:off x="544982" y="3182112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86714" y="3246120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544982" y="3968496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86714" y="40325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3200" dirty="0"/>
          </a:p>
        </p:txBody>
      </p:sp>
      <p:sp>
        <p:nvSpPr>
          <p:cNvPr id="27" name="Shape 25"/>
          <p:cNvSpPr/>
          <p:nvPr/>
        </p:nvSpPr>
        <p:spPr>
          <a:xfrm>
            <a:off x="544982" y="4754880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86714" y="481888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</a:t>
            </a:r>
            <a:endParaRPr lang="en-US" sz="3200" dirty="0"/>
          </a:p>
        </p:txBody>
      </p:sp>
      <p:sp>
        <p:nvSpPr>
          <p:cNvPr id="52" name="Row chip 5"/>
          <p:cNvSpPr/>
          <p:nvPr/>
        </p:nvSpPr>
        <p:spPr>
          <a:xfrm>
            <a:off x="544982" y="5541264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ow number 5"/>
          <p:cNvSpPr/>
          <p:nvPr/>
        </p:nvSpPr>
        <p:spPr>
          <a:xfrm>
            <a:off x="686714" y="56052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5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</a:t>
            </a:r>
            <a:endParaRPr lang="en-US" sz="4000" dirty="0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Missing Word</a:t>
            </a:r>
            <a:endParaRPr lang="en-US" sz="4000" dirty="0"/>
          </a:p>
        </p:txBody>
      </p:sp>
      <p:sp>
        <p:nvSpPr>
          <p:cNvPr id="30" name="Text 28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 at the answer. It helps you find the word.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your answers.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184087" y="111831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242576" y="110921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 rot="900000">
            <a:off x="6444038" y="132172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34" name="Answer 1"/>
          <p:cNvSpPr/>
          <p:nvPr/>
        </p:nvSpPr>
        <p:spPr>
          <a:xfrm>
            <a:off x="5376672" y="2523744"/>
            <a:ext cx="1261872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</a:t>
            </a:r>
            <a:endParaRPr lang="en-US" sz="2200" dirty="0"/>
          </a:p>
        </p:txBody>
      </p:sp>
      <p:sp>
        <p:nvSpPr>
          <p:cNvPr id="35" name="Answer 2"/>
          <p:cNvSpPr/>
          <p:nvPr/>
        </p:nvSpPr>
        <p:spPr>
          <a:xfrm>
            <a:off x="5376672" y="3310128"/>
            <a:ext cx="1261872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What's</a:t>
            </a:r>
            <a:endParaRPr lang="en-US" sz="2200" dirty="0"/>
          </a:p>
        </p:txBody>
      </p:sp>
      <p:sp>
        <p:nvSpPr>
          <p:cNvPr id="36" name="Answer 3"/>
          <p:cNvSpPr/>
          <p:nvPr/>
        </p:nvSpPr>
        <p:spPr>
          <a:xfrm>
            <a:off x="5376672" y="4096511"/>
            <a:ext cx="1261872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spell</a:t>
            </a:r>
            <a:endParaRPr lang="en-US" sz="2200" dirty="0"/>
          </a:p>
        </p:txBody>
      </p:sp>
      <p:sp>
        <p:nvSpPr>
          <p:cNvPr id="37" name="Answer 4"/>
          <p:cNvSpPr/>
          <p:nvPr/>
        </p:nvSpPr>
        <p:spPr>
          <a:xfrm>
            <a:off x="5376672" y="4882896"/>
            <a:ext cx="1261872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repeat</a:t>
            </a:r>
            <a:endParaRPr lang="en-US" sz="2200" dirty="0"/>
          </a:p>
        </p:txBody>
      </p:sp>
      <p:sp>
        <p:nvSpPr>
          <p:cNvPr id="54" name="Answer 5"/>
          <p:cNvSpPr/>
          <p:nvPr/>
        </p:nvSpPr>
        <p:spPr>
          <a:xfrm>
            <a:off x="5376672" y="5669280"/>
            <a:ext cx="1261872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am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76429" y="533095"/>
            <a:ext cx="5814670" cy="15544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554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0" name="Alphabet"/>
          <p:cNvSpPr/>
          <p:nvPr/>
        </p:nvSpPr>
        <p:spPr>
          <a:xfrm>
            <a:off x="228600" y="1737360"/>
            <a:ext cx="333756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900"/>
              </a:spcBef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alphabet</a:t>
            </a:r>
            <a:endParaRPr lang="en-US" sz="2000" dirty="0"/>
          </a:p>
          <a:p>
            <a:pPr algn="ctr" indent="0" marL="0">
              <a:spcBef>
                <a:spcPts val="900"/>
              </a:spcBef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B C D E F G</a:t>
            </a:r>
            <a:endParaRPr lang="en-US" sz="2000" dirty="0"/>
          </a:p>
          <a:p>
            <a:pPr algn="ctr" indent="0" marL="0">
              <a:spcBef>
                <a:spcPts val="900"/>
              </a:spcBef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 I J K L M N</a:t>
            </a:r>
            <a:endParaRPr lang="en-US" sz="2000" dirty="0"/>
          </a:p>
          <a:p>
            <a:pPr algn="ctr" indent="0" marL="0">
              <a:spcBef>
                <a:spcPts val="900"/>
              </a:spcBef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 P Q R S T U</a:t>
            </a:r>
            <a:endParaRPr lang="en-US" sz="2000" dirty="0"/>
          </a:p>
          <a:p>
            <a:pPr algn="ctr" indent="0" marL="0">
              <a:spcBef>
                <a:spcPts val="900"/>
              </a:spcBef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 W X Y Z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333695" y="566928"/>
            <a:ext cx="484632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Letters &amp; Numbers  ·  7:15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3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Tricky Letters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166360" y="21488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LETTER  ·  SAY IT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741664" y="2148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EXAMPLE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0245852" y="1335938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0328148" y="1323137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 rot="900000">
            <a:off x="10611612" y="1622146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18" name="Highlight 1"/>
          <p:cNvSpPr/>
          <p:nvPr/>
        </p:nvSpPr>
        <p:spPr>
          <a:xfrm>
            <a:off x="5138928" y="2697479"/>
            <a:ext cx="1051560" cy="566928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9" name="Helper 1"/>
          <p:cNvSpPr/>
          <p:nvPr/>
        </p:nvSpPr>
        <p:spPr>
          <a:xfrm>
            <a:off x="5138928" y="2651760"/>
            <a:ext cx="105156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</a:t>
            </a:r>
            <a:endParaRPr lang="en-US" sz="2600" dirty="0"/>
          </a:p>
        </p:txBody>
      </p:sp>
      <p:sp>
        <p:nvSpPr>
          <p:cNvPr id="20" name="Question 1"/>
          <p:cNvSpPr/>
          <p:nvPr/>
        </p:nvSpPr>
        <p:spPr>
          <a:xfrm>
            <a:off x="6263640" y="2651760"/>
            <a:ext cx="237744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“ay” (like day)</a:t>
            </a:r>
            <a:endParaRPr lang="en-US" sz="2200" dirty="0"/>
          </a:p>
        </p:txBody>
      </p:sp>
      <p:sp>
        <p:nvSpPr>
          <p:cNvPr id="22" name="Answer bg 1"/>
          <p:cNvSpPr/>
          <p:nvPr/>
        </p:nvSpPr>
        <p:spPr>
          <a:xfrm>
            <a:off x="8668512" y="2651760"/>
            <a:ext cx="3017520" cy="6583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1" name="Answer 1"/>
          <p:cNvSpPr/>
          <p:nvPr/>
        </p:nvSpPr>
        <p:spPr>
          <a:xfrm>
            <a:off x="8668512" y="2651760"/>
            <a:ext cx="301752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</a:t>
            </a:r>
            <a:r>
              <a:rPr lang="en-US" sz="24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-N-A</a:t>
            </a:r>
            <a:endParaRPr lang="en-US" sz="2200" dirty="0"/>
          </a:p>
        </p:txBody>
      </p:sp>
      <p:sp>
        <p:nvSpPr>
          <p:cNvPr id="23" name="Highlight 2"/>
          <p:cNvSpPr/>
          <p:nvPr/>
        </p:nvSpPr>
        <p:spPr>
          <a:xfrm>
            <a:off x="5138928" y="3465575"/>
            <a:ext cx="1051560" cy="566928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Helper 2"/>
          <p:cNvSpPr/>
          <p:nvPr/>
        </p:nvSpPr>
        <p:spPr>
          <a:xfrm>
            <a:off x="5138928" y="3419856"/>
            <a:ext cx="105156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 e</a:t>
            </a:r>
            <a:endParaRPr lang="en-US" sz="2600" dirty="0"/>
          </a:p>
        </p:txBody>
      </p:sp>
      <p:sp>
        <p:nvSpPr>
          <p:cNvPr id="25" name="Question 2"/>
          <p:cNvSpPr/>
          <p:nvPr/>
        </p:nvSpPr>
        <p:spPr>
          <a:xfrm>
            <a:off x="6263640" y="3419856"/>
            <a:ext cx="237744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“ee” (like see)</a:t>
            </a:r>
            <a:endParaRPr lang="en-US" sz="2200" dirty="0"/>
          </a:p>
        </p:txBody>
      </p:sp>
      <p:sp>
        <p:nvSpPr>
          <p:cNvPr id="27" name="Answer bg 2"/>
          <p:cNvSpPr/>
          <p:nvPr/>
        </p:nvSpPr>
        <p:spPr>
          <a:xfrm>
            <a:off x="8668512" y="3419856"/>
            <a:ext cx="3017520" cy="6583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2"/>
          <p:cNvSpPr/>
          <p:nvPr/>
        </p:nvSpPr>
        <p:spPr>
          <a:xfrm>
            <a:off x="8668512" y="3419856"/>
            <a:ext cx="301752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V-</a:t>
            </a:r>
            <a:r>
              <a:rPr lang="en-US" sz="24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</a:t>
            </a:r>
            <a:r>
              <a:rPr lang="en-US" sz="24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-G-A</a:t>
            </a:r>
            <a:endParaRPr lang="en-US" sz="2200" dirty="0"/>
          </a:p>
        </p:txBody>
      </p:sp>
      <p:sp>
        <p:nvSpPr>
          <p:cNvPr id="132" name="Highlight 3"/>
          <p:cNvSpPr/>
          <p:nvPr/>
        </p:nvSpPr>
        <p:spPr>
          <a:xfrm>
            <a:off x="5138928" y="4233672"/>
            <a:ext cx="1051560" cy="566928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42" name="Helper 3"/>
          <p:cNvSpPr/>
          <p:nvPr/>
        </p:nvSpPr>
        <p:spPr>
          <a:xfrm>
            <a:off x="5138928" y="4187952"/>
            <a:ext cx="105156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i</a:t>
            </a:r>
            <a:endParaRPr lang="en-US" sz="2600" dirty="0"/>
          </a:p>
        </p:txBody>
      </p:sp>
      <p:sp>
        <p:nvSpPr>
          <p:cNvPr id="152" name="Question 3"/>
          <p:cNvSpPr/>
          <p:nvPr/>
        </p:nvSpPr>
        <p:spPr>
          <a:xfrm>
            <a:off x="6263640" y="4187952"/>
            <a:ext cx="237744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“eye”</a:t>
            </a:r>
            <a:endParaRPr lang="en-US" sz="2200" dirty="0"/>
          </a:p>
        </p:txBody>
      </p:sp>
      <p:sp>
        <p:nvSpPr>
          <p:cNvPr id="162" name="Answer bg 3"/>
          <p:cNvSpPr/>
          <p:nvPr/>
        </p:nvSpPr>
        <p:spPr>
          <a:xfrm>
            <a:off x="8668512" y="4187952"/>
            <a:ext cx="3017520" cy="6583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72" name="Answer 3"/>
          <p:cNvSpPr/>
          <p:nvPr/>
        </p:nvSpPr>
        <p:spPr>
          <a:xfrm>
            <a:off x="8668512" y="4187952"/>
            <a:ext cx="301752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R-U-</a:t>
            </a:r>
            <a:r>
              <a:rPr lang="en-US" sz="24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</a:t>
            </a:r>
            <a:r>
              <a:rPr lang="en-US" sz="24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-Z</a:t>
            </a:r>
            <a:endParaRPr lang="en-US" sz="2200" dirty="0"/>
          </a:p>
        </p:txBody>
      </p:sp>
      <p:sp>
        <p:nvSpPr>
          <p:cNvPr id="133" name="Highlight 4"/>
          <p:cNvSpPr/>
          <p:nvPr/>
        </p:nvSpPr>
        <p:spPr>
          <a:xfrm>
            <a:off x="5138928" y="5001768"/>
            <a:ext cx="1051560" cy="566928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43" name="Helper 4"/>
          <p:cNvSpPr/>
          <p:nvPr/>
        </p:nvSpPr>
        <p:spPr>
          <a:xfrm>
            <a:off x="5138928" y="4956048"/>
            <a:ext cx="105156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 g</a:t>
            </a:r>
            <a:endParaRPr lang="en-US" sz="2600" dirty="0"/>
          </a:p>
        </p:txBody>
      </p:sp>
      <p:sp>
        <p:nvSpPr>
          <p:cNvPr id="153" name="Question 4"/>
          <p:cNvSpPr/>
          <p:nvPr/>
        </p:nvSpPr>
        <p:spPr>
          <a:xfrm>
            <a:off x="6263640" y="4956048"/>
            <a:ext cx="237744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“jee”</a:t>
            </a:r>
            <a:endParaRPr lang="en-US" sz="2200" dirty="0"/>
          </a:p>
        </p:txBody>
      </p:sp>
      <p:sp>
        <p:nvSpPr>
          <p:cNvPr id="163" name="Answer bg 4"/>
          <p:cNvSpPr/>
          <p:nvPr/>
        </p:nvSpPr>
        <p:spPr>
          <a:xfrm>
            <a:off x="8668512" y="4956048"/>
            <a:ext cx="3017520" cy="6583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73" name="Answer 4"/>
          <p:cNvSpPr/>
          <p:nvPr/>
        </p:nvSpPr>
        <p:spPr>
          <a:xfrm>
            <a:off x="8668512" y="4956048"/>
            <a:ext cx="301752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V-E-</a:t>
            </a:r>
            <a:r>
              <a:rPr lang="en-US" sz="24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</a:t>
            </a:r>
            <a:r>
              <a:rPr lang="en-US" sz="24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-A</a:t>
            </a:r>
            <a:endParaRPr lang="en-US" sz="2200" dirty="0"/>
          </a:p>
        </p:txBody>
      </p:sp>
      <p:sp>
        <p:nvSpPr>
          <p:cNvPr id="134" name="Highlight 5"/>
          <p:cNvSpPr/>
          <p:nvPr/>
        </p:nvSpPr>
        <p:spPr>
          <a:xfrm>
            <a:off x="5138928" y="5769864"/>
            <a:ext cx="1051560" cy="566928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44" name="Helper 5"/>
          <p:cNvSpPr/>
          <p:nvPr/>
        </p:nvSpPr>
        <p:spPr>
          <a:xfrm>
            <a:off x="5138928" y="5724144"/>
            <a:ext cx="105156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J j</a:t>
            </a:r>
            <a:endParaRPr lang="en-US" sz="2600" dirty="0"/>
          </a:p>
        </p:txBody>
      </p:sp>
      <p:sp>
        <p:nvSpPr>
          <p:cNvPr id="154" name="Question 5"/>
          <p:cNvSpPr/>
          <p:nvPr/>
        </p:nvSpPr>
        <p:spPr>
          <a:xfrm>
            <a:off x="6263640" y="5724144"/>
            <a:ext cx="237744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“jay”</a:t>
            </a:r>
            <a:endParaRPr lang="en-US" sz="2200" dirty="0"/>
          </a:p>
        </p:txBody>
      </p:sp>
      <p:sp>
        <p:nvSpPr>
          <p:cNvPr id="164" name="Answer bg 5"/>
          <p:cNvSpPr/>
          <p:nvPr/>
        </p:nvSpPr>
        <p:spPr>
          <a:xfrm>
            <a:off x="8668512" y="5724144"/>
            <a:ext cx="3017520" cy="6583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74" name="Answer 5"/>
          <p:cNvSpPr/>
          <p:nvPr/>
        </p:nvSpPr>
        <p:spPr>
          <a:xfrm>
            <a:off x="8668512" y="5724144"/>
            <a:ext cx="301752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J</a:t>
            </a:r>
            <a:r>
              <a:rPr lang="en-US" sz="24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-U-A-N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Letters: Task B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👂 ⭕  Listen to the teacher.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 the letter.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10865815" y="269565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10924304" y="268655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 rot="900000">
            <a:off x="11125766" y="289906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27" name="Statement 1"/>
          <p:cNvSpPr/>
          <p:nvPr/>
        </p:nvSpPr>
        <p:spPr>
          <a:xfrm>
            <a:off x="1463040" y="3127248"/>
            <a:ext cx="9144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</a:t>
            </a:r>
            <a:endParaRPr lang="en-US" sz="2200" dirty="0"/>
          </a:p>
        </p:txBody>
      </p:sp>
      <p:sp>
        <p:nvSpPr>
          <p:cNvPr id="28" name="True 1"/>
          <p:cNvSpPr/>
          <p:nvPr/>
        </p:nvSpPr>
        <p:spPr>
          <a:xfrm>
            <a:off x="3291840" y="3127248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</a:t>
            </a:r>
            <a:endParaRPr lang="en-US" sz="2000" dirty="0"/>
          </a:p>
        </p:txBody>
      </p:sp>
      <p:sp>
        <p:nvSpPr>
          <p:cNvPr id="29" name="False 1"/>
          <p:cNvSpPr/>
          <p:nvPr/>
        </p:nvSpPr>
        <p:spPr>
          <a:xfrm>
            <a:off x="5486400" y="3127248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</a:t>
            </a:r>
            <a:endParaRPr lang="en-US" sz="2000" dirty="0"/>
          </a:p>
        </p:txBody>
      </p:sp>
      <p:sp>
        <p:nvSpPr>
          <p:cNvPr id="200" name="Option C 1"/>
          <p:cNvSpPr/>
          <p:nvPr/>
        </p:nvSpPr>
        <p:spPr>
          <a:xfrm>
            <a:off x="7680960" y="3127248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</a:t>
            </a:r>
            <a:endParaRPr lang="en-US" sz="2000" dirty="0"/>
          </a:p>
        </p:txBody>
      </p:sp>
      <p:sp>
        <p:nvSpPr>
          <p:cNvPr id="30" name="Circle 1"/>
          <p:cNvSpPr/>
          <p:nvPr/>
        </p:nvSpPr>
        <p:spPr>
          <a:xfrm>
            <a:off x="5358384" y="3063240"/>
            <a:ext cx="162763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1" name="Statement 2"/>
          <p:cNvSpPr/>
          <p:nvPr/>
        </p:nvSpPr>
        <p:spPr>
          <a:xfrm>
            <a:off x="1463040" y="3785616"/>
            <a:ext cx="9144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</a:t>
            </a:r>
            <a:endParaRPr lang="en-US" sz="2200" dirty="0"/>
          </a:p>
        </p:txBody>
      </p:sp>
      <p:sp>
        <p:nvSpPr>
          <p:cNvPr id="32" name="True 2"/>
          <p:cNvSpPr/>
          <p:nvPr/>
        </p:nvSpPr>
        <p:spPr>
          <a:xfrm>
            <a:off x="3291840" y="3785616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</a:t>
            </a:r>
            <a:endParaRPr lang="en-US" sz="2000" dirty="0"/>
          </a:p>
        </p:txBody>
      </p:sp>
      <p:sp>
        <p:nvSpPr>
          <p:cNvPr id="33" name="False 2"/>
          <p:cNvSpPr/>
          <p:nvPr/>
        </p:nvSpPr>
        <p:spPr>
          <a:xfrm>
            <a:off x="5486400" y="3785616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J</a:t>
            </a:r>
            <a:endParaRPr lang="en-US" sz="2000" dirty="0"/>
          </a:p>
        </p:txBody>
      </p:sp>
      <p:sp>
        <p:nvSpPr>
          <p:cNvPr id="201" name="Option C 2"/>
          <p:cNvSpPr/>
          <p:nvPr/>
        </p:nvSpPr>
        <p:spPr>
          <a:xfrm>
            <a:off x="7680960" y="3785616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</a:t>
            </a:r>
            <a:endParaRPr lang="en-US" sz="2000" dirty="0"/>
          </a:p>
        </p:txBody>
      </p:sp>
      <p:sp>
        <p:nvSpPr>
          <p:cNvPr id="34" name="Circle 2"/>
          <p:cNvSpPr/>
          <p:nvPr/>
        </p:nvSpPr>
        <p:spPr>
          <a:xfrm>
            <a:off x="3163823" y="3721608"/>
            <a:ext cx="162763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6" name="Statement 3"/>
          <p:cNvSpPr/>
          <p:nvPr/>
        </p:nvSpPr>
        <p:spPr>
          <a:xfrm>
            <a:off x="1463040" y="4443984"/>
            <a:ext cx="9144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</a:t>
            </a:r>
            <a:endParaRPr lang="en-US" sz="2200" dirty="0"/>
          </a:p>
        </p:txBody>
      </p:sp>
      <p:sp>
        <p:nvSpPr>
          <p:cNvPr id="37" name="True 3"/>
          <p:cNvSpPr/>
          <p:nvPr/>
        </p:nvSpPr>
        <p:spPr>
          <a:xfrm>
            <a:off x="3291840" y="4443984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</a:t>
            </a:r>
            <a:endParaRPr lang="en-US" sz="2000" dirty="0"/>
          </a:p>
        </p:txBody>
      </p:sp>
      <p:sp>
        <p:nvSpPr>
          <p:cNvPr id="38" name="False 3"/>
          <p:cNvSpPr/>
          <p:nvPr/>
        </p:nvSpPr>
        <p:spPr>
          <a:xfrm>
            <a:off x="5486400" y="4443984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</a:t>
            </a:r>
            <a:endParaRPr lang="en-US" sz="2000" dirty="0"/>
          </a:p>
        </p:txBody>
      </p:sp>
      <p:sp>
        <p:nvSpPr>
          <p:cNvPr id="202" name="Option C 3"/>
          <p:cNvSpPr/>
          <p:nvPr/>
        </p:nvSpPr>
        <p:spPr>
          <a:xfrm>
            <a:off x="7680960" y="4443984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</a:t>
            </a:r>
            <a:endParaRPr lang="en-US" sz="2000" dirty="0"/>
          </a:p>
        </p:txBody>
      </p:sp>
      <p:sp>
        <p:nvSpPr>
          <p:cNvPr id="39" name="Circle 3"/>
          <p:cNvSpPr/>
          <p:nvPr/>
        </p:nvSpPr>
        <p:spPr>
          <a:xfrm>
            <a:off x="5358384" y="4379976"/>
            <a:ext cx="162763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0" name="Statement 4"/>
          <p:cNvSpPr/>
          <p:nvPr/>
        </p:nvSpPr>
        <p:spPr>
          <a:xfrm>
            <a:off x="1463040" y="5102352"/>
            <a:ext cx="9144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</a:t>
            </a:r>
            <a:endParaRPr lang="en-US" sz="2200" dirty="0"/>
          </a:p>
        </p:txBody>
      </p:sp>
      <p:sp>
        <p:nvSpPr>
          <p:cNvPr id="41" name="True 4"/>
          <p:cNvSpPr/>
          <p:nvPr/>
        </p:nvSpPr>
        <p:spPr>
          <a:xfrm>
            <a:off x="3291840" y="5102352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</a:t>
            </a:r>
            <a:endParaRPr lang="en-US" sz="2000" dirty="0"/>
          </a:p>
        </p:txBody>
      </p:sp>
      <p:sp>
        <p:nvSpPr>
          <p:cNvPr id="42" name="False 4"/>
          <p:cNvSpPr/>
          <p:nvPr/>
        </p:nvSpPr>
        <p:spPr>
          <a:xfrm>
            <a:off x="5486400" y="5102352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J</a:t>
            </a:r>
            <a:endParaRPr lang="en-US" sz="2000" dirty="0"/>
          </a:p>
        </p:txBody>
      </p:sp>
      <p:sp>
        <p:nvSpPr>
          <p:cNvPr id="203" name="Option C 4"/>
          <p:cNvSpPr/>
          <p:nvPr/>
        </p:nvSpPr>
        <p:spPr>
          <a:xfrm>
            <a:off x="7680960" y="5102352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</a:t>
            </a:r>
            <a:endParaRPr lang="en-US" sz="2000" dirty="0"/>
          </a:p>
        </p:txBody>
      </p:sp>
      <p:sp>
        <p:nvSpPr>
          <p:cNvPr id="43" name="Circle 4"/>
          <p:cNvSpPr/>
          <p:nvPr/>
        </p:nvSpPr>
        <p:spPr>
          <a:xfrm>
            <a:off x="5358384" y="5038344"/>
            <a:ext cx="162763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5" name="Statement 5"/>
          <p:cNvSpPr/>
          <p:nvPr/>
        </p:nvSpPr>
        <p:spPr>
          <a:xfrm>
            <a:off x="1463040" y="5760720"/>
            <a:ext cx="9144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5.</a:t>
            </a:r>
            <a:endParaRPr lang="en-US" sz="2200" dirty="0"/>
          </a:p>
        </p:txBody>
      </p:sp>
      <p:sp>
        <p:nvSpPr>
          <p:cNvPr id="46" name="True 5"/>
          <p:cNvSpPr/>
          <p:nvPr/>
        </p:nvSpPr>
        <p:spPr>
          <a:xfrm>
            <a:off x="3291840" y="5760720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</a:t>
            </a:r>
            <a:endParaRPr lang="en-US" sz="2000" dirty="0"/>
          </a:p>
        </p:txBody>
      </p:sp>
      <p:sp>
        <p:nvSpPr>
          <p:cNvPr id="47" name="False 5"/>
          <p:cNvSpPr/>
          <p:nvPr/>
        </p:nvSpPr>
        <p:spPr>
          <a:xfrm>
            <a:off x="5486400" y="5760720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</a:t>
            </a:r>
            <a:endParaRPr lang="en-US" sz="2000" dirty="0"/>
          </a:p>
        </p:txBody>
      </p:sp>
      <p:sp>
        <p:nvSpPr>
          <p:cNvPr id="204" name="Option C 5"/>
          <p:cNvSpPr/>
          <p:nvPr/>
        </p:nvSpPr>
        <p:spPr>
          <a:xfrm>
            <a:off x="7680960" y="5760720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</a:t>
            </a:r>
            <a:endParaRPr lang="en-US" sz="2000" dirty="0"/>
          </a:p>
        </p:txBody>
      </p:sp>
      <p:sp>
        <p:nvSpPr>
          <p:cNvPr id="48" name="Circle 5"/>
          <p:cNvSpPr/>
          <p:nvPr/>
        </p:nvSpPr>
        <p:spPr>
          <a:xfrm>
            <a:off x="3163823" y="5696712"/>
            <a:ext cx="162763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Image 0" descr="Person walking to a door, waving, saying Bye!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1  ·  Level 1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Goodbye! See You Next Week!</a:t>
            </a:r>
            <a:endParaRPr lang="en-US" sz="5000" dirty="0"/>
          </a:p>
        </p:txBody>
      </p:sp>
      <p:sp>
        <p:nvSpPr>
          <p:cNvPr id="9" name="Text 6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Now you can: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Say hello and goodbye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Say and spell your name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Ask: Can you repeat, please?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6172200" y="594360"/>
            <a:ext cx="914400" cy="863781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6245679" y="582930"/>
            <a:ext cx="930729" cy="930729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 rot="900000">
            <a:off x="6498771" y="849902"/>
            <a:ext cx="397601" cy="397601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Level 1 Lesson 1: Hello! What's Your Name?</dc:title>
  <dc:subject>PptxGenJS Presentation</dc:subject>
  <dc:creator>Level 1 ESL</dc:creator>
  <cp:lastModifiedBy>Level 1 ESL</cp:lastModifiedBy>
  <cp:revision>1</cp:revision>
  <dcterms:created xsi:type="dcterms:W3CDTF">2026-10-15T20:54:31Z</dcterms:created>
  <dcterms:modified xsi:type="dcterms:W3CDTF">2026-10-15T20:54:31Z</dcterms:modified>
</cp:coreProperties>
</file>