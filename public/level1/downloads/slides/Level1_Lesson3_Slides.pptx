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29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79" r:id="rId30"/>
    <p:sldId id="265" r:id="rId11"/>
    <p:sldId id="276" r:id="rId27"/>
    <p:sldId id="262" r:id="rId8"/>
    <p:sldId id="264" r:id="rId10"/>
    <p:sldId id="282" r:id="rId33"/>
    <p:sldId id="277" r:id="rId28"/>
    <p:sldId id="272" r:id="rId18"/>
    <p:sldId id="260" r:id="rId6"/>
    <p:sldId id="266" r:id="rId12"/>
    <p:sldId id="259" r:id="rId5"/>
    <p:sldId id="281" r:id="rId32"/>
    <p:sldId id="280" r:id="rId31"/>
    <p:sldId id="278" r:id="rId29"/>
    <p:sldId id="270" r:id="rId16"/>
    <p:sldId id="271" r:id="rId17"/>
    <p:sldId id="284" r:id="rId35"/>
    <p:sldId id="285" r:id="rId36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9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2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 Smile and say: "Hello! Welcome back to English class."</a:t>
            </a:r>
          </a:p>
          <a:p>
            <a:r>
              <a:rPr lang="en-US"/>
              <a:t>Point to the title. Read it slowly: "My phone number and address." Learners repeat.</a:t>
            </a:r>
          </a:p>
          <a:p>
            <a:r>
              <a:rPr lang="en-US"/>
              <a:t>Say first: "This is practice. You don't need your real phone number or your real address." Practice numbers are 555-0100 to 555-0199.</a:t>
            </a:r>
          </a:p>
          <a:p>
            <a:r>
              <a:rPr lang="en-US"/>
              <a:t>Point to the phone picture and read the number in groups: "five-five-five... oh-one-four-two."</a:t>
            </a:r>
          </a:p>
          <a:p>
            <a:r>
              <a:rPr lang="en-US"/>
              <a:t>Read the three lines, one at a time. Learners repeat each one.</a:t>
            </a:r>
          </a:p>
          <a:p>
            <a:r>
              <a:rPr lang="en-US"/>
              <a:t>Source: Level1_Lesson3.md (Topic; At a glance: Objectives; How to Use This Plan: Privacy this week).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class, write on the board: Where are you from? What city? Where is he / she from? Is he / she from ___?</a:t>
            </a:r>
          </a:p>
          <a:p>
            <a:r>
              <a:rPr lang="en-US"/>
              <a:t>Model with one learner: "Where are you from?" "Guatemala." "What city?" "Antigua." Then point to another learner: "Where is she from?" "She's from Mexico."</a:t>
            </a:r>
          </a:p>
          <a:p>
            <a:r>
              <a:rPr lang="en-US"/>
              <a:t>Click to show the A line, then the B line. Pairs: A asks, B answers. Then ask about a classmate. Switch. Then find a new partner.</a:t>
            </a:r>
          </a:p>
          <a:p>
            <a:r>
              <a:rPr lang="en-US"/>
              <a:t>Help lines: Can you repeat, please? How do you spell it?</a:t>
            </a:r>
          </a:p>
          <a:p>
            <a:r>
              <a:rPr lang="en-US"/>
              <a:t>Last 3 minutes: partners show each other last week's homework. Look at item 2 (am / is / are).</a:t>
            </a:r>
          </a:p>
          <a:p>
            <a:r>
              <a:rPr lang="en-US"/>
              <a:t>If behind: one partner only.</a:t>
            </a:r>
          </a:p>
          <a:p>
            <a:r>
              <a:rPr lang="en-US"/>
              <a:t>Source: Level1_Lesson3.md (Step 1 Hello + Review; Student Page 1).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a wrong number on purpose: "Is your phone number 555-0124?" Click: "No, it isn't. It's 555-0142."</a:t>
            </a:r>
          </a:p>
          <a:p>
            <a:r>
              <a:rPr lang="en-US"/>
              <a:t>Then ask the right number: "Is your phone number 555-0142?" The class says: "Yes, it is."</a:t>
            </a:r>
          </a:p>
          <a:p>
            <a:r>
              <a:rPr lang="en-US"/>
              <a:t>Can you repeat, please? Can you spell it, please? Click to show: "Sure. 555-0142." / "Sure. P-I-N-E." (Pine Street)</a:t>
            </a:r>
          </a:p>
          <a:p>
            <a:r>
              <a:rPr lang="en-US"/>
              <a:t>Pairs ask and answer with a practice number.</a:t>
            </a:r>
          </a:p>
          <a:p>
            <a:r>
              <a:rPr lang="en-US"/>
              <a:t>Source: Level1_Lesson3.md (Step 4 Grammar Q&amp;A, Box 3; Grammar Box 3).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box: the left side is the question. The right side is the answer. Point left, then right.</a:t>
            </a:r>
          </a:p>
          <a:p>
            <a:r>
              <a:rPr lang="en-US"/>
              <a:t>You read a question. Click to show the answer. The class reads the answer.</a:t>
            </a:r>
          </a:p>
          <a:p>
            <a:r>
              <a:rPr lang="en-US"/>
              <a:t>Change the word: your / his / her. Use practice numbers: 555-0142, 555-0163. Addresses: 210 Pine Street, 46 Oak Street.</a:t>
            </a:r>
          </a:p>
          <a:p>
            <a:r>
              <a:rPr lang="en-US"/>
              <a:t>Say phone numbers in groups: five-five-five... oh-one-four-two.</a:t>
            </a:r>
          </a:p>
          <a:p>
            <a:r>
              <a:rPr lang="en-US"/>
              <a:t>Source: Level1_Lesson3.md (Step 4 Grammar Q&amp;A; Grammar Box 1).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A: read the 5 numbers slowly, 2 times each: 13, 40, 15, 70, 80. Learners circle.</a:t>
            </a:r>
          </a:p>
          <a:p>
            <a:r>
              <a:rPr lang="en-US"/>
              <a:t>Part B: learners match the question and the answer. Click to show the answers: 1 b, 2 d, 3 a, 4 c.</a:t>
            </a:r>
          </a:p>
          <a:p>
            <a:r>
              <a:rPr lang="en-US"/>
              <a:t>Part C (write my, his, or her): 1 His, 2 Her, 3 My.</a:t>
            </a:r>
          </a:p>
          <a:p>
            <a:r>
              <a:rPr lang="en-US"/>
              <a:t>Part D: read each "I can..." line and point to the faces: 😀 "I can do it." 🙂 "A little." 😐 "Not yet." Learners check one.</a:t>
            </a:r>
          </a:p>
          <a:p>
            <a:r>
              <a:rPr lang="en-US"/>
              <a:t>Score: A /5 + B /4 + C /3 = /12. This is not a test grade. Collect the pages. If behind, do it in Week 4 at 6:00.</a:t>
            </a:r>
          </a:p>
          <a:p>
            <a:r>
              <a:rPr lang="en-US"/>
              <a:t>Source: Level1_Lesson3.md (Progress Check step; Student Pages: Progress Check;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picture 1. Ask: "What's the word?" Learners say it. Click to show the answer: street.</a:t>
            </a:r>
          </a:p>
          <a:p>
            <a:r>
              <a:rPr lang="en-US"/>
              <a:t>Picture 2: click to show signature. Picture 3: click to show ZIP code.</a:t>
            </a:r>
          </a:p>
          <a:p>
            <a:r>
              <a:rPr lang="en-US"/>
              <a:t>Learners say each word 2 times. Point to the sign: "Pine Street."</a:t>
            </a:r>
          </a:p>
          <a:p>
            <a:r>
              <a:rPr lang="en-US"/>
              <a:t>Source: Level1_Lesson3.md (Student Pages: New Words).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"This is Ana. She's at a clinic. She's a new patient. The receptionist asks: What's your phone number? What's your address?" Point to the form (Task B).</a:t>
            </a:r>
          </a:p>
          <a:p>
            <a:r>
              <a:rPr lang="en-US"/>
              <a:t>Click to show each listen: Listen 1 = Task A (circle). Listen 2 = Task B (the form). Listen 3 = Task C (check what Ana writes).</a:t>
            </a:r>
          </a:p>
          <a:p>
            <a:r>
              <a:rPr lang="en-US"/>
              <a:t>The audio L1_L3_listening.mp3 (about 1:05) plays the conversation once. Press play again for the next listen. Voices: Narrator, Receptionist, Ana.</a:t>
            </a:r>
          </a:p>
          <a:p>
            <a:r>
              <a:rPr lang="en-US"/>
              <a:t>Say it (2 min): the class repeats each line twice. Then pairs ask and answer with a practice number.</a:t>
            </a:r>
          </a:p>
          <a:p>
            <a:r>
              <a:rPr lang="en-US"/>
              <a:t>No speaker? Read the script with a volunteer. Read numbers slowly, in groups: five-five-five... oh-one-four-two.</a:t>
            </a:r>
          </a:p>
          <a:p>
            <a:r>
              <a:rPr lang="en-US"/>
              <a:t>Source: Level1_Lesson3.md (Step 3 Listening + Say it; Listening script); audio/README.md.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first: "This is practice. You don't need your real phone number or your real address."</a:t>
            </a:r>
          </a:p>
          <a:p>
            <a:r>
              <a:rPr lang="en-US"/>
              <a:t>Show a real paper form (no one's information on it). Point to the lines: "This is a form. First name. Last name. Phone number. Address."</a:t>
            </a:r>
          </a:p>
          <a:p>
            <a:r>
              <a:rPr lang="en-US"/>
              <a:t>Click: each picture and word appears. Point and say the word. Learners repeat twice.</a:t>
            </a:r>
          </a:p>
          <a:p>
            <a:r>
              <a:rPr lang="en-US"/>
              <a:t>★ = most important words. Apt. = apartment.</a:t>
            </a:r>
          </a:p>
          <a:p>
            <a:r>
              <a:rPr lang="en-US"/>
              <a:t>If behind: teach the ★ words only.</a:t>
            </a:r>
          </a:p>
          <a:p>
            <a:r>
              <a:rPr lang="en-US"/>
              <a:t>Source: Level1_Lesson3.md (Step 2 New Words; Student Pages: New Words).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key point. Point to a man: "his phone number." Point to a woman: "her phone number."</a:t>
            </a:r>
          </a:p>
          <a:p>
            <a:r>
              <a:rPr lang="en-US"/>
              <a:t>Point to yourself: "my." To a learner: "your." To the class and you: "our class." To two learners: "their city."</a:t>
            </a:r>
          </a:p>
          <a:p>
            <a:r>
              <a:rPr lang="en-US"/>
              <a:t>Write on the board: he → his. she → her. Click to show the examples.</a:t>
            </a:r>
          </a:p>
          <a:p>
            <a:r>
              <a:rPr lang="en-US"/>
              <a:t>The big mistake this week: his and her. The word depends on the person, not the thing. Correct by pointing to the person: "Carlos... his."</a:t>
            </a:r>
          </a:p>
          <a:p>
            <a:r>
              <a:rPr lang="en-US"/>
              <a:t>Check questions: point to a man: "What's ___ name?" (his). To a woman (her). "I'm Ana. ___ last name is Ruiz." (My)</a:t>
            </a:r>
          </a:p>
          <a:p>
            <a:r>
              <a:rPr lang="en-US"/>
              <a:t>Source: Level1_Lesson3.md (Step 4 Grammar Q&amp;A, Box 2; Grammar Box 2; Teacher notes).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each line and read it. Learners repeat. Click to show the next goal.</a:t>
            </a:r>
          </a:p>
          <a:p>
            <a:r>
              <a:rPr lang="en-US"/>
              <a:t>Say: "Tonight: phone numbers, addresses, and a form." Mime writing on a form.</a:t>
            </a:r>
          </a:p>
          <a:p>
            <a:r>
              <a:rPr lang="en-US"/>
              <a:t>Point to 13 and 30 on the board: "Thirteen... thirty. We practice this at 7:15."</a:t>
            </a:r>
          </a:p>
          <a:p>
            <a:r>
              <a:rPr lang="en-US"/>
              <a:t>Say: "At 7:25 we do the Progress Check."</a:t>
            </a:r>
          </a:p>
          <a:p>
            <a:r>
              <a:rPr lang="en-US"/>
              <a:t>Source: Level1_Lesson3.md (At a glance: Objectives; Clock-time plan).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Give half the class the Student A page and half the Student B page. Partners don't show their pages. With an odd number, two Bs share one A.</a:t>
            </a:r>
          </a:p>
          <a:p>
            <a:r>
              <a:rPr lang="en-US"/>
              <a:t>Model with one learner (you are A): "What's your first name?" "Marco." "How do you spell your last name?" "S-I-L-V-A." "What's your phone number?" "555-0163." "Can you repeat, please?"</a:t>
            </a:r>
          </a:p>
          <a:p>
            <a:r>
              <a:rPr lang="en-US"/>
              <a:t>Part 1 (5 min): A asks and writes B's information. Then B asks and writes A's.</a:t>
            </a:r>
          </a:p>
          <a:p>
            <a:r>
              <a:rPr lang="en-US"/>
              <a:t>Part 2 (2 min): partners show their pages and check. Fix mistakes together.</a:t>
            </a:r>
          </a:p>
          <a:p>
            <a:r>
              <a:rPr lang="en-US"/>
              <a:t>Part 3 (2 min): join another pair. Say 2 sentences: "Her name is Rosa Diaz. Her phone number is 555-0187." / "His address is 1850 Lake Avenue."</a:t>
            </a:r>
          </a:p>
          <a:p>
            <a:r>
              <a:rPr lang="en-US"/>
              <a:t>Baseline snapshot: while pairs work, call the last learners you haven't checked. If behind: skip Part 3.</a:t>
            </a:r>
          </a:p>
          <a:p>
            <a:r>
              <a:rPr lang="en-US"/>
              <a:t>Source: Level1_Lesson3.md (Step 5 Talk Time; Talk Time Student A and Student B).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Exit ticket (never skip): each learner says a phone number (a practice number is fine: "My phone number is 555-01__.") or writes one sentence with his or her ("Her phone number is 555-0187."). Copying is fine.</a:t>
            </a:r>
          </a:p>
          <a:p>
            <a:r>
              <a:rPr lang="en-US"/>
              <a:t>Homework: open the Homework page. Do item 1 together (the first two lines of the form). Point to each instruction.</a:t>
            </a:r>
          </a:p>
          <a:p>
            <a:r>
              <a:rPr lang="en-US"/>
              <a:t>Homework items: 1 fill out the form in CAPITAL letters and sign (own information or the practice ID card); 2 write my, his, her, our, or their; 3 write the number; 4 say a phone number 3 times, in groups; 5 review: write about you.</a:t>
            </a:r>
          </a:p>
          <a:p>
            <a:r>
              <a:rPr lang="en-US"/>
              <a:t>Source: Level1_Lesson3.md (Step 6 Exit Ticket + Homework; Student Pages: Homework).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3. Play the audio again. Ask: "What does Ana write?" Learners say Yes or No for each line.</a:t>
            </a:r>
          </a:p>
          <a:p>
            <a:r>
              <a:rPr lang="en-US"/>
              <a:t>Click 3 times to show the answers: 1 email, Yes. 2 signature, Yes. 3 ID card number, No.</a:t>
            </a:r>
          </a:p>
          <a:p>
            <a:r>
              <a:rPr lang="en-US"/>
              <a:t>In the audio the receptionist says: "Please write your email here. And sign here, please."</a:t>
            </a:r>
          </a:p>
          <a:p>
            <a:r>
              <a:rPr lang="en-US"/>
              <a:t>Then finish Task B (the form). Pairs compare.</a:t>
            </a:r>
          </a:p>
          <a:p>
            <a:r>
              <a:rPr lang="en-US"/>
              <a:t>Source: Level1_Lesson3.md (Student Pages: Listening Task C; Listening script;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Credits. You don't need to read this slide in class.</a:t>
            </a:r>
          </a:p>
          <a:p>
            <a:r>
              <a:rPr lang="en-US"/>
              <a:t>Pictures: Twemoji (CC BY 4.0), see images/CREDITS.md. Audio: Chatterbox TTS (MIT), cloned from Kokoro-82M (Apache 2.0) clips; no recordings of real people.</a:t>
            </a:r>
          </a:p>
          <a:p>
            <a:r>
              <a:rPr lang="en-US"/>
              <a:t>Source: Level1_Lesson3.md (Picture Credits); images/CREDITS.md; audio/README.md.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Click: each picture and word appears. Say the word. Learners repeat twice.</a:t>
            </a:r>
          </a:p>
          <a:p>
            <a:r>
              <a:rPr lang="en-US"/>
              <a:t>Act it out: signature (sign your name in the air), email (type on a phone).</a:t>
            </a:r>
          </a:p>
          <a:p>
            <a:r>
              <a:rPr lang="en-US"/>
              <a:t>zero = "oh": write 555-0142 on the board. Say it slowly in groups: "five-five-five... oh-one-four-two." Point to the 0: "Oh. In phone numbers, 0 is often oh."</a:t>
            </a:r>
          </a:p>
          <a:p>
            <a:r>
              <a:rPr lang="en-US"/>
              <a:t>numbers 21–100: point to the tiles and say them. Learners repeat.</a:t>
            </a:r>
          </a:p>
          <a:p>
            <a:r>
              <a:rPr lang="en-US"/>
              <a:t>Partner game (4 min): A points to a picture, B says the word. Switch. Then A points to a line on the form picture, B says the word (city, ZIP code...).</a:t>
            </a:r>
          </a:p>
          <a:p>
            <a:r>
              <a:rPr lang="en-US"/>
              <a:t>Source: Level1_Lesson3.md (Step 2 New Words; Student Pages: New Words, Partner game).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2. Play the audio again. Learners fill out Ana's form. First name is done: ANA.</a:t>
            </a:r>
          </a:p>
          <a:p>
            <a:r>
              <a:rPr lang="en-US"/>
              <a:t>Listen 3 (with Task C): learners finish the form.</a:t>
            </a:r>
          </a:p>
          <a:p>
            <a:r>
              <a:rPr lang="en-US"/>
              <a:t>Pairs compare. Then click 5 times to show the answers, one line at a time.</a:t>
            </a:r>
          </a:p>
          <a:p>
            <a:r>
              <a:rPr lang="en-US"/>
              <a:t>Answers: Last name RUIZ. Phone number 555-0142. Address 210 Pine Street, Apt. 3. City RIVERSIDE. ZIP code 54107.</a:t>
            </a:r>
          </a:p>
          <a:p>
            <a:r>
              <a:rPr lang="en-US"/>
              <a:t>On forms we use CAPITAL letters: ANA RUIZ.</a:t>
            </a:r>
          </a:p>
          <a:p>
            <a:r>
              <a:rPr lang="en-US"/>
              <a:t>Source: Level1_Lesson3.md (Student Pages: Listening Task B; Answer key; Questions and answers: How do I write on a form?).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the Don't say line. Learners think. Click to show the Say line. The class repeats it 2 times.</a:t>
            </a:r>
          </a:p>
          <a:p>
            <a:r>
              <a:rPr lang="en-US"/>
              <a:t>1 his for a man, her for a woman. 2 What's your phone number? 3 The number comes first: 210 Pine Street. 4 It's 555-0142.</a:t>
            </a:r>
          </a:p>
          <a:p>
            <a:r>
              <a:rPr lang="en-US"/>
              <a:t>Two more from the student page: say five-five-five (not five hundred fifty-five); My phone number is 555-0142 (with is).</a:t>
            </a:r>
          </a:p>
          <a:p>
            <a:r>
              <a:rPr lang="en-US"/>
              <a:t>Source: Level1_Lesson3.md (Student Pages: Common mistakes; Tip for speakers of other languages).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each word and do the action: listen (hand to ear), repeat, point, circle, write, partner, group. Learners copy you.</a:t>
            </a:r>
          </a:p>
          <a:p>
            <a:r>
              <a:rPr lang="en-US"/>
              <a:t>Say: "Model it. Check it. Then go." Do one example with a learner. Ask: "Listen or write?" Then everyone starts.</a:t>
            </a:r>
          </a:p>
          <a:p>
            <a:r>
              <a:rPr lang="en-US"/>
              <a:t>Privacy: say "This is practice. You don't need your real phone number or address." Use practice numbers 555-0100 to 555-0199 and the practice ID cards.</a:t>
            </a:r>
          </a:p>
          <a:p>
            <a:r>
              <a:rPr lang="en-US"/>
              <a:t>Pairs: turn to a neighbor. With an odd number, make one group of 3.</a:t>
            </a:r>
          </a:p>
          <a:p>
            <a:r>
              <a:rPr lang="en-US"/>
              <a:t>Source: Level1_Lesson3.md (How to Use This Plan: Instruction rule, Grouping toolkit, Privacy this week; Clock-time plan).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Learners write one word in each line. Then pairs check.</a:t>
            </a:r>
          </a:p>
          <a:p>
            <a:r>
              <a:rPr lang="en-US"/>
              <a:t>Click to show each answer: 1 My, 2 His, 3 Her, 4 your, 5 Her.</a:t>
            </a:r>
          </a:p>
          <a:p>
            <a:r>
              <a:rPr lang="en-US"/>
              <a:t>Look at the person: a man → his (Carlos). A woman → her (Ana, Kim).</a:t>
            </a:r>
          </a:p>
          <a:p>
            <a:r>
              <a:rPr lang="en-US"/>
              <a:t>Pair drill: A asks "What's his phone number?" B answers from the line.</a:t>
            </a:r>
          </a:p>
          <a:p>
            <a:r>
              <a:rPr lang="en-US"/>
              <a:t>Source: Level1_Lesson3.md (Student Pages: Practice; Answer key: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the left side. Click to show the right side. The class reads it.</a:t>
            </a:r>
          </a:p>
          <a:p>
            <a:r>
              <a:rPr lang="en-US"/>
              <a:t>Say the groups with a small stop: 555 ... 0142. 0 is usually "oh."</a:t>
            </a:r>
          </a:p>
          <a:p>
            <a:r>
              <a:rPr lang="en-US"/>
              <a:t>Street numbers are usually in pairs: 210 = two-ten, 1850 = eighteen-fifty. The number comes before the street name: 210 Pine Street (not Pine Street 210).</a:t>
            </a:r>
          </a:p>
          <a:p>
            <a:r>
              <a:rPr lang="en-US"/>
              <a:t>Pair drill (3–4 min): A asks about a person (Ana, Carlos); B answers. Then switch. If behind, skip the pair drill; it becomes homework.</a:t>
            </a:r>
          </a:p>
          <a:p>
            <a:r>
              <a:rPr lang="en-US"/>
              <a:t>Source: Level1_Lesson3.md (Step 4 Grammar Q&amp;A, Box 4; Grammar Box 4; Questions and answers;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1. Play the audio once. Learners circle the right one in each row.</a:t>
            </a:r>
          </a:p>
          <a:p>
            <a:r>
              <a:rPr lang="en-US"/>
              <a:t>Pairs compare: "Show your partner." Then click 4 times to show the answers, one row at a time.</a:t>
            </a:r>
          </a:p>
          <a:p>
            <a:r>
              <a:rPr lang="en-US"/>
              <a:t>Answers: 1 555-0142, 2 210, 3 3, 4 54107.</a:t>
            </a:r>
          </a:p>
          <a:p>
            <a:r>
              <a:rPr lang="en-US"/>
              <a:t>Say the numbers in groups: five-five-five... oh-one-four-two. Two-ten Pine Street. Five-four-one-oh-seven.</a:t>
            </a:r>
          </a:p>
          <a:p>
            <a:r>
              <a:rPr lang="en-US"/>
              <a:t>Source: Level1_Lesson3.md (Student Pages: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"Great work! See you next week!" Wave.</a:t>
            </a:r>
          </a:p>
          <a:p>
            <a:r>
              <a:rPr lang="en-US"/>
              <a:t>Read the three lines. Learners repeat. Point: "his" (a man), "her" (a woman).</a:t>
            </a:r>
          </a:p>
          <a:p>
            <a:r>
              <a:rPr lang="en-US"/>
              <a:t>Remind: bring the homework next week. Lesson 4: family, and his / her (This is my sister. Her name is Ana.).</a:t>
            </a:r>
          </a:p>
          <a:p>
            <a:r>
              <a:rPr lang="en-US"/>
              <a:t>Source: Level1_Lesson3.md (At a glance: Objectives; Teacher notes: Looking ahead).</a:t>
            </a:r>
          </a:p>
          <a:p>
            <a:r>
              <a:rPr lang="en-US"/>
              <a:t>Picture: Twemoji graphics by Twitter, Inc. and other contributors (https://github.com/jdecked/twemoji), CC BY 4.0 (https://creativecommons.org/licenses/by/4.0/); resized and combined on a card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 it (1 min): point to 20, 30, 40... 100 on the left and say each one. Learners repeat.</a:t>
            </a:r>
          </a:p>
          <a:p>
            <a:r>
              <a:rPr lang="en-US"/>
              <a:t>Say it (3 min): say each pair 3 times: "thir-TEEN... THIR-ty." Click to show the -ty side. Clap on the strong part. -teen is long and strong at the end; -ty is short and strong at the start.</a:t>
            </a:r>
          </a:p>
          <a:p>
            <a:r>
              <a:rPr lang="en-US"/>
              <a:t>Learners show 1 finger + 3 for 13, and 3 fingers + a circle (0) for 30. The page also has 17 / 70 (seven-TEEN, SEV-en-ty) and 18 / 80 (eigh-TEEN, EIGH-ty).</a:t>
            </a:r>
          </a:p>
          <a:p>
            <a:r>
              <a:rPr lang="en-US"/>
              <a:t>Quick check (1 min): say 14 or 40, 15 or 50... Learners point.</a:t>
            </a:r>
          </a:p>
          <a:p>
            <a:r>
              <a:rPr lang="en-US"/>
              <a:t>When you hear a mix-up, ask: "One-three or three-zero?" and write both on the board.</a:t>
            </a:r>
          </a:p>
          <a:p>
            <a:r>
              <a:rPr lang="en-US"/>
              <a:t>Source: Level1_Lesson3.md (Letters &amp; Numbers step; Student Pages: Letters &amp; Numbers A and -teen or -ty?;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each number 2 times: 1 thirty, 2 fourteen, 3 fifty, 4 sixteen, 5 ninety. Learners circle.</a:t>
            </a:r>
          </a:p>
          <a:p>
            <a:r>
              <a:rPr lang="en-US"/>
              <a:t>Pairs compare. Then click 5 times to show the answers: 30, 14, 50, 16, 90.</a:t>
            </a:r>
          </a:p>
          <a:p>
            <a:r>
              <a:rPr lang="en-US"/>
              <a:t>Task C: read 2 practice phone numbers in groups, 2 times each: 555-0163 (five-five-five, oh-one-six-three) and 555-0118 (five-five-five, oh-one-one-eight). Learners write them.</a:t>
            </a:r>
          </a:p>
          <a:p>
            <a:r>
              <a:rPr lang="en-US"/>
              <a:t>Task D: learners copy the card (Rosa Diaz, 46 Oak Street, Riverside) into the form in CAPITAL letters: ROSA, DIAZ, 46 OAK STREET, RIVERSIDE.</a:t>
            </a:r>
          </a:p>
          <a:p>
            <a:r>
              <a:rPr lang="en-US"/>
              <a:t>Partners: A says a practice phone number (555-01__), B writes it. Switch. Learners who can't write yet say the numbers and point; in Task D they copy only the first and last name.</a:t>
            </a:r>
          </a:p>
          <a:p>
            <a:r>
              <a:rPr lang="en-US"/>
              <a:t>If behind: do Tasks A and B only.</a:t>
            </a:r>
          </a:p>
          <a:p>
            <a:r>
              <a:rPr lang="en-US"/>
              <a:t>Source: Level1_Lesson3.md (Letters &amp; Numbers step; Student Pages: Letters &amp; Numbers B, C, D;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L1_L3_phone_number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G1img" Type="http://schemas.openxmlformats.org/officeDocument/2006/relationships/image" Target="../media/L1_L3_cit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"1.0" encoding="UTF-8" standalone="yes"?>
<Relationships xmlns="http://schemas.openxmlformats.org/package/2006/relationships"><Relationship Id="rIdG1" Type="http://schemas.openxmlformats.org/officeDocument/2006/relationships/image" Target="../media/L1_L3_phone_number.png"/><Relationship Id="rIdG2" Type="http://schemas.openxmlformats.org/officeDocument/2006/relationships/image" Target="../media/L1_L3_address.png"/><Relationship Id="rIdG3" Type="http://schemas.openxmlformats.org/officeDocument/2006/relationships/image" Target="../media/L1_L3_street.png"/><Relationship Id="rIdG4" Type="http://schemas.openxmlformats.org/officeDocument/2006/relationships/image" Target="../media/L1_L3_apartment.png"/><Relationship Id="rIdG5" Type="http://schemas.openxmlformats.org/officeDocument/2006/relationships/image" Target="../media/L1_L3_city.png"/><Relationship Id="rIdG6" Type="http://schemas.openxmlformats.org/officeDocument/2006/relationships/image" Target="../media/L1_L3_zip_cod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"1.0" encoding="UTF-8" standalone="yes"?>
<Relationships xmlns="http://schemas.openxmlformats.org/package/2006/relationships"><Relationship Id="rIdG1" Type="http://schemas.openxmlformats.org/officeDocument/2006/relationships/image" Target="../media/L1_L3_email.png"/><Relationship Id="rIdG2" Type="http://schemas.openxmlformats.org/officeDocument/2006/relationships/image" Target="../media/L1_L3_form.png"/><Relationship Id="rIdG3" Type="http://schemas.openxmlformats.org/officeDocument/2006/relationships/image" Target="../media/L1_L3_signature.png"/><Relationship Id="rIdG4" Type="http://schemas.openxmlformats.org/officeDocument/2006/relationships/image" Target="../media/L1_L3_id_card.png"/><Relationship Id="rIdG5" Type="http://schemas.openxmlformats.org/officeDocument/2006/relationships/image" Target="../media/L1_L3_zero.png"/><Relationship Id="rIdG6" Type="http://schemas.openxmlformats.org/officeDocument/2006/relationships/image" Target="../media/L1_L3_number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7.xml.rels><?xml version="1.0" encoding="UTF-8" standalone="yes"?>
<Relationships xmlns="http://schemas.openxmlformats.org/package/2006/relationships"><Relationship Id="rIdG3w1" Type="http://schemas.openxmlformats.org/officeDocument/2006/relationships/image" Target="../media/L1_L3_street.png"/><Relationship Id="rIdG3w2" Type="http://schemas.openxmlformats.org/officeDocument/2006/relationships/image" Target="../media/L1_L3_signature.png"/><Relationship Id="rIdG3w3" Type="http://schemas.openxmlformats.org/officeDocument/2006/relationships/image" Target="../media/L1_L3_zip_cod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G1" Type="http://schemas.openxmlformats.org/officeDocument/2006/relationships/image" Target="../media/L1_L3_form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/Relationships>
</file>

<file path=ppt/slides/_rels/slide12.xml.rels><?xml version="1.0" encoding="UTF-8" standalone="yes"?>
<Relationships xmlns="http://schemas.openxmlformats.org/package/2006/relationships"><Relationship Id="rIdG1" Type="http://schemas.openxmlformats.org/officeDocument/2006/relationships/image" Target="../media/L1_L3_phone_numb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G1" Type="http://schemas.openxmlformats.org/officeDocument/2006/relationships/image" Target="../media/L1_L3_stree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G1" Type="http://schemas.openxmlformats.org/officeDocument/2006/relationships/image" Target="../media/L1_L3_signatur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G1" Type="http://schemas.openxmlformats.org/officeDocument/2006/relationships/image" Target="../media/L1_L3_addres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7.xml.rels><?xml version="1.0" encoding="UTF-8" standalone="yes"?>
<Relationships xmlns="http://schemas.openxmlformats.org/package/2006/relationships"><Relationship Id="rIdG1" Type="http://schemas.openxmlformats.org/officeDocument/2006/relationships/image" Target="../media/L1_L3_id_car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
<Relationships xmlns="http://schemas.openxmlformats.org/package/2006/relationships"><Relationship Id="rIdG1" Type="http://schemas.openxmlformats.org/officeDocument/2006/relationships/image" Target="../media/L1_L3_number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L1_L3_email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Mobile phone with the practice number 555-01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Phone Number and Address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 phone number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What's your address?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Fill out a simple 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 phone number.</a:t>
            </a:r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555-0142.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an address.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What's your address?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my, your, his, her.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fill out a simple form.</a:t>
            </a:r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things.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 to 100: 13 or 30?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Name tag" descr="A form with the CITY line highlighted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are you from?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city?</a:t>
            </a:r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she from?</a:t>
            </a:r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from Mexico.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she from Honduras?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Point. Circle.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Partner. Group.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Class: 6:00–7:30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 it. Check it. Then go.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practice: 555-0100 to 555-0199.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17" name="Word picture 1" descr="Mobile phone with the number 555-0142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number</a:t>
            </a:r>
          </a:p>
        </p:txBody>
      </p:sp>
      <p:pic>
        <p:nvPicPr>
          <p:cNvPr id="19" name="Word picture 2" descr="House with the sign 210 Pine Street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address</a:t>
            </a:r>
          </a:p>
        </p:txBody>
      </p:sp>
      <p:pic>
        <p:nvPicPr>
          <p:cNvPr id="21" name="Word picture 3" descr="Road with a Pine St street sign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street</a:t>
            </a:r>
          </a:p>
        </p:txBody>
      </p:sp>
      <p:pic>
        <p:nvPicPr>
          <p:cNvPr id="23" name="Word picture 4" descr="Building with the door sign Apt. 3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 (Apt.)</a:t>
            </a:r>
          </a:p>
        </p:txBody>
      </p:sp>
      <p:pic>
        <p:nvPicPr>
          <p:cNvPr id="25" name="Word picture 5" descr="A form with the CITY line highlighted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city</a:t>
            </a:r>
          </a:p>
        </p:txBody>
      </p:sp>
      <p:pic>
        <p:nvPicPr>
          <p:cNvPr id="27" name="Word picture 6" descr="Envelope with ZIP code 54107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ZIP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  <a:endParaRPr lang="en-US" sz="2200" dirty="0"/>
          </a:p>
        </p:txBody>
      </p:sp>
      <p:pic>
        <p:nvPicPr>
          <p:cNvPr id="17" name="Word picture 1" descr="Email envelope with ana@mail.com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email</a:t>
            </a:r>
          </a:p>
        </p:txBody>
      </p:sp>
      <p:pic>
        <p:nvPicPr>
          <p:cNvPr id="19" name="Word picture 2" descr="A simple form with a pencil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</a:t>
            </a:r>
          </a:p>
        </p:txBody>
      </p:sp>
      <p:pic>
        <p:nvPicPr>
          <p:cNvPr id="21" name="Word picture 3" descr="Signature line with the name Ana Ruiz and a pen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signature</a:t>
            </a:r>
          </a:p>
        </p:txBody>
      </p:sp>
      <p:pic>
        <p:nvPicPr>
          <p:cNvPr id="23" name="Word picture 4" descr="Identification card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 card</a:t>
            </a:r>
          </a:p>
        </p:txBody>
      </p:sp>
      <p:pic>
        <p:nvPicPr>
          <p:cNvPr id="25" name="Word picture 5" descr="Big 0 with the words zero and oh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zero ("oh")</a:t>
            </a:r>
          </a:p>
        </p:txBody>
      </p:sp>
      <p:pic>
        <p:nvPicPr>
          <p:cNvPr id="27" name="Word picture 6" descr="Number tiles 21, 30, 45, 50, 78, 100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 21–100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What's the word?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1" name="Quiz picture 1" descr="Road with a Pine St street sign"/>
          <p:cNvPicPr>
            <a:picLocks noChangeAspect="1"/>
          </p:cNvPicPr>
          <p:nvPr/>
        </p:nvPicPr>
        <p:blipFill>
          <a:blip r:embed="rIdG3w1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2" name="Quiz picture 2" descr="Signature line with the name Ana Ruiz"/>
          <p:cNvPicPr>
            <a:picLocks noChangeAspect="1"/>
          </p:cNvPicPr>
          <p:nvPr/>
        </p:nvPicPr>
        <p:blipFill>
          <a:blip r:embed="rIdG3w2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3" name="Quiz picture 3" descr="Envelope with ZIP code 54107"/>
          <p:cNvPicPr>
            <a:picLocks noChangeAspect="1"/>
          </p:cNvPicPr>
          <p:nvPr/>
        </p:nvPicPr>
        <p:blipFill>
          <a:blip r:embed="rIdG3w3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street</a:t>
            </a:r>
          </a:p>
        </p:txBody>
      </p:sp>
      <p:sp>
        <p:nvSpPr>
          <p:cNvPr id="26" name="Answer are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signature</a:t>
            </a:r>
          </a:p>
        </p:txBody>
      </p:sp>
      <p:sp>
        <p:nvSpPr>
          <p:cNvPr id="27" name="Answer doe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ZIP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is at a clinic. She's a new patient.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ture teacher" descr="A simple form with a pencil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Circle.</a:t>
            </a:r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The form.</a:t>
            </a:r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Check ✓.</a:t>
            </a:r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  <a:endParaRPr lang="en-US" sz="2400" dirty="0"/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phone number?</a:t>
            </a:r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address?</a:t>
            </a:r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What does Ana write?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or No?</a:t>
            </a:r>
          </a:p>
        </p:txBody>
      </p:sp>
      <p:sp>
        <p:nvSpPr>
          <p:cNvPr id="27" name="Statement 1"/>
          <p:cNvSpPr/>
          <p:nvPr/>
        </p:nvSpPr>
        <p:spPr>
          <a:xfrm>
            <a:off x="502920" y="333756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her email</a:t>
            </a:r>
          </a:p>
        </p:txBody>
      </p:sp>
      <p:sp>
        <p:nvSpPr>
          <p:cNvPr id="28" name="True 1"/>
          <p:cNvSpPr/>
          <p:nvPr/>
        </p:nvSpPr>
        <p:spPr>
          <a:xfrm>
            <a:off x="6583680" y="33375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8321040" y="33375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6455664" y="327355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425196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her signature</a:t>
            </a:r>
          </a:p>
        </p:txBody>
      </p:sp>
      <p:sp>
        <p:nvSpPr>
          <p:cNvPr id="32" name="True 2"/>
          <p:cNvSpPr/>
          <p:nvPr/>
        </p:nvSpPr>
        <p:spPr>
          <a:xfrm>
            <a:off x="6583680" y="4251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8321040" y="4251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6455664" y="418795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516636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her ID card number</a:t>
            </a:r>
          </a:p>
        </p:txBody>
      </p:sp>
      <p:sp>
        <p:nvSpPr>
          <p:cNvPr id="37" name="True 3"/>
          <p:cNvSpPr/>
          <p:nvPr/>
        </p:nvSpPr>
        <p:spPr>
          <a:xfrm>
            <a:off x="6583680" y="51663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8321040" y="51663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8193024" y="510235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Fill out Ana's form.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name: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name: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number: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Address: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Pine St., Apt. ___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City: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ZIP code: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Ana's form.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in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CAPITAL letters.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4572000" y="2523744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RUIZ</a:t>
            </a:r>
          </a:p>
        </p:txBody>
      </p:sp>
      <p:sp>
        <p:nvSpPr>
          <p:cNvPr id="35" name="Answer 2"/>
          <p:cNvSpPr/>
          <p:nvPr/>
        </p:nvSpPr>
        <p:spPr>
          <a:xfrm>
            <a:off x="4572000" y="3310128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555-0142</a:t>
            </a:r>
          </a:p>
        </p:txBody>
      </p:sp>
      <p:sp>
        <p:nvSpPr>
          <p:cNvPr id="36" name="Answer 3"/>
          <p:cNvSpPr/>
          <p:nvPr/>
        </p:nvSpPr>
        <p:spPr>
          <a:xfrm>
            <a:off x="4572000" y="4096511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210 · 3</a:t>
            </a:r>
          </a:p>
        </p:txBody>
      </p:sp>
      <p:sp>
        <p:nvSpPr>
          <p:cNvPr id="37" name="Answer 4"/>
          <p:cNvSpPr/>
          <p:nvPr/>
        </p:nvSpPr>
        <p:spPr>
          <a:xfrm>
            <a:off x="4572000" y="4882896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RIVERSIDE</a:t>
            </a:r>
          </a:p>
        </p:txBody>
      </p:sp>
      <p:sp>
        <p:nvSpPr>
          <p:cNvPr id="54" name="Answer 5"/>
          <p:cNvSpPr/>
          <p:nvPr/>
        </p:nvSpPr>
        <p:spPr>
          <a:xfrm>
            <a:off x="4572000" y="5669279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54107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ture goodbye" descr="Mobile phone with the number 555-0142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99516" y="2265152"/>
            <a:ext cx="3326587" cy="2328611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phone number?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phone number?</a:t>
            </a:r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555-0142.</a:t>
            </a:r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her address?</a:t>
            </a:r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210 Pine Street.</a:t>
            </a:r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54107.</a:t>
            </a:r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ana@mail.com.</a:t>
            </a:r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email?</a:t>
            </a:r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her ZIP code?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ture first name" descr="Road with a Pine St street sign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598664" y="1217386"/>
            <a:ext cx="3254350" cy="227804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phone number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555-0124?</a:t>
            </a:r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/ his / her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number 555-0124?</a:t>
            </a:r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isn't.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555-0142.</a:t>
            </a:r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please?</a:t>
            </a:r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it, please?</a:t>
            </a:r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555-0142.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P-I-N-E.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ture letter" descr="Signature line with the name Ana Ruiz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49224" y="2869067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</a:p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my, your, his, her…</a:t>
            </a:r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→ my   ·   you → your</a:t>
            </a:r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phone number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address</a:t>
            </a:r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→ our  ·  they → their</a:t>
            </a:r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our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their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city</a:t>
            </a:r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</a:p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he (Carlos)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</a:p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she (Ana)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my, your, his, or her.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Rosa.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last name is Diaz.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Carlos.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phone number is 555-0163.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Ana.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address is 210 Pine Street.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____ phone number?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555-0187.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is a student.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email is kim@mail.com.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my, your,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his, her?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she: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35433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3610966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Picture name tag" descr="House with the sign 210 Pine Street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3375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Carlos… her phone number.</a:t>
            </a:r>
          </a:p>
        </p:txBody>
      </p:sp>
      <p:sp>
        <p:nvSpPr>
          <p:cNvPr id="25" name="Good 1"/>
          <p:cNvSpPr/>
          <p:nvPr/>
        </p:nvSpPr>
        <p:spPr>
          <a:xfrm>
            <a:off x="4800600" y="384048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Carlos…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phone number.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3375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you phone number?</a:t>
            </a:r>
          </a:p>
        </p:txBody>
      </p:sp>
      <p:sp>
        <p:nvSpPr>
          <p:cNvPr id="27" name="Good 2"/>
          <p:cNvSpPr/>
          <p:nvPr/>
        </p:nvSpPr>
        <p:spPr>
          <a:xfrm>
            <a:off x="4800600" y="440740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phone number?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Pine Street 210.</a:t>
            </a:r>
          </a:p>
        </p:txBody>
      </p:sp>
      <p:sp>
        <p:nvSpPr>
          <p:cNvPr id="29" name="Good 3"/>
          <p:cNvSpPr/>
          <p:nvPr/>
        </p:nvSpPr>
        <p:spPr>
          <a:xfrm>
            <a:off x="4800600" y="4974336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210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Pine Street.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555-0142.</a:t>
            </a:r>
          </a:p>
        </p:txBody>
      </p:sp>
      <p:sp>
        <p:nvSpPr>
          <p:cNvPr id="61" name="Good 4"/>
          <p:cNvSpPr/>
          <p:nvPr/>
        </p:nvSpPr>
        <p:spPr>
          <a:xfrm>
            <a:off x="4800600" y="55412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555-0142.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ture classmates" descr="Identification card with the label ID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25707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ID Cards</a:t>
            </a:r>
          </a:p>
        </p:txBody>
      </p:sp>
      <p:sp>
        <p:nvSpPr>
          <p:cNvPr id="8" name="Text 6"/>
          <p:cNvSpPr/>
          <p:nvPr/>
        </p:nvSpPr>
        <p:spPr>
          <a:xfrm>
            <a:off x="6035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 B answers.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your page.</a:t>
            </a:r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phone number?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repeat, please?</a:t>
            </a:r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Check: show your cards.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form the same?</a:t>
            </a:r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 phone number is ___.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address is ___.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Picture pen" descr="Number tiles 21, 30, 45, 50, 78, 100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a phone number: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phone number is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555-01__.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 one sentence: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 phone number is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555-0187.</a:t>
            </a:r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Fill out the form.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my, his, her…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the number.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Say a phone number.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Write about you.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groups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 … 0142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 = "oh"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210 = two-ten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first!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 say it?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</a:p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555-0142</a:t>
            </a:r>
          </a:p>
        </p:txBody>
      </p:sp>
      <p:sp>
        <p:nvSpPr>
          <p:cNvPr id="22" name="Answer bg 1"/>
          <p:cNvSpPr/>
          <p:nvPr/>
        </p:nvSpPr>
        <p:spPr>
          <a:xfrm>
            <a:off x="8001000" y="2651760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651760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five-five-five,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oh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-one-four-two</a:t>
            </a:r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210 Pine Street</a:t>
            </a:r>
          </a:p>
        </p:txBody>
      </p:sp>
      <p:sp>
        <p:nvSpPr>
          <p:cNvPr id="27" name="Answer bg 2"/>
          <p:cNvSpPr/>
          <p:nvPr/>
        </p:nvSpPr>
        <p:spPr>
          <a:xfrm>
            <a:off x="8001000" y="3419856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3419856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two-ten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Pine Street</a:t>
            </a:r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1850 Lake Avenue</a:t>
            </a:r>
          </a:p>
        </p:txBody>
      </p:sp>
      <p:sp>
        <p:nvSpPr>
          <p:cNvPr id="162" name="Answer bg 3"/>
          <p:cNvSpPr/>
          <p:nvPr/>
        </p:nvSpPr>
        <p:spPr>
          <a:xfrm>
            <a:off x="8001000" y="4187952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001000" y="4187952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eighteen-fifty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Lake Avenue</a:t>
            </a:r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Apt. 3</a:t>
            </a:r>
          </a:p>
        </p:txBody>
      </p:sp>
      <p:sp>
        <p:nvSpPr>
          <p:cNvPr id="163" name="Answer bg 4"/>
          <p:cNvSpPr/>
          <p:nvPr/>
        </p:nvSpPr>
        <p:spPr>
          <a:xfrm>
            <a:off x="8001000" y="4956048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001000" y="4956048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 three</a:t>
            </a:r>
          </a:p>
        </p:txBody>
      </p:sp>
      <p:sp>
        <p:nvSpPr>
          <p:cNvPr id="134" name="Highlight 5"/>
          <p:cNvSpPr/>
          <p:nvPr/>
        </p:nvSpPr>
        <p:spPr>
          <a:xfrm>
            <a:off x="5138928" y="5769864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4" name="Helper 5"/>
          <p:cNvSpPr/>
          <p:nvPr/>
        </p:nvSpPr>
        <p:spPr>
          <a:xfrm>
            <a:off x="5138928" y="5724144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54107</a:t>
            </a:r>
          </a:p>
        </p:txBody>
      </p:sp>
      <p:sp>
        <p:nvSpPr>
          <p:cNvPr id="164" name="Answer bg 5"/>
          <p:cNvSpPr/>
          <p:nvPr/>
        </p:nvSpPr>
        <p:spPr>
          <a:xfrm>
            <a:off x="8001000" y="5724144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4" name="Answer 5"/>
          <p:cNvSpPr/>
          <p:nvPr/>
        </p:nvSpPr>
        <p:spPr>
          <a:xfrm>
            <a:off x="8001000" y="5724144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five-four-one-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oh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-seven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Ana.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one.</a:t>
            </a:r>
          </a:p>
        </p:txBody>
      </p:sp>
      <p:sp>
        <p:nvSpPr>
          <p:cNvPr id="27" name="Statement 1"/>
          <p:cNvSpPr/>
          <p:nvPr/>
        </p:nvSpPr>
        <p:spPr>
          <a:xfrm>
            <a:off x="502920" y="3200400"/>
            <a:ext cx="30175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Phone number</a:t>
            </a:r>
          </a:p>
        </p:txBody>
      </p:sp>
      <p:sp>
        <p:nvSpPr>
          <p:cNvPr id="28" name="True 1"/>
          <p:cNvSpPr/>
          <p:nvPr/>
        </p:nvSpPr>
        <p:spPr>
          <a:xfrm>
            <a:off x="3657600" y="320040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555-0142</a:t>
            </a:r>
          </a:p>
        </p:txBody>
      </p:sp>
      <p:sp>
        <p:nvSpPr>
          <p:cNvPr id="29" name="False 1"/>
          <p:cNvSpPr/>
          <p:nvPr/>
        </p:nvSpPr>
        <p:spPr>
          <a:xfrm>
            <a:off x="6035040" y="320040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555-0124</a:t>
            </a:r>
          </a:p>
        </p:txBody>
      </p:sp>
      <p:sp>
        <p:nvSpPr>
          <p:cNvPr id="200" name="Option C 1"/>
          <p:cNvSpPr/>
          <p:nvPr/>
        </p:nvSpPr>
        <p:spPr>
          <a:xfrm>
            <a:off x="8412480" y="320040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555-0412</a:t>
            </a:r>
          </a:p>
        </p:txBody>
      </p:sp>
      <p:sp>
        <p:nvSpPr>
          <p:cNvPr id="30" name="Circle 1"/>
          <p:cNvSpPr/>
          <p:nvPr/>
        </p:nvSpPr>
        <p:spPr>
          <a:xfrm>
            <a:off x="3529584" y="3136392"/>
            <a:ext cx="23591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3977639"/>
            <a:ext cx="30175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Street number</a:t>
            </a:r>
          </a:p>
        </p:txBody>
      </p:sp>
      <p:sp>
        <p:nvSpPr>
          <p:cNvPr id="32" name="True 2"/>
          <p:cNvSpPr/>
          <p:nvPr/>
        </p:nvSpPr>
        <p:spPr>
          <a:xfrm>
            <a:off x="3657600" y="3977639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201</a:t>
            </a:r>
          </a:p>
        </p:txBody>
      </p:sp>
      <p:sp>
        <p:nvSpPr>
          <p:cNvPr id="33" name="False 2"/>
          <p:cNvSpPr/>
          <p:nvPr/>
        </p:nvSpPr>
        <p:spPr>
          <a:xfrm>
            <a:off x="6035040" y="3977639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210</a:t>
            </a:r>
          </a:p>
        </p:txBody>
      </p:sp>
      <p:sp>
        <p:nvSpPr>
          <p:cNvPr id="201" name="Option C 2"/>
          <p:cNvSpPr/>
          <p:nvPr/>
        </p:nvSpPr>
        <p:spPr>
          <a:xfrm>
            <a:off x="8412480" y="3977639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120</a:t>
            </a:r>
          </a:p>
        </p:txBody>
      </p:sp>
      <p:sp>
        <p:nvSpPr>
          <p:cNvPr id="34" name="Circle 2"/>
          <p:cNvSpPr/>
          <p:nvPr/>
        </p:nvSpPr>
        <p:spPr>
          <a:xfrm>
            <a:off x="5907024" y="3913631"/>
            <a:ext cx="23591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754880"/>
            <a:ext cx="30175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Apartment</a:t>
            </a:r>
          </a:p>
        </p:txBody>
      </p:sp>
      <p:sp>
        <p:nvSpPr>
          <p:cNvPr id="37" name="True 3"/>
          <p:cNvSpPr/>
          <p:nvPr/>
        </p:nvSpPr>
        <p:spPr>
          <a:xfrm>
            <a:off x="3657600" y="475488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38" name="False 3"/>
          <p:cNvSpPr/>
          <p:nvPr/>
        </p:nvSpPr>
        <p:spPr>
          <a:xfrm>
            <a:off x="6035040" y="475488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13</a:t>
            </a:r>
          </a:p>
        </p:txBody>
      </p:sp>
      <p:sp>
        <p:nvSpPr>
          <p:cNvPr id="202" name="Option C 3"/>
          <p:cNvSpPr/>
          <p:nvPr/>
        </p:nvSpPr>
        <p:spPr>
          <a:xfrm>
            <a:off x="8412480" y="475488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</a:t>
            </a:r>
          </a:p>
        </p:txBody>
      </p:sp>
      <p:sp>
        <p:nvSpPr>
          <p:cNvPr id="39" name="Circle 3"/>
          <p:cNvSpPr/>
          <p:nvPr/>
        </p:nvSpPr>
        <p:spPr>
          <a:xfrm>
            <a:off x="3529584" y="4690872"/>
            <a:ext cx="23591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5532120"/>
            <a:ext cx="30175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ZIP code</a:t>
            </a:r>
          </a:p>
        </p:txBody>
      </p:sp>
      <p:sp>
        <p:nvSpPr>
          <p:cNvPr id="41" name="True 4"/>
          <p:cNvSpPr/>
          <p:nvPr/>
        </p:nvSpPr>
        <p:spPr>
          <a:xfrm>
            <a:off x="3657600" y="553212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54107</a:t>
            </a:r>
          </a:p>
        </p:txBody>
      </p:sp>
      <p:sp>
        <p:nvSpPr>
          <p:cNvPr id="42" name="False 4"/>
          <p:cNvSpPr/>
          <p:nvPr/>
        </p:nvSpPr>
        <p:spPr>
          <a:xfrm>
            <a:off x="6035040" y="553212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54170</a:t>
            </a:r>
          </a:p>
        </p:txBody>
      </p:sp>
      <p:sp>
        <p:nvSpPr>
          <p:cNvPr id="203" name="Option C 4"/>
          <p:cNvSpPr/>
          <p:nvPr/>
        </p:nvSpPr>
        <p:spPr>
          <a:xfrm>
            <a:off x="8412480" y="5532120"/>
            <a:ext cx="21031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45107</a:t>
            </a:r>
          </a:p>
        </p:txBody>
      </p:sp>
      <p:sp>
        <p:nvSpPr>
          <p:cNvPr id="43" name="Circle 4"/>
          <p:cNvSpPr/>
          <p:nvPr/>
        </p:nvSpPr>
        <p:spPr>
          <a:xfrm>
            <a:off x="3529584" y="5468112"/>
            <a:ext cx="23591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Match the question</a:t>
            </a:r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What's your phone number?</a:t>
            </a:r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555-0142.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What's your address?</a:t>
            </a:r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210 Pine Street.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What's your ZIP code?</a:t>
            </a:r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54107.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Is your phone number 555-0124?</a:t>
            </a:r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No, it isn't.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mage 0" descr="Email envelope with ana@mail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a phone number: 555-0142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What's your address?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his phone number, her address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drawings and labels were added. The handwritten name on the signature picture uses the Dancing Script font (SIL Open Font License).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Ana, Carlos, Rosa, Marco, and Kim are invented names. All phone numbers (555-01__) and addresses are invented.</a:t>
            </a:r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Receptionist, Ana) made with Chatterbox TTS (Resemble AI, MIT License), cloned from short synthetic clips made with Kokoro-82M (Apache 2.0); no recordings of real people were used. Each file carries an inaudible Perth watermark. Font: Lexend Deca (OFL 1.1).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 to 100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20 30 40 50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60 70 80 90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100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21 35 99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7:15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-teen or -ty?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-teen  ·  strong end</a:t>
            </a:r>
          </a:p>
        </p:txBody>
      </p:sp>
      <p:sp>
        <p:nvSpPr>
          <p:cNvPr id="11" name="Text 9"/>
          <p:cNvSpPr/>
          <p:nvPr/>
        </p:nvSpPr>
        <p:spPr>
          <a:xfrm>
            <a:off x="8741664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-ty  ·  strong start</a:t>
            </a:r>
          </a:p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13</a:t>
            </a:r>
          </a:p>
        </p:txBody>
      </p:sp>
      <p:sp>
        <p:nvSpPr>
          <p:cNvPr id="20" name="Question 1"/>
          <p:cNvSpPr/>
          <p:nvPr/>
        </p:nvSpPr>
        <p:spPr>
          <a:xfrm>
            <a:off x="6263640" y="2651760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thir-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TEEN</a:t>
            </a:r>
          </a:p>
        </p:txBody>
      </p:sp>
      <p:sp>
        <p:nvSpPr>
          <p:cNvPr id="22" name="Answer bg 1"/>
          <p:cNvSpPr/>
          <p:nvPr/>
        </p:nvSpPr>
        <p:spPr>
          <a:xfrm>
            <a:off x="8668512" y="2651760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668512" y="2651760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-ty</a:t>
            </a:r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14</a:t>
            </a:r>
          </a:p>
        </p:txBody>
      </p:sp>
      <p:sp>
        <p:nvSpPr>
          <p:cNvPr id="25" name="Question 2"/>
          <p:cNvSpPr/>
          <p:nvPr/>
        </p:nvSpPr>
        <p:spPr>
          <a:xfrm>
            <a:off x="6263640" y="3419856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four-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TEEN</a:t>
            </a:r>
          </a:p>
        </p:txBody>
      </p:sp>
      <p:sp>
        <p:nvSpPr>
          <p:cNvPr id="27" name="Answer bg 2"/>
          <p:cNvSpPr/>
          <p:nvPr/>
        </p:nvSpPr>
        <p:spPr>
          <a:xfrm>
            <a:off x="8668512" y="3419856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668512" y="3419856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40 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-ty</a:t>
            </a:r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15</a:t>
            </a:r>
          </a:p>
        </p:txBody>
      </p:sp>
      <p:sp>
        <p:nvSpPr>
          <p:cNvPr id="152" name="Question 3"/>
          <p:cNvSpPr/>
          <p:nvPr/>
        </p:nvSpPr>
        <p:spPr>
          <a:xfrm>
            <a:off x="6263640" y="4187952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fif-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TEEN</a:t>
            </a:r>
          </a:p>
        </p:txBody>
      </p:sp>
      <p:sp>
        <p:nvSpPr>
          <p:cNvPr id="162" name="Answer bg 3"/>
          <p:cNvSpPr/>
          <p:nvPr/>
        </p:nvSpPr>
        <p:spPr>
          <a:xfrm>
            <a:off x="8668512" y="418795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668512" y="4187952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50 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FIF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-ty</a:t>
            </a:r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16</a:t>
            </a:r>
          </a:p>
        </p:txBody>
      </p:sp>
      <p:sp>
        <p:nvSpPr>
          <p:cNvPr id="153" name="Question 4"/>
          <p:cNvSpPr/>
          <p:nvPr/>
        </p:nvSpPr>
        <p:spPr>
          <a:xfrm>
            <a:off x="6263640" y="4956048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six-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TEEN</a:t>
            </a:r>
          </a:p>
        </p:txBody>
      </p:sp>
      <p:sp>
        <p:nvSpPr>
          <p:cNvPr id="163" name="Answer bg 4"/>
          <p:cNvSpPr/>
          <p:nvPr/>
        </p:nvSpPr>
        <p:spPr>
          <a:xfrm>
            <a:off x="8668512" y="4956048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668512" y="4956048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60 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-ty</a:t>
            </a:r>
          </a:p>
        </p:txBody>
      </p:sp>
      <p:sp>
        <p:nvSpPr>
          <p:cNvPr id="134" name="Highlight 5"/>
          <p:cNvSpPr/>
          <p:nvPr/>
        </p:nvSpPr>
        <p:spPr>
          <a:xfrm>
            <a:off x="5138928" y="5769864"/>
            <a:ext cx="105156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4" name="Helper 5"/>
          <p:cNvSpPr/>
          <p:nvPr/>
        </p:nvSpPr>
        <p:spPr>
          <a:xfrm>
            <a:off x="5138928" y="5724144"/>
            <a:ext cx="10515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19</a:t>
            </a:r>
          </a:p>
        </p:txBody>
      </p:sp>
      <p:sp>
        <p:nvSpPr>
          <p:cNvPr id="154" name="Question 5"/>
          <p:cNvSpPr/>
          <p:nvPr/>
        </p:nvSpPr>
        <p:spPr>
          <a:xfrm>
            <a:off x="6263640" y="5724144"/>
            <a:ext cx="237744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nine-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TEEN</a:t>
            </a:r>
          </a:p>
        </p:txBody>
      </p:sp>
      <p:sp>
        <p:nvSpPr>
          <p:cNvPr id="164" name="Answer bg 5"/>
          <p:cNvSpPr/>
          <p:nvPr/>
        </p:nvSpPr>
        <p:spPr>
          <a:xfrm>
            <a:off x="8668512" y="5724144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4" name="Answer 5"/>
          <p:cNvSpPr/>
          <p:nvPr/>
        </p:nvSpPr>
        <p:spPr>
          <a:xfrm>
            <a:off x="8668512" y="5724144"/>
            <a:ext cx="30175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90 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NINE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Numbers: Task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teacher.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number.</a:t>
            </a:r>
            <a:endParaRPr lang="en-US" sz="2200" dirty="0"/>
          </a:p>
        </p:txBody>
      </p:sp>
      <p:sp>
        <p:nvSpPr>
          <p:cNvPr id="27" name="Statement 1"/>
          <p:cNvSpPr/>
          <p:nvPr/>
        </p:nvSpPr>
        <p:spPr>
          <a:xfrm>
            <a:off x="1463040" y="3127248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3840480" y="312724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13</a:t>
            </a:r>
          </a:p>
        </p:txBody>
      </p:sp>
      <p:sp>
        <p:nvSpPr>
          <p:cNvPr id="29" name="False 1"/>
          <p:cNvSpPr/>
          <p:nvPr/>
        </p:nvSpPr>
        <p:spPr>
          <a:xfrm>
            <a:off x="6400800" y="312724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</a:t>
            </a:r>
          </a:p>
        </p:txBody>
      </p:sp>
      <p:sp>
        <p:nvSpPr>
          <p:cNvPr id="30" name="Circle 1"/>
          <p:cNvSpPr/>
          <p:nvPr/>
        </p:nvSpPr>
        <p:spPr>
          <a:xfrm>
            <a:off x="6272784" y="3063240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1463040" y="3785616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3840480" y="378561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14</a:t>
            </a:r>
          </a:p>
        </p:txBody>
      </p:sp>
      <p:sp>
        <p:nvSpPr>
          <p:cNvPr id="33" name="False 2"/>
          <p:cNvSpPr/>
          <p:nvPr/>
        </p:nvSpPr>
        <p:spPr>
          <a:xfrm>
            <a:off x="6400800" y="378561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40</a:t>
            </a:r>
          </a:p>
        </p:txBody>
      </p:sp>
      <p:sp>
        <p:nvSpPr>
          <p:cNvPr id="34" name="Circle 2"/>
          <p:cNvSpPr/>
          <p:nvPr/>
        </p:nvSpPr>
        <p:spPr>
          <a:xfrm>
            <a:off x="3712464" y="3721608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1463040" y="4443984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3840480" y="444398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15</a:t>
            </a:r>
          </a:p>
        </p:txBody>
      </p:sp>
      <p:sp>
        <p:nvSpPr>
          <p:cNvPr id="38" name="False 3"/>
          <p:cNvSpPr/>
          <p:nvPr/>
        </p:nvSpPr>
        <p:spPr>
          <a:xfrm>
            <a:off x="6400800" y="444398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50</a:t>
            </a:r>
          </a:p>
        </p:txBody>
      </p:sp>
      <p:sp>
        <p:nvSpPr>
          <p:cNvPr id="39" name="Circle 3"/>
          <p:cNvSpPr/>
          <p:nvPr/>
        </p:nvSpPr>
        <p:spPr>
          <a:xfrm>
            <a:off x="6272784" y="4379976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1463040" y="5102352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3840480" y="510235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16</a:t>
            </a:r>
          </a:p>
        </p:txBody>
      </p:sp>
      <p:sp>
        <p:nvSpPr>
          <p:cNvPr id="42" name="False 4"/>
          <p:cNvSpPr/>
          <p:nvPr/>
        </p:nvSpPr>
        <p:spPr>
          <a:xfrm>
            <a:off x="6400800" y="510235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60</a:t>
            </a:r>
          </a:p>
        </p:txBody>
      </p:sp>
      <p:sp>
        <p:nvSpPr>
          <p:cNvPr id="43" name="Circle 4"/>
          <p:cNvSpPr/>
          <p:nvPr/>
        </p:nvSpPr>
        <p:spPr>
          <a:xfrm>
            <a:off x="3712464" y="5038344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1463040" y="5760720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3840480" y="576072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19</a:t>
            </a:r>
          </a:p>
        </p:txBody>
      </p:sp>
      <p:sp>
        <p:nvSpPr>
          <p:cNvPr id="47" name="False 5"/>
          <p:cNvSpPr/>
          <p:nvPr/>
        </p:nvSpPr>
        <p:spPr>
          <a:xfrm>
            <a:off x="6400800" y="576072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90</a:t>
            </a:r>
          </a:p>
        </p:txBody>
      </p:sp>
      <p:sp>
        <p:nvSpPr>
          <p:cNvPr id="48" name="Circle 5"/>
          <p:cNvSpPr/>
          <p:nvPr/>
        </p:nvSpPr>
        <p:spPr>
          <a:xfrm>
            <a:off x="6272784" y="5696712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3: My Phone Number and Address</dc:title>
  <dc:subject>Adult ESL Level 1, Lesson 3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