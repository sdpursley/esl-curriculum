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32.xml" ContentType="application/vnd.openxmlformats-officedocument.presentationml.notesSlide+xml"/>
  <Override PartName="/ppt/slides/slide27.xml" ContentType="application/vnd.openxmlformats-officedocument.presentationml.slide+xml"/>
  <Override PartName="/ppt/notesSlides/notesSlide33.xml" ContentType="application/vnd.openxmlformats-officedocument.presentationml.notesSlide+xml"/>
  <Override PartName="/ppt/slides/slide28.xml" ContentType="application/vnd.openxmlformats-officedocument.presentationml.slide+xml"/>
  <Override PartName="/ppt/notesSlides/notesSlide34.xml" ContentType="application/vnd.openxmlformats-officedocument.presentationml.notes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1.xml" ContentType="application/vnd.openxmlformats-officedocument.presentationml.slide+xml"/>
  <Override PartName="/ppt/notesSlides/notesSlide37.xml" ContentType="application/vnd.openxmlformats-officedocument.presentationml.notesSlide+xml"/>
  <Override PartName="/ppt/slides/slide3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7" r:id="rId13"/>
    <p:sldId id="257" r:id="rId3"/>
    <p:sldId id="265" r:id="rId11"/>
    <p:sldId id="276" r:id="rId27"/>
    <p:sldId id="264" r:id="rId10"/>
    <p:sldId id="280" r:id="rId31"/>
    <p:sldId id="287" r:id="rId38"/>
    <p:sldId id="260" r:id="rId6"/>
    <p:sldId id="266" r:id="rId12"/>
    <p:sldId id="259" r:id="rId5"/>
    <p:sldId id="277" r:id="rId28"/>
    <p:sldId id="289" r:id="rId40"/>
    <p:sldId id="278" r:id="rId29"/>
    <p:sldId id="270" r:id="rId16"/>
    <p:sldId id="288" r:id="rId39"/>
    <p:sldId id="271" r:id="rId17"/>
    <p:sldId id="281" r:id="rId32"/>
    <p:sldId id="291" r:id="rId42"/>
    <p:sldId id="292" r:id="rId43"/>
    <p:sldId id="279" r:id="rId30"/>
    <p:sldId id="261" r:id="rId7"/>
    <p:sldId id="283" r:id="rId34"/>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21.xml"/><Relationship Id="rId10" Type="http://schemas.openxmlformats.org/officeDocument/2006/relationships/slide" Target="slides/slide8.xml"/><Relationship Id="rId11" Type="http://schemas.openxmlformats.org/officeDocument/2006/relationships/slide" Target="slides/slide5.xml"/><Relationship Id="rId12" Type="http://schemas.openxmlformats.org/officeDocument/2006/relationships/slide" Target="slides/slide14.xml"/><Relationship Id="rId13" Type="http://schemas.openxmlformats.org/officeDocument/2006/relationships/slide" Target="slides/slide2.xml"/><Relationship Id="rId16" Type="http://schemas.openxmlformats.org/officeDocument/2006/relationships/slide" Target="slides/slide17.xml"/><Relationship Id="rId17" Type="http://schemas.openxmlformats.org/officeDocument/2006/relationships/slide" Target="slides/slide18.xml"/><Relationship Id="rId20" Type="http://schemas.openxmlformats.org/officeDocument/2006/relationships/slide" Target="slides/slide23.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6.xml"/><Relationship Id="rId28" Type="http://schemas.openxmlformats.org/officeDocument/2006/relationships/slide" Target="slides/slide11.xml"/><Relationship Id="rId29" Type="http://schemas.openxmlformats.org/officeDocument/2006/relationships/slide" Target="slides/slide16.xml"/><Relationship Id="rId30" Type="http://schemas.openxmlformats.org/officeDocument/2006/relationships/slide" Target="slides/slide4.xml"/><Relationship Id="rId31" Type="http://schemas.openxmlformats.org/officeDocument/2006/relationships/slide" Target="slides/slide15.xml"/><Relationship Id="rId32" Type="http://schemas.openxmlformats.org/officeDocument/2006/relationships/slide" Target="slides/slide19.xml"/><Relationship Id="rId34" Type="http://schemas.openxmlformats.org/officeDocument/2006/relationships/slide" Target="slides/slide22.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2" Type="http://schemas.openxmlformats.org/officeDocument/2006/relationships/slide" Target="slides/slide31.xml"/><Relationship Id="rId43"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Say: "Today: money and clothes." Point to the price tag: "How much is it? It's $25."</a:t>
            </a:r>
          </a:p>
          <a:p>
            <a:r>
              <a:rPr lang="en-US"/>
              <a:t>Bring 2 or 3 real clothes you can hold up (a shirt or a jacket, a pair of shoes), and put one far away on a chair (for that / those).</a:t>
            </a:r>
          </a:p>
          <a:p>
            <a:r>
              <a:rPr lang="en-US"/>
              <a:t>Before class: print the play-money page (one per pair), cut it, and put each pair's money in an envelope.</a:t>
            </a:r>
          </a:p>
          <a:p>
            <a:r>
              <a:rPr lang="en-US"/>
              <a:t>Money is private. Use only play money and the prices on the pages. Never ask what learners earn, spend, or pay.</a:t>
            </a:r>
          </a:p>
          <a:p>
            <a:r>
              <a:rPr lang="en-US"/>
              <a:t>Teach in English. Show, point, and gesture. Say less, show more.</a:t>
            </a:r>
          </a:p>
          <a:p>
            <a:r>
              <a:rPr lang="en-US"/>
              <a:t>Class plan: 6:00 Hello + Review, 6:10 New Words, 6:20 Listening, 6:32 Grammar, 6:45 Break, 7:00 Talk Time, 7:10 Exit Ticket + Homework, 7:15 Letters &amp; Numbers, 7:25 Progress Check.</a:t>
            </a:r>
          </a:p>
          <a:p>
            <a:r>
              <a:rPr lang="en-US"/>
              <a:t>Source: level1_curriculum/lesson7/Level1_Lesson7.md (At a glance, How to Use This Plan, Clock-time plan).</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Pairs. Review of last week (time and days). 15 learners: 7 pairs + 1 group of 3. 7–8 learners: 3–4 pairs. Late arrivals join any pair.</a:t>
            </a:r>
          </a:p>
          <a:p>
            <a:r>
              <a:rPr lang="en-US"/>
              <a:t>Before class, write on the board: What time is it? What time is class? What day is class? Is the store open on Sunday?</a:t>
            </a:r>
          </a:p>
          <a:p>
            <a:r>
              <a:rPr lang="en-US"/>
              <a:t>Model with one learner: "What time is it?" "It's six o'clock." "What day is class?" "It's on Monday."</a:t>
            </a:r>
          </a:p>
          <a:p>
            <a:r>
              <a:rPr lang="en-US"/>
              <a:t>Click to show the A question. Click again for the B answers. Partners switch, then find a new partner. Help: "Can you repeat, please?" "How do you spell it?"</a:t>
            </a:r>
          </a:p>
          <a:p>
            <a:r>
              <a:rPr lang="en-US"/>
              <a:t>Last 3 minutes: homework check. Partners show each other the Lesson 6 homework. Look at item 2 (at / on / in).</a:t>
            </a:r>
          </a:p>
          <a:p>
            <a:r>
              <a:rPr lang="en-US"/>
              <a:t>New learners: pair them with a strong partner. They can do the Lesson 1–6 Progress Checks at home. If behind: one partner only.</a:t>
            </a:r>
          </a:p>
          <a:p>
            <a:r>
              <a:rPr lang="en-US"/>
              <a:t>Source: level1_curriculum/lesson7/Level1_Lesson7.md (Step 1: Hello + Review; Student Pages: Hello + Review).</a:t>
            </a:r>
          </a:p>
          <a:p>
            <a:r>
              <a:rPr lang="en-US"/>
              <a:t>Review picture: the clock from Lesson 6 (lesson6/images/L1_L6_clock.png). Twemoji graphics by Twitter, Inc. and other contributors (https://github.com/jdecked/twemoji), CC BY 4.0 (https://creativecommons.org/licenses/by/4.0/); resized and combined with drawn parts (see lesson6/images/CREDITS.md).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4: write a shirt blue on the board and cross it out. Write a blue shirt. Then black shoes (yes) and blacks shoes (no): colors never take -s.</a:t>
            </a:r>
          </a:p>
          <a:p>
            <a:r>
              <a:rPr lang="en-US"/>
              <a:t>Read each DON'T SAY line. Shake your head. Click to show the SAY line. Learners repeat it.</a:t>
            </a:r>
          </a:p>
          <a:p>
            <a:r>
              <a:rPr lang="en-US"/>
              <a:t>The big mistake this week: Spanish says una camisa azul. In English the color comes first: a blue shirt. Correct by pointing at the word order on the board. Learners can read the Spanish note on their Grammar page.</a:t>
            </a:r>
          </a:p>
          <a:p>
            <a:r>
              <a:rPr lang="en-US"/>
              <a:t>Check question: "shirt / red / a" (a red shirt).</a:t>
            </a:r>
          </a:p>
          <a:p>
            <a:r>
              <a:rPr lang="en-US"/>
              <a:t>Source: level1_curriculum/lesson7/Level1_Lesson7.md (Step 4: Grammar Q&amp;A, Box 4; Grammar Box 4; Teacher notes).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Grammar page. The left side is the question. The right side is the answer. Point left, then right.</a:t>
            </a:r>
          </a:p>
          <a:p>
            <a:r>
              <a:rPr lang="en-US"/>
              <a:t>Box 1: hold up the shirt: "How much is this shirt?" Click: "It's $12." Box 2: hold up the shoes: "How much are these shoes?" Click: "They're $30."</a:t>
            </a:r>
          </a:p>
          <a:p>
            <a:r>
              <a:rPr lang="en-US"/>
              <a:t>Click to show each answer. Learners repeat the question and the answer.</a:t>
            </a:r>
          </a:p>
          <a:p>
            <a:r>
              <a:rPr lang="en-US"/>
              <a:t>Write on the board: one → is / it's. two or more → are / they're. Pants and shoes always use are.</a:t>
            </a:r>
          </a:p>
          <a:p>
            <a:r>
              <a:rPr lang="en-US"/>
              <a:t>Say prices as words: $12 = "twelve dollars". Not "How much cost this?"</a:t>
            </a:r>
          </a:p>
          <a:p>
            <a:r>
              <a:rPr lang="en-US"/>
              <a:t>Source: level1_curriculum/lesson7/Level1_Lesson7.md (Step 4: Grammar Q&amp;A, Boxes 1–2; Grammar Boxes 1 and 2; Teacher notes).</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Progress Check (5 min). Individuals. Open the Progress Check page.</a:t>
            </a:r>
          </a:p>
          <a:p>
            <a:r>
              <a:rPr lang="en-US"/>
              <a:t>Part A: read the 5 prices slowly, 2 times each: 1 $12, 2 $40, 3 $5.99 ("five ninety-nine"), 4 $18, 5 $70. Learners circle.</a:t>
            </a:r>
          </a:p>
          <a:p>
            <a:r>
              <a:rPr lang="en-US"/>
              <a:t>Parts B and C: learners match and write on their own. Help with the instructions only. Click to show the Part B answers when you check together: 1 c, 2 a, 3 d, 4 b.</a:t>
            </a:r>
          </a:p>
          <a:p>
            <a:r>
              <a:rPr lang="en-US"/>
              <a:t>Part C answers: 1 are, 2 is, 3 a red dress.</a:t>
            </a:r>
          </a:p>
          <a:p>
            <a:r>
              <a:rPr lang="en-US"/>
              <a:t>Part D: read each "I can…" line and point to the 3 faces: 😀 "I can do it." 🙂 "A little." 😐 "Not yet." Learners check one.</a:t>
            </a:r>
          </a:p>
          <a:p>
            <a:r>
              <a:rPr lang="en-US"/>
              <a:t>Score: A /5 + B /4 + C /3 = /12. This is not a test grade. Part A shows who can hear prices (and -teen / -ty); Part C shows is / are and color + noun. Collect the pages.</a:t>
            </a:r>
          </a:p>
          <a:p>
            <a:r>
              <a:rPr lang="en-US"/>
              <a:t>Week 8 is the midterm. If behind: do the Progress Check in Week 8 at 6:00, before the midterm.</a:t>
            </a:r>
          </a:p>
          <a:p>
            <a:r>
              <a:rPr lang="en-US"/>
              <a:t>Source: level1_curriculum/lesson7/Level1_Lesson7.md (Progress Check; Answer key).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you listen (1 min). Say: "Ana is at a clothing store. She asks: How much is it?" Point to the shirts and shoes in Task A.</a:t>
            </a:r>
          </a:p>
          <a:p>
            <a:r>
              <a:rPr lang="en-US"/>
              <a:t>Click to show each listen. Listen 1: Task A (circle the shirt and the shoes). Listen 2: Task B (write the 2 prices). Listen 3: Task C (check the total, cash or card, and write the change).</a:t>
            </a:r>
          </a:p>
          <a:p>
            <a:r>
              <a:rPr lang="en-US"/>
              <a:t>Say it!: read each line. Learners repeat.</a:t>
            </a:r>
          </a:p>
          <a:p>
            <a:r>
              <a:rPr lang="en-US"/>
              <a:t>The audio L1_L7_listening.mp3 (about 1:10) plays the conversation once. Press play again for the next listen. Pairs compare after each task.</a:t>
            </a:r>
          </a:p>
          <a:p>
            <a:r>
              <a:rPr lang="en-US"/>
              <a:t>No speaker? Read the script with a volunteer. Say the prices as words: twelve dollars, thirty dollars.</a:t>
            </a:r>
          </a:p>
          <a:p>
            <a:r>
              <a:rPr lang="en-US"/>
              <a:t>Voices: Narrator, Cashier, Ana. Synthetic voices made with Chatterbox TTS (MIT), copied from short reference clips made with Kokoro-82M (Apache 2.0); no recordings of real people.</a:t>
            </a:r>
          </a:p>
          <a:p>
            <a:r>
              <a:rPr lang="en-US"/>
              <a:t>Source: level1_curriculum/lesson7/Level1_Lesson7.md (Step 3: Listening; Listening script).</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picture. Point and say the word. Learners repeat 2 times.</a:t>
            </a:r>
          </a:p>
          <a:p>
            <a:r>
              <a:rPr lang="en-US"/>
              <a:t>cash: show the play money. credit card: mime paying with a card.</a:t>
            </a:r>
          </a:p>
          <a:p>
            <a:r>
              <a:rPr lang="en-US"/>
              <a:t>Write on the board: 100 cents = 1 dollar (100¢ = $1).</a:t>
            </a:r>
          </a:p>
          <a:p>
            <a:r>
              <a:rPr lang="en-US"/>
              <a:t>★ = most important words. If behind: teach the ★ words only.</a:t>
            </a:r>
          </a:p>
          <a:p>
            <a:r>
              <a:rPr lang="en-US"/>
              <a:t>Source: level1_curriculum/lesson7/Level1_Lesson7.md (Step 2: New Words; Student Pages: New Words).</a:t>
            </a:r>
          </a:p>
          <a:p>
            <a:r>
              <a:rPr lang="en-US"/>
              <a:t>Pictures: Twemoji graphics by Twitter, Inc. and other contributors (https://github.com/jdecked/twemoji), CC BY 4.0 (https://creativecommons.org/licenses/by/4.0/); resized, recolored, and combined with drawn parts (see lesson7/images/CREDITS.md). The receipt is drawn in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3 (the key point). Stand next to the shirt: "this shirt." Walk away and point to the far chair: "that shirt."</a:t>
            </a:r>
          </a:p>
          <a:p>
            <a:r>
              <a:rPr lang="en-US"/>
              <a:t>Same with shoes: "these shoes… those shoes." Learners point near and far as they say the words.</a:t>
            </a:r>
          </a:p>
          <a:p>
            <a:r>
              <a:rPr lang="en-US"/>
              <a:t>Ask "One thing: near or far?" Click to show this shirt / that shirt. Ask "Two or more?" Click to show these shoes / those shoes.</a:t>
            </a:r>
          </a:p>
          <a:p>
            <a:r>
              <a:rPr lang="en-US"/>
              <a:t>One thing → is / this / that. Two or more → are / these / those. Near → this / these. Far → that / those.</a:t>
            </a:r>
          </a:p>
          <a:p>
            <a:r>
              <a:rPr lang="en-US"/>
              <a:t>Source: level1_curriculum/lesson7/Level1_Lesson7.md (Step 4: Grammar Q&amp;A, Box 3; Grammar Box 3; Teacher notes).</a:t>
            </a:r>
          </a:p>
          <a:p>
            <a:r>
              <a:rPr lang="en-US"/>
              <a:t>Pictures: Twemoji graphics by Twitter, Inc. and other contributors (https://github.com/jdecked/twemoji), CC BY 4.0 (https://creativecommons.org/licenses/by/4.0/); resized, recolored, and combined with drawn parts (see lesson7/images/CREDITS.md). Near / far lines and labels are drawn in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Click to show each goal, one at a time. Read it aloud. Learners repeat.</a:t>
            </a:r>
          </a:p>
          <a:p>
            <a:r>
              <a:rPr lang="en-US"/>
              <a:t>Goal 1: hold up a shirt. "How much is this shirt?" Goal 2: "It's $12." Say "twelve dollars".</a:t>
            </a:r>
          </a:p>
          <a:p>
            <a:r>
              <a:rPr lang="en-US"/>
              <a:t>Goal 3: this / that = one thing; these / those = two or more. Near = this / these. Far = that / those.</a:t>
            </a:r>
          </a:p>
          <a:p>
            <a:r>
              <a:rPr lang="en-US"/>
              <a:t>Goal 4: the color comes before the thing: a blue shirt, black shoes.</a:t>
            </a:r>
          </a:p>
          <a:p>
            <a:r>
              <a:rPr lang="en-US"/>
              <a:t>Goal 5: "Cash or credit card? Cash, please. Here's $20. Your change is $5."</a:t>
            </a:r>
          </a:p>
          <a:p>
            <a:r>
              <a:rPr lang="en-US"/>
              <a:t>Letters &amp; Numbers at 7:15: reading prices ($4.99 = "four ninety-nine"), this / these sounds, and a receipt.</a:t>
            </a:r>
          </a:p>
          <a:p>
            <a:r>
              <a:rPr lang="en-US"/>
              <a:t>Source: level1_curriculum/lesson7/Level1_Lesson7.md (At a glance: Objectives).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 pairs. Give half the class the Student A page and half the Student B page, and each pair one envelope of play money. Partners don't show their pages.</a:t>
            </a:r>
          </a:p>
          <a:p>
            <a:r>
              <a:rPr lang="en-US"/>
              <a:t>Model with one learner (you are the shopper): point to the dress. "How much is this red dress?" "It's $25." "OK. Here's $30." "Your change is $5." Write the price and the change on the board.</a:t>
            </a:r>
          </a:p>
          <a:p>
            <a:r>
              <a:rPr lang="en-US"/>
              <a:t>Click to show each step. Part 1 (4 min): A is the cashier (Store 1, with prices). B is the shopper: B gets the play money, asks the price of the 3 things, writes the prices, buys one thing, pays, and checks the change.</a:t>
            </a:r>
          </a:p>
          <a:p>
            <a:r>
              <a:rPr lang="en-US"/>
              <a:t>Answer key, Store 1: red dress $25, black pants $18, white shoes $35.</a:t>
            </a:r>
          </a:p>
          <a:p>
            <a:r>
              <a:rPr lang="en-US"/>
              <a:t>With an odd number, two Bs share one A (one is the shopper, one helps count the money). Learners who can't read or write yet are good cashiers: they say the price from the tag and count the play money.</a:t>
            </a:r>
          </a:p>
          <a:p>
            <a:r>
              <a:rPr lang="en-US"/>
              <a:t>Play money only, never real money.</a:t>
            </a:r>
          </a:p>
          <a:p>
            <a:r>
              <a:rPr lang="en-US"/>
              <a:t>Source: level1_curriculum/lesson7/Level1_Lesson7.md (Step 5: Talk Time; Student Pages: Talk Time A and B, Play Money; Answer key).</a:t>
            </a:r>
          </a:p>
          <a:p>
            <a:r>
              <a:rPr lang="en-US"/>
              <a:t>Pictures: drawn in code for this curriculum, no outside source (see lesson7/images/CREDITS.md). The play money is marked PLAY MONEY and does not copy any real bill or coin.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Exit ticket (never skip): hold up a picture or a real item. Each learner asks "How much is this ___?" / "How much are these ___?" or writes one color + noun (a red dress). Copying is fine.</a:t>
            </a:r>
          </a:p>
          <a:p>
            <a:r>
              <a:rPr lang="en-US"/>
              <a:t>Homework (10 minutes): open the Homework page. Do item 1 together (the first line). Point to each instruction.</a:t>
            </a:r>
          </a:p>
          <a:p>
            <a:r>
              <a:rPr lang="en-US"/>
              <a:t>Homework: 1) write is or are; 2) put the words in order; 3) look at 3 price tags in a store (or in an ad) and write them; 4) say the prices to a family member or a friend: "It's four ninety-nine."; 5) review: English class is on ___, at ___.</a:t>
            </a:r>
          </a:p>
          <a:p>
            <a:r>
              <a:rPr lang="en-US"/>
              <a:t>Homework answers: item 1: 1 is, 2 are, 3 are, 4 is. Item 2: 1 a green jacket, 2 black shoes, 3 a white dress.</a:t>
            </a:r>
          </a:p>
          <a:p>
            <a:r>
              <a:rPr lang="en-US"/>
              <a:t>Collect the play money for next time.</a:t>
            </a:r>
          </a:p>
          <a:p>
            <a:r>
              <a:rPr lang="en-US"/>
              <a:t>Source: level1_curriculum/lesson7/Level1_Lesson7.md (Step 6: Exit Ticket + Homework; Student Pages: Homework; Answer key).</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Credits for the pictures, audio, and font.</a:t>
            </a:r>
          </a:p>
          <a:p>
            <a:r>
              <a:rPr lang="en-US"/>
              <a:t>Pictures: Twemoji (CC BY 4.0), https://github.com/jdecked/twemoji; clothes recolored. Receipts, color swatches, price tags, and the play money drawn in code. Review picture (clock) from Lesson 6. Audio: Chatterbox TTS (MIT) voices copied from short Kokoro-82M (Apache 2.0) reference clips; no recordings of real people.</a:t>
            </a:r>
          </a:p>
          <a:p>
            <a:r>
              <a:rPr lang="en-US"/>
              <a:t>Sources: Level1_Lesson7.md (Picture Credits),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Hold up a real shirt: "This is a shirt. It's blue." Hold up shoes: "Shoes. Two shoes." Point to colors in the room: "Red. Black. White."</a:t>
            </a:r>
          </a:p>
          <a:p>
            <a:r>
              <a:rPr lang="en-US"/>
              <a:t>Click to show each picture. Say the word. Learners repeat 2 times.</a:t>
            </a:r>
          </a:p>
          <a:p>
            <a:r>
              <a:rPr lang="en-US"/>
              <a:t>pants, shoes: say "pants" and hold up 2 fingers. One thing, but the word is always plural.</a:t>
            </a:r>
          </a:p>
          <a:p>
            <a:r>
              <a:rPr lang="en-US"/>
              <a:t>colors: red, blue, black, white, green, yellow.</a:t>
            </a:r>
          </a:p>
          <a:p>
            <a:r>
              <a:rPr lang="en-US"/>
              <a:t>Pairs (4 min): A points to a picture, B says the word. Then A says a color, B points to something in the room with that color.</a:t>
            </a:r>
          </a:p>
          <a:p>
            <a:r>
              <a:rPr lang="en-US"/>
              <a:t>★ = most important words. If behind: teach the ★ words only.</a:t>
            </a:r>
          </a:p>
          <a:p>
            <a:r>
              <a:rPr lang="en-US"/>
              <a:t>Source: level1_curriculum/lesson7/Level1_Lesson7.md (Step 2: New Words; Student Pages: New Words).</a:t>
            </a:r>
          </a:p>
          <a:p>
            <a:r>
              <a:rPr lang="en-US"/>
              <a:t>Pictures: Twemoji graphics by Twitter, Inc. and other contributors (https://github.com/jdecked/twemoji), CC BY 4.0 (https://creativecommons.org/licenses/by/4.0/); resized, recolored, and combined with drawn parts (see lesson7/images/CREDITS.md). The color swatches are drawn in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Box 5: model paying with play money: "That's $8." Give $10. "Your change is $2."</a:t>
            </a:r>
          </a:p>
          <a:p>
            <a:r>
              <a:rPr lang="en-US"/>
              <a:t>Read the cashier line: "That's $42. Cash or credit card?" Click: "Cash, please. Here's $50." Another answer: "Credit card, please."</a:t>
            </a:r>
          </a:p>
          <a:p>
            <a:r>
              <a:rPr lang="en-US"/>
              <a:t>Right box: "Your change is $8." Click: "Thank you. Can I have the receipt, please?"</a:t>
            </a:r>
          </a:p>
          <a:p>
            <a:r>
              <a:rPr lang="en-US"/>
              <a:t>Pairs: A is the cashier, B is the shopper. Then switch. Use the play money.</a:t>
            </a:r>
          </a:p>
          <a:p>
            <a:r>
              <a:rPr lang="en-US"/>
              <a:t>Pair drill (last 3–4 min): A points to a picture on the New Words page and asks; B invents a price. Then switch. If behind: skip the pair drill; it becomes homework.</a:t>
            </a:r>
          </a:p>
          <a:p>
            <a:r>
              <a:rPr lang="en-US"/>
              <a:t>Source: level1_curriculum/lesson7/Level1_Lesson7.md (Step 4: Grammar Q&amp;A, Box 5 and pair drill; Grammar Box 5).</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each "Don't say" line. Shake your head. Click to show the correct line. Learners repeat it.</a:t>
            </a:r>
          </a:p>
          <a:p>
            <a:r>
              <a:rPr lang="en-US"/>
              <a:t>is / are: one thing → How much is this shirt? Two or more → How much are these shoes? Not "How much cost this?"</a:t>
            </a:r>
          </a:p>
          <a:p>
            <a:r>
              <a:rPr lang="en-US"/>
              <a:t>The color comes first: a blue shirt. Colors never take -s: black shoes, not blacks shoes.</a:t>
            </a:r>
          </a:p>
          <a:p>
            <a:r>
              <a:rPr lang="en-US"/>
              <a:t>this shoes → these shoes: shoes are two or more.</a:t>
            </a:r>
          </a:p>
          <a:p>
            <a:r>
              <a:rPr lang="en-US"/>
              <a:t>Source: level1_curriculum/lesson7/Level1_Lesson7.md (Grammar: Common mistakes; Teacher notes).</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D, read it (3 min): read the receipt together. Learners answer the 3 questions.</a:t>
            </a:r>
          </a:p>
          <a:p>
            <a:r>
              <a:rPr lang="en-US"/>
              <a:t>Then click to show each answer: 1 $40.00, 2 $83.00, 3 $17.00.</a:t>
            </a:r>
          </a:p>
          <a:p>
            <a:r>
              <a:rPr lang="en-US"/>
              <a:t>Learners who can't read or write yet: they find and circle the TOTAL. A helper, if you have one, sits with them.</a:t>
            </a:r>
          </a:p>
          <a:p>
            <a:r>
              <a:rPr lang="en-US"/>
              <a:t>If behind: do Tasks A and B only (skip this slide).</a:t>
            </a:r>
          </a:p>
          <a:p>
            <a:r>
              <a:rPr lang="en-US"/>
              <a:t>Source: level1_curriculum/lesson7/Level1_Lesson7.md (Letters &amp; Numbers, Task D; Answer key, Letters &amp; Numbers Task D).</a:t>
            </a:r>
          </a:p>
          <a:p>
            <a:r>
              <a:rPr lang="en-US"/>
              <a:t>Pictures: drawn in code for this curriculum, no outside source (see lesson7/images/CREDITS.md). The store name and prices are invented.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1 (Task A). Learners circle the color of the shirt and the shoes Ana buys.</a:t>
            </a:r>
          </a:p>
          <a:p>
            <a:r>
              <a:rPr lang="en-US"/>
              <a:t>Pairs compare: "Show your partner." Then click to show each answer: the shirt b (blue), the shoes a (black).</a:t>
            </a:r>
          </a:p>
          <a:p>
            <a:r>
              <a:rPr lang="en-US"/>
              <a:t>In the audio: "Do you have this shirt in red?" "No, sorry. Only blue and white." "OK, blue is good."</a:t>
            </a:r>
          </a:p>
          <a:p>
            <a:r>
              <a:rPr lang="en-US"/>
              <a:t>Source: level1_curriculum/lesson7/Level1_Lesson7.md (Step 3: Listening; Student Pages: Listening A; Answer key, Listening Task A).</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Letters &amp; Numbers (10 min). Whole class, then pairs. Use the Letters &amp; Numbers page.</a:t>
            </a:r>
          </a:p>
          <a:p>
            <a:r>
              <a:rPr lang="en-US"/>
              <a:t>Task A, see it (2 min): point to each price and say it. Learners repeat. Click to show each way to say it.</a:t>
            </a:r>
          </a:p>
          <a:p>
            <a:r>
              <a:rPr lang="en-US"/>
              <a:t>$4.99 = "four ninety-nine"; $12.50 = "twelve fifty"; $20.00 = "twenty dollars"; $0.25 = "twenty-five cents". People don't say the word dollars or cents in $4.99.</a:t>
            </a:r>
          </a:p>
          <a:p>
            <a:r>
              <a:rPr lang="en-US"/>
              <a:t>The dot is a period; the numbers after it are cents.</a:t>
            </a:r>
          </a:p>
          <a:p>
            <a:r>
              <a:rPr lang="en-US"/>
              <a:t>Partners: A says a price from Task A, B points to it. Switch.</a:t>
            </a:r>
          </a:p>
          <a:p>
            <a:r>
              <a:rPr lang="en-US"/>
              <a:t>Learners who can't read or write yet: they say the prices with everyone and point.</a:t>
            </a:r>
          </a:p>
          <a:p>
            <a:r>
              <a:rPr lang="en-US"/>
              <a:t>Source: level1_curriculum/lesson7/Level1_Lesson7.md (Letters &amp; Numbers, Task A; Teacher notes: Saying prices).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"Great work! See you next week!" Remind learners: bring the homework next week.</a:t>
            </a:r>
          </a:p>
          <a:p>
            <a:r>
              <a:rPr lang="en-US"/>
              <a:t>Collect the Progress Check pages and the play money.</a:t>
            </a:r>
          </a:p>
          <a:p>
            <a:r>
              <a:rPr lang="en-US"/>
              <a:t>Looking ahead: Week 8 is the midterm (Lessons 1–7). Lesson 8 (food) uses How much is…? again and adds I like… / I don't like….</a:t>
            </a:r>
          </a:p>
          <a:p>
            <a:r>
              <a:rPr lang="en-US"/>
              <a:t>Source: level1_curriculum/lesson7/Level1_Lesson7.md (Teacher notes: Looking ahead; At a glance: Objectives).</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Listen 2 (Task B): learners write the 2 prices. Listen 3 (Task C): learners check the total, cash or card, and write the change.</a:t>
            </a:r>
          </a:p>
          <a:p>
            <a:r>
              <a:rPr lang="en-US"/>
              <a:t>Pairs compare. Then click to show each answer.</a:t>
            </a:r>
          </a:p>
          <a:p>
            <a:r>
              <a:rPr lang="en-US"/>
              <a:t>Task B: 1 the shirt is $12, 2 the shoes are $30.</a:t>
            </a:r>
          </a:p>
          <a:p>
            <a:r>
              <a:rPr lang="en-US"/>
              <a:t>Task C: 1 the total is $42, 2 Ana pays with cash, 3 her change is $8, 4 Ana asks for the receipt.</a:t>
            </a:r>
          </a:p>
          <a:p>
            <a:r>
              <a:rPr lang="en-US"/>
              <a:t>If behind: play the audio 2 times, and do Task C together.</a:t>
            </a:r>
          </a:p>
          <a:p>
            <a:r>
              <a:rPr lang="en-US"/>
              <a:t>Source: level1_curriculum/lesson7/Level1_Lesson7.md (Step 3: Listening; Answer key, Listening Tasks B and 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(4 min): switch. B is the cashier (Store 2). A is the shopper.</a:t>
            </a:r>
          </a:p>
          <a:p>
            <a:r>
              <a:rPr lang="en-US"/>
              <a:t>Model it: "How much is this green jacket?" Click: "It's $40."</a:t>
            </a:r>
          </a:p>
          <a:p>
            <a:r>
              <a:rPr lang="en-US"/>
              <a:t>A asks the prices, writes them, buys one thing, pays, and checks the change: "Here's $___. My change is $___."</a:t>
            </a:r>
          </a:p>
          <a:p>
            <a:r>
              <a:rPr lang="en-US"/>
              <a:t>Answer key, Store 2: green jacket $40, yellow shirt $9, blue pants $22.</a:t>
            </a:r>
          </a:p>
          <a:p>
            <a:r>
              <a:rPr lang="en-US"/>
              <a:t>Check (2 min): partners show their pages. Are the prices the same?</a:t>
            </a:r>
          </a:p>
          <a:p>
            <a:r>
              <a:rPr lang="en-US"/>
              <a:t>Fast pairs: buy 2 things and say the total: "That's $43." Strong learners can add: "Do you have this in ___?" New learners use only "How much is this?" and point.</a:t>
            </a:r>
          </a:p>
          <a:p>
            <a:r>
              <a:rPr lang="en-US"/>
              <a:t>If behind: one round only (Part 1). Collect the play money at the end.</a:t>
            </a:r>
          </a:p>
          <a:p>
            <a:r>
              <a:rPr lang="en-US"/>
              <a:t>Source: level1_curriculum/lesson7/Level1_Lesson7.md (Step 5: Talk Time, Part 2, Check, Fast pairs; Answer key; Teacher notes).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Learners write is, are, this, or these on lines 1–4, and put the words in order on line 5. Then pairs check.</a:t>
            </a:r>
          </a:p>
          <a:p>
            <a:r>
              <a:rPr lang="en-US"/>
              <a:t>Click to show each answer: 1 is, 2 are, 3 this, 4 these, 5 a red shirt.</a:t>
            </a:r>
          </a:p>
          <a:p>
            <a:r>
              <a:rPr lang="en-US"/>
              <a:t>Say: "One thing: is, this. Two or more: are, these." Pants always use are.</a:t>
            </a:r>
          </a:p>
          <a:p>
            <a:r>
              <a:rPr lang="en-US"/>
              <a:t>Source: level1_curriculum/lesson7/Level1_Lesson7.md (Grammar: Practice; Answer key, Grammar practice).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B, hear it (2 min). Say each price 2 times: 1 $4.99 ("four ninety-nine"), 2 $13 ("thirteen dollars"), 3 $15.50 ("fifteen fifty"), 4 $60 ("sixty dollars"), 5 $2.25 ("two twenty-five"). Learners circle.</a:t>
            </a:r>
          </a:p>
          <a:p>
            <a:r>
              <a:rPr lang="en-US"/>
              <a:t>Then click to show each answer.</a:t>
            </a:r>
          </a:p>
          <a:p>
            <a:r>
              <a:rPr lang="en-US"/>
              <a:t>-teen / -ty matter again: $13 or $30? Say "thir-TEEN" and "THIR-ty" with a clap.</a:t>
            </a:r>
          </a:p>
          <a:p>
            <a:r>
              <a:rPr lang="en-US"/>
              <a:t>If behind: do Tasks A and B only.</a:t>
            </a:r>
          </a:p>
          <a:p>
            <a:r>
              <a:rPr lang="en-US"/>
              <a:t>Source: level1_curriculum/lesson7/Level1_Lesson7.md (Letters &amp; Numbers, Task B; Answer key, Letters &amp; Numbers Task B; Teacher notes).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C, say it (2 min): this has a short i (like six); these has a long ee (like three). Smile wide for ee.</a:t>
            </a:r>
          </a:p>
          <a:p>
            <a:r>
              <a:rPr lang="en-US"/>
              <a:t>Click to show each group. Say the pairs; learners repeat: this shirt / these shoes, it is / they're green, six / three.</a:t>
            </a:r>
          </a:p>
          <a:p>
            <a:r>
              <a:rPr lang="en-US"/>
              <a:t>Many learners say this and these the same. Don't over-correct; the grammar (is / are) helps listeners understand.</a:t>
            </a:r>
          </a:p>
          <a:p>
            <a:r>
              <a:rPr lang="en-US"/>
              <a:t>Source: level1_curriculum/lesson7/Level1_Lesson7.md (Letters &amp; Numbers, Task C; Teacher notes).</a:t>
            </a:r>
          </a:p>
          <a:p>
            <a:r>
              <a:rPr lang="en-US"/>
              <a:t>Pictures: Twemoji graphics by Twitter, Inc. and other contributors (https://github.com/jdecked/twemoji), CC BY 4.0 (https://creativecommons.org/licenses/by/4.0/); resized, recolored, and combined with drawn parts (see lesson7/images/CREDITS.md).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1.xml"/><Relationship Id="rIdL7_104" Type="http://schemas.openxmlformats.org/officeDocument/2006/relationships/image" Target="../media/L1_L7_store1_dress_price.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L7_104" Type="http://schemas.openxmlformats.org/officeDocument/2006/relationships/image" Target="../media/L1_L6_clock.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L7_104" Type="http://schemas.openxmlformats.org/officeDocument/2006/relationships/image" Target="../media/L1_L7_receipt_page.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L7_114" Type="http://schemas.openxmlformats.org/officeDocument/2006/relationships/image" Target="../media/L1_L7_dollar.png"/><Relationship Id="rIdL7_114x" Type="http://schemas.openxmlformats.org/officeDocument/2006/relationships/image" Target="../media/L1_L7_cent.png"/><Relationship Id="rIdL7_114xx" Type="http://schemas.openxmlformats.org/officeDocument/2006/relationships/image" Target="../media/L1_L7_coin.png"/><Relationship Id="rIdL7_114xxx" Type="http://schemas.openxmlformats.org/officeDocument/2006/relationships/image" Target="../media/L1_L7_cash.png"/><Relationship Id="rIdL7_114xxxx" Type="http://schemas.openxmlformats.org/officeDocument/2006/relationships/image" Target="../media/L1_L7_credit_card.png"/><Relationship Id="rIdL7_114xxxxx" Type="http://schemas.openxmlformats.org/officeDocument/2006/relationships/image" Target="../media/L1_L7_receipt.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L7_114" Type="http://schemas.openxmlformats.org/officeDocument/2006/relationships/image" Target="../media/L1_L7_shirt.png"/><Relationship Id="rIdL7_114x" Type="http://schemas.openxmlformats.org/officeDocument/2006/relationships/image" Target="../media/L1_L7_pants.png"/><Relationship Id="rIdL7_114xx" Type="http://schemas.openxmlformats.org/officeDocument/2006/relationships/image" Target="../media/L1_L7_shoes.png"/><Relationship Id="rIdL7_114xxx" Type="http://schemas.openxmlformats.org/officeDocument/2006/relationships/image" Target="../media/L1_L7_jacket.png"/><Relationship Id="rIdL7_114xxxx" Type="http://schemas.openxmlformats.org/officeDocument/2006/relationships/image" Target="../media/L1_L7_dress.png"/><Relationship Id="rIdL7_114xxxxx" Type="http://schemas.openxmlformats.org/officeDocument/2006/relationships/image" Target="../media/L1_L7_colors.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L7_106" Type="http://schemas.openxmlformats.org/officeDocument/2006/relationships/image" Target="../media/L1_L7_cash.png"/><Relationship Id="rIdL7_106x" Type="http://schemas.openxmlformats.org/officeDocument/2006/relationships/image" Target="../media/L1_L7_credit_car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2.xml"/><Relationship Id="rIdL7_104" Type="http://schemas.openxmlformats.org/officeDocument/2006/relationships/image" Target="../media/L1_L7_cash.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L7_106" Type="http://schemas.openxmlformats.org/officeDocument/2006/relationships/image" Target="../media/L1_L7_shirt.png"/><Relationship Id="rIdL7_106x" Type="http://schemas.openxmlformats.org/officeDocument/2006/relationships/image" Target="../media/L1_L7_shoes_black.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L7_106" Type="http://schemas.openxmlformats.org/officeDocument/2006/relationships/image" Target="../media/L1_L7_this_that.png"/><Relationship Id="rIdL7_106x" Type="http://schemas.openxmlformats.org/officeDocument/2006/relationships/image" Target="../media/L1_L7_these_those.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L7_102" Type="http://schemas.openxmlformats.org/officeDocument/2006/relationships/image" Target="../media/L1_L7_shirt_red.png"/><Relationship Id="rIdL7_104" Type="http://schemas.openxmlformats.org/officeDocument/2006/relationships/image" Target="../media/L1_L7_shirt_blue.png"/><Relationship Id="rIdL7_106" Type="http://schemas.openxmlformats.org/officeDocument/2006/relationships/image" Target="../media/L1_L7_shirt_white.png"/><Relationship Id="rIdL7_108" Type="http://schemas.openxmlformats.org/officeDocument/2006/relationships/image" Target="../media/L1_L7_shoes_black.png"/><Relationship Id="rIdL7_110" Type="http://schemas.openxmlformats.org/officeDocument/2006/relationships/image" Target="../media/L1_L7_shoes_white.png"/><Relationship Id="rIdL7_112" Type="http://schemas.openxmlformats.org/officeDocument/2006/relationships/image" Target="../media/L1_L7_shoes_r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L7_104" Type="http://schemas.openxmlformats.org/officeDocument/2006/relationships/image" Target="../media/L1_L7_these_those.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L7_104" Type="http://schemas.openxmlformats.org/officeDocument/2006/relationships/image" Target="../media/L1_L7_play_money.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L7_104" Type="http://schemas.openxmlformats.org/officeDocument/2006/relationships/image" Target="../media/L1_L7_jacket.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28.xml"/><Relationship Id="rIdL7_104" Type="http://schemas.openxmlformats.org/officeDocument/2006/relationships/image" Target="../media/L1_L7_cash.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L7_106" Type="http://schemas.openxmlformats.org/officeDocument/2006/relationships/image" Target="../media/L1_L7_shirt_red.png"/><Relationship Id="rIdL7_106x" Type="http://schemas.openxmlformats.org/officeDocument/2006/relationships/image" Target="../media/L1_L7_shoes_white.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rice tag picture" descr="red dress with a $25 price tag">    </p:cNvPr>
          <p:cNvPicPr>
            <a:picLocks noChangeAspect="1"/>
          </p:cNvPicPr>
          <p:nvPr/>
        </p:nvPicPr>
        <p:blipFill>
          <a:blip r:embed="rIdL7_104"/>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7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How Much Is It?</a:t>
            </a:r>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How much is this shirt?</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$12. They're $30.</a:t>
            </a:r>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Pay and check your change.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2093062"/>
            <a:ext cx="6227064" cy="983894"/>
          </a:xfrm>
          <a:prstGeom prst="round1Rect">
            <a:avLst>
              <a:gd name="adj" fmla="val 23087"/>
            </a:avLst>
          </a:prstGeom>
          <a:solidFill>
            <a:srgbClr val="8FAFE3"/>
          </a:solidFill>
          <a:ln/>
        </p:spPr>
        <p:txBody>
          <a:bodyPr/>
          <a:p/>
        </p:txBody>
      </p:sp>
      <p:sp>
        <p:nvSpPr>
          <p:cNvPr id="3" name="Shape 1"/>
          <p:cNvSpPr/>
          <p:nvPr/>
        </p:nvSpPr>
        <p:spPr>
          <a:xfrm>
            <a:off x="1583741" y="2035454"/>
            <a:ext cx="5130698" cy="98389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6" name="Shape 4"/>
          <p:cNvSpPr/>
          <p:nvPr/>
        </p:nvSpPr>
        <p:spPr>
          <a:xfrm>
            <a:off x="1583741" y="4550054"/>
            <a:ext cx="5130698" cy="602590"/>
          </a:xfrm>
          <a:prstGeom prst="round1Rect">
            <a:avLst>
              <a:gd name="adj" fmla="val 23087"/>
            </a:avLst>
          </a:prstGeom>
          <a:solidFill>
            <a:srgbClr val="FFFFFF"/>
          </a:solidFill>
          <a:ln/>
        </p:spPr>
        <p:txBody>
          <a:bodyPr/>
          <a:p/>
        </p:txBody>
      </p:sp>
      <p:sp>
        <p:nvSpPr>
          <p:cNvPr id="7" name="Shape 5"/>
          <p:cNvSpPr/>
          <p:nvPr/>
        </p:nvSpPr>
        <p:spPr>
          <a:xfrm>
            <a:off x="1583741" y="5261458"/>
            <a:ext cx="5130698" cy="602590"/>
          </a:xfrm>
          <a:prstGeom prst="round1Rect">
            <a:avLst>
              <a:gd name="adj" fmla="val 23087"/>
            </a:avLst>
          </a:prstGeom>
          <a:solidFill>
            <a:srgbClr val="FFFFFF"/>
          </a:solidFill>
          <a:ln/>
        </p:spPr>
        <p:txBody>
          <a:bodyPr/>
          <a:p/>
        </p:txBody>
      </p:sp>
      <p:sp>
        <p:nvSpPr>
          <p:cNvPr id="8" name="Text 6"/>
          <p:cNvSpPr/>
          <p:nvPr/>
        </p:nvSpPr>
        <p:spPr>
          <a:xfrm>
            <a:off x="1810512" y="2103120"/>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ask the price.</a:t>
            </a:r>
          </a:p>
        </p:txBody>
      </p:sp>
      <p:sp>
        <p:nvSpPr>
          <p:cNvPr id="9" name="Text 7"/>
          <p:cNvSpPr/>
          <p:nvPr/>
        </p:nvSpPr>
        <p:spPr>
          <a:xfrm>
            <a:off x="1901952" y="2505456"/>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How much is this shirt?</a:t>
            </a:r>
          </a:p>
        </p:txBody>
      </p:sp>
      <p:sp>
        <p:nvSpPr>
          <p:cNvPr id="11" name="Text 9"/>
          <p:cNvSpPr/>
          <p:nvPr/>
        </p:nvSpPr>
        <p:spPr>
          <a:xfrm>
            <a:off x="1810512" y="3127248"/>
            <a:ext cx="4434840" cy="602590"/>
          </a:xfrm>
          <a:prstGeom prst="rect">
            <a:avLst/>
          </a:prstGeom>
          <a:noFill/>
          <a:ln/>
        </p:spPr>
        <p:txBody>
          <a:bodyPr wrap="square" rtlCol="0" anchor="ctr"/>
          <a:lstStyle/>
          <a:p>
            <a:pPr algn="l" indent="0" marL="0">
              <a:buNone/>
            </a:pPr>
            <a:r>
              <a:rPr lang="en-US" sz="1900" dirty="0">
                <a:solidFill>
                  <a:srgbClr val="1B2236"/>
                </a:solidFill>
                <a:latin typeface="Lexend Deca" pitchFamily="34" charset="0"/>
                <a:ea typeface="Lexend Deca" pitchFamily="34" charset="-122"/>
                <a:cs typeface="Lexend Deca" pitchFamily="34" charset="-120"/>
              </a:rPr>
              <a:t>I can say prices: It's $12.</a:t>
            </a:r>
          </a:p>
        </p:txBody>
      </p:sp>
      <p:sp>
        <p:nvSpPr>
          <p:cNvPr id="13" name="Text 11"/>
          <p:cNvSpPr/>
          <p:nvPr/>
        </p:nvSpPr>
        <p:spPr>
          <a:xfrm>
            <a:off x="1810512" y="3838651"/>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use this, that, these, those.</a:t>
            </a:r>
          </a:p>
        </p:txBody>
      </p:sp>
      <p:sp>
        <p:nvSpPr>
          <p:cNvPr id="15" name="Text 13"/>
          <p:cNvSpPr/>
          <p:nvPr/>
        </p:nvSpPr>
        <p:spPr>
          <a:xfrm>
            <a:off x="1810512" y="4550054"/>
            <a:ext cx="4434840" cy="602590"/>
          </a:xfrm>
          <a:prstGeom prst="rect">
            <a:avLst/>
          </a:prstGeom>
          <a:noFill/>
          <a:ln/>
        </p:spPr>
        <p:txBody>
          <a:bodyPr wrap="square"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can say a blue shirt, black shoes.</a:t>
            </a:r>
          </a:p>
        </p:txBody>
      </p:sp>
      <p:sp>
        <p:nvSpPr>
          <p:cNvPr id="17" name="Text 15"/>
          <p:cNvSpPr/>
          <p:nvPr/>
        </p:nvSpPr>
        <p:spPr>
          <a:xfrm>
            <a:off x="1810512" y="526145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pay and check my change.</a:t>
            </a:r>
          </a:p>
        </p:txBody>
      </p:sp>
      <p:sp>
        <p:nvSpPr>
          <p:cNvPr id="19" name="Shape 17"/>
          <p:cNvSpPr/>
          <p:nvPr/>
        </p:nvSpPr>
        <p:spPr>
          <a:xfrm>
            <a:off x="544982" y="2035454"/>
            <a:ext cx="1039673" cy="983894"/>
          </a:xfrm>
          <a:prstGeom prst="rect">
            <a:avLst/>
          </a:prstGeom>
          <a:solidFill>
            <a:srgbClr val="B9D2F7"/>
          </a:solidFill>
          <a:ln/>
        </p:spPr>
        <p:txBody>
          <a:bodyPr/>
          <a:p/>
        </p:txBody>
      </p:sp>
      <p:sp>
        <p:nvSpPr>
          <p:cNvPr id="20" name="Text 18"/>
          <p:cNvSpPr/>
          <p:nvPr/>
        </p:nvSpPr>
        <p:spPr>
          <a:xfrm>
            <a:off x="686714" y="2166214"/>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dirty="0"/>
          </a:p>
        </p:txBody>
      </p:sp>
      <p:sp>
        <p:nvSpPr>
          <p:cNvPr id="25" name="Shape 23"/>
          <p:cNvSpPr/>
          <p:nvPr/>
        </p:nvSpPr>
        <p:spPr>
          <a:xfrm>
            <a:off x="544982" y="4550054"/>
            <a:ext cx="1039673" cy="602590"/>
          </a:xfrm>
          <a:prstGeom prst="rect">
            <a:avLst/>
          </a:prstGeom>
          <a:solidFill>
            <a:srgbClr val="B9D2F7"/>
          </a:solidFill>
          <a:ln/>
        </p:spPr>
        <p:txBody>
          <a:bodyPr/>
          <a:p/>
        </p:txBody>
      </p:sp>
      <p:sp>
        <p:nvSpPr>
          <p:cNvPr id="26" name="Text 24"/>
          <p:cNvSpPr/>
          <p:nvPr/>
        </p:nvSpPr>
        <p:spPr>
          <a:xfrm>
            <a:off x="686714" y="4543654"/>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dirty="0"/>
          </a:p>
        </p:txBody>
      </p:sp>
      <p:sp>
        <p:nvSpPr>
          <p:cNvPr id="27" name="Shape 25"/>
          <p:cNvSpPr/>
          <p:nvPr/>
        </p:nvSpPr>
        <p:spPr>
          <a:xfrm>
            <a:off x="544982" y="5279746"/>
            <a:ext cx="1039673" cy="602590"/>
          </a:xfrm>
          <a:prstGeom prst="rect">
            <a:avLst/>
          </a:prstGeom>
          <a:solidFill>
            <a:srgbClr val="B9D2F7"/>
          </a:solidFill>
          <a:ln/>
        </p:spPr>
        <p:txBody>
          <a:bodyPr/>
          <a:p/>
        </p:txBody>
      </p:sp>
      <p:sp>
        <p:nvSpPr>
          <p:cNvPr id="28" name="Text 26"/>
          <p:cNvSpPr/>
          <p:nvPr/>
        </p:nvSpPr>
        <p:spPr>
          <a:xfrm>
            <a:off x="686714" y="5269687"/>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Tonight you learn these things.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Clothes and colors</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Cash or credit card?</a:t>
            </a:r>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Progress Check at 7:25!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4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400"/>
                                        <p:tgtEl>
                                          <p:spTgt spid="5"/>
                                        </p:tgtEl>
                                      </p:cBhvr>
                                    </p:animEffect>
                                  </p:childTnLst>
                                </p:cTn>
                              </p:par>
                              <p:par>
                                <p:cTn id="42" presetID="10" presetClass="entr" presetSubtype="0" fill="hold"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00"/>
                                        <p:tgtEl>
                                          <p:spTgt spid="13"/>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400"/>
                                        <p:tgtEl>
                                          <p:spTgt spid="6"/>
                                        </p:tgtEl>
                                      </p:cBhvr>
                                    </p:animEffect>
                                  </p:childTnLst>
                                </p:cTn>
                              </p:par>
                              <p:par>
                                <p:cTn id="56" presetID="10" presetClass="entr" presetSubtype="0" fill="hold"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400"/>
                                        <p:tgtEl>
                                          <p:spTgt spid="7"/>
                                        </p:tgtEl>
                                      </p:cBhvr>
                                    </p:animEffect>
                                  </p:childTnLst>
                                </p:cTn>
                              </p:par>
                              <p:par>
                                <p:cTn id="70" presetID="10" presetClass="entr" presetSubtype="0" fill="hold"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400"/>
                                        <p:tgtEl>
                                          <p:spTgt spid="17"/>
                                        </p:tgtEl>
                                      </p:cBhvr>
                                    </p:animEffect>
                                  </p:childTnLst>
                                </p:cTn>
                              </p:par>
                              <p:par>
                                <p:cTn id="73" presetID="10" presetClass="entr" presetSubtype="0" fill="hold"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0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Clock (from Lesson 6) picture" descr="clock (from Lesson 6)"/>
          <p:cNvPicPr>
            <a:picLocks noChangeAspect="1"/>
          </p:cNvPicPr>
          <p:nvPr/>
        </p:nvPicPr>
        <p:blipFill>
          <a:blip r:embed="rIdL7_104"/>
          <a:stretch>
            <a:fillRect/>
          </a:stretch>
        </p:blipFill>
        <p:spPr>
          <a:xfrm>
            <a:off x="6799936" y="2104034"/>
            <a:ext cx="4754880" cy="3328416"/>
          </a:xfrm>
          <a:prstGeom prst="rect">
            <a:avLst/>
          </a:prstGeom>
        </p:spPr>
      </p:pic>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4600" dirty="0" b="1">
                <a:solidFill>
                  <a:srgbClr val="1B2236"/>
                </a:solidFill>
                <a:latin typeface="Lexend Deca" pitchFamily="34" charset="0"/>
                <a:ea typeface="Lexend Deca" pitchFamily="34" charset="-122"/>
                <a:cs typeface="Lexend Deca" pitchFamily="34" charset="-120"/>
              </a:rPr>
              <a:t>Hello + Review</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WARM-UP  ·  6:00</a:t>
            </a:r>
          </a:p>
        </p:txBody>
      </p:sp>
      <p:sp>
        <p:nvSpPr>
          <p:cNvPr id="9" name="Text 7"/>
          <p:cNvSpPr/>
          <p:nvPr/>
        </p:nvSpPr>
        <p:spPr>
          <a:xfrm>
            <a:off x="599846" y="3017520"/>
            <a:ext cx="4846320" cy="868680"/>
          </a:xfrm>
          <a:prstGeom prst="rect">
            <a:avLst/>
          </a:prstGeom>
          <a:noFill/>
          <a:ln/>
        </p:spPr>
        <p:txBody>
          <a:bodyPr wrap="square" lIns="0" tIns="0" rIns="0" bIns="0" rtlCol="0" anchor="t"/>
          <a:lstStyle/>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time is it?</a:t>
            </a:r>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time is English class?</a:t>
            </a:r>
          </a:p>
        </p:txBody>
      </p:sp>
      <p:sp>
        <p:nvSpPr>
          <p:cNvPr id="13" name="Model A"/>
          <p:cNvSpPr/>
          <p:nvPr/>
        </p:nvSpPr>
        <p:spPr>
          <a:xfrm>
            <a:off x="599846" y="4023360"/>
            <a:ext cx="4846320" cy="5029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Is the store open on Sunday?</a:t>
            </a:r>
          </a:p>
        </p:txBody>
      </p:sp>
      <p:sp>
        <p:nvSpPr>
          <p:cNvPr id="14" name="Model B"/>
          <p:cNvSpPr/>
          <p:nvPr/>
        </p:nvSpPr>
        <p:spPr>
          <a:xfrm>
            <a:off x="599846" y="4709160"/>
            <a:ext cx="4846320" cy="146304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B: Yes, it is.</a:t>
            </a:r>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No, it isn't. It's closed.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8640" y="2414015"/>
            <a:ext cx="6163056" cy="603504"/>
          </a:xfrm>
          <a:prstGeom prst="round1Rect">
            <a:avLst>
              <a:gd name="adj" fmla="val 23087"/>
            </a:avLst>
          </a:prstGeom>
          <a:solidFill>
            <a:srgbClr val="8FAFE3"/>
          </a:solidFill>
          <a:ln/>
        </p:spPr>
        <p:txBody>
          <a:bodyPr/>
          <a:p/>
        </p:txBody>
      </p:sp>
      <p:sp>
        <p:nvSpPr>
          <p:cNvPr id="3" name="Shape 1"/>
          <p:cNvSpPr/>
          <p:nvPr/>
        </p:nvSpPr>
        <p:spPr>
          <a:xfrm>
            <a:off x="1583741" y="2414015"/>
            <a:ext cx="5130698" cy="603504"/>
          </a:xfrm>
          <a:prstGeom prst="round1Rect">
            <a:avLst>
              <a:gd name="adj" fmla="val 23087"/>
            </a:avLst>
          </a:prstGeom>
          <a:solidFill>
            <a:srgbClr val="FFFFFF"/>
          </a:solidFill>
          <a:ln/>
        </p:spPr>
        <p:txBody>
          <a:bodyPr/>
          <a:p/>
        </p:txBody>
      </p:sp>
      <p:sp>
        <p:nvSpPr>
          <p:cNvPr id="4" name="Shape 2"/>
          <p:cNvSpPr/>
          <p:nvPr/>
        </p:nvSpPr>
        <p:spPr>
          <a:xfrm>
            <a:off x="1583741" y="3127248"/>
            <a:ext cx="5130698" cy="602590"/>
          </a:xfrm>
          <a:prstGeom prst="round1Rect">
            <a:avLst>
              <a:gd name="adj" fmla="val 23087"/>
            </a:avLst>
          </a:prstGeom>
          <a:solidFill>
            <a:srgbClr val="FFFFFF"/>
          </a:solidFill>
          <a:ln/>
        </p:spPr>
        <p:txBody>
          <a:bodyPr/>
          <a:p/>
        </p:txBody>
      </p:sp>
      <p:sp>
        <p:nvSpPr>
          <p:cNvPr id="5" name="Shape 3"/>
          <p:cNvSpPr/>
          <p:nvPr/>
        </p:nvSpPr>
        <p:spPr>
          <a:xfrm>
            <a:off x="1583741" y="3838651"/>
            <a:ext cx="5130698" cy="602590"/>
          </a:xfrm>
          <a:prstGeom prst="round1Rect">
            <a:avLst>
              <a:gd name="adj" fmla="val 23087"/>
            </a:avLst>
          </a:prstGeom>
          <a:solidFill>
            <a:srgbClr val="FFFFFF"/>
          </a:solidFill>
          <a:ln/>
        </p:spPr>
        <p:txBody>
          <a:bodyPr/>
          <a:p/>
        </p:txBody>
      </p:sp>
      <p:sp>
        <p:nvSpPr>
          <p:cNvPr id="8" name="Text 6"/>
          <p:cNvSpPr/>
          <p:nvPr/>
        </p:nvSpPr>
        <p:spPr>
          <a:xfrm>
            <a:off x="1810512" y="2414015"/>
            <a:ext cx="3246120" cy="603504"/>
          </a:xfrm>
          <a:prstGeom prst="rect">
            <a:avLst/>
          </a:prstGeom>
          <a:noFill/>
          <a:ln/>
        </p:spPr>
        <p:txBody>
          <a:bodyPr wrap="square" rtlCol="0" anchor="ctr"/>
          <a:lstStyle/>
          <a:p>
            <a:pPr algn="l" indent="0" marL="0">
              <a:buNone/>
            </a:pPr>
            <a:r>
              <a:rPr lang="en-US" sz="1800" dirty="0" b="0">
                <a:solidFill>
                  <a:srgbClr val="1B2236"/>
                </a:solidFill>
                <a:latin typeface="Lexend Deca" pitchFamily="34" charset="0"/>
                <a:ea typeface="Lexend Deca" pitchFamily="34" charset="-122"/>
                <a:cs typeface="Lexend Deca" pitchFamily="34" charset="-120"/>
              </a:rPr>
              <a:t>The jacket is $___.</a:t>
            </a:r>
            <a:endParaRPr lang="en-US" sz="1800" dirty="0"/>
          </a:p>
        </p:txBody>
      </p:sp>
      <p:sp>
        <p:nvSpPr>
          <p:cNvPr id="11" name="Text 9"/>
          <p:cNvSpPr/>
          <p:nvPr/>
        </p:nvSpPr>
        <p:spPr>
          <a:xfrm>
            <a:off x="1810512" y="3127248"/>
            <a:ext cx="324612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total is $___.</a:t>
            </a:r>
            <a:endParaRPr lang="en-US" sz="1800" dirty="0"/>
          </a:p>
        </p:txBody>
      </p:sp>
      <p:sp>
        <p:nvSpPr>
          <p:cNvPr id="13" name="Text 11"/>
          <p:cNvSpPr/>
          <p:nvPr/>
        </p:nvSpPr>
        <p:spPr>
          <a:xfrm>
            <a:off x="1810512" y="3838651"/>
            <a:ext cx="324612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change is $___.</a:t>
            </a:r>
            <a:endParaRPr lang="en-US" sz="1800" dirty="0"/>
          </a:p>
        </p:txBody>
      </p:sp>
      <p:sp>
        <p:nvSpPr>
          <p:cNvPr id="19" name="Shape 17"/>
          <p:cNvSpPr/>
          <p:nvPr/>
        </p:nvSpPr>
        <p:spPr>
          <a:xfrm>
            <a:off x="544982" y="2414015"/>
            <a:ext cx="1039673" cy="603504"/>
          </a:xfrm>
          <a:prstGeom prst="rect">
            <a:avLst/>
          </a:prstGeom>
          <a:solidFill>
            <a:srgbClr val="B9D2F7"/>
          </a:solidFill>
          <a:ln/>
        </p:spPr>
        <p:txBody>
          <a:bodyPr/>
          <a:p/>
        </p:txBody>
      </p:sp>
      <p:sp>
        <p:nvSpPr>
          <p:cNvPr id="20" name="Text 18"/>
          <p:cNvSpPr/>
          <p:nvPr/>
        </p:nvSpPr>
        <p:spPr>
          <a:xfrm>
            <a:off x="686714" y="2395727"/>
            <a:ext cx="1109167" cy="585216"/>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1</a:t>
            </a:r>
            <a:endParaRPr lang="en-US" sz="3600" dirty="0"/>
          </a:p>
        </p:txBody>
      </p:sp>
      <p:sp>
        <p:nvSpPr>
          <p:cNvPr id="21" name="Shape 19"/>
          <p:cNvSpPr/>
          <p:nvPr/>
        </p:nvSpPr>
        <p:spPr>
          <a:xfrm>
            <a:off x="544982" y="3127248"/>
            <a:ext cx="1039673" cy="602590"/>
          </a:xfrm>
          <a:prstGeom prst="rect">
            <a:avLst/>
          </a:prstGeom>
          <a:solidFill>
            <a:srgbClr val="B9D2F7"/>
          </a:solidFill>
          <a:ln/>
        </p:spPr>
        <p:txBody>
          <a:bodyPr/>
          <a:p/>
        </p:txBody>
      </p:sp>
      <p:sp>
        <p:nvSpPr>
          <p:cNvPr id="22" name="Text 20"/>
          <p:cNvSpPr/>
          <p:nvPr/>
        </p:nvSpPr>
        <p:spPr>
          <a:xfrm>
            <a:off x="686714" y="3112618"/>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2</a:t>
            </a:r>
            <a:endParaRPr lang="en-US" sz="3200" dirty="0"/>
          </a:p>
        </p:txBody>
      </p:sp>
      <p:sp>
        <p:nvSpPr>
          <p:cNvPr id="23" name="Shape 21"/>
          <p:cNvSpPr/>
          <p:nvPr/>
        </p:nvSpPr>
        <p:spPr>
          <a:xfrm>
            <a:off x="544982" y="3838651"/>
            <a:ext cx="1039673" cy="602590"/>
          </a:xfrm>
          <a:prstGeom prst="rect">
            <a:avLst/>
          </a:prstGeom>
          <a:solidFill>
            <a:srgbClr val="B9D2F7"/>
          </a:solidFill>
          <a:ln/>
        </p:spPr>
        <p:txBody>
          <a:bodyPr/>
          <a:p/>
        </p:txBody>
      </p:sp>
      <p:sp>
        <p:nvSpPr>
          <p:cNvPr id="24" name="Text 22"/>
          <p:cNvSpPr/>
          <p:nvPr/>
        </p:nvSpPr>
        <p:spPr>
          <a:xfrm>
            <a:off x="686714" y="3816706"/>
            <a:ext cx="1109167" cy="585216"/>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3</a:t>
            </a:r>
            <a:endParaRPr lang="en-US" sz="3200" dirty="0"/>
          </a:p>
        </p:txBody>
      </p:sp>
      <p:sp>
        <p:nvSpPr>
          <p:cNvPr id="29" name="Text 27"/>
          <p:cNvSpPr/>
          <p:nvPr/>
        </p:nvSpPr>
        <p:spPr>
          <a:xfrm>
            <a:off x="7634326" y="685800"/>
            <a:ext cx="4229100" cy="9144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Read the Receipt</a:t>
            </a:r>
            <a:endParaRPr lang="en-US" sz="3600" dirty="0"/>
          </a:p>
        </p:txBody>
      </p:sp>
      <p:sp>
        <p:nvSpPr>
          <p:cNvPr id="30" name="Text 28"/>
          <p:cNvSpPr/>
          <p:nvPr/>
        </p:nvSpPr>
        <p:spPr>
          <a:xfrm>
            <a:off x="7751369" y="4800600"/>
            <a:ext cx="3931920" cy="1280160"/>
          </a:xfrm>
          <a:prstGeom prst="rect">
            <a:avLst/>
          </a:prstGeom>
          <a:noFill/>
          <a:ln/>
        </p:spPr>
        <p:txBody>
          <a:bodyPr wrap="square" lIns="0" tIns="0" rIns="0" bIns="0" rtlCol="0" anchor="t"/>
          <a:lstStyle/>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Read. </a:t>
            </a:r>
            <a:r>
              <a:rPr lang="en-US" sz="1900" dirty="0" b="1">
                <a:solidFill>
                  <a:srgbClr val="5B3FC4"/>
                </a:solidFill>
                <a:latin typeface="Lexend Deca" pitchFamily="34" charset="0"/>
                <a:ea typeface="Lexend Deca" pitchFamily="34" charset="-122"/>
                <a:cs typeface="Lexend Deca" pitchFamily="34" charset="-120"/>
              </a:rPr>
              <a:t>Write the price.</a:t>
            </a:r>
          </a:p>
          <a:p>
            <a:pPr algn="l" indent="0" marL="0">
              <a:lnSpc>
                <a:spcPct val="120000"/>
              </a:lnSpc>
              <a:spcAft>
                <a:spcPts val="1400"/>
              </a:spcAft>
              <a:buNone/>
            </a:pPr>
            <a:r>
              <a:rPr lang="en-US" sz="1900" dirty="0" b="0">
                <a:solidFill>
                  <a:srgbClr val="1B2236"/>
                </a:solidFill>
                <a:latin typeface="Lexend Deca" pitchFamily="34" charset="0"/>
                <a:ea typeface="Lexend Deca" pitchFamily="34" charset="-122"/>
                <a:cs typeface="Lexend Deca" pitchFamily="34" charset="-120"/>
              </a:rPr>
              <a:t>Find the TOTAL.</a:t>
            </a:r>
          </a:p>
        </p:txBody>
      </p:sp>
      <p:sp>
        <p:nvSpPr>
          <p:cNvPr id="160" name="Answer 1"/>
          <p:cNvSpPr/>
          <p:nvPr/>
        </p:nvSpPr>
        <p:spPr>
          <a:xfrm>
            <a:off x="5120640" y="2487168"/>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$40.00</a:t>
            </a:r>
          </a:p>
        </p:txBody>
      </p:sp>
      <p:sp>
        <p:nvSpPr>
          <p:cNvPr id="161" name="Answer 2"/>
          <p:cNvSpPr/>
          <p:nvPr/>
        </p:nvSpPr>
        <p:spPr>
          <a:xfrm>
            <a:off x="5120640" y="3200400"/>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$83.00</a:t>
            </a:r>
          </a:p>
        </p:txBody>
      </p:sp>
      <p:sp>
        <p:nvSpPr>
          <p:cNvPr id="162" name="Answer 3"/>
          <p:cNvSpPr/>
          <p:nvPr/>
        </p:nvSpPr>
        <p:spPr>
          <a:xfrm>
            <a:off x="5120640" y="3911803"/>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$17.00</a:t>
            </a:r>
          </a:p>
        </p:txBody>
      </p:sp>
      <p:pic>
        <p:nvPicPr>
          <p:cNvPr id="170" name="Receipt picture" descr="receipt: jacket $40.00, dress $25.00, 2 shirts $18.00, total $83.00, cash $100.00, change $17.00"/>
          <p:cNvPicPr>
            <a:picLocks noChangeAspect="1"/>
          </p:cNvPicPr>
          <p:nvPr/>
        </p:nvPicPr>
        <p:blipFill>
          <a:blip r:embed="rIdL7_104"/>
          <a:stretch>
            <a:fillRect/>
          </a:stretch>
        </p:blipFill>
        <p:spPr>
          <a:xfrm>
            <a:off x="7726679" y="1783080"/>
            <a:ext cx="4023360" cy="281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400"/>
                                        <p:tgtEl>
                                          <p:spTgt spid="1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fade">
                                      <p:cBhvr>
                                        <p:cTn id="12" dur="400"/>
                                        <p:tgtEl>
                                          <p:spTgt spid="1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fade">
                                      <p:cBhvr>
                                        <p:cTn id="17" dur="4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p>
        </p:txBody>
      </p:sp>
      <p:sp>
        <p:nvSpPr>
          <p:cNvPr id="9" name="Shape 7"/>
          <p:cNvSpPr/>
          <p:nvPr/>
        </p:nvSpPr>
        <p:spPr>
          <a:xfrm>
            <a:off x="1121969" y="587045"/>
            <a:ext cx="3557930" cy="1143000"/>
          </a:xfrm>
          <a:prstGeom prst="round1Rect">
            <a:avLst>
              <a:gd name="adj" fmla="val 23087"/>
            </a:avLst>
          </a:prstGeom>
          <a:solidFill>
            <a:srgbClr val="FFFFFF"/>
          </a:solidFill>
          <a:ln/>
        </p:spPr>
        <p:txBody>
          <a:bodyPr/>
          <a:p/>
        </p:txBody>
      </p:sp>
      <p:sp>
        <p:nvSpPr>
          <p:cNvPr id="13" name="Text 11"/>
          <p:cNvSpPr/>
          <p:nvPr/>
        </p:nvSpPr>
        <p:spPr>
          <a:xfrm>
            <a:off x="1325880" y="685800"/>
            <a:ext cx="320040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p>
        </p:txBody>
      </p:sp>
      <p:pic>
        <p:nvPicPr>
          <p:cNvPr id="17" name="Dollar picture" descr="dollar"/>
          <p:cNvPicPr>
            <a:picLocks noChangeAspect="1"/>
          </p:cNvPicPr>
          <p:nvPr/>
        </p:nvPicPr>
        <p:blipFill>
          <a:blip r:embed="rIdL7_114"/>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dollar</a:t>
            </a:r>
          </a:p>
        </p:txBody>
      </p:sp>
      <p:pic>
        <p:nvPicPr>
          <p:cNvPr id="19" name="Cent picture" descr="cent"/>
          <p:cNvPicPr>
            <a:picLocks noChangeAspect="1"/>
          </p:cNvPicPr>
          <p:nvPr/>
        </p:nvPicPr>
        <p:blipFill>
          <a:blip r:embed="rIdL7_114x"/>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cent</a:t>
            </a:r>
          </a:p>
        </p:txBody>
      </p:sp>
      <p:pic>
        <p:nvPicPr>
          <p:cNvPr id="21" name="Coins picture" descr="coins"/>
          <p:cNvPicPr>
            <a:picLocks noChangeAspect="1"/>
          </p:cNvPicPr>
          <p:nvPr/>
        </p:nvPicPr>
        <p:blipFill>
          <a:blip r:embed="rIdL7_114xx"/>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coin</a:t>
            </a:r>
          </a:p>
        </p:txBody>
      </p:sp>
      <p:pic>
        <p:nvPicPr>
          <p:cNvPr id="23" name="Cash picture" descr="cash"/>
          <p:cNvPicPr>
            <a:picLocks noChangeAspect="1"/>
          </p:cNvPicPr>
          <p:nvPr/>
        </p:nvPicPr>
        <p:blipFill>
          <a:blip r:embed="rIdL7_114xxx"/>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cash</a:t>
            </a:r>
          </a:p>
        </p:txBody>
      </p:sp>
      <p:pic>
        <p:nvPicPr>
          <p:cNvPr id="25" name="Credit card picture" descr="credit card"/>
          <p:cNvPicPr>
            <a:picLocks noChangeAspect="1"/>
          </p:cNvPicPr>
          <p:nvPr/>
        </p:nvPicPr>
        <p:blipFill>
          <a:blip r:embed="rIdL7_114xxxx"/>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credit card</a:t>
            </a:r>
          </a:p>
        </p:txBody>
      </p:sp>
      <p:pic>
        <p:nvPicPr>
          <p:cNvPr id="27" name="Receipt picture" descr="receipt"/>
          <p:cNvPicPr>
            <a:picLocks noChangeAspect="1"/>
          </p:cNvPicPr>
          <p:nvPr/>
        </p:nvPicPr>
        <p:blipFill>
          <a:blip r:embed="rIdL7_114xxxxx"/>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receipt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ext 6"/>
          <p:cNvSpPr/>
          <p:nvPr/>
        </p:nvSpPr>
        <p:spPr>
          <a:xfrm>
            <a:off x="5938114" y="594360"/>
            <a:ext cx="5669280" cy="114300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More New Words</a:t>
            </a:r>
          </a:p>
        </p:txBody>
      </p:sp>
      <p:sp>
        <p:nvSpPr>
          <p:cNvPr id="9" name="Shape 7"/>
          <p:cNvSpPr/>
          <p:nvPr/>
        </p:nvSpPr>
        <p:spPr>
          <a:xfrm>
            <a:off x="1121969" y="587045"/>
            <a:ext cx="4106570" cy="1143000"/>
          </a:xfrm>
          <a:prstGeom prst="round1Rect">
            <a:avLst>
              <a:gd name="adj" fmla="val 23087"/>
            </a:avLst>
          </a:prstGeom>
          <a:solidFill>
            <a:srgbClr val="FFFFFF"/>
          </a:solidFill>
          <a:ln/>
        </p:spPr>
        <p:txBody>
          <a:bodyPr/>
          <a:p/>
        </p:txBody>
      </p:sp>
      <p:sp>
        <p:nvSpPr>
          <p:cNvPr id="13" name="Text 11"/>
          <p:cNvSpPr/>
          <p:nvPr/>
        </p:nvSpPr>
        <p:spPr>
          <a:xfrm>
            <a:off x="1325880" y="685800"/>
            <a:ext cx="3749039"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Partners:</a:t>
            </a:r>
          </a:p>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B says.</a:t>
            </a:r>
          </a:p>
        </p:txBody>
      </p:sp>
      <p:pic>
        <p:nvPicPr>
          <p:cNvPr id="17" name="Blue shirt picture" descr="blue shirt"/>
          <p:cNvPicPr>
            <a:picLocks noChangeAspect="1"/>
          </p:cNvPicPr>
          <p:nvPr/>
        </p:nvPicPr>
        <p:blipFill>
          <a:blip r:embed="rIdL7_114"/>
          <a:stretch>
            <a:fillRect/>
          </a:stretch>
        </p:blipFill>
        <p:spPr>
          <a:xfrm>
            <a:off x="950976" y="2286000"/>
            <a:ext cx="1920240" cy="1344168"/>
          </a:xfrm>
          <a:prstGeom prst="rect">
            <a:avLst/>
          </a:prstGeom>
        </p:spPr>
      </p:pic>
      <p:sp>
        <p:nvSpPr>
          <p:cNvPr id="18" name="Word label 1"/>
          <p:cNvSpPr/>
          <p:nvPr/>
        </p:nvSpPr>
        <p:spPr>
          <a:xfrm>
            <a:off x="5394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shirt</a:t>
            </a:r>
          </a:p>
        </p:txBody>
      </p:sp>
      <p:pic>
        <p:nvPicPr>
          <p:cNvPr id="19" name="Black pants picture" descr="black pants"/>
          <p:cNvPicPr>
            <a:picLocks noChangeAspect="1"/>
          </p:cNvPicPr>
          <p:nvPr/>
        </p:nvPicPr>
        <p:blipFill>
          <a:blip r:embed="rIdL7_114x"/>
          <a:stretch>
            <a:fillRect/>
          </a:stretch>
        </p:blipFill>
        <p:spPr>
          <a:xfrm>
            <a:off x="3694176" y="2286000"/>
            <a:ext cx="1920240" cy="1344168"/>
          </a:xfrm>
          <a:prstGeom prst="rect">
            <a:avLst/>
          </a:prstGeom>
        </p:spPr>
      </p:pic>
      <p:sp>
        <p:nvSpPr>
          <p:cNvPr id="20" name="Word label 2"/>
          <p:cNvSpPr/>
          <p:nvPr/>
        </p:nvSpPr>
        <p:spPr>
          <a:xfrm>
            <a:off x="3282696"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pants</a:t>
            </a:r>
          </a:p>
        </p:txBody>
      </p:sp>
      <p:pic>
        <p:nvPicPr>
          <p:cNvPr id="21" name="Red shoes picture" descr="red shoes"/>
          <p:cNvPicPr>
            <a:picLocks noChangeAspect="1"/>
          </p:cNvPicPr>
          <p:nvPr/>
        </p:nvPicPr>
        <p:blipFill>
          <a:blip r:embed="rIdL7_114xx"/>
          <a:stretch>
            <a:fillRect/>
          </a:stretch>
        </p:blipFill>
        <p:spPr>
          <a:xfrm>
            <a:off x="6428232" y="2286000"/>
            <a:ext cx="1920240" cy="1344168"/>
          </a:xfrm>
          <a:prstGeom prst="rect">
            <a:avLst/>
          </a:prstGeom>
        </p:spPr>
      </p:pic>
      <p:sp>
        <p:nvSpPr>
          <p:cNvPr id="22" name="Word label 3"/>
          <p:cNvSpPr/>
          <p:nvPr/>
        </p:nvSpPr>
        <p:spPr>
          <a:xfrm>
            <a:off x="60167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shoes</a:t>
            </a:r>
          </a:p>
        </p:txBody>
      </p:sp>
      <p:pic>
        <p:nvPicPr>
          <p:cNvPr id="23" name="Green jacket picture" descr="green jacket"/>
          <p:cNvPicPr>
            <a:picLocks noChangeAspect="1"/>
          </p:cNvPicPr>
          <p:nvPr/>
        </p:nvPicPr>
        <p:blipFill>
          <a:blip r:embed="rIdL7_114xxx"/>
          <a:stretch>
            <a:fillRect/>
          </a:stretch>
        </p:blipFill>
        <p:spPr>
          <a:xfrm>
            <a:off x="9171432" y="2286000"/>
            <a:ext cx="1920240" cy="1344168"/>
          </a:xfrm>
          <a:prstGeom prst="rect">
            <a:avLst/>
          </a:prstGeom>
        </p:spPr>
      </p:pic>
      <p:sp>
        <p:nvSpPr>
          <p:cNvPr id="24" name="Word label 4"/>
          <p:cNvSpPr/>
          <p:nvPr/>
        </p:nvSpPr>
        <p:spPr>
          <a:xfrm>
            <a:off x="8759952" y="3703320"/>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jacket</a:t>
            </a:r>
          </a:p>
        </p:txBody>
      </p:sp>
      <p:pic>
        <p:nvPicPr>
          <p:cNvPr id="25" name="Yellow dress picture" descr="yellow dress"/>
          <p:cNvPicPr>
            <a:picLocks noChangeAspect="1"/>
          </p:cNvPicPr>
          <p:nvPr/>
        </p:nvPicPr>
        <p:blipFill>
          <a:blip r:embed="rIdL7_114xxxx"/>
          <a:stretch>
            <a:fillRect/>
          </a:stretch>
        </p:blipFill>
        <p:spPr>
          <a:xfrm>
            <a:off x="3685032" y="4315968"/>
            <a:ext cx="1920240" cy="1344168"/>
          </a:xfrm>
          <a:prstGeom prst="rect">
            <a:avLst/>
          </a:prstGeom>
        </p:spPr>
      </p:pic>
      <p:sp>
        <p:nvSpPr>
          <p:cNvPr id="26" name="Word label 5"/>
          <p:cNvSpPr/>
          <p:nvPr/>
        </p:nvSpPr>
        <p:spPr>
          <a:xfrm>
            <a:off x="32735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5B3FC4"/>
                </a:solidFill>
                <a:latin typeface="Lexend Deca" pitchFamily="34" charset="0"/>
                <a:ea typeface="Lexend Deca" pitchFamily="34" charset="-122"/>
                <a:cs typeface="Lexend Deca" pitchFamily="34" charset="-120"/>
              </a:rPr>
              <a:t>★ </a:t>
            </a:r>
            <a:r>
              <a:rPr lang="en-US" sz="1900" dirty="0" b="1">
                <a:solidFill>
                  <a:srgbClr val="1B2236"/>
                </a:solidFill>
                <a:latin typeface="Lexend Deca" pitchFamily="34" charset="0"/>
                <a:ea typeface="Lexend Deca" pitchFamily="34" charset="-122"/>
                <a:cs typeface="Lexend Deca" pitchFamily="34" charset="-120"/>
              </a:rPr>
              <a:t>dress</a:t>
            </a:r>
          </a:p>
        </p:txBody>
      </p:sp>
      <p:pic>
        <p:nvPicPr>
          <p:cNvPr id="27" name="Six colors: red, blue, black, white, green, yellow picture" descr="six colors: red, blue, black, white, green, yellow"/>
          <p:cNvPicPr>
            <a:picLocks noChangeAspect="1"/>
          </p:cNvPicPr>
          <p:nvPr/>
        </p:nvPicPr>
        <p:blipFill>
          <a:blip r:embed="rIdL7_114xxxxx"/>
          <a:stretch>
            <a:fillRect/>
          </a:stretch>
        </p:blipFill>
        <p:spPr>
          <a:xfrm>
            <a:off x="6428232" y="4315968"/>
            <a:ext cx="1920240" cy="1344168"/>
          </a:xfrm>
          <a:prstGeom prst="rect">
            <a:avLst/>
          </a:prstGeom>
        </p:spPr>
      </p:pic>
      <p:sp>
        <p:nvSpPr>
          <p:cNvPr id="28" name="Word label 6"/>
          <p:cNvSpPr/>
          <p:nvPr/>
        </p:nvSpPr>
        <p:spPr>
          <a:xfrm>
            <a:off x="6016752" y="5733288"/>
            <a:ext cx="274320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900" dirty="0" b="1">
                <a:solidFill>
                  <a:srgbClr val="1B2236"/>
                </a:solidFill>
                <a:latin typeface="Lexend Deca" pitchFamily="34" charset="0"/>
                <a:ea typeface="Lexend Deca" pitchFamily="34" charset="-122"/>
                <a:cs typeface="Lexend Deca" pitchFamily="34" charset="-120"/>
              </a:rPr>
              <a:t>colors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4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4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4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00"/>
                                        <p:tgtEl>
                                          <p:spTgt spid="23"/>
                                        </p:tgtEl>
                                      </p:cBhvr>
                                    </p:animEffect>
                                  </p:childTnLst>
                                </p:cTn>
                              </p:par>
                              <p:par>
                                <p:cTn id="32" presetID="10" presetClass="entr" presetSubtype="0"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4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4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4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ext 6"/>
          <p:cNvSpPr/>
          <p:nvPr/>
        </p:nvSpPr>
        <p:spPr>
          <a:xfrm>
            <a:off x="3566160" y="1078992"/>
            <a:ext cx="4114800" cy="157276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 Listen</a:t>
            </a:r>
          </a:p>
        </p:txBody>
      </p:sp>
      <p:sp>
        <p:nvSpPr>
          <p:cNvPr id="10" name="Text 8"/>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Ana is at a clothing store.</a:t>
            </a:r>
          </a:p>
        </p:txBody>
      </p:sp>
      <p:sp>
        <p:nvSpPr>
          <p:cNvPr id="11" name="Text 9"/>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Text 11"/>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Text 13"/>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Shape 15"/>
          <p:cNvSpPr/>
          <p:nvPr/>
        </p:nvSpPr>
        <p:spPr>
          <a:xfrm>
            <a:off x="3503066" y="4928616"/>
            <a:ext cx="4480560" cy="0"/>
          </a:xfrm>
          <a:prstGeom prst="line">
            <a:avLst/>
          </a:prstGeom>
          <a:noFill/>
          <a:ln w="6350">
            <a:solidFill>
              <a:srgbClr val="1B2236"/>
            </a:solidFill>
            <a:prstDash val="solid"/>
          </a:ln>
        </p:spPr>
        <p:txBody>
          <a:bodyPr/>
          <a:p/>
        </p:txBody>
      </p:sp>
      <p:sp>
        <p:nvSpPr>
          <p:cNvPr id="18" name="Shape 16"/>
          <p:cNvSpPr/>
          <p:nvPr/>
        </p:nvSpPr>
        <p:spPr>
          <a:xfrm>
            <a:off x="3503066" y="5733288"/>
            <a:ext cx="4480560" cy="0"/>
          </a:xfrm>
          <a:prstGeom prst="line">
            <a:avLst/>
          </a:prstGeom>
          <a:noFill/>
          <a:ln w="6350">
            <a:solidFill>
              <a:srgbClr val="1B2236"/>
            </a:solidFill>
            <a:prstDash val="solid"/>
          </a:ln>
        </p:spPr>
        <p:txBody>
          <a:bodyPr/>
          <a:p/>
        </p:txBody>
      </p:sp>
      <p:pic>
        <p:nvPicPr>
          <p:cNvPr id="24" name="Cash picture" descr="cash"/>
          <p:cNvPicPr>
            <a:picLocks noChangeAspect="1"/>
          </p:cNvPicPr>
          <p:nvPr/>
        </p:nvPicPr>
        <p:blipFill>
          <a:blip r:embed="rIdL7_106"/>
          <a:stretch>
            <a:fillRect/>
          </a:stretch>
        </p:blipFill>
        <p:spPr>
          <a:xfrm>
            <a:off x="284378" y="1138930"/>
            <a:ext cx="2493568" cy="1745498"/>
          </a:xfrm>
          <a:prstGeom prst="rect">
            <a:avLst/>
          </a:prstGeom>
        </p:spPr>
      </p:pic>
      <p:sp>
        <p:nvSpPr>
          <p:cNvPr id="25" name="Highlight 1"/>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1"/>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1: The colors.</a:t>
            </a:r>
          </a:p>
        </p:txBody>
      </p:sp>
      <p:sp>
        <p:nvSpPr>
          <p:cNvPr id="29" name="Highlight 2"/>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Helper 2"/>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2: The prices.</a:t>
            </a:r>
          </a:p>
        </p:txBody>
      </p:sp>
      <p:sp>
        <p:nvSpPr>
          <p:cNvPr id="33" name="Highlight 3"/>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Helper 3"/>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Listen 3: Check and write.</a:t>
            </a:r>
          </a:p>
        </p:txBody>
      </p:sp>
      <p:sp>
        <p:nvSpPr>
          <p:cNvPr id="37" name="Order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Say it!</a:t>
            </a:r>
          </a:p>
        </p:txBody>
      </p:sp>
      <p:sp>
        <p:nvSpPr>
          <p:cNvPr id="39" name="Step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How much is this shirt?</a:t>
            </a:r>
          </a:p>
        </p:txBody>
      </p:sp>
      <p:sp>
        <p:nvSpPr>
          <p:cNvPr id="41" name="Step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Cash or credit card?</a:t>
            </a:r>
          </a:p>
        </p:txBody>
      </p:sp>
      <p:sp>
        <p:nvSpPr>
          <p:cNvPr id="43" name="Step 3"/>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Can I have the receipt, please?</a:t>
            </a:r>
          </a:p>
        </p:txBody>
      </p:sp>
      <p:sp>
        <p:nvSpPr>
          <p:cNvPr id="46" name="Example"/>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a:solidFill>
                  <a:srgbClr val="1B2236"/>
                </a:solidFill>
                <a:latin typeface="Lexend Deca" pitchFamily="34" charset="0"/>
                <a:ea typeface="Lexend Deca" pitchFamily="34" charset="-122"/>
                <a:cs typeface="Lexend Deca" pitchFamily="34" charset="-120"/>
              </a:rPr>
              <a:t>Listen and </a:t>
            </a:r>
            <a:r>
              <a:rPr lang="en-US" sz="2200" dirty="0" b="1">
                <a:solidFill>
                  <a:srgbClr val="5B3FC4"/>
                </a:solidFill>
                <a:latin typeface="Lexend Deca" pitchFamily="34" charset="0"/>
                <a:ea typeface="Lexend Deca" pitchFamily="34" charset="-122"/>
                <a:cs typeface="Lexend Deca" pitchFamily="34" charset="-120"/>
              </a:rPr>
              <a:t>repeat.</a:t>
            </a:r>
          </a:p>
        </p:txBody>
      </p:sp>
      <p:pic>
        <p:nvPicPr>
          <p:cNvPr id="90" name="Credit card picture" descr="credit card"/>
          <p:cNvPicPr>
            <a:picLocks noChangeAspect="1"/>
          </p:cNvPicPr>
          <p:nvPr/>
        </p:nvPicPr>
        <p:blipFill>
          <a:blip r:embed="rIdL7_106x"/>
          <a:stretch>
            <a:fillRect/>
          </a:stretch>
        </p:blipFill>
        <p:spPr>
          <a:xfrm>
            <a:off x="284378" y="3973570"/>
            <a:ext cx="2493568" cy="17454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4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400"/>
                                        <p:tgtEl>
                                          <p:spTgt spid="33"/>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8266176" y="3721608"/>
            <a:ext cx="3566160" cy="2331720"/>
          </a:xfrm>
          <a:prstGeom prst="round1Rect">
            <a:avLst>
              <a:gd name="adj" fmla="val 23087"/>
            </a:avLst>
          </a:prstGeom>
          <a:solidFill>
            <a:srgbClr val="8FAFE3"/>
          </a:solidFill>
          <a:ln/>
        </p:spPr>
        <p:txBody>
          <a:bodyPr/>
          <a:p/>
        </p:txBody>
      </p:sp>
      <p:sp>
        <p:nvSpPr>
          <p:cNvPr id="3" name="Shape 1"/>
          <p:cNvSpPr/>
          <p:nvPr/>
        </p:nvSpPr>
        <p:spPr>
          <a:xfrm>
            <a:off x="8229600" y="3657600"/>
            <a:ext cx="3566160" cy="2331720"/>
          </a:xfrm>
          <a:prstGeom prst="round1Rect">
            <a:avLst>
              <a:gd name="adj" fmla="val 23087"/>
            </a:avLst>
          </a:prstGeom>
          <a:solidFill>
            <a:srgbClr val="FFFFFF"/>
          </a:solidFill>
          <a:ln/>
        </p:spPr>
        <p:txBody>
          <a:bodyPr/>
          <a:p/>
        </p:txBody>
      </p:sp>
      <p:sp>
        <p:nvSpPr>
          <p:cNvPr id="8" name="Text 6"/>
          <p:cNvSpPr/>
          <p:nvPr/>
        </p:nvSpPr>
        <p:spPr>
          <a:xfrm>
            <a:off x="8412480" y="3794760"/>
            <a:ext cx="3200400" cy="731520"/>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Your change is $8.</a:t>
            </a:r>
          </a:p>
        </p:txBody>
      </p:sp>
      <p:sp>
        <p:nvSpPr>
          <p:cNvPr id="9" name="Text 7"/>
          <p:cNvSpPr/>
          <p:nvPr/>
        </p:nvSpPr>
        <p:spPr>
          <a:xfrm>
            <a:off x="8412480" y="4572000"/>
            <a:ext cx="3200400" cy="1371600"/>
          </a:xfrm>
          <a:prstGeom prst="rect">
            <a:avLst/>
          </a:prstGeom>
          <a:noFill/>
          <a:ln/>
        </p:spPr>
        <p:txBody>
          <a:bodyPr wrap="square" lIns="0" tIns="0" rIns="0" bIns="0"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Thank you. Can I have the receipt, please?</a:t>
            </a:r>
          </a:p>
        </p:txBody>
      </p:sp>
      <p:sp>
        <p:nvSpPr>
          <p:cNvPr id="29" name="Text 27"/>
          <p:cNvSpPr/>
          <p:nvPr/>
        </p:nvSpPr>
        <p:spPr>
          <a:xfrm>
            <a:off x="8229600" y="640080"/>
            <a:ext cx="3657600" cy="822960"/>
          </a:xfrm>
          <a:prstGeom prst="rect">
            <a:avLst/>
          </a:prstGeom>
          <a:noFill/>
          <a:ln/>
        </p:spPr>
        <p:txBody>
          <a:bodyPr wrap="square" rtlCol="0" anchor="b"/>
          <a:lstStyle/>
          <a:p>
            <a:pPr algn="l" indent="0" marL="0">
              <a:buNone/>
            </a:pPr>
            <a:r>
              <a:rPr lang="en-US" sz="3200" dirty="0" b="1">
                <a:solidFill>
                  <a:srgbClr val="1B2236"/>
                </a:solidFill>
                <a:latin typeface="Lexend Deca" pitchFamily="34" charset="0"/>
                <a:ea typeface="Lexend Deca" pitchFamily="34" charset="-122"/>
                <a:cs typeface="Lexend Deca" pitchFamily="34" charset="-120"/>
              </a:rPr>
              <a:t>Grammar Box 5</a:t>
            </a:r>
          </a:p>
        </p:txBody>
      </p:sp>
      <p:sp>
        <p:nvSpPr>
          <p:cNvPr id="30" name="Text 28"/>
          <p:cNvSpPr/>
          <p:nvPr/>
        </p:nvSpPr>
        <p:spPr>
          <a:xfrm>
            <a:off x="8229600" y="1554480"/>
            <a:ext cx="3657600" cy="173736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Cashier asks.</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Shopper answers.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switch.</a:t>
            </a:r>
          </a:p>
        </p:txBody>
      </p:sp>
      <p:pic>
        <p:nvPicPr>
          <p:cNvPr id="60" name="Cash picture" descr="cash: bills and coins"/>
          <p:cNvPicPr>
            <a:picLocks noChangeAspect="1"/>
          </p:cNvPicPr>
          <p:nvPr/>
        </p:nvPicPr>
        <p:blipFill>
          <a:blip r:embed="rIdL7_104"/>
          <a:stretch>
            <a:fillRect/>
          </a:stretch>
        </p:blipFill>
        <p:spPr>
          <a:xfrm>
            <a:off x="1645919" y="502920"/>
            <a:ext cx="5029200" cy="3520440"/>
          </a:xfrm>
          <a:prstGeom prst="rect">
            <a:avLst/>
          </a:prstGeom>
        </p:spPr>
      </p:pic>
      <p:sp>
        <p:nvSpPr>
          <p:cNvPr id="34" name="Answer 1"/>
          <p:cNvSpPr/>
          <p:nvPr/>
        </p:nvSpPr>
        <p:spPr>
          <a:xfrm>
            <a:off x="548640" y="5074920"/>
            <a:ext cx="7315200" cy="77724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Cash, please. </a:t>
            </a:r>
            <a:r>
              <a:rPr lang="en-US" sz="2800" dirty="0" b="1">
                <a:solidFill>
                  <a:srgbClr val="5B3FC4"/>
                </a:solidFill>
                <a:latin typeface="Lexend Deca" pitchFamily="34" charset="0"/>
                <a:ea typeface="Lexend Deca" pitchFamily="34" charset="-122"/>
                <a:cs typeface="Lexend Deca" pitchFamily="34" charset="-120"/>
              </a:rPr>
              <a:t>Here's $50.</a:t>
            </a:r>
          </a:p>
        </p:txBody>
      </p:sp>
      <p:sp>
        <p:nvSpPr>
          <p:cNvPr id="130" name="Preview question"/>
          <p:cNvSpPr/>
          <p:nvPr/>
        </p:nvSpPr>
        <p:spPr>
          <a:xfrm>
            <a:off x="548640" y="4251960"/>
            <a:ext cx="7315200" cy="685800"/>
          </a:xfrm>
          <a:prstGeom prst="rect">
            <a:avLst/>
          </a:prstGeom>
          <a:noFill/>
          <a:ln/>
        </p:spPr>
        <p:txBody>
          <a:bodyPr wrap="square" lIns="0" tIns="0" rIns="0" bIns="0" rtlCol="0" anchor="t"/>
          <a:lstStyle/>
          <a:p>
            <a:pPr algn="l" indent="0" marL="0">
              <a:buNone/>
            </a:pPr>
            <a:r>
              <a:rPr lang="en-US" sz="2800" dirty="0" b="1">
                <a:solidFill>
                  <a:srgbClr val="1B2236"/>
                </a:solidFill>
                <a:latin typeface="Lexend Deca" pitchFamily="34" charset="0"/>
                <a:ea typeface="Lexend Deca" pitchFamily="34" charset="-122"/>
                <a:cs typeface="Lexend Deca" pitchFamily="34" charset="-120"/>
              </a:rPr>
              <a:t>That's $42. Cash or credit card?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Blue shirt picture" descr="blue shirt"/>
          <p:cNvPicPr>
            <a:picLocks noChangeAspect="1"/>
          </p:cNvPicPr>
          <p:nvPr/>
        </p:nvPicPr>
        <p:blipFill>
          <a:blip r:embed="rIdL7_106"/>
          <a:stretch>
            <a:fillRect/>
          </a:stretch>
        </p:blipFill>
        <p:spPr>
          <a:xfrm>
            <a:off x="182880" y="811530"/>
            <a:ext cx="3429000" cy="2400300"/>
          </a:xfrm>
          <a:prstGeom prst="rect">
            <a:avLst/>
          </a:prstGeom>
        </p:spPr>
      </p:pic>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Boxes 1 + 2</a:t>
            </a:r>
          </a:p>
          <a:p>
            <a:pPr algn="l" indent="0" marL="0">
              <a:spcAft>
                <a:spcPts val="400"/>
              </a:spcAft>
              <a:buNone/>
            </a:pPr>
            <a:r>
              <a:rPr lang="en-US" sz="3000" dirty="0" b="1">
                <a:solidFill>
                  <a:srgbClr val="1B2236"/>
                </a:solidFill>
                <a:latin typeface="Lexend Deca" pitchFamily="34" charset="0"/>
                <a:ea typeface="Lexend Deca" pitchFamily="34" charset="-122"/>
                <a:cs typeface="Lexend Deca" pitchFamily="34" charset="-120"/>
              </a:rPr>
              <a:t>How much is it?</a:t>
            </a:r>
          </a:p>
        </p:txBody>
      </p:sp>
      <p:sp>
        <p:nvSpPr>
          <p:cNvPr id="8" name="Text 6"/>
          <p:cNvSpPr/>
          <p:nvPr/>
        </p:nvSpPr>
        <p:spPr>
          <a:xfrm>
            <a:off x="516636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a:p>
        </p:txBody>
      </p:sp>
      <p:sp>
        <p:nvSpPr>
          <p:cNvPr id="11" name="Text 9"/>
          <p:cNvSpPr/>
          <p:nvPr/>
        </p:nvSpPr>
        <p:spPr>
          <a:xfrm>
            <a:off x="8321040" y="219456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a:p>
        </p:txBody>
      </p:sp>
      <p:sp>
        <p:nvSpPr>
          <p:cNvPr id="20" name="Question 1"/>
          <p:cNvSpPr/>
          <p:nvPr/>
        </p:nvSpPr>
        <p:spPr>
          <a:xfrm>
            <a:off x="5138928" y="2697480"/>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a:t>
            </a:r>
            <a:r>
              <a:rPr lang="en-US" sz="2000" dirty="0" b="1">
                <a:solidFill>
                  <a:srgbClr val="5B3FC4"/>
                </a:solidFill>
                <a:latin typeface="Lexend Deca" pitchFamily="34" charset="0"/>
                <a:ea typeface="Lexend Deca" pitchFamily="34" charset="-122"/>
                <a:cs typeface="Lexend Deca" pitchFamily="34" charset="-120"/>
              </a:rPr>
              <a:t>is</a:t>
            </a:r>
            <a:r>
              <a:rPr lang="en-US" sz="2000" dirty="0" b="1">
                <a:solidFill>
                  <a:srgbClr val="1B2236"/>
                </a:solidFill>
                <a:latin typeface="Lexend Deca" pitchFamily="34" charset="0"/>
                <a:ea typeface="Lexend Deca" pitchFamily="34" charset="-122"/>
                <a:cs typeface="Lexend Deca" pitchFamily="34" charset="-120"/>
              </a:rPr>
              <a:t> this shirt?</a:t>
            </a:r>
          </a:p>
        </p:txBody>
      </p:sp>
      <p:sp>
        <p:nvSpPr>
          <p:cNvPr id="22" name="Answer bg 1"/>
          <p:cNvSpPr/>
          <p:nvPr/>
        </p:nvSpPr>
        <p:spPr>
          <a:xfrm>
            <a:off x="8321040" y="2697480"/>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321040" y="2697480"/>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$12.</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twelve dollars</a:t>
            </a:r>
          </a:p>
        </p:txBody>
      </p:sp>
      <p:sp>
        <p:nvSpPr>
          <p:cNvPr id="25" name="Question 2"/>
          <p:cNvSpPr/>
          <p:nvPr/>
        </p:nvSpPr>
        <p:spPr>
          <a:xfrm>
            <a:off x="5138928" y="3675888"/>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a:t>
            </a:r>
            <a:r>
              <a:rPr lang="en-US" sz="2000" dirty="0" b="1">
                <a:solidFill>
                  <a:srgbClr val="5B3FC4"/>
                </a:solidFill>
                <a:latin typeface="Lexend Deca" pitchFamily="34" charset="0"/>
                <a:ea typeface="Lexend Deca" pitchFamily="34" charset="-122"/>
                <a:cs typeface="Lexend Deca" pitchFamily="34" charset="-120"/>
              </a:rPr>
              <a:t>is</a:t>
            </a:r>
            <a:r>
              <a:rPr lang="en-US" sz="2000" dirty="0" b="1">
                <a:solidFill>
                  <a:srgbClr val="1B2236"/>
                </a:solidFill>
                <a:latin typeface="Lexend Deca" pitchFamily="34" charset="0"/>
                <a:ea typeface="Lexend Deca" pitchFamily="34" charset="-122"/>
                <a:cs typeface="Lexend Deca" pitchFamily="34" charset="-120"/>
              </a:rPr>
              <a:t> that dress?</a:t>
            </a:r>
          </a:p>
        </p:txBody>
      </p:sp>
      <p:sp>
        <p:nvSpPr>
          <p:cNvPr id="27" name="Answer bg 2"/>
          <p:cNvSpPr/>
          <p:nvPr/>
        </p:nvSpPr>
        <p:spPr>
          <a:xfrm>
            <a:off x="8321040" y="3675888"/>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321040" y="3675888"/>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It's </a:t>
            </a:r>
            <a:r>
              <a:rPr lang="en-US" sz="1900" dirty="0" b="1">
                <a:solidFill>
                  <a:srgbClr val="5B3FC4"/>
                </a:solidFill>
                <a:latin typeface="Lexend Deca" pitchFamily="34" charset="0"/>
                <a:ea typeface="Lexend Deca" pitchFamily="34" charset="-122"/>
                <a:cs typeface="Lexend Deca" pitchFamily="34" charset="-120"/>
              </a:rPr>
              <a:t>$25.</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twenty-five dollars</a:t>
            </a:r>
          </a:p>
        </p:txBody>
      </p:sp>
      <p:sp>
        <p:nvSpPr>
          <p:cNvPr id="72" name="Answer bg 3"/>
          <p:cNvSpPr/>
          <p:nvPr/>
        </p:nvSpPr>
        <p:spPr>
          <a:xfrm>
            <a:off x="8321040" y="4654296"/>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2" name="Answer 3"/>
          <p:cNvSpPr/>
          <p:nvPr/>
        </p:nvSpPr>
        <p:spPr>
          <a:xfrm>
            <a:off x="8321040" y="4654296"/>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They're </a:t>
            </a:r>
            <a:r>
              <a:rPr lang="en-US" sz="1900" dirty="0" b="1">
                <a:solidFill>
                  <a:srgbClr val="5B3FC4"/>
                </a:solidFill>
                <a:latin typeface="Lexend Deca" pitchFamily="34" charset="0"/>
                <a:ea typeface="Lexend Deca" pitchFamily="34" charset="-122"/>
                <a:cs typeface="Lexend Deca" pitchFamily="34" charset="-120"/>
              </a:rPr>
              <a:t>$30.</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thirty dollars</a:t>
            </a:r>
          </a:p>
        </p:txBody>
      </p:sp>
      <p:sp>
        <p:nvSpPr>
          <p:cNvPr id="73" name="Answer bg 4"/>
          <p:cNvSpPr/>
          <p:nvPr/>
        </p:nvSpPr>
        <p:spPr>
          <a:xfrm>
            <a:off x="8321040" y="5632704"/>
            <a:ext cx="35204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83" name="Answer 4"/>
          <p:cNvSpPr/>
          <p:nvPr/>
        </p:nvSpPr>
        <p:spPr>
          <a:xfrm>
            <a:off x="8321040" y="5632704"/>
            <a:ext cx="3520440" cy="841248"/>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They're </a:t>
            </a:r>
            <a:r>
              <a:rPr lang="en-US" sz="1900" dirty="0" b="1">
                <a:solidFill>
                  <a:srgbClr val="5B3FC4"/>
                </a:solidFill>
                <a:latin typeface="Lexend Deca" pitchFamily="34" charset="0"/>
                <a:ea typeface="Lexend Deca" pitchFamily="34" charset="-122"/>
                <a:cs typeface="Lexend Deca" pitchFamily="34" charset="-120"/>
              </a:rPr>
              <a:t>$18.</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eighteen dollars</a:t>
            </a:r>
          </a:p>
        </p:txBody>
      </p:sp>
      <p:sp>
        <p:nvSpPr>
          <p:cNvPr id="93" name="Question 4"/>
          <p:cNvSpPr/>
          <p:nvPr/>
        </p:nvSpPr>
        <p:spPr>
          <a:xfrm>
            <a:off x="5138928" y="5632704"/>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a:t>
            </a: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those pants?</a:t>
            </a:r>
          </a:p>
        </p:txBody>
      </p:sp>
      <p:sp>
        <p:nvSpPr>
          <p:cNvPr id="92" name="Question 3"/>
          <p:cNvSpPr/>
          <p:nvPr/>
        </p:nvSpPr>
        <p:spPr>
          <a:xfrm>
            <a:off x="5138928" y="4654296"/>
            <a:ext cx="3063240" cy="84124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a:t>
            </a: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these shoes?</a:t>
            </a:r>
          </a:p>
        </p:txBody>
      </p:sp>
      <p:pic>
        <p:nvPicPr>
          <p:cNvPr id="95" name="Black shoes picture" descr="black shoes"/>
          <p:cNvPicPr>
            <a:picLocks noChangeAspect="1"/>
          </p:cNvPicPr>
          <p:nvPr/>
        </p:nvPicPr>
        <p:blipFill>
          <a:blip r:embed="rIdL7_106x"/>
          <a:stretch>
            <a:fillRect/>
          </a:stretch>
        </p:blipFill>
        <p:spPr>
          <a:xfrm>
            <a:off x="182880" y="3646170"/>
            <a:ext cx="3429000" cy="240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par>
                                <p:cTn id="16" presetID="10" presetClass="entr" presetSubtype="0" fill="hold"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400"/>
                                        <p:tgtEl>
                                          <p:spTgt spid="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400"/>
                                        <p:tgtEl>
                                          <p:spTgt spid="72"/>
                                        </p:tgtEl>
                                      </p:cBhvr>
                                    </p:animEffect>
                                  </p:childTnLst>
                                </p:cTn>
                              </p:par>
                              <p:par>
                                <p:cTn id="24" presetID="10" presetClass="entr" presetSubtype="0" fill="hold" nodeType="withEffect">
                                  <p:stCondLst>
                                    <p:cond delay="0"/>
                                  </p:stCondLst>
                                  <p:childTnLst>
                                    <p:set>
                                      <p:cBhvr>
                                        <p:cTn id="25" dur="1" fill="hold">
                                          <p:stCondLst>
                                            <p:cond delay="0"/>
                                          </p:stCondLst>
                                        </p:cTn>
                                        <p:tgtEl>
                                          <p:spTgt spid="82"/>
                                        </p:tgtEl>
                                        <p:attrNameLst>
                                          <p:attrName>style.visibility</p:attrName>
                                        </p:attrNameLst>
                                      </p:cBhvr>
                                      <p:to>
                                        <p:strVal val="visible"/>
                                      </p:to>
                                    </p:set>
                                    <p:animEffect transition="in" filter="fade">
                                      <p:cBhvr>
                                        <p:cTn id="26" dur="400"/>
                                        <p:tgtEl>
                                          <p:spTgt spid="8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p:cTn id="31" dur="400"/>
                                        <p:tgtEl>
                                          <p:spTgt spid="73"/>
                                        </p:tgtEl>
                                      </p:cBhvr>
                                    </p:animEffect>
                                  </p:childTnLst>
                                </p:cTn>
                              </p:par>
                              <p:par>
                                <p:cTn id="32" presetID="10" presetClass="entr" presetSubtype="0" fill="hold" nodeType="withEffect">
                                  <p:stCondLst>
                                    <p:cond delay="0"/>
                                  </p:stCondLst>
                                  <p:childTnLst>
                                    <p:set>
                                      <p:cBhvr>
                                        <p:cTn id="33" dur="1" fill="hold">
                                          <p:stCondLst>
                                            <p:cond delay="0"/>
                                          </p:stCondLst>
                                        </p:cTn>
                                        <p:tgtEl>
                                          <p:spTgt spid="83"/>
                                        </p:tgtEl>
                                        <p:attrNameLst>
                                          <p:attrName>style.visibility</p:attrName>
                                        </p:attrNameLst>
                                      </p:cBhvr>
                                      <p:to>
                                        <p:strVal val="visible"/>
                                      </p:to>
                                    </p:set>
                                    <p:animEffect transition="in" filter="fade">
                                      <p:cBhvr>
                                        <p:cTn id="34"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6742786" y="3649370"/>
            <a:ext cx="4912157" cy="2561234"/>
          </a:xfrm>
          <a:prstGeom prst="round1Rect">
            <a:avLst>
              <a:gd name="adj" fmla="val 23087"/>
            </a:avLst>
          </a:prstGeom>
          <a:solidFill>
            <a:srgbClr val="B9D2F7"/>
          </a:solidFill>
          <a:ln w="76200">
            <a:solidFill>
              <a:srgbClr val="FFFFFF"/>
            </a:solidFill>
            <a:prstDash val="solid"/>
          </a:ln>
        </p:spPr>
        <p:txBody>
          <a:bodyPr/>
          <a:p/>
        </p:txBody>
      </p:sp>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40" name="Optional shadow"/>
          <p:cNvSpPr/>
          <p:nvPr/>
        </p:nvSpPr>
        <p:spPr>
          <a:xfrm>
            <a:off x="6709867" y="1350569"/>
            <a:ext cx="4937760" cy="2011680"/>
          </a:xfrm>
          <a:prstGeom prst="roundRect">
            <a:avLst>
              <a:gd name="adj" fmla="val 16667"/>
            </a:avLst>
          </a:prstGeom>
          <a:solidFill>
            <a:srgbClr val="8FAFE3"/>
          </a:solidFill>
          <a:ln/>
        </p:spPr>
        <p:txBody>
          <a:bodyPr/>
          <a:p/>
        </p:txBody>
      </p:sp>
      <p:sp>
        <p:nvSpPr>
          <p:cNvPr id="41" name="Optional card"/>
          <p:cNvSpPr/>
          <p:nvPr/>
        </p:nvSpPr>
        <p:spPr>
          <a:xfrm>
            <a:off x="6742786" y="1286561"/>
            <a:ext cx="4937760" cy="2011680"/>
          </a:xfrm>
          <a:prstGeom prst="roundRect">
            <a:avLst>
              <a:gd name="adj" fmla="val 16667"/>
            </a:avLst>
          </a:prstGeom>
          <a:solidFill>
            <a:srgbClr val="FFFFFF"/>
          </a:solidFill>
          <a:ln/>
        </p:spPr>
        <p:txBody>
          <a:bodyPr/>
          <a:p/>
        </p:txBody>
      </p:sp>
      <p:sp>
        <p:nvSpPr>
          <p:cNvPr id="42" name="Optional text"/>
          <p:cNvSpPr/>
          <p:nvPr/>
        </p:nvSpPr>
        <p:spPr>
          <a:xfrm>
            <a:off x="6949440" y="1371600"/>
            <a:ext cx="4572000" cy="182880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Colors</a:t>
            </a:r>
          </a:p>
          <a:p>
            <a:pPr algn="l" indent="0" marL="0">
              <a:buNone/>
            </a:pPr>
            <a:r>
              <a:rPr lang="en-US" sz="2000" dirty="0" b="1">
                <a:solidFill>
                  <a:srgbClr val="5B3FC4"/>
                </a:solidFill>
                <a:latin typeface="Lexend Deca" pitchFamily="34" charset="0"/>
                <a:ea typeface="Lexend Deca" pitchFamily="34" charset="-122"/>
                <a:cs typeface="Lexend Deca" pitchFamily="34" charset="-120"/>
              </a:rPr>
              <a:t>red · blue · black</a:t>
            </a:r>
          </a:p>
          <a:p>
            <a:pPr algn="l" indent="0" marL="0">
              <a:buNone/>
            </a:pPr>
            <a:r>
              <a:rPr lang="en-US" sz="2000" dirty="0" b="1">
                <a:solidFill>
                  <a:srgbClr val="5B3FC4"/>
                </a:solidFill>
                <a:latin typeface="Lexend Deca" pitchFamily="34" charset="0"/>
                <a:ea typeface="Lexend Deca" pitchFamily="34" charset="-122"/>
                <a:cs typeface="Lexend Deca" pitchFamily="34" charset="-120"/>
              </a:rPr>
              <a:t>white · green · yellow</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Colors never add </a:t>
            </a:r>
            <a:r>
              <a:rPr lang="en-US" sz="2000" dirty="0" b="1">
                <a:solidFill>
                  <a:srgbClr val="5B3FC4"/>
                </a:solidFill>
                <a:latin typeface="Lexend Deca" pitchFamily="34" charset="0"/>
                <a:ea typeface="Lexend Deca" pitchFamily="34" charset="-122"/>
                <a:cs typeface="Lexend Deca" pitchFamily="34" charset="-120"/>
              </a:rPr>
              <a:t>-s</a:t>
            </a:r>
            <a:r>
              <a:rPr lang="en-US" sz="2000" dirty="0" b="0">
                <a:solidFill>
                  <a:srgbClr val="1B2236"/>
                </a:solidFill>
                <a:latin typeface="Lexend Deca" pitchFamily="34" charset="0"/>
                <a:ea typeface="Lexend Deca" pitchFamily="34" charset="-122"/>
                <a:cs typeface="Lexend Deca" pitchFamily="34" charset="-120"/>
              </a:rPr>
              <a:t>.</a:t>
            </a:r>
          </a:p>
        </p:txBody>
      </p:sp>
      <p:sp>
        <p:nvSpPr>
          <p:cNvPr id="7" name="Text 5"/>
          <p:cNvSpPr/>
          <p:nvPr/>
        </p:nvSpPr>
        <p:spPr>
          <a:xfrm>
            <a:off x="832104" y="1371600"/>
            <a:ext cx="5257800" cy="141732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4</a:t>
            </a:r>
          </a:p>
          <a:p>
            <a:pPr algn="l" indent="0" marL="0">
              <a:buNone/>
            </a:pPr>
            <a:r>
              <a:rPr lang="en-US" sz="2800" dirty="0" b="1">
                <a:solidFill>
                  <a:srgbClr val="1B2236"/>
                </a:solidFill>
                <a:latin typeface="Lexend Deca" pitchFamily="34" charset="0"/>
                <a:ea typeface="Lexend Deca" pitchFamily="34" charset="-122"/>
                <a:cs typeface="Lexend Deca" pitchFamily="34" charset="-120"/>
              </a:rPr>
              <a:t>Color + Noun</a:t>
            </a:r>
          </a:p>
        </p:txBody>
      </p:sp>
      <p:sp>
        <p:nvSpPr>
          <p:cNvPr id="8" name="Shape 6"/>
          <p:cNvSpPr/>
          <p:nvPr/>
        </p:nvSpPr>
        <p:spPr>
          <a:xfrm>
            <a:off x="1305763" y="3649370"/>
            <a:ext cx="4790542" cy="2599639"/>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DON'T SAY</a:t>
            </a:r>
            <a:endParaRPr lang="en-US" sz="2000" dirty="0"/>
          </a:p>
        </p:txBody>
      </p:sp>
      <p:sp>
        <p:nvSpPr>
          <p:cNvPr id="20" name="A head"/>
          <p:cNvSpPr/>
          <p:nvPr/>
        </p:nvSpPr>
        <p:spPr>
          <a:xfrm>
            <a:off x="7040880" y="379476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a:p>
        </p:txBody>
      </p:sp>
      <p:sp>
        <p:nvSpPr>
          <p:cNvPr id="21" name="Highlight 1"/>
          <p:cNvSpPr/>
          <p:nvPr/>
        </p:nvSpPr>
        <p:spPr>
          <a:xfrm>
            <a:off x="1481328" y="44531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43159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1</a:t>
            </a:r>
          </a:p>
        </p:txBody>
      </p:sp>
      <p:sp>
        <p:nvSpPr>
          <p:cNvPr id="23" name="Question 1"/>
          <p:cNvSpPr/>
          <p:nvPr/>
        </p:nvSpPr>
        <p:spPr>
          <a:xfrm>
            <a:off x="2944368" y="43159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 shirt blue</a:t>
            </a:r>
          </a:p>
        </p:txBody>
      </p:sp>
      <p:sp>
        <p:nvSpPr>
          <p:cNvPr id="25" name="Answer bg 1"/>
          <p:cNvSpPr/>
          <p:nvPr/>
        </p:nvSpPr>
        <p:spPr>
          <a:xfrm>
            <a:off x="6949440" y="43342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Answer 1"/>
          <p:cNvSpPr/>
          <p:nvPr/>
        </p:nvSpPr>
        <p:spPr>
          <a:xfrm>
            <a:off x="6949440" y="43159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0">
                <a:solidFill>
                  <a:srgbClr val="1B2236"/>
                </a:solidFill>
                <a:latin typeface="Lexend Deca" pitchFamily="34" charset="0"/>
                <a:ea typeface="Lexend Deca" pitchFamily="34" charset="-122"/>
                <a:cs typeface="Lexend Deca" pitchFamily="34" charset="-120"/>
              </a:rPr>
              <a:t>a </a:t>
            </a:r>
            <a:r>
              <a:rPr lang="en-US" sz="2000" dirty="0" b="1">
                <a:solidFill>
                  <a:srgbClr val="5B3FC4"/>
                </a:solidFill>
                <a:latin typeface="Lexend Deca" pitchFamily="34" charset="0"/>
                <a:ea typeface="Lexend Deca" pitchFamily="34" charset="-122"/>
                <a:cs typeface="Lexend Deca" pitchFamily="34" charset="-120"/>
              </a:rPr>
              <a:t>blue</a:t>
            </a:r>
            <a:r>
              <a:rPr lang="en-US" sz="2000" dirty="0" b="1">
                <a:solidFill>
                  <a:srgbClr val="1B2236"/>
                </a:solidFill>
                <a:latin typeface="Lexend Deca" pitchFamily="34" charset="0"/>
                <a:ea typeface="Lexend Deca" pitchFamily="34" charset="-122"/>
                <a:cs typeface="Lexend Deca" pitchFamily="34" charset="-120"/>
              </a:rPr>
              <a:t> shirt</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color first</a:t>
            </a:r>
          </a:p>
        </p:txBody>
      </p:sp>
      <p:sp>
        <p:nvSpPr>
          <p:cNvPr id="26" name="Highlight 2"/>
          <p:cNvSpPr/>
          <p:nvPr/>
        </p:nvSpPr>
        <p:spPr>
          <a:xfrm>
            <a:off x="1481328" y="5367528"/>
            <a:ext cx="14173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5230368"/>
            <a:ext cx="1417320" cy="822960"/>
          </a:xfrm>
          <a:prstGeom prst="rect">
            <a:avLst/>
          </a:prstGeom>
          <a:noFill/>
          <a:ln w="38100">
            <a:noFill/>
          </a:ln>
        </p:spPr>
        <p:txBody>
          <a:bodyPr wrap="square" lIns="73152" tIns="36576" rIns="73152" bIns="36576" rtlCol="0" anchor="ctr">
            <a:noAutofit/>
          </a:bodyPr>
          <a:lstStyle/>
          <a:p>
            <a:pPr algn="ctr" indent="0" marL="0">
              <a:buNone/>
            </a:pPr>
            <a:r>
              <a:rPr lang="en-US" sz="2600" dirty="0" b="1">
                <a:solidFill>
                  <a:srgbClr val="1B2236"/>
                </a:solidFill>
                <a:latin typeface="Lexend Deca" pitchFamily="34" charset="0"/>
                <a:ea typeface="Lexend Deca" pitchFamily="34" charset="-122"/>
                <a:cs typeface="Lexend Deca" pitchFamily="34" charset="-120"/>
              </a:rPr>
              <a:t>2</a:t>
            </a:r>
          </a:p>
        </p:txBody>
      </p:sp>
      <p:sp>
        <p:nvSpPr>
          <p:cNvPr id="28" name="Question 2"/>
          <p:cNvSpPr/>
          <p:nvPr/>
        </p:nvSpPr>
        <p:spPr>
          <a:xfrm>
            <a:off x="2944368" y="5230368"/>
            <a:ext cx="3063240" cy="82296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blacks shoes</a:t>
            </a:r>
          </a:p>
        </p:txBody>
      </p:sp>
      <p:sp>
        <p:nvSpPr>
          <p:cNvPr id="30" name="Answer bg 2"/>
          <p:cNvSpPr/>
          <p:nvPr/>
        </p:nvSpPr>
        <p:spPr>
          <a:xfrm>
            <a:off x="6949440" y="5248656"/>
            <a:ext cx="4526280" cy="786384"/>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2"/>
          <p:cNvSpPr/>
          <p:nvPr/>
        </p:nvSpPr>
        <p:spPr>
          <a:xfrm>
            <a:off x="6949440" y="5230368"/>
            <a:ext cx="4526280" cy="82296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black</a:t>
            </a:r>
            <a:r>
              <a:rPr lang="en-US" sz="2000" dirty="0" b="1">
                <a:solidFill>
                  <a:srgbClr val="1B2236"/>
                </a:solidFill>
                <a:latin typeface="Lexend Deca" pitchFamily="34" charset="0"/>
                <a:ea typeface="Lexend Deca" pitchFamily="34" charset="-122"/>
                <a:cs typeface="Lexend Deca" pitchFamily="34" charset="-120"/>
              </a:rPr>
              <a:t> shoes</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colors: no -s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39496" y="1360627"/>
            <a:ext cx="3045866" cy="4995367"/>
          </a:xfrm>
          <a:prstGeom prst="rect">
            <a:avLst/>
          </a:prstGeom>
          <a:solidFill>
            <a:srgbClr val="B9D2F7"/>
          </a:solidFill>
          <a:ln/>
        </p:spPr>
        <p:txBody>
          <a:bodyPr/>
          <a:p/>
        </p:txBody>
      </p:sp>
      <p:pic>
        <p:nvPicPr>
          <p:cNvPr id="21" name="This and that picture" descr="this shirt (near), that shirt (far)"/>
          <p:cNvPicPr>
            <a:picLocks noChangeAspect="1"/>
          </p:cNvPicPr>
          <p:nvPr/>
        </p:nvPicPr>
        <p:blipFill>
          <a:blip r:embed="rIdL7_106"/>
          <a:stretch>
            <a:fillRect/>
          </a:stretch>
        </p:blipFill>
        <p:spPr>
          <a:xfrm>
            <a:off x="649224" y="1616796"/>
            <a:ext cx="2826410" cy="1978487"/>
          </a:xfrm>
          <a:prstGeom prst="rect">
            <a:avLst/>
          </a:prstGeom>
        </p:spPr>
      </p:pic>
      <p:sp>
        <p:nvSpPr>
          <p:cNvPr id="4" name="Shape 2"/>
          <p:cNvSpPr/>
          <p:nvPr/>
        </p:nvSpPr>
        <p:spPr>
          <a:xfrm>
            <a:off x="4582058" y="4619549"/>
            <a:ext cx="4033418" cy="1492301"/>
          </a:xfrm>
          <a:prstGeom prst="round1Rect">
            <a:avLst>
              <a:gd name="adj" fmla="val 23087"/>
            </a:avLst>
          </a:prstGeom>
          <a:solidFill>
            <a:srgbClr val="8FAFE3"/>
          </a:solidFill>
          <a:ln/>
        </p:spPr>
        <p:txBody>
          <a:bodyPr/>
          <a:p/>
        </p:txBody>
      </p:sp>
      <p:sp>
        <p:nvSpPr>
          <p:cNvPr id="5" name="Shape 3"/>
          <p:cNvSpPr/>
          <p:nvPr/>
        </p:nvSpPr>
        <p:spPr>
          <a:xfrm>
            <a:off x="4508906" y="4572000"/>
            <a:ext cx="4033418" cy="1492301"/>
          </a:xfrm>
          <a:prstGeom prst="round1Rect">
            <a:avLst>
              <a:gd name="adj" fmla="val 23087"/>
            </a:avLst>
          </a:prstGeom>
          <a:solidFill>
            <a:srgbClr val="B9D2F7"/>
          </a:solidFill>
          <a:ln/>
        </p:spPr>
        <p:txBody>
          <a:bodyPr/>
          <a:p/>
        </p:txBody>
      </p:sp>
      <p:sp>
        <p:nvSpPr>
          <p:cNvPr id="6" name="Shape 4"/>
          <p:cNvSpPr/>
          <p:nvPr/>
        </p:nvSpPr>
        <p:spPr>
          <a:xfrm>
            <a:off x="4395201" y="1473464"/>
            <a:ext cx="7210044" cy="1331366"/>
          </a:xfrm>
          <a:prstGeom prst="roundRect">
            <a:avLst>
              <a:gd name="adj" fmla="val 16667"/>
            </a:avLst>
          </a:prstGeom>
          <a:solidFill>
            <a:srgbClr val="8FAFE3"/>
          </a:solidFill>
          <a:ln/>
        </p:spPr>
        <p:txBody>
          <a:bodyPr/>
          <a:p/>
        </p:txBody>
      </p:sp>
      <p:sp>
        <p:nvSpPr>
          <p:cNvPr id="7" name="Shape 5"/>
          <p:cNvSpPr/>
          <p:nvPr/>
        </p:nvSpPr>
        <p:spPr>
          <a:xfrm>
            <a:off x="4437583" y="1419149"/>
            <a:ext cx="7210044" cy="1331366"/>
          </a:xfrm>
          <a:prstGeom prst="roundRect">
            <a:avLst>
              <a:gd name="adj" fmla="val 16667"/>
            </a:avLst>
          </a:prstGeom>
          <a:solidFill>
            <a:srgbClr val="FFFFFF"/>
          </a:solidFill>
          <a:ln/>
        </p:spPr>
        <p:txBody>
          <a:bodyPr/>
          <a:p/>
        </p:txBody>
      </p:sp>
      <p:sp>
        <p:nvSpPr>
          <p:cNvPr id="8" name="Text 6"/>
          <p:cNvSpPr/>
          <p:nvPr/>
        </p:nvSpPr>
        <p:spPr>
          <a:xfrm>
            <a:off x="4800600" y="1481328"/>
            <a:ext cx="6583680" cy="123444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3</a:t>
            </a:r>
          </a:p>
          <a:p>
            <a:pPr algn="l" indent="0" marL="0">
              <a:buNone/>
            </a:pPr>
            <a:r>
              <a:rPr lang="en-US" sz="3400" dirty="0" b="1">
                <a:solidFill>
                  <a:srgbClr val="1B2236"/>
                </a:solidFill>
                <a:latin typeface="Lexend Deca" pitchFamily="34" charset="0"/>
                <a:ea typeface="Lexend Deca" pitchFamily="34" charset="-122"/>
                <a:cs typeface="Lexend Deca" pitchFamily="34" charset="-120"/>
              </a:rPr>
              <a:t>this, that, these, those</a:t>
            </a:r>
          </a:p>
        </p:txBody>
      </p:sp>
      <p:sp>
        <p:nvSpPr>
          <p:cNvPr id="9" name="Text 7"/>
          <p:cNvSpPr/>
          <p:nvPr/>
        </p:nvSpPr>
        <p:spPr>
          <a:xfrm>
            <a:off x="4713732" y="3063240"/>
            <a:ext cx="4206240" cy="502920"/>
          </a:xfrm>
          <a:prstGeom prst="rect">
            <a:avLst/>
          </a:prstGeom>
          <a:noFill/>
          <a:ln/>
        </p:spPr>
        <p:txBody>
          <a:bodyPr wrap="square" lIns="0" tIns="0" rIns="0" bIns="0" rtlCol="0" anchor="ctr"/>
          <a:lstStyle/>
          <a:p>
            <a:pPr algn="l" indent="0" marL="0">
              <a:buNone/>
            </a:pPr>
            <a:r>
              <a:rPr lang="en-US" sz="2100" dirty="0" b="1">
                <a:solidFill>
                  <a:srgbClr val="1B2236"/>
                </a:solidFill>
                <a:latin typeface="Lexend Deca" pitchFamily="34" charset="0"/>
                <a:ea typeface="Lexend Deca" pitchFamily="34" charset="-122"/>
                <a:cs typeface="Lexend Deca" pitchFamily="34" charset="-120"/>
              </a:rPr>
              <a:t>One thing: near or far?</a:t>
            </a:r>
          </a:p>
        </p:txBody>
      </p:sp>
      <p:sp>
        <p:nvSpPr>
          <p:cNvPr id="10" name="Text 8"/>
          <p:cNvSpPr/>
          <p:nvPr/>
        </p:nvSpPr>
        <p:spPr>
          <a:xfrm>
            <a:off x="4713732" y="3611880"/>
            <a:ext cx="4206240" cy="868680"/>
          </a:xfrm>
          <a:prstGeom prst="rect">
            <a:avLst/>
          </a:prstGeom>
          <a:noFill/>
          <a:ln/>
        </p:spPr>
        <p:txBody>
          <a:bodyPr wrap="square" lIns="0" tIns="0" rIns="0" bIns="0" rtlCol="0" anchor="t"/>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this shirt</a:t>
            </a:r>
            <a:r>
              <a:rPr lang="en-US" sz="2200" dirty="0" b="0">
                <a:solidFill>
                  <a:srgbClr val="1B2236"/>
                </a:solidFill>
                <a:latin typeface="Lexend Deca" pitchFamily="34" charset="0"/>
                <a:ea typeface="Lexend Deca" pitchFamily="34" charset="-122"/>
                <a:cs typeface="Lexend Deca" pitchFamily="34" charset="-120"/>
              </a:rPr>
              <a:t>  (near)</a:t>
            </a:r>
          </a:p>
          <a:p>
            <a:pPr algn="l" indent="0" marL="0">
              <a:buNone/>
            </a:pPr>
            <a:r>
              <a:rPr lang="en-US" sz="2200" dirty="0" b="1">
                <a:solidFill>
                  <a:srgbClr val="5B3FC4"/>
                </a:solidFill>
                <a:latin typeface="Lexend Deca" pitchFamily="34" charset="0"/>
                <a:ea typeface="Lexend Deca" pitchFamily="34" charset="-122"/>
                <a:cs typeface="Lexend Deca" pitchFamily="34" charset="-120"/>
              </a:rPr>
              <a:t>that shirt</a:t>
            </a:r>
            <a:r>
              <a:rPr lang="en-US" sz="2200" dirty="0" b="0">
                <a:solidFill>
                  <a:srgbClr val="1B2236"/>
                </a:solidFill>
                <a:latin typeface="Lexend Deca" pitchFamily="34" charset="0"/>
                <a:ea typeface="Lexend Deca" pitchFamily="34" charset="-122"/>
                <a:cs typeface="Lexend Deca" pitchFamily="34" charset="-120"/>
              </a:rPr>
              <a:t>  (far)</a:t>
            </a:r>
          </a:p>
        </p:txBody>
      </p:sp>
      <p:sp>
        <p:nvSpPr>
          <p:cNvPr id="11" name="Text 9"/>
          <p:cNvSpPr/>
          <p:nvPr/>
        </p:nvSpPr>
        <p:spPr>
          <a:xfrm>
            <a:off x="4713732" y="4663440"/>
            <a:ext cx="3840480" cy="502920"/>
          </a:xfrm>
          <a:prstGeom prst="rect">
            <a:avLst/>
          </a:prstGeom>
          <a:noFill/>
          <a:ln/>
        </p:spPr>
        <p:txBody>
          <a:bodyPr wrap="square" lIns="0" tIns="0" rIns="0" bIns="0"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Two or more: near or far?</a:t>
            </a:r>
          </a:p>
        </p:txBody>
      </p:sp>
      <p:sp>
        <p:nvSpPr>
          <p:cNvPr id="12" name="Text 10"/>
          <p:cNvSpPr/>
          <p:nvPr/>
        </p:nvSpPr>
        <p:spPr>
          <a:xfrm>
            <a:off x="4713732" y="5193792"/>
            <a:ext cx="3749040" cy="82296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these shoes</a:t>
            </a:r>
            <a:r>
              <a:rPr lang="en-US" sz="2000" dirty="0" b="0">
                <a:solidFill>
                  <a:srgbClr val="1B2236"/>
                </a:solidFill>
                <a:latin typeface="Lexend Deca" pitchFamily="34" charset="0"/>
                <a:ea typeface="Lexend Deca" pitchFamily="34" charset="-122"/>
                <a:cs typeface="Lexend Deca" pitchFamily="34" charset="-120"/>
              </a:rPr>
              <a:t>  (near)</a:t>
            </a:r>
          </a:p>
          <a:p>
            <a:pPr algn="l" indent="0" marL="0">
              <a:buNone/>
            </a:pPr>
            <a:r>
              <a:rPr lang="en-US" sz="2000" dirty="0" b="1">
                <a:solidFill>
                  <a:srgbClr val="5B3FC4"/>
                </a:solidFill>
                <a:latin typeface="Lexend Deca" pitchFamily="34" charset="0"/>
                <a:ea typeface="Lexend Deca" pitchFamily="34" charset="-122"/>
                <a:cs typeface="Lexend Deca" pitchFamily="34" charset="-120"/>
              </a:rPr>
              <a:t>those shoes</a:t>
            </a:r>
            <a:r>
              <a:rPr lang="en-US" sz="2000" dirty="0" b="0">
                <a:solidFill>
                  <a:srgbClr val="1B2236"/>
                </a:solidFill>
                <a:latin typeface="Lexend Deca" pitchFamily="34" charset="0"/>
                <a:ea typeface="Lexend Deca" pitchFamily="34" charset="-122"/>
                <a:cs typeface="Lexend Deca" pitchFamily="34" charset="-120"/>
              </a:rPr>
              <a:t>  (far)</a:t>
            </a:r>
          </a:p>
        </p:txBody>
      </p:sp>
      <p:sp>
        <p:nvSpPr>
          <p:cNvPr id="13" name="Text 11"/>
          <p:cNvSpPr/>
          <p:nvPr/>
        </p:nvSpPr>
        <p:spPr>
          <a:xfrm>
            <a:off x="8915400" y="31089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is</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this / that</a:t>
            </a:r>
          </a:p>
        </p:txBody>
      </p:sp>
      <p:sp>
        <p:nvSpPr>
          <p:cNvPr id="17" name="Text 15"/>
          <p:cNvSpPr/>
          <p:nvPr/>
        </p:nvSpPr>
        <p:spPr>
          <a:xfrm>
            <a:off x="8915400" y="47091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are</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 these / those</a:t>
            </a:r>
          </a:p>
        </p:txBody>
      </p:sp>
      <p:pic>
        <p:nvPicPr>
          <p:cNvPr id="96" name="These and those picture" descr="these shoes (near), those shoes (far)"/>
          <p:cNvPicPr>
            <a:picLocks noChangeAspect="1"/>
          </p:cNvPicPr>
          <p:nvPr/>
        </p:nvPicPr>
        <p:blipFill>
          <a:blip r:embed="rIdL7_106x"/>
          <a:stretch>
            <a:fillRect/>
          </a:stretch>
        </p:blipFill>
        <p:spPr>
          <a:xfrm>
            <a:off x="649224" y="4039956"/>
            <a:ext cx="2826410" cy="19784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1508760"/>
          </a:xfrm>
          <a:prstGeom prst="round1Rect">
            <a:avLst>
              <a:gd name="adj" fmla="val 23087"/>
            </a:avLst>
          </a:prstGeom>
          <a:solidFill>
            <a:srgbClr val="FFFFFF"/>
          </a:solidFill>
          <a:ln/>
        </p:spPr>
        <p:txBody>
          <a:bodyPr/>
          <a:p/>
        </p:txBody>
      </p:sp>
      <p:sp>
        <p:nvSpPr>
          <p:cNvPr id="5" name="Shape 3"/>
          <p:cNvSpPr/>
          <p:nvPr/>
        </p:nvSpPr>
        <p:spPr>
          <a:xfrm>
            <a:off x="1583741" y="4041648"/>
            <a:ext cx="5130698" cy="1508760"/>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Circle what she buys.</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Ana is at a clothing store.</a:t>
            </a:r>
          </a:p>
        </p:txBody>
      </p:sp>
      <p:sp>
        <p:nvSpPr>
          <p:cNvPr id="11" name="Text 9"/>
          <p:cNvSpPr/>
          <p:nvPr/>
        </p:nvSpPr>
        <p:spPr>
          <a:xfrm>
            <a:off x="1810512" y="2423160"/>
            <a:ext cx="3566160" cy="384048"/>
          </a:xfrm>
          <a:prstGeom prst="rect">
            <a:avLst/>
          </a:prstGeom>
          <a:noFill/>
          <a:ln/>
        </p:spPr>
        <p:txBody>
          <a:bodyPr wrap="square" rtlCol="0" anchor="ctr" tIns="0" bIns="0"/>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the shirt</a:t>
            </a:r>
          </a:p>
        </p:txBody>
      </p:sp>
      <p:sp>
        <p:nvSpPr>
          <p:cNvPr id="13" name="Text 11"/>
          <p:cNvSpPr/>
          <p:nvPr/>
        </p:nvSpPr>
        <p:spPr>
          <a:xfrm>
            <a:off x="1810512" y="4069080"/>
            <a:ext cx="3566160" cy="384048"/>
          </a:xfrm>
          <a:prstGeom prst="rect">
            <a:avLst/>
          </a:prstGeom>
          <a:noFill/>
          <a:ln/>
        </p:spPr>
        <p:txBody>
          <a:bodyPr wrap="square" rtlCol="0" anchor="ctr" tIns="0" bIns="0"/>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the shoes</a:t>
            </a:r>
          </a:p>
        </p:txBody>
      </p:sp>
      <p:sp>
        <p:nvSpPr>
          <p:cNvPr id="21" name="Shape 19"/>
          <p:cNvSpPr/>
          <p:nvPr/>
        </p:nvSpPr>
        <p:spPr>
          <a:xfrm>
            <a:off x="544982" y="2395728"/>
            <a:ext cx="1039673" cy="1508760"/>
          </a:xfrm>
          <a:prstGeom prst="rect">
            <a:avLst/>
          </a:prstGeom>
          <a:solidFill>
            <a:srgbClr val="B9D2F7"/>
          </a:solidFill>
          <a:ln/>
        </p:spPr>
        <p:txBody>
          <a:bodyPr/>
          <a:p/>
        </p:txBody>
      </p:sp>
      <p:sp>
        <p:nvSpPr>
          <p:cNvPr id="22" name="Text 20"/>
          <p:cNvSpPr/>
          <p:nvPr/>
        </p:nvSpPr>
        <p:spPr>
          <a:xfrm>
            <a:off x="686714" y="285292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4041648"/>
            <a:ext cx="1039673" cy="1508760"/>
          </a:xfrm>
          <a:prstGeom prst="rect">
            <a:avLst/>
          </a:prstGeom>
          <a:solidFill>
            <a:srgbClr val="B9D2F7"/>
          </a:solidFill>
          <a:ln/>
        </p:spPr>
        <p:txBody>
          <a:bodyPr/>
          <a:p/>
        </p:txBody>
      </p:sp>
      <p:sp>
        <p:nvSpPr>
          <p:cNvPr id="24" name="Text 22"/>
          <p:cNvSpPr/>
          <p:nvPr/>
        </p:nvSpPr>
        <p:spPr>
          <a:xfrm>
            <a:off x="686714" y="449884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Circle: </a:t>
            </a:r>
            <a:r>
              <a:rPr lang="en-US" sz="2000" dirty="0" b="1">
                <a:solidFill>
                  <a:srgbClr val="5B3FC4"/>
                </a:solidFill>
                <a:latin typeface="Lexend Deca" pitchFamily="34" charset="0"/>
                <a:ea typeface="Lexend Deca" pitchFamily="34" charset="-122"/>
                <a:cs typeface="Lexend Deca" pitchFamily="34" charset="-120"/>
              </a:rPr>
              <a:t>a, b, or c</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5376672" y="2916936"/>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  blue</a:t>
            </a:r>
          </a:p>
        </p:txBody>
      </p:sp>
      <p:sp>
        <p:nvSpPr>
          <p:cNvPr id="35" name="Answer 2"/>
          <p:cNvSpPr/>
          <p:nvPr/>
        </p:nvSpPr>
        <p:spPr>
          <a:xfrm>
            <a:off x="5376672" y="4562856"/>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  black</a:t>
            </a:r>
          </a:p>
        </p:txBody>
      </p:sp>
      <p:pic>
        <p:nvPicPr>
          <p:cNvPr id="36" name="Red shirt picture" descr="red shirt"/>
          <p:cNvPicPr>
            <a:picLocks noChangeAspect="1"/>
          </p:cNvPicPr>
          <p:nvPr/>
        </p:nvPicPr>
        <p:blipFill>
          <a:blip r:embed="rIdL7_102"/>
          <a:stretch>
            <a:fillRect/>
          </a:stretch>
        </p:blipFill>
        <p:spPr>
          <a:xfrm>
            <a:off x="1755648" y="2807208"/>
            <a:ext cx="1097280" cy="768096"/>
          </a:xfrm>
          <a:prstGeom prst="rect">
            <a:avLst/>
          </a:prstGeom>
        </p:spPr>
      </p:pic>
      <p:sp>
        <p:nvSpPr>
          <p:cNvPr id="37" name="Choice a  red"/>
          <p:cNvSpPr/>
          <p:nvPr/>
        </p:nvSpPr>
        <p:spPr>
          <a:xfrm>
            <a:off x="1709928" y="3557016"/>
            <a:ext cx="1188720" cy="329184"/>
          </a:xfrm>
          <a:prstGeom prst="rect">
            <a:avLst/>
          </a:prstGeom>
          <a:noFill/>
          <a:ln/>
        </p:spPr>
        <p:txBody>
          <a:bodyPr wrap="square" rtlCol="0" anchor="ctr" tIns="0" bIns="0"/>
          <a:lstStyle/>
          <a:p>
            <a:pPr algn="ctr" indent="0" marL="0">
              <a:buNone/>
            </a:pPr>
            <a:r>
              <a:rPr lang="en-US" sz="1600" dirty="0" b="1">
                <a:solidFill>
                  <a:srgbClr val="5B3FC4"/>
                </a:solidFill>
                <a:latin typeface="Lexend Deca" pitchFamily="34" charset="0"/>
                <a:ea typeface="Lexend Deca" pitchFamily="34" charset="-122"/>
                <a:cs typeface="Lexend Deca" pitchFamily="34" charset="-120"/>
              </a:rPr>
              <a:t>a  </a:t>
            </a:r>
            <a:r>
              <a:rPr lang="en-US" sz="1600" dirty="0" b="0">
                <a:solidFill>
                  <a:srgbClr val="1B2236"/>
                </a:solidFill>
                <a:latin typeface="Lexend Deca" pitchFamily="34" charset="0"/>
                <a:ea typeface="Lexend Deca" pitchFamily="34" charset="-122"/>
                <a:cs typeface="Lexend Deca" pitchFamily="34" charset="-120"/>
              </a:rPr>
              <a:t>red</a:t>
            </a:r>
          </a:p>
        </p:txBody>
      </p:sp>
      <p:pic>
        <p:nvPicPr>
          <p:cNvPr id="38" name="Blue shirt picture" descr="blue shirt"/>
          <p:cNvPicPr>
            <a:picLocks noChangeAspect="1"/>
          </p:cNvPicPr>
          <p:nvPr/>
        </p:nvPicPr>
        <p:blipFill>
          <a:blip r:embed="rIdL7_104"/>
          <a:stretch>
            <a:fillRect/>
          </a:stretch>
        </p:blipFill>
        <p:spPr>
          <a:xfrm>
            <a:off x="2944368" y="2807208"/>
            <a:ext cx="1097280" cy="768096"/>
          </a:xfrm>
          <a:prstGeom prst="rect">
            <a:avLst/>
          </a:prstGeom>
        </p:spPr>
      </p:pic>
      <p:sp>
        <p:nvSpPr>
          <p:cNvPr id="39" name="Choice b  blue"/>
          <p:cNvSpPr/>
          <p:nvPr/>
        </p:nvSpPr>
        <p:spPr>
          <a:xfrm>
            <a:off x="2898648" y="3557016"/>
            <a:ext cx="1188720" cy="329184"/>
          </a:xfrm>
          <a:prstGeom prst="rect">
            <a:avLst/>
          </a:prstGeom>
          <a:noFill/>
          <a:ln/>
        </p:spPr>
        <p:txBody>
          <a:bodyPr wrap="square" rtlCol="0" anchor="ctr" tIns="0" bIns="0"/>
          <a:lstStyle/>
          <a:p>
            <a:pPr algn="ctr" indent="0" marL="0">
              <a:buNone/>
            </a:pPr>
            <a:r>
              <a:rPr lang="en-US" sz="1600" dirty="0" b="1">
                <a:solidFill>
                  <a:srgbClr val="5B3FC4"/>
                </a:solidFill>
                <a:latin typeface="Lexend Deca" pitchFamily="34" charset="0"/>
                <a:ea typeface="Lexend Deca" pitchFamily="34" charset="-122"/>
                <a:cs typeface="Lexend Deca" pitchFamily="34" charset="-120"/>
              </a:rPr>
              <a:t>b  </a:t>
            </a:r>
            <a:r>
              <a:rPr lang="en-US" sz="1600" dirty="0" b="0">
                <a:solidFill>
                  <a:srgbClr val="1B2236"/>
                </a:solidFill>
                <a:latin typeface="Lexend Deca" pitchFamily="34" charset="0"/>
                <a:ea typeface="Lexend Deca" pitchFamily="34" charset="-122"/>
                <a:cs typeface="Lexend Deca" pitchFamily="34" charset="-120"/>
              </a:rPr>
              <a:t>blue</a:t>
            </a:r>
          </a:p>
        </p:txBody>
      </p:sp>
      <p:pic>
        <p:nvPicPr>
          <p:cNvPr id="40" name="White shirt picture" descr="white shirt"/>
          <p:cNvPicPr>
            <a:picLocks noChangeAspect="1"/>
          </p:cNvPicPr>
          <p:nvPr/>
        </p:nvPicPr>
        <p:blipFill>
          <a:blip r:embed="rIdL7_106"/>
          <a:stretch>
            <a:fillRect/>
          </a:stretch>
        </p:blipFill>
        <p:spPr>
          <a:xfrm>
            <a:off x="4133087" y="2807208"/>
            <a:ext cx="1097280" cy="768096"/>
          </a:xfrm>
          <a:prstGeom prst="rect">
            <a:avLst/>
          </a:prstGeom>
        </p:spPr>
      </p:pic>
      <p:sp>
        <p:nvSpPr>
          <p:cNvPr id="41" name="Choice c  white"/>
          <p:cNvSpPr/>
          <p:nvPr/>
        </p:nvSpPr>
        <p:spPr>
          <a:xfrm>
            <a:off x="4087368" y="3557016"/>
            <a:ext cx="1188720" cy="329184"/>
          </a:xfrm>
          <a:prstGeom prst="rect">
            <a:avLst/>
          </a:prstGeom>
          <a:noFill/>
          <a:ln/>
        </p:spPr>
        <p:txBody>
          <a:bodyPr wrap="square" rtlCol="0" anchor="ctr" tIns="0" bIns="0"/>
          <a:lstStyle/>
          <a:p>
            <a:pPr algn="ctr" indent="0" marL="0">
              <a:buNone/>
            </a:pPr>
            <a:r>
              <a:rPr lang="en-US" sz="1600" dirty="0" b="1">
                <a:solidFill>
                  <a:srgbClr val="5B3FC4"/>
                </a:solidFill>
                <a:latin typeface="Lexend Deca" pitchFamily="34" charset="0"/>
                <a:ea typeface="Lexend Deca" pitchFamily="34" charset="-122"/>
                <a:cs typeface="Lexend Deca" pitchFamily="34" charset="-120"/>
              </a:rPr>
              <a:t>c  </a:t>
            </a:r>
            <a:r>
              <a:rPr lang="en-US" sz="1600" dirty="0" b="0">
                <a:solidFill>
                  <a:srgbClr val="1B2236"/>
                </a:solidFill>
                <a:latin typeface="Lexend Deca" pitchFamily="34" charset="0"/>
                <a:ea typeface="Lexend Deca" pitchFamily="34" charset="-122"/>
                <a:cs typeface="Lexend Deca" pitchFamily="34" charset="-120"/>
              </a:rPr>
              <a:t>white</a:t>
            </a:r>
          </a:p>
        </p:txBody>
      </p:sp>
      <p:pic>
        <p:nvPicPr>
          <p:cNvPr id="42" name="Black shoes picture" descr="black shoes"/>
          <p:cNvPicPr>
            <a:picLocks noChangeAspect="1"/>
          </p:cNvPicPr>
          <p:nvPr/>
        </p:nvPicPr>
        <p:blipFill>
          <a:blip r:embed="rIdL7_108"/>
          <a:stretch>
            <a:fillRect/>
          </a:stretch>
        </p:blipFill>
        <p:spPr>
          <a:xfrm>
            <a:off x="1755648" y="4453128"/>
            <a:ext cx="1097280" cy="768096"/>
          </a:xfrm>
          <a:prstGeom prst="rect">
            <a:avLst/>
          </a:prstGeom>
        </p:spPr>
      </p:pic>
      <p:sp>
        <p:nvSpPr>
          <p:cNvPr id="43" name="Choice a  black"/>
          <p:cNvSpPr/>
          <p:nvPr/>
        </p:nvSpPr>
        <p:spPr>
          <a:xfrm>
            <a:off x="1709928" y="5202936"/>
            <a:ext cx="1188720" cy="329184"/>
          </a:xfrm>
          <a:prstGeom prst="rect">
            <a:avLst/>
          </a:prstGeom>
          <a:noFill/>
          <a:ln/>
        </p:spPr>
        <p:txBody>
          <a:bodyPr wrap="square" rtlCol="0" anchor="ctr" tIns="0" bIns="0"/>
          <a:lstStyle/>
          <a:p>
            <a:pPr algn="ctr" indent="0" marL="0">
              <a:buNone/>
            </a:pPr>
            <a:r>
              <a:rPr lang="en-US" sz="1600" dirty="0" b="1">
                <a:solidFill>
                  <a:srgbClr val="5B3FC4"/>
                </a:solidFill>
                <a:latin typeface="Lexend Deca" pitchFamily="34" charset="0"/>
                <a:ea typeface="Lexend Deca" pitchFamily="34" charset="-122"/>
                <a:cs typeface="Lexend Deca" pitchFamily="34" charset="-120"/>
              </a:rPr>
              <a:t>a  </a:t>
            </a:r>
            <a:r>
              <a:rPr lang="en-US" sz="1600" dirty="0" b="0">
                <a:solidFill>
                  <a:srgbClr val="1B2236"/>
                </a:solidFill>
                <a:latin typeface="Lexend Deca" pitchFamily="34" charset="0"/>
                <a:ea typeface="Lexend Deca" pitchFamily="34" charset="-122"/>
                <a:cs typeface="Lexend Deca" pitchFamily="34" charset="-120"/>
              </a:rPr>
              <a:t>black</a:t>
            </a:r>
          </a:p>
        </p:txBody>
      </p:sp>
      <p:pic>
        <p:nvPicPr>
          <p:cNvPr id="44" name="White shoes picture" descr="white shoes"/>
          <p:cNvPicPr>
            <a:picLocks noChangeAspect="1"/>
          </p:cNvPicPr>
          <p:nvPr/>
        </p:nvPicPr>
        <p:blipFill>
          <a:blip r:embed="rIdL7_110"/>
          <a:stretch>
            <a:fillRect/>
          </a:stretch>
        </p:blipFill>
        <p:spPr>
          <a:xfrm>
            <a:off x="2944368" y="4453128"/>
            <a:ext cx="1097280" cy="768096"/>
          </a:xfrm>
          <a:prstGeom prst="rect">
            <a:avLst/>
          </a:prstGeom>
        </p:spPr>
      </p:pic>
      <p:sp>
        <p:nvSpPr>
          <p:cNvPr id="45" name="Choice b  white"/>
          <p:cNvSpPr/>
          <p:nvPr/>
        </p:nvSpPr>
        <p:spPr>
          <a:xfrm>
            <a:off x="2898648" y="5202936"/>
            <a:ext cx="1188720" cy="329184"/>
          </a:xfrm>
          <a:prstGeom prst="rect">
            <a:avLst/>
          </a:prstGeom>
          <a:noFill/>
          <a:ln/>
        </p:spPr>
        <p:txBody>
          <a:bodyPr wrap="square" rtlCol="0" anchor="ctr" tIns="0" bIns="0"/>
          <a:lstStyle/>
          <a:p>
            <a:pPr algn="ctr" indent="0" marL="0">
              <a:buNone/>
            </a:pPr>
            <a:r>
              <a:rPr lang="en-US" sz="1600" dirty="0" b="1">
                <a:solidFill>
                  <a:srgbClr val="5B3FC4"/>
                </a:solidFill>
                <a:latin typeface="Lexend Deca" pitchFamily="34" charset="0"/>
                <a:ea typeface="Lexend Deca" pitchFamily="34" charset="-122"/>
                <a:cs typeface="Lexend Deca" pitchFamily="34" charset="-120"/>
              </a:rPr>
              <a:t>b  </a:t>
            </a:r>
            <a:r>
              <a:rPr lang="en-US" sz="1600" dirty="0" b="0">
                <a:solidFill>
                  <a:srgbClr val="1B2236"/>
                </a:solidFill>
                <a:latin typeface="Lexend Deca" pitchFamily="34" charset="0"/>
                <a:ea typeface="Lexend Deca" pitchFamily="34" charset="-122"/>
                <a:cs typeface="Lexend Deca" pitchFamily="34" charset="-120"/>
              </a:rPr>
              <a:t>white</a:t>
            </a:r>
          </a:p>
        </p:txBody>
      </p:sp>
      <p:pic>
        <p:nvPicPr>
          <p:cNvPr id="46" name="Red shoes picture" descr="red shoes"/>
          <p:cNvPicPr>
            <a:picLocks noChangeAspect="1"/>
          </p:cNvPicPr>
          <p:nvPr/>
        </p:nvPicPr>
        <p:blipFill>
          <a:blip r:embed="rIdL7_112"/>
          <a:stretch>
            <a:fillRect/>
          </a:stretch>
        </p:blipFill>
        <p:spPr>
          <a:xfrm>
            <a:off x="4133087" y="4453128"/>
            <a:ext cx="1097280" cy="768096"/>
          </a:xfrm>
          <a:prstGeom prst="rect">
            <a:avLst/>
          </a:prstGeom>
        </p:spPr>
      </p:pic>
      <p:sp>
        <p:nvSpPr>
          <p:cNvPr id="47" name="Choice c  red"/>
          <p:cNvSpPr/>
          <p:nvPr/>
        </p:nvSpPr>
        <p:spPr>
          <a:xfrm>
            <a:off x="4087368" y="5202936"/>
            <a:ext cx="1188720" cy="329184"/>
          </a:xfrm>
          <a:prstGeom prst="rect">
            <a:avLst/>
          </a:prstGeom>
          <a:noFill/>
          <a:ln/>
        </p:spPr>
        <p:txBody>
          <a:bodyPr wrap="square" rtlCol="0" anchor="ctr" tIns="0" bIns="0"/>
          <a:lstStyle/>
          <a:p>
            <a:pPr algn="ctr" indent="0" marL="0">
              <a:buNone/>
            </a:pPr>
            <a:r>
              <a:rPr lang="en-US" sz="1600" dirty="0" b="1">
                <a:solidFill>
                  <a:srgbClr val="5B3FC4"/>
                </a:solidFill>
                <a:latin typeface="Lexend Deca" pitchFamily="34" charset="0"/>
                <a:ea typeface="Lexend Deca" pitchFamily="34" charset="-122"/>
                <a:cs typeface="Lexend Deca" pitchFamily="34" charset="-120"/>
              </a:rPr>
              <a:t>c  </a:t>
            </a:r>
            <a:r>
              <a:rPr lang="en-US" sz="1600" dirty="0" b="0">
                <a:solidFill>
                  <a:srgbClr val="1B2236"/>
                </a:solidFill>
                <a:latin typeface="Lexend Deca" pitchFamily="34" charset="0"/>
                <a:ea typeface="Lexend Deca" pitchFamily="34" charset="-122"/>
                <a:cs typeface="Lexend Deca" pitchFamily="34" charset="-120"/>
              </a:rPr>
              <a:t>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5" name="Shape 3"/>
          <p:cNvSpPr/>
          <p:nvPr/>
        </p:nvSpPr>
        <p:spPr>
          <a:xfrm flipH="1">
            <a:off x="501091" y="2798064"/>
            <a:ext cx="4526280" cy="3429000"/>
          </a:xfrm>
          <a:prstGeom prst="round1Rect">
            <a:avLst>
              <a:gd name="adj" fmla="val 23087"/>
            </a:avLst>
          </a:prstGeom>
          <a:solidFill>
            <a:srgbClr val="8FAFE3"/>
          </a:solidFill>
          <a:ln/>
        </p:spPr>
        <p:txBody>
          <a:bodyPr/>
          <a:p/>
        </p:txBody>
      </p:sp>
      <p:sp>
        <p:nvSpPr>
          <p:cNvPr id="6" name="Shape 4"/>
          <p:cNvSpPr/>
          <p:nvPr/>
        </p:nvSpPr>
        <p:spPr>
          <a:xfrm flipH="1">
            <a:off x="5217566" y="2806294"/>
            <a:ext cx="5440680" cy="3429000"/>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2606040"/>
            <a:ext cx="4526280" cy="3429000"/>
          </a:xfrm>
          <a:prstGeom prst="round1Rect">
            <a:avLst>
              <a:gd name="adj" fmla="val 23087"/>
            </a:avLst>
          </a:prstGeom>
          <a:solidFill>
            <a:srgbClr val="FFFFFF"/>
          </a:solidFill>
          <a:ln/>
        </p:spPr>
        <p:txBody>
          <a:bodyPr/>
          <a:p/>
        </p:txBody>
      </p:sp>
      <p:sp>
        <p:nvSpPr>
          <p:cNvPr id="10" name="Shape 8"/>
          <p:cNvSpPr/>
          <p:nvPr/>
        </p:nvSpPr>
        <p:spPr>
          <a:xfrm flipH="1">
            <a:off x="5349240" y="2606040"/>
            <a:ext cx="5440680" cy="3429000"/>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a:p>
        </p:txBody>
      </p:sp>
      <p:pic>
        <p:nvPicPr>
          <p:cNvPr id="21" name="These and those picture" descr="these shoes (near), those shoes (far)"/>
          <p:cNvPicPr>
            <a:picLocks noChangeAspect="1"/>
          </p:cNvPicPr>
          <p:nvPr/>
        </p:nvPicPr>
        <p:blipFill>
          <a:blip r:embed="rIdL7_104"/>
          <a:stretch>
            <a:fillRect/>
          </a:stretch>
        </p:blipFill>
        <p:spPr>
          <a:xfrm>
            <a:off x="9124406" y="1188720"/>
            <a:ext cx="1959429" cy="1371600"/>
          </a:xfrm>
          <a:prstGeom prst="rect">
            <a:avLst/>
          </a:prstGeom>
        </p:spPr>
      </p:pic>
      <p:sp>
        <p:nvSpPr>
          <p:cNvPr id="22" name="Dont head"/>
          <p:cNvSpPr/>
          <p:nvPr/>
        </p:nvSpPr>
        <p:spPr>
          <a:xfrm>
            <a:off x="914400" y="2697480"/>
            <a:ext cx="40233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5577840" y="2697480"/>
            <a:ext cx="49377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320040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much is these shoes?</a:t>
            </a:r>
          </a:p>
        </p:txBody>
      </p:sp>
      <p:sp>
        <p:nvSpPr>
          <p:cNvPr id="25" name="Good 1"/>
          <p:cNvSpPr/>
          <p:nvPr/>
        </p:nvSpPr>
        <p:spPr>
          <a:xfrm>
            <a:off x="5577840" y="320040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a:t>
            </a:r>
            <a:r>
              <a:rPr lang="en-US" sz="2000" dirty="0" b="1">
                <a:solidFill>
                  <a:srgbClr val="5B3FC4"/>
                </a:solidFill>
                <a:latin typeface="Lexend Deca" pitchFamily="34" charset="0"/>
                <a:ea typeface="Lexend Deca" pitchFamily="34" charset="-122"/>
                <a:cs typeface="Lexend Deca" pitchFamily="34" charset="-120"/>
              </a:rPr>
              <a:t>are</a:t>
            </a:r>
            <a:r>
              <a:rPr lang="en-US" sz="2000" dirty="0" b="1">
                <a:solidFill>
                  <a:srgbClr val="1B2236"/>
                </a:solidFill>
                <a:latin typeface="Lexend Deca" pitchFamily="34" charset="0"/>
                <a:ea typeface="Lexend Deca" pitchFamily="34" charset="-122"/>
                <a:cs typeface="Lexend Deca" pitchFamily="34" charset="-120"/>
              </a:rPr>
              <a:t> these shoes?</a:t>
            </a:r>
          </a:p>
        </p:txBody>
      </p:sp>
      <p:sp>
        <p:nvSpPr>
          <p:cNvPr id="26" name="Bad 2"/>
          <p:cNvSpPr/>
          <p:nvPr/>
        </p:nvSpPr>
        <p:spPr>
          <a:xfrm>
            <a:off x="914400" y="370332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much cost this?</a:t>
            </a:r>
          </a:p>
        </p:txBody>
      </p:sp>
      <p:sp>
        <p:nvSpPr>
          <p:cNvPr id="27" name="Good 2"/>
          <p:cNvSpPr/>
          <p:nvPr/>
        </p:nvSpPr>
        <p:spPr>
          <a:xfrm>
            <a:off x="5577840" y="370332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How much </a:t>
            </a:r>
            <a:r>
              <a:rPr lang="en-US" sz="2000" dirty="0" b="1">
                <a:solidFill>
                  <a:srgbClr val="5B3FC4"/>
                </a:solidFill>
                <a:latin typeface="Lexend Deca" pitchFamily="34" charset="0"/>
                <a:ea typeface="Lexend Deca" pitchFamily="34" charset="-122"/>
                <a:cs typeface="Lexend Deca" pitchFamily="34" charset="-120"/>
              </a:rPr>
              <a:t>is</a:t>
            </a:r>
            <a:r>
              <a:rPr lang="en-US" sz="2000" dirty="0" b="1">
                <a:solidFill>
                  <a:srgbClr val="1B2236"/>
                </a:solidFill>
                <a:latin typeface="Lexend Deca" pitchFamily="34" charset="0"/>
                <a:ea typeface="Lexend Deca" pitchFamily="34" charset="-122"/>
                <a:cs typeface="Lexend Deca" pitchFamily="34" charset="-120"/>
              </a:rPr>
              <a:t> this?</a:t>
            </a:r>
          </a:p>
        </p:txBody>
      </p:sp>
      <p:sp>
        <p:nvSpPr>
          <p:cNvPr id="28" name="Bad 3"/>
          <p:cNvSpPr/>
          <p:nvPr/>
        </p:nvSpPr>
        <p:spPr>
          <a:xfrm>
            <a:off x="914400" y="420624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shirt blue</a:t>
            </a:r>
          </a:p>
        </p:txBody>
      </p:sp>
      <p:sp>
        <p:nvSpPr>
          <p:cNvPr id="29" name="Good 3"/>
          <p:cNvSpPr/>
          <p:nvPr/>
        </p:nvSpPr>
        <p:spPr>
          <a:xfrm>
            <a:off x="5577840" y="420624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 </a:t>
            </a:r>
            <a:r>
              <a:rPr lang="en-US" sz="2000" dirty="0" b="1">
                <a:solidFill>
                  <a:srgbClr val="5B3FC4"/>
                </a:solidFill>
                <a:latin typeface="Lexend Deca" pitchFamily="34" charset="0"/>
                <a:ea typeface="Lexend Deca" pitchFamily="34" charset="-122"/>
                <a:cs typeface="Lexend Deca" pitchFamily="34" charset="-120"/>
              </a:rPr>
              <a:t>blue shirt</a:t>
            </a:r>
          </a:p>
        </p:txBody>
      </p:sp>
      <p:sp>
        <p:nvSpPr>
          <p:cNvPr id="60" name="Bad 4"/>
          <p:cNvSpPr/>
          <p:nvPr/>
        </p:nvSpPr>
        <p:spPr>
          <a:xfrm>
            <a:off x="914400" y="470916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blacks shoes</a:t>
            </a:r>
          </a:p>
        </p:txBody>
      </p:sp>
      <p:sp>
        <p:nvSpPr>
          <p:cNvPr id="61" name="Good 4"/>
          <p:cNvSpPr/>
          <p:nvPr/>
        </p:nvSpPr>
        <p:spPr>
          <a:xfrm>
            <a:off x="5577840" y="470916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black</a:t>
            </a:r>
            <a:r>
              <a:rPr lang="en-US" sz="2000" dirty="0" b="1">
                <a:solidFill>
                  <a:srgbClr val="1B2236"/>
                </a:solidFill>
                <a:latin typeface="Lexend Deca" pitchFamily="34" charset="0"/>
                <a:ea typeface="Lexend Deca" pitchFamily="34" charset="-122"/>
                <a:cs typeface="Lexend Deca" pitchFamily="34" charset="-120"/>
              </a:rPr>
              <a:t> shoes</a:t>
            </a:r>
          </a:p>
        </p:txBody>
      </p:sp>
      <p:sp>
        <p:nvSpPr>
          <p:cNvPr id="62" name="Bad 5"/>
          <p:cNvSpPr/>
          <p:nvPr/>
        </p:nvSpPr>
        <p:spPr>
          <a:xfrm>
            <a:off x="914400" y="5212080"/>
            <a:ext cx="4160520" cy="502920"/>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this shoes</a:t>
            </a:r>
          </a:p>
        </p:txBody>
      </p:sp>
      <p:sp>
        <p:nvSpPr>
          <p:cNvPr id="63" name="Good 5"/>
          <p:cNvSpPr/>
          <p:nvPr/>
        </p:nvSpPr>
        <p:spPr>
          <a:xfrm>
            <a:off x="5577840" y="5212080"/>
            <a:ext cx="502920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these</a:t>
            </a:r>
            <a:r>
              <a:rPr lang="en-US" sz="2000" dirty="0" b="1">
                <a:solidFill>
                  <a:srgbClr val="1B2236"/>
                </a:solidFill>
                <a:latin typeface="Lexend Deca" pitchFamily="34" charset="0"/>
                <a:ea typeface="Lexend Deca" pitchFamily="34" charset="-122"/>
                <a:cs typeface="Lexend Deca" pitchFamily="34" charset="-120"/>
              </a:rPr>
              <a:t> shoes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lay money picture" descr="play money: $1, $5, $10, $20 bills and coins, marked PLAY MONEY"/>
          <p:cNvPicPr>
            <a:picLocks noChangeAspect="1"/>
          </p:cNvPicPr>
          <p:nvPr/>
        </p:nvPicPr>
        <p:blipFill>
          <a:blip r:embed="rIdL7_104"/>
          <a:stretch>
            <a:fillRect/>
          </a:stretch>
        </p:blipFill>
        <p:spPr>
          <a:xfrm>
            <a:off x="502920" y="3168396"/>
            <a:ext cx="4663440" cy="3264408"/>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Text 5"/>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Store Role Play</a:t>
            </a:r>
          </a:p>
        </p:txBody>
      </p:sp>
      <p:sp>
        <p:nvSpPr>
          <p:cNvPr id="8" name="Text 6"/>
          <p:cNvSpPr/>
          <p:nvPr/>
        </p:nvSpPr>
        <p:spPr>
          <a:xfrm>
            <a:off x="6035040" y="1783080"/>
            <a:ext cx="356616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 = cashier. B = shopper.</a:t>
            </a:r>
          </a:p>
          <a:p>
            <a:pPr algn="l" indent="0" marL="0">
              <a:buNone/>
            </a:pPr>
            <a:r>
              <a:rPr lang="en-US" sz="1800" dirty="0">
                <a:solidFill>
                  <a:srgbClr val="1B2236"/>
                </a:solidFill>
                <a:latin typeface="Lexend Deca" pitchFamily="34" charset="0"/>
                <a:ea typeface="Lexend Deca" pitchFamily="34" charset="-122"/>
                <a:cs typeface="Lexend Deca" pitchFamily="34" charset="-120"/>
              </a:rPr>
              <a:t>Don't show your page.</a:t>
            </a:r>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ext 9"/>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7:00–7:10</a:t>
            </a:r>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asks:</a:t>
            </a:r>
          </a:p>
          <a:p>
            <a:pPr algn="l" indent="0" marL="0">
              <a:buNone/>
            </a:pPr>
            <a:r>
              <a:rPr lang="en-US" sz="1900" dirty="0" b="0">
                <a:solidFill>
                  <a:srgbClr val="5B3FC4"/>
                </a:solidFill>
                <a:latin typeface="Lexend Deca" pitchFamily="34" charset="0"/>
                <a:ea typeface="Lexend Deca" pitchFamily="34" charset="-122"/>
                <a:cs typeface="Lexend Deca" pitchFamily="34" charset="-120"/>
              </a:rPr>
              <a:t>How much is this red dress?</a:t>
            </a:r>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A answers:</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It's $25.</a:t>
            </a:r>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1B2236"/>
                </a:solidFill>
                <a:latin typeface="Lexend Deca" pitchFamily="34" charset="0"/>
                <a:ea typeface="Lexend Deca" pitchFamily="34" charset="-122"/>
                <a:cs typeface="Lexend Deca" pitchFamily="34" charset="-120"/>
              </a:rPr>
              <a:t>B pays: Here's $30.</a:t>
            </a:r>
          </a:p>
          <a:p>
            <a:pPr algn="l" indent="0" marL="0">
              <a:buNone/>
            </a:pPr>
            <a:r>
              <a:rPr lang="en-US" sz="1900" dirty="0" b="0">
                <a:solidFill>
                  <a:srgbClr val="1B2236"/>
                </a:solidFill>
                <a:latin typeface="Lexend Deca" pitchFamily="34" charset="0"/>
                <a:ea typeface="Lexend Deca" pitchFamily="34" charset="-122"/>
                <a:cs typeface="Lexend Deca" pitchFamily="34" charset="-120"/>
              </a:rPr>
              <a:t>A: Your change is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ext 4"/>
          <p:cNvSpPr/>
          <p:nvPr/>
        </p:nvSpPr>
        <p:spPr>
          <a:xfrm>
            <a:off x="4343400" y="2103120"/>
            <a:ext cx="54864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a:t>
            </a:r>
            <a:r>
              <a:rPr lang="en-US" sz="2200" dirty="0" b="1">
                <a:solidFill>
                  <a:srgbClr val="5B3FC4"/>
                </a:solidFill>
                <a:latin typeface="Lexend Deca" pitchFamily="34" charset="0"/>
                <a:ea typeface="Lexend Deca" pitchFamily="34" charset="-122"/>
                <a:cs typeface="Lexend Deca" pitchFamily="34" charset="-120"/>
              </a:rPr>
              <a:t>   7:10–7:15</a:t>
            </a:r>
            <a:endParaRPr lang="en-US" sz="4000" dirty="0"/>
          </a:p>
        </p:txBody>
      </p:sp>
      <p:pic>
        <p:nvPicPr>
          <p:cNvPr id="16" name="Jacket picture" descr="green jacket"/>
          <p:cNvPicPr>
            <a:picLocks noChangeAspect="1"/>
          </p:cNvPicPr>
          <p:nvPr/>
        </p:nvPicPr>
        <p:blipFill>
          <a:blip r:embed="rIdL7_104"/>
          <a:stretch>
            <a:fillRect/>
          </a:stretch>
        </p:blipFill>
        <p:spPr>
          <a:xfrm>
            <a:off x="777240" y="2651760"/>
            <a:ext cx="3017520" cy="2112264"/>
          </a:xfrm>
          <a:prstGeom prst="rect">
            <a:avLst/>
          </a:prstGeom>
        </p:spPr>
      </p:pic>
      <p:sp>
        <p:nvSpPr>
          <p:cNvPr id="17" name="Num 01"/>
          <p:cNvSpPr/>
          <p:nvPr/>
        </p:nvSpPr>
        <p:spPr>
          <a:xfrm>
            <a:off x="43434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a:p>
        </p:txBody>
      </p:sp>
      <p:sp>
        <p:nvSpPr>
          <p:cNvPr id="19" name="Body 01"/>
          <p:cNvSpPr/>
          <p:nvPr/>
        </p:nvSpPr>
        <p:spPr>
          <a:xfrm>
            <a:off x="4343400" y="3977640"/>
            <a:ext cx="352044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Ask:</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How much is this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How much are these ___?</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Or write:</a:t>
            </a:r>
          </a:p>
          <a:p>
            <a:pPr algn="l" indent="0" marL="0">
              <a:spcAft>
                <a:spcPts val="200"/>
              </a:spcAft>
              <a:buNone/>
            </a:pPr>
            <a:r>
              <a:rPr lang="en-US" sz="1700" dirty="0" b="1">
                <a:solidFill>
                  <a:srgbClr val="5B3FC4"/>
                </a:solidFill>
                <a:latin typeface="Lexend Deca" pitchFamily="34" charset="0"/>
                <a:ea typeface="Lexend Deca" pitchFamily="34" charset="-122"/>
                <a:cs typeface="Lexend Deca" pitchFamily="34" charset="-120"/>
              </a:rPr>
              <a:t>a red dress</a:t>
            </a:r>
          </a:p>
        </p:txBody>
      </p:sp>
      <p:sp>
        <p:nvSpPr>
          <p:cNvPr id="20" name="Num 02"/>
          <p:cNvSpPr/>
          <p:nvPr/>
        </p:nvSpPr>
        <p:spPr>
          <a:xfrm>
            <a:off x="8001000" y="333756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333756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a:p>
        </p:txBody>
      </p:sp>
      <p:sp>
        <p:nvSpPr>
          <p:cNvPr id="22" name="Body 02"/>
          <p:cNvSpPr/>
          <p:nvPr/>
        </p:nvSpPr>
        <p:spPr>
          <a:xfrm>
            <a:off x="8001000" y="3977640"/>
            <a:ext cx="3611880" cy="20116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1. Write is or are.</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2. Put the words in order.</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3. Write 3 price tags.</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4. Say prices at home.</a:t>
            </a:r>
          </a:p>
          <a:p>
            <a:pPr algn="l" indent="0" marL="0">
              <a:spcAft>
                <a:spcPts val="200"/>
              </a:spcAft>
              <a:buNone/>
            </a:pPr>
            <a:r>
              <a:rPr lang="en-US" sz="1800" dirty="0" b="0">
                <a:solidFill>
                  <a:srgbClr val="1B2236"/>
                </a:solidFill>
                <a:latin typeface="Lexend Deca" pitchFamily="34" charset="0"/>
                <a:ea typeface="Lexend Deca" pitchFamily="34" charset="-122"/>
                <a:cs typeface="Lexend Deca" pitchFamily="34" charset="-120"/>
              </a:rPr>
              <a:t>5. Class day and time.</a:t>
            </a:r>
          </a:p>
          <a:p>
            <a:pPr algn="l" indent="0" marL="0">
              <a:spcAft>
                <a:spcPts val="200"/>
              </a:spcAft>
              <a:buNone/>
            </a:pPr>
            <a:r>
              <a:rPr lang="en-US" sz="1800" dirty="0" b="1">
                <a:solidFill>
                  <a:srgbClr val="1B2236"/>
                </a:solidFill>
                <a:latin typeface="Lexend Deca" pitchFamily="34" charset="0"/>
                <a:ea typeface="Lexend Deca" pitchFamily="34" charset="-122"/>
                <a:cs typeface="Lexend Deca" pitchFamily="34" charset="-120"/>
              </a:rPr>
              <a:t>Bring it next week!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5">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076429" y="533095"/>
            <a:ext cx="5814670" cy="1554480"/>
          </a:xfrm>
          <a:prstGeom prst="roundRect">
            <a:avLst>
              <a:gd name="adj" fmla="val 16667"/>
            </a:avLst>
          </a:prstGeom>
          <a:solidFill>
            <a:srgbClr val="8FAFE3"/>
          </a:solidFill>
          <a:ln/>
        </p:spPr>
        <p:txBody>
          <a:bodyPr/>
          <a:p/>
        </p:txBody>
      </p:sp>
      <p:sp>
        <p:nvSpPr>
          <p:cNvPr id="3" name="Shape 1"/>
          <p:cNvSpPr/>
          <p:nvPr/>
        </p:nvSpPr>
        <p:spPr>
          <a:xfrm>
            <a:off x="5110582" y="457200"/>
            <a:ext cx="5814670" cy="1554480"/>
          </a:xfrm>
          <a:prstGeom prst="roundRect">
            <a:avLst>
              <a:gd name="adj" fmla="val 16667"/>
            </a:avLst>
          </a:prstGeom>
          <a:solidFill>
            <a:srgbClr val="FFFFFF"/>
          </a:solidFill>
          <a:ln/>
        </p:spPr>
        <p:txBody>
          <a:bodyPr/>
          <a:p/>
        </p:txBody>
      </p:sp>
      <p:sp>
        <p:nvSpPr>
          <p:cNvPr id="4" name="Shape 2"/>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sp>
        <p:nvSpPr>
          <p:cNvPr id="120" name="Alphabet"/>
          <p:cNvSpPr/>
          <p:nvPr/>
        </p:nvSpPr>
        <p:spPr>
          <a:xfrm>
            <a:off x="228600" y="1737360"/>
            <a:ext cx="3337560" cy="3291840"/>
          </a:xfrm>
          <a:prstGeom prst="rect">
            <a:avLst/>
          </a:prstGeom>
          <a:noFill/>
          <a:ln/>
        </p:spPr>
        <p:txBody>
          <a:bodyPr wrap="square" rtlCol="0" anchor="ctr"/>
          <a:lstStyle/>
          <a:p>
            <a:pPr algn="ctr" indent="0" marL="0">
              <a:spcBef>
                <a:spcPts val="900"/>
              </a:spcBef>
              <a:buNone/>
            </a:pPr>
            <a:r>
              <a:rPr lang="en-US" sz="2800" dirty="0" b="1">
                <a:solidFill>
                  <a:srgbClr val="1B2236"/>
                </a:solidFill>
                <a:latin typeface="Lexend Deca" pitchFamily="34" charset="0"/>
                <a:ea typeface="Lexend Deca" pitchFamily="34" charset="-122"/>
                <a:cs typeface="Lexend Deca" pitchFamily="34" charset="-120"/>
              </a:rPr>
              <a:t>$4.99</a:t>
            </a:r>
          </a:p>
          <a:p>
            <a:pPr algn="ctr" indent="0" marL="0">
              <a:spcBef>
                <a:spcPts val="900"/>
              </a:spcBef>
              <a:buNone/>
            </a:pPr>
            <a:r>
              <a:rPr lang="en-US" sz="2200" dirty="0" b="1">
                <a:solidFill>
                  <a:srgbClr val="5B3FC4"/>
                </a:solidFill>
                <a:latin typeface="Lexend Deca" pitchFamily="34" charset="0"/>
                <a:ea typeface="Lexend Deca" pitchFamily="34" charset="-122"/>
                <a:cs typeface="Lexend Deca" pitchFamily="34" charset="-120"/>
              </a:rPr>
              <a:t>four ninety-nine</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The dot is a period.</a:t>
            </a:r>
          </a:p>
          <a:p>
            <a:pPr algn="ctr" indent="0" marL="0">
              <a:spcBef>
                <a:spcPts val="900"/>
              </a:spcBef>
              <a:buNone/>
            </a:pPr>
            <a:r>
              <a:rPr lang="en-US" sz="2000" dirty="0" b="1">
                <a:solidFill>
                  <a:srgbClr val="1B2236"/>
                </a:solidFill>
                <a:latin typeface="Lexend Deca" pitchFamily="34" charset="0"/>
                <a:ea typeface="Lexend Deca" pitchFamily="34" charset="-122"/>
                <a:cs typeface="Lexend Deca" pitchFamily="34" charset="-120"/>
              </a:rPr>
              <a:t>After the dot: cents.</a:t>
            </a:r>
          </a:p>
        </p:txBody>
      </p:sp>
      <p:sp>
        <p:nvSpPr>
          <p:cNvPr id="7" name="Text 5"/>
          <p:cNvSpPr/>
          <p:nvPr/>
        </p:nvSpPr>
        <p:spPr>
          <a:xfrm>
            <a:off x="5333695" y="566928"/>
            <a:ext cx="4846320" cy="13258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Letters &amp; Numbers  ·  Task A</a:t>
            </a:r>
          </a:p>
          <a:p>
            <a:pPr algn="l" indent="0" marL="0">
              <a:spcAft>
                <a:spcPts val="400"/>
              </a:spcAft>
              <a:buNone/>
            </a:pPr>
            <a:r>
              <a:rPr lang="en-US" sz="3400" dirty="0" b="1">
                <a:solidFill>
                  <a:srgbClr val="1B2236"/>
                </a:solidFill>
                <a:latin typeface="Lexend Deca" pitchFamily="34" charset="0"/>
                <a:ea typeface="Lexend Deca" pitchFamily="34" charset="-122"/>
                <a:cs typeface="Lexend Deca" pitchFamily="34" charset="-120"/>
              </a:rPr>
              <a:t>Say the Prices</a:t>
            </a:r>
          </a:p>
        </p:txBody>
      </p:sp>
      <p:sp>
        <p:nvSpPr>
          <p:cNvPr id="8" name="Text 6"/>
          <p:cNvSpPr/>
          <p:nvPr/>
        </p:nvSpPr>
        <p:spPr>
          <a:xfrm>
            <a:off x="498348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WRITE</a:t>
            </a:r>
          </a:p>
        </p:txBody>
      </p:sp>
      <p:sp>
        <p:nvSpPr>
          <p:cNvPr id="11" name="Text 9"/>
          <p:cNvSpPr/>
          <p:nvPr/>
        </p:nvSpPr>
        <p:spPr>
          <a:xfrm>
            <a:off x="8046720" y="214884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p>
        </p:txBody>
      </p:sp>
      <p:sp>
        <p:nvSpPr>
          <p:cNvPr id="18" name="Highlight 1"/>
          <p:cNvSpPr/>
          <p:nvPr/>
        </p:nvSpPr>
        <p:spPr>
          <a:xfrm>
            <a:off x="4937760" y="2697479"/>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9" name="Helper 1"/>
          <p:cNvSpPr/>
          <p:nvPr/>
        </p:nvSpPr>
        <p:spPr>
          <a:xfrm>
            <a:off x="4937760" y="2651760"/>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$4.99</a:t>
            </a:r>
          </a:p>
        </p:txBody>
      </p:sp>
      <p:sp>
        <p:nvSpPr>
          <p:cNvPr id="22" name="Answer bg 1"/>
          <p:cNvSpPr/>
          <p:nvPr/>
        </p:nvSpPr>
        <p:spPr>
          <a:xfrm>
            <a:off x="8001000" y="2651760"/>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1" name="Answer 1"/>
          <p:cNvSpPr/>
          <p:nvPr/>
        </p:nvSpPr>
        <p:spPr>
          <a:xfrm>
            <a:off x="8001000" y="2651760"/>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four ninety-nine</a:t>
            </a:r>
          </a:p>
        </p:txBody>
      </p:sp>
      <p:sp>
        <p:nvSpPr>
          <p:cNvPr id="23" name="Highlight 2"/>
          <p:cNvSpPr/>
          <p:nvPr/>
        </p:nvSpPr>
        <p:spPr>
          <a:xfrm>
            <a:off x="4937760" y="3465575"/>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Helper 2"/>
          <p:cNvSpPr/>
          <p:nvPr/>
        </p:nvSpPr>
        <p:spPr>
          <a:xfrm>
            <a:off x="4937760" y="3419856"/>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$12.50</a:t>
            </a:r>
          </a:p>
        </p:txBody>
      </p:sp>
      <p:sp>
        <p:nvSpPr>
          <p:cNvPr id="27" name="Answer bg 2"/>
          <p:cNvSpPr/>
          <p:nvPr/>
        </p:nvSpPr>
        <p:spPr>
          <a:xfrm>
            <a:off x="8001000" y="3419856"/>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2"/>
          <p:cNvSpPr/>
          <p:nvPr/>
        </p:nvSpPr>
        <p:spPr>
          <a:xfrm>
            <a:off x="8001000" y="3419856"/>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twelve fifty</a:t>
            </a:r>
          </a:p>
        </p:txBody>
      </p:sp>
      <p:sp>
        <p:nvSpPr>
          <p:cNvPr id="132" name="Highlight 3"/>
          <p:cNvSpPr/>
          <p:nvPr/>
        </p:nvSpPr>
        <p:spPr>
          <a:xfrm>
            <a:off x="4937760" y="4233672"/>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42" name="Helper 3"/>
          <p:cNvSpPr/>
          <p:nvPr/>
        </p:nvSpPr>
        <p:spPr>
          <a:xfrm>
            <a:off x="4937760" y="4187952"/>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$20.00</a:t>
            </a:r>
          </a:p>
        </p:txBody>
      </p:sp>
      <p:sp>
        <p:nvSpPr>
          <p:cNvPr id="162" name="Answer bg 3"/>
          <p:cNvSpPr/>
          <p:nvPr/>
        </p:nvSpPr>
        <p:spPr>
          <a:xfrm>
            <a:off x="8001000" y="4187952"/>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72" name="Answer 3"/>
          <p:cNvSpPr/>
          <p:nvPr/>
        </p:nvSpPr>
        <p:spPr>
          <a:xfrm>
            <a:off x="8001000" y="4187952"/>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twenty dollars</a:t>
            </a:r>
          </a:p>
        </p:txBody>
      </p:sp>
      <p:sp>
        <p:nvSpPr>
          <p:cNvPr id="133" name="Highlight 4"/>
          <p:cNvSpPr/>
          <p:nvPr/>
        </p:nvSpPr>
        <p:spPr>
          <a:xfrm>
            <a:off x="4937760" y="5001768"/>
            <a:ext cx="2999232" cy="566928"/>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43" name="Helper 4"/>
          <p:cNvSpPr/>
          <p:nvPr/>
        </p:nvSpPr>
        <p:spPr>
          <a:xfrm>
            <a:off x="4937760" y="4956048"/>
            <a:ext cx="2999232" cy="658368"/>
          </a:xfrm>
          <a:prstGeom prst="rect">
            <a:avLst/>
          </a:prstGeom>
          <a:no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$0.25 (25¢)</a:t>
            </a:r>
          </a:p>
        </p:txBody>
      </p:sp>
      <p:sp>
        <p:nvSpPr>
          <p:cNvPr id="163" name="Answer bg 4"/>
          <p:cNvSpPr/>
          <p:nvPr/>
        </p:nvSpPr>
        <p:spPr>
          <a:xfrm>
            <a:off x="8001000" y="4956048"/>
            <a:ext cx="3794760" cy="6583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73" name="Answer 4"/>
          <p:cNvSpPr/>
          <p:nvPr/>
        </p:nvSpPr>
        <p:spPr>
          <a:xfrm>
            <a:off x="8001000" y="4956048"/>
            <a:ext cx="3794760" cy="6583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twenty-five cents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2"/>
                                        </p:tgtEl>
                                        <p:attrNameLst>
                                          <p:attrName>style.visibility</p:attrName>
                                        </p:attrNameLst>
                                      </p:cBhvr>
                                      <p:to>
                                        <p:strVal val="visible"/>
                                      </p:to>
                                    </p:set>
                                    <p:animEffect transition="in" filter="fade">
                                      <p:cBhvr>
                                        <p:cTn id="23" dur="400"/>
                                        <p:tgtEl>
                                          <p:spTgt spid="162"/>
                                        </p:tgtEl>
                                      </p:cBhvr>
                                    </p:animEffect>
                                  </p:childTnLst>
                                </p:cTn>
                              </p:par>
                              <p:par>
                                <p:cTn id="24" presetID="10" presetClass="entr" presetSubtype="0" fill="hold" nodeType="withEffect">
                                  <p:stCondLst>
                                    <p:cond delay="0"/>
                                  </p:stCondLst>
                                  <p:childTnLst>
                                    <p:set>
                                      <p:cBhvr>
                                        <p:cTn id="25" dur="1" fill="hold">
                                          <p:stCondLst>
                                            <p:cond delay="0"/>
                                          </p:stCondLst>
                                        </p:cTn>
                                        <p:tgtEl>
                                          <p:spTgt spid="172"/>
                                        </p:tgtEl>
                                        <p:attrNameLst>
                                          <p:attrName>style.visibility</p:attrName>
                                        </p:attrNameLst>
                                      </p:cBhvr>
                                      <p:to>
                                        <p:strVal val="visible"/>
                                      </p:to>
                                    </p:set>
                                    <p:animEffect transition="in" filter="fade">
                                      <p:cBhvr>
                                        <p:cTn id="26" dur="400"/>
                                        <p:tgtEl>
                                          <p:spTgt spid="17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3"/>
                                        </p:tgtEl>
                                        <p:attrNameLst>
                                          <p:attrName>style.visibility</p:attrName>
                                        </p:attrNameLst>
                                      </p:cBhvr>
                                      <p:to>
                                        <p:strVal val="visible"/>
                                      </p:to>
                                    </p:set>
                                    <p:animEffect transition="in" filter="fade">
                                      <p:cBhvr>
                                        <p:cTn id="31" dur="400"/>
                                        <p:tgtEl>
                                          <p:spTgt spid="163"/>
                                        </p:tgtEl>
                                      </p:cBhvr>
                                    </p:animEffect>
                                  </p:childTnLst>
                                </p:cTn>
                              </p:par>
                              <p:par>
                                <p:cTn id="32" presetID="10" presetClass="entr" presetSubtype="0" fill="hold" nodeType="withEffect">
                                  <p:stCondLst>
                                    <p:cond delay="0"/>
                                  </p:stCondLst>
                                  <p:childTnLst>
                                    <p:set>
                                      <p:cBhvr>
                                        <p:cTn id="33" dur="1" fill="hold">
                                          <p:stCondLst>
                                            <p:cond delay="0"/>
                                          </p:stCondLst>
                                        </p:cTn>
                                        <p:tgtEl>
                                          <p:spTgt spid="173"/>
                                        </p:tgtEl>
                                        <p:attrNameLst>
                                          <p:attrName>style.visibility</p:attrName>
                                        </p:attrNameLst>
                                      </p:cBhvr>
                                      <p:to>
                                        <p:strVal val="visible"/>
                                      </p:to>
                                    </p:set>
                                    <p:animEffect transition="in" filter="fade">
                                      <p:cBhvr>
                                        <p:cTn id="34" dur="4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1F5FB"/>
        </a:solidFill>
      </p:bgPr>
    </p:bg>
    <p:spTree>
      <p:nvGrpSpPr>
        <p:cNvPr id="1" name=""/>
        <p:cNvGrpSpPr/>
        <p:nvPr/>
      </p:nvGrpSpPr>
      <p:grpSpPr>
        <a:xfrm>
          <a:off x="0" y="0"/>
          <a:ext cx="0" cy="0"/>
          <a:chOff x="0" y="0"/>
          <a:chExt cx="0" cy="0"/>
        </a:xfrm>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3429000"/>
          </a:xfrm>
          <a:prstGeom prst="rect">
            <a:avLst/>
          </a:prstGeom>
          <a:solidFill>
            <a:srgbClr val="B9D2F7"/>
          </a:solidFill>
          <a:ln/>
        </p:spPr>
        <p:txBody>
          <a:bodyPr/>
          <a:p/>
        </p:txBody>
      </p:sp>
      <p:sp>
        <p:nvSpPr>
          <p:cNvPr id="62" name="I can"/>
          <p:cNvSpPr/>
          <p:nvPr/>
        </p:nvSpPr>
        <p:spPr>
          <a:xfrm>
            <a:off x="8503920" y="1234440"/>
            <a:ext cx="3291840" cy="17373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200" dirty="0"/>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2200" dirty="0"/>
          </a:p>
          <a:p>
            <a:pPr algn="ctr" indent="0" marL="0">
              <a:buNone/>
            </a:pPr>
            <a:r>
              <a:rPr lang="en-US" sz="2000" dirty="0" b="0">
                <a:solidFill>
                  <a:srgbClr val="1B2236"/>
                </a:solidFill>
                <a:latin typeface="Lexend Deca" pitchFamily="34" charset="0"/>
                <a:ea typeface="Lexend Deca" pitchFamily="34" charset="-122"/>
                <a:cs typeface="Lexend Deca" pitchFamily="34" charset="-120"/>
              </a:rPr>
              <a:t>Check one face.</a:t>
            </a:r>
            <a:endParaRPr lang="en-US" sz="2200" dirty="0"/>
          </a:p>
        </p:txBody>
      </p:sp>
      <p:sp>
        <p:nvSpPr>
          <p:cNvPr id="5" name="Shape 3"/>
          <p:cNvSpPr/>
          <p:nvPr/>
        </p:nvSpPr>
        <p:spPr>
          <a:xfrm flipH="1">
            <a:off x="501091" y="3255264"/>
            <a:ext cx="4000500" cy="3258921"/>
          </a:xfrm>
          <a:prstGeom prst="round1Rect">
            <a:avLst>
              <a:gd name="adj" fmla="val 23087"/>
            </a:avLst>
          </a:prstGeom>
          <a:solidFill>
            <a:srgbClr val="8FAFE3"/>
          </a:solidFill>
          <a:ln/>
        </p:spPr>
        <p:txBody>
          <a:bodyPr/>
          <a:p/>
        </p:txBody>
      </p:sp>
      <p:sp>
        <p:nvSpPr>
          <p:cNvPr id="6" name="Shape 4"/>
          <p:cNvSpPr/>
          <p:nvPr/>
        </p:nvSpPr>
        <p:spPr>
          <a:xfrm flipH="1">
            <a:off x="4845406" y="3263494"/>
            <a:ext cx="586039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4068165" cy="3258921"/>
          </a:xfrm>
          <a:prstGeom prst="round1Rect">
            <a:avLst>
              <a:gd name="adj" fmla="val 23087"/>
            </a:avLst>
          </a:prstGeom>
          <a:solidFill>
            <a:srgbClr val="FFFFFF"/>
          </a:solidFill>
          <a:ln/>
        </p:spPr>
        <p:txBody>
          <a:bodyPr/>
          <a:p/>
        </p:txBody>
      </p:sp>
      <p:sp>
        <p:nvSpPr>
          <p:cNvPr id="10" name="Shape 8"/>
          <p:cNvSpPr/>
          <p:nvPr/>
        </p:nvSpPr>
        <p:spPr>
          <a:xfrm flipH="1">
            <a:off x="4977079" y="3063240"/>
            <a:ext cx="5860390" cy="3258921"/>
          </a:xfrm>
          <a:prstGeom prst="round1Rect">
            <a:avLst>
              <a:gd name="adj" fmla="val 23087"/>
            </a:avLst>
          </a:prstGeom>
          <a:solidFill>
            <a:srgbClr val="FFFFFF"/>
          </a:solidFill>
          <a:ln/>
        </p:spPr>
        <p:txBody>
          <a:bodyPr/>
          <a:p/>
        </p:txBody>
      </p:sp>
      <p:sp>
        <p:nvSpPr>
          <p:cNvPr id="11" name="Text 9"/>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a:t>
            </a:r>
            <a:r>
              <a:rPr lang="en-US" sz="2400" dirty="0" b="1">
                <a:solidFill>
                  <a:srgbClr val="5B3FC4"/>
                </a:solidFill>
                <a:latin typeface="Lexend Deca" pitchFamily="34" charset="0"/>
                <a:ea typeface="Lexend Deca" pitchFamily="34" charset="-122"/>
                <a:cs typeface="Lexend Deca" pitchFamily="34" charset="-120"/>
              </a:rPr>
              <a:t>   7:25</a:t>
            </a:r>
            <a:endParaRPr lang="en-US" sz="4300" dirty="0"/>
          </a:p>
        </p:txBody>
      </p:sp>
      <p:sp>
        <p:nvSpPr>
          <p:cNvPr id="22" name="Dont head"/>
          <p:cNvSpPr/>
          <p:nvPr/>
        </p:nvSpPr>
        <p:spPr>
          <a:xfrm>
            <a:off x="914400" y="3246120"/>
            <a:ext cx="310896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B. Match the question</a:t>
            </a:r>
          </a:p>
        </p:txBody>
      </p:sp>
      <p:sp>
        <p:nvSpPr>
          <p:cNvPr id="23" name="Say head"/>
          <p:cNvSpPr/>
          <p:nvPr/>
        </p:nvSpPr>
        <p:spPr>
          <a:xfrm>
            <a:off x="5257800" y="3246120"/>
            <a:ext cx="48463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Answer</a:t>
            </a:r>
            <a:endParaRPr lang="en-US" sz="2200" dirty="0"/>
          </a:p>
        </p:txBody>
      </p:sp>
      <p:sp>
        <p:nvSpPr>
          <p:cNvPr id="24" name="Bad 1"/>
          <p:cNvSpPr/>
          <p:nvPr/>
        </p:nvSpPr>
        <p:spPr>
          <a:xfrm>
            <a:off x="914400" y="3840480"/>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1. How much is this shirt?</a:t>
            </a:r>
          </a:p>
        </p:txBody>
      </p:sp>
      <p:sp>
        <p:nvSpPr>
          <p:cNvPr id="25" name="Good 1"/>
          <p:cNvSpPr/>
          <p:nvPr/>
        </p:nvSpPr>
        <p:spPr>
          <a:xfrm>
            <a:off x="5257800" y="3840480"/>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c. It's $12.</a:t>
            </a:r>
          </a:p>
        </p:txBody>
      </p:sp>
      <p:sp>
        <p:nvSpPr>
          <p:cNvPr id="26" name="Bad 2"/>
          <p:cNvSpPr/>
          <p:nvPr/>
        </p:nvSpPr>
        <p:spPr>
          <a:xfrm>
            <a:off x="914400" y="4407408"/>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2. How much are these shoes?</a:t>
            </a:r>
          </a:p>
        </p:txBody>
      </p:sp>
      <p:sp>
        <p:nvSpPr>
          <p:cNvPr id="27" name="Good 2"/>
          <p:cNvSpPr/>
          <p:nvPr/>
        </p:nvSpPr>
        <p:spPr>
          <a:xfrm>
            <a:off x="5257800" y="4407408"/>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 They're $30.</a:t>
            </a:r>
          </a:p>
        </p:txBody>
      </p:sp>
      <p:sp>
        <p:nvSpPr>
          <p:cNvPr id="28" name="Bad 3"/>
          <p:cNvSpPr/>
          <p:nvPr/>
        </p:nvSpPr>
        <p:spPr>
          <a:xfrm>
            <a:off x="914400" y="4974336"/>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3. Cash or credit card?</a:t>
            </a:r>
          </a:p>
        </p:txBody>
      </p:sp>
      <p:sp>
        <p:nvSpPr>
          <p:cNvPr id="29" name="Good 3"/>
          <p:cNvSpPr/>
          <p:nvPr/>
        </p:nvSpPr>
        <p:spPr>
          <a:xfrm>
            <a:off x="5257800" y="4974336"/>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d. Cash, please.</a:t>
            </a:r>
          </a:p>
        </p:txBody>
      </p:sp>
      <p:sp>
        <p:nvSpPr>
          <p:cNvPr id="60" name="Bad 4"/>
          <p:cNvSpPr/>
          <p:nvPr/>
        </p:nvSpPr>
        <p:spPr>
          <a:xfrm>
            <a:off x="914400" y="5541264"/>
            <a:ext cx="3931920" cy="5486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4. What color is the shirt?</a:t>
            </a:r>
          </a:p>
        </p:txBody>
      </p:sp>
      <p:sp>
        <p:nvSpPr>
          <p:cNvPr id="61" name="Good 4"/>
          <p:cNvSpPr/>
          <p:nvPr/>
        </p:nvSpPr>
        <p:spPr>
          <a:xfrm>
            <a:off x="5257800" y="5541264"/>
            <a:ext cx="4846320" cy="548640"/>
          </a:xfrm>
          <a:prstGeom prst="rect">
            <a:avLst/>
          </a:prstGeom>
          <a:noFill/>
          <a:ln w="38100">
            <a:noFill/>
          </a:ln>
        </p:spPr>
        <p:txBody>
          <a:bodyPr wrap="square" lIns="73152" tIns="36576" rIns="73152" bIns="36576" rtlCol="0" anchor="ctr">
            <a:noAutofit/>
          </a:bodyP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 It's blue.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Cash picture" descr="cash">    </p:cNvPr>
          <p:cNvPicPr>
            <a:picLocks noChangeAspect="1"/>
          </p:cNvPicPr>
          <p:nvPr/>
        </p:nvPicPr>
        <p:blipFill>
          <a:blip r:embed="rIdL7_104"/>
          <a:stretch>
            <a:fillRect/>
          </a:stretch>
        </p:blipFill>
        <p:spPr>
          <a:xfrm>
            <a:off x="7726680" y="1664208"/>
            <a:ext cx="3474720" cy="2432304"/>
          </a:xfrm>
          <a:prstGeom prst="rect">
            <a:avLst/>
          </a:prstGeom>
        </p:spPr>
      </p:pic>
      <p:sp>
        <p:nvSpPr>
          <p:cNvPr id="5" name="Text 2"/>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7  ·  Level 1</a:t>
            </a:r>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ext 5"/>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Great Work! See You Next Week!</a:t>
            </a:r>
            <a:endParaRPr lang="en-US" sz="5000" dirty="0"/>
          </a:p>
        </p:txBody>
      </p:sp>
      <p:sp>
        <p:nvSpPr>
          <p:cNvPr id="9" name="Text 6"/>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p>
        </p:txBody>
      </p:sp>
      <p:sp>
        <p:nvSpPr>
          <p:cNvPr id="10" name="Text 7"/>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Ask: How much is this shirt?</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Say: a blue shirt, black shoes.</a:t>
            </a:r>
          </a:p>
          <a:p>
            <a:pPr algn="l" indent="0" marL="0">
              <a:lnSpc>
                <a:spcPct val="115000"/>
              </a:lnSpc>
              <a:buNone/>
            </a:pPr>
            <a:r>
              <a:rPr lang="en-US" sz="2000" dirty="0">
                <a:solidFill>
                  <a:srgbClr val="1B2236"/>
                </a:solidFill>
                <a:latin typeface="Lexend Deca" pitchFamily="34" charset="0"/>
                <a:ea typeface="Lexend Deca" pitchFamily="34" charset="-122"/>
                <a:cs typeface="Lexend Deca" pitchFamily="34" charset="-120"/>
              </a:rPr>
              <a:t>•  Pay: Cash, please. Here's $20.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C9B8F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ext 5"/>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Twemoji credit"/>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1500" dirty="0" b="1">
                <a:solidFill>
                  <a:srgbClr val="5B3FC4"/>
                </a:solidFill>
                <a:latin typeface="Lexend Deca" pitchFamily="34" charset="0"/>
                <a:ea typeface="Lexend Deca" pitchFamily="34" charset="-122"/>
                <a:cs typeface="Lexend Deca" pitchFamily="34" charset="-120"/>
              </a:rPr>
              <a:t>Pictures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Pictures use Twemoji graphics by Twitter, Inc. and other contributors (https://github.com/jdecked/twemoji), licensed under CC BY 4.0 (https://creativecommons.org/licenses/by/4.0/). The graphics were resized and combined, the clothes were recolored to match the color words, and price tags, color swatches, near / far labels, and other labels were added. The receipts and the play-money page are drawn in code; the play money is marked PLAY MONEY and does not copy any real bill or coin. Labels on the pictures use the DejaVu Sans font. The review picture (the clock) is from Lesson 6.</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Other small pictures (the faces on the Progress Check) are standard emoji characters shown with the computer's emoji font.</a:t>
            </a:r>
          </a:p>
        </p:txBody>
      </p:sp>
      <p:sp>
        <p:nvSpPr>
          <p:cNvPr id="16" name="Deck license"/>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a:t>
            </a:r>
          </a:p>
          <a:p>
            <a:pPr algn="l" indent="0" marL="0">
              <a:spcAft>
                <a:spcPts val="600"/>
              </a:spcAft>
              <a:buNone/>
            </a:pPr>
            <a:r>
              <a:rPr lang="en-US" sz="1500" dirty="0" b="0">
                <a:solidFill>
                  <a:srgbClr val="1B2236"/>
                </a:solidFill>
                <a:latin typeface="Lexend Deca" pitchFamily="34" charset="0"/>
                <a:ea typeface="Lexend Deca" pitchFamily="34" charset="-122"/>
                <a:cs typeface="Lexend Deca" pitchFamily="34" charset="-120"/>
              </a:rPr>
              <a:t>All names, prices, and stores on the slides (Ana, the clothing store, Store 1, Store 2) are invented.</a:t>
            </a:r>
          </a:p>
        </p:txBody>
      </p:sp>
      <p:sp>
        <p:nvSpPr>
          <p:cNvPr id="17" name="AudioFontCredits"/>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synthetic voices (Narrator, Cashier, Ana) made with Chatterbox TTS (Resemble AI, MIT License), copied from short reference clips made with Kokoro-82M (Apache 2.0); no recordings of real people were used. Each file carries an inaudible Perth watermark. Font: Lexend Deca (OFL 1.1).</a:t>
            </a:r>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Listen again. Write. Check.</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B: the prices.  C: check or write.</a:t>
            </a:r>
          </a:p>
        </p:txBody>
      </p:sp>
      <p:sp>
        <p:nvSpPr>
          <p:cNvPr id="11" name="Text 9"/>
          <p:cNvSpPr/>
          <p:nvPr/>
        </p:nvSpPr>
        <p:spPr>
          <a:xfrm>
            <a:off x="1810512" y="2395728"/>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B. The shirt is $___.</a:t>
            </a:r>
          </a:p>
          <a:p>
            <a:pPr algn="l" indent="0" marL="0">
              <a:buNone/>
            </a:pPr>
            <a:r>
              <a:rPr lang="en-US" sz="1700" dirty="0">
                <a:solidFill>
                  <a:srgbClr val="1B2236"/>
                </a:solidFill>
                <a:latin typeface="Lexend Deca" pitchFamily="34" charset="0"/>
                <a:ea typeface="Lexend Deca" pitchFamily="34" charset="-122"/>
                <a:cs typeface="Lexend Deca" pitchFamily="34" charset="-120"/>
              </a:rPr>
              <a:t>The shoes are $___.</a:t>
            </a:r>
          </a:p>
        </p:txBody>
      </p:sp>
      <p:sp>
        <p:nvSpPr>
          <p:cNvPr id="13" name="Text 11"/>
          <p:cNvSpPr/>
          <p:nvPr/>
        </p:nvSpPr>
        <p:spPr>
          <a:xfrm>
            <a:off x="1810512" y="3182112"/>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 The total is:</a:t>
            </a:r>
          </a:p>
          <a:p>
            <a:pPr algn="l" indent="0" marL="0">
              <a:buNone/>
            </a:pPr>
            <a:r>
              <a:rPr lang="en-US" sz="1700" dirty="0">
                <a:solidFill>
                  <a:srgbClr val="1B2236"/>
                </a:solidFill>
                <a:latin typeface="Lexend Deca" pitchFamily="34" charset="0"/>
                <a:ea typeface="Lexend Deca" pitchFamily="34" charset="-122"/>
                <a:cs typeface="Lexend Deca" pitchFamily="34" charset="-120"/>
              </a:rPr>
              <a:t>$32   $42   $52</a:t>
            </a:r>
          </a:p>
        </p:txBody>
      </p:sp>
      <p:sp>
        <p:nvSpPr>
          <p:cNvPr id="15" name="Text 13"/>
          <p:cNvSpPr/>
          <p:nvPr/>
        </p:nvSpPr>
        <p:spPr>
          <a:xfrm>
            <a:off x="1810512" y="3968496"/>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 Ana pays with:</a:t>
            </a:r>
          </a:p>
          <a:p>
            <a:pPr algn="l" indent="0" marL="0">
              <a:buNone/>
            </a:pPr>
            <a:r>
              <a:rPr lang="en-US" sz="1700" dirty="0">
                <a:solidFill>
                  <a:srgbClr val="1B2236"/>
                </a:solidFill>
                <a:latin typeface="Lexend Deca" pitchFamily="34" charset="0"/>
                <a:ea typeface="Lexend Deca" pitchFamily="34" charset="-122"/>
                <a:cs typeface="Lexend Deca" pitchFamily="34" charset="-120"/>
              </a:rPr>
              <a:t>cash   a credit card</a:t>
            </a:r>
          </a:p>
        </p:txBody>
      </p:sp>
      <p:sp>
        <p:nvSpPr>
          <p:cNvPr id="17" name="Text 15"/>
          <p:cNvSpPr/>
          <p:nvPr/>
        </p:nvSpPr>
        <p:spPr>
          <a:xfrm>
            <a:off x="1810512" y="4754880"/>
            <a:ext cx="3401568" cy="713232"/>
          </a:xfrm>
          <a:prstGeom prst="rect">
            <a:avLst/>
          </a:prstGeom>
          <a:noFill/>
          <a:ln/>
        </p:spPr>
        <p:txBody>
          <a:bodyPr wrap="square" rtlCol="0" anchor="ctr" tIns="0" bIns="0"/>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 Her change is $___.</a:t>
            </a:r>
          </a:p>
          <a:p>
            <a:pPr algn="l" indent="0" marL="0">
              <a:buNone/>
            </a:pPr>
            <a:r>
              <a:rPr lang="en-US" sz="1700" dirty="0">
                <a:solidFill>
                  <a:srgbClr val="1B2236"/>
                </a:solidFill>
                <a:latin typeface="Lexend Deca" pitchFamily="34" charset="0"/>
                <a:ea typeface="Lexend Deca" pitchFamily="34" charset="-122"/>
                <a:cs typeface="Lexend Deca" pitchFamily="34" charset="-120"/>
              </a:rPr>
              <a:t>Asks for: a bag   the receipt</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 + C</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B: </a:t>
            </a:r>
            <a:r>
              <a:rPr lang="en-US" sz="2000" dirty="0" b="1">
                <a:solidFill>
                  <a:srgbClr val="5B3FC4"/>
                </a:solidFill>
                <a:latin typeface="Lexend Deca" pitchFamily="34" charset="0"/>
                <a:ea typeface="Lexend Deca" pitchFamily="34" charset="-122"/>
                <a:cs typeface="Lexend Deca" pitchFamily="34" charset="-120"/>
              </a:rPr>
              <a:t>write the prices.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C: </a:t>
            </a:r>
            <a:r>
              <a:rPr lang="en-US" sz="2000" dirty="0" b="1">
                <a:solidFill>
                  <a:srgbClr val="5B3FC4"/>
                </a:solidFill>
                <a:latin typeface="Lexend Deca" pitchFamily="34" charset="0"/>
                <a:ea typeface="Lexend Deca" pitchFamily="34" charset="-122"/>
                <a:cs typeface="Lexend Deca" pitchFamily="34" charset="-120"/>
              </a:rPr>
              <a:t>check or write.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show your partner.</a:t>
            </a:r>
          </a:p>
        </p:txBody>
      </p:sp>
      <p:sp>
        <p:nvSpPr>
          <p:cNvPr id="34" name="Answer 1"/>
          <p:cNvSpPr/>
          <p:nvPr/>
        </p:nvSpPr>
        <p:spPr>
          <a:xfrm>
            <a:off x="5193792" y="2523744"/>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$12 · $30</a:t>
            </a:r>
          </a:p>
        </p:txBody>
      </p:sp>
      <p:sp>
        <p:nvSpPr>
          <p:cNvPr id="35" name="Answer 2"/>
          <p:cNvSpPr/>
          <p:nvPr/>
        </p:nvSpPr>
        <p:spPr>
          <a:xfrm>
            <a:off x="5193792" y="3310128"/>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$42</a:t>
            </a:r>
          </a:p>
        </p:txBody>
      </p:sp>
      <p:sp>
        <p:nvSpPr>
          <p:cNvPr id="36" name="Answer 3"/>
          <p:cNvSpPr/>
          <p:nvPr/>
        </p:nvSpPr>
        <p:spPr>
          <a:xfrm>
            <a:off x="5193792" y="4096511"/>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cash</a:t>
            </a:r>
          </a:p>
        </p:txBody>
      </p:sp>
      <p:sp>
        <p:nvSpPr>
          <p:cNvPr id="37" name="Answer 4"/>
          <p:cNvSpPr/>
          <p:nvPr/>
        </p:nvSpPr>
        <p:spPr>
          <a:xfrm>
            <a:off x="5193792" y="4882896"/>
            <a:ext cx="1481328"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$8 · receipt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487604" y="1352535"/>
            <a:ext cx="5246827" cy="1277417"/>
          </a:xfrm>
          <a:prstGeom prst="roundRect">
            <a:avLst>
              <a:gd name="adj" fmla="val 16667"/>
            </a:avLst>
          </a:prstGeom>
          <a:solidFill>
            <a:srgbClr val="8FAFE3"/>
          </a:solidFill>
          <a:ln/>
        </p:spPr>
        <p:txBody>
          <a:bodyPr/>
          <a:p/>
        </p:txBody>
      </p:sp>
      <p:sp>
        <p:nvSpPr>
          <p:cNvPr id="3" name="Shape 1"/>
          <p:cNvSpPr/>
          <p:nvPr/>
        </p:nvSpPr>
        <p:spPr>
          <a:xfrm>
            <a:off x="518465" y="1300277"/>
            <a:ext cx="5246827" cy="1277417"/>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sp>
        <p:nvSpPr>
          <p:cNvPr id="7" name="Text 5"/>
          <p:cNvSpPr/>
          <p:nvPr/>
        </p:nvSpPr>
        <p:spPr>
          <a:xfrm>
            <a:off x="548640" y="1764792"/>
            <a:ext cx="5120640" cy="777240"/>
          </a:xfrm>
          <a:prstGeom prst="rect">
            <a:avLst/>
          </a:prstGeom>
          <a:noFill/>
          <a:ln/>
        </p:spPr>
        <p:txBody>
          <a:bodyPr wrap="square" rtlCol="0" anchor="ctr"/>
          <a:lstStyle/>
          <a:p>
            <a:pPr algn="l" indent="0" marL="0">
              <a:buNone/>
            </a:pPr>
            <a:r>
              <a:rPr lang="en-US" sz="3400" dirty="0" b="1">
                <a:solidFill>
                  <a:srgbClr val="1B2236"/>
                </a:solidFill>
                <a:latin typeface="Lexend Deca" pitchFamily="34" charset="0"/>
                <a:ea typeface="Lexend Deca" pitchFamily="34" charset="-122"/>
                <a:cs typeface="Lexend Deca" pitchFamily="34" charset="-120"/>
              </a:rPr>
              <a:t>Store 2: Switch</a:t>
            </a:r>
          </a:p>
        </p:txBody>
      </p:sp>
      <p:sp>
        <p:nvSpPr>
          <p:cNvPr id="8" name="Text 6"/>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TALK TIME  ·  PART 2</a:t>
            </a:r>
          </a:p>
        </p:txBody>
      </p:sp>
      <p:sp>
        <p:nvSpPr>
          <p:cNvPr id="9" name="Text 7"/>
          <p:cNvSpPr/>
          <p:nvPr/>
        </p:nvSpPr>
        <p:spPr>
          <a:xfrm>
            <a:off x="599846" y="3017520"/>
            <a:ext cx="4114800" cy="868680"/>
          </a:xfrm>
          <a:prstGeom prst="rect">
            <a:avLst/>
          </a:prstGeom>
          <a:noFill/>
          <a:ln/>
        </p:spPr>
        <p:txBody>
          <a:bodyPr wrap="square" lIns="0" tIns="0" rIns="0" bIns="0" rtlCol="0" anchor="t"/>
          <a:lstStyle/>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A is the shopper.</a:t>
            </a:r>
          </a:p>
          <a:p>
            <a:pPr algn="l" indent="0" marL="0">
              <a:lnSpc>
                <a:spcPct val="110000"/>
              </a:lnSpc>
              <a:buNone/>
            </a:pPr>
            <a:r>
              <a:rPr lang="en-US" sz="2200" dirty="0">
                <a:solidFill>
                  <a:srgbClr val="1B2236"/>
                </a:solidFill>
                <a:latin typeface="Lexend Deca" pitchFamily="34" charset="0"/>
                <a:ea typeface="Lexend Deca" pitchFamily="34" charset="-122"/>
                <a:cs typeface="Lexend Deca" pitchFamily="34" charset="-120"/>
              </a:rPr>
              <a:t>B is the cashier.</a:t>
            </a:r>
          </a:p>
        </p:txBody>
      </p:sp>
      <p:sp>
        <p:nvSpPr>
          <p:cNvPr id="13" name="Model A"/>
          <p:cNvSpPr/>
          <p:nvPr/>
        </p:nvSpPr>
        <p:spPr>
          <a:xfrm>
            <a:off x="599846" y="3931920"/>
            <a:ext cx="4754880" cy="73152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 How much is this green jacket?</a:t>
            </a:r>
          </a:p>
        </p:txBody>
      </p:sp>
      <p:sp>
        <p:nvSpPr>
          <p:cNvPr id="14" name="Model B"/>
          <p:cNvSpPr/>
          <p:nvPr/>
        </p:nvSpPr>
        <p:spPr>
          <a:xfrm>
            <a:off x="599846" y="4709160"/>
            <a:ext cx="4754880" cy="548640"/>
          </a:xfrm>
          <a:prstGeom prst="rect">
            <a:avLst/>
          </a:prstGeom>
          <a:noFill/>
          <a:ln/>
        </p:spPr>
        <p:txBody>
          <a:bodyPr wrap="square" lIns="0" tIns="0" rIns="0" bIns="0" rtlCol="0" anchor="t"/>
          <a:lstStyle/>
          <a:p>
            <a:pPr algn="l" indent="0" marL="0">
              <a:spcAft>
                <a:spcPts val="400"/>
              </a:spcAft>
              <a:buNone/>
            </a:pPr>
            <a:r>
              <a:rPr lang="en-US" sz="2200" dirty="0" b="1">
                <a:solidFill>
                  <a:srgbClr val="5B3FC4"/>
                </a:solidFill>
                <a:latin typeface="Lexend Deca" pitchFamily="34" charset="0"/>
                <a:ea typeface="Lexend Deca" pitchFamily="34" charset="-122"/>
                <a:cs typeface="Lexend Deca" pitchFamily="34" charset="-120"/>
              </a:rPr>
              <a:t>B: It's $40.</a:t>
            </a:r>
          </a:p>
        </p:txBody>
      </p:sp>
      <p:sp>
        <p:nvSpPr>
          <p:cNvPr id="139" name="List shadow"/>
          <p:cNvSpPr/>
          <p:nvPr/>
        </p:nvSpPr>
        <p:spPr>
          <a:xfrm>
            <a:off x="6053328" y="1298448"/>
            <a:ext cx="5760720" cy="3154680"/>
          </a:xfrm>
          <a:prstGeom prst="roundRect">
            <a:avLst>
              <a:gd name="adj" fmla="val 16667"/>
            </a:avLst>
          </a:prstGeom>
          <a:solidFill>
            <a:srgbClr val="8FAFE3"/>
          </a:solidFill>
          <a:ln/>
        </p:spPr>
        <p:txBody>
          <a:bodyPr/>
          <a:p/>
        </p:txBody>
      </p:sp>
      <p:sp>
        <p:nvSpPr>
          <p:cNvPr id="140" name="List card"/>
          <p:cNvSpPr/>
          <p:nvPr/>
        </p:nvSpPr>
        <p:spPr>
          <a:xfrm>
            <a:off x="5989320" y="1234440"/>
            <a:ext cx="5760720" cy="3154680"/>
          </a:xfrm>
          <a:prstGeom prst="roundRect">
            <a:avLst>
              <a:gd name="adj" fmla="val 16667"/>
            </a:avLst>
          </a:prstGeom>
          <a:solidFill>
            <a:srgbClr val="FFFFFF"/>
          </a:solidFill>
          <a:ln/>
        </p:spPr>
        <p:txBody>
          <a:bodyPr/>
          <a:p/>
        </p:txBody>
      </p:sp>
      <p:sp>
        <p:nvSpPr>
          <p:cNvPr id="141" name="Question list"/>
          <p:cNvSpPr/>
          <p:nvPr/>
        </p:nvSpPr>
        <p:spPr>
          <a:xfrm>
            <a:off x="6263640" y="1463040"/>
            <a:ext cx="5303520" cy="2834640"/>
          </a:xfrm>
          <a:prstGeom prst="rect">
            <a:avLst/>
          </a:prstGeom>
          <a:noFill/>
          <a:ln/>
        </p:spPr>
        <p:txBody>
          <a:bodyPr wrap="square" lIns="0" tIns="0" rIns="0" bIns="0" rtlCol="0" anchor="t"/>
          <a:lstStyle/>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Then say:</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Here's $___.</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My change is $___.</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Fast pairs: </a:t>
            </a:r>
            <a:r>
              <a:rPr lang="en-US" sz="2200" dirty="0" b="0">
                <a:solidFill>
                  <a:srgbClr val="1B2236"/>
                </a:solidFill>
                <a:latin typeface="Lexend Deca" pitchFamily="34" charset="0"/>
                <a:ea typeface="Lexend Deca" pitchFamily="34" charset="-122"/>
                <a:cs typeface="Lexend Deca" pitchFamily="34" charset="-120"/>
              </a:rPr>
              <a:t>buy 2 things.</a:t>
            </a:r>
          </a:p>
          <a:p>
            <a:pPr algn="l" indent="0" marL="0">
              <a:lnSpc>
                <a:spcPct val="110000"/>
              </a:lnSpc>
              <a:buNone/>
            </a:pPr>
            <a:r>
              <a:rPr lang="en-US" sz="2200" dirty="0" b="0">
                <a:solidFill>
                  <a:srgbClr val="1B2236"/>
                </a:solidFill>
                <a:latin typeface="Lexend Deca" pitchFamily="34" charset="0"/>
                <a:ea typeface="Lexend Deca" pitchFamily="34" charset="-122"/>
                <a:cs typeface="Lexend Deca" pitchFamily="34" charset="-120"/>
              </a:rPr>
              <a:t>Say the total: </a:t>
            </a:r>
            <a:r>
              <a:rPr lang="en-US" sz="2200" dirty="0" b="1">
                <a:solidFill>
                  <a:srgbClr val="5B3FC4"/>
                </a:solidFill>
                <a:latin typeface="Lexend Deca" pitchFamily="34" charset="0"/>
                <a:ea typeface="Lexend Deca" pitchFamily="34" charset="-122"/>
                <a:cs typeface="Lexend Deca" pitchFamily="34" charset="-120"/>
              </a:rPr>
              <a:t>That's $43.</a:t>
            </a:r>
          </a:p>
          <a:p>
            <a:pPr algn="l" indent="0" marL="0">
              <a:lnSpc>
                <a:spcPct val="110000"/>
              </a:lnSpc>
              <a:buNone/>
            </a:pPr>
            <a:r>
              <a:rPr lang="en-US" sz="2200" dirty="0" b="1">
                <a:solidFill>
                  <a:srgbClr val="5B3FC4"/>
                </a:solidFill>
                <a:latin typeface="Lexend Deca" pitchFamily="34" charset="0"/>
                <a:ea typeface="Lexend Deca" pitchFamily="34" charset="-122"/>
                <a:cs typeface="Lexend Deca" pitchFamily="34" charset="-120"/>
              </a:rPr>
              <a:t>Check: </a:t>
            </a:r>
            <a:r>
              <a:rPr lang="en-US" sz="2200" dirty="0" b="0">
                <a:solidFill>
                  <a:srgbClr val="1B2236"/>
                </a:solidFill>
                <a:latin typeface="Lexend Deca" pitchFamily="34" charset="0"/>
                <a:ea typeface="Lexend Deca" pitchFamily="34" charset="-122"/>
                <a:cs typeface="Lexend Deca" pitchFamily="34" charset="-120"/>
              </a:rPr>
              <a:t>Are the prices the same?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50" name="Row card 5"/>
          <p:cNvSpPr/>
          <p:nvPr/>
        </p:nvSpPr>
        <p:spPr>
          <a:xfrm>
            <a:off x="1583741" y="5541264"/>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Write is, are, this, or these.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Then put the words in order.</a:t>
            </a:r>
          </a:p>
        </p:txBody>
      </p:sp>
      <p:sp>
        <p:nvSpPr>
          <p:cNvPr id="11" name="Text 9"/>
          <p:cNvSpPr/>
          <p:nvPr/>
        </p:nvSpPr>
        <p:spPr>
          <a:xfrm>
            <a:off x="1810512" y="2395728"/>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much ____ this jacket?</a:t>
            </a:r>
          </a:p>
        </p:txBody>
      </p:sp>
      <p:sp>
        <p:nvSpPr>
          <p:cNvPr id="13" name="Text 11"/>
          <p:cNvSpPr/>
          <p:nvPr/>
        </p:nvSpPr>
        <p:spPr>
          <a:xfrm>
            <a:off x="1810512" y="3182112"/>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much ____ these pants?</a:t>
            </a:r>
          </a:p>
        </p:txBody>
      </p:sp>
      <p:sp>
        <p:nvSpPr>
          <p:cNvPr id="15" name="Text 13"/>
          <p:cNvSpPr/>
          <p:nvPr/>
        </p:nvSpPr>
        <p:spPr>
          <a:xfrm>
            <a:off x="1810512" y="3968496"/>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much is ____ dress? (near, one)</a:t>
            </a:r>
          </a:p>
        </p:txBody>
      </p:sp>
      <p:sp>
        <p:nvSpPr>
          <p:cNvPr id="17" name="Text 15"/>
          <p:cNvSpPr/>
          <p:nvPr/>
        </p:nvSpPr>
        <p:spPr>
          <a:xfrm>
            <a:off x="1810512" y="4754880"/>
            <a:ext cx="370332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much are ____ shoes? (near, two)</a:t>
            </a:r>
          </a:p>
        </p:txBody>
      </p:sp>
      <p:sp>
        <p:nvSpPr>
          <p:cNvPr id="51" name="Row text 5"/>
          <p:cNvSpPr/>
          <p:nvPr/>
        </p:nvSpPr>
        <p:spPr>
          <a:xfrm>
            <a:off x="1810512" y="5541264"/>
            <a:ext cx="2651760"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shirt / red / a</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52" name="Row chip 5"/>
          <p:cNvSpPr/>
          <p:nvPr/>
        </p:nvSpPr>
        <p:spPr>
          <a:xfrm>
            <a:off x="544982" y="5541264"/>
            <a:ext cx="1039673" cy="713232"/>
          </a:xfrm>
          <a:prstGeom prst="rect">
            <a:avLst/>
          </a:prstGeom>
          <a:solidFill>
            <a:srgbClr val="B9D2F7"/>
          </a:solidFill>
          <a:ln/>
        </p:spPr>
        <p:txBody>
          <a:bodyPr/>
          <a:p/>
        </p:txBody>
      </p:sp>
      <p:sp>
        <p:nvSpPr>
          <p:cNvPr id="53" name="Row number 5"/>
          <p:cNvSpPr/>
          <p:nvPr/>
        </p:nvSpPr>
        <p:spPr>
          <a:xfrm>
            <a:off x="686714" y="56052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is, are, this, these?</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one: </a:t>
            </a:r>
            <a:r>
              <a:rPr lang="en-US" sz="2000" dirty="0" b="1">
                <a:solidFill>
                  <a:srgbClr val="5B3FC4"/>
                </a:solidFill>
                <a:latin typeface="Lexend Deca" pitchFamily="34" charset="0"/>
                <a:ea typeface="Lexend Deca" pitchFamily="34" charset="-122"/>
                <a:cs typeface="Lexend Deca" pitchFamily="34" charset="-120"/>
              </a:rPr>
              <a:t>is · this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two or more: </a:t>
            </a:r>
            <a:r>
              <a:rPr lang="en-US" sz="2000" dirty="0" b="1">
                <a:solidFill>
                  <a:srgbClr val="5B3FC4"/>
                </a:solidFill>
                <a:latin typeface="Lexend Deca" pitchFamily="34" charset="0"/>
                <a:ea typeface="Lexend Deca" pitchFamily="34" charset="-122"/>
                <a:cs typeface="Lexend Deca" pitchFamily="34" charset="-120"/>
              </a:rPr>
              <a:t>are · these</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check your answers.</a:t>
            </a:r>
          </a:p>
        </p:txBody>
      </p:sp>
      <p:sp>
        <p:nvSpPr>
          <p:cNvPr id="34" name="Answer 1"/>
          <p:cNvSpPr/>
          <p:nvPr/>
        </p:nvSpPr>
        <p:spPr>
          <a:xfrm>
            <a:off x="5486400" y="2523744"/>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is</a:t>
            </a:r>
          </a:p>
        </p:txBody>
      </p:sp>
      <p:sp>
        <p:nvSpPr>
          <p:cNvPr id="35" name="Answer 2"/>
          <p:cNvSpPr/>
          <p:nvPr/>
        </p:nvSpPr>
        <p:spPr>
          <a:xfrm>
            <a:off x="5486400" y="3310128"/>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are</a:t>
            </a:r>
          </a:p>
        </p:txBody>
      </p:sp>
      <p:sp>
        <p:nvSpPr>
          <p:cNvPr id="36" name="Answer 3"/>
          <p:cNvSpPr/>
          <p:nvPr/>
        </p:nvSpPr>
        <p:spPr>
          <a:xfrm>
            <a:off x="5486400" y="4096511"/>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this</a:t>
            </a:r>
          </a:p>
        </p:txBody>
      </p:sp>
      <p:sp>
        <p:nvSpPr>
          <p:cNvPr id="37" name="Answer 4"/>
          <p:cNvSpPr/>
          <p:nvPr/>
        </p:nvSpPr>
        <p:spPr>
          <a:xfrm>
            <a:off x="5486400" y="4882896"/>
            <a:ext cx="1097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these</a:t>
            </a:r>
          </a:p>
        </p:txBody>
      </p:sp>
      <p:sp>
        <p:nvSpPr>
          <p:cNvPr id="54" name="Answer 5"/>
          <p:cNvSpPr/>
          <p:nvPr/>
        </p:nvSpPr>
        <p:spPr>
          <a:xfrm>
            <a:off x="4526280" y="5669280"/>
            <a:ext cx="21031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 red shirt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44982" y="1407262"/>
            <a:ext cx="6227064" cy="983894"/>
          </a:xfrm>
          <a:prstGeom prst="round1Rect">
            <a:avLst>
              <a:gd name="adj" fmla="val 23087"/>
            </a:avLst>
          </a:prstGeom>
          <a:solidFill>
            <a:srgbClr val="8FAFE3"/>
          </a:solidFill>
          <a:ln/>
        </p:spPr>
        <p:txBody>
          <a:bodyPr/>
          <a:p/>
        </p:txBody>
      </p:sp>
      <p:sp>
        <p:nvSpPr>
          <p:cNvPr id="3" name="Shape 1"/>
          <p:cNvSpPr/>
          <p:nvPr/>
        </p:nvSpPr>
        <p:spPr>
          <a:xfrm>
            <a:off x="548640" y="1349654"/>
            <a:ext cx="6163056" cy="983894"/>
          </a:xfrm>
          <a:prstGeom prst="round1Rect">
            <a:avLst>
              <a:gd name="adj" fmla="val 23087"/>
            </a:avLst>
          </a:prstGeom>
          <a:solidFill>
            <a:srgbClr val="FFFFFF"/>
          </a:solidFill>
          <a:ln/>
        </p:spPr>
        <p:txBody>
          <a:bodyPr/>
          <a:p/>
        </p:txBody>
      </p:sp>
      <p:sp>
        <p:nvSpPr>
          <p:cNvPr id="4" name="Shape 2"/>
          <p:cNvSpPr/>
          <p:nvPr/>
        </p:nvSpPr>
        <p:spPr>
          <a:xfrm>
            <a:off x="1583741" y="2395728"/>
            <a:ext cx="5130698" cy="713232"/>
          </a:xfrm>
          <a:prstGeom prst="round1Rect">
            <a:avLst>
              <a:gd name="adj" fmla="val 23087"/>
            </a:avLst>
          </a:prstGeom>
          <a:solidFill>
            <a:srgbClr val="FFFFFF"/>
          </a:solidFill>
          <a:ln/>
        </p:spPr>
        <p:txBody>
          <a:bodyPr/>
          <a:p/>
        </p:txBody>
      </p:sp>
      <p:sp>
        <p:nvSpPr>
          <p:cNvPr id="5" name="Shape 3"/>
          <p:cNvSpPr/>
          <p:nvPr/>
        </p:nvSpPr>
        <p:spPr>
          <a:xfrm>
            <a:off x="1583741" y="3182112"/>
            <a:ext cx="5130698" cy="713232"/>
          </a:xfrm>
          <a:prstGeom prst="round1Rect">
            <a:avLst>
              <a:gd name="adj" fmla="val 23087"/>
            </a:avLst>
          </a:prstGeom>
          <a:solidFill>
            <a:srgbClr val="FFFFFF"/>
          </a:solidFill>
          <a:ln/>
        </p:spPr>
        <p:txBody>
          <a:bodyPr/>
          <a:p/>
        </p:txBody>
      </p:sp>
      <p:sp>
        <p:nvSpPr>
          <p:cNvPr id="6" name="Shape 4"/>
          <p:cNvSpPr/>
          <p:nvPr/>
        </p:nvSpPr>
        <p:spPr>
          <a:xfrm>
            <a:off x="1583741" y="3968496"/>
            <a:ext cx="5130698" cy="713232"/>
          </a:xfrm>
          <a:prstGeom prst="round1Rect">
            <a:avLst>
              <a:gd name="adj" fmla="val 23087"/>
            </a:avLst>
          </a:prstGeom>
          <a:solidFill>
            <a:srgbClr val="FFFFFF"/>
          </a:solidFill>
          <a:ln/>
        </p:spPr>
        <p:txBody>
          <a:bodyPr/>
          <a:p/>
        </p:txBody>
      </p:sp>
      <p:sp>
        <p:nvSpPr>
          <p:cNvPr id="7" name="Shape 5"/>
          <p:cNvSpPr/>
          <p:nvPr/>
        </p:nvSpPr>
        <p:spPr>
          <a:xfrm>
            <a:off x="1583741" y="4754880"/>
            <a:ext cx="5130698" cy="713232"/>
          </a:xfrm>
          <a:prstGeom prst="round1Rect">
            <a:avLst>
              <a:gd name="adj" fmla="val 23087"/>
            </a:avLst>
          </a:prstGeom>
          <a:solidFill>
            <a:srgbClr val="FFFFFF"/>
          </a:solidFill>
          <a:ln/>
        </p:spPr>
        <p:txBody>
          <a:bodyPr/>
          <a:p/>
        </p:txBody>
      </p:sp>
      <p:sp>
        <p:nvSpPr>
          <p:cNvPr id="50" name="Row card 5"/>
          <p:cNvSpPr/>
          <p:nvPr/>
        </p:nvSpPr>
        <p:spPr>
          <a:xfrm>
            <a:off x="1583741" y="5541264"/>
            <a:ext cx="5130698" cy="713232"/>
          </a:xfrm>
          <a:prstGeom prst="round1Rect">
            <a:avLst>
              <a:gd name="adj" fmla="val 23087"/>
            </a:avLst>
          </a:prstGeom>
          <a:solidFill>
            <a:srgbClr val="FFFFFF"/>
          </a:solidFill>
          <a:ln/>
        </p:spPr>
        <p:txBody>
          <a:bodyPr/>
          <a:p/>
        </p:txBody>
      </p:sp>
      <p:sp>
        <p:nvSpPr>
          <p:cNvPr id="8" name="Text 6"/>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Circle the price.</a:t>
            </a:r>
          </a:p>
        </p:txBody>
      </p:sp>
      <p:sp>
        <p:nvSpPr>
          <p:cNvPr id="9" name="Text 7"/>
          <p:cNvSpPr/>
          <p:nvPr/>
        </p:nvSpPr>
        <p:spPr>
          <a:xfrm>
            <a:off x="868680" y="1819656"/>
            <a:ext cx="53492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teacher says it 2 times.</a:t>
            </a:r>
          </a:p>
        </p:txBody>
      </p:sp>
      <p:sp>
        <p:nvSpPr>
          <p:cNvPr id="11" name="Text 9"/>
          <p:cNvSpPr/>
          <p:nvPr/>
        </p:nvSpPr>
        <p:spPr>
          <a:xfrm>
            <a:off x="1810512" y="2395728"/>
            <a:ext cx="3520440" cy="713232"/>
          </a:xfrm>
          <a:prstGeom prst="rect">
            <a:avLst/>
          </a:prstGeom>
          <a:noFill/>
          <a:ln/>
        </p:spPr>
        <p:txBody>
          <a:bodyPr wrap="square" rtlCol="0" anchor="ctr" tIns="0" bIns="0"/>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$4.99     $9.49</a:t>
            </a:r>
          </a:p>
        </p:txBody>
      </p:sp>
      <p:sp>
        <p:nvSpPr>
          <p:cNvPr id="13" name="Text 11"/>
          <p:cNvSpPr/>
          <p:nvPr/>
        </p:nvSpPr>
        <p:spPr>
          <a:xfrm>
            <a:off x="1810512" y="3182112"/>
            <a:ext cx="3520440" cy="713232"/>
          </a:xfrm>
          <a:prstGeom prst="rect">
            <a:avLst/>
          </a:prstGeom>
          <a:noFill/>
          <a:ln/>
        </p:spPr>
        <p:txBody>
          <a:bodyPr wrap="square" rtlCol="0" anchor="ctr" tIns="0" bIns="0"/>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$13     $30</a:t>
            </a:r>
          </a:p>
        </p:txBody>
      </p:sp>
      <p:sp>
        <p:nvSpPr>
          <p:cNvPr id="15" name="Text 13"/>
          <p:cNvSpPr/>
          <p:nvPr/>
        </p:nvSpPr>
        <p:spPr>
          <a:xfrm>
            <a:off x="1810512" y="3968496"/>
            <a:ext cx="3520440" cy="713232"/>
          </a:xfrm>
          <a:prstGeom prst="rect">
            <a:avLst/>
          </a:prstGeom>
          <a:noFill/>
          <a:ln/>
        </p:spPr>
        <p:txBody>
          <a:bodyPr wrap="square" rtlCol="0" anchor="ctr" tIns="0" bIns="0"/>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$15.50     $50.15</a:t>
            </a:r>
          </a:p>
        </p:txBody>
      </p:sp>
      <p:sp>
        <p:nvSpPr>
          <p:cNvPr id="17" name="Text 15"/>
          <p:cNvSpPr/>
          <p:nvPr/>
        </p:nvSpPr>
        <p:spPr>
          <a:xfrm>
            <a:off x="1810512" y="4754880"/>
            <a:ext cx="3520440" cy="713232"/>
          </a:xfrm>
          <a:prstGeom prst="rect">
            <a:avLst/>
          </a:prstGeom>
          <a:noFill/>
          <a:ln/>
        </p:spPr>
        <p:txBody>
          <a:bodyPr wrap="square" rtlCol="0" anchor="ctr" tIns="0" bIns="0"/>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$16     $60</a:t>
            </a:r>
          </a:p>
        </p:txBody>
      </p:sp>
      <p:sp>
        <p:nvSpPr>
          <p:cNvPr id="51" name="Row text 5"/>
          <p:cNvSpPr/>
          <p:nvPr/>
        </p:nvSpPr>
        <p:spPr>
          <a:xfrm>
            <a:off x="1810512" y="5541264"/>
            <a:ext cx="3520440" cy="713232"/>
          </a:xfrm>
          <a:prstGeom prst="rect">
            <a:avLst/>
          </a:prstGeom>
          <a:noFill/>
          <a:ln/>
        </p:spPr>
        <p:txBody>
          <a:bodyPr wrap="square" rtlCol="0" anchor="ctr" tIns="0" bIns="0"/>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$2.25     $2.52</a:t>
            </a:r>
          </a:p>
        </p:txBody>
      </p:sp>
      <p:sp>
        <p:nvSpPr>
          <p:cNvPr id="21" name="Shape 19"/>
          <p:cNvSpPr/>
          <p:nvPr/>
        </p:nvSpPr>
        <p:spPr>
          <a:xfrm>
            <a:off x="544982" y="2395728"/>
            <a:ext cx="1039673" cy="713232"/>
          </a:xfrm>
          <a:prstGeom prst="rect">
            <a:avLst/>
          </a:prstGeom>
          <a:solidFill>
            <a:srgbClr val="B9D2F7"/>
          </a:solidFill>
          <a:ln/>
        </p:spPr>
        <p:txBody>
          <a:bodyPr/>
          <a:p/>
        </p:txBody>
      </p:sp>
      <p:sp>
        <p:nvSpPr>
          <p:cNvPr id="22" name="Text 20"/>
          <p:cNvSpPr/>
          <p:nvPr/>
        </p:nvSpPr>
        <p:spPr>
          <a:xfrm>
            <a:off x="686714" y="24597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a:p>
        </p:txBody>
      </p:sp>
      <p:sp>
        <p:nvSpPr>
          <p:cNvPr id="23" name="Shape 21"/>
          <p:cNvSpPr/>
          <p:nvPr/>
        </p:nvSpPr>
        <p:spPr>
          <a:xfrm>
            <a:off x="544982" y="3182112"/>
            <a:ext cx="1039673" cy="713232"/>
          </a:xfrm>
          <a:prstGeom prst="rect">
            <a:avLst/>
          </a:prstGeom>
          <a:solidFill>
            <a:srgbClr val="B9D2F7"/>
          </a:solidFill>
          <a:ln/>
        </p:spPr>
        <p:txBody>
          <a:bodyPr/>
          <a:p/>
        </p:txBody>
      </p:sp>
      <p:sp>
        <p:nvSpPr>
          <p:cNvPr id="24" name="Text 22"/>
          <p:cNvSpPr/>
          <p:nvPr/>
        </p:nvSpPr>
        <p:spPr>
          <a:xfrm>
            <a:off x="686714" y="3246120"/>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a:p>
        </p:txBody>
      </p:sp>
      <p:sp>
        <p:nvSpPr>
          <p:cNvPr id="25" name="Shape 23"/>
          <p:cNvSpPr/>
          <p:nvPr/>
        </p:nvSpPr>
        <p:spPr>
          <a:xfrm>
            <a:off x="544982" y="3968496"/>
            <a:ext cx="1039673" cy="713232"/>
          </a:xfrm>
          <a:prstGeom prst="rect">
            <a:avLst/>
          </a:prstGeom>
          <a:solidFill>
            <a:srgbClr val="B9D2F7"/>
          </a:solidFill>
          <a:ln/>
        </p:spPr>
        <p:txBody>
          <a:bodyPr/>
          <a:p/>
        </p:txBody>
      </p:sp>
      <p:sp>
        <p:nvSpPr>
          <p:cNvPr id="26" name="Text 24"/>
          <p:cNvSpPr/>
          <p:nvPr/>
        </p:nvSpPr>
        <p:spPr>
          <a:xfrm>
            <a:off x="686714" y="40325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a:p>
        </p:txBody>
      </p:sp>
      <p:sp>
        <p:nvSpPr>
          <p:cNvPr id="27" name="Shape 25"/>
          <p:cNvSpPr/>
          <p:nvPr/>
        </p:nvSpPr>
        <p:spPr>
          <a:xfrm>
            <a:off x="544982" y="4754880"/>
            <a:ext cx="1039673" cy="713232"/>
          </a:xfrm>
          <a:prstGeom prst="rect">
            <a:avLst/>
          </a:prstGeom>
          <a:solidFill>
            <a:srgbClr val="B9D2F7"/>
          </a:solidFill>
          <a:ln/>
        </p:spPr>
        <p:txBody>
          <a:bodyPr/>
          <a:p/>
        </p:txBody>
      </p:sp>
      <p:sp>
        <p:nvSpPr>
          <p:cNvPr id="28" name="Text 26"/>
          <p:cNvSpPr/>
          <p:nvPr/>
        </p:nvSpPr>
        <p:spPr>
          <a:xfrm>
            <a:off x="686714" y="481888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a:p>
        </p:txBody>
      </p:sp>
      <p:sp>
        <p:nvSpPr>
          <p:cNvPr id="52" name="Row chip 5"/>
          <p:cNvSpPr/>
          <p:nvPr/>
        </p:nvSpPr>
        <p:spPr>
          <a:xfrm>
            <a:off x="544982" y="5541264"/>
            <a:ext cx="1039673" cy="713232"/>
          </a:xfrm>
          <a:prstGeom prst="rect">
            <a:avLst/>
          </a:prstGeom>
          <a:solidFill>
            <a:srgbClr val="B9D2F7"/>
          </a:solidFill>
          <a:ln/>
        </p:spPr>
        <p:txBody>
          <a:bodyPr/>
          <a:p/>
        </p:txBody>
      </p:sp>
      <p:sp>
        <p:nvSpPr>
          <p:cNvPr id="53" name="Row number 5"/>
          <p:cNvSpPr/>
          <p:nvPr/>
        </p:nvSpPr>
        <p:spPr>
          <a:xfrm>
            <a:off x="686714" y="56052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a:p>
        </p:txBody>
      </p:sp>
      <p:sp>
        <p:nvSpPr>
          <p:cNvPr id="29" name="Text 27"/>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Circle the Price</a:t>
            </a:r>
          </a:p>
        </p:txBody>
      </p:sp>
      <p:sp>
        <p:nvSpPr>
          <p:cNvPr id="30" name="Text 28"/>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Listen: </a:t>
            </a:r>
            <a:r>
              <a:rPr lang="en-US" sz="2000" dirty="0" b="1">
                <a:solidFill>
                  <a:srgbClr val="5B3FC4"/>
                </a:solidFill>
                <a:latin typeface="Lexend Deca" pitchFamily="34" charset="0"/>
                <a:ea typeface="Lexend Deca" pitchFamily="34" charset="-122"/>
                <a:cs typeface="Lexend Deca" pitchFamily="34" charset="-120"/>
              </a:rPr>
              <a:t>2 times.</a:t>
            </a:r>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 says a price.</a:t>
            </a:r>
          </a:p>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B points to it.</a:t>
            </a:r>
          </a:p>
        </p:txBody>
      </p:sp>
      <p:sp>
        <p:nvSpPr>
          <p:cNvPr id="34" name="Answer 1"/>
          <p:cNvSpPr/>
          <p:nvPr/>
        </p:nvSpPr>
        <p:spPr>
          <a:xfrm>
            <a:off x="5394960" y="2523744"/>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$4.99</a:t>
            </a:r>
          </a:p>
        </p:txBody>
      </p:sp>
      <p:sp>
        <p:nvSpPr>
          <p:cNvPr id="35" name="Answer 2"/>
          <p:cNvSpPr/>
          <p:nvPr/>
        </p:nvSpPr>
        <p:spPr>
          <a:xfrm>
            <a:off x="5394960" y="3310128"/>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$13</a:t>
            </a:r>
          </a:p>
        </p:txBody>
      </p:sp>
      <p:sp>
        <p:nvSpPr>
          <p:cNvPr id="36" name="Answer 3"/>
          <p:cNvSpPr/>
          <p:nvPr/>
        </p:nvSpPr>
        <p:spPr>
          <a:xfrm>
            <a:off x="5394960" y="4096511"/>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$15.50</a:t>
            </a:r>
          </a:p>
        </p:txBody>
      </p:sp>
      <p:sp>
        <p:nvSpPr>
          <p:cNvPr id="37" name="Answer 4"/>
          <p:cNvSpPr/>
          <p:nvPr/>
        </p:nvSpPr>
        <p:spPr>
          <a:xfrm>
            <a:off x="5394960" y="4882896"/>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$60</a:t>
            </a:r>
          </a:p>
        </p:txBody>
      </p:sp>
      <p:sp>
        <p:nvSpPr>
          <p:cNvPr id="54" name="Answer 5"/>
          <p:cNvSpPr/>
          <p:nvPr/>
        </p:nvSpPr>
        <p:spPr>
          <a:xfrm>
            <a:off x="5394960" y="5669280"/>
            <a:ext cx="1261872"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$2.25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p:bgPr>
    </p:bg>
    <p:spTree>
      <p:nvGrpSpPr>
        <p:cNvPr id="1" name=""/>
        <p:cNvGrpSpPr/>
        <p:nvPr/>
      </p:nvGrpSpPr>
      <p:grpSpPr>
        <a:xfrm>
          <a:off x="0" y="0"/>
          <a:ext cx="0" cy="0"/>
          <a:chOff x="0" y="0"/>
          <a:chExt cx="0" cy="0"/>
        </a:xfrm>
      </p:grpSpPr>
      <p:sp>
        <p:nvSpPr>
          <p:cNvPr id="2" name="Shape 0"/>
          <p:cNvSpPr/>
          <p:nvPr/>
        </p:nvSpPr>
        <p:spPr>
          <a:xfrm>
            <a:off x="539496" y="1360627"/>
            <a:ext cx="3045866" cy="4995367"/>
          </a:xfrm>
          <a:prstGeom prst="rect">
            <a:avLst/>
          </a:prstGeom>
          <a:solidFill>
            <a:srgbClr val="B9D2F7"/>
          </a:solidFill>
          <a:ln/>
        </p:spPr>
        <p:txBody>
          <a:bodyPr/>
          <a:p/>
        </p:txBody>
      </p:sp>
      <p:pic>
        <p:nvPicPr>
          <p:cNvPr id="21" name="Red shirt picture" descr="red shirt"/>
          <p:cNvPicPr>
            <a:picLocks noChangeAspect="1"/>
          </p:cNvPicPr>
          <p:nvPr/>
        </p:nvPicPr>
        <p:blipFill>
          <a:blip r:embed="rIdL7_106"/>
          <a:stretch>
            <a:fillRect/>
          </a:stretch>
        </p:blipFill>
        <p:spPr>
          <a:xfrm>
            <a:off x="649224" y="1616796"/>
            <a:ext cx="2826410" cy="1978487"/>
          </a:xfrm>
          <a:prstGeom prst="rect">
            <a:avLst/>
          </a:prstGeom>
        </p:spPr>
      </p:pic>
      <p:sp>
        <p:nvSpPr>
          <p:cNvPr id="4" name="Shape 2"/>
          <p:cNvSpPr/>
          <p:nvPr/>
        </p:nvSpPr>
        <p:spPr>
          <a:xfrm>
            <a:off x="4582058" y="4619549"/>
            <a:ext cx="4033418" cy="1492301"/>
          </a:xfrm>
          <a:prstGeom prst="round1Rect">
            <a:avLst>
              <a:gd name="adj" fmla="val 23087"/>
            </a:avLst>
          </a:prstGeom>
          <a:solidFill>
            <a:srgbClr val="8FAFE3"/>
          </a:solidFill>
          <a:ln/>
        </p:spPr>
        <p:txBody>
          <a:bodyPr/>
          <a:p/>
        </p:txBody>
      </p:sp>
      <p:sp>
        <p:nvSpPr>
          <p:cNvPr id="5" name="Shape 3"/>
          <p:cNvSpPr/>
          <p:nvPr/>
        </p:nvSpPr>
        <p:spPr>
          <a:xfrm>
            <a:off x="4508906" y="4572000"/>
            <a:ext cx="4033418" cy="1492301"/>
          </a:xfrm>
          <a:prstGeom prst="round1Rect">
            <a:avLst>
              <a:gd name="adj" fmla="val 23087"/>
            </a:avLst>
          </a:prstGeom>
          <a:solidFill>
            <a:srgbClr val="B9D2F7"/>
          </a:solidFill>
          <a:ln/>
        </p:spPr>
        <p:txBody>
          <a:bodyPr/>
          <a:p/>
        </p:txBody>
      </p:sp>
      <p:sp>
        <p:nvSpPr>
          <p:cNvPr id="6" name="Shape 4"/>
          <p:cNvSpPr/>
          <p:nvPr/>
        </p:nvSpPr>
        <p:spPr>
          <a:xfrm>
            <a:off x="4395201" y="1473464"/>
            <a:ext cx="7210044" cy="1331366"/>
          </a:xfrm>
          <a:prstGeom prst="roundRect">
            <a:avLst>
              <a:gd name="adj" fmla="val 16667"/>
            </a:avLst>
          </a:prstGeom>
          <a:solidFill>
            <a:srgbClr val="8FAFE3"/>
          </a:solidFill>
          <a:ln/>
        </p:spPr>
        <p:txBody>
          <a:bodyPr/>
          <a:p/>
        </p:txBody>
      </p:sp>
      <p:sp>
        <p:nvSpPr>
          <p:cNvPr id="7" name="Shape 5"/>
          <p:cNvSpPr/>
          <p:nvPr/>
        </p:nvSpPr>
        <p:spPr>
          <a:xfrm>
            <a:off x="4437583" y="1419149"/>
            <a:ext cx="7210044" cy="1331366"/>
          </a:xfrm>
          <a:prstGeom prst="roundRect">
            <a:avLst>
              <a:gd name="adj" fmla="val 16667"/>
            </a:avLst>
          </a:prstGeom>
          <a:solidFill>
            <a:srgbClr val="FFFFFF"/>
          </a:solidFill>
          <a:ln/>
        </p:spPr>
        <p:txBody>
          <a:bodyPr/>
          <a:p/>
        </p:txBody>
      </p:sp>
      <p:sp>
        <p:nvSpPr>
          <p:cNvPr id="8" name="Text 6"/>
          <p:cNvSpPr/>
          <p:nvPr/>
        </p:nvSpPr>
        <p:spPr>
          <a:xfrm>
            <a:off x="4800600" y="1481328"/>
            <a:ext cx="6583680" cy="123444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Letters &amp; Numbers  ·  Task C</a:t>
            </a:r>
          </a:p>
          <a:p>
            <a:pPr algn="l" indent="0" marL="0">
              <a:buNone/>
            </a:pPr>
            <a:r>
              <a:rPr lang="en-US" sz="3800" dirty="0" b="1">
                <a:solidFill>
                  <a:srgbClr val="1B2236"/>
                </a:solidFill>
                <a:latin typeface="Lexend Deca" pitchFamily="34" charset="0"/>
                <a:ea typeface="Lexend Deca" pitchFamily="34" charset="-122"/>
                <a:cs typeface="Lexend Deca" pitchFamily="34" charset="-120"/>
              </a:rPr>
              <a:t>this or these?</a:t>
            </a:r>
          </a:p>
        </p:txBody>
      </p:sp>
      <p:sp>
        <p:nvSpPr>
          <p:cNvPr id="9" name="Text 7"/>
          <p:cNvSpPr/>
          <p:nvPr/>
        </p:nvSpPr>
        <p:spPr>
          <a:xfrm>
            <a:off x="4713732" y="3063240"/>
            <a:ext cx="420624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short i (like six)</a:t>
            </a:r>
          </a:p>
        </p:txBody>
      </p:sp>
      <p:sp>
        <p:nvSpPr>
          <p:cNvPr id="10" name="Text 8"/>
          <p:cNvSpPr/>
          <p:nvPr/>
        </p:nvSpPr>
        <p:spPr>
          <a:xfrm>
            <a:off x="4713732" y="3611880"/>
            <a:ext cx="4206240" cy="868680"/>
          </a:xfrm>
          <a:prstGeom prst="rect">
            <a:avLst/>
          </a:prstGeom>
          <a:noFill/>
          <a:ln/>
        </p:spPr>
        <p:txBody>
          <a:bodyPr wrap="square" lIns="0" tIns="0" rIns="0" bIns="0" rtlCol="0" anchor="t"/>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this</a:t>
            </a:r>
            <a:r>
              <a:rPr lang="en-US" sz="2200" dirty="0" b="1">
                <a:solidFill>
                  <a:srgbClr val="1B2236"/>
                </a:solidFill>
                <a:latin typeface="Lexend Deca" pitchFamily="34" charset="0"/>
                <a:ea typeface="Lexend Deca" pitchFamily="34" charset="-122"/>
                <a:cs typeface="Lexend Deca" pitchFamily="34" charset="-120"/>
              </a:rPr>
              <a:t> shirt</a:t>
            </a:r>
          </a:p>
          <a:p>
            <a:pPr algn="l" indent="0" marL="0">
              <a:buNone/>
            </a:pPr>
            <a:r>
              <a:rPr lang="en-US" sz="2200" dirty="0" b="0">
                <a:solidFill>
                  <a:srgbClr val="1B2236"/>
                </a:solidFill>
                <a:latin typeface="Lexend Deca" pitchFamily="34" charset="0"/>
                <a:ea typeface="Lexend Deca" pitchFamily="34" charset="-122"/>
                <a:cs typeface="Lexend Deca" pitchFamily="34" charset="-120"/>
              </a:rPr>
              <a:t>it </a:t>
            </a:r>
            <a:r>
              <a:rPr lang="en-US" sz="2200" dirty="0" b="1">
                <a:solidFill>
                  <a:srgbClr val="5B3FC4"/>
                </a:solidFill>
                <a:latin typeface="Lexend Deca" pitchFamily="34" charset="0"/>
                <a:ea typeface="Lexend Deca" pitchFamily="34" charset="-122"/>
                <a:cs typeface="Lexend Deca" pitchFamily="34" charset="-120"/>
              </a:rPr>
              <a:t>is</a:t>
            </a:r>
            <a:r>
              <a:rPr lang="en-US" sz="2200" dirty="0" b="0">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six</a:t>
            </a:r>
          </a:p>
        </p:txBody>
      </p:sp>
      <p:sp>
        <p:nvSpPr>
          <p:cNvPr id="11" name="Text 9"/>
          <p:cNvSpPr/>
          <p:nvPr/>
        </p:nvSpPr>
        <p:spPr>
          <a:xfrm>
            <a:off x="4713732" y="4663440"/>
            <a:ext cx="3840480" cy="502920"/>
          </a:xfrm>
          <a:prstGeom prst="rect">
            <a:avLst/>
          </a:prstGeom>
          <a:noFill/>
          <a:ln/>
        </p:spPr>
        <p:txBody>
          <a:bodyPr wrap="square" lIns="0" tIns="0" rIns="0" bIns="0" rtlCol="0" anchor="ct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long ee (like three)</a:t>
            </a:r>
          </a:p>
        </p:txBody>
      </p:sp>
      <p:sp>
        <p:nvSpPr>
          <p:cNvPr id="12" name="Text 10"/>
          <p:cNvSpPr/>
          <p:nvPr/>
        </p:nvSpPr>
        <p:spPr>
          <a:xfrm>
            <a:off x="4713732" y="5193792"/>
            <a:ext cx="3749040" cy="822960"/>
          </a:xfrm>
          <a:prstGeom prst="rect">
            <a:avLst/>
          </a:prstGeom>
          <a:noFill/>
          <a:ln/>
        </p:spPr>
        <p:txBody>
          <a:bodyPr wrap="square" lIns="0" tIns="0" rIns="0" bIns="0" rtlCol="0" anchor="t"/>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these</a:t>
            </a:r>
            <a:r>
              <a:rPr lang="en-US" sz="2000" dirty="0" b="1">
                <a:solidFill>
                  <a:srgbClr val="1B2236"/>
                </a:solidFill>
                <a:latin typeface="Lexend Deca" pitchFamily="34" charset="0"/>
                <a:ea typeface="Lexend Deca" pitchFamily="34" charset="-122"/>
                <a:cs typeface="Lexend Deca" pitchFamily="34" charset="-120"/>
              </a:rPr>
              <a:t> shoes</a:t>
            </a:r>
          </a:p>
          <a:p>
            <a:pPr algn="l" indent="0" marL="0">
              <a:buNone/>
            </a:pPr>
            <a:r>
              <a:rPr lang="en-US" sz="2000" dirty="0" b="0">
                <a:solidFill>
                  <a:srgbClr val="1B2236"/>
                </a:solidFill>
                <a:latin typeface="Lexend Deca" pitchFamily="34" charset="0"/>
                <a:ea typeface="Lexend Deca" pitchFamily="34" charset="-122"/>
                <a:cs typeface="Lexend Deca" pitchFamily="34" charset="-120"/>
              </a:rPr>
              <a:t>they're </a:t>
            </a:r>
            <a:r>
              <a:rPr lang="en-US" sz="2000" dirty="0" b="1">
                <a:solidFill>
                  <a:srgbClr val="5B3FC4"/>
                </a:solidFill>
                <a:latin typeface="Lexend Deca" pitchFamily="34" charset="0"/>
                <a:ea typeface="Lexend Deca" pitchFamily="34" charset="-122"/>
                <a:cs typeface="Lexend Deca" pitchFamily="34" charset="-120"/>
              </a:rPr>
              <a:t>green</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three</a:t>
            </a:r>
          </a:p>
        </p:txBody>
      </p:sp>
      <p:sp>
        <p:nvSpPr>
          <p:cNvPr id="13" name="Text 11"/>
          <p:cNvSpPr/>
          <p:nvPr/>
        </p:nvSpPr>
        <p:spPr>
          <a:xfrm>
            <a:off x="8915400" y="31089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i</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short</a:t>
            </a:r>
          </a:p>
        </p:txBody>
      </p:sp>
      <p:sp>
        <p:nvSpPr>
          <p:cNvPr id="17" name="Text 15"/>
          <p:cNvSpPr/>
          <p:nvPr/>
        </p:nvSpPr>
        <p:spPr>
          <a:xfrm>
            <a:off x="8915400" y="4709160"/>
            <a:ext cx="2697480" cy="1234440"/>
          </a:xfrm>
          <a:prstGeom prst="rect">
            <a:avLst/>
          </a:prstGeom>
          <a:noFill/>
          <a:ln/>
        </p:spPr>
        <p:txBody>
          <a:bodyPr wrap="square" lIns="0" tIns="0" rIns="0" bIns="0" rtlCol="0" anchor="ctr"/>
          <a:lstStyle/>
          <a:p>
            <a:pPr algn="ctr" indent="0" marL="0">
              <a:buNone/>
            </a:pPr>
            <a:r>
              <a:rPr lang="en-US" sz="3800" dirty="0" b="1">
                <a:solidFill>
                  <a:srgbClr val="5B3FC4"/>
                </a:solidFill>
                <a:latin typeface="Lexend Deca" pitchFamily="34" charset="0"/>
                <a:ea typeface="Lexend Deca" pitchFamily="34" charset="-122"/>
                <a:cs typeface="Lexend Deca" pitchFamily="34" charset="-120"/>
              </a:rPr>
              <a:t>ee</a:t>
            </a:r>
          </a:p>
          <a:p>
            <a:pPr algn="ctr" indent="0" marL="0">
              <a:buNone/>
            </a:pPr>
            <a:r>
              <a:rPr lang="en-US" sz="2000" dirty="0" b="1">
                <a:solidFill>
                  <a:srgbClr val="1B2236"/>
                </a:solidFill>
                <a:latin typeface="Lexend Deca" pitchFamily="34" charset="0"/>
                <a:ea typeface="Lexend Deca" pitchFamily="34" charset="-122"/>
                <a:cs typeface="Lexend Deca" pitchFamily="34" charset="-120"/>
              </a:rPr>
              <a:t>long</a:t>
            </a:r>
          </a:p>
        </p:txBody>
      </p:sp>
      <p:pic>
        <p:nvPicPr>
          <p:cNvPr id="96" name="White shoes picture" descr="white shoes"/>
          <p:cNvPicPr>
            <a:picLocks noChangeAspect="1"/>
          </p:cNvPicPr>
          <p:nvPr/>
        </p:nvPicPr>
        <p:blipFill>
          <a:blip r:embed="rIdL7_106x"/>
          <a:stretch>
            <a:fillRect/>
          </a:stretch>
        </p:blipFill>
        <p:spPr>
          <a:xfrm>
            <a:off x="649224" y="4039956"/>
            <a:ext cx="2826410" cy="19784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Lesson 7: How Much Is It?</dc:title>
  <dc:subject>Adult ESL Level 1, Lesson 7</dc:subject>
  <dc:creator>Level 1 ESL</dc:creator>
  <cp:lastModifiedBy>Level 1 ESL</cp:lastModifiedBy>
  <cp:revision>1</cp:revision>
  <dcterms:created xsi:type="dcterms:W3CDTF">2026-10-15T20:54:31Z</dcterms:created>
  <dcterms:modified xsi:type="dcterms:W3CDTF">2026-10-15T20:54:31Z</dcterms:modified>
</cp:coreProperties>
</file>