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30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28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7" r:id="rId13"/>
    <p:sldId id="257" r:id="rId3"/>
    <p:sldId id="279" r:id="rId30"/>
    <p:sldId id="265" r:id="rId11"/>
    <p:sldId id="276" r:id="rId27"/>
    <p:sldId id="262" r:id="rId8"/>
    <p:sldId id="264" r:id="rId10"/>
    <p:sldId id="286" r:id="rId37"/>
    <p:sldId id="277" r:id="rId28"/>
    <p:sldId id="280" r:id="rId31"/>
    <p:sldId id="260" r:id="rId6"/>
    <p:sldId id="259" r:id="rId5"/>
    <p:sldId id="266" r:id="rId12"/>
    <p:sldId id="287" r:id="rId38"/>
    <p:sldId id="278" r:id="rId29"/>
    <p:sldId id="288" r:id="rId39"/>
    <p:sldId id="270" r:id="rId16"/>
    <p:sldId id="271" r:id="rId17"/>
    <p:sldId id="281" r:id="rId32"/>
    <p:sldId id="285" r:id="rId36"/>
    <p:sldId id="261" r:id="rId7"/>
    <p:sldId id="283" r:id="rId34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21.xml"/><Relationship Id="rId8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5.xml"/><Relationship Id="rId12" Type="http://schemas.openxmlformats.org/officeDocument/2006/relationships/slide" Target="slides/slide14.xml"/><Relationship Id="rId13" Type="http://schemas.openxmlformats.org/officeDocument/2006/relationships/slide" Target="slides/slide2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20" Type="http://schemas.openxmlformats.org/officeDocument/2006/relationships/slide" Target="slides/slide23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6.xml"/><Relationship Id="rId28" Type="http://schemas.openxmlformats.org/officeDocument/2006/relationships/slide" Target="slides/slide11.xml"/><Relationship Id="rId29" Type="http://schemas.openxmlformats.org/officeDocument/2006/relationships/slide" Target="slides/slide16.xml"/><Relationship Id="rId30" Type="http://schemas.openxmlformats.org/officeDocument/2006/relationships/slide" Target="slides/slide4.xml"/><Relationship Id="rId31" Type="http://schemas.openxmlformats.org/officeDocument/2006/relationships/slide" Target="slides/slide15.xml"/><Relationship Id="rId32" Type="http://schemas.openxmlformats.org/officeDocument/2006/relationships/slide" Target="slides/slide19.xml"/><Relationship Id="rId34" Type="http://schemas.openxmlformats.org/officeDocument/2006/relationships/slide" Target="slides/slide22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Welcome. Say: "Today: family." Point to the picture and say: "This is a family."</a:t>
            </a:r>
          </a:p>
          <a:p>
            <a:r>
              <a:rPr lang="en-US"/>
              <a:t>Say at the start: "You can talk about your family or Ana's family." Ana's family is the picture-card family. Every activity works with it.</a:t>
            </a:r>
          </a:p>
          <a:p>
            <a:r>
              <a:rPr lang="en-US"/>
              <a:t>Family can be a sensitive topic. Some learners have family far away or have lost family members. Never ask a learner to talk about their own family.</a:t>
            </a:r>
          </a:p>
          <a:p>
            <a:r>
              <a:rPr lang="en-US"/>
              <a:t>Class plan: 6:00 Hello + Review, 6:10 New Words, 6:20 Listening, 6:32 Grammar, 6:45 Break, 7:00 Talk Time, 7:10 Exit Ticket + Homework, 7:15 Letters &amp; Numbers, 7:25 Progress Check.</a:t>
            </a:r>
          </a:p>
          <a:p>
            <a:r>
              <a:rPr lang="en-US"/>
              <a:t>Source: level1_curriculum/lesson4/Level1_Lesson4.md (At a glance, Clock-time plan, Teacher notes).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Pairs. Review of last week's questions. 15 learners: 7 pairs + 1 group of 3. 7–8 learners: 3–4 pairs. Late arrivals join any pair.</a:t>
            </a:r>
          </a:p>
          <a:p>
            <a:r>
              <a:rPr lang="en-US"/>
              <a:t>Model with one learner: "What's your phone number?" Learner: "555-0163." Then: "Can you repeat, please?"</a:t>
            </a:r>
          </a:p>
          <a:p>
            <a:r>
              <a:rPr lang="en-US"/>
              <a:t>Point to another learner: "What's her name?" Click: "Her name is Rosa." Then ask: "Where is she from?"</a:t>
            </a:r>
          </a:p>
          <a:p>
            <a:r>
              <a:rPr lang="en-US"/>
              <a:t>Practice numbers (555-01__) are fine. Partners switch, then find a new partner.</a:t>
            </a:r>
          </a:p>
          <a:p>
            <a:r>
              <a:rPr lang="en-US"/>
              <a:t>Last 3 minutes: homework check. Partners show each other last week's homework. Look at item 2 (my / his / her / our / their).</a:t>
            </a:r>
          </a:p>
          <a:p>
            <a:r>
              <a:rPr lang="en-US"/>
              <a:t>If behind: one partner only.</a:t>
            </a:r>
          </a:p>
          <a:p>
            <a:r>
              <a:rPr lang="en-US"/>
              <a:t>Source: level1_curriculum/lesson4/Level1_Lesson4.md (Step 1: Hello + Review).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Box 2 is the key point. Ask: "Do you have kids?" Nod: "Yes, I do." Shake your head: "No, I don't."</a:t>
            </a:r>
          </a:p>
          <a:p>
            <a:r>
              <a:rPr lang="en-US"/>
              <a:t>Write on the board: Yes, I do. ✓ / Yes, I have. ✗. Then add the number: "Yes, I do. I have two."</a:t>
            </a:r>
          </a:p>
          <a:p>
            <a:r>
              <a:rPr lang="en-US"/>
              <a:t>Click to show each answer.</a:t>
            </a:r>
          </a:p>
          <a:p>
            <a:r>
              <a:rPr lang="en-US"/>
              <a:t>OPTIONAL: Are you married? Yes, I am. / No, I'm not. Learners don't have to answer. Do not ask this question to a learner in front of the class. Never ask "Where is your husband?" or "Why don't you have kids?"</a:t>
            </a:r>
          </a:p>
          <a:p>
            <a:r>
              <a:rPr lang="en-US"/>
              <a:t>Accept "No, I don't" and move on.</a:t>
            </a:r>
          </a:p>
          <a:p>
            <a:r>
              <a:rPr lang="en-US"/>
              <a:t>Source: level1_curriculum/lesson4/Level1_Lesson4.md (Step 4: Grammar Box 2; Grammar page; Teacher notes).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 the Grammar page. The left side is the question. The right side is the answer. Point left, then right.</a:t>
            </a:r>
          </a:p>
          <a:p>
            <a:r>
              <a:rPr lang="en-US"/>
              <a:t>Point to the picture-card family (Ana's family). Ask: "Who's this?" Learners answer. Click to show: "This is my mother. Her name is Lucia."</a:t>
            </a:r>
          </a:p>
          <a:p>
            <a:r>
              <a:rPr lang="en-US"/>
              <a:t>A man → his. A woman → her. (The same as last week.)</a:t>
            </a:r>
          </a:p>
          <a:p>
            <a:r>
              <a:rPr lang="en-US"/>
              <a:t>Click for each answer. Ana's family: Lucia 68 (mother), Tomas 70 (father), Miguel 37 (husband), Diego 9 (son), Mia 4 (daughter).</a:t>
            </a:r>
          </a:p>
          <a:p>
            <a:r>
              <a:rPr lang="en-US"/>
              <a:t>Ages: learners don't have to say their own age or their family's ages.</a:t>
            </a:r>
          </a:p>
          <a:p>
            <a:r>
              <a:rPr lang="en-US"/>
              <a:t>Source: level1_curriculum/lesson4/Level1_Lesson4.md (Step 4: Grammar Q&amp;A, Box 1; Talk Time: Picture-Card Family).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Progress Check (5 min). Individuals. Open the Progress Check page.</a:t>
            </a:r>
          </a:p>
          <a:p>
            <a:r>
              <a:rPr lang="en-US"/>
              <a:t>Part A: read the 5 words slowly, 2 times each: 1 father, 2 daughter, 3 wife, 4 brother, 5 grandmother. Learners circle.</a:t>
            </a:r>
          </a:p>
          <a:p>
            <a:r>
              <a:rPr lang="en-US"/>
              <a:t>Parts B and C: learners match and write on their own. Help with the instructions only. Click to show the Part B answers when you check together: 1 c, 2 d, 3 a, 4 b.</a:t>
            </a:r>
          </a:p>
          <a:p>
            <a:r>
              <a:rPr lang="en-US"/>
              <a:t>Part C answers: 1 Her, 2 His, 3 Ana's.</a:t>
            </a:r>
          </a:p>
          <a:p>
            <a:r>
              <a:rPr lang="en-US"/>
              <a:t>Part D: read each "I can…" line and point to the 3 faces: 😀 "I can do it." 🙂 "A little." 😐 "Not yet." Learners check one.</a:t>
            </a:r>
          </a:p>
          <a:p>
            <a:r>
              <a:rPr lang="en-US"/>
              <a:t>Score: A /5 + B /4 + C /3 = /12. This is not a test grade. Collect the pages. If behind: do it in Week 5 at 6:00.</a:t>
            </a:r>
          </a:p>
          <a:p>
            <a:r>
              <a:rPr lang="en-US"/>
              <a:t>Source: level1_curriculum/lesson4/Level1_Lesson4.md (Progress Check;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to picture 1. Ask: "What's the word?" Learners say it. Click to show the answer: grandmother.</a:t>
            </a:r>
          </a:p>
          <a:p>
            <a:r>
              <a:rPr lang="en-US"/>
              <a:t>Picture 2: click to show daughter. Picture 3: click to show husband (point to the ring).</a:t>
            </a:r>
          </a:p>
          <a:p>
            <a:r>
              <a:rPr lang="en-US"/>
              <a:t>The person in the blue circle is the word. Learners say each word 2 times.</a:t>
            </a:r>
          </a:p>
          <a:p>
            <a:r>
              <a:rPr lang="en-US"/>
              <a:t>Source: level1_curriculum/lesson4/Level1_Lesson4.md (Student Pages: New Words).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Before you listen (1 min). Say: "This is Carlos. This is Kim. Carlos has photos of his family on his phone."</a:t>
            </a:r>
          </a:p>
          <a:p>
            <a:r>
              <a:rPr lang="en-US"/>
              <a:t>Hold up your phone and pretend to show photos: "This is my wife… This is my son…"</a:t>
            </a:r>
          </a:p>
          <a:p>
            <a:r>
              <a:rPr lang="en-US"/>
              <a:t>Click to show each listen. Listen 1: Task A (point, then write 1, 2, 3, 4). Listen 2: Task B (names on the tree). Listen 3: Task C (numbers).</a:t>
            </a:r>
          </a:p>
          <a:p>
            <a:r>
              <a:rPr lang="en-US"/>
              <a:t>The audio L1_L4_listening.mp3 (about 1:17) plays the conversation once. Press play again for the next listen. Pairs compare after each task.</a:t>
            </a:r>
          </a:p>
          <a:p>
            <a:r>
              <a:rPr lang="en-US"/>
              <a:t>No speaker? Read the script with a volunteer.</a:t>
            </a:r>
          </a:p>
          <a:p>
            <a:r>
              <a:rPr lang="en-US"/>
              <a:t>Voices: Narrator, Kim, Carlos. Synthetic voices made with Chatterbox TTS (MIT), cloned from short synthetic clips made with Kokoro-82M (Apache 2.0); no recordings of real people.</a:t>
            </a:r>
          </a:p>
          <a:p>
            <a:r>
              <a:rPr lang="en-US"/>
              <a:t>Source: level1_curriculum/lesson4/Level1_Lesson4.md (Step 3: Listening; Listening script); audio/README.md.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Say first: "Today: family. You can talk about your family or Ana's family."</a:t>
            </a:r>
          </a:p>
          <a:p>
            <a:r>
              <a:rPr lang="en-US"/>
              <a:t>Click to show each picture. Point and say the word. Learners repeat 2 times. The person in the blue circle is the word.</a:t>
            </a:r>
          </a:p>
          <a:p>
            <a:r>
              <a:rPr lang="en-US"/>
              <a:t>Draw a simple family tree on the board (stick figures are fine). Point: "This is the mother. This is the father. They are the parents."</a:t>
            </a:r>
          </a:p>
          <a:p>
            <a:r>
              <a:rPr lang="en-US"/>
              <a:t>husband / wife: point to the ring.</a:t>
            </a:r>
          </a:p>
          <a:p>
            <a:r>
              <a:rPr lang="en-US"/>
              <a:t>parents = mother and father only (2 people). All the people = my family.</a:t>
            </a:r>
          </a:p>
          <a:p>
            <a:r>
              <a:rPr lang="en-US"/>
              <a:t>★ = most important words. If behind: teach the ★ words only.</a:t>
            </a:r>
          </a:p>
          <a:p>
            <a:r>
              <a:rPr lang="en-US"/>
              <a:t>Source: level1_curriculum/lesson4/Level1_Lesson4.md (Step 2: New Words; Student Pages: New Words).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Box 3: hold up a learner's pen: "This is Maria's pen." Then: "Ana's husband" = the husband of Ana.</a:t>
            </a:r>
          </a:p>
          <a:p>
            <a:r>
              <a:rPr lang="en-US"/>
              <a:t>Names that end in s add 's too: Carlos's. Say "CAR-los-iz".</a:t>
            </a:r>
          </a:p>
          <a:p>
            <a:r>
              <a:rPr lang="en-US"/>
              <a:t>Box 4: one son → two sons. Clap on the -s. Point to children and babies: these are different (child → children, baby → babies).</a:t>
            </a:r>
          </a:p>
          <a:p>
            <a:r>
              <a:rPr lang="en-US"/>
              <a:t>Click to show the examples.</a:t>
            </a:r>
          </a:p>
          <a:p>
            <a:r>
              <a:rPr lang="en-US"/>
              <a:t>Check questions: "Do you have kids?" (Yes, I do. / No, I don't.) • point to a boy: "___ name is Daniel." (His) • "Ana has a husband. He's ___ husband." (Ana's)</a:t>
            </a:r>
          </a:p>
          <a:p>
            <a:r>
              <a:rPr lang="en-US"/>
              <a:t>Source: level1_curriculum/lesson4/Level1_Lesson4.md (Step 4: Grammar Boxes 3 and 4).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Click to show each goal, one at a time. Read it aloud. Learners repeat.</a:t>
            </a:r>
          </a:p>
          <a:p>
            <a:r>
              <a:rPr lang="en-US"/>
              <a:t>Goal 1: point to people in the room or in a picture: mother, father, son, daughter.</a:t>
            </a:r>
          </a:p>
          <a:p>
            <a:r>
              <a:rPr lang="en-US"/>
              <a:t>Goal 4: nod for "Yes, I do." Shake your head for "No, I don't."</a:t>
            </a:r>
          </a:p>
          <a:p>
            <a:r>
              <a:rPr lang="en-US"/>
              <a:t>Goal 5: Ana's husband = the husband of Ana. You will practice this in Grammar Box 3.</a:t>
            </a:r>
          </a:p>
          <a:p>
            <a:r>
              <a:rPr lang="en-US"/>
              <a:t>Letters &amp; Numbers at 7:15: short vowel sounds in family words (dad, mom, son, kids) and plural -s.</a:t>
            </a:r>
          </a:p>
          <a:p>
            <a:r>
              <a:rPr lang="en-US"/>
              <a:t>Source: level1_curriculum/lesson4/Level1_Lesson4.md (At a glance: Objectives).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Groups of 3. 15 learners: 5 groups. 7–8 learners: 2 groups of 3 + 1 pair (or 2 groups of 4).</a:t>
            </a:r>
          </a:p>
          <a:p>
            <a:r>
              <a:rPr lang="en-US"/>
              <a:t>Say again: "Your family or Ana's family. You choose." Don't ask who chooses what.</a:t>
            </a:r>
          </a:p>
          <a:p>
            <a:r>
              <a:rPr lang="en-US"/>
              <a:t>Model (2 min): fill in the board tree with your family or an invented family. Say 3 sentences: "This is my sister. Her name is Laura. She's 30." A learner asks you one question: "How old is he?"</a:t>
            </a:r>
          </a:p>
          <a:p>
            <a:r>
              <a:rPr lang="en-US"/>
              <a:t>Part 1 (3 min): each learner fills in the blank tree (names, ages if they want), or uses Ana's family. Learners who can't write yet can draw faces or point.</a:t>
            </a:r>
          </a:p>
          <a:p>
            <a:r>
              <a:rPr lang="en-US"/>
              <a:t>Part 2 (5 min): each person shows the tree and says 3 sentences (This is my ___. His / Her name is ___. He's / She's ___.). The others ask one question each (Who's this? How old is he? Do you have kids?).</a:t>
            </a:r>
          </a:p>
          <a:p>
            <a:r>
              <a:rPr lang="en-US"/>
              <a:t>Fast groups: one sentence with 's: "Rosa's son is 12." If behind: 2 sentences each, skip the questions.</a:t>
            </a:r>
          </a:p>
          <a:p>
            <a:r>
              <a:rPr lang="en-US"/>
              <a:t>Source: level1_curriculum/lesson4/Level1_Lesson4.md (Step 5: Talk Time).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Exit ticket (never skip): each learner says one sentence about a family member (or a person in Ana's family): "This is my son. His name is…"</a:t>
            </a:r>
          </a:p>
          <a:p>
            <a:r>
              <a:rPr lang="en-US"/>
              <a:t>Or learners write "Yes, I do." / "No, I don't." for "Do you have kids?". Copying is fine.</a:t>
            </a:r>
          </a:p>
          <a:p>
            <a:r>
              <a:rPr lang="en-US"/>
              <a:t>Homework (10 minutes): open the Homework page. Do item 1 together (the first sentence). Point to each instruction.</a:t>
            </a:r>
          </a:p>
          <a:p>
            <a:r>
              <a:rPr lang="en-US"/>
              <a:t>Homework: 1) 3 sentences about your family or Ana's family; 2) do / don't; 3) 's (Carlos's son, Kim's brothers, Rosa's daughter); 4) ask a family member or a friend: Do you have kids? Do you have brothers or sisters?; 5) review: a phone number (a practice number is OK).</a:t>
            </a:r>
          </a:p>
          <a:p>
            <a:r>
              <a:rPr lang="en-US"/>
              <a:t>Homework answers: item 2: 1 do, 2 don't, 3 do, 4 don't.</a:t>
            </a:r>
          </a:p>
          <a:p>
            <a:r>
              <a:rPr lang="en-US"/>
              <a:t>Source: level1_curriculum/lesson4/Level1_Lesson4.md (Step 6: Exit Ticket + Homework; Student Pages: Homework).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Credits for the pictures, audio, and font.</a:t>
            </a:r>
          </a:p>
          <a:p>
            <a:r>
              <a:rPr lang="en-US"/>
              <a:t>Pictures: Twemoji (CC BY 4.0), https://github.com/jdecked/twemoji. Audio: Chatterbox TTS (MIT) voices cloned from short synthetic Kokoro-82M (Apache 2.0) clips; no recordings of real people.</a:t>
            </a:r>
          </a:p>
          <a:p>
            <a:r>
              <a:rPr lang="en-US"/>
              <a:t>Sources: Level1_Lesson4.md (Picture Credits), images/CREDITS.md, audio/README.md.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Click to show each picture. Say the word. Learners repeat 2 times.</a:t>
            </a:r>
          </a:p>
          <a:p>
            <a:r>
              <a:rPr lang="en-US"/>
              <a:t>kids = children: write "kids = children" on the board. "Kids" is everyday English. Also write: 1 child → 2 children.</a:t>
            </a:r>
          </a:p>
          <a:p>
            <a:r>
              <a:rPr lang="en-US"/>
              <a:t>Pairs (4 min): A points to a picture, B says the word. Then switch. Then A says a word, B points.</a:t>
            </a:r>
          </a:p>
          <a:p>
            <a:r>
              <a:rPr lang="en-US"/>
              <a:t>★ = most important words.</a:t>
            </a:r>
          </a:p>
          <a:p>
            <a:r>
              <a:rPr lang="en-US"/>
              <a:t>Source: level1_curriculum/lesson4/Level1_Lesson4.md (Step 2: New Words; Student Pages: New Words).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Listen 2 (Task B). Learners write the names on Carlos's family tree. The names are in the box.</a:t>
            </a:r>
          </a:p>
          <a:p>
            <a:r>
              <a:rPr lang="en-US"/>
              <a:t>Pairs compare: "Show your partner." Then click to show each name, in the order of the audio: wife Elena, son Daniel, daughter Sofia, baby Leo, then his parents: mother Carmen, father Pedro.</a:t>
            </a:r>
          </a:p>
          <a:p>
            <a:r>
              <a:rPr lang="en-US"/>
              <a:t>Answer key: mother Carmen, father Pedro, wife Elena, son Daniel, daughter Sofia, baby Leo.</a:t>
            </a:r>
          </a:p>
          <a:p>
            <a:r>
              <a:rPr lang="en-US"/>
              <a:t>Carlos's parents are in Colombia.</a:t>
            </a:r>
          </a:p>
          <a:p>
            <a:r>
              <a:rPr lang="en-US"/>
              <a:t>Source: level1_curriculum/lesson4/Level1_Lesson4.md (Listening script; Answer key, Listening Task B).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Read each "Don't say" line. Shake your head. Click to show the correct line. Learners repeat it.</a:t>
            </a:r>
          </a:p>
          <a:p>
            <a:r>
              <a:rPr lang="en-US"/>
              <a:t>The big mistake this week: "Yes, I have." The short answer uses do: Yes, I do. / No, I don't. Then learners can add the number: I have two. Correct by nodding and saying "Yes, I do."</a:t>
            </a:r>
          </a:p>
          <a:p>
            <a:r>
              <a:rPr lang="en-US"/>
              <a:t>his / her: point to the person in the picture: "A woman… her."</a:t>
            </a:r>
          </a:p>
          <a:p>
            <a:r>
              <a:rPr lang="en-US"/>
              <a:t>parents = mother and father only. For all the people, say my family.</a:t>
            </a:r>
          </a:p>
          <a:p>
            <a:r>
              <a:rPr lang="en-US"/>
              <a:t>Source: level1_curriculum/lesson4/Level1_Lesson4.md (Grammar: Common mistakes; Teacher notes).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Click to show each class word. Say it and do the action. Learners repeat.</a:t>
            </a:r>
          </a:p>
          <a:p>
            <a:r>
              <a:rPr lang="en-US"/>
              <a:t>Use these same short words all night: Listen. Repeat. Point. Circle. Write. Partner. Group.</a:t>
            </a:r>
          </a:p>
          <a:p>
            <a:r>
              <a:rPr lang="en-US"/>
              <a:t>Instruction rule: model it (do it with one learner while everyone watches), check it (ask: "Listen or write?"), then go.</a:t>
            </a:r>
          </a:p>
          <a:p>
            <a:r>
              <a:rPr lang="en-US"/>
              <a:t>Say: "You can talk about your family or Ana's family. You choose." Don't ask who chooses what.</a:t>
            </a:r>
          </a:p>
          <a:p>
            <a:r>
              <a:rPr lang="en-US"/>
              <a:t>Pairs: turn to a neighbor. With an odd number, make one group of 3.</a:t>
            </a:r>
          </a:p>
          <a:p>
            <a:r>
              <a:rPr lang="en-US"/>
              <a:t>Source: level1_curriculum/lesson4/Level1_Lesson4.md (How to Use This Plan; Teacher notes).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Listen 3 (Task C). Learners write the numbers: how many children, and ages.</a:t>
            </a:r>
          </a:p>
          <a:p>
            <a:r>
              <a:rPr lang="en-US"/>
              <a:t>Pairs compare. Then click to show each answer: 1) 3 (three children), 2) 10, 3) 6, 4) 0 (Kim: "No, I don't."), 5) 2 (two brothers).</a:t>
            </a:r>
          </a:p>
          <a:p>
            <a:r>
              <a:rPr lang="en-US"/>
              <a:t>If behind: do Task C together.</a:t>
            </a:r>
          </a:p>
          <a:p>
            <a:r>
              <a:rPr lang="en-US"/>
              <a:t>Source: level1_curriculum/lesson4/Level1_Lesson4.md (Answer key, Listening Task 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Letters &amp; Numbers (10 min). Whole class, then pairs. Use the Letters &amp; Numbers page, Task A.</a:t>
            </a:r>
          </a:p>
          <a:p>
            <a:r>
              <a:rPr lang="en-US"/>
              <a:t>See it (1 min): point to the 4 columns: a (dad), o (mom), u sound (son), i (kids). Click to show each row.</a:t>
            </a:r>
          </a:p>
          <a:p>
            <a:r>
              <a:rPr lang="en-US"/>
              <a:t>Say it (3 min): say each row. Learners repeat. The vowels are short: say them quickly.</a:t>
            </a:r>
          </a:p>
          <a:p>
            <a:r>
              <a:rPr lang="en-US"/>
              <a:t>son, mother, brother: the letter is o, but the sound is u (like but).</a:t>
            </a:r>
          </a:p>
          <a:p>
            <a:r>
              <a:rPr lang="en-US"/>
              <a:t>Quick check (1 min): say "dad" or "kids"… learners point to the row. Partners: A points to a word, B reads it. Switch.</a:t>
            </a:r>
          </a:p>
          <a:p>
            <a:r>
              <a:rPr lang="en-US"/>
              <a:t>Task C (one → two): brothers, sisters, sons, daughters, parents (child → children, no -s). Task D: copy "This is my mom." "This is my dad." Point to the capital T and the period.</a:t>
            </a:r>
          </a:p>
          <a:p>
            <a:r>
              <a:rPr lang="en-US"/>
              <a:t>Learners who can't read or write yet say the words with everyone and point. If behind: do Tasks A and B only.</a:t>
            </a:r>
          </a:p>
          <a:p>
            <a:r>
              <a:rPr lang="en-US"/>
              <a:t>Source: level1_curriculum/lesson4/Level1_Lesson4.md (Letters &amp; Numbers; Answer key, Task 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Say: "Great work! See you next week!" Remind learners: bring the homework next week.</a:t>
            </a:r>
          </a:p>
          <a:p>
            <a:r>
              <a:rPr lang="en-US"/>
              <a:t>Collect the Progress Check pages (or check them at the start of Week 5).</a:t>
            </a:r>
          </a:p>
          <a:p>
            <a:r>
              <a:rPr lang="en-US"/>
              <a:t>Looking ahead: Lesson 5 (jobs) uses do again: "Do you work at night?"</a:t>
            </a:r>
          </a:p>
          <a:p>
            <a:r>
              <a:rPr lang="en-US"/>
              <a:t>Source: level1_curriculum/lesson4/Level1_Lesson4.md (Teacher notes: Looking ahead).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Task B. Say each word 2 times: 1 mom, 2 dad, 3 kids, 4 his, 5 big. Learners circle the word they hear.</a:t>
            </a:r>
          </a:p>
          <a:p>
            <a:r>
              <a:rPr lang="en-US"/>
              <a:t>Then click to show each answer circle. Pairs check.</a:t>
            </a:r>
          </a:p>
          <a:p>
            <a:r>
              <a:rPr lang="en-US"/>
              <a:t>Answer key: 1 mom, 2 dad, 3 kids, 4 his, 5 big.</a:t>
            </a:r>
          </a:p>
          <a:p>
            <a:r>
              <a:rPr lang="en-US"/>
              <a:t>Source: level1_curriculum/lesson4/Level1_Lesson4.md (Answer key, Letters &amp; Numbers Task 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Listen 1. Learners point to each person they hear. Then they write 1, 2, 3, 4 under the pictures in the order they hear them.</a:t>
            </a:r>
          </a:p>
          <a:p>
            <a:r>
              <a:rPr lang="en-US"/>
              <a:t>Pairs compare: "Show your partner." Then click to show the answers in order: wife 1 (c), son 2 (a), daughter 3 (d), baby 4 (b).</a:t>
            </a:r>
          </a:p>
          <a:p>
            <a:r>
              <a:rPr lang="en-US"/>
              <a:t>Answer key: a son 2, b baby 4, c wife 1, d daughter 3.</a:t>
            </a:r>
          </a:p>
          <a:p>
            <a:r>
              <a:rPr lang="en-US"/>
              <a:t>Source: level1_curriculum/lesson4/Level1_Lesson4.md (Step 3: Listening; Answer key, Listening Task A).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Learners write one word on each line. Then pairs check.</a:t>
            </a:r>
          </a:p>
          <a:p>
            <a:r>
              <a:rPr lang="en-US"/>
              <a:t>Click to show each answer: 1 do, 2 don't, 3 Her, 4 His, 5 Carlos's.</a:t>
            </a:r>
          </a:p>
          <a:p>
            <a:r>
              <a:rPr lang="en-US"/>
              <a:t>Pair drill (last 3–4 min): A asks from the left side about the picture-card family (Who's this? How old is he?); B answers from the right side. Then switch.</a:t>
            </a:r>
          </a:p>
          <a:p>
            <a:r>
              <a:rPr lang="en-US"/>
              <a:t>If behind: skip the pair drill. It becomes homework, and Talk Time practices the same questions.</a:t>
            </a:r>
          </a:p>
          <a:p>
            <a:r>
              <a:rPr lang="en-US"/>
              <a:t>Source: level1_curriculum/lesson4/Level1_Lesson4.md (Grammar: Practice; Answer key, Grammar practice).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Pair drill with the picture-card family. You can be Ana. Point to a person.</a:t>
            </a:r>
          </a:p>
          <a:p>
            <a:r>
              <a:rPr lang="en-US"/>
              <a:t>A asks: "Who's this?" "How old is he / she?" B answers: "This is my son. His name is Diego. He's 9." Then switch.</a:t>
            </a:r>
          </a:p>
          <a:p>
            <a:r>
              <a:rPr lang="en-US"/>
              <a:t>Model first with one learner. Click to show the answer line.</a:t>
            </a:r>
          </a:p>
          <a:p>
            <a:r>
              <a:rPr lang="en-US"/>
              <a:t>Other examples: "This is my mother. Her name is Lucia. She's 68." "I have two kids."</a:t>
            </a:r>
          </a:p>
          <a:p>
            <a:r>
              <a:rPr lang="en-US"/>
              <a:t>Strong learners add 's and a question: "How old is Ana's son?" New learners use only "This is my ___." and point.</a:t>
            </a:r>
          </a:p>
          <a:p>
            <a:r>
              <a:rPr lang="en-US"/>
              <a:t>Source: level1_curriculum/lesson4/Level1_Lesson4.md (Step 4: pair drill; Talk Time: Picture-Card Family; Teacher notes).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L4_1" Type="http://schemas.openxmlformats.org/officeDocument/2006/relationships/image" Target="../media/L1_L4_family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L4_1" Type="http://schemas.openxmlformats.org/officeDocument/2006/relationships/image" Target="../media/L1_L4_parents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L4_1" Type="http://schemas.openxmlformats.org/officeDocument/2006/relationships/image" Target="../media/L1_L4_mother.png"/><Relationship Id="rIdL4_2" Type="http://schemas.openxmlformats.org/officeDocument/2006/relationships/image" Target="../media/L1_L4_father.png"/><Relationship Id="rIdL4_3" Type="http://schemas.openxmlformats.org/officeDocument/2006/relationships/image" Target="../media/L1_L4_parents.png"/><Relationship Id="rIdL4_4" Type="http://schemas.openxmlformats.org/officeDocument/2006/relationships/image" Target="../media/L1_L4_family.png"/><Relationship Id="rIdL4_5" Type="http://schemas.openxmlformats.org/officeDocument/2006/relationships/image" Target="../media/L1_L4_husband.png"/><Relationship Id="rIdL4_6" Type="http://schemas.openxmlformats.org/officeDocument/2006/relationships/image" Target="../media/L1_L4_wife.png"/><Relationship Id="rIdL4_7" Type="http://schemas.openxmlformats.org/officeDocument/2006/relationships/image" Target="../media/L1_L4_son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L4_1" Type="http://schemas.openxmlformats.org/officeDocument/2006/relationships/image" Target="../media/L1_L4_daughter.png"/><Relationship Id="rIdL4_2" Type="http://schemas.openxmlformats.org/officeDocument/2006/relationships/image" Target="../media/L1_L4_children.png"/><Relationship Id="rIdL4_3" Type="http://schemas.openxmlformats.org/officeDocument/2006/relationships/image" Target="../media/L1_L4_baby.png"/><Relationship Id="rIdL4_4" Type="http://schemas.openxmlformats.org/officeDocument/2006/relationships/image" Target="../media/L1_L4_brother.png"/><Relationship Id="rIdL4_5" Type="http://schemas.openxmlformats.org/officeDocument/2006/relationships/image" Target="../media/L1_L4_sister.png"/><Relationship Id="rIdL4_6" Type="http://schemas.openxmlformats.org/officeDocument/2006/relationships/image" Target="../media/L1_L4_grandmother.png"/><Relationship Id="rIdL4_7" Type="http://schemas.openxmlformats.org/officeDocument/2006/relationships/image" Target="../media/L1_L4_grandfather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L4_1" Type="http://schemas.openxmlformats.org/officeDocument/2006/relationships/image" Target="../media/L1_L4_grandmother.png"/><Relationship Id="rIdL4_2" Type="http://schemas.openxmlformats.org/officeDocument/2006/relationships/image" Target="../media/L1_L4_daughter.png"/><Relationship Id="rIdL4_3" Type="http://schemas.openxmlformats.org/officeDocument/2006/relationships/image" Target="../media/L1_L4_husband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L4_1" Type="http://schemas.openxmlformats.org/officeDocument/2006/relationships/image" Target="../media/L1_L4_tree_carlos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2.xml"/><Relationship Id="rIdL4_1" Type="http://schemas.openxmlformats.org/officeDocument/2006/relationships/image" Target="../media/L1_L4_tree_carlos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L4_1" Type="http://schemas.openxmlformats.org/officeDocument/2006/relationships/image" Target="../media/L1_L4_card_family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L4_1" Type="http://schemas.openxmlformats.org/officeDocument/2006/relationships/image" Target="../media/L1_L4_husband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L4_1" Type="http://schemas.openxmlformats.org/officeDocument/2006/relationships/image" Target="../media/L1_L4_sister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L4_1" Type="http://schemas.openxmlformats.org/officeDocument/2006/relationships/image" Target="../media/L1_L4_tree_blank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L4_1" Type="http://schemas.openxmlformats.org/officeDocument/2006/relationships/image" Target="../media/L1_L4_son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22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L4_1" Type="http://schemas.openxmlformats.org/officeDocument/2006/relationships/image" Target="../media/L1_L4_children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L4_1" Type="http://schemas.openxmlformats.org/officeDocument/2006/relationships/image" Target="../media/L1_L4_son.png"/><Relationship Id="rIdL4_2" Type="http://schemas.openxmlformats.org/officeDocument/2006/relationships/image" Target="../media/L1_L4_baby.png"/><Relationship Id="rIdL4_3" Type="http://schemas.openxmlformats.org/officeDocument/2006/relationships/image" Target="../media/L1_L4_wife.png"/><Relationship Id="rIdL4_4" Type="http://schemas.openxmlformats.org/officeDocument/2006/relationships/image" Target="../media/L1_L4_daughter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L4_1" Type="http://schemas.openxmlformats.org/officeDocument/2006/relationships/image" Target="../media/L1_L4_card_family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Family picture" descr="family">    </p:cNvPr>
          <p:cNvPicPr>
            <a:picLocks noChangeAspect="1"/>
          </p:cNvPicPr>
          <p:nvPr/>
        </p:nvPicPr>
        <p:blipFill>
          <a:blip r:embed="rIdL4_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4  ·  Level 1</a:t>
            </a:r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Is My Family</a:t>
            </a:r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Name family members</a:t>
            </a:r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Say: This is my son.</a:t>
            </a:r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Do you have kids?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name family members.</a:t>
            </a:r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mother, father, son, daughter…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say: This is my brother.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ask: Who's this? How old is he?</a:t>
            </a:r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answer: Yes, I do. / No, I don't.</a:t>
            </a:r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say: Ana's husband.</a:t>
            </a:r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Tonight you learn these things.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Short sounds: dad, mom, son, kids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at 7:25!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arents picture" descr="parents"/>
          <p:cNvPicPr>
            <a:picLocks noChangeAspect="1"/>
          </p:cNvPicPr>
          <p:nvPr/>
        </p:nvPicPr>
        <p:blipFill>
          <a:blip r:embed="rIdL4_1"/>
          <a:stretch>
            <a:fillRect/>
          </a:stretch>
        </p:blipFill>
        <p:spPr>
          <a:xfrm>
            <a:off x="6799936" y="2104034"/>
            <a:ext cx="4754880" cy="3328416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 + Review</a:t>
            </a:r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  ·  6:00</a:t>
            </a:r>
          </a:p>
        </p:txBody>
      </p:sp>
      <p:sp>
        <p:nvSpPr>
          <p:cNvPr id="9" name="Text 7"/>
          <p:cNvSpPr/>
          <p:nvPr/>
        </p:nvSpPr>
        <p:spPr>
          <a:xfrm>
            <a:off x="599846" y="30175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your phone number?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your address?</a:t>
            </a:r>
          </a:p>
        </p:txBody>
      </p:sp>
      <p:sp>
        <p:nvSpPr>
          <p:cNvPr id="13" name="Model Ana"/>
          <p:cNvSpPr/>
          <p:nvPr/>
        </p:nvSpPr>
        <p:spPr>
          <a:xfrm>
            <a:off x="599846" y="4023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 What's her name?</a:t>
            </a:r>
          </a:p>
        </p:txBody>
      </p:sp>
      <p:sp>
        <p:nvSpPr>
          <p:cNvPr id="14" name="Model Carlos"/>
          <p:cNvSpPr/>
          <p:nvPr/>
        </p:nvSpPr>
        <p:spPr>
          <a:xfrm>
            <a:off x="599846" y="47091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 Her name is Rosa.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is she from?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414015"/>
            <a:ext cx="6163056" cy="60350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414015"/>
            <a:ext cx="5130698" cy="60350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414015"/>
            <a:ext cx="4434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Point. Circle.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Partner. Group.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414015"/>
            <a:ext cx="1039673" cy="60350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39572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We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Class: 6:00–7:30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Break: 6:45–7:00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Model it. Check it. Then go.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family or Ana's family. You choose.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25880" y="6858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</a:p>
        </p:txBody>
      </p:sp>
      <p:pic>
        <p:nvPicPr>
          <p:cNvPr id="17" name="Word picture 1" descr="mother"/>
          <p:cNvPicPr>
            <a:picLocks noChangeAspect="1"/>
          </p:cNvPicPr>
          <p:nvPr/>
        </p:nvPicPr>
        <p:blipFill>
          <a:blip r:embed="rIdL4_1"/>
          <a:stretch>
            <a:fillRect/>
          </a:stretch>
        </p:blipFill>
        <p:spPr>
          <a:xfrm>
            <a:off x="950976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539496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mother</a:t>
            </a:r>
          </a:p>
        </p:txBody>
      </p:sp>
      <p:pic>
        <p:nvPicPr>
          <p:cNvPr id="19" name="Word picture 2" descr="father"/>
          <p:cNvPicPr>
            <a:picLocks noChangeAspect="1"/>
          </p:cNvPicPr>
          <p:nvPr/>
        </p:nvPicPr>
        <p:blipFill>
          <a:blip r:embed="rIdL4_2"/>
          <a:stretch>
            <a:fillRect/>
          </a:stretch>
        </p:blipFill>
        <p:spPr>
          <a:xfrm>
            <a:off x="3694176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3282696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father</a:t>
            </a:r>
          </a:p>
        </p:txBody>
      </p:sp>
      <p:pic>
        <p:nvPicPr>
          <p:cNvPr id="21" name="Word picture 3" descr="parents"/>
          <p:cNvPicPr>
            <a:picLocks noChangeAspect="1"/>
          </p:cNvPicPr>
          <p:nvPr/>
        </p:nvPicPr>
        <p:blipFill>
          <a:blip r:embed="rIdL4_3"/>
          <a:stretch>
            <a:fillRect/>
          </a:stretch>
        </p:blipFill>
        <p:spPr>
          <a:xfrm>
            <a:off x="6428232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6016752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parents</a:t>
            </a:r>
          </a:p>
        </p:txBody>
      </p:sp>
      <p:pic>
        <p:nvPicPr>
          <p:cNvPr id="23" name="Word picture 4" descr="family"/>
          <p:cNvPicPr>
            <a:picLocks noChangeAspect="1"/>
          </p:cNvPicPr>
          <p:nvPr/>
        </p:nvPicPr>
        <p:blipFill>
          <a:blip r:embed="rIdL4_4"/>
          <a:stretch>
            <a:fillRect/>
          </a:stretch>
        </p:blipFill>
        <p:spPr>
          <a:xfrm>
            <a:off x="9171432" y="2286000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759952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family</a:t>
            </a:r>
          </a:p>
        </p:txBody>
      </p:sp>
      <p:pic>
        <p:nvPicPr>
          <p:cNvPr id="25" name="Word picture 5" descr="husband"/>
          <p:cNvPicPr>
            <a:picLocks noChangeAspect="1"/>
          </p:cNvPicPr>
          <p:nvPr/>
        </p:nvPicPr>
        <p:blipFill>
          <a:blip r:embed="rIdL4_5"/>
          <a:stretch>
            <a:fillRect/>
          </a:stretch>
        </p:blipFill>
        <p:spPr>
          <a:xfrm>
            <a:off x="2322576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1911096" y="5733288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husband</a:t>
            </a:r>
          </a:p>
        </p:txBody>
      </p:sp>
      <p:pic>
        <p:nvPicPr>
          <p:cNvPr id="27" name="Word picture 6" descr="wife"/>
          <p:cNvPicPr>
            <a:picLocks noChangeAspect="1"/>
          </p:cNvPicPr>
          <p:nvPr/>
        </p:nvPicPr>
        <p:blipFill>
          <a:blip r:embed="rIdL4_6"/>
          <a:stretch>
            <a:fillRect/>
          </a:stretch>
        </p:blipFill>
        <p:spPr>
          <a:xfrm>
            <a:off x="5056632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4645152" y="5733288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wife</a:t>
            </a:r>
          </a:p>
        </p:txBody>
      </p:sp>
      <p:pic>
        <p:nvPicPr>
          <p:cNvPr id="40" name="Word picture 7" descr="son"/>
          <p:cNvPicPr>
            <a:picLocks noChangeAspect="1"/>
          </p:cNvPicPr>
          <p:nvPr/>
        </p:nvPicPr>
        <p:blipFill>
          <a:blip r:embed="rIdL4_7"/>
          <a:stretch>
            <a:fillRect/>
          </a:stretch>
        </p:blipFill>
        <p:spPr>
          <a:xfrm>
            <a:off x="7799832" y="4315968"/>
            <a:ext cx="1920240" cy="1344168"/>
          </a:xfrm>
          <a:prstGeom prst="rect">
            <a:avLst/>
          </a:prstGeom>
        </p:spPr>
      </p:pic>
      <p:sp>
        <p:nvSpPr>
          <p:cNvPr id="41" name="Word label 7"/>
          <p:cNvSpPr/>
          <p:nvPr/>
        </p:nvSpPr>
        <p:spPr>
          <a:xfrm>
            <a:off x="7388352" y="5733288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410657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25880" y="685800"/>
            <a:ext cx="37490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points. B says.</a:t>
            </a:r>
          </a:p>
        </p:txBody>
      </p:sp>
      <p:pic>
        <p:nvPicPr>
          <p:cNvPr id="17" name="Word picture 1" descr="daughter"/>
          <p:cNvPicPr>
            <a:picLocks noChangeAspect="1"/>
          </p:cNvPicPr>
          <p:nvPr/>
        </p:nvPicPr>
        <p:blipFill>
          <a:blip r:embed="rIdL4_1"/>
          <a:stretch>
            <a:fillRect/>
          </a:stretch>
        </p:blipFill>
        <p:spPr>
          <a:xfrm>
            <a:off x="950976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539496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daughter</a:t>
            </a:r>
          </a:p>
        </p:txBody>
      </p:sp>
      <p:pic>
        <p:nvPicPr>
          <p:cNvPr id="19" name="Word picture 2" descr="children"/>
          <p:cNvPicPr>
            <a:picLocks noChangeAspect="1"/>
          </p:cNvPicPr>
          <p:nvPr/>
        </p:nvPicPr>
        <p:blipFill>
          <a:blip r:embed="rIdL4_2"/>
          <a:stretch>
            <a:fillRect/>
          </a:stretch>
        </p:blipFill>
        <p:spPr>
          <a:xfrm>
            <a:off x="3694176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3282696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children (kids)</a:t>
            </a:r>
          </a:p>
        </p:txBody>
      </p:sp>
      <p:pic>
        <p:nvPicPr>
          <p:cNvPr id="21" name="Word picture 3" descr="baby"/>
          <p:cNvPicPr>
            <a:picLocks noChangeAspect="1"/>
          </p:cNvPicPr>
          <p:nvPr/>
        </p:nvPicPr>
        <p:blipFill>
          <a:blip r:embed="rIdL4_3"/>
          <a:stretch>
            <a:fillRect/>
          </a:stretch>
        </p:blipFill>
        <p:spPr>
          <a:xfrm>
            <a:off x="6428232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6016752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baby</a:t>
            </a:r>
          </a:p>
        </p:txBody>
      </p:sp>
      <p:pic>
        <p:nvPicPr>
          <p:cNvPr id="23" name="Word picture 4" descr="brother"/>
          <p:cNvPicPr>
            <a:picLocks noChangeAspect="1"/>
          </p:cNvPicPr>
          <p:nvPr/>
        </p:nvPicPr>
        <p:blipFill>
          <a:blip r:embed="rIdL4_4"/>
          <a:stretch>
            <a:fillRect/>
          </a:stretch>
        </p:blipFill>
        <p:spPr>
          <a:xfrm>
            <a:off x="9171432" y="2286000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759952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brother</a:t>
            </a:r>
          </a:p>
        </p:txBody>
      </p:sp>
      <p:pic>
        <p:nvPicPr>
          <p:cNvPr id="25" name="Word picture 5" descr="sister"/>
          <p:cNvPicPr>
            <a:picLocks noChangeAspect="1"/>
          </p:cNvPicPr>
          <p:nvPr/>
        </p:nvPicPr>
        <p:blipFill>
          <a:blip r:embed="rIdL4_5"/>
          <a:stretch>
            <a:fillRect/>
          </a:stretch>
        </p:blipFill>
        <p:spPr>
          <a:xfrm>
            <a:off x="2322576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1911096" y="5733288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sister</a:t>
            </a:r>
          </a:p>
        </p:txBody>
      </p:sp>
      <p:pic>
        <p:nvPicPr>
          <p:cNvPr id="27" name="Word picture 6" descr="grandmother"/>
          <p:cNvPicPr>
            <a:picLocks noChangeAspect="1"/>
          </p:cNvPicPr>
          <p:nvPr/>
        </p:nvPicPr>
        <p:blipFill>
          <a:blip r:embed="rIdL4_6"/>
          <a:stretch>
            <a:fillRect/>
          </a:stretch>
        </p:blipFill>
        <p:spPr>
          <a:xfrm>
            <a:off x="5056632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4645152" y="5733288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grandmother</a:t>
            </a:r>
          </a:p>
        </p:txBody>
      </p:sp>
      <p:pic>
        <p:nvPicPr>
          <p:cNvPr id="40" name="Word picture 7" descr="grandfather"/>
          <p:cNvPicPr>
            <a:picLocks noChangeAspect="1"/>
          </p:cNvPicPr>
          <p:nvPr/>
        </p:nvPicPr>
        <p:blipFill>
          <a:blip r:embed="rIdL4_7"/>
          <a:stretch>
            <a:fillRect/>
          </a:stretch>
        </p:blipFill>
        <p:spPr>
          <a:xfrm>
            <a:off x="7799832" y="4315968"/>
            <a:ext cx="1920240" cy="1344168"/>
          </a:xfrm>
          <a:prstGeom prst="rect">
            <a:avLst/>
          </a:prstGeom>
        </p:spPr>
      </p:pic>
      <p:sp>
        <p:nvSpPr>
          <p:cNvPr id="41" name="Word label 7"/>
          <p:cNvSpPr/>
          <p:nvPr/>
        </p:nvSpPr>
        <p:spPr>
          <a:xfrm>
            <a:off x="7388352" y="5733288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grandfather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 Check</a:t>
            </a:r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What's the word?</a:t>
            </a:r>
          </a:p>
        </p:txBody>
      </p:sp>
      <p:sp>
        <p:nvSpPr>
          <p:cNvPr id="4" name="Shape 2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40233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_________</a:t>
            </a:r>
            <a:endParaRPr lang="en-US" sz="2600" dirty="0"/>
          </a:p>
        </p:txBody>
      </p:sp>
      <p:pic>
        <p:nvPicPr>
          <p:cNvPr id="101" name="Quiz picture 1" descr="grandmother"/>
          <p:cNvPicPr>
            <a:picLocks noChangeAspect="1"/>
          </p:cNvPicPr>
          <p:nvPr/>
        </p:nvPicPr>
        <p:blipFill>
          <a:blip r:embed="rIdL4_1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Shape 8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40233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_________</a:t>
            </a:r>
            <a:endParaRPr lang="en-US" sz="2600" dirty="0"/>
          </a:p>
        </p:txBody>
      </p:sp>
      <p:pic>
        <p:nvPicPr>
          <p:cNvPr id="102" name="Quiz picture 2" descr="daughter"/>
          <p:cNvPicPr>
            <a:picLocks noChangeAspect="1"/>
          </p:cNvPicPr>
          <p:nvPr/>
        </p:nvPicPr>
        <p:blipFill>
          <a:blip r:embed="rIdL4_2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Shape 14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75320" y="40233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_________</a:t>
            </a:r>
            <a:endParaRPr lang="en-US" sz="2600" dirty="0"/>
          </a:p>
        </p:txBody>
      </p:sp>
      <p:pic>
        <p:nvPicPr>
          <p:cNvPr id="103" name="Quiz picture 3" descr="husband"/>
          <p:cNvPicPr>
            <a:picLocks noChangeAspect="1"/>
          </p:cNvPicPr>
          <p:nvPr/>
        </p:nvPicPr>
        <p:blipFill>
          <a:blip r:embed="rIdL4_3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Answer do"/>
          <p:cNvSpPr/>
          <p:nvPr/>
        </p:nvSpPr>
        <p:spPr>
          <a:xfrm>
            <a:off x="822960" y="4709160"/>
            <a:ext cx="27432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grandmother</a:t>
            </a:r>
          </a:p>
        </p:txBody>
      </p:sp>
      <p:sp>
        <p:nvSpPr>
          <p:cNvPr id="26" name="Answer are"/>
          <p:cNvSpPr/>
          <p:nvPr/>
        </p:nvSpPr>
        <p:spPr>
          <a:xfrm>
            <a:off x="4480560" y="4709160"/>
            <a:ext cx="27432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daughter</a:t>
            </a:r>
          </a:p>
        </p:txBody>
      </p:sp>
      <p:sp>
        <p:nvSpPr>
          <p:cNvPr id="27" name="Answer does"/>
          <p:cNvSpPr/>
          <p:nvPr/>
        </p:nvSpPr>
        <p:spPr>
          <a:xfrm>
            <a:off x="8138160" y="4709160"/>
            <a:ext cx="27432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husband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Carlos shows Kim photos of his family.</a:t>
            </a:r>
          </a:p>
        </p:txBody>
      </p:sp>
      <p:sp>
        <p:nvSpPr>
          <p:cNvPr id="11" name="Text 9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Carlos family tree small" descr="Carlos's family tree"/>
          <p:cNvPicPr>
            <a:picLocks noChangeAspect="1"/>
          </p:cNvPicPr>
          <p:nvPr/>
        </p:nvPicPr>
        <p:blipFill>
          <a:blip r:embed="rIdL4_1"/>
          <a:stretch>
            <a:fillRect/>
          </a:stretch>
        </p:blipFill>
        <p:spPr>
          <a:xfrm>
            <a:off x="284711" y="2423160"/>
            <a:ext cx="2493818" cy="1920240"/>
          </a:xfrm>
          <a:prstGeom prst="rect">
            <a:avLst/>
          </a:prstGeom>
        </p:spPr>
      </p:pic>
      <p:sp>
        <p:nvSpPr>
          <p:cNvPr id="25" name="Highlight 1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1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1: 1, 2, 3, 4.</a:t>
            </a:r>
          </a:p>
        </p:txBody>
      </p:sp>
      <p:sp>
        <p:nvSpPr>
          <p:cNvPr id="29" name="Highlight 2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Helper 2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2: The tree.</a:t>
            </a:r>
          </a:p>
        </p:txBody>
      </p:sp>
      <p:sp>
        <p:nvSpPr>
          <p:cNvPr id="33" name="Highlight 3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Helper 3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3: Numbers.</a:t>
            </a:r>
          </a:p>
        </p:txBody>
      </p:sp>
      <p:sp>
        <p:nvSpPr>
          <p:cNvPr id="37" name="Order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it!</a:t>
            </a:r>
          </a:p>
        </p:txBody>
      </p:sp>
      <p:sp>
        <p:nvSpPr>
          <p:cNvPr id="39" name="Step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Who's this?</a:t>
            </a:r>
          </a:p>
        </p:txBody>
      </p:sp>
      <p:sp>
        <p:nvSpPr>
          <p:cNvPr id="41" name="Step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is my wife.</a:t>
            </a:r>
          </a:p>
        </p:txBody>
      </p:sp>
      <p:sp>
        <p:nvSpPr>
          <p:cNvPr id="43" name="Step 3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have kids?</a:t>
            </a:r>
          </a:p>
        </p:txBody>
      </p:sp>
      <p:sp>
        <p:nvSpPr>
          <p:cNvPr id="46" name="Example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and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66176" y="3721608"/>
            <a:ext cx="3566160" cy="23317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229600" y="3657600"/>
            <a:ext cx="3566160" cy="23317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412480" y="3794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</a:t>
            </a:r>
          </a:p>
        </p:txBody>
      </p:sp>
      <p:sp>
        <p:nvSpPr>
          <p:cNvPr id="9" name="Text 7"/>
          <p:cNvSpPr/>
          <p:nvPr/>
        </p:nvSpPr>
        <p:spPr>
          <a:xfrm>
            <a:off x="8412480" y="434340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Elena  ·  Daniel</a:t>
            </a:r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Sofia  ·  Leo</a:t>
            </a:r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Carmen  ·  Pedro</a:t>
            </a:r>
          </a:p>
        </p:txBody>
      </p:sp>
      <p:sp>
        <p:nvSpPr>
          <p:cNvPr id="29" name="Text 27"/>
          <p:cNvSpPr/>
          <p:nvPr/>
        </p:nvSpPr>
        <p:spPr>
          <a:xfrm>
            <a:off x="8229600" y="6400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</a:p>
        </p:txBody>
      </p:sp>
      <p:sp>
        <p:nvSpPr>
          <p:cNvPr id="30" name="Text 28"/>
          <p:cNvSpPr/>
          <p:nvPr/>
        </p:nvSpPr>
        <p:spPr>
          <a:xfrm>
            <a:off x="8229600" y="15544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Carlos's family tree.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names.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show your partner.</a:t>
            </a:r>
          </a:p>
        </p:txBody>
      </p:sp>
      <p:pic>
        <p:nvPicPr>
          <p:cNvPr id="60" name="Carlos family tree" descr="Carlos's family tree"/>
          <p:cNvPicPr>
            <a:picLocks noChangeAspect="1"/>
          </p:cNvPicPr>
          <p:nvPr/>
        </p:nvPicPr>
        <p:blipFill>
          <a:blip r:embed="rIdL4_1"/>
          <a:stretch>
            <a:fillRect/>
          </a:stretch>
        </p:blipFill>
        <p:spPr>
          <a:xfrm>
            <a:off x="411480" y="502920"/>
            <a:ext cx="7498080" cy="5773522"/>
          </a:xfrm>
          <a:prstGeom prst="rect">
            <a:avLst/>
          </a:prstGeom>
        </p:spPr>
      </p:pic>
      <p:sp>
        <p:nvSpPr>
          <p:cNvPr id="34" name="Answer 1"/>
          <p:cNvSpPr/>
          <p:nvPr/>
        </p:nvSpPr>
        <p:spPr>
          <a:xfrm>
            <a:off x="2282342" y="1696395"/>
            <a:ext cx="1207008" cy="402336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Carmen</a:t>
            </a:r>
          </a:p>
        </p:txBody>
      </p:sp>
      <p:sp>
        <p:nvSpPr>
          <p:cNvPr id="35" name="Answer 2"/>
          <p:cNvSpPr/>
          <p:nvPr/>
        </p:nvSpPr>
        <p:spPr>
          <a:xfrm>
            <a:off x="4831690" y="1696395"/>
            <a:ext cx="1207008" cy="402336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Pedro</a:t>
            </a:r>
          </a:p>
        </p:txBody>
      </p:sp>
      <p:sp>
        <p:nvSpPr>
          <p:cNvPr id="36" name="Answer 3"/>
          <p:cNvSpPr/>
          <p:nvPr/>
        </p:nvSpPr>
        <p:spPr>
          <a:xfrm>
            <a:off x="4831690" y="3570915"/>
            <a:ext cx="1207008" cy="402336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Elena</a:t>
            </a:r>
          </a:p>
        </p:txBody>
      </p:sp>
      <p:sp>
        <p:nvSpPr>
          <p:cNvPr id="37" name="Answer 4"/>
          <p:cNvSpPr/>
          <p:nvPr/>
        </p:nvSpPr>
        <p:spPr>
          <a:xfrm>
            <a:off x="1682496" y="5445435"/>
            <a:ext cx="1207008" cy="402336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Daniel</a:t>
            </a:r>
          </a:p>
        </p:txBody>
      </p:sp>
      <p:sp>
        <p:nvSpPr>
          <p:cNvPr id="54" name="Answer 5"/>
          <p:cNvSpPr/>
          <p:nvPr/>
        </p:nvSpPr>
        <p:spPr>
          <a:xfrm>
            <a:off x="3557016" y="5445435"/>
            <a:ext cx="1207008" cy="402336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Sofia</a:t>
            </a:r>
          </a:p>
        </p:txBody>
      </p:sp>
      <p:sp>
        <p:nvSpPr>
          <p:cNvPr id="55" name="Answer 6"/>
          <p:cNvSpPr/>
          <p:nvPr/>
        </p:nvSpPr>
        <p:spPr>
          <a:xfrm>
            <a:off x="5431536" y="5445435"/>
            <a:ext cx="1207008" cy="402336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533095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Ana family picture" descr="Ana's family (picture-card family)"/>
          <p:cNvPicPr>
            <a:picLocks noChangeAspect="1"/>
          </p:cNvPicPr>
          <p:nvPr/>
        </p:nvPicPr>
        <p:blipFill>
          <a:blip r:embed="rIdL4_1"/>
          <a:stretch>
            <a:fillRect/>
          </a:stretch>
        </p:blipFill>
        <p:spPr>
          <a:xfrm>
            <a:off x="182880" y="1920240"/>
            <a:ext cx="3429000" cy="2743200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5333695" y="566928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Who's this?</a:t>
            </a:r>
          </a:p>
        </p:txBody>
      </p:sp>
      <p:sp>
        <p:nvSpPr>
          <p:cNvPr id="8" name="Text 6"/>
          <p:cNvSpPr/>
          <p:nvPr/>
        </p:nvSpPr>
        <p:spPr>
          <a:xfrm>
            <a:off x="516636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2104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20" name="Question 1"/>
          <p:cNvSpPr/>
          <p:nvPr/>
        </p:nvSpPr>
        <p:spPr>
          <a:xfrm>
            <a:off x="5138928" y="2697480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Who's this?</a:t>
            </a:r>
          </a:p>
        </p:txBody>
      </p:sp>
      <p:sp>
        <p:nvSpPr>
          <p:cNvPr id="22" name="Answer bg 1"/>
          <p:cNvSpPr/>
          <p:nvPr/>
        </p:nvSpPr>
        <p:spPr>
          <a:xfrm>
            <a:off x="8321040" y="2697480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1" name="Answer 1"/>
          <p:cNvSpPr/>
          <p:nvPr/>
        </p:nvSpPr>
        <p:spPr>
          <a:xfrm>
            <a:off x="8321040" y="2697480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is my mother.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name is Lucia.</a:t>
            </a:r>
          </a:p>
        </p:txBody>
      </p:sp>
      <p:sp>
        <p:nvSpPr>
          <p:cNvPr id="25" name="Question 2"/>
          <p:cNvSpPr/>
          <p:nvPr/>
        </p:nvSpPr>
        <p:spPr>
          <a:xfrm>
            <a:off x="5138928" y="3675888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Who's this?</a:t>
            </a:r>
          </a:p>
        </p:txBody>
      </p:sp>
      <p:sp>
        <p:nvSpPr>
          <p:cNvPr id="27" name="Answer bg 2"/>
          <p:cNvSpPr/>
          <p:nvPr/>
        </p:nvSpPr>
        <p:spPr>
          <a:xfrm>
            <a:off x="8321040" y="3675888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8321040" y="3675888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is my son.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His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name is Diego.</a:t>
            </a:r>
          </a:p>
        </p:txBody>
      </p:sp>
      <p:sp>
        <p:nvSpPr>
          <p:cNvPr id="72" name="Answer bg 3"/>
          <p:cNvSpPr/>
          <p:nvPr/>
        </p:nvSpPr>
        <p:spPr>
          <a:xfrm>
            <a:off x="8321040" y="4654296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2" name="Answer 3"/>
          <p:cNvSpPr/>
          <p:nvPr/>
        </p:nvSpPr>
        <p:spPr>
          <a:xfrm>
            <a:off x="8321040" y="4654296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She's 68.</a:t>
            </a:r>
          </a:p>
        </p:txBody>
      </p:sp>
      <p:sp>
        <p:nvSpPr>
          <p:cNvPr id="73" name="Answer bg 4"/>
          <p:cNvSpPr/>
          <p:nvPr/>
        </p:nvSpPr>
        <p:spPr>
          <a:xfrm>
            <a:off x="8321040" y="5632704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3" name="Answer 4"/>
          <p:cNvSpPr/>
          <p:nvPr/>
        </p:nvSpPr>
        <p:spPr>
          <a:xfrm>
            <a:off x="8321040" y="5632704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He's 9.</a:t>
            </a:r>
          </a:p>
        </p:txBody>
      </p:sp>
      <p:sp>
        <p:nvSpPr>
          <p:cNvPr id="93" name="Question 4"/>
          <p:cNvSpPr/>
          <p:nvPr/>
        </p:nvSpPr>
        <p:spPr>
          <a:xfrm>
            <a:off x="5138928" y="5632704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old is he?</a:t>
            </a:r>
          </a:p>
        </p:txBody>
      </p:sp>
      <p:sp>
        <p:nvSpPr>
          <p:cNvPr id="92" name="Question 3"/>
          <p:cNvSpPr/>
          <p:nvPr/>
        </p:nvSpPr>
        <p:spPr>
          <a:xfrm>
            <a:off x="5138928" y="4654296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old is she?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" name="Optional shadow"/>
          <p:cNvSpPr/>
          <p:nvPr/>
        </p:nvSpPr>
        <p:spPr>
          <a:xfrm>
            <a:off x="6709867" y="1350569"/>
            <a:ext cx="4937760" cy="20116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1" name="Optional card"/>
          <p:cNvSpPr/>
          <p:nvPr/>
        </p:nvSpPr>
        <p:spPr>
          <a:xfrm>
            <a:off x="6742786" y="1286561"/>
            <a:ext cx="4937760" cy="201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Optional text"/>
          <p:cNvSpPr/>
          <p:nvPr/>
        </p:nvSpPr>
        <p:spPr>
          <a:xfrm>
            <a:off x="6949440" y="13716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Optional</a:t>
            </a:r>
          </a:p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 married?</a:t>
            </a:r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am.  /  No, I'm not.</a:t>
            </a:r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don't have to answer.</a:t>
            </a:r>
          </a:p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have kids?</a:t>
            </a:r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79476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20" name="A head"/>
          <p:cNvSpPr/>
          <p:nvPr/>
        </p:nvSpPr>
        <p:spPr>
          <a:xfrm>
            <a:off x="7040880" y="379476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21" name="Highlight 1"/>
          <p:cNvSpPr/>
          <p:nvPr/>
        </p:nvSpPr>
        <p:spPr>
          <a:xfrm>
            <a:off x="1481328" y="4453128"/>
            <a:ext cx="14173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4315968"/>
            <a:ext cx="14173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</a:p>
        </p:txBody>
      </p:sp>
      <p:sp>
        <p:nvSpPr>
          <p:cNvPr id="23" name="Question 1"/>
          <p:cNvSpPr/>
          <p:nvPr/>
        </p:nvSpPr>
        <p:spPr>
          <a:xfrm>
            <a:off x="2944368" y="4315968"/>
            <a:ext cx="30632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have kids?</a:t>
            </a:r>
          </a:p>
        </p:txBody>
      </p:sp>
      <p:sp>
        <p:nvSpPr>
          <p:cNvPr id="25" name="Answer bg 1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Answer 1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I have two.</a:t>
            </a:r>
          </a:p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</a:p>
        </p:txBody>
      </p:sp>
      <p:sp>
        <p:nvSpPr>
          <p:cNvPr id="26" name="Highlight 2"/>
          <p:cNvSpPr/>
          <p:nvPr/>
        </p:nvSpPr>
        <p:spPr>
          <a:xfrm>
            <a:off x="1481328" y="5367528"/>
            <a:ext cx="14173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5230368"/>
            <a:ext cx="14173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</a:p>
        </p:txBody>
      </p:sp>
      <p:sp>
        <p:nvSpPr>
          <p:cNvPr id="28" name="Question 2"/>
          <p:cNvSpPr/>
          <p:nvPr/>
        </p:nvSpPr>
        <p:spPr>
          <a:xfrm>
            <a:off x="2944368" y="5230368"/>
            <a:ext cx="30632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have brothers</a:t>
            </a:r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 sisters?</a:t>
            </a:r>
          </a:p>
        </p:txBody>
      </p:sp>
      <p:sp>
        <p:nvSpPr>
          <p:cNvPr id="30" name="Answer bg 2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2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I have one sister.</a:t>
            </a:r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21" name="Husband picture" descr="husband"/>
          <p:cNvPicPr>
            <a:picLocks noChangeAspect="1"/>
          </p:cNvPicPr>
          <p:nvPr/>
        </p:nvPicPr>
        <p:blipFill>
          <a:blip r:embed="rIdL4_1"/>
          <a:stretch>
            <a:fillRect/>
          </a:stretch>
        </p:blipFill>
        <p:spPr>
          <a:xfrm>
            <a:off x="649224" y="2869067"/>
            <a:ext cx="2826410" cy="1978487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Boxes 3 + 4</a:t>
            </a:r>
          </a:p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Ana's husband</a:t>
            </a:r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 → Ana's husband</a:t>
            </a:r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Carlos's wife / kids</a:t>
            </a:r>
          </a:p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Kim's brothers</a:t>
            </a:r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→ two</a:t>
            </a:r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baby →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babies</a:t>
            </a:r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child →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children</a:t>
            </a:r>
          </a:p>
        </p:txBody>
      </p:sp>
      <p:sp>
        <p:nvSpPr>
          <p:cNvPr id="13" name="Text 11"/>
          <p:cNvSpPr/>
          <p:nvPr/>
        </p:nvSpPr>
        <p:spPr>
          <a:xfrm>
            <a:off x="8915400" y="31089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Carlos's</a:t>
            </a:r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= CAR-los-iz</a:t>
            </a:r>
          </a:p>
        </p:txBody>
      </p:sp>
      <p:sp>
        <p:nvSpPr>
          <p:cNvPr id="17" name="Text 15"/>
          <p:cNvSpPr/>
          <p:nvPr/>
        </p:nvSpPr>
        <p:spPr>
          <a:xfrm>
            <a:off x="8915400" y="47091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sons</a:t>
            </a:r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 son → 2 sons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4072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349654"/>
            <a:ext cx="6163056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395728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182112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396849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475488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Row card 5"/>
          <p:cNvSpPr/>
          <p:nvPr/>
        </p:nvSpPr>
        <p:spPr>
          <a:xfrm>
            <a:off x="1583741" y="554126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Write the number.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many? How old?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2395728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Carlos has ____ children.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3182112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Daniel is ____.</a:t>
            </a:r>
          </a:p>
        </p:txBody>
      </p:sp>
      <p:sp>
        <p:nvSpPr>
          <p:cNvPr id="15" name="Text 13"/>
          <p:cNvSpPr/>
          <p:nvPr/>
        </p:nvSpPr>
        <p:spPr>
          <a:xfrm>
            <a:off x="1810512" y="3968496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Sofia is ____.</a:t>
            </a:r>
          </a:p>
        </p:txBody>
      </p:sp>
      <p:sp>
        <p:nvSpPr>
          <p:cNvPr id="17" name="Text 15"/>
          <p:cNvSpPr/>
          <p:nvPr/>
        </p:nvSpPr>
        <p:spPr>
          <a:xfrm>
            <a:off x="1810512" y="4754880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 has ____ kids.</a:t>
            </a:r>
          </a:p>
        </p:txBody>
      </p:sp>
      <p:sp>
        <p:nvSpPr>
          <p:cNvPr id="51" name="Row text 5"/>
          <p:cNvSpPr/>
          <p:nvPr/>
        </p:nvSpPr>
        <p:spPr>
          <a:xfrm>
            <a:off x="1810512" y="5541264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 has ____ brothers.</a:t>
            </a:r>
          </a:p>
        </p:txBody>
      </p:sp>
      <p:sp>
        <p:nvSpPr>
          <p:cNvPr id="21" name="Shape 19"/>
          <p:cNvSpPr/>
          <p:nvPr/>
        </p:nvSpPr>
        <p:spPr>
          <a:xfrm>
            <a:off x="544982" y="2395728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4597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182112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246120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396849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0325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475488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481888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52" name="Row chip 5"/>
          <p:cNvSpPr/>
          <p:nvPr/>
        </p:nvSpPr>
        <p:spPr>
          <a:xfrm>
            <a:off x="544982" y="554126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ow number 5"/>
          <p:cNvSpPr/>
          <p:nvPr/>
        </p:nvSpPr>
        <p:spPr>
          <a:xfrm>
            <a:off x="686714" y="56052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many?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old?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show your partner.</a:t>
            </a:r>
          </a:p>
        </p:txBody>
      </p:sp>
      <p:sp>
        <p:nvSpPr>
          <p:cNvPr id="34" name="Answer 1"/>
          <p:cNvSpPr/>
          <p:nvPr/>
        </p:nvSpPr>
        <p:spPr>
          <a:xfrm>
            <a:off x="5486400" y="2523744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</a:p>
        </p:txBody>
      </p:sp>
      <p:sp>
        <p:nvSpPr>
          <p:cNvPr id="35" name="Answer 2"/>
          <p:cNvSpPr/>
          <p:nvPr/>
        </p:nvSpPr>
        <p:spPr>
          <a:xfrm>
            <a:off x="5486400" y="3310128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10</a:t>
            </a:r>
          </a:p>
        </p:txBody>
      </p:sp>
      <p:sp>
        <p:nvSpPr>
          <p:cNvPr id="36" name="Answer 3"/>
          <p:cNvSpPr/>
          <p:nvPr/>
        </p:nvSpPr>
        <p:spPr>
          <a:xfrm>
            <a:off x="5486400" y="4096511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</a:t>
            </a:r>
          </a:p>
        </p:txBody>
      </p:sp>
      <p:sp>
        <p:nvSpPr>
          <p:cNvPr id="37" name="Answer 4"/>
          <p:cNvSpPr/>
          <p:nvPr/>
        </p:nvSpPr>
        <p:spPr>
          <a:xfrm>
            <a:off x="5486400" y="4882896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</a:t>
            </a:r>
          </a:p>
        </p:txBody>
      </p:sp>
      <p:sp>
        <p:nvSpPr>
          <p:cNvPr id="54" name="Answer 5"/>
          <p:cNvSpPr/>
          <p:nvPr/>
        </p:nvSpPr>
        <p:spPr>
          <a:xfrm>
            <a:off x="5486400" y="5669280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798064"/>
            <a:ext cx="4526280" cy="3840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5217566" y="2806294"/>
            <a:ext cx="5440680" cy="3840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2606040"/>
            <a:ext cx="4526280" cy="38404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5349240" y="2606040"/>
            <a:ext cx="5440680" cy="38404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pic>
        <p:nvPicPr>
          <p:cNvPr id="21" name="Sister picture" descr="sister"/>
          <p:cNvPicPr>
            <a:picLocks noChangeAspect="1"/>
          </p:cNvPicPr>
          <p:nvPr/>
        </p:nvPicPr>
        <p:blipFill>
          <a:blip r:embed="rIdL4_1"/>
          <a:stretch>
            <a:fillRect/>
          </a:stretch>
        </p:blipFill>
        <p:spPr>
          <a:xfrm>
            <a:off x="9124406" y="1188720"/>
            <a:ext cx="1959429" cy="1371600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2697480"/>
            <a:ext cx="40233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5577840" y="2697480"/>
            <a:ext cx="49377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3246120"/>
            <a:ext cx="4160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have.</a:t>
            </a:r>
          </a:p>
        </p:txBody>
      </p:sp>
      <p:sp>
        <p:nvSpPr>
          <p:cNvPr id="25" name="Good 1"/>
          <p:cNvSpPr/>
          <p:nvPr/>
        </p:nvSpPr>
        <p:spPr>
          <a:xfrm>
            <a:off x="5577840" y="3246120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(I have two.)</a:t>
            </a:r>
          </a:p>
        </p:txBody>
      </p:sp>
      <p:sp>
        <p:nvSpPr>
          <p:cNvPr id="26" name="Bad 2"/>
          <p:cNvSpPr/>
          <p:nvPr/>
        </p:nvSpPr>
        <p:spPr>
          <a:xfrm>
            <a:off x="914400" y="3776472"/>
            <a:ext cx="4160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have kids?</a:t>
            </a:r>
          </a:p>
        </p:txBody>
      </p:sp>
      <p:sp>
        <p:nvSpPr>
          <p:cNvPr id="27" name="Good 2"/>
          <p:cNvSpPr/>
          <p:nvPr/>
        </p:nvSpPr>
        <p:spPr>
          <a:xfrm>
            <a:off x="5577840" y="3776472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have kids?</a:t>
            </a:r>
          </a:p>
        </p:txBody>
      </p:sp>
      <p:sp>
        <p:nvSpPr>
          <p:cNvPr id="28" name="Bad 3"/>
          <p:cNvSpPr/>
          <p:nvPr/>
        </p:nvSpPr>
        <p:spPr>
          <a:xfrm>
            <a:off x="914400" y="4306824"/>
            <a:ext cx="4160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husband of Ana</a:t>
            </a:r>
          </a:p>
        </p:txBody>
      </p:sp>
      <p:sp>
        <p:nvSpPr>
          <p:cNvPr id="29" name="Good 3"/>
          <p:cNvSpPr/>
          <p:nvPr/>
        </p:nvSpPr>
        <p:spPr>
          <a:xfrm>
            <a:off x="5577840" y="4306824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Ana's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husband</a:t>
            </a:r>
          </a:p>
        </p:txBody>
      </p:sp>
      <p:sp>
        <p:nvSpPr>
          <p:cNvPr id="60" name="Bad 4"/>
          <p:cNvSpPr/>
          <p:nvPr/>
        </p:nvSpPr>
        <p:spPr>
          <a:xfrm>
            <a:off x="914400" y="4837176"/>
            <a:ext cx="4160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sister… His name is Ana.</a:t>
            </a:r>
          </a:p>
        </p:txBody>
      </p:sp>
      <p:sp>
        <p:nvSpPr>
          <p:cNvPr id="61" name="Good 4"/>
          <p:cNvSpPr/>
          <p:nvPr/>
        </p:nvSpPr>
        <p:spPr>
          <a:xfrm>
            <a:off x="5577840" y="4837176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sister…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name is Ana.</a:t>
            </a:r>
          </a:p>
        </p:txBody>
      </p:sp>
      <p:sp>
        <p:nvSpPr>
          <p:cNvPr id="62" name="Bad 5"/>
          <p:cNvSpPr/>
          <p:nvPr/>
        </p:nvSpPr>
        <p:spPr>
          <a:xfrm>
            <a:off x="914400" y="5367528"/>
            <a:ext cx="4160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two son.</a:t>
            </a:r>
          </a:p>
        </p:txBody>
      </p:sp>
      <p:sp>
        <p:nvSpPr>
          <p:cNvPr id="63" name="Good 5"/>
          <p:cNvSpPr/>
          <p:nvPr/>
        </p:nvSpPr>
        <p:spPr>
          <a:xfrm>
            <a:off x="5577840" y="5367528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two son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</a:p>
        </p:txBody>
      </p:sp>
      <p:sp>
        <p:nvSpPr>
          <p:cNvPr id="64" name="Bad 6"/>
          <p:cNvSpPr/>
          <p:nvPr/>
        </p:nvSpPr>
        <p:spPr>
          <a:xfrm>
            <a:off x="914400" y="5897880"/>
            <a:ext cx="4160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many parents in Mexico.</a:t>
            </a:r>
          </a:p>
        </p:txBody>
      </p:sp>
      <p:sp>
        <p:nvSpPr>
          <p:cNvPr id="65" name="Good 6"/>
          <p:cNvSpPr/>
          <p:nvPr/>
        </p:nvSpPr>
        <p:spPr>
          <a:xfrm>
            <a:off x="5577840" y="5897880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a big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family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 Mexico.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Blank family tree" descr="Blank family tree"/>
          <p:cNvPicPr>
            <a:picLocks noChangeAspect="1"/>
          </p:cNvPicPr>
          <p:nvPr/>
        </p:nvPicPr>
        <p:blipFill>
          <a:blip r:embed="rIdL4_1"/>
          <a:stretch>
            <a:fillRect/>
          </a:stretch>
        </p:blipFill>
        <p:spPr>
          <a:xfrm>
            <a:off x="502920" y="3167482"/>
            <a:ext cx="4663440" cy="335767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Family Tree</a:t>
            </a:r>
          </a:p>
        </p:txBody>
      </p:sp>
      <p:sp>
        <p:nvSpPr>
          <p:cNvPr id="8" name="Text 6"/>
          <p:cNvSpPr/>
          <p:nvPr/>
        </p:nvSpPr>
        <p:spPr>
          <a:xfrm>
            <a:off x="603504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 of 3.</a:t>
            </a:r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choose the family.</a:t>
            </a:r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names on the tree.</a:t>
            </a:r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 use Ana's family.</a:t>
            </a:r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3 sentences.</a:t>
            </a:r>
          </a:p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is my ___. Her name is ___.</a:t>
            </a:r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group asks 1 question.</a:t>
            </a:r>
          </a:p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Who's this? How old is he?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7:10–7:15</a:t>
            </a:r>
            <a:endParaRPr lang="en-US" sz="4000" dirty="0"/>
          </a:p>
        </p:txBody>
      </p:sp>
      <p:pic>
        <p:nvPicPr>
          <p:cNvPr id="16" name="Son picture" descr="son"/>
          <p:cNvPicPr>
            <a:picLocks noChangeAspect="1"/>
          </p:cNvPicPr>
          <p:nvPr/>
        </p:nvPicPr>
        <p:blipFill>
          <a:blip r:embed="rIdL4_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19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one sentence: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is my son.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His name is ___.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 write: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have kids?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do. / No, I don't.</a:t>
            </a:r>
          </a:p>
        </p:txBody>
      </p:sp>
      <p:sp>
        <p:nvSpPr>
          <p:cNvPr id="20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22" name="Body 02"/>
          <p:cNvSpPr/>
          <p:nvPr/>
        </p:nvSpPr>
        <p:spPr>
          <a:xfrm>
            <a:off x="8001000" y="3977640"/>
            <a:ext cx="361188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3 sentences.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Write do or don't.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Write 's.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Ask: Do you have kids?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Write a phone number.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533095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0" name="Alphabet"/>
          <p:cNvSpPr/>
          <p:nvPr/>
        </p:nvSpPr>
        <p:spPr>
          <a:xfrm>
            <a:off x="228600" y="1737360"/>
            <a:ext cx="3337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900"/>
              </a:spcBef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them short!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dad · mom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son · kids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son = letter o,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sound u (but)</a:t>
            </a:r>
          </a:p>
        </p:txBody>
      </p:sp>
      <p:sp>
        <p:nvSpPr>
          <p:cNvPr id="7" name="Text 5"/>
          <p:cNvSpPr/>
          <p:nvPr/>
        </p:nvSpPr>
        <p:spPr>
          <a:xfrm>
            <a:off x="5333695" y="566928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Letters &amp; Numbers  ·  7:15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Short sounds</a:t>
            </a:r>
          </a:p>
        </p:txBody>
      </p:sp>
      <p:sp>
        <p:nvSpPr>
          <p:cNvPr id="8" name="Text 6"/>
          <p:cNvSpPr/>
          <p:nvPr/>
        </p:nvSpPr>
        <p:spPr>
          <a:xfrm>
            <a:off x="516636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SOUND</a:t>
            </a:r>
          </a:p>
        </p:txBody>
      </p:sp>
      <p:sp>
        <p:nvSpPr>
          <p:cNvPr id="11" name="Text 9"/>
          <p:cNvSpPr/>
          <p:nvPr/>
        </p:nvSpPr>
        <p:spPr>
          <a:xfrm>
            <a:off x="804672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</a:p>
        </p:txBody>
      </p:sp>
      <p:sp>
        <p:nvSpPr>
          <p:cNvPr id="18" name="Highlight 1"/>
          <p:cNvSpPr/>
          <p:nvPr/>
        </p:nvSpPr>
        <p:spPr>
          <a:xfrm>
            <a:off x="5138928" y="2697479"/>
            <a:ext cx="27889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9" name="Helper 1"/>
          <p:cNvSpPr/>
          <p:nvPr/>
        </p:nvSpPr>
        <p:spPr>
          <a:xfrm>
            <a:off x="5138928" y="2651760"/>
            <a:ext cx="27889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 (dad)</a:t>
            </a:r>
          </a:p>
        </p:txBody>
      </p:sp>
      <p:sp>
        <p:nvSpPr>
          <p:cNvPr id="22" name="Answer bg 1"/>
          <p:cNvSpPr/>
          <p:nvPr/>
        </p:nvSpPr>
        <p:spPr>
          <a:xfrm>
            <a:off x="8001000" y="2651760"/>
            <a:ext cx="379476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1" name="Answer 1"/>
          <p:cNvSpPr/>
          <p:nvPr/>
        </p:nvSpPr>
        <p:spPr>
          <a:xfrm>
            <a:off x="8001000" y="2651760"/>
            <a:ext cx="37947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dad  · 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has  · 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  · 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family</a:t>
            </a:r>
          </a:p>
        </p:txBody>
      </p:sp>
      <p:sp>
        <p:nvSpPr>
          <p:cNvPr id="23" name="Highlight 2"/>
          <p:cNvSpPr/>
          <p:nvPr/>
        </p:nvSpPr>
        <p:spPr>
          <a:xfrm>
            <a:off x="5138928" y="3465575"/>
            <a:ext cx="27889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Helper 2"/>
          <p:cNvSpPr/>
          <p:nvPr/>
        </p:nvSpPr>
        <p:spPr>
          <a:xfrm>
            <a:off x="5138928" y="3419856"/>
            <a:ext cx="27889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  (mom)</a:t>
            </a:r>
          </a:p>
        </p:txBody>
      </p:sp>
      <p:sp>
        <p:nvSpPr>
          <p:cNvPr id="27" name="Answer bg 2"/>
          <p:cNvSpPr/>
          <p:nvPr/>
        </p:nvSpPr>
        <p:spPr>
          <a:xfrm>
            <a:off x="8001000" y="3419856"/>
            <a:ext cx="379476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8001000" y="3419856"/>
            <a:ext cx="37947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mom  · 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  · 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job  · 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stop</a:t>
            </a:r>
          </a:p>
        </p:txBody>
      </p:sp>
      <p:sp>
        <p:nvSpPr>
          <p:cNvPr id="132" name="Highlight 3"/>
          <p:cNvSpPr/>
          <p:nvPr/>
        </p:nvSpPr>
        <p:spPr>
          <a:xfrm>
            <a:off x="5138928" y="4233672"/>
            <a:ext cx="27889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42" name="Helper 3"/>
          <p:cNvSpPr/>
          <p:nvPr/>
        </p:nvSpPr>
        <p:spPr>
          <a:xfrm>
            <a:off x="5138928" y="4187952"/>
            <a:ext cx="27889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 sound  (son)</a:t>
            </a:r>
          </a:p>
        </p:txBody>
      </p:sp>
      <p:sp>
        <p:nvSpPr>
          <p:cNvPr id="162" name="Answer bg 3"/>
          <p:cNvSpPr/>
          <p:nvPr/>
        </p:nvSpPr>
        <p:spPr>
          <a:xfrm>
            <a:off x="8001000" y="4187952"/>
            <a:ext cx="379476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72" name="Answer 3"/>
          <p:cNvSpPr/>
          <p:nvPr/>
        </p:nvSpPr>
        <p:spPr>
          <a:xfrm>
            <a:off x="8001000" y="4187952"/>
            <a:ext cx="37947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son  · 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mother  · 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brother  · 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but</a:t>
            </a:r>
          </a:p>
        </p:txBody>
      </p:sp>
      <p:sp>
        <p:nvSpPr>
          <p:cNvPr id="133" name="Highlight 4"/>
          <p:cNvSpPr/>
          <p:nvPr/>
        </p:nvSpPr>
        <p:spPr>
          <a:xfrm>
            <a:off x="5138928" y="5001768"/>
            <a:ext cx="27889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43" name="Helper 4"/>
          <p:cNvSpPr/>
          <p:nvPr/>
        </p:nvSpPr>
        <p:spPr>
          <a:xfrm>
            <a:off x="5138928" y="4956048"/>
            <a:ext cx="278892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 (kids)</a:t>
            </a:r>
          </a:p>
        </p:txBody>
      </p:sp>
      <p:sp>
        <p:nvSpPr>
          <p:cNvPr id="163" name="Answer bg 4"/>
          <p:cNvSpPr/>
          <p:nvPr/>
        </p:nvSpPr>
        <p:spPr>
          <a:xfrm>
            <a:off x="8001000" y="4956048"/>
            <a:ext cx="379476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73" name="Answer 4"/>
          <p:cNvSpPr/>
          <p:nvPr/>
        </p:nvSpPr>
        <p:spPr>
          <a:xfrm>
            <a:off x="8001000" y="4956048"/>
            <a:ext cx="37947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kids  · 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sister  · 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six  ·  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 can"/>
          <p:cNvSpPr/>
          <p:nvPr/>
        </p:nvSpPr>
        <p:spPr>
          <a:xfrm>
            <a:off x="8503920" y="1234440"/>
            <a:ext cx="3291840" cy="17373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200" dirty="0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2200" dirty="0"/>
          </a:p>
          <a:p>
            <a:pPr algn="ctr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40005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845406" y="3263494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4068165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977079" y="3063240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7:25</a:t>
            </a:r>
            <a:endParaRPr lang="en-US" sz="4300" dirty="0"/>
          </a:p>
        </p:txBody>
      </p:sp>
      <p:sp>
        <p:nvSpPr>
          <p:cNvPr id="22" name="Dont head"/>
          <p:cNvSpPr/>
          <p:nvPr/>
        </p:nvSpPr>
        <p:spPr>
          <a:xfrm>
            <a:off x="914400" y="324612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Match the question</a:t>
            </a:r>
          </a:p>
        </p:txBody>
      </p:sp>
      <p:sp>
        <p:nvSpPr>
          <p:cNvPr id="23" name="Say head"/>
          <p:cNvSpPr/>
          <p:nvPr/>
        </p:nvSpPr>
        <p:spPr>
          <a:xfrm>
            <a:off x="5257800" y="3246120"/>
            <a:ext cx="48463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3840480"/>
            <a:ext cx="39319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Who's this?</a:t>
            </a:r>
          </a:p>
        </p:txBody>
      </p:sp>
      <p:sp>
        <p:nvSpPr>
          <p:cNvPr id="25" name="Good 1"/>
          <p:cNvSpPr/>
          <p:nvPr/>
        </p:nvSpPr>
        <p:spPr>
          <a:xfrm>
            <a:off x="5257800" y="3840480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This is my son.</a:t>
            </a:r>
          </a:p>
        </p:txBody>
      </p:sp>
      <p:sp>
        <p:nvSpPr>
          <p:cNvPr id="26" name="Bad 2"/>
          <p:cNvSpPr/>
          <p:nvPr/>
        </p:nvSpPr>
        <p:spPr>
          <a:xfrm>
            <a:off x="914400" y="4407408"/>
            <a:ext cx="39319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Do you have kids?</a:t>
            </a:r>
          </a:p>
        </p:txBody>
      </p:sp>
      <p:sp>
        <p:nvSpPr>
          <p:cNvPr id="27" name="Good 2"/>
          <p:cNvSpPr/>
          <p:nvPr/>
        </p:nvSpPr>
        <p:spPr>
          <a:xfrm>
            <a:off x="5257800" y="4407408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Yes, I do. I have two.</a:t>
            </a:r>
          </a:p>
        </p:txBody>
      </p:sp>
      <p:sp>
        <p:nvSpPr>
          <p:cNvPr id="28" name="Bad 3"/>
          <p:cNvSpPr/>
          <p:nvPr/>
        </p:nvSpPr>
        <p:spPr>
          <a:xfrm>
            <a:off x="914400" y="4974336"/>
            <a:ext cx="39319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How old is he?</a:t>
            </a:r>
          </a:p>
        </p:txBody>
      </p:sp>
      <p:sp>
        <p:nvSpPr>
          <p:cNvPr id="29" name="Good 3"/>
          <p:cNvSpPr/>
          <p:nvPr/>
        </p:nvSpPr>
        <p:spPr>
          <a:xfrm>
            <a:off x="5257800" y="4974336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He's ten.</a:t>
            </a:r>
          </a:p>
        </p:txBody>
      </p:sp>
      <p:sp>
        <p:nvSpPr>
          <p:cNvPr id="60" name="Bad 4"/>
          <p:cNvSpPr/>
          <p:nvPr/>
        </p:nvSpPr>
        <p:spPr>
          <a:xfrm>
            <a:off x="914400" y="5541264"/>
            <a:ext cx="39319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What's his name?</a:t>
            </a:r>
          </a:p>
        </p:txBody>
      </p:sp>
      <p:sp>
        <p:nvSpPr>
          <p:cNvPr id="61" name="Good 4"/>
          <p:cNvSpPr/>
          <p:nvPr/>
        </p:nvSpPr>
        <p:spPr>
          <a:xfrm>
            <a:off x="5257800" y="5541264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His name is Daniel.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Children picture" descr="children">    </p:cNvPr>
          <p:cNvPicPr>
            <a:picLocks noChangeAspect="1"/>
          </p:cNvPicPr>
          <p:nvPr/>
        </p:nvPicPr>
        <p:blipFill>
          <a:blip r:embed="rIdL4_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4  ·  Level 1</a:t>
            </a:r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Great Work! See You Next Week!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Say: This is my son.</a:t>
            </a:r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Do you have kids?</a:t>
            </a:r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Say: Ana's husband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and family trees use Twemoji graphics by Twitter, Inc. and other contributors (https://github.com/jdecked/twemoji), licensed under CC BY 4.0 (https://creativecommons.org/licenses/by/4.0/). The graphics were resized and combined, and highlight circles, family-tree lines, boxes, and labels were added. Labels on the pictures use the DejaVu Sans font.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Other small pictures (the faces on the Progress Check) are standard emoji characters shown with the computer's emoji font.</a:t>
            </a:r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All names and ages (Carlos, Kim, Ana, and their families) are invented.</a:t>
            </a:r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(Narrator, Kim, Carlos) made with Chatterbox TTS (Resemble AI, MIT License), cloned from short synthetic clips made with Kokoro-82M (Apache 2.0); no recordings of real people were used. Each file carries an inaudible Perth watermark. Font: Lexend Deca (OFL 1.1).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Letters: Task B</a:t>
            </a:r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to the teacher.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word.</a:t>
            </a:r>
          </a:p>
        </p:txBody>
      </p:sp>
      <p:sp>
        <p:nvSpPr>
          <p:cNvPr id="27" name="Statement 1"/>
          <p:cNvSpPr/>
          <p:nvPr/>
        </p:nvSpPr>
        <p:spPr>
          <a:xfrm>
            <a:off x="1463040" y="3127248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</a:t>
            </a:r>
            <a:endParaRPr lang="en-US" sz="2200" dirty="0"/>
          </a:p>
        </p:txBody>
      </p:sp>
      <p:sp>
        <p:nvSpPr>
          <p:cNvPr id="28" name="True 1"/>
          <p:cNvSpPr/>
          <p:nvPr/>
        </p:nvSpPr>
        <p:spPr>
          <a:xfrm>
            <a:off x="3840480" y="3127248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mom</a:t>
            </a:r>
          </a:p>
        </p:txBody>
      </p:sp>
      <p:sp>
        <p:nvSpPr>
          <p:cNvPr id="29" name="False 1"/>
          <p:cNvSpPr/>
          <p:nvPr/>
        </p:nvSpPr>
        <p:spPr>
          <a:xfrm>
            <a:off x="6400800" y="3127248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</a:t>
            </a:r>
          </a:p>
        </p:txBody>
      </p:sp>
      <p:sp>
        <p:nvSpPr>
          <p:cNvPr id="30" name="Circle 1"/>
          <p:cNvSpPr/>
          <p:nvPr/>
        </p:nvSpPr>
        <p:spPr>
          <a:xfrm>
            <a:off x="3712464" y="3063240"/>
            <a:ext cx="19019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Statement 2"/>
          <p:cNvSpPr/>
          <p:nvPr/>
        </p:nvSpPr>
        <p:spPr>
          <a:xfrm>
            <a:off x="1463040" y="3785616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</a:t>
            </a:r>
            <a:endParaRPr lang="en-US" sz="2200" dirty="0"/>
          </a:p>
        </p:txBody>
      </p:sp>
      <p:sp>
        <p:nvSpPr>
          <p:cNvPr id="32" name="True 2"/>
          <p:cNvSpPr/>
          <p:nvPr/>
        </p:nvSpPr>
        <p:spPr>
          <a:xfrm>
            <a:off x="3840480" y="3785616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dad</a:t>
            </a:r>
          </a:p>
        </p:txBody>
      </p:sp>
      <p:sp>
        <p:nvSpPr>
          <p:cNvPr id="33" name="False 2"/>
          <p:cNvSpPr/>
          <p:nvPr/>
        </p:nvSpPr>
        <p:spPr>
          <a:xfrm>
            <a:off x="6400800" y="3785616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</a:p>
        </p:txBody>
      </p:sp>
      <p:sp>
        <p:nvSpPr>
          <p:cNvPr id="34" name="Circle 2"/>
          <p:cNvSpPr/>
          <p:nvPr/>
        </p:nvSpPr>
        <p:spPr>
          <a:xfrm>
            <a:off x="3712464" y="3721608"/>
            <a:ext cx="19019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6" name="Statement 3"/>
          <p:cNvSpPr/>
          <p:nvPr/>
        </p:nvSpPr>
        <p:spPr>
          <a:xfrm>
            <a:off x="1463040" y="4443984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</a:t>
            </a:r>
            <a:endParaRPr lang="en-US" sz="2200" dirty="0"/>
          </a:p>
        </p:txBody>
      </p:sp>
      <p:sp>
        <p:nvSpPr>
          <p:cNvPr id="37" name="True 3"/>
          <p:cNvSpPr/>
          <p:nvPr/>
        </p:nvSpPr>
        <p:spPr>
          <a:xfrm>
            <a:off x="3840480" y="4443984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kids</a:t>
            </a:r>
          </a:p>
        </p:txBody>
      </p:sp>
      <p:sp>
        <p:nvSpPr>
          <p:cNvPr id="38" name="False 3"/>
          <p:cNvSpPr/>
          <p:nvPr/>
        </p:nvSpPr>
        <p:spPr>
          <a:xfrm>
            <a:off x="6400800" y="4443984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cats</a:t>
            </a:r>
          </a:p>
        </p:txBody>
      </p:sp>
      <p:sp>
        <p:nvSpPr>
          <p:cNvPr id="39" name="Circle 3"/>
          <p:cNvSpPr/>
          <p:nvPr/>
        </p:nvSpPr>
        <p:spPr>
          <a:xfrm>
            <a:off x="3712464" y="4379976"/>
            <a:ext cx="19019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0" name="Statement 4"/>
          <p:cNvSpPr/>
          <p:nvPr/>
        </p:nvSpPr>
        <p:spPr>
          <a:xfrm>
            <a:off x="1463040" y="5102352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</a:t>
            </a:r>
            <a:endParaRPr lang="en-US" sz="2200" dirty="0"/>
          </a:p>
        </p:txBody>
      </p:sp>
      <p:sp>
        <p:nvSpPr>
          <p:cNvPr id="41" name="True 4"/>
          <p:cNvSpPr/>
          <p:nvPr/>
        </p:nvSpPr>
        <p:spPr>
          <a:xfrm>
            <a:off x="3840480" y="5102352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has</a:t>
            </a:r>
          </a:p>
        </p:txBody>
      </p:sp>
      <p:sp>
        <p:nvSpPr>
          <p:cNvPr id="42" name="False 4"/>
          <p:cNvSpPr/>
          <p:nvPr/>
        </p:nvSpPr>
        <p:spPr>
          <a:xfrm>
            <a:off x="6400800" y="5102352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his</a:t>
            </a:r>
          </a:p>
        </p:txBody>
      </p:sp>
      <p:sp>
        <p:nvSpPr>
          <p:cNvPr id="43" name="Circle 4"/>
          <p:cNvSpPr/>
          <p:nvPr/>
        </p:nvSpPr>
        <p:spPr>
          <a:xfrm>
            <a:off x="6272784" y="5038344"/>
            <a:ext cx="19019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5" name="Statement 5"/>
          <p:cNvSpPr/>
          <p:nvPr/>
        </p:nvSpPr>
        <p:spPr>
          <a:xfrm>
            <a:off x="1463040" y="5760720"/>
            <a:ext cx="9144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</a:t>
            </a:r>
            <a:endParaRPr lang="en-US" sz="2200" dirty="0"/>
          </a:p>
        </p:txBody>
      </p:sp>
      <p:sp>
        <p:nvSpPr>
          <p:cNvPr id="46" name="True 5"/>
          <p:cNvSpPr/>
          <p:nvPr/>
        </p:nvSpPr>
        <p:spPr>
          <a:xfrm>
            <a:off x="3840480" y="5760720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big</a:t>
            </a:r>
          </a:p>
        </p:txBody>
      </p:sp>
      <p:sp>
        <p:nvSpPr>
          <p:cNvPr id="47" name="False 5"/>
          <p:cNvSpPr/>
          <p:nvPr/>
        </p:nvSpPr>
        <p:spPr>
          <a:xfrm>
            <a:off x="6400800" y="5760720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bag</a:t>
            </a:r>
          </a:p>
        </p:txBody>
      </p:sp>
      <p:sp>
        <p:nvSpPr>
          <p:cNvPr id="48" name="Circle 5"/>
          <p:cNvSpPr/>
          <p:nvPr/>
        </p:nvSpPr>
        <p:spPr>
          <a:xfrm>
            <a:off x="3712464" y="5696712"/>
            <a:ext cx="19019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Point to the person. Write 1, 2, 3, 4.</a:t>
            </a:r>
          </a:p>
        </p:txBody>
      </p:sp>
      <p:sp>
        <p:nvSpPr>
          <p:cNvPr id="4" name="Shape 2"/>
          <p:cNvSpPr/>
          <p:nvPr/>
        </p:nvSpPr>
        <p:spPr>
          <a:xfrm>
            <a:off x="621792" y="2487168"/>
            <a:ext cx="2606040" cy="3017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377440"/>
            <a:ext cx="2606040" cy="3017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" y="2514600"/>
            <a:ext cx="640080" cy="64008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</a:p>
        </p:txBody>
      </p:sp>
      <p:sp>
        <p:nvSpPr>
          <p:cNvPr id="8" name="Text 6"/>
          <p:cNvSpPr/>
          <p:nvPr/>
        </p:nvSpPr>
        <p:spPr>
          <a:xfrm>
            <a:off x="1417320" y="248716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</a:t>
            </a:r>
          </a:p>
        </p:txBody>
      </p:sp>
      <p:pic>
        <p:nvPicPr>
          <p:cNvPr id="101" name="Quiz picture 1" descr="son"/>
          <p:cNvPicPr>
            <a:picLocks noChangeAspect="1"/>
          </p:cNvPicPr>
          <p:nvPr/>
        </p:nvPicPr>
        <p:blipFill>
          <a:blip r:embed="rIdL4_1"/>
          <a:stretch>
            <a:fillRect/>
          </a:stretch>
        </p:blipFill>
        <p:spPr>
          <a:xfrm>
            <a:off x="685800" y="3383280"/>
            <a:ext cx="2331720" cy="1632204"/>
          </a:xfrm>
          <a:prstGeom prst="rect">
            <a:avLst/>
          </a:prstGeom>
        </p:spPr>
      </p:pic>
      <p:sp>
        <p:nvSpPr>
          <p:cNvPr id="10" name="Shape 8"/>
          <p:cNvSpPr/>
          <p:nvPr/>
        </p:nvSpPr>
        <p:spPr>
          <a:xfrm>
            <a:off x="3456432" y="2487168"/>
            <a:ext cx="2606040" cy="3017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83280" y="2377440"/>
            <a:ext cx="2606040" cy="301752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520440" y="2514600"/>
            <a:ext cx="640080" cy="64008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52044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</a:p>
        </p:txBody>
      </p:sp>
      <p:sp>
        <p:nvSpPr>
          <p:cNvPr id="14" name="Text 12"/>
          <p:cNvSpPr/>
          <p:nvPr/>
        </p:nvSpPr>
        <p:spPr>
          <a:xfrm>
            <a:off x="4251960" y="248716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</a:t>
            </a:r>
          </a:p>
        </p:txBody>
      </p:sp>
      <p:pic>
        <p:nvPicPr>
          <p:cNvPr id="102" name="Quiz picture 2" descr="baby"/>
          <p:cNvPicPr>
            <a:picLocks noChangeAspect="1"/>
          </p:cNvPicPr>
          <p:nvPr/>
        </p:nvPicPr>
        <p:blipFill>
          <a:blip r:embed="rIdL4_2"/>
          <a:stretch>
            <a:fillRect/>
          </a:stretch>
        </p:blipFill>
        <p:spPr>
          <a:xfrm>
            <a:off x="3520440" y="3383280"/>
            <a:ext cx="2331720" cy="1632204"/>
          </a:xfrm>
          <a:prstGeom prst="rect">
            <a:avLst/>
          </a:prstGeom>
        </p:spPr>
      </p:pic>
      <p:sp>
        <p:nvSpPr>
          <p:cNvPr id="16" name="Shape 14"/>
          <p:cNvSpPr/>
          <p:nvPr/>
        </p:nvSpPr>
        <p:spPr>
          <a:xfrm>
            <a:off x="6291072" y="2487168"/>
            <a:ext cx="2606040" cy="3017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0" name="Card4 30"/>
          <p:cNvSpPr/>
          <p:nvPr/>
        </p:nvSpPr>
        <p:spPr>
          <a:xfrm>
            <a:off x="9125712" y="2487168"/>
            <a:ext cx="2606040" cy="3017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17920" y="2377440"/>
            <a:ext cx="2606040" cy="3017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31" name="Card4 31"/>
          <p:cNvSpPr/>
          <p:nvPr/>
        </p:nvSpPr>
        <p:spPr>
          <a:xfrm>
            <a:off x="9052560" y="2377440"/>
            <a:ext cx="2606040" cy="3017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355080" y="2514600"/>
            <a:ext cx="640080" cy="64008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2" name="Card4 32"/>
          <p:cNvSpPr/>
          <p:nvPr/>
        </p:nvSpPr>
        <p:spPr>
          <a:xfrm>
            <a:off x="9189720" y="2514600"/>
            <a:ext cx="640080" cy="64008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3550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</a:p>
        </p:txBody>
      </p:sp>
      <p:sp>
        <p:nvSpPr>
          <p:cNvPr id="33" name="Card4 33"/>
          <p:cNvSpPr/>
          <p:nvPr/>
        </p:nvSpPr>
        <p:spPr>
          <a:xfrm>
            <a:off x="918972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</a:t>
            </a:r>
          </a:p>
        </p:txBody>
      </p:sp>
      <p:sp>
        <p:nvSpPr>
          <p:cNvPr id="20" name="Text 18"/>
          <p:cNvSpPr/>
          <p:nvPr/>
        </p:nvSpPr>
        <p:spPr>
          <a:xfrm>
            <a:off x="7086600" y="248716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</a:t>
            </a:r>
          </a:p>
        </p:txBody>
      </p:sp>
      <p:sp>
        <p:nvSpPr>
          <p:cNvPr id="34" name="Card4 34"/>
          <p:cNvSpPr/>
          <p:nvPr/>
        </p:nvSpPr>
        <p:spPr>
          <a:xfrm>
            <a:off x="9921240" y="248716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</a:t>
            </a:r>
          </a:p>
        </p:txBody>
      </p:sp>
      <p:pic>
        <p:nvPicPr>
          <p:cNvPr id="103" name="Quiz picture 3" descr="wife"/>
          <p:cNvPicPr>
            <a:picLocks noChangeAspect="1"/>
          </p:cNvPicPr>
          <p:nvPr/>
        </p:nvPicPr>
        <p:blipFill>
          <a:blip r:embed="rIdL4_3"/>
          <a:stretch>
            <a:fillRect/>
          </a:stretch>
        </p:blipFill>
        <p:spPr>
          <a:xfrm>
            <a:off x="6355080" y="3383280"/>
            <a:ext cx="2331720" cy="1632204"/>
          </a:xfrm>
          <a:prstGeom prst="rect">
            <a:avLst/>
          </a:prstGeom>
        </p:spPr>
      </p:pic>
      <p:pic>
        <p:nvPicPr>
          <p:cNvPr id="104" name="Card4 104" descr="daughter"/>
          <p:cNvPicPr>
            <a:picLocks noChangeAspect="1"/>
          </p:cNvPicPr>
          <p:nvPr/>
        </p:nvPicPr>
        <p:blipFill>
          <a:blip r:embed="rIdL4_4"/>
          <a:stretch>
            <a:fillRect/>
          </a:stretch>
        </p:blipFill>
        <p:spPr>
          <a:xfrm>
            <a:off x="9189720" y="3383280"/>
            <a:ext cx="2331720" cy="1632204"/>
          </a:xfrm>
          <a:prstGeom prst="rect">
            <a:avLst/>
          </a:prstGeom>
        </p:spPr>
      </p:pic>
      <p:sp>
        <p:nvSpPr>
          <p:cNvPr id="25" name="Answer do"/>
          <p:cNvSpPr/>
          <p:nvPr/>
        </p:nvSpPr>
        <p:spPr>
          <a:xfrm>
            <a:off x="1417320" y="2523744"/>
            <a:ext cx="160020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</a:p>
        </p:txBody>
      </p:sp>
      <p:sp>
        <p:nvSpPr>
          <p:cNvPr id="26" name="Answer are"/>
          <p:cNvSpPr/>
          <p:nvPr/>
        </p:nvSpPr>
        <p:spPr>
          <a:xfrm>
            <a:off x="4251960" y="2523744"/>
            <a:ext cx="160020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</a:p>
        </p:txBody>
      </p:sp>
      <p:sp>
        <p:nvSpPr>
          <p:cNvPr id="27" name="Answer does"/>
          <p:cNvSpPr/>
          <p:nvPr/>
        </p:nvSpPr>
        <p:spPr>
          <a:xfrm>
            <a:off x="7086600" y="2523744"/>
            <a:ext cx="160020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</a:p>
        </p:txBody>
      </p:sp>
      <p:sp>
        <p:nvSpPr>
          <p:cNvPr id="35" name="Card4 35"/>
          <p:cNvSpPr/>
          <p:nvPr/>
        </p:nvSpPr>
        <p:spPr>
          <a:xfrm>
            <a:off x="9921240" y="2523744"/>
            <a:ext cx="160020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4072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349654"/>
            <a:ext cx="6163056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395728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182112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396849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475488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Row card 5"/>
          <p:cNvSpPr/>
          <p:nvPr/>
        </p:nvSpPr>
        <p:spPr>
          <a:xfrm>
            <a:off x="1583741" y="554126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do, don't, his, her, or 's.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one word.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2395728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have kids?</a:t>
            </a:r>
          </a:p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____.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3182112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have brothers?</a:t>
            </a:r>
          </a:p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____.</a:t>
            </a:r>
          </a:p>
        </p:txBody>
      </p:sp>
      <p:sp>
        <p:nvSpPr>
          <p:cNvPr id="15" name="Text 13"/>
          <p:cNvSpPr/>
          <p:nvPr/>
        </p:nvSpPr>
        <p:spPr>
          <a:xfrm>
            <a:off x="1810512" y="3968496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is my sister.</a:t>
            </a:r>
          </a:p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name is Ana.</a:t>
            </a:r>
          </a:p>
        </p:txBody>
      </p:sp>
      <p:sp>
        <p:nvSpPr>
          <p:cNvPr id="17" name="Text 15"/>
          <p:cNvSpPr/>
          <p:nvPr/>
        </p:nvSpPr>
        <p:spPr>
          <a:xfrm>
            <a:off x="1810512" y="4754880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is my father.</a:t>
            </a:r>
          </a:p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name is Tomas.</a:t>
            </a:r>
          </a:p>
        </p:txBody>
      </p:sp>
      <p:sp>
        <p:nvSpPr>
          <p:cNvPr id="51" name="Row text 5"/>
          <p:cNvSpPr/>
          <p:nvPr/>
        </p:nvSpPr>
        <p:spPr>
          <a:xfrm>
            <a:off x="1810512" y="5541264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Elena is Carlos____ wife.</a:t>
            </a:r>
          </a:p>
        </p:txBody>
      </p:sp>
      <p:sp>
        <p:nvSpPr>
          <p:cNvPr id="21" name="Shape 19"/>
          <p:cNvSpPr/>
          <p:nvPr/>
        </p:nvSpPr>
        <p:spPr>
          <a:xfrm>
            <a:off x="544982" y="2395728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4597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182112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246120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396849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0325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475488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481888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52" name="Row chip 5"/>
          <p:cNvSpPr/>
          <p:nvPr/>
        </p:nvSpPr>
        <p:spPr>
          <a:xfrm>
            <a:off x="544982" y="554126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ow number 5"/>
          <p:cNvSpPr/>
          <p:nvPr/>
        </p:nvSpPr>
        <p:spPr>
          <a:xfrm>
            <a:off x="686714" y="56052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do, don't,</a:t>
            </a:r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his, her, 's?</a:t>
            </a:r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Short answer: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/ don't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man: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his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woman: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</a:p>
        </p:txBody>
      </p:sp>
      <p:sp>
        <p:nvSpPr>
          <p:cNvPr id="34" name="Answer 1"/>
          <p:cNvSpPr/>
          <p:nvPr/>
        </p:nvSpPr>
        <p:spPr>
          <a:xfrm>
            <a:off x="5486400" y="2523744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</a:p>
        </p:txBody>
      </p:sp>
      <p:sp>
        <p:nvSpPr>
          <p:cNvPr id="35" name="Answer 2"/>
          <p:cNvSpPr/>
          <p:nvPr/>
        </p:nvSpPr>
        <p:spPr>
          <a:xfrm>
            <a:off x="5486400" y="3310128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</a:t>
            </a:r>
          </a:p>
        </p:txBody>
      </p:sp>
      <p:sp>
        <p:nvSpPr>
          <p:cNvPr id="36" name="Answer 3"/>
          <p:cNvSpPr/>
          <p:nvPr/>
        </p:nvSpPr>
        <p:spPr>
          <a:xfrm>
            <a:off x="5486400" y="4096511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</a:t>
            </a:r>
          </a:p>
        </p:txBody>
      </p:sp>
      <p:sp>
        <p:nvSpPr>
          <p:cNvPr id="37" name="Answer 4"/>
          <p:cNvSpPr/>
          <p:nvPr/>
        </p:nvSpPr>
        <p:spPr>
          <a:xfrm>
            <a:off x="5486400" y="4882896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His</a:t>
            </a:r>
          </a:p>
        </p:txBody>
      </p:sp>
      <p:sp>
        <p:nvSpPr>
          <p:cNvPr id="54" name="Answer 5"/>
          <p:cNvSpPr/>
          <p:nvPr/>
        </p:nvSpPr>
        <p:spPr>
          <a:xfrm>
            <a:off x="5486400" y="5669280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Ana family big" descr="Ana's family (picture-card family)"/>
          <p:cNvPicPr>
            <a:picLocks noChangeAspect="1"/>
          </p:cNvPicPr>
          <p:nvPr/>
        </p:nvPicPr>
        <p:blipFill>
          <a:blip r:embed="rIdL4_1"/>
          <a:stretch>
            <a:fillRect/>
          </a:stretch>
        </p:blipFill>
        <p:spPr>
          <a:xfrm>
            <a:off x="5989320" y="1271016"/>
            <a:ext cx="5852160" cy="4681728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Who's this?</a:t>
            </a:r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WORK  ·  ANA'S FAMILY</a:t>
            </a:r>
          </a:p>
        </p:txBody>
      </p:sp>
      <p:sp>
        <p:nvSpPr>
          <p:cNvPr id="9" name="Text 7"/>
          <p:cNvSpPr/>
          <p:nvPr/>
        </p:nvSpPr>
        <p:spPr>
          <a:xfrm>
            <a:off x="599846" y="30175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 B answers.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</a:p>
        </p:txBody>
      </p:sp>
      <p:sp>
        <p:nvSpPr>
          <p:cNvPr id="13" name="Model Ana"/>
          <p:cNvSpPr/>
          <p:nvPr/>
        </p:nvSpPr>
        <p:spPr>
          <a:xfrm>
            <a:off x="599846" y="4023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 Who's this?</a:t>
            </a:r>
          </a:p>
        </p:txBody>
      </p:sp>
      <p:sp>
        <p:nvSpPr>
          <p:cNvPr id="14" name="Model Carlos"/>
          <p:cNvSpPr/>
          <p:nvPr/>
        </p:nvSpPr>
        <p:spPr>
          <a:xfrm>
            <a:off x="599846" y="47091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 This is my son.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His name is Diego. He's 9.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Lesson 4: This Is My Family</dc:title>
  <dc:subject>Adult ESL Level 1, Lesson 4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