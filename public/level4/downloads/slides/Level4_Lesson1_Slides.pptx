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599" r:id="rId32"/>
    <p:sldId id="600" r:id="rId21"/>
    <p:sldId id="601" r:id="rId19"/>
    <p:sldId id="602" r:id="rId15"/>
    <p:sldId id="603" r:id="rId37"/>
    <p:sldId id="604" r:id="rId38"/>
    <p:sldId id="605" r:id="rId39"/>
    <p:sldId id="606" r:id="rId40"/>
    <p:sldId id="607" r:id="rId41"/>
    <p:sldId id="608" r:id="rId42"/>
    <p:sldId id="609" r:id="rId43"/>
    <p:sldId id="610" r:id="rId44"/>
    <p:sldId id="611" r:id="rId45"/>
    <p:sldId id="612" r:id="rId46"/>
    <p:sldId id="613" r:id="rId47"/>
    <p:sldId id="614" r:id="rId48"/>
    <p:sldId id="615" r:id="rId49"/>
    <p:sldId id="616" r:id="rId50"/>
    <p:sldId id="617" r:id="rId51"/>
    <p:sldId id="618" r:id="rId52"/>
    <p:sldId id="619" r:id="rId53"/>
    <p:sldId id="620" r:id="rId54"/>
    <p:sldId id="621" r:id="rId55"/>
    <p:sldId id="622" r:id="rId56"/>
    <p:sldId id="623" r:id="rId9"/>
    <p:sldId id="624" r:id="rId58"/>
    <p:sldId id="625" r:id="rId59"/>
    <p:sldId id="626" r:id="rId6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51.xml"/><Relationship Id="rId15" Type="http://schemas.openxmlformats.org/officeDocument/2006/relationships/slide" Target="slides/slide30.xml"/><Relationship Id="rId19" Type="http://schemas.openxmlformats.org/officeDocument/2006/relationships/slide" Target="slides/slide29.xml"/><Relationship Id="rId21" Type="http://schemas.openxmlformats.org/officeDocument/2006/relationships/slide" Target="slides/slide2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32" Type="http://schemas.openxmlformats.org/officeDocument/2006/relationships/slide" Target="slides/slide27.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Can-Do Self-Check (3 min, 7:22–7:25). Individuals.</a:t>
            </a:r>
          </a:p>
          <a:p>
            <a:r>
              <a:t>Read each line on the Can-Do Self-Check page aloud. Learners check one face for each line and write one goal (My goal for this class: one sentence). The faces are 😀 I can do it, 🙂 with a little help, 😐 not yet.</a:t>
            </a:r>
          </a:p>
          <a:p>
            <a:r>
              <a:t>Collect it with the exit ticket. Keep the pages; learners compare in Week 8. This page comes back in Weeks 8 and 15.</a:t>
            </a:r>
          </a:p>
          <a:p>
            <a:r>
              <a:t>Lesson plan: Step 6: Can-Do Self-Check; Can-Do Self-Check page;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the answer, a reason, and a detail. A asks one follow-up question (follow-ups on the right). Then switch.</a:t>
            </a:r>
          </a:p>
          <a:p>
            <a:r>
              <a:t>Then (3 min, last click): pairs fill in the box at the bottom of the Opening Talk page: the partner's name and one thing the partner did last weekend. Two or three pairs introduce their partner to the class: "This is Rosa. She went to a birthday party."</a:t>
            </a:r>
          </a:p>
          <a:p>
            <a:r>
              <a:t>Lesson plan: Step 1; Opening Talk page: cards, follow-ups, partner box.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Welcome, orientation, and Opening Talk · 8 min. Pairs (7 pairs + 1 trio with 15 learners; 3–4 pairs with 7–8).</a:t>
            </a:r>
          </a:p>
          <a:p>
            <a:r>
              <a:t>Before class, write on the board: Welcome! Level 4 · 6:00–7:30 · Break 6:45 · Homework every week (15–20 minutes) and the question What did you do last weekend?</a:t>
            </a:r>
          </a:p>
          <a:p>
            <a:r>
              <a:t>Welcome and orientation (2 min, first): say your name and write it on the board. Show the workbook: "This is your book for tonight. Every week has the same parts." Point to the times on the board. Say: "We speak English in class. It's OK to make mistakes. Mistakes help us learn." Give out name tags.</a:t>
            </a:r>
          </a:p>
          <a:p>
            <a:r>
              <a:t>Model with one learner: you ask, "What did you do last weekend?" The learner answers. Help them add a reason and a detail: "I went to the park. I went because it was sunny. My kids played soccer." Then you ask a follow-up: "How was it?"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Have you ever seen snow? Goal 2: Yes, I have. / No, I haven't. / No, never. I've never ridden a horse. Goal 3: When did you go there? How was it?</a:t>
            </a:r>
          </a:p>
          <a:p>
            <a:r>
              <a:t>Goal 4: the experience, when, how it was. Goal 5: learners write a short introduction email to you (5–8 sentences) in Read &amp; Write.</a:t>
            </a:r>
          </a:p>
          <a:p>
            <a:r>
              <a:t>"We check at 7:22" = the Can-Do Self-Check. It is not a test grade. This page comes back in Weeks 8 and 15.</a:t>
            </a:r>
          </a:p>
          <a:p>
            <a:r>
              <a:t>Lesson plan: At a glance: Objectives; Can-Do Self-Check page.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 Tonight is the first night of Level 4.</a:t>
            </a:r>
          </a:p>
          <a:p>
            <a:r>
              <a:t>Point to the title and read it: "Have you ever…?" Say: "Tonight we get to know our classmates: places, foods, jobs, and things we've tried."</a:t>
            </a:r>
          </a:p>
          <a:p>
            <a:r>
              <a:t>Read the three lines under "Today you will". Give one quick example of each: "Have you ever seen snow? Yes, I have." • "When did you see it? How was it?" • "I've run a race. I ran it in 2023. It was exciting."</a:t>
            </a:r>
          </a:p>
          <a:p>
            <a:r>
              <a:t>Learners choose what to share. Places, foods, and jobs are always safe topics. Never ask how or when learners came to the U.S. Invented answers are fine in every activity.</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ocean (a wave, very big water) vs. a lake. Mime fly.</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desert (hot, dry, sand); win a prize (first place, a trophy); ride a horse (sit on it). Mime run a race and ride.</a:t>
            </a:r>
          </a:p>
          <a:p>
            <a:r>
              <a:t>Partner game (2 min): A points to a picture and asks, "Have you ever run a race?" B answers, "Yes, I have. I ran one in 2021." or "No, never."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Show the My Words page and the Task Words page at the back (both optional): "These pages are for you. Use them if you want."</a:t>
            </a:r>
          </a:p>
          <a:p>
            <a:r>
              <a:t>If behind: teach the ★ words only.</a:t>
            </a:r>
          </a:p>
          <a:p>
            <a:r>
              <a:t>Lesson plan: Step 2; New Words page; Partner game; My Words page; Task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"Is the ocean salty or sweet?" (salty) • 2. "Is a desert hot and dry or cold and wet?" (hot and dry) • 3. "Do you sleep in a tent when you go camping?" (yes)</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"This is the first night of an English class. Lucía and Ahmed meet. Then the teacher, Ms. Grant, gives them a job. Listen: what have they both done?"</a:t>
            </a:r>
          </a:p>
          <a:p>
            <a:r>
              <a:t>There are three people: Lucía, Ahmed, and Ms. Grant (the teacher). A narrator starts and ends the listening. Each click highlights the next person.</a:t>
            </a:r>
          </a:p>
          <a:p>
            <a:r>
              <a:t>The audio (about 2:04) is coming soon. When it is ready, it plays the conversation once; press play again for play 2. Until then, read the listening script (at the end of these notes) with a volunteer.</a:t>
            </a:r>
          </a:p>
          <a:p>
            <a:r>
              <a:t>No speaker? Read the script with a volunteer at a natural, friendly speed, two times. The script says going to and want to. People often say gonna and wanna; learners only need to recognize those words.</a:t>
            </a:r>
          </a:p>
          <a:p>
            <a:r>
              <a:t>Audio: the listening audio for this lesson (about 2:04)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a:p>
            <a:r>
              <a:t>Listening script (the audio is coming soon; until then, read it aloud with a volunteer at a normal, friendly speed):</a:t>
            </a:r>
          </a:p>
          <a:p>
            <a:r>
              <a:t>Narrator: Lesson one. It's the first night of an English class at a community center. Lucía and Ahmed meet before class.</a:t>
            </a:r>
          </a:p>
          <a:p>
            <a:r>
              <a:t>Ahmed: Hi, I'm Ahmed. Is this seat free?</a:t>
            </a:r>
          </a:p>
          <a:p>
            <a:r>
              <a:t>Lucía: Sure. I'm Lucía. Nice to meet you. Is this your first class here?</a:t>
            </a:r>
          </a:p>
          <a:p>
            <a:r>
              <a:t>Ahmed: Yes, it is. Have you ever taken a class at this center?</a:t>
            </a:r>
          </a:p>
          <a:p>
            <a:r>
              <a:t>Lucía: No, I haven't. But my sister has. What kind of work do you do?</a:t>
            </a:r>
          </a:p>
          <a:p>
            <a:r>
              <a:t>Ahmed: I work at a warehouse. Have you ever worked in a restaurant?</a:t>
            </a:r>
          </a:p>
          <a:p>
            <a:r>
              <a:t>Lucía: Yes, I have. I worked in a pizza restaurant in 2019. It was hard, but I liked it.</a:t>
            </a:r>
          </a:p>
          <a:p>
            <a:r>
              <a:t>Ms. Grant: Good evening! I'm Ms. Grant, your teacher. Tonight we're going to find things we have in common.</a:t>
            </a:r>
          </a:p>
          <a:p>
            <a:r>
              <a:t>Ms. Grant: Lucía and Ahmed, find two things you've both done.</a:t>
            </a:r>
          </a:p>
          <a:p>
            <a:r>
              <a:t>Lucía: OK. Ahmed, have you ever seen snow?</a:t>
            </a:r>
          </a:p>
          <a:p>
            <a:r>
              <a:t>Ahmed: Yes! I saw snow for the first time last winter. It was cold, but beautiful.</a:t>
            </a:r>
          </a:p>
          <a:p>
            <a:r>
              <a:t>Lucía: Me too. I've seen snow two times. Have you ever ridden a horse?</a:t>
            </a:r>
          </a:p>
          <a:p>
            <a:r>
              <a:t>Ahmed: No, never. I've never ridden a horse. Have you?</a:t>
            </a:r>
          </a:p>
          <a:p>
            <a:r>
              <a:t>Lucía: Yes, I have.</a:t>
            </a:r>
          </a:p>
          <a:p>
            <a:r>
              <a:t>Ahmed: Really? When did you do that?</a:t>
            </a:r>
          </a:p>
          <a:p>
            <a:r>
              <a:t>Lucía: When I was ten, on my uncle's farm. OK, snow is one thing. Have you ever run a race?</a:t>
            </a:r>
          </a:p>
          <a:p>
            <a:r>
              <a:t>Ahmed: Yes, I ran a 5k last year. I didn't win, but I finished!</a:t>
            </a:r>
          </a:p>
          <a:p>
            <a:r>
              <a:t>Lucía: I've run a race, too. My company has a race every summer.</a:t>
            </a:r>
          </a:p>
          <a:p>
            <a:r>
              <a:t>Ahmed: Great. So we've both seen snow, and we've both run a race.</a:t>
            </a:r>
          </a:p>
          <a:p>
            <a:r>
              <a:t>Ms. Grant: Good job! Now, what have you never done, but you want to try?</a:t>
            </a:r>
          </a:p>
          <a:p>
            <a:r>
              <a:t>Ahmed: I want to go camping. I've never slept in a tent.</a:t>
            </a:r>
          </a:p>
          <a:p>
            <a:r>
              <a:t>Lucía: And I want to try sushi. I've never eaten it.</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b (seen snow and run a race).</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False (No, she hasn't; her sister has) • 2 True • 3 True • 4 False (he has never ridden a horse) • 5 False (he didn't win, but he finished) • 6 True.</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Have, 2 has, 3 Have, 4 did, 5 have, 6 has.</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gonna = going to: "Tonight we're going to find things we have in common." wanna = want to: "I want to go camping."</a:t>
            </a:r>
          </a:p>
          <a:p>
            <a:r>
              <a:t>Say: "People often say gonna and wanna. This listening uses going to and want to."</a:t>
            </a:r>
          </a:p>
          <a:p>
            <a:r>
              <a:t>Then practice the weak, short have (it sounds like "h'v"): Have you ever seen snow? and the contraction: I've never ridden a horse. The class repeats the two lines twice.</a:t>
            </a:r>
          </a:p>
          <a:p>
            <a:r>
              <a:t>Reductions: the listening says going to and want to. People often say gonna and wanna. Learners only need to recognize the short forms.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22). Whole class, then pairs. Show the Grammar page. The left side is the question. The right side is the answer.</a:t>
            </a:r>
          </a:p>
          <a:p>
            <a:r>
              <a:t>Show it (2 min): draw a long line on the board: "my life → now." Put three X's on the line with no dates: "I've seen snow. I've run a race. I've never ridden a horse." Then write a date under one X: "I ran a race in 2023." Say: "No time → have + past participle. A time → simple past."</a:t>
            </a:r>
          </a:p>
          <a:p>
            <a:r>
              <a:t>Box 1 (sometime in your life): read across: Have you ever worked in a restaurant? → Yes, I have. / No, I haven't. Point out Has with he / she. Each click shows the answer side of one row.</a:t>
            </a:r>
          </a:p>
          <a:p>
            <a:r>
              <a:t>Lesson plan: Step 4; Grammar Box 1; Teacher notes: The timeline.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the follow-up in the simple past: When did you go there? → I went in 2022. How was it? → It was exciting. Each click shows the answer side of one row.</a:t>
            </a:r>
          </a:p>
          <a:p>
            <a:r>
              <a:t>Rule of thumb (read it aloud): sometime in your life, no time → have / has + past participle (I've seen snow). Add a time (in 2022, last year, when I was ten) → simple past (I saw snow last year).</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(part 1 of 2): read the 20 verbs together once (verb → past → past participle). Each click shows one past participle.</a:t>
            </a:r>
          </a:p>
          <a:p>
            <a:r>
              <a:t>Learners circle 5 verbs they want to learn first. They don't need all 20 tonight; the list comes back in Lessons 2 and 3.</a:t>
            </a:r>
          </a:p>
          <a:p>
            <a:r>
              <a:t>Lesson plan: Step 4; Grammar Box 3; Teacher notes: Participles.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(part 2 of 2). Each click shows one past participle.</a:t>
            </a:r>
          </a:p>
          <a:p>
            <a:r>
              <a:t>Read the notes under the box: regular verbs (live, work, travel): past participle = past form (-ed). I've = I have. She's lived = she has lived (not she is).</a:t>
            </a:r>
          </a:p>
          <a:p>
            <a:r>
              <a:t>Lesson plan: Step 4; Grammar Box 3.</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which one? No time or a time. Each click shows one row.</a:t>
            </a:r>
          </a:p>
          <a:p>
            <a:r>
              <a:t>Questions and answers (2 min): Q: Can I say I have seen snow in 2022? A: No. With a finished time, use the simple past: I saw snow in 2022. • Q: Why eaten, not eat? A: After have / has, use the past participle: Have you ever eaten sushi? Look at Box 3. • Q: How do I answer Have you ever…? short? A: Yes, I have. or No, I haven't. or No, never. Then add a detail in the past: Yes, I have. I went there in 2022.</a:t>
            </a:r>
          </a:p>
          <a:p>
            <a:r>
              <a:t>Check questions: "I have seen snow in 2022. Right or wrong?" (wrong: I saw snow in 2022.) • "Have you ever eat sushi? Right or wrong?" (wrong: eaten) • "She's lived in three cities. She's = she is or she has?" (she has).</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eaten, 2 ridden, 3 lived, 4 flown, 5 seen, 6 won.</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Have, 2 went, 3 have, 4 did you go, 5 has never, 6 saw.</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asks Have you ever…? with a word from the New Words page. B answers Yes, I have + a past detail (I… in…), or No, never. A asks How was it? Switch. 15 learners: swap partners once. 5 or fewer: you join one pair.</a:t>
            </a:r>
          </a:p>
          <a:p>
            <a:r>
              <a:t>If behind: skip the pair check. Talk Time practices it.</a:t>
            </a:r>
          </a:p>
          <a:p>
            <a:r>
              <a:t>Break · 6:45–7:00 · 15 min. Write on the board: Have you ever…? → Yes, I have. I… (last year). / No, I've never… and When did you…? How was it?</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Find Someone Who Has… + Two True, One Invented · 15 min.</a:t>
            </a:r>
          </a:p>
          <a:p>
            <a:r>
              <a:t>Model it first (1 min): take the sheet and ask one learner, "Have you ever flown in a plane?" When they say yes, ask two follow-ups: "When did you fly? How was it?" Write their name on your sheet. Say: "Two follow-ups. Then write the name."</a:t>
            </a:r>
          </a:p>
          <a:p>
            <a:r>
              <a:t>Round 1 (7 min): Find Someone Who Has… (mingle). Learners stand with the Talk Time sheet and ask classmates. When someone says Yes, they ask two follow-ups in the past (When? Where? How was it?) and write the name and a short note. One name per classmate, then move on. Each click shows the next step.</a:t>
            </a:r>
          </a:p>
          <a:p>
            <a:r>
              <a:t>15 learners: whole-room mingle. 7–8 learners: mingle in one circle. 5 or fewer: one group; each person asks every other person 2 prompts.</a:t>
            </a:r>
          </a:p>
          <a:p>
            <a:r>
              <a:t>Baseline snapshot (during Talk Time): listen to about 5 learners for 1 minute each. For each one, note: 3 connected sentences? a follow-up question? any present perfect? This is not a test; don't tell learners a score. Keep the notes private.</a:t>
            </a:r>
          </a:p>
          <a:p>
            <a:r>
              <a:t>Lesson plan: Step 5; Talk Time: Find Someone Who Has…; Teacher notes: Baseline snapshot.</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Two True, One Invented (groups). Each learner writes three sentences on the second Talk Time page: two true and one invented (I've… / I've never…). The others in the group ask follow-up questions and then guess the invented one. Each click shows the next step.</a:t>
            </a:r>
          </a:p>
          <a:p>
            <a:r>
              <a:t>Example from the page: 1. I've ridden a horse. 2. I've never seen snow. 3. I've won a prize for cooking. → When did you win it? What did you cook?</a:t>
            </a:r>
          </a:p>
          <a:p>
            <a:r>
              <a:t>Then learners write two follow-up questions they asked, and one thing they and a classmate have both done (Ana and I have both seen the ocean.).</a:t>
            </a:r>
          </a:p>
          <a:p>
            <a:r>
              <a:t>15 learners: 5 groups of 3. 7–8 learners: 2 groups. 5 or fewer: the same one group.</a:t>
            </a:r>
          </a:p>
          <a:p>
            <a:r>
              <a:t>Every answer needs a reason; every partner asks a follow-up. Walk around and listen. Note 2 good sentences to praise and 1 common error for next week.</a:t>
            </a:r>
          </a:p>
          <a:p>
            <a:r>
              <a:t>If behind: round 1 only.</a:t>
            </a:r>
          </a:p>
          <a:p>
            <a:r>
              <a:t>Lesson plan: Step 5; Talk Time: Two True, One Invented.</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Meet Our Class + an email to the teacher (+ Can-Do Self-Check) · 10 min. Pairs read, then individual writing.</a:t>
            </a:r>
          </a:p>
          <a:p>
            <a:r>
              <a:t>Read (4 min): learners read the three profiles on the Read &amp; Write page. Say: "Read fast first. Then find the answers." Pairs answer questions 1–5 together.</a:t>
            </a:r>
          </a:p>
          <a:p>
            <a:r>
              <a:t>Check (1 min): click to show each answer (one click per question, 1 to 5): 1 For six years. • 2 In a hospital kitchen. • 3 Because he drives a truck. • 4 He's never flown in a plane. • 5 She ran her first race (a 5K).</a:t>
            </a:r>
          </a:p>
          <a:p>
            <a:r>
              <a:t>Write (5 min): learners write an email to you (5–8 sentences): who they are, two things they've done, one thing they've never done, and one goal for this class with a reason. Show the example email. Invented details are fine. Learners start in class and finish at home (Homework item 2).</a:t>
            </a:r>
          </a:p>
          <a:p>
            <a:r>
              <a:t>If behind: questions 1–5 only; the writing becomes homework.</a:t>
            </a:r>
          </a:p>
          <a:p>
            <a:r>
              <a:t>Lesson plan: Step 6; Read &amp; Write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Tell me about something you have done (or never done). Example on the board: I've ridden a horse. I rode one in 2015 on my uncle's farm. It was exciting, but I was scared because the horse was big. With 5 or fewer, a learner can say it to you first and then write it.</a:t>
            </a:r>
          </a:p>
          <a:p>
            <a:r>
              <a:t>Collect the pages. After class, sort them into ✓ / almost / not yet. Start next week with 2 corrections on the board (no names).</a:t>
            </a:r>
          </a:p>
          <a:p>
            <a:r>
              <a:t>Homework (2 min): open the Homework page. Do item 1 together (I / never / see / the ocean → I've never seen the ocean.). Say: "About 15–20 minutes. Finish your Read &amp; Write writing at home."</a:t>
            </a:r>
          </a:p>
          <a:p>
            <a:r>
              <a:t>Homework items: 1 write the sentence with the words • 2 finish the email from Read &amp; Write C and check it with the list in D • 3 ask a family member or a friend 3 questions with Have you ever…? (When? How was it?) • 4 review (simple past): write the past form.</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"Have you ever seen the ocean?" and wait for an answer. Then ask a follow-up: "When did you see it?"</a:t>
            </a:r>
          </a:p>
          <a:p>
            <a:r>
              <a:t>Remind learners: homework every week, about 15–20 minutes. Bring it next week.</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2:04)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3.png"/><Relationship Id="rId9" Type="http://schemas.openxmlformats.org/officeDocument/2006/relationships/image" Target="../media/image1.png"/><Relationship Id="rId10" Type="http://schemas.openxmlformats.org/officeDocument/2006/relationships/image" Target="../media/image4.png"/><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2.png"/><Relationship Id="rId13" Type="http://schemas.openxmlformats.org/officeDocument/2006/relationships/image" Target="../media/image12.png"/><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2.png"/><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1.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Travel: a suitcase and a map">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Have You Ever…?</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Have you ever…?</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 follow-up in the simple past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Tell a classmate about one experience</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7:22!</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a:t>
            </a:r>
            <a:r>
              <a:rPr lang="en-US" sz="1700" dirty="0" b="1">
                <a:solidFill>
                  <a:srgbClr val="5B3FC4"/>
                </a:solidFill>
                <a:latin typeface="Lexend Deca" pitchFamily="34" charset="0"/>
                <a:ea typeface="Lexend Deca" pitchFamily="34" charset="-122"/>
                <a:cs typeface="Lexend Deca" pitchFamily="34" charset="-120"/>
              </a:rPr>
              <a:t>Have you ever…?</a:t>
            </a:r>
            <a:endParaRPr lang="en-US" sz="17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answer </a:t>
            </a:r>
            <a:r>
              <a:rPr lang="en-US" sz="1700" dirty="0" b="1">
                <a:solidFill>
                  <a:srgbClr val="5B3FC4"/>
                </a:solidFill>
                <a:latin typeface="Lexend Deca" pitchFamily="34" charset="0"/>
                <a:ea typeface="Lexend Deca" pitchFamily="34" charset="-122"/>
                <a:cs typeface="Lexend Deca" pitchFamily="34" charset="-120"/>
              </a:rPr>
              <a:t>Yes, I have.</a:t>
            </a:r>
            <a:r>
              <a:rPr lang="en-US" sz="1700" dirty="0">
                <a:solidFill>
                  <a:srgbClr val="1B2236"/>
                </a:solidFill>
                <a:latin typeface="Lexend Deca" pitchFamily="34" charset="0"/>
                <a:ea typeface="Lexend Deca" pitchFamily="34" charset="-122"/>
                <a:cs typeface="Lexend Deca" pitchFamily="34" charset="-120"/>
              </a:rPr>
              <a:t> / </a:t>
            </a:r>
            <a:r>
              <a:rPr lang="en-US" sz="1700" dirty="0" b="1">
                <a:solidFill>
                  <a:srgbClr val="5B3FC4"/>
                </a:solidFill>
                <a:latin typeface="Lexend Deca" pitchFamily="34" charset="0"/>
                <a:ea typeface="Lexend Deca" pitchFamily="34" charset="-122"/>
                <a:cs typeface="Lexend Deca" pitchFamily="34" charset="-120"/>
              </a:rPr>
              <a:t>No, I've never…</a:t>
            </a:r>
            <a:endParaRPr lang="en-US" sz="17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a follow-up in the past (</a:t>
            </a:r>
            <a:r>
              <a:rPr lang="en-US" sz="1700" dirty="0" b="1">
                <a:solidFill>
                  <a:srgbClr val="5B3FC4"/>
                </a:solidFill>
                <a:latin typeface="Lexend Deca" pitchFamily="34" charset="0"/>
                <a:ea typeface="Lexend Deca" pitchFamily="34" charset="-122"/>
                <a:cs typeface="Lexend Deca" pitchFamily="34" charset="-120"/>
              </a:rPr>
              <a:t>When did you…? How was it?</a:t>
            </a:r>
            <a:r>
              <a:rPr lang="en-US" sz="1700" dirty="0">
                <a:solidFill>
                  <a:srgbClr val="1B2236"/>
                </a:solidFill>
                <a:latin typeface="Lexend Deca" pitchFamily="34" charset="0"/>
                <a:ea typeface="Lexend Deca" pitchFamily="34" charset="-122"/>
                <a:cs typeface="Lexend Deca" pitchFamily="34" charset="-120"/>
              </a:rPr>
              <a:t>).</a:t>
            </a:r>
            <a:endParaRPr lang="en-US" sz="17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tell a classmate about one experience in 3 sentences.</a:t>
            </a:r>
            <a:endParaRPr lang="en-US" sz="17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write a short email about myself.</a:t>
            </a:r>
            <a:endParaRPr lang="en-US" sz="17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Go camping: a tent at a campsite"/>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How was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How was it? Who did you go with? Why?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What did you eat last night?</a:t>
            </a:r>
            <a:endParaRPr lang="en-US" sz="20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Where did you go yesterday?</a:t>
            </a:r>
            <a:endParaRPr lang="en-US" sz="20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What did you do last summer?</a:t>
            </a:r>
            <a:endParaRPr lang="en-US" sz="20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Write your partner's name and one thing your partner did last weekend.</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Try (a new food): a person and sushi [sign: NEW!]"/>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try (a new food)</a:t>
            </a:r>
            <a:endParaRPr lang="en-US" sz="1800" dirty="0" b="1"/>
          </a:p>
        </p:txBody>
      </p:sp>
      <p:pic>
        <p:nvPicPr>
          <p:cNvPr id="19" name="Word picture 2" descr="Travel: a suitcase and a map"/>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travel</a:t>
            </a:r>
            <a:endParaRPr lang="en-US" sz="2000" dirty="0" b="1"/>
          </a:p>
        </p:txBody>
      </p:sp>
      <p:pic>
        <p:nvPicPr>
          <p:cNvPr id="21" name="Word picture 3" descr="Fly: an airplane"/>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fly</a:t>
            </a:r>
            <a:endParaRPr lang="en-US" sz="2000" dirty="0" b="1"/>
          </a:p>
        </p:txBody>
      </p:sp>
      <p:pic>
        <p:nvPicPr>
          <p:cNvPr id="23" name="Word picture 4" descr="Snow: a snowman and a snowflak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snow</a:t>
            </a:r>
            <a:endParaRPr lang="en-US" sz="2000" dirty="0" b="1"/>
          </a:p>
        </p:txBody>
      </p:sp>
      <p:pic>
        <p:nvPicPr>
          <p:cNvPr id="25" name="Word picture 5" descr="Ocean: an ocean wav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ocean</a:t>
            </a:r>
            <a:endParaRPr lang="en-US" sz="2000" dirty="0" b="1"/>
          </a:p>
        </p:txBody>
      </p:sp>
      <p:pic>
        <p:nvPicPr>
          <p:cNvPr id="27" name="Word picture 6" descr="Mountain: a snowy mountain"/>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mountain</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291840" cy="1143000"/>
          </a:xfrm>
          <a:prstGeom prst="round1Rect">
            <a:avLst>
              <a:gd name="adj" fmla="val 23087"/>
            </a:avLst>
          </a:prstGeom>
          <a:solidFill>
            <a:srgbClr val="FFFFFF"/>
          </a:solidFill>
          <a:ln/>
        </p:spPr>
        <p:txBody>
          <a:bodyPr/>
          <a:p/>
        </p:txBody>
      </p:sp>
      <p:sp>
        <p:nvSpPr>
          <p:cNvPr id="13" name="instr"/>
          <p:cNvSpPr/>
          <p:nvPr/>
        </p:nvSpPr>
        <p:spPr>
          <a:xfrm>
            <a:off x="1325880" y="685800"/>
            <a:ext cx="288036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Yes, I have! / No, never!</a:t>
            </a:r>
            <a:endParaRPr lang="en-US" sz="2200" dirty="0" b="1"/>
          </a:p>
        </p:txBody>
      </p:sp>
      <p:pic>
        <p:nvPicPr>
          <p:cNvPr id="17" name="Word picture 1" descr="Desert: a desert and a cactus"/>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desert</a:t>
            </a:r>
            <a:endParaRPr lang="en-US" sz="2000" dirty="0" b="1"/>
          </a:p>
        </p:txBody>
      </p:sp>
      <p:pic>
        <p:nvPicPr>
          <p:cNvPr id="19" name="Word picture 2" descr="Win a prize: a trophy [sign: 1st PRIZE]"/>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win a prize</a:t>
            </a:r>
            <a:endParaRPr lang="en-US" sz="2000" dirty="0" b="1"/>
          </a:p>
        </p:txBody>
      </p:sp>
      <p:pic>
        <p:nvPicPr>
          <p:cNvPr id="21" name="Word picture 3" descr="Ride a horse: a person riding a horse"/>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ride a horse</a:t>
            </a:r>
            <a:endParaRPr lang="en-US" sz="2000" dirty="0" b="1"/>
          </a:p>
        </p:txBody>
      </p:sp>
      <p:pic>
        <p:nvPicPr>
          <p:cNvPr id="23" name="Word picture 4" descr="Run a race: a runner and a medal [sign: 5K]"/>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run a race</a:t>
            </a:r>
            <a:endParaRPr lang="en-US" sz="2000" dirty="0" b="1"/>
          </a:p>
        </p:txBody>
      </p:sp>
      <p:pic>
        <p:nvPicPr>
          <p:cNvPr id="25" name="Word picture 5" descr="Go camping: a tent at a campsit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 camping</a:t>
            </a:r>
            <a:endParaRPr lang="en-US" sz="2000" dirty="0" b="1"/>
          </a:p>
        </p:txBody>
      </p:sp>
      <p:pic>
        <p:nvPicPr>
          <p:cNvPr id="27" name="Word picture 6" descr="See a famous person: a singer and a camera [sign: FAMOUS!]"/>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see a famous person</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Is the ocean salty or sweet?</a:t>
            </a:r>
            <a:endParaRPr lang="en-US" sz="1800" dirty="0" b="1"/>
          </a:p>
        </p:txBody>
      </p:sp>
      <p:pic>
        <p:nvPicPr>
          <p:cNvPr id="101" name="R1 pic" descr="Ocean: an ocean wave"/>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Is a desert hot and dry or cold and wet?</a:t>
            </a:r>
            <a:endParaRPr lang="en-US" sz="1800" dirty="0" b="1"/>
          </a:p>
        </p:txBody>
      </p:sp>
      <p:pic>
        <p:nvPicPr>
          <p:cNvPr id="102" name="R2 pic" descr="Desert: a desert and a cactus"/>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Do you sleep in a tent when you go camping?</a:t>
            </a:r>
            <a:endParaRPr lang="en-US" sz="1800" dirty="0" b="1"/>
          </a:p>
        </p:txBody>
      </p:sp>
      <p:pic>
        <p:nvPicPr>
          <p:cNvPr id="103" name="R3 pic" descr="Go camping: a tent at a campsite"/>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salty</a:t>
            </a:r>
            <a:endParaRPr lang="en-US" sz="2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hot and dry</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a:t>
            </a:r>
            <a:endParaRPr lang="en-US" sz="2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the first night of an evening English class. Lucía and Ahmed meet. Then the teacher, Ms. Grant, gives them a job.</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Snow: a snowman and a snowflake"/>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Lucía</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Ahmed</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Ms. Grant</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have Lucía and Ahmed both done?</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2:04): coming soon.</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have Lucía and Ahmed both done?</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05740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Both:</a:t>
            </a:r>
            <a:endParaRPr lang="en-US" sz="2000" dirty="0"/>
          </a:p>
        </p:txBody>
      </p:sp>
      <p:sp>
        <p:nvSpPr>
          <p:cNvPr id="9" name="R1 opt1"/>
          <p:cNvSpPr/>
          <p:nvPr/>
        </p:nvSpPr>
        <p:spPr>
          <a:xfrm>
            <a:off x="274320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ridden a horse and gone camping</a:t>
            </a:r>
            <a:endParaRPr lang="en-US" sz="1500" dirty="0" b="1"/>
          </a:p>
        </p:txBody>
      </p:sp>
      <p:sp>
        <p:nvSpPr>
          <p:cNvPr id="10" name="R1 opt2"/>
          <p:cNvSpPr/>
          <p:nvPr/>
        </p:nvSpPr>
        <p:spPr>
          <a:xfrm>
            <a:off x="553212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 seen snow and run a race</a:t>
            </a:r>
            <a:endParaRPr lang="en-US" sz="1500" dirty="0" b="1"/>
          </a:p>
        </p:txBody>
      </p:sp>
      <p:sp>
        <p:nvSpPr>
          <p:cNvPr id="11" name="R1 opt3"/>
          <p:cNvSpPr/>
          <p:nvPr/>
        </p:nvSpPr>
        <p:spPr>
          <a:xfrm>
            <a:off x="832104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 worked in a restaurant and eaten sushi</a:t>
            </a:r>
            <a:endParaRPr lang="en-US" sz="1500" dirty="0" b="1"/>
          </a:p>
        </p:txBody>
      </p:sp>
      <p:sp>
        <p:nvSpPr>
          <p:cNvPr id="12" name="R1 circle"/>
          <p:cNvSpPr/>
          <p:nvPr/>
        </p:nvSpPr>
        <p:spPr>
          <a:xfrm>
            <a:off x="5404104" y="3054096"/>
            <a:ext cx="29077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Check ✓ True or False.</a:t>
            </a:r>
            <a:endParaRPr lang="en-US" sz="2000" dirty="0"/>
          </a:p>
        </p:txBody>
      </p:sp>
      <p:sp>
        <p:nvSpPr>
          <p:cNvPr id="8" name="R1 stmt"/>
          <p:cNvSpPr/>
          <p:nvPr/>
        </p:nvSpPr>
        <p:spPr>
          <a:xfrm>
            <a:off x="502920" y="310896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Lucía has taken a class at this center before.</a:t>
            </a:r>
            <a:endParaRPr lang="en-US" sz="1800" dirty="0"/>
          </a:p>
        </p:txBody>
      </p:sp>
      <p:sp>
        <p:nvSpPr>
          <p:cNvPr id="9" name="R1 opt1"/>
          <p:cNvSpPr/>
          <p:nvPr/>
        </p:nvSpPr>
        <p:spPr>
          <a:xfrm>
            <a:off x="7863840" y="31089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10" name="R1 opt2"/>
          <p:cNvSpPr/>
          <p:nvPr/>
        </p:nvSpPr>
        <p:spPr>
          <a:xfrm>
            <a:off x="9601200" y="31089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11" name="R1 circle"/>
          <p:cNvSpPr/>
          <p:nvPr/>
        </p:nvSpPr>
        <p:spPr>
          <a:xfrm>
            <a:off x="9473184" y="305409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Lucía worked in a pizza restaurant in 2019.</a:t>
            </a:r>
            <a:endParaRPr lang="en-US" sz="1800" dirty="0"/>
          </a:p>
        </p:txBody>
      </p:sp>
      <p:sp>
        <p:nvSpPr>
          <p:cNvPr id="13" name="R2 opt1"/>
          <p:cNvSpPr/>
          <p:nvPr/>
        </p:nvSpPr>
        <p:spPr>
          <a:xfrm>
            <a:off x="7863840" y="365760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14" name="R2 opt2"/>
          <p:cNvSpPr/>
          <p:nvPr/>
        </p:nvSpPr>
        <p:spPr>
          <a:xfrm>
            <a:off x="9601200" y="365760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15" name="R2 circle"/>
          <p:cNvSpPr/>
          <p:nvPr/>
        </p:nvSpPr>
        <p:spPr>
          <a:xfrm>
            <a:off x="7735824" y="360273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Ahmed saw snow for the first time last winter.</a:t>
            </a:r>
            <a:endParaRPr lang="en-US" sz="1800" dirty="0"/>
          </a:p>
        </p:txBody>
      </p:sp>
      <p:sp>
        <p:nvSpPr>
          <p:cNvPr id="17" name="R3 opt1"/>
          <p:cNvSpPr/>
          <p:nvPr/>
        </p:nvSpPr>
        <p:spPr>
          <a:xfrm>
            <a:off x="7863840" y="420624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18" name="R3 opt2"/>
          <p:cNvSpPr/>
          <p:nvPr/>
        </p:nvSpPr>
        <p:spPr>
          <a:xfrm>
            <a:off x="9601200" y="420624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19" name="R3 circle"/>
          <p:cNvSpPr/>
          <p:nvPr/>
        </p:nvSpPr>
        <p:spPr>
          <a:xfrm>
            <a:off x="7735824" y="415137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Ahmed has ridden a horse.</a:t>
            </a:r>
            <a:endParaRPr lang="en-US" sz="1800" dirty="0"/>
          </a:p>
        </p:txBody>
      </p:sp>
      <p:sp>
        <p:nvSpPr>
          <p:cNvPr id="21" name="R4 opt1"/>
          <p:cNvSpPr/>
          <p:nvPr/>
        </p:nvSpPr>
        <p:spPr>
          <a:xfrm>
            <a:off x="7863840" y="475488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22" name="R4 opt2"/>
          <p:cNvSpPr/>
          <p:nvPr/>
        </p:nvSpPr>
        <p:spPr>
          <a:xfrm>
            <a:off x="9601200" y="475488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23" name="R4 circle"/>
          <p:cNvSpPr/>
          <p:nvPr/>
        </p:nvSpPr>
        <p:spPr>
          <a:xfrm>
            <a:off x="9473184" y="470001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Ahmed won his race.</a:t>
            </a:r>
            <a:endParaRPr lang="en-US" sz="1800" dirty="0"/>
          </a:p>
        </p:txBody>
      </p:sp>
      <p:sp>
        <p:nvSpPr>
          <p:cNvPr id="25" name="R5 opt1"/>
          <p:cNvSpPr/>
          <p:nvPr/>
        </p:nvSpPr>
        <p:spPr>
          <a:xfrm>
            <a:off x="7863840" y="530352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26" name="R5 opt2"/>
          <p:cNvSpPr/>
          <p:nvPr/>
        </p:nvSpPr>
        <p:spPr>
          <a:xfrm>
            <a:off x="9601200" y="530352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27" name="R5 circle"/>
          <p:cNvSpPr/>
          <p:nvPr/>
        </p:nvSpPr>
        <p:spPr>
          <a:xfrm>
            <a:off x="9473184" y="524865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Lucía has never eaten sushi.</a:t>
            </a:r>
            <a:endParaRPr lang="en-US" sz="1800" dirty="0"/>
          </a:p>
        </p:txBody>
      </p:sp>
      <p:sp>
        <p:nvSpPr>
          <p:cNvPr id="29" name="R6 opt1"/>
          <p:cNvSpPr/>
          <p:nvPr/>
        </p:nvSpPr>
        <p:spPr>
          <a:xfrm>
            <a:off x="7863840" y="58521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True</a:t>
            </a:r>
            <a:endParaRPr lang="en-US" sz="2000" dirty="0" b="1"/>
          </a:p>
        </p:txBody>
      </p:sp>
      <p:sp>
        <p:nvSpPr>
          <p:cNvPr id="30" name="R6 opt2"/>
          <p:cNvSpPr/>
          <p:nvPr/>
        </p:nvSpPr>
        <p:spPr>
          <a:xfrm>
            <a:off x="9601200" y="58521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False</a:t>
            </a:r>
            <a:endParaRPr lang="en-US" sz="2000" dirty="0" b="1"/>
          </a:p>
        </p:txBody>
      </p:sp>
      <p:sp>
        <p:nvSpPr>
          <p:cNvPr id="31" name="R6 circle"/>
          <p:cNvSpPr/>
          <p:nvPr/>
        </p:nvSpPr>
        <p:spPr>
          <a:xfrm>
            <a:off x="7735824" y="579729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have, has, or did.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have, has, did</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you ever taken a class at this center?</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Have</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No, I haven't. But my sister ____.</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has</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you ever worked in a restaurant?</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Have</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Really? When ____ you do that?</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did</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Ahmed, ____ you ever seen snow?</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have</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run a race, too. My company ____ a race every summer.</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 wanna = want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the weak, short have</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are short forms. This listening uses the full forms.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You can say </a:t>
            </a:r>
            <a:r>
              <a:rPr lang="en-US" sz="2000" dirty="0" b="1">
                <a:solidFill>
                  <a:srgbClr val="5B3FC4"/>
                </a:solidFill>
                <a:latin typeface="Lexend Deca" pitchFamily="34" charset="0"/>
                <a:ea typeface="Lexend Deca" pitchFamily="34" charset="-122"/>
                <a:cs typeface="Lexend Deca" pitchFamily="34" charset="-120"/>
              </a:rPr>
              <a:t>going to</a:t>
            </a:r>
            <a:r>
              <a:rPr lang="en-US" sz="2000" dirty="0" b="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want to</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Tonight we're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find things we have in common.</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go camping.</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you ever seen snow?</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I've</a:t>
            </a:r>
            <a:r>
              <a:rPr lang="en-US" sz="1800" dirty="0" b="1">
                <a:solidFill>
                  <a:srgbClr val="1B2236"/>
                </a:solidFill>
                <a:latin typeface="Lexend Deca" pitchFamily="34" charset="0"/>
                <a:ea typeface="Lexend Deca" pitchFamily="34" charset="-122"/>
                <a:cs typeface="Lexend Deca" pitchFamily="34" charset="-120"/>
              </a:rPr>
              <a:t> never ridden a horse.</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ide a horse: a person riding a hors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Have you ever…?</a:t>
            </a:r>
            <a:endParaRPr lang="en-US" sz="28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you </a:t>
            </a:r>
            <a:r>
              <a:rPr lang="en-US" sz="1800" dirty="0" b="1">
                <a:solidFill>
                  <a:srgbClr val="1B2236"/>
                </a:solidFill>
                <a:latin typeface="Lexend Deca" pitchFamily="34" charset="0"/>
                <a:ea typeface="Lexend Deca" pitchFamily="34" charset="-122"/>
                <a:cs typeface="Lexend Deca" pitchFamily="34" charset="-120"/>
              </a:rPr>
              <a:t>ever</a:t>
            </a:r>
            <a:r>
              <a:rPr lang="en-US" sz="1800" dirty="0" b="1">
                <a:solidFill>
                  <a:srgbClr val="1B2236"/>
                </a:solidFill>
                <a:latin typeface="Lexend Deca" pitchFamily="34" charset="0"/>
                <a:ea typeface="Lexend Deca" pitchFamily="34" charset="-122"/>
                <a:cs typeface="Lexend Deca" pitchFamily="34" charset="-120"/>
              </a:rPr>
              <a:t> worked in a restaurant?</a:t>
            </a:r>
            <a:endParaRPr lang="en-US" sz="1800" dirty="0" b="1"/>
          </a:p>
        </p:txBody>
      </p:sp>
      <p:sp>
        <p:nvSpPr>
          <p:cNvPr id="19" name="Answer bg 1"/>
          <p:cNvSpPr/>
          <p:nvPr/>
        </p:nvSpPr>
        <p:spPr>
          <a:xfrm>
            <a:off x="7863840" y="2286000"/>
            <a:ext cx="40690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12070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I </a:t>
            </a: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I</a:t>
            </a:r>
            <a:r>
              <a:rPr lang="en-US" sz="1700" dirty="0" b="1">
                <a:solidFill>
                  <a:srgbClr val="1B2236"/>
                </a:solidFill>
                <a:latin typeface="Lexend Deca" pitchFamily="34" charset="0"/>
                <a:ea typeface="Lexend Deca" pitchFamily="34" charset="-122"/>
                <a:cs typeface="Lexend Deca" pitchFamily="34" charset="-120"/>
              </a:rPr>
              <a:t>'ve</a:t>
            </a:r>
            <a:r>
              <a:rPr lang="en-US" sz="1700" dirty="0" b="1">
                <a:solidFill>
                  <a:srgbClr val="1B2236"/>
                </a:solidFill>
                <a:latin typeface="Lexend Deca" pitchFamily="34" charset="0"/>
                <a:ea typeface="Lexend Deca" pitchFamily="34" charset="-122"/>
                <a:cs typeface="Lexend Deca" pitchFamily="34" charset="-120"/>
              </a:rPr>
              <a:t> worked in two restaurants.</a:t>
            </a:r>
            <a:endParaRPr lang="en-US" sz="1700" dirty="0" b="1"/>
          </a:p>
          <a:p>
            <a:pPr algn="l" indent="0" marL="0">
              <a:buNone/>
            </a:pPr>
            <a:r>
              <a:rPr lang="en-US" sz="1700" dirty="0" b="1">
                <a:solidFill>
                  <a:srgbClr val="1B2236"/>
                </a:solidFill>
                <a:latin typeface="Lexend Deca" pitchFamily="34" charset="0"/>
                <a:ea typeface="Lexend Deca" pitchFamily="34" charset="-122"/>
                <a:cs typeface="Lexend Deca" pitchFamily="34" charset="-120"/>
              </a:rPr>
              <a:t>No, I </a:t>
            </a:r>
            <a:r>
              <a:rPr lang="en-US" sz="1700" dirty="0" b="1">
                <a:solidFill>
                  <a:srgbClr val="1B2236"/>
                </a:solidFill>
                <a:latin typeface="Lexend Deca" pitchFamily="34" charset="0"/>
                <a:ea typeface="Lexend Deca" pitchFamily="34" charset="-122"/>
                <a:cs typeface="Lexend Deca" pitchFamily="34" charset="-120"/>
              </a:rPr>
              <a:t>haven't</a:t>
            </a:r>
            <a:r>
              <a:rPr lang="en-US" sz="1700" dirty="0" b="1">
                <a:solidFill>
                  <a:srgbClr val="1B2236"/>
                </a:solidFill>
                <a:latin typeface="Lexend Deca" pitchFamily="34" charset="0"/>
                <a:ea typeface="Lexend Deca" pitchFamily="34" charset="-122"/>
                <a:cs typeface="Lexend Deca" pitchFamily="34" charset="-120"/>
              </a:rPr>
              <a:t>. / No, </a:t>
            </a:r>
            <a:r>
              <a:rPr lang="en-US" sz="1700" dirty="0" b="1">
                <a:solidFill>
                  <a:srgbClr val="1B2236"/>
                </a:solidFill>
                <a:latin typeface="Lexend Deca" pitchFamily="34" charset="0"/>
                <a:ea typeface="Lexend Deca" pitchFamily="34" charset="-122"/>
                <a:cs typeface="Lexend Deca" pitchFamily="34" charset="-120"/>
              </a:rPr>
              <a:t>never</a:t>
            </a:r>
            <a:r>
              <a:rPr lang="en-US" sz="1700" dirty="0" b="1">
                <a:solidFill>
                  <a:srgbClr val="1B2236"/>
                </a:solidFill>
                <a:latin typeface="Lexend Deca" pitchFamily="34" charset="0"/>
                <a:ea typeface="Lexend Deca" pitchFamily="34" charset="-122"/>
                <a:cs typeface="Lexend Deca" pitchFamily="34" charset="-120"/>
              </a:rPr>
              <a:t>. I</a:t>
            </a:r>
            <a:r>
              <a:rPr lang="en-US" sz="1700" dirty="0" b="1">
                <a:solidFill>
                  <a:srgbClr val="1B2236"/>
                </a:solidFill>
                <a:latin typeface="Lexend Deca" pitchFamily="34" charset="0"/>
                <a:ea typeface="Lexend Deca" pitchFamily="34" charset="-122"/>
                <a:cs typeface="Lexend Deca" pitchFamily="34" charset="-120"/>
              </a:rPr>
              <a:t>'ve never</a:t>
            </a:r>
            <a:r>
              <a:rPr lang="en-US" sz="1700" dirty="0" b="1">
                <a:solidFill>
                  <a:srgbClr val="1B2236"/>
                </a:solidFill>
                <a:latin typeface="Lexend Deca" pitchFamily="34" charset="0"/>
                <a:ea typeface="Lexend Deca" pitchFamily="34" charset="-122"/>
                <a:cs typeface="Lexend Deca" pitchFamily="34" charset="-120"/>
              </a:rPr>
              <a:t> worked in a restaurant.</a:t>
            </a:r>
            <a:endParaRPr lang="en-US" sz="1700" dirty="0" b="1"/>
          </a:p>
        </p:txBody>
      </p:sp>
      <p:sp>
        <p:nvSpPr>
          <p:cNvPr id="21" name="Question 2"/>
          <p:cNvSpPr/>
          <p:nvPr/>
        </p:nvSpPr>
        <p:spPr>
          <a:xfrm>
            <a:off x="5138928" y="3566160"/>
            <a:ext cx="265176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Has</a:t>
            </a:r>
            <a:r>
              <a:rPr lang="en-US" sz="1800" dirty="0" b="1">
                <a:solidFill>
                  <a:srgbClr val="1B2236"/>
                </a:solidFill>
                <a:latin typeface="Lexend Deca" pitchFamily="34" charset="0"/>
                <a:ea typeface="Lexend Deca" pitchFamily="34" charset="-122"/>
                <a:cs typeface="Lexend Deca" pitchFamily="34" charset="-120"/>
              </a:rPr>
              <a:t> she </a:t>
            </a:r>
            <a:r>
              <a:rPr lang="en-US" sz="1800" dirty="0" b="1">
                <a:solidFill>
                  <a:srgbClr val="1B2236"/>
                </a:solidFill>
                <a:latin typeface="Lexend Deca" pitchFamily="34" charset="0"/>
                <a:ea typeface="Lexend Deca" pitchFamily="34" charset="-122"/>
                <a:cs typeface="Lexend Deca" pitchFamily="34" charset="-120"/>
              </a:rPr>
              <a:t>ever</a:t>
            </a:r>
            <a:r>
              <a:rPr lang="en-US" sz="1800" dirty="0" b="1">
                <a:solidFill>
                  <a:srgbClr val="1B2236"/>
                </a:solidFill>
                <a:latin typeface="Lexend Deca" pitchFamily="34" charset="0"/>
                <a:ea typeface="Lexend Deca" pitchFamily="34" charset="-122"/>
                <a:cs typeface="Lexend Deca" pitchFamily="34" charset="-120"/>
              </a:rPr>
              <a:t> seen snow?</a:t>
            </a:r>
            <a:endParaRPr lang="en-US" sz="1800" dirty="0" b="1"/>
          </a:p>
        </p:txBody>
      </p:sp>
      <p:sp>
        <p:nvSpPr>
          <p:cNvPr id="22" name="Answer bg 2"/>
          <p:cNvSpPr/>
          <p:nvPr/>
        </p:nvSpPr>
        <p:spPr>
          <a:xfrm>
            <a:off x="7863840" y="3566160"/>
            <a:ext cx="40690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566160"/>
            <a:ext cx="4069080" cy="12070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she </a:t>
            </a:r>
            <a:r>
              <a:rPr lang="en-US" sz="1700" dirty="0" b="1">
                <a:solidFill>
                  <a:srgbClr val="1B2236"/>
                </a:solidFill>
                <a:latin typeface="Lexend Deca" pitchFamily="34" charset="0"/>
                <a:ea typeface="Lexend Deca" pitchFamily="34" charset="-122"/>
                <a:cs typeface="Lexend Deca" pitchFamily="34" charset="-120"/>
              </a:rPr>
              <a:t>has</a:t>
            </a:r>
            <a:r>
              <a:rPr lang="en-US" sz="1700" dirty="0" b="1">
                <a:solidFill>
                  <a:srgbClr val="1B2236"/>
                </a:solidFill>
                <a:latin typeface="Lexend Deca" pitchFamily="34" charset="0"/>
                <a:ea typeface="Lexend Deca" pitchFamily="34" charset="-122"/>
                <a:cs typeface="Lexend Deca" pitchFamily="34" charset="-120"/>
              </a:rPr>
              <a:t>. She</a:t>
            </a:r>
            <a:r>
              <a:rPr lang="en-US" sz="1700" dirty="0" b="1">
                <a:solidFill>
                  <a:srgbClr val="1B2236"/>
                </a:solidFill>
                <a:latin typeface="Lexend Deca" pitchFamily="34" charset="0"/>
                <a:ea typeface="Lexend Deca" pitchFamily="34" charset="-122"/>
                <a:cs typeface="Lexend Deca" pitchFamily="34" charset="-120"/>
              </a:rPr>
              <a:t>'s</a:t>
            </a:r>
            <a:r>
              <a:rPr lang="en-US" sz="1700" dirty="0" b="1">
                <a:solidFill>
                  <a:srgbClr val="1B2236"/>
                </a:solidFill>
                <a:latin typeface="Lexend Deca" pitchFamily="34" charset="0"/>
                <a:ea typeface="Lexend Deca" pitchFamily="34" charset="-122"/>
                <a:cs typeface="Lexend Deca" pitchFamily="34" charset="-120"/>
              </a:rPr>
              <a:t> seen snow two times.</a:t>
            </a:r>
            <a:endParaRPr lang="en-US" sz="1700" dirty="0" b="1"/>
          </a:p>
        </p:txBody>
      </p:sp>
      <p:sp>
        <p:nvSpPr>
          <p:cNvPr id="24" name="Question 3"/>
          <p:cNvSpPr/>
          <p:nvPr/>
        </p:nvSpPr>
        <p:spPr>
          <a:xfrm>
            <a:off x="5138928" y="4846320"/>
            <a:ext cx="265176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Has</a:t>
            </a:r>
            <a:r>
              <a:rPr lang="en-US" sz="1800" dirty="0" b="1">
                <a:solidFill>
                  <a:srgbClr val="1B2236"/>
                </a:solidFill>
                <a:latin typeface="Lexend Deca" pitchFamily="34" charset="0"/>
                <a:ea typeface="Lexend Deca" pitchFamily="34" charset="-122"/>
                <a:cs typeface="Lexend Deca" pitchFamily="34" charset="-120"/>
              </a:rPr>
              <a:t> he </a:t>
            </a:r>
            <a:r>
              <a:rPr lang="en-US" sz="1800" dirty="0" b="1">
                <a:solidFill>
                  <a:srgbClr val="1B2236"/>
                </a:solidFill>
                <a:latin typeface="Lexend Deca" pitchFamily="34" charset="0"/>
                <a:ea typeface="Lexend Deca" pitchFamily="34" charset="-122"/>
                <a:cs typeface="Lexend Deca" pitchFamily="34" charset="-120"/>
              </a:rPr>
              <a:t>ever</a:t>
            </a:r>
            <a:r>
              <a:rPr lang="en-US" sz="1800" dirty="0" b="1">
                <a:solidFill>
                  <a:srgbClr val="1B2236"/>
                </a:solidFill>
                <a:latin typeface="Lexend Deca" pitchFamily="34" charset="0"/>
                <a:ea typeface="Lexend Deca" pitchFamily="34" charset="-122"/>
                <a:cs typeface="Lexend Deca" pitchFamily="34" charset="-120"/>
              </a:rPr>
              <a:t> lived in a big city?</a:t>
            </a:r>
            <a:endParaRPr lang="en-US" sz="1800" dirty="0" b="1"/>
          </a:p>
        </p:txBody>
      </p:sp>
      <p:sp>
        <p:nvSpPr>
          <p:cNvPr id="25" name="Answer bg 3"/>
          <p:cNvSpPr/>
          <p:nvPr/>
        </p:nvSpPr>
        <p:spPr>
          <a:xfrm>
            <a:off x="7863840" y="4846320"/>
            <a:ext cx="40690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846320"/>
            <a:ext cx="4069080" cy="12070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he </a:t>
            </a:r>
            <a:r>
              <a:rPr lang="en-US" sz="1700" dirty="0" b="1">
                <a:solidFill>
                  <a:srgbClr val="1B2236"/>
                </a:solidFill>
                <a:latin typeface="Lexend Deca" pitchFamily="34" charset="0"/>
                <a:ea typeface="Lexend Deca" pitchFamily="34" charset="-122"/>
                <a:cs typeface="Lexend Deca" pitchFamily="34" charset="-120"/>
              </a:rPr>
              <a:t>hasn't</a:t>
            </a:r>
            <a:r>
              <a:rPr lang="en-US" sz="1700" dirty="0" b="1">
                <a:solidFill>
                  <a:srgbClr val="1B2236"/>
                </a:solidFill>
                <a:latin typeface="Lexend Deca" pitchFamily="34" charset="0"/>
                <a:ea typeface="Lexend Deca" pitchFamily="34" charset="-122"/>
                <a:cs typeface="Lexend Deca" pitchFamily="34" charset="-120"/>
              </a:rPr>
              <a:t>. He</a:t>
            </a:r>
            <a:r>
              <a:rPr lang="en-US" sz="1700" dirty="0" b="1">
                <a:solidFill>
                  <a:srgbClr val="1B2236"/>
                </a:solidFill>
                <a:latin typeface="Lexend Deca" pitchFamily="34" charset="0"/>
                <a:ea typeface="Lexend Deca" pitchFamily="34" charset="-122"/>
                <a:cs typeface="Lexend Deca" pitchFamily="34" charset="-120"/>
              </a:rPr>
              <a:t>'s never</a:t>
            </a:r>
            <a:r>
              <a:rPr lang="en-US" sz="1700" dirty="0" b="1">
                <a:solidFill>
                  <a:srgbClr val="1B2236"/>
                </a:solidFill>
                <a:latin typeface="Lexend Deca" pitchFamily="34" charset="0"/>
                <a:ea typeface="Lexend Deca" pitchFamily="34" charset="-122"/>
                <a:cs typeface="Lexend Deca" pitchFamily="34" charset="-120"/>
              </a:rPr>
              <a:t> lived in a big city.</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Mountain: a snowy mountain"/>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the details (simple past)</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you </a:t>
            </a:r>
            <a:r>
              <a:rPr lang="en-US" sz="1800" dirty="0" b="1">
                <a:solidFill>
                  <a:srgbClr val="1B2236"/>
                </a:solidFill>
                <a:latin typeface="Lexend Deca" pitchFamily="34" charset="0"/>
                <a:ea typeface="Lexend Deca" pitchFamily="34" charset="-122"/>
                <a:cs typeface="Lexend Deca" pitchFamily="34" charset="-120"/>
              </a:rPr>
              <a:t>ever</a:t>
            </a:r>
            <a:r>
              <a:rPr lang="en-US" sz="1800" dirty="0" b="1">
                <a:solidFill>
                  <a:srgbClr val="1B2236"/>
                </a:solidFill>
                <a:latin typeface="Lexend Deca" pitchFamily="34" charset="0"/>
                <a:ea typeface="Lexend Deca" pitchFamily="34" charset="-122"/>
                <a:cs typeface="Lexend Deca" pitchFamily="34" charset="-120"/>
              </a:rPr>
              <a:t> been to Chicago?</a:t>
            </a:r>
            <a:endParaRPr lang="en-US" sz="1800" dirty="0" b="1"/>
          </a:p>
        </p:txBody>
      </p:sp>
      <p:sp>
        <p:nvSpPr>
          <p:cNvPr id="19" name="Answer bg 1"/>
          <p:cNvSpPr/>
          <p:nvPr/>
        </p:nvSpPr>
        <p:spPr>
          <a:xfrm>
            <a:off x="7863840" y="2286000"/>
            <a:ext cx="40690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 </a:t>
            </a: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I </a:t>
            </a:r>
            <a:r>
              <a:rPr lang="en-US" sz="1800" dirty="0" b="1">
                <a:solidFill>
                  <a:srgbClr val="1B2236"/>
                </a:solidFill>
                <a:latin typeface="Lexend Deca" pitchFamily="34" charset="0"/>
                <a:ea typeface="Lexend Deca" pitchFamily="34" charset="-122"/>
                <a:cs typeface="Lexend Deca" pitchFamily="34" charset="-120"/>
              </a:rPr>
              <a:t>went</a:t>
            </a:r>
            <a:r>
              <a:rPr lang="en-US" sz="1800" dirty="0" b="1">
                <a:solidFill>
                  <a:srgbClr val="1B2236"/>
                </a:solidFill>
                <a:latin typeface="Lexend Deca" pitchFamily="34" charset="0"/>
                <a:ea typeface="Lexend Deca" pitchFamily="34" charset="-122"/>
                <a:cs typeface="Lexend Deca" pitchFamily="34" charset="-120"/>
              </a:rPr>
              <a:t> there in 2022.</a:t>
            </a:r>
            <a:endParaRPr lang="en-US" sz="1800" dirty="0" b="1"/>
          </a:p>
        </p:txBody>
      </p:sp>
      <p:sp>
        <p:nvSpPr>
          <p:cNvPr id="21" name="Question 2"/>
          <p:cNvSpPr/>
          <p:nvPr/>
        </p:nvSpPr>
        <p:spPr>
          <a:xfrm>
            <a:off x="5138928" y="3200400"/>
            <a:ext cx="26517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When did</a:t>
            </a:r>
            <a:r>
              <a:rPr lang="en-US" sz="1800" dirty="0" b="1">
                <a:solidFill>
                  <a:srgbClr val="1B2236"/>
                </a:solidFill>
                <a:latin typeface="Lexend Deca" pitchFamily="34" charset="0"/>
                <a:ea typeface="Lexend Deca" pitchFamily="34" charset="-122"/>
                <a:cs typeface="Lexend Deca" pitchFamily="34" charset="-120"/>
              </a:rPr>
              <a:t> you go there?</a:t>
            </a:r>
            <a:endParaRPr lang="en-US" sz="1800" dirty="0" b="1"/>
          </a:p>
        </p:txBody>
      </p:sp>
      <p:sp>
        <p:nvSpPr>
          <p:cNvPr id="22" name="Answer bg 2"/>
          <p:cNvSpPr/>
          <p:nvPr/>
        </p:nvSpPr>
        <p:spPr>
          <a:xfrm>
            <a:off x="7863840" y="3200400"/>
            <a:ext cx="40690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200400"/>
            <a:ext cx="406908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went</a:t>
            </a:r>
            <a:r>
              <a:rPr lang="en-US" sz="1800" dirty="0" b="1">
                <a:solidFill>
                  <a:srgbClr val="1B2236"/>
                </a:solidFill>
                <a:latin typeface="Lexend Deca" pitchFamily="34" charset="0"/>
                <a:ea typeface="Lexend Deca" pitchFamily="34" charset="-122"/>
                <a:cs typeface="Lexend Deca" pitchFamily="34" charset="-120"/>
              </a:rPr>
              <a:t> last summer. / in 2022.</a:t>
            </a:r>
            <a:endParaRPr lang="en-US" sz="1800" dirty="0" b="1"/>
          </a:p>
        </p:txBody>
      </p:sp>
      <p:sp>
        <p:nvSpPr>
          <p:cNvPr id="24" name="Question 3"/>
          <p:cNvSpPr/>
          <p:nvPr/>
        </p:nvSpPr>
        <p:spPr>
          <a:xfrm>
            <a:off x="5138928" y="4114800"/>
            <a:ext cx="26517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was</a:t>
            </a:r>
            <a:r>
              <a:rPr lang="en-US" sz="1800" dirty="0" b="1">
                <a:solidFill>
                  <a:srgbClr val="1B2236"/>
                </a:solidFill>
                <a:latin typeface="Lexend Deca" pitchFamily="34" charset="0"/>
                <a:ea typeface="Lexend Deca" pitchFamily="34" charset="-122"/>
                <a:cs typeface="Lexend Deca" pitchFamily="34" charset="-120"/>
              </a:rPr>
              <a:t> it?</a:t>
            </a:r>
            <a:endParaRPr lang="en-US" sz="1800" dirty="0" b="1"/>
          </a:p>
        </p:txBody>
      </p:sp>
      <p:sp>
        <p:nvSpPr>
          <p:cNvPr id="25" name="Answer bg 3"/>
          <p:cNvSpPr/>
          <p:nvPr/>
        </p:nvSpPr>
        <p:spPr>
          <a:xfrm>
            <a:off x="7863840" y="4114800"/>
            <a:ext cx="40690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114800"/>
            <a:ext cx="406908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 </a:t>
            </a:r>
            <a:r>
              <a:rPr lang="en-US" sz="1800" dirty="0" b="1">
                <a:solidFill>
                  <a:srgbClr val="1B2236"/>
                </a:solidFill>
                <a:latin typeface="Lexend Deca" pitchFamily="34" charset="0"/>
                <a:ea typeface="Lexend Deca" pitchFamily="34" charset="-122"/>
                <a:cs typeface="Lexend Deca" pitchFamily="34" charset="-120"/>
              </a:rPr>
              <a:t>was</a:t>
            </a:r>
            <a:r>
              <a:rPr lang="en-US" sz="1800" dirty="0" b="1">
                <a:solidFill>
                  <a:srgbClr val="1B2236"/>
                </a:solidFill>
                <a:latin typeface="Lexend Deca" pitchFamily="34" charset="0"/>
                <a:ea typeface="Lexend Deca" pitchFamily="34" charset="-122"/>
                <a:cs typeface="Lexend Deca" pitchFamily="34" charset="-120"/>
              </a:rPr>
              <a:t> exciting. / a little boring.</a:t>
            </a:r>
            <a:endParaRPr lang="en-US" sz="1800" dirty="0" b="1"/>
          </a:p>
        </p:txBody>
      </p:sp>
      <p:sp>
        <p:nvSpPr>
          <p:cNvPr id="27" name="Question 4"/>
          <p:cNvSpPr/>
          <p:nvPr/>
        </p:nvSpPr>
        <p:spPr>
          <a:xfrm>
            <a:off x="5138928" y="5029200"/>
            <a:ext cx="26517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Did</a:t>
            </a:r>
            <a:r>
              <a:rPr lang="en-US" sz="1800" dirty="0" b="1">
                <a:solidFill>
                  <a:srgbClr val="1B2236"/>
                </a:solidFill>
                <a:latin typeface="Lexend Deca" pitchFamily="34" charset="0"/>
                <a:ea typeface="Lexend Deca" pitchFamily="34" charset="-122"/>
                <a:cs typeface="Lexend Deca" pitchFamily="34" charset="-120"/>
              </a:rPr>
              <a:t> you like it?</a:t>
            </a:r>
            <a:endParaRPr lang="en-US" sz="1800" dirty="0" b="1"/>
          </a:p>
        </p:txBody>
      </p:sp>
      <p:sp>
        <p:nvSpPr>
          <p:cNvPr id="28" name="Answer bg 4"/>
          <p:cNvSpPr/>
          <p:nvPr/>
        </p:nvSpPr>
        <p:spPr>
          <a:xfrm>
            <a:off x="7863840" y="5029200"/>
            <a:ext cx="40690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029200"/>
            <a:ext cx="406908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 </a:t>
            </a:r>
            <a:r>
              <a:rPr lang="en-US" sz="1800" dirty="0" b="1">
                <a:solidFill>
                  <a:srgbClr val="1B2236"/>
                </a:solidFill>
                <a:latin typeface="Lexend Deca" pitchFamily="34" charset="0"/>
                <a:ea typeface="Lexend Deca" pitchFamily="34" charset="-122"/>
                <a:cs typeface="Lexend Deca" pitchFamily="34" charset="-120"/>
              </a:rPr>
              <a:t>did</a:t>
            </a:r>
            <a:r>
              <a:rPr lang="en-US" sz="1800" dirty="0" b="1">
                <a:solidFill>
                  <a:srgbClr val="1B2236"/>
                </a:solidFill>
                <a:latin typeface="Lexend Deca" pitchFamily="34" charset="0"/>
                <a:ea typeface="Lexend Deca" pitchFamily="34" charset="-122"/>
                <a:cs typeface="Lexend Deca" pitchFamily="34" charset="-120"/>
              </a:rPr>
              <a:t>. / No, I </a:t>
            </a:r>
            <a:r>
              <a:rPr lang="en-US" sz="1800" dirty="0" b="1">
                <a:solidFill>
                  <a:srgbClr val="1B2236"/>
                </a:solidFill>
                <a:latin typeface="Lexend Deca" pitchFamily="34" charset="0"/>
                <a:ea typeface="Lexend Deca" pitchFamily="34" charset="-122"/>
                <a:cs typeface="Lexend Deca" pitchFamily="34" charset="-120"/>
              </a:rPr>
              <a:t>didn't</a:t>
            </a:r>
            <a:r>
              <a:rPr lang="en-US" sz="1800" dirty="0" b="1">
                <a:solidFill>
                  <a:srgbClr val="1B2236"/>
                </a:solidFill>
                <a:latin typeface="Lexend Deca" pitchFamily="34" charset="0"/>
                <a:ea typeface="Lexend Deca" pitchFamily="34" charset="-122"/>
                <a:cs typeface="Lexend Deca" pitchFamily="34" charset="-120"/>
              </a:rPr>
              <a:t>. It was too cold!</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Fly: an airplan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20 verbs to know (1)</a:t>
            </a:r>
            <a:endParaRPr lang="en-US" sz="2400" dirty="0" b="1"/>
          </a:p>
        </p:txBody>
      </p:sp>
      <p:sp>
        <p:nvSpPr>
          <p:cNvPr id="8" name="Q head"/>
          <p:cNvSpPr/>
          <p:nvPr/>
        </p:nvSpPr>
        <p:spPr>
          <a:xfrm>
            <a:off x="5166360" y="1828800"/>
            <a:ext cx="32918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VERB → PAST</a:t>
            </a:r>
            <a:endParaRPr lang="en-US" sz="2000" dirty="0" b="1"/>
          </a:p>
        </p:txBody>
      </p:sp>
      <p:sp>
        <p:nvSpPr>
          <p:cNvPr id="11" name="A head"/>
          <p:cNvSpPr/>
          <p:nvPr/>
        </p:nvSpPr>
        <p:spPr>
          <a:xfrm>
            <a:off x="8503920" y="1828800"/>
            <a:ext cx="34290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PAST PARTICIPLE</a:t>
            </a:r>
            <a:endParaRPr lang="en-US" sz="2000" dirty="0" b="1"/>
          </a:p>
        </p:txBody>
      </p:sp>
      <p:sp>
        <p:nvSpPr>
          <p:cNvPr id="18" name="Question 1"/>
          <p:cNvSpPr/>
          <p:nvPr/>
        </p:nvSpPr>
        <p:spPr>
          <a:xfrm>
            <a:off x="5138928" y="2286000"/>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be → was / were</a:t>
            </a:r>
            <a:endParaRPr lang="en-US" sz="1700" dirty="0" b="1"/>
          </a:p>
        </p:txBody>
      </p:sp>
      <p:sp>
        <p:nvSpPr>
          <p:cNvPr id="19" name="Answer bg 1"/>
          <p:cNvSpPr/>
          <p:nvPr/>
        </p:nvSpPr>
        <p:spPr>
          <a:xfrm>
            <a:off x="8503920" y="2286000"/>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503920" y="2286000"/>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been</a:t>
            </a:r>
            <a:endParaRPr lang="en-US" sz="1700" dirty="0" b="1"/>
          </a:p>
        </p:txBody>
      </p:sp>
      <p:sp>
        <p:nvSpPr>
          <p:cNvPr id="21" name="Question 2"/>
          <p:cNvSpPr/>
          <p:nvPr/>
        </p:nvSpPr>
        <p:spPr>
          <a:xfrm>
            <a:off x="5138928" y="2715768"/>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 did</a:t>
            </a:r>
            <a:endParaRPr lang="en-US" sz="1700" dirty="0" b="1"/>
          </a:p>
        </p:txBody>
      </p:sp>
      <p:sp>
        <p:nvSpPr>
          <p:cNvPr id="22" name="Answer bg 2"/>
          <p:cNvSpPr/>
          <p:nvPr/>
        </p:nvSpPr>
        <p:spPr>
          <a:xfrm>
            <a:off x="8503920" y="2715768"/>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503920" y="2715768"/>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done</a:t>
            </a:r>
            <a:endParaRPr lang="en-US" sz="1700" dirty="0" b="1"/>
          </a:p>
        </p:txBody>
      </p:sp>
      <p:sp>
        <p:nvSpPr>
          <p:cNvPr id="24" name="Question 3"/>
          <p:cNvSpPr/>
          <p:nvPr/>
        </p:nvSpPr>
        <p:spPr>
          <a:xfrm>
            <a:off x="5138928" y="3145536"/>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drive → drove</a:t>
            </a:r>
            <a:endParaRPr lang="en-US" sz="1700" dirty="0" b="1"/>
          </a:p>
        </p:txBody>
      </p:sp>
      <p:sp>
        <p:nvSpPr>
          <p:cNvPr id="25" name="Answer bg 3"/>
          <p:cNvSpPr/>
          <p:nvPr/>
        </p:nvSpPr>
        <p:spPr>
          <a:xfrm>
            <a:off x="8503920" y="3145536"/>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8503920" y="3145536"/>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driven</a:t>
            </a:r>
            <a:endParaRPr lang="en-US" sz="1700" dirty="0" b="1"/>
          </a:p>
        </p:txBody>
      </p:sp>
      <p:sp>
        <p:nvSpPr>
          <p:cNvPr id="27" name="Question 4"/>
          <p:cNvSpPr/>
          <p:nvPr/>
        </p:nvSpPr>
        <p:spPr>
          <a:xfrm>
            <a:off x="5138928" y="3575304"/>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eat → ate</a:t>
            </a:r>
            <a:endParaRPr lang="en-US" sz="1700" dirty="0" b="1"/>
          </a:p>
        </p:txBody>
      </p:sp>
      <p:sp>
        <p:nvSpPr>
          <p:cNvPr id="28" name="Answer bg 4"/>
          <p:cNvSpPr/>
          <p:nvPr/>
        </p:nvSpPr>
        <p:spPr>
          <a:xfrm>
            <a:off x="8503920" y="3575304"/>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8503920" y="3575304"/>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eaten</a:t>
            </a:r>
            <a:endParaRPr lang="en-US" sz="1700" dirty="0" b="1"/>
          </a:p>
        </p:txBody>
      </p:sp>
      <p:sp>
        <p:nvSpPr>
          <p:cNvPr id="30" name="Question 5"/>
          <p:cNvSpPr/>
          <p:nvPr/>
        </p:nvSpPr>
        <p:spPr>
          <a:xfrm>
            <a:off x="5138928" y="4005072"/>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fly → flew</a:t>
            </a:r>
            <a:endParaRPr lang="en-US" sz="1700" dirty="0" b="1"/>
          </a:p>
        </p:txBody>
      </p:sp>
      <p:sp>
        <p:nvSpPr>
          <p:cNvPr id="31" name="Answer bg 5"/>
          <p:cNvSpPr/>
          <p:nvPr/>
        </p:nvSpPr>
        <p:spPr>
          <a:xfrm>
            <a:off x="8503920" y="4005072"/>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8503920" y="4005072"/>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flown</a:t>
            </a:r>
            <a:endParaRPr lang="en-US" sz="1700" dirty="0" b="1"/>
          </a:p>
        </p:txBody>
      </p:sp>
      <p:sp>
        <p:nvSpPr>
          <p:cNvPr id="33" name="Question 6"/>
          <p:cNvSpPr/>
          <p:nvPr/>
        </p:nvSpPr>
        <p:spPr>
          <a:xfrm>
            <a:off x="5138928" y="4434840"/>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go → went</a:t>
            </a:r>
            <a:endParaRPr lang="en-US" sz="1700" dirty="0" b="1"/>
          </a:p>
        </p:txBody>
      </p:sp>
      <p:sp>
        <p:nvSpPr>
          <p:cNvPr id="34" name="Answer bg 6"/>
          <p:cNvSpPr/>
          <p:nvPr/>
        </p:nvSpPr>
        <p:spPr>
          <a:xfrm>
            <a:off x="8503920" y="4434840"/>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8503920" y="4434840"/>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gone / been</a:t>
            </a:r>
            <a:endParaRPr lang="en-US" sz="1700" dirty="0" b="1"/>
          </a:p>
        </p:txBody>
      </p:sp>
      <p:sp>
        <p:nvSpPr>
          <p:cNvPr id="36" name="Question 7"/>
          <p:cNvSpPr/>
          <p:nvPr/>
        </p:nvSpPr>
        <p:spPr>
          <a:xfrm>
            <a:off x="5138928" y="4864608"/>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 → had</a:t>
            </a:r>
            <a:endParaRPr lang="en-US" sz="1700" dirty="0" b="1"/>
          </a:p>
        </p:txBody>
      </p:sp>
      <p:sp>
        <p:nvSpPr>
          <p:cNvPr id="37" name="Answer bg 7"/>
          <p:cNvSpPr/>
          <p:nvPr/>
        </p:nvSpPr>
        <p:spPr>
          <a:xfrm>
            <a:off x="8503920" y="4864608"/>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8" name="Answer 7"/>
          <p:cNvSpPr/>
          <p:nvPr/>
        </p:nvSpPr>
        <p:spPr>
          <a:xfrm>
            <a:off x="8503920" y="4864608"/>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had</a:t>
            </a:r>
            <a:endParaRPr lang="en-US" sz="1700" dirty="0" b="1"/>
          </a:p>
        </p:txBody>
      </p:sp>
      <p:sp>
        <p:nvSpPr>
          <p:cNvPr id="39" name="Question 8"/>
          <p:cNvSpPr/>
          <p:nvPr/>
        </p:nvSpPr>
        <p:spPr>
          <a:xfrm>
            <a:off x="5138928" y="5294376"/>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live → lived</a:t>
            </a:r>
            <a:endParaRPr lang="en-US" sz="1700" dirty="0" b="1"/>
          </a:p>
        </p:txBody>
      </p:sp>
      <p:sp>
        <p:nvSpPr>
          <p:cNvPr id="40" name="Answer bg 8"/>
          <p:cNvSpPr/>
          <p:nvPr/>
        </p:nvSpPr>
        <p:spPr>
          <a:xfrm>
            <a:off x="8503920" y="5294376"/>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1" name="Answer 8"/>
          <p:cNvSpPr/>
          <p:nvPr/>
        </p:nvSpPr>
        <p:spPr>
          <a:xfrm>
            <a:off x="8503920" y="5294376"/>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lived</a:t>
            </a:r>
            <a:endParaRPr lang="en-US" sz="1700" dirty="0" b="1"/>
          </a:p>
        </p:txBody>
      </p:sp>
      <p:sp>
        <p:nvSpPr>
          <p:cNvPr id="42" name="Question 9"/>
          <p:cNvSpPr/>
          <p:nvPr/>
        </p:nvSpPr>
        <p:spPr>
          <a:xfrm>
            <a:off x="5138928" y="5724144"/>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make → made</a:t>
            </a:r>
            <a:endParaRPr lang="en-US" sz="1700" dirty="0" b="1"/>
          </a:p>
        </p:txBody>
      </p:sp>
      <p:sp>
        <p:nvSpPr>
          <p:cNvPr id="43" name="Answer bg 9"/>
          <p:cNvSpPr/>
          <p:nvPr/>
        </p:nvSpPr>
        <p:spPr>
          <a:xfrm>
            <a:off x="8503920" y="5724144"/>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4" name="Answer 9"/>
          <p:cNvSpPr/>
          <p:nvPr/>
        </p:nvSpPr>
        <p:spPr>
          <a:xfrm>
            <a:off x="8503920" y="5724144"/>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made</a:t>
            </a:r>
            <a:endParaRPr lang="en-US" sz="1700" dirty="0" b="1"/>
          </a:p>
        </p:txBody>
      </p:sp>
      <p:sp>
        <p:nvSpPr>
          <p:cNvPr id="45" name="Question 10"/>
          <p:cNvSpPr/>
          <p:nvPr/>
        </p:nvSpPr>
        <p:spPr>
          <a:xfrm>
            <a:off x="5138928" y="6153912"/>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meet → met</a:t>
            </a:r>
            <a:endParaRPr lang="en-US" sz="1700" dirty="0" b="1"/>
          </a:p>
        </p:txBody>
      </p:sp>
      <p:sp>
        <p:nvSpPr>
          <p:cNvPr id="46" name="Answer bg 10"/>
          <p:cNvSpPr/>
          <p:nvPr/>
        </p:nvSpPr>
        <p:spPr>
          <a:xfrm>
            <a:off x="8503920" y="6153912"/>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7" name="Answer 10"/>
          <p:cNvSpPr/>
          <p:nvPr/>
        </p:nvSpPr>
        <p:spPr>
          <a:xfrm>
            <a:off x="8503920" y="6153912"/>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met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400"/>
                                        <p:tgtEl>
                                          <p:spTgt spid="38"/>
                                        </p:tgtEl>
                                      </p:cBhvr>
                                    </p:animEffect>
                                  </p:childTnLst>
                                </p:cTn>
                              </p:par>
                              <p:par>
                                <p:cTn id="56" presetID="10" presetClass="entr" presetSubtype="0"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400"/>
                                        <p:tgtEl>
                                          <p:spTgt spid="41"/>
                                        </p:tgtEl>
                                      </p:cBhvr>
                                    </p:animEffect>
                                  </p:childTnLst>
                                </p:cTn>
                              </p:par>
                              <p:par>
                                <p:cTn id="64" presetID="10" presetClass="entr" presetSubtype="0" fill="hold"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fade">
                                      <p:cBhvr>
                                        <p:cTn id="71" dur="400"/>
                                        <p:tgtEl>
                                          <p:spTgt spid="44"/>
                                        </p:tgtEl>
                                      </p:cBhvr>
                                    </p:animEffect>
                                  </p:childTnLst>
                                </p:cTn>
                              </p:par>
                              <p:par>
                                <p:cTn id="72" presetID="10" presetClass="entr" presetSubtype="0" fill="hold"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Win a prize: a trophy [sign: 1st PRIZ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20 verbs to know (2)</a:t>
            </a:r>
            <a:endParaRPr lang="en-US" sz="2400" dirty="0" b="1"/>
          </a:p>
        </p:txBody>
      </p:sp>
      <p:sp>
        <p:nvSpPr>
          <p:cNvPr id="8" name="Q head"/>
          <p:cNvSpPr/>
          <p:nvPr/>
        </p:nvSpPr>
        <p:spPr>
          <a:xfrm>
            <a:off x="5166360" y="1828800"/>
            <a:ext cx="32918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VERB → PAST</a:t>
            </a:r>
            <a:endParaRPr lang="en-US" sz="2000" dirty="0" b="1"/>
          </a:p>
        </p:txBody>
      </p:sp>
      <p:sp>
        <p:nvSpPr>
          <p:cNvPr id="11" name="A head"/>
          <p:cNvSpPr/>
          <p:nvPr/>
        </p:nvSpPr>
        <p:spPr>
          <a:xfrm>
            <a:off x="8503920" y="1828800"/>
            <a:ext cx="34290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PAST PARTICIPLE</a:t>
            </a:r>
            <a:endParaRPr lang="en-US" sz="2000" dirty="0" b="1"/>
          </a:p>
        </p:txBody>
      </p:sp>
      <p:sp>
        <p:nvSpPr>
          <p:cNvPr id="18" name="Question 1"/>
          <p:cNvSpPr/>
          <p:nvPr/>
        </p:nvSpPr>
        <p:spPr>
          <a:xfrm>
            <a:off x="5138928" y="2286000"/>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ride → rode</a:t>
            </a:r>
            <a:endParaRPr lang="en-US" sz="1700" dirty="0" b="1"/>
          </a:p>
        </p:txBody>
      </p:sp>
      <p:sp>
        <p:nvSpPr>
          <p:cNvPr id="19" name="Answer bg 1"/>
          <p:cNvSpPr/>
          <p:nvPr/>
        </p:nvSpPr>
        <p:spPr>
          <a:xfrm>
            <a:off x="8503920" y="2286000"/>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503920" y="2286000"/>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ridden</a:t>
            </a:r>
            <a:endParaRPr lang="en-US" sz="1700" dirty="0" b="1"/>
          </a:p>
        </p:txBody>
      </p:sp>
      <p:sp>
        <p:nvSpPr>
          <p:cNvPr id="21" name="Question 2"/>
          <p:cNvSpPr/>
          <p:nvPr/>
        </p:nvSpPr>
        <p:spPr>
          <a:xfrm>
            <a:off x="5138928" y="2715768"/>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run → ran</a:t>
            </a:r>
            <a:endParaRPr lang="en-US" sz="1700" dirty="0" b="1"/>
          </a:p>
        </p:txBody>
      </p:sp>
      <p:sp>
        <p:nvSpPr>
          <p:cNvPr id="22" name="Answer bg 2"/>
          <p:cNvSpPr/>
          <p:nvPr/>
        </p:nvSpPr>
        <p:spPr>
          <a:xfrm>
            <a:off x="8503920" y="2715768"/>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503920" y="2715768"/>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run</a:t>
            </a:r>
            <a:endParaRPr lang="en-US" sz="1700" dirty="0" b="1"/>
          </a:p>
        </p:txBody>
      </p:sp>
      <p:sp>
        <p:nvSpPr>
          <p:cNvPr id="24" name="Question 3"/>
          <p:cNvSpPr/>
          <p:nvPr/>
        </p:nvSpPr>
        <p:spPr>
          <a:xfrm>
            <a:off x="5138928" y="3145536"/>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see → saw</a:t>
            </a:r>
            <a:endParaRPr lang="en-US" sz="1700" dirty="0" b="1"/>
          </a:p>
        </p:txBody>
      </p:sp>
      <p:sp>
        <p:nvSpPr>
          <p:cNvPr id="25" name="Answer bg 3"/>
          <p:cNvSpPr/>
          <p:nvPr/>
        </p:nvSpPr>
        <p:spPr>
          <a:xfrm>
            <a:off x="8503920" y="3145536"/>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8503920" y="3145536"/>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seen</a:t>
            </a:r>
            <a:endParaRPr lang="en-US" sz="1700" dirty="0" b="1"/>
          </a:p>
        </p:txBody>
      </p:sp>
      <p:sp>
        <p:nvSpPr>
          <p:cNvPr id="27" name="Question 4"/>
          <p:cNvSpPr/>
          <p:nvPr/>
        </p:nvSpPr>
        <p:spPr>
          <a:xfrm>
            <a:off x="5138928" y="3575304"/>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swim → swam</a:t>
            </a:r>
            <a:endParaRPr lang="en-US" sz="1700" dirty="0" b="1"/>
          </a:p>
        </p:txBody>
      </p:sp>
      <p:sp>
        <p:nvSpPr>
          <p:cNvPr id="28" name="Answer bg 4"/>
          <p:cNvSpPr/>
          <p:nvPr/>
        </p:nvSpPr>
        <p:spPr>
          <a:xfrm>
            <a:off x="8503920" y="3575304"/>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8503920" y="3575304"/>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swum</a:t>
            </a:r>
            <a:endParaRPr lang="en-US" sz="1700" dirty="0" b="1"/>
          </a:p>
        </p:txBody>
      </p:sp>
      <p:sp>
        <p:nvSpPr>
          <p:cNvPr id="30" name="Question 5"/>
          <p:cNvSpPr/>
          <p:nvPr/>
        </p:nvSpPr>
        <p:spPr>
          <a:xfrm>
            <a:off x="5138928" y="4005072"/>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take → took</a:t>
            </a:r>
            <a:endParaRPr lang="en-US" sz="1700" dirty="0" b="1"/>
          </a:p>
        </p:txBody>
      </p:sp>
      <p:sp>
        <p:nvSpPr>
          <p:cNvPr id="31" name="Answer bg 5"/>
          <p:cNvSpPr/>
          <p:nvPr/>
        </p:nvSpPr>
        <p:spPr>
          <a:xfrm>
            <a:off x="8503920" y="4005072"/>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8503920" y="4005072"/>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taken</a:t>
            </a:r>
            <a:endParaRPr lang="en-US" sz="1700" dirty="0" b="1"/>
          </a:p>
        </p:txBody>
      </p:sp>
      <p:sp>
        <p:nvSpPr>
          <p:cNvPr id="33" name="Question 6"/>
          <p:cNvSpPr/>
          <p:nvPr/>
        </p:nvSpPr>
        <p:spPr>
          <a:xfrm>
            <a:off x="5138928" y="4434840"/>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travel → traveled</a:t>
            </a:r>
            <a:endParaRPr lang="en-US" sz="1700" dirty="0" b="1"/>
          </a:p>
        </p:txBody>
      </p:sp>
      <p:sp>
        <p:nvSpPr>
          <p:cNvPr id="34" name="Answer bg 6"/>
          <p:cNvSpPr/>
          <p:nvPr/>
        </p:nvSpPr>
        <p:spPr>
          <a:xfrm>
            <a:off x="8503920" y="4434840"/>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8503920" y="4434840"/>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traveled</a:t>
            </a:r>
            <a:endParaRPr lang="en-US" sz="1700" dirty="0" b="1"/>
          </a:p>
        </p:txBody>
      </p:sp>
      <p:sp>
        <p:nvSpPr>
          <p:cNvPr id="36" name="Question 7"/>
          <p:cNvSpPr/>
          <p:nvPr/>
        </p:nvSpPr>
        <p:spPr>
          <a:xfrm>
            <a:off x="5138928" y="4864608"/>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try → tried</a:t>
            </a:r>
            <a:endParaRPr lang="en-US" sz="1700" dirty="0" b="1"/>
          </a:p>
        </p:txBody>
      </p:sp>
      <p:sp>
        <p:nvSpPr>
          <p:cNvPr id="37" name="Answer bg 7"/>
          <p:cNvSpPr/>
          <p:nvPr/>
        </p:nvSpPr>
        <p:spPr>
          <a:xfrm>
            <a:off x="8503920" y="4864608"/>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8" name="Answer 7"/>
          <p:cNvSpPr/>
          <p:nvPr/>
        </p:nvSpPr>
        <p:spPr>
          <a:xfrm>
            <a:off x="8503920" y="4864608"/>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tried</a:t>
            </a:r>
            <a:endParaRPr lang="en-US" sz="1700" dirty="0" b="1"/>
          </a:p>
        </p:txBody>
      </p:sp>
      <p:sp>
        <p:nvSpPr>
          <p:cNvPr id="39" name="Question 8"/>
          <p:cNvSpPr/>
          <p:nvPr/>
        </p:nvSpPr>
        <p:spPr>
          <a:xfrm>
            <a:off x="5138928" y="5294376"/>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win → won</a:t>
            </a:r>
            <a:endParaRPr lang="en-US" sz="1700" dirty="0" b="1"/>
          </a:p>
        </p:txBody>
      </p:sp>
      <p:sp>
        <p:nvSpPr>
          <p:cNvPr id="40" name="Answer bg 8"/>
          <p:cNvSpPr/>
          <p:nvPr/>
        </p:nvSpPr>
        <p:spPr>
          <a:xfrm>
            <a:off x="8503920" y="5294376"/>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1" name="Answer 8"/>
          <p:cNvSpPr/>
          <p:nvPr/>
        </p:nvSpPr>
        <p:spPr>
          <a:xfrm>
            <a:off x="8503920" y="5294376"/>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won</a:t>
            </a:r>
            <a:endParaRPr lang="en-US" sz="1700" dirty="0" b="1"/>
          </a:p>
        </p:txBody>
      </p:sp>
      <p:sp>
        <p:nvSpPr>
          <p:cNvPr id="42" name="Question 9"/>
          <p:cNvSpPr/>
          <p:nvPr/>
        </p:nvSpPr>
        <p:spPr>
          <a:xfrm>
            <a:off x="5138928" y="5724144"/>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work → worked</a:t>
            </a:r>
            <a:endParaRPr lang="en-US" sz="1700" dirty="0" b="1"/>
          </a:p>
        </p:txBody>
      </p:sp>
      <p:sp>
        <p:nvSpPr>
          <p:cNvPr id="43" name="Answer bg 9"/>
          <p:cNvSpPr/>
          <p:nvPr/>
        </p:nvSpPr>
        <p:spPr>
          <a:xfrm>
            <a:off x="8503920" y="5724144"/>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4" name="Answer 9"/>
          <p:cNvSpPr/>
          <p:nvPr/>
        </p:nvSpPr>
        <p:spPr>
          <a:xfrm>
            <a:off x="8503920" y="5724144"/>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worked</a:t>
            </a:r>
            <a:endParaRPr lang="en-US" sz="1700" dirty="0" b="1"/>
          </a:p>
        </p:txBody>
      </p:sp>
      <p:sp>
        <p:nvSpPr>
          <p:cNvPr id="45" name="Question 10"/>
          <p:cNvSpPr/>
          <p:nvPr/>
        </p:nvSpPr>
        <p:spPr>
          <a:xfrm>
            <a:off x="5138928" y="6153912"/>
            <a:ext cx="329184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 wrote</a:t>
            </a:r>
            <a:endParaRPr lang="en-US" sz="1700" dirty="0" b="1"/>
          </a:p>
        </p:txBody>
      </p:sp>
      <p:sp>
        <p:nvSpPr>
          <p:cNvPr id="46" name="Answer bg 10"/>
          <p:cNvSpPr/>
          <p:nvPr/>
        </p:nvSpPr>
        <p:spPr>
          <a:xfrm>
            <a:off x="8503920" y="6153912"/>
            <a:ext cx="3429000" cy="356616"/>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47" name="Answer 10"/>
          <p:cNvSpPr/>
          <p:nvPr/>
        </p:nvSpPr>
        <p:spPr>
          <a:xfrm>
            <a:off x="8503920" y="6153912"/>
            <a:ext cx="3429000" cy="35661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written</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400"/>
                                        <p:tgtEl>
                                          <p:spTgt spid="38"/>
                                        </p:tgtEl>
                                      </p:cBhvr>
                                    </p:animEffect>
                                  </p:childTnLst>
                                </p:cTn>
                              </p:par>
                              <p:par>
                                <p:cTn id="56" presetID="10" presetClass="entr" presetSubtype="0"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400"/>
                                        <p:tgtEl>
                                          <p:spTgt spid="41"/>
                                        </p:tgtEl>
                                      </p:cBhvr>
                                    </p:animEffect>
                                  </p:childTnLst>
                                </p:cTn>
                              </p:par>
                              <p:par>
                                <p:cTn id="64" presetID="10" presetClass="entr" presetSubtype="0" fill="hold"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fade">
                                      <p:cBhvr>
                                        <p:cTn id="71" dur="400"/>
                                        <p:tgtEl>
                                          <p:spTgt spid="44"/>
                                        </p:tgtEl>
                                      </p:cBhvr>
                                    </p:animEffect>
                                  </p:childTnLst>
                                </p:cTn>
                              </p:par>
                              <p:par>
                                <p:cTn id="72" presetID="10" presetClass="entr" presetSubtype="0" fill="hold"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un a race: a runner and a medal [sign: 5K]"/>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Which one?</a:t>
            </a:r>
            <a:endParaRPr lang="en-US" sz="28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FORM</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WHEN?  ·  EXAMPLE</a:t>
            </a:r>
            <a:endParaRPr lang="en-US" sz="2000" dirty="0" b="1"/>
          </a:p>
        </p:txBody>
      </p:sp>
      <p:sp>
        <p:nvSpPr>
          <p:cNvPr id="18" name="Question 1"/>
          <p:cNvSpPr/>
          <p:nvPr/>
        </p:nvSpPr>
        <p:spPr>
          <a:xfrm>
            <a:off x="5138928" y="228600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have / has</a:t>
            </a:r>
            <a:r>
              <a:rPr lang="en-US" sz="1800" dirty="0" b="1">
                <a:solidFill>
                  <a:srgbClr val="1B2236"/>
                </a:solidFill>
                <a:latin typeface="Lexend Deca" pitchFamily="34" charset="0"/>
                <a:ea typeface="Lexend Deca" pitchFamily="34" charset="-122"/>
                <a:cs typeface="Lexend Deca" pitchFamily="34" charset="-120"/>
              </a:rPr>
              <a:t> + past participle</a:t>
            </a:r>
            <a:endParaRPr lang="en-US" sz="1800" dirty="0" b="1"/>
          </a:p>
        </p:txBody>
      </p:sp>
      <p:sp>
        <p:nvSpPr>
          <p:cNvPr id="19" name="Answer bg 1"/>
          <p:cNvSpPr/>
          <p:nvPr/>
        </p:nvSpPr>
        <p:spPr>
          <a:xfrm>
            <a:off x="7589520" y="228600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sometime in your life; </a:t>
            </a:r>
            <a:r>
              <a:rPr lang="en-US" sz="1800" dirty="0" b="1">
                <a:solidFill>
                  <a:srgbClr val="1B2236"/>
                </a:solidFill>
                <a:latin typeface="Lexend Deca" pitchFamily="34" charset="0"/>
                <a:ea typeface="Lexend Deca" pitchFamily="34" charset="-122"/>
                <a:cs typeface="Lexend Deca" pitchFamily="34" charset="-120"/>
              </a:rPr>
              <a:t>no time</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I've ridden a horse. She's never flown.</a:t>
            </a:r>
            <a:endParaRPr lang="en-US" sz="1800" dirty="0" b="1"/>
          </a:p>
        </p:txBody>
      </p:sp>
      <p:sp>
        <p:nvSpPr>
          <p:cNvPr id="21" name="Question 2"/>
          <p:cNvSpPr/>
          <p:nvPr/>
        </p:nvSpPr>
        <p:spPr>
          <a:xfrm>
            <a:off x="5138928" y="347472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simple past</a:t>
            </a:r>
            <a:endParaRPr lang="en-US" sz="1800" dirty="0" b="1"/>
          </a:p>
        </p:txBody>
      </p:sp>
      <p:sp>
        <p:nvSpPr>
          <p:cNvPr id="22" name="Answer bg 2"/>
          <p:cNvSpPr/>
          <p:nvPr/>
        </p:nvSpPr>
        <p:spPr>
          <a:xfrm>
            <a:off x="7589520" y="347472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47472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a:t>
            </a:r>
            <a:r>
              <a:rPr lang="en-US" sz="1800" dirty="0" b="1">
                <a:solidFill>
                  <a:srgbClr val="1B2236"/>
                </a:solidFill>
                <a:latin typeface="Lexend Deca" pitchFamily="34" charset="0"/>
                <a:ea typeface="Lexend Deca" pitchFamily="34" charset="-122"/>
                <a:cs typeface="Lexend Deca" pitchFamily="34" charset="-120"/>
              </a:rPr>
              <a:t>finished time</a:t>
            </a:r>
            <a:r>
              <a:rPr lang="en-US" sz="1800" dirty="0" b="1">
                <a:solidFill>
                  <a:srgbClr val="1B2236"/>
                </a:solidFill>
                <a:latin typeface="Lexend Deca" pitchFamily="34" charset="0"/>
                <a:ea typeface="Lexend Deca" pitchFamily="34" charset="-122"/>
                <a:cs typeface="Lexend Deca" pitchFamily="34" charset="-120"/>
              </a:rPr>
              <a:t> (in 2015, last year, when I was ten)</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I rode a horse in 2015. She flew to Texas last year.</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past participle.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past participle.</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Look at Box 3.</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ever ____ sushi? (eat)</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eaten</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never ____ a horse. (ride)</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ridden</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She has ____ in three cities. (live)</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lived</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ever ____ in a plane? (fly)</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flown</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We've ____ the ocean two times. (see)</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seen</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He's never ____ a prize. (win)</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won</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____ you ever tried Thai food?</a:t>
            </a:r>
            <a:endParaRPr lang="en-US" sz="1800" dirty="0"/>
          </a:p>
        </p:txBody>
      </p:sp>
      <p:sp>
        <p:nvSpPr>
          <p:cNvPr id="9" name="R1 opt1"/>
          <p:cNvSpPr/>
          <p:nvPr/>
        </p:nvSpPr>
        <p:spPr>
          <a:xfrm>
            <a:off x="70866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a:t>
            </a:r>
            <a:endParaRPr lang="en-US" sz="1700" dirty="0" b="1"/>
          </a:p>
        </p:txBody>
      </p:sp>
      <p:sp>
        <p:nvSpPr>
          <p:cNvPr id="10" name="R1 opt2"/>
          <p:cNvSpPr/>
          <p:nvPr/>
        </p:nvSpPr>
        <p:spPr>
          <a:xfrm>
            <a:off x="91440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Did</a:t>
            </a:r>
            <a:endParaRPr lang="en-US" sz="1700" dirty="0" b="1"/>
          </a:p>
        </p:txBody>
      </p:sp>
      <p:sp>
        <p:nvSpPr>
          <p:cNvPr id="11" name="R1 circle"/>
          <p:cNvSpPr/>
          <p:nvPr/>
        </p:nvSpPr>
        <p:spPr>
          <a:xfrm>
            <a:off x="6958584" y="30540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I ____ to Texas last year.</a:t>
            </a:r>
            <a:endParaRPr lang="en-US" sz="1800" dirty="0"/>
          </a:p>
        </p:txBody>
      </p:sp>
      <p:sp>
        <p:nvSpPr>
          <p:cNvPr id="13" name="R2 opt1"/>
          <p:cNvSpPr/>
          <p:nvPr/>
        </p:nvSpPr>
        <p:spPr>
          <a:xfrm>
            <a:off x="70866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went</a:t>
            </a:r>
            <a:endParaRPr lang="en-US" sz="1700" dirty="0" b="1"/>
          </a:p>
        </p:txBody>
      </p:sp>
      <p:sp>
        <p:nvSpPr>
          <p:cNvPr id="14" name="R2 opt2"/>
          <p:cNvSpPr/>
          <p:nvPr/>
        </p:nvSpPr>
        <p:spPr>
          <a:xfrm>
            <a:off x="91440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 gone</a:t>
            </a:r>
            <a:endParaRPr lang="en-US" sz="1700" dirty="0" b="1"/>
          </a:p>
        </p:txBody>
      </p:sp>
      <p:sp>
        <p:nvSpPr>
          <p:cNvPr id="15" name="R2 circle"/>
          <p:cNvSpPr/>
          <p:nvPr/>
        </p:nvSpPr>
        <p:spPr>
          <a:xfrm>
            <a:off x="6958584" y="360273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Have you ever seen the ocean? Yes, I ____.</a:t>
            </a:r>
            <a:endParaRPr lang="en-US" sz="1800" dirty="0"/>
          </a:p>
        </p:txBody>
      </p:sp>
      <p:sp>
        <p:nvSpPr>
          <p:cNvPr id="17" name="R3 opt1"/>
          <p:cNvSpPr/>
          <p:nvPr/>
        </p:nvSpPr>
        <p:spPr>
          <a:xfrm>
            <a:off x="70866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a:t>
            </a:r>
            <a:endParaRPr lang="en-US" sz="1700" dirty="0" b="1"/>
          </a:p>
        </p:txBody>
      </p:sp>
      <p:sp>
        <p:nvSpPr>
          <p:cNvPr id="18" name="R3 opt2"/>
          <p:cNvSpPr/>
          <p:nvPr/>
        </p:nvSpPr>
        <p:spPr>
          <a:xfrm>
            <a:off x="91440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 seen</a:t>
            </a:r>
            <a:endParaRPr lang="en-US" sz="1700" dirty="0" b="1"/>
          </a:p>
        </p:txBody>
      </p:sp>
      <p:sp>
        <p:nvSpPr>
          <p:cNvPr id="19" name="R3 circle"/>
          <p:cNvSpPr/>
          <p:nvPr/>
        </p:nvSpPr>
        <p:spPr>
          <a:xfrm>
            <a:off x="6958584" y="415137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When ____ there?</a:t>
            </a:r>
            <a:endParaRPr lang="en-US" sz="1800" dirty="0"/>
          </a:p>
        </p:txBody>
      </p:sp>
      <p:sp>
        <p:nvSpPr>
          <p:cNvPr id="21" name="R4 opt1"/>
          <p:cNvSpPr/>
          <p:nvPr/>
        </p:nvSpPr>
        <p:spPr>
          <a:xfrm>
            <a:off x="70866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did you go</a:t>
            </a:r>
            <a:endParaRPr lang="en-US" sz="1700" dirty="0" b="1"/>
          </a:p>
        </p:txBody>
      </p:sp>
      <p:sp>
        <p:nvSpPr>
          <p:cNvPr id="22" name="R4 opt2"/>
          <p:cNvSpPr/>
          <p:nvPr/>
        </p:nvSpPr>
        <p:spPr>
          <a:xfrm>
            <a:off x="91440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have you gone</a:t>
            </a:r>
            <a:endParaRPr lang="en-US" sz="1700" dirty="0" b="1"/>
          </a:p>
        </p:txBody>
      </p:sp>
      <p:sp>
        <p:nvSpPr>
          <p:cNvPr id="23" name="R4 circle"/>
          <p:cNvSpPr/>
          <p:nvPr/>
        </p:nvSpPr>
        <p:spPr>
          <a:xfrm>
            <a:off x="6958584" y="470001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She ____ eaten sushi.</a:t>
            </a:r>
            <a:endParaRPr lang="en-US" sz="1800" dirty="0"/>
          </a:p>
        </p:txBody>
      </p:sp>
      <p:sp>
        <p:nvSpPr>
          <p:cNvPr id="25" name="R5 opt1"/>
          <p:cNvSpPr/>
          <p:nvPr/>
        </p:nvSpPr>
        <p:spPr>
          <a:xfrm>
            <a:off x="70866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has never</a:t>
            </a:r>
            <a:endParaRPr lang="en-US" sz="1700" dirty="0" b="1"/>
          </a:p>
        </p:txBody>
      </p:sp>
      <p:sp>
        <p:nvSpPr>
          <p:cNvPr id="26" name="R5 opt2"/>
          <p:cNvSpPr/>
          <p:nvPr/>
        </p:nvSpPr>
        <p:spPr>
          <a:xfrm>
            <a:off x="91440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never have</a:t>
            </a:r>
            <a:endParaRPr lang="en-US" sz="1700" dirty="0" b="1"/>
          </a:p>
        </p:txBody>
      </p:sp>
      <p:sp>
        <p:nvSpPr>
          <p:cNvPr id="27" name="R5 circle"/>
          <p:cNvSpPr/>
          <p:nvPr/>
        </p:nvSpPr>
        <p:spPr>
          <a:xfrm>
            <a:off x="6958584" y="524865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I ____ a famous person in 2023.</a:t>
            </a:r>
            <a:endParaRPr lang="en-US" sz="1800" dirty="0"/>
          </a:p>
        </p:txBody>
      </p:sp>
      <p:sp>
        <p:nvSpPr>
          <p:cNvPr id="29" name="R6 opt1"/>
          <p:cNvSpPr/>
          <p:nvPr/>
        </p:nvSpPr>
        <p:spPr>
          <a:xfrm>
            <a:off x="70866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saw</a:t>
            </a:r>
            <a:endParaRPr lang="en-US" sz="1700" dirty="0" b="1"/>
          </a:p>
        </p:txBody>
      </p:sp>
      <p:sp>
        <p:nvSpPr>
          <p:cNvPr id="30" name="R6 opt2"/>
          <p:cNvSpPr/>
          <p:nvPr/>
        </p:nvSpPr>
        <p:spPr>
          <a:xfrm>
            <a:off x="91440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've seen</a:t>
            </a:r>
            <a:endParaRPr lang="en-US" sz="1700" dirty="0" b="1"/>
          </a:p>
        </p:txBody>
      </p:sp>
      <p:sp>
        <p:nvSpPr>
          <p:cNvPr id="31" name="R6 circle"/>
          <p:cNvSpPr/>
          <p:nvPr/>
        </p:nvSpPr>
        <p:spPr>
          <a:xfrm>
            <a:off x="6958584" y="57972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Try (a new food): a person and sushi [sign: NEW!]"/>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have seen snow last year.</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saw</a:t>
            </a:r>
            <a:r>
              <a:rPr lang="en-US" sz="1700" dirty="0" b="1">
                <a:solidFill>
                  <a:srgbClr val="1B2236"/>
                </a:solidFill>
                <a:latin typeface="Lexend Deca" pitchFamily="34" charset="0"/>
                <a:ea typeface="Lexend Deca" pitchFamily="34" charset="-122"/>
                <a:cs typeface="Lexend Deca" pitchFamily="34" charset="-120"/>
              </a:rPr>
              <a:t> snow last year.</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Have you ever eat sushi?</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 you ever </a:t>
            </a:r>
            <a:r>
              <a:rPr lang="en-US" sz="1700" dirty="0" b="1">
                <a:solidFill>
                  <a:srgbClr val="1B2236"/>
                </a:solidFill>
                <a:latin typeface="Lexend Deca" pitchFamily="34" charset="0"/>
                <a:ea typeface="Lexend Deca" pitchFamily="34" charset="-122"/>
                <a:cs typeface="Lexend Deca" pitchFamily="34" charset="-120"/>
              </a:rPr>
              <a:t>eaten</a:t>
            </a:r>
            <a:r>
              <a:rPr lang="en-US" sz="1700" dirty="0" b="1">
                <a:solidFill>
                  <a:srgbClr val="1B2236"/>
                </a:solidFill>
                <a:latin typeface="Lexend Deca" pitchFamily="34" charset="0"/>
                <a:ea typeface="Lexend Deca" pitchFamily="34" charset="-122"/>
                <a:cs typeface="Lexend Deca" pitchFamily="34" charset="-120"/>
              </a:rPr>
              <a:t> sushi?</a:t>
            </a:r>
            <a:endParaRPr lang="en-US" sz="1700" dirty="0" b="1"/>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Yes, I have seen.</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I </a:t>
            </a: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 a detail: I saw it in 2022.)</a:t>
            </a:r>
            <a:endParaRPr lang="en-US" sz="1700" dirty="0" b="1"/>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She have lived in two cities.</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She </a:t>
            </a:r>
            <a:r>
              <a:rPr lang="en-US" sz="1700" dirty="0" b="1">
                <a:solidFill>
                  <a:srgbClr val="1B2236"/>
                </a:solidFill>
                <a:latin typeface="Lexend Deca" pitchFamily="34" charset="0"/>
                <a:ea typeface="Lexend Deca" pitchFamily="34" charset="-122"/>
                <a:cs typeface="Lexend Deca" pitchFamily="34" charset="-120"/>
              </a:rPr>
              <a:t>has</a:t>
            </a:r>
            <a:r>
              <a:rPr lang="en-US" sz="1700" dirty="0" b="1">
                <a:solidFill>
                  <a:srgbClr val="1B2236"/>
                </a:solidFill>
                <a:latin typeface="Lexend Deca" pitchFamily="34" charset="0"/>
                <a:ea typeface="Lexend Deca" pitchFamily="34" charset="-122"/>
                <a:cs typeface="Lexend Deca" pitchFamily="34" charset="-120"/>
              </a:rPr>
              <a:t> lived in two cities.</a:t>
            </a:r>
            <a:endParaRPr lang="en-US" sz="1700" dirty="0" b="1"/>
          </a:p>
        </p:txBody>
      </p:sp>
      <p:sp>
        <p:nvSpPr>
          <p:cNvPr id="32" name="Bad 5"/>
          <p:cNvSpPr/>
          <p:nvPr/>
        </p:nvSpPr>
        <p:spPr>
          <a:xfrm>
            <a:off x="914400" y="473659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never have flown.</a:t>
            </a:r>
            <a:endParaRPr lang="en-US" sz="1700" dirty="0"/>
          </a:p>
        </p:txBody>
      </p:sp>
      <p:sp>
        <p:nvSpPr>
          <p:cNvPr id="33" name="Good 5"/>
          <p:cNvSpPr/>
          <p:nvPr/>
        </p:nvSpPr>
        <p:spPr>
          <a:xfrm>
            <a:off x="4800600" y="473659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I've </a:t>
            </a:r>
            <a:r>
              <a:rPr lang="en-US" sz="1700" dirty="0" b="1">
                <a:solidFill>
                  <a:srgbClr val="1B2236"/>
                </a:solidFill>
                <a:latin typeface="Lexend Deca" pitchFamily="34" charset="0"/>
                <a:ea typeface="Lexend Deca" pitchFamily="34" charset="-122"/>
                <a:cs typeface="Lexend Deca" pitchFamily="34" charset="-120"/>
              </a:rPr>
              <a:t>never</a:t>
            </a:r>
            <a:r>
              <a:rPr lang="en-US" sz="1700" dirty="0" b="1">
                <a:solidFill>
                  <a:srgbClr val="1B2236"/>
                </a:solidFill>
                <a:latin typeface="Lexend Deca" pitchFamily="34" charset="0"/>
                <a:ea typeface="Lexend Deca" pitchFamily="34" charset="-122"/>
                <a:cs typeface="Lexend Deca" pitchFamily="34" charset="-120"/>
              </a:rPr>
              <a:t> flown. / I have </a:t>
            </a:r>
            <a:r>
              <a:rPr lang="en-US" sz="1700" dirty="0" b="1">
                <a:solidFill>
                  <a:srgbClr val="1B2236"/>
                </a:solidFill>
                <a:latin typeface="Lexend Deca" pitchFamily="34" charset="0"/>
                <a:ea typeface="Lexend Deca" pitchFamily="34" charset="-122"/>
                <a:cs typeface="Lexend Deca" pitchFamily="34" charset="-120"/>
              </a:rPr>
              <a:t>never</a:t>
            </a:r>
            <a:r>
              <a:rPr lang="en-US" sz="1700" dirty="0" b="1">
                <a:solidFill>
                  <a:srgbClr val="1B2236"/>
                </a:solidFill>
                <a:latin typeface="Lexend Deca" pitchFamily="34" charset="0"/>
                <a:ea typeface="Lexend Deca" pitchFamily="34" charset="-122"/>
                <a:cs typeface="Lexend Deca" pitchFamily="34" charset="-120"/>
              </a:rPr>
              <a:t> flown.</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See a famous person: a singer and a camera [sign: FAMOUS!]"/>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Have you ever…?</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Yes, I have. I… in… / No, never.</a:t>
            </a:r>
            <a:endParaRPr lang="en-US" sz="1900" dirty="0" b="0"/>
          </a:p>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1">
                <a:solidFill>
                  <a:srgbClr val="1B2236"/>
                </a:solidFill>
                <a:latin typeface="Lexend Deca" pitchFamily="34" charset="0"/>
                <a:ea typeface="Lexend Deca" pitchFamily="34" charset="-122"/>
                <a:cs typeface="Lexend Deca" pitchFamily="34" charset="-120"/>
              </a:rPr>
              <a:t> How was it? Then switch.</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asks with a word from the New Words page. Then switch.</a:t>
            </a:r>
            <a:endParaRPr lang="en-US" sz="20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Fly: an airplane"/>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Find Someone Who Has…</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Stand up.</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Ask your classmates.</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Ask a question.</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Have you ever flown in a plane?</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Someone says Yes? Ask two follow-up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When did you…? Where did you…? How was it?</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the name and a short note.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Name: Ana   Note: last year, exciting</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Win a prize: a trophy [sign: 1st PRIZE]"/>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Two True, One Invented</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Groups.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2 true, 1 invented.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3 sentences: I've… / I've never…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I've won a prize for cooking.</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Read them. Your group asks follow-up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When did you win it? What did you cook?</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They guess the invented one.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Ana and I have both seen the ocean.</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class page.</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Meet Our Class: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Marta, Joseph, and Linh.</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How long has Marta lived in this city?</a:t>
            </a:r>
            <a:endParaRPr lang="en-US" sz="1600" dirty="0"/>
          </a:p>
        </p:txBody>
      </p:sp>
      <p:sp>
        <p:nvSpPr>
          <p:cNvPr id="35" name="R1 ans"/>
          <p:cNvSpPr/>
          <p:nvPr/>
        </p:nvSpPr>
        <p:spPr>
          <a:xfrm>
            <a:off x="4279392" y="2525573"/>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For six years.</a:t>
            </a:r>
            <a:endParaRPr lang="en-US" sz="15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Where does Marta work now?</a:t>
            </a:r>
            <a:endParaRPr lang="en-US" sz="1600" dirty="0"/>
          </a:p>
        </p:txBody>
      </p:sp>
      <p:sp>
        <p:nvSpPr>
          <p:cNvPr id="40" name="R2 ans"/>
          <p:cNvSpPr/>
          <p:nvPr/>
        </p:nvSpPr>
        <p:spPr>
          <a:xfrm>
            <a:off x="4279392" y="3311957"/>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In a hospital kitchen.</a:t>
            </a:r>
            <a:endParaRPr lang="en-US" sz="15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Why has Joseph traveled to many states?</a:t>
            </a:r>
            <a:endParaRPr lang="en-US" sz="1600" dirty="0"/>
          </a:p>
        </p:txBody>
      </p:sp>
      <p:sp>
        <p:nvSpPr>
          <p:cNvPr id="45" name="R3 ans"/>
          <p:cNvSpPr/>
          <p:nvPr/>
        </p:nvSpPr>
        <p:spPr>
          <a:xfrm>
            <a:off x="4279392" y="4098341"/>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Because he drives a truck.</a:t>
            </a:r>
            <a:endParaRPr lang="en-US" sz="15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has Joseph never done?</a:t>
            </a:r>
            <a:endParaRPr lang="en-US" sz="1600" dirty="0"/>
          </a:p>
        </p:txBody>
      </p:sp>
      <p:sp>
        <p:nvSpPr>
          <p:cNvPr id="50" name="R4 ans"/>
          <p:cNvSpPr/>
          <p:nvPr/>
        </p:nvSpPr>
        <p:spPr>
          <a:xfrm>
            <a:off x="4279392" y="4884725"/>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He's never flown in a plane.</a:t>
            </a:r>
            <a:endParaRPr lang="en-US" sz="15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did Linh do last year?</a:t>
            </a:r>
            <a:endParaRPr lang="en-US" sz="1600" dirty="0"/>
          </a:p>
        </p:txBody>
      </p:sp>
      <p:sp>
        <p:nvSpPr>
          <p:cNvPr id="55" name="R5 ans"/>
          <p:cNvSpPr/>
          <p:nvPr/>
        </p:nvSpPr>
        <p:spPr>
          <a:xfrm>
            <a:off x="4279392" y="5671109"/>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She ran her first race (a 5K).</a:t>
            </a:r>
            <a:endParaRPr lang="en-US" sz="15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Can-Do</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Self-Check</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Check one face for each line.</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 I can do it.</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 With a little help.</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 Not yet.</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a:t>
            </a:r>
            <a:r>
              <a:rPr lang="en-US" sz="1700" dirty="0" b="1">
                <a:solidFill>
                  <a:srgbClr val="5B3FC4"/>
                </a:solidFill>
                <a:latin typeface="Lexend Deca" pitchFamily="34" charset="0"/>
                <a:ea typeface="Lexend Deca" pitchFamily="34" charset="-122"/>
                <a:cs typeface="Lexend Deca" pitchFamily="34" charset="-120"/>
              </a:rPr>
              <a:t>Have you ever…?</a:t>
            </a:r>
            <a:endParaRPr lang="en-US" sz="17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answer </a:t>
            </a:r>
            <a:r>
              <a:rPr lang="en-US" sz="1700" dirty="0" b="1">
                <a:solidFill>
                  <a:srgbClr val="5B3FC4"/>
                </a:solidFill>
                <a:latin typeface="Lexend Deca" pitchFamily="34" charset="0"/>
                <a:ea typeface="Lexend Deca" pitchFamily="34" charset="-122"/>
                <a:cs typeface="Lexend Deca" pitchFamily="34" charset="-120"/>
              </a:rPr>
              <a:t>Yes, I have.</a:t>
            </a:r>
            <a:r>
              <a:rPr lang="en-US" sz="1700" dirty="0">
                <a:solidFill>
                  <a:srgbClr val="1B2236"/>
                </a:solidFill>
                <a:latin typeface="Lexend Deca" pitchFamily="34" charset="0"/>
                <a:ea typeface="Lexend Deca" pitchFamily="34" charset="-122"/>
                <a:cs typeface="Lexend Deca" pitchFamily="34" charset="-120"/>
              </a:rPr>
              <a:t> / </a:t>
            </a:r>
            <a:r>
              <a:rPr lang="en-US" sz="1700" dirty="0" b="1">
                <a:solidFill>
                  <a:srgbClr val="5B3FC4"/>
                </a:solidFill>
                <a:latin typeface="Lexend Deca" pitchFamily="34" charset="0"/>
                <a:ea typeface="Lexend Deca" pitchFamily="34" charset="-122"/>
                <a:cs typeface="Lexend Deca" pitchFamily="34" charset="-120"/>
              </a:rPr>
              <a:t>No, I've never…</a:t>
            </a:r>
            <a:endParaRPr lang="en-US" sz="17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a follow-up in the past (</a:t>
            </a:r>
            <a:r>
              <a:rPr lang="en-US" sz="1700" dirty="0" b="1">
                <a:solidFill>
                  <a:srgbClr val="5B3FC4"/>
                </a:solidFill>
                <a:latin typeface="Lexend Deca" pitchFamily="34" charset="0"/>
                <a:ea typeface="Lexend Deca" pitchFamily="34" charset="-122"/>
                <a:cs typeface="Lexend Deca" pitchFamily="34" charset="-120"/>
              </a:rPr>
              <a:t>When did you…? How was it?</a:t>
            </a:r>
            <a:r>
              <a:rPr lang="en-US" sz="1700" dirty="0">
                <a:solidFill>
                  <a:srgbClr val="1B2236"/>
                </a:solidFill>
                <a:latin typeface="Lexend Deca" pitchFamily="34" charset="0"/>
                <a:ea typeface="Lexend Deca" pitchFamily="34" charset="-122"/>
                <a:cs typeface="Lexend Deca" pitchFamily="34" charset="-120"/>
              </a:rPr>
              <a:t>).</a:t>
            </a:r>
            <a:endParaRPr lang="en-US" sz="17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tell a classmate about one experience in 3 sentences.</a:t>
            </a:r>
            <a:endParaRPr lang="en-US" sz="17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write a short email about myself.</a:t>
            </a:r>
            <a:endParaRPr lang="en-US" sz="17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Try (a new food): a person and sushi [sign: NEW!]"/>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Answer in 3 sentences: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The experience (I've… / I've never…).</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When it happened, or why not.</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How it was, with because or so.</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 Use the words.</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email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Ask 3 questions with Have you ever…?</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the simple past.</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Mountain: a snowy mountain">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Have you ever…?</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 follow-up in the simple past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Tell a classmate about one experience</a:t>
            </a:r>
            <a:endParaRPr lang="en-US" sz="2200" dirty="0"/>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Can-Do Self-Check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Lucía, Ahmed, Ms. Grant, Marta, Joseph, Linh, Ana, Rosa, and Sara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1: Have You Ever…?</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