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4.xml" ContentType="application/vnd.openxmlformats-officedocument.presentationml.notesSlide+xml"/>
  <Override PartName="/ppt/notesSlides/notesSlide18.xml" ContentType="application/vnd.openxmlformats-officedocument.presentationml.notesSlide+xml"/>
  <Override PartName="/ppt/notesSlides/notesSlide20.xml" ContentType="application/vnd.openxmlformats-officedocument.presentationml.notesSlide+xml"/>
  <Override PartName="/ppt/notesSlides/notesSlide26.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599" r:id="rId32"/>
    <p:sldId id="600" r:id="rId21"/>
    <p:sldId id="601" r:id="rId19"/>
    <p:sldId id="602" r:id="rId15"/>
    <p:sldId id="603" r:id="rId37"/>
    <p:sldId id="604" r:id="rId38"/>
    <p:sldId id="605" r:id="rId39"/>
    <p:sldId id="606" r:id="rId40"/>
    <p:sldId id="607" r:id="rId41"/>
    <p:sldId id="608" r:id="rId42"/>
    <p:sldId id="609" r:id="rId43"/>
    <p:sldId id="610" r:id="rId44"/>
    <p:sldId id="611" r:id="rId45"/>
    <p:sldId id="612" r:id="rId46"/>
    <p:sldId id="613" r:id="rId47"/>
    <p:sldId id="614" r:id="rId48"/>
    <p:sldId id="615" r:id="rId49"/>
    <p:sldId id="616" r:id="rId50"/>
    <p:sldId id="617" r:id="rId51"/>
    <p:sldId id="618" r:id="rId52"/>
    <p:sldId id="619" r:id="rId53"/>
    <p:sldId id="620" r:id="rId54"/>
    <p:sldId id="621" r:id="rId55"/>
    <p:sldId id="622" r:id="rId56"/>
    <p:sldId id="623" r:id="rId9"/>
    <p:sldId id="624" r:id="rId58"/>
    <p:sldId id="625" r:id="rId59"/>
    <p:sldId id="626" r:id="rId6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9" Type="http://schemas.openxmlformats.org/officeDocument/2006/relationships/slide" Target="slides/slide51.xml"/><Relationship Id="rId15" Type="http://schemas.openxmlformats.org/officeDocument/2006/relationships/slide" Target="slides/slide30.xml"/><Relationship Id="rId19" Type="http://schemas.openxmlformats.org/officeDocument/2006/relationships/slide" Target="slides/slide29.xml"/><Relationship Id="rId21" Type="http://schemas.openxmlformats.org/officeDocument/2006/relationships/slide" Target="slides/slide28.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32" Type="http://schemas.openxmlformats.org/officeDocument/2006/relationships/slide" Target="slides/slide27.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Can-Do Self-Check (3 min, 7:22–7:25). Individuals.</a:t>
            </a:r>
          </a:p>
          <a:p>
            <a:r>
              <a:t>Read each line on the Can-Do Self-Check page aloud. Learners check one face for each line and write one goal (My goal for this class: one sentence). The faces are 😀 I can do it, 🙂 with a little help, 😐 not yet.</a:t>
            </a:r>
          </a:p>
          <a:p>
            <a:r>
              <a:t>Collect it with the exit ticket. Keep the pages; learners compare in Week 8. This page comes back in Weeks 8 and 15.</a:t>
            </a:r>
          </a:p>
          <a:p>
            <a:r>
              <a:t>Lesson plan: Step 6: Can-Do Self-Check; Can-Do Self-Check page; Teacher notes.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continued. The four cards from the Opening Talk page. Each click shows the next card.</a:t>
            </a:r>
          </a:p>
          <a:p>
            <a:r>
              <a:t>A asks a card question. B answers in 3 sentences: the answer, a reason, and a detail. A asks one follow-up question (follow-ups on the right). Then switch.</a:t>
            </a:r>
          </a:p>
          <a:p>
            <a:r>
              <a:t>Then (3 min, last click): pairs fill in the box at the bottom of the Opening Talk page: the partner's name and one thing the partner did last weekend. Two or three pairs introduce their partner to the class: "This is Rosa. She went to a birthday party."</a:t>
            </a:r>
          </a:p>
          <a:p>
            <a:r>
              <a:t>Lesson plan: Step 1; Opening Talk page: cards, follow-ups, partner box.</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 6:00–6:08 · Welcome, orientation, and Opening Talk · 8 min. Pairs (7 pairs + 1 trio with 15 learners; 3–4 pairs with 7–8).</a:t>
            </a:r>
          </a:p>
          <a:p>
            <a:r>
              <a:t>Before class, write on the board: Welcome! Level 4 · 6:00–7:30 · Break 6:45 · Homework every week (15–20 minutes) and the question What did you do last weekend?</a:t>
            </a:r>
          </a:p>
          <a:p>
            <a:r>
              <a:t>Welcome and orientation (2 min, first): say your name and write it on the board. Show the workbook: "This is your book for tonight. Every week has the same parts." Point to the times on the board. Say: "We speak English in class. It's OK to make mistakes. Mistakes help us learn." Give out name tags.</a:t>
            </a:r>
          </a:p>
          <a:p>
            <a:r>
              <a:t>Model with one learner: you ask, "What did you do last weekend?" The learner answers. Help them add a reason and a detail: "I went to the park. I went because it was sunny. My kids played soccer." Then you ask a follow-up: "How was it?" (Click to show the follow-up.)</a:t>
            </a:r>
          </a:p>
          <a:p>
            <a:r>
              <a:t>Opening Talk (5 min): learners open the Opening Talk page. A asks a card question; B answers in 3 sentences (the answer, a reason, a detail); A asks one follow-up. Switch after each card. The cards are on the next slide.</a:t>
            </a:r>
          </a:p>
          <a:p>
            <a:r>
              <a:t>If behind: one card only.</a:t>
            </a:r>
          </a:p>
          <a:p>
            <a:r>
              <a:t>Lesson plan: Step 1; Opening Talk page.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each goal slowly. Learners repeat.</a:t>
            </a:r>
          </a:p>
          <a:p>
            <a:r>
              <a:t>Goal 1: Have you ever seen snow? Goal 2: Yes, I have. / No, I haven't. / No, never. I've never ridden a horse. Goal 3: When did you go there? How was it?</a:t>
            </a:r>
          </a:p>
          <a:p>
            <a:r>
              <a:t>Goal 4: the experience, when, how it was. Goal 5: learners write a short introduction email to you (5–8 sentences) in Read &amp; Write.</a:t>
            </a:r>
          </a:p>
          <a:p>
            <a:r>
              <a:t>"We check at 7:22" = the Can-Do Self-Check. It is not a test grade. This page comes back in Weeks 8 and 15.</a:t>
            </a:r>
          </a:p>
          <a:p>
            <a:r>
              <a:t>Lesson plan: At a glance: Objectives; Can-Do Self-Check page.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learners as they arrive. Tonight is the first night of Level 4.</a:t>
            </a:r>
          </a:p>
          <a:p>
            <a:r>
              <a:t>Point to the title and read it: "Have you ever…?" Say: "Tonight we get to know our classmates: places, foods, jobs, and things we've tried."</a:t>
            </a:r>
          </a:p>
          <a:p>
            <a:r>
              <a:t>Read the three lines under "Today you will". Give one quick example of each: "Have you ever seen snow? Yes, I have." • "When did you see it? How was it?" • "I've run a race. I ran it in 2023. It was exciting."</a:t>
            </a:r>
          </a:p>
          <a:p>
            <a:r>
              <a:t>Learners choose what to share. Places, foods, and jobs are always safe topics. Never ask how or when learners came to the U.S. Invented answers are fine in every activity.</a:t>
            </a:r>
          </a:p>
          <a:p>
            <a:r>
              <a:t>Lesson plan: Topic; At a glance: Objectives;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 6:08–6:15 · New Words · 7 min (this slide and the next). Whole class, then pairs.</a:t>
            </a:r>
          </a:p>
          <a:p>
            <a:r>
              <a:t>Point to each picture and say the word. Learners repeat once. ★ = the most important words. Each click shows the next word.</a:t>
            </a:r>
          </a:p>
          <a:p>
            <a:r>
              <a:t>Show the hard words: ocean (a wave, very big water) vs. a lake. Mime fly.</a:t>
            </a:r>
          </a:p>
          <a:p>
            <a:r>
              <a:t>If behind: teach the ★ words only.</a:t>
            </a:r>
          </a:p>
          <a:p>
            <a:r>
              <a:t>Lesson plan: Step 2; Key vocabulary; New Words page.</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continued. Point to each picture and say the word. Learners repeat once.</a:t>
            </a:r>
          </a:p>
          <a:p>
            <a:r>
              <a:t>Show the hard words: desert (hot, dry, sand); win a prize (first place, a trophy); ride a horse (sit on it). Mime run a race and ride.</a:t>
            </a:r>
          </a:p>
          <a:p>
            <a:r>
              <a:t>Partner game (2 min): A points to a picture and asks, "Have you ever run a race?" B answers, "Yes, I have. I ran one in 2021." or "No, never." Switch. 15 learners: finish with a quick team round (3 teams; you say a clue, the first team with the word gets a point). 7–8: 2 teams. 5 or fewer: one team against the clock.</a:t>
            </a:r>
          </a:p>
          <a:p>
            <a:r>
              <a:t>My Words: "Write any word you want in your language on the My Words page. It's your personal list. It's optional." Show the My Words page and the Task Words page at the back (both optional): "These pages are for you. Use them if you want."</a:t>
            </a:r>
          </a:p>
          <a:p>
            <a:r>
              <a:t>If behind: teach the ★ words only.</a:t>
            </a:r>
          </a:p>
          <a:p>
            <a:r>
              <a:t>Lesson plan: Step 2; New Words page; Partner game; My Words page; Task Words page.</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 Check meaning · 1 min. Whole class.</a:t>
            </a:r>
          </a:p>
          <a:p>
            <a:r>
              <a:t>The answers are hidden. Ask each question and wait for the class to answer. Then click to show the answer. Each click shows one answer, in order: 1, 2, 3.</a:t>
            </a:r>
          </a:p>
          <a:p>
            <a:r>
              <a:t>1. "Is the ocean salty or sweet?" (salty) • 2. "Is a desert hot and dry or cold and wet?" (hot and dry) • 3. "Do you sleep in a tent when you go camping?" (yes)</a:t>
            </a:r>
          </a:p>
          <a:p>
            <a:r>
              <a:t>Lesson plan: Step 2: Check meaning.</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 6:15–6:30 · Listening + "Hear it, say it" · 15 min (slides 8 to 12). Individuals, then pairs check.</a:t>
            </a:r>
          </a:p>
          <a:p>
            <a:r>
              <a:t>Before you listen (2 min). Say: "This is the first night of an English class. Lucía and Ahmed meet. Then the teacher, Ms. Grant, gives them a job. Listen: what have they both done?"</a:t>
            </a:r>
          </a:p>
          <a:p>
            <a:r>
              <a:t>There are three people: Lucía, Ahmed, and Ms. Grant (the teacher). A narrator starts and ends the listening. Each click highlights the next person.</a:t>
            </a:r>
          </a:p>
          <a:p>
            <a:r>
              <a:t>The audio (L4_L1_listening.mp3, about 2:05) plays the conversation once. Press play again for play 2. A third play is fine if the class needs it.</a:t>
            </a:r>
          </a:p>
          <a:p>
            <a:r>
              <a:t>No speaker? Read the script with a volunteer at a natural, friendly speed, two times. The script says going to and want to. People often say gonna and wanna; learners only need to recognize those words.</a:t>
            </a:r>
          </a:p>
          <a:p>
            <a:r>
              <a:t>Audio: synthetic voices, computer-generated (Chatterbox TTS cloned from Kokoro-82M reference clips). No recordings of real people. The names and the story are invented.</a:t>
            </a:r>
          </a:p>
          <a:p>
            <a:r>
              <a:t>Lesson plan: Step 3; Listening script; Listening page.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1 → Task A (the main idea). Pairs compare. Check together.</a:t>
            </a:r>
          </a:p>
          <a:p>
            <a:r>
              <a:t>Click to circle the answer: b (seen snow and run a race).</a:t>
            </a:r>
          </a:p>
          <a:p>
            <a:r>
              <a:t>Then read Tasks B and C together (1 min) so learners know what to listen for.</a:t>
            </a:r>
          </a:p>
          <a:p>
            <a:r>
              <a:t>Lesson plan: Step 3; Listening Task A; Answer key.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2 → Tasks B and C. Pairs compare. Then show the answers.</a:t>
            </a:r>
          </a:p>
          <a:p>
            <a:r>
              <a:t>Click to circle each answer (one click per item, 1 to 6): 1 False (No, she hasn't; her sister has) • 2 True • 3 True • 4 False (he has never ridden a horse) • 5 False (he didn't win, but he finished) • 6 True.</a:t>
            </a:r>
          </a:p>
          <a:p>
            <a:r>
              <a:t>Lesson plan: Step 3; Listening Task B; Answer key.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C (play 2). Click to show each answer (one click per item, 1 to 6): 1 Have, 2 has, 3 Have, 4 did, 5 have, 6 has.</a:t>
            </a:r>
          </a:p>
          <a:p>
            <a:r>
              <a:t>If behind: do Task C together on the board, reading the lines yourself.</a:t>
            </a:r>
          </a:p>
          <a:p>
            <a:r>
              <a:t>Lesson plan: Step 3; Listening Task C; Answer key.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"Hear it, say it" (3 min). Point to the script lines. gonna = going to: "Tonight we're going to find things we have in common." wanna = want to: "I want to go camping."</a:t>
            </a:r>
          </a:p>
          <a:p>
            <a:r>
              <a:t>Say: "People often say gonna and wanna. This listening uses going to and want to."</a:t>
            </a:r>
          </a:p>
          <a:p>
            <a:r>
              <a:t>Then practice the weak, short have (it sounds like "h'v"): Have you ever seen snow? and the contraction: I've never ridden a horse. The class repeats the two lines twice.</a:t>
            </a:r>
          </a:p>
          <a:p>
            <a:r>
              <a:t>Everyday English: people often say gonna (going to) and wanna (want to). Learners will hear them often. They are fine in casual talk; in writing, at a job interview, or in a formal email, use going to and want to. The listening uses the full forms.</a:t>
            </a:r>
          </a:p>
          <a:p>
            <a:r>
              <a:t>Lesson plan: Step 3: "Hear it, say it"; Listening page: Hear it, say it; Teacher notes.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 6:30–6:45 · Grammar Q&amp;A · 15 min (slides 13 to 22). Whole class, then pairs. Show the Grammar page. The left side is the question. The right side is the answer.</a:t>
            </a:r>
          </a:p>
          <a:p>
            <a:r>
              <a:t>Show it (2 min): draw a long line on the board: "my life → now." Put three X's on the line with no dates: "I've seen snow. I've run a race. I've never ridden a horse." Then write a date under one X: "I ran a race in 2023." Say: "No time → have + past participle. A time → simple past."</a:t>
            </a:r>
          </a:p>
          <a:p>
            <a:r>
              <a:t>Box 1 (sometime in your life): read across: Have you ever worked in a restaurant? → Yes, I have. / No, I haven't. Point out Has with he / she. Each click shows the answer side of one row.</a:t>
            </a:r>
          </a:p>
          <a:p>
            <a:r>
              <a:t>Lesson plan: Step 4; Grammar Box 1; Teacher notes: The timeline.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2: the follow-up in the simple past: When did you go there? → I went in 2022. How was it? → It was exciting. Each click shows the answer side of one row.</a:t>
            </a:r>
          </a:p>
          <a:p>
            <a:r>
              <a:t>Rule of thumb (read it aloud): sometime in your life, no time → have / has + past participle (I've seen snow). Add a time (in 2022, last year, when I was ten) → simple past (I saw snow last year).</a:t>
            </a:r>
          </a:p>
          <a:p>
            <a:r>
              <a:t>Lesson plan: Step 4; Grammar Box 2; Rule of thumb.</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3 (part 1 of 2): read the 20 verbs together once (verb → past → past participle). Each click shows one past participle.</a:t>
            </a:r>
          </a:p>
          <a:p>
            <a:r>
              <a:t>Learners circle 5 verbs they want to learn first. They don't need all 20 tonight; the list comes back in Lessons 2 and 3.</a:t>
            </a:r>
          </a:p>
          <a:p>
            <a:r>
              <a:t>Lesson plan: Step 4; Grammar Box 3; Teacher notes: Participles.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3 (part 2 of 2). Each click shows one past participle.</a:t>
            </a:r>
          </a:p>
          <a:p>
            <a:r>
              <a:t>Read the notes under the box: regular verbs (live, work, travel): past participle = past form (-ed). I've = I have. She's lived = she has lived (not she is).</a:t>
            </a:r>
          </a:p>
          <a:p>
            <a:r>
              <a:t>Lesson plan: Step 4; Grammar Box 3.</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4: which one? No time or a time. Each click shows one row.</a:t>
            </a:r>
          </a:p>
          <a:p>
            <a:r>
              <a:t>Questions and answers (2 min): Q: Can I say I have seen snow in 2022? A: No. With a finished time, use the simple past: I saw snow in 2022. • Q: Why eaten, not eat? A: After have / has, use the past participle: Have you ever eaten sushi? Look at Box 3. • Q: How do I answer Have you ever…? short? A: Yes, I have. or No, I haven't. or No, never. Then add a detail in the past: Yes, I have. I went there in 2022.</a:t>
            </a:r>
          </a:p>
          <a:p>
            <a:r>
              <a:t>Check questions: "I have seen snow in 2022. Right or wrong?" (wrong: I saw snow in 2022.) • "Have you ever eat sushi? Right or wrong?" (wrong: eaten) • "She's lived in three cities. She's = she is or she has?" (she has).</a:t>
            </a:r>
          </a:p>
          <a:p>
            <a:r>
              <a:t>Lesson plan: Step 4; Grammar Box 4; Questions and answers.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A and B (3 min): learners write, then pairs check. Go over the answers.</a:t>
            </a:r>
          </a:p>
          <a:p>
            <a:r>
              <a:t>Click to show each answer (one click per item, 1 to 6): 1 eaten, 2 ridden, 3 lived, 4 flown, 5 seen, 6 won.</a:t>
            </a:r>
          </a:p>
          <a:p>
            <a:r>
              <a:t>Lesson plan: Step 4; Grammar Practice A; Answer key.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 Learners circle the correct words. Pairs check.</a:t>
            </a:r>
          </a:p>
          <a:p>
            <a:r>
              <a:t>Click to circle each answer (one click per item, 1 to 6): 1 Have, 2 went, 3 have, 4 did you go, 5 has never, 6 saw.</a:t>
            </a:r>
          </a:p>
          <a:p>
            <a:r>
              <a:t>Lesson plan: Step 4; Grammar Practice B; Answer key.</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mistakes. Read the table together: "Don't say… Say…". Read a line from Don't say. Ask: "What's the right way?" Learners try first. Then click to show the right form. Each click shows one line, in order 1 to 5.</a:t>
            </a:r>
          </a:p>
          <a:p>
            <a:r>
              <a:t>Learners can read the contrast tip on their Grammar page on their own; it is optional. You never need to read, translate, or explain it.</a:t>
            </a:r>
          </a:p>
          <a:p>
            <a:r>
              <a:t>Lesson plan: Grammar: Common mistakes;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 check (last 3 min of Step 4). Pairs.</a:t>
            </a:r>
          </a:p>
          <a:p>
            <a:r>
              <a:t>A asks Have you ever…? with a word from the New Words page. B answers Yes, I have + a past detail (I… in…), or No, never. A asks How was it? Switch. 15 learners: swap partners once. 5 or fewer: you join one pair.</a:t>
            </a:r>
          </a:p>
          <a:p>
            <a:r>
              <a:t>If behind: skip the pair check. Talk Time practices it.</a:t>
            </a:r>
          </a:p>
          <a:p>
            <a:r>
              <a:t>Break · 6:45–7:00 · 15 min. Write on the board: Have you ever…? → Yes, I have. I… (last year). / No, I've never… and When did you…? How was it?</a:t>
            </a:r>
          </a:p>
          <a:p>
            <a:r>
              <a:t>Lesson plan: Step 4: Pair check; Break.</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 7:00–7:15 · Talk Time: Find Someone Who Has… + Two True, One Invented · 15 min.</a:t>
            </a:r>
          </a:p>
          <a:p>
            <a:r>
              <a:t>Model it first (1 min): take the sheet and ask one learner, "Have you ever flown in a plane?" When they say yes, ask two follow-ups: "When did you fly? How was it?" Write their name on your sheet. Say: "Two follow-ups. Then write the name."</a:t>
            </a:r>
          </a:p>
          <a:p>
            <a:r>
              <a:t>Round 1 (7 min): Find Someone Who Has… (mingle). Learners stand with the Talk Time sheet and ask classmates. When someone says Yes, they ask two follow-ups in the past (When? Where? How was it?) and write the name and a short note. One name per classmate, then move on. Each click shows the next step.</a:t>
            </a:r>
          </a:p>
          <a:p>
            <a:r>
              <a:t>15 learners: whole-room mingle. 7–8 learners: mingle in one circle. 5 or fewer: one group; each person asks every other person 2 prompts.</a:t>
            </a:r>
          </a:p>
          <a:p>
            <a:r>
              <a:t>Baseline snapshot (during Talk Time): listen to about 5 learners for 1 minute each. For each one, note: 3 connected sentences? a follow-up question? any present perfect? This is not a test; don't tell learners a score. Keep the notes private.</a:t>
            </a:r>
          </a:p>
          <a:p>
            <a:r>
              <a:t>Lesson plan: Step 5; Talk Time: Find Someone Who Has…; Teacher notes: Baseline snapshot.</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Round 2 (6 min): Two True, One Invented (groups). Each learner writes three sentences on the second Talk Time page: two true and one invented (I've… / I've never…). The others in the group ask follow-up questions and then guess the invented one. Each click shows the next step.</a:t>
            </a:r>
          </a:p>
          <a:p>
            <a:r>
              <a:t>Example from the page: 1. I've ridden a horse. 2. I've never seen snow. 3. I've won a prize for cooking. → When did you win it? What did you cook?</a:t>
            </a:r>
          </a:p>
          <a:p>
            <a:r>
              <a:t>Then learners write two follow-up questions they asked, and one thing they and a classmate have both done (Ana and I have both seen the ocean.).</a:t>
            </a:r>
          </a:p>
          <a:p>
            <a:r>
              <a:t>15 learners: 5 groups of 3. 7–8 learners: 2 groups. 5 or fewer: the same one group.</a:t>
            </a:r>
          </a:p>
          <a:p>
            <a:r>
              <a:t>Every answer needs a reason; every partner asks a follow-up. Walk around and listen. Note 2 good sentences to praise and 1 common error for next week.</a:t>
            </a:r>
          </a:p>
          <a:p>
            <a:r>
              <a:t>If behind: round 1 only.</a:t>
            </a:r>
          </a:p>
          <a:p>
            <a:r>
              <a:t>Lesson plan: Step 5; Talk Time: Two True, One Invented.</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6 · 7:15–7:25 · Read &amp; Write: Meet Our Class + an email to the teacher (+ Can-Do Self-Check) · 10 min. Pairs read, then individual writing.</a:t>
            </a:r>
          </a:p>
          <a:p>
            <a:r>
              <a:t>Read (4 min): learners read the three profiles on the Read &amp; Write page. Say: "Read fast first. Then find the answers." Pairs answer questions 1–5 together.</a:t>
            </a:r>
          </a:p>
          <a:p>
            <a:r>
              <a:t>Check (1 min): click to show each answer (one click per question, 1 to 5): 1 For six years. • 2 In a hospital kitchen. • 3 Because he drives a truck. • 4 He's never flown in a plane. • 5 She ran her first race (a 5K).</a:t>
            </a:r>
          </a:p>
          <a:p>
            <a:r>
              <a:t>Write (5 min): learners write an email to you (5–8 sentences): who they are, two things they've done, one thing they've never done, and one goal for this class with a reason. Show the example email. Invented details are fine. Learners start in class and finish at home (Homework item 2).</a:t>
            </a:r>
          </a:p>
          <a:p>
            <a:r>
              <a:t>If behind: questions 1–5 only; the writing becomes homework.</a:t>
            </a:r>
          </a:p>
          <a:p>
            <a:r>
              <a:t>Lesson plan: Step 6; Read &amp; Write page; Answer key.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7 · 7:25–7:30 · Exit Ticket + Homework · 5 min · NEVER SKIP.</a:t>
            </a:r>
          </a:p>
          <a:p>
            <a:r>
              <a:t>Exit ticket (3 min): learners open the Exit Ticket page and answer in 3 sentences with a reason: Tell me about something you have done (or never done). Example on the board: I've ridden a horse. I rode one in 2015 on my uncle's farm. It was exciting, but I was scared because the horse was big. With 5 or fewer, a learner can say it to you first and then write it.</a:t>
            </a:r>
          </a:p>
          <a:p>
            <a:r>
              <a:t>Collect the pages. After class, sort them into ✓ / almost / not yet. Start next week with 2 corrections on the board (no names).</a:t>
            </a:r>
          </a:p>
          <a:p>
            <a:r>
              <a:t>Homework (2 min): open the Homework page. Do item 1 together (I / never / see / the ocean → I've never seen the ocean.). Say: "About 15–20 minutes. Finish your Read &amp; Write writing at home."</a:t>
            </a:r>
          </a:p>
          <a:p>
            <a:r>
              <a:t>Homework items: 1 write the sentence with the words • 2 finish the email from Read &amp; Write C and check it with the list in D • 3 ask a family member or a friend 3 questions with Have you ever…? (When? How was it?) • 4 review (simple past): write the past form.</a:t>
            </a:r>
          </a:p>
          <a:p>
            <a:r>
              <a:t>Lesson plan: Step 7; Exit Ticket page; Homework page.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title: "Goodbye! See you next week!" Learners repeat.</a:t>
            </a:r>
          </a:p>
          <a:p>
            <a:r>
              <a:t>Read the three "Now you can" lines. Ask one learner: "Have you ever seen the ocean?" and wait for an answer. Then ask a follow-up: "When did you see it?"</a:t>
            </a:r>
          </a:p>
          <a:p>
            <a:r>
              <a:t>Remind learners: homework every week, about 15–20 minutes. Bring it next week.</a:t>
            </a:r>
          </a:p>
          <a:p>
            <a:r>
              <a:t>Lesson plan: At a glance: Objectives; Step 7.</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Credits. You don't need to read this slide in class.</a:t>
            </a:r>
          </a:p>
          <a:p>
            <a:r>
              <a:t>Pictures: Twemoji graphics by Twitter, Inc. and other contributors, CC BY 4.0; the file-by-file list is in images/CREDITS.md.</a:t>
            </a:r>
          </a:p>
          <a:p>
            <a:r>
              <a:t>Audio: synthetic voices, computer-generated (Chatterbox TTS cloned from Kokoro-82M reference clips). No recordings of real people. The names and the story are invented.</a:t>
            </a:r>
          </a:p>
          <a:p>
            <a:r>
              <a:t>Course materials: © 2026 the authors, licensed under CC BY-NC-SA 4.0 (https://creativecommons.org/licenses/by-nc-sa/4.0/).</a:t>
            </a:r>
          </a:p>
          <a:p>
            <a:r>
              <a:t>Lesson plan: Picture Credits. Picture list: images/CREDITS.md.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 Id="rId4"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8" Type="http://schemas.openxmlformats.org/officeDocument/2006/relationships/image" Target="../media/image3.png"/><Relationship Id="rId9" Type="http://schemas.openxmlformats.org/officeDocument/2006/relationships/image" Target="../media/image1.png"/><Relationship Id="rId10" Type="http://schemas.openxmlformats.org/officeDocument/2006/relationships/image" Target="../media/image4.png"/><Relationship Id="rId11" Type="http://schemas.openxmlformats.org/officeDocument/2006/relationships/image" Target="../media/image5.png"/><Relationship Id="rId12" Type="http://schemas.openxmlformats.org/officeDocument/2006/relationships/image" Target="../media/image6.png"/><Relationship Id="rId13" Type="http://schemas.openxmlformats.org/officeDocument/2006/relationships/image" Target="../media/image7.png"/><Relationship Id="rId1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image" Target="../media/image11.png"/><Relationship Id="rId12" Type="http://schemas.openxmlformats.org/officeDocument/2006/relationships/image" Target="../media/image2.png"/><Relationship Id="rId13" Type="http://schemas.openxmlformats.org/officeDocument/2006/relationships/image" Target="../media/image12.png"/><Relationship Id="rId1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5" Type="http://schemas.openxmlformats.org/officeDocument/2006/relationships/image" Target="../media/image6.png"/><Relationship Id="rId6" Type="http://schemas.openxmlformats.org/officeDocument/2006/relationships/image" Target="../media/image8.png"/><Relationship Id="rId7" Type="http://schemas.openxmlformats.org/officeDocument/2006/relationships/image" Target="../media/image2.png"/><Relationship Id="rId8"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5.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0.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7.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9.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1.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3.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9.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3.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7.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slide27.xml><?xml version="1.0" encoding="utf-8"?>
<p:sld xmlns:a="http://schemas.openxmlformats.org/drawingml/2006/main" xmlns:p="http://schemas.openxmlformats.org/presentationml/2006/main" xmlns:r="http://schemas.openxmlformats.org/officeDocument/2006/relationships">
  <p:cSld name="L4:title">
    <p:bg>
      <p:bgPr>
        <a:solidFill>
          <a:srgbClr val="F1F5FB"/>
        </a:solidFill>
      </p:bgPr>
    </p:bg>
    <p:spTree>
      <p:nvGrpSpPr>
        <p:cNvPr id="1" name=""/>
        <p:cNvGrpSpPr/>
        <p:nvPr/>
      </p:nvGrpSpPr>
      <p:grpSpPr/>
      <p:sp>
        <p:nvSpPr>
          <p:cNvPr id="2" name="Shape 0"/>
          <p:cNvSpPr/>
          <p:nvPr/>
        </p:nvSpPr>
        <p:spPr>
          <a:xfrm>
            <a:off x="7223760" y="914400"/>
            <a:ext cx="4480560" cy="5120640"/>
          </a:xfrm>
          <a:prstGeom prst="round1Rect">
            <a:avLst>
              <a:gd name="adj" fmla="val 23087"/>
            </a:avLst>
          </a:prstGeom>
          <a:solidFill>
            <a:srgbClr val="B9D2F7"/>
          </a:solidFill>
          <a:ln/>
        </p:spPr>
        <p:txBody>
          <a:bodyPr/>
          <a:p/>
        </p:txBody>
      </p:sp>
      <p:pic>
        <p:nvPicPr>
          <p:cNvPr id="4" name="pic" descr="Travel: a suitcase and a map">    </p:cNvPr>
          <p:cNvPicPr>
            <a:picLocks noChangeAspect="1"/>
          </p:cNvPicPr>
          <p:nvPr/>
        </p:nvPicPr>
        <p:blipFill>
          <a:blip r:embed="rId3"/>
          <a:stretch>
            <a:fillRect/>
          </a:stretch>
        </p:blipFill>
        <p:spPr>
          <a:xfrm>
            <a:off x="7726680" y="1664208"/>
            <a:ext cx="3474720" cy="2432304"/>
          </a:xfrm>
          <a:prstGeom prst="rect">
            <a:avLst/>
          </a:prstGeom>
        </p:spPr>
      </p:pic>
      <p:sp>
        <p:nvSpPr>
          <p:cNvPr id="5" name="lesson"/>
          <p:cNvSpPr/>
          <p:nvPr/>
        </p:nvSpPr>
        <p:spPr>
          <a:xfrm>
            <a:off x="7635240" y="4434840"/>
            <a:ext cx="3657600" cy="548640"/>
          </a:xfrm>
          <a:prstGeom prst="rect">
            <a:avLst/>
          </a:prstGeom>
          <a:noFill/>
          <a:ln/>
        </p:spPr>
        <p:txBody>
          <a:bodyPr wrap="square" rtlCol="0" anchor="ctr"/>
          <a:lstStyle/>
          <a:p>
            <a:pPr algn="ctr" indent="0" marL="0">
              <a:buNone/>
            </a:pPr>
            <a:r>
              <a:rPr lang="en-US" sz="2200" b="1" dirty="0">
                <a:solidFill>
                  <a:srgbClr val="1B2236"/>
                </a:solidFill>
                <a:latin typeface="Lexend Deca" pitchFamily="34" charset="0"/>
                <a:ea typeface="Lexend Deca" pitchFamily="34" charset="-122"/>
                <a:cs typeface="Lexend Deca" pitchFamily="34" charset="-120"/>
              </a:rPr>
              <a:t>Lesson 1  ·  Level 4</a:t>
            </a:r>
            <a:endParaRPr lang="en-US" sz="2200" b="1" dirty="0"/>
          </a:p>
        </p:txBody>
      </p:sp>
      <p:sp>
        <p:nvSpPr>
          <p:cNvPr id="6" name="Shape 3"/>
          <p:cNvSpPr/>
          <p:nvPr/>
        </p:nvSpPr>
        <p:spPr>
          <a:xfrm>
            <a:off x="661111" y="1146658"/>
            <a:ext cx="6035040" cy="2468880"/>
          </a:xfrm>
          <a:prstGeom prst="roundRect">
            <a:avLst>
              <a:gd name="adj" fmla="val 16667"/>
            </a:avLst>
          </a:prstGeom>
          <a:solidFill>
            <a:srgbClr val="8FAFE3"/>
          </a:solidFill>
          <a:ln/>
        </p:spPr>
        <p:txBody>
          <a:bodyPr/>
          <a:p/>
        </p:txBody>
      </p:sp>
      <p:sp>
        <p:nvSpPr>
          <p:cNvPr id="7" name="Shape 4"/>
          <p:cNvSpPr/>
          <p:nvPr/>
        </p:nvSpPr>
        <p:spPr>
          <a:xfrm>
            <a:off x="685800" y="1097280"/>
            <a:ext cx="6035040" cy="2468880"/>
          </a:xfrm>
          <a:prstGeom prst="roundRect">
            <a:avLst>
              <a:gd name="adj" fmla="val 16667"/>
            </a:avLst>
          </a:prstGeom>
          <a:solidFill>
            <a:srgbClr val="FFFFFF"/>
          </a:solidFill>
          <a:ln/>
        </p:spPr>
        <p:txBody>
          <a:bodyPr/>
          <a:p/>
        </p:txBody>
      </p:sp>
      <p:sp>
        <p:nvSpPr>
          <p:cNvPr id="8" name="title"/>
          <p:cNvSpPr/>
          <p:nvPr/>
        </p:nvSpPr>
        <p:spPr>
          <a:xfrm>
            <a:off x="868680" y="1325880"/>
            <a:ext cx="5806440" cy="2011680"/>
          </a:xfrm>
          <a:prstGeom prst="rect">
            <a:avLst/>
          </a:prstGeom>
          <a:noFill/>
          <a:ln/>
        </p:spPr>
        <p:txBody>
          <a:bodyPr wrap="square" rtlCol="0" anchor="ctr"/>
          <a:lstStyle/>
          <a:p>
            <a:pPr algn="l" indent="0" marL="0">
              <a:lnSpc>
                <a:spcPct val="90000"/>
              </a:lnSpc>
              <a:buNone/>
            </a:pPr>
            <a:r>
              <a:rPr lang="en-US" sz="5000" b="1" dirty="0">
                <a:solidFill>
                  <a:srgbClr val="1B2236"/>
                </a:solidFill>
                <a:latin typeface="Lexend Deca" pitchFamily="34" charset="0"/>
                <a:ea typeface="Lexend Deca" pitchFamily="34" charset="-122"/>
                <a:cs typeface="Lexend Deca" pitchFamily="34" charset="-120"/>
              </a:rPr>
              <a:t>Have You Ever…?</a:t>
            </a:r>
            <a:endParaRPr lang="en-US" sz="5000" b="1" dirty="0"/>
          </a:p>
        </p:txBody>
      </p:sp>
      <p:sp>
        <p:nvSpPr>
          <p:cNvPr id="9" name="lead"/>
          <p:cNvSpPr/>
          <p:nvPr/>
        </p:nvSpPr>
        <p:spPr>
          <a:xfrm>
            <a:off x="777240" y="3977640"/>
            <a:ext cx="5852160" cy="502920"/>
          </a:xfrm>
          <a:prstGeom prst="rect">
            <a:avLst/>
          </a:prstGeom>
          <a:noFill/>
          <a:ln/>
        </p:spPr>
        <p:txBody>
          <a:bodyPr wrap="square" rtlCol="0" anchor="t"/>
          <a:lstStyle/>
          <a:p>
            <a:pPr algn="l" indent="0" marL="0">
              <a:buNone/>
            </a:pPr>
            <a:r>
              <a:rPr lang="en-US" sz="2400" b="1" dirty="0">
                <a:solidFill>
                  <a:srgbClr val="1B2236"/>
                </a:solidFill>
                <a:latin typeface="Lexend Deca" pitchFamily="34" charset="0"/>
                <a:ea typeface="Lexend Deca" pitchFamily="34" charset="-122"/>
                <a:cs typeface="Lexend Deca" pitchFamily="34" charset="-120"/>
              </a:rPr>
              <a:t>Today you will:</a:t>
            </a:r>
            <a:endParaRPr lang="en-US" sz="2400" b="1" dirty="0"/>
          </a:p>
        </p:txBody>
      </p:sp>
      <p:sp>
        <p:nvSpPr>
          <p:cNvPr id="10" name="bullets"/>
          <p:cNvSpPr/>
          <p:nvPr/>
        </p:nvSpPr>
        <p:spPr>
          <a:xfrm>
            <a:off x="777240" y="4480560"/>
            <a:ext cx="6035040" cy="1737360"/>
          </a:xfrm>
          <a:prstGeom prst="rect">
            <a:avLst/>
          </a:prstGeom>
          <a:noFill/>
          <a:ln/>
        </p:spPr>
        <p:txBody>
          <a:bodyPr wrap="square" rtlCol="0" anchor="t"/>
          <a:lstStyle/>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Ask and answer Have you ever…?</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Ask a follow-up in the simple past</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Tell a classmate about one experience</a:t>
            </a:r>
            <a:endParaRPr lang="en-US" sz="22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name="L4:goals">
    <p:bg>
      <p:bgPr>
        <a:solidFill>
          <a:srgbClr val="F1F5FB"/>
        </a:solidFill>
      </p:bgPr>
    </p:bg>
    <p:spTree>
      <p:nvGrpSpPr>
        <p:cNvPr id="1" name=""/>
        <p:cNvGrpSpPr/>
        <p:nvPr/>
      </p:nvGrpSpPr>
      <p:grpSpPr/>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Today's</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Goals</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400"/>
              </a:spcAft>
              <a:buNone/>
            </a:pPr>
            <a:r>
              <a:rPr lang="en-US" sz="2000" dirty="0">
                <a:solidFill>
                  <a:srgbClr val="1B2236"/>
                </a:solidFill>
                <a:latin typeface="Lexend Deca" pitchFamily="34" charset="0"/>
                <a:ea typeface="Lexend Deca" pitchFamily="34" charset="-122"/>
                <a:cs typeface="Lexend Deca" pitchFamily="34" charset="-120"/>
              </a:rPr>
              <a:t>By the end of class, you can do these five things.</a:t>
            </a:r>
            <a:endParaRPr lang="en-US" sz="2000" dirty="0"/>
          </a:p>
          <a:p>
            <a:pPr algn="l" indent="0" marL="0">
              <a:lnSpc>
                <a:spcPct val="120000"/>
              </a:lnSpc>
              <a:spcAft>
                <a:spcPts val="1400"/>
              </a:spcAft>
              <a:buNone/>
            </a:pPr>
            <a:r>
              <a:rPr lang="en-US" sz="2000" dirty="0" b="1">
                <a:solidFill>
                  <a:srgbClr val="1B2236"/>
                </a:solidFill>
                <a:latin typeface="Lexend Deca" pitchFamily="34" charset="0"/>
                <a:ea typeface="Lexend Deca" pitchFamily="34" charset="-122"/>
                <a:cs typeface="Lexend Deca" pitchFamily="34" charset="-120"/>
              </a:rPr>
              <a:t>Every goal is a good goal.</a:t>
            </a:r>
            <a:endParaRPr lang="en-US" sz="2000" dirty="0" b="1"/>
          </a:p>
          <a:p>
            <a:pPr algn="l" indent="0" marL="0">
              <a:lnSpc>
                <a:spcPct val="120000"/>
              </a:lnSpc>
              <a:spcAft>
                <a:spcPts val="1400"/>
              </a:spcAft>
              <a:buNone/>
            </a:pPr>
            <a:r>
              <a:rPr lang="en-US" sz="2000" dirty="0" b="1">
                <a:solidFill>
                  <a:srgbClr val="1B2236"/>
                </a:solidFill>
                <a:latin typeface="Lexend Deca" pitchFamily="34" charset="0"/>
                <a:ea typeface="Lexend Deca" pitchFamily="34" charset="-122"/>
                <a:cs typeface="Lexend Deca" pitchFamily="34" charset="-120"/>
              </a:rPr>
              <a:t>We check at 7:22!</a:t>
            </a:r>
            <a:endParaRPr lang="en-US" sz="2000" dirty="0" b="1"/>
          </a:p>
        </p:txBody>
      </p:sp>
      <p:sp>
        <p:nvSpPr>
          <p:cNvPr id="31" name="R1 shadow"/>
          <p:cNvSpPr/>
          <p:nvPr/>
        </p:nvSpPr>
        <p:spPr>
          <a:xfrm>
            <a:off x="544982" y="2093062"/>
            <a:ext cx="6227064" cy="678668"/>
          </a:xfrm>
          <a:prstGeom prst="round1Rect">
            <a:avLst>
              <a:gd name="adj" fmla="val 23087"/>
            </a:avLst>
          </a:prstGeom>
          <a:solidFill>
            <a:srgbClr val="8FAFE3"/>
          </a:solidFill>
          <a:ln/>
        </p:spPr>
        <p:txBody>
          <a:bodyPr/>
          <a:p/>
        </p:txBody>
      </p:sp>
      <p:sp>
        <p:nvSpPr>
          <p:cNvPr id="32" name="R1 card"/>
          <p:cNvSpPr/>
          <p:nvPr/>
        </p:nvSpPr>
        <p:spPr>
          <a:xfrm>
            <a:off x="1583741" y="2035454"/>
            <a:ext cx="5130698" cy="678668"/>
          </a:xfrm>
          <a:prstGeom prst="round1Rect">
            <a:avLst>
              <a:gd name="adj" fmla="val 23087"/>
            </a:avLst>
          </a:prstGeom>
          <a:solidFill>
            <a:srgbClr val="FFFFFF"/>
          </a:solidFill>
          <a:ln/>
        </p:spPr>
        <p:txBody>
          <a:bodyPr/>
          <a:p/>
        </p:txBody>
      </p:sp>
      <p:sp>
        <p:nvSpPr>
          <p:cNvPr id="33" name="R1 chip"/>
          <p:cNvSpPr/>
          <p:nvPr/>
        </p:nvSpPr>
        <p:spPr>
          <a:xfrm>
            <a:off x="544982" y="2035454"/>
            <a:ext cx="1039673" cy="678668"/>
          </a:xfrm>
          <a:prstGeom prst="rect">
            <a:avLst/>
          </a:prstGeom>
          <a:solidFill>
            <a:srgbClr val="B9D2F7"/>
          </a:solidFill>
          <a:ln/>
        </p:spPr>
        <p:txBody>
          <a:bodyPr/>
          <a:p/>
        </p:txBody>
      </p:sp>
      <p:sp>
        <p:nvSpPr>
          <p:cNvPr id="34" name="R1 num"/>
          <p:cNvSpPr/>
          <p:nvPr/>
        </p:nvSpPr>
        <p:spPr>
          <a:xfrm>
            <a:off x="686714" y="2051548"/>
            <a:ext cx="1109167" cy="646481"/>
          </a:xfrm>
          <a:prstGeom prst="rect">
            <a:avLst/>
          </a:prstGeom>
          <a:noFill/>
          <a:ln/>
        </p:spPr>
        <p:txBody>
          <a:bodyPr wrap="square" rtlCol="0" anchor="t"/>
          <a:lstStyle/>
          <a:p>
            <a:pPr algn="l" indent="0" marL="0">
              <a:buNone/>
            </a:pPr>
            <a:r>
              <a:rPr lang="en-US" sz="3600" b="1" dirty="0">
                <a:solidFill>
                  <a:srgbClr val="1B2236"/>
                </a:solidFill>
                <a:latin typeface="Lexend Deca" pitchFamily="34" charset="0"/>
                <a:ea typeface="Lexend Deca" pitchFamily="34" charset="-122"/>
                <a:cs typeface="Lexend Deca" pitchFamily="34" charset="-120"/>
              </a:rPr>
              <a:t>01</a:t>
            </a:r>
            <a:endParaRPr lang="en-US" sz="3600" b="1" dirty="0"/>
          </a:p>
        </p:txBody>
      </p:sp>
      <p:sp>
        <p:nvSpPr>
          <p:cNvPr id="35" name="R1 text"/>
          <p:cNvSpPr/>
          <p:nvPr/>
        </p:nvSpPr>
        <p:spPr>
          <a:xfrm>
            <a:off x="1810512" y="2035454"/>
            <a:ext cx="4434840" cy="678668"/>
          </a:xfrm>
          <a:prstGeom prst="rect">
            <a:avLst/>
          </a:prstGeom>
          <a:noFill/>
          <a:ln/>
        </p:spPr>
        <p:txBody>
          <a:bodyPr wrap="square" rtlCol="0" anchor="ct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can ask </a:t>
            </a:r>
            <a:r>
              <a:rPr lang="en-US" sz="1700" dirty="0" b="1">
                <a:solidFill>
                  <a:srgbClr val="5B3FC4"/>
                </a:solidFill>
                <a:latin typeface="Lexend Deca" pitchFamily="34" charset="0"/>
                <a:ea typeface="Lexend Deca" pitchFamily="34" charset="-122"/>
                <a:cs typeface="Lexend Deca" pitchFamily="34" charset="-120"/>
              </a:rPr>
              <a:t>Have you ever…?</a:t>
            </a:r>
            <a:endParaRPr lang="en-US" sz="1700" dirty="0"/>
          </a:p>
        </p:txBody>
      </p:sp>
      <p:sp>
        <p:nvSpPr>
          <p:cNvPr id="36" name="R1 dot"/>
          <p:cNvSpPr/>
          <p:nvPr/>
        </p:nvSpPr>
        <p:spPr>
          <a:xfrm rot="10800000">
            <a:off x="6361481" y="2168957"/>
            <a:ext cx="88697" cy="76810"/>
          </a:xfrm>
          <a:prstGeom prst="triangle">
            <a:avLst/>
          </a:prstGeom>
          <a:solidFill>
            <a:srgbClr val="8FAFE3"/>
          </a:solidFill>
          <a:ln/>
        </p:spPr>
        <p:txBody>
          <a:bodyPr/>
          <a:p/>
        </p:txBody>
      </p:sp>
      <p:sp>
        <p:nvSpPr>
          <p:cNvPr id="37" name="R2 card"/>
          <p:cNvSpPr/>
          <p:nvPr/>
        </p:nvSpPr>
        <p:spPr>
          <a:xfrm>
            <a:off x="1583741" y="2822936"/>
            <a:ext cx="5130698" cy="678668"/>
          </a:xfrm>
          <a:prstGeom prst="round1Rect">
            <a:avLst>
              <a:gd name="adj" fmla="val 23087"/>
            </a:avLst>
          </a:prstGeom>
          <a:solidFill>
            <a:srgbClr val="FFFFFF"/>
          </a:solidFill>
          <a:ln/>
        </p:spPr>
        <p:txBody>
          <a:bodyPr/>
          <a:p/>
        </p:txBody>
      </p:sp>
      <p:sp>
        <p:nvSpPr>
          <p:cNvPr id="38" name="R2 chip"/>
          <p:cNvSpPr/>
          <p:nvPr/>
        </p:nvSpPr>
        <p:spPr>
          <a:xfrm>
            <a:off x="544982" y="2822936"/>
            <a:ext cx="1039673" cy="678668"/>
          </a:xfrm>
          <a:prstGeom prst="rect">
            <a:avLst/>
          </a:prstGeom>
          <a:solidFill>
            <a:srgbClr val="B9D2F7"/>
          </a:solidFill>
          <a:ln/>
        </p:spPr>
        <p:txBody>
          <a:bodyPr/>
          <a:p/>
        </p:txBody>
      </p:sp>
      <p:sp>
        <p:nvSpPr>
          <p:cNvPr id="39" name="R2 num"/>
          <p:cNvSpPr/>
          <p:nvPr/>
        </p:nvSpPr>
        <p:spPr>
          <a:xfrm>
            <a:off x="686714" y="2839029"/>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02</a:t>
            </a:r>
            <a:endParaRPr lang="en-US" sz="3200" b="1" dirty="0"/>
          </a:p>
        </p:txBody>
      </p:sp>
      <p:sp>
        <p:nvSpPr>
          <p:cNvPr id="40" name="R2 text"/>
          <p:cNvSpPr/>
          <p:nvPr/>
        </p:nvSpPr>
        <p:spPr>
          <a:xfrm>
            <a:off x="1810512" y="2822936"/>
            <a:ext cx="4434840" cy="678668"/>
          </a:xfrm>
          <a:prstGeom prst="rect">
            <a:avLst/>
          </a:prstGeom>
          <a:noFill/>
          <a:ln/>
        </p:spPr>
        <p:txBody>
          <a:bodyPr wrap="square" rtlCol="0" anchor="ct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can answer </a:t>
            </a:r>
            <a:r>
              <a:rPr lang="en-US" sz="1700" dirty="0" b="1">
                <a:solidFill>
                  <a:srgbClr val="5B3FC4"/>
                </a:solidFill>
                <a:latin typeface="Lexend Deca" pitchFamily="34" charset="0"/>
                <a:ea typeface="Lexend Deca" pitchFamily="34" charset="-122"/>
                <a:cs typeface="Lexend Deca" pitchFamily="34" charset="-120"/>
              </a:rPr>
              <a:t>Yes, I have.</a:t>
            </a:r>
            <a:r>
              <a:rPr lang="en-US" sz="1700" dirty="0">
                <a:solidFill>
                  <a:srgbClr val="1B2236"/>
                </a:solidFill>
                <a:latin typeface="Lexend Deca" pitchFamily="34" charset="0"/>
                <a:ea typeface="Lexend Deca" pitchFamily="34" charset="-122"/>
                <a:cs typeface="Lexend Deca" pitchFamily="34" charset="-120"/>
              </a:rPr>
              <a:t> / </a:t>
            </a:r>
            <a:r>
              <a:rPr lang="en-US" sz="1700" dirty="0" b="1">
                <a:solidFill>
                  <a:srgbClr val="5B3FC4"/>
                </a:solidFill>
                <a:latin typeface="Lexend Deca" pitchFamily="34" charset="0"/>
                <a:ea typeface="Lexend Deca" pitchFamily="34" charset="-122"/>
                <a:cs typeface="Lexend Deca" pitchFamily="34" charset="-120"/>
              </a:rPr>
              <a:t>No, I've never…</a:t>
            </a:r>
            <a:endParaRPr lang="en-US" sz="1700" dirty="0"/>
          </a:p>
        </p:txBody>
      </p:sp>
      <p:sp>
        <p:nvSpPr>
          <p:cNvPr id="41" name="R2 dot"/>
          <p:cNvSpPr/>
          <p:nvPr/>
        </p:nvSpPr>
        <p:spPr>
          <a:xfrm rot="10800000">
            <a:off x="6361481" y="2956438"/>
            <a:ext cx="88697" cy="76810"/>
          </a:xfrm>
          <a:prstGeom prst="triangle">
            <a:avLst/>
          </a:prstGeom>
          <a:solidFill>
            <a:srgbClr val="8FAFE3"/>
          </a:solidFill>
          <a:ln/>
        </p:spPr>
        <p:txBody>
          <a:bodyPr/>
          <a:p/>
        </p:txBody>
      </p:sp>
      <p:sp>
        <p:nvSpPr>
          <p:cNvPr id="42" name="R3 card"/>
          <p:cNvSpPr/>
          <p:nvPr/>
        </p:nvSpPr>
        <p:spPr>
          <a:xfrm>
            <a:off x="1583741" y="3610417"/>
            <a:ext cx="5130698" cy="678668"/>
          </a:xfrm>
          <a:prstGeom prst="round1Rect">
            <a:avLst>
              <a:gd name="adj" fmla="val 23087"/>
            </a:avLst>
          </a:prstGeom>
          <a:solidFill>
            <a:srgbClr val="FFFFFF"/>
          </a:solidFill>
          <a:ln/>
        </p:spPr>
        <p:txBody>
          <a:bodyPr/>
          <a:p/>
        </p:txBody>
      </p:sp>
      <p:sp>
        <p:nvSpPr>
          <p:cNvPr id="43" name="R3 chip"/>
          <p:cNvSpPr/>
          <p:nvPr/>
        </p:nvSpPr>
        <p:spPr>
          <a:xfrm>
            <a:off x="544982" y="3610417"/>
            <a:ext cx="1039673" cy="678668"/>
          </a:xfrm>
          <a:prstGeom prst="rect">
            <a:avLst/>
          </a:prstGeom>
          <a:solidFill>
            <a:srgbClr val="B9D2F7"/>
          </a:solidFill>
          <a:ln/>
        </p:spPr>
        <p:txBody>
          <a:bodyPr/>
          <a:p/>
        </p:txBody>
      </p:sp>
      <p:sp>
        <p:nvSpPr>
          <p:cNvPr id="44" name="R3 num"/>
          <p:cNvSpPr/>
          <p:nvPr/>
        </p:nvSpPr>
        <p:spPr>
          <a:xfrm>
            <a:off x="686714" y="3626510"/>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03</a:t>
            </a:r>
            <a:endParaRPr lang="en-US" sz="3200" b="1" dirty="0"/>
          </a:p>
        </p:txBody>
      </p:sp>
      <p:sp>
        <p:nvSpPr>
          <p:cNvPr id="45" name="R3 text"/>
          <p:cNvSpPr/>
          <p:nvPr/>
        </p:nvSpPr>
        <p:spPr>
          <a:xfrm>
            <a:off x="1810512" y="3610417"/>
            <a:ext cx="4434840" cy="678668"/>
          </a:xfrm>
          <a:prstGeom prst="rect">
            <a:avLst/>
          </a:prstGeom>
          <a:noFill/>
          <a:ln/>
        </p:spPr>
        <p:txBody>
          <a:bodyPr wrap="square" rtlCol="0" anchor="ct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can ask a follow-up in the past (</a:t>
            </a:r>
            <a:r>
              <a:rPr lang="en-US" sz="1700" dirty="0" b="1">
                <a:solidFill>
                  <a:srgbClr val="5B3FC4"/>
                </a:solidFill>
                <a:latin typeface="Lexend Deca" pitchFamily="34" charset="0"/>
                <a:ea typeface="Lexend Deca" pitchFamily="34" charset="-122"/>
                <a:cs typeface="Lexend Deca" pitchFamily="34" charset="-120"/>
              </a:rPr>
              <a:t>When did you…? How was it?</a:t>
            </a:r>
            <a:r>
              <a:rPr lang="en-US" sz="1700" dirty="0">
                <a:solidFill>
                  <a:srgbClr val="1B2236"/>
                </a:solidFill>
                <a:latin typeface="Lexend Deca" pitchFamily="34" charset="0"/>
                <a:ea typeface="Lexend Deca" pitchFamily="34" charset="-122"/>
                <a:cs typeface="Lexend Deca" pitchFamily="34" charset="-120"/>
              </a:rPr>
              <a:t>).</a:t>
            </a:r>
            <a:endParaRPr lang="en-US" sz="1700" dirty="0"/>
          </a:p>
        </p:txBody>
      </p:sp>
      <p:sp>
        <p:nvSpPr>
          <p:cNvPr id="46" name="R3 dot"/>
          <p:cNvSpPr/>
          <p:nvPr/>
        </p:nvSpPr>
        <p:spPr>
          <a:xfrm rot="10800000">
            <a:off x="6361481" y="3743919"/>
            <a:ext cx="88697" cy="76810"/>
          </a:xfrm>
          <a:prstGeom prst="triangle">
            <a:avLst/>
          </a:prstGeom>
          <a:solidFill>
            <a:srgbClr val="8FAFE3"/>
          </a:solidFill>
          <a:ln/>
        </p:spPr>
        <p:txBody>
          <a:bodyPr/>
          <a:p/>
        </p:txBody>
      </p:sp>
      <p:sp>
        <p:nvSpPr>
          <p:cNvPr id="47" name="R4 card"/>
          <p:cNvSpPr/>
          <p:nvPr/>
        </p:nvSpPr>
        <p:spPr>
          <a:xfrm>
            <a:off x="1583741" y="4397898"/>
            <a:ext cx="5130698" cy="678668"/>
          </a:xfrm>
          <a:prstGeom prst="round1Rect">
            <a:avLst>
              <a:gd name="adj" fmla="val 23087"/>
            </a:avLst>
          </a:prstGeom>
          <a:solidFill>
            <a:srgbClr val="FFFFFF"/>
          </a:solidFill>
          <a:ln/>
        </p:spPr>
        <p:txBody>
          <a:bodyPr/>
          <a:p/>
        </p:txBody>
      </p:sp>
      <p:sp>
        <p:nvSpPr>
          <p:cNvPr id="48" name="R4 chip"/>
          <p:cNvSpPr/>
          <p:nvPr/>
        </p:nvSpPr>
        <p:spPr>
          <a:xfrm>
            <a:off x="544982" y="4397898"/>
            <a:ext cx="1039673" cy="678668"/>
          </a:xfrm>
          <a:prstGeom prst="rect">
            <a:avLst/>
          </a:prstGeom>
          <a:solidFill>
            <a:srgbClr val="B9D2F7"/>
          </a:solidFill>
          <a:ln/>
        </p:spPr>
        <p:txBody>
          <a:bodyPr/>
          <a:p/>
        </p:txBody>
      </p:sp>
      <p:sp>
        <p:nvSpPr>
          <p:cNvPr id="49" name="R4 num"/>
          <p:cNvSpPr/>
          <p:nvPr/>
        </p:nvSpPr>
        <p:spPr>
          <a:xfrm>
            <a:off x="686714" y="4413992"/>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04</a:t>
            </a:r>
            <a:endParaRPr lang="en-US" sz="3200" b="1" dirty="0"/>
          </a:p>
        </p:txBody>
      </p:sp>
      <p:sp>
        <p:nvSpPr>
          <p:cNvPr id="50" name="R4 text"/>
          <p:cNvSpPr/>
          <p:nvPr/>
        </p:nvSpPr>
        <p:spPr>
          <a:xfrm>
            <a:off x="1810512" y="4397898"/>
            <a:ext cx="4434840" cy="678668"/>
          </a:xfrm>
          <a:prstGeom prst="rect">
            <a:avLst/>
          </a:prstGeom>
          <a:noFill/>
          <a:ln/>
        </p:spPr>
        <p:txBody>
          <a:bodyPr wrap="square" rtlCol="0" anchor="ct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can tell a classmate about one experience in 3 sentences.</a:t>
            </a:r>
            <a:endParaRPr lang="en-US" sz="1700" dirty="0"/>
          </a:p>
        </p:txBody>
      </p:sp>
      <p:sp>
        <p:nvSpPr>
          <p:cNvPr id="51" name="R4 dot"/>
          <p:cNvSpPr/>
          <p:nvPr/>
        </p:nvSpPr>
        <p:spPr>
          <a:xfrm rot="10800000">
            <a:off x="6361481" y="4531401"/>
            <a:ext cx="88697" cy="76810"/>
          </a:xfrm>
          <a:prstGeom prst="triangle">
            <a:avLst/>
          </a:prstGeom>
          <a:solidFill>
            <a:srgbClr val="8FAFE3"/>
          </a:solidFill>
          <a:ln/>
        </p:spPr>
        <p:txBody>
          <a:bodyPr/>
          <a:p/>
        </p:txBody>
      </p:sp>
      <p:sp>
        <p:nvSpPr>
          <p:cNvPr id="52" name="R5 card"/>
          <p:cNvSpPr/>
          <p:nvPr/>
        </p:nvSpPr>
        <p:spPr>
          <a:xfrm>
            <a:off x="1583741" y="5185380"/>
            <a:ext cx="5130698" cy="678668"/>
          </a:xfrm>
          <a:prstGeom prst="round1Rect">
            <a:avLst>
              <a:gd name="adj" fmla="val 23087"/>
            </a:avLst>
          </a:prstGeom>
          <a:solidFill>
            <a:srgbClr val="FFFFFF"/>
          </a:solidFill>
          <a:ln/>
        </p:spPr>
        <p:txBody>
          <a:bodyPr/>
          <a:p/>
        </p:txBody>
      </p:sp>
      <p:sp>
        <p:nvSpPr>
          <p:cNvPr id="53" name="R5 chip"/>
          <p:cNvSpPr/>
          <p:nvPr/>
        </p:nvSpPr>
        <p:spPr>
          <a:xfrm>
            <a:off x="544982" y="5185380"/>
            <a:ext cx="1039673" cy="678668"/>
          </a:xfrm>
          <a:prstGeom prst="rect">
            <a:avLst/>
          </a:prstGeom>
          <a:solidFill>
            <a:srgbClr val="B9D2F7"/>
          </a:solidFill>
          <a:ln/>
        </p:spPr>
        <p:txBody>
          <a:bodyPr/>
          <a:p/>
        </p:txBody>
      </p:sp>
      <p:sp>
        <p:nvSpPr>
          <p:cNvPr id="54" name="R5 num"/>
          <p:cNvSpPr/>
          <p:nvPr/>
        </p:nvSpPr>
        <p:spPr>
          <a:xfrm>
            <a:off x="686714" y="5201473"/>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05</a:t>
            </a:r>
            <a:endParaRPr lang="en-US" sz="3200" b="1" dirty="0"/>
          </a:p>
        </p:txBody>
      </p:sp>
      <p:sp>
        <p:nvSpPr>
          <p:cNvPr id="55" name="R5 text"/>
          <p:cNvSpPr/>
          <p:nvPr/>
        </p:nvSpPr>
        <p:spPr>
          <a:xfrm>
            <a:off x="1810512" y="5185380"/>
            <a:ext cx="4434840" cy="678668"/>
          </a:xfrm>
          <a:prstGeom prst="rect">
            <a:avLst/>
          </a:prstGeom>
          <a:noFill/>
          <a:ln/>
        </p:spPr>
        <p:txBody>
          <a:bodyPr wrap="square" rtlCol="0" anchor="ct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can write a short email about myself.</a:t>
            </a:r>
            <a:endParaRPr lang="en-US" sz="1700" dirty="0"/>
          </a:p>
        </p:txBody>
      </p:sp>
      <p:sp>
        <p:nvSpPr>
          <p:cNvPr id="56" name="R5 dot"/>
          <p:cNvSpPr/>
          <p:nvPr/>
        </p:nvSpPr>
        <p:spPr>
          <a:xfrm rot="10800000">
            <a:off x="6361481" y="5318882"/>
            <a:ext cx="88697" cy="76810"/>
          </a:xfrm>
          <a:prstGeom prst="triangle">
            <a:avLst/>
          </a:prstGeom>
          <a:solidFill>
            <a:srgbClr val="8FAFE3"/>
          </a:solidFill>
          <a:ln/>
        </p:spPr>
        <p:txBody>
          <a:body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400"/>
                                        <p:tgtEl>
                                          <p:spTgt spid="32"/>
                                        </p:tgtEl>
                                      </p:cBhvr>
                                    </p:animEffect>
                                  </p:childTnLst>
                                </p:cTn>
                              </p:par>
                              <p:par>
                                <p:cTn id="11" presetID="10"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400"/>
                                        <p:tgtEl>
                                          <p:spTgt spid="33"/>
                                        </p:tgtEl>
                                      </p:cBhvr>
                                    </p:animEffect>
                                  </p:childTnLst>
                                </p:cTn>
                              </p:par>
                              <p:par>
                                <p:cTn id="14" presetID="10" presetClass="entr" presetSubtype="0" fill="hold"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400"/>
                                        <p:tgtEl>
                                          <p:spTgt spid="34"/>
                                        </p:tgtEl>
                                      </p:cBhvr>
                                    </p:animEffect>
                                  </p:childTnLst>
                                </p:cTn>
                              </p:par>
                              <p:par>
                                <p:cTn id="17" presetID="10"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par>
                                <p:cTn id="28" presetID="10"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400"/>
                                        <p:tgtEl>
                                          <p:spTgt spid="38"/>
                                        </p:tgtEl>
                                      </p:cBhvr>
                                    </p:animEffect>
                                  </p:childTnLst>
                                </p:cTn>
                              </p:par>
                              <p:par>
                                <p:cTn id="31" presetID="10" presetClass="entr" presetSubtype="0" fill="hold"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400"/>
                                        <p:tgtEl>
                                          <p:spTgt spid="39"/>
                                        </p:tgtEl>
                                      </p:cBhvr>
                                    </p:animEffect>
                                  </p:childTnLst>
                                </p:cTn>
                              </p:par>
                              <p:par>
                                <p:cTn id="34" presetID="10" presetClass="entr" presetSubtype="0" fill="hold" nodeType="withEffect">
                                  <p:stCondLst>
                                    <p:cond delay="0"/>
                                  </p:stCondLst>
                                  <p:childTnLst>
                                    <p:set>
                                      <p:cBhvr>
                                        <p:cTn id="35" dur="1" fill="hold">
                                          <p:stCondLst>
                                            <p:cond delay="0"/>
                                          </p:stCondLst>
                                        </p:cTn>
                                        <p:tgtEl>
                                          <p:spTgt spid="40"/>
                                        </p:tgtEl>
                                        <p:attrNameLst>
                                          <p:attrName>style.visibility</p:attrName>
                                        </p:attrNameLst>
                                      </p:cBhvr>
                                      <p:to>
                                        <p:strVal val="visible"/>
                                      </p:to>
                                    </p:set>
                                    <p:animEffect transition="in" filter="fade">
                                      <p:cBhvr>
                                        <p:cTn id="36" dur="400"/>
                                        <p:tgtEl>
                                          <p:spTgt spid="40"/>
                                        </p:tgtEl>
                                      </p:cBhvr>
                                    </p:animEffect>
                                  </p:childTnLst>
                                </p:cTn>
                              </p:par>
                              <p:par>
                                <p:cTn id="37" presetID="10" presetClass="entr" presetSubtype="0" fill="hold" nodeType="with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42"/>
                                        </p:tgtEl>
                                        <p:attrNameLst>
                                          <p:attrName>style.visibility</p:attrName>
                                        </p:attrNameLst>
                                      </p:cBhvr>
                                      <p:to>
                                        <p:strVal val="visible"/>
                                      </p:to>
                                    </p:set>
                                    <p:animEffect transition="in" filter="fade">
                                      <p:cBhvr>
                                        <p:cTn id="44" dur="400"/>
                                        <p:tgtEl>
                                          <p:spTgt spid="42"/>
                                        </p:tgtEl>
                                      </p:cBhvr>
                                    </p:animEffect>
                                  </p:childTnLst>
                                </p:cTn>
                              </p:par>
                              <p:par>
                                <p:cTn id="45" presetID="10" presetClass="entr" presetSubtype="0" fill="hold" nodeType="with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400"/>
                                        <p:tgtEl>
                                          <p:spTgt spid="43"/>
                                        </p:tgtEl>
                                      </p:cBhvr>
                                    </p:animEffect>
                                  </p:childTnLst>
                                </p:cTn>
                              </p:par>
                              <p:par>
                                <p:cTn id="48" presetID="10" presetClass="entr" presetSubtype="0" fill="hold" nodeType="withEffect">
                                  <p:stCondLst>
                                    <p:cond delay="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400"/>
                                        <p:tgtEl>
                                          <p:spTgt spid="44"/>
                                        </p:tgtEl>
                                      </p:cBhvr>
                                    </p:animEffect>
                                  </p:childTnLst>
                                </p:cTn>
                              </p:par>
                              <p:par>
                                <p:cTn id="51" presetID="10" presetClass="entr" presetSubtype="0" fill="hold" nodeType="withEffect">
                                  <p:stCondLst>
                                    <p:cond delay="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400"/>
                                        <p:tgtEl>
                                          <p:spTgt spid="45"/>
                                        </p:tgtEl>
                                      </p:cBhvr>
                                    </p:animEffect>
                                  </p:childTnLst>
                                </p:cTn>
                              </p:par>
                              <p:par>
                                <p:cTn id="54" presetID="10" presetClass="entr" presetSubtype="0" fill="hold" nodeType="withEffect">
                                  <p:stCondLst>
                                    <p:cond delay="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400"/>
                                        <p:tgtEl>
                                          <p:spTgt spid="46"/>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7"/>
                                        </p:tgtEl>
                                        <p:attrNameLst>
                                          <p:attrName>style.visibility</p:attrName>
                                        </p:attrNameLst>
                                      </p:cBhvr>
                                      <p:to>
                                        <p:strVal val="visible"/>
                                      </p:to>
                                    </p:set>
                                    <p:animEffect transition="in" filter="fade">
                                      <p:cBhvr>
                                        <p:cTn id="61" dur="400"/>
                                        <p:tgtEl>
                                          <p:spTgt spid="47"/>
                                        </p:tgtEl>
                                      </p:cBhvr>
                                    </p:animEffect>
                                  </p:childTnLst>
                                </p:cTn>
                              </p:par>
                              <p:par>
                                <p:cTn id="62" presetID="10"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animEffect transition="in" filter="fade">
                                      <p:cBhvr>
                                        <p:cTn id="64" dur="400"/>
                                        <p:tgtEl>
                                          <p:spTgt spid="48"/>
                                        </p:tgtEl>
                                      </p:cBhvr>
                                    </p:animEffect>
                                  </p:childTnLst>
                                </p:cTn>
                              </p:par>
                              <p:par>
                                <p:cTn id="65" presetID="10" presetClass="entr" presetSubtype="0" fill="hold" nodeType="withEffect">
                                  <p:stCondLst>
                                    <p:cond delay="0"/>
                                  </p:stCondLst>
                                  <p:childTnLst>
                                    <p:set>
                                      <p:cBhvr>
                                        <p:cTn id="66" dur="1" fill="hold">
                                          <p:stCondLst>
                                            <p:cond delay="0"/>
                                          </p:stCondLst>
                                        </p:cTn>
                                        <p:tgtEl>
                                          <p:spTgt spid="49"/>
                                        </p:tgtEl>
                                        <p:attrNameLst>
                                          <p:attrName>style.visibility</p:attrName>
                                        </p:attrNameLst>
                                      </p:cBhvr>
                                      <p:to>
                                        <p:strVal val="visible"/>
                                      </p:to>
                                    </p:set>
                                    <p:animEffect transition="in" filter="fade">
                                      <p:cBhvr>
                                        <p:cTn id="67" dur="400"/>
                                        <p:tgtEl>
                                          <p:spTgt spid="49"/>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400"/>
                                        <p:tgtEl>
                                          <p:spTgt spid="50"/>
                                        </p:tgtEl>
                                      </p:cBhvr>
                                    </p:animEffect>
                                  </p:childTnLst>
                                </p:cTn>
                              </p:par>
                              <p:par>
                                <p:cTn id="71" presetID="10" presetClass="entr" presetSubtype="0" fill="hold" nodeType="withEffect">
                                  <p:stCondLst>
                                    <p:cond delay="0"/>
                                  </p:stCondLst>
                                  <p:childTnLst>
                                    <p:set>
                                      <p:cBhvr>
                                        <p:cTn id="72" dur="1" fill="hold">
                                          <p:stCondLst>
                                            <p:cond delay="0"/>
                                          </p:stCondLst>
                                        </p:cTn>
                                        <p:tgtEl>
                                          <p:spTgt spid="51"/>
                                        </p:tgtEl>
                                        <p:attrNameLst>
                                          <p:attrName>style.visibility</p:attrName>
                                        </p:attrNameLst>
                                      </p:cBhvr>
                                      <p:to>
                                        <p:strVal val="visible"/>
                                      </p:to>
                                    </p:set>
                                    <p:animEffect transition="in" filter="fade">
                                      <p:cBhvr>
                                        <p:cTn id="73" dur="400"/>
                                        <p:tgtEl>
                                          <p:spTgt spid="51"/>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52"/>
                                        </p:tgtEl>
                                        <p:attrNameLst>
                                          <p:attrName>style.visibility</p:attrName>
                                        </p:attrNameLst>
                                      </p:cBhvr>
                                      <p:to>
                                        <p:strVal val="visible"/>
                                      </p:to>
                                    </p:set>
                                    <p:animEffect transition="in" filter="fade">
                                      <p:cBhvr>
                                        <p:cTn id="78" dur="400"/>
                                        <p:tgtEl>
                                          <p:spTgt spid="52"/>
                                        </p:tgtEl>
                                      </p:cBhvr>
                                    </p:animEffect>
                                  </p:childTnLst>
                                </p:cTn>
                              </p:par>
                              <p:par>
                                <p:cTn id="79" presetID="10" presetClass="entr" presetSubtype="0" fill="hold" nodeType="with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400"/>
                                        <p:tgtEl>
                                          <p:spTgt spid="53"/>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0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0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6"/>
                                        </p:tgtEl>
                                        <p:attrNameLst>
                                          <p:attrName>style.visibility</p:attrName>
                                        </p:attrNameLst>
                                      </p:cBhvr>
                                      <p:to>
                                        <p:strVal val="visible"/>
                                      </p:to>
                                    </p:set>
                                    <p:animEffect transition="in" filter="fade">
                                      <p:cBhvr>
                                        <p:cTn id="90"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name="L4:warmup">
    <p:bg>
      <p:bgPr>
        <a:solidFill>
          <a:srgbClr val="F1F5FB"/>
        </a:solidFill>
      </p:bgPr>
    </p:bg>
    <p:spTree>
      <p:nvGrpSpPr>
        <p:cNvPr id="1" name=""/>
        <p:cNvGrpSpPr/>
        <p:nvPr/>
      </p:nvGrpSpPr>
      <p:grpSpPr/>
      <p:sp>
        <p:nvSpPr>
          <p:cNvPr id="2" name="Shape 0"/>
          <p:cNvSpPr/>
          <p:nvPr/>
        </p:nvSpPr>
        <p:spPr>
          <a:xfrm>
            <a:off x="487604" y="1352535"/>
            <a:ext cx="5246827" cy="1783080"/>
          </a:xfrm>
          <a:prstGeom prst="roundRect">
            <a:avLst>
              <a:gd name="adj" fmla="val 16667"/>
            </a:avLst>
          </a:prstGeom>
          <a:solidFill>
            <a:srgbClr val="8FAFE3"/>
          </a:solidFill>
          <a:ln/>
        </p:spPr>
        <p:txBody>
          <a:bodyPr/>
          <a:p/>
        </p:txBody>
      </p:sp>
      <p:sp>
        <p:nvSpPr>
          <p:cNvPr id="3" name="Shape 1"/>
          <p:cNvSpPr/>
          <p:nvPr/>
        </p:nvSpPr>
        <p:spPr>
          <a:xfrm>
            <a:off x="518465" y="1300277"/>
            <a:ext cx="5246827" cy="1783080"/>
          </a:xfrm>
          <a:prstGeom prst="roundRect">
            <a:avLst>
              <a:gd name="adj" fmla="val 16667"/>
            </a:avLst>
          </a:prstGeom>
          <a:solidFill>
            <a:srgbClr val="FFFFFF"/>
          </a:solidFill>
          <a:ln/>
        </p:spPr>
        <p:txBody>
          <a:bodyPr/>
          <a:p/>
        </p:txBody>
      </p:sp>
      <p:sp>
        <p:nvSpPr>
          <p:cNvPr id="4" name="Shape 2"/>
          <p:cNvSpPr/>
          <p:nvPr/>
        </p:nvSpPr>
        <p:spPr>
          <a:xfrm flipH="1">
            <a:off x="5503774" y="3276295"/>
            <a:ext cx="6847942" cy="3931006"/>
          </a:xfrm>
          <a:prstGeom prst="round1Rect">
            <a:avLst>
              <a:gd name="adj" fmla="val 23087"/>
            </a:avLst>
          </a:prstGeom>
          <a:solidFill>
            <a:srgbClr val="B9D2F7"/>
          </a:solidFill>
          <a:ln w="76200">
            <a:solidFill>
              <a:srgbClr val="FFFFFF"/>
            </a:solidFill>
            <a:prstDash val="solid"/>
          </a:ln>
        </p:spPr>
        <p:txBody>
          <a:bodyPr/>
          <a:p/>
        </p:txBody>
      </p:sp>
      <p:pic>
        <p:nvPicPr>
          <p:cNvPr id="15" name="pic" descr="Go camping: a tent at a campsite"/>
          <p:cNvPicPr>
            <a:picLocks noChangeAspect="1"/>
          </p:cNvPicPr>
          <p:nvPr/>
        </p:nvPicPr>
        <p:blipFill>
          <a:blip r:embed="rId3"/>
          <a:stretch>
            <a:fillRect/>
          </a:stretch>
        </p:blipFill>
        <p:spPr>
          <a:xfrm>
            <a:off x="6800393" y="2104034"/>
            <a:ext cx="4754880" cy="3328416"/>
          </a:xfrm>
          <a:prstGeom prst="rect">
            <a:avLst/>
          </a:prstGeom>
        </p:spPr>
      </p:pic>
      <p:sp>
        <p:nvSpPr>
          <p:cNvPr id="7" name="title"/>
          <p:cNvSpPr/>
          <p:nvPr/>
        </p:nvSpPr>
        <p:spPr>
          <a:xfrm>
            <a:off x="548640" y="1764792"/>
            <a:ext cx="5120640" cy="1234440"/>
          </a:xfrm>
          <a:prstGeom prst="rect">
            <a:avLst/>
          </a:prstGeom>
          <a:noFill/>
          <a:ln/>
        </p:spPr>
        <p:txBody>
          <a:bodyPr wrap="square" rtlCol="0" anchor="ctr"/>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Opening Talk</a:t>
            </a:r>
            <a:endParaRPr lang="en-US" sz="4000" dirty="0" b="1"/>
          </a:p>
        </p:txBody>
      </p:sp>
      <p:sp>
        <p:nvSpPr>
          <p:cNvPr id="8" name="kicker"/>
          <p:cNvSpPr/>
          <p:nvPr/>
        </p:nvSpPr>
        <p:spPr>
          <a:xfrm>
            <a:off x="599846" y="1371600"/>
            <a:ext cx="484632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OPENING TALK  ·  6:00</a:t>
            </a:r>
            <a:endParaRPr lang="en-US" sz="2000" dirty="0" b="1"/>
          </a:p>
        </p:txBody>
      </p:sp>
      <p:sp>
        <p:nvSpPr>
          <p:cNvPr id="9" name="box1"/>
          <p:cNvSpPr/>
          <p:nvPr/>
        </p:nvSpPr>
        <p:spPr>
          <a:xfrm>
            <a:off x="599846" y="3383280"/>
            <a:ext cx="4846320" cy="1188720"/>
          </a:xfrm>
          <a:prstGeom prst="rect">
            <a:avLst/>
          </a:prstGeom>
          <a:noFill/>
          <a:ln/>
        </p:spPr>
        <p:txBody>
          <a:bodyPr wrap="square" lIns="0" tIns="0" rIns="0" bIns="0" rtlCol="0" anchor="t"/>
          <a:lstStyle/>
          <a:p>
            <a:pPr algn="l" indent="0" marL="0">
              <a:lnSpc>
                <a:spcPct val="110000"/>
              </a:lnSpc>
              <a:buNone/>
            </a:pPr>
            <a:r>
              <a:rPr lang="en-US" sz="2000" dirty="0" b="1">
                <a:solidFill>
                  <a:srgbClr val="5B3FC4"/>
                </a:solidFill>
                <a:latin typeface="Lexend Deca" pitchFamily="34" charset="0"/>
                <a:ea typeface="Lexend Deca" pitchFamily="34" charset="-122"/>
                <a:cs typeface="Lexend Deca" pitchFamily="34" charset="-120"/>
              </a:rPr>
              <a:t>A asks a card question.</a:t>
            </a:r>
            <a:endParaRPr lang="en-US" sz="2000" dirty="0" b="1"/>
          </a:p>
          <a:p>
            <a:pPr algn="l" indent="0" marL="0">
              <a:lnSpc>
                <a:spcPct val="110000"/>
              </a:lnSpc>
              <a:buNone/>
            </a:pPr>
            <a:r>
              <a:rPr lang="en-US" sz="2000" dirty="0">
                <a:solidFill>
                  <a:srgbClr val="1B2236"/>
                </a:solidFill>
                <a:latin typeface="Lexend Deca" pitchFamily="34" charset="0"/>
                <a:ea typeface="Lexend Deca" pitchFamily="34" charset="-122"/>
                <a:cs typeface="Lexend Deca" pitchFamily="34" charset="-120"/>
              </a:rPr>
              <a:t>What did you do last weekend?</a:t>
            </a:r>
            <a:endParaRPr lang="en-US" sz="2000" dirty="0"/>
          </a:p>
          <a:p>
            <a:pPr algn="l" indent="0" marL="0">
              <a:lnSpc>
                <a:spcPct val="110000"/>
              </a:lnSpc>
              <a:buNone/>
            </a:pPr>
            <a:r>
              <a:rPr lang="en-US" sz="2000" dirty="0" b="1">
                <a:solidFill>
                  <a:srgbClr val="1B2236"/>
                </a:solidFill>
                <a:latin typeface="Lexend Deca" pitchFamily="34" charset="0"/>
                <a:ea typeface="Lexend Deca" pitchFamily="34" charset="-122"/>
                <a:cs typeface="Lexend Deca" pitchFamily="34" charset="-120"/>
              </a:rPr>
              <a:t>B answers in 3 sentences.</a:t>
            </a:r>
            <a:endParaRPr lang="en-US" sz="2000" dirty="0" b="1"/>
          </a:p>
        </p:txBody>
      </p:sp>
      <p:sp>
        <p:nvSpPr>
          <p:cNvPr id="14" name="box2"/>
          <p:cNvSpPr/>
          <p:nvPr/>
        </p:nvSpPr>
        <p:spPr>
          <a:xfrm>
            <a:off x="599846" y="4754880"/>
            <a:ext cx="4846320" cy="1600200"/>
          </a:xfrm>
          <a:prstGeom prst="rect">
            <a:avLst/>
          </a:prstGeom>
          <a:noFill/>
          <a:ln/>
        </p:spPr>
        <p:txBody>
          <a:bodyPr wrap="square" lIns="0" tIns="0" rIns="0" bIns="0" rtlCol="0" anchor="t"/>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A asks one follow-up.</a:t>
            </a:r>
            <a:endParaRPr lang="en-US" sz="2000" dirty="0" b="1"/>
          </a:p>
          <a:p>
            <a:pPr algn="l" indent="0" marL="0">
              <a:spcAft>
                <a:spcPts val="400"/>
              </a:spcAft>
              <a:buNone/>
            </a:pPr>
            <a:r>
              <a:rPr lang="en-US" sz="2000" dirty="0" b="0">
                <a:solidFill>
                  <a:srgbClr val="1B2236"/>
                </a:solidFill>
                <a:latin typeface="Lexend Deca" pitchFamily="34" charset="0"/>
                <a:ea typeface="Lexend Deca" pitchFamily="34" charset="-122"/>
                <a:cs typeface="Lexend Deca" pitchFamily="34" charset="-120"/>
              </a:rPr>
              <a:t>How was it?</a:t>
            </a:r>
            <a:endParaRPr lang="en-US" sz="2000" dirty="0" b="0"/>
          </a:p>
          <a:p>
            <a:pPr algn="l" indent="0" marL="0">
              <a:spcAft>
                <a:spcPts val="400"/>
              </a:spcAft>
              <a:buNone/>
            </a:pPr>
            <a:r>
              <a:rPr lang="en-US" sz="2000" dirty="0" b="1">
                <a:solidFill>
                  <a:srgbClr val="1B2236"/>
                </a:solidFill>
                <a:latin typeface="Lexend Deca" pitchFamily="34" charset="0"/>
                <a:ea typeface="Lexend Deca" pitchFamily="34" charset="-122"/>
                <a:cs typeface="Lexend Deca" pitchFamily="34" charset="-120"/>
              </a:rPr>
              <a:t>Then switch.</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name="L4:numlist">
    <p:bg>
      <p:bgPr>
        <a:solidFill>
          <a:srgbClr val="F1F5FB"/>
        </a:solidFill>
      </p:bgPr>
    </p:bg>
    <p:spTree>
      <p:nvGrpSpPr>
        <p:cNvPr id="1" name=""/>
        <p:cNvGrpSpPr/>
        <p:nvPr/>
      </p:nvGrpSpPr>
      <p:grpSpPr/>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Opening Talk</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Cards</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400"/>
              </a:spcAft>
              <a:buNone/>
            </a:pPr>
            <a:r>
              <a:rPr lang="en-US" sz="1800" dirty="0">
                <a:solidFill>
                  <a:srgbClr val="1B2236"/>
                </a:solidFill>
                <a:latin typeface="Lexend Deca" pitchFamily="34" charset="0"/>
                <a:ea typeface="Lexend Deca" pitchFamily="34" charset="-122"/>
                <a:cs typeface="Lexend Deca" pitchFamily="34" charset="-120"/>
              </a:rPr>
              <a:t>B answers in 3 sentences: the answer, a reason, and a detail.</a:t>
            </a:r>
            <a:endParaRPr lang="en-US" sz="1800" dirty="0"/>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Follow-ups:</a:t>
            </a:r>
            <a:endParaRPr lang="en-US" sz="1800" dirty="0" b="1"/>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How was it? Who did you go with? Why?</a:t>
            </a:r>
            <a:endParaRPr lang="en-US" sz="1800" dirty="0" b="1"/>
          </a:p>
        </p:txBody>
      </p:sp>
      <p:sp>
        <p:nvSpPr>
          <p:cNvPr id="31" name="R1 shadow"/>
          <p:cNvSpPr/>
          <p:nvPr/>
        </p:nvSpPr>
        <p:spPr>
          <a:xfrm>
            <a:off x="544982" y="2471623"/>
            <a:ext cx="6227064" cy="602590"/>
          </a:xfrm>
          <a:prstGeom prst="round1Rect">
            <a:avLst>
              <a:gd name="adj" fmla="val 23087"/>
            </a:avLst>
          </a:prstGeom>
          <a:solidFill>
            <a:srgbClr val="8FAFE3"/>
          </a:solidFill>
          <a:ln/>
        </p:spPr>
        <p:txBody>
          <a:bodyPr/>
          <a:p/>
        </p:txBody>
      </p:sp>
      <p:sp>
        <p:nvSpPr>
          <p:cNvPr id="32" name="R1 card"/>
          <p:cNvSpPr/>
          <p:nvPr/>
        </p:nvSpPr>
        <p:spPr>
          <a:xfrm>
            <a:off x="1583741" y="2414016"/>
            <a:ext cx="5130698" cy="602590"/>
          </a:xfrm>
          <a:prstGeom prst="round1Rect">
            <a:avLst>
              <a:gd name="adj" fmla="val 23087"/>
            </a:avLst>
          </a:prstGeom>
          <a:solidFill>
            <a:srgbClr val="FFFFFF"/>
          </a:solidFill>
          <a:ln/>
        </p:spPr>
        <p:txBody>
          <a:bodyPr/>
          <a:p/>
        </p:txBody>
      </p:sp>
      <p:sp>
        <p:nvSpPr>
          <p:cNvPr id="33" name="R1 chip"/>
          <p:cNvSpPr/>
          <p:nvPr/>
        </p:nvSpPr>
        <p:spPr>
          <a:xfrm>
            <a:off x="544982" y="2414016"/>
            <a:ext cx="1039673" cy="602590"/>
          </a:xfrm>
          <a:prstGeom prst="rect">
            <a:avLst/>
          </a:prstGeom>
          <a:solidFill>
            <a:srgbClr val="B9D2F7"/>
          </a:solidFill>
          <a:ln/>
        </p:spPr>
        <p:txBody>
          <a:bodyPr/>
          <a:p/>
        </p:txBody>
      </p:sp>
      <p:sp>
        <p:nvSpPr>
          <p:cNvPr id="34" name="R1 num"/>
          <p:cNvSpPr/>
          <p:nvPr/>
        </p:nvSpPr>
        <p:spPr>
          <a:xfrm>
            <a:off x="686714" y="2414016"/>
            <a:ext cx="1109167" cy="602590"/>
          </a:xfrm>
          <a:prstGeom prst="rect">
            <a:avLst/>
          </a:prstGeom>
          <a:noFill/>
          <a:ln/>
        </p:spPr>
        <p:txBody>
          <a:bodyPr wrap="square" rtlCol="0" anchor="t"/>
          <a:lstStyle/>
          <a:p>
            <a:pPr algn="l" indent="0" marL="0">
              <a:buNone/>
            </a:pPr>
            <a:r>
              <a:rPr lang="en-US" sz="3600" b="1" dirty="0">
                <a:solidFill>
                  <a:srgbClr val="1B2236"/>
                </a:solidFill>
                <a:latin typeface="Lexend Deca" pitchFamily="34" charset="0"/>
                <a:ea typeface="Lexend Deca" pitchFamily="34" charset="-122"/>
                <a:cs typeface="Lexend Deca" pitchFamily="34" charset="-120"/>
              </a:rPr>
              <a:t>01</a:t>
            </a:r>
            <a:endParaRPr lang="en-US" sz="3600" b="1" dirty="0"/>
          </a:p>
        </p:txBody>
      </p:sp>
      <p:sp>
        <p:nvSpPr>
          <p:cNvPr id="35" name="R1 text"/>
          <p:cNvSpPr/>
          <p:nvPr/>
        </p:nvSpPr>
        <p:spPr>
          <a:xfrm>
            <a:off x="1810512" y="2414016"/>
            <a:ext cx="4434840" cy="602590"/>
          </a:xfrm>
          <a:prstGeom prst="rect">
            <a:avLst/>
          </a:prstGeom>
          <a:noFill/>
          <a:ln/>
        </p:spPr>
        <p:txBody>
          <a:bodyPr wrap="square" rtlCol="0" anchor="ct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What did you do last weekend?</a:t>
            </a:r>
            <a:endParaRPr lang="en-US" sz="2000" dirty="0"/>
          </a:p>
        </p:txBody>
      </p:sp>
      <p:sp>
        <p:nvSpPr>
          <p:cNvPr id="36" name="R1 dot"/>
          <p:cNvSpPr/>
          <p:nvPr/>
        </p:nvSpPr>
        <p:spPr>
          <a:xfrm rot="10800000">
            <a:off x="6361481" y="2547518"/>
            <a:ext cx="88697" cy="76810"/>
          </a:xfrm>
          <a:prstGeom prst="triangle">
            <a:avLst/>
          </a:prstGeom>
          <a:solidFill>
            <a:srgbClr val="8FAFE3"/>
          </a:solidFill>
          <a:ln/>
        </p:spPr>
        <p:txBody>
          <a:bodyPr/>
          <a:p/>
        </p:txBody>
      </p:sp>
      <p:sp>
        <p:nvSpPr>
          <p:cNvPr id="37" name="R2 card"/>
          <p:cNvSpPr/>
          <p:nvPr/>
        </p:nvSpPr>
        <p:spPr>
          <a:xfrm>
            <a:off x="1583741" y="3125419"/>
            <a:ext cx="5130698" cy="602590"/>
          </a:xfrm>
          <a:prstGeom prst="round1Rect">
            <a:avLst>
              <a:gd name="adj" fmla="val 23087"/>
            </a:avLst>
          </a:prstGeom>
          <a:solidFill>
            <a:srgbClr val="FFFFFF"/>
          </a:solidFill>
          <a:ln/>
        </p:spPr>
        <p:txBody>
          <a:bodyPr/>
          <a:p/>
        </p:txBody>
      </p:sp>
      <p:sp>
        <p:nvSpPr>
          <p:cNvPr id="38" name="R2 chip"/>
          <p:cNvSpPr/>
          <p:nvPr/>
        </p:nvSpPr>
        <p:spPr>
          <a:xfrm>
            <a:off x="544982" y="3125419"/>
            <a:ext cx="1039673" cy="602590"/>
          </a:xfrm>
          <a:prstGeom prst="rect">
            <a:avLst/>
          </a:prstGeom>
          <a:solidFill>
            <a:srgbClr val="B9D2F7"/>
          </a:solidFill>
          <a:ln/>
        </p:spPr>
        <p:txBody>
          <a:bodyPr/>
          <a:p/>
        </p:txBody>
      </p:sp>
      <p:sp>
        <p:nvSpPr>
          <p:cNvPr id="39" name="R2 num"/>
          <p:cNvSpPr/>
          <p:nvPr/>
        </p:nvSpPr>
        <p:spPr>
          <a:xfrm>
            <a:off x="686714" y="312541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02</a:t>
            </a:r>
            <a:endParaRPr lang="en-US" sz="3200" b="1" dirty="0"/>
          </a:p>
        </p:txBody>
      </p:sp>
      <p:sp>
        <p:nvSpPr>
          <p:cNvPr id="40" name="R2 text"/>
          <p:cNvSpPr/>
          <p:nvPr/>
        </p:nvSpPr>
        <p:spPr>
          <a:xfrm>
            <a:off x="1810512" y="3125419"/>
            <a:ext cx="4434840" cy="602590"/>
          </a:xfrm>
          <a:prstGeom prst="rect">
            <a:avLst/>
          </a:prstGeom>
          <a:noFill/>
          <a:ln/>
        </p:spPr>
        <p:txBody>
          <a:bodyPr wrap="square" rtlCol="0" anchor="ct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What did you eat last night?</a:t>
            </a:r>
            <a:endParaRPr lang="en-US" sz="2000" dirty="0"/>
          </a:p>
        </p:txBody>
      </p:sp>
      <p:sp>
        <p:nvSpPr>
          <p:cNvPr id="41" name="R2 dot"/>
          <p:cNvSpPr/>
          <p:nvPr/>
        </p:nvSpPr>
        <p:spPr>
          <a:xfrm rot="10800000">
            <a:off x="6361481" y="3258922"/>
            <a:ext cx="88697" cy="76810"/>
          </a:xfrm>
          <a:prstGeom prst="triangle">
            <a:avLst/>
          </a:prstGeom>
          <a:solidFill>
            <a:srgbClr val="8FAFE3"/>
          </a:solidFill>
          <a:ln/>
        </p:spPr>
        <p:txBody>
          <a:bodyPr/>
          <a:p/>
        </p:txBody>
      </p:sp>
      <p:sp>
        <p:nvSpPr>
          <p:cNvPr id="42" name="R3 card"/>
          <p:cNvSpPr/>
          <p:nvPr/>
        </p:nvSpPr>
        <p:spPr>
          <a:xfrm>
            <a:off x="1583741" y="3836822"/>
            <a:ext cx="5130698" cy="602590"/>
          </a:xfrm>
          <a:prstGeom prst="round1Rect">
            <a:avLst>
              <a:gd name="adj" fmla="val 23087"/>
            </a:avLst>
          </a:prstGeom>
          <a:solidFill>
            <a:srgbClr val="FFFFFF"/>
          </a:solidFill>
          <a:ln/>
        </p:spPr>
        <p:txBody>
          <a:bodyPr/>
          <a:p/>
        </p:txBody>
      </p:sp>
      <p:sp>
        <p:nvSpPr>
          <p:cNvPr id="43" name="R3 chip"/>
          <p:cNvSpPr/>
          <p:nvPr/>
        </p:nvSpPr>
        <p:spPr>
          <a:xfrm>
            <a:off x="544982" y="3836822"/>
            <a:ext cx="1039673" cy="602590"/>
          </a:xfrm>
          <a:prstGeom prst="rect">
            <a:avLst/>
          </a:prstGeom>
          <a:solidFill>
            <a:srgbClr val="B9D2F7"/>
          </a:solidFill>
          <a:ln/>
        </p:spPr>
        <p:txBody>
          <a:bodyPr/>
          <a:p/>
        </p:txBody>
      </p:sp>
      <p:sp>
        <p:nvSpPr>
          <p:cNvPr id="44" name="R3 num"/>
          <p:cNvSpPr/>
          <p:nvPr/>
        </p:nvSpPr>
        <p:spPr>
          <a:xfrm>
            <a:off x="686714" y="3836822"/>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03</a:t>
            </a:r>
            <a:endParaRPr lang="en-US" sz="3200" b="1" dirty="0"/>
          </a:p>
        </p:txBody>
      </p:sp>
      <p:sp>
        <p:nvSpPr>
          <p:cNvPr id="45" name="R3 text"/>
          <p:cNvSpPr/>
          <p:nvPr/>
        </p:nvSpPr>
        <p:spPr>
          <a:xfrm>
            <a:off x="1810512" y="3836822"/>
            <a:ext cx="4434840" cy="602590"/>
          </a:xfrm>
          <a:prstGeom prst="rect">
            <a:avLst/>
          </a:prstGeom>
          <a:noFill/>
          <a:ln/>
        </p:spPr>
        <p:txBody>
          <a:bodyPr wrap="square" rtlCol="0" anchor="ct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Where did you go yesterday?</a:t>
            </a:r>
            <a:endParaRPr lang="en-US" sz="2000" dirty="0"/>
          </a:p>
        </p:txBody>
      </p:sp>
      <p:sp>
        <p:nvSpPr>
          <p:cNvPr id="46" name="R3 dot"/>
          <p:cNvSpPr/>
          <p:nvPr/>
        </p:nvSpPr>
        <p:spPr>
          <a:xfrm rot="10800000">
            <a:off x="6361481" y="3970325"/>
            <a:ext cx="88697" cy="76810"/>
          </a:xfrm>
          <a:prstGeom prst="triangle">
            <a:avLst/>
          </a:prstGeom>
          <a:solidFill>
            <a:srgbClr val="8FAFE3"/>
          </a:solidFill>
          <a:ln/>
        </p:spPr>
        <p:txBody>
          <a:bodyPr/>
          <a:p/>
        </p:txBody>
      </p:sp>
      <p:sp>
        <p:nvSpPr>
          <p:cNvPr id="47" name="R4 card"/>
          <p:cNvSpPr/>
          <p:nvPr/>
        </p:nvSpPr>
        <p:spPr>
          <a:xfrm>
            <a:off x="1583741" y="4548226"/>
            <a:ext cx="5130698" cy="602590"/>
          </a:xfrm>
          <a:prstGeom prst="round1Rect">
            <a:avLst>
              <a:gd name="adj" fmla="val 23087"/>
            </a:avLst>
          </a:prstGeom>
          <a:solidFill>
            <a:srgbClr val="FFFFFF"/>
          </a:solidFill>
          <a:ln/>
        </p:spPr>
        <p:txBody>
          <a:bodyPr/>
          <a:p/>
        </p:txBody>
      </p:sp>
      <p:sp>
        <p:nvSpPr>
          <p:cNvPr id="48" name="R4 chip"/>
          <p:cNvSpPr/>
          <p:nvPr/>
        </p:nvSpPr>
        <p:spPr>
          <a:xfrm>
            <a:off x="544982" y="4548226"/>
            <a:ext cx="1039673" cy="602590"/>
          </a:xfrm>
          <a:prstGeom prst="rect">
            <a:avLst/>
          </a:prstGeom>
          <a:solidFill>
            <a:srgbClr val="B9D2F7"/>
          </a:solidFill>
          <a:ln/>
        </p:spPr>
        <p:txBody>
          <a:bodyPr/>
          <a:p/>
        </p:txBody>
      </p:sp>
      <p:sp>
        <p:nvSpPr>
          <p:cNvPr id="49" name="R4 num"/>
          <p:cNvSpPr/>
          <p:nvPr/>
        </p:nvSpPr>
        <p:spPr>
          <a:xfrm>
            <a:off x="686714" y="4548226"/>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04</a:t>
            </a:r>
            <a:endParaRPr lang="en-US" sz="3200" b="1" dirty="0"/>
          </a:p>
        </p:txBody>
      </p:sp>
      <p:sp>
        <p:nvSpPr>
          <p:cNvPr id="50" name="R4 text"/>
          <p:cNvSpPr/>
          <p:nvPr/>
        </p:nvSpPr>
        <p:spPr>
          <a:xfrm>
            <a:off x="1810512" y="4548226"/>
            <a:ext cx="4434840" cy="602590"/>
          </a:xfrm>
          <a:prstGeom prst="rect">
            <a:avLst/>
          </a:prstGeom>
          <a:noFill/>
          <a:ln/>
        </p:spPr>
        <p:txBody>
          <a:bodyPr wrap="square" rtlCol="0" anchor="ct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What did you do last summer?</a:t>
            </a:r>
            <a:endParaRPr lang="en-US" sz="2000" dirty="0"/>
          </a:p>
        </p:txBody>
      </p:sp>
      <p:sp>
        <p:nvSpPr>
          <p:cNvPr id="51" name="R4 dot"/>
          <p:cNvSpPr/>
          <p:nvPr/>
        </p:nvSpPr>
        <p:spPr>
          <a:xfrm rot="10800000">
            <a:off x="6361481" y="4681728"/>
            <a:ext cx="88697" cy="76810"/>
          </a:xfrm>
          <a:prstGeom prst="triangle">
            <a:avLst/>
          </a:prstGeom>
          <a:solidFill>
            <a:srgbClr val="8FAFE3"/>
          </a:solidFill>
          <a:ln/>
        </p:spPr>
        <p:txBody>
          <a:bodyPr/>
          <a:p/>
        </p:txBody>
      </p:sp>
      <p:sp>
        <p:nvSpPr>
          <p:cNvPr id="52" name="R5 card"/>
          <p:cNvSpPr/>
          <p:nvPr/>
        </p:nvSpPr>
        <p:spPr>
          <a:xfrm>
            <a:off x="1583741" y="5259629"/>
            <a:ext cx="5130698" cy="602590"/>
          </a:xfrm>
          <a:prstGeom prst="round1Rect">
            <a:avLst>
              <a:gd name="adj" fmla="val 23087"/>
            </a:avLst>
          </a:prstGeom>
          <a:solidFill>
            <a:srgbClr val="FFFFFF"/>
          </a:solidFill>
          <a:ln/>
        </p:spPr>
        <p:txBody>
          <a:bodyPr/>
          <a:p/>
        </p:txBody>
      </p:sp>
      <p:sp>
        <p:nvSpPr>
          <p:cNvPr id="53" name="R5 chip"/>
          <p:cNvSpPr/>
          <p:nvPr/>
        </p:nvSpPr>
        <p:spPr>
          <a:xfrm>
            <a:off x="544982" y="5259629"/>
            <a:ext cx="1039673" cy="602590"/>
          </a:xfrm>
          <a:prstGeom prst="rect">
            <a:avLst/>
          </a:prstGeom>
          <a:solidFill>
            <a:srgbClr val="B9D2F7"/>
          </a:solidFill>
          <a:ln/>
        </p:spPr>
        <p:txBody>
          <a:bodyPr/>
          <a:p/>
        </p:txBody>
      </p:sp>
      <p:sp>
        <p:nvSpPr>
          <p:cNvPr id="54" name="R5 num"/>
          <p:cNvSpPr/>
          <p:nvPr/>
        </p:nvSpPr>
        <p:spPr>
          <a:xfrm>
            <a:off x="686714" y="525962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05</a:t>
            </a:r>
            <a:endParaRPr lang="en-US" sz="3200" b="1" dirty="0"/>
          </a:p>
        </p:txBody>
      </p:sp>
      <p:sp>
        <p:nvSpPr>
          <p:cNvPr id="55" name="R5 text"/>
          <p:cNvSpPr/>
          <p:nvPr/>
        </p:nvSpPr>
        <p:spPr>
          <a:xfrm>
            <a:off x="1810512" y="5259629"/>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Write your partner's name and one thing your partner did last weekend.</a:t>
            </a:r>
            <a:endParaRPr lang="en-US" sz="1800" dirty="0"/>
          </a:p>
        </p:txBody>
      </p:sp>
      <p:sp>
        <p:nvSpPr>
          <p:cNvPr id="56" name="R5 dot"/>
          <p:cNvSpPr/>
          <p:nvPr/>
        </p:nvSpPr>
        <p:spPr>
          <a:xfrm rot="10800000">
            <a:off x="6361481" y="5393131"/>
            <a:ext cx="88697" cy="76810"/>
          </a:xfrm>
          <a:prstGeom prst="triangle">
            <a:avLst/>
          </a:prstGeom>
          <a:solidFill>
            <a:srgbClr val="8FAFE3"/>
          </a:solidFill>
          <a:ln/>
        </p:spPr>
        <p:txBody>
          <a:body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400"/>
                                        <p:tgtEl>
                                          <p:spTgt spid="32"/>
                                        </p:tgtEl>
                                      </p:cBhvr>
                                    </p:animEffect>
                                  </p:childTnLst>
                                </p:cTn>
                              </p:par>
                              <p:par>
                                <p:cTn id="11" presetID="10"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400"/>
                                        <p:tgtEl>
                                          <p:spTgt spid="33"/>
                                        </p:tgtEl>
                                      </p:cBhvr>
                                    </p:animEffect>
                                  </p:childTnLst>
                                </p:cTn>
                              </p:par>
                              <p:par>
                                <p:cTn id="14" presetID="10" presetClass="entr" presetSubtype="0" fill="hold"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400"/>
                                        <p:tgtEl>
                                          <p:spTgt spid="34"/>
                                        </p:tgtEl>
                                      </p:cBhvr>
                                    </p:animEffect>
                                  </p:childTnLst>
                                </p:cTn>
                              </p:par>
                              <p:par>
                                <p:cTn id="17" presetID="10"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par>
                                <p:cTn id="28" presetID="10"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400"/>
                                        <p:tgtEl>
                                          <p:spTgt spid="38"/>
                                        </p:tgtEl>
                                      </p:cBhvr>
                                    </p:animEffect>
                                  </p:childTnLst>
                                </p:cTn>
                              </p:par>
                              <p:par>
                                <p:cTn id="31" presetID="10" presetClass="entr" presetSubtype="0" fill="hold"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400"/>
                                        <p:tgtEl>
                                          <p:spTgt spid="39"/>
                                        </p:tgtEl>
                                      </p:cBhvr>
                                    </p:animEffect>
                                  </p:childTnLst>
                                </p:cTn>
                              </p:par>
                              <p:par>
                                <p:cTn id="34" presetID="10" presetClass="entr" presetSubtype="0" fill="hold" nodeType="withEffect">
                                  <p:stCondLst>
                                    <p:cond delay="0"/>
                                  </p:stCondLst>
                                  <p:childTnLst>
                                    <p:set>
                                      <p:cBhvr>
                                        <p:cTn id="35" dur="1" fill="hold">
                                          <p:stCondLst>
                                            <p:cond delay="0"/>
                                          </p:stCondLst>
                                        </p:cTn>
                                        <p:tgtEl>
                                          <p:spTgt spid="40"/>
                                        </p:tgtEl>
                                        <p:attrNameLst>
                                          <p:attrName>style.visibility</p:attrName>
                                        </p:attrNameLst>
                                      </p:cBhvr>
                                      <p:to>
                                        <p:strVal val="visible"/>
                                      </p:to>
                                    </p:set>
                                    <p:animEffect transition="in" filter="fade">
                                      <p:cBhvr>
                                        <p:cTn id="36" dur="400"/>
                                        <p:tgtEl>
                                          <p:spTgt spid="40"/>
                                        </p:tgtEl>
                                      </p:cBhvr>
                                    </p:animEffect>
                                  </p:childTnLst>
                                </p:cTn>
                              </p:par>
                              <p:par>
                                <p:cTn id="37" presetID="10" presetClass="entr" presetSubtype="0" fill="hold" nodeType="with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42"/>
                                        </p:tgtEl>
                                        <p:attrNameLst>
                                          <p:attrName>style.visibility</p:attrName>
                                        </p:attrNameLst>
                                      </p:cBhvr>
                                      <p:to>
                                        <p:strVal val="visible"/>
                                      </p:to>
                                    </p:set>
                                    <p:animEffect transition="in" filter="fade">
                                      <p:cBhvr>
                                        <p:cTn id="44" dur="400"/>
                                        <p:tgtEl>
                                          <p:spTgt spid="42"/>
                                        </p:tgtEl>
                                      </p:cBhvr>
                                    </p:animEffect>
                                  </p:childTnLst>
                                </p:cTn>
                              </p:par>
                              <p:par>
                                <p:cTn id="45" presetID="10" presetClass="entr" presetSubtype="0" fill="hold" nodeType="with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400"/>
                                        <p:tgtEl>
                                          <p:spTgt spid="43"/>
                                        </p:tgtEl>
                                      </p:cBhvr>
                                    </p:animEffect>
                                  </p:childTnLst>
                                </p:cTn>
                              </p:par>
                              <p:par>
                                <p:cTn id="48" presetID="10" presetClass="entr" presetSubtype="0" fill="hold" nodeType="withEffect">
                                  <p:stCondLst>
                                    <p:cond delay="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400"/>
                                        <p:tgtEl>
                                          <p:spTgt spid="44"/>
                                        </p:tgtEl>
                                      </p:cBhvr>
                                    </p:animEffect>
                                  </p:childTnLst>
                                </p:cTn>
                              </p:par>
                              <p:par>
                                <p:cTn id="51" presetID="10" presetClass="entr" presetSubtype="0" fill="hold" nodeType="withEffect">
                                  <p:stCondLst>
                                    <p:cond delay="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400"/>
                                        <p:tgtEl>
                                          <p:spTgt spid="45"/>
                                        </p:tgtEl>
                                      </p:cBhvr>
                                    </p:animEffect>
                                  </p:childTnLst>
                                </p:cTn>
                              </p:par>
                              <p:par>
                                <p:cTn id="54" presetID="10" presetClass="entr" presetSubtype="0" fill="hold" nodeType="withEffect">
                                  <p:stCondLst>
                                    <p:cond delay="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400"/>
                                        <p:tgtEl>
                                          <p:spTgt spid="46"/>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7"/>
                                        </p:tgtEl>
                                        <p:attrNameLst>
                                          <p:attrName>style.visibility</p:attrName>
                                        </p:attrNameLst>
                                      </p:cBhvr>
                                      <p:to>
                                        <p:strVal val="visible"/>
                                      </p:to>
                                    </p:set>
                                    <p:animEffect transition="in" filter="fade">
                                      <p:cBhvr>
                                        <p:cTn id="61" dur="400"/>
                                        <p:tgtEl>
                                          <p:spTgt spid="47"/>
                                        </p:tgtEl>
                                      </p:cBhvr>
                                    </p:animEffect>
                                  </p:childTnLst>
                                </p:cTn>
                              </p:par>
                              <p:par>
                                <p:cTn id="62" presetID="10"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animEffect transition="in" filter="fade">
                                      <p:cBhvr>
                                        <p:cTn id="64" dur="400"/>
                                        <p:tgtEl>
                                          <p:spTgt spid="48"/>
                                        </p:tgtEl>
                                      </p:cBhvr>
                                    </p:animEffect>
                                  </p:childTnLst>
                                </p:cTn>
                              </p:par>
                              <p:par>
                                <p:cTn id="65" presetID="10" presetClass="entr" presetSubtype="0" fill="hold" nodeType="withEffect">
                                  <p:stCondLst>
                                    <p:cond delay="0"/>
                                  </p:stCondLst>
                                  <p:childTnLst>
                                    <p:set>
                                      <p:cBhvr>
                                        <p:cTn id="66" dur="1" fill="hold">
                                          <p:stCondLst>
                                            <p:cond delay="0"/>
                                          </p:stCondLst>
                                        </p:cTn>
                                        <p:tgtEl>
                                          <p:spTgt spid="49"/>
                                        </p:tgtEl>
                                        <p:attrNameLst>
                                          <p:attrName>style.visibility</p:attrName>
                                        </p:attrNameLst>
                                      </p:cBhvr>
                                      <p:to>
                                        <p:strVal val="visible"/>
                                      </p:to>
                                    </p:set>
                                    <p:animEffect transition="in" filter="fade">
                                      <p:cBhvr>
                                        <p:cTn id="67" dur="400"/>
                                        <p:tgtEl>
                                          <p:spTgt spid="49"/>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400"/>
                                        <p:tgtEl>
                                          <p:spTgt spid="50"/>
                                        </p:tgtEl>
                                      </p:cBhvr>
                                    </p:animEffect>
                                  </p:childTnLst>
                                </p:cTn>
                              </p:par>
                              <p:par>
                                <p:cTn id="71" presetID="10" presetClass="entr" presetSubtype="0" fill="hold" nodeType="withEffect">
                                  <p:stCondLst>
                                    <p:cond delay="0"/>
                                  </p:stCondLst>
                                  <p:childTnLst>
                                    <p:set>
                                      <p:cBhvr>
                                        <p:cTn id="72" dur="1" fill="hold">
                                          <p:stCondLst>
                                            <p:cond delay="0"/>
                                          </p:stCondLst>
                                        </p:cTn>
                                        <p:tgtEl>
                                          <p:spTgt spid="51"/>
                                        </p:tgtEl>
                                        <p:attrNameLst>
                                          <p:attrName>style.visibility</p:attrName>
                                        </p:attrNameLst>
                                      </p:cBhvr>
                                      <p:to>
                                        <p:strVal val="visible"/>
                                      </p:to>
                                    </p:set>
                                    <p:animEffect transition="in" filter="fade">
                                      <p:cBhvr>
                                        <p:cTn id="73" dur="400"/>
                                        <p:tgtEl>
                                          <p:spTgt spid="51"/>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52"/>
                                        </p:tgtEl>
                                        <p:attrNameLst>
                                          <p:attrName>style.visibility</p:attrName>
                                        </p:attrNameLst>
                                      </p:cBhvr>
                                      <p:to>
                                        <p:strVal val="visible"/>
                                      </p:to>
                                    </p:set>
                                    <p:animEffect transition="in" filter="fade">
                                      <p:cBhvr>
                                        <p:cTn id="78" dur="400"/>
                                        <p:tgtEl>
                                          <p:spTgt spid="52"/>
                                        </p:tgtEl>
                                      </p:cBhvr>
                                    </p:animEffect>
                                  </p:childTnLst>
                                </p:cTn>
                              </p:par>
                              <p:par>
                                <p:cTn id="79" presetID="10" presetClass="entr" presetSubtype="0" fill="hold" nodeType="with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400"/>
                                        <p:tgtEl>
                                          <p:spTgt spid="53"/>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0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0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6"/>
                                        </p:tgtEl>
                                        <p:attrNameLst>
                                          <p:attrName>style.visibility</p:attrName>
                                        </p:attrNameLst>
                                      </p:cBhvr>
                                      <p:to>
                                        <p:strVal val="visible"/>
                                      </p:to>
                                    </p:set>
                                    <p:animEffect transition="in" filter="fade">
                                      <p:cBhvr>
                                        <p:cTn id="90"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name="L4:words">
    <p:bg>
      <p:bgPr>
        <a:solidFill>
          <a:srgbClr val="F1F5FB"/>
        </a:solidFill>
      </p:bgPr>
    </p:bg>
    <p:spTree>
      <p:nvGrpSpPr>
        <p:cNvPr id="1" name=""/>
        <p:cNvGrpSpPr/>
        <p:nvPr/>
      </p:nvGrpSpPr>
      <p:grpSpPr/>
      <p:sp>
        <p:nvSpPr>
          <p:cNvPr id="2" name="Shape 0"/>
          <p:cNvSpPr/>
          <p:nvPr/>
        </p:nvSpPr>
        <p:spPr>
          <a:xfrm flipH="1" flipV="1">
            <a:off x="541325" y="2231136"/>
            <a:ext cx="10958170" cy="4343400"/>
          </a:xfrm>
          <a:prstGeom prst="round1Rect">
            <a:avLst>
              <a:gd name="adj" fmla="val 23087"/>
            </a:avLst>
          </a:prstGeom>
          <a:solidFill>
            <a:srgbClr val="8FAFE3"/>
          </a:solidFill>
          <a:ln/>
        </p:spPr>
        <p:txBody>
          <a:bodyPr/>
          <a:p/>
        </p:txBody>
      </p:sp>
      <p:sp>
        <p:nvSpPr>
          <p:cNvPr id="3" name="Shape 1"/>
          <p:cNvSpPr/>
          <p:nvPr/>
        </p:nvSpPr>
        <p:spPr>
          <a:xfrm flipH="1" flipV="1">
            <a:off x="541325" y="2090318"/>
            <a:ext cx="10958170" cy="4343400"/>
          </a:xfrm>
          <a:prstGeom prst="round1Rect">
            <a:avLst>
              <a:gd name="adj" fmla="val 23087"/>
            </a:avLst>
          </a:prstGeom>
          <a:solidFill>
            <a:srgbClr val="B9D2F7"/>
          </a:solidFill>
          <a:ln/>
        </p:spPr>
        <p:txBody>
          <a:bodyPr/>
          <a:p/>
        </p:txBody>
      </p:sp>
      <p:sp>
        <p:nvSpPr>
          <p:cNvPr id="6" name="Shape 4"/>
          <p:cNvSpPr/>
          <p:nvPr/>
        </p:nvSpPr>
        <p:spPr>
          <a:xfrm>
            <a:off x="5630738" y="517002"/>
            <a:ext cx="6063386" cy="1331366"/>
          </a:xfrm>
          <a:prstGeom prst="roundRect">
            <a:avLst>
              <a:gd name="adj" fmla="val 16667"/>
            </a:avLst>
          </a:prstGeom>
          <a:solidFill>
            <a:srgbClr val="8FAFE3"/>
          </a:solidFill>
          <a:ln/>
        </p:spPr>
        <p:txBody>
          <a:bodyPr/>
          <a:p/>
        </p:txBody>
      </p:sp>
      <p:sp>
        <p:nvSpPr>
          <p:cNvPr id="7" name="Shape 5"/>
          <p:cNvSpPr/>
          <p:nvPr/>
        </p:nvSpPr>
        <p:spPr>
          <a:xfrm>
            <a:off x="5666537" y="462686"/>
            <a:ext cx="6063386" cy="1331366"/>
          </a:xfrm>
          <a:prstGeom prst="roundRect">
            <a:avLst>
              <a:gd name="adj" fmla="val 16667"/>
            </a:avLst>
          </a:prstGeom>
          <a:solidFill>
            <a:srgbClr val="FFFFFF"/>
          </a:solidFill>
          <a:ln/>
        </p:spPr>
        <p:txBody>
          <a:bodyPr/>
          <a:p/>
        </p:txBody>
      </p:sp>
      <p:sp>
        <p:nvSpPr>
          <p:cNvPr id="8" name="title"/>
          <p:cNvSpPr/>
          <p:nvPr/>
        </p:nvSpPr>
        <p:spPr>
          <a:xfrm>
            <a:off x="5938114" y="594360"/>
            <a:ext cx="5669280" cy="1143000"/>
          </a:xfrm>
          <a:prstGeom prst="rect">
            <a:avLst/>
          </a:prstGeom>
          <a:noFill/>
          <a:ln/>
        </p:spPr>
        <p:txBody>
          <a:bodyPr wrap="square" rtlCol="0" anchor="ctr"/>
          <a:lstStyle/>
          <a:p>
            <a:pPr algn="l" indent="0" marL="0">
              <a:buNone/>
            </a:pPr>
            <a:r>
              <a:rPr lang="en-US" sz="4900" dirty="0" b="1">
                <a:solidFill>
                  <a:srgbClr val="1B2236"/>
                </a:solidFill>
                <a:latin typeface="Lexend Deca" pitchFamily="34" charset="0"/>
                <a:ea typeface="Lexend Deca" pitchFamily="34" charset="-122"/>
                <a:cs typeface="Lexend Deca" pitchFamily="34" charset="-120"/>
              </a:rPr>
              <a:t>New Words</a:t>
            </a:r>
            <a:endParaRPr lang="en-US" sz="4900" dirty="0" b="1"/>
          </a:p>
        </p:txBody>
      </p:sp>
      <p:sp>
        <p:nvSpPr>
          <p:cNvPr id="9" name="instr card"/>
          <p:cNvSpPr/>
          <p:nvPr/>
        </p:nvSpPr>
        <p:spPr>
          <a:xfrm>
            <a:off x="1121969" y="587045"/>
            <a:ext cx="3557930" cy="1143000"/>
          </a:xfrm>
          <a:prstGeom prst="round1Rect">
            <a:avLst>
              <a:gd name="adj" fmla="val 23087"/>
            </a:avLst>
          </a:prstGeom>
          <a:solidFill>
            <a:srgbClr val="FFFFFF"/>
          </a:solidFill>
          <a:ln/>
        </p:spPr>
        <p:txBody>
          <a:bodyPr/>
          <a:p/>
        </p:txBody>
      </p:sp>
      <p:sp>
        <p:nvSpPr>
          <p:cNvPr id="13" name="instr"/>
          <p:cNvSpPr/>
          <p:nvPr/>
        </p:nvSpPr>
        <p:spPr>
          <a:xfrm>
            <a:off x="1325880" y="685800"/>
            <a:ext cx="2468880" cy="9601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Look. Listen.</a:t>
            </a:r>
            <a:endParaRPr lang="en-US" sz="2200" dirty="0" b="1"/>
          </a:p>
          <a:p>
            <a:pPr algn="l" indent="0" marL="0">
              <a:buNone/>
            </a:pPr>
            <a:r>
              <a:rPr lang="en-US" sz="2200" dirty="0" b="1">
                <a:solidFill>
                  <a:srgbClr val="1B2236"/>
                </a:solidFill>
                <a:latin typeface="Lexend Deca" pitchFamily="34" charset="0"/>
                <a:ea typeface="Lexend Deca" pitchFamily="34" charset="-122"/>
                <a:cs typeface="Lexend Deca" pitchFamily="34" charset="-120"/>
              </a:rPr>
              <a:t>Repeat.</a:t>
            </a:r>
            <a:endParaRPr lang="en-US" sz="2200" dirty="0" b="1"/>
          </a:p>
        </p:txBody>
      </p:sp>
      <p:pic>
        <p:nvPicPr>
          <p:cNvPr id="17" name="Word picture 1" descr="Try (a new food): a person and sushi [sign: NEW!]"/>
          <p:cNvPicPr>
            <a:picLocks noChangeAspect="1"/>
          </p:cNvPicPr>
          <p:nvPr/>
        </p:nvPicPr>
        <p:blipFill>
          <a:blip r:embed="rId8"/>
          <a:stretch>
            <a:fillRect/>
          </a:stretch>
        </p:blipFill>
        <p:spPr>
          <a:xfrm>
            <a:off x="1448410" y="2286000"/>
            <a:ext cx="1920240" cy="1344168"/>
          </a:xfrm>
          <a:prstGeom prst="rect">
            <a:avLst/>
          </a:prstGeom>
        </p:spPr>
      </p:pic>
      <p:sp>
        <p:nvSpPr>
          <p:cNvPr id="18" name="Word label 1"/>
          <p:cNvSpPr/>
          <p:nvPr/>
        </p:nvSpPr>
        <p:spPr>
          <a:xfrm>
            <a:off x="85405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800" dirty="0" b="1">
                <a:solidFill>
                  <a:srgbClr val="5B3FC4"/>
                </a:solidFill>
                <a:latin typeface="Lexend Deca" pitchFamily="34" charset="0"/>
                <a:ea typeface="Lexend Deca" pitchFamily="34" charset="-122"/>
                <a:cs typeface="Lexend Deca" pitchFamily="34" charset="-120"/>
              </a:rPr>
              <a:t>★</a:t>
            </a:r>
            <a:r>
              <a:rPr lang="en-US" sz="1800" dirty="0" b="1">
                <a:solidFill>
                  <a:srgbClr val="1B2236"/>
                </a:solidFill>
                <a:latin typeface="Lexend Deca" pitchFamily="34" charset="0"/>
                <a:ea typeface="Lexend Deca" pitchFamily="34" charset="-122"/>
                <a:cs typeface="Lexend Deca" pitchFamily="34" charset="-120"/>
              </a:rPr>
              <a:t> try (a new food)</a:t>
            </a:r>
            <a:endParaRPr lang="en-US" sz="1800" dirty="0" b="1"/>
          </a:p>
        </p:txBody>
      </p:sp>
      <p:pic>
        <p:nvPicPr>
          <p:cNvPr id="19" name="Word picture 2" descr="Travel: a suitcase and a map"/>
          <p:cNvPicPr>
            <a:picLocks noChangeAspect="1"/>
          </p:cNvPicPr>
          <p:nvPr/>
        </p:nvPicPr>
        <p:blipFill>
          <a:blip r:embed="rId9"/>
          <a:stretch>
            <a:fillRect/>
          </a:stretch>
        </p:blipFill>
        <p:spPr>
          <a:xfrm>
            <a:off x="5060290" y="2286000"/>
            <a:ext cx="1920240" cy="1344168"/>
          </a:xfrm>
          <a:prstGeom prst="rect">
            <a:avLst/>
          </a:prstGeom>
        </p:spPr>
      </p:pic>
      <p:sp>
        <p:nvSpPr>
          <p:cNvPr id="20" name="Word label 2"/>
          <p:cNvSpPr/>
          <p:nvPr/>
        </p:nvSpPr>
        <p:spPr>
          <a:xfrm>
            <a:off x="446593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travel</a:t>
            </a:r>
            <a:endParaRPr lang="en-US" sz="2000" dirty="0" b="1"/>
          </a:p>
        </p:txBody>
      </p:sp>
      <p:pic>
        <p:nvPicPr>
          <p:cNvPr id="21" name="Word picture 3" descr="Fly: an airplane"/>
          <p:cNvPicPr>
            <a:picLocks noChangeAspect="1"/>
          </p:cNvPicPr>
          <p:nvPr/>
        </p:nvPicPr>
        <p:blipFill>
          <a:blip r:embed="rId10"/>
          <a:stretch>
            <a:fillRect/>
          </a:stretch>
        </p:blipFill>
        <p:spPr>
          <a:xfrm>
            <a:off x="8672170" y="2286000"/>
            <a:ext cx="1920240" cy="1344168"/>
          </a:xfrm>
          <a:prstGeom prst="rect">
            <a:avLst/>
          </a:prstGeom>
        </p:spPr>
      </p:pic>
      <p:sp>
        <p:nvSpPr>
          <p:cNvPr id="22" name="Word label 3"/>
          <p:cNvSpPr/>
          <p:nvPr/>
        </p:nvSpPr>
        <p:spPr>
          <a:xfrm>
            <a:off x="807781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fly</a:t>
            </a:r>
            <a:endParaRPr lang="en-US" sz="2000" dirty="0" b="1"/>
          </a:p>
        </p:txBody>
      </p:sp>
      <p:pic>
        <p:nvPicPr>
          <p:cNvPr id="23" name="Word picture 4" descr="Snow: a snowman and a snowflake"/>
          <p:cNvPicPr>
            <a:picLocks noChangeAspect="1"/>
          </p:cNvPicPr>
          <p:nvPr/>
        </p:nvPicPr>
        <p:blipFill>
          <a:blip r:embed="rId11"/>
          <a:stretch>
            <a:fillRect/>
          </a:stretch>
        </p:blipFill>
        <p:spPr>
          <a:xfrm>
            <a:off x="1448410" y="4315968"/>
            <a:ext cx="1920240" cy="1344168"/>
          </a:xfrm>
          <a:prstGeom prst="rect">
            <a:avLst/>
          </a:prstGeom>
        </p:spPr>
      </p:pic>
      <p:sp>
        <p:nvSpPr>
          <p:cNvPr id="24" name="Word label 4"/>
          <p:cNvSpPr/>
          <p:nvPr/>
        </p:nvSpPr>
        <p:spPr>
          <a:xfrm>
            <a:off x="85405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snow</a:t>
            </a:r>
            <a:endParaRPr lang="en-US" sz="2000" dirty="0" b="1"/>
          </a:p>
        </p:txBody>
      </p:sp>
      <p:pic>
        <p:nvPicPr>
          <p:cNvPr id="25" name="Word picture 5" descr="Ocean: an ocean wave"/>
          <p:cNvPicPr>
            <a:picLocks noChangeAspect="1"/>
          </p:cNvPicPr>
          <p:nvPr/>
        </p:nvPicPr>
        <p:blipFill>
          <a:blip r:embed="rId12"/>
          <a:stretch>
            <a:fillRect/>
          </a:stretch>
        </p:blipFill>
        <p:spPr>
          <a:xfrm>
            <a:off x="5060290" y="4315968"/>
            <a:ext cx="1920240" cy="1344168"/>
          </a:xfrm>
          <a:prstGeom prst="rect">
            <a:avLst/>
          </a:prstGeom>
        </p:spPr>
      </p:pic>
      <p:sp>
        <p:nvSpPr>
          <p:cNvPr id="26" name="Word label 5"/>
          <p:cNvSpPr/>
          <p:nvPr/>
        </p:nvSpPr>
        <p:spPr>
          <a:xfrm>
            <a:off x="446593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ocean</a:t>
            </a:r>
            <a:endParaRPr lang="en-US" sz="2000" dirty="0" b="1"/>
          </a:p>
        </p:txBody>
      </p:sp>
      <p:pic>
        <p:nvPicPr>
          <p:cNvPr id="27" name="Word picture 6" descr="Mountain: a snowy mountain"/>
          <p:cNvPicPr>
            <a:picLocks noChangeAspect="1"/>
          </p:cNvPicPr>
          <p:nvPr/>
        </p:nvPicPr>
        <p:blipFill>
          <a:blip r:embed="rId13"/>
          <a:stretch>
            <a:fillRect/>
          </a:stretch>
        </p:blipFill>
        <p:spPr>
          <a:xfrm>
            <a:off x="8672170" y="4315968"/>
            <a:ext cx="1920240" cy="1344168"/>
          </a:xfrm>
          <a:prstGeom prst="rect">
            <a:avLst/>
          </a:prstGeom>
        </p:spPr>
      </p:pic>
      <p:sp>
        <p:nvSpPr>
          <p:cNvPr id="28" name="Word label 6"/>
          <p:cNvSpPr/>
          <p:nvPr/>
        </p:nvSpPr>
        <p:spPr>
          <a:xfrm>
            <a:off x="807781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mountain</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name="L4:words">
    <p:bg>
      <p:bgPr>
        <a:solidFill>
          <a:srgbClr val="F1F5FB"/>
        </a:solidFill>
      </p:bgPr>
    </p:bg>
    <p:spTree>
      <p:nvGrpSpPr>
        <p:cNvPr id="1" name=""/>
        <p:cNvGrpSpPr/>
        <p:nvPr/>
      </p:nvGrpSpPr>
      <p:grpSpPr/>
      <p:sp>
        <p:nvSpPr>
          <p:cNvPr id="2" name="Shape 0"/>
          <p:cNvSpPr/>
          <p:nvPr/>
        </p:nvSpPr>
        <p:spPr>
          <a:xfrm flipH="1" flipV="1">
            <a:off x="541325" y="2231136"/>
            <a:ext cx="10958170" cy="4343400"/>
          </a:xfrm>
          <a:prstGeom prst="round1Rect">
            <a:avLst>
              <a:gd name="adj" fmla="val 23087"/>
            </a:avLst>
          </a:prstGeom>
          <a:solidFill>
            <a:srgbClr val="8FAFE3"/>
          </a:solidFill>
          <a:ln/>
        </p:spPr>
        <p:txBody>
          <a:bodyPr/>
          <a:p/>
        </p:txBody>
      </p:sp>
      <p:sp>
        <p:nvSpPr>
          <p:cNvPr id="3" name="Shape 1"/>
          <p:cNvSpPr/>
          <p:nvPr/>
        </p:nvSpPr>
        <p:spPr>
          <a:xfrm flipH="1" flipV="1">
            <a:off x="541325" y="2090318"/>
            <a:ext cx="10958170" cy="4343400"/>
          </a:xfrm>
          <a:prstGeom prst="round1Rect">
            <a:avLst>
              <a:gd name="adj" fmla="val 23087"/>
            </a:avLst>
          </a:prstGeom>
          <a:solidFill>
            <a:srgbClr val="B9D2F7"/>
          </a:solidFill>
          <a:ln/>
        </p:spPr>
        <p:txBody>
          <a:bodyPr/>
          <a:p/>
        </p:txBody>
      </p:sp>
      <p:sp>
        <p:nvSpPr>
          <p:cNvPr id="6" name="Shape 4"/>
          <p:cNvSpPr/>
          <p:nvPr/>
        </p:nvSpPr>
        <p:spPr>
          <a:xfrm>
            <a:off x="5630738" y="517002"/>
            <a:ext cx="6063386" cy="1331366"/>
          </a:xfrm>
          <a:prstGeom prst="roundRect">
            <a:avLst>
              <a:gd name="adj" fmla="val 16667"/>
            </a:avLst>
          </a:prstGeom>
          <a:solidFill>
            <a:srgbClr val="8FAFE3"/>
          </a:solidFill>
          <a:ln/>
        </p:spPr>
        <p:txBody>
          <a:bodyPr/>
          <a:p/>
        </p:txBody>
      </p:sp>
      <p:sp>
        <p:nvSpPr>
          <p:cNvPr id="7" name="Shape 5"/>
          <p:cNvSpPr/>
          <p:nvPr/>
        </p:nvSpPr>
        <p:spPr>
          <a:xfrm>
            <a:off x="5666537" y="462686"/>
            <a:ext cx="6063386" cy="1331366"/>
          </a:xfrm>
          <a:prstGeom prst="roundRect">
            <a:avLst>
              <a:gd name="adj" fmla="val 16667"/>
            </a:avLst>
          </a:prstGeom>
          <a:solidFill>
            <a:srgbClr val="FFFFFF"/>
          </a:solidFill>
          <a:ln/>
        </p:spPr>
        <p:txBody>
          <a:bodyPr/>
          <a:p/>
        </p:txBody>
      </p:sp>
      <p:sp>
        <p:nvSpPr>
          <p:cNvPr id="8" name="title"/>
          <p:cNvSpPr/>
          <p:nvPr/>
        </p:nvSpPr>
        <p:spPr>
          <a:xfrm>
            <a:off x="5938114" y="594360"/>
            <a:ext cx="5669280" cy="1143000"/>
          </a:xfrm>
          <a:prstGeom prst="rect">
            <a:avLst/>
          </a:prstGeom>
          <a:noFill/>
          <a:ln/>
        </p:spPr>
        <p:txBody>
          <a:bodyPr wrap="square" rtlCol="0" anchor="ctr"/>
          <a:lstStyle/>
          <a:p>
            <a:pPr algn="l" indent="0" marL="0">
              <a:buNone/>
            </a:pPr>
            <a:r>
              <a:rPr lang="en-US" sz="4900" dirty="0" b="1">
                <a:solidFill>
                  <a:srgbClr val="1B2236"/>
                </a:solidFill>
                <a:latin typeface="Lexend Deca" pitchFamily="34" charset="0"/>
                <a:ea typeface="Lexend Deca" pitchFamily="34" charset="-122"/>
                <a:cs typeface="Lexend Deca" pitchFamily="34" charset="-120"/>
              </a:rPr>
              <a:t>More New Words</a:t>
            </a:r>
            <a:endParaRPr lang="en-US" sz="4900" dirty="0" b="1"/>
          </a:p>
        </p:txBody>
      </p:sp>
      <p:sp>
        <p:nvSpPr>
          <p:cNvPr id="9" name="instr card"/>
          <p:cNvSpPr/>
          <p:nvPr/>
        </p:nvSpPr>
        <p:spPr>
          <a:xfrm>
            <a:off x="1121969" y="587045"/>
            <a:ext cx="3291840" cy="1143000"/>
          </a:xfrm>
          <a:prstGeom prst="round1Rect">
            <a:avLst>
              <a:gd name="adj" fmla="val 23087"/>
            </a:avLst>
          </a:prstGeom>
          <a:solidFill>
            <a:srgbClr val="FFFFFF"/>
          </a:solidFill>
          <a:ln/>
        </p:spPr>
        <p:txBody>
          <a:bodyPr/>
          <a:p/>
        </p:txBody>
      </p:sp>
      <p:sp>
        <p:nvSpPr>
          <p:cNvPr id="13" name="instr"/>
          <p:cNvSpPr/>
          <p:nvPr/>
        </p:nvSpPr>
        <p:spPr>
          <a:xfrm>
            <a:off x="1325880" y="685800"/>
            <a:ext cx="2880360" cy="9601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Partner game:</a:t>
            </a:r>
            <a:endParaRPr lang="en-US" sz="2200" dirty="0" b="1"/>
          </a:p>
          <a:p>
            <a:pPr algn="l" indent="0" marL="0">
              <a:buNone/>
            </a:pPr>
            <a:r>
              <a:rPr lang="en-US" sz="2200" dirty="0" b="1">
                <a:solidFill>
                  <a:srgbClr val="1B2236"/>
                </a:solidFill>
                <a:latin typeface="Lexend Deca" pitchFamily="34" charset="0"/>
                <a:ea typeface="Lexend Deca" pitchFamily="34" charset="-122"/>
                <a:cs typeface="Lexend Deca" pitchFamily="34" charset="-120"/>
              </a:rPr>
              <a:t>Yes, I have! / No, never!</a:t>
            </a:r>
            <a:endParaRPr lang="en-US" sz="2200" dirty="0" b="1"/>
          </a:p>
        </p:txBody>
      </p:sp>
      <p:pic>
        <p:nvPicPr>
          <p:cNvPr id="17" name="Word picture 1" descr="Desert: a desert and a cactus"/>
          <p:cNvPicPr>
            <a:picLocks noChangeAspect="1"/>
          </p:cNvPicPr>
          <p:nvPr/>
        </p:nvPicPr>
        <p:blipFill>
          <a:blip r:embed="rId8"/>
          <a:stretch>
            <a:fillRect/>
          </a:stretch>
        </p:blipFill>
        <p:spPr>
          <a:xfrm>
            <a:off x="1448410" y="2286000"/>
            <a:ext cx="1920240" cy="1344168"/>
          </a:xfrm>
          <a:prstGeom prst="rect">
            <a:avLst/>
          </a:prstGeom>
        </p:spPr>
      </p:pic>
      <p:sp>
        <p:nvSpPr>
          <p:cNvPr id="18" name="Word label 1"/>
          <p:cNvSpPr/>
          <p:nvPr/>
        </p:nvSpPr>
        <p:spPr>
          <a:xfrm>
            <a:off x="85405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desert</a:t>
            </a:r>
            <a:endParaRPr lang="en-US" sz="2000" dirty="0" b="1"/>
          </a:p>
        </p:txBody>
      </p:sp>
      <p:pic>
        <p:nvPicPr>
          <p:cNvPr id="19" name="Word picture 2" descr="Win a prize: a trophy [sign: 1st PRIZE]"/>
          <p:cNvPicPr>
            <a:picLocks noChangeAspect="1"/>
          </p:cNvPicPr>
          <p:nvPr/>
        </p:nvPicPr>
        <p:blipFill>
          <a:blip r:embed="rId9"/>
          <a:stretch>
            <a:fillRect/>
          </a:stretch>
        </p:blipFill>
        <p:spPr>
          <a:xfrm>
            <a:off x="5060290" y="2286000"/>
            <a:ext cx="1920240" cy="1344168"/>
          </a:xfrm>
          <a:prstGeom prst="rect">
            <a:avLst/>
          </a:prstGeom>
        </p:spPr>
      </p:pic>
      <p:sp>
        <p:nvSpPr>
          <p:cNvPr id="20" name="Word label 2"/>
          <p:cNvSpPr/>
          <p:nvPr/>
        </p:nvSpPr>
        <p:spPr>
          <a:xfrm>
            <a:off x="446593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win a prize</a:t>
            </a:r>
            <a:endParaRPr lang="en-US" sz="2000" dirty="0" b="1"/>
          </a:p>
        </p:txBody>
      </p:sp>
      <p:pic>
        <p:nvPicPr>
          <p:cNvPr id="21" name="Word picture 3" descr="Ride a horse: a person riding a horse"/>
          <p:cNvPicPr>
            <a:picLocks noChangeAspect="1"/>
          </p:cNvPicPr>
          <p:nvPr/>
        </p:nvPicPr>
        <p:blipFill>
          <a:blip r:embed="rId10"/>
          <a:stretch>
            <a:fillRect/>
          </a:stretch>
        </p:blipFill>
        <p:spPr>
          <a:xfrm>
            <a:off x="8672170" y="2286000"/>
            <a:ext cx="1920240" cy="1344168"/>
          </a:xfrm>
          <a:prstGeom prst="rect">
            <a:avLst/>
          </a:prstGeom>
        </p:spPr>
      </p:pic>
      <p:sp>
        <p:nvSpPr>
          <p:cNvPr id="22" name="Word label 3"/>
          <p:cNvSpPr/>
          <p:nvPr/>
        </p:nvSpPr>
        <p:spPr>
          <a:xfrm>
            <a:off x="807781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ride a horse</a:t>
            </a:r>
            <a:endParaRPr lang="en-US" sz="2000" dirty="0" b="1"/>
          </a:p>
        </p:txBody>
      </p:sp>
      <p:pic>
        <p:nvPicPr>
          <p:cNvPr id="23" name="Word picture 4" descr="Run a race: a runner and a medal [sign: 5K]"/>
          <p:cNvPicPr>
            <a:picLocks noChangeAspect="1"/>
          </p:cNvPicPr>
          <p:nvPr/>
        </p:nvPicPr>
        <p:blipFill>
          <a:blip r:embed="rId11"/>
          <a:stretch>
            <a:fillRect/>
          </a:stretch>
        </p:blipFill>
        <p:spPr>
          <a:xfrm>
            <a:off x="1448410" y="4315968"/>
            <a:ext cx="1920240" cy="1344168"/>
          </a:xfrm>
          <a:prstGeom prst="rect">
            <a:avLst/>
          </a:prstGeom>
        </p:spPr>
      </p:pic>
      <p:sp>
        <p:nvSpPr>
          <p:cNvPr id="24" name="Word label 4"/>
          <p:cNvSpPr/>
          <p:nvPr/>
        </p:nvSpPr>
        <p:spPr>
          <a:xfrm>
            <a:off x="85405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run a race</a:t>
            </a:r>
            <a:endParaRPr lang="en-US" sz="2000" dirty="0" b="1"/>
          </a:p>
        </p:txBody>
      </p:sp>
      <p:pic>
        <p:nvPicPr>
          <p:cNvPr id="25" name="Word picture 5" descr="Go camping: a tent at a campsite"/>
          <p:cNvPicPr>
            <a:picLocks noChangeAspect="1"/>
          </p:cNvPicPr>
          <p:nvPr/>
        </p:nvPicPr>
        <p:blipFill>
          <a:blip r:embed="rId12"/>
          <a:stretch>
            <a:fillRect/>
          </a:stretch>
        </p:blipFill>
        <p:spPr>
          <a:xfrm>
            <a:off x="5060290" y="4315968"/>
            <a:ext cx="1920240" cy="1344168"/>
          </a:xfrm>
          <a:prstGeom prst="rect">
            <a:avLst/>
          </a:prstGeom>
        </p:spPr>
      </p:pic>
      <p:sp>
        <p:nvSpPr>
          <p:cNvPr id="26" name="Word label 5"/>
          <p:cNvSpPr/>
          <p:nvPr/>
        </p:nvSpPr>
        <p:spPr>
          <a:xfrm>
            <a:off x="446593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go camping</a:t>
            </a:r>
            <a:endParaRPr lang="en-US" sz="2000" dirty="0" b="1"/>
          </a:p>
        </p:txBody>
      </p:sp>
      <p:pic>
        <p:nvPicPr>
          <p:cNvPr id="27" name="Word picture 6" descr="See a famous person: a singer and a camera [sign: FAMOUS!]"/>
          <p:cNvPicPr>
            <a:picLocks noChangeAspect="1"/>
          </p:cNvPicPr>
          <p:nvPr/>
        </p:nvPicPr>
        <p:blipFill>
          <a:blip r:embed="rId13"/>
          <a:stretch>
            <a:fillRect/>
          </a:stretch>
        </p:blipFill>
        <p:spPr>
          <a:xfrm>
            <a:off x="8672170" y="4315968"/>
            <a:ext cx="1920240" cy="1344168"/>
          </a:xfrm>
          <a:prstGeom prst="rect">
            <a:avLst/>
          </a:prstGeom>
        </p:spPr>
      </p:pic>
      <p:sp>
        <p:nvSpPr>
          <p:cNvPr id="28" name="Word label 6"/>
          <p:cNvSpPr/>
          <p:nvPr/>
        </p:nvSpPr>
        <p:spPr>
          <a:xfrm>
            <a:off x="807781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800" dirty="0" b="1">
                <a:solidFill>
                  <a:srgbClr val="1B2236"/>
                </a:solidFill>
                <a:latin typeface="Lexend Deca" pitchFamily="34" charset="0"/>
                <a:ea typeface="Lexend Deca" pitchFamily="34" charset="-122"/>
                <a:cs typeface="Lexend Deca" pitchFamily="34" charset="-120"/>
              </a:rPr>
              <a:t>see a famous person</a:t>
            </a:r>
            <a:endParaRPr lang="en-US" sz="18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name="L4:check">
    <p:bg>
      <p:bgPr>
        <a:solidFill>
          <a:srgbClr val="F1F5FB"/>
        </a:solidFill>
      </p:bgPr>
    </p:bg>
    <p:spTree>
      <p:nvGrpSpPr>
        <p:cNvPr id="1" name=""/>
        <p:cNvGrpSpPr/>
        <p:nvPr/>
      </p:nvGrpSpPr>
      <p:grpSpPr/>
      <p:sp>
        <p:nvSpPr>
          <p:cNvPr id="2" name="title"/>
          <p:cNvSpPr/>
          <p:nvPr/>
        </p:nvSpPr>
        <p:spPr>
          <a:xfrm>
            <a:off x="685800" y="502920"/>
            <a:ext cx="10789920" cy="1005840"/>
          </a:xfrm>
          <a:prstGeom prst="rect">
            <a:avLst/>
          </a:prstGeom>
          <a:noFill/>
          <a:ln/>
        </p:spPr>
        <p:txBody>
          <a:bodyPr wrap="square" rtlCol="0" anchor="ctr"/>
          <a:lstStyle/>
          <a:p>
            <a:pPr algn="l" indent="0" marL="0">
              <a:buNone/>
            </a:pPr>
            <a:r>
              <a:rPr lang="en-US" sz="4300" dirty="0" b="1">
                <a:solidFill>
                  <a:srgbClr val="1B2236"/>
                </a:solidFill>
                <a:latin typeface="Lexend Deca" pitchFamily="34" charset="0"/>
                <a:ea typeface="Lexend Deca" pitchFamily="34" charset="-122"/>
                <a:cs typeface="Lexend Deca" pitchFamily="34" charset="-120"/>
              </a:rPr>
              <a:t>Check the Meaning</a:t>
            </a:r>
            <a:endParaRPr lang="en-US" sz="4300" dirty="0" b="1"/>
          </a:p>
        </p:txBody>
      </p:sp>
      <p:sp>
        <p:nvSpPr>
          <p:cNvPr id="3" name="sub"/>
          <p:cNvSpPr/>
          <p:nvPr/>
        </p:nvSpPr>
        <p:spPr>
          <a:xfrm>
            <a:off x="685800" y="1554480"/>
            <a:ext cx="10789920" cy="548640"/>
          </a:xfrm>
          <a:prstGeom prst="rect">
            <a:avLst/>
          </a:prstGeom>
          <a:noFill/>
          <a:ln/>
        </p:spPr>
        <p:txBody>
          <a:bodyPr wrap="square" rtlCol="0" anchor="t"/>
          <a:lstStyle/>
          <a:p>
            <a:pPr algn="l" indent="0" marL="0">
              <a:buNone/>
            </a:pPr>
            <a:r>
              <a:rPr lang="en-US" sz="2400" dirty="0">
                <a:solidFill>
                  <a:srgbClr val="1B2236"/>
                </a:solidFill>
                <a:latin typeface="Lexend Deca" pitchFamily="34" charset="0"/>
                <a:ea typeface="Lexend Deca" pitchFamily="34" charset="-122"/>
                <a:cs typeface="Lexend Deca" pitchFamily="34" charset="-120"/>
              </a:rPr>
              <a:t>Look at the picture. Answer the question.</a:t>
            </a:r>
            <a:endParaRPr lang="en-US" sz="2400" dirty="0"/>
          </a:p>
        </p:txBody>
      </p:sp>
      <p:sp>
        <p:nvSpPr>
          <p:cNvPr id="4" name="R1 shadow"/>
          <p:cNvSpPr/>
          <p:nvPr/>
        </p:nvSpPr>
        <p:spPr>
          <a:xfrm>
            <a:off x="758952" y="2395728"/>
            <a:ext cx="3291840" cy="3383280"/>
          </a:xfrm>
          <a:prstGeom prst="round1Rect">
            <a:avLst>
              <a:gd name="adj" fmla="val 23087"/>
            </a:avLst>
          </a:prstGeom>
          <a:solidFill>
            <a:srgbClr val="8FAFE3"/>
          </a:solidFill>
          <a:ln/>
        </p:spPr>
        <p:txBody>
          <a:bodyPr/>
          <a:p/>
        </p:txBody>
      </p:sp>
      <p:sp>
        <p:nvSpPr>
          <p:cNvPr id="5" name="R1 card"/>
          <p:cNvSpPr/>
          <p:nvPr/>
        </p:nvSpPr>
        <p:spPr>
          <a:xfrm>
            <a:off x="685800" y="2286000"/>
            <a:ext cx="3291840" cy="3383280"/>
          </a:xfrm>
          <a:prstGeom prst="round1Rect">
            <a:avLst>
              <a:gd name="adj" fmla="val 23087"/>
            </a:avLst>
          </a:prstGeom>
          <a:solidFill>
            <a:srgbClr val="FFFFFF"/>
          </a:solidFill>
          <a:ln w="19050">
            <a:solidFill>
              <a:srgbClr val="8FAFE3"/>
            </a:solidFill>
            <a:prstDash val="solid"/>
          </a:ln>
        </p:spPr>
        <p:txBody>
          <a:bodyPr/>
          <a:p/>
        </p:txBody>
      </p:sp>
      <p:sp>
        <p:nvSpPr>
          <p:cNvPr id="6" name="R1 circle"/>
          <p:cNvSpPr/>
          <p:nvPr/>
        </p:nvSpPr>
        <p:spPr>
          <a:xfrm>
            <a:off x="960120" y="2560320"/>
            <a:ext cx="731520" cy="731520"/>
          </a:xfrm>
          <a:prstGeom prst="ellipse">
            <a:avLst/>
          </a:prstGeom>
          <a:solidFill>
            <a:srgbClr val="FFE28C"/>
          </a:solidFill>
          <a:ln/>
        </p:spPr>
        <p:txBody>
          <a:bodyPr/>
          <a:p/>
        </p:txBody>
      </p:sp>
      <p:sp>
        <p:nvSpPr>
          <p:cNvPr id="7" name="R1 num"/>
          <p:cNvSpPr/>
          <p:nvPr/>
        </p:nvSpPr>
        <p:spPr>
          <a:xfrm>
            <a:off x="9601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1</a:t>
            </a:r>
            <a:endParaRPr lang="en-US" sz="2500" dirty="0"/>
          </a:p>
        </p:txBody>
      </p:sp>
      <p:sp>
        <p:nvSpPr>
          <p:cNvPr id="8" name="R1 q"/>
          <p:cNvSpPr/>
          <p:nvPr/>
        </p:nvSpPr>
        <p:spPr>
          <a:xfrm>
            <a:off x="960120" y="3931920"/>
            <a:ext cx="2788920" cy="731520"/>
          </a:xfrm>
          <a:prstGeom prst="rect">
            <a:avLst/>
          </a:prstGeom>
          <a:noFill/>
          <a:ln/>
        </p:spPr>
        <p:txBody>
          <a:bodyPr wrap="square" rtlCol="0" anchor="t"/>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Is the ocean salty or sweet?</a:t>
            </a:r>
            <a:endParaRPr lang="en-US" sz="1800" dirty="0" b="1"/>
          </a:p>
        </p:txBody>
      </p:sp>
      <p:pic>
        <p:nvPicPr>
          <p:cNvPr id="101" name="R1 pic" descr="Ocean: an ocean wave"/>
          <p:cNvPicPr>
            <a:picLocks noChangeAspect="1"/>
          </p:cNvPicPr>
          <p:nvPr/>
        </p:nvPicPr>
        <p:blipFill>
          <a:blip r:embed="rId5"/>
          <a:stretch>
            <a:fillRect/>
          </a:stretch>
        </p:blipFill>
        <p:spPr>
          <a:xfrm>
            <a:off x="1783080" y="2560320"/>
            <a:ext cx="1920240" cy="1344168"/>
          </a:xfrm>
          <a:prstGeom prst="rect">
            <a:avLst/>
          </a:prstGeom>
        </p:spPr>
      </p:pic>
      <p:sp>
        <p:nvSpPr>
          <p:cNvPr id="10" name="R2 shadow"/>
          <p:cNvSpPr/>
          <p:nvPr/>
        </p:nvSpPr>
        <p:spPr>
          <a:xfrm>
            <a:off x="4416552" y="2395728"/>
            <a:ext cx="3291840" cy="3383280"/>
          </a:xfrm>
          <a:prstGeom prst="round1Rect">
            <a:avLst>
              <a:gd name="adj" fmla="val 23087"/>
            </a:avLst>
          </a:prstGeom>
          <a:solidFill>
            <a:srgbClr val="8FAFE3"/>
          </a:solidFill>
          <a:ln/>
        </p:spPr>
        <p:txBody>
          <a:bodyPr/>
          <a:p/>
        </p:txBody>
      </p:sp>
      <p:sp>
        <p:nvSpPr>
          <p:cNvPr id="11" name="R2 card"/>
          <p:cNvSpPr/>
          <p:nvPr/>
        </p:nvSpPr>
        <p:spPr>
          <a:xfrm>
            <a:off x="4343400" y="2286000"/>
            <a:ext cx="3291840" cy="3383280"/>
          </a:xfrm>
          <a:prstGeom prst="round1Rect">
            <a:avLst>
              <a:gd name="adj" fmla="val 23087"/>
            </a:avLst>
          </a:prstGeom>
          <a:solidFill>
            <a:srgbClr val="C9B8F2"/>
          </a:solidFill>
          <a:ln w="19050">
            <a:solidFill>
              <a:srgbClr val="8FAFE3"/>
            </a:solidFill>
            <a:prstDash val="solid"/>
          </a:ln>
        </p:spPr>
        <p:txBody>
          <a:bodyPr/>
          <a:p/>
        </p:txBody>
      </p:sp>
      <p:sp>
        <p:nvSpPr>
          <p:cNvPr id="12" name="R2 circle"/>
          <p:cNvSpPr/>
          <p:nvPr/>
        </p:nvSpPr>
        <p:spPr>
          <a:xfrm>
            <a:off x="4617720" y="2560320"/>
            <a:ext cx="731520" cy="731520"/>
          </a:xfrm>
          <a:prstGeom prst="ellipse">
            <a:avLst/>
          </a:prstGeom>
          <a:solidFill>
            <a:srgbClr val="FFE28C"/>
          </a:solidFill>
          <a:ln/>
        </p:spPr>
        <p:txBody>
          <a:bodyPr/>
          <a:p/>
        </p:txBody>
      </p:sp>
      <p:sp>
        <p:nvSpPr>
          <p:cNvPr id="13" name="R2 num"/>
          <p:cNvSpPr/>
          <p:nvPr/>
        </p:nvSpPr>
        <p:spPr>
          <a:xfrm>
            <a:off x="46177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2</a:t>
            </a:r>
            <a:endParaRPr lang="en-US" sz="2500" dirty="0"/>
          </a:p>
        </p:txBody>
      </p:sp>
      <p:sp>
        <p:nvSpPr>
          <p:cNvPr id="14" name="R2 q"/>
          <p:cNvSpPr/>
          <p:nvPr/>
        </p:nvSpPr>
        <p:spPr>
          <a:xfrm>
            <a:off x="4617720" y="3931920"/>
            <a:ext cx="2788920" cy="731520"/>
          </a:xfrm>
          <a:prstGeom prst="rect">
            <a:avLst/>
          </a:prstGeom>
          <a:noFill/>
          <a:ln/>
        </p:spPr>
        <p:txBody>
          <a:bodyPr wrap="square" rtlCol="0" anchor="t"/>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Is a desert hot and dry or cold and wet?</a:t>
            </a:r>
            <a:endParaRPr lang="en-US" sz="1800" dirty="0" b="1"/>
          </a:p>
        </p:txBody>
      </p:sp>
      <p:pic>
        <p:nvPicPr>
          <p:cNvPr id="102" name="R2 pic" descr="Desert: a desert and a cactus"/>
          <p:cNvPicPr>
            <a:picLocks noChangeAspect="1"/>
          </p:cNvPicPr>
          <p:nvPr/>
        </p:nvPicPr>
        <p:blipFill>
          <a:blip r:embed="rId6"/>
          <a:stretch>
            <a:fillRect/>
          </a:stretch>
        </p:blipFill>
        <p:spPr>
          <a:xfrm>
            <a:off x="5440680" y="2560320"/>
            <a:ext cx="1920240" cy="1344168"/>
          </a:xfrm>
          <a:prstGeom prst="rect">
            <a:avLst/>
          </a:prstGeom>
        </p:spPr>
      </p:pic>
      <p:sp>
        <p:nvSpPr>
          <p:cNvPr id="16" name="R3 shadow"/>
          <p:cNvSpPr/>
          <p:nvPr/>
        </p:nvSpPr>
        <p:spPr>
          <a:xfrm>
            <a:off x="8074152" y="2395728"/>
            <a:ext cx="3291840" cy="3383280"/>
          </a:xfrm>
          <a:prstGeom prst="round1Rect">
            <a:avLst>
              <a:gd name="adj" fmla="val 23087"/>
            </a:avLst>
          </a:prstGeom>
          <a:solidFill>
            <a:srgbClr val="8FAFE3"/>
          </a:solidFill>
          <a:ln/>
        </p:spPr>
        <p:txBody>
          <a:bodyPr/>
          <a:p/>
        </p:txBody>
      </p:sp>
      <p:sp>
        <p:nvSpPr>
          <p:cNvPr id="17" name="R3 card"/>
          <p:cNvSpPr/>
          <p:nvPr/>
        </p:nvSpPr>
        <p:spPr>
          <a:xfrm>
            <a:off x="8001000" y="2286000"/>
            <a:ext cx="3291840" cy="3383280"/>
          </a:xfrm>
          <a:prstGeom prst="round1Rect">
            <a:avLst>
              <a:gd name="adj" fmla="val 23087"/>
            </a:avLst>
          </a:prstGeom>
          <a:solidFill>
            <a:srgbClr val="FFFFFF"/>
          </a:solidFill>
          <a:ln w="19050">
            <a:solidFill>
              <a:srgbClr val="8FAFE3"/>
            </a:solidFill>
            <a:prstDash val="solid"/>
          </a:ln>
        </p:spPr>
        <p:txBody>
          <a:bodyPr/>
          <a:p/>
        </p:txBody>
      </p:sp>
      <p:sp>
        <p:nvSpPr>
          <p:cNvPr id="18" name="R3 circle"/>
          <p:cNvSpPr/>
          <p:nvPr/>
        </p:nvSpPr>
        <p:spPr>
          <a:xfrm>
            <a:off x="8275320" y="2560320"/>
            <a:ext cx="731520" cy="731520"/>
          </a:xfrm>
          <a:prstGeom prst="ellipse">
            <a:avLst/>
          </a:prstGeom>
          <a:solidFill>
            <a:srgbClr val="FFE28C"/>
          </a:solidFill>
          <a:ln/>
        </p:spPr>
        <p:txBody>
          <a:bodyPr/>
          <a:p/>
        </p:txBody>
      </p:sp>
      <p:sp>
        <p:nvSpPr>
          <p:cNvPr id="19" name="R3 num"/>
          <p:cNvSpPr/>
          <p:nvPr/>
        </p:nvSpPr>
        <p:spPr>
          <a:xfrm>
            <a:off x="82753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3</a:t>
            </a:r>
            <a:endParaRPr lang="en-US" sz="2500" dirty="0"/>
          </a:p>
        </p:txBody>
      </p:sp>
      <p:sp>
        <p:nvSpPr>
          <p:cNvPr id="20" name="R3 q"/>
          <p:cNvSpPr/>
          <p:nvPr/>
        </p:nvSpPr>
        <p:spPr>
          <a:xfrm>
            <a:off x="8275320" y="3931920"/>
            <a:ext cx="2788920" cy="731520"/>
          </a:xfrm>
          <a:prstGeom prst="rect">
            <a:avLst/>
          </a:prstGeom>
          <a:noFill/>
          <a:ln/>
        </p:spPr>
        <p:txBody>
          <a:bodyPr wrap="square" rtlCol="0" anchor="t"/>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Do you sleep in a tent when you go camping?</a:t>
            </a:r>
            <a:endParaRPr lang="en-US" sz="1800" dirty="0" b="1"/>
          </a:p>
        </p:txBody>
      </p:sp>
      <p:pic>
        <p:nvPicPr>
          <p:cNvPr id="103" name="R3 pic" descr="Go camping: a tent at a campsite"/>
          <p:cNvPicPr>
            <a:picLocks noChangeAspect="1"/>
          </p:cNvPicPr>
          <p:nvPr/>
        </p:nvPicPr>
        <p:blipFill>
          <a:blip r:embed="rId7"/>
          <a:stretch>
            <a:fillRect/>
          </a:stretch>
        </p:blipFill>
        <p:spPr>
          <a:xfrm>
            <a:off x="9098280" y="2560320"/>
            <a:ext cx="1920240" cy="1344168"/>
          </a:xfrm>
          <a:prstGeom prst="rect">
            <a:avLst/>
          </a:prstGeom>
        </p:spPr>
      </p:pic>
      <p:sp>
        <p:nvSpPr>
          <p:cNvPr id="25" name="R1 ans"/>
          <p:cNvSpPr/>
          <p:nvPr/>
        </p:nvSpPr>
        <p:spPr>
          <a:xfrm>
            <a:off x="9601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800" dirty="0" b="1">
                <a:solidFill>
                  <a:srgbClr val="1B2236"/>
                </a:solidFill>
                <a:latin typeface="Lexend Deca" pitchFamily="34" charset="0"/>
                <a:ea typeface="Lexend Deca" pitchFamily="34" charset="-122"/>
                <a:cs typeface="Lexend Deca" pitchFamily="34" charset="-120"/>
              </a:rPr>
              <a:t>salty</a:t>
            </a:r>
            <a:endParaRPr lang="en-US" sz="2800" dirty="0" b="1"/>
          </a:p>
        </p:txBody>
      </p:sp>
      <p:sp>
        <p:nvSpPr>
          <p:cNvPr id="26" name="R2 ans"/>
          <p:cNvSpPr/>
          <p:nvPr/>
        </p:nvSpPr>
        <p:spPr>
          <a:xfrm>
            <a:off x="46177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hot and dry</a:t>
            </a:r>
            <a:endParaRPr lang="en-US" sz="2200" dirty="0" b="1"/>
          </a:p>
        </p:txBody>
      </p:sp>
      <p:sp>
        <p:nvSpPr>
          <p:cNvPr id="27" name="R3 ans"/>
          <p:cNvSpPr/>
          <p:nvPr/>
        </p:nvSpPr>
        <p:spPr>
          <a:xfrm>
            <a:off x="82753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800" dirty="0" b="1">
                <a:solidFill>
                  <a:srgbClr val="1B2236"/>
                </a:solidFill>
                <a:latin typeface="Lexend Deca" pitchFamily="34" charset="0"/>
                <a:ea typeface="Lexend Deca" pitchFamily="34" charset="-122"/>
                <a:cs typeface="Lexend Deca" pitchFamily="34" charset="-120"/>
              </a:rPr>
              <a:t>yes</a:t>
            </a:r>
            <a:endParaRPr lang="en-US" sz="28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name="L4:before">
    <p:bg>
      <p:bgPr>
        <a:solidFill>
          <a:srgbClr val="F1F5FB"/>
        </a:solidFill>
      </p:bgPr>
    </p:bg>
    <p:spTree>
      <p:nvGrpSpPr>
        <p:cNvPr id="1" name=""/>
        <p:cNvGrpSpPr/>
        <p:nvPr/>
      </p:nvGrpSpPr>
      <p:grpSpPr/>
      <p:sp>
        <p:nvSpPr>
          <p:cNvPr id="2" name="Shape 0"/>
          <p:cNvSpPr/>
          <p:nvPr/>
        </p:nvSpPr>
        <p:spPr>
          <a:xfrm>
            <a:off x="0" y="0"/>
            <a:ext cx="3063240" cy="6858000"/>
          </a:xfrm>
          <a:prstGeom prst="rect">
            <a:avLst/>
          </a:prstGeom>
          <a:solidFill>
            <a:srgbClr val="B9D2F7"/>
          </a:solidFill>
          <a:ln/>
        </p:spPr>
        <p:txBody>
          <a:bodyPr/>
          <a:p/>
        </p:txBody>
      </p:sp>
      <p:sp>
        <p:nvSpPr>
          <p:cNvPr id="4" name="Shape 2"/>
          <p:cNvSpPr/>
          <p:nvPr/>
        </p:nvSpPr>
        <p:spPr>
          <a:xfrm>
            <a:off x="8156448" y="1289304"/>
            <a:ext cx="3429000" cy="4983480"/>
          </a:xfrm>
          <a:prstGeom prst="round1Rect">
            <a:avLst>
              <a:gd name="adj" fmla="val 23087"/>
            </a:avLst>
          </a:prstGeom>
          <a:solidFill>
            <a:srgbClr val="8FAFE3"/>
          </a:solidFill>
          <a:ln/>
        </p:spPr>
        <p:txBody>
          <a:bodyPr/>
          <a:p/>
        </p:txBody>
      </p:sp>
      <p:sp>
        <p:nvSpPr>
          <p:cNvPr id="5" name="Shape 3"/>
          <p:cNvSpPr/>
          <p:nvPr/>
        </p:nvSpPr>
        <p:spPr>
          <a:xfrm>
            <a:off x="8321040" y="1097280"/>
            <a:ext cx="3429000" cy="4983480"/>
          </a:xfrm>
          <a:prstGeom prst="round1Rect">
            <a:avLst>
              <a:gd name="adj" fmla="val 23087"/>
            </a:avLst>
          </a:prstGeom>
          <a:solidFill>
            <a:srgbClr val="B9D2F7"/>
          </a:solidFill>
          <a:ln/>
        </p:spPr>
        <p:txBody>
          <a:bodyPr/>
          <a:p/>
        </p:txBody>
      </p:sp>
      <p:sp>
        <p:nvSpPr>
          <p:cNvPr id="6" name="Shape 4"/>
          <p:cNvSpPr/>
          <p:nvPr/>
        </p:nvSpPr>
        <p:spPr>
          <a:xfrm>
            <a:off x="3394847" y="1032586"/>
            <a:ext cx="4424782" cy="1863547"/>
          </a:xfrm>
          <a:prstGeom prst="roundRect">
            <a:avLst>
              <a:gd name="adj" fmla="val 16667"/>
            </a:avLst>
          </a:prstGeom>
          <a:solidFill>
            <a:srgbClr val="8FAFE3"/>
          </a:solidFill>
          <a:ln/>
        </p:spPr>
        <p:txBody>
          <a:bodyPr/>
          <a:p/>
        </p:txBody>
      </p:sp>
      <p:sp>
        <p:nvSpPr>
          <p:cNvPr id="7" name="Shape 5"/>
          <p:cNvSpPr/>
          <p:nvPr/>
        </p:nvSpPr>
        <p:spPr>
          <a:xfrm>
            <a:off x="3420770" y="956462"/>
            <a:ext cx="4424782" cy="1863547"/>
          </a:xfrm>
          <a:prstGeom prst="roundRect">
            <a:avLst>
              <a:gd name="adj" fmla="val 16667"/>
            </a:avLst>
          </a:prstGeom>
          <a:solidFill>
            <a:srgbClr val="FFFFFF"/>
          </a:solidFill>
          <a:ln/>
        </p:spPr>
        <p:txBody>
          <a:bodyPr/>
          <a:p/>
        </p:txBody>
      </p:sp>
      <p:sp>
        <p:nvSpPr>
          <p:cNvPr id="8" name="title1"/>
          <p:cNvSpPr/>
          <p:nvPr/>
        </p:nvSpPr>
        <p:spPr>
          <a:xfrm>
            <a:off x="3566160" y="1078992"/>
            <a:ext cx="4114800" cy="749808"/>
          </a:xfrm>
          <a:prstGeom prst="rect">
            <a:avLst/>
          </a:prstGeom>
          <a:noFill/>
          <a:ln/>
        </p:spPr>
        <p:txBody>
          <a:bodyPr wrap="square" rtlCol="0" anchor="ctr"/>
          <a:lstStyle/>
          <a:p>
            <a:pPr algn="l" indent="0" marL="0">
              <a:buNone/>
            </a:pPr>
            <a:r>
              <a:rPr lang="en-US" sz="4400" dirty="0" b="1">
                <a:solidFill>
                  <a:srgbClr val="1B2236"/>
                </a:solidFill>
                <a:latin typeface="Lexend Deca" pitchFamily="34" charset="0"/>
                <a:ea typeface="Lexend Deca" pitchFamily="34" charset="-122"/>
                <a:cs typeface="Lexend Deca" pitchFamily="34" charset="-120"/>
              </a:rPr>
              <a:t>Before You</a:t>
            </a:r>
            <a:endParaRPr lang="en-US" sz="4400" dirty="0" b="1"/>
          </a:p>
        </p:txBody>
      </p:sp>
      <p:sp>
        <p:nvSpPr>
          <p:cNvPr id="9" name="title2"/>
          <p:cNvSpPr/>
          <p:nvPr/>
        </p:nvSpPr>
        <p:spPr>
          <a:xfrm>
            <a:off x="3566160" y="1828800"/>
            <a:ext cx="4114800" cy="822960"/>
          </a:xfrm>
          <a:prstGeom prst="rect">
            <a:avLst/>
          </a:prstGeom>
          <a:noFill/>
          <a:ln/>
        </p:spPr>
        <p:txBody>
          <a:bodyPr wrap="square" rtlCol="0" anchor="ctr"/>
          <a:lstStyle/>
          <a:p>
            <a:pPr algn="l" indent="0" marL="0">
              <a:buNone/>
            </a:pPr>
            <a:r>
              <a:rPr lang="en-US" sz="4400" dirty="0" b="1">
                <a:solidFill>
                  <a:srgbClr val="1B2236"/>
                </a:solidFill>
                <a:latin typeface="Lexend Deca" pitchFamily="34" charset="0"/>
                <a:ea typeface="Lexend Deca" pitchFamily="34" charset="-122"/>
                <a:cs typeface="Lexend Deca" pitchFamily="34" charset="-120"/>
              </a:rPr>
              <a:t>Listen</a:t>
            </a:r>
            <a:endParaRPr lang="en-US" sz="4400" dirty="0" b="1"/>
          </a:p>
        </p:txBody>
      </p:sp>
      <p:sp>
        <p:nvSpPr>
          <p:cNvPr id="10" name="context"/>
          <p:cNvSpPr/>
          <p:nvPr/>
        </p:nvSpPr>
        <p:spPr>
          <a:xfrm>
            <a:off x="3487522" y="3108960"/>
            <a:ext cx="4206240" cy="868680"/>
          </a:xfrm>
          <a:prstGeom prst="rect">
            <a:avLst/>
          </a:prstGeom>
          <a:noFill/>
          <a:ln/>
        </p:spPr>
        <p:txBody>
          <a:bodyPr wrap="square" lIns="0" tIns="0" rIns="0" bIns="0" rtlCol="0" anchor="ct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It's the first night of an evening English class. Lucía and Ahmed meet. Then the teacher, Ms. Grant, gives them a job.</a:t>
            </a:r>
            <a:endParaRPr lang="en-US" sz="1700" dirty="0"/>
          </a:p>
        </p:txBody>
      </p:sp>
      <p:sp>
        <p:nvSpPr>
          <p:cNvPr id="11" name="R1 num"/>
          <p:cNvSpPr/>
          <p:nvPr/>
        </p:nvSpPr>
        <p:spPr>
          <a:xfrm>
            <a:off x="3383280" y="4114800"/>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01</a:t>
            </a:r>
            <a:endParaRPr lang="en-US" sz="3600" dirty="0"/>
          </a:p>
        </p:txBody>
      </p:sp>
      <p:sp>
        <p:nvSpPr>
          <p:cNvPr id="13" name="R2 num"/>
          <p:cNvSpPr/>
          <p:nvPr/>
        </p:nvSpPr>
        <p:spPr>
          <a:xfrm>
            <a:off x="3383280" y="4919472"/>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02</a:t>
            </a:r>
            <a:endParaRPr lang="en-US" sz="3600" dirty="0"/>
          </a:p>
        </p:txBody>
      </p:sp>
      <p:sp>
        <p:nvSpPr>
          <p:cNvPr id="15" name="R3 num"/>
          <p:cNvSpPr/>
          <p:nvPr/>
        </p:nvSpPr>
        <p:spPr>
          <a:xfrm>
            <a:off x="3383280" y="5724144"/>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03</a:t>
            </a:r>
            <a:endParaRPr lang="en-US" sz="3600" dirty="0"/>
          </a:p>
        </p:txBody>
      </p:sp>
      <p:sp>
        <p:nvSpPr>
          <p:cNvPr id="17" name="line 1"/>
          <p:cNvSpPr/>
          <p:nvPr/>
        </p:nvSpPr>
        <p:spPr>
          <a:xfrm>
            <a:off x="3503066" y="4928616"/>
            <a:ext cx="4480560" cy="0"/>
          </a:xfrm>
          <a:prstGeom prst="line">
            <a:avLst/>
          </a:prstGeom>
          <a:noFill/>
          <a:ln w="6350">
            <a:solidFill>
              <a:srgbClr val="1B2236"/>
            </a:solidFill>
            <a:prstDash val="solid"/>
          </a:ln>
        </p:spPr>
        <p:txBody>
          <a:bodyPr/>
          <a:p/>
        </p:txBody>
      </p:sp>
      <p:sp>
        <p:nvSpPr>
          <p:cNvPr id="18" name="line 2"/>
          <p:cNvSpPr/>
          <p:nvPr/>
        </p:nvSpPr>
        <p:spPr>
          <a:xfrm>
            <a:off x="3503066" y="5733288"/>
            <a:ext cx="4480560" cy="0"/>
          </a:xfrm>
          <a:prstGeom prst="line">
            <a:avLst/>
          </a:prstGeom>
          <a:noFill/>
          <a:ln w="6350">
            <a:solidFill>
              <a:srgbClr val="1B2236"/>
            </a:solidFill>
            <a:prstDash val="solid"/>
          </a:ln>
        </p:spPr>
        <p:txBody>
          <a:bodyPr/>
          <a:p/>
        </p:txBody>
      </p:sp>
      <p:pic>
        <p:nvPicPr>
          <p:cNvPr id="24" name="pic" descr="Snow: a snowman and a snowflake"/>
          <p:cNvPicPr>
            <a:picLocks noChangeAspect="1"/>
          </p:cNvPicPr>
          <p:nvPr/>
        </p:nvPicPr>
        <p:blipFill>
          <a:blip r:embed="rId3"/>
          <a:stretch>
            <a:fillRect/>
          </a:stretch>
        </p:blipFill>
        <p:spPr>
          <a:xfrm>
            <a:off x="160020" y="2423160"/>
            <a:ext cx="2743200" cy="1920240"/>
          </a:xfrm>
          <a:prstGeom prst="rect">
            <a:avLst/>
          </a:prstGeom>
        </p:spPr>
      </p:pic>
      <p:sp>
        <p:nvSpPr>
          <p:cNvPr id="25" name="R1 hl"/>
          <p:cNvSpPr/>
          <p:nvPr/>
        </p:nvSpPr>
        <p:spPr>
          <a:xfrm>
            <a:off x="4389120" y="4251960"/>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7" name="R1 voice"/>
          <p:cNvSpPr/>
          <p:nvPr/>
        </p:nvSpPr>
        <p:spPr>
          <a:xfrm>
            <a:off x="4389120" y="4251960"/>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Lucía</a:t>
            </a:r>
            <a:endParaRPr lang="en-US" sz="2200" dirty="0" b="1"/>
          </a:p>
        </p:txBody>
      </p:sp>
      <p:sp>
        <p:nvSpPr>
          <p:cNvPr id="29" name="R2 hl"/>
          <p:cNvSpPr/>
          <p:nvPr/>
        </p:nvSpPr>
        <p:spPr>
          <a:xfrm>
            <a:off x="4389120" y="5056632"/>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1" name="R2 voice"/>
          <p:cNvSpPr/>
          <p:nvPr/>
        </p:nvSpPr>
        <p:spPr>
          <a:xfrm>
            <a:off x="4389120" y="5056632"/>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Ahmed</a:t>
            </a:r>
            <a:endParaRPr lang="en-US" sz="2200" dirty="0" b="1"/>
          </a:p>
        </p:txBody>
      </p:sp>
      <p:sp>
        <p:nvSpPr>
          <p:cNvPr id="33" name="R3 hl"/>
          <p:cNvSpPr/>
          <p:nvPr/>
        </p:nvSpPr>
        <p:spPr>
          <a:xfrm>
            <a:off x="4389120" y="5861304"/>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5" name="R3 voice"/>
          <p:cNvSpPr/>
          <p:nvPr/>
        </p:nvSpPr>
        <p:spPr>
          <a:xfrm>
            <a:off x="4389120" y="5861304"/>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Ms. Grant</a:t>
            </a:r>
            <a:endParaRPr lang="en-US" sz="2200" dirty="0" b="1"/>
          </a:p>
        </p:txBody>
      </p:sp>
      <p:sp>
        <p:nvSpPr>
          <p:cNvPr id="37" name="listen head"/>
          <p:cNvSpPr/>
          <p:nvPr/>
        </p:nvSpPr>
        <p:spPr>
          <a:xfrm>
            <a:off x="8549640" y="1280160"/>
            <a:ext cx="3017520" cy="548640"/>
          </a:xfrm>
          <a:prstGeom prst="rect">
            <a:avLst/>
          </a:prstGeom>
          <a:noFill/>
          <a:ln w="38100">
            <a:noFill/>
          </a:ln>
        </p:spPr>
        <p:txBody>
          <a:bodyPr wrap="square" lIns="73152" tIns="36576" rIns="73152" bIns="36576" rtlCol="0" anchor="ctr">
            <a:noAutofit/>
          </a:bodyPr>
          <a:lstStyle/>
          <a:p>
            <a:pPr algn="l" indent="0" marL="0">
              <a:buNone/>
            </a:pPr>
            <a:r>
              <a:rPr lang="en-US" sz="2400" dirty="0" b="1">
                <a:solidFill>
                  <a:srgbClr val="1B2236"/>
                </a:solidFill>
                <a:latin typeface="Lexend Deca" pitchFamily="34" charset="0"/>
                <a:ea typeface="Lexend Deca" pitchFamily="34" charset="-122"/>
                <a:cs typeface="Lexend Deca" pitchFamily="34" charset="-120"/>
              </a:rPr>
              <a:t>Listen for:</a:t>
            </a:r>
            <a:endParaRPr lang="en-US" sz="2400" dirty="0" b="1"/>
          </a:p>
        </p:txBody>
      </p:sp>
      <p:sp>
        <p:nvSpPr>
          <p:cNvPr id="39" name="listen 1"/>
          <p:cNvSpPr/>
          <p:nvPr/>
        </p:nvSpPr>
        <p:spPr>
          <a:xfrm>
            <a:off x="8549640" y="196596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What have Lucía and Ahmed both done?</a:t>
            </a:r>
            <a:endParaRPr lang="en-US" sz="2200" dirty="0"/>
          </a:p>
        </p:txBody>
      </p:sp>
      <p:sp>
        <p:nvSpPr>
          <p:cNvPr id="41" name="listen 2"/>
          <p:cNvSpPr/>
          <p:nvPr/>
        </p:nvSpPr>
        <p:spPr>
          <a:xfrm>
            <a:off x="8549640" y="301752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Play 2: Tasks B and C.</a:t>
            </a:r>
            <a:endParaRPr lang="en-US" sz="2200" dirty="0"/>
          </a:p>
        </p:txBody>
      </p:sp>
      <p:sp>
        <p:nvSpPr>
          <p:cNvPr id="43" name="audio"/>
          <p:cNvSpPr/>
          <p:nvPr/>
        </p:nvSpPr>
        <p:spPr>
          <a:xfrm>
            <a:off x="8549640" y="406908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Audio: about 2:05. It plays once.</a:t>
            </a:r>
            <a:endParaRPr lang="en-US" sz="2200" dirty="0"/>
          </a:p>
        </p:txBody>
      </p:sp>
      <p:sp>
        <p:nvSpPr>
          <p:cNvPr id="46" name="play"/>
          <p:cNvSpPr/>
          <p:nvPr/>
        </p:nvSpPr>
        <p:spPr>
          <a:xfrm>
            <a:off x="8549640" y="5029200"/>
            <a:ext cx="3017520" cy="7315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200" dirty="0" b="0">
                <a:solidFill>
                  <a:srgbClr val="1B2236"/>
                </a:solidFill>
                <a:latin typeface="Lexend Deca" pitchFamily="34" charset="0"/>
                <a:ea typeface="Lexend Deca" pitchFamily="34" charset="-122"/>
                <a:cs typeface="Lexend Deca" pitchFamily="34" charset="-120"/>
              </a:rPr>
              <a:t>Play 1: </a:t>
            </a:r>
            <a:r>
              <a:rPr lang="en-US" sz="2200" dirty="0" b="1">
                <a:solidFill>
                  <a:srgbClr val="5B3FC4"/>
                </a:solidFill>
                <a:latin typeface="Lexend Deca" pitchFamily="34" charset="0"/>
                <a:ea typeface="Lexend Deca" pitchFamily="34" charset="-122"/>
                <a:cs typeface="Lexend Deca" pitchFamily="34" charset="-120"/>
              </a:rPr>
              <a:t>Task A</a:t>
            </a:r>
            <a:endParaRPr lang="en-US" sz="22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Listening A</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Listen. What have Lucía and Ahmed both done?</a:t>
            </a:r>
            <a:endParaRPr lang="en-US" sz="2000" dirty="0"/>
          </a:p>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a:t>
            </a:r>
            <a:endParaRPr lang="en-US" sz="2000" dirty="0"/>
          </a:p>
        </p:txBody>
      </p:sp>
      <p:sp>
        <p:nvSpPr>
          <p:cNvPr id="8" name="R1 stmt"/>
          <p:cNvSpPr/>
          <p:nvPr/>
        </p:nvSpPr>
        <p:spPr>
          <a:xfrm>
            <a:off x="502920" y="3108960"/>
            <a:ext cx="2057400" cy="530352"/>
          </a:xfrm>
          <a:prstGeom prst="rect">
            <a:avLst/>
          </a:prstGeom>
          <a:no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Both:</a:t>
            </a:r>
            <a:endParaRPr lang="en-US" sz="2000" dirty="0"/>
          </a:p>
        </p:txBody>
      </p:sp>
      <p:sp>
        <p:nvSpPr>
          <p:cNvPr id="9" name="R1 opt1"/>
          <p:cNvSpPr/>
          <p:nvPr/>
        </p:nvSpPr>
        <p:spPr>
          <a:xfrm>
            <a:off x="2743200" y="3108960"/>
            <a:ext cx="265176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a. ridden a horse and gone camping</a:t>
            </a:r>
            <a:endParaRPr lang="en-US" sz="1500" dirty="0" b="1"/>
          </a:p>
        </p:txBody>
      </p:sp>
      <p:sp>
        <p:nvSpPr>
          <p:cNvPr id="10" name="R1 opt2"/>
          <p:cNvSpPr/>
          <p:nvPr/>
        </p:nvSpPr>
        <p:spPr>
          <a:xfrm>
            <a:off x="5532120" y="3108960"/>
            <a:ext cx="265176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b. seen snow and run a race</a:t>
            </a:r>
            <a:endParaRPr lang="en-US" sz="1500" dirty="0" b="1"/>
          </a:p>
        </p:txBody>
      </p:sp>
      <p:sp>
        <p:nvSpPr>
          <p:cNvPr id="11" name="R1 opt3"/>
          <p:cNvSpPr/>
          <p:nvPr/>
        </p:nvSpPr>
        <p:spPr>
          <a:xfrm>
            <a:off x="8321040" y="3108960"/>
            <a:ext cx="265176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c. worked in a restaurant and eaten sushi</a:t>
            </a:r>
            <a:endParaRPr lang="en-US" sz="1500" dirty="0" b="1"/>
          </a:p>
        </p:txBody>
      </p:sp>
      <p:sp>
        <p:nvSpPr>
          <p:cNvPr id="12" name="R1 circle"/>
          <p:cNvSpPr/>
          <p:nvPr/>
        </p:nvSpPr>
        <p:spPr>
          <a:xfrm>
            <a:off x="5404104" y="3054096"/>
            <a:ext cx="2907792" cy="640080"/>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Listening B</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Listen again.</a:t>
            </a:r>
            <a:endParaRPr lang="en-US" sz="2000" dirty="0"/>
          </a:p>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Check ✓ True or False.</a:t>
            </a:r>
            <a:endParaRPr lang="en-US" sz="2000" dirty="0"/>
          </a:p>
        </p:txBody>
      </p:sp>
      <p:sp>
        <p:nvSpPr>
          <p:cNvPr id="8" name="R1 stmt"/>
          <p:cNvSpPr/>
          <p:nvPr/>
        </p:nvSpPr>
        <p:spPr>
          <a:xfrm>
            <a:off x="502920" y="3108960"/>
            <a:ext cx="717804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1. Lucía has taken a class at this center before.</a:t>
            </a:r>
            <a:endParaRPr lang="en-US" sz="1800" dirty="0"/>
          </a:p>
        </p:txBody>
      </p:sp>
      <p:sp>
        <p:nvSpPr>
          <p:cNvPr id="9" name="R1 opt1"/>
          <p:cNvSpPr/>
          <p:nvPr/>
        </p:nvSpPr>
        <p:spPr>
          <a:xfrm>
            <a:off x="7863840" y="310896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True</a:t>
            </a:r>
            <a:endParaRPr lang="en-US" sz="2000" dirty="0" b="1"/>
          </a:p>
        </p:txBody>
      </p:sp>
      <p:sp>
        <p:nvSpPr>
          <p:cNvPr id="10" name="R1 opt2"/>
          <p:cNvSpPr/>
          <p:nvPr/>
        </p:nvSpPr>
        <p:spPr>
          <a:xfrm>
            <a:off x="9601200" y="310896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False</a:t>
            </a:r>
            <a:endParaRPr lang="en-US" sz="2000" dirty="0" b="1"/>
          </a:p>
        </p:txBody>
      </p:sp>
      <p:sp>
        <p:nvSpPr>
          <p:cNvPr id="11" name="R1 circle"/>
          <p:cNvSpPr/>
          <p:nvPr/>
        </p:nvSpPr>
        <p:spPr>
          <a:xfrm>
            <a:off x="9473184" y="3054096"/>
            <a:ext cx="16276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2" name="R2 stmt"/>
          <p:cNvSpPr/>
          <p:nvPr/>
        </p:nvSpPr>
        <p:spPr>
          <a:xfrm>
            <a:off x="502920" y="3657600"/>
            <a:ext cx="717804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2. Lucía worked in a pizza restaurant in 2019.</a:t>
            </a:r>
            <a:endParaRPr lang="en-US" sz="1800" dirty="0"/>
          </a:p>
        </p:txBody>
      </p:sp>
      <p:sp>
        <p:nvSpPr>
          <p:cNvPr id="13" name="R2 opt1"/>
          <p:cNvSpPr/>
          <p:nvPr/>
        </p:nvSpPr>
        <p:spPr>
          <a:xfrm>
            <a:off x="7863840" y="365760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True</a:t>
            </a:r>
            <a:endParaRPr lang="en-US" sz="2000" dirty="0" b="1"/>
          </a:p>
        </p:txBody>
      </p:sp>
      <p:sp>
        <p:nvSpPr>
          <p:cNvPr id="14" name="R2 opt2"/>
          <p:cNvSpPr/>
          <p:nvPr/>
        </p:nvSpPr>
        <p:spPr>
          <a:xfrm>
            <a:off x="9601200" y="365760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False</a:t>
            </a:r>
            <a:endParaRPr lang="en-US" sz="2000" dirty="0" b="1"/>
          </a:p>
        </p:txBody>
      </p:sp>
      <p:sp>
        <p:nvSpPr>
          <p:cNvPr id="15" name="R2 circle"/>
          <p:cNvSpPr/>
          <p:nvPr/>
        </p:nvSpPr>
        <p:spPr>
          <a:xfrm>
            <a:off x="7735824" y="3602736"/>
            <a:ext cx="16276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6" name="R3 stmt"/>
          <p:cNvSpPr/>
          <p:nvPr/>
        </p:nvSpPr>
        <p:spPr>
          <a:xfrm>
            <a:off x="502920" y="4206240"/>
            <a:ext cx="717804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3. Ahmed saw snow for the first time last winter.</a:t>
            </a:r>
            <a:endParaRPr lang="en-US" sz="1800" dirty="0"/>
          </a:p>
        </p:txBody>
      </p:sp>
      <p:sp>
        <p:nvSpPr>
          <p:cNvPr id="17" name="R3 opt1"/>
          <p:cNvSpPr/>
          <p:nvPr/>
        </p:nvSpPr>
        <p:spPr>
          <a:xfrm>
            <a:off x="7863840" y="420624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True</a:t>
            </a:r>
            <a:endParaRPr lang="en-US" sz="2000" dirty="0" b="1"/>
          </a:p>
        </p:txBody>
      </p:sp>
      <p:sp>
        <p:nvSpPr>
          <p:cNvPr id="18" name="R3 opt2"/>
          <p:cNvSpPr/>
          <p:nvPr/>
        </p:nvSpPr>
        <p:spPr>
          <a:xfrm>
            <a:off x="9601200" y="420624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False</a:t>
            </a:r>
            <a:endParaRPr lang="en-US" sz="2000" dirty="0" b="1"/>
          </a:p>
        </p:txBody>
      </p:sp>
      <p:sp>
        <p:nvSpPr>
          <p:cNvPr id="19" name="R3 circle"/>
          <p:cNvSpPr/>
          <p:nvPr/>
        </p:nvSpPr>
        <p:spPr>
          <a:xfrm>
            <a:off x="7735824" y="4151376"/>
            <a:ext cx="16276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R4 stmt"/>
          <p:cNvSpPr/>
          <p:nvPr/>
        </p:nvSpPr>
        <p:spPr>
          <a:xfrm>
            <a:off x="502920" y="4754880"/>
            <a:ext cx="717804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4. Ahmed has ridden a horse.</a:t>
            </a:r>
            <a:endParaRPr lang="en-US" sz="1800" dirty="0"/>
          </a:p>
        </p:txBody>
      </p:sp>
      <p:sp>
        <p:nvSpPr>
          <p:cNvPr id="21" name="R4 opt1"/>
          <p:cNvSpPr/>
          <p:nvPr/>
        </p:nvSpPr>
        <p:spPr>
          <a:xfrm>
            <a:off x="7863840" y="475488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True</a:t>
            </a:r>
            <a:endParaRPr lang="en-US" sz="2000" dirty="0" b="1"/>
          </a:p>
        </p:txBody>
      </p:sp>
      <p:sp>
        <p:nvSpPr>
          <p:cNvPr id="22" name="R4 opt2"/>
          <p:cNvSpPr/>
          <p:nvPr/>
        </p:nvSpPr>
        <p:spPr>
          <a:xfrm>
            <a:off x="9601200" y="475488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False</a:t>
            </a:r>
            <a:endParaRPr lang="en-US" sz="2000" dirty="0" b="1"/>
          </a:p>
        </p:txBody>
      </p:sp>
      <p:sp>
        <p:nvSpPr>
          <p:cNvPr id="23" name="R4 circle"/>
          <p:cNvSpPr/>
          <p:nvPr/>
        </p:nvSpPr>
        <p:spPr>
          <a:xfrm>
            <a:off x="9473184" y="4700016"/>
            <a:ext cx="16276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4" name="R5 stmt"/>
          <p:cNvSpPr/>
          <p:nvPr/>
        </p:nvSpPr>
        <p:spPr>
          <a:xfrm>
            <a:off x="502920" y="5303520"/>
            <a:ext cx="717804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5. Ahmed won his race.</a:t>
            </a:r>
            <a:endParaRPr lang="en-US" sz="1800" dirty="0"/>
          </a:p>
        </p:txBody>
      </p:sp>
      <p:sp>
        <p:nvSpPr>
          <p:cNvPr id="25" name="R5 opt1"/>
          <p:cNvSpPr/>
          <p:nvPr/>
        </p:nvSpPr>
        <p:spPr>
          <a:xfrm>
            <a:off x="7863840" y="530352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True</a:t>
            </a:r>
            <a:endParaRPr lang="en-US" sz="2000" dirty="0" b="1"/>
          </a:p>
        </p:txBody>
      </p:sp>
      <p:sp>
        <p:nvSpPr>
          <p:cNvPr id="26" name="R5 opt2"/>
          <p:cNvSpPr/>
          <p:nvPr/>
        </p:nvSpPr>
        <p:spPr>
          <a:xfrm>
            <a:off x="9601200" y="530352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False</a:t>
            </a:r>
            <a:endParaRPr lang="en-US" sz="2000" dirty="0" b="1"/>
          </a:p>
        </p:txBody>
      </p:sp>
      <p:sp>
        <p:nvSpPr>
          <p:cNvPr id="27" name="R5 circle"/>
          <p:cNvSpPr/>
          <p:nvPr/>
        </p:nvSpPr>
        <p:spPr>
          <a:xfrm>
            <a:off x="9473184" y="5248656"/>
            <a:ext cx="16276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8" name="R6 stmt"/>
          <p:cNvSpPr/>
          <p:nvPr/>
        </p:nvSpPr>
        <p:spPr>
          <a:xfrm>
            <a:off x="502920" y="5852160"/>
            <a:ext cx="717804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6. Lucía has never eaten sushi.</a:t>
            </a:r>
            <a:endParaRPr lang="en-US" sz="1800" dirty="0"/>
          </a:p>
        </p:txBody>
      </p:sp>
      <p:sp>
        <p:nvSpPr>
          <p:cNvPr id="29" name="R6 opt1"/>
          <p:cNvSpPr/>
          <p:nvPr/>
        </p:nvSpPr>
        <p:spPr>
          <a:xfrm>
            <a:off x="7863840" y="585216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True</a:t>
            </a:r>
            <a:endParaRPr lang="en-US" sz="2000" dirty="0" b="1"/>
          </a:p>
        </p:txBody>
      </p:sp>
      <p:sp>
        <p:nvSpPr>
          <p:cNvPr id="30" name="R6 opt2"/>
          <p:cNvSpPr/>
          <p:nvPr/>
        </p:nvSpPr>
        <p:spPr>
          <a:xfrm>
            <a:off x="9601200" y="5852160"/>
            <a:ext cx="13716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False</a:t>
            </a:r>
            <a:endParaRPr lang="en-US" sz="2000" dirty="0" b="1"/>
          </a:p>
        </p:txBody>
      </p:sp>
      <p:sp>
        <p:nvSpPr>
          <p:cNvPr id="31" name="R6 circle"/>
          <p:cNvSpPr/>
          <p:nvPr/>
        </p:nvSpPr>
        <p:spPr>
          <a:xfrm>
            <a:off x="7735824" y="5797296"/>
            <a:ext cx="16276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4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132942"/>
            <a:ext cx="7086600" cy="983894"/>
          </a:xfrm>
          <a:prstGeom prst="round1Rect">
            <a:avLst>
              <a:gd name="adj" fmla="val 23087"/>
            </a:avLst>
          </a:prstGeom>
          <a:solidFill>
            <a:srgbClr val="8FAFE3"/>
          </a:solidFill>
          <a:ln/>
        </p:spPr>
        <p:txBody>
          <a:bodyPr/>
          <a:p/>
        </p:txBody>
      </p:sp>
      <p:sp>
        <p:nvSpPr>
          <p:cNvPr id="3" name="head card"/>
          <p:cNvSpPr/>
          <p:nvPr/>
        </p:nvSpPr>
        <p:spPr>
          <a:xfrm>
            <a:off x="548640" y="1075334"/>
            <a:ext cx="7086600" cy="983894"/>
          </a:xfrm>
          <a:prstGeom prst="round1Rect">
            <a:avLst>
              <a:gd name="adj" fmla="val 23087"/>
            </a:avLst>
          </a:prstGeom>
          <a:solidFill>
            <a:srgbClr val="FFFFFF"/>
          </a:solidFill>
          <a:ln/>
        </p:spPr>
        <p:txBody>
          <a:bodyPr/>
          <a:p/>
        </p:txBody>
      </p:sp>
      <p:sp>
        <p:nvSpPr>
          <p:cNvPr id="8" name="head1"/>
          <p:cNvSpPr/>
          <p:nvPr/>
        </p:nvSpPr>
        <p:spPr>
          <a:xfrm>
            <a:off x="777240" y="114300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Listen again.</a:t>
            </a:r>
            <a:endParaRPr lang="en-US" sz="2000" dirty="0" b="1"/>
          </a:p>
        </p:txBody>
      </p:sp>
      <p:sp>
        <p:nvSpPr>
          <p:cNvPr id="9" name="head2"/>
          <p:cNvSpPr/>
          <p:nvPr/>
        </p:nvSpPr>
        <p:spPr>
          <a:xfrm>
            <a:off x="868680" y="154533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Write have, has, or did.</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Listening C</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Words: </a:t>
            </a:r>
            <a:r>
              <a:rPr lang="en-US" sz="2000" dirty="0" b="1">
                <a:solidFill>
                  <a:srgbClr val="5B3FC4"/>
                </a:solidFill>
                <a:latin typeface="Lexend Deca" pitchFamily="34" charset="0"/>
                <a:ea typeface="Lexend Deca" pitchFamily="34" charset="-122"/>
                <a:cs typeface="Lexend Deca" pitchFamily="34" charset="-120"/>
              </a:rPr>
              <a:t>have, has, did</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compare your answers.</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Then </a:t>
            </a:r>
            <a:r>
              <a:rPr lang="en-US" sz="2000" dirty="0" b="1">
                <a:solidFill>
                  <a:srgbClr val="5B3FC4"/>
                </a:solidFill>
                <a:latin typeface="Lexend Deca" pitchFamily="34" charset="0"/>
                <a:ea typeface="Lexend Deca" pitchFamily="34" charset="-122"/>
                <a:cs typeface="Lexend Deca" pitchFamily="34" charset="-120"/>
              </a:rPr>
              <a:t>check together.</a:t>
            </a:r>
            <a:endParaRPr lang="en-US" sz="2000" dirty="0" b="1"/>
          </a:p>
        </p:txBody>
      </p:sp>
      <p:sp>
        <p:nvSpPr>
          <p:cNvPr id="31" name="R1 card"/>
          <p:cNvSpPr/>
          <p:nvPr/>
        </p:nvSpPr>
        <p:spPr>
          <a:xfrm>
            <a:off x="1583741" y="2123237"/>
            <a:ext cx="6035040" cy="655015"/>
          </a:xfrm>
          <a:prstGeom prst="round1Rect">
            <a:avLst>
              <a:gd name="adj" fmla="val 23087"/>
            </a:avLst>
          </a:prstGeom>
          <a:solidFill>
            <a:srgbClr val="FFFFFF"/>
          </a:solidFill>
          <a:ln/>
        </p:spPr>
        <p:txBody>
          <a:bodyPr/>
          <a:p/>
        </p:txBody>
      </p:sp>
      <p:sp>
        <p:nvSpPr>
          <p:cNvPr id="32" name="R1 chip"/>
          <p:cNvSpPr/>
          <p:nvPr/>
        </p:nvSpPr>
        <p:spPr>
          <a:xfrm>
            <a:off x="544982" y="2123237"/>
            <a:ext cx="1039673" cy="655015"/>
          </a:xfrm>
          <a:prstGeom prst="rect">
            <a:avLst/>
          </a:prstGeom>
          <a:solidFill>
            <a:srgbClr val="B9D2F7"/>
          </a:solidFill>
          <a:ln/>
        </p:spPr>
        <p:txBody>
          <a:bodyPr/>
          <a:p/>
        </p:txBody>
      </p:sp>
      <p:sp>
        <p:nvSpPr>
          <p:cNvPr id="33" name="R1 num"/>
          <p:cNvSpPr/>
          <p:nvPr/>
        </p:nvSpPr>
        <p:spPr>
          <a:xfrm>
            <a:off x="686714" y="2158136"/>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123237"/>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____ you ever taken a class at this center?</a:t>
            </a:r>
            <a:endParaRPr lang="en-US" sz="1800" dirty="0"/>
          </a:p>
        </p:txBody>
      </p:sp>
      <p:sp>
        <p:nvSpPr>
          <p:cNvPr id="35" name="R1 ans"/>
          <p:cNvSpPr/>
          <p:nvPr/>
        </p:nvSpPr>
        <p:spPr>
          <a:xfrm>
            <a:off x="6382512" y="2222144"/>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Have</a:t>
            </a:r>
            <a:endParaRPr lang="en-US" sz="2000" dirty="0" b="1"/>
          </a:p>
        </p:txBody>
      </p:sp>
      <p:sp>
        <p:nvSpPr>
          <p:cNvPr id="36" name="R2 card"/>
          <p:cNvSpPr/>
          <p:nvPr/>
        </p:nvSpPr>
        <p:spPr>
          <a:xfrm>
            <a:off x="1583741" y="2851404"/>
            <a:ext cx="6035040" cy="655015"/>
          </a:xfrm>
          <a:prstGeom prst="round1Rect">
            <a:avLst>
              <a:gd name="adj" fmla="val 23087"/>
            </a:avLst>
          </a:prstGeom>
          <a:solidFill>
            <a:srgbClr val="FFFFFF"/>
          </a:solidFill>
          <a:ln/>
        </p:spPr>
        <p:txBody>
          <a:bodyPr/>
          <a:p/>
        </p:txBody>
      </p:sp>
      <p:sp>
        <p:nvSpPr>
          <p:cNvPr id="37" name="R2 chip"/>
          <p:cNvSpPr/>
          <p:nvPr/>
        </p:nvSpPr>
        <p:spPr>
          <a:xfrm>
            <a:off x="544982" y="2851404"/>
            <a:ext cx="1039673" cy="655015"/>
          </a:xfrm>
          <a:prstGeom prst="rect">
            <a:avLst/>
          </a:prstGeom>
          <a:solidFill>
            <a:srgbClr val="B9D2F7"/>
          </a:solidFill>
          <a:ln/>
        </p:spPr>
        <p:txBody>
          <a:bodyPr/>
          <a:p/>
        </p:txBody>
      </p:sp>
      <p:sp>
        <p:nvSpPr>
          <p:cNvPr id="38" name="R2 num"/>
          <p:cNvSpPr/>
          <p:nvPr/>
        </p:nvSpPr>
        <p:spPr>
          <a:xfrm>
            <a:off x="686714" y="2886304"/>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2851404"/>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No, I haven't. But my sister ____.</a:t>
            </a:r>
            <a:endParaRPr lang="en-US" sz="1800" dirty="0"/>
          </a:p>
        </p:txBody>
      </p:sp>
      <p:sp>
        <p:nvSpPr>
          <p:cNvPr id="40" name="R2 ans"/>
          <p:cNvSpPr/>
          <p:nvPr/>
        </p:nvSpPr>
        <p:spPr>
          <a:xfrm>
            <a:off x="6382512" y="2950312"/>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has</a:t>
            </a:r>
            <a:endParaRPr lang="en-US" sz="2000" dirty="0" b="1"/>
          </a:p>
        </p:txBody>
      </p:sp>
      <p:sp>
        <p:nvSpPr>
          <p:cNvPr id="41" name="R3 card"/>
          <p:cNvSpPr/>
          <p:nvPr/>
        </p:nvSpPr>
        <p:spPr>
          <a:xfrm>
            <a:off x="1583741" y="3579571"/>
            <a:ext cx="6035040" cy="655015"/>
          </a:xfrm>
          <a:prstGeom prst="round1Rect">
            <a:avLst>
              <a:gd name="adj" fmla="val 23087"/>
            </a:avLst>
          </a:prstGeom>
          <a:solidFill>
            <a:srgbClr val="FFFFFF"/>
          </a:solidFill>
          <a:ln/>
        </p:spPr>
        <p:txBody>
          <a:bodyPr/>
          <a:p/>
        </p:txBody>
      </p:sp>
      <p:sp>
        <p:nvSpPr>
          <p:cNvPr id="42" name="R3 chip"/>
          <p:cNvSpPr/>
          <p:nvPr/>
        </p:nvSpPr>
        <p:spPr>
          <a:xfrm>
            <a:off x="544982" y="3579571"/>
            <a:ext cx="1039673" cy="655015"/>
          </a:xfrm>
          <a:prstGeom prst="rect">
            <a:avLst/>
          </a:prstGeom>
          <a:solidFill>
            <a:srgbClr val="B9D2F7"/>
          </a:solidFill>
          <a:ln/>
        </p:spPr>
        <p:txBody>
          <a:bodyPr/>
          <a:p/>
        </p:txBody>
      </p:sp>
      <p:sp>
        <p:nvSpPr>
          <p:cNvPr id="43" name="R3 num"/>
          <p:cNvSpPr/>
          <p:nvPr/>
        </p:nvSpPr>
        <p:spPr>
          <a:xfrm>
            <a:off x="686714" y="3614471"/>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579571"/>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____ you ever worked in a restaurant?</a:t>
            </a:r>
            <a:endParaRPr lang="en-US" sz="1800" dirty="0"/>
          </a:p>
        </p:txBody>
      </p:sp>
      <p:sp>
        <p:nvSpPr>
          <p:cNvPr id="45" name="R3 ans"/>
          <p:cNvSpPr/>
          <p:nvPr/>
        </p:nvSpPr>
        <p:spPr>
          <a:xfrm>
            <a:off x="6382512" y="3678479"/>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Have</a:t>
            </a:r>
            <a:endParaRPr lang="en-US" sz="2000" dirty="0" b="1"/>
          </a:p>
        </p:txBody>
      </p:sp>
      <p:sp>
        <p:nvSpPr>
          <p:cNvPr id="46" name="R4 card"/>
          <p:cNvSpPr/>
          <p:nvPr/>
        </p:nvSpPr>
        <p:spPr>
          <a:xfrm>
            <a:off x="1583741" y="4307738"/>
            <a:ext cx="6035040" cy="655015"/>
          </a:xfrm>
          <a:prstGeom prst="round1Rect">
            <a:avLst>
              <a:gd name="adj" fmla="val 23087"/>
            </a:avLst>
          </a:prstGeom>
          <a:solidFill>
            <a:srgbClr val="FFFFFF"/>
          </a:solidFill>
          <a:ln/>
        </p:spPr>
        <p:txBody>
          <a:bodyPr/>
          <a:p/>
        </p:txBody>
      </p:sp>
      <p:sp>
        <p:nvSpPr>
          <p:cNvPr id="47" name="R4 chip"/>
          <p:cNvSpPr/>
          <p:nvPr/>
        </p:nvSpPr>
        <p:spPr>
          <a:xfrm>
            <a:off x="544982" y="4307738"/>
            <a:ext cx="1039673" cy="655015"/>
          </a:xfrm>
          <a:prstGeom prst="rect">
            <a:avLst/>
          </a:prstGeom>
          <a:solidFill>
            <a:srgbClr val="B9D2F7"/>
          </a:solidFill>
          <a:ln/>
        </p:spPr>
        <p:txBody>
          <a:bodyPr/>
          <a:p/>
        </p:txBody>
      </p:sp>
      <p:sp>
        <p:nvSpPr>
          <p:cNvPr id="48" name="R4 num"/>
          <p:cNvSpPr/>
          <p:nvPr/>
        </p:nvSpPr>
        <p:spPr>
          <a:xfrm>
            <a:off x="686714" y="4342638"/>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307738"/>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Really? When ____ you do that?</a:t>
            </a:r>
            <a:endParaRPr lang="en-US" sz="1800" dirty="0"/>
          </a:p>
        </p:txBody>
      </p:sp>
      <p:sp>
        <p:nvSpPr>
          <p:cNvPr id="50" name="R4 ans"/>
          <p:cNvSpPr/>
          <p:nvPr/>
        </p:nvSpPr>
        <p:spPr>
          <a:xfrm>
            <a:off x="6382512" y="4406646"/>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did</a:t>
            </a:r>
            <a:endParaRPr lang="en-US" sz="2000" dirty="0" b="1"/>
          </a:p>
        </p:txBody>
      </p:sp>
      <p:sp>
        <p:nvSpPr>
          <p:cNvPr id="51" name="R5 card"/>
          <p:cNvSpPr/>
          <p:nvPr/>
        </p:nvSpPr>
        <p:spPr>
          <a:xfrm>
            <a:off x="1583741" y="5035906"/>
            <a:ext cx="6035040" cy="655015"/>
          </a:xfrm>
          <a:prstGeom prst="round1Rect">
            <a:avLst>
              <a:gd name="adj" fmla="val 23087"/>
            </a:avLst>
          </a:prstGeom>
          <a:solidFill>
            <a:srgbClr val="FFFFFF"/>
          </a:solidFill>
          <a:ln/>
        </p:spPr>
        <p:txBody>
          <a:bodyPr/>
          <a:p/>
        </p:txBody>
      </p:sp>
      <p:sp>
        <p:nvSpPr>
          <p:cNvPr id="52" name="R5 chip"/>
          <p:cNvSpPr/>
          <p:nvPr/>
        </p:nvSpPr>
        <p:spPr>
          <a:xfrm>
            <a:off x="544982" y="5035906"/>
            <a:ext cx="1039673" cy="655015"/>
          </a:xfrm>
          <a:prstGeom prst="rect">
            <a:avLst/>
          </a:prstGeom>
          <a:solidFill>
            <a:srgbClr val="B9D2F7"/>
          </a:solidFill>
          <a:ln/>
        </p:spPr>
        <p:txBody>
          <a:bodyPr/>
          <a:p/>
        </p:txBody>
      </p:sp>
      <p:sp>
        <p:nvSpPr>
          <p:cNvPr id="53" name="R5 num"/>
          <p:cNvSpPr/>
          <p:nvPr/>
        </p:nvSpPr>
        <p:spPr>
          <a:xfrm>
            <a:off x="686714" y="5070805"/>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035906"/>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Ahmed, ____ you ever seen snow?</a:t>
            </a:r>
            <a:endParaRPr lang="en-US" sz="1800" dirty="0"/>
          </a:p>
        </p:txBody>
      </p:sp>
      <p:sp>
        <p:nvSpPr>
          <p:cNvPr id="55" name="R5 ans"/>
          <p:cNvSpPr/>
          <p:nvPr/>
        </p:nvSpPr>
        <p:spPr>
          <a:xfrm>
            <a:off x="6382512" y="5134813"/>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have</a:t>
            </a:r>
            <a:endParaRPr lang="en-US" sz="2000" dirty="0" b="1"/>
          </a:p>
        </p:txBody>
      </p:sp>
      <p:sp>
        <p:nvSpPr>
          <p:cNvPr id="56" name="R6 card"/>
          <p:cNvSpPr/>
          <p:nvPr/>
        </p:nvSpPr>
        <p:spPr>
          <a:xfrm>
            <a:off x="1583741" y="5764073"/>
            <a:ext cx="6035040" cy="655015"/>
          </a:xfrm>
          <a:prstGeom prst="round1Rect">
            <a:avLst>
              <a:gd name="adj" fmla="val 23087"/>
            </a:avLst>
          </a:prstGeom>
          <a:solidFill>
            <a:srgbClr val="FFFFFF"/>
          </a:solidFill>
          <a:ln/>
        </p:spPr>
        <p:txBody>
          <a:bodyPr/>
          <a:p/>
        </p:txBody>
      </p:sp>
      <p:sp>
        <p:nvSpPr>
          <p:cNvPr id="57" name="R6 chip"/>
          <p:cNvSpPr/>
          <p:nvPr/>
        </p:nvSpPr>
        <p:spPr>
          <a:xfrm>
            <a:off x="544982" y="5764073"/>
            <a:ext cx="1039673" cy="655015"/>
          </a:xfrm>
          <a:prstGeom prst="rect">
            <a:avLst/>
          </a:prstGeom>
          <a:solidFill>
            <a:srgbClr val="B9D2F7"/>
          </a:solidFill>
          <a:ln/>
        </p:spPr>
        <p:txBody>
          <a:bodyPr/>
          <a:p/>
        </p:txBody>
      </p:sp>
      <p:sp>
        <p:nvSpPr>
          <p:cNvPr id="58" name="R6 num"/>
          <p:cNvSpPr/>
          <p:nvPr/>
        </p:nvSpPr>
        <p:spPr>
          <a:xfrm>
            <a:off x="686714" y="5798972"/>
            <a:ext cx="1109167" cy="585216"/>
          </a:xfrm>
          <a:prstGeom prst="rect">
            <a:avLst/>
          </a:prstGeom>
          <a:noFill/>
          <a:ln/>
        </p:spPr>
        <p:txBody>
          <a:bodyPr wrap="square" rtlCol="0" anchor="ctr"/>
          <a:lstStyle/>
          <a:p>
            <a:pPr algn="ctr" indent="0" marL="0">
              <a:buNone/>
            </a:pPr>
            <a:r>
              <a:rPr lang="en-US" sz="3200" dirty="0" b="1"/>
              <a:t>6</a:t>
            </a:r>
            <a:endParaRPr lang="en-US" sz="3200" dirty="0" b="1"/>
          </a:p>
        </p:txBody>
      </p:sp>
      <p:sp>
        <p:nvSpPr>
          <p:cNvPr id="59" name="R6 text"/>
          <p:cNvSpPr/>
          <p:nvPr/>
        </p:nvSpPr>
        <p:spPr>
          <a:xfrm>
            <a:off x="1810512" y="5764073"/>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I've run a race, too. My company ____ a race every summer.</a:t>
            </a:r>
            <a:endParaRPr lang="en-US" sz="1800" dirty="0"/>
          </a:p>
        </p:txBody>
      </p:sp>
      <p:sp>
        <p:nvSpPr>
          <p:cNvPr id="60" name="R6 ans"/>
          <p:cNvSpPr/>
          <p:nvPr/>
        </p:nvSpPr>
        <p:spPr>
          <a:xfrm>
            <a:off x="6382512" y="5862980"/>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has</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0"/>
                                        </p:tgtEl>
                                        <p:attrNameLst>
                                          <p:attrName>style.visibility</p:attrName>
                                        </p:attrNameLst>
                                      </p:cBhvr>
                                      <p:to>
                                        <p:strVal val="visible"/>
                                      </p:to>
                                    </p:set>
                                    <p:animEffect transition="in" filter="fade">
                                      <p:cBhvr>
                                        <p:cTn id="32"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name="L4:checksay">
    <p:bg>
      <p:bgPr>
        <a:solidFill>
          <a:srgbClr val="F1F5FB"/>
        </a:solidFill>
      </p:bgPr>
    </p:bg>
    <p:spTree>
      <p:nvGrpSpPr>
        <p:cNvPr id="1" name=""/>
        <p:cNvGrpSpPr/>
        <p:nvPr/>
      </p:nvGrpSpPr>
      <p:grpSpPr/>
      <p:sp>
        <p:nvSpPr>
          <p:cNvPr id="2" name="head shadow"/>
          <p:cNvSpPr/>
          <p:nvPr/>
        </p:nvSpPr>
        <p:spPr>
          <a:xfrm>
            <a:off x="544982" y="1681582"/>
            <a:ext cx="6227064" cy="983894"/>
          </a:xfrm>
          <a:prstGeom prst="round1Rect">
            <a:avLst>
              <a:gd name="adj" fmla="val 23087"/>
            </a:avLst>
          </a:prstGeom>
          <a:solidFill>
            <a:srgbClr val="8FAFE3"/>
          </a:solidFill>
          <a:ln/>
        </p:spPr>
        <p:txBody>
          <a:bodyPr/>
          <a:p/>
        </p:txBody>
      </p:sp>
      <p:sp>
        <p:nvSpPr>
          <p:cNvPr id="3" name="head card"/>
          <p:cNvSpPr/>
          <p:nvPr/>
        </p:nvSpPr>
        <p:spPr>
          <a:xfrm>
            <a:off x="544982" y="1623974"/>
            <a:ext cx="6169457" cy="983894"/>
          </a:xfrm>
          <a:prstGeom prst="round1Rect">
            <a:avLst>
              <a:gd name="adj" fmla="val 23087"/>
            </a:avLst>
          </a:prstGeom>
          <a:solidFill>
            <a:srgbClr val="FFFFFF"/>
          </a:solidFill>
          <a:ln/>
        </p:spPr>
        <p:txBody>
          <a:bodyPr/>
          <a:p/>
        </p:txBody>
      </p:sp>
      <p:sp>
        <p:nvSpPr>
          <p:cNvPr id="8" name="head1"/>
          <p:cNvSpPr/>
          <p:nvPr/>
        </p:nvSpPr>
        <p:spPr>
          <a:xfrm>
            <a:off x="777240" y="1691640"/>
            <a:ext cx="5669280" cy="384048"/>
          </a:xfrm>
          <a:prstGeom prst="rect">
            <a:avLst/>
          </a:prstGeom>
          <a:noFill/>
          <a:ln/>
        </p:spPr>
        <p:txBody>
          <a:bodyPr wrap="square" rtlCol="0" anchor="t"/>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Hear it: gonna = going to, wanna = want to</a:t>
            </a:r>
            <a:endParaRPr lang="en-US" sz="1800" dirty="0" b="1"/>
          </a:p>
        </p:txBody>
      </p:sp>
      <p:sp>
        <p:nvSpPr>
          <p:cNvPr id="9" name="head2"/>
          <p:cNvSpPr/>
          <p:nvPr/>
        </p:nvSpPr>
        <p:spPr>
          <a:xfrm>
            <a:off x="868680" y="2093976"/>
            <a:ext cx="5577840" cy="411480"/>
          </a:xfrm>
          <a:prstGeom prst="rect">
            <a:avLst/>
          </a:prstGeom>
          <a:noFill/>
          <a:ln/>
        </p:spPr>
        <p:txBody>
          <a:bodyPr wrap="square" lIns="0" tIns="0" rIns="0" bIns="0" rtlCol="0" anchor="t"/>
          <a:lstStyle/>
          <a:p>
            <a:pPr algn="l" indent="0" marL="0">
              <a:buNone/>
            </a:pPr>
            <a:r>
              <a:rPr lang="en-US" sz="1800" dirty="0">
                <a:solidFill>
                  <a:srgbClr val="1B2236"/>
                </a:solidFill>
                <a:latin typeface="Lexend Deca" pitchFamily="34" charset="0"/>
                <a:ea typeface="Lexend Deca" pitchFamily="34" charset="-122"/>
                <a:cs typeface="Lexend Deca" pitchFamily="34" charset="-120"/>
              </a:rPr>
              <a:t>Say it: the weak, short have</a:t>
            </a:r>
            <a:endParaRPr lang="en-US" sz="1800" dirty="0"/>
          </a:p>
        </p:txBody>
      </p:sp>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Hear It,</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Say It</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5B3FC4"/>
                </a:solidFill>
                <a:latin typeface="Lexend Deca" pitchFamily="34" charset="0"/>
                <a:ea typeface="Lexend Deca" pitchFamily="34" charset="-122"/>
                <a:cs typeface="Lexend Deca" pitchFamily="34" charset="-120"/>
              </a:rPr>
              <a:t>gonna</a:t>
            </a:r>
            <a:r>
              <a:rPr lang="en-US" sz="2000" dirty="0">
                <a:solidFill>
                  <a:srgbClr val="1B2236"/>
                </a:solidFill>
                <a:latin typeface="Lexend Deca" pitchFamily="34" charset="0"/>
                <a:ea typeface="Lexend Deca" pitchFamily="34" charset="-122"/>
                <a:cs typeface="Lexend Deca" pitchFamily="34" charset="-120"/>
              </a:rPr>
              <a:t> = going to, </a:t>
            </a:r>
            <a:r>
              <a:rPr lang="en-US" sz="2000" dirty="0" b="1">
                <a:solidFill>
                  <a:srgbClr val="5B3FC4"/>
                </a:solidFill>
                <a:latin typeface="Lexend Deca" pitchFamily="34" charset="0"/>
                <a:ea typeface="Lexend Deca" pitchFamily="34" charset="-122"/>
                <a:cs typeface="Lexend Deca" pitchFamily="34" charset="-120"/>
              </a:rPr>
              <a:t>wanna</a:t>
            </a:r>
            <a:r>
              <a:rPr lang="en-US" sz="2000" dirty="0">
                <a:solidFill>
                  <a:srgbClr val="1B2236"/>
                </a:solidFill>
                <a:latin typeface="Lexend Deca" pitchFamily="34" charset="0"/>
                <a:ea typeface="Lexend Deca" pitchFamily="34" charset="-122"/>
                <a:cs typeface="Lexend Deca" pitchFamily="34" charset="-120"/>
              </a:rPr>
              <a:t> = want to: fine in everyday talk.</a:t>
            </a:r>
            <a:endParaRPr lang="en-US" sz="2000" dirty="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You can say </a:t>
            </a:r>
            <a:r>
              <a:rPr lang="en-US" sz="2000" dirty="0" b="1">
                <a:solidFill>
                  <a:srgbClr val="5B3FC4"/>
                </a:solidFill>
                <a:latin typeface="Lexend Deca" pitchFamily="34" charset="0"/>
                <a:ea typeface="Lexend Deca" pitchFamily="34" charset="-122"/>
                <a:cs typeface="Lexend Deca" pitchFamily="34" charset="-120"/>
              </a:rPr>
              <a:t>going to</a:t>
            </a:r>
            <a:r>
              <a:rPr lang="en-US" sz="2000" dirty="0" b="0">
                <a:solidFill>
                  <a:srgbClr val="1B2236"/>
                </a:solidFill>
                <a:latin typeface="Lexend Deca" pitchFamily="34" charset="0"/>
                <a:ea typeface="Lexend Deca" pitchFamily="34" charset="-122"/>
                <a:cs typeface="Lexend Deca" pitchFamily="34" charset="-120"/>
              </a:rPr>
              <a:t> and </a:t>
            </a:r>
            <a:r>
              <a:rPr lang="en-US" sz="2000" dirty="0" b="1">
                <a:solidFill>
                  <a:srgbClr val="5B3FC4"/>
                </a:solidFill>
                <a:latin typeface="Lexend Deca" pitchFamily="34" charset="0"/>
                <a:ea typeface="Lexend Deca" pitchFamily="34" charset="-122"/>
                <a:cs typeface="Lexend Deca" pitchFamily="34" charset="-120"/>
              </a:rPr>
              <a:t>want to</a:t>
            </a:r>
            <a:r>
              <a:rPr lang="en-US" sz="2000" dirty="0" b="0">
                <a:solidFill>
                  <a:srgbClr val="1B2236"/>
                </a:solidFill>
                <a:latin typeface="Lexend Deca" pitchFamily="34" charset="0"/>
                <a:ea typeface="Lexend Deca" pitchFamily="34" charset="-122"/>
                <a:cs typeface="Lexend Deca" pitchFamily="34" charset="-120"/>
              </a:rPr>
              <a:t>.</a:t>
            </a:r>
            <a:endParaRPr lang="en-US" sz="2000" dirty="0" b="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Say each line </a:t>
            </a:r>
            <a:r>
              <a:rPr lang="en-US" sz="2000" dirty="0" b="1">
                <a:solidFill>
                  <a:srgbClr val="5B3FC4"/>
                </a:solidFill>
                <a:latin typeface="Lexend Deca" pitchFamily="34" charset="0"/>
                <a:ea typeface="Lexend Deca" pitchFamily="34" charset="-122"/>
                <a:cs typeface="Lexend Deca" pitchFamily="34" charset="-120"/>
              </a:rPr>
              <a:t>two times.</a:t>
            </a:r>
            <a:endParaRPr lang="en-US" sz="2000" dirty="0" b="0"/>
          </a:p>
        </p:txBody>
      </p:sp>
      <p:sp>
        <p:nvSpPr>
          <p:cNvPr id="31" name="S1 card"/>
          <p:cNvSpPr/>
          <p:nvPr/>
        </p:nvSpPr>
        <p:spPr>
          <a:xfrm>
            <a:off x="548640" y="2715768"/>
            <a:ext cx="6766560" cy="602590"/>
          </a:xfrm>
          <a:prstGeom prst="round1Rect">
            <a:avLst>
              <a:gd name="adj" fmla="val 23087"/>
            </a:avLst>
          </a:prstGeom>
          <a:solidFill>
            <a:srgbClr val="FFFFFF"/>
          </a:solidFill>
          <a:ln/>
        </p:spPr>
        <p:txBody>
          <a:bodyPr/>
          <a:p/>
        </p:txBody>
      </p:sp>
      <p:sp>
        <p:nvSpPr>
          <p:cNvPr id="32" name="S1 text"/>
          <p:cNvSpPr/>
          <p:nvPr/>
        </p:nvSpPr>
        <p:spPr>
          <a:xfrm>
            <a:off x="777240" y="2715768"/>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Tonight we're </a:t>
            </a:r>
            <a:r>
              <a:rPr lang="en-US" sz="1800" dirty="0" b="1">
                <a:solidFill>
                  <a:srgbClr val="5B3FC4"/>
                </a:solidFill>
                <a:latin typeface="Lexend Deca" pitchFamily="34" charset="0"/>
                <a:ea typeface="Lexend Deca" pitchFamily="34" charset="-122"/>
                <a:cs typeface="Lexend Deca" pitchFamily="34" charset="-120"/>
              </a:rPr>
              <a:t>going to</a:t>
            </a:r>
            <a:r>
              <a:rPr lang="en-US" sz="1800" dirty="0" b="1">
                <a:solidFill>
                  <a:srgbClr val="1B2236"/>
                </a:solidFill>
                <a:latin typeface="Lexend Deca" pitchFamily="34" charset="0"/>
                <a:ea typeface="Lexend Deca" pitchFamily="34" charset="-122"/>
                <a:cs typeface="Lexend Deca" pitchFamily="34" charset="-120"/>
              </a:rPr>
              <a:t> find things we have in common.</a:t>
            </a:r>
            <a:endParaRPr lang="en-US" sz="1800" dirty="0" b="1"/>
          </a:p>
        </p:txBody>
      </p:sp>
      <p:sp>
        <p:nvSpPr>
          <p:cNvPr id="33" name="S2 card"/>
          <p:cNvSpPr/>
          <p:nvPr/>
        </p:nvSpPr>
        <p:spPr>
          <a:xfrm>
            <a:off x="548640" y="3427171"/>
            <a:ext cx="6766560" cy="602590"/>
          </a:xfrm>
          <a:prstGeom prst="round1Rect">
            <a:avLst>
              <a:gd name="adj" fmla="val 23087"/>
            </a:avLst>
          </a:prstGeom>
          <a:solidFill>
            <a:srgbClr val="FFFFFF"/>
          </a:solidFill>
          <a:ln/>
        </p:spPr>
        <p:txBody>
          <a:bodyPr/>
          <a:p/>
        </p:txBody>
      </p:sp>
      <p:sp>
        <p:nvSpPr>
          <p:cNvPr id="34" name="S2 text"/>
          <p:cNvSpPr/>
          <p:nvPr/>
        </p:nvSpPr>
        <p:spPr>
          <a:xfrm>
            <a:off x="777240" y="3427171"/>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 </a:t>
            </a:r>
            <a:r>
              <a:rPr lang="en-US" sz="1800" dirty="0" b="1">
                <a:solidFill>
                  <a:srgbClr val="5B3FC4"/>
                </a:solidFill>
                <a:latin typeface="Lexend Deca" pitchFamily="34" charset="0"/>
                <a:ea typeface="Lexend Deca" pitchFamily="34" charset="-122"/>
                <a:cs typeface="Lexend Deca" pitchFamily="34" charset="-120"/>
              </a:rPr>
              <a:t>want to</a:t>
            </a:r>
            <a:r>
              <a:rPr lang="en-US" sz="1800" dirty="0" b="1">
                <a:solidFill>
                  <a:srgbClr val="1B2236"/>
                </a:solidFill>
                <a:latin typeface="Lexend Deca" pitchFamily="34" charset="0"/>
                <a:ea typeface="Lexend Deca" pitchFamily="34" charset="-122"/>
                <a:cs typeface="Lexend Deca" pitchFamily="34" charset="-120"/>
              </a:rPr>
              <a:t> go camping.</a:t>
            </a:r>
            <a:endParaRPr lang="en-US" sz="1800" dirty="0" b="1"/>
          </a:p>
        </p:txBody>
      </p:sp>
      <p:sp>
        <p:nvSpPr>
          <p:cNvPr id="35" name="S3 card"/>
          <p:cNvSpPr/>
          <p:nvPr/>
        </p:nvSpPr>
        <p:spPr>
          <a:xfrm>
            <a:off x="548640" y="4138574"/>
            <a:ext cx="6766560" cy="602590"/>
          </a:xfrm>
          <a:prstGeom prst="round1Rect">
            <a:avLst>
              <a:gd name="adj" fmla="val 23087"/>
            </a:avLst>
          </a:prstGeom>
          <a:solidFill>
            <a:srgbClr val="FFFFFF"/>
          </a:solidFill>
          <a:ln/>
        </p:spPr>
        <p:txBody>
          <a:bodyPr/>
          <a:p/>
        </p:txBody>
      </p:sp>
      <p:sp>
        <p:nvSpPr>
          <p:cNvPr id="36" name="S3 text"/>
          <p:cNvSpPr/>
          <p:nvPr/>
        </p:nvSpPr>
        <p:spPr>
          <a:xfrm>
            <a:off x="777240" y="4138574"/>
            <a:ext cx="6355080" cy="602590"/>
          </a:xfrm>
          <a:prstGeom prst="rect">
            <a:avLst/>
          </a:prstGeom>
          <a:noFill/>
          <a:ln/>
        </p:spPr>
        <p:txBody>
          <a:bodyPr wrap="square" rtlCol="0" anchor="ct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Have</a:t>
            </a:r>
            <a:r>
              <a:rPr lang="en-US" sz="1800" dirty="0" b="1">
                <a:solidFill>
                  <a:srgbClr val="1B2236"/>
                </a:solidFill>
                <a:latin typeface="Lexend Deca" pitchFamily="34" charset="0"/>
                <a:ea typeface="Lexend Deca" pitchFamily="34" charset="-122"/>
                <a:cs typeface="Lexend Deca" pitchFamily="34" charset="-120"/>
              </a:rPr>
              <a:t> you ever seen snow?</a:t>
            </a:r>
            <a:endParaRPr lang="en-US" sz="1800" dirty="0" b="1"/>
          </a:p>
        </p:txBody>
      </p:sp>
      <p:sp>
        <p:nvSpPr>
          <p:cNvPr id="37" name="S4 card"/>
          <p:cNvSpPr/>
          <p:nvPr/>
        </p:nvSpPr>
        <p:spPr>
          <a:xfrm>
            <a:off x="548640" y="4849978"/>
            <a:ext cx="6766560" cy="602590"/>
          </a:xfrm>
          <a:prstGeom prst="round1Rect">
            <a:avLst>
              <a:gd name="adj" fmla="val 23087"/>
            </a:avLst>
          </a:prstGeom>
          <a:solidFill>
            <a:srgbClr val="FFFFFF"/>
          </a:solidFill>
          <a:ln/>
        </p:spPr>
        <p:txBody>
          <a:bodyPr/>
          <a:p/>
        </p:txBody>
      </p:sp>
      <p:sp>
        <p:nvSpPr>
          <p:cNvPr id="38" name="S4 text"/>
          <p:cNvSpPr/>
          <p:nvPr/>
        </p:nvSpPr>
        <p:spPr>
          <a:xfrm>
            <a:off x="777240" y="4849978"/>
            <a:ext cx="6355080" cy="602590"/>
          </a:xfrm>
          <a:prstGeom prst="rect">
            <a:avLst/>
          </a:prstGeom>
          <a:noFill/>
          <a:ln/>
        </p:spPr>
        <p:txBody>
          <a:bodyPr wrap="square" rtlCol="0" anchor="ct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I've</a:t>
            </a:r>
            <a:r>
              <a:rPr lang="en-US" sz="1800" dirty="0" b="1">
                <a:solidFill>
                  <a:srgbClr val="1B2236"/>
                </a:solidFill>
                <a:latin typeface="Lexend Deca" pitchFamily="34" charset="0"/>
                <a:ea typeface="Lexend Deca" pitchFamily="34" charset="-122"/>
                <a:cs typeface="Lexend Deca" pitchFamily="34" charset="-120"/>
              </a:rPr>
              <a:t> never ridden a horse.</a:t>
            </a:r>
            <a:endParaRPr lang="en-US" sz="1800" dirty="0" b="1"/>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Ride a horse: a person riding a horse"/>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1</a:t>
            </a:r>
            <a:endParaRPr lang="en-US" sz="2000" dirty="0" b="1"/>
          </a:p>
          <a:p>
            <a:pPr algn="l" indent="0" marL="0">
              <a:spcAft>
                <a:spcPts val="400"/>
              </a:spcAft>
              <a:buNone/>
            </a:pPr>
            <a:r>
              <a:rPr lang="en-US" sz="2800" dirty="0" b="1">
                <a:solidFill>
                  <a:srgbClr val="1B2236"/>
                </a:solidFill>
                <a:latin typeface="Lexend Deca" pitchFamily="34" charset="0"/>
                <a:ea typeface="Lexend Deca" pitchFamily="34" charset="-122"/>
                <a:cs typeface="Lexend Deca" pitchFamily="34" charset="-120"/>
              </a:rPr>
              <a:t>Have you ever…?</a:t>
            </a:r>
            <a:endParaRPr lang="en-US" sz="2800" dirty="0" b="1"/>
          </a:p>
        </p:txBody>
      </p:sp>
      <p:sp>
        <p:nvSpPr>
          <p:cNvPr id="8" name="Q head"/>
          <p:cNvSpPr/>
          <p:nvPr/>
        </p:nvSpPr>
        <p:spPr>
          <a:xfrm>
            <a:off x="5166360" y="1828800"/>
            <a:ext cx="26517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QUESTION</a:t>
            </a:r>
            <a:endParaRPr lang="en-US" sz="2000" dirty="0" b="1"/>
          </a:p>
        </p:txBody>
      </p:sp>
      <p:sp>
        <p:nvSpPr>
          <p:cNvPr id="11" name="A head"/>
          <p:cNvSpPr/>
          <p:nvPr/>
        </p:nvSpPr>
        <p:spPr>
          <a:xfrm>
            <a:off x="7863840" y="1828800"/>
            <a:ext cx="40690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ANSWER</a:t>
            </a:r>
            <a:endParaRPr lang="en-US" sz="2000" dirty="0" b="1"/>
          </a:p>
        </p:txBody>
      </p:sp>
      <p:sp>
        <p:nvSpPr>
          <p:cNvPr id="18" name="Question 1"/>
          <p:cNvSpPr/>
          <p:nvPr/>
        </p:nvSpPr>
        <p:spPr>
          <a:xfrm>
            <a:off x="5138928" y="2286000"/>
            <a:ext cx="2651760" cy="120700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Have</a:t>
            </a:r>
            <a:r>
              <a:rPr lang="en-US" sz="1800" dirty="0" b="1">
                <a:solidFill>
                  <a:srgbClr val="1B2236"/>
                </a:solidFill>
                <a:latin typeface="Lexend Deca" pitchFamily="34" charset="0"/>
                <a:ea typeface="Lexend Deca" pitchFamily="34" charset="-122"/>
                <a:cs typeface="Lexend Deca" pitchFamily="34" charset="-120"/>
              </a:rPr>
              <a:t> you </a:t>
            </a:r>
            <a:r>
              <a:rPr lang="en-US" sz="1800" dirty="0" b="1">
                <a:solidFill>
                  <a:srgbClr val="1B2236"/>
                </a:solidFill>
                <a:latin typeface="Lexend Deca" pitchFamily="34" charset="0"/>
                <a:ea typeface="Lexend Deca" pitchFamily="34" charset="-122"/>
                <a:cs typeface="Lexend Deca" pitchFamily="34" charset="-120"/>
              </a:rPr>
              <a:t>ever</a:t>
            </a:r>
            <a:r>
              <a:rPr lang="en-US" sz="1800" dirty="0" b="1">
                <a:solidFill>
                  <a:srgbClr val="1B2236"/>
                </a:solidFill>
                <a:latin typeface="Lexend Deca" pitchFamily="34" charset="0"/>
                <a:ea typeface="Lexend Deca" pitchFamily="34" charset="-122"/>
                <a:cs typeface="Lexend Deca" pitchFamily="34" charset="-120"/>
              </a:rPr>
              <a:t> worked in a restaurant?</a:t>
            </a:r>
            <a:endParaRPr lang="en-US" sz="1800" dirty="0" b="1"/>
          </a:p>
        </p:txBody>
      </p:sp>
      <p:sp>
        <p:nvSpPr>
          <p:cNvPr id="19" name="Answer bg 1"/>
          <p:cNvSpPr/>
          <p:nvPr/>
        </p:nvSpPr>
        <p:spPr>
          <a:xfrm>
            <a:off x="7863840" y="2286000"/>
            <a:ext cx="4069080" cy="12070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863840" y="2286000"/>
            <a:ext cx="4069080" cy="12070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Yes, I </a:t>
            </a:r>
            <a:r>
              <a:rPr lang="en-US" sz="1700" dirty="0" b="1">
                <a:solidFill>
                  <a:srgbClr val="1B2236"/>
                </a:solidFill>
                <a:latin typeface="Lexend Deca" pitchFamily="34" charset="0"/>
                <a:ea typeface="Lexend Deca" pitchFamily="34" charset="-122"/>
                <a:cs typeface="Lexend Deca" pitchFamily="34" charset="-120"/>
              </a:rPr>
              <a:t>have</a:t>
            </a:r>
            <a:r>
              <a:rPr lang="en-US" sz="1700" dirty="0" b="1">
                <a:solidFill>
                  <a:srgbClr val="1B2236"/>
                </a:solidFill>
                <a:latin typeface="Lexend Deca" pitchFamily="34" charset="0"/>
                <a:ea typeface="Lexend Deca" pitchFamily="34" charset="-122"/>
                <a:cs typeface="Lexend Deca" pitchFamily="34" charset="-120"/>
              </a:rPr>
              <a:t>. I</a:t>
            </a:r>
            <a:r>
              <a:rPr lang="en-US" sz="1700" dirty="0" b="1">
                <a:solidFill>
                  <a:srgbClr val="1B2236"/>
                </a:solidFill>
                <a:latin typeface="Lexend Deca" pitchFamily="34" charset="0"/>
                <a:ea typeface="Lexend Deca" pitchFamily="34" charset="-122"/>
                <a:cs typeface="Lexend Deca" pitchFamily="34" charset="-120"/>
              </a:rPr>
              <a:t>'ve</a:t>
            </a:r>
            <a:r>
              <a:rPr lang="en-US" sz="1700" dirty="0" b="1">
                <a:solidFill>
                  <a:srgbClr val="1B2236"/>
                </a:solidFill>
                <a:latin typeface="Lexend Deca" pitchFamily="34" charset="0"/>
                <a:ea typeface="Lexend Deca" pitchFamily="34" charset="-122"/>
                <a:cs typeface="Lexend Deca" pitchFamily="34" charset="-120"/>
              </a:rPr>
              <a:t> worked in two restaurants.</a:t>
            </a:r>
            <a:endParaRPr lang="en-US" sz="1700" dirty="0" b="1"/>
          </a:p>
          <a:p>
            <a:pPr algn="l" indent="0" marL="0">
              <a:buNone/>
            </a:pPr>
            <a:r>
              <a:rPr lang="en-US" sz="1700" dirty="0" b="1">
                <a:solidFill>
                  <a:srgbClr val="1B2236"/>
                </a:solidFill>
                <a:latin typeface="Lexend Deca" pitchFamily="34" charset="0"/>
                <a:ea typeface="Lexend Deca" pitchFamily="34" charset="-122"/>
                <a:cs typeface="Lexend Deca" pitchFamily="34" charset="-120"/>
              </a:rPr>
              <a:t>No, I </a:t>
            </a:r>
            <a:r>
              <a:rPr lang="en-US" sz="1700" dirty="0" b="1">
                <a:solidFill>
                  <a:srgbClr val="1B2236"/>
                </a:solidFill>
                <a:latin typeface="Lexend Deca" pitchFamily="34" charset="0"/>
                <a:ea typeface="Lexend Deca" pitchFamily="34" charset="-122"/>
                <a:cs typeface="Lexend Deca" pitchFamily="34" charset="-120"/>
              </a:rPr>
              <a:t>haven't</a:t>
            </a:r>
            <a:r>
              <a:rPr lang="en-US" sz="1700" dirty="0" b="1">
                <a:solidFill>
                  <a:srgbClr val="1B2236"/>
                </a:solidFill>
                <a:latin typeface="Lexend Deca" pitchFamily="34" charset="0"/>
                <a:ea typeface="Lexend Deca" pitchFamily="34" charset="-122"/>
                <a:cs typeface="Lexend Deca" pitchFamily="34" charset="-120"/>
              </a:rPr>
              <a:t>. / No, </a:t>
            </a:r>
            <a:r>
              <a:rPr lang="en-US" sz="1700" dirty="0" b="1">
                <a:solidFill>
                  <a:srgbClr val="1B2236"/>
                </a:solidFill>
                <a:latin typeface="Lexend Deca" pitchFamily="34" charset="0"/>
                <a:ea typeface="Lexend Deca" pitchFamily="34" charset="-122"/>
                <a:cs typeface="Lexend Deca" pitchFamily="34" charset="-120"/>
              </a:rPr>
              <a:t>never</a:t>
            </a:r>
            <a:r>
              <a:rPr lang="en-US" sz="1700" dirty="0" b="1">
                <a:solidFill>
                  <a:srgbClr val="1B2236"/>
                </a:solidFill>
                <a:latin typeface="Lexend Deca" pitchFamily="34" charset="0"/>
                <a:ea typeface="Lexend Deca" pitchFamily="34" charset="-122"/>
                <a:cs typeface="Lexend Deca" pitchFamily="34" charset="-120"/>
              </a:rPr>
              <a:t>. I</a:t>
            </a:r>
            <a:r>
              <a:rPr lang="en-US" sz="1700" dirty="0" b="1">
                <a:solidFill>
                  <a:srgbClr val="1B2236"/>
                </a:solidFill>
                <a:latin typeface="Lexend Deca" pitchFamily="34" charset="0"/>
                <a:ea typeface="Lexend Deca" pitchFamily="34" charset="-122"/>
                <a:cs typeface="Lexend Deca" pitchFamily="34" charset="-120"/>
              </a:rPr>
              <a:t>'ve never</a:t>
            </a:r>
            <a:r>
              <a:rPr lang="en-US" sz="1700" dirty="0" b="1">
                <a:solidFill>
                  <a:srgbClr val="1B2236"/>
                </a:solidFill>
                <a:latin typeface="Lexend Deca" pitchFamily="34" charset="0"/>
                <a:ea typeface="Lexend Deca" pitchFamily="34" charset="-122"/>
                <a:cs typeface="Lexend Deca" pitchFamily="34" charset="-120"/>
              </a:rPr>
              <a:t> worked in a restaurant.</a:t>
            </a:r>
            <a:endParaRPr lang="en-US" sz="1700" dirty="0" b="1"/>
          </a:p>
        </p:txBody>
      </p:sp>
      <p:sp>
        <p:nvSpPr>
          <p:cNvPr id="21" name="Question 2"/>
          <p:cNvSpPr/>
          <p:nvPr/>
        </p:nvSpPr>
        <p:spPr>
          <a:xfrm>
            <a:off x="5138928" y="3566160"/>
            <a:ext cx="2651760" cy="120700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Has</a:t>
            </a:r>
            <a:r>
              <a:rPr lang="en-US" sz="1800" dirty="0" b="1">
                <a:solidFill>
                  <a:srgbClr val="1B2236"/>
                </a:solidFill>
                <a:latin typeface="Lexend Deca" pitchFamily="34" charset="0"/>
                <a:ea typeface="Lexend Deca" pitchFamily="34" charset="-122"/>
                <a:cs typeface="Lexend Deca" pitchFamily="34" charset="-120"/>
              </a:rPr>
              <a:t> she </a:t>
            </a:r>
            <a:r>
              <a:rPr lang="en-US" sz="1800" dirty="0" b="1">
                <a:solidFill>
                  <a:srgbClr val="1B2236"/>
                </a:solidFill>
                <a:latin typeface="Lexend Deca" pitchFamily="34" charset="0"/>
                <a:ea typeface="Lexend Deca" pitchFamily="34" charset="-122"/>
                <a:cs typeface="Lexend Deca" pitchFamily="34" charset="-120"/>
              </a:rPr>
              <a:t>ever</a:t>
            </a:r>
            <a:r>
              <a:rPr lang="en-US" sz="1800" dirty="0" b="1">
                <a:solidFill>
                  <a:srgbClr val="1B2236"/>
                </a:solidFill>
                <a:latin typeface="Lexend Deca" pitchFamily="34" charset="0"/>
                <a:ea typeface="Lexend Deca" pitchFamily="34" charset="-122"/>
                <a:cs typeface="Lexend Deca" pitchFamily="34" charset="-120"/>
              </a:rPr>
              <a:t> seen snow?</a:t>
            </a:r>
            <a:endParaRPr lang="en-US" sz="1800" dirty="0" b="1"/>
          </a:p>
        </p:txBody>
      </p:sp>
      <p:sp>
        <p:nvSpPr>
          <p:cNvPr id="22" name="Answer bg 2"/>
          <p:cNvSpPr/>
          <p:nvPr/>
        </p:nvSpPr>
        <p:spPr>
          <a:xfrm>
            <a:off x="7863840" y="3566160"/>
            <a:ext cx="4069080" cy="12070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863840" y="3566160"/>
            <a:ext cx="4069080" cy="12070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Yes, she </a:t>
            </a:r>
            <a:r>
              <a:rPr lang="en-US" sz="1700" dirty="0" b="1">
                <a:solidFill>
                  <a:srgbClr val="1B2236"/>
                </a:solidFill>
                <a:latin typeface="Lexend Deca" pitchFamily="34" charset="0"/>
                <a:ea typeface="Lexend Deca" pitchFamily="34" charset="-122"/>
                <a:cs typeface="Lexend Deca" pitchFamily="34" charset="-120"/>
              </a:rPr>
              <a:t>has</a:t>
            </a:r>
            <a:r>
              <a:rPr lang="en-US" sz="1700" dirty="0" b="1">
                <a:solidFill>
                  <a:srgbClr val="1B2236"/>
                </a:solidFill>
                <a:latin typeface="Lexend Deca" pitchFamily="34" charset="0"/>
                <a:ea typeface="Lexend Deca" pitchFamily="34" charset="-122"/>
                <a:cs typeface="Lexend Deca" pitchFamily="34" charset="-120"/>
              </a:rPr>
              <a:t>. She</a:t>
            </a:r>
            <a:r>
              <a:rPr lang="en-US" sz="1700" dirty="0" b="1">
                <a:solidFill>
                  <a:srgbClr val="1B2236"/>
                </a:solidFill>
                <a:latin typeface="Lexend Deca" pitchFamily="34" charset="0"/>
                <a:ea typeface="Lexend Deca" pitchFamily="34" charset="-122"/>
                <a:cs typeface="Lexend Deca" pitchFamily="34" charset="-120"/>
              </a:rPr>
              <a:t>'s</a:t>
            </a:r>
            <a:r>
              <a:rPr lang="en-US" sz="1700" dirty="0" b="1">
                <a:solidFill>
                  <a:srgbClr val="1B2236"/>
                </a:solidFill>
                <a:latin typeface="Lexend Deca" pitchFamily="34" charset="0"/>
                <a:ea typeface="Lexend Deca" pitchFamily="34" charset="-122"/>
                <a:cs typeface="Lexend Deca" pitchFamily="34" charset="-120"/>
              </a:rPr>
              <a:t> seen snow two times.</a:t>
            </a:r>
            <a:endParaRPr lang="en-US" sz="1700" dirty="0" b="1"/>
          </a:p>
        </p:txBody>
      </p:sp>
      <p:sp>
        <p:nvSpPr>
          <p:cNvPr id="24" name="Question 3"/>
          <p:cNvSpPr/>
          <p:nvPr/>
        </p:nvSpPr>
        <p:spPr>
          <a:xfrm>
            <a:off x="5138928" y="4846320"/>
            <a:ext cx="2651760" cy="120700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Has</a:t>
            </a:r>
            <a:r>
              <a:rPr lang="en-US" sz="1800" dirty="0" b="1">
                <a:solidFill>
                  <a:srgbClr val="1B2236"/>
                </a:solidFill>
                <a:latin typeface="Lexend Deca" pitchFamily="34" charset="0"/>
                <a:ea typeface="Lexend Deca" pitchFamily="34" charset="-122"/>
                <a:cs typeface="Lexend Deca" pitchFamily="34" charset="-120"/>
              </a:rPr>
              <a:t> he </a:t>
            </a:r>
            <a:r>
              <a:rPr lang="en-US" sz="1800" dirty="0" b="1">
                <a:solidFill>
                  <a:srgbClr val="1B2236"/>
                </a:solidFill>
                <a:latin typeface="Lexend Deca" pitchFamily="34" charset="0"/>
                <a:ea typeface="Lexend Deca" pitchFamily="34" charset="-122"/>
                <a:cs typeface="Lexend Deca" pitchFamily="34" charset="-120"/>
              </a:rPr>
              <a:t>ever</a:t>
            </a:r>
            <a:r>
              <a:rPr lang="en-US" sz="1800" dirty="0" b="1">
                <a:solidFill>
                  <a:srgbClr val="1B2236"/>
                </a:solidFill>
                <a:latin typeface="Lexend Deca" pitchFamily="34" charset="0"/>
                <a:ea typeface="Lexend Deca" pitchFamily="34" charset="-122"/>
                <a:cs typeface="Lexend Deca" pitchFamily="34" charset="-120"/>
              </a:rPr>
              <a:t> lived in a big city?</a:t>
            </a:r>
            <a:endParaRPr lang="en-US" sz="1800" dirty="0" b="1"/>
          </a:p>
        </p:txBody>
      </p:sp>
      <p:sp>
        <p:nvSpPr>
          <p:cNvPr id="25" name="Answer bg 3"/>
          <p:cNvSpPr/>
          <p:nvPr/>
        </p:nvSpPr>
        <p:spPr>
          <a:xfrm>
            <a:off x="7863840" y="4846320"/>
            <a:ext cx="4069080" cy="12070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863840" y="4846320"/>
            <a:ext cx="4069080" cy="12070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No, he </a:t>
            </a:r>
            <a:r>
              <a:rPr lang="en-US" sz="1700" dirty="0" b="1">
                <a:solidFill>
                  <a:srgbClr val="1B2236"/>
                </a:solidFill>
                <a:latin typeface="Lexend Deca" pitchFamily="34" charset="0"/>
                <a:ea typeface="Lexend Deca" pitchFamily="34" charset="-122"/>
                <a:cs typeface="Lexend Deca" pitchFamily="34" charset="-120"/>
              </a:rPr>
              <a:t>hasn't</a:t>
            </a:r>
            <a:r>
              <a:rPr lang="en-US" sz="1700" dirty="0" b="1">
                <a:solidFill>
                  <a:srgbClr val="1B2236"/>
                </a:solidFill>
                <a:latin typeface="Lexend Deca" pitchFamily="34" charset="0"/>
                <a:ea typeface="Lexend Deca" pitchFamily="34" charset="-122"/>
                <a:cs typeface="Lexend Deca" pitchFamily="34" charset="-120"/>
              </a:rPr>
              <a:t>. He</a:t>
            </a:r>
            <a:r>
              <a:rPr lang="en-US" sz="1700" dirty="0" b="1">
                <a:solidFill>
                  <a:srgbClr val="1B2236"/>
                </a:solidFill>
                <a:latin typeface="Lexend Deca" pitchFamily="34" charset="0"/>
                <a:ea typeface="Lexend Deca" pitchFamily="34" charset="-122"/>
                <a:cs typeface="Lexend Deca" pitchFamily="34" charset="-120"/>
              </a:rPr>
              <a:t>'s never</a:t>
            </a:r>
            <a:r>
              <a:rPr lang="en-US" sz="1700" dirty="0" b="1">
                <a:solidFill>
                  <a:srgbClr val="1B2236"/>
                </a:solidFill>
                <a:latin typeface="Lexend Deca" pitchFamily="34" charset="0"/>
                <a:ea typeface="Lexend Deca" pitchFamily="34" charset="-122"/>
                <a:cs typeface="Lexend Deca" pitchFamily="34" charset="-120"/>
              </a:rPr>
              <a:t> lived in a big city.</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Mountain: a snowy mountain"/>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2</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the details (simple past)</a:t>
            </a:r>
            <a:endParaRPr lang="en-US" sz="2400" dirty="0" b="1"/>
          </a:p>
        </p:txBody>
      </p:sp>
      <p:sp>
        <p:nvSpPr>
          <p:cNvPr id="8" name="Q head"/>
          <p:cNvSpPr/>
          <p:nvPr/>
        </p:nvSpPr>
        <p:spPr>
          <a:xfrm>
            <a:off x="5166360" y="1828800"/>
            <a:ext cx="26517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QUESTION</a:t>
            </a:r>
            <a:endParaRPr lang="en-US" sz="2000" dirty="0" b="1"/>
          </a:p>
        </p:txBody>
      </p:sp>
      <p:sp>
        <p:nvSpPr>
          <p:cNvPr id="11" name="A head"/>
          <p:cNvSpPr/>
          <p:nvPr/>
        </p:nvSpPr>
        <p:spPr>
          <a:xfrm>
            <a:off x="7863840" y="1828800"/>
            <a:ext cx="40690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ANSWER</a:t>
            </a:r>
            <a:endParaRPr lang="en-US" sz="2000" dirty="0" b="1"/>
          </a:p>
        </p:txBody>
      </p:sp>
      <p:sp>
        <p:nvSpPr>
          <p:cNvPr id="18" name="Question 1"/>
          <p:cNvSpPr/>
          <p:nvPr/>
        </p:nvSpPr>
        <p:spPr>
          <a:xfrm>
            <a:off x="5138928" y="2286000"/>
            <a:ext cx="2651760" cy="84124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Have</a:t>
            </a:r>
            <a:r>
              <a:rPr lang="en-US" sz="1800" dirty="0" b="1">
                <a:solidFill>
                  <a:srgbClr val="1B2236"/>
                </a:solidFill>
                <a:latin typeface="Lexend Deca" pitchFamily="34" charset="0"/>
                <a:ea typeface="Lexend Deca" pitchFamily="34" charset="-122"/>
                <a:cs typeface="Lexend Deca" pitchFamily="34" charset="-120"/>
              </a:rPr>
              <a:t> you </a:t>
            </a:r>
            <a:r>
              <a:rPr lang="en-US" sz="1800" dirty="0" b="1">
                <a:solidFill>
                  <a:srgbClr val="1B2236"/>
                </a:solidFill>
                <a:latin typeface="Lexend Deca" pitchFamily="34" charset="0"/>
                <a:ea typeface="Lexend Deca" pitchFamily="34" charset="-122"/>
                <a:cs typeface="Lexend Deca" pitchFamily="34" charset="-120"/>
              </a:rPr>
              <a:t>ever</a:t>
            </a:r>
            <a:r>
              <a:rPr lang="en-US" sz="1800" dirty="0" b="1">
                <a:solidFill>
                  <a:srgbClr val="1B2236"/>
                </a:solidFill>
                <a:latin typeface="Lexend Deca" pitchFamily="34" charset="0"/>
                <a:ea typeface="Lexend Deca" pitchFamily="34" charset="-122"/>
                <a:cs typeface="Lexend Deca" pitchFamily="34" charset="-120"/>
              </a:rPr>
              <a:t> been to Chicago?</a:t>
            </a:r>
            <a:endParaRPr lang="en-US" sz="1800" dirty="0" b="1"/>
          </a:p>
        </p:txBody>
      </p:sp>
      <p:sp>
        <p:nvSpPr>
          <p:cNvPr id="19" name="Answer bg 1"/>
          <p:cNvSpPr/>
          <p:nvPr/>
        </p:nvSpPr>
        <p:spPr>
          <a:xfrm>
            <a:off x="7863840" y="2286000"/>
            <a:ext cx="4069080" cy="84124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863840" y="2286000"/>
            <a:ext cx="4069080" cy="84124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Yes, I </a:t>
            </a:r>
            <a:r>
              <a:rPr lang="en-US" sz="1800" dirty="0" b="1">
                <a:solidFill>
                  <a:srgbClr val="1B2236"/>
                </a:solidFill>
                <a:latin typeface="Lexend Deca" pitchFamily="34" charset="0"/>
                <a:ea typeface="Lexend Deca" pitchFamily="34" charset="-122"/>
                <a:cs typeface="Lexend Deca" pitchFamily="34" charset="-120"/>
              </a:rPr>
              <a:t>have</a:t>
            </a:r>
            <a:r>
              <a:rPr lang="en-US" sz="1800" dirty="0" b="1">
                <a:solidFill>
                  <a:srgbClr val="1B2236"/>
                </a:solidFill>
                <a:latin typeface="Lexend Deca" pitchFamily="34" charset="0"/>
                <a:ea typeface="Lexend Deca" pitchFamily="34" charset="-122"/>
                <a:cs typeface="Lexend Deca" pitchFamily="34" charset="-120"/>
              </a:rPr>
              <a:t>. I </a:t>
            </a:r>
            <a:r>
              <a:rPr lang="en-US" sz="1800" dirty="0" b="1">
                <a:solidFill>
                  <a:srgbClr val="1B2236"/>
                </a:solidFill>
                <a:latin typeface="Lexend Deca" pitchFamily="34" charset="0"/>
                <a:ea typeface="Lexend Deca" pitchFamily="34" charset="-122"/>
                <a:cs typeface="Lexend Deca" pitchFamily="34" charset="-120"/>
              </a:rPr>
              <a:t>went</a:t>
            </a:r>
            <a:r>
              <a:rPr lang="en-US" sz="1800" dirty="0" b="1">
                <a:solidFill>
                  <a:srgbClr val="1B2236"/>
                </a:solidFill>
                <a:latin typeface="Lexend Deca" pitchFamily="34" charset="0"/>
                <a:ea typeface="Lexend Deca" pitchFamily="34" charset="-122"/>
                <a:cs typeface="Lexend Deca" pitchFamily="34" charset="-120"/>
              </a:rPr>
              <a:t> there in 2022.</a:t>
            </a:r>
            <a:endParaRPr lang="en-US" sz="1800" dirty="0" b="1"/>
          </a:p>
        </p:txBody>
      </p:sp>
      <p:sp>
        <p:nvSpPr>
          <p:cNvPr id="21" name="Question 2"/>
          <p:cNvSpPr/>
          <p:nvPr/>
        </p:nvSpPr>
        <p:spPr>
          <a:xfrm>
            <a:off x="5138928" y="3200400"/>
            <a:ext cx="2651760" cy="84124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When did</a:t>
            </a:r>
            <a:r>
              <a:rPr lang="en-US" sz="1800" dirty="0" b="1">
                <a:solidFill>
                  <a:srgbClr val="1B2236"/>
                </a:solidFill>
                <a:latin typeface="Lexend Deca" pitchFamily="34" charset="0"/>
                <a:ea typeface="Lexend Deca" pitchFamily="34" charset="-122"/>
                <a:cs typeface="Lexend Deca" pitchFamily="34" charset="-120"/>
              </a:rPr>
              <a:t> you go there?</a:t>
            </a:r>
            <a:endParaRPr lang="en-US" sz="1800" dirty="0" b="1"/>
          </a:p>
        </p:txBody>
      </p:sp>
      <p:sp>
        <p:nvSpPr>
          <p:cNvPr id="22" name="Answer bg 2"/>
          <p:cNvSpPr/>
          <p:nvPr/>
        </p:nvSpPr>
        <p:spPr>
          <a:xfrm>
            <a:off x="7863840" y="3200400"/>
            <a:ext cx="4069080" cy="84124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863840" y="3200400"/>
            <a:ext cx="4069080" cy="84124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 </a:t>
            </a:r>
            <a:r>
              <a:rPr lang="en-US" sz="1800" dirty="0" b="1">
                <a:solidFill>
                  <a:srgbClr val="1B2236"/>
                </a:solidFill>
                <a:latin typeface="Lexend Deca" pitchFamily="34" charset="0"/>
                <a:ea typeface="Lexend Deca" pitchFamily="34" charset="-122"/>
                <a:cs typeface="Lexend Deca" pitchFamily="34" charset="-120"/>
              </a:rPr>
              <a:t>went</a:t>
            </a:r>
            <a:r>
              <a:rPr lang="en-US" sz="1800" dirty="0" b="1">
                <a:solidFill>
                  <a:srgbClr val="1B2236"/>
                </a:solidFill>
                <a:latin typeface="Lexend Deca" pitchFamily="34" charset="0"/>
                <a:ea typeface="Lexend Deca" pitchFamily="34" charset="-122"/>
                <a:cs typeface="Lexend Deca" pitchFamily="34" charset="-120"/>
              </a:rPr>
              <a:t> last summer. / in 2022.</a:t>
            </a:r>
            <a:endParaRPr lang="en-US" sz="1800" dirty="0" b="1"/>
          </a:p>
        </p:txBody>
      </p:sp>
      <p:sp>
        <p:nvSpPr>
          <p:cNvPr id="24" name="Question 3"/>
          <p:cNvSpPr/>
          <p:nvPr/>
        </p:nvSpPr>
        <p:spPr>
          <a:xfrm>
            <a:off x="5138928" y="4114800"/>
            <a:ext cx="2651760" cy="84124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How was</a:t>
            </a:r>
            <a:r>
              <a:rPr lang="en-US" sz="1800" dirty="0" b="1">
                <a:solidFill>
                  <a:srgbClr val="1B2236"/>
                </a:solidFill>
                <a:latin typeface="Lexend Deca" pitchFamily="34" charset="0"/>
                <a:ea typeface="Lexend Deca" pitchFamily="34" charset="-122"/>
                <a:cs typeface="Lexend Deca" pitchFamily="34" charset="-120"/>
              </a:rPr>
              <a:t> it?</a:t>
            </a:r>
            <a:endParaRPr lang="en-US" sz="1800" dirty="0" b="1"/>
          </a:p>
        </p:txBody>
      </p:sp>
      <p:sp>
        <p:nvSpPr>
          <p:cNvPr id="25" name="Answer bg 3"/>
          <p:cNvSpPr/>
          <p:nvPr/>
        </p:nvSpPr>
        <p:spPr>
          <a:xfrm>
            <a:off x="7863840" y="4114800"/>
            <a:ext cx="4069080" cy="84124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863840" y="4114800"/>
            <a:ext cx="4069080" cy="84124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It </a:t>
            </a:r>
            <a:r>
              <a:rPr lang="en-US" sz="1800" dirty="0" b="1">
                <a:solidFill>
                  <a:srgbClr val="1B2236"/>
                </a:solidFill>
                <a:latin typeface="Lexend Deca" pitchFamily="34" charset="0"/>
                <a:ea typeface="Lexend Deca" pitchFamily="34" charset="-122"/>
                <a:cs typeface="Lexend Deca" pitchFamily="34" charset="-120"/>
              </a:rPr>
              <a:t>was</a:t>
            </a:r>
            <a:r>
              <a:rPr lang="en-US" sz="1800" dirty="0" b="1">
                <a:solidFill>
                  <a:srgbClr val="1B2236"/>
                </a:solidFill>
                <a:latin typeface="Lexend Deca" pitchFamily="34" charset="0"/>
                <a:ea typeface="Lexend Deca" pitchFamily="34" charset="-122"/>
                <a:cs typeface="Lexend Deca" pitchFamily="34" charset="-120"/>
              </a:rPr>
              <a:t> exciting. / a little boring.</a:t>
            </a:r>
            <a:endParaRPr lang="en-US" sz="1800" dirty="0" b="1"/>
          </a:p>
        </p:txBody>
      </p:sp>
      <p:sp>
        <p:nvSpPr>
          <p:cNvPr id="27" name="Question 4"/>
          <p:cNvSpPr/>
          <p:nvPr/>
        </p:nvSpPr>
        <p:spPr>
          <a:xfrm>
            <a:off x="5138928" y="5029200"/>
            <a:ext cx="2651760" cy="84124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Did</a:t>
            </a:r>
            <a:r>
              <a:rPr lang="en-US" sz="1800" dirty="0" b="1">
                <a:solidFill>
                  <a:srgbClr val="1B2236"/>
                </a:solidFill>
                <a:latin typeface="Lexend Deca" pitchFamily="34" charset="0"/>
                <a:ea typeface="Lexend Deca" pitchFamily="34" charset="-122"/>
                <a:cs typeface="Lexend Deca" pitchFamily="34" charset="-120"/>
              </a:rPr>
              <a:t> you like it?</a:t>
            </a:r>
            <a:endParaRPr lang="en-US" sz="1800" dirty="0" b="1"/>
          </a:p>
        </p:txBody>
      </p:sp>
      <p:sp>
        <p:nvSpPr>
          <p:cNvPr id="28" name="Answer bg 4"/>
          <p:cNvSpPr/>
          <p:nvPr/>
        </p:nvSpPr>
        <p:spPr>
          <a:xfrm>
            <a:off x="7863840" y="5029200"/>
            <a:ext cx="4069080" cy="84124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9" name="Answer 4"/>
          <p:cNvSpPr/>
          <p:nvPr/>
        </p:nvSpPr>
        <p:spPr>
          <a:xfrm>
            <a:off x="7863840" y="5029200"/>
            <a:ext cx="4069080" cy="84124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Yes, I </a:t>
            </a:r>
            <a:r>
              <a:rPr lang="en-US" sz="1800" dirty="0" b="1">
                <a:solidFill>
                  <a:srgbClr val="1B2236"/>
                </a:solidFill>
                <a:latin typeface="Lexend Deca" pitchFamily="34" charset="0"/>
                <a:ea typeface="Lexend Deca" pitchFamily="34" charset="-122"/>
                <a:cs typeface="Lexend Deca" pitchFamily="34" charset="-120"/>
              </a:rPr>
              <a:t>did</a:t>
            </a:r>
            <a:r>
              <a:rPr lang="en-US" sz="1800" dirty="0" b="1">
                <a:solidFill>
                  <a:srgbClr val="1B2236"/>
                </a:solidFill>
                <a:latin typeface="Lexend Deca" pitchFamily="34" charset="0"/>
                <a:ea typeface="Lexend Deca" pitchFamily="34" charset="-122"/>
                <a:cs typeface="Lexend Deca" pitchFamily="34" charset="-120"/>
              </a:rPr>
              <a:t>. / No, I </a:t>
            </a:r>
            <a:r>
              <a:rPr lang="en-US" sz="1800" dirty="0" b="1">
                <a:solidFill>
                  <a:srgbClr val="1B2236"/>
                </a:solidFill>
                <a:latin typeface="Lexend Deca" pitchFamily="34" charset="0"/>
                <a:ea typeface="Lexend Deca" pitchFamily="34" charset="-122"/>
                <a:cs typeface="Lexend Deca" pitchFamily="34" charset="-120"/>
              </a:rPr>
              <a:t>didn't</a:t>
            </a:r>
            <a:r>
              <a:rPr lang="en-US" sz="1800" dirty="0" b="1">
                <a:solidFill>
                  <a:srgbClr val="1B2236"/>
                </a:solidFill>
                <a:latin typeface="Lexend Deca" pitchFamily="34" charset="0"/>
                <a:ea typeface="Lexend Deca" pitchFamily="34" charset="-122"/>
                <a:cs typeface="Lexend Deca" pitchFamily="34" charset="-120"/>
              </a:rPr>
              <a:t>. It was too cold!</a:t>
            </a:r>
            <a:endParaRPr lang="en-US" sz="18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0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Fly: an airplane"/>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3</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20 verbs to know (1)</a:t>
            </a:r>
            <a:endParaRPr lang="en-US" sz="2400" dirty="0" b="1"/>
          </a:p>
        </p:txBody>
      </p:sp>
      <p:sp>
        <p:nvSpPr>
          <p:cNvPr id="8" name="Q head"/>
          <p:cNvSpPr/>
          <p:nvPr/>
        </p:nvSpPr>
        <p:spPr>
          <a:xfrm>
            <a:off x="5166360" y="1828800"/>
            <a:ext cx="329184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VERB → PAST</a:t>
            </a:r>
            <a:endParaRPr lang="en-US" sz="2000" dirty="0" b="1"/>
          </a:p>
        </p:txBody>
      </p:sp>
      <p:sp>
        <p:nvSpPr>
          <p:cNvPr id="11" name="A head"/>
          <p:cNvSpPr/>
          <p:nvPr/>
        </p:nvSpPr>
        <p:spPr>
          <a:xfrm>
            <a:off x="8503920" y="1828800"/>
            <a:ext cx="342900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PAST PARTICIPLE</a:t>
            </a:r>
            <a:endParaRPr lang="en-US" sz="2000" dirty="0" b="1"/>
          </a:p>
        </p:txBody>
      </p:sp>
      <p:sp>
        <p:nvSpPr>
          <p:cNvPr id="18" name="Question 1"/>
          <p:cNvSpPr/>
          <p:nvPr/>
        </p:nvSpPr>
        <p:spPr>
          <a:xfrm>
            <a:off x="5138928" y="2286000"/>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be → was / were</a:t>
            </a:r>
            <a:endParaRPr lang="en-US" sz="1700" dirty="0" b="1"/>
          </a:p>
        </p:txBody>
      </p:sp>
      <p:sp>
        <p:nvSpPr>
          <p:cNvPr id="19" name="Answer bg 1"/>
          <p:cNvSpPr/>
          <p:nvPr/>
        </p:nvSpPr>
        <p:spPr>
          <a:xfrm>
            <a:off x="8503920" y="2286000"/>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8503920" y="2286000"/>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been</a:t>
            </a:r>
            <a:endParaRPr lang="en-US" sz="1700" dirty="0" b="1"/>
          </a:p>
        </p:txBody>
      </p:sp>
      <p:sp>
        <p:nvSpPr>
          <p:cNvPr id="21" name="Question 2"/>
          <p:cNvSpPr/>
          <p:nvPr/>
        </p:nvSpPr>
        <p:spPr>
          <a:xfrm>
            <a:off x="5138928" y="2715768"/>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do → did</a:t>
            </a:r>
            <a:endParaRPr lang="en-US" sz="1700" dirty="0" b="1"/>
          </a:p>
        </p:txBody>
      </p:sp>
      <p:sp>
        <p:nvSpPr>
          <p:cNvPr id="22" name="Answer bg 2"/>
          <p:cNvSpPr/>
          <p:nvPr/>
        </p:nvSpPr>
        <p:spPr>
          <a:xfrm>
            <a:off x="8503920" y="2715768"/>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8503920" y="2715768"/>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done</a:t>
            </a:r>
            <a:endParaRPr lang="en-US" sz="1700" dirty="0" b="1"/>
          </a:p>
        </p:txBody>
      </p:sp>
      <p:sp>
        <p:nvSpPr>
          <p:cNvPr id="24" name="Question 3"/>
          <p:cNvSpPr/>
          <p:nvPr/>
        </p:nvSpPr>
        <p:spPr>
          <a:xfrm>
            <a:off x="5138928" y="3145536"/>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drive → drove</a:t>
            </a:r>
            <a:endParaRPr lang="en-US" sz="1700" dirty="0" b="1"/>
          </a:p>
        </p:txBody>
      </p:sp>
      <p:sp>
        <p:nvSpPr>
          <p:cNvPr id="25" name="Answer bg 3"/>
          <p:cNvSpPr/>
          <p:nvPr/>
        </p:nvSpPr>
        <p:spPr>
          <a:xfrm>
            <a:off x="8503920" y="3145536"/>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8503920" y="3145536"/>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driven</a:t>
            </a:r>
            <a:endParaRPr lang="en-US" sz="1700" dirty="0" b="1"/>
          </a:p>
        </p:txBody>
      </p:sp>
      <p:sp>
        <p:nvSpPr>
          <p:cNvPr id="27" name="Question 4"/>
          <p:cNvSpPr/>
          <p:nvPr/>
        </p:nvSpPr>
        <p:spPr>
          <a:xfrm>
            <a:off x="5138928" y="3575304"/>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eat → ate</a:t>
            </a:r>
            <a:endParaRPr lang="en-US" sz="1700" dirty="0" b="1"/>
          </a:p>
        </p:txBody>
      </p:sp>
      <p:sp>
        <p:nvSpPr>
          <p:cNvPr id="28" name="Answer bg 4"/>
          <p:cNvSpPr/>
          <p:nvPr/>
        </p:nvSpPr>
        <p:spPr>
          <a:xfrm>
            <a:off x="8503920" y="3575304"/>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9" name="Answer 4"/>
          <p:cNvSpPr/>
          <p:nvPr/>
        </p:nvSpPr>
        <p:spPr>
          <a:xfrm>
            <a:off x="8503920" y="3575304"/>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eaten</a:t>
            </a:r>
            <a:endParaRPr lang="en-US" sz="1700" dirty="0" b="1"/>
          </a:p>
        </p:txBody>
      </p:sp>
      <p:sp>
        <p:nvSpPr>
          <p:cNvPr id="30" name="Question 5"/>
          <p:cNvSpPr/>
          <p:nvPr/>
        </p:nvSpPr>
        <p:spPr>
          <a:xfrm>
            <a:off x="5138928" y="4005072"/>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fly → flew</a:t>
            </a:r>
            <a:endParaRPr lang="en-US" sz="1700" dirty="0" b="1"/>
          </a:p>
        </p:txBody>
      </p:sp>
      <p:sp>
        <p:nvSpPr>
          <p:cNvPr id="31" name="Answer bg 5"/>
          <p:cNvSpPr/>
          <p:nvPr/>
        </p:nvSpPr>
        <p:spPr>
          <a:xfrm>
            <a:off x="8503920" y="4005072"/>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2" name="Answer 5"/>
          <p:cNvSpPr/>
          <p:nvPr/>
        </p:nvSpPr>
        <p:spPr>
          <a:xfrm>
            <a:off x="8503920" y="4005072"/>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flown</a:t>
            </a:r>
            <a:endParaRPr lang="en-US" sz="1700" dirty="0" b="1"/>
          </a:p>
        </p:txBody>
      </p:sp>
      <p:sp>
        <p:nvSpPr>
          <p:cNvPr id="33" name="Question 6"/>
          <p:cNvSpPr/>
          <p:nvPr/>
        </p:nvSpPr>
        <p:spPr>
          <a:xfrm>
            <a:off x="5138928" y="4434840"/>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go → went</a:t>
            </a:r>
            <a:endParaRPr lang="en-US" sz="1700" dirty="0" b="1"/>
          </a:p>
        </p:txBody>
      </p:sp>
      <p:sp>
        <p:nvSpPr>
          <p:cNvPr id="34" name="Answer bg 6"/>
          <p:cNvSpPr/>
          <p:nvPr/>
        </p:nvSpPr>
        <p:spPr>
          <a:xfrm>
            <a:off x="8503920" y="4434840"/>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5" name="Answer 6"/>
          <p:cNvSpPr/>
          <p:nvPr/>
        </p:nvSpPr>
        <p:spPr>
          <a:xfrm>
            <a:off x="8503920" y="4434840"/>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gone / been</a:t>
            </a:r>
            <a:endParaRPr lang="en-US" sz="1700" dirty="0" b="1"/>
          </a:p>
        </p:txBody>
      </p:sp>
      <p:sp>
        <p:nvSpPr>
          <p:cNvPr id="36" name="Question 7"/>
          <p:cNvSpPr/>
          <p:nvPr/>
        </p:nvSpPr>
        <p:spPr>
          <a:xfrm>
            <a:off x="5138928" y="4864608"/>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have → had</a:t>
            </a:r>
            <a:endParaRPr lang="en-US" sz="1700" dirty="0" b="1"/>
          </a:p>
        </p:txBody>
      </p:sp>
      <p:sp>
        <p:nvSpPr>
          <p:cNvPr id="37" name="Answer bg 7"/>
          <p:cNvSpPr/>
          <p:nvPr/>
        </p:nvSpPr>
        <p:spPr>
          <a:xfrm>
            <a:off x="8503920" y="4864608"/>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8" name="Answer 7"/>
          <p:cNvSpPr/>
          <p:nvPr/>
        </p:nvSpPr>
        <p:spPr>
          <a:xfrm>
            <a:off x="8503920" y="4864608"/>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had</a:t>
            </a:r>
            <a:endParaRPr lang="en-US" sz="1700" dirty="0" b="1"/>
          </a:p>
        </p:txBody>
      </p:sp>
      <p:sp>
        <p:nvSpPr>
          <p:cNvPr id="39" name="Question 8"/>
          <p:cNvSpPr/>
          <p:nvPr/>
        </p:nvSpPr>
        <p:spPr>
          <a:xfrm>
            <a:off x="5138928" y="5294376"/>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live → lived</a:t>
            </a:r>
            <a:endParaRPr lang="en-US" sz="1700" dirty="0" b="1"/>
          </a:p>
        </p:txBody>
      </p:sp>
      <p:sp>
        <p:nvSpPr>
          <p:cNvPr id="40" name="Answer bg 8"/>
          <p:cNvSpPr/>
          <p:nvPr/>
        </p:nvSpPr>
        <p:spPr>
          <a:xfrm>
            <a:off x="8503920" y="5294376"/>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41" name="Answer 8"/>
          <p:cNvSpPr/>
          <p:nvPr/>
        </p:nvSpPr>
        <p:spPr>
          <a:xfrm>
            <a:off x="8503920" y="5294376"/>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lived</a:t>
            </a:r>
            <a:endParaRPr lang="en-US" sz="1700" dirty="0" b="1"/>
          </a:p>
        </p:txBody>
      </p:sp>
      <p:sp>
        <p:nvSpPr>
          <p:cNvPr id="42" name="Question 9"/>
          <p:cNvSpPr/>
          <p:nvPr/>
        </p:nvSpPr>
        <p:spPr>
          <a:xfrm>
            <a:off x="5138928" y="5724144"/>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make → made</a:t>
            </a:r>
            <a:endParaRPr lang="en-US" sz="1700" dirty="0" b="1"/>
          </a:p>
        </p:txBody>
      </p:sp>
      <p:sp>
        <p:nvSpPr>
          <p:cNvPr id="43" name="Answer bg 9"/>
          <p:cNvSpPr/>
          <p:nvPr/>
        </p:nvSpPr>
        <p:spPr>
          <a:xfrm>
            <a:off x="8503920" y="5724144"/>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44" name="Answer 9"/>
          <p:cNvSpPr/>
          <p:nvPr/>
        </p:nvSpPr>
        <p:spPr>
          <a:xfrm>
            <a:off x="8503920" y="5724144"/>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made</a:t>
            </a:r>
            <a:endParaRPr lang="en-US" sz="1700" dirty="0" b="1"/>
          </a:p>
        </p:txBody>
      </p:sp>
      <p:sp>
        <p:nvSpPr>
          <p:cNvPr id="45" name="Question 10"/>
          <p:cNvSpPr/>
          <p:nvPr/>
        </p:nvSpPr>
        <p:spPr>
          <a:xfrm>
            <a:off x="5138928" y="6153912"/>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meet → met</a:t>
            </a:r>
            <a:endParaRPr lang="en-US" sz="1700" dirty="0" b="1"/>
          </a:p>
        </p:txBody>
      </p:sp>
      <p:sp>
        <p:nvSpPr>
          <p:cNvPr id="46" name="Answer bg 10"/>
          <p:cNvSpPr/>
          <p:nvPr/>
        </p:nvSpPr>
        <p:spPr>
          <a:xfrm>
            <a:off x="8503920" y="6153912"/>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47" name="Answer 10"/>
          <p:cNvSpPr/>
          <p:nvPr/>
        </p:nvSpPr>
        <p:spPr>
          <a:xfrm>
            <a:off x="8503920" y="6153912"/>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met</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0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32"/>
                                        </p:tgtEl>
                                        <p:attrNameLst>
                                          <p:attrName>style.visibility</p:attrName>
                                        </p:attrNameLst>
                                      </p:cBhvr>
                                      <p:to>
                                        <p:strVal val="visible"/>
                                      </p:to>
                                    </p:set>
                                    <p:animEffect transition="in" filter="fade">
                                      <p:cBhvr>
                                        <p:cTn id="39" dur="400"/>
                                        <p:tgtEl>
                                          <p:spTgt spid="32"/>
                                        </p:tgtEl>
                                      </p:cBhvr>
                                    </p:animEffect>
                                  </p:childTnLst>
                                </p:cTn>
                              </p:par>
                              <p:par>
                                <p:cTn id="40" presetID="10" presetClass="entr" presetSubtype="0" fill="hold" nodeType="withEffect">
                                  <p:stCondLst>
                                    <p:cond delay="0"/>
                                  </p:stCondLst>
                                  <p:childTnLst>
                                    <p:set>
                                      <p:cBhvr>
                                        <p:cTn id="41" dur="1" fill="hold">
                                          <p:stCondLst>
                                            <p:cond delay="0"/>
                                          </p:stCondLst>
                                        </p:cTn>
                                        <p:tgtEl>
                                          <p:spTgt spid="31"/>
                                        </p:tgtEl>
                                        <p:attrNameLst>
                                          <p:attrName>style.visibility</p:attrName>
                                        </p:attrNameLst>
                                      </p:cBhvr>
                                      <p:to>
                                        <p:strVal val="visible"/>
                                      </p:to>
                                    </p:set>
                                    <p:animEffect transition="in" filter="fade">
                                      <p:cBhvr>
                                        <p:cTn id="42" dur="400"/>
                                        <p:tgtEl>
                                          <p:spTgt spid="31"/>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fade">
                                      <p:cBhvr>
                                        <p:cTn id="47" dur="400"/>
                                        <p:tgtEl>
                                          <p:spTgt spid="35"/>
                                        </p:tgtEl>
                                      </p:cBhvr>
                                    </p:animEffect>
                                  </p:childTnLst>
                                </p:cTn>
                              </p:par>
                              <p:par>
                                <p:cTn id="48" presetID="10" presetClass="entr" presetSubtype="0" fill="hold" nodeType="withEffect">
                                  <p:stCondLst>
                                    <p:cond delay="0"/>
                                  </p:stCondLst>
                                  <p:childTnLst>
                                    <p:set>
                                      <p:cBhvr>
                                        <p:cTn id="49" dur="1" fill="hold">
                                          <p:stCondLst>
                                            <p:cond delay="0"/>
                                          </p:stCondLst>
                                        </p:cTn>
                                        <p:tgtEl>
                                          <p:spTgt spid="34"/>
                                        </p:tgtEl>
                                        <p:attrNameLst>
                                          <p:attrName>style.visibility</p:attrName>
                                        </p:attrNameLst>
                                      </p:cBhvr>
                                      <p:to>
                                        <p:strVal val="visible"/>
                                      </p:to>
                                    </p:set>
                                    <p:animEffect transition="in" filter="fade">
                                      <p:cBhvr>
                                        <p:cTn id="50" dur="400"/>
                                        <p:tgtEl>
                                          <p:spTgt spid="34"/>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38"/>
                                        </p:tgtEl>
                                        <p:attrNameLst>
                                          <p:attrName>style.visibility</p:attrName>
                                        </p:attrNameLst>
                                      </p:cBhvr>
                                      <p:to>
                                        <p:strVal val="visible"/>
                                      </p:to>
                                    </p:set>
                                    <p:animEffect transition="in" filter="fade">
                                      <p:cBhvr>
                                        <p:cTn id="55" dur="400"/>
                                        <p:tgtEl>
                                          <p:spTgt spid="38"/>
                                        </p:tgtEl>
                                      </p:cBhvr>
                                    </p:animEffect>
                                  </p:childTnLst>
                                </p:cTn>
                              </p:par>
                              <p:par>
                                <p:cTn id="56" presetID="10" presetClass="entr" presetSubtype="0" fill="hold" nodeType="withEffect">
                                  <p:stCondLst>
                                    <p:cond delay="0"/>
                                  </p:stCondLst>
                                  <p:childTnLst>
                                    <p:set>
                                      <p:cBhvr>
                                        <p:cTn id="57" dur="1" fill="hold">
                                          <p:stCondLst>
                                            <p:cond delay="0"/>
                                          </p:stCondLst>
                                        </p:cTn>
                                        <p:tgtEl>
                                          <p:spTgt spid="37"/>
                                        </p:tgtEl>
                                        <p:attrNameLst>
                                          <p:attrName>style.visibility</p:attrName>
                                        </p:attrNameLst>
                                      </p:cBhvr>
                                      <p:to>
                                        <p:strVal val="visible"/>
                                      </p:to>
                                    </p:set>
                                    <p:animEffect transition="in" filter="fade">
                                      <p:cBhvr>
                                        <p:cTn id="58" dur="400"/>
                                        <p:tgtEl>
                                          <p:spTgt spid="37"/>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41"/>
                                        </p:tgtEl>
                                        <p:attrNameLst>
                                          <p:attrName>style.visibility</p:attrName>
                                        </p:attrNameLst>
                                      </p:cBhvr>
                                      <p:to>
                                        <p:strVal val="visible"/>
                                      </p:to>
                                    </p:set>
                                    <p:animEffect transition="in" filter="fade">
                                      <p:cBhvr>
                                        <p:cTn id="63" dur="400"/>
                                        <p:tgtEl>
                                          <p:spTgt spid="41"/>
                                        </p:tgtEl>
                                      </p:cBhvr>
                                    </p:animEffect>
                                  </p:childTnLst>
                                </p:cTn>
                              </p:par>
                              <p:par>
                                <p:cTn id="64" presetID="10" presetClass="entr" presetSubtype="0" fill="hold"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44"/>
                                        </p:tgtEl>
                                        <p:attrNameLst>
                                          <p:attrName>style.visibility</p:attrName>
                                        </p:attrNameLst>
                                      </p:cBhvr>
                                      <p:to>
                                        <p:strVal val="visible"/>
                                      </p:to>
                                    </p:set>
                                    <p:animEffect transition="in" filter="fade">
                                      <p:cBhvr>
                                        <p:cTn id="71" dur="400"/>
                                        <p:tgtEl>
                                          <p:spTgt spid="44"/>
                                        </p:tgtEl>
                                      </p:cBhvr>
                                    </p:animEffect>
                                  </p:childTnLst>
                                </p:cTn>
                              </p:par>
                              <p:par>
                                <p:cTn id="72" presetID="10" presetClass="entr" presetSubtype="0" fill="hold"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400"/>
                                        <p:tgtEl>
                                          <p:spTgt spid="43"/>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47"/>
                                        </p:tgtEl>
                                        <p:attrNameLst>
                                          <p:attrName>style.visibility</p:attrName>
                                        </p:attrNameLst>
                                      </p:cBhvr>
                                      <p:to>
                                        <p:strVal val="visible"/>
                                      </p:to>
                                    </p:set>
                                    <p:animEffect transition="in" filter="fade">
                                      <p:cBhvr>
                                        <p:cTn id="79" dur="400"/>
                                        <p:tgtEl>
                                          <p:spTgt spid="47"/>
                                        </p:tgtEl>
                                      </p:cBhvr>
                                    </p:animEffect>
                                  </p:childTnLst>
                                </p:cTn>
                              </p:par>
                              <p:par>
                                <p:cTn id="80" presetID="10" presetClass="entr" presetSubtype="0" fill="hold" nodeType="withEffect">
                                  <p:stCondLst>
                                    <p:cond delay="0"/>
                                  </p:stCondLst>
                                  <p:childTnLst>
                                    <p:set>
                                      <p:cBhvr>
                                        <p:cTn id="81" dur="1" fill="hold">
                                          <p:stCondLst>
                                            <p:cond delay="0"/>
                                          </p:stCondLst>
                                        </p:cTn>
                                        <p:tgtEl>
                                          <p:spTgt spid="46"/>
                                        </p:tgtEl>
                                        <p:attrNameLst>
                                          <p:attrName>style.visibility</p:attrName>
                                        </p:attrNameLst>
                                      </p:cBhvr>
                                      <p:to>
                                        <p:strVal val="visible"/>
                                      </p:to>
                                    </p:set>
                                    <p:animEffect transition="in" filter="fade">
                                      <p:cBhvr>
                                        <p:cTn id="82" dur="4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Win a prize: a trophy [sign: 1st PRIZE]"/>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3</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20 verbs to know (2)</a:t>
            </a:r>
            <a:endParaRPr lang="en-US" sz="2400" dirty="0" b="1"/>
          </a:p>
        </p:txBody>
      </p:sp>
      <p:sp>
        <p:nvSpPr>
          <p:cNvPr id="8" name="Q head"/>
          <p:cNvSpPr/>
          <p:nvPr/>
        </p:nvSpPr>
        <p:spPr>
          <a:xfrm>
            <a:off x="5166360" y="1828800"/>
            <a:ext cx="329184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VERB → PAST</a:t>
            </a:r>
            <a:endParaRPr lang="en-US" sz="2000" dirty="0" b="1"/>
          </a:p>
        </p:txBody>
      </p:sp>
      <p:sp>
        <p:nvSpPr>
          <p:cNvPr id="11" name="A head"/>
          <p:cNvSpPr/>
          <p:nvPr/>
        </p:nvSpPr>
        <p:spPr>
          <a:xfrm>
            <a:off x="8503920" y="1828800"/>
            <a:ext cx="342900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PAST PARTICIPLE</a:t>
            </a:r>
            <a:endParaRPr lang="en-US" sz="2000" dirty="0" b="1"/>
          </a:p>
        </p:txBody>
      </p:sp>
      <p:sp>
        <p:nvSpPr>
          <p:cNvPr id="18" name="Question 1"/>
          <p:cNvSpPr/>
          <p:nvPr/>
        </p:nvSpPr>
        <p:spPr>
          <a:xfrm>
            <a:off x="5138928" y="2286000"/>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ride → rode</a:t>
            </a:r>
            <a:endParaRPr lang="en-US" sz="1700" dirty="0" b="1"/>
          </a:p>
        </p:txBody>
      </p:sp>
      <p:sp>
        <p:nvSpPr>
          <p:cNvPr id="19" name="Answer bg 1"/>
          <p:cNvSpPr/>
          <p:nvPr/>
        </p:nvSpPr>
        <p:spPr>
          <a:xfrm>
            <a:off x="8503920" y="2286000"/>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8503920" y="2286000"/>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ridden</a:t>
            </a:r>
            <a:endParaRPr lang="en-US" sz="1700" dirty="0" b="1"/>
          </a:p>
        </p:txBody>
      </p:sp>
      <p:sp>
        <p:nvSpPr>
          <p:cNvPr id="21" name="Question 2"/>
          <p:cNvSpPr/>
          <p:nvPr/>
        </p:nvSpPr>
        <p:spPr>
          <a:xfrm>
            <a:off x="5138928" y="2715768"/>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run → ran</a:t>
            </a:r>
            <a:endParaRPr lang="en-US" sz="1700" dirty="0" b="1"/>
          </a:p>
        </p:txBody>
      </p:sp>
      <p:sp>
        <p:nvSpPr>
          <p:cNvPr id="22" name="Answer bg 2"/>
          <p:cNvSpPr/>
          <p:nvPr/>
        </p:nvSpPr>
        <p:spPr>
          <a:xfrm>
            <a:off x="8503920" y="2715768"/>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8503920" y="2715768"/>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run</a:t>
            </a:r>
            <a:endParaRPr lang="en-US" sz="1700" dirty="0" b="1"/>
          </a:p>
        </p:txBody>
      </p:sp>
      <p:sp>
        <p:nvSpPr>
          <p:cNvPr id="24" name="Question 3"/>
          <p:cNvSpPr/>
          <p:nvPr/>
        </p:nvSpPr>
        <p:spPr>
          <a:xfrm>
            <a:off x="5138928" y="3145536"/>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see → saw</a:t>
            </a:r>
            <a:endParaRPr lang="en-US" sz="1700" dirty="0" b="1"/>
          </a:p>
        </p:txBody>
      </p:sp>
      <p:sp>
        <p:nvSpPr>
          <p:cNvPr id="25" name="Answer bg 3"/>
          <p:cNvSpPr/>
          <p:nvPr/>
        </p:nvSpPr>
        <p:spPr>
          <a:xfrm>
            <a:off x="8503920" y="3145536"/>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8503920" y="3145536"/>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seen</a:t>
            </a:r>
            <a:endParaRPr lang="en-US" sz="1700" dirty="0" b="1"/>
          </a:p>
        </p:txBody>
      </p:sp>
      <p:sp>
        <p:nvSpPr>
          <p:cNvPr id="27" name="Question 4"/>
          <p:cNvSpPr/>
          <p:nvPr/>
        </p:nvSpPr>
        <p:spPr>
          <a:xfrm>
            <a:off x="5138928" y="3575304"/>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swim → swam</a:t>
            </a:r>
            <a:endParaRPr lang="en-US" sz="1700" dirty="0" b="1"/>
          </a:p>
        </p:txBody>
      </p:sp>
      <p:sp>
        <p:nvSpPr>
          <p:cNvPr id="28" name="Answer bg 4"/>
          <p:cNvSpPr/>
          <p:nvPr/>
        </p:nvSpPr>
        <p:spPr>
          <a:xfrm>
            <a:off x="8503920" y="3575304"/>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9" name="Answer 4"/>
          <p:cNvSpPr/>
          <p:nvPr/>
        </p:nvSpPr>
        <p:spPr>
          <a:xfrm>
            <a:off x="8503920" y="3575304"/>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swum</a:t>
            </a:r>
            <a:endParaRPr lang="en-US" sz="1700" dirty="0" b="1"/>
          </a:p>
        </p:txBody>
      </p:sp>
      <p:sp>
        <p:nvSpPr>
          <p:cNvPr id="30" name="Question 5"/>
          <p:cNvSpPr/>
          <p:nvPr/>
        </p:nvSpPr>
        <p:spPr>
          <a:xfrm>
            <a:off x="5138928" y="4005072"/>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take → took</a:t>
            </a:r>
            <a:endParaRPr lang="en-US" sz="1700" dirty="0" b="1"/>
          </a:p>
        </p:txBody>
      </p:sp>
      <p:sp>
        <p:nvSpPr>
          <p:cNvPr id="31" name="Answer bg 5"/>
          <p:cNvSpPr/>
          <p:nvPr/>
        </p:nvSpPr>
        <p:spPr>
          <a:xfrm>
            <a:off x="8503920" y="4005072"/>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2" name="Answer 5"/>
          <p:cNvSpPr/>
          <p:nvPr/>
        </p:nvSpPr>
        <p:spPr>
          <a:xfrm>
            <a:off x="8503920" y="4005072"/>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taken</a:t>
            </a:r>
            <a:endParaRPr lang="en-US" sz="1700" dirty="0" b="1"/>
          </a:p>
        </p:txBody>
      </p:sp>
      <p:sp>
        <p:nvSpPr>
          <p:cNvPr id="33" name="Question 6"/>
          <p:cNvSpPr/>
          <p:nvPr/>
        </p:nvSpPr>
        <p:spPr>
          <a:xfrm>
            <a:off x="5138928" y="4434840"/>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travel → traveled</a:t>
            </a:r>
            <a:endParaRPr lang="en-US" sz="1700" dirty="0" b="1"/>
          </a:p>
        </p:txBody>
      </p:sp>
      <p:sp>
        <p:nvSpPr>
          <p:cNvPr id="34" name="Answer bg 6"/>
          <p:cNvSpPr/>
          <p:nvPr/>
        </p:nvSpPr>
        <p:spPr>
          <a:xfrm>
            <a:off x="8503920" y="4434840"/>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5" name="Answer 6"/>
          <p:cNvSpPr/>
          <p:nvPr/>
        </p:nvSpPr>
        <p:spPr>
          <a:xfrm>
            <a:off x="8503920" y="4434840"/>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traveled</a:t>
            </a:r>
            <a:endParaRPr lang="en-US" sz="1700" dirty="0" b="1"/>
          </a:p>
        </p:txBody>
      </p:sp>
      <p:sp>
        <p:nvSpPr>
          <p:cNvPr id="36" name="Question 7"/>
          <p:cNvSpPr/>
          <p:nvPr/>
        </p:nvSpPr>
        <p:spPr>
          <a:xfrm>
            <a:off x="5138928" y="4864608"/>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try → tried</a:t>
            </a:r>
            <a:endParaRPr lang="en-US" sz="1700" dirty="0" b="1"/>
          </a:p>
        </p:txBody>
      </p:sp>
      <p:sp>
        <p:nvSpPr>
          <p:cNvPr id="37" name="Answer bg 7"/>
          <p:cNvSpPr/>
          <p:nvPr/>
        </p:nvSpPr>
        <p:spPr>
          <a:xfrm>
            <a:off x="8503920" y="4864608"/>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8" name="Answer 7"/>
          <p:cNvSpPr/>
          <p:nvPr/>
        </p:nvSpPr>
        <p:spPr>
          <a:xfrm>
            <a:off x="8503920" y="4864608"/>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tried</a:t>
            </a:r>
            <a:endParaRPr lang="en-US" sz="1700" dirty="0" b="1"/>
          </a:p>
        </p:txBody>
      </p:sp>
      <p:sp>
        <p:nvSpPr>
          <p:cNvPr id="39" name="Question 8"/>
          <p:cNvSpPr/>
          <p:nvPr/>
        </p:nvSpPr>
        <p:spPr>
          <a:xfrm>
            <a:off x="5138928" y="5294376"/>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win → won</a:t>
            </a:r>
            <a:endParaRPr lang="en-US" sz="1700" dirty="0" b="1"/>
          </a:p>
        </p:txBody>
      </p:sp>
      <p:sp>
        <p:nvSpPr>
          <p:cNvPr id="40" name="Answer bg 8"/>
          <p:cNvSpPr/>
          <p:nvPr/>
        </p:nvSpPr>
        <p:spPr>
          <a:xfrm>
            <a:off x="8503920" y="5294376"/>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41" name="Answer 8"/>
          <p:cNvSpPr/>
          <p:nvPr/>
        </p:nvSpPr>
        <p:spPr>
          <a:xfrm>
            <a:off x="8503920" y="5294376"/>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won</a:t>
            </a:r>
            <a:endParaRPr lang="en-US" sz="1700" dirty="0" b="1"/>
          </a:p>
        </p:txBody>
      </p:sp>
      <p:sp>
        <p:nvSpPr>
          <p:cNvPr id="42" name="Question 9"/>
          <p:cNvSpPr/>
          <p:nvPr/>
        </p:nvSpPr>
        <p:spPr>
          <a:xfrm>
            <a:off x="5138928" y="5724144"/>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work → worked</a:t>
            </a:r>
            <a:endParaRPr lang="en-US" sz="1700" dirty="0" b="1"/>
          </a:p>
        </p:txBody>
      </p:sp>
      <p:sp>
        <p:nvSpPr>
          <p:cNvPr id="43" name="Answer bg 9"/>
          <p:cNvSpPr/>
          <p:nvPr/>
        </p:nvSpPr>
        <p:spPr>
          <a:xfrm>
            <a:off x="8503920" y="5724144"/>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44" name="Answer 9"/>
          <p:cNvSpPr/>
          <p:nvPr/>
        </p:nvSpPr>
        <p:spPr>
          <a:xfrm>
            <a:off x="8503920" y="5724144"/>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worked</a:t>
            </a:r>
            <a:endParaRPr lang="en-US" sz="1700" dirty="0" b="1"/>
          </a:p>
        </p:txBody>
      </p:sp>
      <p:sp>
        <p:nvSpPr>
          <p:cNvPr id="45" name="Question 10"/>
          <p:cNvSpPr/>
          <p:nvPr/>
        </p:nvSpPr>
        <p:spPr>
          <a:xfrm>
            <a:off x="5138928" y="6153912"/>
            <a:ext cx="329184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write → wrote</a:t>
            </a:r>
            <a:endParaRPr lang="en-US" sz="1700" dirty="0" b="1"/>
          </a:p>
        </p:txBody>
      </p:sp>
      <p:sp>
        <p:nvSpPr>
          <p:cNvPr id="46" name="Answer bg 10"/>
          <p:cNvSpPr/>
          <p:nvPr/>
        </p:nvSpPr>
        <p:spPr>
          <a:xfrm>
            <a:off x="8503920" y="6153912"/>
            <a:ext cx="3429000" cy="356616"/>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47" name="Answer 10"/>
          <p:cNvSpPr/>
          <p:nvPr/>
        </p:nvSpPr>
        <p:spPr>
          <a:xfrm>
            <a:off x="8503920" y="6153912"/>
            <a:ext cx="3429000" cy="356616"/>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written</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0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32"/>
                                        </p:tgtEl>
                                        <p:attrNameLst>
                                          <p:attrName>style.visibility</p:attrName>
                                        </p:attrNameLst>
                                      </p:cBhvr>
                                      <p:to>
                                        <p:strVal val="visible"/>
                                      </p:to>
                                    </p:set>
                                    <p:animEffect transition="in" filter="fade">
                                      <p:cBhvr>
                                        <p:cTn id="39" dur="400"/>
                                        <p:tgtEl>
                                          <p:spTgt spid="32"/>
                                        </p:tgtEl>
                                      </p:cBhvr>
                                    </p:animEffect>
                                  </p:childTnLst>
                                </p:cTn>
                              </p:par>
                              <p:par>
                                <p:cTn id="40" presetID="10" presetClass="entr" presetSubtype="0" fill="hold" nodeType="withEffect">
                                  <p:stCondLst>
                                    <p:cond delay="0"/>
                                  </p:stCondLst>
                                  <p:childTnLst>
                                    <p:set>
                                      <p:cBhvr>
                                        <p:cTn id="41" dur="1" fill="hold">
                                          <p:stCondLst>
                                            <p:cond delay="0"/>
                                          </p:stCondLst>
                                        </p:cTn>
                                        <p:tgtEl>
                                          <p:spTgt spid="31"/>
                                        </p:tgtEl>
                                        <p:attrNameLst>
                                          <p:attrName>style.visibility</p:attrName>
                                        </p:attrNameLst>
                                      </p:cBhvr>
                                      <p:to>
                                        <p:strVal val="visible"/>
                                      </p:to>
                                    </p:set>
                                    <p:animEffect transition="in" filter="fade">
                                      <p:cBhvr>
                                        <p:cTn id="42" dur="400"/>
                                        <p:tgtEl>
                                          <p:spTgt spid="31"/>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fade">
                                      <p:cBhvr>
                                        <p:cTn id="47" dur="400"/>
                                        <p:tgtEl>
                                          <p:spTgt spid="35"/>
                                        </p:tgtEl>
                                      </p:cBhvr>
                                    </p:animEffect>
                                  </p:childTnLst>
                                </p:cTn>
                              </p:par>
                              <p:par>
                                <p:cTn id="48" presetID="10" presetClass="entr" presetSubtype="0" fill="hold" nodeType="withEffect">
                                  <p:stCondLst>
                                    <p:cond delay="0"/>
                                  </p:stCondLst>
                                  <p:childTnLst>
                                    <p:set>
                                      <p:cBhvr>
                                        <p:cTn id="49" dur="1" fill="hold">
                                          <p:stCondLst>
                                            <p:cond delay="0"/>
                                          </p:stCondLst>
                                        </p:cTn>
                                        <p:tgtEl>
                                          <p:spTgt spid="34"/>
                                        </p:tgtEl>
                                        <p:attrNameLst>
                                          <p:attrName>style.visibility</p:attrName>
                                        </p:attrNameLst>
                                      </p:cBhvr>
                                      <p:to>
                                        <p:strVal val="visible"/>
                                      </p:to>
                                    </p:set>
                                    <p:animEffect transition="in" filter="fade">
                                      <p:cBhvr>
                                        <p:cTn id="50" dur="400"/>
                                        <p:tgtEl>
                                          <p:spTgt spid="34"/>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38"/>
                                        </p:tgtEl>
                                        <p:attrNameLst>
                                          <p:attrName>style.visibility</p:attrName>
                                        </p:attrNameLst>
                                      </p:cBhvr>
                                      <p:to>
                                        <p:strVal val="visible"/>
                                      </p:to>
                                    </p:set>
                                    <p:animEffect transition="in" filter="fade">
                                      <p:cBhvr>
                                        <p:cTn id="55" dur="400"/>
                                        <p:tgtEl>
                                          <p:spTgt spid="38"/>
                                        </p:tgtEl>
                                      </p:cBhvr>
                                    </p:animEffect>
                                  </p:childTnLst>
                                </p:cTn>
                              </p:par>
                              <p:par>
                                <p:cTn id="56" presetID="10" presetClass="entr" presetSubtype="0" fill="hold" nodeType="withEffect">
                                  <p:stCondLst>
                                    <p:cond delay="0"/>
                                  </p:stCondLst>
                                  <p:childTnLst>
                                    <p:set>
                                      <p:cBhvr>
                                        <p:cTn id="57" dur="1" fill="hold">
                                          <p:stCondLst>
                                            <p:cond delay="0"/>
                                          </p:stCondLst>
                                        </p:cTn>
                                        <p:tgtEl>
                                          <p:spTgt spid="37"/>
                                        </p:tgtEl>
                                        <p:attrNameLst>
                                          <p:attrName>style.visibility</p:attrName>
                                        </p:attrNameLst>
                                      </p:cBhvr>
                                      <p:to>
                                        <p:strVal val="visible"/>
                                      </p:to>
                                    </p:set>
                                    <p:animEffect transition="in" filter="fade">
                                      <p:cBhvr>
                                        <p:cTn id="58" dur="400"/>
                                        <p:tgtEl>
                                          <p:spTgt spid="37"/>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41"/>
                                        </p:tgtEl>
                                        <p:attrNameLst>
                                          <p:attrName>style.visibility</p:attrName>
                                        </p:attrNameLst>
                                      </p:cBhvr>
                                      <p:to>
                                        <p:strVal val="visible"/>
                                      </p:to>
                                    </p:set>
                                    <p:animEffect transition="in" filter="fade">
                                      <p:cBhvr>
                                        <p:cTn id="63" dur="400"/>
                                        <p:tgtEl>
                                          <p:spTgt spid="41"/>
                                        </p:tgtEl>
                                      </p:cBhvr>
                                    </p:animEffect>
                                  </p:childTnLst>
                                </p:cTn>
                              </p:par>
                              <p:par>
                                <p:cTn id="64" presetID="10" presetClass="entr" presetSubtype="0" fill="hold" nodeType="withEffect">
                                  <p:stCondLst>
                                    <p:cond delay="0"/>
                                  </p:stCondLst>
                                  <p:childTnLst>
                                    <p:set>
                                      <p:cBhvr>
                                        <p:cTn id="65" dur="1" fill="hold">
                                          <p:stCondLst>
                                            <p:cond delay="0"/>
                                          </p:stCondLst>
                                        </p:cTn>
                                        <p:tgtEl>
                                          <p:spTgt spid="40"/>
                                        </p:tgtEl>
                                        <p:attrNameLst>
                                          <p:attrName>style.visibility</p:attrName>
                                        </p:attrNameLst>
                                      </p:cBhvr>
                                      <p:to>
                                        <p:strVal val="visible"/>
                                      </p:to>
                                    </p:set>
                                    <p:animEffect transition="in" filter="fade">
                                      <p:cBhvr>
                                        <p:cTn id="66" dur="400"/>
                                        <p:tgtEl>
                                          <p:spTgt spid="40"/>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44"/>
                                        </p:tgtEl>
                                        <p:attrNameLst>
                                          <p:attrName>style.visibility</p:attrName>
                                        </p:attrNameLst>
                                      </p:cBhvr>
                                      <p:to>
                                        <p:strVal val="visible"/>
                                      </p:to>
                                    </p:set>
                                    <p:animEffect transition="in" filter="fade">
                                      <p:cBhvr>
                                        <p:cTn id="71" dur="400"/>
                                        <p:tgtEl>
                                          <p:spTgt spid="44"/>
                                        </p:tgtEl>
                                      </p:cBhvr>
                                    </p:animEffect>
                                  </p:childTnLst>
                                </p:cTn>
                              </p:par>
                              <p:par>
                                <p:cTn id="72" presetID="10" presetClass="entr" presetSubtype="0" fill="hold"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400"/>
                                        <p:tgtEl>
                                          <p:spTgt spid="43"/>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47"/>
                                        </p:tgtEl>
                                        <p:attrNameLst>
                                          <p:attrName>style.visibility</p:attrName>
                                        </p:attrNameLst>
                                      </p:cBhvr>
                                      <p:to>
                                        <p:strVal val="visible"/>
                                      </p:to>
                                    </p:set>
                                    <p:animEffect transition="in" filter="fade">
                                      <p:cBhvr>
                                        <p:cTn id="79" dur="400"/>
                                        <p:tgtEl>
                                          <p:spTgt spid="47"/>
                                        </p:tgtEl>
                                      </p:cBhvr>
                                    </p:animEffect>
                                  </p:childTnLst>
                                </p:cTn>
                              </p:par>
                              <p:par>
                                <p:cTn id="80" presetID="10" presetClass="entr" presetSubtype="0" fill="hold" nodeType="withEffect">
                                  <p:stCondLst>
                                    <p:cond delay="0"/>
                                  </p:stCondLst>
                                  <p:childTnLst>
                                    <p:set>
                                      <p:cBhvr>
                                        <p:cTn id="81" dur="1" fill="hold">
                                          <p:stCondLst>
                                            <p:cond delay="0"/>
                                          </p:stCondLst>
                                        </p:cTn>
                                        <p:tgtEl>
                                          <p:spTgt spid="46"/>
                                        </p:tgtEl>
                                        <p:attrNameLst>
                                          <p:attrName>style.visibility</p:attrName>
                                        </p:attrNameLst>
                                      </p:cBhvr>
                                      <p:to>
                                        <p:strVal val="visible"/>
                                      </p:to>
                                    </p:set>
                                    <p:animEffect transition="in" filter="fade">
                                      <p:cBhvr>
                                        <p:cTn id="82" dur="4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Run a race: a runner and a medal [sign: 5K]"/>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4</a:t>
            </a:r>
            <a:endParaRPr lang="en-US" sz="2000" dirty="0" b="1"/>
          </a:p>
          <a:p>
            <a:pPr algn="l" indent="0" marL="0">
              <a:spcAft>
                <a:spcPts val="400"/>
              </a:spcAft>
              <a:buNone/>
            </a:pPr>
            <a:r>
              <a:rPr lang="en-US" sz="2800" dirty="0" b="1">
                <a:solidFill>
                  <a:srgbClr val="1B2236"/>
                </a:solidFill>
                <a:latin typeface="Lexend Deca" pitchFamily="34" charset="0"/>
                <a:ea typeface="Lexend Deca" pitchFamily="34" charset="-122"/>
                <a:cs typeface="Lexend Deca" pitchFamily="34" charset="-120"/>
              </a:rPr>
              <a:t>Which one?</a:t>
            </a:r>
            <a:endParaRPr lang="en-US" sz="2800" dirty="0" b="1"/>
          </a:p>
        </p:txBody>
      </p:sp>
      <p:sp>
        <p:nvSpPr>
          <p:cNvPr id="8" name="Q head"/>
          <p:cNvSpPr/>
          <p:nvPr/>
        </p:nvSpPr>
        <p:spPr>
          <a:xfrm>
            <a:off x="5166360" y="1828800"/>
            <a:ext cx="237744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FORM</a:t>
            </a:r>
            <a:endParaRPr lang="en-US" sz="2000" dirty="0" b="1"/>
          </a:p>
        </p:txBody>
      </p:sp>
      <p:sp>
        <p:nvSpPr>
          <p:cNvPr id="11" name="A head"/>
          <p:cNvSpPr/>
          <p:nvPr/>
        </p:nvSpPr>
        <p:spPr>
          <a:xfrm>
            <a:off x="7589520" y="1828800"/>
            <a:ext cx="434340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WHEN?  ·  EXAMPLE</a:t>
            </a:r>
            <a:endParaRPr lang="en-US" sz="2000" dirty="0" b="1"/>
          </a:p>
        </p:txBody>
      </p:sp>
      <p:sp>
        <p:nvSpPr>
          <p:cNvPr id="18" name="Question 1"/>
          <p:cNvSpPr/>
          <p:nvPr/>
        </p:nvSpPr>
        <p:spPr>
          <a:xfrm>
            <a:off x="5138928" y="2286000"/>
            <a:ext cx="2377440" cy="111556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have / has</a:t>
            </a:r>
            <a:r>
              <a:rPr lang="en-US" sz="1800" dirty="0" b="1">
                <a:solidFill>
                  <a:srgbClr val="1B2236"/>
                </a:solidFill>
                <a:latin typeface="Lexend Deca" pitchFamily="34" charset="0"/>
                <a:ea typeface="Lexend Deca" pitchFamily="34" charset="-122"/>
                <a:cs typeface="Lexend Deca" pitchFamily="34" charset="-120"/>
              </a:rPr>
              <a:t> + past participle</a:t>
            </a:r>
            <a:endParaRPr lang="en-US" sz="1800" dirty="0" b="1"/>
          </a:p>
        </p:txBody>
      </p:sp>
      <p:sp>
        <p:nvSpPr>
          <p:cNvPr id="19" name="Answer bg 1"/>
          <p:cNvSpPr/>
          <p:nvPr/>
        </p:nvSpPr>
        <p:spPr>
          <a:xfrm>
            <a:off x="7589520" y="2286000"/>
            <a:ext cx="4343400" cy="111556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589520" y="2286000"/>
            <a:ext cx="4343400" cy="111556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sometime in your life; </a:t>
            </a:r>
            <a:r>
              <a:rPr lang="en-US" sz="1800" dirty="0" b="1">
                <a:solidFill>
                  <a:srgbClr val="1B2236"/>
                </a:solidFill>
                <a:latin typeface="Lexend Deca" pitchFamily="34" charset="0"/>
                <a:ea typeface="Lexend Deca" pitchFamily="34" charset="-122"/>
                <a:cs typeface="Lexend Deca" pitchFamily="34" charset="-120"/>
              </a:rPr>
              <a:t>no time</a:t>
            </a:r>
            <a:br>
              <a:rPr lang="en-US" sz="1800" dirty="0" b="1">
                <a:solidFill>
                  <a:srgbClr val="1B2236"/>
                </a:solidFill>
                <a:latin typeface="Lexend Deca" pitchFamily="34" charset="0"/>
                <a:ea typeface="Lexend Deca" pitchFamily="34" charset="-122"/>
                <a:cs typeface="Lexend Deca" pitchFamily="34" charset="-120"/>
              </a:rPr>
            </a:br>
            <a:r>
              <a:rPr lang="en-US" sz="1800" dirty="0" b="1">
                <a:solidFill>
                  <a:srgbClr val="1B2236"/>
                </a:solidFill>
                <a:latin typeface="Lexend Deca" pitchFamily="34" charset="0"/>
                <a:ea typeface="Lexend Deca" pitchFamily="34" charset="-122"/>
                <a:cs typeface="Lexend Deca" pitchFamily="34" charset="-120"/>
              </a:rPr>
              <a:t>I've ridden a horse. She's never flown.</a:t>
            </a:r>
            <a:endParaRPr lang="en-US" sz="1800" dirty="0" b="1"/>
          </a:p>
        </p:txBody>
      </p:sp>
      <p:sp>
        <p:nvSpPr>
          <p:cNvPr id="21" name="Question 2"/>
          <p:cNvSpPr/>
          <p:nvPr/>
        </p:nvSpPr>
        <p:spPr>
          <a:xfrm>
            <a:off x="5138928" y="3474720"/>
            <a:ext cx="2377440" cy="111556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simple past</a:t>
            </a:r>
            <a:endParaRPr lang="en-US" sz="1800" dirty="0" b="1"/>
          </a:p>
        </p:txBody>
      </p:sp>
      <p:sp>
        <p:nvSpPr>
          <p:cNvPr id="22" name="Answer bg 2"/>
          <p:cNvSpPr/>
          <p:nvPr/>
        </p:nvSpPr>
        <p:spPr>
          <a:xfrm>
            <a:off x="7589520" y="3474720"/>
            <a:ext cx="4343400" cy="111556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589520" y="3474720"/>
            <a:ext cx="4343400" cy="111556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a </a:t>
            </a:r>
            <a:r>
              <a:rPr lang="en-US" sz="1800" dirty="0" b="1">
                <a:solidFill>
                  <a:srgbClr val="1B2236"/>
                </a:solidFill>
                <a:latin typeface="Lexend Deca" pitchFamily="34" charset="0"/>
                <a:ea typeface="Lexend Deca" pitchFamily="34" charset="-122"/>
                <a:cs typeface="Lexend Deca" pitchFamily="34" charset="-120"/>
              </a:rPr>
              <a:t>finished time</a:t>
            </a:r>
            <a:r>
              <a:rPr lang="en-US" sz="1800" dirty="0" b="1">
                <a:solidFill>
                  <a:srgbClr val="1B2236"/>
                </a:solidFill>
                <a:latin typeface="Lexend Deca" pitchFamily="34" charset="0"/>
                <a:ea typeface="Lexend Deca" pitchFamily="34" charset="-122"/>
                <a:cs typeface="Lexend Deca" pitchFamily="34" charset="-120"/>
              </a:rPr>
              <a:t> (in 2015, last year, when I was ten)</a:t>
            </a:r>
            <a:br>
              <a:rPr lang="en-US" sz="1800" dirty="0" b="1">
                <a:solidFill>
                  <a:srgbClr val="1B2236"/>
                </a:solidFill>
                <a:latin typeface="Lexend Deca" pitchFamily="34" charset="0"/>
                <a:ea typeface="Lexend Deca" pitchFamily="34" charset="-122"/>
                <a:cs typeface="Lexend Deca" pitchFamily="34" charset="-120"/>
              </a:rPr>
            </a:br>
            <a:r>
              <a:rPr lang="en-US" sz="1800" dirty="0" b="1">
                <a:solidFill>
                  <a:srgbClr val="1B2236"/>
                </a:solidFill>
                <a:latin typeface="Lexend Deca" pitchFamily="34" charset="0"/>
                <a:ea typeface="Lexend Deca" pitchFamily="34" charset="-122"/>
                <a:cs typeface="Lexend Deca" pitchFamily="34" charset="-120"/>
              </a:rPr>
              <a:t>I rode a horse in 2015. She flew to Texas last year.</a:t>
            </a:r>
            <a:endParaRPr lang="en-US" sz="18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132942"/>
            <a:ext cx="7086600" cy="983894"/>
          </a:xfrm>
          <a:prstGeom prst="round1Rect">
            <a:avLst>
              <a:gd name="adj" fmla="val 23087"/>
            </a:avLst>
          </a:prstGeom>
          <a:solidFill>
            <a:srgbClr val="8FAFE3"/>
          </a:solidFill>
          <a:ln/>
        </p:spPr>
        <p:txBody>
          <a:bodyPr/>
          <a:p/>
        </p:txBody>
      </p:sp>
      <p:sp>
        <p:nvSpPr>
          <p:cNvPr id="3" name="head card"/>
          <p:cNvSpPr/>
          <p:nvPr/>
        </p:nvSpPr>
        <p:spPr>
          <a:xfrm>
            <a:off x="548640" y="1075334"/>
            <a:ext cx="7086600" cy="983894"/>
          </a:xfrm>
          <a:prstGeom prst="round1Rect">
            <a:avLst>
              <a:gd name="adj" fmla="val 23087"/>
            </a:avLst>
          </a:prstGeom>
          <a:solidFill>
            <a:srgbClr val="FFFFFF"/>
          </a:solidFill>
          <a:ln/>
        </p:spPr>
        <p:txBody>
          <a:bodyPr/>
          <a:p/>
        </p:txBody>
      </p:sp>
      <p:sp>
        <p:nvSpPr>
          <p:cNvPr id="8" name="head1"/>
          <p:cNvSpPr/>
          <p:nvPr/>
        </p:nvSpPr>
        <p:spPr>
          <a:xfrm>
            <a:off x="777240" y="114300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Practice A</a:t>
            </a:r>
            <a:endParaRPr lang="en-US" sz="2000" dirty="0" b="1"/>
          </a:p>
        </p:txBody>
      </p:sp>
      <p:sp>
        <p:nvSpPr>
          <p:cNvPr id="9" name="head2"/>
          <p:cNvSpPr/>
          <p:nvPr/>
        </p:nvSpPr>
        <p:spPr>
          <a:xfrm>
            <a:off x="868680" y="154533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Write the past participle.</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Practice A</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Write the past participle.</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Look at Box 3.</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a:t>
            </a:r>
            <a:r>
              <a:rPr lang="en-US" sz="2000" dirty="0" b="1">
                <a:solidFill>
                  <a:srgbClr val="5B3FC4"/>
                </a:solidFill>
                <a:latin typeface="Lexend Deca" pitchFamily="34" charset="0"/>
                <a:ea typeface="Lexend Deca" pitchFamily="34" charset="-122"/>
                <a:cs typeface="Lexend Deca" pitchFamily="34" charset="-120"/>
              </a:rPr>
              <a:t>check your answers.</a:t>
            </a:r>
            <a:endParaRPr lang="en-US" sz="2000" dirty="0" b="1"/>
          </a:p>
        </p:txBody>
      </p:sp>
      <p:sp>
        <p:nvSpPr>
          <p:cNvPr id="31" name="R1 card"/>
          <p:cNvSpPr/>
          <p:nvPr/>
        </p:nvSpPr>
        <p:spPr>
          <a:xfrm>
            <a:off x="1583741" y="2123237"/>
            <a:ext cx="6035040" cy="655015"/>
          </a:xfrm>
          <a:prstGeom prst="round1Rect">
            <a:avLst>
              <a:gd name="adj" fmla="val 23087"/>
            </a:avLst>
          </a:prstGeom>
          <a:solidFill>
            <a:srgbClr val="FFFFFF"/>
          </a:solidFill>
          <a:ln/>
        </p:spPr>
        <p:txBody>
          <a:bodyPr/>
          <a:p/>
        </p:txBody>
      </p:sp>
      <p:sp>
        <p:nvSpPr>
          <p:cNvPr id="32" name="R1 chip"/>
          <p:cNvSpPr/>
          <p:nvPr/>
        </p:nvSpPr>
        <p:spPr>
          <a:xfrm>
            <a:off x="544982" y="2123237"/>
            <a:ext cx="1039673" cy="655015"/>
          </a:xfrm>
          <a:prstGeom prst="rect">
            <a:avLst/>
          </a:prstGeom>
          <a:solidFill>
            <a:srgbClr val="B9D2F7"/>
          </a:solidFill>
          <a:ln/>
        </p:spPr>
        <p:txBody>
          <a:bodyPr/>
          <a:p/>
        </p:txBody>
      </p:sp>
      <p:sp>
        <p:nvSpPr>
          <p:cNvPr id="33" name="R1 num"/>
          <p:cNvSpPr/>
          <p:nvPr/>
        </p:nvSpPr>
        <p:spPr>
          <a:xfrm>
            <a:off x="686714" y="2158136"/>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123237"/>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Have you ever ____ sushi? (eat)</a:t>
            </a:r>
            <a:endParaRPr lang="en-US" sz="1800" dirty="0"/>
          </a:p>
        </p:txBody>
      </p:sp>
      <p:sp>
        <p:nvSpPr>
          <p:cNvPr id="35" name="R1 ans"/>
          <p:cNvSpPr/>
          <p:nvPr/>
        </p:nvSpPr>
        <p:spPr>
          <a:xfrm>
            <a:off x="6199632" y="2222144"/>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eaten</a:t>
            </a:r>
            <a:endParaRPr lang="en-US" sz="2000" dirty="0" b="1"/>
          </a:p>
        </p:txBody>
      </p:sp>
      <p:sp>
        <p:nvSpPr>
          <p:cNvPr id="36" name="R2 card"/>
          <p:cNvSpPr/>
          <p:nvPr/>
        </p:nvSpPr>
        <p:spPr>
          <a:xfrm>
            <a:off x="1583741" y="2851404"/>
            <a:ext cx="6035040" cy="655015"/>
          </a:xfrm>
          <a:prstGeom prst="round1Rect">
            <a:avLst>
              <a:gd name="adj" fmla="val 23087"/>
            </a:avLst>
          </a:prstGeom>
          <a:solidFill>
            <a:srgbClr val="FFFFFF"/>
          </a:solidFill>
          <a:ln/>
        </p:spPr>
        <p:txBody>
          <a:bodyPr/>
          <a:p/>
        </p:txBody>
      </p:sp>
      <p:sp>
        <p:nvSpPr>
          <p:cNvPr id="37" name="R2 chip"/>
          <p:cNvSpPr/>
          <p:nvPr/>
        </p:nvSpPr>
        <p:spPr>
          <a:xfrm>
            <a:off x="544982" y="2851404"/>
            <a:ext cx="1039673" cy="655015"/>
          </a:xfrm>
          <a:prstGeom prst="rect">
            <a:avLst/>
          </a:prstGeom>
          <a:solidFill>
            <a:srgbClr val="B9D2F7"/>
          </a:solidFill>
          <a:ln/>
        </p:spPr>
        <p:txBody>
          <a:bodyPr/>
          <a:p/>
        </p:txBody>
      </p:sp>
      <p:sp>
        <p:nvSpPr>
          <p:cNvPr id="38" name="R2 num"/>
          <p:cNvSpPr/>
          <p:nvPr/>
        </p:nvSpPr>
        <p:spPr>
          <a:xfrm>
            <a:off x="686714" y="2886304"/>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2851404"/>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I've never ____ a horse. (ride)</a:t>
            </a:r>
            <a:endParaRPr lang="en-US" sz="1800" dirty="0"/>
          </a:p>
        </p:txBody>
      </p:sp>
      <p:sp>
        <p:nvSpPr>
          <p:cNvPr id="40" name="R2 ans"/>
          <p:cNvSpPr/>
          <p:nvPr/>
        </p:nvSpPr>
        <p:spPr>
          <a:xfrm>
            <a:off x="6199632" y="2950312"/>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ridden</a:t>
            </a:r>
            <a:endParaRPr lang="en-US" sz="2000" dirty="0" b="1"/>
          </a:p>
        </p:txBody>
      </p:sp>
      <p:sp>
        <p:nvSpPr>
          <p:cNvPr id="41" name="R3 card"/>
          <p:cNvSpPr/>
          <p:nvPr/>
        </p:nvSpPr>
        <p:spPr>
          <a:xfrm>
            <a:off x="1583741" y="3579571"/>
            <a:ext cx="6035040" cy="655015"/>
          </a:xfrm>
          <a:prstGeom prst="round1Rect">
            <a:avLst>
              <a:gd name="adj" fmla="val 23087"/>
            </a:avLst>
          </a:prstGeom>
          <a:solidFill>
            <a:srgbClr val="FFFFFF"/>
          </a:solidFill>
          <a:ln/>
        </p:spPr>
        <p:txBody>
          <a:bodyPr/>
          <a:p/>
        </p:txBody>
      </p:sp>
      <p:sp>
        <p:nvSpPr>
          <p:cNvPr id="42" name="R3 chip"/>
          <p:cNvSpPr/>
          <p:nvPr/>
        </p:nvSpPr>
        <p:spPr>
          <a:xfrm>
            <a:off x="544982" y="3579571"/>
            <a:ext cx="1039673" cy="655015"/>
          </a:xfrm>
          <a:prstGeom prst="rect">
            <a:avLst/>
          </a:prstGeom>
          <a:solidFill>
            <a:srgbClr val="B9D2F7"/>
          </a:solidFill>
          <a:ln/>
        </p:spPr>
        <p:txBody>
          <a:bodyPr/>
          <a:p/>
        </p:txBody>
      </p:sp>
      <p:sp>
        <p:nvSpPr>
          <p:cNvPr id="43" name="R3 num"/>
          <p:cNvSpPr/>
          <p:nvPr/>
        </p:nvSpPr>
        <p:spPr>
          <a:xfrm>
            <a:off x="686714" y="3614471"/>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579571"/>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She has ____ in three cities. (live)</a:t>
            </a:r>
            <a:endParaRPr lang="en-US" sz="1800" dirty="0"/>
          </a:p>
        </p:txBody>
      </p:sp>
      <p:sp>
        <p:nvSpPr>
          <p:cNvPr id="45" name="R3 ans"/>
          <p:cNvSpPr/>
          <p:nvPr/>
        </p:nvSpPr>
        <p:spPr>
          <a:xfrm>
            <a:off x="6199632" y="3678479"/>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lived</a:t>
            </a:r>
            <a:endParaRPr lang="en-US" sz="2000" dirty="0" b="1"/>
          </a:p>
        </p:txBody>
      </p:sp>
      <p:sp>
        <p:nvSpPr>
          <p:cNvPr id="46" name="R4 card"/>
          <p:cNvSpPr/>
          <p:nvPr/>
        </p:nvSpPr>
        <p:spPr>
          <a:xfrm>
            <a:off x="1583741" y="4307738"/>
            <a:ext cx="6035040" cy="655015"/>
          </a:xfrm>
          <a:prstGeom prst="round1Rect">
            <a:avLst>
              <a:gd name="adj" fmla="val 23087"/>
            </a:avLst>
          </a:prstGeom>
          <a:solidFill>
            <a:srgbClr val="FFFFFF"/>
          </a:solidFill>
          <a:ln/>
        </p:spPr>
        <p:txBody>
          <a:bodyPr/>
          <a:p/>
        </p:txBody>
      </p:sp>
      <p:sp>
        <p:nvSpPr>
          <p:cNvPr id="47" name="R4 chip"/>
          <p:cNvSpPr/>
          <p:nvPr/>
        </p:nvSpPr>
        <p:spPr>
          <a:xfrm>
            <a:off x="544982" y="4307738"/>
            <a:ext cx="1039673" cy="655015"/>
          </a:xfrm>
          <a:prstGeom prst="rect">
            <a:avLst/>
          </a:prstGeom>
          <a:solidFill>
            <a:srgbClr val="B9D2F7"/>
          </a:solidFill>
          <a:ln/>
        </p:spPr>
        <p:txBody>
          <a:bodyPr/>
          <a:p/>
        </p:txBody>
      </p:sp>
      <p:sp>
        <p:nvSpPr>
          <p:cNvPr id="48" name="R4 num"/>
          <p:cNvSpPr/>
          <p:nvPr/>
        </p:nvSpPr>
        <p:spPr>
          <a:xfrm>
            <a:off x="686714" y="4342638"/>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307738"/>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Have you ever ____ in a plane? (fly)</a:t>
            </a:r>
            <a:endParaRPr lang="en-US" sz="1800" dirty="0"/>
          </a:p>
        </p:txBody>
      </p:sp>
      <p:sp>
        <p:nvSpPr>
          <p:cNvPr id="50" name="R4 ans"/>
          <p:cNvSpPr/>
          <p:nvPr/>
        </p:nvSpPr>
        <p:spPr>
          <a:xfrm>
            <a:off x="6199632" y="4406646"/>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flown</a:t>
            </a:r>
            <a:endParaRPr lang="en-US" sz="2000" dirty="0" b="1"/>
          </a:p>
        </p:txBody>
      </p:sp>
      <p:sp>
        <p:nvSpPr>
          <p:cNvPr id="51" name="R5 card"/>
          <p:cNvSpPr/>
          <p:nvPr/>
        </p:nvSpPr>
        <p:spPr>
          <a:xfrm>
            <a:off x="1583741" y="5035906"/>
            <a:ext cx="6035040" cy="655015"/>
          </a:xfrm>
          <a:prstGeom prst="round1Rect">
            <a:avLst>
              <a:gd name="adj" fmla="val 23087"/>
            </a:avLst>
          </a:prstGeom>
          <a:solidFill>
            <a:srgbClr val="FFFFFF"/>
          </a:solidFill>
          <a:ln/>
        </p:spPr>
        <p:txBody>
          <a:bodyPr/>
          <a:p/>
        </p:txBody>
      </p:sp>
      <p:sp>
        <p:nvSpPr>
          <p:cNvPr id="52" name="R5 chip"/>
          <p:cNvSpPr/>
          <p:nvPr/>
        </p:nvSpPr>
        <p:spPr>
          <a:xfrm>
            <a:off x="544982" y="5035906"/>
            <a:ext cx="1039673" cy="655015"/>
          </a:xfrm>
          <a:prstGeom prst="rect">
            <a:avLst/>
          </a:prstGeom>
          <a:solidFill>
            <a:srgbClr val="B9D2F7"/>
          </a:solidFill>
          <a:ln/>
        </p:spPr>
        <p:txBody>
          <a:bodyPr/>
          <a:p/>
        </p:txBody>
      </p:sp>
      <p:sp>
        <p:nvSpPr>
          <p:cNvPr id="53" name="R5 num"/>
          <p:cNvSpPr/>
          <p:nvPr/>
        </p:nvSpPr>
        <p:spPr>
          <a:xfrm>
            <a:off x="686714" y="5070805"/>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035906"/>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We've ____ the ocean two times. (see)</a:t>
            </a:r>
            <a:endParaRPr lang="en-US" sz="1800" dirty="0"/>
          </a:p>
        </p:txBody>
      </p:sp>
      <p:sp>
        <p:nvSpPr>
          <p:cNvPr id="55" name="R5 ans"/>
          <p:cNvSpPr/>
          <p:nvPr/>
        </p:nvSpPr>
        <p:spPr>
          <a:xfrm>
            <a:off x="6199632" y="5134813"/>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seen</a:t>
            </a:r>
            <a:endParaRPr lang="en-US" sz="2000" dirty="0" b="1"/>
          </a:p>
        </p:txBody>
      </p:sp>
      <p:sp>
        <p:nvSpPr>
          <p:cNvPr id="56" name="R6 card"/>
          <p:cNvSpPr/>
          <p:nvPr/>
        </p:nvSpPr>
        <p:spPr>
          <a:xfrm>
            <a:off x="1583741" y="5764073"/>
            <a:ext cx="6035040" cy="655015"/>
          </a:xfrm>
          <a:prstGeom prst="round1Rect">
            <a:avLst>
              <a:gd name="adj" fmla="val 23087"/>
            </a:avLst>
          </a:prstGeom>
          <a:solidFill>
            <a:srgbClr val="FFFFFF"/>
          </a:solidFill>
          <a:ln/>
        </p:spPr>
        <p:txBody>
          <a:bodyPr/>
          <a:p/>
        </p:txBody>
      </p:sp>
      <p:sp>
        <p:nvSpPr>
          <p:cNvPr id="57" name="R6 chip"/>
          <p:cNvSpPr/>
          <p:nvPr/>
        </p:nvSpPr>
        <p:spPr>
          <a:xfrm>
            <a:off x="544982" y="5764073"/>
            <a:ext cx="1039673" cy="655015"/>
          </a:xfrm>
          <a:prstGeom prst="rect">
            <a:avLst/>
          </a:prstGeom>
          <a:solidFill>
            <a:srgbClr val="B9D2F7"/>
          </a:solidFill>
          <a:ln/>
        </p:spPr>
        <p:txBody>
          <a:bodyPr/>
          <a:p/>
        </p:txBody>
      </p:sp>
      <p:sp>
        <p:nvSpPr>
          <p:cNvPr id="58" name="R6 num"/>
          <p:cNvSpPr/>
          <p:nvPr/>
        </p:nvSpPr>
        <p:spPr>
          <a:xfrm>
            <a:off x="686714" y="5798972"/>
            <a:ext cx="1109167" cy="585216"/>
          </a:xfrm>
          <a:prstGeom prst="rect">
            <a:avLst/>
          </a:prstGeom>
          <a:noFill/>
          <a:ln/>
        </p:spPr>
        <p:txBody>
          <a:bodyPr wrap="square" rtlCol="0" anchor="ctr"/>
          <a:lstStyle/>
          <a:p>
            <a:pPr algn="ctr" indent="0" marL="0">
              <a:buNone/>
            </a:pPr>
            <a:r>
              <a:rPr lang="en-US" sz="3200" dirty="0" b="1"/>
              <a:t>6</a:t>
            </a:r>
            <a:endParaRPr lang="en-US" sz="3200" dirty="0" b="1"/>
          </a:p>
        </p:txBody>
      </p:sp>
      <p:sp>
        <p:nvSpPr>
          <p:cNvPr id="59" name="R6 text"/>
          <p:cNvSpPr/>
          <p:nvPr/>
        </p:nvSpPr>
        <p:spPr>
          <a:xfrm>
            <a:off x="1810512" y="5764073"/>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He's never ____ a prize. (win)</a:t>
            </a:r>
            <a:endParaRPr lang="en-US" sz="1800" dirty="0"/>
          </a:p>
        </p:txBody>
      </p:sp>
      <p:sp>
        <p:nvSpPr>
          <p:cNvPr id="60" name="R6 ans"/>
          <p:cNvSpPr/>
          <p:nvPr/>
        </p:nvSpPr>
        <p:spPr>
          <a:xfrm>
            <a:off x="6199632" y="5862980"/>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won</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0"/>
                                        </p:tgtEl>
                                        <p:attrNameLst>
                                          <p:attrName>style.visibility</p:attrName>
                                        </p:attrNameLst>
                                      </p:cBhvr>
                                      <p:to>
                                        <p:strVal val="visible"/>
                                      </p:to>
                                    </p:set>
                                    <p:animEffect transition="in" filter="fade">
                                      <p:cBhvr>
                                        <p:cTn id="32"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Practice B</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 the correct words.</a:t>
            </a:r>
            <a:endParaRPr lang="en-US" sz="2000" dirty="0"/>
          </a:p>
        </p:txBody>
      </p:sp>
      <p:sp>
        <p:nvSpPr>
          <p:cNvPr id="8" name="R1 stmt"/>
          <p:cNvSpPr/>
          <p:nvPr/>
        </p:nvSpPr>
        <p:spPr>
          <a:xfrm>
            <a:off x="502920" y="3108960"/>
            <a:ext cx="640080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1. ____ you ever tried Thai food?</a:t>
            </a:r>
            <a:endParaRPr lang="en-US" sz="1800" dirty="0"/>
          </a:p>
        </p:txBody>
      </p:sp>
      <p:sp>
        <p:nvSpPr>
          <p:cNvPr id="9" name="R1 opt1"/>
          <p:cNvSpPr/>
          <p:nvPr/>
        </p:nvSpPr>
        <p:spPr>
          <a:xfrm>
            <a:off x="7086600" y="310896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Have</a:t>
            </a:r>
            <a:endParaRPr lang="en-US" sz="1700" dirty="0" b="1"/>
          </a:p>
        </p:txBody>
      </p:sp>
      <p:sp>
        <p:nvSpPr>
          <p:cNvPr id="10" name="R1 opt2"/>
          <p:cNvSpPr/>
          <p:nvPr/>
        </p:nvSpPr>
        <p:spPr>
          <a:xfrm>
            <a:off x="9144000" y="310896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Did</a:t>
            </a:r>
            <a:endParaRPr lang="en-US" sz="1700" dirty="0" b="1"/>
          </a:p>
        </p:txBody>
      </p:sp>
      <p:sp>
        <p:nvSpPr>
          <p:cNvPr id="11" name="R1 circle"/>
          <p:cNvSpPr/>
          <p:nvPr/>
        </p:nvSpPr>
        <p:spPr>
          <a:xfrm>
            <a:off x="6958584" y="305409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2" name="R2 stmt"/>
          <p:cNvSpPr/>
          <p:nvPr/>
        </p:nvSpPr>
        <p:spPr>
          <a:xfrm>
            <a:off x="502920" y="3657600"/>
            <a:ext cx="640080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2. I ____ to Texas last year.</a:t>
            </a:r>
            <a:endParaRPr lang="en-US" sz="1800" dirty="0"/>
          </a:p>
        </p:txBody>
      </p:sp>
      <p:sp>
        <p:nvSpPr>
          <p:cNvPr id="13" name="R2 opt1"/>
          <p:cNvSpPr/>
          <p:nvPr/>
        </p:nvSpPr>
        <p:spPr>
          <a:xfrm>
            <a:off x="7086600" y="365760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went</a:t>
            </a:r>
            <a:endParaRPr lang="en-US" sz="1700" dirty="0" b="1"/>
          </a:p>
        </p:txBody>
      </p:sp>
      <p:sp>
        <p:nvSpPr>
          <p:cNvPr id="14" name="R2 opt2"/>
          <p:cNvSpPr/>
          <p:nvPr/>
        </p:nvSpPr>
        <p:spPr>
          <a:xfrm>
            <a:off x="9144000" y="365760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have gone</a:t>
            </a:r>
            <a:endParaRPr lang="en-US" sz="1700" dirty="0" b="1"/>
          </a:p>
        </p:txBody>
      </p:sp>
      <p:sp>
        <p:nvSpPr>
          <p:cNvPr id="15" name="R2 circle"/>
          <p:cNvSpPr/>
          <p:nvPr/>
        </p:nvSpPr>
        <p:spPr>
          <a:xfrm>
            <a:off x="6958584" y="360273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6" name="R3 stmt"/>
          <p:cNvSpPr/>
          <p:nvPr/>
        </p:nvSpPr>
        <p:spPr>
          <a:xfrm>
            <a:off x="502920" y="4206240"/>
            <a:ext cx="640080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3. Have you ever seen the ocean? Yes, I ____.</a:t>
            </a:r>
            <a:endParaRPr lang="en-US" sz="1800" dirty="0"/>
          </a:p>
        </p:txBody>
      </p:sp>
      <p:sp>
        <p:nvSpPr>
          <p:cNvPr id="17" name="R3 opt1"/>
          <p:cNvSpPr/>
          <p:nvPr/>
        </p:nvSpPr>
        <p:spPr>
          <a:xfrm>
            <a:off x="7086600" y="420624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have</a:t>
            </a:r>
            <a:endParaRPr lang="en-US" sz="1700" dirty="0" b="1"/>
          </a:p>
        </p:txBody>
      </p:sp>
      <p:sp>
        <p:nvSpPr>
          <p:cNvPr id="18" name="R3 opt2"/>
          <p:cNvSpPr/>
          <p:nvPr/>
        </p:nvSpPr>
        <p:spPr>
          <a:xfrm>
            <a:off x="9144000" y="420624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have seen</a:t>
            </a:r>
            <a:endParaRPr lang="en-US" sz="1700" dirty="0" b="1"/>
          </a:p>
        </p:txBody>
      </p:sp>
      <p:sp>
        <p:nvSpPr>
          <p:cNvPr id="19" name="R3 circle"/>
          <p:cNvSpPr/>
          <p:nvPr/>
        </p:nvSpPr>
        <p:spPr>
          <a:xfrm>
            <a:off x="6958584" y="415137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R4 stmt"/>
          <p:cNvSpPr/>
          <p:nvPr/>
        </p:nvSpPr>
        <p:spPr>
          <a:xfrm>
            <a:off x="502920" y="4754880"/>
            <a:ext cx="640080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4. When ____ there?</a:t>
            </a:r>
            <a:endParaRPr lang="en-US" sz="1800" dirty="0"/>
          </a:p>
        </p:txBody>
      </p:sp>
      <p:sp>
        <p:nvSpPr>
          <p:cNvPr id="21" name="R4 opt1"/>
          <p:cNvSpPr/>
          <p:nvPr/>
        </p:nvSpPr>
        <p:spPr>
          <a:xfrm>
            <a:off x="7086600" y="475488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did you go</a:t>
            </a:r>
            <a:endParaRPr lang="en-US" sz="1700" dirty="0" b="1"/>
          </a:p>
        </p:txBody>
      </p:sp>
      <p:sp>
        <p:nvSpPr>
          <p:cNvPr id="22" name="R4 opt2"/>
          <p:cNvSpPr/>
          <p:nvPr/>
        </p:nvSpPr>
        <p:spPr>
          <a:xfrm>
            <a:off x="9144000" y="475488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have you gone</a:t>
            </a:r>
            <a:endParaRPr lang="en-US" sz="1700" dirty="0" b="1"/>
          </a:p>
        </p:txBody>
      </p:sp>
      <p:sp>
        <p:nvSpPr>
          <p:cNvPr id="23" name="R4 circle"/>
          <p:cNvSpPr/>
          <p:nvPr/>
        </p:nvSpPr>
        <p:spPr>
          <a:xfrm>
            <a:off x="6958584" y="470001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4" name="R5 stmt"/>
          <p:cNvSpPr/>
          <p:nvPr/>
        </p:nvSpPr>
        <p:spPr>
          <a:xfrm>
            <a:off x="502920" y="5303520"/>
            <a:ext cx="640080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5. She ____ eaten sushi.</a:t>
            </a:r>
            <a:endParaRPr lang="en-US" sz="1800" dirty="0"/>
          </a:p>
        </p:txBody>
      </p:sp>
      <p:sp>
        <p:nvSpPr>
          <p:cNvPr id="25" name="R5 opt1"/>
          <p:cNvSpPr/>
          <p:nvPr/>
        </p:nvSpPr>
        <p:spPr>
          <a:xfrm>
            <a:off x="7086600" y="530352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has never</a:t>
            </a:r>
            <a:endParaRPr lang="en-US" sz="1700" dirty="0" b="1"/>
          </a:p>
        </p:txBody>
      </p:sp>
      <p:sp>
        <p:nvSpPr>
          <p:cNvPr id="26" name="R5 opt2"/>
          <p:cNvSpPr/>
          <p:nvPr/>
        </p:nvSpPr>
        <p:spPr>
          <a:xfrm>
            <a:off x="9144000" y="530352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never have</a:t>
            </a:r>
            <a:endParaRPr lang="en-US" sz="1700" dirty="0" b="1"/>
          </a:p>
        </p:txBody>
      </p:sp>
      <p:sp>
        <p:nvSpPr>
          <p:cNvPr id="27" name="R5 circle"/>
          <p:cNvSpPr/>
          <p:nvPr/>
        </p:nvSpPr>
        <p:spPr>
          <a:xfrm>
            <a:off x="6958584" y="524865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8" name="R6 stmt"/>
          <p:cNvSpPr/>
          <p:nvPr/>
        </p:nvSpPr>
        <p:spPr>
          <a:xfrm>
            <a:off x="502920" y="5852160"/>
            <a:ext cx="6400800" cy="475488"/>
          </a:xfrm>
          <a:prstGeom prst="rect">
            <a:avLst/>
          </a:prstGeom>
          <a:noFill/>
          <a:ln w="38100">
            <a:noFill/>
          </a:ln>
        </p:spPr>
        <p:txBody>
          <a:bodyPr wrap="square" lIns="73152" tIns="36576" rIns="73152" bIns="36576" rtlCol="0" anchor="ctr">
            <a:noAutofit/>
          </a:bodyP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6. I ____ a famous person in 2023.</a:t>
            </a:r>
            <a:endParaRPr lang="en-US" sz="1800" dirty="0"/>
          </a:p>
        </p:txBody>
      </p:sp>
      <p:sp>
        <p:nvSpPr>
          <p:cNvPr id="29" name="R6 opt1"/>
          <p:cNvSpPr/>
          <p:nvPr/>
        </p:nvSpPr>
        <p:spPr>
          <a:xfrm>
            <a:off x="7086600" y="585216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saw</a:t>
            </a:r>
            <a:endParaRPr lang="en-US" sz="1700" dirty="0" b="1"/>
          </a:p>
        </p:txBody>
      </p:sp>
      <p:sp>
        <p:nvSpPr>
          <p:cNvPr id="30" name="R6 opt2"/>
          <p:cNvSpPr/>
          <p:nvPr/>
        </p:nvSpPr>
        <p:spPr>
          <a:xfrm>
            <a:off x="9144000" y="585216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've seen</a:t>
            </a:r>
            <a:endParaRPr lang="en-US" sz="1700" dirty="0" b="1"/>
          </a:p>
        </p:txBody>
      </p:sp>
      <p:sp>
        <p:nvSpPr>
          <p:cNvPr id="31" name="R6 circle"/>
          <p:cNvSpPr/>
          <p:nvPr/>
        </p:nvSpPr>
        <p:spPr>
          <a:xfrm>
            <a:off x="6958584" y="579729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4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p="http://schemas.openxmlformats.org/presentationml/2006/main" xmlns:r="http://schemas.openxmlformats.org/officeDocument/2006/relationships">
  <p:cSld name="L4:mistakes">
    <p:bg>
      <p:bgPr>
        <a:solidFill>
          <a:srgbClr val="F1F5FB"/>
        </a:solidFill>
      </p:bgPr>
    </p:bg>
    <p:spTree>
      <p:nvGrpSpPr>
        <p:cNvPr id="1" name=""/>
        <p:cNvGrpSpPr/>
        <p:nvPr/>
      </p:nvGrpSpPr>
      <p:grpSpPr/>
      <p:sp>
        <p:nvSpPr>
          <p:cNvPr id="2" name="Shape 0"/>
          <p:cNvSpPr/>
          <p:nvPr/>
        </p:nvSpPr>
        <p:spPr>
          <a:xfrm flipH="1" flipV="1">
            <a:off x="8060436" y="1132027"/>
            <a:ext cx="4274820" cy="5860390"/>
          </a:xfrm>
          <a:prstGeom prst="round1Rect">
            <a:avLst>
              <a:gd name="adj" fmla="val 23087"/>
            </a:avLst>
          </a:prstGeom>
          <a:solidFill>
            <a:srgbClr val="B9D2F7"/>
          </a:solidFill>
          <a:ln w="76200">
            <a:solidFill>
              <a:srgbClr val="FFFFFF"/>
            </a:solidFill>
            <a:prstDash val="solid"/>
          </a:ln>
        </p:spPr>
        <p:txBody>
          <a:bodyPr/>
          <a:p/>
        </p:txBody>
      </p:sp>
      <p:sp>
        <p:nvSpPr>
          <p:cNvPr id="3" name="Shape 1"/>
          <p:cNvSpPr/>
          <p:nvPr/>
        </p:nvSpPr>
        <p:spPr>
          <a:xfrm>
            <a:off x="10442448" y="1188720"/>
            <a:ext cx="1691640" cy="1371600"/>
          </a:xfrm>
          <a:prstGeom prst="rect">
            <a:avLst/>
          </a:prstGeom>
          <a:solidFill>
            <a:srgbClr val="B9D2F7"/>
          </a:solidFill>
          <a:ln/>
        </p:spPr>
        <p:txBody>
          <a:bodyPr/>
          <a:p/>
        </p:txBody>
      </p:sp>
      <p:sp>
        <p:nvSpPr>
          <p:cNvPr id="5" name="Shape 3"/>
          <p:cNvSpPr/>
          <p:nvPr/>
        </p:nvSpPr>
        <p:spPr>
          <a:xfrm flipH="1">
            <a:off x="501091" y="2020824"/>
            <a:ext cx="3543300" cy="4709160"/>
          </a:xfrm>
          <a:prstGeom prst="round1Rect">
            <a:avLst>
              <a:gd name="adj" fmla="val 23087"/>
            </a:avLst>
          </a:prstGeom>
          <a:solidFill>
            <a:srgbClr val="8FAFE3"/>
          </a:solidFill>
          <a:ln/>
        </p:spPr>
        <p:txBody>
          <a:bodyPr/>
          <a:p/>
        </p:txBody>
      </p:sp>
      <p:sp>
        <p:nvSpPr>
          <p:cNvPr id="6" name="Shape 4"/>
          <p:cNvSpPr/>
          <p:nvPr/>
        </p:nvSpPr>
        <p:spPr>
          <a:xfrm flipH="1">
            <a:off x="4388206" y="2020824"/>
            <a:ext cx="5860390" cy="4709160"/>
          </a:xfrm>
          <a:prstGeom prst="round1Rect">
            <a:avLst>
              <a:gd name="adj" fmla="val 23087"/>
            </a:avLst>
          </a:prstGeom>
          <a:solidFill>
            <a:srgbClr val="8FAFE3"/>
          </a:solidFill>
          <a:ln/>
        </p:spPr>
        <p:txBody>
          <a:bodyPr/>
          <a:p/>
        </p:txBody>
      </p:sp>
      <p:sp>
        <p:nvSpPr>
          <p:cNvPr id="7" name="Shape 5"/>
          <p:cNvSpPr/>
          <p:nvPr/>
        </p:nvSpPr>
        <p:spPr>
          <a:xfrm>
            <a:off x="479328" y="457200"/>
            <a:ext cx="7295083" cy="1143000"/>
          </a:xfrm>
          <a:prstGeom prst="roundRect">
            <a:avLst>
              <a:gd name="adj" fmla="val 16667"/>
            </a:avLst>
          </a:prstGeom>
          <a:solidFill>
            <a:srgbClr val="8FAFE3"/>
          </a:solidFill>
          <a:ln/>
        </p:spPr>
        <p:txBody>
          <a:bodyPr/>
          <a:p/>
        </p:txBody>
      </p:sp>
      <p:sp>
        <p:nvSpPr>
          <p:cNvPr id="8" name="Shape 6"/>
          <p:cNvSpPr/>
          <p:nvPr/>
        </p:nvSpPr>
        <p:spPr>
          <a:xfrm>
            <a:off x="522122" y="393192"/>
            <a:ext cx="7295083" cy="1143000"/>
          </a:xfrm>
          <a:prstGeom prst="roundRect">
            <a:avLst>
              <a:gd name="adj" fmla="val 16667"/>
            </a:avLst>
          </a:prstGeom>
          <a:solidFill>
            <a:srgbClr val="FFFFFF"/>
          </a:solidFill>
          <a:ln/>
        </p:spPr>
        <p:txBody>
          <a:bodyPr/>
          <a:p/>
        </p:txBody>
      </p:sp>
      <p:sp>
        <p:nvSpPr>
          <p:cNvPr id="9" name="Shape 7"/>
          <p:cNvSpPr/>
          <p:nvPr/>
        </p:nvSpPr>
        <p:spPr>
          <a:xfrm flipH="1">
            <a:off x="658368" y="1828800"/>
            <a:ext cx="3610966" cy="4709160"/>
          </a:xfrm>
          <a:prstGeom prst="round1Rect">
            <a:avLst>
              <a:gd name="adj" fmla="val 23087"/>
            </a:avLst>
          </a:prstGeom>
          <a:solidFill>
            <a:srgbClr val="FFFFFF"/>
          </a:solidFill>
          <a:ln/>
        </p:spPr>
        <p:txBody>
          <a:bodyPr/>
          <a:p/>
        </p:txBody>
      </p:sp>
      <p:sp>
        <p:nvSpPr>
          <p:cNvPr id="10" name="Shape 8"/>
          <p:cNvSpPr/>
          <p:nvPr/>
        </p:nvSpPr>
        <p:spPr>
          <a:xfrm flipH="1">
            <a:off x="4519879" y="1828800"/>
            <a:ext cx="5860390" cy="4709160"/>
          </a:xfrm>
          <a:prstGeom prst="round1Rect">
            <a:avLst>
              <a:gd name="adj" fmla="val 23087"/>
            </a:avLst>
          </a:prstGeom>
          <a:solidFill>
            <a:srgbClr val="FFFFFF"/>
          </a:solidFill>
          <a:ln/>
        </p:spPr>
        <p:txBody>
          <a:bodyPr/>
          <a:p/>
        </p:txBody>
      </p:sp>
      <p:sp>
        <p:nvSpPr>
          <p:cNvPr id="11" name="title"/>
          <p:cNvSpPr/>
          <p:nvPr/>
        </p:nvSpPr>
        <p:spPr>
          <a:xfrm>
            <a:off x="608076" y="457200"/>
            <a:ext cx="6949440" cy="1005840"/>
          </a:xfrm>
          <a:prstGeom prst="rect">
            <a:avLst/>
          </a:prstGeom>
          <a:noFill/>
          <a:ln/>
        </p:spPr>
        <p:txBody>
          <a:bodyPr wrap="square" rtlCol="0" anchor="ctr"/>
          <a:lstStyle/>
          <a:p>
            <a:pPr algn="l" indent="0" marL="0">
              <a:buNone/>
            </a:pPr>
            <a:r>
              <a:rPr lang="en-US" sz="4300" dirty="0" b="1">
                <a:solidFill>
                  <a:srgbClr val="1B2236"/>
                </a:solidFill>
                <a:latin typeface="Lexend Deca" pitchFamily="34" charset="0"/>
                <a:ea typeface="Lexend Deca" pitchFamily="34" charset="-122"/>
                <a:cs typeface="Lexend Deca" pitchFamily="34" charset="-120"/>
              </a:rPr>
              <a:t>Common Mistakes</a:t>
            </a:r>
            <a:endParaRPr lang="en-US" sz="4300" dirty="0" b="1"/>
          </a:p>
        </p:txBody>
      </p:sp>
      <p:pic>
        <p:nvPicPr>
          <p:cNvPr id="21" name="pic" descr="Try (a new food): a person and sushi [sign: NEW!]"/>
          <p:cNvPicPr>
            <a:picLocks noChangeAspect="1"/>
          </p:cNvPicPr>
          <p:nvPr/>
        </p:nvPicPr>
        <p:blipFill>
          <a:blip r:embed="rId3"/>
          <a:stretch>
            <a:fillRect/>
          </a:stretch>
        </p:blipFill>
        <p:spPr>
          <a:xfrm>
            <a:off x="10515600" y="1325880"/>
            <a:ext cx="1554480" cy="1088136"/>
          </a:xfrm>
          <a:prstGeom prst="rect">
            <a:avLst/>
          </a:prstGeom>
        </p:spPr>
      </p:pic>
      <p:sp>
        <p:nvSpPr>
          <p:cNvPr id="22" name="Dont head"/>
          <p:cNvSpPr/>
          <p:nvPr/>
        </p:nvSpPr>
        <p:spPr>
          <a:xfrm>
            <a:off x="914400" y="1938528"/>
            <a:ext cx="3108960" cy="50292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B42318"/>
                </a:solidFill>
                <a:latin typeface="Lexend Deca" pitchFamily="34" charset="0"/>
                <a:ea typeface="Lexend Deca" pitchFamily="34" charset="-122"/>
                <a:cs typeface="Lexend Deca" pitchFamily="34" charset="-120"/>
              </a:rPr>
              <a:t>Don't say</a:t>
            </a:r>
            <a:endParaRPr lang="en-US" sz="2200" dirty="0"/>
          </a:p>
        </p:txBody>
      </p:sp>
      <p:sp>
        <p:nvSpPr>
          <p:cNvPr id="23" name="Say head"/>
          <p:cNvSpPr/>
          <p:nvPr/>
        </p:nvSpPr>
        <p:spPr>
          <a:xfrm>
            <a:off x="4800600" y="1938528"/>
            <a:ext cx="5303520" cy="50292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E6B45"/>
                </a:solidFill>
                <a:latin typeface="Lexend Deca" pitchFamily="34" charset="0"/>
                <a:ea typeface="Lexend Deca" pitchFamily="34" charset="-122"/>
                <a:cs typeface="Lexend Deca" pitchFamily="34" charset="-120"/>
              </a:rPr>
              <a:t>Say</a:t>
            </a:r>
            <a:endParaRPr lang="en-US" sz="2200" dirty="0"/>
          </a:p>
        </p:txBody>
      </p:sp>
      <p:sp>
        <p:nvSpPr>
          <p:cNvPr id="24" name="Bad 1"/>
          <p:cNvSpPr/>
          <p:nvPr/>
        </p:nvSpPr>
        <p:spPr>
          <a:xfrm>
            <a:off x="914400" y="2468880"/>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have seen snow last year.</a:t>
            </a:r>
            <a:endParaRPr lang="en-US" sz="1700" dirty="0"/>
          </a:p>
        </p:txBody>
      </p:sp>
      <p:sp>
        <p:nvSpPr>
          <p:cNvPr id="25" name="Good 1"/>
          <p:cNvSpPr/>
          <p:nvPr/>
        </p:nvSpPr>
        <p:spPr>
          <a:xfrm>
            <a:off x="4800600" y="2468880"/>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 </a:t>
            </a:r>
            <a:r>
              <a:rPr lang="en-US" sz="1700" dirty="0" b="1">
                <a:solidFill>
                  <a:srgbClr val="1B2236"/>
                </a:solidFill>
                <a:latin typeface="Lexend Deca" pitchFamily="34" charset="0"/>
                <a:ea typeface="Lexend Deca" pitchFamily="34" charset="-122"/>
                <a:cs typeface="Lexend Deca" pitchFamily="34" charset="-120"/>
              </a:rPr>
              <a:t>saw</a:t>
            </a:r>
            <a:r>
              <a:rPr lang="en-US" sz="1700" dirty="0" b="1">
                <a:solidFill>
                  <a:srgbClr val="1B2236"/>
                </a:solidFill>
                <a:latin typeface="Lexend Deca" pitchFamily="34" charset="0"/>
                <a:ea typeface="Lexend Deca" pitchFamily="34" charset="-122"/>
                <a:cs typeface="Lexend Deca" pitchFamily="34" charset="-120"/>
              </a:rPr>
              <a:t> snow last year.</a:t>
            </a:r>
            <a:endParaRPr lang="en-US" sz="1700" dirty="0" b="1"/>
          </a:p>
        </p:txBody>
      </p:sp>
      <p:sp>
        <p:nvSpPr>
          <p:cNvPr id="26" name="Bad 2"/>
          <p:cNvSpPr/>
          <p:nvPr/>
        </p:nvSpPr>
        <p:spPr>
          <a:xfrm>
            <a:off x="914400" y="3035808"/>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Have you ever eat sushi?</a:t>
            </a:r>
            <a:endParaRPr lang="en-US" sz="1700" dirty="0"/>
          </a:p>
        </p:txBody>
      </p:sp>
      <p:sp>
        <p:nvSpPr>
          <p:cNvPr id="27" name="Good 2"/>
          <p:cNvSpPr/>
          <p:nvPr/>
        </p:nvSpPr>
        <p:spPr>
          <a:xfrm>
            <a:off x="4800600" y="3035808"/>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Have you ever </a:t>
            </a:r>
            <a:r>
              <a:rPr lang="en-US" sz="1700" dirty="0" b="1">
                <a:solidFill>
                  <a:srgbClr val="1B2236"/>
                </a:solidFill>
                <a:latin typeface="Lexend Deca" pitchFamily="34" charset="0"/>
                <a:ea typeface="Lexend Deca" pitchFamily="34" charset="-122"/>
                <a:cs typeface="Lexend Deca" pitchFamily="34" charset="-120"/>
              </a:rPr>
              <a:t>eaten</a:t>
            </a:r>
            <a:r>
              <a:rPr lang="en-US" sz="1700" dirty="0" b="1">
                <a:solidFill>
                  <a:srgbClr val="1B2236"/>
                </a:solidFill>
                <a:latin typeface="Lexend Deca" pitchFamily="34" charset="0"/>
                <a:ea typeface="Lexend Deca" pitchFamily="34" charset="-122"/>
                <a:cs typeface="Lexend Deca" pitchFamily="34" charset="-120"/>
              </a:rPr>
              <a:t> sushi?</a:t>
            </a:r>
            <a:endParaRPr lang="en-US" sz="1700" dirty="0" b="1"/>
          </a:p>
        </p:txBody>
      </p:sp>
      <p:sp>
        <p:nvSpPr>
          <p:cNvPr id="28" name="Bad 3"/>
          <p:cNvSpPr/>
          <p:nvPr/>
        </p:nvSpPr>
        <p:spPr>
          <a:xfrm>
            <a:off x="914400" y="3602736"/>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Yes, I have seen.</a:t>
            </a:r>
            <a:endParaRPr lang="en-US" sz="1700" dirty="0"/>
          </a:p>
        </p:txBody>
      </p:sp>
      <p:sp>
        <p:nvSpPr>
          <p:cNvPr id="29" name="Good 3"/>
          <p:cNvSpPr/>
          <p:nvPr/>
        </p:nvSpPr>
        <p:spPr>
          <a:xfrm>
            <a:off x="4800600" y="3602736"/>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Yes, I </a:t>
            </a:r>
            <a:r>
              <a:rPr lang="en-US" sz="1700" dirty="0" b="1">
                <a:solidFill>
                  <a:srgbClr val="1B2236"/>
                </a:solidFill>
                <a:latin typeface="Lexend Deca" pitchFamily="34" charset="0"/>
                <a:ea typeface="Lexend Deca" pitchFamily="34" charset="-122"/>
                <a:cs typeface="Lexend Deca" pitchFamily="34" charset="-120"/>
              </a:rPr>
              <a:t>have</a:t>
            </a:r>
            <a:r>
              <a:rPr lang="en-US" sz="1700" dirty="0" b="1">
                <a:solidFill>
                  <a:srgbClr val="1B2236"/>
                </a:solidFill>
                <a:latin typeface="Lexend Deca" pitchFamily="34" charset="0"/>
                <a:ea typeface="Lexend Deca" pitchFamily="34" charset="-122"/>
                <a:cs typeface="Lexend Deca" pitchFamily="34" charset="-120"/>
              </a:rPr>
              <a:t>. (+ a detail: I saw it in 2022.)</a:t>
            </a:r>
            <a:endParaRPr lang="en-US" sz="1700" dirty="0" b="1"/>
          </a:p>
        </p:txBody>
      </p:sp>
      <p:sp>
        <p:nvSpPr>
          <p:cNvPr id="30" name="Bad 4"/>
          <p:cNvSpPr/>
          <p:nvPr/>
        </p:nvSpPr>
        <p:spPr>
          <a:xfrm>
            <a:off x="914400" y="4169664"/>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She have lived in two cities.</a:t>
            </a:r>
            <a:endParaRPr lang="en-US" sz="1700" dirty="0"/>
          </a:p>
        </p:txBody>
      </p:sp>
      <p:sp>
        <p:nvSpPr>
          <p:cNvPr id="31" name="Good 4"/>
          <p:cNvSpPr/>
          <p:nvPr/>
        </p:nvSpPr>
        <p:spPr>
          <a:xfrm>
            <a:off x="4800600" y="4169664"/>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She </a:t>
            </a:r>
            <a:r>
              <a:rPr lang="en-US" sz="1700" dirty="0" b="1">
                <a:solidFill>
                  <a:srgbClr val="1B2236"/>
                </a:solidFill>
                <a:latin typeface="Lexend Deca" pitchFamily="34" charset="0"/>
                <a:ea typeface="Lexend Deca" pitchFamily="34" charset="-122"/>
                <a:cs typeface="Lexend Deca" pitchFamily="34" charset="-120"/>
              </a:rPr>
              <a:t>has</a:t>
            </a:r>
            <a:r>
              <a:rPr lang="en-US" sz="1700" dirty="0" b="1">
                <a:solidFill>
                  <a:srgbClr val="1B2236"/>
                </a:solidFill>
                <a:latin typeface="Lexend Deca" pitchFamily="34" charset="0"/>
                <a:ea typeface="Lexend Deca" pitchFamily="34" charset="-122"/>
                <a:cs typeface="Lexend Deca" pitchFamily="34" charset="-120"/>
              </a:rPr>
              <a:t> lived in two cities.</a:t>
            </a:r>
            <a:endParaRPr lang="en-US" sz="1700" dirty="0" b="1"/>
          </a:p>
        </p:txBody>
      </p:sp>
      <p:sp>
        <p:nvSpPr>
          <p:cNvPr id="32" name="Bad 5"/>
          <p:cNvSpPr/>
          <p:nvPr/>
        </p:nvSpPr>
        <p:spPr>
          <a:xfrm>
            <a:off x="914400" y="4736592"/>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never have flown.</a:t>
            </a:r>
            <a:endParaRPr lang="en-US" sz="1700" dirty="0"/>
          </a:p>
        </p:txBody>
      </p:sp>
      <p:sp>
        <p:nvSpPr>
          <p:cNvPr id="33" name="Good 5"/>
          <p:cNvSpPr/>
          <p:nvPr/>
        </p:nvSpPr>
        <p:spPr>
          <a:xfrm>
            <a:off x="4800600" y="4736592"/>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I've </a:t>
            </a:r>
            <a:r>
              <a:rPr lang="en-US" sz="1700" dirty="0" b="1">
                <a:solidFill>
                  <a:srgbClr val="1B2236"/>
                </a:solidFill>
                <a:latin typeface="Lexend Deca" pitchFamily="34" charset="0"/>
                <a:ea typeface="Lexend Deca" pitchFamily="34" charset="-122"/>
                <a:cs typeface="Lexend Deca" pitchFamily="34" charset="-120"/>
              </a:rPr>
              <a:t>never</a:t>
            </a:r>
            <a:r>
              <a:rPr lang="en-US" sz="1700" dirty="0" b="1">
                <a:solidFill>
                  <a:srgbClr val="1B2236"/>
                </a:solidFill>
                <a:latin typeface="Lexend Deca" pitchFamily="34" charset="0"/>
                <a:ea typeface="Lexend Deca" pitchFamily="34" charset="-122"/>
                <a:cs typeface="Lexend Deca" pitchFamily="34" charset="-120"/>
              </a:rPr>
              <a:t> flown. / I have </a:t>
            </a:r>
            <a:r>
              <a:rPr lang="en-US" sz="1700" dirty="0" b="1">
                <a:solidFill>
                  <a:srgbClr val="1B2236"/>
                </a:solidFill>
                <a:latin typeface="Lexend Deca" pitchFamily="34" charset="0"/>
                <a:ea typeface="Lexend Deca" pitchFamily="34" charset="-122"/>
                <a:cs typeface="Lexend Deca" pitchFamily="34" charset="-120"/>
              </a:rPr>
              <a:t>never</a:t>
            </a:r>
            <a:r>
              <a:rPr lang="en-US" sz="1700" dirty="0" b="1">
                <a:solidFill>
                  <a:srgbClr val="1B2236"/>
                </a:solidFill>
                <a:latin typeface="Lexend Deca" pitchFamily="34" charset="0"/>
                <a:ea typeface="Lexend Deca" pitchFamily="34" charset="-122"/>
                <a:cs typeface="Lexend Deca" pitchFamily="34" charset="-120"/>
              </a:rPr>
              <a:t> flown.</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p="http://schemas.openxmlformats.org/presentationml/2006/main" xmlns:r="http://schemas.openxmlformats.org/officeDocument/2006/relationships">
  <p:cSld name="L4:drill">
    <p:bg>
      <p:bgPr>
        <a:solidFill>
          <a:srgbClr val="F1F5FB"/>
        </a:solidFill>
      </p:bgPr>
    </p:bg>
    <p:spTree>
      <p:nvGrpSpPr>
        <p:cNvPr id="1" name=""/>
        <p:cNvGrpSpPr/>
        <p:nvPr/>
      </p:nvGrpSpPr>
      <p:grpSpPr/>
      <p:pic>
        <p:nvPicPr>
          <p:cNvPr id="26" name="pic" descr="See a famous person: a singer and a camera [sign: FAMOUS!]"/>
          <p:cNvPicPr>
            <a:picLocks noChangeAspect="1"/>
          </p:cNvPicPr>
          <p:nvPr/>
        </p:nvPicPr>
        <p:blipFill>
          <a:blip r:embed="rId3"/>
          <a:stretch>
            <a:fillRect/>
          </a:stretch>
        </p:blipFill>
        <p:spPr>
          <a:xfrm>
            <a:off x="1274739" y="3680460"/>
            <a:ext cx="3449901" cy="2414930"/>
          </a:xfrm>
          <a:prstGeom prst="rect">
            <a:avLst/>
          </a:prstGeom>
        </p:spPr>
      </p:pic>
      <p:sp>
        <p:nvSpPr>
          <p:cNvPr id="4" name="Shape 2"/>
          <p:cNvSpPr/>
          <p:nvPr/>
        </p:nvSpPr>
        <p:spPr>
          <a:xfrm>
            <a:off x="560984" y="1342842"/>
            <a:ext cx="4912157" cy="1595628"/>
          </a:xfrm>
          <a:prstGeom prst="roundRect">
            <a:avLst>
              <a:gd name="adj" fmla="val 16667"/>
            </a:avLst>
          </a:prstGeom>
          <a:solidFill>
            <a:srgbClr val="8FAFE3"/>
          </a:solidFill>
          <a:ln/>
        </p:spPr>
        <p:txBody>
          <a:bodyPr/>
          <a:p/>
        </p:txBody>
      </p:sp>
      <p:sp>
        <p:nvSpPr>
          <p:cNvPr id="5" name="Shape 3"/>
          <p:cNvSpPr/>
          <p:nvPr/>
        </p:nvSpPr>
        <p:spPr>
          <a:xfrm>
            <a:off x="589788" y="1277417"/>
            <a:ext cx="4912157" cy="1595628"/>
          </a:xfrm>
          <a:prstGeom prst="roundRect">
            <a:avLst>
              <a:gd name="adj" fmla="val 16667"/>
            </a:avLst>
          </a:prstGeom>
          <a:solidFill>
            <a:srgbClr val="FFFFFF"/>
          </a:solidFill>
          <a:ln/>
        </p:spPr>
        <p:txBody>
          <a:bodyPr/>
          <a:p/>
        </p:txBody>
      </p:sp>
      <p:sp>
        <p:nvSpPr>
          <p:cNvPr id="6" name="title"/>
          <p:cNvSpPr/>
          <p:nvPr/>
        </p:nvSpPr>
        <p:spPr>
          <a:xfrm>
            <a:off x="771754" y="1417320"/>
            <a:ext cx="4572000" cy="731520"/>
          </a:xfrm>
          <a:prstGeom prst="rect">
            <a:avLst/>
          </a:prstGeom>
          <a:noFill/>
          <a:ln/>
        </p:spPr>
        <p:txBody>
          <a:bodyPr wrap="square" rtlCol="0" anchor="ctr"/>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Pair Check</a:t>
            </a:r>
            <a:endParaRPr lang="en-US" sz="4000" dirty="0" b="1"/>
          </a:p>
        </p:txBody>
      </p:sp>
      <p:sp>
        <p:nvSpPr>
          <p:cNvPr id="7" name="Shape 5"/>
          <p:cNvSpPr/>
          <p:nvPr/>
        </p:nvSpPr>
        <p:spPr>
          <a:xfrm>
            <a:off x="6107278" y="1382572"/>
            <a:ext cx="5577840" cy="1920240"/>
          </a:xfrm>
          <a:prstGeom prst="round1Rect">
            <a:avLst>
              <a:gd name="adj" fmla="val 23087"/>
            </a:avLst>
          </a:prstGeom>
          <a:solidFill>
            <a:srgbClr val="8FAFE3"/>
          </a:solidFill>
          <a:ln/>
        </p:spPr>
        <p:txBody>
          <a:bodyPr/>
          <a:p/>
        </p:txBody>
      </p:sp>
      <p:sp>
        <p:nvSpPr>
          <p:cNvPr id="8" name="Shape 6"/>
          <p:cNvSpPr/>
          <p:nvPr/>
        </p:nvSpPr>
        <p:spPr>
          <a:xfrm>
            <a:off x="6107278" y="3714292"/>
            <a:ext cx="5577840" cy="1920240"/>
          </a:xfrm>
          <a:prstGeom prst="round1Rect">
            <a:avLst>
              <a:gd name="adj" fmla="val 23087"/>
            </a:avLst>
          </a:prstGeom>
          <a:solidFill>
            <a:srgbClr val="8FAFE3"/>
          </a:solidFill>
          <a:ln/>
        </p:spPr>
        <p:txBody>
          <a:bodyPr/>
          <a:p/>
        </p:txBody>
      </p:sp>
      <p:sp>
        <p:nvSpPr>
          <p:cNvPr id="10" name="Shape 8"/>
          <p:cNvSpPr/>
          <p:nvPr/>
        </p:nvSpPr>
        <p:spPr>
          <a:xfrm>
            <a:off x="6035040" y="1325880"/>
            <a:ext cx="5577840" cy="1920240"/>
          </a:xfrm>
          <a:prstGeom prst="round1Rect">
            <a:avLst>
              <a:gd name="adj" fmla="val 23087"/>
            </a:avLst>
          </a:prstGeom>
          <a:solidFill>
            <a:srgbClr val="FFFFFF"/>
          </a:solidFill>
          <a:ln/>
        </p:spPr>
        <p:txBody>
          <a:bodyPr/>
          <a:p/>
        </p:txBody>
      </p:sp>
      <p:sp>
        <p:nvSpPr>
          <p:cNvPr id="11" name="Shape 9"/>
          <p:cNvSpPr/>
          <p:nvPr/>
        </p:nvSpPr>
        <p:spPr>
          <a:xfrm>
            <a:off x="6172200" y="1946757"/>
            <a:ext cx="678485" cy="678485"/>
          </a:xfrm>
          <a:prstGeom prst="star32">
            <a:avLst>
              <a:gd name="adj" fmla="val 43755"/>
            </a:avLst>
          </a:prstGeom>
          <a:solidFill>
            <a:srgbClr val="B9D2F7"/>
          </a:solidFill>
          <a:ln/>
        </p:spPr>
        <p:txBody>
          <a:bodyPr/>
          <a:p/>
        </p:txBody>
      </p:sp>
      <p:sp>
        <p:nvSpPr>
          <p:cNvPr id="12" name="Text 10"/>
          <p:cNvSpPr/>
          <p:nvPr/>
        </p:nvSpPr>
        <p:spPr>
          <a:xfrm>
            <a:off x="6172200" y="1946757"/>
            <a:ext cx="678485" cy="678485"/>
          </a:xfrm>
          <a:prstGeom prst="rect">
            <a:avLst/>
          </a:prstGeom>
          <a:noFill/>
          <a:ln/>
        </p:spPr>
        <p:txBody>
          <a:bodyPr wrap="square"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01</a:t>
            </a:r>
            <a:endParaRPr lang="en-US" sz="2000" dirty="0"/>
          </a:p>
        </p:txBody>
      </p:sp>
      <p:sp>
        <p:nvSpPr>
          <p:cNvPr id="13" name="s1 label"/>
          <p:cNvSpPr/>
          <p:nvPr/>
        </p:nvSpPr>
        <p:spPr>
          <a:xfrm>
            <a:off x="6995160" y="1508760"/>
            <a:ext cx="4480560" cy="5029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A asks.</a:t>
            </a:r>
            <a:endParaRPr lang="en-US" sz="2200" dirty="0" b="1"/>
          </a:p>
        </p:txBody>
      </p:sp>
      <p:sp>
        <p:nvSpPr>
          <p:cNvPr id="14" name="Shape 12"/>
          <p:cNvSpPr/>
          <p:nvPr/>
        </p:nvSpPr>
        <p:spPr>
          <a:xfrm>
            <a:off x="6035040" y="3657600"/>
            <a:ext cx="5577840" cy="1920240"/>
          </a:xfrm>
          <a:prstGeom prst="round1Rect">
            <a:avLst>
              <a:gd name="adj" fmla="val 23087"/>
            </a:avLst>
          </a:prstGeom>
          <a:solidFill>
            <a:srgbClr val="B9D2F7"/>
          </a:solidFill>
          <a:ln/>
        </p:spPr>
        <p:txBody>
          <a:bodyPr/>
          <a:p/>
        </p:txBody>
      </p:sp>
      <p:sp>
        <p:nvSpPr>
          <p:cNvPr id="15" name="Shape 13"/>
          <p:cNvSpPr/>
          <p:nvPr/>
        </p:nvSpPr>
        <p:spPr>
          <a:xfrm>
            <a:off x="6172200" y="4278477"/>
            <a:ext cx="678485" cy="678485"/>
          </a:xfrm>
          <a:prstGeom prst="star32">
            <a:avLst>
              <a:gd name="adj" fmla="val 43755"/>
            </a:avLst>
          </a:prstGeom>
          <a:solidFill>
            <a:srgbClr val="FFFFFF"/>
          </a:solidFill>
          <a:ln/>
        </p:spPr>
        <p:txBody>
          <a:bodyPr/>
          <a:p/>
        </p:txBody>
      </p:sp>
      <p:sp>
        <p:nvSpPr>
          <p:cNvPr id="16" name="Text 14"/>
          <p:cNvSpPr/>
          <p:nvPr/>
        </p:nvSpPr>
        <p:spPr>
          <a:xfrm>
            <a:off x="6172200" y="4278477"/>
            <a:ext cx="678485" cy="678485"/>
          </a:xfrm>
          <a:prstGeom prst="rect">
            <a:avLst/>
          </a:prstGeom>
          <a:noFill/>
          <a:ln/>
        </p:spPr>
        <p:txBody>
          <a:bodyPr wrap="square"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02</a:t>
            </a:r>
            <a:endParaRPr lang="en-US" sz="2000" dirty="0"/>
          </a:p>
        </p:txBody>
      </p:sp>
      <p:sp>
        <p:nvSpPr>
          <p:cNvPr id="17" name="s2 label"/>
          <p:cNvSpPr/>
          <p:nvPr/>
        </p:nvSpPr>
        <p:spPr>
          <a:xfrm>
            <a:off x="6995160" y="3840480"/>
            <a:ext cx="4480560" cy="5029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B answers.</a:t>
            </a:r>
            <a:endParaRPr lang="en-US" sz="2200" dirty="0" b="1"/>
          </a:p>
        </p:txBody>
      </p:sp>
      <p:sp>
        <p:nvSpPr>
          <p:cNvPr id="60" name="s1 body"/>
          <p:cNvSpPr/>
          <p:nvPr/>
        </p:nvSpPr>
        <p:spPr>
          <a:xfrm>
            <a:off x="6995160" y="2103120"/>
            <a:ext cx="4480560" cy="914400"/>
          </a:xfrm>
          <a:prstGeom prst="rect">
            <a:avLst/>
          </a:prstGeom>
          <a:noFill/>
          <a:ln/>
        </p:spPr>
        <p:txBody>
          <a:bodyPr wrap="square" lIns="0" tIns="0" rIns="0" bIns="0" rtlCol="0" anchor="ctr"/>
          <a:lstStyle/>
          <a:p>
            <a:pPr algn="l" indent="0" marL="0">
              <a:buNone/>
            </a:pPr>
            <a:r>
              <a:rPr lang="en-US" sz="1900" dirty="0" b="1">
                <a:solidFill>
                  <a:srgbClr val="5B3FC4"/>
                </a:solidFill>
                <a:latin typeface="Lexend Deca" pitchFamily="34" charset="0"/>
                <a:ea typeface="Lexend Deca" pitchFamily="34" charset="-122"/>
                <a:cs typeface="Lexend Deca" pitchFamily="34" charset="-120"/>
              </a:rPr>
              <a:t>A:</a:t>
            </a:r>
            <a:r>
              <a:rPr lang="en-US" sz="1900" dirty="0" b="0">
                <a:solidFill>
                  <a:srgbClr val="1B2236"/>
                </a:solidFill>
                <a:latin typeface="Lexend Deca" pitchFamily="34" charset="0"/>
                <a:ea typeface="Lexend Deca" pitchFamily="34" charset="-122"/>
                <a:cs typeface="Lexend Deca" pitchFamily="34" charset="-120"/>
              </a:rPr>
              <a:t> Have you ever…?</a:t>
            </a:r>
            <a:endParaRPr lang="en-US" sz="1900" dirty="0" b="0"/>
          </a:p>
        </p:txBody>
      </p:sp>
      <p:sp>
        <p:nvSpPr>
          <p:cNvPr id="70" name="s2 body"/>
          <p:cNvSpPr/>
          <p:nvPr/>
        </p:nvSpPr>
        <p:spPr>
          <a:xfrm>
            <a:off x="6995160" y="4434840"/>
            <a:ext cx="4480560" cy="914400"/>
          </a:xfrm>
          <a:prstGeom prst="rect">
            <a:avLst/>
          </a:prstGeom>
          <a:noFill/>
          <a:ln/>
        </p:spPr>
        <p:txBody>
          <a:bodyPr wrap="square" lIns="0" tIns="0" rIns="0" bIns="0" rtlCol="0" anchor="ctr"/>
          <a:lstStyle/>
          <a:p>
            <a:pPr algn="l" indent="0" marL="0">
              <a:buNone/>
            </a:pPr>
            <a:r>
              <a:rPr lang="en-US" sz="1900" dirty="0" b="1">
                <a:solidFill>
                  <a:srgbClr val="5B3FC4"/>
                </a:solidFill>
                <a:latin typeface="Lexend Deca" pitchFamily="34" charset="0"/>
                <a:ea typeface="Lexend Deca" pitchFamily="34" charset="-122"/>
                <a:cs typeface="Lexend Deca" pitchFamily="34" charset="-120"/>
              </a:rPr>
              <a:t>B:</a:t>
            </a:r>
            <a:r>
              <a:rPr lang="en-US" sz="1900" dirty="0" b="0">
                <a:solidFill>
                  <a:srgbClr val="1B2236"/>
                </a:solidFill>
                <a:latin typeface="Lexend Deca" pitchFamily="34" charset="0"/>
                <a:ea typeface="Lexend Deca" pitchFamily="34" charset="-122"/>
                <a:cs typeface="Lexend Deca" pitchFamily="34" charset="-120"/>
              </a:rPr>
              <a:t> Yes, I have. I… in… / No, never.</a:t>
            </a:r>
            <a:endParaRPr lang="en-US" sz="1900" dirty="0" b="0"/>
          </a:p>
          <a:p>
            <a:pPr algn="l" indent="0" marL="0">
              <a:buNone/>
            </a:pPr>
            <a:r>
              <a:rPr lang="en-US" sz="1900" dirty="0" b="1">
                <a:solidFill>
                  <a:srgbClr val="5B3FC4"/>
                </a:solidFill>
                <a:latin typeface="Lexend Deca" pitchFamily="34" charset="0"/>
                <a:ea typeface="Lexend Deca" pitchFamily="34" charset="-122"/>
                <a:cs typeface="Lexend Deca" pitchFamily="34" charset="-120"/>
              </a:rPr>
              <a:t>A:</a:t>
            </a:r>
            <a:r>
              <a:rPr lang="en-US" sz="1900" dirty="0" b="1">
                <a:solidFill>
                  <a:srgbClr val="1B2236"/>
                </a:solidFill>
                <a:latin typeface="Lexend Deca" pitchFamily="34" charset="0"/>
                <a:ea typeface="Lexend Deca" pitchFamily="34" charset="-122"/>
                <a:cs typeface="Lexend Deca" pitchFamily="34" charset="-120"/>
              </a:rPr>
              <a:t> How was it? Then switch.</a:t>
            </a:r>
            <a:endParaRPr lang="en-US" sz="1900" dirty="0" b="1"/>
          </a:p>
        </p:txBody>
      </p:sp>
      <p:sp>
        <p:nvSpPr>
          <p:cNvPr id="25" name="sub"/>
          <p:cNvSpPr/>
          <p:nvPr/>
        </p:nvSpPr>
        <p:spPr>
          <a:xfrm>
            <a:off x="771754" y="2148840"/>
            <a:ext cx="4572000" cy="685800"/>
          </a:xfrm>
          <a:prstGeom prst="rect">
            <a:avLst/>
          </a:prstGeom>
          <a:noFill/>
          <a:ln w="38100">
            <a:noFill/>
          </a:ln>
        </p:spPr>
        <p:txBody>
          <a:bodyPr wrap="square" lIns="91440" tIns="36576" rIns="91440"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A asks with a word from the New Words page. Then switch.</a:t>
            </a:r>
            <a:endParaRPr lang="en-US" sz="20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name="L4:talk">
    <p:bg>
      <p:bgPr>
        <a:solidFill>
          <a:srgbClr val="F1F5FB"/>
        </a:solidFill>
      </p:bgPr>
    </p:bg>
    <p:spTree>
      <p:nvGrpSpPr>
        <p:cNvPr id="1" name=""/>
        <p:cNvGrpSpPr/>
        <p:nvPr/>
      </p:nvGrpSpPr>
      <p:grpSpPr/>
      <p:sp>
        <p:nvSpPr>
          <p:cNvPr id="2" name="Shape 0"/>
          <p:cNvSpPr/>
          <p:nvPr/>
        </p:nvSpPr>
        <p:spPr>
          <a:xfrm>
            <a:off x="-171907" y="-142646"/>
            <a:ext cx="5937199" cy="7143293"/>
          </a:xfrm>
          <a:prstGeom prst="round1Rect">
            <a:avLst>
              <a:gd name="adj" fmla="val 23087"/>
            </a:avLst>
          </a:prstGeom>
          <a:solidFill>
            <a:srgbClr val="B9D2F7"/>
          </a:solidFill>
          <a:ln w="127000">
            <a:solidFill>
              <a:srgbClr val="F1F5FB"/>
            </a:solidFill>
            <a:prstDash val="solid"/>
          </a:ln>
        </p:spPr>
        <p:txBody>
          <a:bodyPr/>
          <a:p/>
        </p:txBody>
      </p:sp>
      <p:pic>
        <p:nvPicPr>
          <p:cNvPr id="18" name="pic" descr="Fly: an airplane"/>
          <p:cNvPicPr>
            <a:picLocks noChangeAspect="1"/>
          </p:cNvPicPr>
          <p:nvPr/>
        </p:nvPicPr>
        <p:blipFill>
          <a:blip r:embed="rId3"/>
          <a:stretch>
            <a:fillRect/>
          </a:stretch>
        </p:blipFill>
        <p:spPr>
          <a:xfrm>
            <a:off x="726164" y="3418942"/>
            <a:ext cx="3882281" cy="2717597"/>
          </a:xfrm>
          <a:prstGeom prst="rect">
            <a:avLst/>
          </a:prstGeom>
        </p:spPr>
      </p:pic>
      <p:sp>
        <p:nvSpPr>
          <p:cNvPr id="5" name="Shape 3"/>
          <p:cNvSpPr/>
          <p:nvPr/>
        </p:nvSpPr>
        <p:spPr>
          <a:xfrm>
            <a:off x="308610" y="1260546"/>
            <a:ext cx="4912157" cy="1595628"/>
          </a:xfrm>
          <a:prstGeom prst="roundRect">
            <a:avLst>
              <a:gd name="adj" fmla="val 16667"/>
            </a:avLst>
          </a:prstGeom>
          <a:solidFill>
            <a:srgbClr val="8FAFE3"/>
          </a:solidFill>
          <a:ln/>
        </p:spPr>
        <p:txBody>
          <a:bodyPr/>
          <a:p/>
        </p:txBody>
      </p:sp>
      <p:sp>
        <p:nvSpPr>
          <p:cNvPr id="6" name="Shape 4"/>
          <p:cNvSpPr/>
          <p:nvPr/>
        </p:nvSpPr>
        <p:spPr>
          <a:xfrm>
            <a:off x="337414" y="1195121"/>
            <a:ext cx="4912157" cy="1595628"/>
          </a:xfrm>
          <a:prstGeom prst="roundRect">
            <a:avLst>
              <a:gd name="adj" fmla="val 16667"/>
            </a:avLst>
          </a:prstGeom>
          <a:solidFill>
            <a:srgbClr val="FFFFFF"/>
          </a:solidFill>
          <a:ln/>
        </p:spPr>
        <p:txBody>
          <a:bodyPr/>
          <a:p/>
        </p:txBody>
      </p:sp>
      <p:sp>
        <p:nvSpPr>
          <p:cNvPr id="7" name="head"/>
          <p:cNvSpPr/>
          <p:nvPr/>
        </p:nvSpPr>
        <p:spPr>
          <a:xfrm>
            <a:off x="502920" y="1298448"/>
            <a:ext cx="4663440" cy="1417320"/>
          </a:xfrm>
          <a:prstGeom prst="rect">
            <a:avLst/>
          </a:prstGeom>
          <a:noFill/>
          <a:ln/>
        </p:spPr>
        <p:txBody>
          <a:bodyPr wrap="square" rtlCol="0" anchor="ctr"/>
          <a:lstStyle/>
          <a:p>
            <a:pPr algn="l" indent="0" marL="0">
              <a:spcAft>
                <a:spcPts val="200"/>
              </a:spcAft>
              <a:buNone/>
            </a:pPr>
            <a:r>
              <a:rPr lang="en-US" sz="4000" dirty="0" b="1">
                <a:solidFill>
                  <a:srgbClr val="1B2236"/>
                </a:solidFill>
                <a:latin typeface="Lexend Deca" pitchFamily="34" charset="0"/>
                <a:ea typeface="Lexend Deca" pitchFamily="34" charset="-122"/>
                <a:cs typeface="Lexend Deca" pitchFamily="34" charset="-120"/>
              </a:rPr>
              <a:t>Talk Time</a:t>
            </a:r>
            <a:endParaRPr lang="en-US" sz="4000" dirty="0" b="1"/>
          </a:p>
          <a:p>
            <a:pPr algn="l" indent="0" marL="0">
              <a:spcAft>
                <a:spcPts val="200"/>
              </a:spcAft>
              <a:buNone/>
            </a:pPr>
            <a:r>
              <a:rPr lang="en-US" sz="2600" dirty="0" b="1">
                <a:solidFill>
                  <a:srgbClr val="1B2236"/>
                </a:solidFill>
                <a:latin typeface="Lexend Deca" pitchFamily="34" charset="0"/>
                <a:ea typeface="Lexend Deca" pitchFamily="34" charset="-122"/>
                <a:cs typeface="Lexend Deca" pitchFamily="34" charset="-120"/>
              </a:rPr>
              <a:t>Find Someone Who Has…</a:t>
            </a:r>
            <a:endParaRPr lang="en-US" sz="2600" dirty="0" b="1"/>
          </a:p>
        </p:txBody>
      </p:sp>
      <p:sp>
        <p:nvSpPr>
          <p:cNvPr id="8" name="grouping"/>
          <p:cNvSpPr/>
          <p:nvPr/>
        </p:nvSpPr>
        <p:spPr>
          <a:xfrm>
            <a:off x="6291072" y="1783080"/>
            <a:ext cx="3291840" cy="914400"/>
          </a:xfrm>
          <a:prstGeom prst="rect">
            <a:avLst/>
          </a:prstGeom>
          <a:noFill/>
          <a:ln/>
        </p:spPr>
        <p:txBody>
          <a:bodyPr wrap="square" lIns="0" tIns="0" rIns="0" bIns="0"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Stand up.</a:t>
            </a:r>
            <a:endParaRPr lang="en-US" sz="1800" dirty="0"/>
          </a:p>
          <a:p>
            <a:pPr algn="l" indent="0" marL="0">
              <a:buNone/>
            </a:pPr>
            <a:r>
              <a:rPr lang="en-US" sz="1800" dirty="0">
                <a:solidFill>
                  <a:srgbClr val="1B2236"/>
                </a:solidFill>
                <a:latin typeface="Lexend Deca" pitchFamily="34" charset="0"/>
                <a:ea typeface="Lexend Deca" pitchFamily="34" charset="-122"/>
                <a:cs typeface="Lexend Deca" pitchFamily="34" charset="-120"/>
              </a:rPr>
              <a:t>Ask your classmates.</a:t>
            </a:r>
            <a:endParaRPr lang="en-US" sz="1800" dirty="0"/>
          </a:p>
        </p:txBody>
      </p:sp>
      <p:sp>
        <p:nvSpPr>
          <p:cNvPr id="9" name="Shape 7"/>
          <p:cNvSpPr/>
          <p:nvPr/>
        </p:nvSpPr>
        <p:spPr>
          <a:xfrm>
            <a:off x="9734702" y="2103120"/>
            <a:ext cx="1992478" cy="0"/>
          </a:xfrm>
          <a:prstGeom prst="line">
            <a:avLst/>
          </a:prstGeom>
          <a:noFill/>
          <a:ln w="6350">
            <a:solidFill>
              <a:srgbClr val="1B2236"/>
            </a:solidFill>
            <a:prstDash val="solid"/>
          </a:ln>
        </p:spPr>
        <p:txBody>
          <a:bodyPr/>
          <a:p/>
        </p:txBody>
      </p:sp>
      <p:sp>
        <p:nvSpPr>
          <p:cNvPr id="10" name="Shape 8"/>
          <p:cNvSpPr/>
          <p:nvPr/>
        </p:nvSpPr>
        <p:spPr>
          <a:xfrm>
            <a:off x="9734702" y="2571293"/>
            <a:ext cx="1992478" cy="0"/>
          </a:xfrm>
          <a:prstGeom prst="line">
            <a:avLst/>
          </a:prstGeom>
          <a:noFill/>
          <a:ln w="6350">
            <a:solidFill>
              <a:srgbClr val="1B2236"/>
            </a:solidFill>
            <a:prstDash val="solid"/>
          </a:ln>
        </p:spPr>
        <p:txBody>
          <a:bodyPr/>
          <a:p/>
        </p:txBody>
      </p:sp>
      <p:sp>
        <p:nvSpPr>
          <p:cNvPr id="11" name="time"/>
          <p:cNvSpPr/>
          <p:nvPr/>
        </p:nvSpPr>
        <p:spPr>
          <a:xfrm>
            <a:off x="9784080" y="2130552"/>
            <a:ext cx="1920240" cy="384048"/>
          </a:xfrm>
          <a:prstGeom prst="rect">
            <a:avLst/>
          </a:prstGeom>
          <a:noFill/>
          <a:ln/>
        </p:spPr>
        <p:txBody>
          <a:bodyPr wrap="none" lIns="0" tIns="0" rIns="0" bIns="0"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7:00–7:15</a:t>
            </a:r>
            <a:endParaRPr lang="en-US" sz="2000" dirty="0" b="1"/>
          </a:p>
        </p:txBody>
      </p:sp>
      <p:sp>
        <p:nvSpPr>
          <p:cNvPr id="12" name="Shape 10"/>
          <p:cNvSpPr/>
          <p:nvPr/>
        </p:nvSpPr>
        <p:spPr>
          <a:xfrm>
            <a:off x="6416345" y="3198571"/>
            <a:ext cx="5486400" cy="3411626"/>
          </a:xfrm>
          <a:prstGeom prst="round1Rect">
            <a:avLst>
              <a:gd name="adj" fmla="val 23087"/>
            </a:avLst>
          </a:prstGeom>
          <a:solidFill>
            <a:srgbClr val="8FAFE3"/>
          </a:solidFill>
          <a:ln/>
        </p:spPr>
        <p:txBody>
          <a:bodyPr/>
          <a:p/>
        </p:txBody>
      </p:sp>
      <p:sp>
        <p:nvSpPr>
          <p:cNvPr id="13" name="Shape 11"/>
          <p:cNvSpPr/>
          <p:nvPr/>
        </p:nvSpPr>
        <p:spPr>
          <a:xfrm>
            <a:off x="6291986" y="3071470"/>
            <a:ext cx="5486400" cy="3411626"/>
          </a:xfrm>
          <a:prstGeom prst="round1Rect">
            <a:avLst>
              <a:gd name="adj" fmla="val 23087"/>
            </a:avLst>
          </a:prstGeom>
          <a:solidFill>
            <a:srgbClr val="FFFFFF"/>
          </a:solidFill>
          <a:ln/>
        </p:spPr>
        <p:txBody>
          <a:bodyPr/>
          <a:p/>
        </p:txBody>
      </p:sp>
      <p:sp>
        <p:nvSpPr>
          <p:cNvPr id="19" name="Step num 1"/>
          <p:cNvSpPr/>
          <p:nvPr/>
        </p:nvSpPr>
        <p:spPr>
          <a:xfrm>
            <a:off x="6583680" y="3511296"/>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1</a:t>
            </a:r>
            <a:endParaRPr lang="en-US" sz="2200" dirty="0"/>
          </a:p>
        </p:txBody>
      </p:sp>
      <p:sp>
        <p:nvSpPr>
          <p:cNvPr id="20" name="Step 1"/>
          <p:cNvSpPr/>
          <p:nvPr/>
        </p:nvSpPr>
        <p:spPr>
          <a:xfrm>
            <a:off x="7315200" y="3401568"/>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Ask a question.</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Have you ever flown in a plane?</a:t>
            </a:r>
            <a:endParaRPr lang="en-US" sz="1700" dirty="0" b="0"/>
          </a:p>
        </p:txBody>
      </p:sp>
      <p:sp>
        <p:nvSpPr>
          <p:cNvPr id="21" name="Step num 2"/>
          <p:cNvSpPr/>
          <p:nvPr/>
        </p:nvSpPr>
        <p:spPr>
          <a:xfrm>
            <a:off x="6583680" y="4489704"/>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2</a:t>
            </a:r>
            <a:endParaRPr lang="en-US" sz="2200" dirty="0"/>
          </a:p>
        </p:txBody>
      </p:sp>
      <p:sp>
        <p:nvSpPr>
          <p:cNvPr id="22" name="Step 2"/>
          <p:cNvSpPr/>
          <p:nvPr/>
        </p:nvSpPr>
        <p:spPr>
          <a:xfrm>
            <a:off x="7315200" y="4379976"/>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Someone says Yes? Ask two follow-up questions.</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When did you…? Where did you…? How was it?</a:t>
            </a:r>
            <a:endParaRPr lang="en-US" sz="1700" dirty="0" b="0"/>
          </a:p>
        </p:txBody>
      </p:sp>
      <p:sp>
        <p:nvSpPr>
          <p:cNvPr id="23" name="Step num 3"/>
          <p:cNvSpPr/>
          <p:nvPr/>
        </p:nvSpPr>
        <p:spPr>
          <a:xfrm>
            <a:off x="6583680" y="5468112"/>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3</a:t>
            </a:r>
            <a:endParaRPr lang="en-US" sz="2200" dirty="0"/>
          </a:p>
        </p:txBody>
      </p:sp>
      <p:sp>
        <p:nvSpPr>
          <p:cNvPr id="24" name="Step 3"/>
          <p:cNvSpPr/>
          <p:nvPr/>
        </p:nvSpPr>
        <p:spPr>
          <a:xfrm>
            <a:off x="7315200" y="5358384"/>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Write the name and a short note.</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Name: Ana   Note: last year, exciting</a:t>
            </a:r>
            <a:endParaRPr lang="en-US" sz="17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p="http://schemas.openxmlformats.org/presentationml/2006/main" xmlns:r="http://schemas.openxmlformats.org/officeDocument/2006/relationships">
  <p:cSld name="L4:talk">
    <p:bg>
      <p:bgPr>
        <a:solidFill>
          <a:srgbClr val="F1F5FB"/>
        </a:solidFill>
      </p:bgPr>
    </p:bg>
    <p:spTree>
      <p:nvGrpSpPr>
        <p:cNvPr id="1" name=""/>
        <p:cNvGrpSpPr/>
        <p:nvPr/>
      </p:nvGrpSpPr>
      <p:grpSpPr/>
      <p:sp>
        <p:nvSpPr>
          <p:cNvPr id="2" name="Shape 0"/>
          <p:cNvSpPr/>
          <p:nvPr/>
        </p:nvSpPr>
        <p:spPr>
          <a:xfrm>
            <a:off x="-171907" y="-142646"/>
            <a:ext cx="5937199" cy="7143293"/>
          </a:xfrm>
          <a:prstGeom prst="round1Rect">
            <a:avLst>
              <a:gd name="adj" fmla="val 23087"/>
            </a:avLst>
          </a:prstGeom>
          <a:solidFill>
            <a:srgbClr val="B9D2F7"/>
          </a:solidFill>
          <a:ln w="127000">
            <a:solidFill>
              <a:srgbClr val="F1F5FB"/>
            </a:solidFill>
            <a:prstDash val="solid"/>
          </a:ln>
        </p:spPr>
        <p:txBody>
          <a:bodyPr/>
          <a:p/>
        </p:txBody>
      </p:sp>
      <p:pic>
        <p:nvPicPr>
          <p:cNvPr id="18" name="pic" descr="Win a prize: a trophy [sign: 1st PRIZE]"/>
          <p:cNvPicPr>
            <a:picLocks noChangeAspect="1"/>
          </p:cNvPicPr>
          <p:nvPr/>
        </p:nvPicPr>
        <p:blipFill>
          <a:blip r:embed="rId3"/>
          <a:stretch>
            <a:fillRect/>
          </a:stretch>
        </p:blipFill>
        <p:spPr>
          <a:xfrm>
            <a:off x="726164" y="3418942"/>
            <a:ext cx="3882281" cy="2717597"/>
          </a:xfrm>
          <a:prstGeom prst="rect">
            <a:avLst/>
          </a:prstGeom>
        </p:spPr>
      </p:pic>
      <p:sp>
        <p:nvSpPr>
          <p:cNvPr id="5" name="Shape 3"/>
          <p:cNvSpPr/>
          <p:nvPr/>
        </p:nvSpPr>
        <p:spPr>
          <a:xfrm>
            <a:off x="308610" y="1260546"/>
            <a:ext cx="4912157" cy="1595628"/>
          </a:xfrm>
          <a:prstGeom prst="roundRect">
            <a:avLst>
              <a:gd name="adj" fmla="val 16667"/>
            </a:avLst>
          </a:prstGeom>
          <a:solidFill>
            <a:srgbClr val="8FAFE3"/>
          </a:solidFill>
          <a:ln/>
        </p:spPr>
        <p:txBody>
          <a:bodyPr/>
          <a:p/>
        </p:txBody>
      </p:sp>
      <p:sp>
        <p:nvSpPr>
          <p:cNvPr id="6" name="Shape 4"/>
          <p:cNvSpPr/>
          <p:nvPr/>
        </p:nvSpPr>
        <p:spPr>
          <a:xfrm>
            <a:off x="337414" y="1195121"/>
            <a:ext cx="4912157" cy="1595628"/>
          </a:xfrm>
          <a:prstGeom prst="roundRect">
            <a:avLst>
              <a:gd name="adj" fmla="val 16667"/>
            </a:avLst>
          </a:prstGeom>
          <a:solidFill>
            <a:srgbClr val="FFFFFF"/>
          </a:solidFill>
          <a:ln/>
        </p:spPr>
        <p:txBody>
          <a:bodyPr/>
          <a:p/>
        </p:txBody>
      </p:sp>
      <p:sp>
        <p:nvSpPr>
          <p:cNvPr id="7" name="head"/>
          <p:cNvSpPr/>
          <p:nvPr/>
        </p:nvSpPr>
        <p:spPr>
          <a:xfrm>
            <a:off x="502920" y="1298448"/>
            <a:ext cx="4663440" cy="1417320"/>
          </a:xfrm>
          <a:prstGeom prst="rect">
            <a:avLst/>
          </a:prstGeom>
          <a:noFill/>
          <a:ln/>
        </p:spPr>
        <p:txBody>
          <a:bodyPr wrap="square" rtlCol="0" anchor="ctr"/>
          <a:lstStyle/>
          <a:p>
            <a:pPr algn="l" indent="0" marL="0">
              <a:spcAft>
                <a:spcPts val="200"/>
              </a:spcAft>
              <a:buNone/>
            </a:pPr>
            <a:r>
              <a:rPr lang="en-US" sz="4000" dirty="0" b="1">
                <a:solidFill>
                  <a:srgbClr val="1B2236"/>
                </a:solidFill>
                <a:latin typeface="Lexend Deca" pitchFamily="34" charset="0"/>
                <a:ea typeface="Lexend Deca" pitchFamily="34" charset="-122"/>
                <a:cs typeface="Lexend Deca" pitchFamily="34" charset="-120"/>
              </a:rPr>
              <a:t>Talk Time</a:t>
            </a:r>
            <a:endParaRPr lang="en-US" sz="4000" dirty="0" b="1"/>
          </a:p>
          <a:p>
            <a:pPr algn="l" indent="0" marL="0">
              <a:spcAft>
                <a:spcPts val="200"/>
              </a:spcAft>
              <a:buNone/>
            </a:pPr>
            <a:r>
              <a:rPr lang="en-US" sz="2600" dirty="0" b="1">
                <a:solidFill>
                  <a:srgbClr val="1B2236"/>
                </a:solidFill>
                <a:latin typeface="Lexend Deca" pitchFamily="34" charset="0"/>
                <a:ea typeface="Lexend Deca" pitchFamily="34" charset="-122"/>
                <a:cs typeface="Lexend Deca" pitchFamily="34" charset="-120"/>
              </a:rPr>
              <a:t>Two True, One Invented</a:t>
            </a:r>
            <a:endParaRPr lang="en-US" sz="2600" dirty="0" b="1"/>
          </a:p>
        </p:txBody>
      </p:sp>
      <p:sp>
        <p:nvSpPr>
          <p:cNvPr id="8" name="grouping"/>
          <p:cNvSpPr/>
          <p:nvPr/>
        </p:nvSpPr>
        <p:spPr>
          <a:xfrm>
            <a:off x="6291072" y="1783080"/>
            <a:ext cx="3291840" cy="914400"/>
          </a:xfrm>
          <a:prstGeom prst="rect">
            <a:avLst/>
          </a:prstGeom>
          <a:noFill/>
          <a:ln/>
        </p:spPr>
        <p:txBody>
          <a:bodyPr wrap="square" lIns="0" tIns="0" rIns="0" bIns="0"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Groups.</a:t>
            </a:r>
            <a:endParaRPr lang="en-US" sz="1800" dirty="0"/>
          </a:p>
          <a:p>
            <a:pPr algn="l" indent="0" marL="0">
              <a:buNone/>
            </a:pPr>
            <a:r>
              <a:rPr lang="en-US" sz="1800" dirty="0">
                <a:solidFill>
                  <a:srgbClr val="1B2236"/>
                </a:solidFill>
                <a:latin typeface="Lexend Deca" pitchFamily="34" charset="0"/>
                <a:ea typeface="Lexend Deca" pitchFamily="34" charset="-122"/>
                <a:cs typeface="Lexend Deca" pitchFamily="34" charset="-120"/>
              </a:rPr>
              <a:t>2 true, 1 invented.</a:t>
            </a:r>
            <a:endParaRPr lang="en-US" sz="1800" dirty="0"/>
          </a:p>
        </p:txBody>
      </p:sp>
      <p:sp>
        <p:nvSpPr>
          <p:cNvPr id="9" name="Shape 7"/>
          <p:cNvSpPr/>
          <p:nvPr/>
        </p:nvSpPr>
        <p:spPr>
          <a:xfrm>
            <a:off x="9734702" y="2103120"/>
            <a:ext cx="1992478" cy="0"/>
          </a:xfrm>
          <a:prstGeom prst="line">
            <a:avLst/>
          </a:prstGeom>
          <a:noFill/>
          <a:ln w="6350">
            <a:solidFill>
              <a:srgbClr val="1B2236"/>
            </a:solidFill>
            <a:prstDash val="solid"/>
          </a:ln>
        </p:spPr>
        <p:txBody>
          <a:bodyPr/>
          <a:p/>
        </p:txBody>
      </p:sp>
      <p:sp>
        <p:nvSpPr>
          <p:cNvPr id="10" name="Shape 8"/>
          <p:cNvSpPr/>
          <p:nvPr/>
        </p:nvSpPr>
        <p:spPr>
          <a:xfrm>
            <a:off x="9734702" y="2571293"/>
            <a:ext cx="1992478" cy="0"/>
          </a:xfrm>
          <a:prstGeom prst="line">
            <a:avLst/>
          </a:prstGeom>
          <a:noFill/>
          <a:ln w="6350">
            <a:solidFill>
              <a:srgbClr val="1B2236"/>
            </a:solidFill>
            <a:prstDash val="solid"/>
          </a:ln>
        </p:spPr>
        <p:txBody>
          <a:bodyPr/>
          <a:p/>
        </p:txBody>
      </p:sp>
      <p:sp>
        <p:nvSpPr>
          <p:cNvPr id="11" name="time"/>
          <p:cNvSpPr/>
          <p:nvPr/>
        </p:nvSpPr>
        <p:spPr>
          <a:xfrm>
            <a:off x="9784080" y="2130552"/>
            <a:ext cx="1920240" cy="384048"/>
          </a:xfrm>
          <a:prstGeom prst="rect">
            <a:avLst/>
          </a:prstGeom>
          <a:noFill/>
          <a:ln/>
        </p:spPr>
        <p:txBody>
          <a:bodyPr wrap="none" lIns="0" tIns="0" rIns="0" bIns="0"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7:00–7:15</a:t>
            </a:r>
            <a:endParaRPr lang="en-US" sz="2000" dirty="0" b="1"/>
          </a:p>
        </p:txBody>
      </p:sp>
      <p:sp>
        <p:nvSpPr>
          <p:cNvPr id="12" name="Shape 10"/>
          <p:cNvSpPr/>
          <p:nvPr/>
        </p:nvSpPr>
        <p:spPr>
          <a:xfrm>
            <a:off x="6416345" y="3198571"/>
            <a:ext cx="5486400" cy="3411626"/>
          </a:xfrm>
          <a:prstGeom prst="round1Rect">
            <a:avLst>
              <a:gd name="adj" fmla="val 23087"/>
            </a:avLst>
          </a:prstGeom>
          <a:solidFill>
            <a:srgbClr val="8FAFE3"/>
          </a:solidFill>
          <a:ln/>
        </p:spPr>
        <p:txBody>
          <a:bodyPr/>
          <a:p/>
        </p:txBody>
      </p:sp>
      <p:sp>
        <p:nvSpPr>
          <p:cNvPr id="13" name="Shape 11"/>
          <p:cNvSpPr/>
          <p:nvPr/>
        </p:nvSpPr>
        <p:spPr>
          <a:xfrm>
            <a:off x="6291986" y="3071470"/>
            <a:ext cx="5486400" cy="3411626"/>
          </a:xfrm>
          <a:prstGeom prst="round1Rect">
            <a:avLst>
              <a:gd name="adj" fmla="val 23087"/>
            </a:avLst>
          </a:prstGeom>
          <a:solidFill>
            <a:srgbClr val="FFFFFF"/>
          </a:solidFill>
          <a:ln/>
        </p:spPr>
        <p:txBody>
          <a:bodyPr/>
          <a:p/>
        </p:txBody>
      </p:sp>
      <p:sp>
        <p:nvSpPr>
          <p:cNvPr id="19" name="Step num 1"/>
          <p:cNvSpPr/>
          <p:nvPr/>
        </p:nvSpPr>
        <p:spPr>
          <a:xfrm>
            <a:off x="6583680" y="3511296"/>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1</a:t>
            </a:r>
            <a:endParaRPr lang="en-US" sz="2200" dirty="0"/>
          </a:p>
        </p:txBody>
      </p:sp>
      <p:sp>
        <p:nvSpPr>
          <p:cNvPr id="20" name="Step 1"/>
          <p:cNvSpPr/>
          <p:nvPr/>
        </p:nvSpPr>
        <p:spPr>
          <a:xfrm>
            <a:off x="7315200" y="3401568"/>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Write 3 sentences: I've… / I've never…</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I've won a prize for cooking.</a:t>
            </a:r>
            <a:endParaRPr lang="en-US" sz="1700" dirty="0" b="0"/>
          </a:p>
        </p:txBody>
      </p:sp>
      <p:sp>
        <p:nvSpPr>
          <p:cNvPr id="21" name="Step num 2"/>
          <p:cNvSpPr/>
          <p:nvPr/>
        </p:nvSpPr>
        <p:spPr>
          <a:xfrm>
            <a:off x="6583680" y="4489704"/>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2</a:t>
            </a:r>
            <a:endParaRPr lang="en-US" sz="2200" dirty="0"/>
          </a:p>
        </p:txBody>
      </p:sp>
      <p:sp>
        <p:nvSpPr>
          <p:cNvPr id="22" name="Step 2"/>
          <p:cNvSpPr/>
          <p:nvPr/>
        </p:nvSpPr>
        <p:spPr>
          <a:xfrm>
            <a:off x="7315200" y="4379976"/>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Read them. Your group asks follow-up questions.</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When did you win it? What did you cook?</a:t>
            </a:r>
            <a:endParaRPr lang="en-US" sz="1700" dirty="0" b="0"/>
          </a:p>
        </p:txBody>
      </p:sp>
      <p:sp>
        <p:nvSpPr>
          <p:cNvPr id="23" name="Step num 3"/>
          <p:cNvSpPr/>
          <p:nvPr/>
        </p:nvSpPr>
        <p:spPr>
          <a:xfrm>
            <a:off x="6583680" y="5468112"/>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3</a:t>
            </a:r>
            <a:endParaRPr lang="en-US" sz="2200" dirty="0"/>
          </a:p>
        </p:txBody>
      </p:sp>
      <p:sp>
        <p:nvSpPr>
          <p:cNvPr id="24" name="Step 3"/>
          <p:cNvSpPr/>
          <p:nvPr/>
        </p:nvSpPr>
        <p:spPr>
          <a:xfrm>
            <a:off x="7315200" y="5358384"/>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They guess the invented one.</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Ana and I have both seen the ocean.</a:t>
            </a:r>
            <a:endParaRPr lang="en-US" sz="17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407262"/>
            <a:ext cx="7086600" cy="983894"/>
          </a:xfrm>
          <a:prstGeom prst="round1Rect">
            <a:avLst>
              <a:gd name="adj" fmla="val 23087"/>
            </a:avLst>
          </a:prstGeom>
          <a:solidFill>
            <a:srgbClr val="8FAFE3"/>
          </a:solidFill>
          <a:ln/>
        </p:spPr>
        <p:txBody>
          <a:bodyPr/>
          <a:p/>
        </p:txBody>
      </p:sp>
      <p:sp>
        <p:nvSpPr>
          <p:cNvPr id="3" name="head card"/>
          <p:cNvSpPr/>
          <p:nvPr/>
        </p:nvSpPr>
        <p:spPr>
          <a:xfrm>
            <a:off x="548640" y="1349654"/>
            <a:ext cx="7086600" cy="983894"/>
          </a:xfrm>
          <a:prstGeom prst="round1Rect">
            <a:avLst>
              <a:gd name="adj" fmla="val 23087"/>
            </a:avLst>
          </a:prstGeom>
          <a:solidFill>
            <a:srgbClr val="FFFFFF"/>
          </a:solidFill>
          <a:ln/>
        </p:spPr>
        <p:txBody>
          <a:bodyPr/>
          <a:p/>
        </p:txBody>
      </p:sp>
      <p:sp>
        <p:nvSpPr>
          <p:cNvPr id="8" name="head1"/>
          <p:cNvSpPr/>
          <p:nvPr/>
        </p:nvSpPr>
        <p:spPr>
          <a:xfrm>
            <a:off x="777240" y="141732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Read the class page.</a:t>
            </a:r>
            <a:endParaRPr lang="en-US" sz="2000" dirty="0" b="1"/>
          </a:p>
        </p:txBody>
      </p:sp>
      <p:sp>
        <p:nvSpPr>
          <p:cNvPr id="9" name="head2"/>
          <p:cNvSpPr/>
          <p:nvPr/>
        </p:nvSpPr>
        <p:spPr>
          <a:xfrm>
            <a:off x="868680" y="181965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Answer the questions.</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Read &amp;</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Write</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Meet Our Class:</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Marta, Joseph, and Linh.</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a:t>
            </a:r>
            <a:r>
              <a:rPr lang="en-US" sz="2000" dirty="0" b="1">
                <a:solidFill>
                  <a:srgbClr val="5B3FC4"/>
                </a:solidFill>
                <a:latin typeface="Lexend Deca" pitchFamily="34" charset="0"/>
                <a:ea typeface="Lexend Deca" pitchFamily="34" charset="-122"/>
                <a:cs typeface="Lexend Deca" pitchFamily="34" charset="-120"/>
              </a:rPr>
              <a:t>answer together.</a:t>
            </a:r>
            <a:endParaRPr lang="en-US" sz="2000" dirty="0" b="1"/>
          </a:p>
        </p:txBody>
      </p:sp>
      <p:sp>
        <p:nvSpPr>
          <p:cNvPr id="31" name="R1 card"/>
          <p:cNvSpPr/>
          <p:nvPr/>
        </p:nvSpPr>
        <p:spPr>
          <a:xfrm>
            <a:off x="1583741" y="2397557"/>
            <a:ext cx="6035040" cy="713232"/>
          </a:xfrm>
          <a:prstGeom prst="round1Rect">
            <a:avLst>
              <a:gd name="adj" fmla="val 23087"/>
            </a:avLst>
          </a:prstGeom>
          <a:solidFill>
            <a:srgbClr val="FFFFFF"/>
          </a:solidFill>
          <a:ln/>
        </p:spPr>
        <p:txBody>
          <a:bodyPr/>
          <a:p/>
        </p:txBody>
      </p:sp>
      <p:sp>
        <p:nvSpPr>
          <p:cNvPr id="32" name="R1 chip"/>
          <p:cNvSpPr/>
          <p:nvPr/>
        </p:nvSpPr>
        <p:spPr>
          <a:xfrm>
            <a:off x="544982" y="2397557"/>
            <a:ext cx="1039673" cy="713232"/>
          </a:xfrm>
          <a:prstGeom prst="rect">
            <a:avLst/>
          </a:prstGeom>
          <a:solidFill>
            <a:srgbClr val="B9D2F7"/>
          </a:solidFill>
          <a:ln/>
        </p:spPr>
        <p:txBody>
          <a:bodyPr/>
          <a:p/>
        </p:txBody>
      </p:sp>
      <p:sp>
        <p:nvSpPr>
          <p:cNvPr id="33" name="R1 num"/>
          <p:cNvSpPr/>
          <p:nvPr/>
        </p:nvSpPr>
        <p:spPr>
          <a:xfrm>
            <a:off x="686714" y="2461565"/>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397557"/>
            <a:ext cx="2395728" cy="713232"/>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How long has Marta lived in this city?</a:t>
            </a:r>
            <a:endParaRPr lang="en-US" sz="1600" dirty="0"/>
          </a:p>
        </p:txBody>
      </p:sp>
      <p:sp>
        <p:nvSpPr>
          <p:cNvPr id="35" name="R1 ans"/>
          <p:cNvSpPr/>
          <p:nvPr/>
        </p:nvSpPr>
        <p:spPr>
          <a:xfrm>
            <a:off x="4279392" y="2525573"/>
            <a:ext cx="32918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For six years.</a:t>
            </a:r>
            <a:endParaRPr lang="en-US" sz="1500" dirty="0" b="1"/>
          </a:p>
        </p:txBody>
      </p:sp>
      <p:sp>
        <p:nvSpPr>
          <p:cNvPr id="36" name="R2 card"/>
          <p:cNvSpPr/>
          <p:nvPr/>
        </p:nvSpPr>
        <p:spPr>
          <a:xfrm>
            <a:off x="1583741" y="3183941"/>
            <a:ext cx="6035040" cy="713232"/>
          </a:xfrm>
          <a:prstGeom prst="round1Rect">
            <a:avLst>
              <a:gd name="adj" fmla="val 23087"/>
            </a:avLst>
          </a:prstGeom>
          <a:solidFill>
            <a:srgbClr val="FFFFFF"/>
          </a:solidFill>
          <a:ln/>
        </p:spPr>
        <p:txBody>
          <a:bodyPr/>
          <a:p/>
        </p:txBody>
      </p:sp>
      <p:sp>
        <p:nvSpPr>
          <p:cNvPr id="37" name="R2 chip"/>
          <p:cNvSpPr/>
          <p:nvPr/>
        </p:nvSpPr>
        <p:spPr>
          <a:xfrm>
            <a:off x="544982" y="3183941"/>
            <a:ext cx="1039673" cy="713232"/>
          </a:xfrm>
          <a:prstGeom prst="rect">
            <a:avLst/>
          </a:prstGeom>
          <a:solidFill>
            <a:srgbClr val="B9D2F7"/>
          </a:solidFill>
          <a:ln/>
        </p:spPr>
        <p:txBody>
          <a:bodyPr/>
          <a:p/>
        </p:txBody>
      </p:sp>
      <p:sp>
        <p:nvSpPr>
          <p:cNvPr id="38" name="R2 num"/>
          <p:cNvSpPr/>
          <p:nvPr/>
        </p:nvSpPr>
        <p:spPr>
          <a:xfrm>
            <a:off x="686714" y="3247949"/>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3183941"/>
            <a:ext cx="2395728" cy="713232"/>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Where does Marta work now?</a:t>
            </a:r>
            <a:endParaRPr lang="en-US" sz="1600" dirty="0"/>
          </a:p>
        </p:txBody>
      </p:sp>
      <p:sp>
        <p:nvSpPr>
          <p:cNvPr id="40" name="R2 ans"/>
          <p:cNvSpPr/>
          <p:nvPr/>
        </p:nvSpPr>
        <p:spPr>
          <a:xfrm>
            <a:off x="4279392" y="3311957"/>
            <a:ext cx="32918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In a hospital kitchen.</a:t>
            </a:r>
            <a:endParaRPr lang="en-US" sz="1500" dirty="0" b="1"/>
          </a:p>
        </p:txBody>
      </p:sp>
      <p:sp>
        <p:nvSpPr>
          <p:cNvPr id="41" name="R3 card"/>
          <p:cNvSpPr/>
          <p:nvPr/>
        </p:nvSpPr>
        <p:spPr>
          <a:xfrm>
            <a:off x="1583741" y="3970325"/>
            <a:ext cx="6035040" cy="713232"/>
          </a:xfrm>
          <a:prstGeom prst="round1Rect">
            <a:avLst>
              <a:gd name="adj" fmla="val 23087"/>
            </a:avLst>
          </a:prstGeom>
          <a:solidFill>
            <a:srgbClr val="FFFFFF"/>
          </a:solidFill>
          <a:ln/>
        </p:spPr>
        <p:txBody>
          <a:bodyPr/>
          <a:p/>
        </p:txBody>
      </p:sp>
      <p:sp>
        <p:nvSpPr>
          <p:cNvPr id="42" name="R3 chip"/>
          <p:cNvSpPr/>
          <p:nvPr/>
        </p:nvSpPr>
        <p:spPr>
          <a:xfrm>
            <a:off x="544982" y="3970325"/>
            <a:ext cx="1039673" cy="713232"/>
          </a:xfrm>
          <a:prstGeom prst="rect">
            <a:avLst/>
          </a:prstGeom>
          <a:solidFill>
            <a:srgbClr val="B9D2F7"/>
          </a:solidFill>
          <a:ln/>
        </p:spPr>
        <p:txBody>
          <a:bodyPr/>
          <a:p/>
        </p:txBody>
      </p:sp>
      <p:sp>
        <p:nvSpPr>
          <p:cNvPr id="43" name="R3 num"/>
          <p:cNvSpPr/>
          <p:nvPr/>
        </p:nvSpPr>
        <p:spPr>
          <a:xfrm>
            <a:off x="686714" y="4034333"/>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970325"/>
            <a:ext cx="2395728" cy="713232"/>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Why has Joseph traveled to many states?</a:t>
            </a:r>
            <a:endParaRPr lang="en-US" sz="1600" dirty="0"/>
          </a:p>
        </p:txBody>
      </p:sp>
      <p:sp>
        <p:nvSpPr>
          <p:cNvPr id="45" name="R3 ans"/>
          <p:cNvSpPr/>
          <p:nvPr/>
        </p:nvSpPr>
        <p:spPr>
          <a:xfrm>
            <a:off x="4279392" y="4098341"/>
            <a:ext cx="32918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Because he drives a truck.</a:t>
            </a:r>
            <a:endParaRPr lang="en-US" sz="1500" dirty="0" b="1"/>
          </a:p>
        </p:txBody>
      </p:sp>
      <p:sp>
        <p:nvSpPr>
          <p:cNvPr id="46" name="R4 card"/>
          <p:cNvSpPr/>
          <p:nvPr/>
        </p:nvSpPr>
        <p:spPr>
          <a:xfrm>
            <a:off x="1583741" y="4756709"/>
            <a:ext cx="6035040" cy="713232"/>
          </a:xfrm>
          <a:prstGeom prst="round1Rect">
            <a:avLst>
              <a:gd name="adj" fmla="val 23087"/>
            </a:avLst>
          </a:prstGeom>
          <a:solidFill>
            <a:srgbClr val="FFFFFF"/>
          </a:solidFill>
          <a:ln/>
        </p:spPr>
        <p:txBody>
          <a:bodyPr/>
          <a:p/>
        </p:txBody>
      </p:sp>
      <p:sp>
        <p:nvSpPr>
          <p:cNvPr id="47" name="R4 chip"/>
          <p:cNvSpPr/>
          <p:nvPr/>
        </p:nvSpPr>
        <p:spPr>
          <a:xfrm>
            <a:off x="544982" y="4756709"/>
            <a:ext cx="1039673" cy="713232"/>
          </a:xfrm>
          <a:prstGeom prst="rect">
            <a:avLst/>
          </a:prstGeom>
          <a:solidFill>
            <a:srgbClr val="B9D2F7"/>
          </a:solidFill>
          <a:ln/>
        </p:spPr>
        <p:txBody>
          <a:bodyPr/>
          <a:p/>
        </p:txBody>
      </p:sp>
      <p:sp>
        <p:nvSpPr>
          <p:cNvPr id="48" name="R4 num"/>
          <p:cNvSpPr/>
          <p:nvPr/>
        </p:nvSpPr>
        <p:spPr>
          <a:xfrm>
            <a:off x="686714" y="4820717"/>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756709"/>
            <a:ext cx="2395728" cy="713232"/>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What has Joseph never done?</a:t>
            </a:r>
            <a:endParaRPr lang="en-US" sz="1600" dirty="0"/>
          </a:p>
        </p:txBody>
      </p:sp>
      <p:sp>
        <p:nvSpPr>
          <p:cNvPr id="50" name="R4 ans"/>
          <p:cNvSpPr/>
          <p:nvPr/>
        </p:nvSpPr>
        <p:spPr>
          <a:xfrm>
            <a:off x="4279392" y="4884725"/>
            <a:ext cx="32918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He's never flown in a plane.</a:t>
            </a:r>
            <a:endParaRPr lang="en-US" sz="1500" dirty="0" b="1"/>
          </a:p>
        </p:txBody>
      </p:sp>
      <p:sp>
        <p:nvSpPr>
          <p:cNvPr id="51" name="R5 card"/>
          <p:cNvSpPr/>
          <p:nvPr/>
        </p:nvSpPr>
        <p:spPr>
          <a:xfrm>
            <a:off x="1583741" y="5543093"/>
            <a:ext cx="6035040" cy="713232"/>
          </a:xfrm>
          <a:prstGeom prst="round1Rect">
            <a:avLst>
              <a:gd name="adj" fmla="val 23087"/>
            </a:avLst>
          </a:prstGeom>
          <a:solidFill>
            <a:srgbClr val="FFFFFF"/>
          </a:solidFill>
          <a:ln/>
        </p:spPr>
        <p:txBody>
          <a:bodyPr/>
          <a:p/>
        </p:txBody>
      </p:sp>
      <p:sp>
        <p:nvSpPr>
          <p:cNvPr id="52" name="R5 chip"/>
          <p:cNvSpPr/>
          <p:nvPr/>
        </p:nvSpPr>
        <p:spPr>
          <a:xfrm>
            <a:off x="544982" y="5543093"/>
            <a:ext cx="1039673" cy="713232"/>
          </a:xfrm>
          <a:prstGeom prst="rect">
            <a:avLst/>
          </a:prstGeom>
          <a:solidFill>
            <a:srgbClr val="B9D2F7"/>
          </a:solidFill>
          <a:ln/>
        </p:spPr>
        <p:txBody>
          <a:bodyPr/>
          <a:p/>
        </p:txBody>
      </p:sp>
      <p:sp>
        <p:nvSpPr>
          <p:cNvPr id="53" name="R5 num"/>
          <p:cNvSpPr/>
          <p:nvPr/>
        </p:nvSpPr>
        <p:spPr>
          <a:xfrm>
            <a:off x="686714" y="5607101"/>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543093"/>
            <a:ext cx="2395728" cy="713232"/>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What did Linh do last year?</a:t>
            </a:r>
            <a:endParaRPr lang="en-US" sz="1600" dirty="0"/>
          </a:p>
        </p:txBody>
      </p:sp>
      <p:sp>
        <p:nvSpPr>
          <p:cNvPr id="55" name="R5 ans"/>
          <p:cNvSpPr/>
          <p:nvPr/>
        </p:nvSpPr>
        <p:spPr>
          <a:xfrm>
            <a:off x="4279392" y="5671109"/>
            <a:ext cx="32918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She ran her first race (a 5K).</a:t>
            </a:r>
            <a:endParaRPr lang="en-US" sz="15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p="http://schemas.openxmlformats.org/presentationml/2006/main" xmlns:r="http://schemas.openxmlformats.org/officeDocument/2006/relationships">
  <p:cSld name="L4:numlist">
    <p:bg>
      <p:bgPr>
        <a:solidFill>
          <a:srgbClr val="F1F5FB"/>
        </a:solidFill>
      </p:bgPr>
    </p:bg>
    <p:spTree>
      <p:nvGrpSpPr>
        <p:cNvPr id="1" name=""/>
        <p:cNvGrpSpPr/>
        <p:nvPr/>
      </p:nvGrpSpPr>
      <p:grpSpPr/>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Can-Do</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Self-Check</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400"/>
              </a:spcAft>
              <a:buNone/>
            </a:pPr>
            <a:r>
              <a:rPr lang="en-US" sz="1800" dirty="0">
                <a:solidFill>
                  <a:srgbClr val="1B2236"/>
                </a:solidFill>
                <a:latin typeface="Lexend Deca" pitchFamily="34" charset="0"/>
                <a:ea typeface="Lexend Deca" pitchFamily="34" charset="-122"/>
                <a:cs typeface="Lexend Deca" pitchFamily="34" charset="-120"/>
              </a:rPr>
              <a:t>Check one face for each line.</a:t>
            </a:r>
            <a:endParaRPr lang="en-US" sz="1800" dirty="0"/>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 I can do it.</a:t>
            </a:r>
            <a:endParaRPr lang="en-US" sz="1800" dirty="0" b="1"/>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 With a little help.</a:t>
            </a:r>
            <a:endParaRPr lang="en-US" sz="1800" dirty="0" b="1"/>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 Not yet.</a:t>
            </a:r>
            <a:endParaRPr lang="en-US" sz="1800" dirty="0" b="1"/>
          </a:p>
        </p:txBody>
      </p:sp>
      <p:sp>
        <p:nvSpPr>
          <p:cNvPr id="31" name="R1 shadow"/>
          <p:cNvSpPr/>
          <p:nvPr/>
        </p:nvSpPr>
        <p:spPr>
          <a:xfrm>
            <a:off x="544982" y="2471623"/>
            <a:ext cx="6227064" cy="602590"/>
          </a:xfrm>
          <a:prstGeom prst="round1Rect">
            <a:avLst>
              <a:gd name="adj" fmla="val 23087"/>
            </a:avLst>
          </a:prstGeom>
          <a:solidFill>
            <a:srgbClr val="8FAFE3"/>
          </a:solidFill>
          <a:ln/>
        </p:spPr>
        <p:txBody>
          <a:bodyPr/>
          <a:p/>
        </p:txBody>
      </p:sp>
      <p:sp>
        <p:nvSpPr>
          <p:cNvPr id="32" name="R1 card"/>
          <p:cNvSpPr/>
          <p:nvPr/>
        </p:nvSpPr>
        <p:spPr>
          <a:xfrm>
            <a:off x="1583741" y="2414016"/>
            <a:ext cx="5130698" cy="602590"/>
          </a:xfrm>
          <a:prstGeom prst="round1Rect">
            <a:avLst>
              <a:gd name="adj" fmla="val 23087"/>
            </a:avLst>
          </a:prstGeom>
          <a:solidFill>
            <a:srgbClr val="FFFFFF"/>
          </a:solidFill>
          <a:ln/>
        </p:spPr>
        <p:txBody>
          <a:bodyPr/>
          <a:p/>
        </p:txBody>
      </p:sp>
      <p:sp>
        <p:nvSpPr>
          <p:cNvPr id="33" name="R1 chip"/>
          <p:cNvSpPr/>
          <p:nvPr/>
        </p:nvSpPr>
        <p:spPr>
          <a:xfrm>
            <a:off x="544982" y="2414016"/>
            <a:ext cx="1039673" cy="602590"/>
          </a:xfrm>
          <a:prstGeom prst="rect">
            <a:avLst/>
          </a:prstGeom>
          <a:solidFill>
            <a:srgbClr val="B9D2F7"/>
          </a:solidFill>
          <a:ln/>
        </p:spPr>
        <p:txBody>
          <a:bodyPr/>
          <a:p/>
        </p:txBody>
      </p:sp>
      <p:sp>
        <p:nvSpPr>
          <p:cNvPr id="34" name="R1 num"/>
          <p:cNvSpPr/>
          <p:nvPr/>
        </p:nvSpPr>
        <p:spPr>
          <a:xfrm>
            <a:off x="686714" y="2414016"/>
            <a:ext cx="1109167" cy="602590"/>
          </a:xfrm>
          <a:prstGeom prst="rect">
            <a:avLst/>
          </a:prstGeom>
          <a:noFill/>
          <a:ln/>
        </p:spPr>
        <p:txBody>
          <a:bodyPr wrap="square" rtlCol="0" anchor="t"/>
          <a:lstStyle/>
          <a:p>
            <a:pPr algn="l" indent="0" marL="0">
              <a:buNone/>
            </a:pPr>
            <a:r>
              <a:rPr lang="en-US" sz="3600" b="1" dirty="0">
                <a:solidFill>
                  <a:srgbClr val="1B2236"/>
                </a:solidFill>
                <a:latin typeface="Lexend Deca" pitchFamily="34" charset="0"/>
                <a:ea typeface="Lexend Deca" pitchFamily="34" charset="-122"/>
                <a:cs typeface="Lexend Deca" pitchFamily="34" charset="-120"/>
              </a:rPr>
              <a:t>01</a:t>
            </a:r>
            <a:endParaRPr lang="en-US" sz="3600" b="1" dirty="0"/>
          </a:p>
        </p:txBody>
      </p:sp>
      <p:sp>
        <p:nvSpPr>
          <p:cNvPr id="35" name="R1 text"/>
          <p:cNvSpPr/>
          <p:nvPr/>
        </p:nvSpPr>
        <p:spPr>
          <a:xfrm>
            <a:off x="1810512" y="2414016"/>
            <a:ext cx="4434840" cy="602590"/>
          </a:xfrm>
          <a:prstGeom prst="rect">
            <a:avLst/>
          </a:prstGeom>
          <a:noFill/>
          <a:ln/>
        </p:spPr>
        <p:txBody>
          <a:bodyPr wrap="square" rtlCol="0" anchor="ct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can ask </a:t>
            </a:r>
            <a:r>
              <a:rPr lang="en-US" sz="1700" dirty="0" b="1">
                <a:solidFill>
                  <a:srgbClr val="5B3FC4"/>
                </a:solidFill>
                <a:latin typeface="Lexend Deca" pitchFamily="34" charset="0"/>
                <a:ea typeface="Lexend Deca" pitchFamily="34" charset="-122"/>
                <a:cs typeface="Lexend Deca" pitchFamily="34" charset="-120"/>
              </a:rPr>
              <a:t>Have you ever…?</a:t>
            </a:r>
            <a:endParaRPr lang="en-US" sz="1700" dirty="0"/>
          </a:p>
        </p:txBody>
      </p:sp>
      <p:sp>
        <p:nvSpPr>
          <p:cNvPr id="36" name="R1 dot"/>
          <p:cNvSpPr/>
          <p:nvPr/>
        </p:nvSpPr>
        <p:spPr>
          <a:xfrm rot="10800000">
            <a:off x="6361481" y="2547518"/>
            <a:ext cx="88697" cy="76810"/>
          </a:xfrm>
          <a:prstGeom prst="triangle">
            <a:avLst/>
          </a:prstGeom>
          <a:solidFill>
            <a:srgbClr val="8FAFE3"/>
          </a:solidFill>
          <a:ln/>
        </p:spPr>
        <p:txBody>
          <a:bodyPr/>
          <a:p/>
        </p:txBody>
      </p:sp>
      <p:sp>
        <p:nvSpPr>
          <p:cNvPr id="37" name="R2 card"/>
          <p:cNvSpPr/>
          <p:nvPr/>
        </p:nvSpPr>
        <p:spPr>
          <a:xfrm>
            <a:off x="1583741" y="3125419"/>
            <a:ext cx="5130698" cy="602590"/>
          </a:xfrm>
          <a:prstGeom prst="round1Rect">
            <a:avLst>
              <a:gd name="adj" fmla="val 23087"/>
            </a:avLst>
          </a:prstGeom>
          <a:solidFill>
            <a:srgbClr val="FFFFFF"/>
          </a:solidFill>
          <a:ln/>
        </p:spPr>
        <p:txBody>
          <a:bodyPr/>
          <a:p/>
        </p:txBody>
      </p:sp>
      <p:sp>
        <p:nvSpPr>
          <p:cNvPr id="38" name="R2 chip"/>
          <p:cNvSpPr/>
          <p:nvPr/>
        </p:nvSpPr>
        <p:spPr>
          <a:xfrm>
            <a:off x="544982" y="3125419"/>
            <a:ext cx="1039673" cy="602590"/>
          </a:xfrm>
          <a:prstGeom prst="rect">
            <a:avLst/>
          </a:prstGeom>
          <a:solidFill>
            <a:srgbClr val="B9D2F7"/>
          </a:solidFill>
          <a:ln/>
        </p:spPr>
        <p:txBody>
          <a:bodyPr/>
          <a:p/>
        </p:txBody>
      </p:sp>
      <p:sp>
        <p:nvSpPr>
          <p:cNvPr id="39" name="R2 num"/>
          <p:cNvSpPr/>
          <p:nvPr/>
        </p:nvSpPr>
        <p:spPr>
          <a:xfrm>
            <a:off x="686714" y="312541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02</a:t>
            </a:r>
            <a:endParaRPr lang="en-US" sz="3200" b="1" dirty="0"/>
          </a:p>
        </p:txBody>
      </p:sp>
      <p:sp>
        <p:nvSpPr>
          <p:cNvPr id="40" name="R2 text"/>
          <p:cNvSpPr/>
          <p:nvPr/>
        </p:nvSpPr>
        <p:spPr>
          <a:xfrm>
            <a:off x="1810512" y="3125419"/>
            <a:ext cx="4434840" cy="602590"/>
          </a:xfrm>
          <a:prstGeom prst="rect">
            <a:avLst/>
          </a:prstGeom>
          <a:noFill/>
          <a:ln/>
        </p:spPr>
        <p:txBody>
          <a:bodyPr wrap="square" rtlCol="0" anchor="ct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can answer </a:t>
            </a:r>
            <a:r>
              <a:rPr lang="en-US" sz="1700" dirty="0" b="1">
                <a:solidFill>
                  <a:srgbClr val="5B3FC4"/>
                </a:solidFill>
                <a:latin typeface="Lexend Deca" pitchFamily="34" charset="0"/>
                <a:ea typeface="Lexend Deca" pitchFamily="34" charset="-122"/>
                <a:cs typeface="Lexend Deca" pitchFamily="34" charset="-120"/>
              </a:rPr>
              <a:t>Yes, I have.</a:t>
            </a:r>
            <a:r>
              <a:rPr lang="en-US" sz="1700" dirty="0">
                <a:solidFill>
                  <a:srgbClr val="1B2236"/>
                </a:solidFill>
                <a:latin typeface="Lexend Deca" pitchFamily="34" charset="0"/>
                <a:ea typeface="Lexend Deca" pitchFamily="34" charset="-122"/>
                <a:cs typeface="Lexend Deca" pitchFamily="34" charset="-120"/>
              </a:rPr>
              <a:t> / </a:t>
            </a:r>
            <a:r>
              <a:rPr lang="en-US" sz="1700" dirty="0" b="1">
                <a:solidFill>
                  <a:srgbClr val="5B3FC4"/>
                </a:solidFill>
                <a:latin typeface="Lexend Deca" pitchFamily="34" charset="0"/>
                <a:ea typeface="Lexend Deca" pitchFamily="34" charset="-122"/>
                <a:cs typeface="Lexend Deca" pitchFamily="34" charset="-120"/>
              </a:rPr>
              <a:t>No, I've never…</a:t>
            </a:r>
            <a:endParaRPr lang="en-US" sz="1700" dirty="0"/>
          </a:p>
        </p:txBody>
      </p:sp>
      <p:sp>
        <p:nvSpPr>
          <p:cNvPr id="41" name="R2 dot"/>
          <p:cNvSpPr/>
          <p:nvPr/>
        </p:nvSpPr>
        <p:spPr>
          <a:xfrm rot="10800000">
            <a:off x="6361481" y="3258922"/>
            <a:ext cx="88697" cy="76810"/>
          </a:xfrm>
          <a:prstGeom prst="triangle">
            <a:avLst/>
          </a:prstGeom>
          <a:solidFill>
            <a:srgbClr val="8FAFE3"/>
          </a:solidFill>
          <a:ln/>
        </p:spPr>
        <p:txBody>
          <a:bodyPr/>
          <a:p/>
        </p:txBody>
      </p:sp>
      <p:sp>
        <p:nvSpPr>
          <p:cNvPr id="42" name="R3 card"/>
          <p:cNvSpPr/>
          <p:nvPr/>
        </p:nvSpPr>
        <p:spPr>
          <a:xfrm>
            <a:off x="1583741" y="3836822"/>
            <a:ext cx="5130698" cy="602590"/>
          </a:xfrm>
          <a:prstGeom prst="round1Rect">
            <a:avLst>
              <a:gd name="adj" fmla="val 23087"/>
            </a:avLst>
          </a:prstGeom>
          <a:solidFill>
            <a:srgbClr val="FFFFFF"/>
          </a:solidFill>
          <a:ln/>
        </p:spPr>
        <p:txBody>
          <a:bodyPr/>
          <a:p/>
        </p:txBody>
      </p:sp>
      <p:sp>
        <p:nvSpPr>
          <p:cNvPr id="43" name="R3 chip"/>
          <p:cNvSpPr/>
          <p:nvPr/>
        </p:nvSpPr>
        <p:spPr>
          <a:xfrm>
            <a:off x="544982" y="3836822"/>
            <a:ext cx="1039673" cy="602590"/>
          </a:xfrm>
          <a:prstGeom prst="rect">
            <a:avLst/>
          </a:prstGeom>
          <a:solidFill>
            <a:srgbClr val="B9D2F7"/>
          </a:solidFill>
          <a:ln/>
        </p:spPr>
        <p:txBody>
          <a:bodyPr/>
          <a:p/>
        </p:txBody>
      </p:sp>
      <p:sp>
        <p:nvSpPr>
          <p:cNvPr id="44" name="R3 num"/>
          <p:cNvSpPr/>
          <p:nvPr/>
        </p:nvSpPr>
        <p:spPr>
          <a:xfrm>
            <a:off x="686714" y="3836822"/>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03</a:t>
            </a:r>
            <a:endParaRPr lang="en-US" sz="3200" b="1" dirty="0"/>
          </a:p>
        </p:txBody>
      </p:sp>
      <p:sp>
        <p:nvSpPr>
          <p:cNvPr id="45" name="R3 text"/>
          <p:cNvSpPr/>
          <p:nvPr/>
        </p:nvSpPr>
        <p:spPr>
          <a:xfrm>
            <a:off x="1810512" y="3836822"/>
            <a:ext cx="4434840" cy="602590"/>
          </a:xfrm>
          <a:prstGeom prst="rect">
            <a:avLst/>
          </a:prstGeom>
          <a:noFill/>
          <a:ln/>
        </p:spPr>
        <p:txBody>
          <a:bodyPr wrap="square" rtlCol="0" anchor="ct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can ask a follow-up in the past (</a:t>
            </a:r>
            <a:r>
              <a:rPr lang="en-US" sz="1700" dirty="0" b="1">
                <a:solidFill>
                  <a:srgbClr val="5B3FC4"/>
                </a:solidFill>
                <a:latin typeface="Lexend Deca" pitchFamily="34" charset="0"/>
                <a:ea typeface="Lexend Deca" pitchFamily="34" charset="-122"/>
                <a:cs typeface="Lexend Deca" pitchFamily="34" charset="-120"/>
              </a:rPr>
              <a:t>When did you…? How was it?</a:t>
            </a:r>
            <a:r>
              <a:rPr lang="en-US" sz="1700" dirty="0">
                <a:solidFill>
                  <a:srgbClr val="1B2236"/>
                </a:solidFill>
                <a:latin typeface="Lexend Deca" pitchFamily="34" charset="0"/>
                <a:ea typeface="Lexend Deca" pitchFamily="34" charset="-122"/>
                <a:cs typeface="Lexend Deca" pitchFamily="34" charset="-120"/>
              </a:rPr>
              <a:t>).</a:t>
            </a:r>
            <a:endParaRPr lang="en-US" sz="1700" dirty="0"/>
          </a:p>
        </p:txBody>
      </p:sp>
      <p:sp>
        <p:nvSpPr>
          <p:cNvPr id="46" name="R3 dot"/>
          <p:cNvSpPr/>
          <p:nvPr/>
        </p:nvSpPr>
        <p:spPr>
          <a:xfrm rot="10800000">
            <a:off x="6361481" y="3970325"/>
            <a:ext cx="88697" cy="76810"/>
          </a:xfrm>
          <a:prstGeom prst="triangle">
            <a:avLst/>
          </a:prstGeom>
          <a:solidFill>
            <a:srgbClr val="8FAFE3"/>
          </a:solidFill>
          <a:ln/>
        </p:spPr>
        <p:txBody>
          <a:bodyPr/>
          <a:p/>
        </p:txBody>
      </p:sp>
      <p:sp>
        <p:nvSpPr>
          <p:cNvPr id="47" name="R4 card"/>
          <p:cNvSpPr/>
          <p:nvPr/>
        </p:nvSpPr>
        <p:spPr>
          <a:xfrm>
            <a:off x="1583741" y="4548226"/>
            <a:ext cx="5130698" cy="602590"/>
          </a:xfrm>
          <a:prstGeom prst="round1Rect">
            <a:avLst>
              <a:gd name="adj" fmla="val 23087"/>
            </a:avLst>
          </a:prstGeom>
          <a:solidFill>
            <a:srgbClr val="FFFFFF"/>
          </a:solidFill>
          <a:ln/>
        </p:spPr>
        <p:txBody>
          <a:bodyPr/>
          <a:p/>
        </p:txBody>
      </p:sp>
      <p:sp>
        <p:nvSpPr>
          <p:cNvPr id="48" name="R4 chip"/>
          <p:cNvSpPr/>
          <p:nvPr/>
        </p:nvSpPr>
        <p:spPr>
          <a:xfrm>
            <a:off x="544982" y="4548226"/>
            <a:ext cx="1039673" cy="602590"/>
          </a:xfrm>
          <a:prstGeom prst="rect">
            <a:avLst/>
          </a:prstGeom>
          <a:solidFill>
            <a:srgbClr val="B9D2F7"/>
          </a:solidFill>
          <a:ln/>
        </p:spPr>
        <p:txBody>
          <a:bodyPr/>
          <a:p/>
        </p:txBody>
      </p:sp>
      <p:sp>
        <p:nvSpPr>
          <p:cNvPr id="49" name="R4 num"/>
          <p:cNvSpPr/>
          <p:nvPr/>
        </p:nvSpPr>
        <p:spPr>
          <a:xfrm>
            <a:off x="686714" y="4548226"/>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04</a:t>
            </a:r>
            <a:endParaRPr lang="en-US" sz="3200" b="1" dirty="0"/>
          </a:p>
        </p:txBody>
      </p:sp>
      <p:sp>
        <p:nvSpPr>
          <p:cNvPr id="50" name="R4 text"/>
          <p:cNvSpPr/>
          <p:nvPr/>
        </p:nvSpPr>
        <p:spPr>
          <a:xfrm>
            <a:off x="1810512" y="4548226"/>
            <a:ext cx="4434840" cy="602590"/>
          </a:xfrm>
          <a:prstGeom prst="rect">
            <a:avLst/>
          </a:prstGeom>
          <a:noFill/>
          <a:ln/>
        </p:spPr>
        <p:txBody>
          <a:bodyPr wrap="square" rtlCol="0" anchor="ct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can tell a classmate about one experience in 3 sentences.</a:t>
            </a:r>
            <a:endParaRPr lang="en-US" sz="1700" dirty="0"/>
          </a:p>
        </p:txBody>
      </p:sp>
      <p:sp>
        <p:nvSpPr>
          <p:cNvPr id="51" name="R4 dot"/>
          <p:cNvSpPr/>
          <p:nvPr/>
        </p:nvSpPr>
        <p:spPr>
          <a:xfrm rot="10800000">
            <a:off x="6361481" y="4681728"/>
            <a:ext cx="88697" cy="76810"/>
          </a:xfrm>
          <a:prstGeom prst="triangle">
            <a:avLst/>
          </a:prstGeom>
          <a:solidFill>
            <a:srgbClr val="8FAFE3"/>
          </a:solidFill>
          <a:ln/>
        </p:spPr>
        <p:txBody>
          <a:bodyPr/>
          <a:p/>
        </p:txBody>
      </p:sp>
      <p:sp>
        <p:nvSpPr>
          <p:cNvPr id="52" name="R5 card"/>
          <p:cNvSpPr/>
          <p:nvPr/>
        </p:nvSpPr>
        <p:spPr>
          <a:xfrm>
            <a:off x="1583741" y="5259629"/>
            <a:ext cx="5130698" cy="602590"/>
          </a:xfrm>
          <a:prstGeom prst="round1Rect">
            <a:avLst>
              <a:gd name="adj" fmla="val 23087"/>
            </a:avLst>
          </a:prstGeom>
          <a:solidFill>
            <a:srgbClr val="FFFFFF"/>
          </a:solidFill>
          <a:ln/>
        </p:spPr>
        <p:txBody>
          <a:bodyPr/>
          <a:p/>
        </p:txBody>
      </p:sp>
      <p:sp>
        <p:nvSpPr>
          <p:cNvPr id="53" name="R5 chip"/>
          <p:cNvSpPr/>
          <p:nvPr/>
        </p:nvSpPr>
        <p:spPr>
          <a:xfrm>
            <a:off x="544982" y="5259629"/>
            <a:ext cx="1039673" cy="602590"/>
          </a:xfrm>
          <a:prstGeom prst="rect">
            <a:avLst/>
          </a:prstGeom>
          <a:solidFill>
            <a:srgbClr val="B9D2F7"/>
          </a:solidFill>
          <a:ln/>
        </p:spPr>
        <p:txBody>
          <a:bodyPr/>
          <a:p/>
        </p:txBody>
      </p:sp>
      <p:sp>
        <p:nvSpPr>
          <p:cNvPr id="54" name="R5 num"/>
          <p:cNvSpPr/>
          <p:nvPr/>
        </p:nvSpPr>
        <p:spPr>
          <a:xfrm>
            <a:off x="686714" y="525962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05</a:t>
            </a:r>
            <a:endParaRPr lang="en-US" sz="3200" b="1" dirty="0"/>
          </a:p>
        </p:txBody>
      </p:sp>
      <p:sp>
        <p:nvSpPr>
          <p:cNvPr id="55" name="R5 text"/>
          <p:cNvSpPr/>
          <p:nvPr/>
        </p:nvSpPr>
        <p:spPr>
          <a:xfrm>
            <a:off x="1810512" y="5259629"/>
            <a:ext cx="4434840" cy="602590"/>
          </a:xfrm>
          <a:prstGeom prst="rect">
            <a:avLst/>
          </a:prstGeom>
          <a:noFill/>
          <a:ln/>
        </p:spPr>
        <p:txBody>
          <a:bodyPr wrap="square" rtlCol="0" anchor="ct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can write a short email about myself.</a:t>
            </a:r>
            <a:endParaRPr lang="en-US" sz="1700" dirty="0"/>
          </a:p>
        </p:txBody>
      </p:sp>
      <p:sp>
        <p:nvSpPr>
          <p:cNvPr id="56" name="R5 dot"/>
          <p:cNvSpPr/>
          <p:nvPr/>
        </p:nvSpPr>
        <p:spPr>
          <a:xfrm rot="10800000">
            <a:off x="6361481" y="5393131"/>
            <a:ext cx="88697" cy="76810"/>
          </a:xfrm>
          <a:prstGeom prst="triangle">
            <a:avLst/>
          </a:prstGeom>
          <a:solidFill>
            <a:srgbClr val="8FAFE3"/>
          </a:solidFill>
          <a:ln/>
        </p:spPr>
        <p:txBody>
          <a:body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name="L4:go">
    <p:bg>
      <p:bgPr>
        <a:solidFill>
          <a:srgbClr val="F1F5FB"/>
        </a:solidFill>
      </p:bgPr>
    </p:bg>
    <p:spTree>
      <p:nvGrpSpPr>
        <p:cNvPr id="1" name=""/>
        <p:cNvGrpSpPr/>
        <p:nvPr/>
      </p:nvGrpSpPr>
      <p:grpSpPr/>
      <p:sp>
        <p:nvSpPr>
          <p:cNvPr id="2" name="Shape 0"/>
          <p:cNvSpPr/>
          <p:nvPr/>
        </p:nvSpPr>
        <p:spPr>
          <a:xfrm>
            <a:off x="544982" y="786384"/>
            <a:ext cx="5486400" cy="5731459"/>
          </a:xfrm>
          <a:prstGeom prst="rect">
            <a:avLst/>
          </a:prstGeom>
          <a:solidFill>
            <a:srgbClr val="B9D2F7"/>
          </a:solidFill>
          <a:ln/>
        </p:spPr>
        <p:txBody>
          <a:bodyPr/>
          <a:p/>
        </p:txBody>
      </p:sp>
      <p:sp>
        <p:nvSpPr>
          <p:cNvPr id="4" name="Shape 2"/>
          <p:cNvSpPr/>
          <p:nvPr/>
        </p:nvSpPr>
        <p:spPr>
          <a:xfrm>
            <a:off x="4147718" y="2196389"/>
            <a:ext cx="7699248" cy="4160520"/>
          </a:xfrm>
          <a:prstGeom prst="round1Rect">
            <a:avLst>
              <a:gd name="adj" fmla="val 23087"/>
            </a:avLst>
          </a:prstGeom>
          <a:solidFill>
            <a:srgbClr val="8FAFE3"/>
          </a:solidFill>
          <a:ln/>
        </p:spPr>
        <p:txBody>
          <a:bodyPr/>
          <a:p/>
        </p:txBody>
      </p:sp>
      <p:sp>
        <p:nvSpPr>
          <p:cNvPr id="5" name="Shape 3"/>
          <p:cNvSpPr/>
          <p:nvPr/>
        </p:nvSpPr>
        <p:spPr>
          <a:xfrm>
            <a:off x="3992270" y="1937614"/>
            <a:ext cx="7699248" cy="4160520"/>
          </a:xfrm>
          <a:prstGeom prst="round1Rect">
            <a:avLst>
              <a:gd name="adj" fmla="val 23087"/>
            </a:avLst>
          </a:prstGeom>
          <a:solidFill>
            <a:srgbClr val="FFFFFF"/>
          </a:solidFill>
          <a:ln/>
        </p:spPr>
        <p:txBody>
          <a:bodyPr/>
          <a:p/>
        </p:txBody>
      </p:sp>
      <p:sp>
        <p:nvSpPr>
          <p:cNvPr id="6" name="title"/>
          <p:cNvSpPr/>
          <p:nvPr/>
        </p:nvSpPr>
        <p:spPr>
          <a:xfrm>
            <a:off x="4343400" y="2103120"/>
            <a:ext cx="7315200" cy="822960"/>
          </a:xfrm>
          <a:prstGeom prst="rect">
            <a:avLst/>
          </a:prstGeom>
          <a:noFill/>
          <a:ln/>
        </p:spPr>
        <p:txBody>
          <a:bodyPr wrap="square" rtlCol="0" anchor="ctr"/>
          <a:lstStyle/>
          <a:p>
            <a:pPr algn="l" indent="0" marL="0">
              <a:buNone/>
            </a:pPr>
            <a:r>
              <a:rPr lang="en-US" sz="3800" dirty="0" b="1">
                <a:solidFill>
                  <a:srgbClr val="1B2236"/>
                </a:solidFill>
                <a:latin typeface="Lexend Deca" pitchFamily="34" charset="0"/>
                <a:ea typeface="Lexend Deca" pitchFamily="34" charset="-122"/>
                <a:cs typeface="Lexend Deca" pitchFamily="34" charset="-120"/>
              </a:rPr>
              <a:t>Before You Go   </a:t>
            </a:r>
            <a:r>
              <a:rPr lang="en-US" sz="2200" dirty="0" b="1">
                <a:solidFill>
                  <a:srgbClr val="5B3FC4"/>
                </a:solidFill>
                <a:latin typeface="Lexend Deca" pitchFamily="34" charset="0"/>
                <a:ea typeface="Lexend Deca" pitchFamily="34" charset="-122"/>
                <a:cs typeface="Lexend Deca" pitchFamily="34" charset="-120"/>
              </a:rPr>
              <a:t>7:25–7:30</a:t>
            </a:r>
            <a:endParaRPr lang="en-US" sz="4000" dirty="0"/>
          </a:p>
        </p:txBody>
      </p:sp>
      <p:pic>
        <p:nvPicPr>
          <p:cNvPr id="16" name="pic" descr="Try (a new food): a person and sushi [sign: NEW!]"/>
          <p:cNvPicPr>
            <a:picLocks noChangeAspect="1"/>
          </p:cNvPicPr>
          <p:nvPr/>
        </p:nvPicPr>
        <p:blipFill>
          <a:blip r:embed="rId3"/>
          <a:stretch>
            <a:fillRect/>
          </a:stretch>
        </p:blipFill>
        <p:spPr>
          <a:xfrm>
            <a:off x="777240" y="2651760"/>
            <a:ext cx="3017520" cy="2112264"/>
          </a:xfrm>
          <a:prstGeom prst="rect">
            <a:avLst/>
          </a:prstGeom>
        </p:spPr>
      </p:pic>
      <p:sp>
        <p:nvSpPr>
          <p:cNvPr id="17" name="Num 01"/>
          <p:cNvSpPr/>
          <p:nvPr/>
        </p:nvSpPr>
        <p:spPr>
          <a:xfrm>
            <a:off x="4343400" y="2971800"/>
            <a:ext cx="731520" cy="548640"/>
          </a:xfrm>
          <a:prstGeom prst="rect">
            <a:avLst/>
          </a:prstGeom>
          <a:noFill/>
          <a:ln w="38100">
            <a:noFill/>
          </a:ln>
        </p:spPr>
        <p:txBody>
          <a:bodyPr wrap="square" lIns="0" tIns="36576" rIns="0" bIns="36576" rtlCol="0" anchor="ctr">
            <a:noAutofit/>
          </a:bodyPr>
          <a:lstStyle/>
          <a:p>
            <a:pPr algn="l" indent="0" marL="0">
              <a:buNone/>
            </a:pPr>
            <a:r>
              <a:rPr lang="en-US" sz="3000" dirty="0" b="1">
                <a:solidFill>
                  <a:srgbClr val="8FAFE3"/>
                </a:solidFill>
                <a:latin typeface="Lexend Deca" pitchFamily="34" charset="0"/>
                <a:ea typeface="Lexend Deca" pitchFamily="34" charset="-122"/>
                <a:cs typeface="Lexend Deca" pitchFamily="34" charset="-120"/>
              </a:rPr>
              <a:t>01</a:t>
            </a:r>
            <a:endParaRPr lang="en-US" sz="3000" dirty="0"/>
          </a:p>
        </p:txBody>
      </p:sp>
      <p:sp>
        <p:nvSpPr>
          <p:cNvPr id="18" name="Label 01"/>
          <p:cNvSpPr/>
          <p:nvPr/>
        </p:nvSpPr>
        <p:spPr>
          <a:xfrm>
            <a:off x="5120640" y="2971800"/>
            <a:ext cx="2651760" cy="54864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Exit ticket</a:t>
            </a:r>
            <a:endParaRPr lang="en-US" sz="2200" dirty="0" b="1"/>
          </a:p>
        </p:txBody>
      </p:sp>
      <p:sp>
        <p:nvSpPr>
          <p:cNvPr id="19" name="Body 01"/>
          <p:cNvSpPr/>
          <p:nvPr/>
        </p:nvSpPr>
        <p:spPr>
          <a:xfrm>
            <a:off x="4343400" y="3520440"/>
            <a:ext cx="3520440" cy="2468880"/>
          </a:xfrm>
          <a:prstGeom prst="rect">
            <a:avLst/>
          </a:prstGeom>
          <a:noFill/>
          <a:ln w="38100">
            <a:noFill/>
          </a:ln>
        </p:spPr>
        <p:txBody>
          <a:bodyPr wrap="square" lIns="73152" tIns="36576" rIns="73152" bIns="36576" rtlCol="0" anchor="t">
            <a:noAutofit/>
          </a:bodyPr>
          <a:lstStyle/>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Answer in 3 sentences:</a:t>
            </a:r>
            <a:endParaRPr lang="en-US" sz="1600" dirty="0" b="1"/>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1. The experience (I've… / I've never…).</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2. When it happened, or why not.</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3. How it was, with because or so.</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Give it to me at the door.</a:t>
            </a:r>
            <a:endParaRPr lang="en-US" sz="1600" dirty="0" b="0"/>
          </a:p>
        </p:txBody>
      </p:sp>
      <p:sp>
        <p:nvSpPr>
          <p:cNvPr id="20" name="Num 02"/>
          <p:cNvSpPr/>
          <p:nvPr/>
        </p:nvSpPr>
        <p:spPr>
          <a:xfrm>
            <a:off x="8001000" y="2971800"/>
            <a:ext cx="731520" cy="548640"/>
          </a:xfrm>
          <a:prstGeom prst="rect">
            <a:avLst/>
          </a:prstGeom>
          <a:noFill/>
          <a:ln w="38100">
            <a:noFill/>
          </a:ln>
        </p:spPr>
        <p:txBody>
          <a:bodyPr wrap="square" lIns="0" tIns="36576" rIns="0" bIns="36576" rtlCol="0" anchor="ctr">
            <a:noAutofit/>
          </a:bodyPr>
          <a:lstStyle/>
          <a:p>
            <a:pPr algn="l" indent="0" marL="0">
              <a:buNone/>
            </a:pPr>
            <a:r>
              <a:rPr lang="en-US" sz="3000" dirty="0" b="1">
                <a:solidFill>
                  <a:srgbClr val="8FAFE3"/>
                </a:solidFill>
                <a:latin typeface="Lexend Deca" pitchFamily="34" charset="0"/>
                <a:ea typeface="Lexend Deca" pitchFamily="34" charset="-122"/>
                <a:cs typeface="Lexend Deca" pitchFamily="34" charset="-120"/>
              </a:rPr>
              <a:t>02</a:t>
            </a:r>
            <a:endParaRPr lang="en-US" sz="3000" dirty="0"/>
          </a:p>
        </p:txBody>
      </p:sp>
      <p:sp>
        <p:nvSpPr>
          <p:cNvPr id="21" name="Label 02"/>
          <p:cNvSpPr/>
          <p:nvPr/>
        </p:nvSpPr>
        <p:spPr>
          <a:xfrm>
            <a:off x="8778240" y="2971800"/>
            <a:ext cx="2651760" cy="54864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Homework</a:t>
            </a:r>
            <a:endParaRPr lang="en-US" sz="2200" dirty="0" b="1"/>
          </a:p>
        </p:txBody>
      </p:sp>
      <p:sp>
        <p:nvSpPr>
          <p:cNvPr id="22" name="Body 02"/>
          <p:cNvSpPr/>
          <p:nvPr/>
        </p:nvSpPr>
        <p:spPr>
          <a:xfrm>
            <a:off x="8001000" y="3520440"/>
            <a:ext cx="3657600" cy="2468880"/>
          </a:xfrm>
          <a:prstGeom prst="rect">
            <a:avLst/>
          </a:prstGeom>
          <a:noFill/>
          <a:ln w="38100">
            <a:noFill/>
          </a:ln>
        </p:spPr>
        <p:txBody>
          <a:bodyPr wrap="square" lIns="73152" tIns="36576" rIns="73152" bIns="36576" rtlCol="0" anchor="t">
            <a:noAutofit/>
          </a:bodyPr>
          <a:lstStyle/>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About 15–20 minutes.</a:t>
            </a:r>
            <a:endParaRPr lang="en-US" sz="1600" dirty="0" b="1"/>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1. Write the sentence. Use the words.</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2. Finish your email (Read &amp; Write C).</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3. Ask 3 questions with Have you ever…?</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4. Review: the simple past.</a:t>
            </a:r>
            <a:endParaRPr lang="en-US" sz="1600" dirty="0" b="0"/>
          </a:p>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Bring it next week!</a:t>
            </a:r>
            <a:endParaRPr lang="en-US" sz="1600" dirty="0" b="1"/>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name="L4:goodbye">
    <p:bg>
      <p:bgPr>
        <a:solidFill>
          <a:srgbClr val="F1F5FB"/>
        </a:solidFill>
      </p:bgPr>
    </p:bg>
    <p:spTree>
      <p:nvGrpSpPr>
        <p:cNvPr id="1" name=""/>
        <p:cNvGrpSpPr/>
        <p:nvPr/>
      </p:nvGrpSpPr>
      <p:grpSpPr/>
      <p:sp>
        <p:nvSpPr>
          <p:cNvPr id="2" name="Shape 0"/>
          <p:cNvSpPr/>
          <p:nvPr/>
        </p:nvSpPr>
        <p:spPr>
          <a:xfrm>
            <a:off x="7223760" y="914400"/>
            <a:ext cx="4480560" cy="5120640"/>
          </a:xfrm>
          <a:prstGeom prst="round1Rect">
            <a:avLst>
              <a:gd name="adj" fmla="val 23087"/>
            </a:avLst>
          </a:prstGeom>
          <a:solidFill>
            <a:srgbClr val="B9D2F7"/>
          </a:solidFill>
          <a:ln/>
        </p:spPr>
        <p:txBody>
          <a:bodyPr/>
          <a:p/>
        </p:txBody>
      </p:sp>
      <p:pic>
        <p:nvPicPr>
          <p:cNvPr id="4" name="pic" descr="Mountain: a snowy mountain">    </p:cNvPr>
          <p:cNvPicPr>
            <a:picLocks noChangeAspect="1"/>
          </p:cNvPicPr>
          <p:nvPr/>
        </p:nvPicPr>
        <p:blipFill>
          <a:blip r:embed="rId3"/>
          <a:stretch>
            <a:fillRect/>
          </a:stretch>
        </p:blipFill>
        <p:spPr>
          <a:xfrm>
            <a:off x="7726680" y="1664208"/>
            <a:ext cx="3474720" cy="2432304"/>
          </a:xfrm>
          <a:prstGeom prst="rect">
            <a:avLst/>
          </a:prstGeom>
        </p:spPr>
      </p:pic>
      <p:sp>
        <p:nvSpPr>
          <p:cNvPr id="5" name="lesson"/>
          <p:cNvSpPr/>
          <p:nvPr/>
        </p:nvSpPr>
        <p:spPr>
          <a:xfrm>
            <a:off x="7635240" y="4434840"/>
            <a:ext cx="3657600" cy="548640"/>
          </a:xfrm>
          <a:prstGeom prst="rect">
            <a:avLst/>
          </a:prstGeom>
          <a:noFill/>
          <a:ln/>
        </p:spPr>
        <p:txBody>
          <a:bodyPr wrap="square" rtlCol="0" anchor="ctr"/>
          <a:lstStyle/>
          <a:p>
            <a:pPr algn="ctr" indent="0" marL="0">
              <a:buNone/>
            </a:pPr>
            <a:r>
              <a:rPr lang="en-US" sz="2200" b="1" dirty="0">
                <a:solidFill>
                  <a:srgbClr val="1B2236"/>
                </a:solidFill>
                <a:latin typeface="Lexend Deca" pitchFamily="34" charset="0"/>
                <a:ea typeface="Lexend Deca" pitchFamily="34" charset="-122"/>
                <a:cs typeface="Lexend Deca" pitchFamily="34" charset="-120"/>
              </a:rPr>
              <a:t>Lesson 1  ·  Level 4</a:t>
            </a:r>
            <a:endParaRPr lang="en-US" sz="2200" b="1" dirty="0"/>
          </a:p>
        </p:txBody>
      </p:sp>
      <p:sp>
        <p:nvSpPr>
          <p:cNvPr id="6" name="Shape 3"/>
          <p:cNvSpPr/>
          <p:nvPr/>
        </p:nvSpPr>
        <p:spPr>
          <a:xfrm>
            <a:off x="661111" y="1146658"/>
            <a:ext cx="6035040" cy="2468880"/>
          </a:xfrm>
          <a:prstGeom prst="roundRect">
            <a:avLst>
              <a:gd name="adj" fmla="val 16667"/>
            </a:avLst>
          </a:prstGeom>
          <a:solidFill>
            <a:srgbClr val="8FAFE3"/>
          </a:solidFill>
          <a:ln/>
        </p:spPr>
        <p:txBody>
          <a:bodyPr/>
          <a:p/>
        </p:txBody>
      </p:sp>
      <p:sp>
        <p:nvSpPr>
          <p:cNvPr id="7" name="Shape 4"/>
          <p:cNvSpPr/>
          <p:nvPr/>
        </p:nvSpPr>
        <p:spPr>
          <a:xfrm>
            <a:off x="685800" y="1097280"/>
            <a:ext cx="6035040" cy="2468880"/>
          </a:xfrm>
          <a:prstGeom prst="roundRect">
            <a:avLst>
              <a:gd name="adj" fmla="val 16667"/>
            </a:avLst>
          </a:prstGeom>
          <a:solidFill>
            <a:srgbClr val="FFFFFF"/>
          </a:solidFill>
          <a:ln/>
        </p:spPr>
        <p:txBody>
          <a:bodyPr/>
          <a:p/>
        </p:txBody>
      </p:sp>
      <p:sp>
        <p:nvSpPr>
          <p:cNvPr id="8" name="title"/>
          <p:cNvSpPr/>
          <p:nvPr/>
        </p:nvSpPr>
        <p:spPr>
          <a:xfrm>
            <a:off x="868680" y="1325880"/>
            <a:ext cx="5806440" cy="2011680"/>
          </a:xfrm>
          <a:prstGeom prst="rect">
            <a:avLst/>
          </a:prstGeom>
          <a:noFill/>
          <a:ln/>
        </p:spPr>
        <p:txBody>
          <a:bodyPr wrap="square" rtlCol="0" anchor="ctr"/>
          <a:lstStyle/>
          <a:p>
            <a:pPr algn="l" indent="0" marL="0">
              <a:lnSpc>
                <a:spcPct val="90000"/>
              </a:lnSpc>
              <a:buNone/>
            </a:pPr>
            <a:r>
              <a:rPr lang="en-US" sz="4400" b="1" dirty="0">
                <a:solidFill>
                  <a:srgbClr val="1B2236"/>
                </a:solidFill>
                <a:latin typeface="Lexend Deca" pitchFamily="34" charset="0"/>
                <a:ea typeface="Lexend Deca" pitchFamily="34" charset="-122"/>
                <a:cs typeface="Lexend Deca" pitchFamily="34" charset="-120"/>
              </a:rPr>
              <a:t>Goodbye! See You Next Week!</a:t>
            </a:r>
            <a:endParaRPr lang="en-US" sz="4400" b="1" dirty="0"/>
          </a:p>
        </p:txBody>
      </p:sp>
      <p:sp>
        <p:nvSpPr>
          <p:cNvPr id="9" name="lead"/>
          <p:cNvSpPr/>
          <p:nvPr/>
        </p:nvSpPr>
        <p:spPr>
          <a:xfrm>
            <a:off x="777240" y="3977640"/>
            <a:ext cx="5852160" cy="502920"/>
          </a:xfrm>
          <a:prstGeom prst="rect">
            <a:avLst/>
          </a:prstGeom>
          <a:noFill/>
          <a:ln/>
        </p:spPr>
        <p:txBody>
          <a:bodyPr wrap="square" rtlCol="0" anchor="t"/>
          <a:lstStyle/>
          <a:p>
            <a:pPr algn="l" indent="0" marL="0">
              <a:buNone/>
            </a:pPr>
            <a:r>
              <a:rPr lang="en-US" sz="2400" b="1" dirty="0">
                <a:solidFill>
                  <a:srgbClr val="1B2236"/>
                </a:solidFill>
                <a:latin typeface="Lexend Deca" pitchFamily="34" charset="0"/>
                <a:ea typeface="Lexend Deca" pitchFamily="34" charset="-122"/>
                <a:cs typeface="Lexend Deca" pitchFamily="34" charset="-120"/>
              </a:rPr>
              <a:t>Now you can:</a:t>
            </a:r>
            <a:endParaRPr lang="en-US" sz="2400" b="1" dirty="0"/>
          </a:p>
        </p:txBody>
      </p:sp>
      <p:sp>
        <p:nvSpPr>
          <p:cNvPr id="10" name="bullets"/>
          <p:cNvSpPr/>
          <p:nvPr/>
        </p:nvSpPr>
        <p:spPr>
          <a:xfrm>
            <a:off x="777240" y="4480560"/>
            <a:ext cx="6035040" cy="1737360"/>
          </a:xfrm>
          <a:prstGeom prst="rect">
            <a:avLst/>
          </a:prstGeom>
          <a:noFill/>
          <a:ln/>
        </p:spPr>
        <p:txBody>
          <a:bodyPr wrap="square" rtlCol="0" anchor="t"/>
          <a:lstStyle/>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Ask and answer Have you ever…?</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Ask a follow-up in the simple past</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Tell a classmate about one experience</a:t>
            </a:r>
            <a:endParaRPr lang="en-US" sz="22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name="L4:credits">
    <p:bg>
      <p:bgPr>
        <a:solidFill>
          <a:srgbClr val="C9B8F2"/>
        </a:solidFill>
      </p:bgPr>
    </p:bg>
    <p:spTree>
      <p:nvGrpSpPr>
        <p:cNvPr id="1" name=""/>
        <p:cNvGrpSpPr/>
        <p:nvPr/>
      </p:nvGrpSpPr>
      <p:grpSpPr/>
      <p:sp>
        <p:nvSpPr>
          <p:cNvPr id="2" name="Shape 0"/>
          <p:cNvSpPr/>
          <p:nvPr/>
        </p:nvSpPr>
        <p:spPr>
          <a:xfrm>
            <a:off x="0" y="0"/>
            <a:ext cx="12191695" cy="6858000"/>
          </a:xfrm>
          <a:prstGeom prst="rect">
            <a:avLst/>
          </a:prstGeom>
          <a:solidFill>
            <a:srgbClr val="DCE6F5"/>
          </a:solidFill>
          <a:ln/>
        </p:spPr>
        <p:txBody>
          <a:bodyPr/>
          <a:p/>
        </p:txBody>
      </p:sp>
      <p:sp>
        <p:nvSpPr>
          <p:cNvPr id="4" name="Shape 2"/>
          <p:cNvSpPr/>
          <p:nvPr/>
        </p:nvSpPr>
        <p:spPr>
          <a:xfrm>
            <a:off x="0" y="1371600"/>
            <a:ext cx="12191695" cy="5486400"/>
          </a:xfrm>
          <a:prstGeom prst="round1Rect">
            <a:avLst>
              <a:gd name="adj" fmla="val 23087"/>
            </a:avLst>
          </a:prstGeom>
          <a:solidFill>
            <a:srgbClr val="B9D2F7"/>
          </a:solidFill>
          <a:ln/>
        </p:spPr>
        <p:txBody>
          <a:bodyPr/>
          <a:p/>
        </p:txBody>
      </p:sp>
      <p:sp>
        <p:nvSpPr>
          <p:cNvPr id="5" name="Shape 3"/>
          <p:cNvSpPr/>
          <p:nvPr/>
        </p:nvSpPr>
        <p:spPr>
          <a:xfrm>
            <a:off x="518465" y="431597"/>
            <a:ext cx="5361127" cy="1595628"/>
          </a:xfrm>
          <a:prstGeom prst="roundRect">
            <a:avLst>
              <a:gd name="adj" fmla="val 16667"/>
            </a:avLst>
          </a:prstGeom>
          <a:solidFill>
            <a:srgbClr val="8FAFE3"/>
          </a:solidFill>
          <a:ln/>
        </p:spPr>
        <p:txBody>
          <a:bodyPr/>
          <a:p/>
        </p:txBody>
      </p:sp>
      <p:sp>
        <p:nvSpPr>
          <p:cNvPr id="6" name="Shape 4"/>
          <p:cNvSpPr/>
          <p:nvPr/>
        </p:nvSpPr>
        <p:spPr>
          <a:xfrm>
            <a:off x="550469" y="365760"/>
            <a:ext cx="5361127" cy="1595628"/>
          </a:xfrm>
          <a:prstGeom prst="roundRect">
            <a:avLst>
              <a:gd name="adj" fmla="val 16667"/>
            </a:avLst>
          </a:prstGeom>
          <a:solidFill>
            <a:srgbClr val="FFFFFF"/>
          </a:solidFill>
          <a:ln/>
        </p:spPr>
        <p:txBody>
          <a:bodyPr/>
          <a:p/>
        </p:txBody>
      </p:sp>
      <p:sp>
        <p:nvSpPr>
          <p:cNvPr id="7" name="title"/>
          <p:cNvSpPr/>
          <p:nvPr/>
        </p:nvSpPr>
        <p:spPr>
          <a:xfrm>
            <a:off x="674827" y="640080"/>
            <a:ext cx="5120640" cy="1024128"/>
          </a:xfrm>
          <a:prstGeom prst="rect">
            <a:avLst/>
          </a:prstGeom>
          <a:noFill/>
          <a:ln/>
        </p:spPr>
        <p:txBody>
          <a:bodyPr wrap="square" lIns="50800" tIns="50800" rIns="50800" bIns="50800" rtlCol="0" anchor="ctr"/>
          <a:lstStyle/>
          <a:p>
            <a:pPr algn="l" indent="0" marL="0">
              <a:buNone/>
            </a:pPr>
            <a:r>
              <a:rPr lang="en-US" sz="5400" dirty="0" b="1">
                <a:solidFill>
                  <a:srgbClr val="1B2236"/>
                </a:solidFill>
                <a:latin typeface="Lexend Deca" pitchFamily="34" charset="0"/>
                <a:ea typeface="Lexend Deca" pitchFamily="34" charset="-122"/>
                <a:cs typeface="Lexend Deca" pitchFamily="34" charset="-120"/>
              </a:rPr>
              <a:t>Credits</a:t>
            </a:r>
            <a:endParaRPr lang="en-US" sz="5400" dirty="0"/>
          </a:p>
        </p:txBody>
      </p:sp>
      <p:sp>
        <p:nvSpPr>
          <p:cNvPr id="15" name="pictures"/>
          <p:cNvSpPr/>
          <p:nvPr/>
        </p:nvSpPr>
        <p:spPr>
          <a:xfrm>
            <a:off x="411480" y="2240280"/>
            <a:ext cx="11365992" cy="22402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Pictures</a:t>
            </a:r>
            <a:endParaRPr lang="en-US" sz="2000" dirty="0" b="1"/>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Vocabulary pictures use Twemoji graphics by Twitter, Inc. and other contributors (https://github.com/jdecked/twemoji), licensed under CC BY 4.0 (https://creativecommons.org/licenses/by/4.0/). The graphics were resized and combined, and signs and labels were added.</a:t>
            </a:r>
            <a:endParaRPr lang="en-US" sz="1600" dirty="0" b="0"/>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The faces on the Can-Do Self-Check are standard emoji characters shown with the computer's emoji font.</a:t>
            </a:r>
            <a:endParaRPr lang="en-US" sz="1600" dirty="0" b="0"/>
          </a:p>
        </p:txBody>
      </p:sp>
      <p:sp>
        <p:nvSpPr>
          <p:cNvPr id="16" name="names"/>
          <p:cNvSpPr/>
          <p:nvPr/>
        </p:nvSpPr>
        <p:spPr>
          <a:xfrm>
            <a:off x="411480" y="4709160"/>
            <a:ext cx="4206240" cy="17830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Names and story</a:t>
            </a:r>
            <a:endParaRPr lang="en-US" sz="2000" dirty="0" b="1"/>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Lucía, Ahmed, Ms. Grant, Marta, Joseph, Linh, Ana, Rosa, and Sara are invented names. The listening story is invented.</a:t>
            </a:r>
            <a:endParaRPr lang="en-US" sz="1600" dirty="0" b="0"/>
          </a:p>
        </p:txBody>
      </p:sp>
      <p:sp>
        <p:nvSpPr>
          <p:cNvPr id="17" name="audio"/>
          <p:cNvSpPr/>
          <p:nvPr/>
        </p:nvSpPr>
        <p:spPr>
          <a:xfrm>
            <a:off x="4846320" y="4709160"/>
            <a:ext cx="6931152" cy="17830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Audio and font</a:t>
            </a:r>
            <a:endParaRPr lang="en-US" sz="2000" dirty="0" b="1"/>
          </a:p>
          <a:p>
            <a:pPr algn="l" indent="0" marL="0">
              <a:spcAft>
                <a:spcPts val="600"/>
              </a:spcAft>
              <a:buNone/>
            </a:pPr>
            <a:r>
              <a:rPr lang="en-US" sz="1350" dirty="0" b="0">
                <a:solidFill>
                  <a:srgbClr val="1B2236"/>
                </a:solidFill>
                <a:latin typeface="Lexend Deca" pitchFamily="34" charset="0"/>
                <a:ea typeface="Lexend Deca" pitchFamily="34" charset="-122"/>
                <a:cs typeface="Lexend Deca" pitchFamily="34" charset="-120"/>
              </a:rPr>
              <a:t>Audio: synthetic voices made with Chatterbox TTS (MIT License), cloned from short synthetic reference clips made with Kokoro-82M (Apache License 2.0). No recordings of real people were used. Each file carries an inaudible Perth watermark marking it as AI-generated. Font: Lexend Deca (OFL 1.1).</a:t>
            </a:r>
            <a:endParaRPr lang="en-US" sz="1350" dirty="0" b="0"/>
          </a:p>
          <a:p>
            <a:pPr algn="l" indent="0" marL="0">
              <a:spcAft>
                <a:spcPts val="600"/>
              </a:spcAft>
              <a:buNone/>
            </a:pPr>
            <a:r>
              <a:rPr lang="en-US" sz="1350" dirty="0" b="0">
                <a:solidFill>
                  <a:srgbClr val="1B2236"/>
                </a:solidFill>
                <a:latin typeface="Lexend Deca" pitchFamily="34" charset="0"/>
                <a:ea typeface="Lexend Deca" pitchFamily="34" charset="-122"/>
                <a:cs typeface="Lexend Deca" pitchFamily="34" charset="-120"/>
              </a:rPr>
              <a:t>© 2026 the authors. The authors license this deck under CC BY-NC-SA 4.0.</a:t>
            </a:r>
            <a:endParaRPr lang="en-US" sz="1350" dirty="0" b="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Level 4 Lesson 1: Have You Ever…?</dc:title>
  <dc:subject>PptxGenJS Presentation</dc:subject>
  <dc:creator>Level 1 ESL</dc:creator>
  <cp:lastModifiedBy>Level 1 ESL</cp:lastModifiedBy>
  <cp:revision>1</cp:revision>
  <dcterms:created xsi:type="dcterms:W3CDTF">2026-10-15T20:54:31Z</dcterms:created>
  <dcterms:modified xsi:type="dcterms:W3CDTF">2026-10-15T20:54:31Z</dcterms:modified>
</cp:coreProperties>
</file>