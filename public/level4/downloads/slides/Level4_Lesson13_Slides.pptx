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913" r:id="rId32"/>
    <p:sldId id="914" r:id="rId21"/>
    <p:sldId id="915" r:id="rId19"/>
    <p:sldId id="916" r:id="rId15"/>
    <p:sldId id="917" r:id="rId37"/>
    <p:sldId id="918" r:id="rId38"/>
    <p:sldId id="919" r:id="rId39"/>
    <p:sldId id="920" r:id="rId40"/>
    <p:sldId id="921" r:id="rId41"/>
    <p:sldId id="922" r:id="rId42"/>
    <p:sldId id="923" r:id="rId43"/>
    <p:sldId id="924" r:id="rId44"/>
    <p:sldId id="925" r:id="rId45"/>
    <p:sldId id="926" r:id="rId46"/>
    <p:sldId id="927" r:id="rId47"/>
    <p:sldId id="928" r:id="rId48"/>
    <p:sldId id="929" r:id="rId49"/>
    <p:sldId id="930" r:id="rId50"/>
    <p:sldId id="931" r:id="rId51"/>
    <p:sldId id="932" r:id="rId52"/>
    <p:sldId id="933" r:id="rId53"/>
    <p:sldId id="934" r:id="rId54"/>
    <p:sldId id="935" r:id="rId55"/>
    <p:sldId id="936" r:id="rId56"/>
    <p:sldId id="937" r:id="rId9"/>
    <p:sldId id="938" r:id="rId5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</a:t>
            </a:r>
          </a:p>
          <a:p>
            <a:r>
              <a:t>Lesson plan: At a glance: Objectives; Step 7.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question. B answers in 3 sentences. A asks one follow-up question (follow-ups on the right). Then switch.</a:t>
            </a:r>
          </a:p>
          <a:p>
            <a:r>
              <a:t>Homework Check (3 min, last click): Pairs compare Homework item 1 (who / that) and read their 3 warning signs (item 3) to each other. Then they fill in the box on the Opening Talk page. Walk around. Write 2 common errors on the board (often a man who he called (→ a man who called) and a text who said (→ a text that said)) and correct them together. Also put up 2 corrections from last week's exit tickets.</a:t>
            </a:r>
          </a:p>
          <a:p>
            <a:r>
              <a:t>Lesson plan: Step 1; Opening Talk page: cards, follow-ups; Homework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6:00–6:08 · Opening Talk + Homework Check · 8 min. Pairs (7 pairs + 1 trio with 15 learners; 3–4 pairs with 7–8).</a:t>
            </a:r>
          </a:p>
          <a:p>
            <a:r>
              <a:t>Before class, write on the board: who / that; warning signs</a:t>
            </a:r>
          </a:p>
          <a:p>
            <a:r>
              <a:t>Model with one learner: you say, "Tell me one warning sign of a scam." The learner answers with who / that (A caller who asks for gift cards.). Then you ask, "What should you do?" Help them say 3 sentences. (Click to show the follow-up.)</a:t>
            </a:r>
          </a:p>
          <a:p>
            <a:r>
              <a:t>Opening Talk (5 min): learners open the Opening Talk page. A asks a card question; B answers in 3 sentences (the answer, a reason, a detail); A asks one follow-up. Switch after each card. The cards are on the next slide.</a:t>
            </a:r>
          </a:p>
          <a:p>
            <a:r>
              <a:t>If behind: one card only.</a:t>
            </a:r>
          </a:p>
          <a:p>
            <a:r>
              <a:t>Lesson plan: Step 1; Opening Talk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Lesson plan: At a glance: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"My Story So Far" Say: "Personal growth and the graduation talk: learners look back at their own learning (when they started, what was hard, what they can do now) and look forward to the next step. They tell a short story with time clauses (before / after / when), past ability (couldn't / was able to), and the past continuous. Every story is the learner's choice; "my life in this class" is always enough. All names are invented."</a:t>
            </a:r>
          </a:p>
          <a:p>
            <a:r>
              <a:t>Read the three lines under "Today you will".</a:t>
            </a:r>
          </a:p>
          <a:p>
            <a:r>
              <a:t>Stories are the learner's choice. "My life in this class" or "my job" is always enough. Never ask about migration journeys, family separation, or other hard events. If a learner shares something hard, thank them and move on.</a:t>
            </a:r>
          </a:p>
          <a:p>
            <a:r>
              <a:t>Lesson plan: Topic; At a glance: Objectives;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6:08–6:15 · New Words · 7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Show the hard words: milestone (an important step in your life); challenge (something hard); succeed (do it well, get what you wanted); confident (sure you can do it); get used to (something new becomes normal); make friends; be able to (can); support (help, be there for someone); celebrate (have a party, say "great job!"); timeline (events in order on a line); speech (a talk to many people); audience (the people who listen).</a:t>
            </a:r>
          </a:p>
          <a:p>
            <a:r>
              <a:t>If behind: teach the ★ words only.</a:t>
            </a:r>
          </a:p>
          <a:p>
            <a:r>
              <a:t>Lesson plan: Step 2; Key vocabulary; New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Partner game (2 min): A points to a picture and asks, "When did you make friends here?" B answers with a time clause: "When I started this class, I made friends." Switch. 15 learners: finish with a quick team round (3 teams; you say a clue, the first team with the word gets a point). 7–8: 2 teams. 5 or fewer: one team against the clock.</a:t>
            </a:r>
          </a:p>
          <a:p>
            <a:r>
              <a:t>My Words: "Write any word you want in your language on the My Words page. It's your personal list. It's optional." Learners do it at home.</a:t>
            </a:r>
          </a:p>
          <a:p>
            <a:r>
              <a:t>If behind: teach the ★ words only.</a:t>
            </a:r>
          </a:p>
          <a:p>
            <a:r>
              <a:t>Lesson plan: Step 2; New Words page; Partner game; My Words page.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"Is a challenge easy or hard?" (hard) • 2. "When you are confident, are you sure or not sure?" (sure) • 3. "Do you celebrate a milestone or a problem?" (a milestone)</a:t>
            </a:r>
          </a:p>
          <a:p>
            <a:r>
              <a:t>Lesson plan: Step 2: Check meaning.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6:15–6:30 · Listening + "Hear it, say it" · 15 min (slides 8 to 12). Individuals, then pairs check.</a:t>
            </a:r>
          </a:p>
          <a:p>
            <a:r>
              <a:t>Before you listen (2 min). Say: "Mariana was a learner here. Now she is giving a short talk at graduation. Then her old teacher, Mr. Hill, asks her two questions. Listen: what is her main message?"</a:t>
            </a:r>
          </a:p>
          <a:p>
            <a:r>
              <a:t>There are two people: Mariana and Mr. Hill. A narrator starts and ends the listening. Each click highlights the next voice.</a:t>
            </a:r>
          </a:p>
          <a:p>
            <a:r>
              <a:t>The audio (about 1:54) is coming soon. When it is ready, it plays the conversation once; press play again for play 2. Until then, read the listening script (at the end of these notes) with a volunteer.</a:t>
            </a:r>
          </a:p>
          <a:p>
            <a:r>
              <a:t>No speaker? Read the script with a volunteer at a natural, friendly speed, two times. Say gonna and wanna where the script has them.</a:t>
            </a:r>
          </a:p>
          <a:p>
            <a:r>
              <a:t>Audio: the listening audio for this lesson (about 1:54)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Lesson plan: Step 3; Listening script; Listening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  <a:p>
            <a:r>
              <a:t>Listening script (the audio is coming soon; until then, read it aloud with a volunteer at a normal, friendly speed):</a:t>
            </a:r>
          </a:p>
          <a:p>
            <a:r>
              <a:t>Narrator: Lesson thirteen. Mariana was a learner at this school. Now she is giving a short talk at graduation. Then her old teacher, Mr. Hill, asks her two questions.</a:t>
            </a:r>
          </a:p>
          <a:p>
            <a:r>
              <a:t>Mariana: Good evening, everyone. My name is Mariana. When I started English classes here, I couldn't understand the bus driver, and I was afraid to talk on the phone.</a:t>
            </a:r>
          </a:p>
          <a:p>
            <a:r>
              <a:t>Mariana: The first year was hard. I was working at a restaurant at night, and I was always tired. But my classmates helped me, and I made friends.</a:t>
            </a:r>
          </a:p>
          <a:p>
            <a:r>
              <a:t>Mariana: After I finished Level 2, I got a new job at a hotel. Before I started that job, I practiced my interview with my teacher. Last year, I was able to call the clinic by myself for the first time. That was a big milestone for me.</a:t>
            </a:r>
          </a:p>
          <a:p>
            <a:r>
              <a:t>Mariana: Now I can talk to guests at work, and I help my kids with their homework. I'm more confident.</a:t>
            </a:r>
          </a:p>
          <a:p>
            <a:r>
              <a:t>Mariana: What's next? After I finish Level 5, I'm gonna take a training class to be a front desk manager. My advice to you is simple: come to class, and don't be afraid to make mistakes. Thank you.</a:t>
            </a:r>
          </a:p>
          <a:p>
            <a:r>
              <a:t>Mr. Hill: Thank you, Mariana. That was wonderful. Can I ask you two questions?</a:t>
            </a:r>
          </a:p>
          <a:p>
            <a:r>
              <a:t>Mariana: Of course.</a:t>
            </a:r>
          </a:p>
          <a:p>
            <a:r>
              <a:t>Mr. Hill: What was the biggest challenge for you?</a:t>
            </a:r>
          </a:p>
          <a:p>
            <a:r>
              <a:t>Mariana: Getting used to the phone. When I called someone, I couldn't understand them very well. Now it's easy for me.</a:t>
            </a:r>
          </a:p>
          <a:p>
            <a:r>
              <a:t>Mr. Hill: And what helped you the most?</a:t>
            </a:r>
          </a:p>
          <a:p>
            <a:r>
              <a:t>Mariana: My classmates. When I was tired, they supported me. After class ended, we often studied together. And we celebrated every small success.</a:t>
            </a:r>
          </a:p>
          <a:p>
            <a:r>
              <a:t>Mr. Hill: Thank you. Everyone, let's celebrate Mariana!</a:t>
            </a:r>
          </a:p>
          <a:p>
            <a:r>
              <a:t>Narrator: That's the end of the listening.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(the main idea). Pairs compare. Check together.</a:t>
            </a:r>
          </a:p>
          <a:p>
            <a:r>
              <a:t>Click to circle the answer: a (Come to class, and don't be afraid to make mistakes.).</a:t>
            </a:r>
          </a:p>
          <a:p>
            <a:r>
              <a:t>Then read Tasks B and C together (1 min) so learners know what to listen for.</a:t>
            </a:r>
          </a:p>
          <a:p>
            <a:r>
              <a:t>Lesson plan: Step 3; Listening Task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circle each answer (one click per item, 1 to 6): 1 bus driver • 2 restaurant • 3 hotel • 4 clinic • 5 training class • 6 the phone.</a:t>
            </a:r>
          </a:p>
          <a:p>
            <a:r>
              <a:t>Lesson plan: Step 3; Listening Task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6): 1 When, 2 After, 3 Before, 4 When, 5 When, 6 After.</a:t>
            </a:r>
          </a:p>
          <a:p>
            <a:r>
              <a:t>If behind: do Task C together on the board, reading the lines yourself.</a:t>
            </a:r>
          </a:p>
          <a:p>
            <a:r>
              <a:t>Lesson plan: Step 3; Listening Task C;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"Hear it, say it" (3 min): Point to the script line. gonna = going to: "I'm gonna take a training class." Then practice the pause at the comma: When I started, (pause) I couldn't understand the bus driver. Stress the key words: NOW I can…, NEXT… The class repeats the two lines twice.</a:t>
            </a:r>
          </a:p>
          <a:p>
            <a:r>
              <a:t>Reductions: the listening has gonna. Learners need to understand it; they can always say going to.</a:t>
            </a:r>
          </a:p>
          <a:p>
            <a:r>
              <a:t>Lesson plan: Step 3: "Hear it, say it"; Listening page: Hear it, say it; Teacher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20). Whole class, then pairs. Show the Grammar page. The left side is the question. The right side is the answer.</a:t>
            </a:r>
          </a:p>
          <a:p>
            <a:r>
              <a:t>Show it (2 min): draw a line on the board with 2 events: I finished school. → I got a job. Say, "After I finished school, I got a job." Point to the comma. Then: "I got a job after I finished school." No comma. Then the future: "After I finish this class, I'll take Level 5." Cross out When I will finish.</a:t>
            </a:r>
          </a:p>
          <a:p>
            <a:r>
              <a:t>Box 1: read across: What did you do after you finished school? → After I finished school, I worked in a store. Each click shows the answer side of one row.</a:t>
            </a:r>
          </a:p>
          <a:p>
            <a:r>
              <a:t>Lesson plan: Step 4; Grammar Box 1.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2: couldn't / was able to, past continuous. Each click shows the answer side of one row.</a:t>
            </a:r>
          </a:p>
          <a:p>
            <a:r>
              <a:t>Rule of thumb (read it aloud): before / after / when + a full sentence (I started, I finished). The time part can come first (with a comma) or second (no comma). For the future, use the present after when / after / before: After I finish this class, I'll take Level 5.</a:t>
            </a:r>
          </a:p>
          <a:p>
            <a:r>
              <a:t>Lesson plan: Step 4; Grammar Box 2; Rule of thumb.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3: the comma. Each click shows the answer side of one row.</a:t>
            </a:r>
          </a:p>
          <a:p>
            <a:r>
              <a:t>Lesson plan: Step 4; Grammar Box 3.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4: the talk frame. Each click shows the answer side of one row.</a:t>
            </a:r>
          </a:p>
          <a:p>
            <a:r>
              <a:t>Questions and answers (2 min): Q: When I will finish or When I finish? A: When I finish this class, I'll take Level 5. Use the present after when / after / before, like after if. • Q: Do I need a comma? A: Time part first: comma. After I finished school, I worked. Time part second: no comma. I worked after I finished school. • Q: couldn't or wasn't able to? A: Both are OK: I couldn't drive. / I wasn't able to drive. For one success in the past, use was able to: I was able to call the clinic.</a:t>
            </a:r>
          </a:p>
          <a:p>
            <a:r>
              <a:t>Check questions: "Time clause first: comma or no comma?" (comma) • "When I will finish or When I finish?" (When I finish) • "Last month, I could call the clinic one time, or I was able to call?" (I was able to call).</a:t>
            </a:r>
          </a:p>
          <a:p>
            <a:r>
              <a:t>Lesson plan: Step 4; Grammar Box 4; Questions and answers.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When, 2 couldn't, 3 will, 4 able, 5 working, 6 finish.</a:t>
            </a:r>
          </a:p>
          <a:p>
            <a:r>
              <a:t>Lesson plan: Step 4; Grammar Practice A;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correct words. Pairs check.</a:t>
            </a:r>
          </a:p>
          <a:p>
            <a:r>
              <a:t>Click to circle each answer (one click per item, 1 to 6): 1 finish, 2 After I finished school,, 3 couldn't, 4 was able to, 5 work, 6 made.</a:t>
            </a:r>
          </a:p>
          <a:p>
            <a:r>
              <a:t>Lesson plan: Step 4; Grammar Practice B;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mistakes. Read the table together: "Don't say… Say…". Read a line from Don't say. Ask: "What's the right way?" Learners try first. Then click to show the right form. Each click shows one line, in order 1 to 5.</a:t>
            </a:r>
          </a:p>
          <a:p>
            <a:r>
              <a:t>Learners can read the contrast tip on their Grammar page on their own; it is optional. You never need to read, translate, or explain it.</a:t>
            </a:r>
          </a:p>
          <a:p>
            <a:r>
              <a:t>Lesson plan: Grammar: Common mistakes; Teacher notes.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check (last 3 min of Step 4). Pairs.</a:t>
            </a:r>
          </a:p>
          <a:p>
            <a:r>
              <a:t>A points to a picture and asks, "When did you make friends here?" B answers with a time clause: "When I started this class, I made friends." Switch. 15 learners: swap partners once. 5 or fewer: you join one pair.</a:t>
            </a:r>
          </a:p>
          <a:p>
            <a:r>
              <a:t>If behind: skip the pair check. Talk Time practices it.</a:t>
            </a:r>
          </a:p>
          <a:p>
            <a:r>
              <a:t>Break · 6:45–7:00 · 15 min. Write on the board: When I started, I couldn't… • After I finished…, I… • Now I can… • After I finish this class, I'll…</a:t>
            </a:r>
          </a:p>
          <a:p>
            <a:r>
              <a:t>Lesson plan: Step 4: Pair check; Break.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7:00–7:15 · Talk Time: Story Timeline + Talk Rehearsal · 15 min.</a:t>
            </a:r>
          </a:p>
          <a:p>
            <a:r>
              <a:t>Model it first (1 min): show your own 5-event timeline on the board and tell it in 1 minute: "When I started teaching, I was nervous. After I taught my first class, I felt better…" Then model a feedback card: "One thing I liked: your timeline was clear. One tip: speak a little slower."</a:t>
            </a:r>
          </a:p>
          <a:p>
            <a:r>
              <a:t>Round 1 (7 min): Story Timeline (pairs). Each learner writes 5 events from their own learning on the timeline (their choice; "my life in this class" is enough). They tell the timeline to a partner with when / before / after. The partner asks one question. Each click shows the next step.</a:t>
            </a:r>
          </a:p>
          <a:p>
            <a:r>
              <a:t>15 learners: pairs; then groups of 3. 7–8 learners: pairs; then groups of 3 (or 2 groups of 4). 5 or fewer: each learner tells the whole group; you give the feedback cards.</a:t>
            </a:r>
          </a:p>
          <a:p>
            <a:r>
              <a:t>Model first: tell your own 1-minute story with the talk frame before learners start. Reading from paper is OK, today and at graduation.</a:t>
            </a:r>
          </a:p>
          <a:p>
            <a:r>
              <a:t>Lesson plan: Step 5; Talk Time: Story Timeline.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 (6 min): Talk Rehearsal (groups of 3). Each learner tells their story (1–2 minutes) with the talk frame. The two listeners fill in a feedback card. Switch. Each click shows the next step.</a:t>
            </a:r>
          </a:p>
          <a:p>
            <a:r>
              <a:t>15 learners: pairs; then groups of 3. 7–8 learners: pairs; then groups of 3 (or 2 groups of 4). 5 or fewer: each learner tells the whole group; you give the feedback cards.</a:t>
            </a:r>
          </a:p>
          <a:p>
            <a:r>
              <a:t>Every answer needs a reason; every partner asks a follow-up. Walk around and listen. Note 2 good sentences to praise and 1 common error for next week.</a:t>
            </a:r>
          </a:p>
          <a:p>
            <a:r>
              <a:t>If behind: round 1 only.</a:t>
            </a:r>
          </a:p>
          <a:p>
            <a:r>
              <a:t>Lesson plan: Step 5; Talk Time: Talk Rehearsal.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7:15–7:25 · Read &amp; Write: A learner story · 10 min. Pairs read, then individual writing.</a:t>
            </a:r>
          </a:p>
          <a:p>
            <a:r>
              <a:t>Read (4 min): Learners read the invented story on the Read &amp; Write page, mark the time words, and answer the questions. Say: "Read fast first. Then find the answers." Pairs answer questions 1–5 together.</a:t>
            </a:r>
          </a:p>
          <a:p>
            <a:r>
              <a:t>Check (1 min): click to show each answer (one click per question, 1 to 5): 1 He couldn't read the bus schedule. • 2 His neighbor told him. • 3 He came to class. • 4 He filled out a job application online. • 5 He's going to take a forklift training class.</a:t>
            </a:r>
          </a:p>
          <a:p>
            <a:r>
              <a:t>Write (5 min): Learners write an email (5–8 sentences) to their teacher about their story so far, with when / before / after. Show the example. This is the start of their graduation talk (Homework item 3). Learners start in class and finish at home (Homework item 2).</a:t>
            </a:r>
          </a:p>
          <a:p>
            <a:r>
              <a:t>If behind: questions 1–5 only; the writing becomes homework.</a:t>
            </a:r>
          </a:p>
          <a:p>
            <a:r>
              <a:t>Lesson plan: Step 6; Read &amp; Write page; Answer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7 · 7:25–7:30 · Exit Ticket + Homework · 5 min · NEVER SKIP.</a:t>
            </a:r>
          </a:p>
          <a:p>
            <a:r>
              <a:t>Exit ticket (3 min): learners open the Exit Ticket page and answer in 3 sentences with a reason: Write about one change in your life. Example on the board: When I started this class, I couldn't talk on the phone in English. I was afraid to call the clinic. Now I can call by myself, because I practiced every week. With 5 or fewer, a learner can say it to you first and then write it.</a:t>
            </a:r>
          </a:p>
          <a:p>
            <a:r>
              <a:t>Collect the pages. After class, sort them into ✓ / almost / not yet. Start next week with 2 corrections on the board (no names).</a:t>
            </a:r>
          </a:p>
          <a:p>
            <a:r>
              <a:t>Homework (2 min): open the Homework page. Do item 1 together (item 1: after / I / finish / work, / I / come / to class (past) → After I finished work, I came to class.). Say: "About 15–20 minutes. Finish your Read &amp; Write writing at home."</a:t>
            </a:r>
          </a:p>
          <a:p>
            <a:r>
              <a:t>Homework items: 1. Write the sentence. Use a comma after the time part. • 2. Finish your writing from Read &amp; Write C (your email). Read it one more time. Check ✓ the list in D. • 3. Finish your graduation talk (12–15 sentences, about 2 minutes). Start with your email from Read &amp; Write. Bring it next week. • 4. Review (Lesson 12). Write one word.</a:t>
            </a:r>
          </a:p>
          <a:p>
            <a:r>
              <a:t>Writing check 5 (the graduation talk): the Read &amp; Write email (5–8 sentences) is the first draft. Learners finish the full talk at home (Homework item 3, 12–15 sentences, about 2 minutes). Collect it next week and give one or two tips.</a:t>
            </a:r>
          </a:p>
          <a:p>
            <a:r>
              <a:t>Next weeks: Week 15 is the final exam; Week 16 is graduation, where learners can give their talk.</a:t>
            </a:r>
          </a:p>
          <a:p>
            <a:r>
              <a:t>Lesson plan: Step 7; Exit Ticket page; Homework page.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signs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the listening audio for this lesson (about 1:54) is coming soon. It will use computer-generated voices (Chatterbox TTS cloned from synthetic Kokoro-82M reference clips); no recordings of real people. Until it is ready, read the listening script (in the notes of the Before You Listen slide)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Lesson plan: Picture Credits. Picture list: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1.png"/><Relationship Id="rId8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Milestone: a checkered flag and a calend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13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Story So Far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Tell events in order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Talk about the future with when / after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Talk about past ability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five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Every goal is a good goal.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093062"/>
            <a:ext cx="6227064" cy="678668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035454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035454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051548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035454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tell events in order with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/ after / when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and use a comma when the time clause comes first.</a:t>
            </a:r>
            <a:endParaRPr lang="en-US" sz="15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16895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2822936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2822936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2839029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2822936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use the present after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/ after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 the future (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finish this class, I'll…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).</a:t>
            </a:r>
            <a:endParaRPr lang="en-US" sz="15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295643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610417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610417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626510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610417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talk about past ability with </a:t>
            </a:r>
            <a:r>
              <a:rPr lang="en-US" sz="15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couldn't / was able to</a:t>
            </a: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5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743919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397898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397898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413992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397898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make a 5-event timeline of my learning and tell it to a group.</a:t>
            </a:r>
            <a:endParaRPr lang="en-US" sz="15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53140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185380"/>
            <a:ext cx="5130698" cy="678668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185380"/>
            <a:ext cx="1039673" cy="678668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01473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185380"/>
            <a:ext cx="4434840" cy="6786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write an email (5–8 sentences) to my teacher about my story so far, the start of my graduation talk.</a:t>
            </a:r>
            <a:endParaRPr lang="en-US" sz="15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188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Challenge: a mountain and a person climb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2104034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one warning sign of a scam?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in 3 sentences: the answer, a reason, and a detail.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Why? What should you do?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one warning sign of a scam?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should you do with a text that asks for your PIN?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Who can you call to check a bill?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it a scam? "You won a prize! Pay $20 to get it."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12, items 1 and 3.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Milestone: a checkered flag and a calendar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milestone</a:t>
            </a:r>
            <a:endParaRPr lang="en-US" sz="2000" dirty="0" b="1"/>
          </a:p>
        </p:txBody>
      </p:sp>
      <p:pic>
        <p:nvPicPr>
          <p:cNvPr id="19" name="Word picture 2" descr="Challenge: a mountain and a person climbi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challenge</a:t>
            </a:r>
            <a:endParaRPr lang="en-US" sz="2000" dirty="0" b="1"/>
          </a:p>
        </p:txBody>
      </p:sp>
      <p:pic>
        <p:nvPicPr>
          <p:cNvPr id="21" name="Word picture 3" descr="Succeed: a target and a check mar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succeed</a:t>
            </a:r>
            <a:endParaRPr lang="en-US" sz="2000" dirty="0" b="1"/>
          </a:p>
        </p:txBody>
      </p:sp>
      <p:pic>
        <p:nvPicPr>
          <p:cNvPr id="23" name="Word picture 4" descr="Confident: a person standing and a strong arm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confident</a:t>
            </a:r>
            <a:endParaRPr lang="en-US" sz="2000" dirty="0" b="1"/>
          </a:p>
        </p:txBody>
      </p:sp>
      <p:pic>
        <p:nvPicPr>
          <p:cNvPr id="25" name="Word picture 5" descr="Get used to: a city and a person [sign: DAY 1 → DAY 100]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get used to</a:t>
            </a:r>
            <a:endParaRPr lang="en-US" sz="2000" dirty="0" b="1"/>
          </a:p>
        </p:txBody>
      </p:sp>
      <p:pic>
        <p:nvPicPr>
          <p:cNvPr id="27" name="Word picture 6" descr="Make friends: two people holding hands and a waving han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make friends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29184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did you…?</a:t>
            </a:r>
            <a:endParaRPr lang="en-US" sz="2200" dirty="0" b="1"/>
          </a:p>
        </p:txBody>
      </p:sp>
      <p:pic>
        <p:nvPicPr>
          <p:cNvPr id="17" name="Word picture 1" descr="Be able to: a paper and a check mark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be able to</a:t>
            </a:r>
            <a:endParaRPr lang="en-US" sz="2000" dirty="0" b="1"/>
          </a:p>
        </p:txBody>
      </p:sp>
      <p:pic>
        <p:nvPicPr>
          <p:cNvPr id="19" name="Word picture 2" descr="Support: a handshake and a family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support</a:t>
            </a:r>
            <a:endParaRPr lang="en-US" sz="2000" dirty="0" b="1"/>
          </a:p>
        </p:txBody>
      </p:sp>
      <p:pic>
        <p:nvPicPr>
          <p:cNvPr id="21" name="Word picture 3" descr="Celebrate: a party popper and a cak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celebrate</a:t>
            </a:r>
            <a:endParaRPr lang="en-US" sz="2000" dirty="0" b="1"/>
          </a:p>
        </p:txBody>
      </p:sp>
      <p:pic>
        <p:nvPicPr>
          <p:cNvPr id="23" name="Word picture 4" descr="Timeline: a calendar and an arrow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timeline</a:t>
            </a:r>
            <a:endParaRPr lang="en-US" sz="2000" dirty="0" b="1"/>
          </a:p>
        </p:txBody>
      </p:sp>
      <p:pic>
        <p:nvPicPr>
          <p:cNvPr id="25" name="Word picture 5" descr="Speech: a microphone and a teacher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speech</a:t>
            </a:r>
            <a:endParaRPr lang="en-US" sz="2000" dirty="0" b="1"/>
          </a:p>
        </p:txBody>
      </p:sp>
      <p:pic>
        <p:nvPicPr>
          <p:cNvPr id="27" name="Word picture 6" descr="Audience: two people and clapping hand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audience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a challenge easy or hard?</a:t>
            </a:r>
            <a:endParaRPr lang="en-US" sz="1600" dirty="0" b="1"/>
          </a:p>
        </p:txBody>
      </p:sp>
      <p:pic>
        <p:nvPicPr>
          <p:cNvPr id="101" name="R1 pic" descr="Challenge: a mountain and a person climb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you are confident, are you sure or not sure?</a:t>
            </a:r>
            <a:endParaRPr lang="en-US" sz="1600" dirty="0" b="1"/>
          </a:p>
        </p:txBody>
      </p:sp>
      <p:pic>
        <p:nvPicPr>
          <p:cNvPr id="102" name="R2 pic" descr="Confident: a person standing and a strong arm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celebrate a milestone or a problem?</a:t>
            </a:r>
            <a:endParaRPr lang="en-US" sz="1600" dirty="0" b="1"/>
          </a:p>
        </p:txBody>
      </p:sp>
      <p:pic>
        <p:nvPicPr>
          <p:cNvPr id="103" name="R3 pic" descr="Milestone: a checkered flag and a calenda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hard</a:t>
            </a:r>
            <a:endParaRPr lang="en-US" sz="28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sure</a:t>
            </a:r>
            <a:endParaRPr lang="en-US" sz="2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milestone</a:t>
            </a:r>
            <a:endParaRPr lang="en-US" sz="22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Mariana was a learner here. Now she is giving a short talk at graduation. Then her old teacher, Mr. Hill, asks her two questions.</a:t>
            </a:r>
            <a:endParaRPr lang="en-US" sz="16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Make friends: two people holding hands and a waving h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Mariana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Mr. Hill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her main message?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2: Tasks B and C.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(about 1:54): coming soon.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is Mariana's main message?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1828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868680" y="3108960"/>
            <a:ext cx="35204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Come to class, and don't be afraid to make mistakes.</a:t>
            </a:r>
            <a:endParaRPr lang="en-US" sz="1400" dirty="0" b="1"/>
          </a:p>
        </p:txBody>
      </p:sp>
      <p:sp>
        <p:nvSpPr>
          <p:cNvPr id="10" name="R1 opt2"/>
          <p:cNvSpPr/>
          <p:nvPr/>
        </p:nvSpPr>
        <p:spPr>
          <a:xfrm>
            <a:off x="4480560" y="3108960"/>
            <a:ext cx="35204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 Hotel jobs are easy.</a:t>
            </a:r>
            <a:endParaRPr lang="en-US" sz="1400" dirty="0" b="1"/>
          </a:p>
        </p:txBody>
      </p:sp>
      <p:sp>
        <p:nvSpPr>
          <p:cNvPr id="11" name="R1 opt3"/>
          <p:cNvSpPr/>
          <p:nvPr/>
        </p:nvSpPr>
        <p:spPr>
          <a:xfrm>
            <a:off x="8092440" y="3108960"/>
            <a:ext cx="35204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 Level 5 is too hard.</a:t>
            </a:r>
            <a:endParaRPr lang="en-US" sz="1400" dirty="0" b="1"/>
          </a:p>
        </p:txBody>
      </p:sp>
      <p:sp>
        <p:nvSpPr>
          <p:cNvPr id="12" name="R1 circle"/>
          <p:cNvSpPr/>
          <p:nvPr/>
        </p:nvSpPr>
        <p:spPr>
          <a:xfrm>
            <a:off x="740664" y="3054096"/>
            <a:ext cx="3776472" cy="640080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Her story in order: circle the answer.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First, when she started, she couldn't understand the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62940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bus driver</a:t>
            </a:r>
            <a:endParaRPr lang="en-US" sz="1400" dirty="0" b="1"/>
          </a:p>
        </p:txBody>
      </p:sp>
      <p:sp>
        <p:nvSpPr>
          <p:cNvPr id="10" name="R1 opt2"/>
          <p:cNvSpPr/>
          <p:nvPr/>
        </p:nvSpPr>
        <p:spPr>
          <a:xfrm>
            <a:off x="8869680" y="31089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teacher</a:t>
            </a:r>
            <a:endParaRPr lang="en-US" sz="1400" dirty="0" b="1"/>
          </a:p>
        </p:txBody>
      </p:sp>
      <p:sp>
        <p:nvSpPr>
          <p:cNvPr id="11" name="R1 circle"/>
          <p:cNvSpPr/>
          <p:nvPr/>
        </p:nvSpPr>
        <p:spPr>
          <a:xfrm>
            <a:off x="6501384" y="30540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Then, in her first year, she worked at a ____ at night.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62940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restaurant</a:t>
            </a:r>
            <a:endParaRPr lang="en-US" sz="1400" dirty="0" b="1"/>
          </a:p>
        </p:txBody>
      </p:sp>
      <p:sp>
        <p:nvSpPr>
          <p:cNvPr id="14" name="R2 opt2"/>
          <p:cNvSpPr/>
          <p:nvPr/>
        </p:nvSpPr>
        <p:spPr>
          <a:xfrm>
            <a:off x="8869680" y="365760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hotel</a:t>
            </a:r>
            <a:endParaRPr lang="en-US" sz="1400" dirty="0" b="1"/>
          </a:p>
        </p:txBody>
      </p:sp>
      <p:sp>
        <p:nvSpPr>
          <p:cNvPr id="15" name="R2 circle"/>
          <p:cNvSpPr/>
          <p:nvPr/>
        </p:nvSpPr>
        <p:spPr>
          <a:xfrm>
            <a:off x="6501384" y="360273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After Level 2, she got a job at a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62940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hotel</a:t>
            </a:r>
            <a:endParaRPr lang="en-US" sz="1400" dirty="0" b="1"/>
          </a:p>
        </p:txBody>
      </p:sp>
      <p:sp>
        <p:nvSpPr>
          <p:cNvPr id="18" name="R3 opt2"/>
          <p:cNvSpPr/>
          <p:nvPr/>
        </p:nvSpPr>
        <p:spPr>
          <a:xfrm>
            <a:off x="8869680" y="420624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clinic</a:t>
            </a:r>
            <a:endParaRPr lang="en-US" sz="1400" dirty="0" b="1"/>
          </a:p>
        </p:txBody>
      </p:sp>
      <p:sp>
        <p:nvSpPr>
          <p:cNvPr id="19" name="R3 circle"/>
          <p:cNvSpPr/>
          <p:nvPr/>
        </p:nvSpPr>
        <p:spPr>
          <a:xfrm>
            <a:off x="6501384" y="415137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Last year, she called the ____ by herself.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62940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clinic</a:t>
            </a:r>
            <a:endParaRPr lang="en-US" sz="1400" dirty="0" b="1"/>
          </a:p>
        </p:txBody>
      </p:sp>
      <p:sp>
        <p:nvSpPr>
          <p:cNvPr id="22" name="R4 opt2"/>
          <p:cNvSpPr/>
          <p:nvPr/>
        </p:nvSpPr>
        <p:spPr>
          <a:xfrm>
            <a:off x="8869680" y="475488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school</a:t>
            </a:r>
            <a:endParaRPr lang="en-US" sz="1400" dirty="0" b="1"/>
          </a:p>
        </p:txBody>
      </p:sp>
      <p:sp>
        <p:nvSpPr>
          <p:cNvPr id="23" name="R4 circle"/>
          <p:cNvSpPr/>
          <p:nvPr/>
        </p:nvSpPr>
        <p:spPr>
          <a:xfrm>
            <a:off x="6501384" y="470001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Next, after Level 5, she's going to take a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62940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training class</a:t>
            </a:r>
            <a:endParaRPr lang="en-US" sz="1400" dirty="0" b="1"/>
          </a:p>
        </p:txBody>
      </p:sp>
      <p:sp>
        <p:nvSpPr>
          <p:cNvPr id="26" name="R5 opt2"/>
          <p:cNvSpPr/>
          <p:nvPr/>
        </p:nvSpPr>
        <p:spPr>
          <a:xfrm>
            <a:off x="8869680" y="530352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vacation</a:t>
            </a:r>
            <a:endParaRPr lang="en-US" sz="1400" dirty="0" b="1"/>
          </a:p>
        </p:txBody>
      </p:sp>
      <p:sp>
        <p:nvSpPr>
          <p:cNvPr id="27" name="R5 circle"/>
          <p:cNvSpPr/>
          <p:nvPr/>
        </p:nvSpPr>
        <p:spPr>
          <a:xfrm>
            <a:off x="6501384" y="524865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594360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Her biggest challenge was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62940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phone</a:t>
            </a:r>
            <a:endParaRPr lang="en-US" sz="1400" dirty="0" b="1"/>
          </a:p>
        </p:txBody>
      </p:sp>
      <p:sp>
        <p:nvSpPr>
          <p:cNvPr id="30" name="R6 opt2"/>
          <p:cNvSpPr/>
          <p:nvPr/>
        </p:nvSpPr>
        <p:spPr>
          <a:xfrm>
            <a:off x="8869680" y="5852160"/>
            <a:ext cx="210312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bus</a:t>
            </a:r>
            <a:endParaRPr lang="en-US" sz="1400" dirty="0" b="1"/>
          </a:p>
        </p:txBody>
      </p:sp>
      <p:sp>
        <p:nvSpPr>
          <p:cNvPr id="31" name="R6 circle"/>
          <p:cNvSpPr/>
          <p:nvPr/>
        </p:nvSpPr>
        <p:spPr>
          <a:xfrm>
            <a:off x="6501384" y="5797296"/>
            <a:ext cx="235915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I started English classes here, I couldn't understand the bus driver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99632" y="2222144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I finished Level 2, I got a new job at a hotel.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99632" y="2950312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I started that job, I practiced my interview with my teacher.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99632" y="3678479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I called someone, I couldn't understand them very well.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99632" y="4406646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I was tired, they supported me.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99632" y="5134813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31596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class ended, we often studied together.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99632" y="5862980"/>
            <a:ext cx="137160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it: gonna = going to</a:t>
            </a:r>
            <a:endParaRPr lang="en-US" sz="18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the pause and the stress</a:t>
            </a:r>
            <a:endParaRPr lang="en-US" sz="18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Hear It,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will hear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Pause</a:t>
            </a: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the comma. Stress the key words.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</a:t>
            </a: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gonna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a training class.</a:t>
            </a:r>
            <a:endParaRPr lang="en-US" sz="18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427171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427171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started, (pause) I couldn't understand the bus driver.</a:t>
            </a:r>
            <a:endParaRPr lang="en-US" sz="18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138574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138574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can…</a:t>
            </a:r>
            <a:endParaRPr lang="en-US" sz="1800" dirty="0" b="1"/>
          </a:p>
        </p:txBody>
      </p:sp>
      <p:sp>
        <p:nvSpPr>
          <p:cNvPr id="37" name="S4 card"/>
          <p:cNvSpPr/>
          <p:nvPr/>
        </p:nvSpPr>
        <p:spPr>
          <a:xfrm>
            <a:off x="548640" y="4849978"/>
            <a:ext cx="6766560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S4 text"/>
          <p:cNvSpPr/>
          <p:nvPr/>
        </p:nvSpPr>
        <p:spPr>
          <a:xfrm>
            <a:off x="777240" y="4849978"/>
            <a:ext cx="63550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…</a:t>
            </a:r>
            <a:endParaRPr lang="en-US" sz="18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Be able to: a paper and a check ma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/ after / when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you do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after you finished school?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finished school,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worked in a store.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did you feel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when you started this job?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started this job,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didn't know anyone.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couldn't you do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before this class?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I started this class,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couldn't fill out a form.</a:t>
            </a:r>
            <a:endParaRPr lang="en-US" sz="17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44068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will you do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after you finish this class?</a:t>
            </a:r>
            <a:endParaRPr lang="en-US" sz="1700" dirty="0" b="1"/>
          </a:p>
        </p:txBody>
      </p:sp>
      <p:sp>
        <p:nvSpPr>
          <p:cNvPr id="28" name="Answer bg 4"/>
          <p:cNvSpPr/>
          <p:nvPr/>
        </p:nvSpPr>
        <p:spPr>
          <a:xfrm>
            <a:off x="7863840" y="544068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863840" y="544068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finish this class,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I'll take Level 5.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upport: a handshake and a famil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couldn't / was able to; was …ing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understand the bus driver?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couldn't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Now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Were you able 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 the clinic?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able 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 by myself last month.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were you doing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when you met your friend?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working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at a restaurant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met her.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Celebrate: a party popper and a cak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comma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TIME PART FIRST: comma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TIME PART SECOND: no comma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started, I didn't know anyone.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didn't know anyone when I started.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finish this class, I'll take Level 5.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I'll take Level 5 after I finish this class.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Timeline: a calendar and an 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talk frame</a:t>
            </a:r>
            <a:endParaRPr lang="en-US" sz="24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</a:t>
            </a:r>
            <a:endParaRPr lang="en-US" sz="17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started…, I couldn't…</a:t>
            </a:r>
            <a:endParaRPr lang="en-US" sz="17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33756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was hard</a:t>
            </a:r>
            <a:endParaRPr lang="en-US" sz="17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33756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33756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was hard because… But I've…</a:t>
            </a:r>
            <a:endParaRPr lang="en-US" sz="17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438912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</a:t>
            </a:r>
            <a:endParaRPr lang="en-US" sz="1700" dirty="0" b="1"/>
          </a:p>
        </p:txBody>
      </p:sp>
      <p:sp>
        <p:nvSpPr>
          <p:cNvPr id="25" name="Answer bg 3"/>
          <p:cNvSpPr/>
          <p:nvPr/>
        </p:nvSpPr>
        <p:spPr>
          <a:xfrm>
            <a:off x="7863840" y="438912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863840" y="438912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I can… I'm more confident.</a:t>
            </a:r>
            <a:endParaRPr lang="en-US" sz="17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5440680"/>
            <a:ext cx="265176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Next</a:t>
            </a:r>
            <a:endParaRPr lang="en-US" sz="1700" dirty="0" b="1"/>
          </a:p>
        </p:txBody>
      </p:sp>
      <p:sp>
        <p:nvSpPr>
          <p:cNvPr id="28" name="Answer bg 4"/>
          <p:cNvSpPr/>
          <p:nvPr/>
        </p:nvSpPr>
        <p:spPr>
          <a:xfrm>
            <a:off x="7863840" y="5440680"/>
            <a:ext cx="4069080" cy="9784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863840" y="5440680"/>
            <a:ext cx="4069080" cy="9784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finish…, I'll… because…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word.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I started this job, I didn't know anyone.</a:t>
            </a:r>
            <a:endParaRPr lang="en-US" sz="1600" dirty="0"/>
          </a:p>
        </p:txBody>
      </p:sp>
      <p:sp>
        <p:nvSpPr>
          <p:cNvPr id="35" name="R1 ans"/>
          <p:cNvSpPr/>
          <p:nvPr/>
        </p:nvSpPr>
        <p:spPr>
          <a:xfrm>
            <a:off x="5925312" y="2222144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</a:t>
            </a:r>
            <a:endParaRPr lang="en-US" sz="20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I came here, I ____ speak English. (can't)</a:t>
            </a:r>
            <a:endParaRPr lang="en-US" sz="1600" dirty="0"/>
          </a:p>
        </p:txBody>
      </p:sp>
      <p:sp>
        <p:nvSpPr>
          <p:cNvPr id="40" name="R2 ans"/>
          <p:cNvSpPr/>
          <p:nvPr/>
        </p:nvSpPr>
        <p:spPr>
          <a:xfrm>
            <a:off x="5925312" y="2950312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couldn't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finish this class, I ____ take Level 5.</a:t>
            </a:r>
            <a:endParaRPr lang="en-US" sz="1600" dirty="0"/>
          </a:p>
        </p:txBody>
      </p:sp>
      <p:sp>
        <p:nvSpPr>
          <p:cNvPr id="45" name="R3 ans"/>
          <p:cNvSpPr/>
          <p:nvPr/>
        </p:nvSpPr>
        <p:spPr>
          <a:xfrm>
            <a:off x="5925312" y="3678479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Last month, I was ____ to call the clinic by myself.</a:t>
            </a:r>
            <a:endParaRPr lang="en-US" sz="1600" dirty="0"/>
          </a:p>
        </p:txBody>
      </p:sp>
      <p:sp>
        <p:nvSpPr>
          <p:cNvPr id="50" name="R4 ans"/>
          <p:cNvSpPr/>
          <p:nvPr/>
        </p:nvSpPr>
        <p:spPr>
          <a:xfrm>
            <a:off x="5925312" y="4406646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able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____ at a store when I met my friend. (work)</a:t>
            </a:r>
            <a:endParaRPr lang="en-US" sz="1600" dirty="0"/>
          </a:p>
        </p:txBody>
      </p:sp>
      <p:sp>
        <p:nvSpPr>
          <p:cNvPr id="55" name="R5 ans"/>
          <p:cNvSpPr/>
          <p:nvPr/>
        </p:nvSpPr>
        <p:spPr>
          <a:xfrm>
            <a:off x="5925312" y="5134813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04164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____ this class, I'll celebrate. (finish / will finish)</a:t>
            </a:r>
            <a:endParaRPr lang="en-US" sz="1600" dirty="0"/>
          </a:p>
        </p:txBody>
      </p:sp>
      <p:sp>
        <p:nvSpPr>
          <p:cNvPr id="60" name="R6 ans"/>
          <p:cNvSpPr/>
          <p:nvPr/>
        </p:nvSpPr>
        <p:spPr>
          <a:xfrm>
            <a:off x="5925312" y="5862980"/>
            <a:ext cx="164592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finish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correct words.</a:t>
            </a:r>
            <a:endParaRPr lang="en-US" sz="20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1. When I ____ the class, I'll look for a new job.</a:t>
            </a:r>
            <a:endParaRPr lang="en-US" sz="1600" dirty="0"/>
          </a:p>
        </p:txBody>
      </p:sp>
      <p:sp>
        <p:nvSpPr>
          <p:cNvPr id="9" name="R1 opt1"/>
          <p:cNvSpPr/>
          <p:nvPr/>
        </p:nvSpPr>
        <p:spPr>
          <a:xfrm>
            <a:off x="676656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finish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8961120" y="31089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 finish</a:t>
            </a:r>
            <a:endParaRPr lang="en-US" sz="1500" dirty="0" b="1"/>
          </a:p>
        </p:txBody>
      </p:sp>
      <p:sp>
        <p:nvSpPr>
          <p:cNvPr id="11" name="R1 circle"/>
          <p:cNvSpPr/>
          <p:nvPr/>
        </p:nvSpPr>
        <p:spPr>
          <a:xfrm>
            <a:off x="6638544" y="30540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2. ____ I worked in a store.</a:t>
            </a:r>
            <a:endParaRPr lang="en-US" sz="1600" dirty="0"/>
          </a:p>
        </p:txBody>
      </p:sp>
      <p:sp>
        <p:nvSpPr>
          <p:cNvPr id="13" name="R2 opt1"/>
          <p:cNvSpPr/>
          <p:nvPr/>
        </p:nvSpPr>
        <p:spPr>
          <a:xfrm>
            <a:off x="676656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finished school,</a:t>
            </a:r>
            <a:endParaRPr lang="en-US" sz="1500" dirty="0" b="1"/>
          </a:p>
        </p:txBody>
      </p:sp>
      <p:sp>
        <p:nvSpPr>
          <p:cNvPr id="14" name="R2 opt2"/>
          <p:cNvSpPr/>
          <p:nvPr/>
        </p:nvSpPr>
        <p:spPr>
          <a:xfrm>
            <a:off x="8961120" y="365760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finished school</a:t>
            </a:r>
            <a:endParaRPr lang="en-US" sz="1500" dirty="0" b="1"/>
          </a:p>
        </p:txBody>
      </p:sp>
      <p:sp>
        <p:nvSpPr>
          <p:cNvPr id="15" name="R2 circle"/>
          <p:cNvSpPr/>
          <p:nvPr/>
        </p:nvSpPr>
        <p:spPr>
          <a:xfrm>
            <a:off x="6638544" y="360273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3. Before I started class, I ____ read the bus schedule.</a:t>
            </a:r>
            <a:endParaRPr lang="en-US" sz="1600" dirty="0"/>
          </a:p>
        </p:txBody>
      </p:sp>
      <p:sp>
        <p:nvSpPr>
          <p:cNvPr id="17" name="R3 opt1"/>
          <p:cNvSpPr/>
          <p:nvPr/>
        </p:nvSpPr>
        <p:spPr>
          <a:xfrm>
            <a:off x="676656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couldn't</a:t>
            </a:r>
            <a:endParaRPr lang="en-US" sz="1500" dirty="0" b="1"/>
          </a:p>
        </p:txBody>
      </p:sp>
      <p:sp>
        <p:nvSpPr>
          <p:cNvPr id="18" name="R3 opt2"/>
          <p:cNvSpPr/>
          <p:nvPr/>
        </p:nvSpPr>
        <p:spPr>
          <a:xfrm>
            <a:off x="8961120" y="420624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  <a:endParaRPr lang="en-US" sz="1500" dirty="0" b="1"/>
          </a:p>
        </p:txBody>
      </p:sp>
      <p:sp>
        <p:nvSpPr>
          <p:cNvPr id="19" name="R3 circle"/>
          <p:cNvSpPr/>
          <p:nvPr/>
        </p:nvSpPr>
        <p:spPr>
          <a:xfrm>
            <a:off x="6638544" y="415137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4. I ____ fill out the form by myself.</a:t>
            </a:r>
            <a:endParaRPr lang="en-US" sz="1600" dirty="0"/>
          </a:p>
        </p:txBody>
      </p:sp>
      <p:sp>
        <p:nvSpPr>
          <p:cNvPr id="21" name="R4 opt1"/>
          <p:cNvSpPr/>
          <p:nvPr/>
        </p:nvSpPr>
        <p:spPr>
          <a:xfrm>
            <a:off x="676656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able to</a:t>
            </a:r>
            <a:endParaRPr lang="en-US" sz="1500" dirty="0" b="1"/>
          </a:p>
        </p:txBody>
      </p:sp>
      <p:sp>
        <p:nvSpPr>
          <p:cNvPr id="22" name="R4 opt2"/>
          <p:cNvSpPr/>
          <p:nvPr/>
        </p:nvSpPr>
        <p:spPr>
          <a:xfrm>
            <a:off x="8961120" y="475488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to</a:t>
            </a:r>
            <a:endParaRPr lang="en-US" sz="1500" dirty="0" b="1"/>
          </a:p>
        </p:txBody>
      </p:sp>
      <p:sp>
        <p:nvSpPr>
          <p:cNvPr id="23" name="R4 circle"/>
          <p:cNvSpPr/>
          <p:nvPr/>
        </p:nvSpPr>
        <p:spPr>
          <a:xfrm>
            <a:off x="6638544" y="470001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5. I used to ____ at night, but now I work days.</a:t>
            </a:r>
            <a:endParaRPr lang="en-US" sz="1600" dirty="0"/>
          </a:p>
        </p:txBody>
      </p:sp>
      <p:sp>
        <p:nvSpPr>
          <p:cNvPr id="25" name="R5 opt1"/>
          <p:cNvSpPr/>
          <p:nvPr/>
        </p:nvSpPr>
        <p:spPr>
          <a:xfrm>
            <a:off x="676656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</a:t>
            </a:r>
            <a:endParaRPr lang="en-US" sz="1500" dirty="0" b="1"/>
          </a:p>
        </p:txBody>
      </p:sp>
      <p:sp>
        <p:nvSpPr>
          <p:cNvPr id="26" name="R5 opt2"/>
          <p:cNvSpPr/>
          <p:nvPr/>
        </p:nvSpPr>
        <p:spPr>
          <a:xfrm>
            <a:off x="8961120" y="530352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endParaRPr lang="en-US" sz="1500" dirty="0" b="1"/>
          </a:p>
        </p:txBody>
      </p:sp>
      <p:sp>
        <p:nvSpPr>
          <p:cNvPr id="27" name="R5 circle"/>
          <p:cNvSpPr/>
          <p:nvPr/>
        </p:nvSpPr>
        <p:spPr>
          <a:xfrm>
            <a:off x="6638544" y="524865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08076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/>
              <a:t>6. I've ____ many friends in this class.</a:t>
            </a:r>
            <a:endParaRPr lang="en-US" sz="1600" dirty="0"/>
          </a:p>
        </p:txBody>
      </p:sp>
      <p:sp>
        <p:nvSpPr>
          <p:cNvPr id="29" name="R6 opt1"/>
          <p:cNvSpPr/>
          <p:nvPr/>
        </p:nvSpPr>
        <p:spPr>
          <a:xfrm>
            <a:off x="676656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made</a:t>
            </a:r>
            <a:endParaRPr lang="en-US" sz="1500" dirty="0" b="1"/>
          </a:p>
        </p:txBody>
      </p:sp>
      <p:sp>
        <p:nvSpPr>
          <p:cNvPr id="30" name="R6 opt2"/>
          <p:cNvSpPr/>
          <p:nvPr/>
        </p:nvSpPr>
        <p:spPr>
          <a:xfrm>
            <a:off x="8961120" y="5852160"/>
            <a:ext cx="201168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make</a:t>
            </a:r>
            <a:endParaRPr lang="en-US" sz="1500" dirty="0" b="1"/>
          </a:p>
        </p:txBody>
      </p:sp>
      <p:sp>
        <p:nvSpPr>
          <p:cNvPr id="31" name="R6 circle"/>
          <p:cNvSpPr/>
          <p:nvPr/>
        </p:nvSpPr>
        <p:spPr>
          <a:xfrm>
            <a:off x="6638544" y="5797296"/>
            <a:ext cx="226771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Speech: a microphone and a teach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will finish, I'll call you.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finish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I'll call you.</a:t>
            </a:r>
            <a:endParaRPr lang="en-US" sz="1700" dirty="0" b="1"/>
          </a:p>
        </p:txBody>
      </p:sp>
      <p:sp>
        <p:nvSpPr>
          <p:cNvPr id="26" name="Bad 2"/>
          <p:cNvSpPr/>
          <p:nvPr/>
        </p:nvSpPr>
        <p:spPr>
          <a:xfrm>
            <a:off x="914400" y="3310128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I came here I couldn't drive.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310128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I came here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 couldn't drive.</a:t>
            </a:r>
            <a:endParaRPr lang="en-US" sz="1700" dirty="0" b="1"/>
          </a:p>
        </p:txBody>
      </p:sp>
      <p:sp>
        <p:nvSpPr>
          <p:cNvPr id="28" name="Bad 3"/>
          <p:cNvSpPr/>
          <p:nvPr/>
        </p:nvSpPr>
        <p:spPr>
          <a:xfrm>
            <a:off x="914400" y="4151376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could to fill out the form.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4151376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was able to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fill out the form.</a:t>
            </a:r>
            <a:endParaRPr lang="en-US" sz="1700" dirty="0" b="1"/>
          </a:p>
        </p:txBody>
      </p:sp>
      <p:sp>
        <p:nvSpPr>
          <p:cNvPr id="30" name="Bad 4"/>
          <p:cNvSpPr/>
          <p:nvPr/>
        </p:nvSpPr>
        <p:spPr>
          <a:xfrm>
            <a:off x="914400" y="471830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finish class, I go home.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71830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finish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class, I go home.</a:t>
            </a:r>
            <a:endParaRPr lang="en-US" sz="1700" dirty="0" b="1"/>
          </a:p>
        </p:txBody>
      </p:sp>
      <p:sp>
        <p:nvSpPr>
          <p:cNvPr id="32" name="Bad 5"/>
          <p:cNvSpPr/>
          <p:nvPr/>
        </p:nvSpPr>
        <p:spPr>
          <a:xfrm>
            <a:off x="914400" y="5285232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work when I met her.</a:t>
            </a:r>
            <a:endParaRPr lang="en-US" sz="1700" dirty="0"/>
          </a:p>
        </p:txBody>
      </p:sp>
      <p:sp>
        <p:nvSpPr>
          <p:cNvPr id="33" name="Good 5"/>
          <p:cNvSpPr/>
          <p:nvPr/>
        </p:nvSpPr>
        <p:spPr>
          <a:xfrm>
            <a:off x="4800600" y="5285232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was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working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when I met her.</a:t>
            </a:r>
            <a:endParaRPr lang="en-US" sz="17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Audience: two people and clapping hand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Check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a time clause.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When did you make friends here?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When I started this class,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made friends.</a:t>
            </a:r>
            <a:endParaRPr lang="en-US" sz="19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points to a picture and asks. Then switch.</a:t>
            </a:r>
            <a:endParaRPr lang="en-US" sz="2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Timeline: a calendar and an arrow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Story Timeline</a:t>
            </a:r>
            <a:endParaRPr lang="en-US" sz="28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Alone, then pairs.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life in this class is enough.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5 events on the timeline.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I started this class, I couldn't…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a partner with when / before / after.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practiced with my partner, I…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partner asks one question.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finish this class, I'll…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Speech: a microphone and a teach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Rehearsal</a:t>
            </a:r>
            <a:endParaRPr lang="en-US" sz="30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Groups of 3.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Tell your story (1–2 minutes).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7:00–7:15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the talk frame.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→ What was hard → Now → Next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two listeners fill in a feedback card.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I can…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After I finish…, I'll… because…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fast first.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the questions.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&amp;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RIVERSIDE ADULT LEARNING · Class Newsletter (invented)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 together.</a:t>
            </a:r>
            <a:endParaRPr lang="en-US" sz="2000" dirty="0" b="1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46156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he came to the city, what couldn't he do?</a:t>
            </a:r>
            <a:endParaRPr lang="en-US" sz="1500" dirty="0"/>
          </a:p>
        </p:txBody>
      </p:sp>
      <p:sp>
        <p:nvSpPr>
          <p:cNvPr id="35" name="R1 ans"/>
          <p:cNvSpPr/>
          <p:nvPr/>
        </p:nvSpPr>
        <p:spPr>
          <a:xfrm>
            <a:off x="4187952" y="2525573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couldn't read the bus schedule.</a:t>
            </a:r>
            <a:endParaRPr lang="en-US" sz="14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3183941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3183941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324794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3183941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did he hear about the classes?</a:t>
            </a:r>
            <a:endParaRPr lang="en-US" sz="1500" dirty="0"/>
          </a:p>
        </p:txBody>
      </p:sp>
      <p:sp>
        <p:nvSpPr>
          <p:cNvPr id="40" name="R2 ans"/>
          <p:cNvSpPr/>
          <p:nvPr/>
        </p:nvSpPr>
        <p:spPr>
          <a:xfrm>
            <a:off x="4187952" y="3311957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His neighbor told him.</a:t>
            </a:r>
            <a:endParaRPr lang="en-US" sz="14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970325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970325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4034333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970325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did he do after his shift?</a:t>
            </a:r>
            <a:endParaRPr lang="en-US" sz="1500" dirty="0"/>
          </a:p>
        </p:txBody>
      </p:sp>
      <p:sp>
        <p:nvSpPr>
          <p:cNvPr id="45" name="R3 ans"/>
          <p:cNvSpPr/>
          <p:nvPr/>
        </p:nvSpPr>
        <p:spPr>
          <a:xfrm>
            <a:off x="4187952" y="4098341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came to class.</a:t>
            </a:r>
            <a:endParaRPr lang="en-US" sz="14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756709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756709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82071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756709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was he able to do last month?</a:t>
            </a:r>
            <a:endParaRPr lang="en-US" sz="1500" dirty="0"/>
          </a:p>
        </p:txBody>
      </p:sp>
      <p:sp>
        <p:nvSpPr>
          <p:cNvPr id="50" name="R4 ans"/>
          <p:cNvSpPr/>
          <p:nvPr/>
        </p:nvSpPr>
        <p:spPr>
          <a:xfrm>
            <a:off x="4187952" y="4884725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filled out a job application online.</a:t>
            </a:r>
            <a:endParaRPr lang="en-US" sz="14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543093"/>
            <a:ext cx="6035040" cy="713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543093"/>
            <a:ext cx="1039673" cy="713232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60710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/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543093"/>
            <a:ext cx="2304288" cy="713232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will he do when he finishes Level 4?</a:t>
            </a:r>
            <a:endParaRPr lang="en-US" sz="1500" dirty="0"/>
          </a:p>
        </p:txBody>
      </p:sp>
      <p:sp>
        <p:nvSpPr>
          <p:cNvPr id="55" name="R5 ans"/>
          <p:cNvSpPr/>
          <p:nvPr/>
        </p:nvSpPr>
        <p:spPr>
          <a:xfrm>
            <a:off x="4187952" y="5671109"/>
            <a:ext cx="3383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He's going to take a forklift training class.</a:t>
            </a:r>
            <a:endParaRPr lang="en-US" sz="14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7:25–7:30</a:t>
            </a:r>
            <a:endParaRPr lang="en-US" sz="4000" dirty="0"/>
          </a:p>
        </p:txBody>
      </p:sp>
      <p:pic>
        <p:nvPicPr>
          <p:cNvPr id="16" name="pic" descr="Confident: a person standing and a strong ar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about one change in your life.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When it happened, with When….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What you couldn't do before.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What you can do now, with a reason (because).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6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15–20 minutes.</a:t>
            </a:r>
            <a:endParaRPr lang="en-US" sz="16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Write the sentence.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Finish your writing from Read &amp; Write C (your email).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Finish your graduation talk (12–15 sentences, about 2 minutes).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 (Lesson 12).</a:t>
            </a:r>
            <a:endParaRPr lang="en-US" sz="16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6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Get used to: a city and a person [sign: DAY 1 → DAY 100]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13  ·  Level 4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Tell events in order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Talk about the future with when / after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Talk about past ability</a:t>
            </a:r>
            <a:endParaRPr lang="en-US" sz="2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4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signs and labels were added.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Mariana, Mr. Hill, and Tomás R.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(coming soon): synthetic voices made with Chatterbox TTS (MIT License), cloned from short synthetic reference clips made with Kokoro-82M (Apache License 2.0). No recordings of real people. Each file will carry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4 Lesson 13: My Story So Far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