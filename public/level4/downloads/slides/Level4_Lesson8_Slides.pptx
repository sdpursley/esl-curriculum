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783" r:id="rId33"/>
    <p:sldId id="784" r:id="rId34"/>
    <p:sldId id="785" r:id="rId35"/>
    <p:sldId id="786" r:id="rId36"/>
    <p:sldId id="787" r:id="rId31"/>
    <p:sldId id="788" r:id="rId30"/>
    <p:sldId id="789" r:id="rId29"/>
    <p:sldId id="790" r:id="rId28"/>
    <p:sldId id="791" r:id="rId27"/>
    <p:sldId id="792" r:id="rId20"/>
    <p:sldId id="793" r:id="rId18"/>
    <p:sldId id="794" r:id="rId17"/>
    <p:sldId id="795" r:id="rId16"/>
    <p:sldId id="796" r:id="rId14"/>
    <p:sldId id="797" r:id="rId13"/>
    <p:sldId id="798" r:id="rId12"/>
    <p:sldId id="799" r:id="rId11"/>
    <p:sldId id="800" r:id="rId10"/>
    <p:sldId id="801" r:id="rId8"/>
    <p:sldId id="802" r:id="rId7"/>
    <p:sldId id="803" r:id="rId6"/>
    <p:sldId id="804" r:id="rId5"/>
    <p:sldId id="805" r:id="rId4"/>
    <p:sldId id="806" r:id="rId3"/>
    <p:sldId id="807" r:id="rId57"/>
    <p:sldId id="808"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1:59)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might change in your neighborhood or at your job next year? Example on the board: A new store might open near my house. My job may change my schedule. I think so because there's construction on my street and my company is very busy. With 5 or fewer, a learner can say it to you first and then write it.</a:t>
            </a:r>
          </a:p>
          <a:p>
            <a:r>
              <a:t>Collect the pages. After class, sort them into ✓ / almost / not yet. Start next week with 2 corrections on the board (no names).</a:t>
            </a:r>
          </a:p>
          <a:p>
            <a:r>
              <a:t>Homework (2 min): open the Homework page. Do item 1 together (item 1: the store / may / open / in June → The store may open in June.). Say: "About 15–20 minutes. Finish your Read &amp; Write writing at home."</a:t>
            </a:r>
          </a:p>
          <a:p>
            <a:r>
              <a:t>Homework items: 1. Write the sentence or question. Use the words. • 2. Finish your writing from Read &amp; Write C (your text or email). Read it one more time. Check ✓ the list in D. • 3. Write 3 things that might change in your neighborhood or city. Then write why you think so. • 4. Review (Lesson 7).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local news article · 10 min. Pairs read, then individual writing.</a:t>
            </a:r>
          </a:p>
          <a:p>
            <a:r>
              <a:t>Read (4 min): Learners read the news article on the Read &amp; Write page, find the main idea, and answer the questions. Say: "Read fast first. Then find the answers." Pairs answer questions 1–5 together.</a:t>
            </a:r>
          </a:p>
          <a:p>
            <a:r>
              <a:t>Check (1 min): click to show each answer (one click per question, 1 to 5): 1 A new bus route, Route 9, will start on May 6. • 2 Every 20 minutes. • 3 $1.50 (and free for the first week). • 4 Sunday service. • 5 On the city website or at the library.</a:t>
            </a:r>
          </a:p>
          <a:p>
            <a:r>
              <a:t>Write (5 min): Learners write a text or email to a friend about the news (5–8 sentences) with one might or may and one Do you know…?. Show the example.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What Might Happen? (groups). Groups choose a headline and write 4 predictions with might, may, and will probably. Then they read them to the class. Each click shows the next step.</a:t>
            </a:r>
          </a:p>
          <a:p>
            <a:r>
              <a:t>15 learners: pairs with one rotation for round 1; then groups of 4. 7–8 learners: pairs for round 1; then 2 groups. 5 or fewer: pairs for round 1 (you take a card if there is an odd number); then one group.</a:t>
            </a:r>
          </a:p>
          <a:p>
            <a:r>
              <a:t>Every answer needs a reason; every partner asks a follow-up. Walk around and listen. Note 2 good sentences to praise and 1 common error for next week.</a:t>
            </a:r>
          </a:p>
          <a:p>
            <a:r>
              <a:t>If behind: round 1 only.</a:t>
            </a:r>
          </a:p>
          <a:p>
            <a:r>
              <a:t>Lesson plan: Step 5; Talk Time: What Might Happen?.</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News Swap + What Might Happen? · 15 min.</a:t>
            </a:r>
          </a:p>
          <a:p>
            <a:r>
              <a:t>Model it first (1 min): hold news card A. Ask a learner, "Do you know when the library will open on Sundays?" Help them find it and answer, "Yes, starting March 3." Then ask, "Do you know why?" Say: "Ask with Do you know…? Answer with a fact, or say I'm not sure. It might…"</a:t>
            </a:r>
          </a:p>
          <a:p>
            <a:r>
              <a:t>Round 1 (7 min): News Swap (pairs). A and B have different news cards. Partners ask Do you know when / where / why…? and write the facts. Then they change partners and retell their partner's story. Each click shows the next step.</a:t>
            </a:r>
          </a:p>
          <a:p>
            <a:r>
              <a:t>15 learners: pairs with one rotation for round 1; then groups of 4. 7–8 learners: pairs for round 1; then 2 groups. 5 or fewer: pairs for round 1 (you take a card if there is an odd number); then one group.</a:t>
            </a:r>
          </a:p>
          <a:p>
            <a:r>
              <a:t>Lesson plan: Step 5; Talk Time: News Swap.</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points to a picture and asks, "Do you know when the construction ends?" B answers with a fact or I'm not sure. It might… Switch. 15 learners: swap partners once. 5 or fewer: you join one pair.</a:t>
            </a:r>
          </a:p>
          <a:p>
            <a:r>
              <a:t>If behind: skip the pair check. Talk Time practices it.</a:t>
            </a:r>
          </a:p>
          <a:p>
            <a:r>
              <a:t>Break · 6:45–7:00 · 15 min. Write on the board: It might / may / could + base verb (maybe) • It will… (sure) • Do you know where the meeting is? (statement order)</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take, 2 where the meeting is, 3 might not, 4 opens, 5 will, 6 may.</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might, 2 will, 3 open, 4 is, 5 leaves, 6 be.</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from a question to Do you know…? Each click shows the answer side of one row.</a:t>
            </a:r>
          </a:p>
          <a:p>
            <a:r>
              <a:t>Questions and answers (2 min): Q: It might rains or It might rain? A: might + base verb: It might rain. Never -s, never to. • Q: Can I say Do you know where is the meeting? A: Use statement order: Do you know where the meeting is? • Q: will or might? A: will = I'm sure. might = maybe. The road will close on Monday. It might open early.</a:t>
            </a:r>
          </a:p>
          <a:p>
            <a:r>
              <a:t>Check questions: "It might rains or It might rain?" (might rain) • "Do you know where is the bank or where the bank is?" (where the bank is) • "The sign says Closed Monday. will or might?" (will).</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will (sure) vs. might (maybe). Each click shows the answer side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Do you know where / when / what time / why…? Each click shows the answer side of one row.</a:t>
            </a:r>
          </a:p>
          <a:p>
            <a:r>
              <a:t>Rule of thumb (read it aloud): might / may / could + base verb: never to, never -s (It might rain). After Do you know where / when / why, use statement order: where the meeting is (not where is the meeting).</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cloud. Say, "Will it rain tomorrow? I'm not sure. It might rain. It may rain." Draw a sign ROAD CLOSED MONDAY: "The road will close on Monday. I'm sure." Then ask a learner, "Do you know where the library is?" Write it and underline the library is: "Statement order."</a:t>
            </a:r>
          </a:p>
          <a:p>
            <a:r>
              <a:t>Box 1: read across: Will the road be closed tomorrow? → It might be. / It may be closed until Friday. Each click shows the answer side of one row.</a:t>
            </a:r>
          </a:p>
          <a:p>
            <a:r>
              <a:t>Lesson plan: Step 4; Grammar Box 1.</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"The bus is gonna take a detour." Then practice might (the last t is very short: It migh' be late) and Do you know…? with the voice going up at the end. Listen to the reporter's pauses. The class repeats the two lines twice.</a:t>
            </a:r>
          </a:p>
          <a:p>
            <a:r>
              <a:t>Reductions: the listening has gonna. Learners need to understand it; they can always say going to.</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might, 2 will, 3 when, 4 how, 5 might, 6 where.</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Fifth • 2 Monday • 3 water pipe • 4 two weeks • 5 Pine Street • 6 fifteen.</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(Oak Street will close for a water pipe repair.).</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"First, you'll hear a short local news report on the radio. Then two coworkers, Marco and Joy, talk about the news. Listen: what is the news?"</a:t>
            </a:r>
          </a:p>
          <a:p>
            <a:r>
              <a:t>There are 3 people: Diane Lee, Marco and Joy. A narrator starts and ends the listening. Each click highlights the next person.</a:t>
            </a:r>
          </a:p>
          <a:p>
            <a:r>
              <a:t>The audio (about 1:59) is coming soon. When it is ready, it plays the conversation once; press play again for play 2. Until then, read the listening script (at the end of these notes) with a volunteer.</a:t>
            </a:r>
          </a:p>
          <a:p>
            <a:r>
              <a:t>No speaker? Read the script with a volunteer at a natural, friendly speed, two times. Say gonna and wanna where the script has them.</a:t>
            </a:r>
          </a:p>
          <a:p>
            <a:r>
              <a:t>Audio: the listening audio for this lesson (about 1:59)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eight. First, listen to a short news report on the radio. Then two coworkers talk about the news.</a:t>
            </a:r>
          </a:p>
          <a:p>
            <a:r>
              <a:t>Diane Lee: Good morning. This is Diane Lee with your local news. Starting Monday, Oak Street will be closed between First and Fifth Avenue. Workers are going to replace an old water pipe under the street.</a:t>
            </a:r>
          </a:p>
          <a:p>
            <a:r>
              <a:t>Diane Lee: The city says the construction might take two weeks. It may take longer if it rains.</a:t>
            </a:r>
          </a:p>
          <a:p>
            <a:r>
              <a:t>Diane Lee: During the road closure, the number twelve bus will take a detour on Pine Street. Riders should expect delays of about fifteen minutes. The city will post updates on its website. I'm Diane Lee, and that's the news.</a:t>
            </a:r>
          </a:p>
          <a:p>
            <a:r>
              <a:t>Narrator: Later that morning, at work, Marco and Joy talk about the news.</a:t>
            </a:r>
          </a:p>
          <a:p>
            <a:r>
              <a:t>Marco: Joy, did you hear the news? They're closing Oak Street on Monday.</a:t>
            </a:r>
          </a:p>
          <a:p>
            <a:r>
              <a:t>Joy: Oh no. I take the number twelve bus on Oak Street every day.</a:t>
            </a:r>
          </a:p>
          <a:p>
            <a:r>
              <a:t>Marco: The bus is gonna take a detour on Pine Street. It might be fifteen minutes late.</a:t>
            </a:r>
          </a:p>
          <a:p>
            <a:r>
              <a:t>Joy: Fifteen minutes? I might be late for work. Do you know when the bus leaves Pine Street?</a:t>
            </a:r>
          </a:p>
          <a:p>
            <a:r>
              <a:t>Marco: I'm not sure. You could check the city website.</a:t>
            </a:r>
          </a:p>
          <a:p>
            <a:r>
              <a:t>Joy: Good idea. Do you know how long the closure is?</a:t>
            </a:r>
          </a:p>
          <a:p>
            <a:r>
              <a:t>Marco: They said two weeks. But it might take longer if it rains.</a:t>
            </a:r>
          </a:p>
          <a:p>
            <a:r>
              <a:t>Joy: Hmm. Maybe I'll take the earlier bus. I don't want to be late.</a:t>
            </a:r>
          </a:p>
          <a:p>
            <a:r>
              <a:t>Marco: Or I could give you a ride. I drive past your street.</a:t>
            </a:r>
          </a:p>
          <a:p>
            <a:r>
              <a:t>Joy: Really? That would be great. Do you know where the detour starts?</a:t>
            </a:r>
          </a:p>
          <a:p>
            <a:r>
              <a:t>Marco: I think it starts at First Avenue. I'm gonna look at the map tonight.</a:t>
            </a:r>
          </a:p>
          <a:p>
            <a:r>
              <a:t>Joy: Thanks, Marco!</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"If the road is closed, does the bus take a detour?" (yes) • 2. "Is a headline long or short?" (short) • 3. "If there is a delay, is the bus early or late?" (late)</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points to a picture and asks, "Do you know when the construction ends?" B answers with a fact or "I'm not sure. It might end in May."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news, local (in our city); reporter (the person who tells the news); headline (the big words at the top); road closure and detour (draw a street with an X and an arrow around it); construction; water pipe; bus route; delay (the bus is late); announce (say it to everyone); update (new information).</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"In the News" Say: "Understanding short local news reports and city notices: a road closure, a bus detour, a water pipe repair, a new bus route, a new store. Learners say what might or may happen and ask Do you know where / when / why…?. All stories, streets, and cities are invented and neutral."</a:t>
            </a:r>
          </a:p>
          <a:p>
            <a:r>
              <a:t>Read the three lines under "Today you will".</a:t>
            </a:r>
          </a:p>
          <a:p>
            <a:r>
              <a:t>Class stories only: all news is invented and neutral (roads, buses, a library, a store). No politics, crime, injuries, or real current events. If a learner brings up real news, say, "Let's keep to our class stories."</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too / enough; must / mustn't / don't have to</a:t>
            </a:r>
          </a:p>
          <a:p>
            <a:r>
              <a:t>Model with one learner: you say, "Is 6:55 early enough for a 7:00 shift?" The learner answers with too or enough and a reason. Then you ask, "What must you wear at your job or school?"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a:t>
            </a:r>
          </a:p>
          <a:p>
            <a:r>
              <a:t>Homework Check (3 min, last click): Pairs compare Homework item 1 (too / enough / mustn't) and read their 3 rules (item 3) to each other. Then they fill in the box on the Opening Talk page. Also return the midterm and go over 2 common mistakes. Walk around. Write 2 common errors on the board (often It's enough big (→ It's big enough) and You don't have to smoke here for a rule (→ You mustn't smoke here)) and correct them together. Also put up 2 corrections from last week's exit tickets.</a:t>
            </a:r>
          </a:p>
          <a:p>
            <a:r>
              <a:t>After the midterm: this is Week 9. Return the midterm in the Opening Talk and put 2 common mistakes on the board.</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21.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News: a newspaper and a radio">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8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In the News</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Understand a short local news report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might or may happen</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Do you know where / when / why…?</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understand the main points of a short local news report.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say what might or may happen, and what will happen.</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t>
            </a:r>
            <a:r>
              <a:rPr lang="en-US" sz="1500" dirty="0" b="1">
                <a:solidFill>
                  <a:srgbClr val="5B3FC4"/>
                </a:solidFill>
                <a:latin typeface="Lexend Deca" pitchFamily="34" charset="0"/>
                <a:ea typeface="Lexend Deca" pitchFamily="34" charset="-122"/>
                <a:cs typeface="Lexend Deca" pitchFamily="34" charset="-120"/>
              </a:rPr>
              <a:t>Do you know where / when / why…?</a:t>
            </a:r>
            <a:r>
              <a:rPr lang="en-US" sz="1500" dirty="0">
                <a:solidFill>
                  <a:srgbClr val="1B2236"/>
                </a:solidFill>
                <a:latin typeface="Lexend Deca" pitchFamily="34" charset="0"/>
                <a:ea typeface="Lexend Deca" pitchFamily="34" charset="-122"/>
                <a:cs typeface="Lexend Deca" pitchFamily="34" charset="-120"/>
              </a:rPr>
              <a:t> with statement order.</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tell a classmate about a local news story.</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 text or email (5–8 sentences) telling a friend the news.</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Reporter: a person and a microphone [sign: NEWS]"/>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Is 6:55 early enough for a 7:00 shift?</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Why?</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Why? Is it the same in your hometown? What don't you have to do?</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Is 6:55 early enough for a 7:00 shift?</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must you wear at your job or school?</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Are jeans OK for a job interview?</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is too expensive in this city?</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7,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News: a newspaper and a radio"/>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news</a:t>
            </a:r>
            <a:endParaRPr lang="en-US" sz="2000" dirty="0" b="1"/>
          </a:p>
        </p:txBody>
      </p:sp>
      <p:pic>
        <p:nvPicPr>
          <p:cNvPr id="19" name="Word picture 2" descr="Reporter: a person and a microphone [sign: NEWS]"/>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reporter</a:t>
            </a:r>
            <a:endParaRPr lang="en-US" sz="2000" dirty="0" b="1"/>
          </a:p>
        </p:txBody>
      </p:sp>
      <p:pic>
        <p:nvPicPr>
          <p:cNvPr id="21" name="Word picture 3" descr="Headline: a newspaper [sign: NEW STORE OPEN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headline</a:t>
            </a:r>
            <a:endParaRPr lang="en-US" sz="2000" dirty="0" b="1"/>
          </a:p>
        </p:txBody>
      </p:sp>
      <p:pic>
        <p:nvPicPr>
          <p:cNvPr id="23" name="Word picture 4" descr="Road closure: a construction barrier and a road [sign: ROAD CLOSED]"/>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road closure</a:t>
            </a:r>
            <a:endParaRPr lang="en-US" sz="2000" dirty="0" b="1"/>
          </a:p>
        </p:txBody>
      </p:sp>
      <p:pic>
        <p:nvPicPr>
          <p:cNvPr id="25" name="Word picture 5" descr="Detour: a bus and a turning arrow [sign: DETOU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detour</a:t>
            </a:r>
            <a:endParaRPr lang="en-US" sz="2000" dirty="0" b="1"/>
          </a:p>
        </p:txBody>
      </p:sp>
      <p:pic>
        <p:nvPicPr>
          <p:cNvPr id="27" name="Word picture 6" descr="Construction: a construction worker and a cran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construction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Do you know…?</a:t>
            </a:r>
            <a:endParaRPr lang="en-US" sz="2200" dirty="0" b="1"/>
          </a:p>
        </p:txBody>
      </p:sp>
      <p:pic>
        <p:nvPicPr>
          <p:cNvPr id="17" name="Word picture 1" descr="Water pipe: a water tap and a wrench"/>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water pipe</a:t>
            </a:r>
            <a:endParaRPr lang="en-US" sz="2000" dirty="0" b="1"/>
          </a:p>
        </p:txBody>
      </p:sp>
      <p:pic>
        <p:nvPicPr>
          <p:cNvPr id="19" name="Word picture 2" descr="Bus route: a bus and a map [sign: ROUTE 12]"/>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bus route</a:t>
            </a:r>
            <a:endParaRPr lang="en-US" sz="2000" dirty="0" b="1"/>
          </a:p>
        </p:txBody>
      </p:sp>
      <p:pic>
        <p:nvPicPr>
          <p:cNvPr id="21" name="Word picture 3" descr="Delay: a bus stop and an hourglass [sign: +15 MIN]"/>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delay</a:t>
            </a:r>
            <a:endParaRPr lang="en-US" sz="2000" dirty="0" b="1"/>
          </a:p>
        </p:txBody>
      </p:sp>
      <p:pic>
        <p:nvPicPr>
          <p:cNvPr id="23" name="Word picture 4" descr="Announce: a person and a loudspeake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announce</a:t>
            </a:r>
            <a:endParaRPr lang="en-US" sz="2000" dirty="0" b="1"/>
          </a:p>
        </p:txBody>
      </p:sp>
      <p:pic>
        <p:nvPicPr>
          <p:cNvPr id="25" name="Word picture 5" descr="Update: a phone and refresh arrows [sign: UPDAT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update</a:t>
            </a:r>
            <a:endParaRPr lang="en-US" sz="2000" dirty="0" b="1"/>
          </a:p>
        </p:txBody>
      </p:sp>
      <p:pic>
        <p:nvPicPr>
          <p:cNvPr id="27" name="Word picture 6" descr="Local: houses and a map pin"/>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local</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the road is closed, does the bus take a detour?</a:t>
            </a:r>
            <a:endParaRPr lang="en-US" sz="1600" dirty="0" b="1"/>
          </a:p>
        </p:txBody>
      </p:sp>
      <p:pic>
        <p:nvPicPr>
          <p:cNvPr id="101" name="R1 pic" descr="Detour: a bus and a turning arrow [sign: DETOUR]"/>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headline long or short?</a:t>
            </a:r>
            <a:endParaRPr lang="en-US" sz="1600" dirty="0" b="1"/>
          </a:p>
        </p:txBody>
      </p:sp>
      <p:pic>
        <p:nvPicPr>
          <p:cNvPr id="102" name="R2 pic" descr="Headline: a newspaper [sign: NEW STORE OPEN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there is a delay, is the bus early or late?</a:t>
            </a:r>
            <a:endParaRPr lang="en-US" sz="1600" dirty="0" b="1"/>
          </a:p>
        </p:txBody>
      </p:sp>
      <p:pic>
        <p:nvPicPr>
          <p:cNvPr id="103" name="R3 pic" descr="Delay: a bus stop and an hourglass [sign: +15 MIN]"/>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short</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late</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First, you'll hear a short local news report on the radio. Then two coworkers, Marco and Joy, talk about the news.</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Construction: a construction worker and a cran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Diane Lee</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Marco</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Joy</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the news?</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1:59):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the news?</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7830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246888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Oak Street will close for a water pipe repair.</a:t>
            </a:r>
            <a:endParaRPr lang="en-US" sz="1500" dirty="0" b="1"/>
          </a:p>
        </p:txBody>
      </p:sp>
      <p:sp>
        <p:nvSpPr>
          <p:cNvPr id="10" name="R1 opt2"/>
          <p:cNvSpPr/>
          <p:nvPr/>
        </p:nvSpPr>
        <p:spPr>
          <a:xfrm>
            <a:off x="534924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A new grocery store is opening.</a:t>
            </a:r>
            <a:endParaRPr lang="en-US" sz="1500" dirty="0" b="1"/>
          </a:p>
        </p:txBody>
      </p:sp>
      <p:sp>
        <p:nvSpPr>
          <p:cNvPr id="11" name="R1 opt3"/>
          <p:cNvSpPr/>
          <p:nvPr/>
        </p:nvSpPr>
        <p:spPr>
          <a:xfrm>
            <a:off x="822960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The bus will be free next week.</a:t>
            </a:r>
            <a:endParaRPr lang="en-US" sz="1500" dirty="0" b="1"/>
          </a:p>
        </p:txBody>
      </p:sp>
      <p:sp>
        <p:nvSpPr>
          <p:cNvPr id="12" name="R1 circle"/>
          <p:cNvSpPr/>
          <p:nvPr/>
        </p:nvSpPr>
        <p:spPr>
          <a:xfrm>
            <a:off x="2340864" y="3054096"/>
            <a:ext cx="29992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Complete the notes.</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Where: Oak Street, between First and ____ Avenue</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Fifth</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Ninth</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When: starting</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Monday</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Friday</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Why: workers will replace an old</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water pipe</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bus stop</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How long: maybe</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two weeks</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two days</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The bus detour: on</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Pine Street</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Main Street</a:t>
            </a:r>
            <a:endParaRPr lang="en-US" sz="1400" dirty="0" b="1"/>
          </a:p>
        </p:txBody>
      </p:sp>
      <p:sp>
        <p:nvSpPr>
          <p:cNvPr id="27" name="R5 circle"/>
          <p:cNvSpPr/>
          <p:nvPr/>
        </p:nvSpPr>
        <p:spPr>
          <a:xfrm>
            <a:off x="650138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Delays: about ____ minutes</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fifteen</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fifty</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a:t>
            </a:r>
            <a:r>
              <a:rPr lang="en-US" sz="2000" dirty="0" b="1">
                <a:solidFill>
                  <a:srgbClr val="5B3FC4"/>
                </a:solidFill>
                <a:latin typeface="Lexend Deca" pitchFamily="34" charset="0"/>
                <a:ea typeface="Lexend Deca" pitchFamily="34" charset="-122"/>
                <a:cs typeface="Lexend Deca" pitchFamily="34" charset="-120"/>
              </a:rPr>
              <a:t>might</a:t>
            </a:r>
            <a:r>
              <a:rPr lang="en-US" sz="2000" dirty="0">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will</a:t>
            </a:r>
            <a:r>
              <a:rPr lang="en-US" sz="2000" dirty="0">
                <a:solidFill>
                  <a:srgbClr val="1B2236"/>
                </a:solidFill>
                <a:latin typeface="Lexend Deca" pitchFamily="34" charset="0"/>
                <a:ea typeface="Lexend Deca" pitchFamily="34" charset="-122"/>
                <a:cs typeface="Lexend Deca" pitchFamily="34" charset="-120"/>
              </a:rPr>
              <a:t>, or a question word.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missing word: </a:t>
            </a:r>
            <a:r>
              <a:rPr lang="en-US" sz="2000" dirty="0" b="1">
                <a:solidFill>
                  <a:srgbClr val="5B3FC4"/>
                </a:solidFill>
                <a:latin typeface="Lexend Deca" pitchFamily="34" charset="0"/>
                <a:ea typeface="Lexend Deca" pitchFamily="34" charset="-122"/>
                <a:cs typeface="Lexend Deca" pitchFamily="34" charset="-120"/>
              </a:rPr>
              <a:t>might</a:t>
            </a:r>
            <a:r>
              <a:rPr lang="en-US" sz="2000" dirty="0" b="1">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will</a:t>
            </a:r>
            <a:r>
              <a:rPr lang="en-US" sz="2000" dirty="0" b="1">
                <a:solidFill>
                  <a:srgbClr val="1B2236"/>
                </a:solidFill>
                <a:latin typeface="Lexend Deca" pitchFamily="34" charset="0"/>
                <a:ea typeface="Lexend Deca" pitchFamily="34" charset="-122"/>
                <a:cs typeface="Lexend Deca" pitchFamily="34" charset="-120"/>
              </a:rPr>
              <a:t>, or a question word.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city says the construction ____ take two weeks.</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might</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city ____ post updates on its website.</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will</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know ____ the bus leaves Pine Street?</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when</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know ____ long the closure is?</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how</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But it ____ take longer if it rains.</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might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know ____ the detour starts?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where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might, and Do you know…?</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You will hear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In </a:t>
            </a:r>
            <a:r>
              <a:rPr lang="en-US" sz="2000" dirty="0" b="1">
                <a:solidFill>
                  <a:srgbClr val="5B3FC4"/>
                </a:solidFill>
                <a:latin typeface="Lexend Deca" pitchFamily="34" charset="0"/>
                <a:ea typeface="Lexend Deca" pitchFamily="34" charset="-122"/>
                <a:cs typeface="Lexend Deca" pitchFamily="34" charset="-120"/>
              </a:rPr>
              <a:t>might</a:t>
            </a:r>
            <a:r>
              <a:rPr lang="en-US" sz="2000" dirty="0" b="0">
                <a:solidFill>
                  <a:srgbClr val="1B2236"/>
                </a:solidFill>
                <a:latin typeface="Lexend Deca" pitchFamily="34" charset="0"/>
                <a:ea typeface="Lexend Deca" pitchFamily="34" charset="-122"/>
                <a:cs typeface="Lexend Deca" pitchFamily="34" charset="-120"/>
              </a:rPr>
              <a:t>, the last </a:t>
            </a:r>
            <a:r>
              <a:rPr lang="en-US" sz="2000" dirty="0" b="1">
                <a:solidFill>
                  <a:srgbClr val="5B3FC4"/>
                </a:solidFill>
                <a:latin typeface="Lexend Deca" pitchFamily="34" charset="0"/>
                <a:ea typeface="Lexend Deca" pitchFamily="34" charset="-122"/>
                <a:cs typeface="Lexend Deca" pitchFamily="34" charset="-120"/>
              </a:rPr>
              <a:t>t</a:t>
            </a:r>
            <a:r>
              <a:rPr lang="en-US" sz="2000" dirty="0" b="0">
                <a:solidFill>
                  <a:srgbClr val="1B2236"/>
                </a:solidFill>
                <a:latin typeface="Lexend Deca" pitchFamily="34" charset="0"/>
                <a:ea typeface="Lexend Deca" pitchFamily="34" charset="-122"/>
                <a:cs typeface="Lexend Deca" pitchFamily="34" charset="-120"/>
              </a:rPr>
              <a:t> is very short.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 bus is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take a detour.</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look at the map tonight.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a:t>
            </a:r>
            <a:r>
              <a:rPr lang="en-US" sz="1800" dirty="0" b="1">
                <a:solidFill>
                  <a:srgbClr val="5B3FC4"/>
                </a:solidFill>
                <a:latin typeface="Lexend Deca" pitchFamily="34" charset="0"/>
                <a:ea typeface="Lexend Deca" pitchFamily="34" charset="-122"/>
                <a:cs typeface="Lexend Deca" pitchFamily="34" charset="-120"/>
              </a:rPr>
              <a:t>migh'</a:t>
            </a:r>
            <a:r>
              <a:rPr lang="en-US" sz="1800" dirty="0" b="1">
                <a:solidFill>
                  <a:srgbClr val="1B2236"/>
                </a:solidFill>
                <a:latin typeface="Lexend Deca" pitchFamily="34" charset="0"/>
                <a:ea typeface="Lexend Deca" pitchFamily="34" charset="-122"/>
                <a:cs typeface="Lexend Deca" pitchFamily="34" charset="-120"/>
              </a:rPr>
              <a:t> be late.</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Do you know…?</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Water pipe: a water tap and a wrench"/>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might / may / could (maybe)</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Will</a:t>
            </a:r>
            <a:r>
              <a:rPr lang="en-US" sz="1700" dirty="0" b="1">
                <a:solidFill>
                  <a:srgbClr val="1B2236"/>
                </a:solidFill>
                <a:latin typeface="Lexend Deca" pitchFamily="34" charset="0"/>
                <a:ea typeface="Lexend Deca" pitchFamily="34" charset="-122"/>
                <a:cs typeface="Lexend Deca" pitchFamily="34" charset="-120"/>
              </a:rPr>
              <a:t> the road </a:t>
            </a:r>
            <a:r>
              <a:rPr lang="en-US" sz="1700" dirty="0" b="1">
                <a:solidFill>
                  <a:srgbClr val="1B2236"/>
                </a:solidFill>
                <a:latin typeface="Lexend Deca" pitchFamily="34" charset="0"/>
                <a:ea typeface="Lexend Deca" pitchFamily="34" charset="-122"/>
                <a:cs typeface="Lexend Deca" pitchFamily="34" charset="-120"/>
              </a:rPr>
              <a:t>be</a:t>
            </a:r>
            <a:r>
              <a:rPr lang="en-US" sz="1700" dirty="0" b="1">
                <a:solidFill>
                  <a:srgbClr val="1B2236"/>
                </a:solidFill>
                <a:latin typeface="Lexend Deca" pitchFamily="34" charset="0"/>
                <a:ea typeface="Lexend Deca" pitchFamily="34" charset="-122"/>
                <a:cs typeface="Lexend Deca" pitchFamily="34" charset="-120"/>
              </a:rPr>
              <a:t> closed tomorrow?</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a:t>
            </a:r>
            <a:r>
              <a:rPr lang="en-US" sz="1700" dirty="0" b="1">
                <a:solidFill>
                  <a:srgbClr val="1B2236"/>
                </a:solidFill>
                <a:latin typeface="Lexend Deca" pitchFamily="34" charset="0"/>
                <a:ea typeface="Lexend Deca" pitchFamily="34" charset="-122"/>
                <a:cs typeface="Lexend Deca" pitchFamily="34" charset="-120"/>
              </a:rPr>
              <a:t>might be</a:t>
            </a:r>
            <a:r>
              <a:rPr lang="en-US" sz="1700" dirty="0" b="1">
                <a:solidFill>
                  <a:srgbClr val="1B2236"/>
                </a:solidFill>
                <a:latin typeface="Lexend Deca" pitchFamily="34" charset="0"/>
                <a:ea typeface="Lexend Deca" pitchFamily="34" charset="-122"/>
                <a:cs typeface="Lexend Deca" pitchFamily="34" charset="-120"/>
              </a:rPr>
              <a:t>. I'm not sure.</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Will</a:t>
            </a:r>
            <a:r>
              <a:rPr lang="en-US" sz="1700" dirty="0" b="1">
                <a:solidFill>
                  <a:srgbClr val="1B2236"/>
                </a:solidFill>
                <a:latin typeface="Lexend Deca" pitchFamily="34" charset="0"/>
                <a:ea typeface="Lexend Deca" pitchFamily="34" charset="-122"/>
                <a:cs typeface="Lexend Deca" pitchFamily="34" charset="-120"/>
              </a:rPr>
              <a:t> the repair </a:t>
            </a:r>
            <a:r>
              <a:rPr lang="en-US" sz="1700" dirty="0" b="1">
                <a:solidFill>
                  <a:srgbClr val="1B2236"/>
                </a:solidFill>
                <a:latin typeface="Lexend Deca" pitchFamily="34" charset="0"/>
                <a:ea typeface="Lexend Deca" pitchFamily="34" charset="-122"/>
                <a:cs typeface="Lexend Deca" pitchFamily="34" charset="-120"/>
              </a:rPr>
              <a:t>take</a:t>
            </a:r>
            <a:r>
              <a:rPr lang="en-US" sz="1700" dirty="0" b="1">
                <a:solidFill>
                  <a:srgbClr val="1B2236"/>
                </a:solidFill>
                <a:latin typeface="Lexend Deca" pitchFamily="34" charset="0"/>
                <a:ea typeface="Lexend Deca" pitchFamily="34" charset="-122"/>
                <a:cs typeface="Lexend Deca" pitchFamily="34" charset="-120"/>
              </a:rPr>
              <a:t> two weeks?</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a:t>
            </a:r>
            <a:r>
              <a:rPr lang="en-US" sz="1700" dirty="0" b="1">
                <a:solidFill>
                  <a:srgbClr val="1B2236"/>
                </a:solidFill>
                <a:latin typeface="Lexend Deca" pitchFamily="34" charset="0"/>
                <a:ea typeface="Lexend Deca" pitchFamily="34" charset="-122"/>
                <a:cs typeface="Lexend Deca" pitchFamily="34" charset="-120"/>
              </a:rPr>
              <a:t>may take</a:t>
            </a:r>
            <a:r>
              <a:rPr lang="en-US" sz="1700" dirty="0" b="1">
                <a:solidFill>
                  <a:srgbClr val="1B2236"/>
                </a:solidFill>
                <a:latin typeface="Lexend Deca" pitchFamily="34" charset="0"/>
                <a:ea typeface="Lexend Deca" pitchFamily="34" charset="-122"/>
                <a:cs typeface="Lexend Deca" pitchFamily="34" charset="-120"/>
              </a:rPr>
              <a:t> longer. It depends on the rain.</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 will</a:t>
            </a:r>
            <a:r>
              <a:rPr lang="en-US" sz="1700" dirty="0" b="1">
                <a:solidFill>
                  <a:srgbClr val="1B2236"/>
                </a:solidFill>
                <a:latin typeface="Lexend Deca" pitchFamily="34" charset="0"/>
                <a:ea typeface="Lexend Deca" pitchFamily="34" charset="-122"/>
                <a:cs typeface="Lexend Deca" pitchFamily="34" charset="-120"/>
              </a:rPr>
              <a:t> the road </a:t>
            </a:r>
            <a:r>
              <a:rPr lang="en-US" sz="1700" dirty="0" b="1">
                <a:solidFill>
                  <a:srgbClr val="1B2236"/>
                </a:solidFill>
                <a:latin typeface="Lexend Deca" pitchFamily="34" charset="0"/>
                <a:ea typeface="Lexend Deca" pitchFamily="34" charset="-122"/>
                <a:cs typeface="Lexend Deca" pitchFamily="34" charset="-120"/>
              </a:rPr>
              <a:t>open</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I'm not sure. It </a:t>
            </a:r>
            <a:r>
              <a:rPr lang="en-US" sz="1700" dirty="0" b="1">
                <a:solidFill>
                  <a:srgbClr val="1B2236"/>
                </a:solidFill>
                <a:latin typeface="Lexend Deca" pitchFamily="34" charset="0"/>
                <a:ea typeface="Lexend Deca" pitchFamily="34" charset="-122"/>
                <a:cs typeface="Lexend Deca" pitchFamily="34" charset="-120"/>
              </a:rPr>
              <a:t>could open</a:t>
            </a:r>
            <a:r>
              <a:rPr lang="en-US" sz="1700" dirty="0" b="1">
                <a:solidFill>
                  <a:srgbClr val="1B2236"/>
                </a:solidFill>
                <a:latin typeface="Lexend Deca" pitchFamily="34" charset="0"/>
                <a:ea typeface="Lexend Deca" pitchFamily="34" charset="-122"/>
                <a:cs typeface="Lexend Deca" pitchFamily="34" charset="-120"/>
              </a:rPr>
              <a:t> next week.</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Will</a:t>
            </a:r>
            <a:r>
              <a:rPr lang="en-US" sz="1700" dirty="0" b="1">
                <a:solidFill>
                  <a:srgbClr val="1B2236"/>
                </a:solidFill>
                <a:latin typeface="Lexend Deca" pitchFamily="34" charset="0"/>
                <a:ea typeface="Lexend Deca" pitchFamily="34" charset="-122"/>
                <a:cs typeface="Lexend Deca" pitchFamily="34" charset="-120"/>
              </a:rPr>
              <a:t> the bus </a:t>
            </a:r>
            <a:r>
              <a:rPr lang="en-US" sz="1700" dirty="0" b="1">
                <a:solidFill>
                  <a:srgbClr val="1B2236"/>
                </a:solidFill>
                <a:latin typeface="Lexend Deca" pitchFamily="34" charset="0"/>
                <a:ea typeface="Lexend Deca" pitchFamily="34" charset="-122"/>
                <a:cs typeface="Lexend Deca" pitchFamily="34" charset="-120"/>
              </a:rPr>
              <a:t>be</a:t>
            </a:r>
            <a:r>
              <a:rPr lang="en-US" sz="1700" dirty="0" b="1">
                <a:solidFill>
                  <a:srgbClr val="1B2236"/>
                </a:solidFill>
                <a:latin typeface="Lexend Deca" pitchFamily="34" charset="0"/>
                <a:ea typeface="Lexend Deca" pitchFamily="34" charset="-122"/>
                <a:cs typeface="Lexend Deca" pitchFamily="34" charset="-120"/>
              </a:rPr>
              <a:t> on time?</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a:t>
            </a:r>
            <a:r>
              <a:rPr lang="en-US" sz="1700" dirty="0" b="1">
                <a:solidFill>
                  <a:srgbClr val="1B2236"/>
                </a:solidFill>
                <a:latin typeface="Lexend Deca" pitchFamily="34" charset="0"/>
                <a:ea typeface="Lexend Deca" pitchFamily="34" charset="-122"/>
                <a:cs typeface="Lexend Deca" pitchFamily="34" charset="-120"/>
              </a:rPr>
              <a:t>might not be</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might be</a:t>
            </a:r>
            <a:r>
              <a:rPr lang="en-US" sz="1700" dirty="0" b="1">
                <a:solidFill>
                  <a:srgbClr val="1B2236"/>
                </a:solidFill>
                <a:latin typeface="Lexend Deca" pitchFamily="34" charset="0"/>
                <a:ea typeface="Lexend Deca" pitchFamily="34" charset="-122"/>
                <a:cs typeface="Lexend Deca" pitchFamily="34" charset="-120"/>
              </a:rPr>
              <a:t> 15 minutes late.</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Bus route: a bus and a map [sign: ROUTE 12]"/>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Do you know where…? (a first look)</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know</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where</a:t>
            </a:r>
            <a:r>
              <a:rPr lang="en-US" sz="1700" dirty="0" b="1">
                <a:solidFill>
                  <a:srgbClr val="1B2236"/>
                </a:solidFill>
                <a:latin typeface="Lexend Deca" pitchFamily="34" charset="0"/>
                <a:ea typeface="Lexend Deca" pitchFamily="34" charset="-122"/>
                <a:cs typeface="Lexend Deca" pitchFamily="34" charset="-120"/>
              </a:rPr>
              <a:t> the meeting </a:t>
            </a:r>
            <a:r>
              <a:rPr lang="en-US" sz="1700" dirty="0" b="1">
                <a:solidFill>
                  <a:srgbClr val="1B2236"/>
                </a:solidFill>
                <a:latin typeface="Lexend Deca" pitchFamily="34" charset="0"/>
                <a:ea typeface="Lexend Deca" pitchFamily="34" charset="-122"/>
                <a:cs typeface="Lexend Deca" pitchFamily="34" charset="-120"/>
              </a:rPr>
              <a:t>is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it's at the library.</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know</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when</a:t>
            </a:r>
            <a:r>
              <a:rPr lang="en-US" sz="1700" dirty="0" b="1">
                <a:solidFill>
                  <a:srgbClr val="1B2236"/>
                </a:solidFill>
                <a:latin typeface="Lexend Deca" pitchFamily="34" charset="0"/>
                <a:ea typeface="Lexend Deca" pitchFamily="34" charset="-122"/>
                <a:cs typeface="Lexend Deca" pitchFamily="34" charset="-120"/>
              </a:rPr>
              <a:t> the new bus route </a:t>
            </a:r>
            <a:r>
              <a:rPr lang="en-US" sz="1700" dirty="0" b="1">
                <a:solidFill>
                  <a:srgbClr val="1B2236"/>
                </a:solidFill>
                <a:latin typeface="Lexend Deca" pitchFamily="34" charset="0"/>
                <a:ea typeface="Lexend Deca" pitchFamily="34" charset="-122"/>
                <a:cs typeface="Lexend Deca" pitchFamily="34" charset="-120"/>
              </a:rPr>
              <a:t>starts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think it starts in May.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know</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what time</a:t>
            </a:r>
            <a:r>
              <a:rPr lang="en-US" sz="1700" dirty="0" b="1">
                <a:solidFill>
                  <a:srgbClr val="1B2236"/>
                </a:solidFill>
                <a:latin typeface="Lexend Deca" pitchFamily="34" charset="0"/>
                <a:ea typeface="Lexend Deca" pitchFamily="34" charset="-122"/>
                <a:cs typeface="Lexend Deca" pitchFamily="34" charset="-120"/>
              </a:rPr>
              <a:t> the store </a:t>
            </a:r>
            <a:r>
              <a:rPr lang="en-US" sz="1700" dirty="0" b="1">
                <a:solidFill>
                  <a:srgbClr val="1B2236"/>
                </a:solidFill>
                <a:latin typeface="Lexend Deca" pitchFamily="34" charset="0"/>
                <a:ea typeface="Lexend Deca" pitchFamily="34" charset="-122"/>
                <a:cs typeface="Lexend Deca" pitchFamily="34" charset="-120"/>
              </a:rPr>
              <a:t>opens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I'm not sure. It might open at 8:00.</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know</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why</a:t>
            </a:r>
            <a:r>
              <a:rPr lang="en-US" sz="1700" dirty="0" b="1">
                <a:solidFill>
                  <a:srgbClr val="1B2236"/>
                </a:solidFill>
                <a:latin typeface="Lexend Deca" pitchFamily="34" charset="0"/>
                <a:ea typeface="Lexend Deca" pitchFamily="34" charset="-122"/>
                <a:cs typeface="Lexend Deca" pitchFamily="34" charset="-120"/>
              </a:rPr>
              <a:t> the street </a:t>
            </a:r>
            <a:r>
              <a:rPr lang="en-US" sz="1700" dirty="0" b="1">
                <a:solidFill>
                  <a:srgbClr val="1B2236"/>
                </a:solidFill>
                <a:latin typeface="Lexend Deca" pitchFamily="34" charset="0"/>
                <a:ea typeface="Lexend Deca" pitchFamily="34" charset="-122"/>
                <a:cs typeface="Lexend Deca" pitchFamily="34" charset="-120"/>
              </a:rPr>
              <a:t>is</a:t>
            </a:r>
            <a:r>
              <a:rPr lang="en-US" sz="1700" dirty="0" b="1">
                <a:solidFill>
                  <a:srgbClr val="1B2236"/>
                </a:solidFill>
                <a:latin typeface="Lexend Deca" pitchFamily="34" charset="0"/>
                <a:ea typeface="Lexend Deca" pitchFamily="34" charset="-122"/>
                <a:cs typeface="Lexend Deca" pitchFamily="34" charset="-120"/>
              </a:rPr>
              <a:t> closed?</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Workers are fixing a water pipe.</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elay: a bus stop and an hourglass [sign: +15 MI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will (sure) or might (maybe)?</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HOW SURE?  ·  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will</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sure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The road will close at 8:00 on Monday.</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will probably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almost sure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It will probably take two weeks.</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might / may / could</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maybe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It might open early.</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might not / may not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maybe not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The bus might not be on time.</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Announce: a person and a loudspeake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from a question to Do you know…?</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DO YOU KNOW…?</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Where is the meeting?</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 you know where the meeting is?</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When does the bus leave?</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 you know when the bus leaves?</a:t>
            </a:r>
            <a:r>
              <a:rPr lang="en-US" sz="1700" dirty="0" b="1">
                <a:solidFill>
                  <a:srgbClr val="1B2236"/>
                </a:solidFill>
                <a:latin typeface="Lexend Deca" pitchFamily="34" charset="0"/>
                <a:ea typeface="Lexend Deca" pitchFamily="34" charset="-122"/>
                <a:cs typeface="Lexend Deca" pitchFamily="34" charset="-120"/>
              </a:rPr>
              <a:t> (no </a:t>
            </a:r>
            <a:r>
              <a:rPr lang="en-US" sz="1700" dirty="0" b="1">
                <a:solidFill>
                  <a:srgbClr val="5B3FC4"/>
                </a:solidFill>
                <a:latin typeface="Lexend Deca" pitchFamily="34" charset="0"/>
                <a:ea typeface="Lexend Deca" pitchFamily="34" charset="-122"/>
                <a:cs typeface="Lexend Deca" pitchFamily="34" charset="-120"/>
              </a:rPr>
              <a:t>does</a:t>
            </a:r>
            <a:r>
              <a:rPr lang="en-US" sz="1700" dirty="0" b="1">
                <a:solidFill>
                  <a:srgbClr val="1B2236"/>
                </a:solidFill>
                <a:latin typeface="Lexend Deca" pitchFamily="34" charset="0"/>
                <a:ea typeface="Lexend Deca" pitchFamily="34" charset="-122"/>
                <a:cs typeface="Lexend Deca" pitchFamily="34" charset="-120"/>
              </a:rPr>
              <a:t>; add </a:t>
            </a:r>
            <a:r>
              <a:rPr lang="en-US" sz="1700" dirty="0" b="1">
                <a:solidFill>
                  <a:srgbClr val="5B3FC4"/>
                </a:solidFill>
                <a:latin typeface="Lexend Deca" pitchFamily="34" charset="0"/>
                <a:ea typeface="Lexend Deca" pitchFamily="34" charset="-122"/>
                <a:cs typeface="Lexend Deca" pitchFamily="34" charset="-120"/>
              </a:rPr>
              <a:t>-s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Why is the street closed?</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 you know why the street is closed?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word or form.</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word or form.</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very cloudy. It ____ rain later. (might / will)</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might</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sign says the road ____ close at 8:00 on Monday. (might / will)</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will</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store might ____ next month. (open)</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open</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know where the library ____? (be)</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is</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know when the bus ____? (leave)</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leaves</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I'm not sure. The bus may ____ late. (be)</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The repair might ____ two weeks.</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take</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take</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Do you know ____?</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where the meeting is</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where is the meeting</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It ____ rain tomorrow.</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might not</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doesn't might</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Do you know what time the store ____?</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opens</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does open</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The schedule says the bus ____ leave at 7:05. (sure)</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will</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might</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I'm not sure. It ____ open in June. (maybe)</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may</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will</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Update: a phone and refresh arrows [sign: UPDATE]"/>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 might rains tomorrow.</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might </a:t>
            </a:r>
            <a:r>
              <a:rPr lang="en-US" sz="1700" dirty="0" b="1">
                <a:solidFill>
                  <a:srgbClr val="1B2236"/>
                </a:solidFill>
                <a:latin typeface="Lexend Deca" pitchFamily="34" charset="0"/>
                <a:ea typeface="Lexend Deca" pitchFamily="34" charset="-122"/>
                <a:cs typeface="Lexend Deca" pitchFamily="34" charset="-120"/>
              </a:rPr>
              <a:t>rain</a:t>
            </a:r>
            <a:r>
              <a:rPr lang="en-US" sz="1700" dirty="0" b="1">
                <a:solidFill>
                  <a:srgbClr val="1B2236"/>
                </a:solidFill>
                <a:latin typeface="Lexend Deca" pitchFamily="34" charset="0"/>
                <a:ea typeface="Lexend Deca" pitchFamily="34" charset="-122"/>
                <a:cs typeface="Lexend Deca" pitchFamily="34" charset="-120"/>
              </a:rPr>
              <a:t> tomorrow.</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The road might to close.</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road might </a:t>
            </a:r>
            <a:r>
              <a:rPr lang="en-US" sz="1700" dirty="0" b="1">
                <a:solidFill>
                  <a:srgbClr val="1B2236"/>
                </a:solidFill>
                <a:latin typeface="Lexend Deca" pitchFamily="34" charset="0"/>
                <a:ea typeface="Lexend Deca" pitchFamily="34" charset="-122"/>
                <a:cs typeface="Lexend Deca" pitchFamily="34" charset="-120"/>
              </a:rPr>
              <a:t>close</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 you know where is the bank?</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know where </a:t>
            </a:r>
            <a:r>
              <a:rPr lang="en-US" sz="1700" dirty="0" b="1">
                <a:solidFill>
                  <a:srgbClr val="1B2236"/>
                </a:solidFill>
                <a:latin typeface="Lexend Deca" pitchFamily="34" charset="0"/>
                <a:ea typeface="Lexend Deca" pitchFamily="34" charset="-122"/>
                <a:cs typeface="Lexend Deca" pitchFamily="34" charset="-120"/>
              </a:rPr>
              <a:t>the bank is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0" name="Bad 4"/>
          <p:cNvSpPr/>
          <p:nvPr/>
        </p:nvSpPr>
        <p:spPr>
          <a:xfrm>
            <a:off x="914400" y="416966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 you know when does the bus leave?</a:t>
            </a:r>
            <a:endParaRPr lang="en-US" sz="1700" dirty="0"/>
          </a:p>
        </p:txBody>
      </p:sp>
      <p:sp>
        <p:nvSpPr>
          <p:cNvPr id="31" name="Good 4"/>
          <p:cNvSpPr/>
          <p:nvPr/>
        </p:nvSpPr>
        <p:spPr>
          <a:xfrm>
            <a:off x="4800600" y="416966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know when </a:t>
            </a:r>
            <a:r>
              <a:rPr lang="en-US" sz="1700" dirty="0" b="1">
                <a:solidFill>
                  <a:srgbClr val="1B2236"/>
                </a:solidFill>
                <a:latin typeface="Lexend Deca" pitchFamily="34" charset="0"/>
                <a:ea typeface="Lexend Deca" pitchFamily="34" charset="-122"/>
                <a:cs typeface="Lexend Deca" pitchFamily="34" charset="-120"/>
              </a:rPr>
              <a:t>the bus leaves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2" name="Bad 5"/>
          <p:cNvSpPr/>
          <p:nvPr/>
        </p:nvSpPr>
        <p:spPr>
          <a:xfrm>
            <a:off x="914400" y="5010912"/>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I'm sure. The road might close at 8:00.</a:t>
            </a:r>
            <a:endParaRPr lang="en-US" sz="1700" dirty="0"/>
          </a:p>
        </p:txBody>
      </p:sp>
      <p:sp>
        <p:nvSpPr>
          <p:cNvPr id="33" name="Good 5"/>
          <p:cNvSpPr/>
          <p:nvPr/>
        </p:nvSpPr>
        <p:spPr>
          <a:xfrm>
            <a:off x="4800600" y="5010912"/>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I'm sure. The road </a:t>
            </a:r>
            <a:r>
              <a:rPr lang="en-US" sz="1700" dirty="0" b="1">
                <a:solidFill>
                  <a:srgbClr val="1B2236"/>
                </a:solidFill>
                <a:latin typeface="Lexend Deca" pitchFamily="34" charset="0"/>
                <a:ea typeface="Lexend Deca" pitchFamily="34" charset="-122"/>
                <a:cs typeface="Lexend Deca" pitchFamily="34" charset="-120"/>
              </a:rPr>
              <a:t>will</a:t>
            </a:r>
            <a:r>
              <a:rPr lang="en-US" sz="1700" dirty="0" b="1">
                <a:solidFill>
                  <a:srgbClr val="1B2236"/>
                </a:solidFill>
                <a:latin typeface="Lexend Deca" pitchFamily="34" charset="0"/>
                <a:ea typeface="Lexend Deca" pitchFamily="34" charset="-122"/>
                <a:cs typeface="Lexend Deca" pitchFamily="34" charset="-120"/>
              </a:rPr>
              <a:t> close at 8:00.</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Local: houses and a map pin"/>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Do you know when the construction ends?</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A fact, or:</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I'm not sure. It might end in May.</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points to a picture and asks.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News: a newspaper and a radio"/>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News Swap</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Don't show your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reads card A, and B reads card B.</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Don't show your card.</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Ask and write your partner's facts.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Do you know when / where / why…?</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Then change partners and retell the story.</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Do you know why? Because…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Headline: a newspaper [sign: NEW STORE OPENS]"/>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800" dirty="0" b="1">
                <a:solidFill>
                  <a:srgbClr val="1B2236"/>
                </a:solidFill>
                <a:latin typeface="Lexend Deca" pitchFamily="34" charset="0"/>
                <a:ea typeface="Lexend Deca" pitchFamily="34" charset="-122"/>
                <a:cs typeface="Lexend Deca" pitchFamily="34" charset="-120"/>
              </a:rPr>
              <a:t>What Might Happen?</a:t>
            </a:r>
            <a:endParaRPr lang="en-US" sz="28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Choose a headline.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Choose a headline.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Write 4 predictions.</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Use might, may, and will probably.</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There might be more traffic on Main Street.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Then read them to the class.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I'm not sure, but… • Maybe, but…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fast first.</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MAPLE FALLS NEWS · New Bus Route Will Connect Hospital and College (invented city)</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the main idea?</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new bus route, Route 9, will start on May 6.</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often will the buses run?</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Every 20 minutes.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will a ride cost?</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$1.50 (and free for the first week).</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might the city add in the fall?</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Sunday service.</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can riders see the map?</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On the city website or at the library.</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Road closure: a construction barrier and a road [sign: ROAD CLOSED]"/>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What might change in your neighborhood or at your job next year?</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One change, with might or may.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Another change, with might or may.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or question.</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from Read &amp; Write C (your text or email).</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things that might change in your neighborhood or city.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7).</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Detour: a bus and a turning arrow [sign: DETOUR]">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8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Understand a short local news report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might or may happen</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Do you know where / when / why…?</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Diane Lee, Marco, Joy, Ana Ruiz, and Lina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8: In the News</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