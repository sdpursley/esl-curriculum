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783" r:id="rId33"/>
    <p:sldId id="784" r:id="rId34"/>
    <p:sldId id="785" r:id="rId35"/>
    <p:sldId id="786" r:id="rId36"/>
    <p:sldId id="787" r:id="rId31"/>
    <p:sldId id="788" r:id="rId30"/>
    <p:sldId id="789" r:id="rId29"/>
    <p:sldId id="790" r:id="rId28"/>
    <p:sldId id="791" r:id="rId27"/>
    <p:sldId id="792" r:id="rId20"/>
    <p:sldId id="793" r:id="rId18"/>
    <p:sldId id="794" r:id="rId17"/>
    <p:sldId id="795" r:id="rId16"/>
    <p:sldId id="796" r:id="rId14"/>
    <p:sldId id="797" r:id="rId13"/>
    <p:sldId id="798" r:id="rId12"/>
    <p:sldId id="799" r:id="rId11"/>
    <p:sldId id="800" r:id="rId10"/>
    <p:sldId id="801" r:id="rId8"/>
    <p:sldId id="802" r:id="rId7"/>
    <p:sldId id="803" r:id="rId6"/>
    <p:sldId id="804" r:id="rId5"/>
    <p:sldId id="805" r:id="rId4"/>
    <p:sldId id="806" r:id="rId3"/>
    <p:sldId id="807" r:id="rId57"/>
    <p:sldId id="808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2.xml"/><Relationship Id="rId3" Type="http://schemas.openxmlformats.org/officeDocument/2006/relationships/slide" Target="slides/slide50.xml"/><Relationship Id="rId4" Type="http://schemas.openxmlformats.org/officeDocument/2006/relationships/slide" Target="slides/slide49.xml"/><Relationship Id="rId5" Type="http://schemas.openxmlformats.org/officeDocument/2006/relationships/slide" Target="slides/slide48.xml"/><Relationship Id="rId6" Type="http://schemas.openxmlformats.org/officeDocument/2006/relationships/slide" Target="slides/slide47.xml"/><Relationship Id="rId7" Type="http://schemas.openxmlformats.org/officeDocument/2006/relationships/slide" Target="slides/slide46.xml"/><Relationship Id="rId8" Type="http://schemas.openxmlformats.org/officeDocument/2006/relationships/slide" Target="slides/slide45.xml"/><Relationship Id="rId10" Type="http://schemas.openxmlformats.org/officeDocument/2006/relationships/slide" Target="slides/slide44.xml"/><Relationship Id="rId11" Type="http://schemas.openxmlformats.org/officeDocument/2006/relationships/slide" Target="slides/slide43.xml"/><Relationship Id="rId12" Type="http://schemas.openxmlformats.org/officeDocument/2006/relationships/slide" Target="slides/slide42.xml"/><Relationship Id="rId13" Type="http://schemas.openxmlformats.org/officeDocument/2006/relationships/slide" Target="slides/slide41.xml"/><Relationship Id="rId14" Type="http://schemas.openxmlformats.org/officeDocument/2006/relationships/slide" Target="slides/slide40.xml"/><Relationship Id="rId16" Type="http://schemas.openxmlformats.org/officeDocument/2006/relationships/slide" Target="slides/slide39.xml"/><Relationship Id="rId17" Type="http://schemas.openxmlformats.org/officeDocument/2006/relationships/slide" Target="slides/slide38.xml"/><Relationship Id="rId18" Type="http://schemas.openxmlformats.org/officeDocument/2006/relationships/slide" Target="slides/slide37.xml"/><Relationship Id="rId20" Type="http://schemas.openxmlformats.org/officeDocument/2006/relationships/slide" Target="slides/slide36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35.xml"/><Relationship Id="rId28" Type="http://schemas.openxmlformats.org/officeDocument/2006/relationships/slide" Target="slides/slide34.xml"/><Relationship Id="rId29" Type="http://schemas.openxmlformats.org/officeDocument/2006/relationships/slide" Target="slides/slide33.xml"/><Relationship Id="rId30" Type="http://schemas.openxmlformats.org/officeDocument/2006/relationships/slide" Target="slides/slide32.xml"/><Relationship Id="rId31" Type="http://schemas.openxmlformats.org/officeDocument/2006/relationships/slide" Target="slides/slide31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57" Type="http://schemas.openxmlformats.org/officeDocument/2006/relationships/slide" Target="slides/slide5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+ Homework · 5 min · NEVER SKIP.</a:t>
            </a:r>
          </a:p>
          <a:p>
            <a:r>
              <a:t>Exit ticket (3 min): learners open the Exit Ticket page and answer in 3 sentences with a reason: What might change in your neighborhood or at your job next year? Example on the board: A new store might open near my house. My job may change my schedule. I think so because there's construction on my street and my company is very busy. With 5 or fewer, a learner can say it to you first and then write it.</a:t>
            </a:r>
          </a:p>
          <a:p>
            <a:r>
              <a:t>Collect the pages. After class, sort them into ✓ / almost / not yet. Start next week with 2 corrections on the board (no names).</a:t>
            </a:r>
          </a:p>
          <a:p>
            <a:r>
              <a:t>Homework (2 min): open the Homework page. Do item 1 together (item 1: the store / may / open / in June → The store may open in June.). Say: "About 15–20 minutes. Finish your Read &amp; Write writing at home."</a:t>
            </a:r>
          </a:p>
          <a:p>
            <a:r>
              <a:t>Homework items: 1. Write the sentence or question. Use the words. • 2. Finish your writing from Read &amp; Write C (your text or email). Read it one more time. Check ✓ the list in D. • 3. Write 3 things that might change in your neighborhood or city. Then write why you think so. • 4. Review (Lesson 7). Write one word.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7:15–7:25 · Read &amp; Write: A local news article · 10 min. Pairs read, then individual writing.</a:t>
            </a:r>
          </a:p>
          <a:p>
            <a:r>
              <a:t>Read (4 min): Learners read the news article on the Read &amp; Write page, find the main idea, and answer the questions. Say: "Read fast first. Then find the answers." Pairs answer questions 1–5 together.</a:t>
            </a:r>
          </a:p>
          <a:p>
            <a:r>
              <a:t>Check (1 min): click to show each answer (one click per question, 1 to 5): 1 A new bus route, Route 9, will start on May 6. • 2 Every 20 minutes. • 3 $1.50 (and free for the first week). • 4 Sunday service. • 5 On the city website or at the library.</a:t>
            </a:r>
          </a:p>
          <a:p>
            <a:r>
              <a:t>Write (5 min): Learners write a text or email to a friend about the news (5–8 sentences) with one might or may and one Do you know…?. Show the example. Learners start in class and finish at home (Homework item 2).</a:t>
            </a:r>
          </a:p>
          <a:p>
            <a:r>
              <a:t>If behind: questions 1–5 only; the writing becomes homework.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(6 min): What Might Happen? (groups). Groups choose a headline and write 4 predictions with might, may, and will probably. Then they read them to the class. Each click shows the next step.</a:t>
            </a:r>
          </a:p>
          <a:p>
            <a:r>
              <a:t>15 learners: pairs with one rotation for round 1; then groups of 4. 7–8 learners: pairs for round 1; then 2 groups. 5 or fewer: pairs for round 1 (you take a card if there is an odd number); then one group.</a:t>
            </a:r>
          </a:p>
          <a:p>
            <a:r>
              <a:t>Every answer needs a reason; every partner asks a follow-up. Walk around and listen. Note 2 good sentences to praise and 1 common error for next week.</a:t>
            </a:r>
          </a:p>
          <a:p>
            <a:r>
              <a:t>If behind: round 1 only.</a:t>
            </a:r>
          </a:p>
          <a:p>
            <a:r>
              <a:t>Lesson plan: Step 5; Talk Time: What Might Happen?.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7:00–7:15 · Talk Time: News Swap + What Might Happen? · 15 min.</a:t>
            </a:r>
          </a:p>
          <a:p>
            <a:r>
              <a:t>Model it first (1 min): hold news card A. Ask a learner, "Do you know when the library will open on Sundays?" Help them find it and answer, "Yes, starting March 3." Then ask, "Do you know why?" Say: "Ask with Do you know…? Answer with a fact, or say I'm not sure. It might…"</a:t>
            </a:r>
          </a:p>
          <a:p>
            <a:r>
              <a:t>Round 1 (7 min): News Swap (pairs). A and B have different news cards. Partners ask Do you know when / where / why…? and write the facts. Then they change partners and retell their partner's story. Each click shows the next step.</a:t>
            </a:r>
          </a:p>
          <a:p>
            <a:r>
              <a:t>15 learners: pairs with one rotation for round 1; then groups of 4. 7–8 learners: pairs for round 1; then 2 groups. 5 or fewer: pairs for round 1 (you take a card if there is an odd number); then one group.</a:t>
            </a:r>
          </a:p>
          <a:p>
            <a:r>
              <a:t>Lesson plan: Step 5; Talk Time: News Swap.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check (last 3 min of Step 4). Pairs.</a:t>
            </a:r>
          </a:p>
          <a:p>
            <a:r>
              <a:t>A points to a picture and asks, "Do you know when the construction ends?" B answers with a fact or I'm not sure. It might… Switch. 15 learners: swap partners once. 5 or fewer: you join one pair.</a:t>
            </a:r>
          </a:p>
          <a:p>
            <a:r>
              <a:t>If behind: skip the pair check. Talk Time practices it.</a:t>
            </a:r>
          </a:p>
          <a:p>
            <a:r>
              <a:t>Break · 6:45–7:00 · 15 min. Write on the board: It might / may / could + base verb (maybe) • It will… (sure) • Do you know where the meeting is? (statement order)</a:t>
            </a:r>
          </a:p>
          <a:p>
            <a:r>
              <a:t>Lesson plan: Step 4: Pair check; Break.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mistakes. Read the table together: "Don't say… Say…". Read a line from Don't say. Ask: "What's the right way?" Learners try first. Then click to show the right form. Each click shows one line, in order 1 to 5.</a:t>
            </a:r>
          </a:p>
          <a:p>
            <a:r>
              <a:t>Learners can read the contrast tip on their Grammar page on their own; it is optional. You never need to read, translate, or explain it.</a:t>
            </a:r>
          </a:p>
          <a:p>
            <a:r>
              <a:t>Lesson plan: Grammar: Common mistakes;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correct words. Pairs check.</a:t>
            </a:r>
          </a:p>
          <a:p>
            <a:r>
              <a:t>Click to circle each answer (one click per item, 1 to 6): 1 take, 2 where the meeting is, 3 might not, 4 opens, 5 will, 6 may.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might, 2 will, 3 open, 4 is, 5 leaves, 6 be.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from a question to Do you know…? Each click shows the answer side of one row.</a:t>
            </a:r>
          </a:p>
          <a:p>
            <a:r>
              <a:t>Questions and answers (2 min): Q: It might rains or It might rain? A: might + base verb: It might rain. Never -s, never to. • Q: Can I say Do you know where is the meeting? A: Use statement order: Do you know where the meeting is? • Q: will or might? A: will = I'm sure. might = maybe. The road will close on Monday. It might open early.</a:t>
            </a:r>
          </a:p>
          <a:p>
            <a:r>
              <a:t>Check questions: "It might rains or It might rain?" (might rain) • "Do you know where is the bank or where the bank is?" (where the bank is) • "The sign says Closed Monday. will or might?" (will).</a:t>
            </a:r>
          </a:p>
          <a:p>
            <a:r>
              <a:t>Lesson plan: Step 4; Grammar Box 4; Questions and answers.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will (sure) vs. might (maybe). Each click shows the answer side of one row.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Do you know where / when / what time / why…? Each click shows the answer side of one row.</a:t>
            </a:r>
          </a:p>
          <a:p>
            <a:r>
              <a:t>Rule of thumb (read it aloud): might / may / could + base verb: never to, never -s (It might rain). After Do you know where / when / why, use statement order: where the meeting is (not where is the meeting).</a:t>
            </a:r>
          </a:p>
          <a:p>
            <a:r>
              <a:t>Lesson plan: Step 4; Grammar Box 2; Rule of thumb.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draw a cloud. Say, "Will it rain tomorrow? I'm not sure. It might rain. It may rain." Draw a sign ROAD CLOSED MONDAY: "The road will close on Monday. I'm sure." Then ask a learner, "Do you know where the library is?" Write it and underline the library is: "Statement order."</a:t>
            </a:r>
          </a:p>
          <a:p>
            <a:r>
              <a:t>Box 1: read across: Will the road be closed tomorrow? → It might be. / It may be closed until Friday. Each click shows the answer side of one row.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"Hear it, say it" (3 min): Point to the script lines. gonna = going to: "The bus is going to take a detour." Then practice might (the last t is very short: It migh' be late) and Do you know…? with the voice going up at the end. Listen to the reporter's pauses. The class repeats the two lines twice.</a:t>
            </a:r>
          </a:p>
          <a:p>
            <a:r>
              <a:t>Reductions: the listening says going to. People often say gonna. Learners only need to recognize it.</a:t>
            </a:r>
          </a:p>
          <a:p>
            <a:r>
              <a:t>Everyday English: people often say gonna (going to) and wanna (want to). Learners will hear them often. They are fine in casual talk; in writing, at a job interview, or in a formal email, use going to and want to. The listening uses the full forms.</a:t>
            </a:r>
          </a:p>
          <a:p>
            <a:r>
              <a:t>Lesson plan: Step 3: "Hear it, say it"; Listening page: Hear it, say it;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might, 2 will, 3 when, 4 how, 5 might, 6 where.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Fifth • 2 Monday • 3 water pipe • 4 two weeks • 5 Pine Street • 6 fifteen.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(the main idea). Pairs compare. Check together.</a:t>
            </a:r>
          </a:p>
          <a:p>
            <a:r>
              <a:t>Click to circle the answer: a (Oak Street will close for a water pipe repair.).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6:15–6:30 · Listening + "Hear it, say it" · 15 min (slides 8 to 12). Individuals, then pairs check.</a:t>
            </a:r>
          </a:p>
          <a:p>
            <a:r>
              <a:t>Before you listen (2 min). Say: "First, you'll hear a short local news report on the radio. Then two coworkers, Marco and Joy, talk about the news. Listen: what is the news?"</a:t>
            </a:r>
          </a:p>
          <a:p>
            <a:r>
              <a:t>There are 3 people: Diane Lee, Marco and Joy. A narrator starts and ends the listening. Each click highlights the next person.</a:t>
            </a:r>
          </a:p>
          <a:p>
            <a:r>
              <a:t>The audio (L4_L8_listening.mp3, about 1:50) plays the conversation once. Press play again for play 2. A third play is fine if the class needs it.</a:t>
            </a:r>
          </a:p>
          <a:p>
            <a:r>
              <a:t>No speaker? Read the script with a volunteer at a natural, friendly speed, two times. The script says going to and want to. People often say gonna and wanna; learners only need to recognize those words.</a:t>
            </a:r>
          </a:p>
          <a:p>
            <a:r>
              <a:t>Audio: synthetic voices, computer-generated (Chatterbox TTS cloned from Kokoro-82M reference clips). No recordings of real people.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"If the road is closed, does the bus take a detour?" (yes) • 2. "Is a headline long or short?" (short) • 3. "If there is a delay, is the bus early or late?" (late)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points to a picture and asks, "Do you know when the construction ends?" B answers with a fact or "I'm not sure. It might end in May." Switch. 15 learners: finish with a quick team round (3 teams; you say a clue, the first team with the word gets a point). 7–8: 2 teams. 5 or fewer: one team against the clock.</a:t>
            </a:r>
          </a:p>
          <a:p>
            <a:r>
              <a:t>My Words: "Write any word you want in your language on the My Words page. It's your personal list. It's optional." Learners do it at home.</a:t>
            </a:r>
          </a:p>
          <a:p>
            <a:r>
              <a:t>If behind: teach the ★ words only.</a:t>
            </a:r>
          </a:p>
          <a:p>
            <a:r>
              <a:t>Lesson plan: Step 2; New Words page; Partner game; My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6:08–6:15 · New Words · 7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the hard words: news, local (in our city); reporter (the person who tells the news); headline (the big words at the top); road closure and detour (draw a street with an X and an arrow around it); construction; water pipe; bus route; delay (the bus is late); announce (say it to everyone); update (new information).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"In the News" Say: "Understanding short local news reports and city notices: a road closure, a bus detour, a water pipe repair, a new bus route, a new store. Learners say what might or may happen and ask Do you know where / when / why…?. All stories, streets, and cities are invented and neutral."</a:t>
            </a:r>
          </a:p>
          <a:p>
            <a:r>
              <a:t>Read the three lines under "Today you will".</a:t>
            </a:r>
          </a:p>
          <a:p>
            <a:r>
              <a:t>Class stories only: all news is invented and neutral (roads, buses, a library, a store). No politics, crime, injuries, or real current events. If a learner brings up real news, say, "Let's keep to our class stories."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6:00–6:08 · Opening Talk + Homework Check · 8 min. Pairs (7 pairs + 1 trio with 15 learners; 3–4 pairs with 7–8).</a:t>
            </a:r>
          </a:p>
          <a:p>
            <a:r>
              <a:t>Before class, write on the board: too / enough; must / mustn't / don't have to</a:t>
            </a:r>
          </a:p>
          <a:p>
            <a:r>
              <a:t>Model with one learner: you say, "Is 6:55 early enough for a 7:00 shift?" The learner answers with too or enough and a reason. Then you ask, "What must you wear at your job or school?" Help them say 3 sentences. (Click to show the follow-up.)</a:t>
            </a:r>
          </a:p>
          <a:p>
            <a:r>
              <a:t>Opening Talk (5 min): learners open the Opening Talk page. A asks a card question; B answers in 3 sentences (the answer, a reason, a detail); A asks one follow-up. Switch after each card. The cards are on the next slide.</a:t>
            </a:r>
          </a:p>
          <a:p>
            <a:r>
              <a:t>If behind: one card only.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in 3 sentences. A asks one follow-up question (follow-ups on the right). Then switch.</a:t>
            </a:r>
          </a:p>
          <a:p>
            <a:r>
              <a:t>Homework Check (3 min, last click): Pairs compare Homework item 1 (too / enough / mustn't) and read their 3 rules (item 3) to each other. Then they fill in the box on the Opening Talk page. Also return the midterm and go over 2 common mistakes. Walk around. Write 2 common errors on the board (often It's enough big (→ It's big enough) and You don't have to smoke here for a rule (→ You mustn't smoke here)) and correct them together. Also put up 2 corrections from last week's exit tickets.</a:t>
            </a:r>
          </a:p>
          <a:p>
            <a:r>
              <a:t>After the midterm: this is Week 9. Return the midterm in the Opening Talk and put 2 common mistakes on the board.</a:t>
            </a:r>
          </a:p>
          <a:p>
            <a:r>
              <a:t>Lesson plan: Step 1; Opening Talk page: cards, follow-ups;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notesSlide" Target="../notesSlides/notesSlide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News: a newspaper and a radi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8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the News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Understand a short local news report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might or may happen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Do you know where / when / why…?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goal is a good goal.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understand the main points of a short local news report.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might or may happen, and what will happen.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where / when / why…?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with statement order.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tell a classmate about a local news story.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 text or email (5–8 sentences) telling a friend the news.</a:t>
            </a:r>
            <a:endParaRPr lang="en-US" sz="15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Reporter: a person and a microphone [sign: NEWS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6:55 early enough for a 7:00 shift?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sentences: the answer, a reason, and a detail.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 Is it the same in your hometown? What don't you have to do?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6:55 early enough for a 7:00 shift?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must you wear at your job or school?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jeans OK for a job interview?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too expensive in this city?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7, items 1 and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News: a newspaper and a radi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news</a:t>
            </a:r>
            <a:endParaRPr lang="en-US" sz="2000" dirty="0" b="1"/>
          </a:p>
        </p:txBody>
      </p:sp>
      <p:pic>
        <p:nvPicPr>
          <p:cNvPr id="19" name="Word picture 2" descr="Reporter: a person and a microphone [sign: NEWS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reporter</a:t>
            </a:r>
            <a:endParaRPr lang="en-US" sz="2000" dirty="0" b="1"/>
          </a:p>
        </p:txBody>
      </p:sp>
      <p:pic>
        <p:nvPicPr>
          <p:cNvPr id="21" name="Word picture 3" descr="Headline: a newspaper [sign: NEW STORE OPENS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headline</a:t>
            </a:r>
            <a:endParaRPr lang="en-US" sz="2000" dirty="0" b="1"/>
          </a:p>
        </p:txBody>
      </p:sp>
      <p:pic>
        <p:nvPicPr>
          <p:cNvPr id="23" name="Word picture 4" descr="Road closure: a construction barrier and a road [sign: ROAD CLOSED]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road closure</a:t>
            </a:r>
            <a:endParaRPr lang="en-US" sz="2000" dirty="0" b="1"/>
          </a:p>
        </p:txBody>
      </p:sp>
      <p:pic>
        <p:nvPicPr>
          <p:cNvPr id="25" name="Word picture 5" descr="Detour: a bus and a turning arrow [sign: DETOUR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detour</a:t>
            </a:r>
            <a:endParaRPr lang="en-US" sz="2000" dirty="0" b="1"/>
          </a:p>
        </p:txBody>
      </p:sp>
      <p:pic>
        <p:nvPicPr>
          <p:cNvPr id="27" name="Word picture 6" descr="Construction: a construction worker and a cran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construction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29184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know…?</a:t>
            </a:r>
            <a:endParaRPr lang="en-US" sz="2200" dirty="0" b="1"/>
          </a:p>
        </p:txBody>
      </p:sp>
      <p:pic>
        <p:nvPicPr>
          <p:cNvPr id="17" name="Word picture 1" descr="Water pipe: a water tap and a wrench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water pipe</a:t>
            </a:r>
            <a:endParaRPr lang="en-US" sz="2000" dirty="0" b="1"/>
          </a:p>
        </p:txBody>
      </p:sp>
      <p:pic>
        <p:nvPicPr>
          <p:cNvPr id="19" name="Word picture 2" descr="Bus route: a bus and a map [sign: ROUTE 12]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bus route</a:t>
            </a:r>
            <a:endParaRPr lang="en-US" sz="2000" dirty="0" b="1"/>
          </a:p>
        </p:txBody>
      </p:sp>
      <p:pic>
        <p:nvPicPr>
          <p:cNvPr id="21" name="Word picture 3" descr="Delay: a bus stop and an hourglass [sign: +15 MIN]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delay</a:t>
            </a:r>
            <a:endParaRPr lang="en-US" sz="2000" dirty="0" b="1"/>
          </a:p>
        </p:txBody>
      </p:sp>
      <p:pic>
        <p:nvPicPr>
          <p:cNvPr id="23" name="Word picture 4" descr="Announce: a person and a loudspeake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announce</a:t>
            </a:r>
            <a:endParaRPr lang="en-US" sz="2000" dirty="0" b="1"/>
          </a:p>
        </p:txBody>
      </p:sp>
      <p:pic>
        <p:nvPicPr>
          <p:cNvPr id="25" name="Word picture 5" descr="Update: a phone and refresh arrows [sign: UPDATE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update</a:t>
            </a:r>
            <a:endParaRPr lang="en-US" sz="2000" dirty="0" b="1"/>
          </a:p>
        </p:txBody>
      </p:sp>
      <p:pic>
        <p:nvPicPr>
          <p:cNvPr id="27" name="Word picture 6" descr="Local: houses and a map pi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local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road is closed, does the bus take a detour?</a:t>
            </a:r>
            <a:endParaRPr lang="en-US" sz="1600" dirty="0" b="1"/>
          </a:p>
        </p:txBody>
      </p:sp>
      <p:pic>
        <p:nvPicPr>
          <p:cNvPr id="101" name="R1 pic" descr="Detour: a bus and a turning arrow [sign: DETOUR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headline long or short?</a:t>
            </a:r>
            <a:endParaRPr lang="en-US" sz="1600" dirty="0" b="1"/>
          </a:p>
        </p:txBody>
      </p:sp>
      <p:pic>
        <p:nvPicPr>
          <p:cNvPr id="102" name="R2 pic" descr="Headline: a newspaper [sign: NEW STORE OPENS]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there is a delay, is the bus early or late?</a:t>
            </a:r>
            <a:endParaRPr lang="en-US" sz="1600" dirty="0" b="1"/>
          </a:p>
        </p:txBody>
      </p:sp>
      <p:pic>
        <p:nvPicPr>
          <p:cNvPr id="103" name="R3 pic" descr="Delay: a bus stop and an hourglass [sign: +15 MIN]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late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First, you'll hear a short local news report on the radio. Then two coworkers, Marco and Joy, talk about the news.</a:t>
            </a:r>
            <a:endParaRPr lang="en-US" sz="16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Construction: a construction worker and a cra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Diane Lee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Marco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Joy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news?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2: Tasks B and C.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1:50.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is the news?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7830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246888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Oak Street will close for a water pipe repair.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534924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A new grocery store is opening.</a:t>
            </a:r>
            <a:endParaRPr lang="en-US" sz="1500" dirty="0" b="1"/>
          </a:p>
        </p:txBody>
      </p:sp>
      <p:sp>
        <p:nvSpPr>
          <p:cNvPr id="11" name="R1 opt3"/>
          <p:cNvSpPr/>
          <p:nvPr/>
        </p:nvSpPr>
        <p:spPr>
          <a:xfrm>
            <a:off x="8229600" y="3108960"/>
            <a:ext cx="27432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The bus will be free next week.</a:t>
            </a:r>
            <a:endParaRPr lang="en-US" sz="1500" dirty="0" b="1"/>
          </a:p>
        </p:txBody>
      </p:sp>
      <p:sp>
        <p:nvSpPr>
          <p:cNvPr id="12" name="R1 circle"/>
          <p:cNvSpPr/>
          <p:nvPr/>
        </p:nvSpPr>
        <p:spPr>
          <a:xfrm>
            <a:off x="2340864" y="3054096"/>
            <a:ext cx="299923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Complete the notes.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answer.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Where: Oak Street, between First and ____ Avenue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62940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Fifth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886968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Ninth</a:t>
            </a:r>
            <a:endParaRPr lang="en-US" sz="1400" dirty="0" b="1"/>
          </a:p>
        </p:txBody>
      </p:sp>
      <p:sp>
        <p:nvSpPr>
          <p:cNvPr id="11" name="R1 circle"/>
          <p:cNvSpPr/>
          <p:nvPr/>
        </p:nvSpPr>
        <p:spPr>
          <a:xfrm>
            <a:off x="6501384" y="30540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When: starting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62940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Monday</a:t>
            </a:r>
            <a:endParaRPr lang="en-US" sz="1400" dirty="0" b="1"/>
          </a:p>
        </p:txBody>
      </p:sp>
      <p:sp>
        <p:nvSpPr>
          <p:cNvPr id="14" name="R2 opt2"/>
          <p:cNvSpPr/>
          <p:nvPr/>
        </p:nvSpPr>
        <p:spPr>
          <a:xfrm>
            <a:off x="886968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Friday</a:t>
            </a:r>
            <a:endParaRPr lang="en-US" sz="1400" dirty="0" b="1"/>
          </a:p>
        </p:txBody>
      </p:sp>
      <p:sp>
        <p:nvSpPr>
          <p:cNvPr id="15" name="R2 circle"/>
          <p:cNvSpPr/>
          <p:nvPr/>
        </p:nvSpPr>
        <p:spPr>
          <a:xfrm>
            <a:off x="6501384" y="360273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Why: workers will replace an old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62940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water pipe</a:t>
            </a:r>
            <a:endParaRPr lang="en-US" sz="1400" dirty="0" b="1"/>
          </a:p>
        </p:txBody>
      </p:sp>
      <p:sp>
        <p:nvSpPr>
          <p:cNvPr id="18" name="R3 opt2"/>
          <p:cNvSpPr/>
          <p:nvPr/>
        </p:nvSpPr>
        <p:spPr>
          <a:xfrm>
            <a:off x="886968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bus stop</a:t>
            </a:r>
            <a:endParaRPr lang="en-US" sz="1400" dirty="0" b="1"/>
          </a:p>
        </p:txBody>
      </p:sp>
      <p:sp>
        <p:nvSpPr>
          <p:cNvPr id="19" name="R3 circle"/>
          <p:cNvSpPr/>
          <p:nvPr/>
        </p:nvSpPr>
        <p:spPr>
          <a:xfrm>
            <a:off x="6501384" y="415137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How long: maybe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62940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weeks</a:t>
            </a:r>
            <a:endParaRPr lang="en-US" sz="1400" dirty="0" b="1"/>
          </a:p>
        </p:txBody>
      </p:sp>
      <p:sp>
        <p:nvSpPr>
          <p:cNvPr id="22" name="R4 opt2"/>
          <p:cNvSpPr/>
          <p:nvPr/>
        </p:nvSpPr>
        <p:spPr>
          <a:xfrm>
            <a:off x="886968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days</a:t>
            </a:r>
            <a:endParaRPr lang="en-US" sz="1400" dirty="0" b="1"/>
          </a:p>
        </p:txBody>
      </p:sp>
      <p:sp>
        <p:nvSpPr>
          <p:cNvPr id="23" name="R4 circle"/>
          <p:cNvSpPr/>
          <p:nvPr/>
        </p:nvSpPr>
        <p:spPr>
          <a:xfrm>
            <a:off x="6501384" y="470001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The bus detour: on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62940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Pine Street</a:t>
            </a:r>
            <a:endParaRPr lang="en-US" sz="1400" dirty="0" b="1"/>
          </a:p>
        </p:txBody>
      </p:sp>
      <p:sp>
        <p:nvSpPr>
          <p:cNvPr id="26" name="R5 opt2"/>
          <p:cNvSpPr/>
          <p:nvPr/>
        </p:nvSpPr>
        <p:spPr>
          <a:xfrm>
            <a:off x="886968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Main Street</a:t>
            </a:r>
            <a:endParaRPr lang="en-US" sz="1400" dirty="0" b="1"/>
          </a:p>
        </p:txBody>
      </p:sp>
      <p:sp>
        <p:nvSpPr>
          <p:cNvPr id="27" name="R5 circle"/>
          <p:cNvSpPr/>
          <p:nvPr/>
        </p:nvSpPr>
        <p:spPr>
          <a:xfrm>
            <a:off x="6501384" y="524865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Delays: about ____ minutes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62940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fifteen</a:t>
            </a:r>
            <a:endParaRPr lang="en-US" sz="1400" dirty="0" b="1"/>
          </a:p>
        </p:txBody>
      </p:sp>
      <p:sp>
        <p:nvSpPr>
          <p:cNvPr id="30" name="R6 opt2"/>
          <p:cNvSpPr/>
          <p:nvPr/>
        </p:nvSpPr>
        <p:spPr>
          <a:xfrm>
            <a:off x="886968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fifty</a:t>
            </a:r>
            <a:endParaRPr lang="en-US" sz="1400" dirty="0" b="1"/>
          </a:p>
        </p:txBody>
      </p:sp>
      <p:sp>
        <p:nvSpPr>
          <p:cNvPr id="31" name="R6 circle"/>
          <p:cNvSpPr/>
          <p:nvPr/>
        </p:nvSpPr>
        <p:spPr>
          <a:xfrm>
            <a:off x="6501384" y="57972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a question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a question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city says the construction ____ take two weeks.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city ____ post updates on its website.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____ the bus leaves Pine Street?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____ long the closure is?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But it ____ take longer if it rains.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____ the detour starts?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= going to</a:t>
            </a:r>
            <a:endParaRPr lang="en-US" sz="18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might, and Do you know…?</a:t>
            </a:r>
            <a:endParaRPr lang="en-US" sz="18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going to,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want to: fine in everyday talk.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the last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very short.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bus is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a detour.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look at the map tonight.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migh'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be late.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know…?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Water pipe: a water tap and a wren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 / may / could (maybe)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road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closed tomorrow?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 be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I'm not sure.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repair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two weeks?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 take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longer. It depends on the rain.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will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road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not sure. It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open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next week.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bus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on time?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 not be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It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 be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15 minutes late.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Bus route: a bus and a map [sign: ROUTE 12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where…? (a first look)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meeting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it's at the library.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new bus route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starts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think it starts in May.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time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store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not sure. It might open at 8:00.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street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closed?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Yes. Workers are fixing a water pipe.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Delay: a bus stop and an hourglass [sign: +15 MIN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(sure) or might (maybe)?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SURE?  ·  EXAMPLE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road will close at 8:00 on Monday.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probably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almost sure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will probably take two weeks.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 / may / could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maybe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might open early.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 not / may not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maybe not</a:t>
            </a:r>
            <a:b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bus might not be on time.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Announce: a person and a loudspeak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from a question to Do you know…?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KNOW…?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is the meeting?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where the meeting is?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does the bus leave?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the bus leaves?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(no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; add </a:t>
            </a: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 is the street closed?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why the street is closed?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correct word or form.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correct word or form.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very cloudy. It ____ rain later. (might / will)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222144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sign says the road ____ close at 8:00 on Monday. (might / will)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950312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store might ____ next month. (open)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67847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where the library ____? (be)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4406646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the bus ____? (leave)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513481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leaves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not sure. The bus may ____ late. (be)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862980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The repair might ____ two weeks.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76656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896112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take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638544" y="30540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Do you know ____?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76656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the meeting is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896112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is the meeting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6638544" y="360273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It ____ rain tomorrow.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76656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 not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896112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 might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638544" y="415137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Do you know what time the store ____?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76656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opens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896112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open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638544" y="470001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The schedule says the bus ____ leave at 7:05. (sure)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76656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896112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might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6638544" y="524865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I'm not sure. It ____ open in June. (maybe)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76656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896112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638544" y="57972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Update: a phone and refresh arrows [sign: UPDATE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might rains tomorrow.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might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tomorrow.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road might to close.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road might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where is the bank?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where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bank is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1696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does the bus leave?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169664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bus leaves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1700" dirty="0" b="1"/>
          </a:p>
        </p:txBody>
      </p:sp>
      <p:sp>
        <p:nvSpPr>
          <p:cNvPr id="32" name="Bad 5"/>
          <p:cNvSpPr/>
          <p:nvPr/>
        </p:nvSpPr>
        <p:spPr>
          <a:xfrm>
            <a:off x="914400" y="5010912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sure. The road might close at 8:00.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010912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sure. The road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close at 8:00.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Local: houses and a map p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Do you know when the construction ends?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fact, or: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not sure. It might end in May.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to a picture and asks.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News: a newspaper and a rad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News Swap</a:t>
            </a:r>
            <a:endParaRPr lang="en-US" sz="30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show your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reads card A, and B reads card B.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show your card.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and write your partner's facts.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when / where / why…?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change partners and retell the story.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know why? Because…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Headline: a newspaper [sign: NEW STORE OPENS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Might Happen?</a:t>
            </a:r>
            <a:endParaRPr lang="en-US" sz="28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Choose a headline.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Choose a headline.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4 predictions.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might, may, and will probably.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There might be more traffic on Main Street.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read them to the class.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not sure, but… • Maybe, but…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fast first.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MAPLE FALLS NEWS · New Bus Route Will Connect Hospital and College (invented city)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main idea?</a:t>
            </a:r>
            <a:endParaRPr lang="en-US" sz="1500" dirty="0"/>
          </a:p>
        </p:txBody>
      </p:sp>
      <p:sp>
        <p:nvSpPr>
          <p:cNvPr id="35" name="R1 ans"/>
          <p:cNvSpPr/>
          <p:nvPr/>
        </p:nvSpPr>
        <p:spPr>
          <a:xfrm>
            <a:off x="4187952" y="2525573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new bus route, Route 9, will start on May 6.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often will the buses run?</a:t>
            </a:r>
            <a:endParaRPr lang="en-US" sz="1500" dirty="0"/>
          </a:p>
        </p:txBody>
      </p:sp>
      <p:sp>
        <p:nvSpPr>
          <p:cNvPr id="40" name="R2 ans"/>
          <p:cNvSpPr/>
          <p:nvPr/>
        </p:nvSpPr>
        <p:spPr>
          <a:xfrm>
            <a:off x="4187952" y="3311957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20 minutes.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much will a ride cost?</a:t>
            </a:r>
            <a:endParaRPr lang="en-US" sz="1500" dirty="0"/>
          </a:p>
        </p:txBody>
      </p:sp>
      <p:sp>
        <p:nvSpPr>
          <p:cNvPr id="45" name="R3 ans"/>
          <p:cNvSpPr/>
          <p:nvPr/>
        </p:nvSpPr>
        <p:spPr>
          <a:xfrm>
            <a:off x="4187952" y="4098341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$1.50 (and free for the first week).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might the city add in the fall?</a:t>
            </a:r>
            <a:endParaRPr lang="en-US" sz="1500" dirty="0"/>
          </a:p>
        </p:txBody>
      </p:sp>
      <p:sp>
        <p:nvSpPr>
          <p:cNvPr id="50" name="R4 ans"/>
          <p:cNvSpPr/>
          <p:nvPr/>
        </p:nvSpPr>
        <p:spPr>
          <a:xfrm>
            <a:off x="4187952" y="4884725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Sunday service.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can riders see the map?</a:t>
            </a:r>
            <a:endParaRPr lang="en-US" sz="1500" dirty="0"/>
          </a:p>
        </p:txBody>
      </p:sp>
      <p:sp>
        <p:nvSpPr>
          <p:cNvPr id="55" name="R5 ans"/>
          <p:cNvSpPr/>
          <p:nvPr/>
        </p:nvSpPr>
        <p:spPr>
          <a:xfrm>
            <a:off x="4187952" y="5671109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the city website or at the library.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Road closure: a construction barrier and a road [sign: ROAD CLOSED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might change in your neighborhood or at your job next year?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change, with might or may.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Another change, with might or may.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 reason, with because.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6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15–20 minutes.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 or question.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writing from Read &amp; Write C (your text or email).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Write 3 things that might change in your neighborhood or city.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(Lesson 7).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6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Detour: a bus and a turning arrow [sign: DETOUR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8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Understand a short local news report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might or may happen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Do you know where / when / why…?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Diane Lee, Marco, Joy, Ana Ruiz, and Lina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Lesson 8: In the News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