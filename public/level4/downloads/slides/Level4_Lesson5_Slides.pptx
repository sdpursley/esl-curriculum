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705" r:id="rId32"/>
    <p:sldId id="706" r:id="rId21"/>
    <p:sldId id="707" r:id="rId19"/>
    <p:sldId id="708" r:id="rId15"/>
    <p:sldId id="709" r:id="rId37"/>
    <p:sldId id="710" r:id="rId38"/>
    <p:sldId id="711" r:id="rId39"/>
    <p:sldId id="712" r:id="rId40"/>
    <p:sldId id="713" r:id="rId41"/>
    <p:sldId id="714" r:id="rId42"/>
    <p:sldId id="715" r:id="rId43"/>
    <p:sldId id="716" r:id="rId44"/>
    <p:sldId id="717" r:id="rId45"/>
    <p:sldId id="718" r:id="rId46"/>
    <p:sldId id="719" r:id="rId47"/>
    <p:sldId id="720" r:id="rId48"/>
    <p:sldId id="721" r:id="rId49"/>
    <p:sldId id="722" r:id="rId50"/>
    <p:sldId id="723" r:id="rId51"/>
    <p:sldId id="724" r:id="rId52"/>
    <p:sldId id="725" r:id="rId53"/>
    <p:sldId id="726" r:id="rId54"/>
    <p:sldId id="727" r:id="rId55"/>
    <p:sldId id="728" r:id="rId56"/>
    <p:sldId id="729" r:id="rId9"/>
    <p:sldId id="730" r:id="rId5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51.xml"/><Relationship Id="rId15" Type="http://schemas.openxmlformats.org/officeDocument/2006/relationships/slide" Target="slides/slide30.xml"/><Relationship Id="rId19" Type="http://schemas.openxmlformats.org/officeDocument/2006/relationships/slide" Target="slides/slide29.xml"/><Relationship Id="rId21" Type="http://schemas.openxmlformats.org/officeDocument/2006/relationships/slide" Target="slides/slide28.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32" Type="http://schemas.openxmlformats.org/officeDocument/2006/relationships/slide" Target="slides/slide27.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Ask one learner: "Would you mind getting my mail?" Wait for a thumbs-up and "No, not at all."</a:t>
            </a:r>
          </a:p>
          <a:p>
            <a:r>
              <a:t>Lesson plan: At a glance: Objectives; Step 7.</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in 3 sentences. A asks one follow-up question (follow-ups on the right). Then switch. Pairs write the partner's name and one good idea from Homework item 3.</a:t>
            </a:r>
          </a:p>
          <a:p>
            <a:r>
              <a:t>Homework Check (3 min, last click): pairs compare Homework item 1 (for / since and suggestions) and read their 3 good ideas (item 3) to each other. Then they fill in the box on the Opening Talk page. Walk around. Write 2 common errors on the board (often You could to try (→ You could try) and I have a cough since Sunday (→ I've had a cough since Sunday)) and correct them together. Also put up 2 corrections from last week's exit tickets.</a:t>
            </a:r>
          </a:p>
          <a:p>
            <a:r>
              <a:t>Lesson plan: Step 1; Opening Talk page: cards, follow-ups; Homework check.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6:00–6:08 · Opening Talk + Homework Check · 8 min. Pairs (7 pairs + 1 trio with 15 learners; 3–4 pairs with 7–8).</a:t>
            </a:r>
          </a:p>
          <a:p>
            <a:r>
              <a:t>Before class, write on the board: suggestions: Why don't you…? / You could… / It's a good idea to…</a:t>
            </a:r>
          </a:p>
          <a:p>
            <a:r>
              <a:t>Model with one learner: you say, "I sit all day at work. Any ideas?" The learner gives a suggestion. Then you ask, "Why is that a good idea?" Help them say 3 sentences. (Click to show the follow-up.)</a:t>
            </a:r>
          </a:p>
          <a:p>
            <a:r>
              <a:t>Opening Talk (5 min): learners open the Opening Talk page. A asks a card question; B answers in 3 sentences (the answer, a reason, a detail); A asks one follow-up. Switch after each card. The cards are on the next slide.</a:t>
            </a:r>
          </a:p>
          <a:p>
            <a:r>
              <a:t>If behind: one card only.</a:t>
            </a:r>
          </a:p>
          <a:p>
            <a:r>
              <a:t>Lesson plan: Step 1; Opening Talk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Would you mind getting my mail? Goal 2: No, not at all. I'll do it. / Sorry, I can't. I'll be away. Why don't you ask Lina? Goal 3: Do you mind if I open the window?</a:t>
            </a:r>
          </a:p>
          <a:p>
            <a:r>
              <a:t>Goal 4: the Shift Switch Text in Talk Time. Goal 5: the note in Read &amp; Write.</a:t>
            </a:r>
          </a:p>
          <a:p>
            <a:r>
              <a:t>Lesson plan: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a:t>
            </a:r>
          </a:p>
          <a:p>
            <a:r>
              <a:t>Point to the title and read it: "Would you mind…?" Say: "Tonight we ask a neighbor or a coworker for a favor: the mail, the plants, a spare key, a shift. All favors, keys, and addresses are invented."</a:t>
            </a:r>
          </a:p>
          <a:p>
            <a:r>
              <a:t>Read the three lines under "Today you will". Give one quick example of each: "Would you mind getting my mail?" • "No, not at all." / "Sorry, I can't, because…" • "Do you mind if I open the window?"</a:t>
            </a:r>
          </a:p>
          <a:p>
            <a:r>
              <a:t>Invented details: all favor cards, keys, names, and addresses are invented. Learners never share real addresses or where they keep a key.</a:t>
            </a:r>
          </a:p>
          <a:p>
            <a:r>
              <a:t>Lesson plan: Topic; At a glance: Objectives;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6:08–6:15 · New Words · 7 min (this slide and the next). Whole class, then pairs.</a:t>
            </a:r>
          </a:p>
          <a:p>
            <a:r>
              <a:t>Point to each picture and say the word. Learners repeat once. ★ = the most important words. Each click shows the next word.</a:t>
            </a:r>
          </a:p>
          <a:p>
            <a:r>
              <a:t>Show the hard words: favor (help you ask for); borrow (take and give back) vs. lend (give and get back); water the plants, feed the cat, get the mail (mime each); spare key (an extra key: show two keys).</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Show the hard words: package; switch shifts (you take my Friday, I take your Sunday) vs. cover a shift (you work my shift); be away (not at home); owe (I owe you one = I'll help you next time); thank-you note.</a:t>
            </a:r>
          </a:p>
          <a:p>
            <a:r>
              <a:t>Partner game (2 min): A points to a picture and asks, "Would you mind getting the mail?" B gives a thumbs-up and says, "No, not at all," or says, "Sorry, I can't, because…" Switch. 15 learners: finish with a quick team round (3 teams; you say a clue, the first team with the word gets a point). 7–8: 2 teams. 5 or fewer: one team against the clock.</a:t>
            </a:r>
          </a:p>
          <a:p>
            <a:r>
              <a:t>My Words: "Write any word you want in your language on the My Words page. It's your personal list. It's optional." Learners do it at home.</a:t>
            </a:r>
          </a:p>
          <a:p>
            <a:r>
              <a:t>If behind: teach the ★ words only.</a:t>
            </a:r>
          </a:p>
          <a:p>
            <a:r>
              <a:t>Lesson plan: Step 2; New Words page; Partner game; My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"If I borrow your pen, do I give it back?" (yes) • 2. "If you cover my shift, who works?" (you do) • 3. "Is a spare key the first key or an extra key?" (an extra key)</a:t>
            </a:r>
          </a:p>
          <a:p>
            <a:r>
              <a:t>Lesson plan: Step 2: Check meaning.</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6:15–6:30 · Listening + "Hear it, say it" · 15 min (slides 8 to 12). Individuals, then pairs check.</a:t>
            </a:r>
          </a:p>
          <a:p>
            <a:r>
              <a:t>Before you listen (2 min). Say: "Patricia is going away for a week. First, she talks to her neighbor, Mr. Wilson. Then, at work, her coworker Omar asks her for a favor. Listen: what favors do they ask for?"</a:t>
            </a:r>
          </a:p>
          <a:p>
            <a:r>
              <a:t>There are three people: Patricia, Mr. Wilson (her neighbor), and Omar (her coworker). A narrator starts and ends the listening. Each click highlights the next person.</a:t>
            </a:r>
          </a:p>
          <a:p>
            <a:r>
              <a:t>The audio (about 1:47) is coming soon. When it is ready, it plays the conversation once; press play again for play 2. Until then, read the listening script (at the end of these notes) with a volunteer.</a:t>
            </a:r>
          </a:p>
          <a:p>
            <a:r>
              <a:t>No speaker? Read the script with a volunteer at a natural, friendly speed, two times. Say gonna and wanna where the script has them.</a:t>
            </a:r>
          </a:p>
          <a:p>
            <a:r>
              <a:t>Audio: the listening audio for this lesson (about 1:47)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signs and labels (images/CREDITS.md).</a:t>
            </a:r>
          </a:p>
          <a:p>
            <a:r>
              <a:t>Listening script (the audio is coming soon; until then, read it aloud with a volunteer at a normal, friendly speed):</a:t>
            </a:r>
          </a:p>
          <a:p>
            <a:r>
              <a:t>Narrator: Lesson five. Patricia is going away for a week. First, she talks to her neighbor, Mr. Wilson.</a:t>
            </a:r>
          </a:p>
          <a:p>
            <a:r>
              <a:t>Patricia: Hi, Mr. Wilson. Could I ask you a favor?</a:t>
            </a:r>
          </a:p>
          <a:p>
            <a:r>
              <a:t>Mr. Wilson: Of course, Patricia. What is it?</a:t>
            </a:r>
          </a:p>
          <a:p>
            <a:r>
              <a:t>Patricia: I'm gonna be away next week. I'm visiting my sister. Would you mind getting my mail?</a:t>
            </a:r>
          </a:p>
          <a:p>
            <a:r>
              <a:t>Mr. Wilson: No, not at all. I'm home all week.</a:t>
            </a:r>
          </a:p>
          <a:p>
            <a:r>
              <a:t>Patricia: Thank you! And would you mind watering my plants? Just two times, on Tuesday and Friday.</a:t>
            </a:r>
          </a:p>
          <a:p>
            <a:r>
              <a:t>Mr. Wilson: No problem. Where will the key be?</a:t>
            </a:r>
          </a:p>
          <a:p>
            <a:r>
              <a:t>Patricia: I'm gonna give you my spare key tonight. Oh, and would you mind feeding my cat, too?</a:t>
            </a:r>
          </a:p>
          <a:p>
            <a:r>
              <a:t>Mr. Wilson: Sure, I'll do it. I love cats. Do you mind if I put your packages inside, too?</a:t>
            </a:r>
          </a:p>
          <a:p>
            <a:r>
              <a:t>Patricia: No, go ahead. That's very kind.</a:t>
            </a:r>
          </a:p>
          <a:p>
            <a:r>
              <a:t>Mr. Wilson: Have a good trip. Don't worry about anything.</a:t>
            </a:r>
          </a:p>
          <a:p>
            <a:r>
              <a:t>Narrator: The next day, at work, Patricia talks to her coworker, Omar.</a:t>
            </a:r>
          </a:p>
          <a:p>
            <a:r>
              <a:t>Omar: Hey, Patricia. Would you mind covering my Saturday shift? My son has a soccer game.</a:t>
            </a:r>
          </a:p>
          <a:p>
            <a:r>
              <a:t>Patricia: Oh, I'm sorry, I can't. I'll be away on Saturday. I wanna help, but I can't.</a:t>
            </a:r>
          </a:p>
          <a:p>
            <a:r>
              <a:t>Omar: Oh, right. You told me.</a:t>
            </a:r>
          </a:p>
          <a:p>
            <a:r>
              <a:t>Patricia: Why don't you ask Lina? She wants more hours this month.</a:t>
            </a:r>
          </a:p>
          <a:p>
            <a:r>
              <a:t>Omar: Good idea. Do you mind if I tell her you suggested it?</a:t>
            </a:r>
          </a:p>
          <a:p>
            <a:r>
              <a:t>Patricia: No, not at all. But ask the supervisor first, OK?</a:t>
            </a:r>
          </a:p>
          <a:p>
            <a:r>
              <a:t>Omar: Sure. Thanks, Patricia. I owe you one.</a:t>
            </a:r>
          </a:p>
          <a:p>
            <a:r>
              <a:t>Patricia: You're welcome. Good luck with the game!</a:t>
            </a:r>
          </a:p>
          <a:p>
            <a:r>
              <a:t>Narrator: That's the end of the listening.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(the main idea). Pairs compare. Check together.</a:t>
            </a:r>
          </a:p>
          <a:p>
            <a:r>
              <a:t>Click to circle the answer: a (get the mail, water the plants, feed the cat, and cover a shift).</a:t>
            </a:r>
          </a:p>
          <a:p>
            <a:r>
              <a:t>Then read Tasks B and C together (1 min) so learners know what to listen for.</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circle each answer (one click per item, 1 to 6): 1 yes • 2 Tuesday and Friday • 3 her spare key • 4 inside • 5 no • 6 will be away.</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6): 1 getting, 2 watering, 3 feeding, 4 if, 5 covering, 6 if.</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"Hear it, say it" (3 min). Point to the script lines. gonna = going to: "I'm gonna be away next week." wanna = want to: "I wanna help, but I can't." You can say going to and want to.</a:t>
            </a:r>
          </a:p>
          <a:p>
            <a:r>
              <a:t>Then practice Would you mind…? and Do you mind if I…? said smoothly, with a friendly rise. Answer with a thumbs-up: No, not at all! The class repeats the two lines twice.</a:t>
            </a:r>
          </a:p>
          <a:p>
            <a:r>
              <a:t>Reductions: learners need to understand gonna and wanna; they can always say going to and want to.</a:t>
            </a:r>
          </a:p>
          <a:p>
            <a:r>
              <a:t>Lesson plan: Step 3: "Hear it, say it"; Listening page: Hear it, say it; Teacher notes.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20). Whole class, then pairs. Show the Grammar page. The left side is the question. The right side is the answer.</a:t>
            </a:r>
          </a:p>
          <a:p>
            <a:r>
              <a:t>Show it (2 min): give a learner your key. Say, "I'm going to be away. Would you mind getting my mail?" Show a thumbs-up and help the learner say, "No, not at all." Write: Would you mind + -ing? → No = "No problem. I'll do it." Then ask, "Do you mind if I open the window?" Help them say, "No, go ahead."</a:t>
            </a:r>
          </a:p>
          <a:p>
            <a:r>
              <a:t>Box 1: read across: Would you mind getting my mail? → No, not at all. I'll do it. / Sorry, I can't. Each click shows the answer side of one row.</a:t>
            </a:r>
          </a:p>
          <a:p>
            <a:r>
              <a:t>No = yes: practice the answer first, with a thumbs-up: No, not at all! Learners often say Yes and mean "I'll help." Smile and model it again.</a:t>
            </a:r>
          </a:p>
          <a:p>
            <a:r>
              <a:t>Lesson plan: Step 4; Grammar Box 1;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permission: Do you mind if I…? → No, go ahead. Each click shows the answer side of one row.</a:t>
            </a:r>
          </a:p>
          <a:p>
            <a:r>
              <a:t>Rule of thumb (read it aloud): After Would you mind, use -ing (getting, covering). After Do you mind if I, use the base verb (open, leave). The answer No means "No problem. I'll help." / "Yes, you can."</a:t>
            </a:r>
          </a:p>
          <a:p>
            <a:r>
              <a:t>Lesson plan: Step 4; Grammar Box 2; Rule of thumb.</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saying yes and saying no politely. Click to show the right side.</a:t>
            </a:r>
          </a:p>
          <a:p>
            <a:r>
              <a:t>Saying no: model sorry + a reason + another idea. A polite no is a good answer.</a:t>
            </a:r>
          </a:p>
          <a:p>
            <a:r>
              <a:t>Lesson plan: Step 4; Grammar Box 3;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how polite? Each click shows one row.</a:t>
            </a:r>
          </a:p>
          <a:p>
            <a:r>
              <a:t>Questions and answers (2 min): Q: Someone asks Would you mind helping me? I want to help. Do I say yes? A: No! Say No, not at all. Mind asks "Is it a problem?" No = no problem. • Q: Would you mind to get or Would you mind getting? A: After mind, use -ing: Would you mind getting my mail? • Q: How do I say no politely? A: Say sorry, give a reason, and offer an idea: Sorry, I can't. I'll be away. Why don't you ask Lina?</a:t>
            </a:r>
          </a:p>
          <a:p>
            <a:r>
              <a:t>Check questions: "Would you mind helping me? You want to help. Do you say yes or no?" (No, not at all.) • "Would you mind to get or getting?" (getting) • "Do you mind if I leaving or if I leave?" (if I leave).</a:t>
            </a:r>
          </a:p>
          <a:p>
            <a:r>
              <a:t>Lesson plan: Step 4; Grammar Box 4; Questions and answers.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watering, 2 open, 3 feeding, 4 switching, 5 borrow, 6 getting.</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correct words. Pairs check.</a:t>
            </a:r>
          </a:p>
          <a:p>
            <a:r>
              <a:t>Click to circle each answer (one click per item, 1 to 6): 1 covering, 2 No, not at all., 3 leave, 4 mine, 5 'll be, 6 to switch.</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Read the table together: "Don't say… Say…". Read a line from Don't say. Ask: "What's the right way?" Learners try first. Then click to show the right form. Each click shows one line, in order 1 to 5.</a:t>
            </a:r>
          </a:p>
          <a:p>
            <a:r>
              <a:t>mind + -ing: Would you mind getting…? But Do you mind if I + the base verb: Do you mind if I leave…?</a:t>
            </a:r>
          </a:p>
          <a:p>
            <a:r>
              <a:t>Learners can read the contrast tip on their Grammar page on their own; it is optional. You never need to read, translate, or explain it.</a:t>
            </a:r>
          </a:p>
          <a:p>
            <a:r>
              <a:t>Lesson plan: Grammar: Common mistakes;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check (last 3 min of Step 4). Pairs.</a:t>
            </a:r>
          </a:p>
          <a:p>
            <a:r>
              <a:t>A asks a favor from the pictures with Would you mind…? B answers with a thumbs-up and No, not at all, or Sorry, I can't, because… Switch. 15 learners: swap partners once. 5 or fewer: you join one pair.</a:t>
            </a:r>
          </a:p>
          <a:p>
            <a:r>
              <a:t>If behind: skip the pair check. Talk Time practices it.</a:t>
            </a:r>
          </a:p>
          <a:p>
            <a:r>
              <a:t>Break · 6:45–7:00 · 15 min. Write on the board: Would you mind + -ing? → No, not at all. (= I'll help) / Sorry, I can't, because… • Do you mind if I…? → No, go ahead.</a:t>
            </a:r>
          </a:p>
          <a:p>
            <a:r>
              <a:t>Lesson plan: Step 4: Pair check; Break.</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7:00–7:15 · Talk Time: Favor Exchange + Shift Switch Text · 15 min.</a:t>
            </a:r>
          </a:p>
          <a:p>
            <a:r>
              <a:t>Model it first (1 min): hold up a favor card and ask a learner, "Would you mind getting my mail next week?" Help them check their "my week" card and answer, "No, not at all," or "Sorry, I can't, because I'll be away. Why don't you ask Ana?" Say: "Answer, give a reason, and offer an idea."</a:t>
            </a:r>
          </a:p>
          <a:p>
            <a:r>
              <a:t>Round 1 (7 min): Favor Exchange (mingle). Each learner has a favor card and a "my week" card. Ask three people. Each person answers No, not at all or Sorry, I can't, because… and offers another idea. Write who said yes. Each click shows the next step.</a:t>
            </a:r>
          </a:p>
          <a:p>
            <a:r>
              <a:t>15 learners: a whole-room mingle for round 1. 7–8 learners: two lines face each other; move one place each round. 5 or fewer: a circle for round 1: each person asks the person on the left.</a:t>
            </a:r>
          </a:p>
          <a:p>
            <a:r>
              <a:t>Invented details: all favor cards, keys, names, and addresses are invented. Learners never share real addresses or where they keep a key.</a:t>
            </a:r>
          </a:p>
          <a:p>
            <a:r>
              <a:t>Lesson plan: Step 5; Talk Time: Favor Exchange;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(6 min): Shift Switch Text (pairs). Pairs write a 3-sentence text that confirms a shift switch (the day, the time, thanks). Then they read it to another pair. Remind them: "Ask your supervisor first." Each click shows the next step.</a:t>
            </a:r>
          </a:p>
          <a:p>
            <a:r>
              <a:t>Example: "Hi, Omar. Thanks for switching shifts with me! I'll work your Sunday shift (9:00–5:00), and you'll work my Friday shift (2:00–10:00). I've told Ms. Diaz, and she says it's OK."</a:t>
            </a:r>
          </a:p>
          <a:p>
            <a:r>
              <a:t>15 learners: pairs for round 2. 7–8 learners: pairs. 5 or fewer: pairs (you join if there is an odd number).</a:t>
            </a:r>
          </a:p>
          <a:p>
            <a:r>
              <a:t>Shift switches: every employer has its own rules. Add "Ask your supervisor first." It is printed on the Shift Switch Text page.</a:t>
            </a:r>
          </a:p>
          <a:p>
            <a:r>
              <a:t>Every answer needs a reason; every partner asks a follow-up. Walk around and listen. Note 2 good sentences to praise and 1 common error for next week.</a:t>
            </a:r>
          </a:p>
          <a:p>
            <a:r>
              <a:t>If behind: round 1 only.</a:t>
            </a:r>
          </a:p>
          <a:p>
            <a:r>
              <a:t>Lesson plan: Step 5; Talk Time: Shift Switch Text;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7:15–7:25 · Read &amp; Write: A building notice + a neighbor's note · 10 min. Pairs read, then individual writing.</a:t>
            </a:r>
          </a:p>
          <a:p>
            <a:r>
              <a:t>Read (4 min): learners read the notice about packages and the note on the Read &amp; Write page and answer the questions. Say: "Read fast first. Then find the answers." Pairs answer questions 1–5 together.</a:t>
            </a:r>
          </a:p>
          <a:p>
            <a:r>
              <a:t>Check (1 min): click to show each answer (one click per question, 1 to 5): 1 To the new package room next to the mailroom. • 2 Within 5 days. • 3 Your text with the code. • 4 From June 10 to June 17. • 5 In an envelope under Ms. Lee's door (on Sunday).</a:t>
            </a:r>
          </a:p>
          <a:p>
            <a:r>
              <a:t>Write (5 min): learners write a note to a neighbor (5–8 sentences) asking for a favor while they're away: the dates, what to do, where the key is, thanks, and an offer to help back. Show the example. Invented details are fine. Learners start in class and finish at home (Homework item 2).</a:t>
            </a:r>
          </a:p>
          <a:p>
            <a:r>
              <a:t>If behind: questions 1–5 only; the writing becomes homework.</a:t>
            </a:r>
          </a:p>
          <a:p>
            <a:r>
              <a:t>Lesson plan: Step 6; Read &amp; Write page;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 7:25–7:30 · Exit Ticket + Homework · 5 min · NEVER SKIP.</a:t>
            </a:r>
          </a:p>
          <a:p>
            <a:r>
              <a:t>Exit ticket (3 min): learners open the Exit Ticket page and answer in 3 sentences with a reason: Ask a classmate for a favor with Would you mind…? Example on the board: Would you mind helping me with my homework? No, not at all. I'm asking because the last question is hard. With 5 or fewer, a learner can say it to you first and then write it.</a:t>
            </a:r>
          </a:p>
          <a:p>
            <a:r>
              <a:t>Collect the pages. After class, sort them into ✓ / almost / not yet. Start next week with 2 corrections on the board (no names).</a:t>
            </a:r>
          </a:p>
          <a:p>
            <a:r>
              <a:t>Homework (2 min): open the Homework page. Do item 1 together (you / mind / feed / my cat? → Would you mind feeding my cat?). Say: "About 15–20 minutes. Finish your Read &amp; Write writing at home."</a:t>
            </a:r>
          </a:p>
          <a:p>
            <a:r>
              <a:t>Homework items: 1 write the question or answer with the words • 2 finish the note from Read &amp; Write C and check it with the list in D • 3 write 3 favors you could ask a neighbor or a coworker, and a polite answer for each one • 4 review (Lesson 4): write one word.</a:t>
            </a:r>
          </a:p>
          <a:p>
            <a:r>
              <a:t>Lesson plan: Step 7; Exit Ticket page; Homework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the listening audio for this lesson (about 1:47)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png"/><Relationship Id="rId9" Type="http://schemas.openxmlformats.org/officeDocument/2006/relationships/image" Target="../media/image3.png"/><Relationship Id="rId10" Type="http://schemas.openxmlformats.org/officeDocument/2006/relationships/image" Target="../media/image4.png"/><Relationship Id="rId11" Type="http://schemas.openxmlformats.org/officeDocument/2006/relationships/image" Target="../media/image5.png"/><Relationship Id="rId12" Type="http://schemas.openxmlformats.org/officeDocument/2006/relationships/image" Target="../media/image6.png"/><Relationship Id="rId13" Type="http://schemas.openxmlformats.org/officeDocument/2006/relationships/image" Target="../media/image7.png"/><Relationship Id="rId1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2.png"/><Relationship Id="rId1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3.png"/><Relationship Id="rId6" Type="http://schemas.openxmlformats.org/officeDocument/2006/relationships/image" Target="../media/image10.png"/><Relationship Id="rId7" Type="http://schemas.openxmlformats.org/officeDocument/2006/relationships/image" Target="../media/image7.png"/><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6.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9.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8.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27.xml><?xml version="1.0" encoding="utf-8"?>
<p:sld xmlns:a="http://schemas.openxmlformats.org/drawingml/2006/main" xmlns:p="http://schemas.openxmlformats.org/presentationml/2006/main" xmlns:r="http://schemas.openxmlformats.org/officeDocument/2006/relationships">
  <p:cSld name="L4: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Favor: a person raising a hand and a handshake [sign: A FAVOR?]">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5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Would You Mind…?</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for a favor</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yes or no politely</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permission</a:t>
            </a:r>
            <a:endParaRPr lang="en-US" sz="22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L4: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five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Every goal is a good goal.</a:t>
            </a:r>
            <a:endParaRPr lang="en-US" sz="2000" dirty="0" b="1"/>
          </a:p>
        </p:txBody>
      </p:sp>
      <p:sp>
        <p:nvSpPr>
          <p:cNvPr id="31" name="R1 shadow"/>
          <p:cNvSpPr/>
          <p:nvPr/>
        </p:nvSpPr>
        <p:spPr>
          <a:xfrm>
            <a:off x="544982" y="2093062"/>
            <a:ext cx="6227064" cy="678668"/>
          </a:xfrm>
          <a:prstGeom prst="round1Rect">
            <a:avLst>
              <a:gd name="adj" fmla="val 23087"/>
            </a:avLst>
          </a:prstGeom>
          <a:solidFill>
            <a:srgbClr val="8FAFE3"/>
          </a:solidFill>
          <a:ln/>
        </p:spPr>
        <p:txBody>
          <a:bodyPr/>
          <a:p/>
        </p:txBody>
      </p:sp>
      <p:sp>
        <p:nvSpPr>
          <p:cNvPr id="32" name="R1 card"/>
          <p:cNvSpPr/>
          <p:nvPr/>
        </p:nvSpPr>
        <p:spPr>
          <a:xfrm>
            <a:off x="1583741" y="2035454"/>
            <a:ext cx="5130698" cy="678668"/>
          </a:xfrm>
          <a:prstGeom prst="round1Rect">
            <a:avLst>
              <a:gd name="adj" fmla="val 23087"/>
            </a:avLst>
          </a:prstGeom>
          <a:solidFill>
            <a:srgbClr val="FFFFFF"/>
          </a:solidFill>
          <a:ln/>
        </p:spPr>
        <p:txBody>
          <a:bodyPr/>
          <a:p/>
        </p:txBody>
      </p:sp>
      <p:sp>
        <p:nvSpPr>
          <p:cNvPr id="33" name="R1 chip"/>
          <p:cNvSpPr/>
          <p:nvPr/>
        </p:nvSpPr>
        <p:spPr>
          <a:xfrm>
            <a:off x="544982" y="2035454"/>
            <a:ext cx="1039673" cy="678668"/>
          </a:xfrm>
          <a:prstGeom prst="rect">
            <a:avLst/>
          </a:prstGeom>
          <a:solidFill>
            <a:srgbClr val="B9D2F7"/>
          </a:solidFill>
          <a:ln/>
        </p:spPr>
        <p:txBody>
          <a:bodyPr/>
          <a:p/>
        </p:txBody>
      </p:sp>
      <p:sp>
        <p:nvSpPr>
          <p:cNvPr id="34" name="R1 num"/>
          <p:cNvSpPr/>
          <p:nvPr/>
        </p:nvSpPr>
        <p:spPr>
          <a:xfrm>
            <a:off x="686714" y="2051548"/>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035454"/>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ask for a favor with </a:t>
            </a:r>
            <a:r>
              <a:rPr lang="en-US" sz="1500" dirty="0" b="1">
                <a:solidFill>
                  <a:srgbClr val="5B3FC4"/>
                </a:solidFill>
                <a:latin typeface="Lexend Deca" pitchFamily="34" charset="0"/>
                <a:ea typeface="Lexend Deca" pitchFamily="34" charset="-122"/>
                <a:cs typeface="Lexend Deca" pitchFamily="34" charset="-120"/>
              </a:rPr>
              <a:t>Would you mind…?</a:t>
            </a:r>
            <a:endParaRPr lang="en-US" sz="1500" dirty="0"/>
          </a:p>
        </p:txBody>
      </p:sp>
      <p:sp>
        <p:nvSpPr>
          <p:cNvPr id="36" name="R1 dot"/>
          <p:cNvSpPr/>
          <p:nvPr/>
        </p:nvSpPr>
        <p:spPr>
          <a:xfrm rot="10800000">
            <a:off x="6361481" y="2168957"/>
            <a:ext cx="88697" cy="76810"/>
          </a:xfrm>
          <a:prstGeom prst="triangle">
            <a:avLst/>
          </a:prstGeom>
          <a:solidFill>
            <a:srgbClr val="8FAFE3"/>
          </a:solidFill>
          <a:ln/>
        </p:spPr>
        <p:txBody>
          <a:bodyPr/>
          <a:p/>
        </p:txBody>
      </p:sp>
      <p:sp>
        <p:nvSpPr>
          <p:cNvPr id="37" name="R2 card"/>
          <p:cNvSpPr/>
          <p:nvPr/>
        </p:nvSpPr>
        <p:spPr>
          <a:xfrm>
            <a:off x="1583741" y="2822936"/>
            <a:ext cx="5130698" cy="678668"/>
          </a:xfrm>
          <a:prstGeom prst="round1Rect">
            <a:avLst>
              <a:gd name="adj" fmla="val 23087"/>
            </a:avLst>
          </a:prstGeom>
          <a:solidFill>
            <a:srgbClr val="FFFFFF"/>
          </a:solidFill>
          <a:ln/>
        </p:spPr>
        <p:txBody>
          <a:bodyPr/>
          <a:p/>
        </p:txBody>
      </p:sp>
      <p:sp>
        <p:nvSpPr>
          <p:cNvPr id="38" name="R2 chip"/>
          <p:cNvSpPr/>
          <p:nvPr/>
        </p:nvSpPr>
        <p:spPr>
          <a:xfrm>
            <a:off x="544982" y="2822936"/>
            <a:ext cx="1039673" cy="678668"/>
          </a:xfrm>
          <a:prstGeom prst="rect">
            <a:avLst/>
          </a:prstGeom>
          <a:solidFill>
            <a:srgbClr val="B9D2F7"/>
          </a:solidFill>
          <a:ln/>
        </p:spPr>
        <p:txBody>
          <a:bodyPr/>
          <a:p/>
        </p:txBody>
      </p:sp>
      <p:sp>
        <p:nvSpPr>
          <p:cNvPr id="39" name="R2 num"/>
          <p:cNvSpPr/>
          <p:nvPr/>
        </p:nvSpPr>
        <p:spPr>
          <a:xfrm>
            <a:off x="686714" y="2839029"/>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2822936"/>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answer </a:t>
            </a:r>
            <a:r>
              <a:rPr lang="en-US" sz="1500" dirty="0" b="1">
                <a:solidFill>
                  <a:srgbClr val="5B3FC4"/>
                </a:solidFill>
                <a:latin typeface="Lexend Deca" pitchFamily="34" charset="0"/>
                <a:ea typeface="Lexend Deca" pitchFamily="34" charset="-122"/>
                <a:cs typeface="Lexend Deca" pitchFamily="34" charset="-120"/>
              </a:rPr>
              <a:t>No, not at all</a:t>
            </a:r>
            <a:r>
              <a:rPr lang="en-US" sz="1500" dirty="0">
                <a:solidFill>
                  <a:srgbClr val="1B2236"/>
                </a:solidFill>
                <a:latin typeface="Lexend Deca" pitchFamily="34" charset="0"/>
                <a:ea typeface="Lexend Deca" pitchFamily="34" charset="-122"/>
                <a:cs typeface="Lexend Deca" pitchFamily="34" charset="-120"/>
              </a:rPr>
              <a:t> (= "Yes, I'll help") or say no politely, with a reason and another idea.</a:t>
            </a:r>
            <a:endParaRPr lang="en-US" sz="1500" dirty="0"/>
          </a:p>
        </p:txBody>
      </p:sp>
      <p:sp>
        <p:nvSpPr>
          <p:cNvPr id="41" name="R2 dot"/>
          <p:cNvSpPr/>
          <p:nvPr/>
        </p:nvSpPr>
        <p:spPr>
          <a:xfrm rot="10800000">
            <a:off x="6361481" y="2956438"/>
            <a:ext cx="88697" cy="76810"/>
          </a:xfrm>
          <a:prstGeom prst="triangle">
            <a:avLst/>
          </a:prstGeom>
          <a:solidFill>
            <a:srgbClr val="8FAFE3"/>
          </a:solidFill>
          <a:ln/>
        </p:spPr>
        <p:txBody>
          <a:bodyPr/>
          <a:p/>
        </p:txBody>
      </p:sp>
      <p:sp>
        <p:nvSpPr>
          <p:cNvPr id="42" name="R3 card"/>
          <p:cNvSpPr/>
          <p:nvPr/>
        </p:nvSpPr>
        <p:spPr>
          <a:xfrm>
            <a:off x="1583741" y="3610417"/>
            <a:ext cx="5130698" cy="678668"/>
          </a:xfrm>
          <a:prstGeom prst="round1Rect">
            <a:avLst>
              <a:gd name="adj" fmla="val 23087"/>
            </a:avLst>
          </a:prstGeom>
          <a:solidFill>
            <a:srgbClr val="FFFFFF"/>
          </a:solidFill>
          <a:ln/>
        </p:spPr>
        <p:txBody>
          <a:bodyPr/>
          <a:p/>
        </p:txBody>
      </p:sp>
      <p:sp>
        <p:nvSpPr>
          <p:cNvPr id="43" name="R3 chip"/>
          <p:cNvSpPr/>
          <p:nvPr/>
        </p:nvSpPr>
        <p:spPr>
          <a:xfrm>
            <a:off x="544982" y="3610417"/>
            <a:ext cx="1039673" cy="678668"/>
          </a:xfrm>
          <a:prstGeom prst="rect">
            <a:avLst/>
          </a:prstGeom>
          <a:solidFill>
            <a:srgbClr val="B9D2F7"/>
          </a:solidFill>
          <a:ln/>
        </p:spPr>
        <p:txBody>
          <a:bodyPr/>
          <a:p/>
        </p:txBody>
      </p:sp>
      <p:sp>
        <p:nvSpPr>
          <p:cNvPr id="44" name="R3 num"/>
          <p:cNvSpPr/>
          <p:nvPr/>
        </p:nvSpPr>
        <p:spPr>
          <a:xfrm>
            <a:off x="686714" y="3626510"/>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610417"/>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ask permission with </a:t>
            </a:r>
            <a:r>
              <a:rPr lang="en-US" sz="1500" dirty="0" b="1">
                <a:solidFill>
                  <a:srgbClr val="5B3FC4"/>
                </a:solidFill>
                <a:latin typeface="Lexend Deca" pitchFamily="34" charset="0"/>
                <a:ea typeface="Lexend Deca" pitchFamily="34" charset="-122"/>
                <a:cs typeface="Lexend Deca" pitchFamily="34" charset="-120"/>
              </a:rPr>
              <a:t>Do you mind if I…?</a:t>
            </a:r>
            <a:endParaRPr lang="en-US" sz="1500" dirty="0"/>
          </a:p>
        </p:txBody>
      </p:sp>
      <p:sp>
        <p:nvSpPr>
          <p:cNvPr id="46" name="R3 dot"/>
          <p:cNvSpPr/>
          <p:nvPr/>
        </p:nvSpPr>
        <p:spPr>
          <a:xfrm rot="10800000">
            <a:off x="6361481" y="3743919"/>
            <a:ext cx="88697" cy="76810"/>
          </a:xfrm>
          <a:prstGeom prst="triangle">
            <a:avLst/>
          </a:prstGeom>
          <a:solidFill>
            <a:srgbClr val="8FAFE3"/>
          </a:solidFill>
          <a:ln/>
        </p:spPr>
        <p:txBody>
          <a:bodyPr/>
          <a:p/>
        </p:txBody>
      </p:sp>
      <p:sp>
        <p:nvSpPr>
          <p:cNvPr id="47" name="R4 card"/>
          <p:cNvSpPr/>
          <p:nvPr/>
        </p:nvSpPr>
        <p:spPr>
          <a:xfrm>
            <a:off x="1583741" y="4397898"/>
            <a:ext cx="5130698" cy="678668"/>
          </a:xfrm>
          <a:prstGeom prst="round1Rect">
            <a:avLst>
              <a:gd name="adj" fmla="val 23087"/>
            </a:avLst>
          </a:prstGeom>
          <a:solidFill>
            <a:srgbClr val="FFFFFF"/>
          </a:solidFill>
          <a:ln/>
        </p:spPr>
        <p:txBody>
          <a:bodyPr/>
          <a:p/>
        </p:txBody>
      </p:sp>
      <p:sp>
        <p:nvSpPr>
          <p:cNvPr id="48" name="R4 chip"/>
          <p:cNvSpPr/>
          <p:nvPr/>
        </p:nvSpPr>
        <p:spPr>
          <a:xfrm>
            <a:off x="544982" y="4397898"/>
            <a:ext cx="1039673" cy="678668"/>
          </a:xfrm>
          <a:prstGeom prst="rect">
            <a:avLst/>
          </a:prstGeom>
          <a:solidFill>
            <a:srgbClr val="B9D2F7"/>
          </a:solidFill>
          <a:ln/>
        </p:spPr>
        <p:txBody>
          <a:bodyPr/>
          <a:p/>
        </p:txBody>
      </p:sp>
      <p:sp>
        <p:nvSpPr>
          <p:cNvPr id="49" name="R4 num"/>
          <p:cNvSpPr/>
          <p:nvPr/>
        </p:nvSpPr>
        <p:spPr>
          <a:xfrm>
            <a:off x="686714" y="4413992"/>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397898"/>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ask a coworker to switch a shift and confirm it in a short text.</a:t>
            </a:r>
            <a:endParaRPr lang="en-US" sz="1500" dirty="0"/>
          </a:p>
        </p:txBody>
      </p:sp>
      <p:sp>
        <p:nvSpPr>
          <p:cNvPr id="51" name="R4 dot"/>
          <p:cNvSpPr/>
          <p:nvPr/>
        </p:nvSpPr>
        <p:spPr>
          <a:xfrm rot="10800000">
            <a:off x="6361481" y="4531401"/>
            <a:ext cx="88697" cy="76810"/>
          </a:xfrm>
          <a:prstGeom prst="triangle">
            <a:avLst/>
          </a:prstGeom>
          <a:solidFill>
            <a:srgbClr val="8FAFE3"/>
          </a:solidFill>
          <a:ln/>
        </p:spPr>
        <p:txBody>
          <a:bodyPr/>
          <a:p/>
        </p:txBody>
      </p:sp>
      <p:sp>
        <p:nvSpPr>
          <p:cNvPr id="52" name="R5 card"/>
          <p:cNvSpPr/>
          <p:nvPr/>
        </p:nvSpPr>
        <p:spPr>
          <a:xfrm>
            <a:off x="1583741" y="5185380"/>
            <a:ext cx="5130698" cy="678668"/>
          </a:xfrm>
          <a:prstGeom prst="round1Rect">
            <a:avLst>
              <a:gd name="adj" fmla="val 23087"/>
            </a:avLst>
          </a:prstGeom>
          <a:solidFill>
            <a:srgbClr val="FFFFFF"/>
          </a:solidFill>
          <a:ln/>
        </p:spPr>
        <p:txBody>
          <a:bodyPr/>
          <a:p/>
        </p:txBody>
      </p:sp>
      <p:sp>
        <p:nvSpPr>
          <p:cNvPr id="53" name="R5 chip"/>
          <p:cNvSpPr/>
          <p:nvPr/>
        </p:nvSpPr>
        <p:spPr>
          <a:xfrm>
            <a:off x="544982" y="5185380"/>
            <a:ext cx="1039673" cy="678668"/>
          </a:xfrm>
          <a:prstGeom prst="rect">
            <a:avLst/>
          </a:prstGeom>
          <a:solidFill>
            <a:srgbClr val="B9D2F7"/>
          </a:solidFill>
          <a:ln/>
        </p:spPr>
        <p:txBody>
          <a:bodyPr/>
          <a:p/>
        </p:txBody>
      </p:sp>
      <p:sp>
        <p:nvSpPr>
          <p:cNvPr id="54" name="R5 num"/>
          <p:cNvSpPr/>
          <p:nvPr/>
        </p:nvSpPr>
        <p:spPr>
          <a:xfrm>
            <a:off x="686714" y="5201473"/>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185380"/>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write a note to a neighbor (5–8 sentences) asking for a favor while I'm away.</a:t>
            </a:r>
            <a:endParaRPr lang="en-US" sz="1500" dirty="0"/>
          </a:p>
        </p:txBody>
      </p:sp>
      <p:sp>
        <p:nvSpPr>
          <p:cNvPr id="56" name="R5 dot"/>
          <p:cNvSpPr/>
          <p:nvPr/>
        </p:nvSpPr>
        <p:spPr>
          <a:xfrm rot="10800000">
            <a:off x="6361481" y="5318882"/>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name="L4: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Thank-you note: a note and flowers [sign: THANK YOU!]"/>
          <p:cNvPicPr>
            <a:picLocks noChangeAspect="1"/>
          </p:cNvPicPr>
          <p:nvPr/>
        </p:nvPicPr>
        <p:blipFill>
          <a:blip r:embed="rId3"/>
          <a:stretch>
            <a:fillRect/>
          </a:stretch>
        </p:blipFill>
        <p:spPr>
          <a:xfrm>
            <a:off x="6800393" y="2104034"/>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I sit all day at work. Any ideas?</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in 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Why?</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4: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B answers in 3 sentences: the answer, a reason, and a detail.</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Why? Have you ever tried it? How long have you…?</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sit all day at work. Any ideas?</a:t>
            </a:r>
            <a:endParaRPr lang="en-US" sz="18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I'm always tired in the afternoon. What can I do?</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What's a good idea for a healthy lunch?</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often is it a good idea to get a checkup?</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Homework check: Lesson 4, items 1 and 3.</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Favor: a person raising a hand and a handshake [sign: A FAVOR?]"/>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favor</a:t>
            </a:r>
            <a:endParaRPr lang="en-US" sz="2000" dirty="0" b="1"/>
          </a:p>
        </p:txBody>
      </p:sp>
      <p:pic>
        <p:nvPicPr>
          <p:cNvPr id="19" name="Word picture 2" descr="Borrow: a ladder [sign: BORROW]"/>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borrow</a:t>
            </a:r>
            <a:endParaRPr lang="en-US" sz="2000" dirty="0" b="1"/>
          </a:p>
        </p:txBody>
      </p:sp>
      <p:pic>
        <p:nvPicPr>
          <p:cNvPr id="21" name="Word picture 3" descr="Water the plants: a plant and a drop of water"/>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water the plants</a:t>
            </a:r>
            <a:endParaRPr lang="en-US" sz="1800" dirty="0" b="1"/>
          </a:p>
        </p:txBody>
      </p:sp>
      <p:pic>
        <p:nvPicPr>
          <p:cNvPr id="23" name="Word picture 4" descr="Feed the cat: a cat and a bowl"/>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feed the cat</a:t>
            </a:r>
            <a:endParaRPr lang="en-US" sz="2000" dirty="0" b="1"/>
          </a:p>
        </p:txBody>
      </p:sp>
      <p:pic>
        <p:nvPicPr>
          <p:cNvPr id="25" name="Word picture 5" descr="Get the mail: a mailbox and a letter"/>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get the mail</a:t>
            </a:r>
            <a:endParaRPr lang="en-US" sz="2000" dirty="0" b="1"/>
          </a:p>
        </p:txBody>
      </p:sp>
      <p:pic>
        <p:nvPicPr>
          <p:cNvPr id="27" name="Word picture 6" descr="Spare key: two keys [sign: SPARE]"/>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spare key</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291840" cy="1143000"/>
          </a:xfrm>
          <a:prstGeom prst="round1Rect">
            <a:avLst>
              <a:gd name="adj" fmla="val 23087"/>
            </a:avLst>
          </a:prstGeom>
          <a:solidFill>
            <a:srgbClr val="FFFFFF"/>
          </a:solidFill>
          <a:ln/>
        </p:spPr>
        <p:txBody>
          <a:bodyPr/>
          <a:p/>
        </p:txBody>
      </p:sp>
      <p:sp>
        <p:nvSpPr>
          <p:cNvPr id="13" name="instr"/>
          <p:cNvSpPr/>
          <p:nvPr/>
        </p:nvSpPr>
        <p:spPr>
          <a:xfrm>
            <a:off x="1325880" y="685800"/>
            <a:ext cx="288036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Favor or no favor?</a:t>
            </a:r>
            <a:endParaRPr lang="en-US" sz="2200" dirty="0" b="1"/>
          </a:p>
        </p:txBody>
      </p:sp>
      <p:pic>
        <p:nvPicPr>
          <p:cNvPr id="17" name="Word picture 1" descr="Package: a package"/>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package</a:t>
            </a:r>
            <a:endParaRPr lang="en-US" sz="2000" dirty="0" b="1"/>
          </a:p>
        </p:txBody>
      </p:sp>
      <p:pic>
        <p:nvPicPr>
          <p:cNvPr id="19" name="Word picture 2" descr="Switch shifts: a calendar and arrows [sign: SAT → SUN]"/>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switch shifts</a:t>
            </a:r>
            <a:endParaRPr lang="en-US" sz="2000" dirty="0" b="1"/>
          </a:p>
        </p:txBody>
      </p:sp>
      <p:pic>
        <p:nvPicPr>
          <p:cNvPr id="21" name="Word picture 3" descr="Cover a shift: a person raising a hand and a clock [sign: COVER: SAT]"/>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cover a shift</a:t>
            </a:r>
            <a:endParaRPr lang="en-US" sz="2000" dirty="0" b="1"/>
          </a:p>
        </p:txBody>
      </p:sp>
      <p:pic>
        <p:nvPicPr>
          <p:cNvPr id="23" name="Word picture 4" descr="Be away: a suitcase and a plane"/>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be away</a:t>
            </a:r>
            <a:endParaRPr lang="en-US" sz="2000" dirty="0" b="1"/>
          </a:p>
        </p:txBody>
      </p:sp>
      <p:pic>
        <p:nvPicPr>
          <p:cNvPr id="25" name="Word picture 5" descr="Owe (someone): a handshake [sign: I OWE YOU ONE]"/>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owe (someone)</a:t>
            </a:r>
            <a:endParaRPr lang="en-US" sz="2000" dirty="0" b="1"/>
          </a:p>
        </p:txBody>
      </p:sp>
      <p:pic>
        <p:nvPicPr>
          <p:cNvPr id="27" name="Word picture 6" descr="Thank-you note: a note and flowers [sign: THANK YOU!]"/>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thank-you note</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4: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If I borrow your pen, do I give it back?</a:t>
            </a:r>
            <a:endParaRPr lang="en-US" sz="1600" dirty="0" b="1"/>
          </a:p>
        </p:txBody>
      </p:sp>
      <p:pic>
        <p:nvPicPr>
          <p:cNvPr id="101" name="R1 pic" descr="Borrow: a ladder [sign: BORROW]"/>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If you cover my shift, who works?</a:t>
            </a:r>
            <a:endParaRPr lang="en-US" sz="1600" dirty="0" b="1"/>
          </a:p>
        </p:txBody>
      </p:sp>
      <p:pic>
        <p:nvPicPr>
          <p:cNvPr id="102" name="R2 pic" descr="Cover a shift: a person raising a hand and a clock [sign: COVER: SAT]"/>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Is a spare key the first key or an extra key?</a:t>
            </a:r>
            <a:endParaRPr lang="en-US" sz="1600" dirty="0" b="1"/>
          </a:p>
        </p:txBody>
      </p:sp>
      <p:pic>
        <p:nvPicPr>
          <p:cNvPr id="103" name="R3 pic" descr="Spare key: two keys [sign: SPARE]"/>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yes</a:t>
            </a:r>
            <a:endParaRPr lang="en-US" sz="28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you do</a:t>
            </a:r>
            <a:endParaRPr lang="en-US" sz="28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an extra key</a:t>
            </a:r>
            <a:endParaRPr lang="en-US" sz="22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4: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Patricia is going away for a week. First, she talks to her neighbor, Mr. Wilson. Then, at work, her coworker Omar asks her for a favor.</a:t>
            </a:r>
            <a:endParaRPr lang="en-US" sz="16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Water the plants: a plant and a drop of water"/>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Patricia</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Mr. Wilson</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Omar</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favors do they ask for?</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Play 2: Tasks B and C.</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1:47): coming soon.</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A</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What favors do they ask for?</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8" name="R1 stmt"/>
          <p:cNvSpPr/>
          <p:nvPr/>
        </p:nvSpPr>
        <p:spPr>
          <a:xfrm>
            <a:off x="502920" y="3108960"/>
            <a:ext cx="182880" cy="530352"/>
          </a:xfrm>
          <a:prstGeom prst="rect">
            <a:avLst/>
          </a:prstGeom>
          <a:noFill/>
          <a:ln w="38100">
            <a:noFill/>
          </a:ln>
        </p:spPr>
        <p:txBody>
          <a:bodyPr wrap="square" lIns="73152" tIns="36576" rIns="73152" bIns="36576" rtlCol="0" anchor="ctr">
            <a:noAutofit/>
          </a:bodyPr>
          <a:lstStyle/>
          <a:p>
            <a:pPr algn="l" indent="0" marL="0">
              <a:buNone/>
            </a:pPr>
            <a:endParaRPr lang="en-US" sz="2000" dirty="0"/>
          </a:p>
        </p:txBody>
      </p:sp>
      <p:sp>
        <p:nvSpPr>
          <p:cNvPr id="9" name="R1 opt1"/>
          <p:cNvSpPr/>
          <p:nvPr/>
        </p:nvSpPr>
        <p:spPr>
          <a:xfrm>
            <a:off x="868680" y="3108960"/>
            <a:ext cx="3520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a. get the mail, water the plants, feed the cat, and cover a shift</a:t>
            </a:r>
            <a:endParaRPr lang="en-US" sz="1400" dirty="0" b="1"/>
          </a:p>
        </p:txBody>
      </p:sp>
      <p:sp>
        <p:nvSpPr>
          <p:cNvPr id="10" name="R1 opt2"/>
          <p:cNvSpPr/>
          <p:nvPr/>
        </p:nvSpPr>
        <p:spPr>
          <a:xfrm>
            <a:off x="4480560" y="3108960"/>
            <a:ext cx="3520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b. borrow a ladder and switch shifts</a:t>
            </a:r>
            <a:endParaRPr lang="en-US" sz="1400" dirty="0" b="1"/>
          </a:p>
        </p:txBody>
      </p:sp>
      <p:sp>
        <p:nvSpPr>
          <p:cNvPr id="11" name="R1 opt3"/>
          <p:cNvSpPr/>
          <p:nvPr/>
        </p:nvSpPr>
        <p:spPr>
          <a:xfrm>
            <a:off x="8092440" y="3108960"/>
            <a:ext cx="3520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c. pick up a package and lend a car</a:t>
            </a:r>
            <a:endParaRPr lang="en-US" sz="1400" dirty="0" b="1"/>
          </a:p>
        </p:txBody>
      </p:sp>
      <p:sp>
        <p:nvSpPr>
          <p:cNvPr id="12" name="R1 circle"/>
          <p:cNvSpPr/>
          <p:nvPr/>
        </p:nvSpPr>
        <p:spPr>
          <a:xfrm>
            <a:off x="740664" y="3054096"/>
            <a:ext cx="377647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again. Yes or no, and why?</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answer.</a:t>
            </a:r>
            <a:endParaRPr lang="en-US" sz="2000" dirty="0"/>
          </a:p>
        </p:txBody>
      </p:sp>
      <p:sp>
        <p:nvSpPr>
          <p:cNvPr id="8" name="R1 stmt"/>
          <p:cNvSpPr/>
          <p:nvPr/>
        </p:nvSpPr>
        <p:spPr>
          <a:xfrm>
            <a:off x="502920" y="310896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1. The mail: Mr. Wilson says</a:t>
            </a:r>
            <a:endParaRPr lang="en-US" sz="1600" dirty="0"/>
          </a:p>
        </p:txBody>
      </p:sp>
      <p:sp>
        <p:nvSpPr>
          <p:cNvPr id="9" name="R1 opt1"/>
          <p:cNvSpPr/>
          <p:nvPr/>
        </p:nvSpPr>
        <p:spPr>
          <a:xfrm>
            <a:off x="6629400" y="31089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yes</a:t>
            </a:r>
            <a:endParaRPr lang="en-US" sz="1400" dirty="0" b="1"/>
          </a:p>
        </p:txBody>
      </p:sp>
      <p:sp>
        <p:nvSpPr>
          <p:cNvPr id="10" name="R1 opt2"/>
          <p:cNvSpPr/>
          <p:nvPr/>
        </p:nvSpPr>
        <p:spPr>
          <a:xfrm>
            <a:off x="8869680" y="31089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no</a:t>
            </a:r>
            <a:endParaRPr lang="en-US" sz="1400" dirty="0" b="1"/>
          </a:p>
        </p:txBody>
      </p:sp>
      <p:sp>
        <p:nvSpPr>
          <p:cNvPr id="11" name="R1 circle"/>
          <p:cNvSpPr/>
          <p:nvPr/>
        </p:nvSpPr>
        <p:spPr>
          <a:xfrm>
            <a:off x="6501384" y="305409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2. The plants: water them on</a:t>
            </a:r>
            <a:endParaRPr lang="en-US" sz="1600" dirty="0"/>
          </a:p>
        </p:txBody>
      </p:sp>
      <p:sp>
        <p:nvSpPr>
          <p:cNvPr id="13" name="R2 opt1"/>
          <p:cNvSpPr/>
          <p:nvPr/>
        </p:nvSpPr>
        <p:spPr>
          <a:xfrm>
            <a:off x="6629400" y="365760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Tuesday and Friday</a:t>
            </a:r>
            <a:endParaRPr lang="en-US" sz="1400" dirty="0" b="1"/>
          </a:p>
        </p:txBody>
      </p:sp>
      <p:sp>
        <p:nvSpPr>
          <p:cNvPr id="14" name="R2 opt2"/>
          <p:cNvSpPr/>
          <p:nvPr/>
        </p:nvSpPr>
        <p:spPr>
          <a:xfrm>
            <a:off x="8869680" y="365760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Monday and Thursday</a:t>
            </a:r>
            <a:endParaRPr lang="en-US" sz="1400" dirty="0" b="1"/>
          </a:p>
        </p:txBody>
      </p:sp>
      <p:sp>
        <p:nvSpPr>
          <p:cNvPr id="15" name="R2 circle"/>
          <p:cNvSpPr/>
          <p:nvPr/>
        </p:nvSpPr>
        <p:spPr>
          <a:xfrm>
            <a:off x="6501384" y="360273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3. The key: Patricia will give him</a:t>
            </a:r>
            <a:endParaRPr lang="en-US" sz="1600" dirty="0"/>
          </a:p>
        </p:txBody>
      </p:sp>
      <p:sp>
        <p:nvSpPr>
          <p:cNvPr id="17" name="R3 opt1"/>
          <p:cNvSpPr/>
          <p:nvPr/>
        </p:nvSpPr>
        <p:spPr>
          <a:xfrm>
            <a:off x="6629400" y="420624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her spare key</a:t>
            </a:r>
            <a:endParaRPr lang="en-US" sz="1400" dirty="0" b="1"/>
          </a:p>
        </p:txBody>
      </p:sp>
      <p:sp>
        <p:nvSpPr>
          <p:cNvPr id="18" name="R3 opt2"/>
          <p:cNvSpPr/>
          <p:nvPr/>
        </p:nvSpPr>
        <p:spPr>
          <a:xfrm>
            <a:off x="8869680" y="420624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her car key</a:t>
            </a:r>
            <a:endParaRPr lang="en-US" sz="1400" dirty="0" b="1"/>
          </a:p>
        </p:txBody>
      </p:sp>
      <p:sp>
        <p:nvSpPr>
          <p:cNvPr id="19" name="R3 circle"/>
          <p:cNvSpPr/>
          <p:nvPr/>
        </p:nvSpPr>
        <p:spPr>
          <a:xfrm>
            <a:off x="6501384" y="415137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4. The packages: Mr. Wilson can put them</a:t>
            </a:r>
            <a:endParaRPr lang="en-US" sz="1600" dirty="0"/>
          </a:p>
        </p:txBody>
      </p:sp>
      <p:sp>
        <p:nvSpPr>
          <p:cNvPr id="21" name="R4 opt1"/>
          <p:cNvSpPr/>
          <p:nvPr/>
        </p:nvSpPr>
        <p:spPr>
          <a:xfrm>
            <a:off x="6629400" y="475488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inside</a:t>
            </a:r>
            <a:endParaRPr lang="en-US" sz="1400" dirty="0" b="1"/>
          </a:p>
        </p:txBody>
      </p:sp>
      <p:sp>
        <p:nvSpPr>
          <p:cNvPr id="22" name="R4 opt2"/>
          <p:cNvSpPr/>
          <p:nvPr/>
        </p:nvSpPr>
        <p:spPr>
          <a:xfrm>
            <a:off x="8869680" y="475488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at the office</a:t>
            </a:r>
            <a:endParaRPr lang="en-US" sz="1400" dirty="0" b="1"/>
          </a:p>
        </p:txBody>
      </p:sp>
      <p:sp>
        <p:nvSpPr>
          <p:cNvPr id="23" name="R4 circle"/>
          <p:cNvSpPr/>
          <p:nvPr/>
        </p:nvSpPr>
        <p:spPr>
          <a:xfrm>
            <a:off x="6501384" y="470001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5. The Saturday shift: Patricia says</a:t>
            </a:r>
            <a:endParaRPr lang="en-US" sz="1600" dirty="0"/>
          </a:p>
        </p:txBody>
      </p:sp>
      <p:sp>
        <p:nvSpPr>
          <p:cNvPr id="25" name="R5 opt1"/>
          <p:cNvSpPr/>
          <p:nvPr/>
        </p:nvSpPr>
        <p:spPr>
          <a:xfrm>
            <a:off x="6629400" y="530352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yes</a:t>
            </a:r>
            <a:endParaRPr lang="en-US" sz="1400" dirty="0" b="1"/>
          </a:p>
        </p:txBody>
      </p:sp>
      <p:sp>
        <p:nvSpPr>
          <p:cNvPr id="26" name="R5 opt2"/>
          <p:cNvSpPr/>
          <p:nvPr/>
        </p:nvSpPr>
        <p:spPr>
          <a:xfrm>
            <a:off x="8869680" y="530352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no</a:t>
            </a:r>
            <a:endParaRPr lang="en-US" sz="1400" dirty="0" b="1"/>
          </a:p>
        </p:txBody>
      </p:sp>
      <p:sp>
        <p:nvSpPr>
          <p:cNvPr id="27" name="R5 circle"/>
          <p:cNvSpPr/>
          <p:nvPr/>
        </p:nvSpPr>
        <p:spPr>
          <a:xfrm>
            <a:off x="8741664" y="524865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6. Why? She</a:t>
            </a:r>
            <a:endParaRPr lang="en-US" sz="1600" dirty="0"/>
          </a:p>
        </p:txBody>
      </p:sp>
      <p:sp>
        <p:nvSpPr>
          <p:cNvPr id="29" name="R6 opt1"/>
          <p:cNvSpPr/>
          <p:nvPr/>
        </p:nvSpPr>
        <p:spPr>
          <a:xfrm>
            <a:off x="6629400" y="58521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will be away</a:t>
            </a:r>
            <a:endParaRPr lang="en-US" sz="1400" dirty="0" b="1"/>
          </a:p>
        </p:txBody>
      </p:sp>
      <p:sp>
        <p:nvSpPr>
          <p:cNvPr id="30" name="R6 opt2"/>
          <p:cNvSpPr/>
          <p:nvPr/>
        </p:nvSpPr>
        <p:spPr>
          <a:xfrm>
            <a:off x="8869680" y="58521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has a soccer game</a:t>
            </a:r>
            <a:endParaRPr lang="en-US" sz="1400" dirty="0" b="1"/>
          </a:p>
        </p:txBody>
      </p:sp>
      <p:sp>
        <p:nvSpPr>
          <p:cNvPr id="31" name="R6 circle"/>
          <p:cNvSpPr/>
          <p:nvPr/>
        </p:nvSpPr>
        <p:spPr>
          <a:xfrm>
            <a:off x="6501384" y="579729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missing word: an -ing word or if.</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Write an </a:t>
            </a:r>
            <a:r>
              <a:rPr lang="en-US" sz="2000" dirty="0" b="1">
                <a:solidFill>
                  <a:srgbClr val="5B3FC4"/>
                </a:solidFill>
                <a:latin typeface="Lexend Deca" pitchFamily="34" charset="0"/>
                <a:ea typeface="Lexend Deca" pitchFamily="34" charset="-122"/>
                <a:cs typeface="Lexend Deca" pitchFamily="34" charset="-120"/>
              </a:rPr>
              <a:t>-ing</a:t>
            </a:r>
            <a:r>
              <a:rPr lang="en-US" sz="2000" dirty="0" b="1">
                <a:solidFill>
                  <a:srgbClr val="1B2236"/>
                </a:solidFill>
                <a:latin typeface="Lexend Deca" pitchFamily="34" charset="0"/>
                <a:ea typeface="Lexend Deca" pitchFamily="34" charset="-122"/>
                <a:cs typeface="Lexend Deca" pitchFamily="34" charset="-120"/>
              </a:rPr>
              <a:t> word or </a:t>
            </a:r>
            <a:r>
              <a:rPr lang="en-US" sz="2000" dirty="0" b="1">
                <a:solidFill>
                  <a:srgbClr val="5B3FC4"/>
                </a:solidFill>
                <a:latin typeface="Lexend Deca" pitchFamily="34" charset="0"/>
                <a:ea typeface="Lexend Deca" pitchFamily="34" charset="-122"/>
                <a:cs typeface="Lexend Deca" pitchFamily="34" charset="-120"/>
              </a:rPr>
              <a:t>if</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compare your answers.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Would you mind ____ my mail?</a:t>
            </a:r>
            <a:endParaRPr lang="en-US" sz="1800" dirty="0"/>
          </a:p>
        </p:txBody>
      </p:sp>
      <p:sp>
        <p:nvSpPr>
          <p:cNvPr id="35" name="R1 ans"/>
          <p:cNvSpPr/>
          <p:nvPr/>
        </p:nvSpPr>
        <p:spPr>
          <a:xfrm>
            <a:off x="6199632" y="2222144"/>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getting</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And would you mind ____ my plants?</a:t>
            </a:r>
            <a:endParaRPr lang="en-US" sz="1800" dirty="0"/>
          </a:p>
        </p:txBody>
      </p:sp>
      <p:sp>
        <p:nvSpPr>
          <p:cNvPr id="40" name="R2 ans"/>
          <p:cNvSpPr/>
          <p:nvPr/>
        </p:nvSpPr>
        <p:spPr>
          <a:xfrm>
            <a:off x="6199632" y="295031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watering</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Oh, and would you mind ____ my cat, too?</a:t>
            </a:r>
            <a:endParaRPr lang="en-US" sz="1800" dirty="0"/>
          </a:p>
        </p:txBody>
      </p:sp>
      <p:sp>
        <p:nvSpPr>
          <p:cNvPr id="45" name="R3 ans"/>
          <p:cNvSpPr/>
          <p:nvPr/>
        </p:nvSpPr>
        <p:spPr>
          <a:xfrm>
            <a:off x="6199632" y="367847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feeding</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Do you mind ____ I put your packages inside, too?</a:t>
            </a:r>
            <a:endParaRPr lang="en-US" sz="1800" dirty="0"/>
          </a:p>
        </p:txBody>
      </p:sp>
      <p:sp>
        <p:nvSpPr>
          <p:cNvPr id="50" name="R4 ans"/>
          <p:cNvSpPr/>
          <p:nvPr/>
        </p:nvSpPr>
        <p:spPr>
          <a:xfrm>
            <a:off x="6199632" y="440664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if</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Would you mind ____ my Saturday shift?</a:t>
            </a:r>
            <a:endParaRPr lang="en-US" sz="1800" dirty="0"/>
          </a:p>
        </p:txBody>
      </p:sp>
      <p:sp>
        <p:nvSpPr>
          <p:cNvPr id="55" name="R5 ans"/>
          <p:cNvSpPr/>
          <p:nvPr/>
        </p:nvSpPr>
        <p:spPr>
          <a:xfrm>
            <a:off x="6199632" y="5134813"/>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covering</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Do you mind ____ I tell her you suggested it?</a:t>
            </a:r>
            <a:endParaRPr lang="en-US" sz="1800" dirty="0"/>
          </a:p>
        </p:txBody>
      </p:sp>
      <p:sp>
        <p:nvSpPr>
          <p:cNvPr id="60" name="R6 ans"/>
          <p:cNvSpPr/>
          <p:nvPr/>
        </p:nvSpPr>
        <p:spPr>
          <a:xfrm>
            <a:off x="6199632" y="5862980"/>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if</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4: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Hear it: gonna = going to, wanna = want to</a:t>
            </a:r>
            <a:endParaRPr lang="en-US" sz="18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Say it: smoothly, with a friendly rise</a:t>
            </a:r>
            <a:endParaRPr lang="en-US" sz="18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Hear It,</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You will hear </a:t>
            </a:r>
            <a:r>
              <a:rPr lang="en-US" sz="2000" dirty="0" b="1">
                <a:solidFill>
                  <a:srgbClr val="5B3FC4"/>
                </a:solidFill>
                <a:latin typeface="Lexend Deca" pitchFamily="34" charset="0"/>
                <a:ea typeface="Lexend Deca" pitchFamily="34" charset="-122"/>
                <a:cs typeface="Lexend Deca" pitchFamily="34" charset="-120"/>
              </a:rPr>
              <a:t>gonna</a:t>
            </a:r>
            <a:r>
              <a:rPr lang="en-US" sz="2000" dirty="0">
                <a:solidFill>
                  <a:srgbClr val="1B2236"/>
                </a:solidFill>
                <a:latin typeface="Lexend Deca" pitchFamily="34" charset="0"/>
                <a:ea typeface="Lexend Deca" pitchFamily="34" charset="-122"/>
                <a:cs typeface="Lexend Deca" pitchFamily="34" charset="-120"/>
              </a:rPr>
              <a:t> and </a:t>
            </a:r>
            <a:r>
              <a:rPr lang="en-US" sz="2000" dirty="0" b="1">
                <a:solidFill>
                  <a:srgbClr val="5B3FC4"/>
                </a:solidFill>
                <a:latin typeface="Lexend Deca" pitchFamily="34" charset="0"/>
                <a:ea typeface="Lexend Deca" pitchFamily="34" charset="-122"/>
                <a:cs typeface="Lexend Deca" pitchFamily="34" charset="-120"/>
              </a:rPr>
              <a:t>wanna</a:t>
            </a:r>
            <a:r>
              <a:rPr lang="en-US" sz="2000" dirty="0">
                <a:solidFill>
                  <a:srgbClr val="1B2236"/>
                </a:solidFill>
                <a:latin typeface="Lexend Deca" pitchFamily="34" charset="0"/>
                <a:ea typeface="Lexend Deca" pitchFamily="34" charset="-122"/>
                <a:cs typeface="Lexend Deca" pitchFamily="34" charset="-120"/>
              </a:rPr>
              <a:t>.</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it smoothly, with a </a:t>
            </a:r>
            <a:r>
              <a:rPr lang="en-US" sz="2000" dirty="0" b="1">
                <a:solidFill>
                  <a:srgbClr val="5B3FC4"/>
                </a:solidFill>
                <a:latin typeface="Lexend Deca" pitchFamily="34" charset="0"/>
                <a:ea typeface="Lexend Deca" pitchFamily="34" charset="-122"/>
                <a:cs typeface="Lexend Deca" pitchFamily="34" charset="-120"/>
              </a:rPr>
              <a:t>friendly rise</a:t>
            </a:r>
            <a:r>
              <a:rPr lang="en-US" sz="2000" dirty="0" b="0">
                <a:solidFill>
                  <a:srgbClr val="1B2236"/>
                </a:solidFill>
                <a:latin typeface="Lexend Deca" pitchFamily="34" charset="0"/>
                <a:ea typeface="Lexend Deca" pitchFamily="34" charset="-122"/>
                <a:cs typeface="Lexend Deca" pitchFamily="34" charset="-120"/>
              </a:rPr>
              <a:t>.</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602590"/>
          </a:xfrm>
          <a:prstGeom prst="round1Rect">
            <a:avLst>
              <a:gd name="adj" fmla="val 23087"/>
            </a:avLst>
          </a:prstGeom>
          <a:solidFill>
            <a:srgbClr val="FFFFFF"/>
          </a:solidFill>
          <a:ln/>
        </p:spPr>
        <p:txBody>
          <a:bodyPr/>
          <a:p/>
        </p:txBody>
      </p:sp>
      <p:sp>
        <p:nvSpPr>
          <p:cNvPr id="32" name="S1 text"/>
          <p:cNvSpPr/>
          <p:nvPr/>
        </p:nvSpPr>
        <p:spPr>
          <a:xfrm>
            <a:off x="777240" y="271576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I'm </a:t>
            </a:r>
            <a:r>
              <a:rPr lang="en-US" sz="1800" dirty="0" b="1">
                <a:solidFill>
                  <a:srgbClr val="5B3FC4"/>
                </a:solidFill>
                <a:latin typeface="Lexend Deca" pitchFamily="34" charset="0"/>
                <a:ea typeface="Lexend Deca" pitchFamily="34" charset="-122"/>
                <a:cs typeface="Lexend Deca" pitchFamily="34" charset="-120"/>
              </a:rPr>
              <a:t>gonna</a:t>
            </a:r>
            <a:r>
              <a:rPr lang="en-US" sz="1800" dirty="0" b="1">
                <a:solidFill>
                  <a:srgbClr val="1B2236"/>
                </a:solidFill>
                <a:latin typeface="Lexend Deca" pitchFamily="34" charset="0"/>
                <a:ea typeface="Lexend Deca" pitchFamily="34" charset="-122"/>
                <a:cs typeface="Lexend Deca" pitchFamily="34" charset="-120"/>
              </a:rPr>
              <a:t> be away next week.</a:t>
            </a:r>
            <a:endParaRPr lang="en-US" sz="1800" dirty="0" b="1"/>
          </a:p>
        </p:txBody>
      </p:sp>
      <p:sp>
        <p:nvSpPr>
          <p:cNvPr id="33" name="S2 card"/>
          <p:cNvSpPr/>
          <p:nvPr/>
        </p:nvSpPr>
        <p:spPr>
          <a:xfrm>
            <a:off x="548640" y="3427171"/>
            <a:ext cx="6766560" cy="602590"/>
          </a:xfrm>
          <a:prstGeom prst="round1Rect">
            <a:avLst>
              <a:gd name="adj" fmla="val 23087"/>
            </a:avLst>
          </a:prstGeom>
          <a:solidFill>
            <a:srgbClr val="FFFFFF"/>
          </a:solidFill>
          <a:ln/>
        </p:spPr>
        <p:txBody>
          <a:bodyPr/>
          <a:p/>
        </p:txBody>
      </p:sp>
      <p:sp>
        <p:nvSpPr>
          <p:cNvPr id="34" name="S2 text"/>
          <p:cNvSpPr/>
          <p:nvPr/>
        </p:nvSpPr>
        <p:spPr>
          <a:xfrm>
            <a:off x="777240" y="3427171"/>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5B3FC4"/>
                </a:solidFill>
                <a:latin typeface="Lexend Deca" pitchFamily="34" charset="0"/>
                <a:ea typeface="Lexend Deca" pitchFamily="34" charset="-122"/>
                <a:cs typeface="Lexend Deca" pitchFamily="34" charset="-120"/>
              </a:rPr>
              <a:t>wanna</a:t>
            </a:r>
            <a:r>
              <a:rPr lang="en-US" sz="1800" dirty="0" b="1">
                <a:solidFill>
                  <a:srgbClr val="1B2236"/>
                </a:solidFill>
                <a:latin typeface="Lexend Deca" pitchFamily="34" charset="0"/>
                <a:ea typeface="Lexend Deca" pitchFamily="34" charset="-122"/>
                <a:cs typeface="Lexend Deca" pitchFamily="34" charset="-120"/>
              </a:rPr>
              <a:t> help, but I can't.</a:t>
            </a:r>
            <a:endParaRPr lang="en-US" sz="1800" dirty="0" b="1"/>
          </a:p>
        </p:txBody>
      </p:sp>
      <p:sp>
        <p:nvSpPr>
          <p:cNvPr id="35" name="S3 card"/>
          <p:cNvSpPr/>
          <p:nvPr/>
        </p:nvSpPr>
        <p:spPr>
          <a:xfrm>
            <a:off x="548640" y="4138574"/>
            <a:ext cx="6766560" cy="602590"/>
          </a:xfrm>
          <a:prstGeom prst="round1Rect">
            <a:avLst>
              <a:gd name="adj" fmla="val 23087"/>
            </a:avLst>
          </a:prstGeom>
          <a:solidFill>
            <a:srgbClr val="FFFFFF"/>
          </a:solidFill>
          <a:ln/>
        </p:spPr>
        <p:txBody>
          <a:bodyPr/>
          <a:p/>
        </p:txBody>
      </p:sp>
      <p:sp>
        <p:nvSpPr>
          <p:cNvPr id="36" name="S3 text"/>
          <p:cNvSpPr/>
          <p:nvPr/>
        </p:nvSpPr>
        <p:spPr>
          <a:xfrm>
            <a:off x="777240" y="4138574"/>
            <a:ext cx="6355080" cy="602590"/>
          </a:xfrm>
          <a:prstGeom prst="rect">
            <a:avLst/>
          </a:prstGeom>
          <a:noFill/>
          <a:ln/>
        </p:spPr>
        <p:txBody>
          <a:bodyPr wrap="square" rtlCol="0" anchor="ct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Would you mind</a:t>
            </a:r>
            <a:r>
              <a:rPr lang="en-US" sz="1800" dirty="0" b="1">
                <a:solidFill>
                  <a:srgbClr val="1B2236"/>
                </a:solidFill>
                <a:latin typeface="Lexend Deca" pitchFamily="34" charset="0"/>
                <a:ea typeface="Lexend Deca" pitchFamily="34" charset="-122"/>
                <a:cs typeface="Lexend Deca" pitchFamily="34" charset="-120"/>
              </a:rPr>
              <a:t> getting my mail?</a:t>
            </a:r>
            <a:endParaRPr lang="en-US" sz="1800" dirty="0" b="1"/>
          </a:p>
        </p:txBody>
      </p:sp>
      <p:sp>
        <p:nvSpPr>
          <p:cNvPr id="37" name="S4 card"/>
          <p:cNvSpPr/>
          <p:nvPr/>
        </p:nvSpPr>
        <p:spPr>
          <a:xfrm>
            <a:off x="548640" y="4849978"/>
            <a:ext cx="6766560" cy="602590"/>
          </a:xfrm>
          <a:prstGeom prst="round1Rect">
            <a:avLst>
              <a:gd name="adj" fmla="val 23087"/>
            </a:avLst>
          </a:prstGeom>
          <a:solidFill>
            <a:srgbClr val="FFFFFF"/>
          </a:solidFill>
          <a:ln/>
        </p:spPr>
        <p:txBody>
          <a:bodyPr/>
          <a:p/>
        </p:txBody>
      </p:sp>
      <p:sp>
        <p:nvSpPr>
          <p:cNvPr id="38" name="S4 text"/>
          <p:cNvSpPr/>
          <p:nvPr/>
        </p:nvSpPr>
        <p:spPr>
          <a:xfrm>
            <a:off x="777240" y="4849978"/>
            <a:ext cx="6355080" cy="602590"/>
          </a:xfrm>
          <a:prstGeom prst="rect">
            <a:avLst/>
          </a:prstGeom>
          <a:noFill/>
          <a:ln/>
        </p:spPr>
        <p:txBody>
          <a:bodyPr wrap="square" rtlCol="0" anchor="ct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Do you mind if I</a:t>
            </a:r>
            <a:r>
              <a:rPr lang="en-US" sz="1800" dirty="0" b="1">
                <a:solidFill>
                  <a:srgbClr val="1B2236"/>
                </a:solidFill>
                <a:latin typeface="Lexend Deca" pitchFamily="34" charset="0"/>
                <a:ea typeface="Lexend Deca" pitchFamily="34" charset="-122"/>
                <a:cs typeface="Lexend Deca" pitchFamily="34" charset="-120"/>
              </a:rPr>
              <a:t> open the window? </a:t>
            </a:r>
            <a:r>
              <a:rPr lang="en-US" sz="1800" dirty="0" b="1">
                <a:solidFill>
                  <a:srgbClr val="5B3FC4"/>
                </a:solidFill>
                <a:latin typeface="Lexend Deca" pitchFamily="34" charset="0"/>
                <a:ea typeface="Lexend Deca" pitchFamily="34" charset="-122"/>
                <a:cs typeface="Lexend Deca" pitchFamily="34" charset="-120"/>
              </a:rPr>
              <a:t>No, not at all!</a:t>
            </a:r>
            <a:endParaRPr lang="en-US" sz="1800" dirty="0" b="1"/>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Get the mail: a mailbox and a letter"/>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Would you mind + -ing?</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Would you mind</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getting</a:t>
            </a:r>
            <a:r>
              <a:rPr lang="en-US" sz="1700" dirty="0" b="1">
                <a:solidFill>
                  <a:srgbClr val="1B2236"/>
                </a:solidFill>
                <a:latin typeface="Lexend Deca" pitchFamily="34" charset="0"/>
                <a:ea typeface="Lexend Deca" pitchFamily="34" charset="-122"/>
                <a:cs typeface="Lexend Deca" pitchFamily="34" charset="-120"/>
              </a:rPr>
              <a:t> my mail?</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a:t>
            </a:r>
            <a:r>
              <a:rPr lang="en-US" sz="1700" dirty="0" b="1">
                <a:solidFill>
                  <a:srgbClr val="1B2236"/>
                </a:solidFill>
                <a:latin typeface="Lexend Deca" pitchFamily="34" charset="0"/>
                <a:ea typeface="Lexend Deca" pitchFamily="34" charset="-122"/>
                <a:cs typeface="Lexend Deca" pitchFamily="34" charset="-120"/>
              </a:rPr>
              <a:t>not at all</a:t>
            </a:r>
            <a:r>
              <a:rPr lang="en-US" sz="1700" dirty="0" b="1">
                <a:solidFill>
                  <a:srgbClr val="1B2236"/>
                </a:solidFill>
                <a:latin typeface="Lexend Deca" pitchFamily="34" charset="0"/>
                <a:ea typeface="Lexend Deca" pitchFamily="34" charset="-122"/>
                <a:cs typeface="Lexend Deca" pitchFamily="34" charset="-120"/>
              </a:rPr>
              <a:t>. I</a:t>
            </a:r>
            <a:r>
              <a:rPr lang="en-US" sz="1700" dirty="0" b="1">
                <a:solidFill>
                  <a:srgbClr val="1B2236"/>
                </a:solidFill>
                <a:latin typeface="Lexend Deca" pitchFamily="34" charset="0"/>
                <a:ea typeface="Lexend Deca" pitchFamily="34" charset="-122"/>
                <a:cs typeface="Lexend Deca" pitchFamily="34" charset="-120"/>
              </a:rPr>
              <a:t>'ll</a:t>
            </a:r>
            <a:r>
              <a:rPr lang="en-US" sz="1700" dirty="0" b="1">
                <a:solidFill>
                  <a:srgbClr val="1B2236"/>
                </a:solidFill>
                <a:latin typeface="Lexend Deca" pitchFamily="34" charset="0"/>
                <a:ea typeface="Lexend Deca" pitchFamily="34" charset="-122"/>
                <a:cs typeface="Lexend Deca" pitchFamily="34" charset="-120"/>
              </a:rPr>
              <a:t> do it.</a:t>
            </a:r>
            <a:endParaRPr lang="en-US" sz="1700" dirty="0" b="1"/>
          </a:p>
          <a:p>
            <a:pPr algn="l" indent="0" marL="0">
              <a:buNone/>
            </a:pPr>
            <a:r>
              <a:rPr lang="en-US" sz="1700" dirty="0" b="1">
                <a:solidFill>
                  <a:srgbClr val="1B2236"/>
                </a:solidFill>
                <a:latin typeface="Lexend Deca" pitchFamily="34" charset="0"/>
                <a:ea typeface="Lexend Deca" pitchFamily="34" charset="-122"/>
                <a:cs typeface="Lexend Deca" pitchFamily="34" charset="-120"/>
              </a:rPr>
              <a:t>Sorry</a:t>
            </a:r>
            <a:r>
              <a:rPr lang="en-US" sz="1700" dirty="0" b="1">
                <a:solidFill>
                  <a:srgbClr val="1B2236"/>
                </a:solidFill>
                <a:latin typeface="Lexend Deca" pitchFamily="34" charset="0"/>
                <a:ea typeface="Lexend Deca" pitchFamily="34" charset="-122"/>
                <a:cs typeface="Lexend Deca" pitchFamily="34" charset="-120"/>
              </a:rPr>
              <a:t>, I </a:t>
            </a:r>
            <a:r>
              <a:rPr lang="en-US" sz="1700" dirty="0" b="1">
                <a:solidFill>
                  <a:srgbClr val="1B2236"/>
                </a:solidFill>
                <a:latin typeface="Lexend Deca" pitchFamily="34" charset="0"/>
                <a:ea typeface="Lexend Deca" pitchFamily="34" charset="-122"/>
                <a:cs typeface="Lexend Deca" pitchFamily="34" charset="-120"/>
              </a:rPr>
              <a:t>can't</a:t>
            </a:r>
            <a:r>
              <a:rPr lang="en-US" sz="1700" dirty="0" b="1">
                <a:solidFill>
                  <a:srgbClr val="1B2236"/>
                </a:solidFill>
                <a:latin typeface="Lexend Deca" pitchFamily="34" charset="0"/>
                <a:ea typeface="Lexend Deca" pitchFamily="34" charset="-122"/>
                <a:cs typeface="Lexend Deca" pitchFamily="34" charset="-120"/>
              </a:rPr>
              <a:t>. I'll be away too.</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Would you mind</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covering</a:t>
            </a:r>
            <a:r>
              <a:rPr lang="en-US" sz="1700" dirty="0" b="1">
                <a:solidFill>
                  <a:srgbClr val="1B2236"/>
                </a:solidFill>
                <a:latin typeface="Lexend Deca" pitchFamily="34" charset="0"/>
                <a:ea typeface="Lexend Deca" pitchFamily="34" charset="-122"/>
                <a:cs typeface="Lexend Deca" pitchFamily="34" charset="-120"/>
              </a:rPr>
              <a:t> my shift?</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a:t>
            </a:r>
            <a:r>
              <a:rPr lang="en-US" sz="1700" dirty="0" b="1">
                <a:solidFill>
                  <a:srgbClr val="1B2236"/>
                </a:solidFill>
                <a:latin typeface="Lexend Deca" pitchFamily="34" charset="0"/>
                <a:ea typeface="Lexend Deca" pitchFamily="34" charset="-122"/>
                <a:cs typeface="Lexend Deca" pitchFamily="34" charset="-120"/>
              </a:rPr>
              <a:t>not at all</a:t>
            </a:r>
            <a:r>
              <a:rPr lang="en-US" sz="1700" dirty="0" b="1">
                <a:solidFill>
                  <a:srgbClr val="1B2236"/>
                </a:solidFill>
                <a:latin typeface="Lexend Deca" pitchFamily="34" charset="0"/>
                <a:ea typeface="Lexend Deca" pitchFamily="34" charset="-122"/>
                <a:cs typeface="Lexend Deca" pitchFamily="34" charset="-120"/>
              </a:rPr>
              <a:t>. I'm free on Saturday.</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Would you mind</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lending</a:t>
            </a:r>
            <a:r>
              <a:rPr lang="en-US" sz="1700" dirty="0" b="1">
                <a:solidFill>
                  <a:srgbClr val="1B2236"/>
                </a:solidFill>
                <a:latin typeface="Lexend Deca" pitchFamily="34" charset="0"/>
                <a:ea typeface="Lexend Deca" pitchFamily="34" charset="-122"/>
                <a:cs typeface="Lexend Deca" pitchFamily="34" charset="-120"/>
              </a:rPr>
              <a:t> me a ladder?</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problem. You can borrow </a:t>
            </a:r>
            <a:r>
              <a:rPr lang="en-US" sz="1700" dirty="0" b="1">
                <a:solidFill>
                  <a:srgbClr val="1B2236"/>
                </a:solidFill>
                <a:latin typeface="Lexend Deca" pitchFamily="34" charset="0"/>
                <a:ea typeface="Lexend Deca" pitchFamily="34" charset="-122"/>
                <a:cs typeface="Lexend Deca" pitchFamily="34" charset="-120"/>
              </a:rPr>
              <a:t>mine</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Switch shifts: a calendar and arrows [sign: SAT → SUN]"/>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200" dirty="0" b="1">
                <a:solidFill>
                  <a:srgbClr val="1B2236"/>
                </a:solidFill>
                <a:latin typeface="Lexend Deca" pitchFamily="34" charset="0"/>
                <a:ea typeface="Lexend Deca" pitchFamily="34" charset="-122"/>
                <a:cs typeface="Lexend Deca" pitchFamily="34" charset="-120"/>
              </a:rPr>
              <a:t>permission: Do you mind if I…?</a:t>
            </a:r>
            <a:endParaRPr lang="en-US" sz="22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 you mind if I</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open</a:t>
            </a:r>
            <a:r>
              <a:rPr lang="en-US" sz="1700" dirty="0" b="1">
                <a:solidFill>
                  <a:srgbClr val="1B2236"/>
                </a:solidFill>
                <a:latin typeface="Lexend Deca" pitchFamily="34" charset="0"/>
                <a:ea typeface="Lexend Deca" pitchFamily="34" charset="-122"/>
                <a:cs typeface="Lexend Deca" pitchFamily="34" charset="-120"/>
              </a:rPr>
              <a:t> the window?</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a:t>
            </a:r>
            <a:r>
              <a:rPr lang="en-US" sz="1700" dirty="0" b="1">
                <a:solidFill>
                  <a:srgbClr val="1B2236"/>
                </a:solidFill>
                <a:latin typeface="Lexend Deca" pitchFamily="34" charset="0"/>
                <a:ea typeface="Lexend Deca" pitchFamily="34" charset="-122"/>
                <a:cs typeface="Lexend Deca" pitchFamily="34" charset="-120"/>
              </a:rPr>
              <a:t>go ahead</a:t>
            </a:r>
            <a:r>
              <a:rPr lang="en-US" sz="1700" dirty="0" b="1">
                <a:solidFill>
                  <a:srgbClr val="1B2236"/>
                </a:solidFill>
                <a:latin typeface="Lexend Deca" pitchFamily="34" charset="0"/>
                <a:ea typeface="Lexend Deca" pitchFamily="34" charset="-122"/>
                <a:cs typeface="Lexend Deca" pitchFamily="34" charset="-120"/>
              </a:rPr>
              <a:t>. It's hot in here.</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 you mind if I</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leave</a:t>
            </a:r>
            <a:r>
              <a:rPr lang="en-US" sz="1700" dirty="0" b="1">
                <a:solidFill>
                  <a:srgbClr val="1B2236"/>
                </a:solidFill>
                <a:latin typeface="Lexend Deca" pitchFamily="34" charset="0"/>
                <a:ea typeface="Lexend Deca" pitchFamily="34" charset="-122"/>
                <a:cs typeface="Lexend Deca" pitchFamily="34" charset="-120"/>
              </a:rPr>
              <a:t> early today?</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Sorry</a:t>
            </a:r>
            <a:r>
              <a:rPr lang="en-US" sz="1700" dirty="0" b="1">
                <a:solidFill>
                  <a:srgbClr val="1B2236"/>
                </a:solidFill>
                <a:latin typeface="Lexend Deca" pitchFamily="34" charset="0"/>
                <a:ea typeface="Lexend Deca" pitchFamily="34" charset="-122"/>
                <a:cs typeface="Lexend Deca" pitchFamily="34" charset="-120"/>
              </a:rPr>
              <a:t>, we need you until 5:00.</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 you mind if I</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switch</a:t>
            </a:r>
            <a:r>
              <a:rPr lang="en-US" sz="1700" dirty="0" b="1">
                <a:solidFill>
                  <a:srgbClr val="1B2236"/>
                </a:solidFill>
                <a:latin typeface="Lexend Deca" pitchFamily="34" charset="0"/>
                <a:ea typeface="Lexend Deca" pitchFamily="34" charset="-122"/>
                <a:cs typeface="Lexend Deca" pitchFamily="34" charset="-120"/>
              </a:rPr>
              <a:t> my Friday shift?</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a:t>
            </a:r>
            <a:r>
              <a:rPr lang="en-US" sz="1700" dirty="0" b="1">
                <a:solidFill>
                  <a:srgbClr val="1B2236"/>
                </a:solidFill>
                <a:latin typeface="Lexend Deca" pitchFamily="34" charset="0"/>
                <a:ea typeface="Lexend Deca" pitchFamily="34" charset="-122"/>
                <a:cs typeface="Lexend Deca" pitchFamily="34" charset="-120"/>
              </a:rPr>
              <a:t>not at all</a:t>
            </a:r>
            <a:r>
              <a:rPr lang="en-US" sz="1700" dirty="0" b="1">
                <a:solidFill>
                  <a:srgbClr val="1B2236"/>
                </a:solidFill>
                <a:latin typeface="Lexend Deca" pitchFamily="34" charset="0"/>
                <a:ea typeface="Lexend Deca" pitchFamily="34" charset="-122"/>
                <a:cs typeface="Lexend Deca" pitchFamily="34" charset="-120"/>
              </a:rPr>
              <a:t>. Ask the supervisor first.</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Spare key: two keys [sign: SPAR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saying yes, saying no</a:t>
            </a:r>
            <a:endParaRPr lang="en-US" sz="2400" dirty="0" b="1"/>
          </a:p>
        </p:txBody>
      </p:sp>
      <p:sp>
        <p:nvSpPr>
          <p:cNvPr id="8" name="Q head"/>
          <p:cNvSpPr/>
          <p:nvPr/>
        </p:nvSpPr>
        <p:spPr>
          <a:xfrm>
            <a:off x="5166360" y="1828800"/>
            <a:ext cx="256032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YOU CAN HELP (say no!)</a:t>
            </a:r>
            <a:endParaRPr lang="en-US" sz="2000" dirty="0" b="1"/>
          </a:p>
        </p:txBody>
      </p:sp>
      <p:sp>
        <p:nvSpPr>
          <p:cNvPr id="11" name="A head"/>
          <p:cNvSpPr/>
          <p:nvPr/>
        </p:nvSpPr>
        <p:spPr>
          <a:xfrm>
            <a:off x="7772400" y="1828800"/>
            <a:ext cx="416052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YOU CAN'T HELP (be polite)</a:t>
            </a:r>
            <a:endParaRPr lang="en-US" sz="2000" dirty="0" b="1"/>
          </a:p>
        </p:txBody>
      </p:sp>
      <p:sp>
        <p:nvSpPr>
          <p:cNvPr id="18" name="Question 1"/>
          <p:cNvSpPr/>
          <p:nvPr/>
        </p:nvSpPr>
        <p:spPr>
          <a:xfrm>
            <a:off x="5138928" y="2286000"/>
            <a:ext cx="2560320" cy="138988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No, not at all.</a:t>
            </a:r>
            <a:br>
              <a:rPr lang="en-US" sz="1800" dirty="0" b="1">
                <a:solidFill>
                  <a:srgbClr val="1B2236"/>
                </a:solidFill>
                <a:latin typeface="Lexend Deca" pitchFamily="34" charset="0"/>
                <a:ea typeface="Lexend Deca" pitchFamily="34" charset="-122"/>
                <a:cs typeface="Lexend Deca" pitchFamily="34" charset="-120"/>
              </a:rPr>
            </a:br>
            <a:r>
              <a:rPr lang="en-US" sz="1800" dirty="0" b="1">
                <a:solidFill>
                  <a:srgbClr val="5B3FC4"/>
                </a:solidFill>
                <a:latin typeface="Lexend Deca" pitchFamily="34" charset="0"/>
                <a:ea typeface="Lexend Deca" pitchFamily="34" charset="-122"/>
                <a:cs typeface="Lexend Deca" pitchFamily="34" charset="-120"/>
              </a:rPr>
              <a:t>No problem.</a:t>
            </a:r>
            <a:br>
              <a:rPr lang="en-US" sz="1800" dirty="0" b="1">
                <a:solidFill>
                  <a:srgbClr val="1B2236"/>
                </a:solidFill>
                <a:latin typeface="Lexend Deca" pitchFamily="34" charset="0"/>
                <a:ea typeface="Lexend Deca" pitchFamily="34" charset="-122"/>
                <a:cs typeface="Lexend Deca" pitchFamily="34" charset="-120"/>
              </a:rPr>
            </a:br>
            <a:r>
              <a:rPr lang="en-US" sz="1800" dirty="0" b="1">
                <a:solidFill>
                  <a:srgbClr val="5B3FC4"/>
                </a:solidFill>
                <a:latin typeface="Lexend Deca" pitchFamily="34" charset="0"/>
                <a:ea typeface="Lexend Deca" pitchFamily="34" charset="-122"/>
                <a:cs typeface="Lexend Deca" pitchFamily="34" charset="-120"/>
              </a:rPr>
              <a:t>Sure, I'll do it.</a:t>
            </a:r>
            <a:endParaRPr lang="en-US" sz="1800" dirty="0" b="1"/>
          </a:p>
        </p:txBody>
      </p:sp>
      <p:sp>
        <p:nvSpPr>
          <p:cNvPr id="19" name="Answer bg 1"/>
          <p:cNvSpPr/>
          <p:nvPr/>
        </p:nvSpPr>
        <p:spPr>
          <a:xfrm>
            <a:off x="7772400" y="2286000"/>
            <a:ext cx="4160520" cy="138988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772400" y="2286000"/>
            <a:ext cx="4160520" cy="138988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Sorry, I can't, because…</a:t>
            </a:r>
            <a:br>
              <a:rPr lang="en-US" sz="1800" dirty="0" b="1">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 another idea: </a:t>
            </a:r>
            <a:r>
              <a:rPr lang="en-US" sz="1800" dirty="0" b="1">
                <a:solidFill>
                  <a:srgbClr val="5B3FC4"/>
                </a:solidFill>
                <a:latin typeface="Lexend Deca" pitchFamily="34" charset="0"/>
                <a:ea typeface="Lexend Deca" pitchFamily="34" charset="-122"/>
                <a:cs typeface="Lexend Deca" pitchFamily="34" charset="-120"/>
              </a:rPr>
              <a:t>Why don't you ask Lina?</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Feed the cat: a cat and a bowl"/>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how polite?</a:t>
            </a:r>
            <a:endParaRPr lang="en-US" sz="2400" dirty="0" b="1"/>
          </a:p>
        </p:txBody>
      </p:sp>
      <p:sp>
        <p:nvSpPr>
          <p:cNvPr id="8" name="Q head"/>
          <p:cNvSpPr/>
          <p:nvPr/>
        </p:nvSpPr>
        <p:spPr>
          <a:xfrm>
            <a:off x="5166360" y="1828800"/>
            <a:ext cx="24688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SAY</a:t>
            </a:r>
            <a:endParaRPr lang="en-US" sz="2000" dirty="0" b="1"/>
          </a:p>
        </p:txBody>
      </p:sp>
      <p:sp>
        <p:nvSpPr>
          <p:cNvPr id="11" name="A head"/>
          <p:cNvSpPr/>
          <p:nvPr/>
        </p:nvSpPr>
        <p:spPr>
          <a:xfrm>
            <a:off x="7680960" y="1828800"/>
            <a:ext cx="42519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WHEN?  ·  EXAMPLE</a:t>
            </a:r>
            <a:endParaRPr lang="en-US" sz="2000" dirty="0" b="1"/>
          </a:p>
        </p:txBody>
      </p:sp>
      <p:sp>
        <p:nvSpPr>
          <p:cNvPr id="18" name="Question 1"/>
          <p:cNvSpPr/>
          <p:nvPr/>
        </p:nvSpPr>
        <p:spPr>
          <a:xfrm>
            <a:off x="5138928" y="2286000"/>
            <a:ext cx="246888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Can you…?</a:t>
            </a:r>
            <a:endParaRPr lang="en-US" sz="1800" dirty="0" b="1"/>
          </a:p>
        </p:txBody>
      </p:sp>
      <p:sp>
        <p:nvSpPr>
          <p:cNvPr id="19" name="Answer bg 1"/>
          <p:cNvSpPr/>
          <p:nvPr/>
        </p:nvSpPr>
        <p:spPr>
          <a:xfrm>
            <a:off x="7680960" y="2286000"/>
            <a:ext cx="425196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680960" y="2286000"/>
            <a:ext cx="425196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small favor, a friend</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Can you pass the salt?</a:t>
            </a:r>
            <a:endParaRPr lang="en-US" sz="1700" dirty="0" b="1"/>
          </a:p>
        </p:txBody>
      </p:sp>
      <p:sp>
        <p:nvSpPr>
          <p:cNvPr id="21" name="Question 2"/>
          <p:cNvSpPr/>
          <p:nvPr/>
        </p:nvSpPr>
        <p:spPr>
          <a:xfrm>
            <a:off x="5138928" y="3383280"/>
            <a:ext cx="246888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Could you…?</a:t>
            </a:r>
            <a:endParaRPr lang="en-US" sz="1800" dirty="0" b="1"/>
          </a:p>
        </p:txBody>
      </p:sp>
      <p:sp>
        <p:nvSpPr>
          <p:cNvPr id="22" name="Answer bg 2"/>
          <p:cNvSpPr/>
          <p:nvPr/>
        </p:nvSpPr>
        <p:spPr>
          <a:xfrm>
            <a:off x="7680960" y="3383280"/>
            <a:ext cx="425196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680960" y="3383280"/>
            <a:ext cx="425196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more polite</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Could you help me with this box?</a:t>
            </a:r>
            <a:endParaRPr lang="en-US" sz="1700" dirty="0" b="1"/>
          </a:p>
        </p:txBody>
      </p:sp>
      <p:sp>
        <p:nvSpPr>
          <p:cNvPr id="24" name="Question 3"/>
          <p:cNvSpPr/>
          <p:nvPr/>
        </p:nvSpPr>
        <p:spPr>
          <a:xfrm>
            <a:off x="5138928" y="4480560"/>
            <a:ext cx="246888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Would you mind …ing?</a:t>
            </a:r>
            <a:endParaRPr lang="en-US" sz="1800" dirty="0" b="1"/>
          </a:p>
        </p:txBody>
      </p:sp>
      <p:sp>
        <p:nvSpPr>
          <p:cNvPr id="25" name="Answer bg 3"/>
          <p:cNvSpPr/>
          <p:nvPr/>
        </p:nvSpPr>
        <p:spPr>
          <a:xfrm>
            <a:off x="7680960" y="4480560"/>
            <a:ext cx="425196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680960" y="4480560"/>
            <a:ext cx="425196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most polite; a </a:t>
            </a:r>
            <a:r>
              <a:rPr lang="en-US" sz="1700" dirty="0" b="1">
                <a:solidFill>
                  <a:srgbClr val="1B2236"/>
                </a:solidFill>
                <a:latin typeface="Lexend Deca" pitchFamily="34" charset="0"/>
                <a:ea typeface="Lexend Deca" pitchFamily="34" charset="-122"/>
                <a:cs typeface="Lexend Deca" pitchFamily="34" charset="-120"/>
              </a:rPr>
              <a:t>bigger</a:t>
            </a:r>
            <a:r>
              <a:rPr lang="en-US" sz="1700" dirty="0" b="1">
                <a:solidFill>
                  <a:srgbClr val="1B2236"/>
                </a:solidFill>
                <a:latin typeface="Lexend Deca" pitchFamily="34" charset="0"/>
                <a:ea typeface="Lexend Deca" pitchFamily="34" charset="-122"/>
                <a:cs typeface="Lexend Deca" pitchFamily="34" charset="-120"/>
              </a:rPr>
              <a:t> favor</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Would you mind feeding my cat for a week?</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correct form of the verb.</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Write the correct form of the verb.</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Would you mind ____ my plants? (water)</a:t>
            </a:r>
            <a:endParaRPr lang="en-US" sz="1600" dirty="0"/>
          </a:p>
        </p:txBody>
      </p:sp>
      <p:sp>
        <p:nvSpPr>
          <p:cNvPr id="35" name="R1 ans"/>
          <p:cNvSpPr/>
          <p:nvPr/>
        </p:nvSpPr>
        <p:spPr>
          <a:xfrm>
            <a:off x="5925312" y="2222144"/>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watering</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Do you mind if I ____ the window? (open)</a:t>
            </a:r>
            <a:endParaRPr lang="en-US" sz="1600" dirty="0"/>
          </a:p>
        </p:txBody>
      </p:sp>
      <p:sp>
        <p:nvSpPr>
          <p:cNvPr id="40" name="R2 ans"/>
          <p:cNvSpPr/>
          <p:nvPr/>
        </p:nvSpPr>
        <p:spPr>
          <a:xfrm>
            <a:off x="5925312" y="2950312"/>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open</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Would you mind ____ the cat on Sunday? (feed)</a:t>
            </a:r>
            <a:endParaRPr lang="en-US" sz="1600" dirty="0"/>
          </a:p>
        </p:txBody>
      </p:sp>
      <p:sp>
        <p:nvSpPr>
          <p:cNvPr id="45" name="R3 ans"/>
          <p:cNvSpPr/>
          <p:nvPr/>
        </p:nvSpPr>
        <p:spPr>
          <a:xfrm>
            <a:off x="5925312" y="3678479"/>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feeding</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Would you mind ____ shifts with me? (switch)</a:t>
            </a:r>
            <a:endParaRPr lang="en-US" sz="1600" dirty="0"/>
          </a:p>
        </p:txBody>
      </p:sp>
      <p:sp>
        <p:nvSpPr>
          <p:cNvPr id="50" name="R4 ans"/>
          <p:cNvSpPr/>
          <p:nvPr/>
        </p:nvSpPr>
        <p:spPr>
          <a:xfrm>
            <a:off x="5925312" y="4406646"/>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switching</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Do you mind if I ____ your ladder? (borrow)</a:t>
            </a:r>
            <a:endParaRPr lang="en-US" sz="1600" dirty="0"/>
          </a:p>
        </p:txBody>
      </p:sp>
      <p:sp>
        <p:nvSpPr>
          <p:cNvPr id="55" name="R5 ans"/>
          <p:cNvSpPr/>
          <p:nvPr/>
        </p:nvSpPr>
        <p:spPr>
          <a:xfrm>
            <a:off x="5925312" y="5134813"/>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borrow</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Would you mind ____ my packages? (get)</a:t>
            </a:r>
            <a:endParaRPr lang="en-US" sz="1600" dirty="0"/>
          </a:p>
        </p:txBody>
      </p:sp>
      <p:sp>
        <p:nvSpPr>
          <p:cNvPr id="60" name="R6 ans"/>
          <p:cNvSpPr/>
          <p:nvPr/>
        </p:nvSpPr>
        <p:spPr>
          <a:xfrm>
            <a:off x="5925312" y="5862980"/>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getting</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correct words.</a:t>
            </a:r>
            <a:endParaRPr lang="en-US" sz="2000" dirty="0"/>
          </a:p>
        </p:txBody>
      </p:sp>
      <p:sp>
        <p:nvSpPr>
          <p:cNvPr id="8" name="R1 stmt"/>
          <p:cNvSpPr/>
          <p:nvPr/>
        </p:nvSpPr>
        <p:spPr>
          <a:xfrm>
            <a:off x="502920" y="310896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1. Would you mind ____ my shift?</a:t>
            </a:r>
            <a:endParaRPr lang="en-US" sz="1600" dirty="0"/>
          </a:p>
        </p:txBody>
      </p:sp>
      <p:sp>
        <p:nvSpPr>
          <p:cNvPr id="9" name="R1 opt1"/>
          <p:cNvSpPr/>
          <p:nvPr/>
        </p:nvSpPr>
        <p:spPr>
          <a:xfrm>
            <a:off x="6766560" y="31089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covering</a:t>
            </a:r>
            <a:endParaRPr lang="en-US" sz="1500" dirty="0" b="1"/>
          </a:p>
        </p:txBody>
      </p:sp>
      <p:sp>
        <p:nvSpPr>
          <p:cNvPr id="10" name="R1 opt2"/>
          <p:cNvSpPr/>
          <p:nvPr/>
        </p:nvSpPr>
        <p:spPr>
          <a:xfrm>
            <a:off x="8961120" y="31089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to cover</a:t>
            </a:r>
            <a:endParaRPr lang="en-US" sz="1500" dirty="0" b="1"/>
          </a:p>
        </p:txBody>
      </p:sp>
      <p:sp>
        <p:nvSpPr>
          <p:cNvPr id="11" name="R1 circle"/>
          <p:cNvSpPr/>
          <p:nvPr/>
        </p:nvSpPr>
        <p:spPr>
          <a:xfrm>
            <a:off x="6638544" y="305409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2. A: Would you mind helping me? B: ____ I'll help.</a:t>
            </a:r>
            <a:endParaRPr lang="en-US" sz="1600" dirty="0"/>
          </a:p>
        </p:txBody>
      </p:sp>
      <p:sp>
        <p:nvSpPr>
          <p:cNvPr id="13" name="R2 opt1"/>
          <p:cNvSpPr/>
          <p:nvPr/>
        </p:nvSpPr>
        <p:spPr>
          <a:xfrm>
            <a:off x="6766560" y="365760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No, not at all.</a:t>
            </a:r>
            <a:endParaRPr lang="en-US" sz="1500" dirty="0" b="1"/>
          </a:p>
        </p:txBody>
      </p:sp>
      <p:sp>
        <p:nvSpPr>
          <p:cNvPr id="14" name="R2 opt2"/>
          <p:cNvSpPr/>
          <p:nvPr/>
        </p:nvSpPr>
        <p:spPr>
          <a:xfrm>
            <a:off x="8961120" y="365760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Yes, I do.</a:t>
            </a:r>
            <a:endParaRPr lang="en-US" sz="1500" dirty="0" b="1"/>
          </a:p>
        </p:txBody>
      </p:sp>
      <p:sp>
        <p:nvSpPr>
          <p:cNvPr id="15" name="R2 circle"/>
          <p:cNvSpPr/>
          <p:nvPr/>
        </p:nvSpPr>
        <p:spPr>
          <a:xfrm>
            <a:off x="6638544" y="360273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3. Do you mind if I ____ early?</a:t>
            </a:r>
            <a:endParaRPr lang="en-US" sz="1600" dirty="0"/>
          </a:p>
        </p:txBody>
      </p:sp>
      <p:sp>
        <p:nvSpPr>
          <p:cNvPr id="17" name="R3 opt1"/>
          <p:cNvSpPr/>
          <p:nvPr/>
        </p:nvSpPr>
        <p:spPr>
          <a:xfrm>
            <a:off x="6766560" y="420624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leave</a:t>
            </a:r>
            <a:endParaRPr lang="en-US" sz="1500" dirty="0" b="1"/>
          </a:p>
        </p:txBody>
      </p:sp>
      <p:sp>
        <p:nvSpPr>
          <p:cNvPr id="18" name="R3 opt2"/>
          <p:cNvSpPr/>
          <p:nvPr/>
        </p:nvSpPr>
        <p:spPr>
          <a:xfrm>
            <a:off x="8961120" y="420624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leaving</a:t>
            </a:r>
            <a:endParaRPr lang="en-US" sz="1500" dirty="0" b="1"/>
          </a:p>
        </p:txBody>
      </p:sp>
      <p:sp>
        <p:nvSpPr>
          <p:cNvPr id="19" name="R3 circle"/>
          <p:cNvSpPr/>
          <p:nvPr/>
        </p:nvSpPr>
        <p:spPr>
          <a:xfrm>
            <a:off x="6638544" y="415137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4. Could I borrow your pen? I forgot ____.</a:t>
            </a:r>
            <a:endParaRPr lang="en-US" sz="1600" dirty="0"/>
          </a:p>
        </p:txBody>
      </p:sp>
      <p:sp>
        <p:nvSpPr>
          <p:cNvPr id="21" name="R4 opt1"/>
          <p:cNvSpPr/>
          <p:nvPr/>
        </p:nvSpPr>
        <p:spPr>
          <a:xfrm>
            <a:off x="6766560" y="475488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mine</a:t>
            </a:r>
            <a:endParaRPr lang="en-US" sz="1500" dirty="0" b="1"/>
          </a:p>
        </p:txBody>
      </p:sp>
      <p:sp>
        <p:nvSpPr>
          <p:cNvPr id="22" name="R4 opt2"/>
          <p:cNvSpPr/>
          <p:nvPr/>
        </p:nvSpPr>
        <p:spPr>
          <a:xfrm>
            <a:off x="8961120" y="475488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my</a:t>
            </a:r>
            <a:endParaRPr lang="en-US" sz="1500" dirty="0" b="1"/>
          </a:p>
        </p:txBody>
      </p:sp>
      <p:sp>
        <p:nvSpPr>
          <p:cNvPr id="23" name="R4 circle"/>
          <p:cNvSpPr/>
          <p:nvPr/>
        </p:nvSpPr>
        <p:spPr>
          <a:xfrm>
            <a:off x="6638544" y="470001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5. Sorry, I can't. I ____ away.</a:t>
            </a:r>
            <a:endParaRPr lang="en-US" sz="1600" dirty="0"/>
          </a:p>
        </p:txBody>
      </p:sp>
      <p:sp>
        <p:nvSpPr>
          <p:cNvPr id="25" name="R5 opt1"/>
          <p:cNvSpPr/>
          <p:nvPr/>
        </p:nvSpPr>
        <p:spPr>
          <a:xfrm>
            <a:off x="6766560" y="530352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'll be</a:t>
            </a:r>
            <a:endParaRPr lang="en-US" sz="1500" dirty="0" b="1"/>
          </a:p>
        </p:txBody>
      </p:sp>
      <p:sp>
        <p:nvSpPr>
          <p:cNvPr id="26" name="R5 opt2"/>
          <p:cNvSpPr/>
          <p:nvPr/>
        </p:nvSpPr>
        <p:spPr>
          <a:xfrm>
            <a:off x="8961120" y="530352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be</a:t>
            </a:r>
            <a:endParaRPr lang="en-US" sz="1500" dirty="0" b="1"/>
          </a:p>
        </p:txBody>
      </p:sp>
      <p:sp>
        <p:nvSpPr>
          <p:cNvPr id="27" name="R5 circle"/>
          <p:cNvSpPr/>
          <p:nvPr/>
        </p:nvSpPr>
        <p:spPr>
          <a:xfrm>
            <a:off x="6638544" y="524865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6. I'd like ____ my Friday shift.</a:t>
            </a:r>
            <a:endParaRPr lang="en-US" sz="1600" dirty="0"/>
          </a:p>
        </p:txBody>
      </p:sp>
      <p:sp>
        <p:nvSpPr>
          <p:cNvPr id="29" name="R6 opt1"/>
          <p:cNvSpPr/>
          <p:nvPr/>
        </p:nvSpPr>
        <p:spPr>
          <a:xfrm>
            <a:off x="6766560" y="58521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to switch</a:t>
            </a:r>
            <a:endParaRPr lang="en-US" sz="1500" dirty="0" b="1"/>
          </a:p>
        </p:txBody>
      </p:sp>
      <p:sp>
        <p:nvSpPr>
          <p:cNvPr id="30" name="R6 opt2"/>
          <p:cNvSpPr/>
          <p:nvPr/>
        </p:nvSpPr>
        <p:spPr>
          <a:xfrm>
            <a:off x="8961120" y="58521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switching</a:t>
            </a:r>
            <a:endParaRPr lang="en-US" sz="1500" dirty="0" b="1"/>
          </a:p>
        </p:txBody>
      </p:sp>
      <p:sp>
        <p:nvSpPr>
          <p:cNvPr id="31" name="R6 circle"/>
          <p:cNvSpPr/>
          <p:nvPr/>
        </p:nvSpPr>
        <p:spPr>
          <a:xfrm>
            <a:off x="6638544" y="579729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4: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Borrow: a ladder [sign: BORROW]"/>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Would you mind to get my mail?</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Would you mind </a:t>
            </a:r>
            <a:r>
              <a:rPr lang="en-US" sz="1700" dirty="0" b="1">
                <a:solidFill>
                  <a:srgbClr val="1B2236"/>
                </a:solidFill>
                <a:latin typeface="Lexend Deca" pitchFamily="34" charset="0"/>
                <a:ea typeface="Lexend Deca" pitchFamily="34" charset="-122"/>
                <a:cs typeface="Lexend Deca" pitchFamily="34" charset="-120"/>
              </a:rPr>
              <a:t>getting</a:t>
            </a:r>
            <a:r>
              <a:rPr lang="en-US" sz="1700" dirty="0" b="1">
                <a:solidFill>
                  <a:srgbClr val="1B2236"/>
                </a:solidFill>
                <a:latin typeface="Lexend Deca" pitchFamily="34" charset="0"/>
                <a:ea typeface="Lexend Deca" pitchFamily="34" charset="-122"/>
                <a:cs typeface="Lexend Deca" pitchFamily="34" charset="-120"/>
              </a:rPr>
              <a:t> my mail?</a:t>
            </a:r>
            <a:endParaRPr lang="en-US" sz="1700" dirty="0" b="1"/>
          </a:p>
        </p:txBody>
      </p:sp>
      <p:sp>
        <p:nvSpPr>
          <p:cNvPr id="26" name="Bad 2"/>
          <p:cNvSpPr/>
          <p:nvPr/>
        </p:nvSpPr>
        <p:spPr>
          <a:xfrm>
            <a:off x="914400" y="303580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Yes, I mind. I'll help you.</a:t>
            </a:r>
            <a:endParaRPr lang="en-US" sz="1700" dirty="0"/>
          </a:p>
        </p:txBody>
      </p:sp>
      <p:sp>
        <p:nvSpPr>
          <p:cNvPr id="27" name="Good 2"/>
          <p:cNvSpPr/>
          <p:nvPr/>
        </p:nvSpPr>
        <p:spPr>
          <a:xfrm>
            <a:off x="4800600" y="303580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not at all.</a:t>
            </a:r>
            <a:r>
              <a:rPr lang="en-US" sz="1700" dirty="0" b="1">
                <a:solidFill>
                  <a:srgbClr val="1B2236"/>
                </a:solidFill>
                <a:latin typeface="Lexend Deca" pitchFamily="34" charset="0"/>
                <a:ea typeface="Lexend Deca" pitchFamily="34" charset="-122"/>
                <a:cs typeface="Lexend Deca" pitchFamily="34" charset="-120"/>
              </a:rPr>
              <a:t> I'll help you.</a:t>
            </a:r>
            <a:endParaRPr lang="en-US" sz="1700" dirty="0" b="1"/>
          </a:p>
        </p:txBody>
      </p:sp>
      <p:sp>
        <p:nvSpPr>
          <p:cNvPr id="28" name="Bad 3"/>
          <p:cNvSpPr/>
          <p:nvPr/>
        </p:nvSpPr>
        <p:spPr>
          <a:xfrm>
            <a:off x="914400" y="3602736"/>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Do you mind if I using your phone?</a:t>
            </a:r>
            <a:endParaRPr lang="en-US" sz="1700" dirty="0"/>
          </a:p>
        </p:txBody>
      </p:sp>
      <p:sp>
        <p:nvSpPr>
          <p:cNvPr id="29" name="Good 3"/>
          <p:cNvSpPr/>
          <p:nvPr/>
        </p:nvSpPr>
        <p:spPr>
          <a:xfrm>
            <a:off x="4800600" y="3602736"/>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 you mind if I </a:t>
            </a:r>
            <a:r>
              <a:rPr lang="en-US" sz="1700" dirty="0" b="1">
                <a:solidFill>
                  <a:srgbClr val="1B2236"/>
                </a:solidFill>
                <a:latin typeface="Lexend Deca" pitchFamily="34" charset="0"/>
                <a:ea typeface="Lexend Deca" pitchFamily="34" charset="-122"/>
                <a:cs typeface="Lexend Deca" pitchFamily="34" charset="-120"/>
              </a:rPr>
              <a:t>use</a:t>
            </a:r>
            <a:r>
              <a:rPr lang="en-US" sz="1700" dirty="0" b="1">
                <a:solidFill>
                  <a:srgbClr val="1B2236"/>
                </a:solidFill>
                <a:latin typeface="Lexend Deca" pitchFamily="34" charset="0"/>
                <a:ea typeface="Lexend Deca" pitchFamily="34" charset="-122"/>
                <a:cs typeface="Lexend Deca" pitchFamily="34" charset="-120"/>
              </a:rPr>
              <a:t> your phone?</a:t>
            </a:r>
            <a:endParaRPr lang="en-US" sz="1700" dirty="0" b="1"/>
          </a:p>
        </p:txBody>
      </p:sp>
      <p:sp>
        <p:nvSpPr>
          <p:cNvPr id="30" name="Bad 4"/>
          <p:cNvSpPr/>
          <p:nvPr/>
        </p:nvSpPr>
        <p:spPr>
          <a:xfrm>
            <a:off x="914400" y="4443984"/>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Can I borrow your?</a:t>
            </a:r>
            <a:endParaRPr lang="en-US" sz="1700" dirty="0"/>
          </a:p>
        </p:txBody>
      </p:sp>
      <p:sp>
        <p:nvSpPr>
          <p:cNvPr id="31" name="Good 4"/>
          <p:cNvSpPr/>
          <p:nvPr/>
        </p:nvSpPr>
        <p:spPr>
          <a:xfrm>
            <a:off x="4800600" y="4443984"/>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Can I borrow </a:t>
            </a:r>
            <a:r>
              <a:rPr lang="en-US" sz="1700" dirty="0" b="1">
                <a:solidFill>
                  <a:srgbClr val="1B2236"/>
                </a:solidFill>
                <a:latin typeface="Lexend Deca" pitchFamily="34" charset="0"/>
                <a:ea typeface="Lexend Deca" pitchFamily="34" charset="-122"/>
                <a:cs typeface="Lexend Deca" pitchFamily="34" charset="-120"/>
              </a:rPr>
              <a:t>yours</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32" name="Bad 5"/>
          <p:cNvSpPr/>
          <p:nvPr/>
        </p:nvSpPr>
        <p:spPr>
          <a:xfrm>
            <a:off x="914400" y="5010912"/>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like to switch my shift.</a:t>
            </a:r>
            <a:endParaRPr lang="en-US" sz="1700" dirty="0"/>
          </a:p>
        </p:txBody>
      </p:sp>
      <p:sp>
        <p:nvSpPr>
          <p:cNvPr id="33" name="Good 5"/>
          <p:cNvSpPr/>
          <p:nvPr/>
        </p:nvSpPr>
        <p:spPr>
          <a:xfrm>
            <a:off x="4800600" y="5010912"/>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a:t>
            </a:r>
            <a:r>
              <a:rPr lang="en-US" sz="1700" dirty="0" b="1">
                <a:solidFill>
                  <a:srgbClr val="1B2236"/>
                </a:solidFill>
                <a:latin typeface="Lexend Deca" pitchFamily="34" charset="0"/>
                <a:ea typeface="Lexend Deca" pitchFamily="34" charset="-122"/>
                <a:cs typeface="Lexend Deca" pitchFamily="34" charset="-120"/>
              </a:rPr>
              <a:t>'d</a:t>
            </a:r>
            <a:r>
              <a:rPr lang="en-US" sz="1700" dirty="0" b="1">
                <a:solidFill>
                  <a:srgbClr val="1B2236"/>
                </a:solidFill>
                <a:latin typeface="Lexend Deca" pitchFamily="34" charset="0"/>
                <a:ea typeface="Lexend Deca" pitchFamily="34" charset="-122"/>
                <a:cs typeface="Lexend Deca" pitchFamily="34" charset="-120"/>
              </a:rPr>
              <a:t> like to switch my shift.</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4:drill">
    <p:bg>
      <p:bgPr>
        <a:solidFill>
          <a:srgbClr val="F1F5FB"/>
        </a:solidFill>
      </p:bgPr>
    </p:bg>
    <p:spTree>
      <p:nvGrpSpPr>
        <p:cNvPr id="1" name=""/>
        <p:cNvGrpSpPr/>
        <p:nvPr/>
      </p:nvGrpSpPr>
      <p:grpSpPr/>
      <p:pic>
        <p:nvPicPr>
          <p:cNvPr id="26" name="pic" descr="Package: a package"/>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Check</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asks a favor.</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answers.</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0">
                <a:solidFill>
                  <a:srgbClr val="1B2236"/>
                </a:solidFill>
                <a:latin typeface="Lexend Deca" pitchFamily="34" charset="0"/>
                <a:ea typeface="Lexend Deca" pitchFamily="34" charset="-122"/>
                <a:cs typeface="Lexend Deca" pitchFamily="34" charset="-120"/>
              </a:rPr>
              <a:t> Would you mind getting my mail?</a:t>
            </a:r>
            <a:endParaRPr lang="en-US" sz="19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a:t>
            </a:r>
            <a:r>
              <a:rPr lang="en-US" sz="1900" dirty="0" b="0">
                <a:solidFill>
                  <a:srgbClr val="1B2236"/>
                </a:solidFill>
                <a:latin typeface="Lexend Deca" pitchFamily="34" charset="0"/>
                <a:ea typeface="Lexend Deca" pitchFamily="34" charset="-122"/>
                <a:cs typeface="Lexend Deca" pitchFamily="34" charset="-120"/>
              </a:rPr>
              <a:t> No, not at all.</a:t>
            </a:r>
            <a:endParaRPr lang="en-US" sz="1900" dirty="0" b="0"/>
          </a:p>
          <a:p>
            <a:pPr algn="l" indent="0" marL="0">
              <a:buNone/>
            </a:pPr>
            <a:r>
              <a:rPr lang="en-US" sz="1900" dirty="0" b="1">
                <a:solidFill>
                  <a:srgbClr val="1B2236"/>
                </a:solidFill>
                <a:latin typeface="Lexend Deca" pitchFamily="34" charset="0"/>
                <a:ea typeface="Lexend Deca" pitchFamily="34" charset="-122"/>
                <a:cs typeface="Lexend Deca" pitchFamily="34" charset="-120"/>
              </a:rPr>
              <a:t>Or: Sorry, I can't, because…</a:t>
            </a:r>
            <a:endParaRPr lang="en-US" sz="19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asks a favor from the pictures. Then switch.</a:t>
            </a:r>
            <a:endParaRPr lang="en-US" sz="200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Favor: a person raising a hand and a handshake [sign: A FAVOR?]"/>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3000" dirty="0" b="1">
                <a:solidFill>
                  <a:srgbClr val="1B2236"/>
                </a:solidFill>
                <a:latin typeface="Lexend Deca" pitchFamily="34" charset="0"/>
                <a:ea typeface="Lexend Deca" pitchFamily="34" charset="-122"/>
                <a:cs typeface="Lexend Deca" pitchFamily="34" charset="-120"/>
              </a:rPr>
              <a:t>Favor Exchange</a:t>
            </a:r>
            <a:endParaRPr lang="en-US" sz="30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Mingle.</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Ask three people.</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Take a favor card and a "my week" card.</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Would you mind getting my mail?</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Answer and give a reason.</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Sorry, I can't, because…</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Offer another idea. Write who said yes.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Why don't you ask Ana?</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Switch shifts: a calendar and arrows [sign: SAT → SUN]"/>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Shift Switch Text</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Write a 3-sentence text.</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Write a text to a coworker.</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Thanks for switching shifts with me!</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Confirm the day, the time, and thanks.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I'll work your… • You'll work my…</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Read it to another pair.</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Ask your supervisor first.</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Read the notice.</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Answer the questions.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Read &amp;</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Write</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Maple Court Apartments: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a notice + a note to a neighbor.</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answer together.</a:t>
            </a:r>
            <a:endParaRPr lang="en-US" sz="2000" dirty="0" b="1"/>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Where will all packages go?</a:t>
            </a:r>
            <a:endParaRPr lang="en-US" sz="1500" dirty="0"/>
          </a:p>
        </p:txBody>
      </p:sp>
      <p:sp>
        <p:nvSpPr>
          <p:cNvPr id="35" name="R1 ans"/>
          <p:cNvSpPr/>
          <p:nvPr/>
        </p:nvSpPr>
        <p:spPr>
          <a:xfrm>
            <a:off x="4187952" y="2525573"/>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To the new package room next to the mailroom.</a:t>
            </a:r>
            <a:endParaRPr lang="en-US" sz="14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When must you pick up a package?</a:t>
            </a:r>
            <a:endParaRPr lang="en-US" sz="1500" dirty="0"/>
          </a:p>
        </p:txBody>
      </p:sp>
      <p:sp>
        <p:nvSpPr>
          <p:cNvPr id="40" name="R2 ans"/>
          <p:cNvSpPr/>
          <p:nvPr/>
        </p:nvSpPr>
        <p:spPr>
          <a:xfrm>
            <a:off x="4187952" y="3311957"/>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Within 5 days.</a:t>
            </a:r>
            <a:endParaRPr lang="en-US" sz="14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What must a neighbor show?</a:t>
            </a:r>
            <a:endParaRPr lang="en-US" sz="1500" dirty="0"/>
          </a:p>
        </p:txBody>
      </p:sp>
      <p:sp>
        <p:nvSpPr>
          <p:cNvPr id="45" name="R3 ans"/>
          <p:cNvSpPr/>
          <p:nvPr/>
        </p:nvSpPr>
        <p:spPr>
          <a:xfrm>
            <a:off x="4187952" y="4098341"/>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Your text with the code.</a:t>
            </a:r>
            <a:endParaRPr lang="en-US" sz="14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When will Tomás be away?</a:t>
            </a:r>
            <a:endParaRPr lang="en-US" sz="1500" dirty="0"/>
          </a:p>
        </p:txBody>
      </p:sp>
      <p:sp>
        <p:nvSpPr>
          <p:cNvPr id="50" name="R4 ans"/>
          <p:cNvSpPr/>
          <p:nvPr/>
        </p:nvSpPr>
        <p:spPr>
          <a:xfrm>
            <a:off x="4187952" y="4884725"/>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From June 10 to June 17.</a:t>
            </a:r>
            <a:endParaRPr lang="en-US" sz="14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Where will the spare key be?</a:t>
            </a:r>
            <a:endParaRPr lang="en-US" sz="1500" dirty="0"/>
          </a:p>
        </p:txBody>
      </p:sp>
      <p:sp>
        <p:nvSpPr>
          <p:cNvPr id="55" name="R5 ans"/>
          <p:cNvSpPr/>
          <p:nvPr/>
        </p:nvSpPr>
        <p:spPr>
          <a:xfrm>
            <a:off x="4187952" y="5671109"/>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In an envelope under Ms. Lee's door (on Sunday).</a:t>
            </a:r>
            <a:endParaRPr lang="en-US" sz="14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4: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7:25–7:30</a:t>
            </a:r>
            <a:endParaRPr lang="en-US" sz="4000" dirty="0"/>
          </a:p>
        </p:txBody>
      </p:sp>
      <p:pic>
        <p:nvPicPr>
          <p:cNvPr id="16" name="pic" descr="Spare key: two keys [sign: SPARE]"/>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Ask a classmate for a favor with Would you mind…?</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Your question (Would you mind…?).</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Their answer.</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The reason, with because.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Give it to me at the door.</a:t>
            </a:r>
            <a:endParaRPr lang="en-US" sz="16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About 15–20 minutes.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Write the question or answer.</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Finish your note (Read &amp; Write C).</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Write 3 favors and polite answers.</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4. Review: Lesson 4.</a:t>
            </a:r>
            <a:endParaRPr lang="en-US" sz="1600" dirty="0" b="0"/>
          </a:p>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Bring it next week!</a:t>
            </a:r>
            <a:endParaRPr lang="en-US" sz="1600" dirty="0" b="1"/>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L4: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Thank-you note: a note and flowers [sign: THANK YOU!]">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5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for a favor</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yes or no politely</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permission</a:t>
            </a:r>
            <a:endParaRPr lang="en-US" sz="2200" dirty="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name="L4: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signs and labels were added.</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Patricia, Mr. Wilson, Omar, Lina, Ana, Ms. Diaz, Tomás, Ms. Lee, and Mr. Ruiz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(coming soon): synthetic voices made with Chatterbox TTS (MIT License), cloned from short synthetic reference clips made with Kokoro-82M (Apache License 2.0). No recordings of real people. Each file will carry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4 Lesson 5: Would You Mind…?</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