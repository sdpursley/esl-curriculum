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6.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2.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705" r:id="rId32"/>
    <p:sldId id="706" r:id="rId21"/>
    <p:sldId id="707" r:id="rId19"/>
    <p:sldId id="708" r:id="rId15"/>
    <p:sldId id="709" r:id="rId37"/>
    <p:sldId id="710" r:id="rId38"/>
    <p:sldId id="711" r:id="rId39"/>
    <p:sldId id="712" r:id="rId40"/>
    <p:sldId id="713" r:id="rId41"/>
    <p:sldId id="714" r:id="rId42"/>
    <p:sldId id="715" r:id="rId43"/>
    <p:sldId id="716" r:id="rId44"/>
    <p:sldId id="717" r:id="rId45"/>
    <p:sldId id="718" r:id="rId46"/>
    <p:sldId id="719" r:id="rId47"/>
    <p:sldId id="720" r:id="rId48"/>
    <p:sldId id="721" r:id="rId49"/>
    <p:sldId id="722" r:id="rId50"/>
    <p:sldId id="723" r:id="rId51"/>
    <p:sldId id="724" r:id="rId52"/>
    <p:sldId id="725" r:id="rId53"/>
    <p:sldId id="726" r:id="rId54"/>
    <p:sldId id="727" r:id="rId55"/>
    <p:sldId id="728" r:id="rId56"/>
    <p:sldId id="729" r:id="rId9"/>
    <p:sldId id="730"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51.xml"/><Relationship Id="rId15" Type="http://schemas.openxmlformats.org/officeDocument/2006/relationships/slide" Target="slides/slide30.xml"/><Relationship Id="rId19" Type="http://schemas.openxmlformats.org/officeDocument/2006/relationships/slide" Target="slides/slide29.xml"/><Relationship Id="rId21" Type="http://schemas.openxmlformats.org/officeDocument/2006/relationships/slide" Target="slides/slide2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32" Type="http://schemas.openxmlformats.org/officeDocument/2006/relationships/slide" Target="slides/slide27.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"Would you mind getting my mail?" Wait for a thumbs-up and "No, not at all."</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 Pairs write the partner's name and one good idea from Homework item 3.</a:t>
            </a:r>
          </a:p>
          <a:p>
            <a:r>
              <a:t>Homework Check (3 min, last click): pairs compare Homework item 1 (for / since and suggestions) and read their 3 good ideas (item 3) to each other. Then they fill in the box on the Opening Talk page. Walk around. Write 2 common errors on the board (often You could to try (→ You could try) and I have a cough since Sunday (→ I've had a cough since Sunday))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suggestions: Why don't you…? / You could… / It's a good idea to…</a:t>
            </a:r>
          </a:p>
          <a:p>
            <a:r>
              <a:t>Model with one learner: you say, "I sit all day at work. Any ideas?" The learner gives a suggestion. Then you ask, "Why is that a good idea?" Help them say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Would you mind getting my mail? Goal 2: No, not at all. I'll do it. / Sorry, I can't. I'll be away. Why don't you ask Lena? Goal 3: Do you mind if I open the window?</a:t>
            </a:r>
          </a:p>
          <a:p>
            <a:r>
              <a:t>Goal 4: the Shift Switch Text in Talk Time. Goal 5: the note in Read &amp; Write.</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"Would you mind…?" Say: "Tonight we ask a neighbor or a coworker for a favor: the mail, the plants, a spare key, a shift. All favors, keys, and addresses are invented."</a:t>
            </a:r>
          </a:p>
          <a:p>
            <a:r>
              <a:t>Read the three lines under "Today you will". Give one quick example of each: "Would you mind getting my mail?" • "No, not at all." / "Sorry, I can't, because…" • "Do you mind if I open the window?"</a:t>
            </a:r>
          </a:p>
          <a:p>
            <a:r>
              <a:t>Invented details: all favor cards, keys, names, and addresses are invented. Learners never share real addresses or where they keep a key.</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favor (help you ask for); borrow (take and give back) vs. lend (give and get back); water the plants, feed the cat, get the mail (mime each); spare key (an extra key: show two keys).</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package; switch shifts (you take my Friday, I take your Sunday) vs. cover a shift (you work my shift); be away (not at home); owe (I owe you one = I'll help you next time); thank-you note.</a:t>
            </a:r>
          </a:p>
          <a:p>
            <a:r>
              <a:t>Partner game (2 min): A points to a picture and asks, "Would you mind getting the mail?" B gives a thumbs-up and says, "No, not at all," or says, "Sorry, I can't, because…"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"If I borrow your pen, do I give it back?" (yes) • 2. "If you cover my shift, who works?" (you do) • 3. "Is a spare key the first key or an extra key?" (an extra key)</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"Patricia is going away for a week. First, she talks to her neighbor, Mr. Wilson. Then, at work, her coworker Omar asks her for a favor. Listen: what favors do they ask for?"</a:t>
            </a:r>
          </a:p>
          <a:p>
            <a:r>
              <a:t>There are three people: Patricia, Mr. Wilson (her neighbor), and Omar (her coworker). A narrator starts and ends the listening. Each click highlights the next person.</a:t>
            </a:r>
          </a:p>
          <a:p>
            <a:r>
              <a:t>The audio (L4_L5_listening.mp3, about 1:54) plays the conversation once. Press play again for play 2. A third play is fine if the class needs it.</a:t>
            </a:r>
          </a:p>
          <a:p>
            <a:r>
              <a:t>No speaker? Read the script with a volunteer at a natural, friendly speed, two times. The script says going to and want to. People often say gonna and wanna; learners only need to recognize those words.</a:t>
            </a:r>
          </a:p>
          <a:p>
            <a:r>
              <a:t>Audio: synthetic voices, computer-generated (Chatterbox TTS cloned from Kokoro-82M reference clips). No recordings of real people.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a (get the mail, water the plants, feed the cat, and cover a shift).</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yes • 2 Tuesday and Friday • 3 her spare key • 4 inside • 5 no • 6 will be away.</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getting, 2 watering, 3 feeding, 4 if, 5 covering, 6 if.</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"I'm going to be away next week." wanna = want to: "I want to help, but I can't." You can say going to and want to.</a:t>
            </a:r>
          </a:p>
          <a:p>
            <a:r>
              <a:t>Then practice Would you mind…? and Do you mind if I…? said smoothly, with a friendly rise. Answer with a thumbs-up: No, not at all! The class repeats the two lines twice.</a:t>
            </a:r>
          </a:p>
          <a:p>
            <a:r>
              <a:t>Everyday English: people often say gonna (going to) and wanna (want to). Learners will hear them often. They are fine in casual talk; in writing, at a job interview, or in a formal email, use going to and want to. The listening uses the full forms.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give a learner your key. Say, "I'm going to be away. Would you mind getting my mail?" Show a thumbs-up and help the learner say, "No, not at all." Write: Would you mind + -ing? → No = "No problem. I'll do it." Then ask, "Do you mind if I open the window?" Help them say, "No, go ahead."</a:t>
            </a:r>
          </a:p>
          <a:p>
            <a:r>
              <a:t>Box 1: read across: Would you mind getting my mail? → No, not at all. I'll do it. / Sorry, I can't. Each click shows the answer side of one row.</a:t>
            </a:r>
          </a:p>
          <a:p>
            <a:r>
              <a:t>No = yes: practice the answer first, with a thumbs-up: No, not at all! Learners often say Yes and mean "I'll help." Smile and model it again.</a:t>
            </a:r>
          </a:p>
          <a:p>
            <a:r>
              <a:t>Lesson plan: Step 4; Grammar Box 1;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permission: Do you mind if I…? → No, go ahead. Each click shows the answer side of one row.</a:t>
            </a:r>
          </a:p>
          <a:p>
            <a:r>
              <a:t>Rule of thumb (read it aloud): After Would you mind, use -ing (getting, covering). After Do you mind if I, use the base verb (open, leave). The answer No means "No problem. I'll help." / "Yes, you can."</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saying yes and saying no politely. Click to show the right side.</a:t>
            </a:r>
          </a:p>
          <a:p>
            <a:r>
              <a:t>Saying no: model sorry + a reason + another idea. A polite no is a good answer.</a:t>
            </a:r>
          </a:p>
          <a:p>
            <a:r>
              <a:t>Lesson plan: Step 4; Grammar Box 3;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how polite? Each click shows one row.</a:t>
            </a:r>
          </a:p>
          <a:p>
            <a:r>
              <a:t>Questions and answers (2 min): Q: Someone asks Would you mind helping me? I want to help. Do I say yes? A: No! Say No, not at all. Mind asks "Is it a problem?" No = no problem. • Q: Would you mind to get or Would you mind getting? A: After mind, use -ing: Would you mind getting my mail? • Q: How do I say no politely? A: Say sorry, give a reason, and offer an idea: Sorry, I can't. I'll be away. Why don't you ask Lena?</a:t>
            </a:r>
          </a:p>
          <a:p>
            <a:r>
              <a:t>Check questions: "Would you mind helping me? You want to help. Do you say yes or no?" (No, not at all.) • "Would you mind to get or getting?" (getting) • "Do you mind if I leaving or if I leave?" (if I leave).</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watering, 2 open, 3 feeding, 4 switching, 5 borrow, 6 getting.</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covering, 2 No, not at all., 3 leave, 4 mine, 5 'll be, 6 to switch.</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mind + -ing: Would you mind getting…? But Do you mind if I + the base verb: Do you mind if I leave…?</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asks a favor from the pictures with Would you mind…? B answers with a thumbs-up and No, not at all, or Sorry, I can't, because… Switch. 15 learners: swap partners once. 5 or fewer: you join one pair.</a:t>
            </a:r>
          </a:p>
          <a:p>
            <a:r>
              <a:t>If behind: skip the pair check. Talk Time practices it.</a:t>
            </a:r>
          </a:p>
          <a:p>
            <a:r>
              <a:t>Break · 6:45–7:00 · 15 min. Write on the board: Would you mind + -ing? → No, not at all. (= I'll help) / Sorry, I can't, because… • Do you mind if I…? → No, go ahead.</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Favor Exchange + Shift Switch Text · 15 min.</a:t>
            </a:r>
          </a:p>
          <a:p>
            <a:r>
              <a:t>Model it first (1 min): hold up a favor card and ask a learner, "Would you mind getting my mail next week?" Help them check their "my week" card and answer, "No, not at all," or "Sorry, I can't, because I'll be away. Why don't you ask Ana?" Say: "Answer, give a reason, and offer an idea."</a:t>
            </a:r>
          </a:p>
          <a:p>
            <a:r>
              <a:t>Round 1 (7 min): Favor Exchange (mingle). Each learner has a favor card and a "my week" card. Ask three people. Each person answers No, not at all or Sorry, I can't, because… and offers another idea. Write who said yes. Each click shows the next step.</a:t>
            </a:r>
          </a:p>
          <a:p>
            <a:r>
              <a:t>15 learners: a whole-room mingle for round 1. 7–8 learners: two lines face each other; move one place each round. 5 or fewer: a circle for round 1: each person asks the person on the left.</a:t>
            </a:r>
          </a:p>
          <a:p>
            <a:r>
              <a:t>Invented details: all favor cards, keys, names, and addresses are invented. Learners never share real addresses or where they keep a key.</a:t>
            </a:r>
          </a:p>
          <a:p>
            <a:r>
              <a:t>Lesson plan: Step 5; Talk Time: Favor Exchange;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Shift Switch Text (pairs). Pairs write a 3-sentence text that confirms a shift switch (the day, the time, thanks). Then they read it to another pair. Remind them: "Ask your supervisor first." Each click shows the next step.</a:t>
            </a:r>
          </a:p>
          <a:p>
            <a:r>
              <a:t>Example: "Hi, Omar. Thanks for switching shifts with me! I'll work your Sunday shift (9:00–5:00), and you'll work my Friday shift (2:00–10:00). I've told Ms. Diaz, and she says it's OK."</a:t>
            </a:r>
          </a:p>
          <a:p>
            <a:r>
              <a:t>15 learners: pairs for round 2. 7–8 learners: pairs. 5 or fewer: pairs (you join if there is an odd number).</a:t>
            </a:r>
          </a:p>
          <a:p>
            <a:r>
              <a:t>Shift switches: every employer has its own rules. Add "Ask your supervisor first." It is printed on the Shift Switch Text page.</a:t>
            </a:r>
          </a:p>
          <a:p>
            <a:r>
              <a:t>Every answer needs a reason; every partner asks a follow-up. Walk around and listen. Note 2 good sentences to praise and 1 common error for next week.</a:t>
            </a:r>
          </a:p>
          <a:p>
            <a:r>
              <a:t>If behind: round 1 only.</a:t>
            </a:r>
          </a:p>
          <a:p>
            <a:r>
              <a:t>Lesson plan: Step 5; Talk Time: Shift Switch Text;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building notice + a neighbor's note · 10 min. Pairs read, then individual writing.</a:t>
            </a:r>
          </a:p>
          <a:p>
            <a:r>
              <a:t>Read (4 min): learners read the notice about packages and the note on the Read &amp; Write page and answer the questions. Say: "Read fast first. Then find the answers." Pairs answer questions 1–5 together.</a:t>
            </a:r>
          </a:p>
          <a:p>
            <a:r>
              <a:t>Check (1 min): click to show each answer (one click per question, 1 to 5): 1 To the new package room next to the mailroom. • 2 Within 5 days. • 3 Your text with the code. • 4 From June 10 to June 17. • 5 In an envelope under Ms. Lee's door (on Sunday).</a:t>
            </a:r>
          </a:p>
          <a:p>
            <a:r>
              <a:t>Write (5 min): learners write a note to a neighbor (5–8 sentences) asking for a favor while they're away: the dates, what to do, where the key is, thanks, and an offer to help back. Show the example. Invented details are fine.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Ask a classmate for a favor with Would you mind…? Example on the board: Would you mind helping me with my homework? No, not at all. I'm asking because the last question is hard. With 5 or fewer, a learner can say it to you first and then write it.</a:t>
            </a:r>
          </a:p>
          <a:p>
            <a:r>
              <a:t>Collect the pages. After class, sort them into ✓ / almost / not yet. Start next week with 2 corrections on the board (no names).</a:t>
            </a:r>
          </a:p>
          <a:p>
            <a:r>
              <a:t>Homework (2 min): open the Homework page. Do item 1 together (you / mind / feed / my cat? → Would you mind feeding my cat?). Say: "About 15–20 minutes. Finish your Read &amp; Write writing at home."</a:t>
            </a:r>
          </a:p>
          <a:p>
            <a:r>
              <a:t>Homework items: 1 write the question or answer with the words • 2 finish the note from Read &amp; Write C and check it with the list in D • 3 write 3 favors you could ask a neighbor or a coworker, and a polite answer for each one • 4 review (Lesson 4): write one word.</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synthetic voices, computer-generated (Chatterbox TTS cloned from Kokoro-82M reference clips). No recordings of real people.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image" Target="../media/image5.png"/><Relationship Id="rId12" Type="http://schemas.openxmlformats.org/officeDocument/2006/relationships/image" Target="../media/image6.png"/><Relationship Id="rId13" Type="http://schemas.openxmlformats.org/officeDocument/2006/relationships/image" Target="../media/image7.png"/><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2.png"/><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6.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5.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Favor: a person raising a hand and a handshake [sign: A FAVOR?]">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5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Would You Mind…?</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for a favor</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yes or no politely</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permission</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for a favor with </a:t>
            </a:r>
            <a:r>
              <a:rPr lang="en-US" sz="1500" dirty="0" b="1">
                <a:solidFill>
                  <a:srgbClr val="5B3FC4"/>
                </a:solidFill>
                <a:latin typeface="Lexend Deca" pitchFamily="34" charset="0"/>
                <a:ea typeface="Lexend Deca" pitchFamily="34" charset="-122"/>
                <a:cs typeface="Lexend Deca" pitchFamily="34" charset="-120"/>
              </a:rPr>
              <a:t>Would you mind…?</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answer </a:t>
            </a:r>
            <a:r>
              <a:rPr lang="en-US" sz="1500" dirty="0" b="1">
                <a:solidFill>
                  <a:srgbClr val="5B3FC4"/>
                </a:solidFill>
                <a:latin typeface="Lexend Deca" pitchFamily="34" charset="0"/>
                <a:ea typeface="Lexend Deca" pitchFamily="34" charset="-122"/>
                <a:cs typeface="Lexend Deca" pitchFamily="34" charset="-120"/>
              </a:rPr>
              <a:t>No, not at all</a:t>
            </a:r>
            <a:r>
              <a:rPr lang="en-US" sz="1500" dirty="0">
                <a:solidFill>
                  <a:srgbClr val="1B2236"/>
                </a:solidFill>
                <a:latin typeface="Lexend Deca" pitchFamily="34" charset="0"/>
                <a:ea typeface="Lexend Deca" pitchFamily="34" charset="-122"/>
                <a:cs typeface="Lexend Deca" pitchFamily="34" charset="-120"/>
              </a:rPr>
              <a:t> (= "Yes, I'll help") or say no politely, with a reason and another idea.</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permission with </a:t>
            </a:r>
            <a:r>
              <a:rPr lang="en-US" sz="1500" dirty="0" b="1">
                <a:solidFill>
                  <a:srgbClr val="5B3FC4"/>
                </a:solidFill>
                <a:latin typeface="Lexend Deca" pitchFamily="34" charset="0"/>
                <a:ea typeface="Lexend Deca" pitchFamily="34" charset="-122"/>
                <a:cs typeface="Lexend Deca" pitchFamily="34" charset="-120"/>
              </a:rPr>
              <a:t>Do you mind if I…?</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a coworker to switch a shift and confirm it in a short text.</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a note to a neighbor (5–8 sentences) asking for a favor while I'm away.</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Thank-you note: a note and flowers [sign: THANK YOU!]"/>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I sit all day at work. Any ideas?</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Why?</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Why? Have you ever tried it? How long have you…?</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sit all day at work. Any ideas?</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I'm always tired in the afternoon. What can I do?</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What's a good idea for a healthy lunch?</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often is it a good idea to get a checkup?</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4,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Favor: a person raising a hand and a handshake [sign: A FAVOR?]"/>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favor</a:t>
            </a:r>
            <a:endParaRPr lang="en-US" sz="2000" dirty="0" b="1"/>
          </a:p>
        </p:txBody>
      </p:sp>
      <p:pic>
        <p:nvPicPr>
          <p:cNvPr id="19" name="Word picture 2" descr="Borrow: a ladder [sign: BORROW]"/>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borrow</a:t>
            </a:r>
            <a:endParaRPr lang="en-US" sz="2000" dirty="0" b="1"/>
          </a:p>
        </p:txBody>
      </p:sp>
      <p:pic>
        <p:nvPicPr>
          <p:cNvPr id="21" name="Word picture 3" descr="Water the plants: a plant and a drop of water"/>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water the plants</a:t>
            </a:r>
            <a:endParaRPr lang="en-US" sz="1800" dirty="0" b="1"/>
          </a:p>
        </p:txBody>
      </p:sp>
      <p:pic>
        <p:nvPicPr>
          <p:cNvPr id="23" name="Word picture 4" descr="Feed the cat: a cat and a bowl"/>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feed the cat</a:t>
            </a:r>
            <a:endParaRPr lang="en-US" sz="2000" dirty="0" b="1"/>
          </a:p>
        </p:txBody>
      </p:sp>
      <p:pic>
        <p:nvPicPr>
          <p:cNvPr id="25" name="Word picture 5" descr="Get the mail: a mailbox and a letter"/>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get the mail</a:t>
            </a:r>
            <a:endParaRPr lang="en-US" sz="2000" dirty="0" b="1"/>
          </a:p>
        </p:txBody>
      </p:sp>
      <p:pic>
        <p:nvPicPr>
          <p:cNvPr id="27" name="Word picture 6" descr="Spare key: two keys [sign: SPARE]"/>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spare key</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Favor or no favor?</a:t>
            </a:r>
            <a:endParaRPr lang="en-US" sz="2200" dirty="0" b="1"/>
          </a:p>
        </p:txBody>
      </p:sp>
      <p:pic>
        <p:nvPicPr>
          <p:cNvPr id="17" name="Word picture 1" descr="Package: a package"/>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package</a:t>
            </a:r>
            <a:endParaRPr lang="en-US" sz="2000" dirty="0" b="1"/>
          </a:p>
        </p:txBody>
      </p:sp>
      <p:pic>
        <p:nvPicPr>
          <p:cNvPr id="19" name="Word picture 2" descr="Switch shifts: a calendar and arrows [sign: SAT → SUN]"/>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switch shifts</a:t>
            </a:r>
            <a:endParaRPr lang="en-US" sz="2000" dirty="0" b="1"/>
          </a:p>
        </p:txBody>
      </p:sp>
      <p:pic>
        <p:nvPicPr>
          <p:cNvPr id="21" name="Word picture 3" descr="Cover a shift: a person raising a hand and a clock [sign: COVER: SAT]"/>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cover a shift</a:t>
            </a:r>
            <a:endParaRPr lang="en-US" sz="2000" dirty="0" b="1"/>
          </a:p>
        </p:txBody>
      </p:sp>
      <p:pic>
        <p:nvPicPr>
          <p:cNvPr id="23" name="Word picture 4" descr="Be away: a suitcase and a plane"/>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be away</a:t>
            </a:r>
            <a:endParaRPr lang="en-US" sz="2000" dirty="0" b="1"/>
          </a:p>
        </p:txBody>
      </p:sp>
      <p:pic>
        <p:nvPicPr>
          <p:cNvPr id="25" name="Word picture 5" descr="Owe (someone): a handshake [sign: I OWE YOU ON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owe (someone)</a:t>
            </a:r>
            <a:endParaRPr lang="en-US" sz="2000" dirty="0" b="1"/>
          </a:p>
        </p:txBody>
      </p:sp>
      <p:pic>
        <p:nvPicPr>
          <p:cNvPr id="27" name="Word picture 6" descr="Thank-you note: a note and flowers [sign: THANK YOU!]"/>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thank-you note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If I borrow your pen, do I give it back?</a:t>
            </a:r>
            <a:endParaRPr lang="en-US" sz="1600" dirty="0" b="1"/>
          </a:p>
        </p:txBody>
      </p:sp>
      <p:pic>
        <p:nvPicPr>
          <p:cNvPr id="101" name="R1 pic" descr="Borrow: a ladder [sign: BORROW]"/>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If you cover my shift, who works?</a:t>
            </a:r>
            <a:endParaRPr lang="en-US" sz="1600" dirty="0" b="1"/>
          </a:p>
        </p:txBody>
      </p:sp>
      <p:pic>
        <p:nvPicPr>
          <p:cNvPr id="102" name="R2 pic" descr="Cover a shift: a person raising a hand and a clock [sign: COVER: SAT]"/>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spare key the first key or an extra key?</a:t>
            </a:r>
            <a:endParaRPr lang="en-US" sz="1600" dirty="0" b="1"/>
          </a:p>
        </p:txBody>
      </p:sp>
      <p:pic>
        <p:nvPicPr>
          <p:cNvPr id="103" name="R3 pic" descr="Spare key: two keys [sign: SPARE]"/>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yes</a:t>
            </a:r>
            <a:endParaRPr lang="en-US" sz="28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you do</a:t>
            </a:r>
            <a:endParaRPr lang="en-US" sz="2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an extra key</a:t>
            </a:r>
            <a:endParaRPr lang="en-US" sz="22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Patricia is going away for a week. First, she talks to her neighbor, Mr. Wilson. Then, at work, her coworker Omar asks her for a favor.</a:t>
            </a:r>
            <a:endParaRPr lang="en-US" sz="16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Water the plants: a plant and a drop of water"/>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Patricia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Mr. Wilson</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Omar</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favors do they ask for?</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1:54. It plays once.</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favors do they ask for?</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182880" cy="530352"/>
          </a:xfrm>
          <a:prstGeom prst="rect">
            <a:avLst/>
          </a:prstGeom>
          <a:noFill/>
          <a:ln w="38100">
            <a:noFill/>
          </a:ln>
        </p:spPr>
        <p:txBody>
          <a:bodyPr wrap="square" lIns="73152" tIns="36576" rIns="73152" bIns="36576" rtlCol="0" anchor="ctr">
            <a:noAutofit/>
          </a:bodyPr>
          <a:lstStyle/>
          <a:p>
            <a:pPr algn="l" indent="0" marL="0">
              <a:buNone/>
            </a:pPr>
            <a:endParaRPr lang="en-US" sz="2000" dirty="0"/>
          </a:p>
        </p:txBody>
      </p:sp>
      <p:sp>
        <p:nvSpPr>
          <p:cNvPr id="9" name="R1 opt1"/>
          <p:cNvSpPr/>
          <p:nvPr/>
        </p:nvSpPr>
        <p:spPr>
          <a:xfrm>
            <a:off x="868680" y="3108960"/>
            <a:ext cx="3520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 get the mail, water the plants, feed the cat, and cover a shift</a:t>
            </a:r>
            <a:endParaRPr lang="en-US" sz="1400" dirty="0" b="1"/>
          </a:p>
        </p:txBody>
      </p:sp>
      <p:sp>
        <p:nvSpPr>
          <p:cNvPr id="10" name="R1 opt2"/>
          <p:cNvSpPr/>
          <p:nvPr/>
        </p:nvSpPr>
        <p:spPr>
          <a:xfrm>
            <a:off x="4480560" y="3108960"/>
            <a:ext cx="3520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b. borrow a ladder and switch shifts</a:t>
            </a:r>
            <a:endParaRPr lang="en-US" sz="1400" dirty="0" b="1"/>
          </a:p>
        </p:txBody>
      </p:sp>
      <p:sp>
        <p:nvSpPr>
          <p:cNvPr id="11" name="R1 opt3"/>
          <p:cNvSpPr/>
          <p:nvPr/>
        </p:nvSpPr>
        <p:spPr>
          <a:xfrm>
            <a:off x="8092440" y="3108960"/>
            <a:ext cx="3520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c. pick up a package and lend a car</a:t>
            </a:r>
            <a:endParaRPr lang="en-US" sz="1400" dirty="0" b="1"/>
          </a:p>
        </p:txBody>
      </p:sp>
      <p:sp>
        <p:nvSpPr>
          <p:cNvPr id="12" name="R1 circle"/>
          <p:cNvSpPr/>
          <p:nvPr/>
        </p:nvSpPr>
        <p:spPr>
          <a:xfrm>
            <a:off x="740664" y="3054096"/>
            <a:ext cx="377647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 Yes or no, and why?</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a:t>
            </a:r>
            <a:endParaRPr lang="en-US" sz="2000" dirty="0"/>
          </a:p>
        </p:txBody>
      </p:sp>
      <p:sp>
        <p:nvSpPr>
          <p:cNvPr id="8" name="R1 stmt"/>
          <p:cNvSpPr/>
          <p:nvPr/>
        </p:nvSpPr>
        <p:spPr>
          <a:xfrm>
            <a:off x="502920" y="31089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1. The mail: Mr. Wilson says</a:t>
            </a:r>
            <a:endParaRPr lang="en-US" sz="1600" dirty="0"/>
          </a:p>
        </p:txBody>
      </p:sp>
      <p:sp>
        <p:nvSpPr>
          <p:cNvPr id="9" name="R1 opt1"/>
          <p:cNvSpPr/>
          <p:nvPr/>
        </p:nvSpPr>
        <p:spPr>
          <a:xfrm>
            <a:off x="662940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yes</a:t>
            </a:r>
            <a:endParaRPr lang="en-US" sz="1400" dirty="0" b="1"/>
          </a:p>
        </p:txBody>
      </p:sp>
      <p:sp>
        <p:nvSpPr>
          <p:cNvPr id="10" name="R1 opt2"/>
          <p:cNvSpPr/>
          <p:nvPr/>
        </p:nvSpPr>
        <p:spPr>
          <a:xfrm>
            <a:off x="8869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no</a:t>
            </a:r>
            <a:endParaRPr lang="en-US" sz="1400" dirty="0" b="1"/>
          </a:p>
        </p:txBody>
      </p:sp>
      <p:sp>
        <p:nvSpPr>
          <p:cNvPr id="11" name="R1 circle"/>
          <p:cNvSpPr/>
          <p:nvPr/>
        </p:nvSpPr>
        <p:spPr>
          <a:xfrm>
            <a:off x="6501384" y="30540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2. The plants: water them on</a:t>
            </a:r>
            <a:endParaRPr lang="en-US" sz="1600" dirty="0"/>
          </a:p>
        </p:txBody>
      </p:sp>
      <p:sp>
        <p:nvSpPr>
          <p:cNvPr id="13" name="R2 opt1"/>
          <p:cNvSpPr/>
          <p:nvPr/>
        </p:nvSpPr>
        <p:spPr>
          <a:xfrm>
            <a:off x="662940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Tuesday and Friday</a:t>
            </a:r>
            <a:endParaRPr lang="en-US" sz="1400" dirty="0" b="1"/>
          </a:p>
        </p:txBody>
      </p:sp>
      <p:sp>
        <p:nvSpPr>
          <p:cNvPr id="14" name="R2 opt2"/>
          <p:cNvSpPr/>
          <p:nvPr/>
        </p:nvSpPr>
        <p:spPr>
          <a:xfrm>
            <a:off x="8869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Monday and Thursday</a:t>
            </a:r>
            <a:endParaRPr lang="en-US" sz="1400" dirty="0" b="1"/>
          </a:p>
        </p:txBody>
      </p:sp>
      <p:sp>
        <p:nvSpPr>
          <p:cNvPr id="15" name="R2 circle"/>
          <p:cNvSpPr/>
          <p:nvPr/>
        </p:nvSpPr>
        <p:spPr>
          <a:xfrm>
            <a:off x="6501384" y="360273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3. The key: Patricia will give him</a:t>
            </a:r>
            <a:endParaRPr lang="en-US" sz="1600" dirty="0"/>
          </a:p>
        </p:txBody>
      </p:sp>
      <p:sp>
        <p:nvSpPr>
          <p:cNvPr id="17" name="R3 opt1"/>
          <p:cNvSpPr/>
          <p:nvPr/>
        </p:nvSpPr>
        <p:spPr>
          <a:xfrm>
            <a:off x="662940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her spare key</a:t>
            </a:r>
            <a:endParaRPr lang="en-US" sz="1400" dirty="0" b="1"/>
          </a:p>
        </p:txBody>
      </p:sp>
      <p:sp>
        <p:nvSpPr>
          <p:cNvPr id="18" name="R3 opt2"/>
          <p:cNvSpPr/>
          <p:nvPr/>
        </p:nvSpPr>
        <p:spPr>
          <a:xfrm>
            <a:off x="8869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her car key</a:t>
            </a:r>
            <a:endParaRPr lang="en-US" sz="1400" dirty="0" b="1"/>
          </a:p>
        </p:txBody>
      </p:sp>
      <p:sp>
        <p:nvSpPr>
          <p:cNvPr id="19" name="R3 circle"/>
          <p:cNvSpPr/>
          <p:nvPr/>
        </p:nvSpPr>
        <p:spPr>
          <a:xfrm>
            <a:off x="6501384" y="415137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4. The packages: Mr. Wilson can put them</a:t>
            </a:r>
            <a:endParaRPr lang="en-US" sz="1600" dirty="0"/>
          </a:p>
        </p:txBody>
      </p:sp>
      <p:sp>
        <p:nvSpPr>
          <p:cNvPr id="21" name="R4 opt1"/>
          <p:cNvSpPr/>
          <p:nvPr/>
        </p:nvSpPr>
        <p:spPr>
          <a:xfrm>
            <a:off x="662940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inside</a:t>
            </a:r>
            <a:endParaRPr lang="en-US" sz="1400" dirty="0" b="1"/>
          </a:p>
        </p:txBody>
      </p:sp>
      <p:sp>
        <p:nvSpPr>
          <p:cNvPr id="22" name="R4 opt2"/>
          <p:cNvSpPr/>
          <p:nvPr/>
        </p:nvSpPr>
        <p:spPr>
          <a:xfrm>
            <a:off x="8869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at the office</a:t>
            </a:r>
            <a:endParaRPr lang="en-US" sz="1400" dirty="0" b="1"/>
          </a:p>
        </p:txBody>
      </p:sp>
      <p:sp>
        <p:nvSpPr>
          <p:cNvPr id="23" name="R4 circle"/>
          <p:cNvSpPr/>
          <p:nvPr/>
        </p:nvSpPr>
        <p:spPr>
          <a:xfrm>
            <a:off x="6501384" y="470001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5. The Saturday shift: Patricia says</a:t>
            </a:r>
            <a:endParaRPr lang="en-US" sz="1600" dirty="0"/>
          </a:p>
        </p:txBody>
      </p:sp>
      <p:sp>
        <p:nvSpPr>
          <p:cNvPr id="25" name="R5 opt1"/>
          <p:cNvSpPr/>
          <p:nvPr/>
        </p:nvSpPr>
        <p:spPr>
          <a:xfrm>
            <a:off x="662940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yes</a:t>
            </a:r>
            <a:endParaRPr lang="en-US" sz="1400" dirty="0" b="1"/>
          </a:p>
        </p:txBody>
      </p:sp>
      <p:sp>
        <p:nvSpPr>
          <p:cNvPr id="26" name="R5 opt2"/>
          <p:cNvSpPr/>
          <p:nvPr/>
        </p:nvSpPr>
        <p:spPr>
          <a:xfrm>
            <a:off x="8869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no</a:t>
            </a:r>
            <a:endParaRPr lang="en-US" sz="1400" dirty="0" b="1"/>
          </a:p>
        </p:txBody>
      </p:sp>
      <p:sp>
        <p:nvSpPr>
          <p:cNvPr id="27" name="R5 circle"/>
          <p:cNvSpPr/>
          <p:nvPr/>
        </p:nvSpPr>
        <p:spPr>
          <a:xfrm>
            <a:off x="8741664" y="524865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6. Why? She</a:t>
            </a:r>
            <a:endParaRPr lang="en-US" sz="1600" dirty="0"/>
          </a:p>
        </p:txBody>
      </p:sp>
      <p:sp>
        <p:nvSpPr>
          <p:cNvPr id="29" name="R6 opt1"/>
          <p:cNvSpPr/>
          <p:nvPr/>
        </p:nvSpPr>
        <p:spPr>
          <a:xfrm>
            <a:off x="662940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will be away</a:t>
            </a:r>
            <a:endParaRPr lang="en-US" sz="1400" dirty="0" b="1"/>
          </a:p>
        </p:txBody>
      </p:sp>
      <p:sp>
        <p:nvSpPr>
          <p:cNvPr id="30" name="R6 opt2"/>
          <p:cNvSpPr/>
          <p:nvPr/>
        </p:nvSpPr>
        <p:spPr>
          <a:xfrm>
            <a:off x="8869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has a soccer game</a:t>
            </a:r>
            <a:endParaRPr lang="en-US" sz="1400" dirty="0" b="1"/>
          </a:p>
        </p:txBody>
      </p:sp>
      <p:sp>
        <p:nvSpPr>
          <p:cNvPr id="31" name="R6 circle"/>
          <p:cNvSpPr/>
          <p:nvPr/>
        </p:nvSpPr>
        <p:spPr>
          <a:xfrm>
            <a:off x="6501384" y="57972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missing word: an -ing word or if.</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an </a:t>
            </a:r>
            <a:r>
              <a:rPr lang="en-US" sz="2000" dirty="0" b="1">
                <a:solidFill>
                  <a:srgbClr val="5B3FC4"/>
                </a:solidFill>
                <a:latin typeface="Lexend Deca" pitchFamily="34" charset="0"/>
                <a:ea typeface="Lexend Deca" pitchFamily="34" charset="-122"/>
                <a:cs typeface="Lexend Deca" pitchFamily="34" charset="-120"/>
              </a:rPr>
              <a:t>-ing</a:t>
            </a:r>
            <a:r>
              <a:rPr lang="en-US" sz="2000" dirty="0" b="1">
                <a:solidFill>
                  <a:srgbClr val="1B2236"/>
                </a:solidFill>
                <a:latin typeface="Lexend Deca" pitchFamily="34" charset="0"/>
                <a:ea typeface="Lexend Deca" pitchFamily="34" charset="-122"/>
                <a:cs typeface="Lexend Deca" pitchFamily="34" charset="-120"/>
              </a:rPr>
              <a:t> word or </a:t>
            </a:r>
            <a:r>
              <a:rPr lang="en-US" sz="2000" dirty="0" b="1">
                <a:solidFill>
                  <a:srgbClr val="5B3FC4"/>
                </a:solidFill>
                <a:latin typeface="Lexend Deca" pitchFamily="34" charset="0"/>
                <a:ea typeface="Lexend Deca" pitchFamily="34" charset="-122"/>
                <a:cs typeface="Lexend Deca" pitchFamily="34" charset="-120"/>
              </a:rPr>
              <a:t>if</a:t>
            </a:r>
            <a:r>
              <a:rPr lang="en-US" sz="2000" dirty="0" b="1">
                <a:solidFill>
                  <a:srgbClr val="1B2236"/>
                </a:solidFill>
                <a:latin typeface="Lexend Deca" pitchFamily="34" charset="0"/>
                <a:ea typeface="Lexend Deca" pitchFamily="34" charset="-122"/>
                <a:cs typeface="Lexend Deca" pitchFamily="34" charset="-120"/>
              </a:rPr>
              <a: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Would you mind ____ my mail?</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getting</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And would you mind ____ my plants?</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watering</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Oh, and would you mind ____ my cat, too?</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feeding</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 you mind ____ I put your packages inside, too?</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if</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Would you mind ____ my Saturday shift?</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covering</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 you mind ____ I tell her you suggested it?</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if</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smoothly, with a friendly rise</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 going to,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 = want to: fine in everyday talk.</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it smoothly, with a </a:t>
            </a:r>
            <a:r>
              <a:rPr lang="en-US" sz="2000" dirty="0" b="1">
                <a:solidFill>
                  <a:srgbClr val="5B3FC4"/>
                </a:solidFill>
                <a:latin typeface="Lexend Deca" pitchFamily="34" charset="0"/>
                <a:ea typeface="Lexend Deca" pitchFamily="34" charset="-122"/>
                <a:cs typeface="Lexend Deca" pitchFamily="34" charset="-120"/>
              </a:rPr>
              <a:t>friendly rise</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I'm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be away next week.</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help, but I can't.</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Would you mind</a:t>
            </a:r>
            <a:r>
              <a:rPr lang="en-US" sz="1800" dirty="0" b="1">
                <a:solidFill>
                  <a:srgbClr val="1B2236"/>
                </a:solidFill>
                <a:latin typeface="Lexend Deca" pitchFamily="34" charset="0"/>
                <a:ea typeface="Lexend Deca" pitchFamily="34" charset="-122"/>
                <a:cs typeface="Lexend Deca" pitchFamily="34" charset="-120"/>
              </a:rPr>
              <a:t> getting my mail?</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Do you mind if I</a:t>
            </a:r>
            <a:r>
              <a:rPr lang="en-US" sz="1800" dirty="0" b="1">
                <a:solidFill>
                  <a:srgbClr val="1B2236"/>
                </a:solidFill>
                <a:latin typeface="Lexend Deca" pitchFamily="34" charset="0"/>
                <a:ea typeface="Lexend Deca" pitchFamily="34" charset="-122"/>
                <a:cs typeface="Lexend Deca" pitchFamily="34" charset="-120"/>
              </a:rPr>
              <a:t> open the window? </a:t>
            </a:r>
            <a:r>
              <a:rPr lang="en-US" sz="1800" dirty="0" b="1">
                <a:solidFill>
                  <a:srgbClr val="5B3FC4"/>
                </a:solidFill>
                <a:latin typeface="Lexend Deca" pitchFamily="34" charset="0"/>
                <a:ea typeface="Lexend Deca" pitchFamily="34" charset="-122"/>
                <a:cs typeface="Lexend Deca" pitchFamily="34" charset="-120"/>
              </a:rPr>
              <a:t>No, not at all!</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Get the mail: a mailbox and a letter"/>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Would you mind + -ing?</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you mind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getting</a:t>
            </a:r>
            <a:r>
              <a:rPr lang="en-US" sz="1700" dirty="0" b="1">
                <a:solidFill>
                  <a:srgbClr val="1B2236"/>
                </a:solidFill>
                <a:latin typeface="Lexend Deca" pitchFamily="34" charset="0"/>
                <a:ea typeface="Lexend Deca" pitchFamily="34" charset="-122"/>
                <a:cs typeface="Lexend Deca" pitchFamily="34" charset="-120"/>
              </a:rPr>
              <a:t> my mail?</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not at all</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'll</a:t>
            </a:r>
            <a:r>
              <a:rPr lang="en-US" sz="1700" dirty="0" b="1">
                <a:solidFill>
                  <a:srgbClr val="1B2236"/>
                </a:solidFill>
                <a:latin typeface="Lexend Deca" pitchFamily="34" charset="0"/>
                <a:ea typeface="Lexend Deca" pitchFamily="34" charset="-122"/>
                <a:cs typeface="Lexend Deca" pitchFamily="34" charset="-120"/>
              </a:rPr>
              <a:t> do it.</a:t>
            </a:r>
            <a:endParaRPr lang="en-US" sz="1700" dirty="0" b="1"/>
          </a:p>
          <a:p>
            <a:pPr algn="l" indent="0" marL="0">
              <a:buNone/>
            </a:pPr>
            <a:r>
              <a:rPr lang="en-US" sz="1700" dirty="0" b="1">
                <a:solidFill>
                  <a:srgbClr val="1B2236"/>
                </a:solidFill>
                <a:latin typeface="Lexend Deca" pitchFamily="34" charset="0"/>
                <a:ea typeface="Lexend Deca" pitchFamily="34" charset="-122"/>
                <a:cs typeface="Lexend Deca" pitchFamily="34" charset="-120"/>
              </a:rPr>
              <a:t>Sorry</a:t>
            </a:r>
            <a:r>
              <a:rPr lang="en-US" sz="1700" dirty="0" b="1">
                <a:solidFill>
                  <a:srgbClr val="1B2236"/>
                </a:solidFill>
                <a:latin typeface="Lexend Deca" pitchFamily="34" charset="0"/>
                <a:ea typeface="Lexend Deca" pitchFamily="34" charset="-122"/>
                <a:cs typeface="Lexend Deca" pitchFamily="34" charset="-120"/>
              </a:rPr>
              <a:t>, I </a:t>
            </a:r>
            <a:r>
              <a:rPr lang="en-US" sz="1700" dirty="0" b="1">
                <a:solidFill>
                  <a:srgbClr val="1B2236"/>
                </a:solidFill>
                <a:latin typeface="Lexend Deca" pitchFamily="34" charset="0"/>
                <a:ea typeface="Lexend Deca" pitchFamily="34" charset="-122"/>
                <a:cs typeface="Lexend Deca" pitchFamily="34" charset="-120"/>
              </a:rPr>
              <a:t>can't</a:t>
            </a:r>
            <a:r>
              <a:rPr lang="en-US" sz="1700" dirty="0" b="1">
                <a:solidFill>
                  <a:srgbClr val="1B2236"/>
                </a:solidFill>
                <a:latin typeface="Lexend Deca" pitchFamily="34" charset="0"/>
                <a:ea typeface="Lexend Deca" pitchFamily="34" charset="-122"/>
                <a:cs typeface="Lexend Deca" pitchFamily="34" charset="-120"/>
              </a:rPr>
              <a:t>. I'll be away too.</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you mind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covering</a:t>
            </a:r>
            <a:r>
              <a:rPr lang="en-US" sz="1700" dirty="0" b="1">
                <a:solidFill>
                  <a:srgbClr val="1B2236"/>
                </a:solidFill>
                <a:latin typeface="Lexend Deca" pitchFamily="34" charset="0"/>
                <a:ea typeface="Lexend Deca" pitchFamily="34" charset="-122"/>
                <a:cs typeface="Lexend Deca" pitchFamily="34" charset="-120"/>
              </a:rPr>
              <a:t> my shift?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not at all</a:t>
            </a:r>
            <a:r>
              <a:rPr lang="en-US" sz="1700" dirty="0" b="1">
                <a:solidFill>
                  <a:srgbClr val="1B2236"/>
                </a:solidFill>
                <a:latin typeface="Lexend Deca" pitchFamily="34" charset="0"/>
                <a:ea typeface="Lexend Deca" pitchFamily="34" charset="-122"/>
                <a:cs typeface="Lexend Deca" pitchFamily="34" charset="-120"/>
              </a:rPr>
              <a:t>. I'm free on Saturday.</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you mind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lending</a:t>
            </a:r>
            <a:r>
              <a:rPr lang="en-US" sz="1700" dirty="0" b="1">
                <a:solidFill>
                  <a:srgbClr val="1B2236"/>
                </a:solidFill>
                <a:latin typeface="Lexend Deca" pitchFamily="34" charset="0"/>
                <a:ea typeface="Lexend Deca" pitchFamily="34" charset="-122"/>
                <a:cs typeface="Lexend Deca" pitchFamily="34" charset="-120"/>
              </a:rPr>
              <a:t> me a ladder?</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problem. You can borrow </a:t>
            </a:r>
            <a:r>
              <a:rPr lang="en-US" sz="1700" dirty="0" b="1">
                <a:solidFill>
                  <a:srgbClr val="1B2236"/>
                </a:solidFill>
                <a:latin typeface="Lexend Deca" pitchFamily="34" charset="0"/>
                <a:ea typeface="Lexend Deca" pitchFamily="34" charset="-122"/>
                <a:cs typeface="Lexend Deca" pitchFamily="34" charset="-120"/>
              </a:rPr>
              <a:t>mine</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witch shifts: a calendar and arrows [sign: SAT → SU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200" dirty="0" b="1">
                <a:solidFill>
                  <a:srgbClr val="1B2236"/>
                </a:solidFill>
                <a:latin typeface="Lexend Deca" pitchFamily="34" charset="0"/>
                <a:ea typeface="Lexend Deca" pitchFamily="34" charset="-122"/>
                <a:cs typeface="Lexend Deca" pitchFamily="34" charset="-120"/>
              </a:rPr>
              <a:t>permission: Do you mind if I…?</a:t>
            </a:r>
            <a:endParaRPr lang="en-US" sz="22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mind if I</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open</a:t>
            </a:r>
            <a:r>
              <a:rPr lang="en-US" sz="1700" dirty="0" b="1">
                <a:solidFill>
                  <a:srgbClr val="1B2236"/>
                </a:solidFill>
                <a:latin typeface="Lexend Deca" pitchFamily="34" charset="0"/>
                <a:ea typeface="Lexend Deca" pitchFamily="34" charset="-122"/>
                <a:cs typeface="Lexend Deca" pitchFamily="34" charset="-120"/>
              </a:rPr>
              <a:t> the window?</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go ahead</a:t>
            </a:r>
            <a:r>
              <a:rPr lang="en-US" sz="1700" dirty="0" b="1">
                <a:solidFill>
                  <a:srgbClr val="1B2236"/>
                </a:solidFill>
                <a:latin typeface="Lexend Deca" pitchFamily="34" charset="0"/>
                <a:ea typeface="Lexend Deca" pitchFamily="34" charset="-122"/>
                <a:cs typeface="Lexend Deca" pitchFamily="34" charset="-120"/>
              </a:rPr>
              <a:t>. It's hot in here.</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mind if I</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leave</a:t>
            </a:r>
            <a:r>
              <a:rPr lang="en-US" sz="1700" dirty="0" b="1">
                <a:solidFill>
                  <a:srgbClr val="1B2236"/>
                </a:solidFill>
                <a:latin typeface="Lexend Deca" pitchFamily="34" charset="0"/>
                <a:ea typeface="Lexend Deca" pitchFamily="34" charset="-122"/>
                <a:cs typeface="Lexend Deca" pitchFamily="34" charset="-120"/>
              </a:rPr>
              <a:t> early today?</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Sorry</a:t>
            </a:r>
            <a:r>
              <a:rPr lang="en-US" sz="1700" dirty="0" b="1">
                <a:solidFill>
                  <a:srgbClr val="1B2236"/>
                </a:solidFill>
                <a:latin typeface="Lexend Deca" pitchFamily="34" charset="0"/>
                <a:ea typeface="Lexend Deca" pitchFamily="34" charset="-122"/>
                <a:cs typeface="Lexend Deca" pitchFamily="34" charset="-120"/>
              </a:rPr>
              <a:t>, we need you until 5:00.</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mind if I</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switch</a:t>
            </a:r>
            <a:r>
              <a:rPr lang="en-US" sz="1700" dirty="0" b="1">
                <a:solidFill>
                  <a:srgbClr val="1B2236"/>
                </a:solidFill>
                <a:latin typeface="Lexend Deca" pitchFamily="34" charset="0"/>
                <a:ea typeface="Lexend Deca" pitchFamily="34" charset="-122"/>
                <a:cs typeface="Lexend Deca" pitchFamily="34" charset="-120"/>
              </a:rPr>
              <a:t> my Friday shift?</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not at all</a:t>
            </a:r>
            <a:r>
              <a:rPr lang="en-US" sz="1700" dirty="0" b="1">
                <a:solidFill>
                  <a:srgbClr val="1B2236"/>
                </a:solidFill>
                <a:latin typeface="Lexend Deca" pitchFamily="34" charset="0"/>
                <a:ea typeface="Lexend Deca" pitchFamily="34" charset="-122"/>
                <a:cs typeface="Lexend Deca" pitchFamily="34" charset="-120"/>
              </a:rPr>
              <a:t>. Ask the supervisor first.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pare key: two keys [sign: SPAR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saying yes, saying no</a:t>
            </a:r>
            <a:endParaRPr lang="en-US" sz="2400" dirty="0" b="1"/>
          </a:p>
        </p:txBody>
      </p:sp>
      <p:sp>
        <p:nvSpPr>
          <p:cNvPr id="8" name="Q head"/>
          <p:cNvSpPr/>
          <p:nvPr/>
        </p:nvSpPr>
        <p:spPr>
          <a:xfrm>
            <a:off x="5166360" y="1828800"/>
            <a:ext cx="256032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YOU CAN HELP (say no!)</a:t>
            </a:r>
            <a:endParaRPr lang="en-US" sz="2000" dirty="0" b="1"/>
          </a:p>
        </p:txBody>
      </p:sp>
      <p:sp>
        <p:nvSpPr>
          <p:cNvPr id="11" name="A head"/>
          <p:cNvSpPr/>
          <p:nvPr/>
        </p:nvSpPr>
        <p:spPr>
          <a:xfrm>
            <a:off x="7772400" y="1828800"/>
            <a:ext cx="416052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YOU CAN'T HELP (be polite)</a:t>
            </a:r>
            <a:endParaRPr lang="en-US" sz="2000" dirty="0" b="1"/>
          </a:p>
        </p:txBody>
      </p:sp>
      <p:sp>
        <p:nvSpPr>
          <p:cNvPr id="18" name="Question 1"/>
          <p:cNvSpPr/>
          <p:nvPr/>
        </p:nvSpPr>
        <p:spPr>
          <a:xfrm>
            <a:off x="5138928" y="2286000"/>
            <a:ext cx="2560320" cy="13898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No, not at all.</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5B3FC4"/>
                </a:solidFill>
                <a:latin typeface="Lexend Deca" pitchFamily="34" charset="0"/>
                <a:ea typeface="Lexend Deca" pitchFamily="34" charset="-122"/>
                <a:cs typeface="Lexend Deca" pitchFamily="34" charset="-120"/>
              </a:rPr>
              <a:t>No problem.</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5B3FC4"/>
                </a:solidFill>
                <a:latin typeface="Lexend Deca" pitchFamily="34" charset="0"/>
                <a:ea typeface="Lexend Deca" pitchFamily="34" charset="-122"/>
                <a:cs typeface="Lexend Deca" pitchFamily="34" charset="-120"/>
              </a:rPr>
              <a:t>Sure, I'll do it.</a:t>
            </a:r>
            <a:endParaRPr lang="en-US" sz="1800" dirty="0" b="1"/>
          </a:p>
        </p:txBody>
      </p:sp>
      <p:sp>
        <p:nvSpPr>
          <p:cNvPr id="19" name="Answer bg 1"/>
          <p:cNvSpPr/>
          <p:nvPr/>
        </p:nvSpPr>
        <p:spPr>
          <a:xfrm>
            <a:off x="7772400" y="2286000"/>
            <a:ext cx="4160520" cy="13898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772400" y="2286000"/>
            <a:ext cx="4160520" cy="13898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Sorry, I can't, because…</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 another idea: </a:t>
            </a:r>
            <a:r>
              <a:rPr lang="en-US" sz="1800" dirty="0" b="1">
                <a:solidFill>
                  <a:srgbClr val="5B3FC4"/>
                </a:solidFill>
                <a:latin typeface="Lexend Deca" pitchFamily="34" charset="0"/>
                <a:ea typeface="Lexend Deca" pitchFamily="34" charset="-122"/>
                <a:cs typeface="Lexend Deca" pitchFamily="34" charset="-120"/>
              </a:rPr>
              <a:t>Why don't you ask Lena?</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eed the cat: a cat and a bowl"/>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how polite?</a:t>
            </a:r>
            <a:endParaRPr lang="en-US" sz="2400" dirty="0" b="1"/>
          </a:p>
        </p:txBody>
      </p:sp>
      <p:sp>
        <p:nvSpPr>
          <p:cNvPr id="8" name="Q head"/>
          <p:cNvSpPr/>
          <p:nvPr/>
        </p:nvSpPr>
        <p:spPr>
          <a:xfrm>
            <a:off x="5166360" y="1828800"/>
            <a:ext cx="24688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SAY</a:t>
            </a:r>
            <a:endParaRPr lang="en-US" sz="2000" dirty="0" b="1"/>
          </a:p>
        </p:txBody>
      </p:sp>
      <p:sp>
        <p:nvSpPr>
          <p:cNvPr id="11" name="A head"/>
          <p:cNvSpPr/>
          <p:nvPr/>
        </p:nvSpPr>
        <p:spPr>
          <a:xfrm>
            <a:off x="7680960" y="1828800"/>
            <a:ext cx="42519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WHEN?  ·  EXAMPLE</a:t>
            </a:r>
            <a:endParaRPr lang="en-US" sz="2000" dirty="0" b="1"/>
          </a:p>
        </p:txBody>
      </p:sp>
      <p:sp>
        <p:nvSpPr>
          <p:cNvPr id="18" name="Question 1"/>
          <p:cNvSpPr/>
          <p:nvPr/>
        </p:nvSpPr>
        <p:spPr>
          <a:xfrm>
            <a:off x="5138928" y="228600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Can you…?</a:t>
            </a:r>
            <a:endParaRPr lang="en-US" sz="1800" dirty="0" b="1"/>
          </a:p>
        </p:txBody>
      </p:sp>
      <p:sp>
        <p:nvSpPr>
          <p:cNvPr id="19" name="Answer bg 1"/>
          <p:cNvSpPr/>
          <p:nvPr/>
        </p:nvSpPr>
        <p:spPr>
          <a:xfrm>
            <a:off x="7680960" y="228600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680960" y="228600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small favor, a friend</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Can you pass the salt?</a:t>
            </a:r>
            <a:endParaRPr lang="en-US" sz="1700" dirty="0" b="1"/>
          </a:p>
        </p:txBody>
      </p:sp>
      <p:sp>
        <p:nvSpPr>
          <p:cNvPr id="21" name="Question 2"/>
          <p:cNvSpPr/>
          <p:nvPr/>
        </p:nvSpPr>
        <p:spPr>
          <a:xfrm>
            <a:off x="5138928" y="338328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Could you…?</a:t>
            </a:r>
            <a:endParaRPr lang="en-US" sz="1800" dirty="0" b="1"/>
          </a:p>
        </p:txBody>
      </p:sp>
      <p:sp>
        <p:nvSpPr>
          <p:cNvPr id="22" name="Answer bg 2"/>
          <p:cNvSpPr/>
          <p:nvPr/>
        </p:nvSpPr>
        <p:spPr>
          <a:xfrm>
            <a:off x="7680960" y="338328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680960" y="338328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more polite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Could you help me with this box?</a:t>
            </a:r>
            <a:endParaRPr lang="en-US" sz="1700" dirty="0" b="1"/>
          </a:p>
        </p:txBody>
      </p:sp>
      <p:sp>
        <p:nvSpPr>
          <p:cNvPr id="24" name="Question 3"/>
          <p:cNvSpPr/>
          <p:nvPr/>
        </p:nvSpPr>
        <p:spPr>
          <a:xfrm>
            <a:off x="5138928" y="448056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Would you mind …ing?</a:t>
            </a:r>
            <a:endParaRPr lang="en-US" sz="1800" dirty="0" b="1"/>
          </a:p>
        </p:txBody>
      </p:sp>
      <p:sp>
        <p:nvSpPr>
          <p:cNvPr id="25" name="Answer bg 3"/>
          <p:cNvSpPr/>
          <p:nvPr/>
        </p:nvSpPr>
        <p:spPr>
          <a:xfrm>
            <a:off x="7680960" y="448056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680960" y="448056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most polite; a </a:t>
            </a:r>
            <a:r>
              <a:rPr lang="en-US" sz="1700" dirty="0" b="1">
                <a:solidFill>
                  <a:srgbClr val="1B2236"/>
                </a:solidFill>
                <a:latin typeface="Lexend Deca" pitchFamily="34" charset="0"/>
                <a:ea typeface="Lexend Deca" pitchFamily="34" charset="-122"/>
                <a:cs typeface="Lexend Deca" pitchFamily="34" charset="-120"/>
              </a:rPr>
              <a:t>bigger</a:t>
            </a:r>
            <a:r>
              <a:rPr lang="en-US" sz="1700" dirty="0" b="1">
                <a:solidFill>
                  <a:srgbClr val="1B2236"/>
                </a:solidFill>
                <a:latin typeface="Lexend Deca" pitchFamily="34" charset="0"/>
                <a:ea typeface="Lexend Deca" pitchFamily="34" charset="-122"/>
                <a:cs typeface="Lexend Deca" pitchFamily="34" charset="-120"/>
              </a:rPr>
              <a:t> favor</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Would you mind feeding my cat for a week?</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correct form of the verb.</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correct form of the verb.</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Would you mind ____ my plants? (water)</a:t>
            </a:r>
            <a:endParaRPr lang="en-US" sz="1600" dirty="0"/>
          </a:p>
        </p:txBody>
      </p:sp>
      <p:sp>
        <p:nvSpPr>
          <p:cNvPr id="35" name="R1 ans"/>
          <p:cNvSpPr/>
          <p:nvPr/>
        </p:nvSpPr>
        <p:spPr>
          <a:xfrm>
            <a:off x="5925312" y="2222144"/>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watering</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Do you mind if I ____ the window? (open)</a:t>
            </a:r>
            <a:endParaRPr lang="en-US" sz="1600" dirty="0"/>
          </a:p>
        </p:txBody>
      </p:sp>
      <p:sp>
        <p:nvSpPr>
          <p:cNvPr id="40" name="R2 ans"/>
          <p:cNvSpPr/>
          <p:nvPr/>
        </p:nvSpPr>
        <p:spPr>
          <a:xfrm>
            <a:off x="5925312" y="2950312"/>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open</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Would you mind ____ the cat on Sunday? (feed)</a:t>
            </a:r>
            <a:endParaRPr lang="en-US" sz="1600" dirty="0"/>
          </a:p>
        </p:txBody>
      </p:sp>
      <p:sp>
        <p:nvSpPr>
          <p:cNvPr id="45" name="R3 ans"/>
          <p:cNvSpPr/>
          <p:nvPr/>
        </p:nvSpPr>
        <p:spPr>
          <a:xfrm>
            <a:off x="5925312" y="3678479"/>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feeding</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Would you mind ____ shifts with me? (switch)</a:t>
            </a:r>
            <a:endParaRPr lang="en-US" sz="1600" dirty="0"/>
          </a:p>
        </p:txBody>
      </p:sp>
      <p:sp>
        <p:nvSpPr>
          <p:cNvPr id="50" name="R4 ans"/>
          <p:cNvSpPr/>
          <p:nvPr/>
        </p:nvSpPr>
        <p:spPr>
          <a:xfrm>
            <a:off x="5925312" y="4406646"/>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switching</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Do you mind if I ____ your ladder? (borrow)</a:t>
            </a:r>
            <a:endParaRPr lang="en-US" sz="1600" dirty="0"/>
          </a:p>
        </p:txBody>
      </p:sp>
      <p:sp>
        <p:nvSpPr>
          <p:cNvPr id="55" name="R5 ans"/>
          <p:cNvSpPr/>
          <p:nvPr/>
        </p:nvSpPr>
        <p:spPr>
          <a:xfrm>
            <a:off x="5925312" y="5134813"/>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borrow</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Would you mind ____ my packages? (get)</a:t>
            </a:r>
            <a:endParaRPr lang="en-US" sz="1600" dirty="0"/>
          </a:p>
        </p:txBody>
      </p:sp>
      <p:sp>
        <p:nvSpPr>
          <p:cNvPr id="60" name="R6 ans"/>
          <p:cNvSpPr/>
          <p:nvPr/>
        </p:nvSpPr>
        <p:spPr>
          <a:xfrm>
            <a:off x="5925312" y="5862980"/>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getting</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1. Would you mind ____ my shift?</a:t>
            </a:r>
            <a:endParaRPr lang="en-US" sz="1600" dirty="0"/>
          </a:p>
        </p:txBody>
      </p:sp>
      <p:sp>
        <p:nvSpPr>
          <p:cNvPr id="9" name="R1 opt1"/>
          <p:cNvSpPr/>
          <p:nvPr/>
        </p:nvSpPr>
        <p:spPr>
          <a:xfrm>
            <a:off x="676656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covering</a:t>
            </a:r>
            <a:endParaRPr lang="en-US" sz="1500" dirty="0" b="1"/>
          </a:p>
        </p:txBody>
      </p:sp>
      <p:sp>
        <p:nvSpPr>
          <p:cNvPr id="10" name="R1 opt2"/>
          <p:cNvSpPr/>
          <p:nvPr/>
        </p:nvSpPr>
        <p:spPr>
          <a:xfrm>
            <a:off x="896112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to cover</a:t>
            </a:r>
            <a:endParaRPr lang="en-US" sz="1500" dirty="0" b="1"/>
          </a:p>
        </p:txBody>
      </p:sp>
      <p:sp>
        <p:nvSpPr>
          <p:cNvPr id="11" name="R1 circle"/>
          <p:cNvSpPr/>
          <p:nvPr/>
        </p:nvSpPr>
        <p:spPr>
          <a:xfrm>
            <a:off x="6638544" y="30540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2. A: Would you mind helping me? B: ____ I'll help.</a:t>
            </a:r>
            <a:endParaRPr lang="en-US" sz="1600" dirty="0"/>
          </a:p>
        </p:txBody>
      </p:sp>
      <p:sp>
        <p:nvSpPr>
          <p:cNvPr id="13" name="R2 opt1"/>
          <p:cNvSpPr/>
          <p:nvPr/>
        </p:nvSpPr>
        <p:spPr>
          <a:xfrm>
            <a:off x="676656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No, not at all.</a:t>
            </a:r>
            <a:endParaRPr lang="en-US" sz="1500" dirty="0" b="1"/>
          </a:p>
        </p:txBody>
      </p:sp>
      <p:sp>
        <p:nvSpPr>
          <p:cNvPr id="14" name="R2 opt2"/>
          <p:cNvSpPr/>
          <p:nvPr/>
        </p:nvSpPr>
        <p:spPr>
          <a:xfrm>
            <a:off x="896112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Yes, I do.</a:t>
            </a:r>
            <a:endParaRPr lang="en-US" sz="1500" dirty="0" b="1"/>
          </a:p>
        </p:txBody>
      </p:sp>
      <p:sp>
        <p:nvSpPr>
          <p:cNvPr id="15" name="R2 circle"/>
          <p:cNvSpPr/>
          <p:nvPr/>
        </p:nvSpPr>
        <p:spPr>
          <a:xfrm>
            <a:off x="6638544" y="360273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3. Do you mind if I ____ early?</a:t>
            </a:r>
            <a:endParaRPr lang="en-US" sz="1600" dirty="0"/>
          </a:p>
        </p:txBody>
      </p:sp>
      <p:sp>
        <p:nvSpPr>
          <p:cNvPr id="17" name="R3 opt1"/>
          <p:cNvSpPr/>
          <p:nvPr/>
        </p:nvSpPr>
        <p:spPr>
          <a:xfrm>
            <a:off x="676656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leave</a:t>
            </a:r>
            <a:endParaRPr lang="en-US" sz="1500" dirty="0" b="1"/>
          </a:p>
        </p:txBody>
      </p:sp>
      <p:sp>
        <p:nvSpPr>
          <p:cNvPr id="18" name="R3 opt2"/>
          <p:cNvSpPr/>
          <p:nvPr/>
        </p:nvSpPr>
        <p:spPr>
          <a:xfrm>
            <a:off x="896112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leaving</a:t>
            </a:r>
            <a:endParaRPr lang="en-US" sz="1500" dirty="0" b="1"/>
          </a:p>
        </p:txBody>
      </p:sp>
      <p:sp>
        <p:nvSpPr>
          <p:cNvPr id="19" name="R3 circle"/>
          <p:cNvSpPr/>
          <p:nvPr/>
        </p:nvSpPr>
        <p:spPr>
          <a:xfrm>
            <a:off x="6638544" y="415137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4. Could I borrow your pen? I forgot ____.</a:t>
            </a:r>
            <a:endParaRPr lang="en-US" sz="1600" dirty="0"/>
          </a:p>
        </p:txBody>
      </p:sp>
      <p:sp>
        <p:nvSpPr>
          <p:cNvPr id="21" name="R4 opt1"/>
          <p:cNvSpPr/>
          <p:nvPr/>
        </p:nvSpPr>
        <p:spPr>
          <a:xfrm>
            <a:off x="676656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mine</a:t>
            </a:r>
            <a:endParaRPr lang="en-US" sz="1500" dirty="0" b="1"/>
          </a:p>
        </p:txBody>
      </p:sp>
      <p:sp>
        <p:nvSpPr>
          <p:cNvPr id="22" name="R4 opt2"/>
          <p:cNvSpPr/>
          <p:nvPr/>
        </p:nvSpPr>
        <p:spPr>
          <a:xfrm>
            <a:off x="896112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my</a:t>
            </a:r>
            <a:endParaRPr lang="en-US" sz="1500" dirty="0" b="1"/>
          </a:p>
        </p:txBody>
      </p:sp>
      <p:sp>
        <p:nvSpPr>
          <p:cNvPr id="23" name="R4 circle"/>
          <p:cNvSpPr/>
          <p:nvPr/>
        </p:nvSpPr>
        <p:spPr>
          <a:xfrm>
            <a:off x="6638544" y="470001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5. Sorry, I can't. I ____ away.</a:t>
            </a:r>
            <a:endParaRPr lang="en-US" sz="1600" dirty="0"/>
          </a:p>
        </p:txBody>
      </p:sp>
      <p:sp>
        <p:nvSpPr>
          <p:cNvPr id="25" name="R5 opt1"/>
          <p:cNvSpPr/>
          <p:nvPr/>
        </p:nvSpPr>
        <p:spPr>
          <a:xfrm>
            <a:off x="676656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'll be</a:t>
            </a:r>
            <a:endParaRPr lang="en-US" sz="1500" dirty="0" b="1"/>
          </a:p>
        </p:txBody>
      </p:sp>
      <p:sp>
        <p:nvSpPr>
          <p:cNvPr id="26" name="R5 opt2"/>
          <p:cNvSpPr/>
          <p:nvPr/>
        </p:nvSpPr>
        <p:spPr>
          <a:xfrm>
            <a:off x="896112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be</a:t>
            </a:r>
            <a:endParaRPr lang="en-US" sz="1500" dirty="0" b="1"/>
          </a:p>
        </p:txBody>
      </p:sp>
      <p:sp>
        <p:nvSpPr>
          <p:cNvPr id="27" name="R5 circle"/>
          <p:cNvSpPr/>
          <p:nvPr/>
        </p:nvSpPr>
        <p:spPr>
          <a:xfrm>
            <a:off x="6638544" y="524865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6. I'd like ____ my Friday shift.</a:t>
            </a:r>
            <a:endParaRPr lang="en-US" sz="1600" dirty="0"/>
          </a:p>
        </p:txBody>
      </p:sp>
      <p:sp>
        <p:nvSpPr>
          <p:cNvPr id="29" name="R6 opt1"/>
          <p:cNvSpPr/>
          <p:nvPr/>
        </p:nvSpPr>
        <p:spPr>
          <a:xfrm>
            <a:off x="676656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to switch</a:t>
            </a:r>
            <a:endParaRPr lang="en-US" sz="1500" dirty="0" b="1"/>
          </a:p>
        </p:txBody>
      </p:sp>
      <p:sp>
        <p:nvSpPr>
          <p:cNvPr id="30" name="R6 opt2"/>
          <p:cNvSpPr/>
          <p:nvPr/>
        </p:nvSpPr>
        <p:spPr>
          <a:xfrm>
            <a:off x="896112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switching</a:t>
            </a:r>
            <a:endParaRPr lang="en-US" sz="1500" dirty="0" b="1"/>
          </a:p>
        </p:txBody>
      </p:sp>
      <p:sp>
        <p:nvSpPr>
          <p:cNvPr id="31" name="R6 circle"/>
          <p:cNvSpPr/>
          <p:nvPr/>
        </p:nvSpPr>
        <p:spPr>
          <a:xfrm>
            <a:off x="6638544" y="57972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Borrow: a ladder [sign: BORROW]"/>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Would you mind to get my mail?</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you mind </a:t>
            </a:r>
            <a:r>
              <a:rPr lang="en-US" sz="1700" dirty="0" b="1">
                <a:solidFill>
                  <a:srgbClr val="1B2236"/>
                </a:solidFill>
                <a:latin typeface="Lexend Deca" pitchFamily="34" charset="0"/>
                <a:ea typeface="Lexend Deca" pitchFamily="34" charset="-122"/>
                <a:cs typeface="Lexend Deca" pitchFamily="34" charset="-120"/>
              </a:rPr>
              <a:t>getting</a:t>
            </a:r>
            <a:r>
              <a:rPr lang="en-US" sz="1700" dirty="0" b="1">
                <a:solidFill>
                  <a:srgbClr val="1B2236"/>
                </a:solidFill>
                <a:latin typeface="Lexend Deca" pitchFamily="34" charset="0"/>
                <a:ea typeface="Lexend Deca" pitchFamily="34" charset="-122"/>
                <a:cs typeface="Lexend Deca" pitchFamily="34" charset="-120"/>
              </a:rPr>
              <a:t> my mail?</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Yes, I mind. I'll help you.</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not at all.</a:t>
            </a:r>
            <a:r>
              <a:rPr lang="en-US" sz="1700" dirty="0" b="1">
                <a:solidFill>
                  <a:srgbClr val="1B2236"/>
                </a:solidFill>
                <a:latin typeface="Lexend Deca" pitchFamily="34" charset="0"/>
                <a:ea typeface="Lexend Deca" pitchFamily="34" charset="-122"/>
                <a:cs typeface="Lexend Deca" pitchFamily="34" charset="-120"/>
              </a:rPr>
              <a:t> I'll help you.</a:t>
            </a:r>
            <a:endParaRPr lang="en-US" sz="1700" dirty="0" b="1"/>
          </a:p>
        </p:txBody>
      </p:sp>
      <p:sp>
        <p:nvSpPr>
          <p:cNvPr id="28" name="Bad 3"/>
          <p:cNvSpPr/>
          <p:nvPr/>
        </p:nvSpPr>
        <p:spPr>
          <a:xfrm>
            <a:off x="914400" y="3602736"/>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Do you mind if I using your phone?</a:t>
            </a:r>
            <a:endParaRPr lang="en-US" sz="1700" dirty="0"/>
          </a:p>
        </p:txBody>
      </p:sp>
      <p:sp>
        <p:nvSpPr>
          <p:cNvPr id="29" name="Good 3"/>
          <p:cNvSpPr/>
          <p:nvPr/>
        </p:nvSpPr>
        <p:spPr>
          <a:xfrm>
            <a:off x="4800600" y="3602736"/>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mind if I </a:t>
            </a:r>
            <a:r>
              <a:rPr lang="en-US" sz="1700" dirty="0" b="1">
                <a:solidFill>
                  <a:srgbClr val="1B2236"/>
                </a:solidFill>
                <a:latin typeface="Lexend Deca" pitchFamily="34" charset="0"/>
                <a:ea typeface="Lexend Deca" pitchFamily="34" charset="-122"/>
                <a:cs typeface="Lexend Deca" pitchFamily="34" charset="-120"/>
              </a:rPr>
              <a:t>use</a:t>
            </a:r>
            <a:r>
              <a:rPr lang="en-US" sz="1700" dirty="0" b="1">
                <a:solidFill>
                  <a:srgbClr val="1B2236"/>
                </a:solidFill>
                <a:latin typeface="Lexend Deca" pitchFamily="34" charset="0"/>
                <a:ea typeface="Lexend Deca" pitchFamily="34" charset="-122"/>
                <a:cs typeface="Lexend Deca" pitchFamily="34" charset="-120"/>
              </a:rPr>
              <a:t> your phone?</a:t>
            </a:r>
            <a:endParaRPr lang="en-US" sz="1700" dirty="0" b="1"/>
          </a:p>
        </p:txBody>
      </p:sp>
      <p:sp>
        <p:nvSpPr>
          <p:cNvPr id="30" name="Bad 4"/>
          <p:cNvSpPr/>
          <p:nvPr/>
        </p:nvSpPr>
        <p:spPr>
          <a:xfrm>
            <a:off x="914400" y="444398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Can I borrow your?</a:t>
            </a:r>
            <a:endParaRPr lang="en-US" sz="1700" dirty="0"/>
          </a:p>
        </p:txBody>
      </p:sp>
      <p:sp>
        <p:nvSpPr>
          <p:cNvPr id="31" name="Good 4"/>
          <p:cNvSpPr/>
          <p:nvPr/>
        </p:nvSpPr>
        <p:spPr>
          <a:xfrm>
            <a:off x="4800600" y="444398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Can I borrow </a:t>
            </a:r>
            <a:r>
              <a:rPr lang="en-US" sz="1700" dirty="0" b="1">
                <a:solidFill>
                  <a:srgbClr val="1B2236"/>
                </a:solidFill>
                <a:latin typeface="Lexend Deca" pitchFamily="34" charset="0"/>
                <a:ea typeface="Lexend Deca" pitchFamily="34" charset="-122"/>
                <a:cs typeface="Lexend Deca" pitchFamily="34" charset="-120"/>
              </a:rPr>
              <a:t>yours</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32" name="Bad 5"/>
          <p:cNvSpPr/>
          <p:nvPr/>
        </p:nvSpPr>
        <p:spPr>
          <a:xfrm>
            <a:off x="914400" y="501091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like to switch my shift.</a:t>
            </a:r>
            <a:endParaRPr lang="en-US" sz="1700" dirty="0"/>
          </a:p>
        </p:txBody>
      </p:sp>
      <p:sp>
        <p:nvSpPr>
          <p:cNvPr id="33" name="Good 5"/>
          <p:cNvSpPr/>
          <p:nvPr/>
        </p:nvSpPr>
        <p:spPr>
          <a:xfrm>
            <a:off x="4800600" y="501091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'd</a:t>
            </a:r>
            <a:r>
              <a:rPr lang="en-US" sz="1700" dirty="0" b="1">
                <a:solidFill>
                  <a:srgbClr val="1B2236"/>
                </a:solidFill>
                <a:latin typeface="Lexend Deca" pitchFamily="34" charset="0"/>
                <a:ea typeface="Lexend Deca" pitchFamily="34" charset="-122"/>
                <a:cs typeface="Lexend Deca" pitchFamily="34" charset="-120"/>
              </a:rPr>
              <a:t> like to switch my shift.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Package: a package"/>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 a favor.</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Would you mind getting my mail?</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No, not at all.</a:t>
            </a:r>
            <a:endParaRPr lang="en-US" sz="1900" dirty="0" b="0"/>
          </a:p>
          <a:p>
            <a:pPr algn="l" indent="0" marL="0">
              <a:buNone/>
            </a:pPr>
            <a:r>
              <a:rPr lang="en-US" sz="1900" dirty="0" b="1">
                <a:solidFill>
                  <a:srgbClr val="1B2236"/>
                </a:solidFill>
                <a:latin typeface="Lexend Deca" pitchFamily="34" charset="0"/>
                <a:ea typeface="Lexend Deca" pitchFamily="34" charset="-122"/>
                <a:cs typeface="Lexend Deca" pitchFamily="34" charset="-120"/>
              </a:rPr>
              <a:t>Or: Sorry, I can't, because…</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asks a favor from the pictures.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Favor: a person raising a hand and a handshake [sign: A FAVOR?]"/>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Favor Exchange</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Mingle.</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Ask three people.</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Take a favor card and a "my week" card.</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Would you mind getting my mail?</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Answer and give a reason.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Sorry, I can't, because…</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Offer another idea. Write who said yes.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Why don't you ask Ana?</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Switch shifts: a calendar and arrows [sign: SAT → SUN]"/>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Shift Switch Text</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Write a 3-sentence text.</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a text to a coworker.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Thanks for switching shifts with me!</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Confirm the day, the time, and thanks.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I'll work your… • You'll work my…</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Read it to another pair.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Ask your supervisor first.</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notice.</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Maple Court Apartments: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 notice + a note to a neighbor.</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Where will all packages go?</a:t>
            </a:r>
            <a:endParaRPr lang="en-US" sz="1500" dirty="0"/>
          </a:p>
        </p:txBody>
      </p:sp>
      <p:sp>
        <p:nvSpPr>
          <p:cNvPr id="35" name="R1 ans"/>
          <p:cNvSpPr/>
          <p:nvPr/>
        </p:nvSpPr>
        <p:spPr>
          <a:xfrm>
            <a:off x="4187952" y="2525573"/>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To the new package room next to the mailroom.</a:t>
            </a:r>
            <a:endParaRPr lang="en-US" sz="14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must you pick up a package?</a:t>
            </a:r>
            <a:endParaRPr lang="en-US" sz="1500" dirty="0"/>
          </a:p>
        </p:txBody>
      </p:sp>
      <p:sp>
        <p:nvSpPr>
          <p:cNvPr id="40" name="R2 ans"/>
          <p:cNvSpPr/>
          <p:nvPr/>
        </p:nvSpPr>
        <p:spPr>
          <a:xfrm>
            <a:off x="4187952" y="3311957"/>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Within 5 days.</a:t>
            </a:r>
            <a:endParaRPr lang="en-US" sz="14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must a neighbor show?</a:t>
            </a:r>
            <a:endParaRPr lang="en-US" sz="1500" dirty="0"/>
          </a:p>
        </p:txBody>
      </p:sp>
      <p:sp>
        <p:nvSpPr>
          <p:cNvPr id="45" name="R3 ans"/>
          <p:cNvSpPr/>
          <p:nvPr/>
        </p:nvSpPr>
        <p:spPr>
          <a:xfrm>
            <a:off x="4187952" y="4098341"/>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Your text with the code.</a:t>
            </a:r>
            <a:endParaRPr lang="en-US" sz="14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will Tomás be away?</a:t>
            </a:r>
            <a:endParaRPr lang="en-US" sz="1500" dirty="0"/>
          </a:p>
        </p:txBody>
      </p:sp>
      <p:sp>
        <p:nvSpPr>
          <p:cNvPr id="50" name="R4 ans"/>
          <p:cNvSpPr/>
          <p:nvPr/>
        </p:nvSpPr>
        <p:spPr>
          <a:xfrm>
            <a:off x="4187952" y="4884725"/>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From June 10 to June 17.</a:t>
            </a:r>
            <a:endParaRPr lang="en-US" sz="14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Where will the spare key be?</a:t>
            </a:r>
            <a:endParaRPr lang="en-US" sz="1500" dirty="0"/>
          </a:p>
        </p:txBody>
      </p:sp>
      <p:sp>
        <p:nvSpPr>
          <p:cNvPr id="55" name="R5 ans"/>
          <p:cNvSpPr/>
          <p:nvPr/>
        </p:nvSpPr>
        <p:spPr>
          <a:xfrm>
            <a:off x="4187952" y="5671109"/>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In an envelope under Ms. Lee's door (on Sunday).</a:t>
            </a:r>
            <a:endParaRPr lang="en-US" sz="14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Spare key: two keys [sign: SPARE]"/>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Ask a classmate for a favor with Would you mind…?</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Your question (Would you mind…?).</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Their answer.</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The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question or answer.</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note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Write 3 favors and polite answers.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Lesson 4.</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Thank-you note: a note and flowers [sign: THANK YOU!]">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5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for a favor</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yes or no politely</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permission</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Patricia, Mr. Wilson, Omar, Lena, Ana, Ms. Diaz, Tomás, Ms. Lee, and Mr. Ruiz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synthetic voices made with Chatterbox TTS (MIT License), cloned from short synthetic reference clips made with Kokoro-82M (Apache License 2.0). No recordings of real people were used. Each file carries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5: Would You Mind…?</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