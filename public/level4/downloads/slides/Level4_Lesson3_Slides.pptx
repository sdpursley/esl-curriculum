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653" r:id="rId32"/>
    <p:sldId id="654" r:id="rId21"/>
    <p:sldId id="655" r:id="rId19"/>
    <p:sldId id="656" r:id="rId15"/>
    <p:sldId id="657" r:id="rId37"/>
    <p:sldId id="658" r:id="rId38"/>
    <p:sldId id="659" r:id="rId39"/>
    <p:sldId id="660" r:id="rId40"/>
    <p:sldId id="661" r:id="rId41"/>
    <p:sldId id="662" r:id="rId42"/>
    <p:sldId id="663" r:id="rId43"/>
    <p:sldId id="664" r:id="rId44"/>
    <p:sldId id="665" r:id="rId45"/>
    <p:sldId id="666" r:id="rId46"/>
    <p:sldId id="667" r:id="rId47"/>
    <p:sldId id="668" r:id="rId48"/>
    <p:sldId id="669" r:id="rId49"/>
    <p:sldId id="670" r:id="rId50"/>
    <p:sldId id="671" r:id="rId51"/>
    <p:sldId id="672" r:id="rId52"/>
    <p:sldId id="673" r:id="rId53"/>
    <p:sldId id="674" r:id="rId54"/>
    <p:sldId id="675" r:id="rId55"/>
    <p:sldId id="676" r:id="rId56"/>
    <p:sldId id="677" r:id="rId9"/>
    <p:sldId id="678"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51.xml"/><Relationship Id="rId15" Type="http://schemas.openxmlformats.org/officeDocument/2006/relationships/slide" Target="slides/slide30.xml"/><Relationship Id="rId19" Type="http://schemas.openxmlformats.org/officeDocument/2006/relationships/slide" Target="slides/slide29.xml"/><Relationship Id="rId21" Type="http://schemas.openxmlformats.org/officeDocument/2006/relationships/slide" Target="slides/slide28.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32" Type="http://schemas.openxmlformats.org/officeDocument/2006/relationships/slide" Target="slides/slide27.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Ask one learner: "Have you finished your homework yet?" and wait for an answer (Yes, I've already… / No, not yet.).</a:t>
            </a:r>
          </a:p>
          <a:p>
            <a:r>
              <a:t>Remind learners: homework, about 15–20 minutes. Bring it next week.</a:t>
            </a:r>
          </a:p>
          <a:p>
            <a:r>
              <a:t>Lesson plan: At a glance: Objectives; Step 7.</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A asks one follow-up question (follow-ups on the right). Then switch. Pairs write the partner's name and one How long…? answer (for / since).</a:t>
            </a:r>
          </a:p>
          <a:p>
            <a:r>
              <a:t>Homework Check (3 min, last click): pairs compare Homework item 1 (for / since sentences) and read one answer from item 3 to each other. Then they fill in the box on the Opening Talk page. Walk around. Write 2 common errors on the board (often I live here since 2020 (→ I've lived here since 2020) and since three years (→ for three years)) and correct them together. Also put up 2 corrections from last week's exit tickets.</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Opening Talk + Homework Check · 8 min. Pairs (7 pairs + 1 trio with 15 learners; 3–4 pairs with 7–8).</a:t>
            </a:r>
          </a:p>
          <a:p>
            <a:r>
              <a:t>Before class, write on the board: How long have you…? and for / since</a:t>
            </a:r>
          </a:p>
          <a:p>
            <a:r>
              <a:t>Model with one learner: you ask, "How long have you lived in this city?" The learner answers with for or since. Then you ask, "Where did you live before? How long did you live there?" Help them say 3 sentences. (Click to show the follow-up.)</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I've already restocked the shelves. I've just cleaned the board. Goal 2: Have you clocked in yet? Yes, I've already clocked in. / No, not yet. Goal 3: already and just before the past participle; yet at the end.</a:t>
            </a:r>
          </a:p>
          <a:p>
            <a:r>
              <a:t>Goal 4: the Check-in in Talk Time. Goal 5: the reply email in Read &amp; Write (Writing Check 1).</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"Have you finished yet?" Say: "Tonight we talk about work: what is done, what is not done yet, and a short check-in with a supervisor."</a:t>
            </a:r>
          </a:p>
          <a:p>
            <a:r>
              <a:t>Read the three lines under "Today you will". Give one quick example of each: "I've already clocked in." • "Have you cleaned the break room yet? No, not yet." • "What have you done this week?"</a:t>
            </a:r>
          </a:p>
          <a:p>
            <a:r>
              <a:t>Keep work talk positive and invented. Learners never discuss real problems with real bosses or coworkers. Any job works in the role plays; invented answers are fine.</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to-do list (things to do) vs. checklist (a list with boxes to tick ✓); deadline (the last day); restock (put more on the shelves).</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Show the hard words: inventory (count what you have); clock in / clock out (start and end work; mime a time clock); feedback (what a supervisor says about your work); check-in (a short meeting).</a:t>
            </a:r>
          </a:p>
          <a:p>
            <a:r>
              <a:t>Partner game (2 min): A points to a picture and asks, "Have you clocked in yet?" B answers, "Yes, I've already clocked in." or "No, not yet."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Learners do it at home.</a:t>
            </a:r>
          </a:p>
          <a:p>
            <a:r>
              <a:t>If behind: teach the ★ words only.</a:t>
            </a:r>
          </a:p>
          <a:p>
            <a:r>
              <a:t>Lesson plan: Step 2; New Words page; Partner game; My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"Is a deadline the first day or the last day?" (the last day) • 2. "Do you clock in at the start or the end of your shift?" (the start) • 3. "Is Great job! feedback?" (yes, positive feedback)</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"It's the end of the evening shift at a grocery store. Ms. Rivera, the supervisor, talks to two workers, Jamal and Kim. Listen: is all the work finished?"</a:t>
            </a:r>
          </a:p>
          <a:p>
            <a:r>
              <a:t>There are three people: Ms. Rivera (the supervisor), Jamal, and Kim. A narrator starts and ends the listening. Each click highlights the next person.</a:t>
            </a:r>
          </a:p>
          <a:p>
            <a:r>
              <a:t>The audio (L4_L3_listening.mp3, about 1:59) plays the conversation once. Press play again for play 2. A third play is fine if the class needs it.</a:t>
            </a:r>
          </a:p>
          <a:p>
            <a:r>
              <a:t>No speaker? Read the script with a volunteer at a natural, friendly speed, two times. The script says going to and want to. People often say gonna and wanna; learners only need to recognize those words.</a:t>
            </a:r>
          </a:p>
          <a:p>
            <a:r>
              <a:t>Audio: synthetic voices, computer-generated (Chatterbox TTS cloned from Kokoro-82M reference clips). No recordings of real people.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b (No, two things aren't done yet.).</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done, 2 done, 3 not yet, 4 done, 5 not yet, 6 not yet.</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already, 2 yet, 3 just, 4 yet, 5 just, 6 already.</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lines. gonna = going to: "I'm going to clean it before I clock out." wanna = want to: "I want to finish it this week." You can say going to and want to.</a:t>
            </a:r>
          </a:p>
          <a:p>
            <a:r>
              <a:t>Then practice hearing 's = has: It's just arrived (= it has just arrived), the weak have in Have you… yet?, and the stress: I've JUST finished it. • I've alREADY restocked them. The class repeats the two lines twice.</a:t>
            </a:r>
          </a:p>
          <a:p>
            <a:r>
              <a:t>'s = has: It's just arrived. She's already left. Ask: "is or has?" If a past participle comes next, it is has.</a:t>
            </a:r>
          </a:p>
          <a:p>
            <a:r>
              <a:t>Everyday English: people often say gonna (going to) and wanna (want to). Learners will hear them often. They are fine in casual talk; in writing, at a job interview, or in a formal email, use going to and want to. The listening uses the full forms.</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draw a checklist on the board with 5 tasks. Tick two and say, "I've already restocked the shelves. I've already clocked in." Tick one now, in front of the class: "I've just cleaned the board." Point to an empty box: "I haven't checked the inventory yet."</a:t>
            </a:r>
          </a:p>
          <a:p>
            <a:r>
              <a:t>Box 1: read across: Have you cleaned the break room yet? → Yes, I've already cleaned it. / No, not yet. Each click shows the answer side of one row.</a:t>
            </a:r>
          </a:p>
          <a:p>
            <a:r>
              <a:t>Lesson plan: Step 4; Grammar Box 1; Teacher notes: The board checklist.</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add a time → simple past: I finished them at 3:00. Each click shows the answer side of one row.</a:t>
            </a:r>
          </a:p>
          <a:p>
            <a:r>
              <a:t>Rule of thumb (read it aloud): already = done (maybe sooner than expected). yet = in questions and not sentences, at the end. just = a very short time ago. Add a time (at 3:00, yesterday) → simple past.</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word place: already and just before the past participle; yet at the end. Each click shows the example of one row.</a:t>
            </a:r>
          </a:p>
          <a:p>
            <a:r>
              <a:t>Word place: teach already before the past participle. In speaking, I've cleaned it already is also common; accept it. yet always goes at the end.</a:t>
            </a:r>
          </a:p>
          <a:p>
            <a:r>
              <a:t>Lesson plan: Step 4; Grammar Box 3; Teacher notes: Word place.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which one? Each click shows one row.</a:t>
            </a:r>
          </a:p>
          <a:p>
            <a:r>
              <a:t>Questions and answers (2 min): Q: Can I say I've finished it yesterday? A: No. With a finished time, use the simple past: I finished it yesterday. • Q: Where does yet go? A: At the end: Have you clocked out yet? I haven't clocked out yet. • Q: What does It's just arrived mean? A: It's = it has. just = a very short time ago. The truck arrived a minute ago.</a:t>
            </a:r>
          </a:p>
          <a:p>
            <a:r>
              <a:t>Check questions: "I've finished it yesterday. Right or wrong?" (wrong: I finished it yesterday.) • "Where does yet go?" (at the end) • "It's just arrived. It's = it is or it has?" (it has).</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yet, 2 just, 3 yet, 4 yet, 5 already, 6 just.</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haven't, 2 finished, 3 them, 4 Has, 5 has just, 6 did you clock in.</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A reads a task from the board checklist and asks Have you… yet? B answers Yes, I've already… / I've just… / No, not yet. Switch. 15 learners: swap partners once. 5 or fewer: you join one pair.</a:t>
            </a:r>
          </a:p>
          <a:p>
            <a:r>
              <a:t>If behind: skip the pair check. Talk Time practices it.</a:t>
            </a:r>
          </a:p>
          <a:p>
            <a:r>
              <a:t>Break · 6:45–7:00 · 15 min.</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Shift Handoff + Check-in · 15 min.</a:t>
            </a:r>
          </a:p>
          <a:p>
            <a:r>
              <a:t>Model it first (1 min): hold up Card A and ask a learner to ask you, "Have you restocked aisle 3 yet?" Answer, "Yes, I've already restocked it." Then point to a task with no tick: "No, not yet. I'm going to do it before I clock out." Say: "Answer, then add one more sentence."</a:t>
            </a:r>
          </a:p>
          <a:p>
            <a:r>
              <a:t>Round 1 (7 min): Shift Handoff (pairs, information gap). A looks at Card A; B covers it. B asks Have you… yet? about each task and ticks done or not yet in the notes. Then switch: A asks about Card B. Each click shows the next step.</a:t>
            </a:r>
          </a:p>
          <a:p>
            <a:r>
              <a:t>15 learners: pairs for round 1. 7–8 learners: pairs for round 1. 5 or fewer: pairs (or one group of 3) for round 1.</a:t>
            </a:r>
          </a:p>
          <a:p>
            <a:r>
              <a:t>Keep work talk positive and invented. Learners never discuss real problems with real bosses or coworkers. Any job works in the role plays; invented answers are fine.</a:t>
            </a:r>
          </a:p>
          <a:p>
            <a:r>
              <a:t>Lesson plan: Step 5; Talk Time: Shift Handoff;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Check-in (groups of 3). The supervisor reads the 3 question cards. The worker answers with already and yet (invented answers are fine). The observer ticks each already / yet / just they hear. Rotate roles so everyone is the worker once. Each click shows the next step.</a:t>
            </a:r>
          </a:p>
          <a:p>
            <a:r>
              <a:t>Question cards: 1. What have you done this week? 2. Have you finished the training yet? 3. What's one thing you'd like to learn? Useful (supervisor): Great job! • Thanks for your hard work. • When are you going to finish it? • Let me know if you need help.</a:t>
            </a:r>
          </a:p>
          <a:p>
            <a:r>
              <a:t>Example (worker): "This week I've already restocked the drinks aisle, and I've trained a new coworker. I haven't finished the safety training yet. I'm going to do it on Thursday because the deadline is Friday."</a:t>
            </a:r>
          </a:p>
          <a:p>
            <a:r>
              <a:t>15 learners: 5 groups of 3. 7–8 learners: 2 groups (the group of 4 has two workers). 5 or fewer: you play the supervisor first; then learners take turns.</a:t>
            </a:r>
          </a:p>
          <a:p>
            <a:r>
              <a:t>Every answer needs a reason; every partner asks a follow-up. Walk around and listen. Note 2 good sentences to praise and 1 common error for next week.</a:t>
            </a:r>
          </a:p>
          <a:p>
            <a:r>
              <a:t>If behind: round 1 only.</a:t>
            </a:r>
          </a:p>
          <a:p>
            <a:r>
              <a:t>Lesson plan: Step 5; Talk Time: Check-in.</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An email from a supervisor + a reply · 10 min. Pairs read, then individual writing.</a:t>
            </a:r>
          </a:p>
          <a:p>
            <a:r>
              <a:t>Read (4 min): learners read the email from Sandra on the Read &amp; Write page and answer the questions. Say: "Read fast first. Then find the answers." Pairs answer questions 1–5 together.</a:t>
            </a:r>
          </a:p>
          <a:p>
            <a:r>
              <a:t>Check (1 min): click to show each answer (one click per question, 1 to 5): 1 The evening team. • 2 By Thursday. • 3 Friday, May 16. • 4 On the computer in the break room. • 5 The new schedule.</a:t>
            </a:r>
          </a:p>
          <a:p>
            <a:r>
              <a:t>Write (5 min): learners write a reply email (5–8 sentences): what they've already done, what they haven't done yet, when they'll finish it, and one question. Show the example. Invented details are fine. This is Writing Check 1: collect it. Learners start in class and finish at home (Homework item 2).</a:t>
            </a:r>
          </a:p>
          <a:p>
            <a:r>
              <a:t>Writing Check 1: collect the reply emails. Write one strength and one fix on each (for example, the place of yet). Return them next week; learners keep them in a folder to see progress. No scores.</a:t>
            </a:r>
          </a:p>
          <a:p>
            <a:r>
              <a:t>If behind: questions 1–5 only; the writing becomes homework.</a:t>
            </a:r>
          </a:p>
          <a:p>
            <a:r>
              <a:t>Lesson plan: Step 6; Read &amp; Write page; Answer key; Teacher notes: Writing Check 1.</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What have you done this week, and what haven't you done yet? Example on the board: I've already paid my phone bill. I haven't done my laundry yet. I haven't done it because I worked late every night. With 5 or fewer, a learner can say it to you first and then write it.</a:t>
            </a:r>
          </a:p>
          <a:p>
            <a:r>
              <a:t>Collect the pages. After class, sort them into ✓ / almost / not yet. Start next week with 2 corrections on the board (no names).</a:t>
            </a:r>
          </a:p>
          <a:p>
            <a:r>
              <a:t>Homework (2 min): open the Homework page. Do item 1 together (you / finish / the checklist / yet? → Have you finished the checklist yet?). Say: "About 15–20 minutes. Finish your Read &amp; Write writing at home."</a:t>
            </a:r>
          </a:p>
          <a:p>
            <a:r>
              <a:t>Homework items: 1 write the sentence with the words • 2 finish the reply email from Read &amp; Write C and check it with the list in D • 3 make a to-do list for this week: 3 things you've already done and 2 things you haven't done yet • 4 review (object pronouns): it or them.</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synthetic voices, computer-generated (Chatterbox TTS cloned from Kokoro-82M reference clips). No recordings of real people.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3.png"/><Relationship Id="rId9" Type="http://schemas.openxmlformats.org/officeDocument/2006/relationships/image" Target="../media/image4.png"/><Relationship Id="rId10" Type="http://schemas.openxmlformats.org/officeDocument/2006/relationships/image" Target="../media/image1.png"/><Relationship Id="rId11" Type="http://schemas.openxmlformats.org/officeDocument/2006/relationships/image" Target="../media/image5.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8.png"/><Relationship Id="rId9" Type="http://schemas.openxmlformats.org/officeDocument/2006/relationships/image" Target="../media/image2.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11.png"/><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0.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8.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1.png"/><Relationship Id="rId4" Type="http://schemas.openxmlformats.org/officeDocument/2006/relationships/notesSlide" Target="../notesSlides/notesSlide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27.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Checklist: a clipboard with a check mark">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3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Have You Finished Yet?</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what you've already done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Have you… yet?</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Answer a supervisor's check-in</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say what I've already done and what I've just done.</a:t>
            </a:r>
            <a:endParaRPr lang="en-US" sz="16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ask </a:t>
            </a:r>
            <a:r>
              <a:rPr lang="en-US" sz="1600" dirty="0" b="1">
                <a:solidFill>
                  <a:srgbClr val="5B3FC4"/>
                </a:solidFill>
                <a:latin typeface="Lexend Deca" pitchFamily="34" charset="0"/>
                <a:ea typeface="Lexend Deca" pitchFamily="34" charset="-122"/>
                <a:cs typeface="Lexend Deca" pitchFamily="34" charset="-120"/>
              </a:rPr>
              <a:t>Have you… yet?</a:t>
            </a:r>
            <a:r>
              <a:rPr lang="en-US" sz="1600" dirty="0">
                <a:solidFill>
                  <a:srgbClr val="1B2236"/>
                </a:solidFill>
                <a:latin typeface="Lexend Deca" pitchFamily="34" charset="0"/>
                <a:ea typeface="Lexend Deca" pitchFamily="34" charset="-122"/>
                <a:cs typeface="Lexend Deca" pitchFamily="34" charset="-120"/>
              </a:rPr>
              <a:t> and answer </a:t>
            </a:r>
            <a:r>
              <a:rPr lang="en-US" sz="1600" dirty="0" b="1">
                <a:solidFill>
                  <a:srgbClr val="5B3FC4"/>
                </a:solidFill>
                <a:latin typeface="Lexend Deca" pitchFamily="34" charset="0"/>
                <a:ea typeface="Lexend Deca" pitchFamily="34" charset="-122"/>
                <a:cs typeface="Lexend Deca" pitchFamily="34" charset="-120"/>
              </a:rPr>
              <a:t>Yes, I've already… / No, not yet.</a:t>
            </a:r>
            <a:endParaRPr lang="en-US" sz="16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put </a:t>
            </a:r>
            <a:r>
              <a:rPr lang="en-US" sz="1600" dirty="0" b="1">
                <a:solidFill>
                  <a:srgbClr val="5B3FC4"/>
                </a:solidFill>
                <a:latin typeface="Lexend Deca" pitchFamily="34" charset="0"/>
                <a:ea typeface="Lexend Deca" pitchFamily="34" charset="-122"/>
                <a:cs typeface="Lexend Deca" pitchFamily="34" charset="-120"/>
              </a:rPr>
              <a:t>already</a:t>
            </a:r>
            <a:r>
              <a:rPr lang="en-US" sz="1600" dirty="0">
                <a:solidFill>
                  <a:srgbClr val="1B2236"/>
                </a:solidFill>
                <a:latin typeface="Lexend Deca" pitchFamily="34" charset="0"/>
                <a:ea typeface="Lexend Deca" pitchFamily="34" charset="-122"/>
                <a:cs typeface="Lexend Deca" pitchFamily="34" charset="-120"/>
              </a:rPr>
              <a:t>, </a:t>
            </a:r>
            <a:r>
              <a:rPr lang="en-US" sz="1600" dirty="0" b="1">
                <a:solidFill>
                  <a:srgbClr val="5B3FC4"/>
                </a:solidFill>
                <a:latin typeface="Lexend Deca" pitchFamily="34" charset="0"/>
                <a:ea typeface="Lexend Deca" pitchFamily="34" charset="-122"/>
                <a:cs typeface="Lexend Deca" pitchFamily="34" charset="-120"/>
              </a:rPr>
              <a:t>just</a:t>
            </a:r>
            <a:r>
              <a:rPr lang="en-US" sz="1600" dirty="0">
                <a:solidFill>
                  <a:srgbClr val="1B2236"/>
                </a:solidFill>
                <a:latin typeface="Lexend Deca" pitchFamily="34" charset="0"/>
                <a:ea typeface="Lexend Deca" pitchFamily="34" charset="-122"/>
                <a:cs typeface="Lexend Deca" pitchFamily="34" charset="-120"/>
              </a:rPr>
              <a:t>, and </a:t>
            </a:r>
            <a:r>
              <a:rPr lang="en-US" sz="1600" dirty="0" b="1">
                <a:solidFill>
                  <a:srgbClr val="5B3FC4"/>
                </a:solidFill>
                <a:latin typeface="Lexend Deca" pitchFamily="34" charset="0"/>
                <a:ea typeface="Lexend Deca" pitchFamily="34" charset="-122"/>
                <a:cs typeface="Lexend Deca" pitchFamily="34" charset="-120"/>
              </a:rPr>
              <a:t>yet</a:t>
            </a:r>
            <a:r>
              <a:rPr lang="en-US" sz="1600" dirty="0">
                <a:solidFill>
                  <a:srgbClr val="1B2236"/>
                </a:solidFill>
                <a:latin typeface="Lexend Deca" pitchFamily="34" charset="0"/>
                <a:ea typeface="Lexend Deca" pitchFamily="34" charset="-122"/>
                <a:cs typeface="Lexend Deca" pitchFamily="34" charset="-120"/>
              </a:rPr>
              <a:t> in the right place.</a:t>
            </a:r>
            <a:endParaRPr lang="en-US" sz="16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answer a supervisor's check-in questions in 3 sentences.</a:t>
            </a:r>
            <a:endParaRPr lang="en-US" sz="16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write a reply email (5–8 sentences) about what is done and not done yet.</a:t>
            </a:r>
            <a:endParaRPr lang="en-US" sz="16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Clock in: a clock and an arrow [sign: IN 9:00]"/>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How long have you lived in this city?</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Where did you live before?</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When did you…? Where did you… before? Why?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long have you lived in this city?</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long have you had your phone?</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long have you known your best friend?</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long have you studied English?</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2, items 1 and 3.</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To-do list: a note and a pencil [sign: TO DO]"/>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to-do list</a:t>
            </a:r>
            <a:endParaRPr lang="en-US" sz="2000" dirty="0" b="1"/>
          </a:p>
        </p:txBody>
      </p:sp>
      <p:pic>
        <p:nvPicPr>
          <p:cNvPr id="19" name="Word picture 2" descr="Task: a broom and a sponge [sign: TASK: CLEAN]"/>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task</a:t>
            </a:r>
            <a:endParaRPr lang="en-US" sz="2000" dirty="0" b="1"/>
          </a:p>
        </p:txBody>
      </p:sp>
      <p:pic>
        <p:nvPicPr>
          <p:cNvPr id="21" name="Word picture 3" descr="Checklist: a clipboard with a check mark"/>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checklist</a:t>
            </a:r>
            <a:endParaRPr lang="en-US" sz="2000" dirty="0" b="1"/>
          </a:p>
        </p:txBody>
      </p:sp>
      <p:pic>
        <p:nvPicPr>
          <p:cNvPr id="23" name="Word picture 4" descr="Supervisor: a woman at work [sign: SUPERVISOR]"/>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supervisor</a:t>
            </a:r>
            <a:endParaRPr lang="en-US" sz="2000" dirty="0" b="1"/>
          </a:p>
        </p:txBody>
      </p:sp>
      <p:pic>
        <p:nvPicPr>
          <p:cNvPr id="25" name="Word picture 5" descr="Deadline: a calendar and an alarm clock [sign: DUE: FRIDAY]"/>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deadline</a:t>
            </a:r>
            <a:endParaRPr lang="en-US" sz="2000" dirty="0" b="1"/>
          </a:p>
        </p:txBody>
      </p:sp>
      <p:pic>
        <p:nvPicPr>
          <p:cNvPr id="27" name="Word picture 6" descr="Restock: a shopping cart and cans [sign: RESTOCK]"/>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restock</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Done or not yet?</a:t>
            </a:r>
            <a:endParaRPr lang="en-US" sz="2200" dirty="0" b="1"/>
          </a:p>
        </p:txBody>
      </p:sp>
      <p:pic>
        <p:nvPicPr>
          <p:cNvPr id="17" name="Word picture 1" descr="Inventory: a box and numbers [sign: INVENTORY]"/>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inventory</a:t>
            </a:r>
            <a:endParaRPr lang="en-US" sz="2000" dirty="0" b="1"/>
          </a:p>
        </p:txBody>
      </p:sp>
      <p:pic>
        <p:nvPicPr>
          <p:cNvPr id="19" name="Word picture 2" descr="Clock in: a clock and an arrow [sign: IN 9:00]"/>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clock in</a:t>
            </a:r>
            <a:endParaRPr lang="en-US" sz="2000" dirty="0" b="1"/>
          </a:p>
        </p:txBody>
      </p:sp>
      <p:pic>
        <p:nvPicPr>
          <p:cNvPr id="21" name="Word picture 3" descr="Clock out: a clock and an arrow [sign: OUT 5:00]"/>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clock out</a:t>
            </a:r>
            <a:endParaRPr lang="en-US" sz="2000" dirty="0" b="1"/>
          </a:p>
        </p:txBody>
      </p:sp>
      <p:pic>
        <p:nvPicPr>
          <p:cNvPr id="23" name="Word picture 4" descr="Break room: coffee and a chair [sign: BREAK ROOM]"/>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break room</a:t>
            </a:r>
            <a:endParaRPr lang="en-US" sz="2000" dirty="0" b="1"/>
          </a:p>
        </p:txBody>
      </p:sp>
      <p:pic>
        <p:nvPicPr>
          <p:cNvPr id="25" name="Word picture 5" descr="Feedback: a thumbs-up and a speech bubble [sign: GOOD JOB!]"/>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feedback</a:t>
            </a:r>
            <a:endParaRPr lang="en-US" sz="2000" dirty="0" b="1"/>
          </a:p>
        </p:txBody>
      </p:sp>
      <p:pic>
        <p:nvPicPr>
          <p:cNvPr id="27" name="Word picture 6" descr="Check-in (a short meeting): a supervisor and a worker talking"/>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check-in (a short meeting)</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a deadline the first day or the last day?</a:t>
            </a:r>
            <a:endParaRPr lang="en-US" sz="1600" dirty="0" b="1"/>
          </a:p>
        </p:txBody>
      </p:sp>
      <p:pic>
        <p:nvPicPr>
          <p:cNvPr id="101" name="R1 pic" descr="Deadline: a calendar and an alarm clock [sign: DUE: FRIDAY]"/>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Do you clock in at the start or the end of your shift?</a:t>
            </a:r>
            <a:endParaRPr lang="en-US" sz="1600" dirty="0" b="1"/>
          </a:p>
        </p:txBody>
      </p:sp>
      <p:pic>
        <p:nvPicPr>
          <p:cNvPr id="102" name="R2 pic" descr="Clock in: a clock and an arrow [sign: IN 9:00]"/>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Great job! feedback?</a:t>
            </a:r>
            <a:endParaRPr lang="en-US" sz="1600" dirty="0" b="1"/>
          </a:p>
        </p:txBody>
      </p:sp>
      <p:pic>
        <p:nvPicPr>
          <p:cNvPr id="103" name="R3 pic" descr="Feedback: a thumbs-up and a speech bubble [sign: GOOD JOB!]"/>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the last day</a:t>
            </a:r>
            <a:endParaRPr lang="en-US" sz="22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the start</a:t>
            </a:r>
            <a:endParaRPr lang="en-US" sz="22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yes, positive feedback</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It's the end of the evening shift at a grocery store. Ms. Rivera, the night supervisor, checks the work with Jamal and Kim.</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To-do list: a note and a pencil [sign: TO DO]"/>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Ms. Rivera</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Jamal</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Kim</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Is all the work finished?</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1:59.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Is all the work finished?</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260604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work:</a:t>
            </a:r>
            <a:endParaRPr lang="en-US" sz="2000" dirty="0"/>
          </a:p>
        </p:txBody>
      </p:sp>
      <p:sp>
        <p:nvSpPr>
          <p:cNvPr id="9" name="R1 opt1"/>
          <p:cNvSpPr/>
          <p:nvPr/>
        </p:nvSpPr>
        <p:spPr>
          <a:xfrm>
            <a:off x="3291840" y="3108960"/>
            <a:ext cx="246888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Yes, everything is done.</a:t>
            </a:r>
            <a:endParaRPr lang="en-US" sz="1500" dirty="0" b="1"/>
          </a:p>
        </p:txBody>
      </p:sp>
      <p:sp>
        <p:nvSpPr>
          <p:cNvPr id="10" name="R1 opt2"/>
          <p:cNvSpPr/>
          <p:nvPr/>
        </p:nvSpPr>
        <p:spPr>
          <a:xfrm>
            <a:off x="5897880" y="3108960"/>
            <a:ext cx="246888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 No, two things aren't done yet.</a:t>
            </a:r>
            <a:endParaRPr lang="en-US" sz="1500" dirty="0" b="1"/>
          </a:p>
        </p:txBody>
      </p:sp>
      <p:sp>
        <p:nvSpPr>
          <p:cNvPr id="11" name="R1 opt3"/>
          <p:cNvSpPr/>
          <p:nvPr/>
        </p:nvSpPr>
        <p:spPr>
          <a:xfrm>
            <a:off x="8503920" y="3108960"/>
            <a:ext cx="246888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 No, nothing is done yet.</a:t>
            </a:r>
            <a:endParaRPr lang="en-US" sz="1500" dirty="0" b="1"/>
          </a:p>
        </p:txBody>
      </p:sp>
      <p:sp>
        <p:nvSpPr>
          <p:cNvPr id="12" name="R1 circle"/>
          <p:cNvSpPr/>
          <p:nvPr/>
        </p:nvSpPr>
        <p:spPr>
          <a:xfrm>
            <a:off x="5769864" y="3054096"/>
            <a:ext cx="272491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 Look at the checklist.</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done or not yet.</a:t>
            </a:r>
            <a:endParaRPr lang="en-US" sz="2000" dirty="0"/>
          </a:p>
        </p:txBody>
      </p:sp>
      <p:sp>
        <p:nvSpPr>
          <p:cNvPr id="8" name="R1 stmt"/>
          <p:cNvSpPr/>
          <p:nvPr/>
        </p:nvSpPr>
        <p:spPr>
          <a:xfrm>
            <a:off x="502920" y="310896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1. restock the shelves</a:t>
            </a:r>
            <a:endParaRPr lang="en-US" sz="1800" dirty="0"/>
          </a:p>
        </p:txBody>
      </p:sp>
      <p:sp>
        <p:nvSpPr>
          <p:cNvPr id="9" name="R1 opt1"/>
          <p:cNvSpPr/>
          <p:nvPr/>
        </p:nvSpPr>
        <p:spPr>
          <a:xfrm>
            <a:off x="7863840" y="31089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done</a:t>
            </a:r>
            <a:endParaRPr lang="en-US" sz="2000" dirty="0" b="1"/>
          </a:p>
        </p:txBody>
      </p:sp>
      <p:sp>
        <p:nvSpPr>
          <p:cNvPr id="10" name="R1 opt2"/>
          <p:cNvSpPr/>
          <p:nvPr/>
        </p:nvSpPr>
        <p:spPr>
          <a:xfrm>
            <a:off x="9601200" y="31089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not yet</a:t>
            </a:r>
            <a:endParaRPr lang="en-US" sz="2000" dirty="0" b="1"/>
          </a:p>
        </p:txBody>
      </p:sp>
      <p:sp>
        <p:nvSpPr>
          <p:cNvPr id="11" name="R1 circle"/>
          <p:cNvSpPr/>
          <p:nvPr/>
        </p:nvSpPr>
        <p:spPr>
          <a:xfrm>
            <a:off x="7735824" y="305409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2. put away the milk and the eggs</a:t>
            </a:r>
            <a:endParaRPr lang="en-US" sz="1800" dirty="0"/>
          </a:p>
        </p:txBody>
      </p:sp>
      <p:sp>
        <p:nvSpPr>
          <p:cNvPr id="13" name="R2 opt1"/>
          <p:cNvSpPr/>
          <p:nvPr/>
        </p:nvSpPr>
        <p:spPr>
          <a:xfrm>
            <a:off x="7863840" y="365760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done</a:t>
            </a:r>
            <a:endParaRPr lang="en-US" sz="2000" dirty="0" b="1"/>
          </a:p>
        </p:txBody>
      </p:sp>
      <p:sp>
        <p:nvSpPr>
          <p:cNvPr id="14" name="R2 opt2"/>
          <p:cNvSpPr/>
          <p:nvPr/>
        </p:nvSpPr>
        <p:spPr>
          <a:xfrm>
            <a:off x="9601200" y="365760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not yet</a:t>
            </a:r>
            <a:endParaRPr lang="en-US" sz="2000" dirty="0" b="1"/>
          </a:p>
        </p:txBody>
      </p:sp>
      <p:sp>
        <p:nvSpPr>
          <p:cNvPr id="15" name="R2 circle"/>
          <p:cNvSpPr/>
          <p:nvPr/>
        </p:nvSpPr>
        <p:spPr>
          <a:xfrm>
            <a:off x="7735824" y="360273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3. clean the cooler</a:t>
            </a:r>
            <a:endParaRPr lang="en-US" sz="1800" dirty="0"/>
          </a:p>
        </p:txBody>
      </p:sp>
      <p:sp>
        <p:nvSpPr>
          <p:cNvPr id="17" name="R3 opt1"/>
          <p:cNvSpPr/>
          <p:nvPr/>
        </p:nvSpPr>
        <p:spPr>
          <a:xfrm>
            <a:off x="7863840" y="420624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done</a:t>
            </a:r>
            <a:endParaRPr lang="en-US" sz="2000" dirty="0" b="1"/>
          </a:p>
        </p:txBody>
      </p:sp>
      <p:sp>
        <p:nvSpPr>
          <p:cNvPr id="18" name="R3 opt2"/>
          <p:cNvSpPr/>
          <p:nvPr/>
        </p:nvSpPr>
        <p:spPr>
          <a:xfrm>
            <a:off x="9601200" y="420624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not yet</a:t>
            </a:r>
            <a:endParaRPr lang="en-US" sz="2000" dirty="0" b="1"/>
          </a:p>
        </p:txBody>
      </p:sp>
      <p:sp>
        <p:nvSpPr>
          <p:cNvPr id="19" name="R3 circle"/>
          <p:cNvSpPr/>
          <p:nvPr/>
        </p:nvSpPr>
        <p:spPr>
          <a:xfrm>
            <a:off x="9473184" y="415137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4. check the bakery inventory</a:t>
            </a:r>
            <a:endParaRPr lang="en-US" sz="1800" dirty="0"/>
          </a:p>
        </p:txBody>
      </p:sp>
      <p:sp>
        <p:nvSpPr>
          <p:cNvPr id="21" name="R4 opt1"/>
          <p:cNvSpPr/>
          <p:nvPr/>
        </p:nvSpPr>
        <p:spPr>
          <a:xfrm>
            <a:off x="7863840" y="475488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done</a:t>
            </a:r>
            <a:endParaRPr lang="en-US" sz="2000" dirty="0" b="1"/>
          </a:p>
        </p:txBody>
      </p:sp>
      <p:sp>
        <p:nvSpPr>
          <p:cNvPr id="22" name="R4 opt2"/>
          <p:cNvSpPr/>
          <p:nvPr/>
        </p:nvSpPr>
        <p:spPr>
          <a:xfrm>
            <a:off x="9601200" y="475488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not yet</a:t>
            </a:r>
            <a:endParaRPr lang="en-US" sz="2000" dirty="0" b="1"/>
          </a:p>
        </p:txBody>
      </p:sp>
      <p:sp>
        <p:nvSpPr>
          <p:cNvPr id="23" name="R4 circle"/>
          <p:cNvSpPr/>
          <p:nvPr/>
        </p:nvSpPr>
        <p:spPr>
          <a:xfrm>
            <a:off x="7735824" y="470001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5. clean the break room</a:t>
            </a:r>
            <a:endParaRPr lang="en-US" sz="1800" dirty="0"/>
          </a:p>
        </p:txBody>
      </p:sp>
      <p:sp>
        <p:nvSpPr>
          <p:cNvPr id="25" name="R5 opt1"/>
          <p:cNvSpPr/>
          <p:nvPr/>
        </p:nvSpPr>
        <p:spPr>
          <a:xfrm>
            <a:off x="7863840" y="530352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done</a:t>
            </a:r>
            <a:endParaRPr lang="en-US" sz="2000" dirty="0" b="1"/>
          </a:p>
        </p:txBody>
      </p:sp>
      <p:sp>
        <p:nvSpPr>
          <p:cNvPr id="26" name="R5 opt2"/>
          <p:cNvSpPr/>
          <p:nvPr/>
        </p:nvSpPr>
        <p:spPr>
          <a:xfrm>
            <a:off x="9601200" y="530352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not yet</a:t>
            </a:r>
            <a:endParaRPr lang="en-US" sz="2000" dirty="0" b="1"/>
          </a:p>
        </p:txBody>
      </p:sp>
      <p:sp>
        <p:nvSpPr>
          <p:cNvPr id="27" name="R5 circle"/>
          <p:cNvSpPr/>
          <p:nvPr/>
        </p:nvSpPr>
        <p:spPr>
          <a:xfrm>
            <a:off x="9473184" y="524865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6. Kim's safety training</a:t>
            </a:r>
            <a:endParaRPr lang="en-US" sz="1800" dirty="0"/>
          </a:p>
        </p:txBody>
      </p:sp>
      <p:sp>
        <p:nvSpPr>
          <p:cNvPr id="29" name="R6 opt1"/>
          <p:cNvSpPr/>
          <p:nvPr/>
        </p:nvSpPr>
        <p:spPr>
          <a:xfrm>
            <a:off x="7863840" y="58521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done</a:t>
            </a:r>
            <a:endParaRPr lang="en-US" sz="2000" dirty="0" b="1"/>
          </a:p>
        </p:txBody>
      </p:sp>
      <p:sp>
        <p:nvSpPr>
          <p:cNvPr id="30" name="R6 opt2"/>
          <p:cNvSpPr/>
          <p:nvPr/>
        </p:nvSpPr>
        <p:spPr>
          <a:xfrm>
            <a:off x="9601200" y="58521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not yet</a:t>
            </a:r>
            <a:endParaRPr lang="en-US" sz="2000" dirty="0" b="1"/>
          </a:p>
        </p:txBody>
      </p:sp>
      <p:sp>
        <p:nvSpPr>
          <p:cNvPr id="31" name="R6 circle"/>
          <p:cNvSpPr/>
          <p:nvPr/>
        </p:nvSpPr>
        <p:spPr>
          <a:xfrm>
            <a:off x="9473184" y="579729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already, yet, or just.</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already, yet, just</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Yes, I've ____ restocked them.</a:t>
            </a:r>
            <a:endParaRPr lang="en-US" sz="18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already</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Has the truck arrived ____?</a:t>
            </a:r>
            <a:endParaRPr lang="en-US" sz="18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yet</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Yes, it's ____ arrived.</a:t>
            </a:r>
            <a:endParaRPr lang="en-US" sz="18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just</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haven't cleaned it ____.</a:t>
            </a:r>
            <a:endParaRPr lang="en-US" sz="18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yet</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____ finished it.</a:t>
            </a:r>
            <a:endParaRPr lang="en-US" sz="18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just</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We've ____ put away the milk and the eggs.</a:t>
            </a:r>
            <a:endParaRPr lang="en-US" sz="18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already</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gonna = going to, wanna = want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's = has, and the stress</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 = going to, </a:t>
            </a:r>
            <a:r>
              <a:rPr lang="en-US" sz="2000" dirty="0" b="1">
                <a:solidFill>
                  <a:srgbClr val="5B3FC4"/>
                </a:solidFill>
                <a:latin typeface="Lexend Deca" pitchFamily="34" charset="0"/>
                <a:ea typeface="Lexend Deca" pitchFamily="34" charset="-122"/>
                <a:cs typeface="Lexend Deca" pitchFamily="34" charset="-120"/>
              </a:rPr>
              <a:t>wanna</a:t>
            </a:r>
            <a:r>
              <a:rPr lang="en-US" sz="2000" dirty="0">
                <a:solidFill>
                  <a:srgbClr val="1B2236"/>
                </a:solidFill>
                <a:latin typeface="Lexend Deca" pitchFamily="34" charset="0"/>
                <a:ea typeface="Lexend Deca" pitchFamily="34" charset="-122"/>
                <a:cs typeface="Lexend Deca" pitchFamily="34" charset="-120"/>
              </a:rPr>
              <a:t> = want to: fine in everyday talk.</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Listen for </a:t>
            </a:r>
            <a:r>
              <a:rPr lang="en-US" sz="2000" dirty="0" b="1">
                <a:solidFill>
                  <a:srgbClr val="5B3FC4"/>
                </a:solidFill>
                <a:latin typeface="Lexend Deca" pitchFamily="34" charset="0"/>
                <a:ea typeface="Lexend Deca" pitchFamily="34" charset="-122"/>
                <a:cs typeface="Lexend Deca" pitchFamily="34" charset="-120"/>
              </a:rPr>
              <a:t>'s</a:t>
            </a:r>
            <a:r>
              <a:rPr lang="en-US" sz="2000" dirty="0" b="0">
                <a:solidFill>
                  <a:srgbClr val="1B2236"/>
                </a:solidFill>
                <a:latin typeface="Lexend Deca" pitchFamily="34" charset="0"/>
                <a:ea typeface="Lexend Deca" pitchFamily="34" charset="-122"/>
                <a:cs typeface="Lexend Deca" pitchFamily="34" charset="-120"/>
              </a:rPr>
              <a:t> = </a:t>
            </a:r>
            <a:r>
              <a:rPr lang="en-US" sz="2000" dirty="0" b="1">
                <a:solidFill>
                  <a:srgbClr val="5B3FC4"/>
                </a:solidFill>
                <a:latin typeface="Lexend Deca" pitchFamily="34" charset="0"/>
                <a:ea typeface="Lexend Deca" pitchFamily="34" charset="-122"/>
                <a:cs typeface="Lexend Deca" pitchFamily="34" charset="-120"/>
              </a:rPr>
              <a:t>has</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the stress: </a:t>
            </a:r>
            <a:r>
              <a:rPr lang="en-US" sz="2000" dirty="0" b="1">
                <a:solidFill>
                  <a:srgbClr val="5B3FC4"/>
                </a:solidFill>
                <a:latin typeface="Lexend Deca" pitchFamily="34" charset="0"/>
                <a:ea typeface="Lexend Deca" pitchFamily="34" charset="-122"/>
                <a:cs typeface="Lexend Deca" pitchFamily="34" charset="-120"/>
              </a:rPr>
              <a:t>JUST</a:t>
            </a:r>
            <a:r>
              <a:rPr lang="en-US" sz="2000" dirty="0" b="0">
                <a:solidFill>
                  <a:srgbClr val="1B2236"/>
                </a:solidFill>
                <a:latin typeface="Lexend Deca" pitchFamily="34" charset="0"/>
                <a:ea typeface="Lexend Deca" pitchFamily="34" charset="-122"/>
                <a:cs typeface="Lexend Deca" pitchFamily="34" charset="-120"/>
              </a:rPr>
              <a:t>, </a:t>
            </a:r>
            <a:r>
              <a:rPr lang="en-US" sz="2000" dirty="0" b="1">
                <a:solidFill>
                  <a:srgbClr val="5B3FC4"/>
                </a:solidFill>
                <a:latin typeface="Lexend Deca" pitchFamily="34" charset="0"/>
                <a:ea typeface="Lexend Deca" pitchFamily="34" charset="-122"/>
                <a:cs typeface="Lexend Deca" pitchFamily="34" charset="-120"/>
              </a:rPr>
              <a:t>alREADY</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I'm </a:t>
            </a:r>
            <a:r>
              <a:rPr lang="en-US" sz="1800" dirty="0" b="1">
                <a:solidFill>
                  <a:srgbClr val="5B3FC4"/>
                </a:solidFill>
                <a:latin typeface="Lexend Deca" pitchFamily="34" charset="0"/>
                <a:ea typeface="Lexend Deca" pitchFamily="34" charset="-122"/>
                <a:cs typeface="Lexend Deca" pitchFamily="34" charset="-120"/>
              </a:rPr>
              <a:t>going to</a:t>
            </a:r>
            <a:r>
              <a:rPr lang="en-US" sz="1800" dirty="0" b="1">
                <a:solidFill>
                  <a:srgbClr val="1B2236"/>
                </a:solidFill>
                <a:latin typeface="Lexend Deca" pitchFamily="34" charset="0"/>
                <a:ea typeface="Lexend Deca" pitchFamily="34" charset="-122"/>
                <a:cs typeface="Lexend Deca" pitchFamily="34" charset="-120"/>
              </a:rPr>
              <a:t> clean it before I clock out.</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5B3FC4"/>
                </a:solidFill>
                <a:latin typeface="Lexend Deca" pitchFamily="34" charset="0"/>
                <a:ea typeface="Lexend Deca" pitchFamily="34" charset="-122"/>
                <a:cs typeface="Lexend Deca" pitchFamily="34" charset="-120"/>
              </a:rPr>
              <a:t>want to</a:t>
            </a:r>
            <a:r>
              <a:rPr lang="en-US" sz="1800" dirty="0" b="1">
                <a:solidFill>
                  <a:srgbClr val="1B2236"/>
                </a:solidFill>
                <a:latin typeface="Lexend Deca" pitchFamily="34" charset="0"/>
                <a:ea typeface="Lexend Deca" pitchFamily="34" charset="-122"/>
                <a:cs typeface="Lexend Deca" pitchFamily="34" charset="-120"/>
              </a:rPr>
              <a:t> finish it this week.</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It's</a:t>
            </a:r>
            <a:r>
              <a:rPr lang="en-US" sz="1800" dirty="0" b="1">
                <a:solidFill>
                  <a:srgbClr val="1B2236"/>
                </a:solidFill>
                <a:latin typeface="Lexend Deca" pitchFamily="34" charset="0"/>
                <a:ea typeface="Lexend Deca" pitchFamily="34" charset="-122"/>
                <a:cs typeface="Lexend Deca" pitchFamily="34" charset="-120"/>
              </a:rPr>
              <a:t> just arrived. (it has)</a:t>
            </a:r>
            <a:endParaRPr lang="en-US" sz="1800" dirty="0" b="1"/>
          </a:p>
        </p:txBody>
      </p:sp>
      <p:sp>
        <p:nvSpPr>
          <p:cNvPr id="37" name="S4 card"/>
          <p:cNvSpPr/>
          <p:nvPr/>
        </p:nvSpPr>
        <p:spPr>
          <a:xfrm>
            <a:off x="548640" y="4849978"/>
            <a:ext cx="6766560" cy="602590"/>
          </a:xfrm>
          <a:prstGeom prst="round1Rect">
            <a:avLst>
              <a:gd name="adj" fmla="val 23087"/>
            </a:avLst>
          </a:prstGeom>
          <a:solidFill>
            <a:srgbClr val="FFFFFF"/>
          </a:solidFill>
          <a:ln/>
        </p:spPr>
        <p:txBody>
          <a:bodyPr/>
          <a:p/>
        </p:txBody>
      </p:sp>
      <p:sp>
        <p:nvSpPr>
          <p:cNvPr id="38" name="S4 text"/>
          <p:cNvSpPr/>
          <p:nvPr/>
        </p:nvSpPr>
        <p:spPr>
          <a:xfrm>
            <a:off x="777240" y="484997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I've </a:t>
            </a:r>
            <a:r>
              <a:rPr lang="en-US" sz="1800" dirty="0" b="1">
                <a:solidFill>
                  <a:srgbClr val="5B3FC4"/>
                </a:solidFill>
                <a:latin typeface="Lexend Deca" pitchFamily="34" charset="0"/>
                <a:ea typeface="Lexend Deca" pitchFamily="34" charset="-122"/>
                <a:cs typeface="Lexend Deca" pitchFamily="34" charset="-120"/>
              </a:rPr>
              <a:t>JUST</a:t>
            </a:r>
            <a:r>
              <a:rPr lang="en-US" sz="1800" dirty="0" b="1">
                <a:solidFill>
                  <a:srgbClr val="1B2236"/>
                </a:solidFill>
                <a:latin typeface="Lexend Deca" pitchFamily="34" charset="0"/>
                <a:ea typeface="Lexend Deca" pitchFamily="34" charset="-122"/>
                <a:cs typeface="Lexend Deca" pitchFamily="34" charset="-120"/>
              </a:rPr>
              <a:t> finished it.  •  I've al</a:t>
            </a:r>
            <a:r>
              <a:rPr lang="en-US" sz="1800" dirty="0" b="1">
                <a:solidFill>
                  <a:srgbClr val="5B3FC4"/>
                </a:solidFill>
                <a:latin typeface="Lexend Deca" pitchFamily="34" charset="0"/>
                <a:ea typeface="Lexend Deca" pitchFamily="34" charset="-122"/>
                <a:cs typeface="Lexend Deca" pitchFamily="34" charset="-120"/>
              </a:rPr>
              <a:t>READY</a:t>
            </a:r>
            <a:r>
              <a:rPr lang="en-US" sz="1800" dirty="0" b="1">
                <a:solidFill>
                  <a:srgbClr val="1B2236"/>
                </a:solidFill>
                <a:latin typeface="Lexend Deca" pitchFamily="34" charset="0"/>
                <a:ea typeface="Lexend Deca" pitchFamily="34" charset="-122"/>
                <a:cs typeface="Lexend Deca" pitchFamily="34" charset="-120"/>
              </a:rPr>
              <a:t> restocked them.</a:t>
            </a:r>
            <a:endParaRPr lang="en-US" sz="18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Restock: a shopping cart and cans [sign: RESTOCK]"/>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100" dirty="0" b="1">
                <a:solidFill>
                  <a:srgbClr val="1B2236"/>
                </a:solidFill>
                <a:latin typeface="Lexend Deca" pitchFamily="34" charset="0"/>
                <a:ea typeface="Lexend Deca" pitchFamily="34" charset="-122"/>
                <a:cs typeface="Lexend Deca" pitchFamily="34" charset="-120"/>
              </a:rPr>
              <a:t>already / yet / just</a:t>
            </a:r>
            <a:endParaRPr lang="en-US" sz="21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you cleaned the break room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Yes, I </a:t>
            </a:r>
            <a:r>
              <a:rPr lang="en-US" sz="1600" dirty="0" b="1">
                <a:solidFill>
                  <a:srgbClr val="1B2236"/>
                </a:solidFill>
                <a:latin typeface="Lexend Deca" pitchFamily="34" charset="0"/>
                <a:ea typeface="Lexend Deca" pitchFamily="34" charset="-122"/>
                <a:cs typeface="Lexend Deca" pitchFamily="34" charset="-120"/>
              </a:rPr>
              <a:t>have</a:t>
            </a:r>
            <a:r>
              <a:rPr lang="en-US" sz="1600" dirty="0" b="1">
                <a:solidFill>
                  <a:srgbClr val="1B2236"/>
                </a:solidFill>
                <a:latin typeface="Lexend Deca" pitchFamily="34" charset="0"/>
                <a:ea typeface="Lexend Deca" pitchFamily="34" charset="-122"/>
                <a:cs typeface="Lexend Deca" pitchFamily="34" charset="-120"/>
              </a:rPr>
              <a:t>. I</a:t>
            </a:r>
            <a:r>
              <a:rPr lang="en-US" sz="1600" dirty="0" b="1">
                <a:solidFill>
                  <a:srgbClr val="1B2236"/>
                </a:solidFill>
                <a:latin typeface="Lexend Deca" pitchFamily="34" charset="0"/>
                <a:ea typeface="Lexend Deca" pitchFamily="34" charset="-122"/>
                <a:cs typeface="Lexend Deca" pitchFamily="34" charset="-120"/>
              </a:rPr>
              <a:t>'ve already</a:t>
            </a:r>
            <a:r>
              <a:rPr lang="en-US" sz="1600" dirty="0" b="1">
                <a:solidFill>
                  <a:srgbClr val="1B2236"/>
                </a:solidFill>
                <a:latin typeface="Lexend Deca" pitchFamily="34" charset="0"/>
                <a:ea typeface="Lexend Deca" pitchFamily="34" charset="-122"/>
                <a:cs typeface="Lexend Deca" pitchFamily="34" charset="-120"/>
              </a:rPr>
              <a:t> cleaned it.</a:t>
            </a:r>
            <a:endParaRPr lang="en-US" sz="1600" dirty="0" b="1"/>
          </a:p>
          <a:p>
            <a:pPr algn="l" indent="0" marL="0">
              <a:buNone/>
            </a:pPr>
            <a:r>
              <a:rPr lang="en-US" sz="1600" dirty="0" b="1">
                <a:solidFill>
                  <a:srgbClr val="1B2236"/>
                </a:solidFill>
                <a:latin typeface="Lexend Deca" pitchFamily="34" charset="0"/>
                <a:ea typeface="Lexend Deca" pitchFamily="34" charset="-122"/>
                <a:cs typeface="Lexend Deca" pitchFamily="34" charset="-120"/>
              </a:rPr>
              <a:t>No, </a:t>
            </a:r>
            <a:r>
              <a:rPr lang="en-US" sz="1600" dirty="0" b="1">
                <a:solidFill>
                  <a:srgbClr val="1B2236"/>
                </a:solidFill>
                <a:latin typeface="Lexend Deca" pitchFamily="34" charset="0"/>
                <a:ea typeface="Lexend Deca" pitchFamily="34" charset="-122"/>
                <a:cs typeface="Lexend Deca" pitchFamily="34" charset="-120"/>
              </a:rPr>
              <a:t>not yet</a:t>
            </a:r>
            <a:r>
              <a:rPr lang="en-US" sz="1600" dirty="0" b="1">
                <a:solidFill>
                  <a:srgbClr val="1B2236"/>
                </a:solidFill>
                <a:latin typeface="Lexend Deca" pitchFamily="34" charset="0"/>
                <a:ea typeface="Lexend Deca" pitchFamily="34" charset="-122"/>
                <a:cs typeface="Lexend Deca" pitchFamily="34" charset="-120"/>
              </a:rPr>
              <a:t>. I </a:t>
            </a:r>
            <a:r>
              <a:rPr lang="en-US" sz="1600" dirty="0" b="1">
                <a:solidFill>
                  <a:srgbClr val="1B2236"/>
                </a:solidFill>
                <a:latin typeface="Lexend Deca" pitchFamily="34" charset="0"/>
                <a:ea typeface="Lexend Deca" pitchFamily="34" charset="-122"/>
                <a:cs typeface="Lexend Deca" pitchFamily="34" charset="-120"/>
              </a:rPr>
              <a:t>haven't</a:t>
            </a:r>
            <a:r>
              <a:rPr lang="en-US" sz="1600" dirty="0" b="1">
                <a:solidFill>
                  <a:srgbClr val="1B2236"/>
                </a:solidFill>
                <a:latin typeface="Lexend Deca" pitchFamily="34" charset="0"/>
                <a:ea typeface="Lexend Deca" pitchFamily="34" charset="-122"/>
                <a:cs typeface="Lexend Deca" pitchFamily="34" charset="-120"/>
              </a:rPr>
              <a:t> cleaned it </a:t>
            </a:r>
            <a:r>
              <a:rPr lang="en-US" sz="1600" dirty="0" b="1">
                <a:solidFill>
                  <a:srgbClr val="1B2236"/>
                </a:solidFill>
                <a:latin typeface="Lexend Deca" pitchFamily="34" charset="0"/>
                <a:ea typeface="Lexend Deca" pitchFamily="34" charset="-122"/>
                <a:cs typeface="Lexend Deca" pitchFamily="34" charset="-120"/>
              </a:rPr>
              <a:t>yet</a:t>
            </a:r>
            <a:r>
              <a:rPr lang="en-US" sz="1600" dirty="0" b="1">
                <a:solidFill>
                  <a:srgbClr val="1B2236"/>
                </a:solidFill>
                <a:latin typeface="Lexend Deca" pitchFamily="34" charset="0"/>
                <a:ea typeface="Lexend Deca" pitchFamily="34" charset="-122"/>
                <a:cs typeface="Lexend Deca" pitchFamily="34" charset="-120"/>
              </a:rPr>
              <a:t>.</a:t>
            </a:r>
            <a:endParaRPr lang="en-US" sz="16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Has</a:t>
            </a:r>
            <a:r>
              <a:rPr lang="en-US" sz="1700" dirty="0" b="1">
                <a:solidFill>
                  <a:srgbClr val="1B2236"/>
                </a:solidFill>
                <a:latin typeface="Lexend Deca" pitchFamily="34" charset="0"/>
                <a:ea typeface="Lexend Deca" pitchFamily="34" charset="-122"/>
                <a:cs typeface="Lexend Deca" pitchFamily="34" charset="-120"/>
              </a:rPr>
              <a:t> the truck arrived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Yes, it </a:t>
            </a:r>
            <a:r>
              <a:rPr lang="en-US" sz="1600" dirty="0" b="1">
                <a:solidFill>
                  <a:srgbClr val="1B2236"/>
                </a:solidFill>
                <a:latin typeface="Lexend Deca" pitchFamily="34" charset="0"/>
                <a:ea typeface="Lexend Deca" pitchFamily="34" charset="-122"/>
                <a:cs typeface="Lexend Deca" pitchFamily="34" charset="-120"/>
              </a:rPr>
              <a:t>has</a:t>
            </a:r>
            <a:r>
              <a:rPr lang="en-US" sz="1600" dirty="0" b="1">
                <a:solidFill>
                  <a:srgbClr val="1B2236"/>
                </a:solidFill>
                <a:latin typeface="Lexend Deca" pitchFamily="34" charset="0"/>
                <a:ea typeface="Lexend Deca" pitchFamily="34" charset="-122"/>
                <a:cs typeface="Lexend Deca" pitchFamily="34" charset="-120"/>
              </a:rPr>
              <a:t>. It</a:t>
            </a:r>
            <a:r>
              <a:rPr lang="en-US" sz="1600" dirty="0" b="1">
                <a:solidFill>
                  <a:srgbClr val="1B2236"/>
                </a:solidFill>
                <a:latin typeface="Lexend Deca" pitchFamily="34" charset="0"/>
                <a:ea typeface="Lexend Deca" pitchFamily="34" charset="-122"/>
                <a:cs typeface="Lexend Deca" pitchFamily="34" charset="-120"/>
              </a:rPr>
              <a:t>'s just</a:t>
            </a:r>
            <a:r>
              <a:rPr lang="en-US" sz="1600" dirty="0" b="1">
                <a:solidFill>
                  <a:srgbClr val="1B2236"/>
                </a:solidFill>
                <a:latin typeface="Lexend Deca" pitchFamily="34" charset="0"/>
                <a:ea typeface="Lexend Deca" pitchFamily="34" charset="-122"/>
                <a:cs typeface="Lexend Deca" pitchFamily="34" charset="-120"/>
              </a:rPr>
              <a:t> arrived.</a:t>
            </a:r>
            <a:endParaRPr lang="en-US" sz="16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they restocked the shelves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Yes, they </a:t>
            </a:r>
            <a:r>
              <a:rPr lang="en-US" sz="1600" dirty="0" b="1">
                <a:solidFill>
                  <a:srgbClr val="1B2236"/>
                </a:solidFill>
                <a:latin typeface="Lexend Deca" pitchFamily="34" charset="0"/>
                <a:ea typeface="Lexend Deca" pitchFamily="34" charset="-122"/>
                <a:cs typeface="Lexend Deca" pitchFamily="34" charset="-120"/>
              </a:rPr>
              <a:t>have</a:t>
            </a:r>
            <a:r>
              <a:rPr lang="en-US" sz="1600" dirty="0" b="1">
                <a:solidFill>
                  <a:srgbClr val="1B2236"/>
                </a:solidFill>
                <a:latin typeface="Lexend Deca" pitchFamily="34" charset="0"/>
                <a:ea typeface="Lexend Deca" pitchFamily="34" charset="-122"/>
                <a:cs typeface="Lexend Deca" pitchFamily="34" charset="-120"/>
              </a:rPr>
              <a:t>. They</a:t>
            </a:r>
            <a:r>
              <a:rPr lang="en-US" sz="1600" dirty="0" b="1">
                <a:solidFill>
                  <a:srgbClr val="1B2236"/>
                </a:solidFill>
                <a:latin typeface="Lexend Deca" pitchFamily="34" charset="0"/>
                <a:ea typeface="Lexend Deca" pitchFamily="34" charset="-122"/>
                <a:cs typeface="Lexend Deca" pitchFamily="34" charset="-120"/>
              </a:rPr>
              <a:t>'ve already</a:t>
            </a:r>
            <a:r>
              <a:rPr lang="en-US" sz="1600" dirty="0" b="1">
                <a:solidFill>
                  <a:srgbClr val="1B2236"/>
                </a:solidFill>
                <a:latin typeface="Lexend Deca" pitchFamily="34" charset="0"/>
                <a:ea typeface="Lexend Deca" pitchFamily="34" charset="-122"/>
                <a:cs typeface="Lexend Deca" pitchFamily="34" charset="-120"/>
              </a:rPr>
              <a:t> restocked them.</a:t>
            </a:r>
            <a:endParaRPr lang="en-US" sz="1600" dirty="0" b="1"/>
          </a:p>
        </p:txBody>
      </p:sp>
      <p:sp>
        <p:nvSpPr>
          <p:cNvPr id="27" name="Question 4"/>
          <p:cNvSpPr/>
          <p:nvPr/>
        </p:nvSpPr>
        <p:spPr>
          <a:xfrm>
            <a:off x="5138928" y="544068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Has</a:t>
            </a:r>
            <a:r>
              <a:rPr lang="en-US" sz="1700" dirty="0" b="1">
                <a:solidFill>
                  <a:srgbClr val="1B2236"/>
                </a:solidFill>
                <a:latin typeface="Lexend Deca" pitchFamily="34" charset="0"/>
                <a:ea typeface="Lexend Deca" pitchFamily="34" charset="-122"/>
                <a:cs typeface="Lexend Deca" pitchFamily="34" charset="-120"/>
              </a:rPr>
              <a:t> she finished the training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8" name="Answer bg 4"/>
          <p:cNvSpPr/>
          <p:nvPr/>
        </p:nvSpPr>
        <p:spPr>
          <a:xfrm>
            <a:off x="7863840" y="544068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44068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No, she </a:t>
            </a:r>
            <a:r>
              <a:rPr lang="en-US" sz="1600" dirty="0" b="1">
                <a:solidFill>
                  <a:srgbClr val="1B2236"/>
                </a:solidFill>
                <a:latin typeface="Lexend Deca" pitchFamily="34" charset="0"/>
                <a:ea typeface="Lexend Deca" pitchFamily="34" charset="-122"/>
                <a:cs typeface="Lexend Deca" pitchFamily="34" charset="-120"/>
              </a:rPr>
              <a:t>hasn't</a:t>
            </a:r>
            <a:r>
              <a:rPr lang="en-US" sz="1600" dirty="0" b="1">
                <a:solidFill>
                  <a:srgbClr val="1B2236"/>
                </a:solidFill>
                <a:latin typeface="Lexend Deca" pitchFamily="34" charset="0"/>
                <a:ea typeface="Lexend Deca" pitchFamily="34" charset="-122"/>
                <a:cs typeface="Lexend Deca" pitchFamily="34" charset="-120"/>
              </a:rPr>
              <a:t>. She</a:t>
            </a:r>
            <a:r>
              <a:rPr lang="en-US" sz="1600" dirty="0" b="1">
                <a:solidFill>
                  <a:srgbClr val="1B2236"/>
                </a:solidFill>
                <a:latin typeface="Lexend Deca" pitchFamily="34" charset="0"/>
                <a:ea typeface="Lexend Deca" pitchFamily="34" charset="-122"/>
                <a:cs typeface="Lexend Deca" pitchFamily="34" charset="-120"/>
              </a:rPr>
              <a:t>'s going to</a:t>
            </a:r>
            <a:r>
              <a:rPr lang="en-US" sz="1600" dirty="0" b="1">
                <a:solidFill>
                  <a:srgbClr val="1B2236"/>
                </a:solidFill>
                <a:latin typeface="Lexend Deca" pitchFamily="34" charset="0"/>
                <a:ea typeface="Lexend Deca" pitchFamily="34" charset="-122"/>
                <a:cs typeface="Lexend Deca" pitchFamily="34" charset="-120"/>
              </a:rPr>
              <a:t> finish it on Friday.</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Task: a broom and a sponge [sign: TASK: CLEAN]"/>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done → when? (simple past)</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326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Have</a:t>
            </a:r>
            <a:r>
              <a:rPr lang="en-US" sz="1800" dirty="0" b="1">
                <a:solidFill>
                  <a:srgbClr val="1B2236"/>
                </a:solidFill>
                <a:latin typeface="Lexend Deca" pitchFamily="34" charset="0"/>
                <a:ea typeface="Lexend Deca" pitchFamily="34" charset="-122"/>
                <a:cs typeface="Lexend Deca" pitchFamily="34" charset="-120"/>
              </a:rPr>
              <a:t> you finished the orders?</a:t>
            </a:r>
            <a:endParaRPr lang="en-US" sz="1800" dirty="0" b="1"/>
          </a:p>
        </p:txBody>
      </p:sp>
      <p:sp>
        <p:nvSpPr>
          <p:cNvPr id="19" name="Answer bg 1"/>
          <p:cNvSpPr/>
          <p:nvPr/>
        </p:nvSpPr>
        <p:spPr>
          <a:xfrm>
            <a:off x="7863840" y="2286000"/>
            <a:ext cx="4069080" cy="9326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326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 </a:t>
            </a:r>
            <a:r>
              <a:rPr lang="en-US" sz="1800" dirty="0" b="1">
                <a:solidFill>
                  <a:srgbClr val="1B2236"/>
                </a:solidFill>
                <a:latin typeface="Lexend Deca" pitchFamily="34" charset="0"/>
                <a:ea typeface="Lexend Deca" pitchFamily="34" charset="-122"/>
                <a:cs typeface="Lexend Deca" pitchFamily="34" charset="-120"/>
              </a:rPr>
              <a:t>have</a:t>
            </a:r>
            <a:r>
              <a:rPr lang="en-US" sz="1800" dirty="0" b="1">
                <a:solidFill>
                  <a:srgbClr val="1B2236"/>
                </a:solidFill>
                <a:latin typeface="Lexend Deca" pitchFamily="34" charset="0"/>
                <a:ea typeface="Lexend Deca" pitchFamily="34" charset="-122"/>
                <a:cs typeface="Lexend Deca" pitchFamily="34" charset="-120"/>
              </a:rPr>
              <a:t>. I</a:t>
            </a:r>
            <a:r>
              <a:rPr lang="en-US" sz="1800" dirty="0" b="1">
                <a:solidFill>
                  <a:srgbClr val="1B2236"/>
                </a:solidFill>
                <a:latin typeface="Lexend Deca" pitchFamily="34" charset="0"/>
                <a:ea typeface="Lexend Deca" pitchFamily="34" charset="-122"/>
                <a:cs typeface="Lexend Deca" pitchFamily="34" charset="-120"/>
              </a:rPr>
              <a:t>'ve finished</a:t>
            </a:r>
            <a:r>
              <a:rPr lang="en-US" sz="1800" dirty="0" b="1">
                <a:solidFill>
                  <a:srgbClr val="1B2236"/>
                </a:solidFill>
                <a:latin typeface="Lexend Deca" pitchFamily="34" charset="0"/>
                <a:ea typeface="Lexend Deca" pitchFamily="34" charset="-122"/>
                <a:cs typeface="Lexend Deca" pitchFamily="34" charset="-120"/>
              </a:rPr>
              <a:t> them.</a:t>
            </a:r>
            <a:endParaRPr lang="en-US" sz="1800" dirty="0" b="1"/>
          </a:p>
        </p:txBody>
      </p:sp>
      <p:sp>
        <p:nvSpPr>
          <p:cNvPr id="21" name="Question 2"/>
          <p:cNvSpPr/>
          <p:nvPr/>
        </p:nvSpPr>
        <p:spPr>
          <a:xfrm>
            <a:off x="5138928" y="3291840"/>
            <a:ext cx="2651760" cy="9326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When did</a:t>
            </a:r>
            <a:r>
              <a:rPr lang="en-US" sz="1800" dirty="0" b="1">
                <a:solidFill>
                  <a:srgbClr val="1B2236"/>
                </a:solidFill>
                <a:latin typeface="Lexend Deca" pitchFamily="34" charset="0"/>
                <a:ea typeface="Lexend Deca" pitchFamily="34" charset="-122"/>
                <a:cs typeface="Lexend Deca" pitchFamily="34" charset="-120"/>
              </a:rPr>
              <a:t> you finish them?</a:t>
            </a:r>
            <a:endParaRPr lang="en-US" sz="1800" dirty="0" b="1"/>
          </a:p>
        </p:txBody>
      </p:sp>
      <p:sp>
        <p:nvSpPr>
          <p:cNvPr id="22" name="Answer bg 2"/>
          <p:cNvSpPr/>
          <p:nvPr/>
        </p:nvSpPr>
        <p:spPr>
          <a:xfrm>
            <a:off x="7863840" y="3291840"/>
            <a:ext cx="4069080" cy="9326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291840"/>
            <a:ext cx="4069080" cy="9326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1B2236"/>
                </a:solidFill>
                <a:latin typeface="Lexend Deca" pitchFamily="34" charset="0"/>
                <a:ea typeface="Lexend Deca" pitchFamily="34" charset="-122"/>
                <a:cs typeface="Lexend Deca" pitchFamily="34" charset="-120"/>
              </a:rPr>
              <a:t>finished</a:t>
            </a:r>
            <a:r>
              <a:rPr lang="en-US" sz="1800" dirty="0" b="1">
                <a:solidFill>
                  <a:srgbClr val="1B2236"/>
                </a:solidFill>
                <a:latin typeface="Lexend Deca" pitchFamily="34" charset="0"/>
                <a:ea typeface="Lexend Deca" pitchFamily="34" charset="-122"/>
                <a:cs typeface="Lexend Deca" pitchFamily="34" charset="-120"/>
              </a:rPr>
              <a:t> them at 3:00. / an hour ago.</a:t>
            </a:r>
            <a:endParaRPr lang="en-US" sz="1800" dirty="0" b="1"/>
          </a:p>
        </p:txBody>
      </p:sp>
      <p:sp>
        <p:nvSpPr>
          <p:cNvPr id="24" name="Question 3"/>
          <p:cNvSpPr/>
          <p:nvPr/>
        </p:nvSpPr>
        <p:spPr>
          <a:xfrm>
            <a:off x="5138928" y="4297680"/>
            <a:ext cx="2651760" cy="9326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What have</a:t>
            </a:r>
            <a:r>
              <a:rPr lang="en-US" sz="1800" dirty="0" b="1">
                <a:solidFill>
                  <a:srgbClr val="1B2236"/>
                </a:solidFill>
                <a:latin typeface="Lexend Deca" pitchFamily="34" charset="0"/>
                <a:ea typeface="Lexend Deca" pitchFamily="34" charset="-122"/>
                <a:cs typeface="Lexend Deca" pitchFamily="34" charset="-120"/>
              </a:rPr>
              <a:t> you done this week?</a:t>
            </a:r>
            <a:endParaRPr lang="en-US" sz="1800" dirty="0" b="1"/>
          </a:p>
        </p:txBody>
      </p:sp>
      <p:sp>
        <p:nvSpPr>
          <p:cNvPr id="25" name="Answer bg 3"/>
          <p:cNvSpPr/>
          <p:nvPr/>
        </p:nvSpPr>
        <p:spPr>
          <a:xfrm>
            <a:off x="7863840" y="4297680"/>
            <a:ext cx="4069080" cy="9326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297680"/>
            <a:ext cx="4069080" cy="9326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a:t>
            </a:r>
            <a:r>
              <a:rPr lang="en-US" sz="1800" dirty="0" b="1">
                <a:solidFill>
                  <a:srgbClr val="1B2236"/>
                </a:solidFill>
                <a:latin typeface="Lexend Deca" pitchFamily="34" charset="0"/>
                <a:ea typeface="Lexend Deca" pitchFamily="34" charset="-122"/>
                <a:cs typeface="Lexend Deca" pitchFamily="34" charset="-120"/>
              </a:rPr>
              <a:t>'ve checked</a:t>
            </a:r>
            <a:r>
              <a:rPr lang="en-US" sz="1800" dirty="0" b="1">
                <a:solidFill>
                  <a:srgbClr val="1B2236"/>
                </a:solidFill>
                <a:latin typeface="Lexend Deca" pitchFamily="34" charset="0"/>
                <a:ea typeface="Lexend Deca" pitchFamily="34" charset="-122"/>
                <a:cs typeface="Lexend Deca" pitchFamily="34" charset="-120"/>
              </a:rPr>
              <a:t> the inventory, and I</a:t>
            </a:r>
            <a:r>
              <a:rPr lang="en-US" sz="1800" dirty="0" b="1">
                <a:solidFill>
                  <a:srgbClr val="1B2236"/>
                </a:solidFill>
                <a:latin typeface="Lexend Deca" pitchFamily="34" charset="0"/>
                <a:ea typeface="Lexend Deca" pitchFamily="34" charset="-122"/>
                <a:cs typeface="Lexend Deca" pitchFamily="34" charset="-120"/>
              </a:rPr>
              <a:t>'ve cleaned</a:t>
            </a:r>
            <a:r>
              <a:rPr lang="en-US" sz="1800" dirty="0" b="1">
                <a:solidFill>
                  <a:srgbClr val="1B2236"/>
                </a:solidFill>
                <a:latin typeface="Lexend Deca" pitchFamily="34" charset="0"/>
                <a:ea typeface="Lexend Deca" pitchFamily="34" charset="-122"/>
                <a:cs typeface="Lexend Deca" pitchFamily="34" charset="-120"/>
              </a:rPr>
              <a:t> the cooler.</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Break room: coffee and a chair [sign: BREAK ROOM]"/>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100" dirty="0" b="1">
                <a:solidFill>
                  <a:srgbClr val="1B2236"/>
                </a:solidFill>
                <a:latin typeface="Lexend Deca" pitchFamily="34" charset="0"/>
                <a:ea typeface="Lexend Deca" pitchFamily="34" charset="-122"/>
                <a:cs typeface="Lexend Deca" pitchFamily="34" charset="-120"/>
              </a:rPr>
              <a:t>word place</a:t>
            </a:r>
            <a:endParaRPr lang="en-US" sz="2100" dirty="0" b="1"/>
          </a:p>
        </p:txBody>
      </p:sp>
      <p:sp>
        <p:nvSpPr>
          <p:cNvPr id="8" name="Q head"/>
          <p:cNvSpPr/>
          <p:nvPr/>
        </p:nvSpPr>
        <p:spPr>
          <a:xfrm>
            <a:off x="5166360" y="182880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WORD  ·  WHERE?</a:t>
            </a:r>
            <a:endParaRPr lang="en-US" sz="2000" dirty="0" b="1"/>
          </a:p>
        </p:txBody>
      </p:sp>
      <p:sp>
        <p:nvSpPr>
          <p:cNvPr id="11" name="A head"/>
          <p:cNvSpPr/>
          <p:nvPr/>
        </p:nvSpPr>
        <p:spPr>
          <a:xfrm>
            <a:off x="7955280" y="1828800"/>
            <a:ext cx="39776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EXAMPLE</a:t>
            </a:r>
            <a:endParaRPr lang="en-US" sz="2000" dirty="0" b="1"/>
          </a:p>
        </p:txBody>
      </p:sp>
      <p:sp>
        <p:nvSpPr>
          <p:cNvPr id="18" name="Question 1"/>
          <p:cNvSpPr/>
          <p:nvPr/>
        </p:nvSpPr>
        <p:spPr>
          <a:xfrm>
            <a:off x="5138928" y="2286000"/>
            <a:ext cx="274320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already</a:t>
            </a:r>
            <a:r>
              <a:rPr lang="en-US" sz="1700" dirty="0" b="1">
                <a:solidFill>
                  <a:srgbClr val="1B2236"/>
                </a:solidFill>
                <a:latin typeface="Lexend Deca" pitchFamily="34" charset="0"/>
                <a:ea typeface="Lexend Deca" pitchFamily="34" charset="-122"/>
                <a:cs typeface="Lexend Deca" pitchFamily="34" charset="-120"/>
              </a:rPr>
              <a:t>: before the past participle</a:t>
            </a:r>
            <a:endParaRPr lang="en-US" sz="1700" dirty="0" b="1"/>
          </a:p>
        </p:txBody>
      </p:sp>
      <p:sp>
        <p:nvSpPr>
          <p:cNvPr id="19" name="Answer bg 1"/>
          <p:cNvSpPr/>
          <p:nvPr/>
        </p:nvSpPr>
        <p:spPr>
          <a:xfrm>
            <a:off x="7955280" y="2286000"/>
            <a:ext cx="39776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955280" y="2286000"/>
            <a:ext cx="397764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I've </a:t>
            </a:r>
            <a:r>
              <a:rPr lang="en-US" sz="1700" dirty="0" b="1">
                <a:solidFill>
                  <a:srgbClr val="1B2236"/>
                </a:solidFill>
                <a:latin typeface="Lexend Deca" pitchFamily="34" charset="0"/>
                <a:ea typeface="Lexend Deca" pitchFamily="34" charset="-122"/>
                <a:cs typeface="Lexend Deca" pitchFamily="34" charset="-120"/>
              </a:rPr>
              <a:t>already</a:t>
            </a:r>
            <a:r>
              <a:rPr lang="en-US" sz="1700" dirty="0" b="1">
                <a:solidFill>
                  <a:srgbClr val="1B2236"/>
                </a:solidFill>
                <a:latin typeface="Lexend Deca" pitchFamily="34" charset="0"/>
                <a:ea typeface="Lexend Deca" pitchFamily="34" charset="-122"/>
                <a:cs typeface="Lexend Deca" pitchFamily="34" charset="-120"/>
              </a:rPr>
              <a:t> cleaned it.</a:t>
            </a:r>
            <a:endParaRPr lang="en-US" sz="1700" dirty="0" b="1"/>
          </a:p>
        </p:txBody>
      </p:sp>
      <p:sp>
        <p:nvSpPr>
          <p:cNvPr id="21" name="Question 2"/>
          <p:cNvSpPr/>
          <p:nvPr/>
        </p:nvSpPr>
        <p:spPr>
          <a:xfrm>
            <a:off x="5138928" y="3200400"/>
            <a:ext cx="274320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just</a:t>
            </a:r>
            <a:r>
              <a:rPr lang="en-US" sz="1700" dirty="0" b="1">
                <a:solidFill>
                  <a:srgbClr val="1B2236"/>
                </a:solidFill>
                <a:latin typeface="Lexend Deca" pitchFamily="34" charset="0"/>
                <a:ea typeface="Lexend Deca" pitchFamily="34" charset="-122"/>
                <a:cs typeface="Lexend Deca" pitchFamily="34" charset="-120"/>
              </a:rPr>
              <a:t>: before the past participle</a:t>
            </a:r>
            <a:endParaRPr lang="en-US" sz="1700" dirty="0" b="1"/>
          </a:p>
        </p:txBody>
      </p:sp>
      <p:sp>
        <p:nvSpPr>
          <p:cNvPr id="22" name="Answer bg 2"/>
          <p:cNvSpPr/>
          <p:nvPr/>
        </p:nvSpPr>
        <p:spPr>
          <a:xfrm>
            <a:off x="7955280" y="3200400"/>
            <a:ext cx="39776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955280" y="3200400"/>
            <a:ext cx="397764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truck has </a:t>
            </a:r>
            <a:r>
              <a:rPr lang="en-US" sz="1700" dirty="0" b="1">
                <a:solidFill>
                  <a:srgbClr val="1B2236"/>
                </a:solidFill>
                <a:latin typeface="Lexend Deca" pitchFamily="34" charset="0"/>
                <a:ea typeface="Lexend Deca" pitchFamily="34" charset="-122"/>
                <a:cs typeface="Lexend Deca" pitchFamily="34" charset="-120"/>
              </a:rPr>
              <a:t>just</a:t>
            </a:r>
            <a:r>
              <a:rPr lang="en-US" sz="1700" dirty="0" b="1">
                <a:solidFill>
                  <a:srgbClr val="1B2236"/>
                </a:solidFill>
                <a:latin typeface="Lexend Deca" pitchFamily="34" charset="0"/>
                <a:ea typeface="Lexend Deca" pitchFamily="34" charset="-122"/>
                <a:cs typeface="Lexend Deca" pitchFamily="34" charset="-120"/>
              </a:rPr>
              <a:t> arrived.</a:t>
            </a:r>
            <a:endParaRPr lang="en-US" sz="1700" dirty="0" b="1"/>
          </a:p>
        </p:txBody>
      </p:sp>
      <p:sp>
        <p:nvSpPr>
          <p:cNvPr id="24" name="Question 3"/>
          <p:cNvSpPr/>
          <p:nvPr/>
        </p:nvSpPr>
        <p:spPr>
          <a:xfrm>
            <a:off x="5138928" y="4114800"/>
            <a:ext cx="274320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 at the end (questions and not)</a:t>
            </a:r>
            <a:endParaRPr lang="en-US" sz="1700" dirty="0" b="1"/>
          </a:p>
        </p:txBody>
      </p:sp>
      <p:sp>
        <p:nvSpPr>
          <p:cNvPr id="25" name="Answer bg 3"/>
          <p:cNvSpPr/>
          <p:nvPr/>
        </p:nvSpPr>
        <p:spPr>
          <a:xfrm>
            <a:off x="7955280" y="4114800"/>
            <a:ext cx="39776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955280" y="4114800"/>
            <a:ext cx="397764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 you finished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 I haven't finished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7" name="Question 4"/>
          <p:cNvSpPr/>
          <p:nvPr/>
        </p:nvSpPr>
        <p:spPr>
          <a:xfrm>
            <a:off x="5138928" y="5029200"/>
            <a:ext cx="274320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 / them</a:t>
            </a:r>
            <a:r>
              <a:rPr lang="en-US" sz="1700" dirty="0" b="1">
                <a:solidFill>
                  <a:srgbClr val="1B2236"/>
                </a:solidFill>
                <a:latin typeface="Lexend Deca" pitchFamily="34" charset="0"/>
                <a:ea typeface="Lexend Deca" pitchFamily="34" charset="-122"/>
                <a:cs typeface="Lexend Deca" pitchFamily="34" charset="-120"/>
              </a:rPr>
              <a:t>: after the verb</a:t>
            </a:r>
            <a:endParaRPr lang="en-US" sz="1700" dirty="0" b="1"/>
          </a:p>
        </p:txBody>
      </p:sp>
      <p:sp>
        <p:nvSpPr>
          <p:cNvPr id="28" name="Answer bg 4"/>
          <p:cNvSpPr/>
          <p:nvPr/>
        </p:nvSpPr>
        <p:spPr>
          <a:xfrm>
            <a:off x="7955280" y="5029200"/>
            <a:ext cx="39776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955280" y="5029200"/>
            <a:ext cx="397764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cooler → I've cleaned </a:t>
            </a:r>
            <a:r>
              <a:rPr lang="en-US" sz="1700" dirty="0" b="1">
                <a:solidFill>
                  <a:srgbClr val="1B2236"/>
                </a:solidFill>
                <a:latin typeface="Lexend Deca" pitchFamily="34" charset="0"/>
                <a:ea typeface="Lexend Deca" pitchFamily="34" charset="-122"/>
                <a:cs typeface="Lexend Deca" pitchFamily="34" charset="-120"/>
              </a:rPr>
              <a:t>it</a:t>
            </a:r>
            <a:r>
              <a:rPr lang="en-US" sz="1700" dirty="0" b="1">
                <a:solidFill>
                  <a:srgbClr val="1B2236"/>
                </a:solidFill>
                <a:latin typeface="Lexend Deca" pitchFamily="34" charset="0"/>
                <a:ea typeface="Lexend Deca" pitchFamily="34" charset="-122"/>
                <a:cs typeface="Lexend Deca" pitchFamily="34" charset="-120"/>
              </a:rPr>
              <a:t>.</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the shelves → I've restocked </a:t>
            </a:r>
            <a:r>
              <a:rPr lang="en-US" sz="1700" dirty="0" b="1">
                <a:solidFill>
                  <a:srgbClr val="1B2236"/>
                </a:solidFill>
                <a:latin typeface="Lexend Deca" pitchFamily="34" charset="0"/>
                <a:ea typeface="Lexend Deca" pitchFamily="34" charset="-122"/>
                <a:cs typeface="Lexend Deca" pitchFamily="34" charset="-120"/>
              </a:rPr>
              <a:t>them</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Clock out: a clock and an arrow [sign: OUT 5:00]"/>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100" dirty="0" b="1">
                <a:solidFill>
                  <a:srgbClr val="1B2236"/>
                </a:solidFill>
                <a:latin typeface="Lexend Deca" pitchFamily="34" charset="0"/>
                <a:ea typeface="Lexend Deca" pitchFamily="34" charset="-122"/>
                <a:cs typeface="Lexend Deca" pitchFamily="34" charset="-120"/>
              </a:rPr>
              <a:t>Which one?</a:t>
            </a:r>
            <a:endParaRPr lang="en-US" sz="2100" dirty="0" b="1"/>
          </a:p>
        </p:txBody>
      </p:sp>
      <p:sp>
        <p:nvSpPr>
          <p:cNvPr id="8" name="Q head"/>
          <p:cNvSpPr/>
          <p:nvPr/>
        </p:nvSpPr>
        <p:spPr>
          <a:xfrm>
            <a:off x="5166360" y="1828800"/>
            <a:ext cx="23774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FORM</a:t>
            </a:r>
            <a:endParaRPr lang="en-US" sz="2000" dirty="0" b="1"/>
          </a:p>
        </p:txBody>
      </p:sp>
      <p:sp>
        <p:nvSpPr>
          <p:cNvPr id="11" name="A head"/>
          <p:cNvSpPr/>
          <p:nvPr/>
        </p:nvSpPr>
        <p:spPr>
          <a:xfrm>
            <a:off x="7589520" y="1828800"/>
            <a:ext cx="43434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WHEN?  ·  EXAMPLE</a:t>
            </a:r>
            <a:endParaRPr lang="en-US" sz="2000" dirty="0" b="1"/>
          </a:p>
        </p:txBody>
      </p:sp>
      <p:sp>
        <p:nvSpPr>
          <p:cNvPr id="18" name="Question 1"/>
          <p:cNvSpPr/>
          <p:nvPr/>
        </p:nvSpPr>
        <p:spPr>
          <a:xfrm>
            <a:off x="5138928" y="228600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have / has</a:t>
            </a:r>
            <a:r>
              <a:rPr lang="en-US" sz="1800" dirty="0" b="1">
                <a:solidFill>
                  <a:srgbClr val="1B2236"/>
                </a:solidFill>
                <a:latin typeface="Lexend Deca" pitchFamily="34" charset="0"/>
                <a:ea typeface="Lexend Deca" pitchFamily="34" charset="-122"/>
                <a:cs typeface="Lexend Deca" pitchFamily="34" charset="-120"/>
              </a:rPr>
              <a:t> + past participle</a:t>
            </a:r>
            <a:endParaRPr lang="en-US" sz="1800" dirty="0" b="1"/>
          </a:p>
        </p:txBody>
      </p:sp>
      <p:sp>
        <p:nvSpPr>
          <p:cNvPr id="19" name="Answer bg 1"/>
          <p:cNvSpPr/>
          <p:nvPr/>
        </p:nvSpPr>
        <p:spPr>
          <a:xfrm>
            <a:off x="7589520" y="228600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589520" y="228600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 is done (or not done); </a:t>
            </a:r>
            <a:r>
              <a:rPr lang="en-US" sz="1800" dirty="0" b="1">
                <a:solidFill>
                  <a:srgbClr val="1B2236"/>
                </a:solidFill>
                <a:latin typeface="Lexend Deca" pitchFamily="34" charset="0"/>
                <a:ea typeface="Lexend Deca" pitchFamily="34" charset="-122"/>
                <a:cs typeface="Lexend Deca" pitchFamily="34" charset="-120"/>
              </a:rPr>
              <a:t>no time</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I've finished the orders. I haven't called her yet.</a:t>
            </a:r>
            <a:endParaRPr lang="en-US" sz="1800" dirty="0" b="1"/>
          </a:p>
        </p:txBody>
      </p:sp>
      <p:sp>
        <p:nvSpPr>
          <p:cNvPr id="21" name="Question 2"/>
          <p:cNvSpPr/>
          <p:nvPr/>
        </p:nvSpPr>
        <p:spPr>
          <a:xfrm>
            <a:off x="5138928" y="347472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simple past</a:t>
            </a:r>
            <a:endParaRPr lang="en-US" sz="1800" dirty="0" b="1"/>
          </a:p>
        </p:txBody>
      </p:sp>
      <p:sp>
        <p:nvSpPr>
          <p:cNvPr id="22" name="Answer bg 2"/>
          <p:cNvSpPr/>
          <p:nvPr/>
        </p:nvSpPr>
        <p:spPr>
          <a:xfrm>
            <a:off x="7589520" y="347472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589520" y="347472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a:t>
            </a:r>
            <a:r>
              <a:rPr lang="en-US" sz="1800" dirty="0" b="1">
                <a:solidFill>
                  <a:srgbClr val="1B2236"/>
                </a:solidFill>
                <a:latin typeface="Lexend Deca" pitchFamily="34" charset="0"/>
                <a:ea typeface="Lexend Deca" pitchFamily="34" charset="-122"/>
                <a:cs typeface="Lexend Deca" pitchFamily="34" charset="-120"/>
              </a:rPr>
              <a:t>finished time</a:t>
            </a:r>
            <a:r>
              <a:rPr lang="en-US" sz="1800" dirty="0" b="1">
                <a:solidFill>
                  <a:srgbClr val="1B2236"/>
                </a:solidFill>
                <a:latin typeface="Lexend Deca" pitchFamily="34" charset="0"/>
                <a:ea typeface="Lexend Deca" pitchFamily="34" charset="-122"/>
                <a:cs typeface="Lexend Deca" pitchFamily="34" charset="-120"/>
              </a:rPr>
              <a:t> (at 3:00, yesterday, an hour ago)</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I finished the orders at 3:00.</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already, yet, or just.</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already, yet, just</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Have you clocked out ____?</a:t>
            </a:r>
            <a:endParaRPr lang="en-US" sz="16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yet</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The truck arrived one minute ago. It has ____ arrived.</a:t>
            </a:r>
            <a:endParaRPr lang="en-US" sz="16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just</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She hasn't restocked the shelves ____.</a:t>
            </a:r>
            <a:endParaRPr lang="en-US" sz="16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yet</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Has the supervisor given you feedback ____?</a:t>
            </a:r>
            <a:endParaRPr lang="en-US" sz="16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yet</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The deadline is Friday, but I've ____ finished the training. It's only Monday!</a:t>
            </a:r>
            <a:endParaRPr lang="en-US" sz="16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already</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can't talk now. I've ____ clocked in, and I need to start work.</a:t>
            </a:r>
            <a:endParaRPr lang="en-US" sz="16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just</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58978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1. I ____ cleaned the cooler yet.</a:t>
            </a:r>
            <a:endParaRPr lang="en-US" sz="1800" dirty="0"/>
          </a:p>
        </p:txBody>
      </p:sp>
      <p:sp>
        <p:nvSpPr>
          <p:cNvPr id="9" name="R1 opt1"/>
          <p:cNvSpPr/>
          <p:nvPr/>
        </p:nvSpPr>
        <p:spPr>
          <a:xfrm>
            <a:off x="658368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haven't</a:t>
            </a:r>
            <a:endParaRPr lang="en-US" sz="1600" dirty="0" b="1"/>
          </a:p>
        </p:txBody>
      </p:sp>
      <p:sp>
        <p:nvSpPr>
          <p:cNvPr id="10" name="R1 opt2"/>
          <p:cNvSpPr/>
          <p:nvPr/>
        </p:nvSpPr>
        <p:spPr>
          <a:xfrm>
            <a:off x="886968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didn't</a:t>
            </a:r>
            <a:endParaRPr lang="en-US" sz="1600" dirty="0" b="1"/>
          </a:p>
        </p:txBody>
      </p:sp>
      <p:sp>
        <p:nvSpPr>
          <p:cNvPr id="11" name="R1 circle"/>
          <p:cNvSpPr/>
          <p:nvPr/>
        </p:nvSpPr>
        <p:spPr>
          <a:xfrm>
            <a:off x="6455664" y="30540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58978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2. I ____ the inventory at 8:00.</a:t>
            </a:r>
            <a:endParaRPr lang="en-US" sz="1800" dirty="0"/>
          </a:p>
        </p:txBody>
      </p:sp>
      <p:sp>
        <p:nvSpPr>
          <p:cNvPr id="13" name="R2 opt1"/>
          <p:cNvSpPr/>
          <p:nvPr/>
        </p:nvSpPr>
        <p:spPr>
          <a:xfrm>
            <a:off x="658368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finished</a:t>
            </a:r>
            <a:endParaRPr lang="en-US" sz="1600" dirty="0" b="1"/>
          </a:p>
        </p:txBody>
      </p:sp>
      <p:sp>
        <p:nvSpPr>
          <p:cNvPr id="14" name="R2 opt2"/>
          <p:cNvSpPr/>
          <p:nvPr/>
        </p:nvSpPr>
        <p:spPr>
          <a:xfrm>
            <a:off x="886968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've finished</a:t>
            </a:r>
            <a:endParaRPr lang="en-US" sz="1600" dirty="0" b="1"/>
          </a:p>
        </p:txBody>
      </p:sp>
      <p:sp>
        <p:nvSpPr>
          <p:cNvPr id="15" name="R2 circle"/>
          <p:cNvSpPr/>
          <p:nvPr/>
        </p:nvSpPr>
        <p:spPr>
          <a:xfrm>
            <a:off x="6455664" y="360273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58978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3. The shelves? Yes, I've restocked ____.</a:t>
            </a:r>
            <a:endParaRPr lang="en-US" sz="1800" dirty="0"/>
          </a:p>
        </p:txBody>
      </p:sp>
      <p:sp>
        <p:nvSpPr>
          <p:cNvPr id="17" name="R3 opt1"/>
          <p:cNvSpPr/>
          <p:nvPr/>
        </p:nvSpPr>
        <p:spPr>
          <a:xfrm>
            <a:off x="658368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them</a:t>
            </a:r>
            <a:endParaRPr lang="en-US" sz="1600" dirty="0" b="1"/>
          </a:p>
        </p:txBody>
      </p:sp>
      <p:sp>
        <p:nvSpPr>
          <p:cNvPr id="18" name="R3 opt2"/>
          <p:cNvSpPr/>
          <p:nvPr/>
        </p:nvSpPr>
        <p:spPr>
          <a:xfrm>
            <a:off x="886968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it</a:t>
            </a:r>
            <a:endParaRPr lang="en-US" sz="1600" dirty="0" b="1"/>
          </a:p>
        </p:txBody>
      </p:sp>
      <p:sp>
        <p:nvSpPr>
          <p:cNvPr id="19" name="R3 circle"/>
          <p:cNvSpPr/>
          <p:nvPr/>
        </p:nvSpPr>
        <p:spPr>
          <a:xfrm>
            <a:off x="6455664" y="415137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58978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4. ____ the truck arrived yet?</a:t>
            </a:r>
            <a:endParaRPr lang="en-US" sz="1800" dirty="0"/>
          </a:p>
        </p:txBody>
      </p:sp>
      <p:sp>
        <p:nvSpPr>
          <p:cNvPr id="21" name="R4 opt1"/>
          <p:cNvSpPr/>
          <p:nvPr/>
        </p:nvSpPr>
        <p:spPr>
          <a:xfrm>
            <a:off x="658368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Has</a:t>
            </a:r>
            <a:endParaRPr lang="en-US" sz="1600" dirty="0" b="1"/>
          </a:p>
        </p:txBody>
      </p:sp>
      <p:sp>
        <p:nvSpPr>
          <p:cNvPr id="22" name="R4 opt2"/>
          <p:cNvSpPr/>
          <p:nvPr/>
        </p:nvSpPr>
        <p:spPr>
          <a:xfrm>
            <a:off x="886968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Have</a:t>
            </a:r>
            <a:endParaRPr lang="en-US" sz="1600" dirty="0" b="1"/>
          </a:p>
        </p:txBody>
      </p:sp>
      <p:sp>
        <p:nvSpPr>
          <p:cNvPr id="23" name="R4 circle"/>
          <p:cNvSpPr/>
          <p:nvPr/>
        </p:nvSpPr>
        <p:spPr>
          <a:xfrm>
            <a:off x="6455664" y="470001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58978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5. The delivery ____ arrived.</a:t>
            </a:r>
            <a:endParaRPr lang="en-US" sz="1800" dirty="0"/>
          </a:p>
        </p:txBody>
      </p:sp>
      <p:sp>
        <p:nvSpPr>
          <p:cNvPr id="25" name="R5 opt1"/>
          <p:cNvSpPr/>
          <p:nvPr/>
        </p:nvSpPr>
        <p:spPr>
          <a:xfrm>
            <a:off x="658368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has just</a:t>
            </a:r>
            <a:endParaRPr lang="en-US" sz="1600" dirty="0" b="1"/>
          </a:p>
        </p:txBody>
      </p:sp>
      <p:sp>
        <p:nvSpPr>
          <p:cNvPr id="26" name="R5 opt2"/>
          <p:cNvSpPr/>
          <p:nvPr/>
        </p:nvSpPr>
        <p:spPr>
          <a:xfrm>
            <a:off x="886968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just has</a:t>
            </a:r>
            <a:endParaRPr lang="en-US" sz="1600" dirty="0" b="1"/>
          </a:p>
        </p:txBody>
      </p:sp>
      <p:sp>
        <p:nvSpPr>
          <p:cNvPr id="27" name="R5 circle"/>
          <p:cNvSpPr/>
          <p:nvPr/>
        </p:nvSpPr>
        <p:spPr>
          <a:xfrm>
            <a:off x="6455664" y="524865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58978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6. When ____?</a:t>
            </a:r>
            <a:endParaRPr lang="en-US" sz="1800" dirty="0"/>
          </a:p>
        </p:txBody>
      </p:sp>
      <p:sp>
        <p:nvSpPr>
          <p:cNvPr id="29" name="R6 opt1"/>
          <p:cNvSpPr/>
          <p:nvPr/>
        </p:nvSpPr>
        <p:spPr>
          <a:xfrm>
            <a:off x="658368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did you clock in</a:t>
            </a:r>
            <a:endParaRPr lang="en-US" sz="1600" dirty="0" b="1"/>
          </a:p>
        </p:txBody>
      </p:sp>
      <p:sp>
        <p:nvSpPr>
          <p:cNvPr id="30" name="R6 opt2"/>
          <p:cNvSpPr/>
          <p:nvPr/>
        </p:nvSpPr>
        <p:spPr>
          <a:xfrm>
            <a:off x="886968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have you clocked in</a:t>
            </a:r>
            <a:endParaRPr lang="en-US" sz="1600" dirty="0" b="1"/>
          </a:p>
        </p:txBody>
      </p:sp>
      <p:sp>
        <p:nvSpPr>
          <p:cNvPr id="31" name="R6 circle"/>
          <p:cNvSpPr/>
          <p:nvPr/>
        </p:nvSpPr>
        <p:spPr>
          <a:xfrm>
            <a:off x="6455664" y="57972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Inventory: a box and numbers [sign: INVENTORY]"/>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I've finished it yesterday.</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finished</a:t>
            </a:r>
            <a:r>
              <a:rPr lang="en-US" sz="1700" dirty="0" b="1">
                <a:solidFill>
                  <a:srgbClr val="1B2236"/>
                </a:solidFill>
                <a:latin typeface="Lexend Deca" pitchFamily="34" charset="0"/>
                <a:ea typeface="Lexend Deca" pitchFamily="34" charset="-122"/>
                <a:cs typeface="Lexend Deca" pitchFamily="34" charset="-120"/>
              </a:rPr>
              <a:t> it yesterday.</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didn't finish yet.</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haven't finished</a:t>
            </a:r>
            <a:r>
              <a:rPr lang="en-US" sz="1700" dirty="0" b="1">
                <a:solidFill>
                  <a:srgbClr val="1B2236"/>
                </a:solidFill>
                <a:latin typeface="Lexend Deca" pitchFamily="34" charset="0"/>
                <a:ea typeface="Lexend Deca" pitchFamily="34" charset="-122"/>
                <a:cs typeface="Lexend Deca" pitchFamily="34" charset="-120"/>
              </a:rPr>
              <a:t> yet.</a:t>
            </a:r>
            <a:endParaRPr lang="en-US" sz="1700" dirty="0" b="1"/>
          </a:p>
        </p:txBody>
      </p:sp>
      <p:sp>
        <p:nvSpPr>
          <p:cNvPr id="28" name="Bad 3"/>
          <p:cNvSpPr/>
          <p:nvPr/>
        </p:nvSpPr>
        <p:spPr>
          <a:xfrm>
            <a:off x="914400" y="360273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Have you yet finished?</a:t>
            </a:r>
            <a:endParaRPr lang="en-US" sz="1700" dirty="0"/>
          </a:p>
        </p:txBody>
      </p:sp>
      <p:sp>
        <p:nvSpPr>
          <p:cNvPr id="29" name="Good 3"/>
          <p:cNvSpPr/>
          <p:nvPr/>
        </p:nvSpPr>
        <p:spPr>
          <a:xfrm>
            <a:off x="4800600" y="360273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 you finished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30" name="Bad 4"/>
          <p:cNvSpPr/>
          <p:nvPr/>
        </p:nvSpPr>
        <p:spPr>
          <a:xfrm>
            <a:off x="914400" y="416966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have already clean it.</a:t>
            </a:r>
            <a:endParaRPr lang="en-US" sz="1700" dirty="0"/>
          </a:p>
        </p:txBody>
      </p:sp>
      <p:sp>
        <p:nvSpPr>
          <p:cNvPr id="31" name="Good 4"/>
          <p:cNvSpPr/>
          <p:nvPr/>
        </p:nvSpPr>
        <p:spPr>
          <a:xfrm>
            <a:off x="4800600" y="416966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I've already </a:t>
            </a:r>
            <a:r>
              <a:rPr lang="en-US" sz="1700" dirty="0" b="1">
                <a:solidFill>
                  <a:srgbClr val="1B2236"/>
                </a:solidFill>
                <a:latin typeface="Lexend Deca" pitchFamily="34" charset="0"/>
                <a:ea typeface="Lexend Deca" pitchFamily="34" charset="-122"/>
                <a:cs typeface="Lexend Deca" pitchFamily="34" charset="-120"/>
              </a:rPr>
              <a:t>cleaned</a:t>
            </a:r>
            <a:r>
              <a:rPr lang="en-US" sz="1700" dirty="0" b="1">
                <a:solidFill>
                  <a:srgbClr val="1B2236"/>
                </a:solidFill>
                <a:latin typeface="Lexend Deca" pitchFamily="34" charset="0"/>
                <a:ea typeface="Lexend Deca" pitchFamily="34" charset="-122"/>
                <a:cs typeface="Lexend Deca" pitchFamily="34" charset="-120"/>
              </a:rPr>
              <a:t> it.</a:t>
            </a:r>
            <a:endParaRPr lang="en-US" sz="1700" dirty="0" b="1"/>
          </a:p>
        </p:txBody>
      </p:sp>
      <p:sp>
        <p:nvSpPr>
          <p:cNvPr id="32" name="Bad 5"/>
          <p:cNvSpPr/>
          <p:nvPr/>
        </p:nvSpPr>
        <p:spPr>
          <a:xfrm>
            <a:off x="914400" y="4736592"/>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Has arrived the truck?</a:t>
            </a:r>
            <a:endParaRPr lang="en-US" sz="1700" dirty="0"/>
          </a:p>
        </p:txBody>
      </p:sp>
      <p:sp>
        <p:nvSpPr>
          <p:cNvPr id="33" name="Good 5"/>
          <p:cNvSpPr/>
          <p:nvPr/>
        </p:nvSpPr>
        <p:spPr>
          <a:xfrm>
            <a:off x="4800600" y="4736592"/>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Has the truck</a:t>
            </a:r>
            <a:r>
              <a:rPr lang="en-US" sz="1700" dirty="0" b="1">
                <a:solidFill>
                  <a:srgbClr val="1B2236"/>
                </a:solidFill>
                <a:latin typeface="Lexend Deca" pitchFamily="34" charset="0"/>
                <a:ea typeface="Lexend Deca" pitchFamily="34" charset="-122"/>
                <a:cs typeface="Lexend Deca" pitchFamily="34" charset="-120"/>
              </a:rPr>
              <a:t> arrived?</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Supervisor: a woman at work [sign: SUPERVISOR]"/>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Have you… yet?</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Yes, I've already… / I've just… / No, not yet.</a:t>
            </a:r>
            <a:endParaRPr lang="en-US" sz="1900" dirty="0" b="0"/>
          </a:p>
          <a:p>
            <a:pPr algn="l" indent="0" marL="0">
              <a:buNone/>
            </a:pPr>
            <a:r>
              <a:rPr lang="en-US" sz="1900" dirty="0" b="1">
                <a:solidFill>
                  <a:srgbClr val="1B2236"/>
                </a:solidFill>
                <a:latin typeface="Lexend Deca" pitchFamily="34" charset="0"/>
                <a:ea typeface="Lexend Deca" pitchFamily="34" charset="-122"/>
                <a:cs typeface="Lexend Deca" pitchFamily="34" charset="-120"/>
              </a:rPr>
              <a:t>Then switch.</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reads a task from the board checklist. Then switch.</a:t>
            </a:r>
            <a:endParaRPr lang="en-US" sz="20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Checklist: a clipboard with a check mark"/>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Shift Handoff</a:t>
            </a:r>
            <a:endParaRPr lang="en-US" sz="30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 looks at Card A. B covers it.</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asks about each task.</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Have you restocked aisle 3 yet?</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answers.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Yes, I've already restocked it. / No, not yet.</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ticks done or not yet. Then switch.</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A asks about Card B.</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Check-in (a short meeting): a supervisor and a worker talking"/>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Check-in</a:t>
            </a:r>
            <a:endParaRPr lang="en-US" sz="30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Groups of 3.</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 supervisor, a worker, an observer.</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supervisor asks the 3 questions.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What have you done this week?</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worker answers in 3 sentences.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I've already… I haven't… yet.</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observer ticks the words. Then rotate.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already • yet • just • 3 sentences?</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the email.</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An email from Sandra Ortiz</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(Supervisor).</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Who is the email to?</a:t>
            </a:r>
            <a:endParaRPr lang="en-US" sz="1600" dirty="0"/>
          </a:p>
        </p:txBody>
      </p:sp>
      <p:sp>
        <p:nvSpPr>
          <p:cNvPr id="35" name="R1 ans"/>
          <p:cNvSpPr/>
          <p:nvPr/>
        </p:nvSpPr>
        <p:spPr>
          <a:xfrm>
            <a:off x="4279392" y="2525573"/>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The evening team.</a:t>
            </a:r>
            <a:endParaRPr lang="en-US" sz="15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When should the workers reply?</a:t>
            </a:r>
            <a:endParaRPr lang="en-US" sz="1600" dirty="0"/>
          </a:p>
        </p:txBody>
      </p:sp>
      <p:sp>
        <p:nvSpPr>
          <p:cNvPr id="40" name="R2 ans"/>
          <p:cNvSpPr/>
          <p:nvPr/>
        </p:nvSpPr>
        <p:spPr>
          <a:xfrm>
            <a:off x="4279392" y="3311957"/>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By Thursday.</a:t>
            </a:r>
            <a:endParaRPr lang="en-US" sz="15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What is the deadline for the safety training?</a:t>
            </a:r>
            <a:endParaRPr lang="en-US" sz="1600" dirty="0"/>
          </a:p>
        </p:txBody>
      </p:sp>
      <p:sp>
        <p:nvSpPr>
          <p:cNvPr id="45" name="R3 ans"/>
          <p:cNvSpPr/>
          <p:nvPr/>
        </p:nvSpPr>
        <p:spPr>
          <a:xfrm>
            <a:off x="4279392" y="4098341"/>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Friday, May 16.</a:t>
            </a:r>
            <a:endParaRPr lang="en-US" sz="15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Where can workers do the training?</a:t>
            </a:r>
            <a:endParaRPr lang="en-US" sz="1600" dirty="0"/>
          </a:p>
        </p:txBody>
      </p:sp>
      <p:sp>
        <p:nvSpPr>
          <p:cNvPr id="50" name="R4 ans"/>
          <p:cNvSpPr/>
          <p:nvPr/>
        </p:nvSpPr>
        <p:spPr>
          <a:xfrm>
            <a:off x="4279392" y="4884725"/>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On the computer in the break room.</a:t>
            </a:r>
            <a:endParaRPr lang="en-US" sz="15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What has just arrived?</a:t>
            </a:r>
            <a:endParaRPr lang="en-US" sz="1600" dirty="0"/>
          </a:p>
        </p:txBody>
      </p:sp>
      <p:sp>
        <p:nvSpPr>
          <p:cNvPr id="55" name="R5 ans"/>
          <p:cNvSpPr/>
          <p:nvPr/>
        </p:nvSpPr>
        <p:spPr>
          <a:xfrm>
            <a:off x="4279392" y="5671109"/>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The new schedule.</a:t>
            </a:r>
            <a:endParaRPr lang="en-US" sz="15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To-do list: a note and a pencil [sign: TO DO]"/>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Answer in 3 sentences: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Something you've already done.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Something you haven't done yet.</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A reason, with because.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sentence. Use the words.</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reply email (Read &amp; Write C).</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Make a to-do list for this week.</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it or them.</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Feedback: a thumbs-up and a speech bubble [sign: GOOD JOB!]">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3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what you've already done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Have you… yet?</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Answer a supervisor's check-in</a:t>
            </a:r>
            <a:endParaRPr lang="en-US" sz="22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Jamal, Kim, Ms. Rivera, Sandra Ortiz, and Leo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made with Chatterbox TTS (MIT License), cloned from short synthetic reference clips made with Kokoro-82M (Apache License 2.0). No recordings of real people were used. Each file carries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3: Have You Finished Yet?</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