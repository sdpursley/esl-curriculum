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861" r:id="rId32"/>
    <p:sldId id="862" r:id="rId21"/>
    <p:sldId id="863" r:id="rId19"/>
    <p:sldId id="864" r:id="rId15"/>
    <p:sldId id="865" r:id="rId37"/>
    <p:sldId id="866" r:id="rId38"/>
    <p:sldId id="867" r:id="rId39"/>
    <p:sldId id="868" r:id="rId40"/>
    <p:sldId id="869" r:id="rId41"/>
    <p:sldId id="870" r:id="rId42"/>
    <p:sldId id="871" r:id="rId43"/>
    <p:sldId id="872" r:id="rId44"/>
    <p:sldId id="873" r:id="rId45"/>
    <p:sldId id="874" r:id="rId46"/>
    <p:sldId id="875" r:id="rId47"/>
    <p:sldId id="876" r:id="rId48"/>
    <p:sldId id="877" r:id="rId49"/>
    <p:sldId id="878" r:id="rId50"/>
    <p:sldId id="879" r:id="rId51"/>
    <p:sldId id="880" r:id="rId52"/>
    <p:sldId id="881" r:id="rId53"/>
    <p:sldId id="882" r:id="rId54"/>
    <p:sldId id="883" r:id="rId55"/>
    <p:sldId id="884" r:id="rId56"/>
    <p:sldId id="885" r:id="rId9"/>
    <p:sldId id="886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(it / them) and read their 3 home tips (item 3) to each other. Then they fill in the box on the Opening Talk page. Walk around. Write 2 common errors on the board (often turn off it (→ turn it off) and close the light (→ turn off the light))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phrasal verbs + it / them</a:t>
            </a:r>
          </a:p>
          <a:p>
            <a:r>
              <a:t>Model with one learner: you say, "What do you turn off before you go to bed?" The learner answers with it / them (I turn the TV off. I turn it off at 10:00.). Then you ask, "What do you put on when it's cold?"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"Time Off" Say: "Asking for time off at work, planning a short trip to visit family or see a new place, packing, and leaving a detailed voicemail. Learners say why with to + verb and use verbs + to or + -ing. The company, the policy, the trips, and the phone numbers are invented."</a:t>
            </a:r>
          </a:p>
          <a:p>
            <a:r>
              <a:t>Read the three lines under "Today you will".</a:t>
            </a:r>
          </a:p>
          <a:p>
            <a:r>
              <a:t>Trips can be invented: don't assume learners can travel or have paid vacation days. A day trip in the city is always fine.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time off (days you don't work); vacation days (paid days off); request form; approve (say yes); pack (put things in a bag); suitcase; carry-on bag (a small bag on the plane or bus); round-trip ticket (there and back); boarding pass; toiletries (toothbrush, soap); voicemail (a phone message); itinerary (the plan for a trip, with times).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"Why do you need a boarding pass?" B answers with to + verb: "To get on the plane." Then B asks, "What do you enjoy doing on a trip?"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"Does a supervisor approve or pack a request?" (approve) • 2. "Is a round-trip ticket for one way or there and back?" (there and back) • 3. "Is a toothbrush a toiletry or a boarding pass?" (a toiletry)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"Luis asks his supervisor, Ms. Adams, for time off. Then he leaves a voicemail for his sister, Rosa, and she calls back. Listen: why does he need time off?"</a:t>
            </a:r>
          </a:p>
          <a:p>
            <a:r>
              <a:t>There are 3 people: Luis, Ms. Adams and Rosa. A narrator starts and ends the listening. Each click highlights the next person.</a:t>
            </a:r>
          </a:p>
          <a:p>
            <a:r>
              <a:t>The audio (about 1:52)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natural, friendly speed, two times. Say gonna and wanna where the script has them.</a:t>
            </a:r>
          </a:p>
          <a:p>
            <a:r>
              <a:t>Audio: the listening audio for this lesson (about 1:52)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eleven. Luis asks his supervisor for time off. Then he leaves a voicemail for his sister.</a:t>
            </a:r>
          </a:p>
          <a:p>
            <a:r>
              <a:t>Luis: Ms. Adams, do you have a minute? I'd like to ask for some time off.</a:t>
            </a:r>
          </a:p>
          <a:p>
            <a:r>
              <a:t>Ms. Adams: Sure, Luis. When do you wanna take it?</a:t>
            </a:r>
          </a:p>
          <a:p>
            <a:r>
              <a:t>Luis: Next month, from Thursday, June fifth, to Saturday, June seventh. That's three days.</a:t>
            </a:r>
          </a:p>
          <a:p>
            <a:r>
              <a:t>Ms. Adams: And why are you taking time off?</a:t>
            </a:r>
          </a:p>
          <a:p>
            <a:r>
              <a:t>Luis: To visit my mother in San Antonio. It's her seventieth birthday.</a:t>
            </a:r>
          </a:p>
          <a:p>
            <a:r>
              <a:t>Ms. Adams: How nice! Did you fill out the request form?</a:t>
            </a:r>
          </a:p>
          <a:p>
            <a:r>
              <a:t>Luis: Yes, I've already filled it out. Here it is.</a:t>
            </a:r>
          </a:p>
          <a:p>
            <a:r>
              <a:t>Ms. Adams: Thanks. Who can cover your shifts?</a:t>
            </a:r>
          </a:p>
          <a:p>
            <a:r>
              <a:t>Luis: Ana has agreed to cover Thursday and Friday. I'm still looking for someone for Saturday.</a:t>
            </a:r>
          </a:p>
          <a:p>
            <a:r>
              <a:t>Ms. Adams: Ask Ben. He doesn't mind working on weekends. Then I can approve it.</a:t>
            </a:r>
          </a:p>
          <a:p>
            <a:r>
              <a:t>Luis: Great. Thank you, Ms. Adams.</a:t>
            </a:r>
          </a:p>
          <a:p>
            <a:r>
              <a:t>Luis: Hi, Rosa, it's Luis. I'm calling to tell you about my trip. I'm gonna take the bus on Thursday, June fifth. It's bus number forty-two, and it gets to San Antonio at six thirty p.m. Can you pick me up at the bus station? Also, don't forget to bring Mom's birthday card. I want everyone to sign it. Call me back at five five five, two one four, eight eight three zero. Bye!</a:t>
            </a:r>
          </a:p>
          <a:p>
            <a:r>
              <a:t>Rosa: Hi, Luis! I got your message. Yes, I can pick you up at six thirty.</a:t>
            </a:r>
          </a:p>
          <a:p>
            <a:r>
              <a:t>Luis: Thanks, Rosa. Mom doesn't know I'm coming, right?</a:t>
            </a:r>
          </a:p>
          <a:p>
            <a:r>
              <a:t>Rosa: No, it's a surprise. She's gonna be so happy. I enjoy planning surprises!</a:t>
            </a:r>
          </a:p>
          <a:p>
            <a:r>
              <a:t>Luis: Me too. See you on Thursday!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(to visit his mother).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5 to 7 • 2 birthday • 3 Thursday and Friday • 4 Ben • 5 42 • 6 6:30 p.m..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to, 2 working, 3 to, 4 to, 5 to, 6 planning.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lines. wanna = want to: "When do you wanna take it?" gonna = going to: "I'm gonna take the bus." Then practice the phone number in groups with pauses: 555 · 214 · 8830. The class repeats the two lines twice.</a:t>
            </a:r>
          </a:p>
          <a:p>
            <a:r>
              <a:t>Reductions: the listening has gonna and wanna. Learners need to understand them; saying them is optional, and they never write them.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say, "I'm going to the store." Ask, "Why?" Answer, "To buy milk." Write: Why? → To + verb. Then say, "I enjoy cooking. I want to cook for my family." Write two lists on the board: + to: want, need, plan, decide, hope, forget, would like; + -ing: enjoy, don't mind, finish, avoid, keep.</a:t>
            </a:r>
          </a:p>
          <a:p>
            <a:r>
              <a:t>Box 1: read across: Why are you taking time off? → To visit my sister.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verbs + to and verbs + -ing. Each click shows the answer side of one row.</a:t>
            </a:r>
          </a:p>
          <a:p>
            <a:r>
              <a:t>Rule of thumb (read it aloud): There is no rule for which verbs take to and which take -ing: learn the two short lists in Box 3. to + verb also answers Why? (To visit my sister.)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the two lists.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review (already, Would you mind…?, going to). Each click shows the answer side of one row.</a:t>
            </a:r>
          </a:p>
          <a:p>
            <a:r>
              <a:t>Questions and answers (2 min): Q: for see or to see? A: Use to: I'm going to Houston to see my sister. (not for see, not for to see) • Q: enjoy to travel or enjoy traveling? A: enjoy traveling. After enjoy, use -ing. • Q: How do I know: to or -ing? A: Look at the two lists in Box 3. Learn them like vocabulary.</a:t>
            </a:r>
          </a:p>
          <a:p>
            <a:r>
              <a:t>Check questions: "for see or to see?" (to see) • "enjoy to travel or enjoy traveling?" (enjoy traveling) • "want to visit or want visiting?" (want to visit).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to, 2 traveling, 3 to, 4 to, 5 working, 6 already.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to ask, 2 to visit, 3 packing, 4 to see, 5 taking, 6 covering.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"Why do you need a suitcase?" B answers with to + verb: "To pack my clothes." Then B asks, "What do you enjoy doing on a trip?"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Why are you taking time off? → To visit my sister. • I want to go. I enjoy traveling. • I'm calling to ask about my vacation days.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Trip Planner + Voicemail Relay · 15 min.</a:t>
            </a:r>
          </a:p>
          <a:p>
            <a:r>
              <a:t>Model it first (1 min): read trip card A: "Visit family in another state for 4 days." Say, "I'm going to Dallas to visit my cousins. I want to see the new baby. I enjoy cooking with my aunt." Then model a voicemail: "Hi, it's Ms. Lee. I'm calling to tell you about my trip. I'm leaving on Friday. Call me back at 555 · 301 · 7720."</a:t>
            </a:r>
          </a:p>
          <a:p>
            <a:r>
              <a:t>Round 1 (7 min): Trip Planner (pairs). Pairs choose a trip card. They plan why (to…), what they want to do and enjoy doing, and what to pack. Then they fill in the time-off request. Each click shows the next step.</a:t>
            </a:r>
          </a:p>
          <a:p>
            <a:r>
              <a:t>15 learners: pairs; then back-to-back rows. 7–8 learners: pairs; then one rotation. 5 or fewer: pairs; you check the notes.</a:t>
            </a:r>
          </a:p>
          <a:p>
            <a:r>
              <a:t>Lesson plan: Step 5; Talk Time: Trip Planner.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Voicemail Relay (back to back). A leaves a voicemail of 30–45 seconds: name, reason for calling (to…), dates, and an invented callback number. B takes notes and reads them back. Switch. Each click shows the next step.</a:t>
            </a:r>
          </a:p>
          <a:p>
            <a:r>
              <a:t>15 learners: pairs; then back-to-back rows. 7–8 learners: pairs; then one rotation. 5 or fewer: pairs; you check the notes.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Voicemail Relay.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time-off policy + a packing list · 10 min. Pairs read, then individual writing.</a:t>
            </a:r>
          </a:p>
          <a:p>
            <a:r>
              <a:t>Read (4 min): Learners read the invented company policy and Luis's packing list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At least two weeks ahead. • 2 From your supervisor or in the break room. • 3 Within three days. • 4 5. • 5 A birthday card.</a:t>
            </a:r>
          </a:p>
          <a:p>
            <a:r>
              <a:t>Write (5 min): Learners write an email (5–8 sentences) to a supervisor asking for time off: the dates, the reason (to…), who can cover, and thanks. Show the example. Writing check 4: collect this email and write one strength and one fix.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Where would you like to go on a trip, and why? Example on the board: I would like to go to the beach to relax. I enjoy swimming in the ocean. It's also a good place for my family, because my kids love the water.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I / enjoy / travel / by bus → I enjoy traveling by bus.). Say: "About 15–20 minutes. Finish your Read &amp; Write writing at home."</a:t>
            </a:r>
          </a:p>
          <a:p>
            <a:r>
              <a:t>Homework items: 1. Write the sentence. Use to or -ing. • 2. Finish your writing from Read &amp; Write C (your email). Read it one more time. Check ✓ the list in D. • 3. Plan a short trip (real or invented). Write where, why (to…), and 3 things to pack. • 4. Review (Lesson 10). Write one word.</a:t>
            </a:r>
          </a:p>
          <a:p>
            <a:r>
              <a:t>Writing check 4 (Week 12): collect the time-off email. Write one strength and one fix on each. Learners keep them in their writing folder.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1:52)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Time off: a calendar and a palm tree [sign: DAY OFF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11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Off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time off and give a reason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why with to + verb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Leave a voicemail and take notes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time off and give a reason.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why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verb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Houston to see my sister.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verbs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want, need, plan, decide, hope, forget, would like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 and verbs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enjoy, don't mind, finish, avoid, keep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leave a detailed voicemail and take voicemail notes.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an email (5–8 sentences) to a supervisor asking for time off.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Vacation days: a beach with an umbrella and a calend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turn off before you go to bed?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When? Why? Did you turn it off?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turn off before you go to bed?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put on when it's cold?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take out the trash this week?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can you do to save energy at home?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10,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Time off: a calendar and a palm tree [sign: DAY OFF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 off</a:t>
            </a:r>
            <a:endParaRPr lang="en-US" sz="2000" dirty="0" b="1"/>
          </a:p>
        </p:txBody>
      </p:sp>
      <p:pic>
        <p:nvPicPr>
          <p:cNvPr id="19" name="Word picture 2" descr="Vacation days: a beach with an umbrella and a calend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vacation days</a:t>
            </a:r>
            <a:endParaRPr lang="en-US" sz="2000" dirty="0" b="1"/>
          </a:p>
        </p:txBody>
      </p:sp>
      <p:pic>
        <p:nvPicPr>
          <p:cNvPr id="21" name="Word picture 3" descr="Request form: a paper and a pencil [sign: REQUEST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request form</a:t>
            </a:r>
            <a:endParaRPr lang="en-US" sz="2000" dirty="0" b="1"/>
          </a:p>
        </p:txBody>
      </p:sp>
      <p:pic>
        <p:nvPicPr>
          <p:cNvPr id="23" name="Word picture 4" descr="Approve: an office worker and a check mark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approve</a:t>
            </a:r>
            <a:endParaRPr lang="en-US" sz="2000" dirty="0" b="1"/>
          </a:p>
        </p:txBody>
      </p:sp>
      <p:pic>
        <p:nvPicPr>
          <p:cNvPr id="25" name="Word picture 5" descr="Pack: a shirt and a suitca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pack</a:t>
            </a:r>
            <a:endParaRPr lang="en-US" sz="2000" dirty="0" b="1"/>
          </a:p>
        </p:txBody>
      </p:sp>
      <p:pic>
        <p:nvPicPr>
          <p:cNvPr id="27" name="Word picture 6" descr="Suitcase: a suitca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suitcase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 you need it?</a:t>
            </a:r>
            <a:endParaRPr lang="en-US" sz="2200" dirty="0" b="1"/>
          </a:p>
        </p:txBody>
      </p:sp>
      <p:pic>
        <p:nvPicPr>
          <p:cNvPr id="17" name="Word picture 1" descr="Carry-on bag: a backpack and an airpla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carry-on bag</a:t>
            </a:r>
            <a:endParaRPr lang="en-US" sz="2000" dirty="0" b="1"/>
          </a:p>
        </p:txBody>
      </p:sp>
      <p:pic>
        <p:nvPicPr>
          <p:cNvPr id="19" name="Word picture 2" descr="Round-trip ticket: a ticket and a repeat arrow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round-trip ticket</a:t>
            </a:r>
            <a:endParaRPr lang="en-US" sz="1800" dirty="0" b="1"/>
          </a:p>
        </p:txBody>
      </p:sp>
      <p:pic>
        <p:nvPicPr>
          <p:cNvPr id="21" name="Word picture 3" descr="Boarding pass: a ticket and an airplane [sign: GATE 12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boarding pass</a:t>
            </a:r>
            <a:endParaRPr lang="en-US" sz="2000" dirty="0" b="1"/>
          </a:p>
        </p:txBody>
      </p:sp>
      <p:pic>
        <p:nvPicPr>
          <p:cNvPr id="23" name="Word picture 4" descr="Toiletries: a toothbrush and a lotion bottl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toiletries</a:t>
            </a:r>
            <a:endParaRPr lang="en-US" sz="2000" dirty="0" b="1"/>
          </a:p>
        </p:txBody>
      </p:sp>
      <p:pic>
        <p:nvPicPr>
          <p:cNvPr id="25" name="Word picture 5" descr="Voicemail: a phone and a speaking hea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voicemail</a:t>
            </a:r>
            <a:endParaRPr lang="en-US" sz="2000" dirty="0" b="1"/>
          </a:p>
        </p:txBody>
      </p:sp>
      <p:pic>
        <p:nvPicPr>
          <p:cNvPr id="27" name="Word picture 6" descr="Itinerary: a map and a clipboard [sign: FRI 8:00 AM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itinerary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a supervisor approve or pack a request?</a:t>
            </a:r>
            <a:endParaRPr lang="en-US" sz="1600" dirty="0" b="1"/>
          </a:p>
        </p:txBody>
      </p:sp>
      <p:pic>
        <p:nvPicPr>
          <p:cNvPr id="101" name="R1 pic" descr="Approve: an office worker and a 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round-trip ticket for one way or there and back?</a:t>
            </a:r>
            <a:endParaRPr lang="en-US" sz="1600" dirty="0" b="1"/>
          </a:p>
        </p:txBody>
      </p:sp>
      <p:pic>
        <p:nvPicPr>
          <p:cNvPr id="102" name="R2 pic" descr="Round-trip ticket: a ticket and a repeat arr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toothbrush a toiletry or a boarding pass?</a:t>
            </a:r>
            <a:endParaRPr lang="en-US" sz="1600" dirty="0" b="1"/>
          </a:p>
        </p:txBody>
      </p:sp>
      <p:pic>
        <p:nvPicPr>
          <p:cNvPr id="103" name="R3 pic" descr="Boarding pass: a ticket and an airplane [sign: GATE 12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approve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and back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toiletry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Luis asks his supervisor, Ms. Adams, for time off. Then he leaves a voicemail for his sister, Rosa, and she calls back.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Suitcase: a suitc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Luis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Adams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does he need time off?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1:52):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Why does Luis need time off?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to visit his mother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to see a doctor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to move to a new apartment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Complete the notes.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Dates: June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 to 7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15 to 17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Reason: his mother's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birthday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wedding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Ana will cover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 and Friday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Saturday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650138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For Saturday, Ms. Adams says to ask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Ben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Bus number: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42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24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Arrival time: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6:30 p.m.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7:30 p.m.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form of the verb.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form of the verb.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____ ask for some time off.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doesn't mind ____ on weekends.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calling ____ tell you about my trip.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____ bring Mom's birthday card.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everyone ____ sign it.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____ surprises!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planning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to, wanna = want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a phone number, in groups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will hear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numbers: groups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pauses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you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it?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 · 214 · 8830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arry-on bag: a backpack and an airpla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+ verb answers Why?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 taking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 off?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visit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sister in Houston.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 going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Houston?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there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family.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calling?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calling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ask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my vacation days.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ound-trip ticket: a ticket and a repeat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verbs + to and verbs + -ing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want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do?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 visit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lake.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enjoy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doing on a trip?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 taking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pictures.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decide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do?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decided to take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mind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driving?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mind driving.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fine.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Boarding pass: a ticket and an airplane [sign: GATE 12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two lists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verb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want, need, plan, decide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enjoy, don't mind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hope, forget, would like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finish, avoid, keep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planning to leave on Friday.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traveling by bus.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Toiletries: a toothbrush and a lotion bott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already / yet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already packed. Have you packed yet?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 + -ing?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 covering my shift?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leave on Friday.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taking a day off ____ see the doctor.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____ by train. (travel)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traveling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decided ____ stay for 3 days.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____ pack your charger.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doesn't mind ____ on Saturday. (work)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____ filled out the request form.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already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I'm calling ____ about my vacation days.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ask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ask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I want ____ my aunt.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visit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visiting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Did you finish ____?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packing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pack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I hope ____ you soon.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see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seeing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Try to avoid ____ too many bags.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taking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Would you mind ____ my shift?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covering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cover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Voicemail: a phone and a speaking he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went to Houston for see my sister.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went to Houston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sister.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31012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to travel.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31012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traveling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87705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visit my family.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87705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visit my family.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44398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planning leave on Friday.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44398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planning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leave on Friday.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pack your toiletries.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pack your toiletries.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Itinerary: a map and a clipboard [sign: FRI 8:00 A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to + verb.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Why do you need a suitcase?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pack my clothes.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enjoy doing on a trip?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uitcase: a suitc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Trip Planner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a trip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a trip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We're going to the lake to relax.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 the trip together.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swimming. Don't forget to pack…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in the time-off request.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 • Dates • Reason (to…) • Who can cover my shift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Voicemail: a phone and a speaking he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Voicemail Relay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30–45 seconds.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leaves a voicemail.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Hi, this is… I'm calling to…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takes notes and reads them back.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So, your name is… and your number is…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call me back at…?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GREENLEAF FOODS · A policy + a packing list (invented)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early should you ask for time off?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least two weeks ahead.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you get the form?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your supervisor or in the break room.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will the supervisor answer?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Within three days.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many vacation days do part-time workers get?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Luis bringing for his mother?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birthday card.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Approve: an office worker and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would you like to go on a trip, and why?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Where and why, with to + verb.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Something you enjoy, with enjoy + -ing.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One more reason,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email).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Plan a short trip (real or invented).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10).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Pack: a shirt and a suit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11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time off and give a reason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why with to + verb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Leave a voicemail and take notes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Luis, Ms. Adams, Rosa, Ms. Lee, Ben, and Carla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11: Time Off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