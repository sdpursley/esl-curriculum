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809" r:id="rId32"/>
    <p:sldId id="810" r:id="rId21"/>
    <p:sldId id="811" r:id="rId19"/>
    <p:sldId id="812" r:id="rId15"/>
    <p:sldId id="813" r:id="rId37"/>
    <p:sldId id="814" r:id="rId38"/>
    <p:sldId id="815" r:id="rId39"/>
    <p:sldId id="816" r:id="rId40"/>
    <p:sldId id="817" r:id="rId41"/>
    <p:sldId id="818" r:id="rId42"/>
    <p:sldId id="819" r:id="rId43"/>
    <p:sldId id="820" r:id="rId44"/>
    <p:sldId id="821" r:id="rId45"/>
    <p:sldId id="822" r:id="rId46"/>
    <p:sldId id="823" r:id="rId47"/>
    <p:sldId id="824" r:id="rId48"/>
    <p:sldId id="825" r:id="rId49"/>
    <p:sldId id="826" r:id="rId50"/>
    <p:sldId id="827" r:id="rId51"/>
    <p:sldId id="828" r:id="rId52"/>
    <p:sldId id="829" r:id="rId53"/>
    <p:sldId id="830" r:id="rId54"/>
    <p:sldId id="831" r:id="rId55"/>
    <p:sldId id="832" r:id="rId56"/>
    <p:sldId id="833" r:id="rId9"/>
    <p:sldId id="834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in 3 sentences. A asks one follow-up question (follow-ups on the right). Then switch.</a:t>
            </a:r>
          </a:p>
          <a:p>
            <a:r>
              <a:t>Homework Check (3 min, last click): Pairs compare Homework item 1 (might and Do you know…?) and read their 3 changes (item 3) to each other. Then they fill in the box on the Opening Talk page. Walk around. Write 2 common errors on the board (often It might rains (→ It might rain) and Do you know where is the bank? (→ where the bank is)) and correct them together. Also put up 2 corrections from last week's exit tickets.</a:t>
            </a:r>
          </a:p>
          <a:p>
            <a:r>
              <a:t>Lesson plan: Step 1; Opening Talk page: cards, follow-ups;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6:00–6:08 · Opening Talk + Homework Check · 8 min. Pairs (7 pairs + 1 trio with 15 learners; 3–4 pairs with 7–8).</a:t>
            </a:r>
          </a:p>
          <a:p>
            <a:r>
              <a:t>Before class, write on the board: might / may / could; Do you know where…?</a:t>
            </a:r>
          </a:p>
          <a:p>
            <a:r>
              <a:t>Model with one learner: you say, "Do you know when the library opens?" The learner answers with a fact or I'm not sure. It might… Then you ask, "What might change in this city next year?" Help them say 3 sentences. (Click to show the follow-up.)</a:t>
            </a:r>
          </a:p>
          <a:p>
            <a:r>
              <a:t>Opening Talk (5 min): learners open the Opening Talk page. A asks a card question; B answers in 3 sentences (the answer, a reason, a detail); A asks one follow-up. Switch after each card. The cards are on the next slide.</a:t>
            </a:r>
          </a:p>
          <a:p>
            <a:r>
              <a:t>If behind: one card only.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"I See Your Point" Say: "Giving, asking for, and politely disagreeing with an opinion at a neighborhood meeting about an empty lot (a playground, a parking lot, or a community garden), and writing a short opinion paragraph. Learners use opinion phrases, as … as / not as … as, and paragraph words. All places, people, and plans are invented and local."</a:t>
            </a:r>
          </a:p>
          <a:p>
            <a:r>
              <a:t>Read the three lines under "Today you will".</a:t>
            </a:r>
          </a:p>
          <a:p>
            <a:r>
              <a:t>Local and practical: topics stay with parks, parking, store hours, bus stops, and homework. No elections or political parties.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6:08–6:15 · New Words · 7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the hard words: opinion (what you think); agree (thumbs-up) and disagree (thumbs-down, with a smile); I see your point (I understand you); community meeting; empty lot (land with nothing on it); community garden, parking lot, playground; survey (questions for many people); vote (raise your hand); advantage (a plus) and disadvantage (a minus).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points to a picture and asks, "What do you think about a community garden?" B gives an opinion and a reason. A says, "I agree," or "I see your point, but…" Switch. 15 learners: finish with a quick team round (3 teams; you say a clue, the first team with the word gets a point). 7–8: 2 teams. 5 or fewer: one team against the clock.</a:t>
            </a:r>
          </a:p>
          <a:p>
            <a:r>
              <a:t>My Words: "Write any word you want in your language on the My Words page. It's your personal list. It's optional." Learners do it at home.</a:t>
            </a:r>
          </a:p>
          <a:p>
            <a:r>
              <a:t>If behind: teach the ★ words only.</a:t>
            </a:r>
          </a:p>
          <a:p>
            <a:r>
              <a:t>Lesson plan: Step 2; New Words page; Partner game; My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an empty lot full or empty?" (empty) • 2. "If you agree, do you say That's true or That's wrong?" (That's true) • 3. "Is a survey for one person or many people?" (many people)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6:15–6:30 · Listening + "Hear it, say it" · 15 min (slides 8 to 12). Individuals, then pairs check.</a:t>
            </a:r>
          </a:p>
          <a:p>
            <a:r>
              <a:t>Before you listen (2 min). Say: "Neighbors are at a community meeting. Mrs. Okafor is the leader. Ray and Lin give their opinions about the empty lot on Cedar Street. Listen: what are they deciding?"</a:t>
            </a:r>
          </a:p>
          <a:p>
            <a:r>
              <a:t>There are 3 people: Mrs. Okafor, Ray and Lin. A narrator starts and ends the listening. Each click highlights the next person.</a:t>
            </a:r>
          </a:p>
          <a:p>
            <a:r>
              <a:t>The audio (about 1:48) is coming soon. When it is ready, it plays the conversation once; press play again for play 2. Until then, read the listening script (at the end of these notes) with a volunteer.</a:t>
            </a:r>
          </a:p>
          <a:p>
            <a:r>
              <a:t>No speaker? Read the script with a volunteer at a natural, friendly speed, two times. Say gonna and wanna where the script has them.</a:t>
            </a:r>
          </a:p>
          <a:p>
            <a:r>
              <a:t>Audio: the listening audio for this lesson (about 1:48)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nine. Neighbors are at a community meeting. They are talking about the empty lot on Cedar Street.</a:t>
            </a:r>
          </a:p>
          <a:p>
            <a:r>
              <a:t>Mrs. Okafor: Good evening, everyone. Thank you for coming. Tonight we wanna talk about the empty lot on Cedar Street. The city says we can choose a plan. Ray, what do you think about it?</a:t>
            </a:r>
          </a:p>
          <a:p>
            <a:r>
              <a:t>Ray: Thanks, Mrs. Okafor. In my opinion, we need a parking lot. There aren't enough parking spaces on our street. I drive around for twenty minutes every night.</a:t>
            </a:r>
          </a:p>
          <a:p>
            <a:r>
              <a:t>Mrs. Okafor: That's true. Parking is a big problem. Lin, how do you feel about it?</a:t>
            </a:r>
          </a:p>
          <a:p>
            <a:r>
              <a:t>Lin: I see your point, Ray, but I'm not sure I agree. I think a community garden is a better idea.</a:t>
            </a:r>
          </a:p>
          <a:p>
            <a:r>
              <a:t>Ray: A garden? Why?</a:t>
            </a:r>
          </a:p>
          <a:p>
            <a:r>
              <a:t>Lin: First, a garden isn't as expensive as a parking lot. Also, if we had a garden, families would grow vegetables, and kids would spend more time outside.</a:t>
            </a:r>
          </a:p>
          <a:p>
            <a:r>
              <a:t>Ray: That's a good idea, but a garden is a lot of work. Who's gonna take care of it?</a:t>
            </a:r>
          </a:p>
          <a:p>
            <a:r>
              <a:t>Lin: I'd help, and I think many neighbors would help too.</a:t>
            </a:r>
          </a:p>
          <a:p>
            <a:r>
              <a:t>Mrs. Okafor: Ray, do you agree with that?</a:t>
            </a:r>
          </a:p>
          <a:p>
            <a:r>
              <a:t>Ray: Well, I agree that a garden is nice. But for me, parking is as important as a garden.</a:t>
            </a:r>
          </a:p>
          <a:p>
            <a:r>
              <a:t>Mrs. Okafor: OK. Those are two good ideas. Let's do a survey. We'll ask every neighbor on Cedar Street.</a:t>
            </a:r>
          </a:p>
          <a:p>
            <a:r>
              <a:t>Lin: I agree. That's fair.</a:t>
            </a:r>
          </a:p>
          <a:p>
            <a:r>
              <a:t>Ray: Yes, that's a good plan. I'll help with the survey.</a:t>
            </a:r>
          </a:p>
          <a:p>
            <a:r>
              <a:t>Mrs. Okafor: Great. We'll vote at the next meeting, on May twelfth. Thank you, everyone.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(the main idea). Pairs compare. Check together.</a:t>
            </a:r>
          </a:p>
          <a:p>
            <a:r>
              <a:t>Click to circle the answer: a (what to do with the empty lot).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a parking lot • 2 aren't enough parking spaces • 3 a community garden • 4 isn't as expensive as • 5 take care of it • 6 do a survey.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opinion, 2 feel, 3 point, 4 idea, 5 agree, 6 fair.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"Hear it, say it" (3 min): Point to the script lines. wanna = want to: "Tonight we wanna talk about the empty lot." gonna = going to: "Who's gonna take care of it?" Then practice I see your POINT, but… (the voice goes down on point, then a short pause) and the stress in It isn't as EXpensive. The class repeats the two lines twice.</a:t>
            </a:r>
          </a:p>
          <a:p>
            <a:r>
              <a:t>Reductions: the listening has gonna and wanna. Learners need to understand them; they can always say going to and want to.</a:t>
            </a:r>
          </a:p>
          <a:p>
            <a:r>
              <a:t>Lesson plan: Step 3: "Hear it, say it"; Listening page: Hear it, say it;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say, "In my opinion, summer is the best season." Ask a learner, "Do you agree?" Model two answers: a thumbs-up, "I agree. That's true," and a smile, "I see your point, but I like fall." Write: something positive first, then but. Then draw two prices: "A garden is $2,000. A parking lot is $20,000. A garden isn't as expensive as a parking lot."</a:t>
            </a:r>
          </a:p>
          <a:p>
            <a:r>
              <a:t>Box 1: read across: What do you think about the empty lot? → I think we need a playground.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agreeing and disagreeing politely. Each click shows the answer side of one row.</a:t>
            </a:r>
          </a:p>
          <a:p>
            <a:r>
              <a:t>Rule of thumb (read it aloud): To disagree politely, say something positive first: I see your point, but… / That's a good idea, but… Say I agree (not I am agree) and I don't agree (not I am not agree).</a:t>
            </a:r>
          </a:p>
          <a:p>
            <a:r>
              <a:t>Lesson plan: Step 4; Grammar Box 2; Rule of thumb.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as … as / not as … as.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the words in an opinion paragraph. Each click shows the answer side of one row.</a:t>
            </a:r>
          </a:p>
          <a:p>
            <a:r>
              <a:t>Questions and answers (2 min): Q: I am agree or I agree? A: I agree. agree is a verb, so there is no am. The negative is I don't agree. • Q: How do I disagree politely? A: Say something positive first: I see your point, but… or That's a good idea, but… • Q: not as expensive as or not as expensive than? A: Use as … as: A garden isn't as expensive as a parking lot.</a:t>
            </a:r>
          </a:p>
          <a:p>
            <a:r>
              <a:t>Check questions: "I am agree or I agree?" (I agree) • "Which is more polite: That's wrong or I see your point, but…?" (I see your point, but…) • "not as expensive as or not as expensive than?" (as … as).</a:t>
            </a:r>
          </a:p>
          <a:p>
            <a:r>
              <a:t>Lesson plan: Step 4; Grammar Box 4;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agree, 2 as, 3 think, 4 point, 5 opinion, 6 had.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correct words. Pairs check.</a:t>
            </a:r>
          </a:p>
          <a:p>
            <a:r>
              <a:t>Click to circle each answer (one click per item, 1 to 6): 1 I agree, 2 as, 3 That's a good idea, but, 4 feel, 5 expensive, 6 would.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mistakes. Read the table together: "Don't say… Say…". Read a line from Don't say. Ask: "What's the right way?" Learners try first. Then click to show the right form. Each click shows one line, in order 1 to 5.</a:t>
            </a:r>
          </a:p>
          <a:p>
            <a:r>
              <a:t>Learners can read the contrast tip on their Grammar page on their own; it is optional. You never need to read, translate, or explain it.</a:t>
            </a:r>
          </a:p>
          <a:p>
            <a:r>
              <a:t>Lesson plan: Grammar: Common mistakes;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check (last 3 min of Step 4). Pairs.</a:t>
            </a:r>
          </a:p>
          <a:p>
            <a:r>
              <a:t>A points to a picture and asks, "What do you think about a playground for the lot?" B gives an opinion and a reason. A agrees or disagrees politely. Switch. 15 learners: swap partners once. 5 or fewer: you join one pair.</a:t>
            </a:r>
          </a:p>
          <a:p>
            <a:r>
              <a:t>If behind: skip the pair check. Talk Time practices it.</a:t>
            </a:r>
          </a:p>
          <a:p>
            <a:r>
              <a:t>Break · 6:45–7:00 · 15 min. Write on the board: What do you think about…? → In my opinion… • I agree. / I see your point, but… • A garden isn't as expensive as a parking lot.</a:t>
            </a:r>
          </a:p>
          <a:p>
            <a:r>
              <a:t>Lesson plan: Step 4: Pair check; Break.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7:00–7:15 · Talk Time: Community Meeting + Opinion Lines · 15 min.</a:t>
            </a:r>
          </a:p>
          <a:p>
            <a:r>
              <a:t>Model it first (1 min): take the parent role card. Say, "In my opinion, the lot should be a playground. First, kids need a safe place to play." Ask a learner with the store owner card, "Do you agree?" Help them say, "I see your point, but customers can't find parking." Say: "Polite language is the goal, not winning."</a:t>
            </a:r>
          </a:p>
          <a:p>
            <a:r>
              <a:t>Round 1 (7 min): Community Meeting (groups of 4). Each person has a role card with a plan and 2 reasons. Each person gives an opinion; the others agree or disagree politely. The group chooses one plan and writes 3 reasons. Each click shows the next step.</a:t>
            </a:r>
          </a:p>
          <a:p>
            <a:r>
              <a:t>15 learners: 4 groups (one of 3) for round 1; then whole-room lines. 7–8 learners: 2 groups for round 1; then lines. 5 or fewer: one group for round 1: you take a role card. Then lines.</a:t>
            </a:r>
          </a:p>
          <a:p>
            <a:r>
              <a:t>Lesson plan: Step 5; Talk Time: Community Meeting.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(6 min): Opinion Lines (whole room). Read a statement. Learners stand by the AGREE, NOT SURE, or DISAGREE sign and explain. Someone on another side answers with I see your point, but… Each click shows the next step.</a:t>
            </a:r>
          </a:p>
          <a:p>
            <a:r>
              <a:t>15 learners: 4 groups (one of 3) for round 1; then whole-room lines. 7–8 learners: 2 groups for round 1; then lines. 5 or fewer: one group for round 1: you take a role card. Then lines.</a:t>
            </a:r>
          </a:p>
          <a:p>
            <a:r>
              <a:t>Every answer needs a reason; every partner asks a follow-up. Walk around and listen. Note 2 good sentences to praise and 1 common error for next week.</a:t>
            </a:r>
          </a:p>
          <a:p>
            <a:r>
              <a:t>If behind: round 1 only.</a:t>
            </a:r>
          </a:p>
          <a:p>
            <a:r>
              <a:t>Lesson plan: Step 5; Talk Time: Opinion Lines.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7:15–7:25 · Read &amp; Write: A meeting flyer + two letters · 10 min. Pairs read, then individual writing.</a:t>
            </a:r>
          </a:p>
          <a:p>
            <a:r>
              <a:t>Read (4 min): Learners read the flyer and the two letters on the Read &amp; Write page and answer the questions. Say: "Read fast first. Then find the answers." Pairs answer questions 1–5 together.</a:t>
            </a:r>
          </a:p>
          <a:p>
            <a:r>
              <a:t>Check (1 min): click to show each answer (one click per question, 1 to 5): 1 Thursday, May 12, at 7:00 p.m. • 2 A playground. • 3 Kids don't have a safe place to play. • 4 No. He sees her point, but he isn't sure he agrees. • 5 Two benches and a small garden.</a:t>
            </a:r>
          </a:p>
          <a:p>
            <a:r>
              <a:t>Write (5 min): Learners write an opinion paragraph (5–8 sentences) about the empty lot: a topic sentence, two reasons (First… Also…), an example, and a closing (That's why…). Show the example. Writing check 3: collect this paragraph and write one strength and one fix. Learners start in class and finish at home (Homework item 2).</a:t>
            </a:r>
          </a:p>
          <a:p>
            <a:r>
              <a:t>If behind: questions 1–5 only; the writing becomes homework.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+ Homework · 5 min · NEVER SKIP.</a:t>
            </a:r>
          </a:p>
          <a:p>
            <a:r>
              <a:t>Exit ticket (3 min): learners open the Exit Ticket page and answer in 3 sentences with a reason: Which is better for an empty lot: a playground or a parking lot? Example on the board: In my opinion, a playground is better. Kids need a safe place to play because the park is far. I see the other point, but parking isn't as important as kids. With 5 or fewer, a learner can say it to you first and then write it.</a:t>
            </a:r>
          </a:p>
          <a:p>
            <a:r>
              <a:t>Collect the pages. After class, sort them into ✓ / almost / not yet. Start next week with 2 corrections on the board (no names).</a:t>
            </a:r>
          </a:p>
          <a:p>
            <a:r>
              <a:t>Homework (2 min): open the Homework page. Do item 1 together (item 1: playground / important / parking (as … as) → A playground is as important as parking.). Say: "About 15–20 minutes. Finish your Read &amp; Write writing at home."</a:t>
            </a:r>
          </a:p>
          <a:p>
            <a:r>
              <a:t>Homework items: 1. Write the sentence or question. Use the words. • 2. Finish your writing from Read &amp; Write C (your paragraph). Read it one more time. Check ✓ the list in D. • 3. What should change in your neighborhood? Write your opinion and 3 reasons. • 4. Review (Lesson 8). Write one word.</a:t>
            </a:r>
          </a:p>
          <a:p>
            <a:r>
              <a:t>Writing check 3 (Week 10): collect the opinion paragraph. Write one strength and one fix on each. Learners keep them in their writing folder.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1:48)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Opinion: a person and a speech bubble [sign: I THINK…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Point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an opinion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for someone's opinion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Agree and disagree politely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goal is a good goal.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an opinion with a reason.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for someone's opinion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think about…? / How do you feel about…?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agree and disagree politely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agree. / I see your point, but…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compare two ideas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… as / not as … as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an opinion paragraph (5–8 sentences)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First… Also… That's why…</a:t>
            </a:r>
            <a:endParaRPr lang="en-US" sz="15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Agree: a person and a thumbs-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the library opens?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sure, or is it maybe?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sentences: the answer, a reason, and a detail.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sure, or is it maybe? How do you know? Why?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the library opens?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might change in this city next year?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where the nearest bus stop is?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it rain this weekend?</a:t>
            </a:r>
            <a:endParaRPr lang="en-US" sz="20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8, items 1 and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Opinion: a person and a speech bubble [sign: I THINK…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opinion</a:t>
            </a:r>
            <a:endParaRPr lang="en-US" sz="2000" dirty="0" b="1"/>
          </a:p>
        </p:txBody>
      </p:sp>
      <p:pic>
        <p:nvPicPr>
          <p:cNvPr id="19" name="Word picture 2" descr="Agree: a person and a thumbs-u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agree</a:t>
            </a:r>
            <a:endParaRPr lang="en-US" sz="2000" dirty="0" b="1"/>
          </a:p>
        </p:txBody>
      </p:sp>
      <p:pic>
        <p:nvPicPr>
          <p:cNvPr id="21" name="Word picture 3" descr="Disagree: a person and a thumbs-dow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disagree</a:t>
            </a:r>
            <a:endParaRPr lang="en-US" sz="2000" dirty="0" b="1"/>
          </a:p>
        </p:txBody>
      </p:sp>
      <p:pic>
        <p:nvPicPr>
          <p:cNvPr id="23" name="Word picture 4" descr="Point (I see your point): eyes and a light bulb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point (I see your point)</a:t>
            </a:r>
            <a:endParaRPr lang="en-US" sz="1800" dirty="0" b="1"/>
          </a:p>
        </p:txBody>
      </p:sp>
      <p:pic>
        <p:nvPicPr>
          <p:cNvPr id="25" name="Word picture 5" descr="Community meeting: two people holding hands and a chair [sign: MEETING 7 PM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community meeting</a:t>
            </a:r>
            <a:endParaRPr lang="en-US" sz="1800" dirty="0" b="1"/>
          </a:p>
        </p:txBody>
      </p:sp>
      <p:pic>
        <p:nvPicPr>
          <p:cNvPr id="27" name="Word picture 6" descr="Empty lot: a barrier and tall grass [sign: EMPTY LOT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empty lot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29184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think?</a:t>
            </a:r>
            <a:endParaRPr lang="en-US" sz="2200" dirty="0" b="1"/>
          </a:p>
        </p:txBody>
      </p:sp>
      <p:pic>
        <p:nvPicPr>
          <p:cNvPr id="17" name="Word picture 1" descr="Community garden: a sunflower and a carro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community garden</a:t>
            </a:r>
            <a:endParaRPr lang="en-US" sz="1800" dirty="0" b="1"/>
          </a:p>
        </p:txBody>
      </p:sp>
      <p:pic>
        <p:nvPicPr>
          <p:cNvPr id="19" name="Word picture 2" descr="Parking lot: a parking sign and a c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parking lot</a:t>
            </a:r>
            <a:endParaRPr lang="en-US" sz="2000" dirty="0" b="1"/>
          </a:p>
        </p:txBody>
      </p:sp>
      <p:pic>
        <p:nvPicPr>
          <p:cNvPr id="21" name="Word picture 3" descr="Playground: a playground slide and a chil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playground</a:t>
            </a:r>
            <a:endParaRPr lang="en-US" sz="2000" dirty="0" b="1"/>
          </a:p>
        </p:txBody>
      </p:sp>
      <p:pic>
        <p:nvPicPr>
          <p:cNvPr id="23" name="Word picture 4" descr="Survey: a clipboard and a pencil [sign: SURVEY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survey</a:t>
            </a:r>
            <a:endParaRPr lang="en-US" sz="2000" dirty="0" b="1"/>
          </a:p>
        </p:txBody>
      </p:sp>
      <p:pic>
        <p:nvPicPr>
          <p:cNvPr id="25" name="Word picture 5" descr="Vote (raise your hand): a person raising a hand and a raised han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vote (raise your hand)</a:t>
            </a:r>
            <a:endParaRPr lang="en-US" sz="1800" dirty="0" b="1"/>
          </a:p>
        </p:txBody>
      </p:sp>
      <p:pic>
        <p:nvPicPr>
          <p:cNvPr id="27" name="Word picture 6" descr="Advantage / disadvantage: a plus sign and a minus sig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advantage / disadvantage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 empty lot full or empty?</a:t>
            </a:r>
            <a:endParaRPr lang="en-US" sz="1600" dirty="0" b="1"/>
          </a:p>
        </p:txBody>
      </p:sp>
      <p:pic>
        <p:nvPicPr>
          <p:cNvPr id="101" name="R1 pic" descr="Empty lot: a barrier and tall grass [sign: EMPTY LOT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 agree, do you say That's true or That's wrong?</a:t>
            </a:r>
            <a:endParaRPr lang="en-US" sz="1600" dirty="0" b="1"/>
          </a:p>
        </p:txBody>
      </p:sp>
      <p:pic>
        <p:nvPicPr>
          <p:cNvPr id="102" name="R2 pic" descr="Agree: a person and a thumbs-u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survey for one person or many people?</a:t>
            </a:r>
            <a:endParaRPr lang="en-US" sz="1600" dirty="0" b="1"/>
          </a:p>
        </p:txBody>
      </p:sp>
      <p:pic>
        <p:nvPicPr>
          <p:cNvPr id="103" name="R3 pic" descr="Survey: a clipboard and a pencil [sign: SURVEY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empty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true</a:t>
            </a:r>
            <a:endParaRPr lang="en-US" sz="22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 people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Neighbors are at a community meeting. Mrs. Okafor is the leader. Ray and Lin give their opinions about the empty lot on Cedar Street.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Empty lot: a barrier and tall grass [sign: EMPTY LO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Mrs. Okafor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Ray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Lin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they deciding?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2: Tasks B and C.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(about 1:48): coming soon.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are they deciding?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7830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246888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what to do with the empty lot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4924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when to have a street party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22960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where to put a new bus stop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2340864" y="3054096"/>
            <a:ext cx="29992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Match the person, the opinion, and the reason.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answer.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Ray wants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62940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parking lot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886968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community garden</a:t>
            </a:r>
            <a:endParaRPr lang="en-US" sz="1400" dirty="0" b="1"/>
          </a:p>
        </p:txBody>
      </p:sp>
      <p:sp>
        <p:nvSpPr>
          <p:cNvPr id="11" name="R1 circle"/>
          <p:cNvSpPr/>
          <p:nvPr/>
        </p:nvSpPr>
        <p:spPr>
          <a:xfrm>
            <a:off x="6501384" y="30540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Ray's reason: there ____ on the street.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62940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aren't enough parking spaces</a:t>
            </a:r>
            <a:endParaRPr lang="en-US" sz="1400" dirty="0" b="1"/>
          </a:p>
        </p:txBody>
      </p:sp>
      <p:sp>
        <p:nvSpPr>
          <p:cNvPr id="14" name="R2 opt2"/>
          <p:cNvSpPr/>
          <p:nvPr/>
        </p:nvSpPr>
        <p:spPr>
          <a:xfrm>
            <a:off x="886968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too many trees</a:t>
            </a:r>
            <a:endParaRPr lang="en-US" sz="1400" dirty="0" b="1"/>
          </a:p>
        </p:txBody>
      </p:sp>
      <p:sp>
        <p:nvSpPr>
          <p:cNvPr id="15" name="R2 circle"/>
          <p:cNvSpPr/>
          <p:nvPr/>
        </p:nvSpPr>
        <p:spPr>
          <a:xfrm>
            <a:off x="6501384" y="360273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Lin wants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62940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parking lot</a:t>
            </a:r>
            <a:endParaRPr lang="en-US" sz="1400" dirty="0" b="1"/>
          </a:p>
        </p:txBody>
      </p:sp>
      <p:sp>
        <p:nvSpPr>
          <p:cNvPr id="18" name="R3 opt2"/>
          <p:cNvSpPr/>
          <p:nvPr/>
        </p:nvSpPr>
        <p:spPr>
          <a:xfrm>
            <a:off x="886968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community garden</a:t>
            </a:r>
            <a:endParaRPr lang="en-US" sz="1400" dirty="0" b="1"/>
          </a:p>
        </p:txBody>
      </p:sp>
      <p:sp>
        <p:nvSpPr>
          <p:cNvPr id="19" name="R3 circle"/>
          <p:cNvSpPr/>
          <p:nvPr/>
        </p:nvSpPr>
        <p:spPr>
          <a:xfrm>
            <a:off x="8741664" y="415137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Lin's first reason: a garden ____ a parking lot.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62940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as expensive as</a:t>
            </a:r>
            <a:endParaRPr lang="en-US" sz="1400" dirty="0" b="1"/>
          </a:p>
        </p:txBody>
      </p:sp>
      <p:sp>
        <p:nvSpPr>
          <p:cNvPr id="22" name="R4 opt2"/>
          <p:cNvSpPr/>
          <p:nvPr/>
        </p:nvSpPr>
        <p:spPr>
          <a:xfrm>
            <a:off x="886968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more expensive than</a:t>
            </a:r>
            <a:endParaRPr lang="en-US" sz="1400" dirty="0" b="1"/>
          </a:p>
        </p:txBody>
      </p:sp>
      <p:sp>
        <p:nvSpPr>
          <p:cNvPr id="23" name="R4 circle"/>
          <p:cNvSpPr/>
          <p:nvPr/>
        </p:nvSpPr>
        <p:spPr>
          <a:xfrm>
            <a:off x="6501384" y="470001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Ray's question: who's going to ____?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62940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 care of it</a:t>
            </a:r>
            <a:endParaRPr lang="en-US" sz="1400" dirty="0" b="1"/>
          </a:p>
        </p:txBody>
      </p:sp>
      <p:sp>
        <p:nvSpPr>
          <p:cNvPr id="26" name="R5 opt2"/>
          <p:cNvSpPr/>
          <p:nvPr/>
        </p:nvSpPr>
        <p:spPr>
          <a:xfrm>
            <a:off x="886968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pay for it</a:t>
            </a:r>
            <a:endParaRPr lang="en-US" sz="1400" dirty="0" b="1"/>
          </a:p>
        </p:txBody>
      </p:sp>
      <p:sp>
        <p:nvSpPr>
          <p:cNvPr id="27" name="R5 circle"/>
          <p:cNvSpPr/>
          <p:nvPr/>
        </p:nvSpPr>
        <p:spPr>
          <a:xfrm>
            <a:off x="6501384" y="524865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The plan: they will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62940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a survey</a:t>
            </a:r>
            <a:endParaRPr lang="en-US" sz="1400" dirty="0" b="1"/>
          </a:p>
        </p:txBody>
      </p:sp>
      <p:sp>
        <p:nvSpPr>
          <p:cNvPr id="30" name="R6 opt2"/>
          <p:cNvSpPr/>
          <p:nvPr/>
        </p:nvSpPr>
        <p:spPr>
          <a:xfrm>
            <a:off x="886968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build the garden</a:t>
            </a:r>
            <a:endParaRPr lang="en-US" sz="1400" dirty="0" b="1"/>
          </a:p>
        </p:txBody>
      </p:sp>
      <p:sp>
        <p:nvSpPr>
          <p:cNvPr id="31" name="R6 circle"/>
          <p:cNvSpPr/>
          <p:nvPr/>
        </p:nvSpPr>
        <p:spPr>
          <a:xfrm>
            <a:off x="6501384" y="57972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 in the polite phrase.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 in the polite phrase.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____, we need a parking lot.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opinion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____ about it?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feel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____, Ray, but I'm not sure I agree.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a good ____, but a garden is a lot of work.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idea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Well, I ____ that a garden is nice.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agree. That's ____.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fair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= going to, wanna = want to</a:t>
            </a:r>
            <a:endParaRPr lang="en-US" sz="18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a polite but…, and the stress</a:t>
            </a:r>
            <a:endParaRPr lang="en-US" sz="18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will hear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voice goes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down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Tonight we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talk about the empty lot.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Who's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care of it?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but…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isn't as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pensive.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ommunity garden: a sunflower and a carr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asking for and giving an opinion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think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the empty lot?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think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 need a playground.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feel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a parking lot?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opinion,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a good idea.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opinion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the bus stop?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not sure, but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maybe it's too far.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arking lot: a parking sign and a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agreeing and disagreeing politely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agree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Ray?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agree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him.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true.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Parking is a problem.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agree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Lin?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point, but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garden is a lot of work.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agree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the survey?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not sure I agree,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takes a long time.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layground: a playground slide and a chi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… as / not as … as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MEANING  ·  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important as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same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playground is as important as parking.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as expensive as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garden isn't as expensive as a parking lot.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… than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(review)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parking lot is more expensive than a garden.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urvey: a clipboard and a pencil [sign: SURVEY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opinion paragraph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WORDS  ·  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topic sentence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opinion, / I think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opinion, the lot should be a playground.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reason 1 and reason 2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… Also, …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kids need a safe place to play. Also, it isn't as expensive as a parking lot.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 example,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 example, the nearest park is two miles away.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closing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why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why I think a playground is the best plan.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with you. That's true.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222144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garden isn't ____ expensive as a parking lot.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950312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____ about the new bus stop?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67847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think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____, but I'm not sure.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440664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____, we need more trees.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513481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opinion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we ____ a playground, kids would play outside more. (have)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862980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____ with Lin.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76656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agree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896112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agree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638544" y="30540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A playground is as important ____ parking.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76656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896112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than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6638544" y="360273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____ it's a lot of work. (polite)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76656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a good idea, but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896112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wrong, and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638544" y="415137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How do you ____ about the plan?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76656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feel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896112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think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638544" y="470001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A garden isn't as ____ as a parking lot.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76656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expensive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896112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expensive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6638544" y="524865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If we had a garden, families ____ grow vegetables.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76656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896112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638544" y="57972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Vote (raise your hand): a person raising a hand and a raised 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agree.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not agree.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agree.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garden isn't as expensive than parking.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garden isn't as expensive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parking.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44398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think the plan?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44398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think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plan?</a:t>
            </a:r>
            <a:endParaRPr lang="en-US" sz="17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010912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that's wrong. (in a meeting)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010912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point, but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I'm not sure.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Advantage / disadvantage: a plus sign and a minus sig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gives an opinion and a reason.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What do you think about a playground for the lot?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my opinion… because…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agree. / I see your point, but…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and asks.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Community meeting: two people holding hands and a chair [sign: MEETING 7 PM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Community Meeting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4.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 a role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your opinion with 2 reasons.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opinion, the lot should be a playground.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others agree or disagree politely.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point, but…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choose one plan.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true, but…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Vote (raise your hand): a person raising a hand and a raised 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Opinion Lines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to the statement.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Stand by a sign.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Stand by AGREE, NOT SURE, or DISAGREE.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agree because…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why.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not sure.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someone on another side.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point, but…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fast first.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CEDAR STREET NEIGHBORS · A flyer + two letters (invented)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is the meeting?</a:t>
            </a:r>
            <a:endParaRPr lang="en-US" sz="1500" dirty="0"/>
          </a:p>
        </p:txBody>
      </p:sp>
      <p:sp>
        <p:nvSpPr>
          <p:cNvPr id="35" name="R1 ans"/>
          <p:cNvSpPr/>
          <p:nvPr/>
        </p:nvSpPr>
        <p:spPr>
          <a:xfrm>
            <a:off x="4187952" y="2525573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Thursday, May 12, at 7:00 p.m.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Maria want?</a:t>
            </a:r>
            <a:endParaRPr lang="en-US" sz="1500" dirty="0"/>
          </a:p>
        </p:txBody>
      </p:sp>
      <p:sp>
        <p:nvSpPr>
          <p:cNvPr id="40" name="R2 ans"/>
          <p:cNvSpPr/>
          <p:nvPr/>
        </p:nvSpPr>
        <p:spPr>
          <a:xfrm>
            <a:off x="4187952" y="3311957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playground.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Maria's first reason?</a:t>
            </a:r>
            <a:endParaRPr lang="en-US" sz="1500" dirty="0"/>
          </a:p>
        </p:txBody>
      </p:sp>
      <p:sp>
        <p:nvSpPr>
          <p:cNvPr id="45" name="R3 ans"/>
          <p:cNvSpPr/>
          <p:nvPr/>
        </p:nvSpPr>
        <p:spPr>
          <a:xfrm>
            <a:off x="4187952" y="4098341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Kids don't have a safe place to play.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Ray agree with Maria?</a:t>
            </a:r>
            <a:endParaRPr lang="en-US" sz="1500" dirty="0"/>
          </a:p>
        </p:txBody>
      </p:sp>
      <p:sp>
        <p:nvSpPr>
          <p:cNvPr id="50" name="R4 ans"/>
          <p:cNvSpPr/>
          <p:nvPr/>
        </p:nvSpPr>
        <p:spPr>
          <a:xfrm>
            <a:off x="4187952" y="4884725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He sees her point, but he isn't sure he agrees.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could go next to the parking lot?</a:t>
            </a:r>
            <a:endParaRPr lang="en-US" sz="1500" dirty="0"/>
          </a:p>
        </p:txBody>
      </p:sp>
      <p:sp>
        <p:nvSpPr>
          <p:cNvPr id="55" name="R5 ans"/>
          <p:cNvSpPr/>
          <p:nvPr/>
        </p:nvSpPr>
        <p:spPr>
          <a:xfrm>
            <a:off x="4187952" y="5671109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benches and a small garden.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Point (I see your point): eyes and a light bul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is better for an empty lot: a playground or a parking lot?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Your opinion (In my opinion, …).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 reason, with because.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I see the other point, but….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6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15–20 minutes.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 or question.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writing from Read &amp; Write C (your paragraph).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What should change in your neighborhood? Write your opinion and 3 reasons.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8).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6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Community meeting: two people holding hands and a chair [sign: MEETING 7 PM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an opinion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for someone's opinion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Agree and disagree politely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Mrs. Okafor, Ray, Lin, and Maria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Lesson 9: I See Your Point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