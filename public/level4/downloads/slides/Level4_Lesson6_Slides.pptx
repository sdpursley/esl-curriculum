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731" r:id="rId33"/>
    <p:sldId id="732" r:id="rId34"/>
    <p:sldId id="733" r:id="rId35"/>
    <p:sldId id="734" r:id="rId36"/>
    <p:sldId id="735" r:id="rId31"/>
    <p:sldId id="736" r:id="rId30"/>
    <p:sldId id="737" r:id="rId29"/>
    <p:sldId id="738" r:id="rId28"/>
    <p:sldId id="739" r:id="rId27"/>
    <p:sldId id="740" r:id="rId20"/>
    <p:sldId id="741" r:id="rId18"/>
    <p:sldId id="742" r:id="rId17"/>
    <p:sldId id="743" r:id="rId16"/>
    <p:sldId id="744" r:id="rId14"/>
    <p:sldId id="745" r:id="rId13"/>
    <p:sldId id="746" r:id="rId12"/>
    <p:sldId id="747" r:id="rId11"/>
    <p:sldId id="748" r:id="rId10"/>
    <p:sldId id="749" r:id="rId8"/>
    <p:sldId id="750" r:id="rId7"/>
    <p:sldId id="751" r:id="rId6"/>
    <p:sldId id="752" r:id="rId5"/>
    <p:sldId id="753" r:id="rId4"/>
    <p:sldId id="754" r:id="rId3"/>
    <p:sldId id="755" r:id="rId57"/>
    <p:sldId id="7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2.xml"/><Relationship Id="rId3" Type="http://schemas.openxmlformats.org/officeDocument/2006/relationships/slide" Target="slides/slide50.xml"/><Relationship Id="rId4" Type="http://schemas.openxmlformats.org/officeDocument/2006/relationships/slide" Target="slides/slide49.xml"/><Relationship Id="rId5" Type="http://schemas.openxmlformats.org/officeDocument/2006/relationships/slide" Target="slides/slide48.xml"/><Relationship Id="rId6" Type="http://schemas.openxmlformats.org/officeDocument/2006/relationships/slide" Target="slides/slide47.xml"/><Relationship Id="rId7" Type="http://schemas.openxmlformats.org/officeDocument/2006/relationships/slide" Target="slides/slide46.xml"/><Relationship Id="rId8" Type="http://schemas.openxmlformats.org/officeDocument/2006/relationships/slide" Target="slides/slide45.xml"/><Relationship Id="rId10" Type="http://schemas.openxmlformats.org/officeDocument/2006/relationships/slide" Target="slides/slide44.xml"/><Relationship Id="rId11" Type="http://schemas.openxmlformats.org/officeDocument/2006/relationships/slide" Target="slides/slide43.xml"/><Relationship Id="rId12" Type="http://schemas.openxmlformats.org/officeDocument/2006/relationships/slide" Target="slides/slide42.xml"/><Relationship Id="rId13" Type="http://schemas.openxmlformats.org/officeDocument/2006/relationships/slide" Target="slides/slide41.xml"/><Relationship Id="rId14" Type="http://schemas.openxmlformats.org/officeDocument/2006/relationships/slide" Target="slides/slide40.xml"/><Relationship Id="rId16" Type="http://schemas.openxmlformats.org/officeDocument/2006/relationships/slide" Target="slides/slide39.xml"/><Relationship Id="rId17" Type="http://schemas.openxmlformats.org/officeDocument/2006/relationships/slide" Target="slides/slide38.xml"/><Relationship Id="rId18" Type="http://schemas.openxmlformats.org/officeDocument/2006/relationships/slide" Target="slides/slide37.xml"/><Relationship Id="rId20" Type="http://schemas.openxmlformats.org/officeDocument/2006/relationships/slide" Target="slides/slide36.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5.xml"/><Relationship Id="rId28" Type="http://schemas.openxmlformats.org/officeDocument/2006/relationships/slide" Target="slides/slide34.xml"/><Relationship Id="rId29" Type="http://schemas.openxmlformats.org/officeDocument/2006/relationships/slide" Target="slides/slide33.xml"/><Relationship Id="rId30" Type="http://schemas.openxmlformats.org/officeDocument/2006/relationships/slide" Target="slides/slide32.xml"/><Relationship Id="rId31" Type="http://schemas.openxmlformats.org/officeDocument/2006/relationships/slide" Target="slides/slide31.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57"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the listening audio for this lesson (about 1:51)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 7:25–7:30 · Exit Ticket + Homework · 5 min · NEVER SKIP.</a:t>
            </a:r>
          </a:p>
          <a:p>
            <a:r>
              <a:t>Exit ticket (3 min): learners open the Exit Ticket page and answer in 3 sentences with a reason: What would you do if you had a free week? Example on the board: If I had a free week, I'd visit my sister in Chicago. I'd also cook a big dinner for my family. I'd do that because I don't see them very often. With 5 or fewer, a learner can say it to you first and then write it.</a:t>
            </a:r>
          </a:p>
          <a:p>
            <a:r>
              <a:t>Collect the pages. After class, sort them into ✓ / almost / not yet. Start next week with 2 corrections on the board (no names).</a:t>
            </a:r>
          </a:p>
          <a:p>
            <a:r>
              <a:t>Homework (2 min): open the Homework page. Do item 1 together (item 1: if I / have / a free week, I / visit / my cousin → If I had a free week, I'd visit my cousin.). Say: "About 15–20 minutes. Finish your Read &amp; Write writing at home."</a:t>
            </a:r>
          </a:p>
          <a:p>
            <a:r>
              <a:t>Homework items: 1. Write the sentence. Use the words. • 2. Finish your writing from Read &amp; Write C (your reply). Read it one more time. Check ✓ the list in D. • 3. Write 3 sentences about your dreams. Use If I had…, I'd… and a reason. • 4. Review (Lesson 5). Write one word.</a:t>
            </a:r>
          </a:p>
          <a:p>
            <a:r>
              <a:t>Lesson plan: Step 7; Exit Ticket page; Homework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7:15–7:25 · Read &amp; Write: An advice column · 10 min. Pairs read, then individual writing.</a:t>
            </a:r>
          </a:p>
          <a:p>
            <a:r>
              <a:t>Read (4 min): Learners read a letter to an advice column and the answer on the Read &amp; Write page and answer the questions. Say: "Read fast first. Then find the answers." Pairs answer questions 1–5 together.</a:t>
            </a:r>
          </a:p>
          <a:p>
            <a:r>
              <a:t>Check (1 min): click to show each answer (one click per question, 1 to 5): 1 At a busy restaurant. • 2 30 minutes, not 15. • 3 She'd talk to Leo. • 4 Alone, not in front of other people. • 5 If Leo still took long breaks after that.</a:t>
            </a:r>
          </a:p>
          <a:p>
            <a:r>
              <a:t>Write (5 min): Learners read a short letter about a noisy neighbor and write a reply (5–8 sentences) with If I were you, I'd… because…. Show the example. Invented details are fine. Learners start in class and finish at home (Homework item 2).</a:t>
            </a:r>
          </a:p>
          <a:p>
            <a:r>
              <a:t>If behind: questions 1–5 only; the writing becomes homework.</a:t>
            </a:r>
          </a:p>
          <a:p>
            <a:r>
              <a:t>Lesson plan: Step 6; Read &amp; Write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(6 min): Magic Wand Chain (circle). Pass the "magic wand." Each person says, "If I had a magic wand, I'd…" One more round: "If I had my dream job, I'd…" Classmates can ask one follow-up question. Each click shows the next step.</a:t>
            </a:r>
          </a:p>
          <a:p>
            <a:r>
              <a:t>15 learners: groups of 3–4 for round 1; then two circles for round 2. 7–8 learners: two groups for round 1; then one circle. 5 or fewer: one group for round 1: you read the cards. Then one circle.</a:t>
            </a:r>
          </a:p>
          <a:p>
            <a:r>
              <a:t>Every answer needs a reason; every partner asks a follow-up. Walk around and listen. Note 2 good sentences to praise and 1 common error for next week.</a:t>
            </a:r>
          </a:p>
          <a:p>
            <a:r>
              <a:t>If behind: round 1 only.</a:t>
            </a:r>
          </a:p>
          <a:p>
            <a:r>
              <a:t>Lesson plan: Step 5; Talk Time: Magic Wand Chain.</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7:00–7:15 · Talk Time: What Would You Do? + Magic Wand Chain · 15 min.</a:t>
            </a:r>
          </a:p>
          <a:p>
            <a:r>
              <a:t>Model it first (1 min): read a card: "You find $50 on the floor at work. What would you do?" Help a learner say, "If I found $50, I'd give it to my supervisor because it isn't mine." Say: "Your answer, then because."</a:t>
            </a:r>
          </a:p>
          <a:p>
            <a:r>
              <a:t>Round 1 (7 min): What Would You Do? (groups of 3–4). One person reads a situation card. Each person answers with If I…, I'd… and a reason. The group writes the most common answer. Then the next person reads a card. Each click shows the next step.</a:t>
            </a:r>
          </a:p>
          <a:p>
            <a:r>
              <a:t>15 learners: groups of 3–4 for round 1; then two circles for round 2. 7–8 learners: two groups for round 1; then one circle. 5 or fewer: one group for round 1: you read the cards. Then one circle.</a:t>
            </a:r>
          </a:p>
          <a:p>
            <a:r>
              <a:t>Lesson plan: Step 5; Talk Time: What Would You Do?.</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check (last 3 min of Step 4). Pairs.</a:t>
            </a:r>
          </a:p>
          <a:p>
            <a:r>
              <a:t>A reads a situation from the pictures: "What would you do if you found an envelope with money?" B answers with If I found…, I'd… and a reason. Switch. 15 learners: swap partners once. 5 or fewer: you join one pair.</a:t>
            </a:r>
          </a:p>
          <a:p>
            <a:r>
              <a:t>If behind: skip the pair check. Talk Time practices it.</a:t>
            </a:r>
          </a:p>
          <a:p>
            <a:r>
              <a:t>Break · 6:45–7:00 · 15 min. Write on the board: What would you do if you found $50? → If I found $50, I'd give it back. • If I were you, I'd… • If it rains, I'll… (possible)</a:t>
            </a:r>
          </a:p>
          <a:p>
            <a:r>
              <a:t>Lesson plan: Step 4: Pair check; Break.</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Read the table together: "Don't say… Say…". Read a line from Don't say. Ask: "What's the right way?" Learners try first. Then click to show the right form. Each click shows one line, in order 1 to 5.</a:t>
            </a:r>
          </a:p>
          <a:p>
            <a:r>
              <a:t>Learners can read the contrast tip on their Grammar page on their own; it is optional. You never need to read, translate, or explain it.</a:t>
            </a:r>
          </a:p>
          <a:p>
            <a:r>
              <a:t>Lesson plan: Grammar: Common mistakes;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correct words. Pairs check.</a:t>
            </a:r>
          </a:p>
          <a:p>
            <a:r>
              <a:t>Click to circle each answer (one click per item, 1 to 6): 1 had, 2 would, 3 were, 4 rains, 5 wouldn't, 6 What would you do.</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found, 2 take, 3 were, 4 do, 5 had, 6 I'll.</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If I were you, I'd… for advice. Each click shows the answer side of one row.</a:t>
            </a:r>
          </a:p>
          <a:p>
            <a:r>
              <a:t>Questions and answers (2 min): Q: Can I say If I would have time, I'd take a class? A: No. Never put would right after if: If I had time, I'd take a class. • Q: If I was you or If I were you? A: Write If I were you. In speaking, many people say If I was you. That's OK. • Q: If it rains or If it rained? A: Possible (maybe tomorrow): If it rains, I'll stay home. Imaginary (not real now): If I had a car, I'd drive.</a:t>
            </a:r>
          </a:p>
          <a:p>
            <a:r>
              <a:t>Check questions: "Do I have a magic wand?" (no) "So do I say If I have or If I had?" (If I had) • "If I would have time or If I had time?" (If I had time) • "If I were you or If I am you?" (If I were you).</a:t>
            </a:r>
          </a:p>
          <a:p>
            <a:r>
              <a:t>Lesson plan: Step 4; Grammar Box 4; Questions and answers.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I'd and wouldn't. Each click shows the answer side of one row.</a:t>
            </a:r>
          </a:p>
          <a:p>
            <a:r>
              <a:t>Lesson plan: Step 4; Grammar Box 3.</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possible (If it rains, I'll…) vs. imaginary (If I had a car, I'd…). Each click shows the answer side of one row.</a:t>
            </a:r>
          </a:p>
          <a:p>
            <a:r>
              <a:t>Rule of thumb (read it aloud): Imaginary: use the past form after if (found, had, were). Use would / 'd + base verb in the other half (I'd give, I'd visit). Never put would right after if.</a:t>
            </a:r>
          </a:p>
          <a:p>
            <a:r>
              <a:t>Lesson plan: Step 4; Grammar Box 2; Rule of thumb.</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20). Whole class, then pairs. Show the Grammar page. The left side is the question. The right side is the answer.</a:t>
            </a:r>
          </a:p>
          <a:p>
            <a:r>
              <a:t>Show it (2 min): hold up a pencil as a magic wand. Say, "I don't have a magic wand. But if I had a magic wand, I'd fix all the potholes in this city." Write it in two halves: If I had a magic wand, | I'd fix the potholes. Say: "It's not real. We use the past form after if and would in the other half."</a:t>
            </a:r>
          </a:p>
          <a:p>
            <a:r>
              <a:t>Box 1: read across: What would you do if you found $50 at work? → If I found $50, I'd give it to my supervisor. Each click shows the answer side of one row.</a:t>
            </a:r>
          </a:p>
          <a:p>
            <a:r>
              <a:t>Lesson plan: Step 4; Grammar Box 1.</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it, say it" (3 min): Point to the script lines. wanna = want to: "I want to hear your ideas." gonna = going to: "If you're going to call, call early!" Then practice I'd (say the d): I'd give it back, and What would you DO? with the stress on do. The class repeats the two lines twice.</a:t>
            </a:r>
          </a:p>
          <a:p>
            <a:r>
              <a:t>Reductions: the listening says going to and want to. People often say gonna and wanna. Learners only need to recognize the short forms.</a:t>
            </a:r>
          </a:p>
          <a:p>
            <a:r>
              <a:t>Lesson plan: Step 3: "Hear it, say it"; Listening page: Hear it,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would, 2 kept, 3 were, 4 I'd, 5 I'd, 6 found.</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circle each answer (one click per item, 1 to 6): 1 give the money back • 2 made a mistake • 3 $20 • 4 the next day • 5 probably keep it • 6 an envelope with money at work.</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(the main idea). Pairs compare. Check together.</a:t>
            </a:r>
          </a:p>
          <a:p>
            <a:r>
              <a:t>Click to circle the answer: a (A cashier gives you too much change.).</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6:15–6:30 · Listening + "Hear it, say it" · 15 min (slides 8 to 12). Individuals, then pairs check.</a:t>
            </a:r>
          </a:p>
          <a:p>
            <a:r>
              <a:t>Before you listen (2 min). Say: "This is a radio show called What Would You Do? Mike is the host. He tells a situation, and two people call the show with their answers. Listen: what is the situation?"</a:t>
            </a:r>
          </a:p>
          <a:p>
            <a:r>
              <a:t>There are 3 people: Mike, Grace and Teresa. A narrator starts and ends the listening. Each click highlights the next person.</a:t>
            </a:r>
          </a:p>
          <a:p>
            <a:r>
              <a:t>The audio (about 1:51) is coming soon. When it is ready, it plays the conversation once; press play again for play 2. Until then, read the listening script (at the end of these notes) with a volunteer.</a:t>
            </a:r>
          </a:p>
          <a:p>
            <a:r>
              <a:t>No speaker? Read the script with a volunteer at a natural, friendly speed, two times. The script says going to and want to. People often say gonna and wanna; learners only need to recognize those words.</a:t>
            </a:r>
          </a:p>
          <a:p>
            <a:r>
              <a:t>Audio: the listening audio for this lesson (about 1:51)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signs and labels (images/CREDITS.md).</a:t>
            </a:r>
          </a:p>
          <a:p>
            <a:r>
              <a:t>Listening script (the audio is coming soon; until then, read it aloud with a volunteer at a normal, friendly speed):</a:t>
            </a:r>
          </a:p>
          <a:p>
            <a:r>
              <a:t>Narrator: Lesson six. This is a radio show called What Would You Do? Mike is the host. Two people call the show.</a:t>
            </a:r>
          </a:p>
          <a:p>
            <a:r>
              <a:t>Mike: Good afternoon, and welcome to What Would You Do? Here's today's situation. You buy groceries, and the cashier gives you ten dollars too much change. You see it in the parking lot. What would you do?</a:t>
            </a:r>
          </a:p>
          <a:p>
            <a:r>
              <a:t>Mike: Our first caller is Grace. Hi, Grace!</a:t>
            </a:r>
          </a:p>
          <a:p>
            <a:r>
              <a:t>Grace: Hi, Mike. If that happened to me, I'd go back inside and give the money back.</a:t>
            </a:r>
          </a:p>
          <a:p>
            <a:r>
              <a:t>Mike: Really? Why would you go back?</a:t>
            </a:r>
          </a:p>
          <a:p>
            <a:r>
              <a:t>Grace: Because the cashier made a mistake. If I kept the money, she would have a problem at the end of her shift.</a:t>
            </a:r>
          </a:p>
          <a:p>
            <a:r>
              <a:t>Mike: That's very honest. Thanks, Grace. Our next caller is Teresa. Teresa, what would you do?</a:t>
            </a:r>
          </a:p>
          <a:p>
            <a:r>
              <a:t>Teresa: Well, Mike, this really happened to me once. A cashier gave me twenty dollars too much.</a:t>
            </a:r>
          </a:p>
          <a:p>
            <a:r>
              <a:t>Mike: Really? What did you do?</a:t>
            </a:r>
          </a:p>
          <a:p>
            <a:r>
              <a:t>Teresa: I gave it back the next day. I was in a hurry, so I couldn't go back that day.</a:t>
            </a:r>
          </a:p>
          <a:p>
            <a:r>
              <a:t>Mike: Was the cashier happy?</a:t>
            </a:r>
          </a:p>
          <a:p>
            <a:r>
              <a:t>Teresa: Yes, she was very happy. She said thank you three times!</a:t>
            </a:r>
          </a:p>
          <a:p>
            <a:r>
              <a:t>Mike: And what would you do if it were only one dollar?</a:t>
            </a:r>
          </a:p>
          <a:p>
            <a:r>
              <a:t>Teresa: Hmm. If it were one dollar, I'd probably keep it. But I'd feel a little bad.</a:t>
            </a:r>
          </a:p>
          <a:p>
            <a:r>
              <a:t>Mike: Ha! That's an honest answer, too. Thank you, Teresa.</a:t>
            </a:r>
          </a:p>
          <a:p>
            <a:r>
              <a:t>Mike: Next week's question is this: what would you do if you found an envelope with money at work? I want to hear your ideas. And if you're going to call, call early!</a:t>
            </a:r>
          </a:p>
          <a:p>
            <a:r>
              <a:t>Narrator: That's the end of the listening.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"If a cashier gives you extra money, is it a mistake?" (yes) • 2. "Is the owner the person who found it or the person it belongs to?" (it belongs to) • 3. "If you tell the truth, are you honest?" (yes)</a:t>
            </a:r>
          </a:p>
          <a:p>
            <a:r>
              <a:t>Lesson plan: Step 2: Check meaning.</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Partner game (2 min): A points to a picture and asks, "What would you do if you found an envelope with money?" B answers, "If I found…, I'd…" and gives a reason. Switch. 15 learners: finish with a quick team round (3 teams; you say a clue, the first team with the word gets a point). 7–8: 2 teams. 5 or fewer: one team against the clock.</a:t>
            </a:r>
          </a:p>
          <a:p>
            <a:r>
              <a:t>My Words: "Write any word you want in your language on the My Words page. It's your personal list. It's optional." Learners do it at home.</a:t>
            </a:r>
          </a:p>
          <a:p>
            <a:r>
              <a:t>If behind: teach the ★ words only.</a:t>
            </a:r>
          </a:p>
          <a:p>
            <a:r>
              <a:t>Lesson plan: Step 2; New Words page; Partner game; My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6:08–6:15 · New Words · 7 min (this slide and the next). Whole class, then pairs.</a:t>
            </a:r>
          </a:p>
          <a:p>
            <a:r>
              <a:t>Point to each picture and say the word. Learners repeat once. ★ = the most important words. Each click shows the next word.</a:t>
            </a:r>
          </a:p>
          <a:p>
            <a:r>
              <a:t>Show the hard words: imagine (point to your head: a picture in your mind); choose (hold up two things: pick one); honest and tell the truth (you don't lie); keep it vs. give it back (mime with a coin); owner (the person it belongs to); envelope; extra money (more than you should get); mistake; magic wand (wave a pencil); dream job (the job you want most).</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"What Would You Do?" Say: "Imagining situations and making choices: finding money, getting too much change, a free week, a magic wand, a dream job. Learners talk about imaginary situations with If I had / found / were…, I'd…, give reasons, and give advice with If I were you, I'd…. All situations are invented and everyday."</a:t>
            </a:r>
          </a:p>
          <a:p>
            <a:r>
              <a:t>Read the three lines under "Today you will".</a:t>
            </a:r>
          </a:p>
          <a:p>
            <a:r>
              <a:t>Past form, present meaning: If I had a car is about now, not the past. Say it: "I don't have a car. It's imaginary."</a:t>
            </a:r>
          </a:p>
          <a:p>
            <a:r>
              <a:t>Lesson plan: Topic; At a glance: Objectives;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6:00–6:08 · Opening Talk + Homework Check · 8 min. Pairs (7 pairs + 1 trio with 15 learners; 3–4 pairs with 7–8).</a:t>
            </a:r>
          </a:p>
          <a:p>
            <a:r>
              <a:t>Before class, write on the board: favors: Would you mind…? / Do you mind if I…?</a:t>
            </a:r>
          </a:p>
          <a:p>
            <a:r>
              <a:t>Model with one learner: you say, "Would you mind lending me a pen?" The learner answers, "No, not at all," or "Sorry, I can't, because…" Then they ask you a favor. Help them say 3 sentences. (Click to show the answer line.)</a:t>
            </a:r>
          </a:p>
          <a:p>
            <a:r>
              <a:t>Opening Talk (5 min): learners open the Opening Talk page. A asks a card question; B answers in 3 sentences (the answer, a reason, a detail); A asks one follow-up. Switch after each card. The cards are on the next slide.</a:t>
            </a:r>
          </a:p>
          <a:p>
            <a:r>
              <a:t>If behind: one card only.</a:t>
            </a:r>
          </a:p>
          <a:p>
            <a:r>
              <a:t>Lesson plan: Step 1; Opening Talk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in 3 sentences. A asks one follow-up question. B answers with No, not at all or Sorry, I can't, because… (on the right). Then switch.</a:t>
            </a:r>
          </a:p>
          <a:p>
            <a:r>
              <a:t>Homework Check (3 min, last click): Pairs compare Homework item 1 (Would you mind + -ing) and ask each other their 3 favors (item 3). Then they fill in the box on the Opening Talk page. Walk around. Write 2 common errors on the board (often Would you mind to get…? (→ Would you mind getting…?) and Yes, I'll help as the answer (→ No, not at all)) and correct them together. Also put up 2 corrections from last week's exit tickets.</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a:t>
            </a:r>
          </a:p>
          <a:p>
            <a:r>
              <a:t>Lesson plan: At a glance: Objectives; Step 7.</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21.png"/><Relationship Id="rId6" Type="http://schemas.openxmlformats.org/officeDocument/2006/relationships/image" Target="../media/image19.png"/><Relationship Id="rId7" Type="http://schemas.openxmlformats.org/officeDocument/2006/relationships/image" Target="../media/image15.png"/><Relationship Id="rId8"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9.png"/><Relationship Id="rId4" Type="http://schemas.openxmlformats.org/officeDocument/2006/relationships/notesSlide" Target="../notesSlides/notes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0.png"/><Relationship Id="rId4"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1.png"/><Relationship Id="rId4" Type="http://schemas.openxmlformats.org/officeDocument/2006/relationships/notesSlide" Target="../notesSlides/notes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2.png"/><Relationship Id="rId4" Type="http://schemas.openxmlformats.org/officeDocument/2006/relationships/notesSlide" Target="../notesSlides/notesSlide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3.png"/><Relationship Id="rId4" Type="http://schemas.openxmlformats.org/officeDocument/2006/relationships/notesSlide" Target="../notesSlides/notesSlide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4.png"/><Relationship Id="rId4" Type="http://schemas.openxmlformats.org/officeDocument/2006/relationships/notesSlide" Target="../notesSlides/notesSlide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0.png"/><Relationship Id="rId4" Type="http://schemas.openxmlformats.org/officeDocument/2006/relationships/notesSlide" Target="../notesSlides/notesSlide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3.png"/><Relationship Id="rId4" Type="http://schemas.openxmlformats.org/officeDocument/2006/relationships/notesSlide" Target="../notesSlides/notes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6.png"/><Relationship Id="rId4" Type="http://schemas.openxmlformats.org/officeDocument/2006/relationships/notesSlide" Target="../notesSlides/notesSlide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7.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27.xml><?xml version="1.0" encoding="utf-8"?>
<p:sld xmlns:a="http://schemas.openxmlformats.org/drawingml/2006/main" xmlns:p="http://schemas.openxmlformats.org/presentationml/2006/main" xmlns:r="http://schemas.openxmlformats.org/officeDocument/2006/relationships">
  <p:cSld name="L4: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Imagine: a person and a thought bubble">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6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What Would You Do?</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What would you do if…?</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Talk about an imaginary situation</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Give advice</a:t>
            </a:r>
            <a:endParaRPr lang="en-US" sz="2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L4: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ask and answer </a:t>
            </a:r>
            <a:r>
              <a:rPr lang="en-US" sz="1500" dirty="0" b="1">
                <a:solidFill>
                  <a:srgbClr val="5B3FC4"/>
                </a:solidFill>
                <a:latin typeface="Lexend Deca" pitchFamily="34" charset="0"/>
                <a:ea typeface="Lexend Deca" pitchFamily="34" charset="-122"/>
                <a:cs typeface="Lexend Deca" pitchFamily="34" charset="-120"/>
              </a:rPr>
              <a:t>What would you do if…?</a:t>
            </a:r>
            <a:endParaRPr lang="en-US" sz="15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talk about an imaginary situation with </a:t>
            </a:r>
            <a:r>
              <a:rPr lang="en-US" sz="1500" dirty="0" b="1">
                <a:solidFill>
                  <a:srgbClr val="5B3FC4"/>
                </a:solidFill>
                <a:latin typeface="Lexend Deca" pitchFamily="34" charset="0"/>
                <a:ea typeface="Lexend Deca" pitchFamily="34" charset="-122"/>
                <a:cs typeface="Lexend Deca" pitchFamily="34" charset="-120"/>
              </a:rPr>
              <a:t>If I + past, I'd + verb</a:t>
            </a:r>
            <a:r>
              <a:rPr lang="en-US" sz="1500" dirty="0">
                <a:solidFill>
                  <a:srgbClr val="1B2236"/>
                </a:solidFill>
                <a:latin typeface="Lexend Deca" pitchFamily="34" charset="0"/>
                <a:ea typeface="Lexend Deca" pitchFamily="34" charset="-122"/>
                <a:cs typeface="Lexend Deca" pitchFamily="34" charset="-120"/>
              </a:rPr>
              <a:t>.</a:t>
            </a:r>
            <a:endParaRPr lang="en-US" sz="15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give advice with </a:t>
            </a:r>
            <a:r>
              <a:rPr lang="en-US" sz="1500" dirty="0" b="1">
                <a:solidFill>
                  <a:srgbClr val="5B3FC4"/>
                </a:solidFill>
                <a:latin typeface="Lexend Deca" pitchFamily="34" charset="0"/>
                <a:ea typeface="Lexend Deca" pitchFamily="34" charset="-122"/>
                <a:cs typeface="Lexend Deca" pitchFamily="34" charset="-120"/>
              </a:rPr>
              <a:t>If I were you, I'd…</a:t>
            </a:r>
            <a:r>
              <a:rPr lang="en-US" sz="1500" dirty="0">
                <a:solidFill>
                  <a:srgbClr val="1B2236"/>
                </a:solidFill>
                <a:latin typeface="Lexend Deca" pitchFamily="34" charset="0"/>
                <a:ea typeface="Lexend Deca" pitchFamily="34" charset="-122"/>
                <a:cs typeface="Lexend Deca" pitchFamily="34" charset="-120"/>
              </a:rPr>
              <a:t> and a reason.</a:t>
            </a:r>
            <a:endParaRPr lang="en-US" sz="15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tell a possible situation (</a:t>
            </a:r>
            <a:r>
              <a:rPr lang="en-US" sz="1500" dirty="0" b="1">
                <a:solidFill>
                  <a:srgbClr val="5B3FC4"/>
                </a:solidFill>
                <a:latin typeface="Lexend Deca" pitchFamily="34" charset="0"/>
                <a:ea typeface="Lexend Deca" pitchFamily="34" charset="-122"/>
                <a:cs typeface="Lexend Deca" pitchFamily="34" charset="-120"/>
              </a:rPr>
              <a:t>If it rains, I'll…</a:t>
            </a:r>
            <a:r>
              <a:rPr lang="en-US" sz="1500" dirty="0">
                <a:solidFill>
                  <a:srgbClr val="1B2236"/>
                </a:solidFill>
                <a:latin typeface="Lexend Deca" pitchFamily="34" charset="0"/>
                <a:ea typeface="Lexend Deca" pitchFamily="34" charset="-122"/>
                <a:cs typeface="Lexend Deca" pitchFamily="34" charset="-120"/>
              </a:rPr>
              <a:t>) from an imaginary one (</a:t>
            </a:r>
            <a:r>
              <a:rPr lang="en-US" sz="1500" dirty="0" b="1">
                <a:solidFill>
                  <a:srgbClr val="5B3FC4"/>
                </a:solidFill>
                <a:latin typeface="Lexend Deca" pitchFamily="34" charset="0"/>
                <a:ea typeface="Lexend Deca" pitchFamily="34" charset="-122"/>
                <a:cs typeface="Lexend Deca" pitchFamily="34" charset="-120"/>
              </a:rPr>
              <a:t>If I had…, I'd…</a:t>
            </a:r>
            <a:r>
              <a:rPr lang="en-US" sz="1500" dirty="0">
                <a:solidFill>
                  <a:srgbClr val="1B2236"/>
                </a:solidFill>
                <a:latin typeface="Lexend Deca" pitchFamily="34" charset="0"/>
                <a:ea typeface="Lexend Deca" pitchFamily="34" charset="-122"/>
                <a:cs typeface="Lexend Deca" pitchFamily="34" charset="-120"/>
              </a:rPr>
              <a:t>).</a:t>
            </a:r>
            <a:endParaRPr lang="en-US" sz="15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write a reply to an advice letter (5–8 sentences).</a:t>
            </a:r>
            <a:endParaRPr lang="en-US" sz="15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4: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Choose: an apple, a thinking face, and a banana"/>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Would you mind lending me a pen?</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in 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B answers politely.</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No, not at all. • Sorry, I can't, because…</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B answers in 3 sentences: the answer, a reason, and a detail.</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Answer:</a:t>
            </a:r>
            <a:endParaRPr lang="en-US" sz="1800" dirty="0" b="1"/>
          </a:p>
          <a:p>
            <a:pPr algn="l" indent="0" marL="0">
              <a:lnSpc>
                <a:spcPct val="120000"/>
              </a:lnSpc>
              <a:spcAft>
                <a:spcPts val="1400"/>
              </a:spcAft>
              <a:buNone/>
            </a:pPr>
            <a:r>
              <a:rPr lang="en-US" sz="1800" dirty="0" b="1">
                <a:solidFill>
                  <a:srgbClr val="5B3FC4"/>
                </a:solidFill>
                <a:latin typeface="Lexend Deca" pitchFamily="34" charset="0"/>
                <a:ea typeface="Lexend Deca" pitchFamily="34" charset="-122"/>
                <a:cs typeface="Lexend Deca" pitchFamily="34" charset="-120"/>
              </a:rPr>
              <a:t>No, not at all</a:t>
            </a:r>
            <a:r>
              <a:rPr lang="en-US" sz="1800" dirty="0" b="1">
                <a:solidFill>
                  <a:srgbClr val="1B2236"/>
                </a:solidFill>
                <a:latin typeface="Lexend Deca" pitchFamily="34" charset="0"/>
                <a:ea typeface="Lexend Deca" pitchFamily="34" charset="-122"/>
                <a:cs typeface="Lexend Deca" pitchFamily="34" charset="-120"/>
              </a:rPr>
              <a:t> or </a:t>
            </a:r>
            <a:r>
              <a:rPr lang="en-US" sz="1800" dirty="0" b="1">
                <a:solidFill>
                  <a:srgbClr val="5B3FC4"/>
                </a:solidFill>
                <a:latin typeface="Lexend Deca" pitchFamily="34" charset="0"/>
                <a:ea typeface="Lexend Deca" pitchFamily="34" charset="-122"/>
                <a:cs typeface="Lexend Deca" pitchFamily="34" charset="-120"/>
              </a:rPr>
              <a:t>Sorry, I can't, because…</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Would you mind lending me a pen?</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Would you mind opening the window?</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Do you mind if I sit here?</a:t>
            </a:r>
            <a:endParaRPr lang="en-US" sz="20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Would you mind helping me with my homework?</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5, items 1 and 3.</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Imagine: a person and a thought bubble"/>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imagine</a:t>
            </a:r>
            <a:endParaRPr lang="en-US" sz="2000" dirty="0" b="1"/>
          </a:p>
        </p:txBody>
      </p:sp>
      <p:pic>
        <p:nvPicPr>
          <p:cNvPr id="19" name="Word picture 2" descr="Choose: an apple, a thinking face, and a banana"/>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choose</a:t>
            </a:r>
            <a:endParaRPr lang="en-US" sz="2000" dirty="0" b="1"/>
          </a:p>
        </p:txBody>
      </p:sp>
      <p:pic>
        <p:nvPicPr>
          <p:cNvPr id="21" name="Word picture 3" descr="Honest: a person and a check mark [sign: HONEST]"/>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honest</a:t>
            </a:r>
            <a:endParaRPr lang="en-US" sz="2000" dirty="0" b="1"/>
          </a:p>
        </p:txBody>
      </p:sp>
      <p:pic>
        <p:nvPicPr>
          <p:cNvPr id="23" name="Word picture 4" descr="Tell the truth: a person speaking and a check mark"/>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tell the truth</a:t>
            </a:r>
            <a:endParaRPr lang="en-US" sz="2000" dirty="0" b="1"/>
          </a:p>
        </p:txBody>
      </p:sp>
      <p:pic>
        <p:nvPicPr>
          <p:cNvPr id="25" name="Word picture 5" descr="Keep (it): open hands and a wallet [sign: KEEP IT?]"/>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keep (it)</a:t>
            </a:r>
            <a:endParaRPr lang="en-US" sz="2000" dirty="0" b="1"/>
          </a:p>
        </p:txBody>
      </p:sp>
      <p:pic>
        <p:nvPicPr>
          <p:cNvPr id="27" name="Word picture 6" descr="Give back: open hands and money [sign: GIVE IT BACK]"/>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give back</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291840" cy="1143000"/>
          </a:xfrm>
          <a:prstGeom prst="round1Rect">
            <a:avLst>
              <a:gd name="adj" fmla="val 23087"/>
            </a:avLst>
          </a:prstGeom>
          <a:solidFill>
            <a:srgbClr val="FFFFFF"/>
          </a:solidFill>
          <a:ln/>
        </p:spPr>
        <p:txBody>
          <a:bodyPr/>
          <a:p/>
        </p:txBody>
      </p:sp>
      <p:sp>
        <p:nvSpPr>
          <p:cNvPr id="13" name="instr"/>
          <p:cNvSpPr/>
          <p:nvPr/>
        </p:nvSpPr>
        <p:spPr>
          <a:xfrm>
            <a:off x="1325880" y="685800"/>
            <a:ext cx="288036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What would you do?</a:t>
            </a:r>
            <a:endParaRPr lang="en-US" sz="2200" dirty="0" b="1"/>
          </a:p>
        </p:txBody>
      </p:sp>
      <p:pic>
        <p:nvPicPr>
          <p:cNvPr id="17" name="Word picture 1" descr="Owner: a person and a handbag [sign: OWNER]"/>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owner</a:t>
            </a:r>
            <a:endParaRPr lang="en-US" sz="2000" dirty="0" b="1"/>
          </a:p>
        </p:txBody>
      </p:sp>
      <p:pic>
        <p:nvPicPr>
          <p:cNvPr id="19" name="Word picture 2" descr="Envelope: an envelope"/>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envelope</a:t>
            </a:r>
            <a:endParaRPr lang="en-US" sz="2000" dirty="0" b="1"/>
          </a:p>
        </p:txBody>
      </p:sp>
      <p:pic>
        <p:nvPicPr>
          <p:cNvPr id="21" name="Word picture 3" descr="Extra money: money and a plus sign [sign: + $10]"/>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extra money</a:t>
            </a:r>
            <a:endParaRPr lang="en-US" sz="2000" dirty="0" b="1"/>
          </a:p>
        </p:txBody>
      </p:sp>
      <p:pic>
        <p:nvPicPr>
          <p:cNvPr id="23" name="Word picture 4" descr="Mistake: a receipt and an X [sign: MISTAKE]"/>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mistake</a:t>
            </a:r>
            <a:endParaRPr lang="en-US" sz="2000" dirty="0" b="1"/>
          </a:p>
        </p:txBody>
      </p:sp>
      <p:pic>
        <p:nvPicPr>
          <p:cNvPr id="25" name="Word picture 5" descr="Magic wand: a magic wand and sparkles"/>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magic wand</a:t>
            </a:r>
            <a:endParaRPr lang="en-US" sz="2000" dirty="0" b="1"/>
          </a:p>
        </p:txBody>
      </p:sp>
      <p:pic>
        <p:nvPicPr>
          <p:cNvPr id="27" name="Word picture 6" descr="Dream job: a thought bubble and a cook [sign: DREAM JOB]"/>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dream job</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4: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If a cashier gives you extra money, is it a mistake?</a:t>
            </a:r>
            <a:endParaRPr lang="en-US" sz="1600" dirty="0" b="1"/>
          </a:p>
        </p:txBody>
      </p:sp>
      <p:pic>
        <p:nvPicPr>
          <p:cNvPr id="101" name="R1 pic" descr="Extra money: money and a plus sign [sign: + $10]"/>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the owner the person who found it or the person it belongs to?</a:t>
            </a:r>
            <a:endParaRPr lang="en-US" sz="1600" dirty="0" b="1"/>
          </a:p>
        </p:txBody>
      </p:sp>
      <p:pic>
        <p:nvPicPr>
          <p:cNvPr id="102" name="R2 pic" descr="Owner: a person and a handbag [sign: OWNER]"/>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If you tell the truth, are you honest?</a:t>
            </a:r>
            <a:endParaRPr lang="en-US" sz="1600" dirty="0" b="1"/>
          </a:p>
        </p:txBody>
      </p:sp>
      <p:pic>
        <p:nvPicPr>
          <p:cNvPr id="103" name="R3 pic" descr="Honest: a person and a check mark [sign: HONEST]"/>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yes</a:t>
            </a:r>
            <a:endParaRPr lang="en-US" sz="28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it belongs to</a:t>
            </a:r>
            <a:endParaRPr lang="en-US" sz="22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yes</a:t>
            </a:r>
            <a:endParaRPr lang="en-US" sz="2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4: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This is a radio show called What Would You Do? Mike is the host. He tells a situation, and two people call the show with their answers.</a:t>
            </a:r>
            <a:endParaRPr lang="en-US" sz="16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Give back: open hands and money [sign: GIVE IT BACK]"/>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Mike</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Grace</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Teresa</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is the situation?</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Play 2: Tasks B and C.</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1:51): coming soon.</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What is the situation?</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1783080" cy="530352"/>
          </a:xfrm>
          <a:prstGeom prst="rect">
            <a:avLst/>
          </a:prstGeom>
          <a:noFill/>
          <a:ln w="38100">
            <a:noFill/>
          </a:ln>
        </p:spPr>
        <p:txBody>
          <a:bodyPr wrap="square" lIns="73152" tIns="36576" rIns="73152" bIns="36576" rtlCol="0" anchor="ctr">
            <a:noAutofit/>
          </a:bodyPr>
          <a:lstStyle/>
          <a:p>
            <a:pPr algn="l" indent="0" marL="0">
              <a:buNone/>
            </a:pPr>
            <a:endParaRPr lang="en-US" sz="2000" dirty="0"/>
          </a:p>
        </p:txBody>
      </p:sp>
      <p:sp>
        <p:nvSpPr>
          <p:cNvPr id="9" name="R1 opt1"/>
          <p:cNvSpPr/>
          <p:nvPr/>
        </p:nvSpPr>
        <p:spPr>
          <a:xfrm>
            <a:off x="2468880" y="3108960"/>
            <a:ext cx="27432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 A cashier gives you too much change.</a:t>
            </a:r>
            <a:endParaRPr lang="en-US" sz="1500" dirty="0" b="1"/>
          </a:p>
        </p:txBody>
      </p:sp>
      <p:sp>
        <p:nvSpPr>
          <p:cNvPr id="10" name="R1 opt2"/>
          <p:cNvSpPr/>
          <p:nvPr/>
        </p:nvSpPr>
        <p:spPr>
          <a:xfrm>
            <a:off x="5349240" y="3108960"/>
            <a:ext cx="27432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 You find money on the floor at work.</a:t>
            </a:r>
            <a:endParaRPr lang="en-US" sz="1500" dirty="0" b="1"/>
          </a:p>
        </p:txBody>
      </p:sp>
      <p:sp>
        <p:nvSpPr>
          <p:cNvPr id="11" name="R1 opt3"/>
          <p:cNvSpPr/>
          <p:nvPr/>
        </p:nvSpPr>
        <p:spPr>
          <a:xfrm>
            <a:off x="8229600" y="3108960"/>
            <a:ext cx="274320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c. A friend asks you to tell a small lie.</a:t>
            </a:r>
            <a:endParaRPr lang="en-US" sz="1500" dirty="0" b="1"/>
          </a:p>
        </p:txBody>
      </p:sp>
      <p:sp>
        <p:nvSpPr>
          <p:cNvPr id="12" name="R1 circle"/>
          <p:cNvSpPr/>
          <p:nvPr/>
        </p:nvSpPr>
        <p:spPr>
          <a:xfrm>
            <a:off x="2340864" y="3054096"/>
            <a:ext cx="299923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again.</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Who says it, and what?</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answer.</a:t>
            </a:r>
            <a:endParaRPr lang="en-US" sz="2000" dirty="0"/>
          </a:p>
        </p:txBody>
      </p:sp>
      <p:sp>
        <p:nvSpPr>
          <p:cNvPr id="8" name="R1 stmt"/>
          <p:cNvSpPr/>
          <p:nvPr/>
        </p:nvSpPr>
        <p:spPr>
          <a:xfrm>
            <a:off x="502920" y="310896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1. Grace would</a:t>
            </a:r>
            <a:endParaRPr lang="en-US" sz="1600" dirty="0"/>
          </a:p>
        </p:txBody>
      </p:sp>
      <p:sp>
        <p:nvSpPr>
          <p:cNvPr id="9" name="R1 opt1"/>
          <p:cNvSpPr/>
          <p:nvPr/>
        </p:nvSpPr>
        <p:spPr>
          <a:xfrm>
            <a:off x="662940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give the money back</a:t>
            </a:r>
            <a:endParaRPr lang="en-US" sz="1400" dirty="0" b="1"/>
          </a:p>
        </p:txBody>
      </p:sp>
      <p:sp>
        <p:nvSpPr>
          <p:cNvPr id="10" name="R1 opt2"/>
          <p:cNvSpPr/>
          <p:nvPr/>
        </p:nvSpPr>
        <p:spPr>
          <a:xfrm>
            <a:off x="886968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keep the money</a:t>
            </a:r>
            <a:endParaRPr lang="en-US" sz="1400" dirty="0" b="1"/>
          </a:p>
        </p:txBody>
      </p:sp>
      <p:sp>
        <p:nvSpPr>
          <p:cNvPr id="11" name="R1 circle"/>
          <p:cNvSpPr/>
          <p:nvPr/>
        </p:nvSpPr>
        <p:spPr>
          <a:xfrm>
            <a:off x="6501384" y="30540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2. Grace's reason: the cashier</a:t>
            </a:r>
            <a:endParaRPr lang="en-US" sz="1600" dirty="0"/>
          </a:p>
        </p:txBody>
      </p:sp>
      <p:sp>
        <p:nvSpPr>
          <p:cNvPr id="13" name="R2 opt1"/>
          <p:cNvSpPr/>
          <p:nvPr/>
        </p:nvSpPr>
        <p:spPr>
          <a:xfrm>
            <a:off x="662940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made a mistake</a:t>
            </a:r>
            <a:endParaRPr lang="en-US" sz="1400" dirty="0" b="1"/>
          </a:p>
        </p:txBody>
      </p:sp>
      <p:sp>
        <p:nvSpPr>
          <p:cNvPr id="14" name="R2 opt2"/>
          <p:cNvSpPr/>
          <p:nvPr/>
        </p:nvSpPr>
        <p:spPr>
          <a:xfrm>
            <a:off x="886968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was her friend</a:t>
            </a:r>
            <a:endParaRPr lang="en-US" sz="1400" dirty="0" b="1"/>
          </a:p>
        </p:txBody>
      </p:sp>
      <p:sp>
        <p:nvSpPr>
          <p:cNvPr id="15" name="R2 circle"/>
          <p:cNvSpPr/>
          <p:nvPr/>
        </p:nvSpPr>
        <p:spPr>
          <a:xfrm>
            <a:off x="6501384" y="360273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3. Teresa once got ____ too much.</a:t>
            </a:r>
            <a:endParaRPr lang="en-US" sz="1600" dirty="0"/>
          </a:p>
        </p:txBody>
      </p:sp>
      <p:sp>
        <p:nvSpPr>
          <p:cNvPr id="17" name="R3 opt1"/>
          <p:cNvSpPr/>
          <p:nvPr/>
        </p:nvSpPr>
        <p:spPr>
          <a:xfrm>
            <a:off x="662940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$10</a:t>
            </a:r>
            <a:endParaRPr lang="en-US" sz="1400" dirty="0" b="1"/>
          </a:p>
        </p:txBody>
      </p:sp>
      <p:sp>
        <p:nvSpPr>
          <p:cNvPr id="18" name="R3 opt2"/>
          <p:cNvSpPr/>
          <p:nvPr/>
        </p:nvSpPr>
        <p:spPr>
          <a:xfrm>
            <a:off x="886968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$20</a:t>
            </a:r>
            <a:endParaRPr lang="en-US" sz="1400" dirty="0" b="1"/>
          </a:p>
        </p:txBody>
      </p:sp>
      <p:sp>
        <p:nvSpPr>
          <p:cNvPr id="19" name="R3 circle"/>
          <p:cNvSpPr/>
          <p:nvPr/>
        </p:nvSpPr>
        <p:spPr>
          <a:xfrm>
            <a:off x="8741664" y="415137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4. Teresa gave it back</a:t>
            </a:r>
            <a:endParaRPr lang="en-US" sz="1600" dirty="0"/>
          </a:p>
        </p:txBody>
      </p:sp>
      <p:sp>
        <p:nvSpPr>
          <p:cNvPr id="21" name="R4 opt1"/>
          <p:cNvSpPr/>
          <p:nvPr/>
        </p:nvSpPr>
        <p:spPr>
          <a:xfrm>
            <a:off x="662940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the same day</a:t>
            </a:r>
            <a:endParaRPr lang="en-US" sz="1400" dirty="0" b="1"/>
          </a:p>
        </p:txBody>
      </p:sp>
      <p:sp>
        <p:nvSpPr>
          <p:cNvPr id="22" name="R4 opt2"/>
          <p:cNvSpPr/>
          <p:nvPr/>
        </p:nvSpPr>
        <p:spPr>
          <a:xfrm>
            <a:off x="886968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the next day</a:t>
            </a:r>
            <a:endParaRPr lang="en-US" sz="1400" dirty="0" b="1"/>
          </a:p>
        </p:txBody>
      </p:sp>
      <p:sp>
        <p:nvSpPr>
          <p:cNvPr id="23" name="R4 circle"/>
          <p:cNvSpPr/>
          <p:nvPr/>
        </p:nvSpPr>
        <p:spPr>
          <a:xfrm>
            <a:off x="8741664" y="470001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5. If it were one dollar, Teresa would</a:t>
            </a:r>
            <a:endParaRPr lang="en-US" sz="1600" dirty="0"/>
          </a:p>
        </p:txBody>
      </p:sp>
      <p:sp>
        <p:nvSpPr>
          <p:cNvPr id="25" name="R5 opt1"/>
          <p:cNvSpPr/>
          <p:nvPr/>
        </p:nvSpPr>
        <p:spPr>
          <a:xfrm>
            <a:off x="662940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probably keep it</a:t>
            </a:r>
            <a:endParaRPr lang="en-US" sz="1400" dirty="0" b="1"/>
          </a:p>
        </p:txBody>
      </p:sp>
      <p:sp>
        <p:nvSpPr>
          <p:cNvPr id="26" name="R5 opt2"/>
          <p:cNvSpPr/>
          <p:nvPr/>
        </p:nvSpPr>
        <p:spPr>
          <a:xfrm>
            <a:off x="886968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give it back</a:t>
            </a:r>
            <a:endParaRPr lang="en-US" sz="1400" dirty="0" b="1"/>
          </a:p>
        </p:txBody>
      </p:sp>
      <p:sp>
        <p:nvSpPr>
          <p:cNvPr id="27" name="R5 circle"/>
          <p:cNvSpPr/>
          <p:nvPr/>
        </p:nvSpPr>
        <p:spPr>
          <a:xfrm>
            <a:off x="6501384" y="524865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t>6. Next week's situation:</a:t>
            </a:r>
            <a:endParaRPr lang="en-US" sz="1600" dirty="0"/>
          </a:p>
        </p:txBody>
      </p:sp>
      <p:sp>
        <p:nvSpPr>
          <p:cNvPr id="29" name="R6 opt1"/>
          <p:cNvSpPr/>
          <p:nvPr/>
        </p:nvSpPr>
        <p:spPr>
          <a:xfrm>
            <a:off x="662940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an envelope with money at work</a:t>
            </a:r>
            <a:endParaRPr lang="en-US" sz="1400" dirty="0" b="1"/>
          </a:p>
        </p:txBody>
      </p:sp>
      <p:sp>
        <p:nvSpPr>
          <p:cNvPr id="30" name="R6 opt2"/>
          <p:cNvSpPr/>
          <p:nvPr/>
        </p:nvSpPr>
        <p:spPr>
          <a:xfrm>
            <a:off x="886968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a lost phone on the bus</a:t>
            </a:r>
            <a:endParaRPr lang="en-US" sz="1400" dirty="0" b="1"/>
          </a:p>
        </p:txBody>
      </p:sp>
      <p:sp>
        <p:nvSpPr>
          <p:cNvPr id="31" name="R6 circle"/>
          <p:cNvSpPr/>
          <p:nvPr/>
        </p:nvSpPr>
        <p:spPr>
          <a:xfrm>
            <a:off x="6501384" y="57972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missing word: </a:t>
            </a:r>
            <a:r>
              <a:rPr lang="en-US" sz="2000" dirty="0" b="1">
                <a:solidFill>
                  <a:srgbClr val="5B3FC4"/>
                </a:solidFill>
                <a:latin typeface="Lexend Deca" pitchFamily="34" charset="0"/>
                <a:ea typeface="Lexend Deca" pitchFamily="34" charset="-122"/>
                <a:cs typeface="Lexend Deca" pitchFamily="34" charset="-120"/>
              </a:rPr>
              <a:t>would</a:t>
            </a:r>
            <a:r>
              <a:rPr lang="en-US" sz="2000" dirty="0">
                <a:solidFill>
                  <a:srgbClr val="1B2236"/>
                </a:solidFill>
                <a:latin typeface="Lexend Deca" pitchFamily="34" charset="0"/>
                <a:ea typeface="Lexend Deca" pitchFamily="34" charset="-122"/>
                <a:cs typeface="Lexend Deca" pitchFamily="34" charset="-120"/>
              </a:rPr>
              <a:t>, </a:t>
            </a:r>
            <a:r>
              <a:rPr lang="en-US" sz="2000" dirty="0" b="1">
                <a:solidFill>
                  <a:srgbClr val="5B3FC4"/>
                </a:solidFill>
                <a:latin typeface="Lexend Deca" pitchFamily="34" charset="0"/>
                <a:ea typeface="Lexend Deca" pitchFamily="34" charset="-122"/>
                <a:cs typeface="Lexend Deca" pitchFamily="34" charset="-120"/>
              </a:rPr>
              <a:t>were</a:t>
            </a:r>
            <a:r>
              <a:rPr lang="en-US" sz="2000" dirty="0">
                <a:solidFill>
                  <a:srgbClr val="1B2236"/>
                </a:solidFill>
                <a:latin typeface="Lexend Deca" pitchFamily="34" charset="0"/>
                <a:ea typeface="Lexend Deca" pitchFamily="34" charset="-122"/>
                <a:cs typeface="Lexend Deca" pitchFamily="34" charset="-120"/>
              </a:rPr>
              <a:t>, </a:t>
            </a:r>
            <a:r>
              <a:rPr lang="en-US" sz="2000" dirty="0" b="1">
                <a:solidFill>
                  <a:srgbClr val="5B3FC4"/>
                </a:solidFill>
                <a:latin typeface="Lexend Deca" pitchFamily="34" charset="0"/>
                <a:ea typeface="Lexend Deca" pitchFamily="34" charset="-122"/>
                <a:cs typeface="Lexend Deca" pitchFamily="34" charset="-120"/>
              </a:rPr>
              <a:t>I'd</a:t>
            </a:r>
            <a:r>
              <a:rPr lang="en-US" sz="2000" dirty="0">
                <a:solidFill>
                  <a:srgbClr val="1B2236"/>
                </a:solidFill>
                <a:latin typeface="Lexend Deca" pitchFamily="34" charset="0"/>
                <a:ea typeface="Lexend Deca" pitchFamily="34" charset="-122"/>
                <a:cs typeface="Lexend Deca" pitchFamily="34" charset="-120"/>
              </a:rPr>
              <a:t>, or a past verb.</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the missing word: </a:t>
            </a:r>
            <a:r>
              <a:rPr lang="en-US" sz="2000" dirty="0" b="1">
                <a:solidFill>
                  <a:srgbClr val="5B3FC4"/>
                </a:solidFill>
                <a:latin typeface="Lexend Deca" pitchFamily="34" charset="0"/>
                <a:ea typeface="Lexend Deca" pitchFamily="34" charset="-122"/>
                <a:cs typeface="Lexend Deca" pitchFamily="34" charset="-120"/>
              </a:rPr>
              <a:t>would</a:t>
            </a:r>
            <a:r>
              <a:rPr lang="en-US" sz="2000" dirty="0" b="1">
                <a:solidFill>
                  <a:srgbClr val="1B2236"/>
                </a:solidFill>
                <a:latin typeface="Lexend Deca" pitchFamily="34" charset="0"/>
                <a:ea typeface="Lexend Deca" pitchFamily="34" charset="-122"/>
                <a:cs typeface="Lexend Deca" pitchFamily="34" charset="-120"/>
              </a:rPr>
              <a:t>, </a:t>
            </a:r>
            <a:r>
              <a:rPr lang="en-US" sz="2000" dirty="0" b="1">
                <a:solidFill>
                  <a:srgbClr val="5B3FC4"/>
                </a:solidFill>
                <a:latin typeface="Lexend Deca" pitchFamily="34" charset="0"/>
                <a:ea typeface="Lexend Deca" pitchFamily="34" charset="-122"/>
                <a:cs typeface="Lexend Deca" pitchFamily="34" charset="-120"/>
              </a:rPr>
              <a:t>were</a:t>
            </a:r>
            <a:r>
              <a:rPr lang="en-US" sz="2000" dirty="0" b="1">
                <a:solidFill>
                  <a:srgbClr val="1B2236"/>
                </a:solidFill>
                <a:latin typeface="Lexend Deca" pitchFamily="34" charset="0"/>
                <a:ea typeface="Lexend Deca" pitchFamily="34" charset="-122"/>
                <a:cs typeface="Lexend Deca" pitchFamily="34" charset="-120"/>
              </a:rPr>
              <a:t>, </a:t>
            </a:r>
            <a:r>
              <a:rPr lang="en-US" sz="2000" dirty="0" b="1">
                <a:solidFill>
                  <a:srgbClr val="5B3FC4"/>
                </a:solidFill>
                <a:latin typeface="Lexend Deca" pitchFamily="34" charset="0"/>
                <a:ea typeface="Lexend Deca" pitchFamily="34" charset="-122"/>
                <a:cs typeface="Lexend Deca" pitchFamily="34" charset="-120"/>
              </a:rPr>
              <a:t>I'd</a:t>
            </a:r>
            <a:r>
              <a:rPr lang="en-US" sz="2000" dirty="0" b="1">
                <a:solidFill>
                  <a:srgbClr val="1B2236"/>
                </a:solidFill>
                <a:latin typeface="Lexend Deca" pitchFamily="34" charset="0"/>
                <a:ea typeface="Lexend Deca" pitchFamily="34" charset="-122"/>
                <a:cs typeface="Lexend Deca" pitchFamily="34" charset="-120"/>
              </a:rPr>
              <a:t>, or a past verb.</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Really? Why ____ you go back?</a:t>
            </a:r>
            <a:endParaRPr lang="en-US" sz="1800" dirty="0"/>
          </a:p>
        </p:txBody>
      </p:sp>
      <p:sp>
        <p:nvSpPr>
          <p:cNvPr id="35" name="R1 ans"/>
          <p:cNvSpPr/>
          <p:nvPr/>
        </p:nvSpPr>
        <p:spPr>
          <a:xfrm>
            <a:off x="6199632" y="22221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would</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If I ____ the money, she would have a problem at the end of her shift.</a:t>
            </a:r>
            <a:endParaRPr lang="en-US" sz="1800" dirty="0"/>
          </a:p>
        </p:txBody>
      </p:sp>
      <p:sp>
        <p:nvSpPr>
          <p:cNvPr id="40" name="R2 ans"/>
          <p:cNvSpPr/>
          <p:nvPr/>
        </p:nvSpPr>
        <p:spPr>
          <a:xfrm>
            <a:off x="6199632" y="2950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kept</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And what would you do if it ____ only one dollar?</a:t>
            </a:r>
            <a:endParaRPr lang="en-US" sz="1800" dirty="0"/>
          </a:p>
        </p:txBody>
      </p:sp>
      <p:sp>
        <p:nvSpPr>
          <p:cNvPr id="45" name="R3 ans"/>
          <p:cNvSpPr/>
          <p:nvPr/>
        </p:nvSpPr>
        <p:spPr>
          <a:xfrm>
            <a:off x="6199632" y="367847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were</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If it were one dollar, ____ probably keep it.</a:t>
            </a:r>
            <a:endParaRPr lang="en-US" sz="1800" dirty="0"/>
          </a:p>
        </p:txBody>
      </p:sp>
      <p:sp>
        <p:nvSpPr>
          <p:cNvPr id="50" name="R4 ans"/>
          <p:cNvSpPr/>
          <p:nvPr/>
        </p:nvSpPr>
        <p:spPr>
          <a:xfrm>
            <a:off x="6199632" y="440664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I'd</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But ____ feel a little bad.</a:t>
            </a:r>
            <a:endParaRPr lang="en-US" sz="1800" dirty="0"/>
          </a:p>
        </p:txBody>
      </p:sp>
      <p:sp>
        <p:nvSpPr>
          <p:cNvPr id="55" name="R5 ans"/>
          <p:cNvSpPr/>
          <p:nvPr/>
        </p:nvSpPr>
        <p:spPr>
          <a:xfrm>
            <a:off x="6199632" y="513481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I'd</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would you do if you ____ an envelope with money at work?</a:t>
            </a:r>
            <a:endParaRPr lang="en-US" sz="1800" dirty="0"/>
          </a:p>
        </p:txBody>
      </p:sp>
      <p:sp>
        <p:nvSpPr>
          <p:cNvPr id="60" name="R6 ans"/>
          <p:cNvSpPr/>
          <p:nvPr/>
        </p:nvSpPr>
        <p:spPr>
          <a:xfrm>
            <a:off x="6199632" y="586298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found</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4: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Hear it: gonna = going to, wanna = want to</a:t>
            </a:r>
            <a:endParaRPr lang="en-US" sz="18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Say it: I'd, and the stress</a:t>
            </a:r>
            <a:endParaRPr lang="en-US" sz="18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Hear It,</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gonna</a:t>
            </a:r>
            <a:r>
              <a:rPr lang="en-US" sz="2000" dirty="0">
                <a:solidFill>
                  <a:srgbClr val="1B2236"/>
                </a:solidFill>
                <a:latin typeface="Lexend Deca" pitchFamily="34" charset="0"/>
                <a:ea typeface="Lexend Deca" pitchFamily="34" charset="-122"/>
                <a:cs typeface="Lexend Deca" pitchFamily="34" charset="-120"/>
              </a:rPr>
              <a:t> and </a:t>
            </a:r>
            <a:r>
              <a:rPr lang="en-US" sz="2000" dirty="0" b="1">
                <a:solidFill>
                  <a:srgbClr val="5B3FC4"/>
                </a:solidFill>
                <a:latin typeface="Lexend Deca" pitchFamily="34" charset="0"/>
                <a:ea typeface="Lexend Deca" pitchFamily="34" charset="-122"/>
                <a:cs typeface="Lexend Deca" pitchFamily="34" charset="-120"/>
              </a:rPr>
              <a:t>wanna</a:t>
            </a:r>
            <a:r>
              <a:rPr lang="en-US" sz="2000" dirty="0">
                <a:solidFill>
                  <a:srgbClr val="1B2236"/>
                </a:solidFill>
                <a:latin typeface="Lexend Deca" pitchFamily="34" charset="0"/>
                <a:ea typeface="Lexend Deca" pitchFamily="34" charset="-122"/>
                <a:cs typeface="Lexend Deca" pitchFamily="34" charset="-120"/>
              </a:rPr>
              <a:t> are short forms. This listening uses the full forms.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the </a:t>
            </a:r>
            <a:r>
              <a:rPr lang="en-US" sz="2000" dirty="0" b="1">
                <a:solidFill>
                  <a:srgbClr val="5B3FC4"/>
                </a:solidFill>
                <a:latin typeface="Lexend Deca" pitchFamily="34" charset="0"/>
                <a:ea typeface="Lexend Deca" pitchFamily="34" charset="-122"/>
                <a:cs typeface="Lexend Deca" pitchFamily="34" charset="-120"/>
              </a:rPr>
              <a:t>d</a:t>
            </a:r>
            <a:r>
              <a:rPr lang="en-US" sz="2000" dirty="0" b="0">
                <a:solidFill>
                  <a:srgbClr val="1B2236"/>
                </a:solidFill>
                <a:latin typeface="Lexend Deca" pitchFamily="34" charset="0"/>
                <a:ea typeface="Lexend Deca" pitchFamily="34" charset="-122"/>
                <a:cs typeface="Lexend Deca" pitchFamily="34" charset="-120"/>
              </a:rPr>
              <a:t> in </a:t>
            </a:r>
            <a:r>
              <a:rPr lang="en-US" sz="2000" dirty="0" b="1">
                <a:solidFill>
                  <a:srgbClr val="5B3FC4"/>
                </a:solidFill>
                <a:latin typeface="Lexend Deca" pitchFamily="34" charset="0"/>
                <a:ea typeface="Lexend Deca" pitchFamily="34" charset="-122"/>
                <a:cs typeface="Lexend Deca" pitchFamily="34" charset="-120"/>
              </a:rPr>
              <a:t>I'd</a:t>
            </a:r>
            <a:r>
              <a:rPr lang="en-US" sz="2000" dirty="0" b="0">
                <a:solidFill>
                  <a:srgbClr val="1B2236"/>
                </a:solidFill>
                <a:latin typeface="Lexend Deca" pitchFamily="34" charset="0"/>
                <a:ea typeface="Lexend Deca" pitchFamily="34" charset="-122"/>
                <a:cs typeface="Lexend Deca" pitchFamily="34" charset="-120"/>
              </a:rPr>
              <a:t>. Stress </a:t>
            </a:r>
            <a:r>
              <a:rPr lang="en-US" sz="2000" dirty="0" b="1">
                <a:solidFill>
                  <a:srgbClr val="5B3FC4"/>
                </a:solidFill>
                <a:latin typeface="Lexend Deca" pitchFamily="34" charset="0"/>
                <a:ea typeface="Lexend Deca" pitchFamily="34" charset="-122"/>
                <a:cs typeface="Lexend Deca" pitchFamily="34" charset="-120"/>
              </a:rPr>
              <a:t>do</a:t>
            </a:r>
            <a:r>
              <a:rPr lang="en-US" sz="2000" dirty="0" b="0">
                <a:solidFill>
                  <a:srgbClr val="1B2236"/>
                </a:solidFill>
                <a:latin typeface="Lexend Deca" pitchFamily="34" charset="0"/>
                <a:ea typeface="Lexend Deca" pitchFamily="34" charset="-122"/>
                <a:cs typeface="Lexend Deca" pitchFamily="34" charset="-120"/>
              </a:rPr>
              <a: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5B3FC4"/>
                </a:solidFill>
                <a:latin typeface="Lexend Deca" pitchFamily="34" charset="0"/>
                <a:ea typeface="Lexend Deca" pitchFamily="34" charset="-122"/>
                <a:cs typeface="Lexend Deca" pitchFamily="34" charset="-120"/>
              </a:rPr>
              <a:t>want to</a:t>
            </a:r>
            <a:r>
              <a:rPr lang="en-US" sz="1800" dirty="0" b="1">
                <a:solidFill>
                  <a:srgbClr val="1B2236"/>
                </a:solidFill>
                <a:latin typeface="Lexend Deca" pitchFamily="34" charset="0"/>
                <a:ea typeface="Lexend Deca" pitchFamily="34" charset="-122"/>
                <a:cs typeface="Lexend Deca" pitchFamily="34" charset="-120"/>
              </a:rPr>
              <a:t> hear your ideas.</a:t>
            </a:r>
            <a:endParaRPr lang="en-US" sz="18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If you're </a:t>
            </a:r>
            <a:r>
              <a:rPr lang="en-US" sz="1800" dirty="0" b="1">
                <a:solidFill>
                  <a:srgbClr val="5B3FC4"/>
                </a:solidFill>
                <a:latin typeface="Lexend Deca" pitchFamily="34" charset="0"/>
                <a:ea typeface="Lexend Deca" pitchFamily="34" charset="-122"/>
                <a:cs typeface="Lexend Deca" pitchFamily="34" charset="-120"/>
              </a:rPr>
              <a:t>going to</a:t>
            </a:r>
            <a:r>
              <a:rPr lang="en-US" sz="1800" dirty="0" b="1">
                <a:solidFill>
                  <a:srgbClr val="1B2236"/>
                </a:solidFill>
                <a:latin typeface="Lexend Deca" pitchFamily="34" charset="0"/>
                <a:ea typeface="Lexend Deca" pitchFamily="34" charset="-122"/>
                <a:cs typeface="Lexend Deca" pitchFamily="34" charset="-120"/>
              </a:rPr>
              <a:t> call, call early!</a:t>
            </a:r>
            <a:endParaRPr lang="en-US" sz="18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I'd</a:t>
            </a:r>
            <a:r>
              <a:rPr lang="en-US" sz="1800" dirty="0" b="1">
                <a:solidFill>
                  <a:srgbClr val="1B2236"/>
                </a:solidFill>
                <a:latin typeface="Lexend Deca" pitchFamily="34" charset="0"/>
                <a:ea typeface="Lexend Deca" pitchFamily="34" charset="-122"/>
                <a:cs typeface="Lexend Deca" pitchFamily="34" charset="-120"/>
              </a:rPr>
              <a:t> give it back.</a:t>
            </a:r>
            <a:endParaRPr lang="en-US" sz="1800" dirty="0" b="1"/>
          </a:p>
        </p:txBody>
      </p:sp>
      <p:sp>
        <p:nvSpPr>
          <p:cNvPr id="37" name="S4 card"/>
          <p:cNvSpPr/>
          <p:nvPr/>
        </p:nvSpPr>
        <p:spPr>
          <a:xfrm>
            <a:off x="548640" y="4849978"/>
            <a:ext cx="6766560" cy="602590"/>
          </a:xfrm>
          <a:prstGeom prst="round1Rect">
            <a:avLst>
              <a:gd name="adj" fmla="val 23087"/>
            </a:avLst>
          </a:prstGeom>
          <a:solidFill>
            <a:srgbClr val="FFFFFF"/>
          </a:solidFill>
          <a:ln/>
        </p:spPr>
        <p:txBody>
          <a:bodyPr/>
          <a:p/>
        </p:txBody>
      </p:sp>
      <p:sp>
        <p:nvSpPr>
          <p:cNvPr id="38" name="S4 text"/>
          <p:cNvSpPr/>
          <p:nvPr/>
        </p:nvSpPr>
        <p:spPr>
          <a:xfrm>
            <a:off x="777240" y="484997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What would you </a:t>
            </a:r>
            <a:r>
              <a:rPr lang="en-US" sz="1800" dirty="0" b="1">
                <a:solidFill>
                  <a:srgbClr val="5B3FC4"/>
                </a:solidFill>
                <a:latin typeface="Lexend Deca" pitchFamily="34" charset="0"/>
                <a:ea typeface="Lexend Deca" pitchFamily="34" charset="-122"/>
                <a:cs typeface="Lexend Deca" pitchFamily="34" charset="-120"/>
              </a:rPr>
              <a:t>DO</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Owner: a person and a handbag [sign: OWNER]"/>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What would you do if…?</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What would</a:t>
            </a:r>
            <a:r>
              <a:rPr lang="en-US" sz="1700" dirty="0" b="1">
                <a:solidFill>
                  <a:srgbClr val="1B2236"/>
                </a:solidFill>
                <a:latin typeface="Lexend Deca" pitchFamily="34" charset="0"/>
                <a:ea typeface="Lexend Deca" pitchFamily="34" charset="-122"/>
                <a:cs typeface="Lexend Deca" pitchFamily="34" charset="-120"/>
              </a:rPr>
              <a:t> you </a:t>
            </a:r>
            <a:r>
              <a:rPr lang="en-US" sz="1700" dirty="0" b="1">
                <a:solidFill>
                  <a:srgbClr val="1B2236"/>
                </a:solidFill>
                <a:latin typeface="Lexend Deca" pitchFamily="34" charset="0"/>
                <a:ea typeface="Lexend Deca" pitchFamily="34" charset="-122"/>
                <a:cs typeface="Lexend Deca" pitchFamily="34" charset="-120"/>
              </a:rPr>
              <a:t>do</a:t>
            </a:r>
            <a:r>
              <a:rPr lang="en-US" sz="1700" dirty="0" b="1">
                <a:solidFill>
                  <a:srgbClr val="1B2236"/>
                </a:solidFill>
                <a:latin typeface="Lexend Deca" pitchFamily="34" charset="0"/>
                <a:ea typeface="Lexend Deca" pitchFamily="34" charset="-122"/>
                <a:cs typeface="Lexend Deca" pitchFamily="34" charset="-120"/>
              </a:rPr>
              <a:t> if you </a:t>
            </a:r>
            <a:r>
              <a:rPr lang="en-US" sz="1700" dirty="0" b="1">
                <a:solidFill>
                  <a:srgbClr val="1B2236"/>
                </a:solidFill>
                <a:latin typeface="Lexend Deca" pitchFamily="34" charset="0"/>
                <a:ea typeface="Lexend Deca" pitchFamily="34" charset="-122"/>
                <a:cs typeface="Lexend Deca" pitchFamily="34" charset="-120"/>
              </a:rPr>
              <a:t>found</a:t>
            </a:r>
            <a:r>
              <a:rPr lang="en-US" sz="1700" dirty="0" b="1">
                <a:solidFill>
                  <a:srgbClr val="1B2236"/>
                </a:solidFill>
                <a:latin typeface="Lexend Deca" pitchFamily="34" charset="0"/>
                <a:ea typeface="Lexend Deca" pitchFamily="34" charset="-122"/>
                <a:cs typeface="Lexend Deca" pitchFamily="34" charset="-120"/>
              </a:rPr>
              <a:t> $50 at work?</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If I </a:t>
            </a:r>
            <a:r>
              <a:rPr lang="en-US" sz="1700" dirty="0" b="1">
                <a:solidFill>
                  <a:srgbClr val="1B2236"/>
                </a:solidFill>
                <a:latin typeface="Lexend Deca" pitchFamily="34" charset="0"/>
                <a:ea typeface="Lexend Deca" pitchFamily="34" charset="-122"/>
                <a:cs typeface="Lexend Deca" pitchFamily="34" charset="-120"/>
              </a:rPr>
              <a:t>found</a:t>
            </a:r>
            <a:r>
              <a:rPr lang="en-US" sz="1700" dirty="0" b="1">
                <a:solidFill>
                  <a:srgbClr val="1B2236"/>
                </a:solidFill>
                <a:latin typeface="Lexend Deca" pitchFamily="34" charset="0"/>
                <a:ea typeface="Lexend Deca" pitchFamily="34" charset="-122"/>
                <a:cs typeface="Lexend Deca" pitchFamily="34" charset="-120"/>
              </a:rPr>
              <a:t> $50, I</a:t>
            </a:r>
            <a:r>
              <a:rPr lang="en-US" sz="1700" dirty="0" b="1">
                <a:solidFill>
                  <a:srgbClr val="1B2236"/>
                </a:solidFill>
                <a:latin typeface="Lexend Deca" pitchFamily="34" charset="0"/>
                <a:ea typeface="Lexend Deca" pitchFamily="34" charset="-122"/>
                <a:cs typeface="Lexend Deca" pitchFamily="34" charset="-120"/>
              </a:rPr>
              <a:t>'d give</a:t>
            </a:r>
            <a:r>
              <a:rPr lang="en-US" sz="1700" dirty="0" b="1">
                <a:solidFill>
                  <a:srgbClr val="1B2236"/>
                </a:solidFill>
                <a:latin typeface="Lexend Deca" pitchFamily="34" charset="0"/>
                <a:ea typeface="Lexend Deca" pitchFamily="34" charset="-122"/>
                <a:cs typeface="Lexend Deca" pitchFamily="34" charset="-120"/>
              </a:rPr>
              <a:t> it to my supervisor.</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What would</a:t>
            </a:r>
            <a:r>
              <a:rPr lang="en-US" sz="1700" dirty="0" b="1">
                <a:solidFill>
                  <a:srgbClr val="1B2236"/>
                </a:solidFill>
                <a:latin typeface="Lexend Deca" pitchFamily="34" charset="0"/>
                <a:ea typeface="Lexend Deca" pitchFamily="34" charset="-122"/>
                <a:cs typeface="Lexend Deca" pitchFamily="34" charset="-120"/>
              </a:rPr>
              <a:t> you </a:t>
            </a:r>
            <a:r>
              <a:rPr lang="en-US" sz="1700" dirty="0" b="1">
                <a:solidFill>
                  <a:srgbClr val="1B2236"/>
                </a:solidFill>
                <a:latin typeface="Lexend Deca" pitchFamily="34" charset="0"/>
                <a:ea typeface="Lexend Deca" pitchFamily="34" charset="-122"/>
                <a:cs typeface="Lexend Deca" pitchFamily="34" charset="-120"/>
              </a:rPr>
              <a:t>do</a:t>
            </a:r>
            <a:r>
              <a:rPr lang="en-US" sz="1700" dirty="0" b="1">
                <a:solidFill>
                  <a:srgbClr val="1B2236"/>
                </a:solidFill>
                <a:latin typeface="Lexend Deca" pitchFamily="34" charset="0"/>
                <a:ea typeface="Lexend Deca" pitchFamily="34" charset="-122"/>
                <a:cs typeface="Lexend Deca" pitchFamily="34" charset="-120"/>
              </a:rPr>
              <a:t> if you </a:t>
            </a:r>
            <a:r>
              <a:rPr lang="en-US" sz="1700" dirty="0" b="1">
                <a:solidFill>
                  <a:srgbClr val="1B2236"/>
                </a:solidFill>
                <a:latin typeface="Lexend Deca" pitchFamily="34" charset="0"/>
                <a:ea typeface="Lexend Deca" pitchFamily="34" charset="-122"/>
                <a:cs typeface="Lexend Deca" pitchFamily="34" charset="-120"/>
              </a:rPr>
              <a:t>had</a:t>
            </a:r>
            <a:r>
              <a:rPr lang="en-US" sz="1700" dirty="0" b="1">
                <a:solidFill>
                  <a:srgbClr val="1B2236"/>
                </a:solidFill>
                <a:latin typeface="Lexend Deca" pitchFamily="34" charset="0"/>
                <a:ea typeface="Lexend Deca" pitchFamily="34" charset="-122"/>
                <a:cs typeface="Lexend Deca" pitchFamily="34" charset="-120"/>
              </a:rPr>
              <a:t> a free week?</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If I </a:t>
            </a:r>
            <a:r>
              <a:rPr lang="en-US" sz="1700" dirty="0" b="1">
                <a:solidFill>
                  <a:srgbClr val="1B2236"/>
                </a:solidFill>
                <a:latin typeface="Lexend Deca" pitchFamily="34" charset="0"/>
                <a:ea typeface="Lexend Deca" pitchFamily="34" charset="-122"/>
                <a:cs typeface="Lexend Deca" pitchFamily="34" charset="-120"/>
              </a:rPr>
              <a:t>had</a:t>
            </a:r>
            <a:r>
              <a:rPr lang="en-US" sz="1700" dirty="0" b="1">
                <a:solidFill>
                  <a:srgbClr val="1B2236"/>
                </a:solidFill>
                <a:latin typeface="Lexend Deca" pitchFamily="34" charset="0"/>
                <a:ea typeface="Lexend Deca" pitchFamily="34" charset="-122"/>
                <a:cs typeface="Lexend Deca" pitchFamily="34" charset="-120"/>
              </a:rPr>
              <a:t> a free week, I</a:t>
            </a:r>
            <a:r>
              <a:rPr lang="en-US" sz="1700" dirty="0" b="1">
                <a:solidFill>
                  <a:srgbClr val="1B2236"/>
                </a:solidFill>
                <a:latin typeface="Lexend Deca" pitchFamily="34" charset="0"/>
                <a:ea typeface="Lexend Deca" pitchFamily="34" charset="-122"/>
                <a:cs typeface="Lexend Deca" pitchFamily="34" charset="-120"/>
              </a:rPr>
              <a:t>'d visit</a:t>
            </a:r>
            <a:r>
              <a:rPr lang="en-US" sz="1700" dirty="0" b="1">
                <a:solidFill>
                  <a:srgbClr val="1B2236"/>
                </a:solidFill>
                <a:latin typeface="Lexend Deca" pitchFamily="34" charset="0"/>
                <a:ea typeface="Lexend Deca" pitchFamily="34" charset="-122"/>
                <a:cs typeface="Lexend Deca" pitchFamily="34" charset="-120"/>
              </a:rPr>
              <a:t> my cousin.</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Would</a:t>
            </a:r>
            <a:r>
              <a:rPr lang="en-US" sz="1700" dirty="0" b="1">
                <a:solidFill>
                  <a:srgbClr val="1B2236"/>
                </a:solidFill>
                <a:latin typeface="Lexend Deca" pitchFamily="34" charset="0"/>
                <a:ea typeface="Lexend Deca" pitchFamily="34" charset="-122"/>
                <a:cs typeface="Lexend Deca" pitchFamily="34" charset="-120"/>
              </a:rPr>
              <a:t> you </a:t>
            </a:r>
            <a:r>
              <a:rPr lang="en-US" sz="1700" dirty="0" b="1">
                <a:solidFill>
                  <a:srgbClr val="1B2236"/>
                </a:solidFill>
                <a:latin typeface="Lexend Deca" pitchFamily="34" charset="0"/>
                <a:ea typeface="Lexend Deca" pitchFamily="34" charset="-122"/>
                <a:cs typeface="Lexend Deca" pitchFamily="34" charset="-120"/>
              </a:rPr>
              <a:t>keep</a:t>
            </a:r>
            <a:r>
              <a:rPr lang="en-US" sz="1700" dirty="0" b="1">
                <a:solidFill>
                  <a:srgbClr val="1B2236"/>
                </a:solidFill>
                <a:latin typeface="Lexend Deca" pitchFamily="34" charset="0"/>
                <a:ea typeface="Lexend Deca" pitchFamily="34" charset="-122"/>
                <a:cs typeface="Lexend Deca" pitchFamily="34" charset="-120"/>
              </a:rPr>
              <a:t> the extra money?</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I </a:t>
            </a:r>
            <a:r>
              <a:rPr lang="en-US" sz="1700" dirty="0" b="1">
                <a:solidFill>
                  <a:srgbClr val="1B2236"/>
                </a:solidFill>
                <a:latin typeface="Lexend Deca" pitchFamily="34" charset="0"/>
                <a:ea typeface="Lexend Deca" pitchFamily="34" charset="-122"/>
                <a:cs typeface="Lexend Deca" pitchFamily="34" charset="-120"/>
              </a:rPr>
              <a:t>wouldn't</a:t>
            </a:r>
            <a:r>
              <a:rPr lang="en-US" sz="1700" dirty="0" b="1">
                <a:solidFill>
                  <a:srgbClr val="1B2236"/>
                </a:solidFill>
                <a:latin typeface="Lexend Deca" pitchFamily="34" charset="0"/>
                <a:ea typeface="Lexend Deca" pitchFamily="34" charset="-122"/>
                <a:cs typeface="Lexend Deca" pitchFamily="34" charset="-120"/>
              </a:rPr>
              <a:t>. I</a:t>
            </a:r>
            <a:r>
              <a:rPr lang="en-US" sz="1700" dirty="0" b="1">
                <a:solidFill>
                  <a:srgbClr val="1B2236"/>
                </a:solidFill>
                <a:latin typeface="Lexend Deca" pitchFamily="34" charset="0"/>
                <a:ea typeface="Lexend Deca" pitchFamily="34" charset="-122"/>
                <a:cs typeface="Lexend Deca" pitchFamily="34" charset="-120"/>
              </a:rPr>
              <a:t>'d give</a:t>
            </a:r>
            <a:r>
              <a:rPr lang="en-US" sz="1700" dirty="0" b="1">
                <a:solidFill>
                  <a:srgbClr val="1B2236"/>
                </a:solidFill>
                <a:latin typeface="Lexend Deca" pitchFamily="34" charset="0"/>
                <a:ea typeface="Lexend Deca" pitchFamily="34" charset="-122"/>
                <a:cs typeface="Lexend Deca" pitchFamily="34" charset="-120"/>
              </a:rPr>
              <a:t> it back.</a:t>
            </a:r>
            <a:endParaRPr lang="en-US" sz="1700" dirty="0" b="1"/>
          </a:p>
        </p:txBody>
      </p:sp>
      <p:sp>
        <p:nvSpPr>
          <p:cNvPr id="27" name="Question 4"/>
          <p:cNvSpPr/>
          <p:nvPr/>
        </p:nvSpPr>
        <p:spPr>
          <a:xfrm>
            <a:off x="5138928" y="544068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What would</a:t>
            </a:r>
            <a:r>
              <a:rPr lang="en-US" sz="1700" dirty="0" b="1">
                <a:solidFill>
                  <a:srgbClr val="1B2236"/>
                </a:solidFill>
                <a:latin typeface="Lexend Deca" pitchFamily="34" charset="0"/>
                <a:ea typeface="Lexend Deca" pitchFamily="34" charset="-122"/>
                <a:cs typeface="Lexend Deca" pitchFamily="34" charset="-120"/>
              </a:rPr>
              <a:t> you </a:t>
            </a:r>
            <a:r>
              <a:rPr lang="en-US" sz="1700" dirty="0" b="1">
                <a:solidFill>
                  <a:srgbClr val="1B2236"/>
                </a:solidFill>
                <a:latin typeface="Lexend Deca" pitchFamily="34" charset="0"/>
                <a:ea typeface="Lexend Deca" pitchFamily="34" charset="-122"/>
                <a:cs typeface="Lexend Deca" pitchFamily="34" charset="-120"/>
              </a:rPr>
              <a:t>do</a:t>
            </a:r>
            <a:r>
              <a:rPr lang="en-US" sz="1700" dirty="0" b="1">
                <a:solidFill>
                  <a:srgbClr val="1B2236"/>
                </a:solidFill>
                <a:latin typeface="Lexend Deca" pitchFamily="34" charset="0"/>
                <a:ea typeface="Lexend Deca" pitchFamily="34" charset="-122"/>
                <a:cs typeface="Lexend Deca" pitchFamily="34" charset="-120"/>
              </a:rPr>
              <a:t> if you </a:t>
            </a:r>
            <a:r>
              <a:rPr lang="en-US" sz="1700" dirty="0" b="1">
                <a:solidFill>
                  <a:srgbClr val="1B2236"/>
                </a:solidFill>
                <a:latin typeface="Lexend Deca" pitchFamily="34" charset="0"/>
                <a:ea typeface="Lexend Deca" pitchFamily="34" charset="-122"/>
                <a:cs typeface="Lexend Deca" pitchFamily="34" charset="-120"/>
              </a:rPr>
              <a:t>were</a:t>
            </a:r>
            <a:r>
              <a:rPr lang="en-US" sz="1700" dirty="0" b="1">
                <a:solidFill>
                  <a:srgbClr val="1B2236"/>
                </a:solidFill>
                <a:latin typeface="Lexend Deca" pitchFamily="34" charset="0"/>
                <a:ea typeface="Lexend Deca" pitchFamily="34" charset="-122"/>
                <a:cs typeface="Lexend Deca" pitchFamily="34" charset="-120"/>
              </a:rPr>
              <a:t> me?</a:t>
            </a:r>
            <a:endParaRPr lang="en-US" sz="1700" dirty="0" b="1"/>
          </a:p>
        </p:txBody>
      </p:sp>
      <p:sp>
        <p:nvSpPr>
          <p:cNvPr id="28" name="Answer bg 4"/>
          <p:cNvSpPr/>
          <p:nvPr/>
        </p:nvSpPr>
        <p:spPr>
          <a:xfrm>
            <a:off x="7863840" y="544068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544068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If I </a:t>
            </a:r>
            <a:r>
              <a:rPr lang="en-US" sz="1700" dirty="0" b="1">
                <a:solidFill>
                  <a:srgbClr val="1B2236"/>
                </a:solidFill>
                <a:latin typeface="Lexend Deca" pitchFamily="34" charset="0"/>
                <a:ea typeface="Lexend Deca" pitchFamily="34" charset="-122"/>
                <a:cs typeface="Lexend Deca" pitchFamily="34" charset="-120"/>
              </a:rPr>
              <a:t>were</a:t>
            </a:r>
            <a:r>
              <a:rPr lang="en-US" sz="1700" dirty="0" b="1">
                <a:solidFill>
                  <a:srgbClr val="1B2236"/>
                </a:solidFill>
                <a:latin typeface="Lexend Deca" pitchFamily="34" charset="0"/>
                <a:ea typeface="Lexend Deca" pitchFamily="34" charset="-122"/>
                <a:cs typeface="Lexend Deca" pitchFamily="34" charset="-120"/>
              </a:rPr>
              <a:t> you, I</a:t>
            </a:r>
            <a:r>
              <a:rPr lang="en-US" sz="1700" dirty="0" b="1">
                <a:solidFill>
                  <a:srgbClr val="1B2236"/>
                </a:solidFill>
                <a:latin typeface="Lexend Deca" pitchFamily="34" charset="0"/>
                <a:ea typeface="Lexend Deca" pitchFamily="34" charset="-122"/>
                <a:cs typeface="Lexend Deca" pitchFamily="34" charset="-120"/>
              </a:rPr>
              <a:t>'d call</a:t>
            </a:r>
            <a:r>
              <a:rPr lang="en-US" sz="1700" dirty="0" b="1">
                <a:solidFill>
                  <a:srgbClr val="1B2236"/>
                </a:solidFill>
                <a:latin typeface="Lexend Deca" pitchFamily="34" charset="0"/>
                <a:ea typeface="Lexend Deca" pitchFamily="34" charset="-122"/>
                <a:cs typeface="Lexend Deca" pitchFamily="34" charset="-120"/>
              </a:rPr>
              <a:t> the owner.</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Envelope: an envelop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possible or imaginary?</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If it </a:t>
            </a:r>
            <a:r>
              <a:rPr lang="en-US" sz="1700" dirty="0" b="1">
                <a:solidFill>
                  <a:srgbClr val="1B2236"/>
                </a:solidFill>
                <a:latin typeface="Lexend Deca" pitchFamily="34" charset="0"/>
                <a:ea typeface="Lexend Deca" pitchFamily="34" charset="-122"/>
                <a:cs typeface="Lexend Deca" pitchFamily="34" charset="-120"/>
              </a:rPr>
              <a:t>rains</a:t>
            </a:r>
            <a:r>
              <a:rPr lang="en-US" sz="1700" dirty="0" b="1">
                <a:solidFill>
                  <a:srgbClr val="1B2236"/>
                </a:solidFill>
                <a:latin typeface="Lexend Deca" pitchFamily="34" charset="0"/>
                <a:ea typeface="Lexend Deca" pitchFamily="34" charset="-122"/>
                <a:cs typeface="Lexend Deca" pitchFamily="34" charset="-120"/>
              </a:rPr>
              <a:t> tomorrow, I</a:t>
            </a:r>
            <a:r>
              <a:rPr lang="en-US" sz="1700" dirty="0" b="1">
                <a:solidFill>
                  <a:srgbClr val="1B2236"/>
                </a:solidFill>
                <a:latin typeface="Lexend Deca" pitchFamily="34" charset="0"/>
                <a:ea typeface="Lexend Deca" pitchFamily="34" charset="-122"/>
                <a:cs typeface="Lexend Deca" pitchFamily="34" charset="-120"/>
              </a:rPr>
              <a:t>'ll take</a:t>
            </a:r>
            <a:r>
              <a:rPr lang="en-US" sz="1700" dirty="0" b="1">
                <a:solidFill>
                  <a:srgbClr val="1B2236"/>
                </a:solidFill>
                <a:latin typeface="Lexend Deca" pitchFamily="34" charset="0"/>
                <a:ea typeface="Lexend Deca" pitchFamily="34" charset="-122"/>
                <a:cs typeface="Lexend Deca" pitchFamily="34" charset="-120"/>
              </a:rPr>
              <a:t> the bus.</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If I </a:t>
            </a:r>
            <a:r>
              <a:rPr lang="en-US" sz="1700" dirty="0" b="1">
                <a:solidFill>
                  <a:srgbClr val="1B2236"/>
                </a:solidFill>
                <a:latin typeface="Lexend Deca" pitchFamily="34" charset="0"/>
                <a:ea typeface="Lexend Deca" pitchFamily="34" charset="-122"/>
                <a:cs typeface="Lexend Deca" pitchFamily="34" charset="-120"/>
              </a:rPr>
              <a:t>had</a:t>
            </a:r>
            <a:r>
              <a:rPr lang="en-US" sz="1700" dirty="0" b="1">
                <a:solidFill>
                  <a:srgbClr val="1B2236"/>
                </a:solidFill>
                <a:latin typeface="Lexend Deca" pitchFamily="34" charset="0"/>
                <a:ea typeface="Lexend Deca" pitchFamily="34" charset="-122"/>
                <a:cs typeface="Lexend Deca" pitchFamily="34" charset="-120"/>
              </a:rPr>
              <a:t> a car, I</a:t>
            </a:r>
            <a:r>
              <a:rPr lang="en-US" sz="1700" dirty="0" b="1">
                <a:solidFill>
                  <a:srgbClr val="1B2236"/>
                </a:solidFill>
                <a:latin typeface="Lexend Deca" pitchFamily="34" charset="0"/>
                <a:ea typeface="Lexend Deca" pitchFamily="34" charset="-122"/>
                <a:cs typeface="Lexend Deca" pitchFamily="34" charset="-120"/>
              </a:rPr>
              <a:t>'d drive</a:t>
            </a:r>
            <a:r>
              <a:rPr lang="en-US" sz="1700" dirty="0" b="1">
                <a:solidFill>
                  <a:srgbClr val="1B2236"/>
                </a:solidFill>
                <a:latin typeface="Lexend Deca" pitchFamily="34" charset="0"/>
                <a:ea typeface="Lexend Deca" pitchFamily="34" charset="-122"/>
                <a:cs typeface="Lexend Deca" pitchFamily="34" charset="-120"/>
              </a:rPr>
              <a:t> to work.</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If I </a:t>
            </a:r>
            <a:r>
              <a:rPr lang="en-US" sz="1700" dirty="0" b="1">
                <a:solidFill>
                  <a:srgbClr val="1B2236"/>
                </a:solidFill>
                <a:latin typeface="Lexend Deca" pitchFamily="34" charset="0"/>
                <a:ea typeface="Lexend Deca" pitchFamily="34" charset="-122"/>
                <a:cs typeface="Lexend Deca" pitchFamily="34" charset="-120"/>
              </a:rPr>
              <a:t>get</a:t>
            </a:r>
            <a:r>
              <a:rPr lang="en-US" sz="1700" dirty="0" b="1">
                <a:solidFill>
                  <a:srgbClr val="1B2236"/>
                </a:solidFill>
                <a:latin typeface="Lexend Deca" pitchFamily="34" charset="0"/>
                <a:ea typeface="Lexend Deca" pitchFamily="34" charset="-122"/>
                <a:cs typeface="Lexend Deca" pitchFamily="34" charset="-120"/>
              </a:rPr>
              <a:t> the job, I</a:t>
            </a:r>
            <a:r>
              <a:rPr lang="en-US" sz="1700" dirty="0" b="1">
                <a:solidFill>
                  <a:srgbClr val="1B2236"/>
                </a:solidFill>
                <a:latin typeface="Lexend Deca" pitchFamily="34" charset="0"/>
                <a:ea typeface="Lexend Deca" pitchFamily="34" charset="-122"/>
                <a:cs typeface="Lexend Deca" pitchFamily="34" charset="-120"/>
              </a:rPr>
              <a:t>'ll buy</a:t>
            </a:r>
            <a:r>
              <a:rPr lang="en-US" sz="1700" dirty="0" b="1">
                <a:solidFill>
                  <a:srgbClr val="1B2236"/>
                </a:solidFill>
                <a:latin typeface="Lexend Deca" pitchFamily="34" charset="0"/>
                <a:ea typeface="Lexend Deca" pitchFamily="34" charset="-122"/>
                <a:cs typeface="Lexend Deca" pitchFamily="34" charset="-120"/>
              </a:rPr>
              <a:t> a new phone.</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If I </a:t>
            </a:r>
            <a:r>
              <a:rPr lang="en-US" sz="1700" dirty="0" b="1">
                <a:solidFill>
                  <a:srgbClr val="1B2236"/>
                </a:solidFill>
                <a:latin typeface="Lexend Deca" pitchFamily="34" charset="0"/>
                <a:ea typeface="Lexend Deca" pitchFamily="34" charset="-122"/>
                <a:cs typeface="Lexend Deca" pitchFamily="34" charset="-120"/>
              </a:rPr>
              <a:t>won</a:t>
            </a:r>
            <a:r>
              <a:rPr lang="en-US" sz="1700" dirty="0" b="1">
                <a:solidFill>
                  <a:srgbClr val="1B2236"/>
                </a:solidFill>
                <a:latin typeface="Lexend Deca" pitchFamily="34" charset="0"/>
                <a:ea typeface="Lexend Deca" pitchFamily="34" charset="-122"/>
                <a:cs typeface="Lexend Deca" pitchFamily="34" charset="-120"/>
              </a:rPr>
              <a:t> $1,000, I</a:t>
            </a:r>
            <a:r>
              <a:rPr lang="en-US" sz="1700" dirty="0" b="1">
                <a:solidFill>
                  <a:srgbClr val="1B2236"/>
                </a:solidFill>
                <a:latin typeface="Lexend Deca" pitchFamily="34" charset="0"/>
                <a:ea typeface="Lexend Deca" pitchFamily="34" charset="-122"/>
                <a:cs typeface="Lexend Deca" pitchFamily="34" charset="-120"/>
              </a:rPr>
              <a:t>'d pay</a:t>
            </a:r>
            <a:r>
              <a:rPr lang="en-US" sz="1700" dirty="0" b="1">
                <a:solidFill>
                  <a:srgbClr val="1B2236"/>
                </a:solidFill>
                <a:latin typeface="Lexend Deca" pitchFamily="34" charset="0"/>
                <a:ea typeface="Lexend Deca" pitchFamily="34" charset="-122"/>
                <a:cs typeface="Lexend Deca" pitchFamily="34" charset="-120"/>
              </a:rPr>
              <a:t> my bills.</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If you </a:t>
            </a:r>
            <a:r>
              <a:rPr lang="en-US" sz="1700" dirty="0" b="1">
                <a:solidFill>
                  <a:srgbClr val="1B2236"/>
                </a:solidFill>
                <a:latin typeface="Lexend Deca" pitchFamily="34" charset="0"/>
                <a:ea typeface="Lexend Deca" pitchFamily="34" charset="-122"/>
                <a:cs typeface="Lexend Deca" pitchFamily="34" charset="-120"/>
              </a:rPr>
              <a:t>find</a:t>
            </a:r>
            <a:r>
              <a:rPr lang="en-US" sz="1700" dirty="0" b="1">
                <a:solidFill>
                  <a:srgbClr val="1B2236"/>
                </a:solidFill>
                <a:latin typeface="Lexend Deca" pitchFamily="34" charset="0"/>
                <a:ea typeface="Lexend Deca" pitchFamily="34" charset="-122"/>
                <a:cs typeface="Lexend Deca" pitchFamily="34" charset="-120"/>
              </a:rPr>
              <a:t> my keys, </a:t>
            </a:r>
            <a:r>
              <a:rPr lang="en-US" sz="1700" dirty="0" b="1">
                <a:solidFill>
                  <a:srgbClr val="1B2236"/>
                </a:solidFill>
                <a:latin typeface="Lexend Deca" pitchFamily="34" charset="0"/>
                <a:ea typeface="Lexend Deca" pitchFamily="34" charset="-122"/>
                <a:cs typeface="Lexend Deca" pitchFamily="34" charset="-120"/>
              </a:rPr>
              <a:t>will</a:t>
            </a:r>
            <a:r>
              <a:rPr lang="en-US" sz="1700" dirty="0" b="1">
                <a:solidFill>
                  <a:srgbClr val="1B2236"/>
                </a:solidFill>
                <a:latin typeface="Lexend Deca" pitchFamily="34" charset="0"/>
                <a:ea typeface="Lexend Deca" pitchFamily="34" charset="-122"/>
                <a:cs typeface="Lexend Deca" pitchFamily="34" charset="-120"/>
              </a:rPr>
              <a:t> you </a:t>
            </a:r>
            <a:r>
              <a:rPr lang="en-US" sz="1700" dirty="0" b="1">
                <a:solidFill>
                  <a:srgbClr val="1B2236"/>
                </a:solidFill>
                <a:latin typeface="Lexend Deca" pitchFamily="34" charset="0"/>
                <a:ea typeface="Lexend Deca" pitchFamily="34" charset="-122"/>
                <a:cs typeface="Lexend Deca" pitchFamily="34" charset="-120"/>
              </a:rPr>
              <a:t>call</a:t>
            </a:r>
            <a:r>
              <a:rPr lang="en-US" sz="1700" dirty="0" b="1">
                <a:solidFill>
                  <a:srgbClr val="1B2236"/>
                </a:solidFill>
                <a:latin typeface="Lexend Deca" pitchFamily="34" charset="0"/>
                <a:ea typeface="Lexend Deca" pitchFamily="34" charset="-122"/>
                <a:cs typeface="Lexend Deca" pitchFamily="34" charset="-120"/>
              </a:rPr>
              <a:t> me?</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If I </a:t>
            </a:r>
            <a:r>
              <a:rPr lang="en-US" sz="1700" dirty="0" b="1">
                <a:solidFill>
                  <a:srgbClr val="1B2236"/>
                </a:solidFill>
                <a:latin typeface="Lexend Deca" pitchFamily="34" charset="0"/>
                <a:ea typeface="Lexend Deca" pitchFamily="34" charset="-122"/>
                <a:cs typeface="Lexend Deca" pitchFamily="34" charset="-120"/>
              </a:rPr>
              <a:t>found</a:t>
            </a:r>
            <a:r>
              <a:rPr lang="en-US" sz="1700" dirty="0" b="1">
                <a:solidFill>
                  <a:srgbClr val="1B2236"/>
                </a:solidFill>
                <a:latin typeface="Lexend Deca" pitchFamily="34" charset="0"/>
                <a:ea typeface="Lexend Deca" pitchFamily="34" charset="-122"/>
                <a:cs typeface="Lexend Deca" pitchFamily="34" charset="-120"/>
              </a:rPr>
              <a:t> a wallet, I</a:t>
            </a:r>
            <a:r>
              <a:rPr lang="en-US" sz="1700" dirty="0" b="1">
                <a:solidFill>
                  <a:srgbClr val="1B2236"/>
                </a:solidFill>
                <a:latin typeface="Lexend Deca" pitchFamily="34" charset="0"/>
                <a:ea typeface="Lexend Deca" pitchFamily="34" charset="-122"/>
                <a:cs typeface="Lexend Deca" pitchFamily="34" charset="-120"/>
              </a:rPr>
              <a:t>'d look</a:t>
            </a:r>
            <a:r>
              <a:rPr lang="en-US" sz="1700" dirty="0" b="1">
                <a:solidFill>
                  <a:srgbClr val="1B2236"/>
                </a:solidFill>
                <a:latin typeface="Lexend Deca" pitchFamily="34" charset="0"/>
                <a:ea typeface="Lexend Deca" pitchFamily="34" charset="-122"/>
                <a:cs typeface="Lexend Deca" pitchFamily="34" charset="-120"/>
              </a:rPr>
              <a:t> for the owner.</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Extra money: money and a plus sign [sign: + $10]"/>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would short forms</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LONG</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SHORT  ·  EXAMPLE</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would</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I'd</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I'd give it back.</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she would</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she'd</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She'd keep it.</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would not</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wouldn't</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 wouldn't keep it.</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Mistake: a receipt and an X [sign: MISTAK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advice with If I were you…</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USE  ·  EXAMPLE</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If I were you, I'd…</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advice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If I were you, I'd talk to the supervisor.</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were</a:t>
            </a:r>
            <a:r>
              <a:rPr lang="en-US" sz="1700" dirty="0" b="1">
                <a:solidFill>
                  <a:srgbClr val="1B2236"/>
                </a:solidFill>
                <a:latin typeface="Lexend Deca" pitchFamily="34" charset="0"/>
                <a:ea typeface="Lexend Deca" pitchFamily="34" charset="-122"/>
                <a:cs typeface="Lexend Deca" pitchFamily="34" charset="-120"/>
              </a:rPr>
              <a:t> for every person</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imaginary</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If it were one dollar, I'd keep it.</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5B3FC4"/>
                </a:solidFill>
                <a:latin typeface="Lexend Deca" pitchFamily="34" charset="0"/>
                <a:ea typeface="Lexend Deca" pitchFamily="34" charset="-122"/>
                <a:cs typeface="Lexend Deca" pitchFamily="34" charset="-120"/>
              </a:rPr>
              <a:t>If I was…</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you hear it in speaking; it's OK</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in writing, use If I were</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correct form of the verb.</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the correct form of the verb.</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If I ____ a wallet, I'd look for the owner. (find)</a:t>
            </a:r>
            <a:endParaRPr lang="en-US" sz="1600" dirty="0"/>
          </a:p>
        </p:txBody>
      </p:sp>
      <p:sp>
        <p:nvSpPr>
          <p:cNvPr id="35" name="R1 ans"/>
          <p:cNvSpPr/>
          <p:nvPr/>
        </p:nvSpPr>
        <p:spPr>
          <a:xfrm>
            <a:off x="5925312" y="2222144"/>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found</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If I had more time, I'd ____ a computer class. (take)</a:t>
            </a:r>
            <a:endParaRPr lang="en-US" sz="1600" dirty="0"/>
          </a:p>
        </p:txBody>
      </p:sp>
      <p:sp>
        <p:nvSpPr>
          <p:cNvPr id="40" name="R2 ans"/>
          <p:cNvSpPr/>
          <p:nvPr/>
        </p:nvSpPr>
        <p:spPr>
          <a:xfrm>
            <a:off x="5925312" y="2950312"/>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take</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If I ____ you, I'd tell the truth. (be)</a:t>
            </a:r>
            <a:endParaRPr lang="en-US" sz="1600" dirty="0"/>
          </a:p>
        </p:txBody>
      </p:sp>
      <p:sp>
        <p:nvSpPr>
          <p:cNvPr id="45" name="R3 ans"/>
          <p:cNvSpPr/>
          <p:nvPr/>
        </p:nvSpPr>
        <p:spPr>
          <a:xfrm>
            <a:off x="5925312" y="3678479"/>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were</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What would you ____ if you won $500? (do)</a:t>
            </a:r>
            <a:endParaRPr lang="en-US" sz="1600" dirty="0"/>
          </a:p>
        </p:txBody>
      </p:sp>
      <p:sp>
        <p:nvSpPr>
          <p:cNvPr id="50" name="R4 ans"/>
          <p:cNvSpPr/>
          <p:nvPr/>
        </p:nvSpPr>
        <p:spPr>
          <a:xfrm>
            <a:off x="5925312" y="4406646"/>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If she ____ a car, she'd drive to work. (have)</a:t>
            </a:r>
            <a:endParaRPr lang="en-US" sz="1600" dirty="0"/>
          </a:p>
        </p:txBody>
      </p:sp>
      <p:sp>
        <p:nvSpPr>
          <p:cNvPr id="55" name="R5 ans"/>
          <p:cNvSpPr/>
          <p:nvPr/>
        </p:nvSpPr>
        <p:spPr>
          <a:xfrm>
            <a:off x="5925312" y="5134813"/>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had</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If it rains tomorrow, ____ take the bus. (I'll / I'd)</a:t>
            </a:r>
            <a:endParaRPr lang="en-US" sz="1600" dirty="0"/>
          </a:p>
        </p:txBody>
      </p:sp>
      <p:sp>
        <p:nvSpPr>
          <p:cNvPr id="60" name="R6 ans"/>
          <p:cNvSpPr/>
          <p:nvPr/>
        </p:nvSpPr>
        <p:spPr>
          <a:xfrm>
            <a:off x="5925312" y="5862980"/>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I'll</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correct words.</a:t>
            </a:r>
            <a:endParaRPr lang="en-US" sz="2000" dirty="0"/>
          </a:p>
        </p:txBody>
      </p:sp>
      <p:sp>
        <p:nvSpPr>
          <p:cNvPr id="8" name="R1 stmt"/>
          <p:cNvSpPr/>
          <p:nvPr/>
        </p:nvSpPr>
        <p:spPr>
          <a:xfrm>
            <a:off x="502920" y="31089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1. If I ____ a magic wand, I'd fix all the potholes.</a:t>
            </a:r>
            <a:endParaRPr lang="en-US" sz="1600" dirty="0"/>
          </a:p>
        </p:txBody>
      </p:sp>
      <p:sp>
        <p:nvSpPr>
          <p:cNvPr id="9" name="R1 opt1"/>
          <p:cNvSpPr/>
          <p:nvPr/>
        </p:nvSpPr>
        <p:spPr>
          <a:xfrm>
            <a:off x="676656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had</a:t>
            </a:r>
            <a:endParaRPr lang="en-US" sz="1500" dirty="0" b="1"/>
          </a:p>
        </p:txBody>
      </p:sp>
      <p:sp>
        <p:nvSpPr>
          <p:cNvPr id="10" name="R1 opt2"/>
          <p:cNvSpPr/>
          <p:nvPr/>
        </p:nvSpPr>
        <p:spPr>
          <a:xfrm>
            <a:off x="896112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have</a:t>
            </a:r>
            <a:endParaRPr lang="en-US" sz="1500" dirty="0" b="1"/>
          </a:p>
        </p:txBody>
      </p:sp>
      <p:sp>
        <p:nvSpPr>
          <p:cNvPr id="11" name="R1 circle"/>
          <p:cNvSpPr/>
          <p:nvPr/>
        </p:nvSpPr>
        <p:spPr>
          <a:xfrm>
            <a:off x="6638544" y="30540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2. If I found $50, I ____ give it back.</a:t>
            </a:r>
            <a:endParaRPr lang="en-US" sz="1600" dirty="0"/>
          </a:p>
        </p:txBody>
      </p:sp>
      <p:sp>
        <p:nvSpPr>
          <p:cNvPr id="13" name="R2 opt1"/>
          <p:cNvSpPr/>
          <p:nvPr/>
        </p:nvSpPr>
        <p:spPr>
          <a:xfrm>
            <a:off x="676656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would</a:t>
            </a:r>
            <a:endParaRPr lang="en-US" sz="1500" dirty="0" b="1"/>
          </a:p>
        </p:txBody>
      </p:sp>
      <p:sp>
        <p:nvSpPr>
          <p:cNvPr id="14" name="R2 opt2"/>
          <p:cNvSpPr/>
          <p:nvPr/>
        </p:nvSpPr>
        <p:spPr>
          <a:xfrm>
            <a:off x="896112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will</a:t>
            </a:r>
            <a:endParaRPr lang="en-US" sz="1500" dirty="0" b="1"/>
          </a:p>
        </p:txBody>
      </p:sp>
      <p:sp>
        <p:nvSpPr>
          <p:cNvPr id="15" name="R2 circle"/>
          <p:cNvSpPr/>
          <p:nvPr/>
        </p:nvSpPr>
        <p:spPr>
          <a:xfrm>
            <a:off x="6638544" y="360273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3. If I ____ you, I'd call the owner.</a:t>
            </a:r>
            <a:endParaRPr lang="en-US" sz="1600" dirty="0"/>
          </a:p>
        </p:txBody>
      </p:sp>
      <p:sp>
        <p:nvSpPr>
          <p:cNvPr id="17" name="R3 opt1"/>
          <p:cNvSpPr/>
          <p:nvPr/>
        </p:nvSpPr>
        <p:spPr>
          <a:xfrm>
            <a:off x="676656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were</a:t>
            </a:r>
            <a:endParaRPr lang="en-US" sz="1500" dirty="0" b="1"/>
          </a:p>
        </p:txBody>
      </p:sp>
      <p:sp>
        <p:nvSpPr>
          <p:cNvPr id="18" name="R3 opt2"/>
          <p:cNvSpPr/>
          <p:nvPr/>
        </p:nvSpPr>
        <p:spPr>
          <a:xfrm>
            <a:off x="896112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would be</a:t>
            </a:r>
            <a:endParaRPr lang="en-US" sz="1500" dirty="0" b="1"/>
          </a:p>
        </p:txBody>
      </p:sp>
      <p:sp>
        <p:nvSpPr>
          <p:cNvPr id="19" name="R3 circle"/>
          <p:cNvSpPr/>
          <p:nvPr/>
        </p:nvSpPr>
        <p:spPr>
          <a:xfrm>
            <a:off x="6638544" y="415137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4. If it ____ tomorrow, I'll stay home.</a:t>
            </a:r>
            <a:endParaRPr lang="en-US" sz="1600" dirty="0"/>
          </a:p>
        </p:txBody>
      </p:sp>
      <p:sp>
        <p:nvSpPr>
          <p:cNvPr id="21" name="R4 opt1"/>
          <p:cNvSpPr/>
          <p:nvPr/>
        </p:nvSpPr>
        <p:spPr>
          <a:xfrm>
            <a:off x="676656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rains</a:t>
            </a:r>
            <a:endParaRPr lang="en-US" sz="1500" dirty="0" b="1"/>
          </a:p>
        </p:txBody>
      </p:sp>
      <p:sp>
        <p:nvSpPr>
          <p:cNvPr id="22" name="R4 opt2"/>
          <p:cNvSpPr/>
          <p:nvPr/>
        </p:nvSpPr>
        <p:spPr>
          <a:xfrm>
            <a:off x="896112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rained</a:t>
            </a:r>
            <a:endParaRPr lang="en-US" sz="1500" dirty="0" b="1"/>
          </a:p>
        </p:txBody>
      </p:sp>
      <p:sp>
        <p:nvSpPr>
          <p:cNvPr id="23" name="R4 circle"/>
          <p:cNvSpPr/>
          <p:nvPr/>
        </p:nvSpPr>
        <p:spPr>
          <a:xfrm>
            <a:off x="6638544" y="470001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5. Would you keep it? No, I ____.</a:t>
            </a:r>
            <a:endParaRPr lang="en-US" sz="1600" dirty="0"/>
          </a:p>
        </p:txBody>
      </p:sp>
      <p:sp>
        <p:nvSpPr>
          <p:cNvPr id="25" name="R5 opt1"/>
          <p:cNvSpPr/>
          <p:nvPr/>
        </p:nvSpPr>
        <p:spPr>
          <a:xfrm>
            <a:off x="676656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wouldn't</a:t>
            </a:r>
            <a:endParaRPr lang="en-US" sz="1500" dirty="0" b="1"/>
          </a:p>
        </p:txBody>
      </p:sp>
      <p:sp>
        <p:nvSpPr>
          <p:cNvPr id="26" name="R5 opt2"/>
          <p:cNvSpPr/>
          <p:nvPr/>
        </p:nvSpPr>
        <p:spPr>
          <a:xfrm>
            <a:off x="896112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don't</a:t>
            </a:r>
            <a:endParaRPr lang="en-US" sz="1500" dirty="0" b="1"/>
          </a:p>
        </p:txBody>
      </p:sp>
      <p:sp>
        <p:nvSpPr>
          <p:cNvPr id="27" name="R5 circle"/>
          <p:cNvSpPr/>
          <p:nvPr/>
        </p:nvSpPr>
        <p:spPr>
          <a:xfrm>
            <a:off x="6638544" y="524865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t>6. ____ if you had a free week?</a:t>
            </a:r>
            <a:endParaRPr lang="en-US" sz="1600" dirty="0"/>
          </a:p>
        </p:txBody>
      </p:sp>
      <p:sp>
        <p:nvSpPr>
          <p:cNvPr id="29" name="R6 opt1"/>
          <p:cNvSpPr/>
          <p:nvPr/>
        </p:nvSpPr>
        <p:spPr>
          <a:xfrm>
            <a:off x="676656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What would you do</a:t>
            </a:r>
            <a:endParaRPr lang="en-US" sz="1500" dirty="0" b="1"/>
          </a:p>
        </p:txBody>
      </p:sp>
      <p:sp>
        <p:nvSpPr>
          <p:cNvPr id="30" name="R6 opt2"/>
          <p:cNvSpPr/>
          <p:nvPr/>
        </p:nvSpPr>
        <p:spPr>
          <a:xfrm>
            <a:off x="896112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What you would do</a:t>
            </a:r>
            <a:endParaRPr lang="en-US" sz="1500" dirty="0" b="1"/>
          </a:p>
        </p:txBody>
      </p:sp>
      <p:sp>
        <p:nvSpPr>
          <p:cNvPr id="31" name="R6 circle"/>
          <p:cNvSpPr/>
          <p:nvPr/>
        </p:nvSpPr>
        <p:spPr>
          <a:xfrm>
            <a:off x="6638544" y="57972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4: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Magic wand: a magic wand and sparkles"/>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If I would have time, I'd take a class.</a:t>
            </a:r>
            <a:endParaRPr lang="en-US" sz="1700" dirty="0"/>
          </a:p>
        </p:txBody>
      </p:sp>
      <p:sp>
        <p:nvSpPr>
          <p:cNvPr id="25" name="Good 1"/>
          <p:cNvSpPr/>
          <p:nvPr/>
        </p:nvSpPr>
        <p:spPr>
          <a:xfrm>
            <a:off x="4800600" y="2468880"/>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If I </a:t>
            </a:r>
            <a:r>
              <a:rPr lang="en-US" sz="1700" dirty="0" b="1">
                <a:solidFill>
                  <a:srgbClr val="1B2236"/>
                </a:solidFill>
                <a:latin typeface="Lexend Deca" pitchFamily="34" charset="0"/>
                <a:ea typeface="Lexend Deca" pitchFamily="34" charset="-122"/>
                <a:cs typeface="Lexend Deca" pitchFamily="34" charset="-120"/>
              </a:rPr>
              <a:t>had</a:t>
            </a:r>
            <a:r>
              <a:rPr lang="en-US" sz="1700" dirty="0" b="1">
                <a:solidFill>
                  <a:srgbClr val="1B2236"/>
                </a:solidFill>
                <a:latin typeface="Lexend Deca" pitchFamily="34" charset="0"/>
                <a:ea typeface="Lexend Deca" pitchFamily="34" charset="-122"/>
                <a:cs typeface="Lexend Deca" pitchFamily="34" charset="-120"/>
              </a:rPr>
              <a:t> time, I'd take a class.</a:t>
            </a:r>
            <a:endParaRPr lang="en-US" sz="1700" dirty="0" b="1"/>
          </a:p>
        </p:txBody>
      </p:sp>
      <p:sp>
        <p:nvSpPr>
          <p:cNvPr id="26" name="Bad 2"/>
          <p:cNvSpPr/>
          <p:nvPr/>
        </p:nvSpPr>
        <p:spPr>
          <a:xfrm>
            <a:off x="914400" y="3310128"/>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If I found $50, I will give it back.</a:t>
            </a:r>
            <a:endParaRPr lang="en-US" sz="1700" dirty="0"/>
          </a:p>
        </p:txBody>
      </p:sp>
      <p:sp>
        <p:nvSpPr>
          <p:cNvPr id="27" name="Good 2"/>
          <p:cNvSpPr/>
          <p:nvPr/>
        </p:nvSpPr>
        <p:spPr>
          <a:xfrm>
            <a:off x="4800600" y="3310128"/>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If I found $50, I</a:t>
            </a:r>
            <a:r>
              <a:rPr lang="en-US" sz="1700" dirty="0" b="1">
                <a:solidFill>
                  <a:srgbClr val="1B2236"/>
                </a:solidFill>
                <a:latin typeface="Lexend Deca" pitchFamily="34" charset="0"/>
                <a:ea typeface="Lexend Deca" pitchFamily="34" charset="-122"/>
                <a:cs typeface="Lexend Deca" pitchFamily="34" charset="-120"/>
              </a:rPr>
              <a:t>'d</a:t>
            </a:r>
            <a:r>
              <a:rPr lang="en-US" sz="1700" dirty="0" b="1">
                <a:solidFill>
                  <a:srgbClr val="1B2236"/>
                </a:solidFill>
                <a:latin typeface="Lexend Deca" pitchFamily="34" charset="0"/>
                <a:ea typeface="Lexend Deca" pitchFamily="34" charset="-122"/>
                <a:cs typeface="Lexend Deca" pitchFamily="34" charset="-120"/>
              </a:rPr>
              <a:t> give it back.</a:t>
            </a:r>
            <a:endParaRPr lang="en-US" sz="1700" dirty="0" b="1"/>
          </a:p>
        </p:txBody>
      </p:sp>
      <p:sp>
        <p:nvSpPr>
          <p:cNvPr id="28" name="Bad 3"/>
          <p:cNvSpPr/>
          <p:nvPr/>
        </p:nvSpPr>
        <p:spPr>
          <a:xfrm>
            <a:off x="914400" y="415137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What you would do?</a:t>
            </a:r>
            <a:endParaRPr lang="en-US" sz="1700" dirty="0"/>
          </a:p>
        </p:txBody>
      </p:sp>
      <p:sp>
        <p:nvSpPr>
          <p:cNvPr id="29" name="Good 3"/>
          <p:cNvSpPr/>
          <p:nvPr/>
        </p:nvSpPr>
        <p:spPr>
          <a:xfrm>
            <a:off x="4800600" y="415137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What would you</a:t>
            </a:r>
            <a:r>
              <a:rPr lang="en-US" sz="1700" dirty="0" b="1">
                <a:solidFill>
                  <a:srgbClr val="1B2236"/>
                </a:solidFill>
                <a:latin typeface="Lexend Deca" pitchFamily="34" charset="0"/>
                <a:ea typeface="Lexend Deca" pitchFamily="34" charset="-122"/>
                <a:cs typeface="Lexend Deca" pitchFamily="34" charset="-120"/>
              </a:rPr>
              <a:t> do?</a:t>
            </a:r>
            <a:endParaRPr lang="en-US" sz="1700" dirty="0" b="1"/>
          </a:p>
        </p:txBody>
      </p:sp>
      <p:sp>
        <p:nvSpPr>
          <p:cNvPr id="30" name="Bad 4"/>
          <p:cNvSpPr/>
          <p:nvPr/>
        </p:nvSpPr>
        <p:spPr>
          <a:xfrm>
            <a:off x="914400" y="471830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If I am you, I'd call.</a:t>
            </a:r>
            <a:endParaRPr lang="en-US" sz="1700" dirty="0"/>
          </a:p>
        </p:txBody>
      </p:sp>
      <p:sp>
        <p:nvSpPr>
          <p:cNvPr id="31" name="Good 4"/>
          <p:cNvSpPr/>
          <p:nvPr/>
        </p:nvSpPr>
        <p:spPr>
          <a:xfrm>
            <a:off x="4800600" y="471830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If I </a:t>
            </a:r>
            <a:r>
              <a:rPr lang="en-US" sz="1700" dirty="0" b="1">
                <a:solidFill>
                  <a:srgbClr val="1B2236"/>
                </a:solidFill>
                <a:latin typeface="Lexend Deca" pitchFamily="34" charset="0"/>
                <a:ea typeface="Lexend Deca" pitchFamily="34" charset="-122"/>
                <a:cs typeface="Lexend Deca" pitchFamily="34" charset="-120"/>
              </a:rPr>
              <a:t>were</a:t>
            </a:r>
            <a:r>
              <a:rPr lang="en-US" sz="1700" dirty="0" b="1">
                <a:solidFill>
                  <a:srgbClr val="1B2236"/>
                </a:solidFill>
                <a:latin typeface="Lexend Deca" pitchFamily="34" charset="0"/>
                <a:ea typeface="Lexend Deca" pitchFamily="34" charset="-122"/>
                <a:cs typeface="Lexend Deca" pitchFamily="34" charset="-120"/>
              </a:rPr>
              <a:t> you, I'd call.</a:t>
            </a:r>
            <a:endParaRPr lang="en-US" sz="1700" dirty="0" b="1"/>
          </a:p>
        </p:txBody>
      </p:sp>
      <p:sp>
        <p:nvSpPr>
          <p:cNvPr id="32" name="Bad 5"/>
          <p:cNvSpPr/>
          <p:nvPr/>
        </p:nvSpPr>
        <p:spPr>
          <a:xfrm>
            <a:off x="914400" y="5285232"/>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I'd to give it back.</a:t>
            </a:r>
            <a:endParaRPr lang="en-US" sz="1700" dirty="0"/>
          </a:p>
        </p:txBody>
      </p:sp>
      <p:sp>
        <p:nvSpPr>
          <p:cNvPr id="33" name="Good 5"/>
          <p:cNvSpPr/>
          <p:nvPr/>
        </p:nvSpPr>
        <p:spPr>
          <a:xfrm>
            <a:off x="4800600" y="5285232"/>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I'd </a:t>
            </a:r>
            <a:r>
              <a:rPr lang="en-US" sz="1700" dirty="0" b="1">
                <a:solidFill>
                  <a:srgbClr val="1B2236"/>
                </a:solidFill>
                <a:latin typeface="Lexend Deca" pitchFamily="34" charset="0"/>
                <a:ea typeface="Lexend Deca" pitchFamily="34" charset="-122"/>
                <a:cs typeface="Lexend Deca" pitchFamily="34" charset="-120"/>
              </a:rPr>
              <a:t>give</a:t>
            </a:r>
            <a:r>
              <a:rPr lang="en-US" sz="1700" dirty="0" b="1">
                <a:solidFill>
                  <a:srgbClr val="1B2236"/>
                </a:solidFill>
                <a:latin typeface="Lexend Deca" pitchFamily="34" charset="0"/>
                <a:ea typeface="Lexend Deca" pitchFamily="34" charset="-122"/>
                <a:cs typeface="Lexend Deca" pitchFamily="34" charset="-120"/>
              </a:rPr>
              <a:t> it back.</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4:drill">
    <p:bg>
      <p:bgPr>
        <a:solidFill>
          <a:srgbClr val="F1F5FB"/>
        </a:solidFill>
      </p:bgPr>
    </p:bg>
    <p:spTree>
      <p:nvGrpSpPr>
        <p:cNvPr id="1" name=""/>
        <p:cNvGrpSpPr/>
        <p:nvPr/>
      </p:nvGrpSpPr>
      <p:grpSpPr/>
      <p:pic>
        <p:nvPicPr>
          <p:cNvPr id="26" name="pic" descr="Dream job: a thought bubble and a cook [sign: DREAM JOB]"/>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Check</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asks.</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answers with a reason.</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What would you do if you found an envelope with money?</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If I found…, I'd…</a:t>
            </a:r>
            <a:endParaRPr lang="en-US" sz="1900" dirty="0" b="0"/>
          </a:p>
          <a:p>
            <a:pPr algn="l" indent="0" marL="0">
              <a:buNone/>
            </a:pPr>
            <a:r>
              <a:rPr lang="en-US" sz="1900" dirty="0" b="1">
                <a:solidFill>
                  <a:srgbClr val="1B2236"/>
                </a:solidFill>
                <a:latin typeface="Lexend Deca" pitchFamily="34" charset="0"/>
                <a:ea typeface="Lexend Deca" pitchFamily="34" charset="-122"/>
                <a:cs typeface="Lexend Deca" pitchFamily="34" charset="-120"/>
              </a:rPr>
              <a:t>because…</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reads a situation from the pictures. Then switch.</a:t>
            </a:r>
            <a:endParaRPr lang="en-US" sz="20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Envelope: an envelope"/>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What Would You Do?</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Groups of 3–4.</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Read a situation card.</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One person reads a situation card.</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You find $50 on the floor at work.</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Each person answers with a reason.</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If I found $50, I'd give it to my supervisor because…</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Write your group's most common answer.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We'd… because…</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Magic wand: a magic wand and sparkles"/>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800" dirty="0" b="1">
                <a:solidFill>
                  <a:srgbClr val="1B2236"/>
                </a:solidFill>
                <a:latin typeface="Lexend Deca" pitchFamily="34" charset="0"/>
                <a:ea typeface="Lexend Deca" pitchFamily="34" charset="-122"/>
                <a:cs typeface="Lexend Deca" pitchFamily="34" charset="-120"/>
              </a:rPr>
              <a:t>Magic Wand Chain</a:t>
            </a:r>
            <a:endParaRPr lang="en-US" sz="28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Sit in a circle.</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Pass the "magic wand."</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Each person says one sentence.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If I had a magic wand, I'd…</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Then do one more round.</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If I had my dream job, I'd…</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Classmates can ask one question.</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Why?</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fast first.</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Answer the questions.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Read &amp;</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Write</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ADVICE COLUMN · Ask Gloria: Work and Life</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answer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Where does the writer work?</a:t>
            </a:r>
            <a:endParaRPr lang="en-US" sz="1500" dirty="0"/>
          </a:p>
        </p:txBody>
      </p:sp>
      <p:sp>
        <p:nvSpPr>
          <p:cNvPr id="35" name="R1 ans"/>
          <p:cNvSpPr/>
          <p:nvPr/>
        </p:nvSpPr>
        <p:spPr>
          <a:xfrm>
            <a:off x="4187952" y="2525573"/>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At a busy restaurant.</a:t>
            </a:r>
            <a:endParaRPr lang="en-US" sz="14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How long are Leo's breaks sometimes?</a:t>
            </a:r>
            <a:endParaRPr lang="en-US" sz="1500" dirty="0"/>
          </a:p>
        </p:txBody>
      </p:sp>
      <p:sp>
        <p:nvSpPr>
          <p:cNvPr id="40" name="R2 ans"/>
          <p:cNvSpPr/>
          <p:nvPr/>
        </p:nvSpPr>
        <p:spPr>
          <a:xfrm>
            <a:off x="4187952" y="3311957"/>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30 minutes, not 15.</a:t>
            </a:r>
            <a:endParaRPr lang="en-US" sz="14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What would Gloria do first?</a:t>
            </a:r>
            <a:endParaRPr lang="en-US" sz="1500" dirty="0"/>
          </a:p>
        </p:txBody>
      </p:sp>
      <p:sp>
        <p:nvSpPr>
          <p:cNvPr id="45" name="R3 ans"/>
          <p:cNvSpPr/>
          <p:nvPr/>
        </p:nvSpPr>
        <p:spPr>
          <a:xfrm>
            <a:off x="4187952" y="4098341"/>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She'd talk to Leo.</a:t>
            </a:r>
            <a:endParaRPr lang="en-US" sz="14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Where would she talk to him?</a:t>
            </a:r>
            <a:endParaRPr lang="en-US" sz="1500" dirty="0"/>
          </a:p>
        </p:txBody>
      </p:sp>
      <p:sp>
        <p:nvSpPr>
          <p:cNvPr id="50" name="R4 ans"/>
          <p:cNvSpPr/>
          <p:nvPr/>
        </p:nvSpPr>
        <p:spPr>
          <a:xfrm>
            <a:off x="4187952" y="4884725"/>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Alone, not in front of other people.</a:t>
            </a:r>
            <a:endParaRPr lang="en-US" sz="14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When would she talk to the supervisor?</a:t>
            </a:r>
            <a:endParaRPr lang="en-US" sz="1500" dirty="0"/>
          </a:p>
        </p:txBody>
      </p:sp>
      <p:sp>
        <p:nvSpPr>
          <p:cNvPr id="55" name="R5 ans"/>
          <p:cNvSpPr/>
          <p:nvPr/>
        </p:nvSpPr>
        <p:spPr>
          <a:xfrm>
            <a:off x="4187952" y="5671109"/>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If Leo still took long breaks after that.</a:t>
            </a:r>
            <a:endParaRPr lang="en-US" sz="14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4: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7:25–7:30</a:t>
            </a:r>
            <a:endParaRPr lang="en-US" sz="4000" dirty="0"/>
          </a:p>
        </p:txBody>
      </p:sp>
      <p:pic>
        <p:nvPicPr>
          <p:cNvPr id="16" name="pic" descr="Tell the truth: a person speaking and a check mark"/>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What would you do if you had a free week?</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An if-sentence (If I had a free week, I'd…).</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A second idea (I'd also…).</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The reason, with because.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Give it to me at the door.</a:t>
            </a:r>
            <a:endParaRPr lang="en-US" sz="16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About 15–20 minutes.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Write the sentence.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Finish your writing from Read &amp; Write C (your reply).</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Write 3 sentences about your dreams.</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4. Review (Lesson 5).</a:t>
            </a:r>
            <a:endParaRPr lang="en-US" sz="1600" dirty="0" b="0"/>
          </a:p>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Bring it next week!</a:t>
            </a:r>
            <a:endParaRPr lang="en-US" sz="16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4: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Keep (it): open hands and a wallet [sign: KEEP IT?]">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6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What would you do if…?</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Talk about an imaginary situation</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Give advice</a:t>
            </a:r>
            <a:endParaRPr lang="en-US" sz="22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L4: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signs and labels were added.</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Mike, Grace, Teresa, Gloria, and Leo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(coming soon): synthetic voices made with Chatterbox TTS (MIT License), cloned from short synthetic reference clips made with Kokoro-82M (Apache License 2.0). No recordings of real people. Each file will carry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Lesson 6: What Would You Do?</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