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679" r:id="rId33"/>
    <p:sldId id="680" r:id="rId34"/>
    <p:sldId id="681" r:id="rId35"/>
    <p:sldId id="682" r:id="rId36"/>
    <p:sldId id="683" r:id="rId31"/>
    <p:sldId id="684" r:id="rId30"/>
    <p:sldId id="685" r:id="rId29"/>
    <p:sldId id="686" r:id="rId28"/>
    <p:sldId id="687" r:id="rId27"/>
    <p:sldId id="688" r:id="rId20"/>
    <p:sldId id="689" r:id="rId18"/>
    <p:sldId id="690" r:id="rId17"/>
    <p:sldId id="691" r:id="rId16"/>
    <p:sldId id="692" r:id="rId14"/>
    <p:sldId id="693" r:id="rId13"/>
    <p:sldId id="694" r:id="rId12"/>
    <p:sldId id="695" r:id="rId11"/>
    <p:sldId id="696" r:id="rId10"/>
    <p:sldId id="697" r:id="rId8"/>
    <p:sldId id="698" r:id="rId7"/>
    <p:sldId id="699" r:id="rId6"/>
    <p:sldId id="700" r:id="rId5"/>
    <p:sldId id="701" r:id="rId4"/>
    <p:sldId id="702" r:id="rId3"/>
    <p:sldId id="703" r:id="rId57"/>
    <p:sldId id="704"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2.xml"/><Relationship Id="rId3" Type="http://schemas.openxmlformats.org/officeDocument/2006/relationships/slide" Target="slides/slide50.xml"/><Relationship Id="rId4" Type="http://schemas.openxmlformats.org/officeDocument/2006/relationships/slide" Target="slides/slide49.xml"/><Relationship Id="rId5" Type="http://schemas.openxmlformats.org/officeDocument/2006/relationships/slide" Target="slides/slide48.xml"/><Relationship Id="rId6" Type="http://schemas.openxmlformats.org/officeDocument/2006/relationships/slide" Target="slides/slide47.xml"/><Relationship Id="rId7" Type="http://schemas.openxmlformats.org/officeDocument/2006/relationships/slide" Target="slides/slide46.xml"/><Relationship Id="rId8" Type="http://schemas.openxmlformats.org/officeDocument/2006/relationships/slide" Target="slides/slide45.xml"/><Relationship Id="rId10" Type="http://schemas.openxmlformats.org/officeDocument/2006/relationships/slide" Target="slides/slide44.xml"/><Relationship Id="rId11" Type="http://schemas.openxmlformats.org/officeDocument/2006/relationships/slide" Target="slides/slide43.xml"/><Relationship Id="rId12" Type="http://schemas.openxmlformats.org/officeDocument/2006/relationships/slide" Target="slides/slide42.xml"/><Relationship Id="rId13" Type="http://schemas.openxmlformats.org/officeDocument/2006/relationships/slide" Target="slides/slide41.xml"/><Relationship Id="rId14" Type="http://schemas.openxmlformats.org/officeDocument/2006/relationships/slide" Target="slides/slide40.xml"/><Relationship Id="rId16" Type="http://schemas.openxmlformats.org/officeDocument/2006/relationships/slide" Target="slides/slide39.xml"/><Relationship Id="rId17" Type="http://schemas.openxmlformats.org/officeDocument/2006/relationships/slide" Target="slides/slide38.xml"/><Relationship Id="rId18" Type="http://schemas.openxmlformats.org/officeDocument/2006/relationships/slide" Target="slides/slide37.xml"/><Relationship Id="rId20" Type="http://schemas.openxmlformats.org/officeDocument/2006/relationships/slide" Target="slides/slide36.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35.xml"/><Relationship Id="rId28" Type="http://schemas.openxmlformats.org/officeDocument/2006/relationships/slide" Target="slides/slide34.xml"/><Relationship Id="rId29" Type="http://schemas.openxmlformats.org/officeDocument/2006/relationships/slide" Target="slides/slide33.xml"/><Relationship Id="rId30" Type="http://schemas.openxmlformats.org/officeDocument/2006/relationships/slide" Target="slides/slide32.xml"/><Relationship Id="rId31" Type="http://schemas.openxmlformats.org/officeDocument/2006/relationships/slide" Target="slides/slide31.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57"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Credits. You don't need to read this slide in class.</a:t>
            </a:r>
          </a:p>
          <a:p>
            <a:r>
              <a:t>Pictures: Twemoji graphics by Twitter, Inc. and other contributors, CC BY 4.0; the file-by-file list is in images/CREDITS.md.</a:t>
            </a:r>
          </a:p>
          <a:p>
            <a:r>
              <a:t>Audio: the listening audio for this lesson (about 2:07) is coming soon. It will use computer-generated voices (Chatterbox TTS cloned from synthetic Kokoro-82M reference clips); no recordings of real people. Until it is ready, read the listening script (in the notes of the Before You Listen slide) with a volunteer. The names and the story are invented.</a:t>
            </a:r>
          </a:p>
          <a:p>
            <a:r>
              <a:t>Course materials: © 2026 the authors, licensed under CC BY-NC-SA 4.0 (https://creativecommons.org/licenses/by-nc-sa/4.0/).</a:t>
            </a:r>
          </a:p>
          <a:p>
            <a:r>
              <a:t>Lesson plan: Picture Credits. Picture list: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 7:25–7:30 · Exit Ticket + Homework · 5 min · NEVER SKIP.</a:t>
            </a:r>
          </a:p>
          <a:p>
            <a:r>
              <a:t>Exit ticket (3 min): learners open the Exit Ticket page and answer in 3 sentences with a reason: A friend has had a backache for a week. What do you say? Example on the board: How long have you had it? Why don't you call the clinic? It's a good idea because a week is a long time. With 5 or fewer, a learner can say it to you first and then write it.</a:t>
            </a:r>
          </a:p>
          <a:p>
            <a:r>
              <a:t>Collect the pages. After class, sort them into ✓ / almost / not yet. Start next week with 2 corrections on the board (no names).</a:t>
            </a:r>
          </a:p>
          <a:p>
            <a:r>
              <a:t>Homework (2 min): open the Homework page. Do item 1 together (she / have / a rash / ___ / three days → She's had a rash for three days.). Say: "About 15–20 minutes. Finish your Read &amp; Write writing at home."</a:t>
            </a:r>
          </a:p>
          <a:p>
            <a:r>
              <a:t>Homework items: 1 write the sentence with the words • 2 finish the email from Read &amp; Write C and check it with the list in D • 3 write 3 good ideas to stay healthy (It's a good idea to… / You could… / Why don't you…?) and give a reason • 4 review (Lesson 3): already, yet, or just.</a:t>
            </a:r>
          </a:p>
          <a:p>
            <a:r>
              <a:t>Lesson plan: Step 7; Exit Ticket page; Homework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 7:15–7:25 · Read &amp; Write: A clinic letter + an insurance card · 10 min. Pairs read, then individual writing.</a:t>
            </a:r>
          </a:p>
          <a:p>
            <a:r>
              <a:t>Read (4 min): learners read the letter from the clinic and the insurance card on the Read &amp; Write page and answer the questions. Point to copay and deductible on the card. Say: "Read fast first. Then find the answers." Pairs answer questions 1–5 together.</a:t>
            </a:r>
          </a:p>
          <a:p>
            <a:r>
              <a:t>Check (1 min): click to show each answer (one click per question, 1 to 5): 1 In March 2025. • 2 Every six months. • 3 Her insurance card, a photo ID, and a list of her medicines. • 4 $20. • 5 $1,000.</a:t>
            </a:r>
          </a:p>
          <a:p>
            <a:r>
              <a:t>Insurance: stay at "read the card; know copay and deductible." A copay is what you pay at each visit; a deductible is what you pay first in a year before the plan pays more. Don't explain plans or prices.</a:t>
            </a:r>
          </a:p>
          <a:p>
            <a:r>
              <a:t>Write (5 min): learners write an email to a friend (5–8 sentences). The friend has had a backache for a week. Ask how long, give two suggestions with reasons, and say what to bring to the clinic. Show the example. Invented details are fine. Learners start in class and finish at home (Homework item 2).</a:t>
            </a:r>
          </a:p>
          <a:p>
            <a:r>
              <a:t>If behind: questions 1–5 only; the writing becomes homework.</a:t>
            </a:r>
          </a:p>
          <a:p>
            <a:r>
              <a:t>Lesson plan: Step 6; Read &amp; Write page; Answer key; Teacher notes: Insurance.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2 (6 min): Good Idea Circle (circles of 5). One learner reads a problem card. The next two learners each give a suggestion. The first learner chooses one and says why: "Good idea. I'm going to… because…" Then the next learner reads a card. Each click shows the next step.</a:t>
            </a:r>
          </a:p>
          <a:p>
            <a:r>
              <a:t>Example: A: I sit all day at work. B: Why don't you take a short walk at lunch? C: You could stand up every hour. A: Good idea. I'm going to walk at lunch because I like being outside.</a:t>
            </a:r>
          </a:p>
          <a:p>
            <a:r>
              <a:t>15 learners: 3 circles of 5 for round 2. 7–8 learners: one circle for round 2. 5 or fewer: in round 2, make one circle; you add problem cards and suggest first.</a:t>
            </a:r>
          </a:p>
          <a:p>
            <a:r>
              <a:t>Real health questions: say, "For a real health question, ask your doctor or pharmacist. In an emergency, call 911." It is printed on the Good Idea Circle page.</a:t>
            </a:r>
          </a:p>
          <a:p>
            <a:r>
              <a:t>Every answer needs a reason; every partner asks a follow-up. Walk around and listen. Note 2 good sentences to praise and 1 common error for next week.</a:t>
            </a:r>
          </a:p>
          <a:p>
            <a:r>
              <a:t>If behind: round 1 only.</a:t>
            </a:r>
          </a:p>
          <a:p>
            <a:r>
              <a:t>Lesson plan: Step 5; Talk Time: Good Idea Circle;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 7:00–7:15 · Talk Time: Clinic Intake + Good Idea Circle · 15 min.</a:t>
            </a:r>
          </a:p>
          <a:p>
            <a:r>
              <a:t>Model it first (1 min): sit back to back with a learner. You are the medical assistant: "What brings you in today?" The learner reads a symptom card: "I have a rash on my arm." You ask, "How long have you had it?" Then switch: the learner asks you. Say: "Answer, then add one more detail."</a:t>
            </a:r>
          </a:p>
          <a:p>
            <a:r>
              <a:t>Round 1 (7 min): Clinic Intake (pairs, back to back). A is the medical assistant and asks the 8 form questions; B chooses a symptom card and answers (invented answers). A writes short notes. Then switch, with a new card. Each click shows the next step.</a:t>
            </a:r>
          </a:p>
          <a:p>
            <a:r>
              <a:t>Form questions: 1. What brings you in today? 2. How long have you had it? 3. Have you ever had this before? 4. Have you tried anything for it? 5. Do you have any allergies? 6. Have you ever had surgery? 7. Have you had a flu shot this year? 8. When was your last checkup?</a:t>
            </a:r>
          </a:p>
          <a:p>
            <a:r>
              <a:t>15 learners: pairs for round 1. 7–8 learners: pairs for round 1. 5 or fewer: pairs (you join if there is an odd number).</a:t>
            </a:r>
          </a:p>
          <a:p>
            <a:r>
              <a:t>Keep health invented and mild. All patients and symptoms are invented. Never ask learners about their own health, medicines, or insurance. If a learner shares something, thank them and move on.</a:t>
            </a:r>
          </a:p>
          <a:p>
            <a:r>
              <a:t>Lesson plan: Step 5; Talk Time: Clinic Intake;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 check (last 3 min of Step 4). Pairs.</a:t>
            </a:r>
          </a:p>
          <a:p>
            <a:r>
              <a:t>A says a problem from Box 2. B gives a suggestion with Why don't you… / You could… A says, "Good idea." Switch. 15 learners: swap partners once. 5 or fewer: you join one pair.</a:t>
            </a:r>
          </a:p>
          <a:p>
            <a:r>
              <a:t>If behind: skip the pair check. Talk Time practices it.</a:t>
            </a:r>
          </a:p>
          <a:p>
            <a:r>
              <a:t>Break · 6:45–7:00 · 15 min. Write on the board: How long have you had it? → I've had it for… / since… • Why don't you…? / You could… / It's a good idea to…</a:t>
            </a:r>
          </a:p>
          <a:p>
            <a:r>
              <a:t>Lesson plan: Step 4: Pair check; Break.</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mistakes. Read the table together: "Don't say… Say…". Read a line from Don't say. Ask: "What's the right way?" Learners try first. Then click to show the right form. Each click shows one line, in order 1 to 5.</a:t>
            </a:r>
          </a:p>
          <a:p>
            <a:r>
              <a:t>Learners can read the contrast tip on their Grammar page on their own; it is optional. You never need to read, translate, or explain it.</a:t>
            </a:r>
          </a:p>
          <a:p>
            <a:r>
              <a:t>Lesson plan: Grammar: Common mistakes;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 Learners circle the correct words. Pairs check.</a:t>
            </a:r>
          </a:p>
          <a:p>
            <a:r>
              <a:t>Click to circle each answer (one click per item, 1 to 6): 1 've had, 2 try, 3 Why don't you, 4 for, 5 had, 6 to get.</a:t>
            </a:r>
          </a:p>
          <a:p>
            <a:r>
              <a:t>Lesson plan: Step 4; Grammar Practice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A and B (3 min): learners write, then pairs check. Go over the answers.</a:t>
            </a:r>
          </a:p>
          <a:p>
            <a:r>
              <a:t>Click to show each answer (one click per item, 1 to 6): 1 had, 2 call, 3 felt, 4 try, 5 get, 6 had.</a:t>
            </a:r>
          </a:p>
          <a:p>
            <a:r>
              <a:t>Lesson plan: Step 4; Grammar Practice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4: strong or soft? Each click shows one row.</a:t>
            </a:r>
          </a:p>
          <a:p>
            <a:r>
              <a:t>Questions and answers (2 min): Q: Can I say I have a rash since Monday? A: No. It started in the past and is still true: I've had a rash since Monday. • Q: Is Why don't you call the clinic? a real question? A: No. It's a suggestion. Answer: Good idea. / Thanks, I will. Your voice goes down at the end. • Q: You could to try or You could try? A: After could, use the base verb: You could try a heating pad.</a:t>
            </a:r>
          </a:p>
          <a:p>
            <a:r>
              <a:t>Check questions: "I have a rash since Monday. Right or wrong?" (wrong: I've had a rash since Monday.) • "You could to try or You could try?" (You could try) • "Is Why don't you call? a real question?" (no, it's a suggestion).</a:t>
            </a:r>
          </a:p>
          <a:p>
            <a:r>
              <a:t>Lesson plan: Step 4; Grammar Box 4; Questions and answers.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3: how to say a symptom. Each click shows the examples of one row.</a:t>
            </a:r>
          </a:p>
          <a:p>
            <a:r>
              <a:t>Lesson plan: Step 4; Grammar Box 3.</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2: a problem → a suggestion. Read a problem; the class answers with the suggestion. Each click shows the suggestion side of one row.</a:t>
            </a:r>
          </a:p>
          <a:p>
            <a:r>
              <a:t>Rule of thumb (read it aloud): Use have / has + past participle + for / since for a problem that started in the past and is still true. After Why don't you, You could, It's a good idea to, and should, use the base verb (call, try, get).</a:t>
            </a:r>
          </a:p>
          <a:p>
            <a:r>
              <a:t>Lesson plan: Step 4; Grammar Box 2; Rule of thumb.</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 6:30–6:45 · Grammar Q&amp;A · 15 min (slides 13 to 20). Whole class, then pairs. Show the Grammar page. The left side is the question. The right side is the answer.</a:t>
            </a:r>
          </a:p>
          <a:p>
            <a:r>
              <a:t>Show it (2 min): say, "I have a cough. It started on Sunday. Today is Thursday." Write: I've had a cough since Sunday. I've had it for four days. Then hold your back: "My back hurts." Point to a learner and help them say, "Why don't you call the clinic?" Write three suggestions on the board.</a:t>
            </a:r>
          </a:p>
          <a:p>
            <a:r>
              <a:t>Box 1: read across: How long have you had this rash? → I've had it for three days. and Have you ever had surgery? → Yes, I had knee surgery in 2018. Each click shows the answer side of one row.</a:t>
            </a:r>
          </a:p>
          <a:p>
            <a:r>
              <a:t>for / since: for + a length of time (three days); since + a start (Monday, January). With a finished time (in 2018), use the simple past.</a:t>
            </a:r>
          </a:p>
          <a:p>
            <a:r>
              <a:t>Lesson plan: Step 4; Grammar Box 1; Teacher notes: for / since.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"Hear it, say it" (3 min). Point to the script lines. gonna = going to: "The doctor's going to see you in a few minutes." wanna = want to: "I want to make an appointment." You can say going to and want to.</a:t>
            </a:r>
          </a:p>
          <a:p>
            <a:r>
              <a:t>Then practice Why don't you…? as one smooth group with falling intonation (a suggestion, not a real question), and the stress: I've had a RASH since MONday. The class repeats the two lines twice.</a:t>
            </a:r>
          </a:p>
          <a:p>
            <a:r>
              <a:t>Reductions: the listening says going to and want to. People often say gonna and wanna. Learners only need to recognize the short forms.</a:t>
            </a:r>
          </a:p>
          <a:p>
            <a:r>
              <a:t>Lesson plan: Step 3: "Hear it, say it"; Listening page: Hear it, say it; Teacher notes.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C (play 2). Click to show each answer (one click per item, 1 to 6): 1 for, 2 ever, 3 ever, 4 since, 5 for, 6 since.</a:t>
            </a:r>
          </a:p>
          <a:p>
            <a:r>
              <a:t>If behind: do Task C together on the board, reading the lines yourself.</a:t>
            </a:r>
          </a:p>
          <a:p>
            <a:r>
              <a:t>Lesson plan: Step 3; Listening Task C;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2 → Tasks B and C. Pairs compare. Then show the answers.</a:t>
            </a:r>
          </a:p>
          <a:p>
            <a:r>
              <a:t>Click to circle each answer (one click per item, 1 to 6): 1 back pain • 2 about two weeks • 3 no • 4 penicillin • 5 no • 6 $20.</a:t>
            </a:r>
          </a:p>
          <a:p>
            <a:r>
              <a:t>Lesson plan: Step 3; Listening Task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1 → Task A (the main idea). Pairs compare. Check together.</a:t>
            </a:r>
          </a:p>
          <a:p>
            <a:r>
              <a:t>Click to circle the answer: b (for back pain).</a:t>
            </a:r>
          </a:p>
          <a:p>
            <a:r>
              <a:t>Then read Tasks B and C together (1 min) so learners know what to listen for.</a:t>
            </a:r>
          </a:p>
          <a:p>
            <a:r>
              <a:t>Lesson plan: Step 3; Listening Task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 6:15–6:30 · Listening + "Hear it, say it" · 15 min (slides 8 to 12). Individuals, then pairs check.</a:t>
            </a:r>
          </a:p>
          <a:p>
            <a:r>
              <a:t>Before you listen (2 min). Say: "Amina is at a clinic. First, Daniel, the medical assistant, asks her some questions. Then she talks to Ms. Park, the receptionist. Listen: why is Amina at the clinic?"</a:t>
            </a:r>
          </a:p>
          <a:p>
            <a:r>
              <a:t>There are three people: Amina, Daniel (the medical assistant), and Ms. Park (the receptionist). A narrator starts and ends the listening. Each click highlights the next person.</a:t>
            </a:r>
          </a:p>
          <a:p>
            <a:r>
              <a:t>The audio (about 2:07) is coming soon. When it is ready, it plays the conversation once; press play again for play 2. Until then, read the listening script (at the end of these notes) with a volunteer.</a:t>
            </a:r>
          </a:p>
          <a:p>
            <a:r>
              <a:t>No speaker? Read the script with a volunteer at a natural, friendly speed, two times. The script says going to and want to. People often say gonna and wanna; learners only need to recognize those words.</a:t>
            </a:r>
          </a:p>
          <a:p>
            <a:r>
              <a:t>Audio: the listening audio for this lesson (about 2:07) is coming soon. It will use computer-generated voices (Chatterbox TTS cloned from synthetic Kokoro-82M reference clips); no recordings of real people. Until it is ready, read the listening script (in the notes of the Before You Listen slide) with a volunteer. The names and the story are invented.</a:t>
            </a:r>
          </a:p>
          <a:p>
            <a:r>
              <a:t>Lesson plan: Step 3; Listening script; Listening page.</a:t>
            </a:r>
          </a:p>
          <a:p>
            <a:r>
              <a:t>Picture: Twemoji graphics by Twitter, Inc. and other contributors (https://github.com/jdecked/twemoji), CC BY 4.0 (https://creativecommons.org/licenses/by/4.0/); resized and combined, with signs and labels (images/CREDITS.md).</a:t>
            </a:r>
          </a:p>
          <a:p>
            <a:r>
              <a:t>Listening script (the audio is coming soon; until then, read it aloud with a volunteer at a normal, friendly speed):</a:t>
            </a:r>
          </a:p>
          <a:p>
            <a:r>
              <a:t>Narrator: Lesson four. Amina is at a clinic. First, she talks to Daniel, the medical assistant.</a:t>
            </a:r>
          </a:p>
          <a:p>
            <a:r>
              <a:t>Daniel: Hi, Amina. I'm Daniel. I'm going to ask you a few questions for your health history. What brings you in today?</a:t>
            </a:r>
          </a:p>
          <a:p>
            <a:r>
              <a:t>Amina: My lower back hurts. It isn't very bad, but it hasn't stopped.</a:t>
            </a:r>
          </a:p>
          <a:p>
            <a:r>
              <a:t>Daniel: I'm sorry to hear that. How long have you had the back pain?</a:t>
            </a:r>
          </a:p>
          <a:p>
            <a:r>
              <a:t>Amina: I've had it for about two weeks. It started when I moved some heavy boxes.</a:t>
            </a:r>
          </a:p>
          <a:p>
            <a:r>
              <a:t>Daniel: OK. Have you ever had back problems before?</a:t>
            </a:r>
          </a:p>
          <a:p>
            <a:r>
              <a:t>Amina: No, never. This is the first time.</a:t>
            </a:r>
          </a:p>
          <a:p>
            <a:r>
              <a:t>Daniel: Have you ever had surgery?</a:t>
            </a:r>
          </a:p>
          <a:p>
            <a:r>
              <a:t>Amina: Yes, I had knee surgery in 2018.</a:t>
            </a:r>
          </a:p>
          <a:p>
            <a:r>
              <a:t>Daniel: Thank you. Do you have any allergies?</a:t>
            </a:r>
          </a:p>
          <a:p>
            <a:r>
              <a:t>Amina: Yes, I'm allergic to penicillin. I get a rash.</a:t>
            </a:r>
          </a:p>
          <a:p>
            <a:r>
              <a:t>Daniel: I'll write that down. Have you tried anything for the pain?</a:t>
            </a:r>
          </a:p>
          <a:p>
            <a:r>
              <a:t>Amina: I've used a heating pad a few times. It helps a little.</a:t>
            </a:r>
          </a:p>
          <a:p>
            <a:r>
              <a:t>Daniel: Have you felt dizzy?</a:t>
            </a:r>
          </a:p>
          <a:p>
            <a:r>
              <a:t>Amina: No, I haven't.</a:t>
            </a:r>
          </a:p>
          <a:p>
            <a:r>
              <a:t>Daniel: Good. Now let me check your blood pressure. It's one eighteen over seventy-six. That's fine. The doctor's going to see you in a few minutes.</a:t>
            </a:r>
          </a:p>
          <a:p>
            <a:r>
              <a:t>Narrator: Later, at checkout, Amina talks to Ms. Park, the receptionist.</a:t>
            </a:r>
          </a:p>
          <a:p>
            <a:r>
              <a:t>Ms. Park: Hi, Amina. Your copay today is twenty dollars.</a:t>
            </a:r>
          </a:p>
          <a:p>
            <a:r>
              <a:t>Amina: OK. Here's my new insurance card. I've had it since January.</a:t>
            </a:r>
          </a:p>
          <a:p>
            <a:r>
              <a:t>Ms. Park: Thank you. Also, you haven't had a teeth cleaning for a year, and you haven't had a checkup since last spring. It's a good idea to get one every six months.</a:t>
            </a:r>
          </a:p>
          <a:p>
            <a:r>
              <a:t>Amina: You're right. I want to make an appointment with the dentist.</a:t>
            </a:r>
          </a:p>
          <a:p>
            <a:r>
              <a:t>Ms. Park: Why don't you call the dental office tomorrow? Here's the number. And you could get a flu shot here next week.</a:t>
            </a:r>
          </a:p>
          <a:p>
            <a:r>
              <a:t>Amina: Good idea. Thank you!</a:t>
            </a:r>
          </a:p>
          <a:p>
            <a:r>
              <a:t>Narrator: That's the end of the listening.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Check meaning · 1 min. Whole class.</a:t>
            </a:r>
          </a:p>
          <a:p>
            <a:r>
              <a:t>The answers are hidden. Ask each question and wait for the class to answer. Then click to show the answer. Each click shows one answer, in order: 1, 2, 3.</a:t>
            </a:r>
          </a:p>
          <a:p>
            <a:r>
              <a:t>1. "Do you get a checkup when you are sick or when you are well?" (when you are well; it's every year) • 2. "Is a cough a symptom?" (yes) • 3. "Do you pay a copay at the clinic or at home?" (at the clinic)</a:t>
            </a:r>
          </a:p>
          <a:p>
            <a:r>
              <a:t>Lesson plan: Step 2: Check meaning.</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continued. Point to each picture and say the word. Learners repeat once.</a:t>
            </a:r>
          </a:p>
          <a:p>
            <a:r>
              <a:t>Show the hard words: dizzy (mime the room turning); teeth cleaning and cavity (a hole in a tooth); flu shot; prescription (paper from the doctor for medicine); copay (the money you pay at each visit).</a:t>
            </a:r>
          </a:p>
          <a:p>
            <a:r>
              <a:t>Partner game (2 min): A points to a picture and says a problem, for example, "I've had a rash since Monday." B gives a suggestion: "Why don't you call the clinic?" Switch. 15 learners: finish with a quick team round (3 teams; you say a clue, the first team with the word gets a point). 7–8: 2 teams. 5 or fewer: one team against the clock.</a:t>
            </a:r>
          </a:p>
          <a:p>
            <a:r>
              <a:t>My Words: "Write any word you want in your language on the My Words page. It's your personal list. It's optional." Learners do it at home.</a:t>
            </a:r>
          </a:p>
          <a:p>
            <a:r>
              <a:t>If behind: teach the ★ words only.</a:t>
            </a:r>
          </a:p>
          <a:p>
            <a:r>
              <a:t>Lesson plan: Step 2; New Words page; Partner game; My Words page.</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6:08–6:15 · New Words · 7 min (this slide and the next). Whole class, then pairs.</a:t>
            </a:r>
          </a:p>
          <a:p>
            <a:r>
              <a:t>Point to each picture and say the word. Learners repeat once. ★ = the most important words. Each click shows the next word.</a:t>
            </a:r>
          </a:p>
          <a:p>
            <a:r>
              <a:t>Show the hard words: checkup (a visit when you are well); health history (a form: your past illnesses, surgery, allergies); symptom (what you feel: a cough, a rash); allergy (I'm allergic to peanuts); blood pressure (mime the arm cuff: 120 over 80).</a:t>
            </a:r>
          </a:p>
          <a:p>
            <a:r>
              <a:t>If behind: teach the ★ words only.</a:t>
            </a:r>
          </a:p>
          <a:p>
            <a:r>
              <a:t>Lesson plan: Step 2; Key vocabulary; New Words page.</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learners as they arrive.</a:t>
            </a:r>
          </a:p>
          <a:p>
            <a:r>
              <a:t>Point to the title and read it: "How long have you had it?" Say: "Tonight we talk about health: a health history form, a clinic visit, the dentist, and an insurance card. Everything is invented."</a:t>
            </a:r>
          </a:p>
          <a:p>
            <a:r>
              <a:t>Read the three lines under "Today you will". Give one quick example of each: "I've had a cough since Sunday." • "Have you ever had surgery?" • "Why don't you call the clinic?"</a:t>
            </a:r>
          </a:p>
          <a:p>
            <a:r>
              <a:t>Keep health invented and mild. All patients and symptoms are invented. Never ask learners about their own health, medicines, or insurance. If a learner shares something, thank them and move on.</a:t>
            </a:r>
          </a:p>
          <a:p>
            <a:r>
              <a:t>Lesson plan: Topic; At a glance: Objectives;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goal slowly. Learners repeat.</a:t>
            </a:r>
          </a:p>
          <a:p>
            <a:r>
              <a:t>Goal 1: I've had a rash since Monday. Goal 2: Have you ever had surgery? Yes, I had knee surgery in 2018. Goal 3: Why don't you call the clinic?</a:t>
            </a:r>
          </a:p>
          <a:p>
            <a:r>
              <a:t>Goal 4: the clinic letter and the insurance card in Read &amp; Write. Goal 5: the email in Read &amp; Write.</a:t>
            </a:r>
          </a:p>
          <a:p>
            <a:r>
              <a:t>Lesson plan: At a glance: Objectives.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 6:00–6:08 · Opening Talk + Homework Check · 8 min. Pairs (7 pairs + 1 trio with 15 learners; 3–4 pairs with 7–8).</a:t>
            </a:r>
          </a:p>
          <a:p>
            <a:r>
              <a:t>Before class, write on the board: Have you… yet? and already / just</a:t>
            </a:r>
          </a:p>
          <a:p>
            <a:r>
              <a:t>Model with one learner: you ask, "Have you done your laundry yet this week?" The learner answers with already or not yet. Then you ask, "When did you do it?" Help them say 3 sentences. (Click to show the follow-up.)</a:t>
            </a:r>
          </a:p>
          <a:p>
            <a:r>
              <a:t>Opening Talk (5 min): learners open the Opening Talk page. A asks a card question; B answers in 3 sentences (the answer, a reason, a detail); A asks one follow-up. Switch after each card. The cards are on the next slide.</a:t>
            </a:r>
          </a:p>
          <a:p>
            <a:r>
              <a:t>If behind: one card only.</a:t>
            </a:r>
          </a:p>
          <a:p>
            <a:r>
              <a:t>Lesson plan: Step 1; Opening Talk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continued. The four cards from the Opening Talk page. Each click shows the next card.</a:t>
            </a:r>
          </a:p>
          <a:p>
            <a:r>
              <a:t>A asks a card question. B answers in 3 sentences. A asks one follow-up question (follow-ups on the right). Then switch. Pairs write the partner's name and one thing they've already done.</a:t>
            </a:r>
          </a:p>
          <a:p>
            <a:r>
              <a:t>Homework Check (3 min, last click): pairs compare Homework item 1 (already / yet / just sentences) and read their to-do list (item 3) to each other. Then they fill in the box on the Opening Talk page. Walk around. Write 2 common errors on the board (often I've finished it yesterday (→ I finished it yesterday) and Have you yet…? (→ yet at the end)) and correct them together. Also put up 2 corrections from last week's exit tickets.</a:t>
            </a:r>
          </a:p>
          <a:p>
            <a:r>
              <a:t>Lesson plan: Step 1; Opening Talk page: cards, follow-ups; Homework check.</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title: "Goodbye! See you next week!" Learners repeat.</a:t>
            </a:r>
          </a:p>
          <a:p>
            <a:r>
              <a:t>Read the three "Now you can" lines. Say to one learner: "I sit all day at work." Wait for a suggestion (Why don't you…? / You could…).</a:t>
            </a:r>
          </a:p>
          <a:p>
            <a:r>
              <a:t>Real health questions: say, "For a real health question, ask your doctor or pharmacist. In an emergency, call 911." It is printed on the Good Idea Circle page.</a:t>
            </a:r>
          </a:p>
          <a:p>
            <a:r>
              <a:t>Lesson plan: At a glance: Objectives; Step 7;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3.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4.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17.png"/><Relationship Id="rId13" Type="http://schemas.openxmlformats.org/officeDocument/2006/relationships/image" Target="../media/image18.png"/><Relationship Id="rId14"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image" Target="../media/image21.png"/><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5" Type="http://schemas.openxmlformats.org/officeDocument/2006/relationships/image" Target="../media/image13.png"/><Relationship Id="rId6" Type="http://schemas.openxmlformats.org/officeDocument/2006/relationships/image" Target="../media/image15.png"/><Relationship Id="rId7" Type="http://schemas.openxmlformats.org/officeDocument/2006/relationships/image" Target="../media/image24.png"/><Relationship Id="rId8"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7.png"/><Relationship Id="rId4" Type="http://schemas.openxmlformats.org/officeDocument/2006/relationships/notesSlide" Target="../notesSlides/notesSlide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8.png"/><Relationship Id="rId4" Type="http://schemas.openxmlformats.org/officeDocument/2006/relationships/notesSlide" Target="../notesSlides/notesSlide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3.png"/><Relationship Id="rId4" Type="http://schemas.openxmlformats.org/officeDocument/2006/relationships/notesSlide" Target="../notesSlides/notesSlide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9.png"/><Relationship Id="rId4" Type="http://schemas.openxmlformats.org/officeDocument/2006/relationships/notesSlide" Target="../notesSlides/notesSlide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2.png"/><Relationship Id="rId4" Type="http://schemas.openxmlformats.org/officeDocument/2006/relationships/notesSlide" Target="../notesSlides/notesSlide1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6.png"/><Relationship Id="rId4" Type="http://schemas.openxmlformats.org/officeDocument/2006/relationships/notesSlide" Target="../notesSlides/notesSlide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0.png"/><Relationship Id="rId4" Type="http://schemas.openxmlformats.org/officeDocument/2006/relationships/notesSlide" Target="../notesSlides/notesSlide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4.png"/><Relationship Id="rId4" Type="http://schemas.openxmlformats.org/officeDocument/2006/relationships/notesSlide" Target="../notesSlides/notesSlide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2.png"/><Relationship Id="rId4" Type="http://schemas.openxmlformats.org/officeDocument/2006/relationships/notesSlide" Target="../notesSlides/notes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1.png"/><Relationship Id="rId4" Type="http://schemas.openxmlformats.org/officeDocument/2006/relationships/notesSlide" Target="../notesSlides/notesSlide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0.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27.xml><?xml version="1.0" encoding="utf-8"?>
<p:sld xmlns:a="http://schemas.openxmlformats.org/drawingml/2006/main" xmlns:p="http://schemas.openxmlformats.org/presentationml/2006/main" xmlns:r="http://schemas.openxmlformats.org/officeDocument/2006/relationships">
  <p:cSld name="L4:titl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Checkup: a stethoscope and a clipboard [sign: CHECKUP]">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4  ·  Level 4</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How Long Have You Had It?</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Today you will:</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how long you've had a symptom</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Answer health history questions</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Make a suggestion</a:t>
            </a:r>
            <a:endParaRPr lang="en-US" sz="22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name="L4:goals">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Today's</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Goals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2000" dirty="0">
                <a:solidFill>
                  <a:srgbClr val="1B2236"/>
                </a:solidFill>
                <a:latin typeface="Lexend Deca" pitchFamily="34" charset="0"/>
                <a:ea typeface="Lexend Deca" pitchFamily="34" charset="-122"/>
                <a:cs typeface="Lexend Deca" pitchFamily="34" charset="-120"/>
              </a:rPr>
              <a:t>By the end of class, you can do these five things.</a:t>
            </a:r>
            <a:endParaRPr lang="en-US" sz="2000" dirty="0"/>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Every goal is a good goal.</a:t>
            </a:r>
            <a:endParaRPr lang="en-US" sz="2000" dirty="0" b="1"/>
          </a:p>
        </p:txBody>
      </p:sp>
      <p:sp>
        <p:nvSpPr>
          <p:cNvPr id="31" name="R1 shadow"/>
          <p:cNvSpPr/>
          <p:nvPr/>
        </p:nvSpPr>
        <p:spPr>
          <a:xfrm>
            <a:off x="544982" y="2093062"/>
            <a:ext cx="6227064" cy="678668"/>
          </a:xfrm>
          <a:prstGeom prst="round1Rect">
            <a:avLst>
              <a:gd name="adj" fmla="val 23087"/>
            </a:avLst>
          </a:prstGeom>
          <a:solidFill>
            <a:srgbClr val="8FAFE3"/>
          </a:solidFill>
          <a:ln/>
        </p:spPr>
        <p:txBody>
          <a:bodyPr/>
          <a:p/>
        </p:txBody>
      </p:sp>
      <p:sp>
        <p:nvSpPr>
          <p:cNvPr id="32" name="R1 card"/>
          <p:cNvSpPr/>
          <p:nvPr/>
        </p:nvSpPr>
        <p:spPr>
          <a:xfrm>
            <a:off x="1583741" y="2035454"/>
            <a:ext cx="5130698" cy="678668"/>
          </a:xfrm>
          <a:prstGeom prst="round1Rect">
            <a:avLst>
              <a:gd name="adj" fmla="val 23087"/>
            </a:avLst>
          </a:prstGeom>
          <a:solidFill>
            <a:srgbClr val="FFFFFF"/>
          </a:solidFill>
          <a:ln/>
        </p:spPr>
        <p:txBody>
          <a:bodyPr/>
          <a:p/>
        </p:txBody>
      </p:sp>
      <p:sp>
        <p:nvSpPr>
          <p:cNvPr id="33" name="R1 chip"/>
          <p:cNvSpPr/>
          <p:nvPr/>
        </p:nvSpPr>
        <p:spPr>
          <a:xfrm>
            <a:off x="544982" y="2035454"/>
            <a:ext cx="1039673" cy="678668"/>
          </a:xfrm>
          <a:prstGeom prst="rect">
            <a:avLst/>
          </a:prstGeom>
          <a:solidFill>
            <a:srgbClr val="B9D2F7"/>
          </a:solidFill>
          <a:ln/>
        </p:spPr>
        <p:txBody>
          <a:bodyPr/>
          <a:p/>
        </p:txBody>
      </p:sp>
      <p:sp>
        <p:nvSpPr>
          <p:cNvPr id="34" name="R1 num"/>
          <p:cNvSpPr/>
          <p:nvPr/>
        </p:nvSpPr>
        <p:spPr>
          <a:xfrm>
            <a:off x="686714" y="2051548"/>
            <a:ext cx="1109167" cy="646481"/>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035454"/>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describe a symptom and say how long I've had it (</a:t>
            </a:r>
            <a:r>
              <a:rPr lang="en-US" sz="1500" dirty="0" b="1">
                <a:solidFill>
                  <a:srgbClr val="5B3FC4"/>
                </a:solidFill>
                <a:latin typeface="Lexend Deca" pitchFamily="34" charset="0"/>
                <a:ea typeface="Lexend Deca" pitchFamily="34" charset="-122"/>
                <a:cs typeface="Lexend Deca" pitchFamily="34" charset="-120"/>
              </a:rPr>
              <a:t>for / since</a:t>
            </a:r>
            <a:r>
              <a:rPr lang="en-US" sz="1500" dirty="0">
                <a:solidFill>
                  <a:srgbClr val="1B2236"/>
                </a:solidFill>
                <a:latin typeface="Lexend Deca" pitchFamily="34" charset="0"/>
                <a:ea typeface="Lexend Deca" pitchFamily="34" charset="-122"/>
                <a:cs typeface="Lexend Deca" pitchFamily="34" charset="-120"/>
              </a:rPr>
              <a:t>).</a:t>
            </a:r>
            <a:endParaRPr lang="en-US" sz="1500" dirty="0"/>
          </a:p>
        </p:txBody>
      </p:sp>
      <p:sp>
        <p:nvSpPr>
          <p:cNvPr id="36" name="R1 dot"/>
          <p:cNvSpPr/>
          <p:nvPr/>
        </p:nvSpPr>
        <p:spPr>
          <a:xfrm rot="10800000">
            <a:off x="6361481" y="2168957"/>
            <a:ext cx="88697" cy="76810"/>
          </a:xfrm>
          <a:prstGeom prst="triangle">
            <a:avLst/>
          </a:prstGeom>
          <a:solidFill>
            <a:srgbClr val="8FAFE3"/>
          </a:solidFill>
          <a:ln/>
        </p:spPr>
        <p:txBody>
          <a:bodyPr/>
          <a:p/>
        </p:txBody>
      </p:sp>
      <p:sp>
        <p:nvSpPr>
          <p:cNvPr id="37" name="R2 card"/>
          <p:cNvSpPr/>
          <p:nvPr/>
        </p:nvSpPr>
        <p:spPr>
          <a:xfrm>
            <a:off x="1583741" y="2822936"/>
            <a:ext cx="5130698" cy="678668"/>
          </a:xfrm>
          <a:prstGeom prst="round1Rect">
            <a:avLst>
              <a:gd name="adj" fmla="val 23087"/>
            </a:avLst>
          </a:prstGeom>
          <a:solidFill>
            <a:srgbClr val="FFFFFF"/>
          </a:solidFill>
          <a:ln/>
        </p:spPr>
        <p:txBody>
          <a:bodyPr/>
          <a:p/>
        </p:txBody>
      </p:sp>
      <p:sp>
        <p:nvSpPr>
          <p:cNvPr id="38" name="R2 chip"/>
          <p:cNvSpPr/>
          <p:nvPr/>
        </p:nvSpPr>
        <p:spPr>
          <a:xfrm>
            <a:off x="544982" y="2822936"/>
            <a:ext cx="1039673" cy="678668"/>
          </a:xfrm>
          <a:prstGeom prst="rect">
            <a:avLst/>
          </a:prstGeom>
          <a:solidFill>
            <a:srgbClr val="B9D2F7"/>
          </a:solidFill>
          <a:ln/>
        </p:spPr>
        <p:txBody>
          <a:bodyPr/>
          <a:p/>
        </p:txBody>
      </p:sp>
      <p:sp>
        <p:nvSpPr>
          <p:cNvPr id="39" name="R2 num"/>
          <p:cNvSpPr/>
          <p:nvPr/>
        </p:nvSpPr>
        <p:spPr>
          <a:xfrm>
            <a:off x="686714" y="2839029"/>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2822936"/>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answer health history questions (</a:t>
            </a:r>
            <a:r>
              <a:rPr lang="en-US" sz="1500" dirty="0" b="1">
                <a:solidFill>
                  <a:srgbClr val="5B3FC4"/>
                </a:solidFill>
                <a:latin typeface="Lexend Deca" pitchFamily="34" charset="0"/>
                <a:ea typeface="Lexend Deca" pitchFamily="34" charset="-122"/>
                <a:cs typeface="Lexend Deca" pitchFamily="34" charset="-120"/>
              </a:rPr>
              <a:t>Have you ever had…?</a:t>
            </a:r>
            <a:r>
              <a:rPr lang="en-US" sz="1500" dirty="0">
                <a:solidFill>
                  <a:srgbClr val="1B2236"/>
                </a:solidFill>
                <a:latin typeface="Lexend Deca" pitchFamily="34" charset="0"/>
                <a:ea typeface="Lexend Deca" pitchFamily="34" charset="-122"/>
                <a:cs typeface="Lexend Deca" pitchFamily="34" charset="-120"/>
              </a:rPr>
              <a:t>).</a:t>
            </a:r>
            <a:endParaRPr lang="en-US" sz="1500" dirty="0"/>
          </a:p>
        </p:txBody>
      </p:sp>
      <p:sp>
        <p:nvSpPr>
          <p:cNvPr id="41" name="R2 dot"/>
          <p:cNvSpPr/>
          <p:nvPr/>
        </p:nvSpPr>
        <p:spPr>
          <a:xfrm rot="10800000">
            <a:off x="6361481" y="2956438"/>
            <a:ext cx="88697" cy="76810"/>
          </a:xfrm>
          <a:prstGeom prst="triangle">
            <a:avLst/>
          </a:prstGeom>
          <a:solidFill>
            <a:srgbClr val="8FAFE3"/>
          </a:solidFill>
          <a:ln/>
        </p:spPr>
        <p:txBody>
          <a:bodyPr/>
          <a:p/>
        </p:txBody>
      </p:sp>
      <p:sp>
        <p:nvSpPr>
          <p:cNvPr id="42" name="R3 card"/>
          <p:cNvSpPr/>
          <p:nvPr/>
        </p:nvSpPr>
        <p:spPr>
          <a:xfrm>
            <a:off x="1583741" y="3610417"/>
            <a:ext cx="5130698" cy="678668"/>
          </a:xfrm>
          <a:prstGeom prst="round1Rect">
            <a:avLst>
              <a:gd name="adj" fmla="val 23087"/>
            </a:avLst>
          </a:prstGeom>
          <a:solidFill>
            <a:srgbClr val="FFFFFF"/>
          </a:solidFill>
          <a:ln/>
        </p:spPr>
        <p:txBody>
          <a:bodyPr/>
          <a:p/>
        </p:txBody>
      </p:sp>
      <p:sp>
        <p:nvSpPr>
          <p:cNvPr id="43" name="R3 chip"/>
          <p:cNvSpPr/>
          <p:nvPr/>
        </p:nvSpPr>
        <p:spPr>
          <a:xfrm>
            <a:off x="544982" y="3610417"/>
            <a:ext cx="1039673" cy="678668"/>
          </a:xfrm>
          <a:prstGeom prst="rect">
            <a:avLst/>
          </a:prstGeom>
          <a:solidFill>
            <a:srgbClr val="B9D2F7"/>
          </a:solidFill>
          <a:ln/>
        </p:spPr>
        <p:txBody>
          <a:bodyPr/>
          <a:p/>
        </p:txBody>
      </p:sp>
      <p:sp>
        <p:nvSpPr>
          <p:cNvPr id="44" name="R3 num"/>
          <p:cNvSpPr/>
          <p:nvPr/>
        </p:nvSpPr>
        <p:spPr>
          <a:xfrm>
            <a:off x="686714" y="3626510"/>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610417"/>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make a suggestion with </a:t>
            </a:r>
            <a:r>
              <a:rPr lang="en-US" sz="1500" dirty="0" b="1">
                <a:solidFill>
                  <a:srgbClr val="5B3FC4"/>
                </a:solidFill>
                <a:latin typeface="Lexend Deca" pitchFamily="34" charset="0"/>
                <a:ea typeface="Lexend Deca" pitchFamily="34" charset="-122"/>
                <a:cs typeface="Lexend Deca" pitchFamily="34" charset="-120"/>
              </a:rPr>
              <a:t>Why don't you…? / You could… / It's a good idea to…</a:t>
            </a:r>
            <a:endParaRPr lang="en-US" sz="1500" dirty="0"/>
          </a:p>
        </p:txBody>
      </p:sp>
      <p:sp>
        <p:nvSpPr>
          <p:cNvPr id="46" name="R3 dot"/>
          <p:cNvSpPr/>
          <p:nvPr/>
        </p:nvSpPr>
        <p:spPr>
          <a:xfrm rot="10800000">
            <a:off x="6361481" y="3743919"/>
            <a:ext cx="88697" cy="76810"/>
          </a:xfrm>
          <a:prstGeom prst="triangle">
            <a:avLst/>
          </a:prstGeom>
          <a:solidFill>
            <a:srgbClr val="8FAFE3"/>
          </a:solidFill>
          <a:ln/>
        </p:spPr>
        <p:txBody>
          <a:bodyPr/>
          <a:p/>
        </p:txBody>
      </p:sp>
      <p:sp>
        <p:nvSpPr>
          <p:cNvPr id="47" name="R4 card"/>
          <p:cNvSpPr/>
          <p:nvPr/>
        </p:nvSpPr>
        <p:spPr>
          <a:xfrm>
            <a:off x="1583741" y="4397898"/>
            <a:ext cx="5130698" cy="678668"/>
          </a:xfrm>
          <a:prstGeom prst="round1Rect">
            <a:avLst>
              <a:gd name="adj" fmla="val 23087"/>
            </a:avLst>
          </a:prstGeom>
          <a:solidFill>
            <a:srgbClr val="FFFFFF"/>
          </a:solidFill>
          <a:ln/>
        </p:spPr>
        <p:txBody>
          <a:bodyPr/>
          <a:p/>
        </p:txBody>
      </p:sp>
      <p:sp>
        <p:nvSpPr>
          <p:cNvPr id="48" name="R4 chip"/>
          <p:cNvSpPr/>
          <p:nvPr/>
        </p:nvSpPr>
        <p:spPr>
          <a:xfrm>
            <a:off x="544982" y="4397898"/>
            <a:ext cx="1039673" cy="678668"/>
          </a:xfrm>
          <a:prstGeom prst="rect">
            <a:avLst/>
          </a:prstGeom>
          <a:solidFill>
            <a:srgbClr val="B9D2F7"/>
          </a:solidFill>
          <a:ln/>
        </p:spPr>
        <p:txBody>
          <a:bodyPr/>
          <a:p/>
        </p:txBody>
      </p:sp>
      <p:sp>
        <p:nvSpPr>
          <p:cNvPr id="49" name="R4 num"/>
          <p:cNvSpPr/>
          <p:nvPr/>
        </p:nvSpPr>
        <p:spPr>
          <a:xfrm>
            <a:off x="686714" y="4413992"/>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397898"/>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find key information on an insurance card and a clinic letter (copay, deductible).</a:t>
            </a:r>
            <a:endParaRPr lang="en-US" sz="1500" dirty="0"/>
          </a:p>
        </p:txBody>
      </p:sp>
      <p:sp>
        <p:nvSpPr>
          <p:cNvPr id="51" name="R4 dot"/>
          <p:cNvSpPr/>
          <p:nvPr/>
        </p:nvSpPr>
        <p:spPr>
          <a:xfrm rot="10800000">
            <a:off x="6361481" y="4531401"/>
            <a:ext cx="88697" cy="76810"/>
          </a:xfrm>
          <a:prstGeom prst="triangle">
            <a:avLst/>
          </a:prstGeom>
          <a:solidFill>
            <a:srgbClr val="8FAFE3"/>
          </a:solidFill>
          <a:ln/>
        </p:spPr>
        <p:txBody>
          <a:bodyPr/>
          <a:p/>
        </p:txBody>
      </p:sp>
      <p:sp>
        <p:nvSpPr>
          <p:cNvPr id="52" name="R5 card"/>
          <p:cNvSpPr/>
          <p:nvPr/>
        </p:nvSpPr>
        <p:spPr>
          <a:xfrm>
            <a:off x="1583741" y="5185380"/>
            <a:ext cx="5130698" cy="678668"/>
          </a:xfrm>
          <a:prstGeom prst="round1Rect">
            <a:avLst>
              <a:gd name="adj" fmla="val 23087"/>
            </a:avLst>
          </a:prstGeom>
          <a:solidFill>
            <a:srgbClr val="FFFFFF"/>
          </a:solidFill>
          <a:ln/>
        </p:spPr>
        <p:txBody>
          <a:bodyPr/>
          <a:p/>
        </p:txBody>
      </p:sp>
      <p:sp>
        <p:nvSpPr>
          <p:cNvPr id="53" name="R5 chip"/>
          <p:cNvSpPr/>
          <p:nvPr/>
        </p:nvSpPr>
        <p:spPr>
          <a:xfrm>
            <a:off x="544982" y="5185380"/>
            <a:ext cx="1039673" cy="678668"/>
          </a:xfrm>
          <a:prstGeom prst="rect">
            <a:avLst/>
          </a:prstGeom>
          <a:solidFill>
            <a:srgbClr val="B9D2F7"/>
          </a:solidFill>
          <a:ln/>
        </p:spPr>
        <p:txBody>
          <a:bodyPr/>
          <a:p/>
        </p:txBody>
      </p:sp>
      <p:sp>
        <p:nvSpPr>
          <p:cNvPr id="54" name="R5 num"/>
          <p:cNvSpPr/>
          <p:nvPr/>
        </p:nvSpPr>
        <p:spPr>
          <a:xfrm>
            <a:off x="686714" y="5201473"/>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185380"/>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write an email to a friend (5–8 sentences) with suggestions and reasons.</a:t>
            </a:r>
            <a:endParaRPr lang="en-US" sz="1500" dirty="0"/>
          </a:p>
        </p:txBody>
      </p:sp>
      <p:sp>
        <p:nvSpPr>
          <p:cNvPr id="56" name="R5 dot"/>
          <p:cNvSpPr/>
          <p:nvPr/>
        </p:nvSpPr>
        <p:spPr>
          <a:xfrm rot="10800000">
            <a:off x="6361481" y="5318882"/>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name="L4:warmup">
    <p:bg>
      <p:bgPr>
        <a:solidFill>
          <a:srgbClr val="F1F5FB"/>
        </a:solidFill>
      </p:bgPr>
    </p:bg>
    <p:spTree>
      <p:nvGrpSpPr>
        <p:cNvPr id="1" name=""/>
        <p:cNvGrpSpPr/>
        <p:nvPr/>
      </p:nvGrpSpPr>
      <p:grpSpPr/>
      <p:sp>
        <p:nvSpPr>
          <p:cNvPr id="2" name="Shape 0"/>
          <p:cNvSpPr/>
          <p:nvPr/>
        </p:nvSpPr>
        <p:spPr>
          <a:xfrm>
            <a:off x="487604" y="1352535"/>
            <a:ext cx="5246827" cy="1783080"/>
          </a:xfrm>
          <a:prstGeom prst="roundRect">
            <a:avLst>
              <a:gd name="adj" fmla="val 16667"/>
            </a:avLst>
          </a:prstGeom>
          <a:solidFill>
            <a:srgbClr val="8FAFE3"/>
          </a:solidFill>
          <a:ln/>
        </p:spPr>
        <p:txBody>
          <a:bodyPr/>
          <a:p/>
        </p:txBody>
      </p:sp>
      <p:sp>
        <p:nvSpPr>
          <p:cNvPr id="3" name="Shape 1"/>
          <p:cNvSpPr/>
          <p:nvPr/>
        </p:nvSpPr>
        <p:spPr>
          <a:xfrm>
            <a:off x="518465" y="1300277"/>
            <a:ext cx="5246827" cy="1783080"/>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pic>
        <p:nvPicPr>
          <p:cNvPr id="15" name="pic" descr="Health history: a clipboard and a pen [sign: HEALTH HISTORY]"/>
          <p:cNvPicPr>
            <a:picLocks noChangeAspect="1"/>
          </p:cNvPicPr>
          <p:nvPr/>
        </p:nvPicPr>
        <p:blipFill>
          <a:blip r:embed="rId3"/>
          <a:stretch>
            <a:fillRect/>
          </a:stretch>
        </p:blipFill>
        <p:spPr>
          <a:xfrm>
            <a:off x="6800393" y="2104034"/>
            <a:ext cx="4754880" cy="3328416"/>
          </a:xfrm>
          <a:prstGeom prst="rect">
            <a:avLst/>
          </a:prstGeom>
        </p:spPr>
      </p:pic>
      <p:sp>
        <p:nvSpPr>
          <p:cNvPr id="7" name="title"/>
          <p:cNvSpPr/>
          <p:nvPr/>
        </p:nvSpPr>
        <p:spPr>
          <a:xfrm>
            <a:off x="548640" y="1764792"/>
            <a:ext cx="5120640" cy="123444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p:txBody>
      </p:sp>
      <p:sp>
        <p:nvSpPr>
          <p:cNvPr id="8" name="kicker"/>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OPENING TALK  ·  6:00</a:t>
            </a:r>
            <a:endParaRPr lang="en-US" sz="2000" dirty="0" b="1"/>
          </a:p>
        </p:txBody>
      </p:sp>
      <p:sp>
        <p:nvSpPr>
          <p:cNvPr id="9" name="box1"/>
          <p:cNvSpPr/>
          <p:nvPr/>
        </p:nvSpPr>
        <p:spPr>
          <a:xfrm>
            <a:off x="599846" y="3383280"/>
            <a:ext cx="4846320" cy="1188720"/>
          </a:xfrm>
          <a:prstGeom prst="rect">
            <a:avLst/>
          </a:prstGeom>
          <a:noFill/>
          <a:ln/>
        </p:spPr>
        <p:txBody>
          <a:bodyPr wrap="square" lIns="0" tIns="0" rIns="0" bIns="0" rtlCol="0" anchor="t"/>
          <a:lstStyle/>
          <a:p>
            <a:pPr algn="l" indent="0" marL="0">
              <a:lnSpc>
                <a:spcPct val="110000"/>
              </a:lnSpc>
              <a:buNone/>
            </a:pPr>
            <a:r>
              <a:rPr lang="en-US" sz="2000" dirty="0" b="1">
                <a:solidFill>
                  <a:srgbClr val="5B3FC4"/>
                </a:solidFill>
                <a:latin typeface="Lexend Deca" pitchFamily="34" charset="0"/>
                <a:ea typeface="Lexend Deca" pitchFamily="34" charset="-122"/>
                <a:cs typeface="Lexend Deca" pitchFamily="34" charset="-120"/>
              </a:rPr>
              <a:t>A asks a card question.</a:t>
            </a:r>
            <a:endParaRPr lang="en-US" sz="2000" dirty="0" b="1"/>
          </a:p>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Have you done your laundry yet this week?</a:t>
            </a:r>
            <a:endParaRPr lang="en-US" sz="2000" dirty="0"/>
          </a:p>
          <a:p>
            <a:pPr algn="l" indent="0" marL="0">
              <a:lnSpc>
                <a:spcPct val="110000"/>
              </a:lnSpc>
              <a:buNone/>
            </a:pPr>
            <a:r>
              <a:rPr lang="en-US" sz="2000" dirty="0" b="1">
                <a:solidFill>
                  <a:srgbClr val="1B2236"/>
                </a:solidFill>
                <a:latin typeface="Lexend Deca" pitchFamily="34" charset="0"/>
                <a:ea typeface="Lexend Deca" pitchFamily="34" charset="-122"/>
                <a:cs typeface="Lexend Deca" pitchFamily="34" charset="-120"/>
              </a:rPr>
              <a:t>B answers in 3 sentences.</a:t>
            </a:r>
            <a:endParaRPr lang="en-US" sz="2000" dirty="0" b="1"/>
          </a:p>
        </p:txBody>
      </p:sp>
      <p:sp>
        <p:nvSpPr>
          <p:cNvPr id="14" name="box2"/>
          <p:cNvSpPr/>
          <p:nvPr/>
        </p:nvSpPr>
        <p:spPr>
          <a:xfrm>
            <a:off x="599846" y="4754880"/>
            <a:ext cx="4846320" cy="1600200"/>
          </a:xfrm>
          <a:prstGeom prst="rect">
            <a:avLst/>
          </a:prstGeom>
          <a:noFill/>
          <a:ln/>
        </p:spPr>
        <p:txBody>
          <a:bodyPr wrap="square" lIns="0" tIns="0" rIns="0" bIns="0" rtlCol="0" anchor="t"/>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A asks one follow-up.</a:t>
            </a:r>
            <a:endParaRPr lang="en-US" sz="2000" dirty="0" b="1"/>
          </a:p>
          <a:p>
            <a:pPr algn="l" indent="0" marL="0">
              <a:spcAft>
                <a:spcPts val="400"/>
              </a:spcAft>
              <a:buNone/>
            </a:pPr>
            <a:r>
              <a:rPr lang="en-US" sz="2000" dirty="0" b="0">
                <a:solidFill>
                  <a:srgbClr val="1B2236"/>
                </a:solidFill>
                <a:latin typeface="Lexend Deca" pitchFamily="34" charset="0"/>
                <a:ea typeface="Lexend Deca" pitchFamily="34" charset="-122"/>
                <a:cs typeface="Lexend Deca" pitchFamily="34" charset="-120"/>
              </a:rPr>
              <a:t>When did you do it?</a:t>
            </a:r>
            <a:endParaRPr lang="en-US" sz="2000" dirty="0" b="0"/>
          </a:p>
          <a:p>
            <a:pPr algn="l" indent="0" marL="0">
              <a:spcAft>
                <a:spcPts val="400"/>
              </a:spcAft>
              <a:buNone/>
            </a:pPr>
            <a:r>
              <a:rPr lang="en-US" sz="2000" dirty="0" b="1">
                <a:solidFill>
                  <a:srgbClr val="1B2236"/>
                </a:solidFill>
                <a:latin typeface="Lexend Deca" pitchFamily="34" charset="0"/>
                <a:ea typeface="Lexend Deca" pitchFamily="34" charset="-122"/>
                <a:cs typeface="Lexend Deca" pitchFamily="34" charset="-120"/>
              </a:rPr>
              <a:t>Then switch.</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name="L4:numlist">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Cards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1800" dirty="0">
                <a:solidFill>
                  <a:srgbClr val="1B2236"/>
                </a:solidFill>
                <a:latin typeface="Lexend Deca" pitchFamily="34" charset="0"/>
                <a:ea typeface="Lexend Deca" pitchFamily="34" charset="-122"/>
                <a:cs typeface="Lexend Deca" pitchFamily="34" charset="-120"/>
              </a:rPr>
              <a:t>B answers in 3 sentences: the answer, a reason, and a detail.</a:t>
            </a:r>
            <a:endParaRPr lang="en-US" sz="1800" dirty="0"/>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Follow-ups:</a:t>
            </a:r>
            <a:endParaRPr lang="en-US" sz="1800" dirty="0" b="1"/>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When did you…? What haven't you done yet? Why?</a:t>
            </a:r>
            <a:endParaRPr lang="en-US" sz="1800" dirty="0" b="1"/>
          </a:p>
        </p:txBody>
      </p:sp>
      <p:sp>
        <p:nvSpPr>
          <p:cNvPr id="31" name="R1 shadow"/>
          <p:cNvSpPr/>
          <p:nvPr/>
        </p:nvSpPr>
        <p:spPr>
          <a:xfrm>
            <a:off x="544982" y="2471623"/>
            <a:ext cx="6227064" cy="602590"/>
          </a:xfrm>
          <a:prstGeom prst="round1Rect">
            <a:avLst>
              <a:gd name="adj" fmla="val 23087"/>
            </a:avLst>
          </a:prstGeom>
          <a:solidFill>
            <a:srgbClr val="8FAFE3"/>
          </a:solidFill>
          <a:ln/>
        </p:spPr>
        <p:txBody>
          <a:bodyPr/>
          <a:p/>
        </p:txBody>
      </p:sp>
      <p:sp>
        <p:nvSpPr>
          <p:cNvPr id="32" name="R1 card"/>
          <p:cNvSpPr/>
          <p:nvPr/>
        </p:nvSpPr>
        <p:spPr>
          <a:xfrm>
            <a:off x="1583741" y="2414016"/>
            <a:ext cx="5130698" cy="602590"/>
          </a:xfrm>
          <a:prstGeom prst="round1Rect">
            <a:avLst>
              <a:gd name="adj" fmla="val 23087"/>
            </a:avLst>
          </a:prstGeom>
          <a:solidFill>
            <a:srgbClr val="FFFFFF"/>
          </a:solidFill>
          <a:ln/>
        </p:spPr>
        <p:txBody>
          <a:bodyPr/>
          <a:p/>
        </p:txBody>
      </p:sp>
      <p:sp>
        <p:nvSpPr>
          <p:cNvPr id="33" name="R1 chip"/>
          <p:cNvSpPr/>
          <p:nvPr/>
        </p:nvSpPr>
        <p:spPr>
          <a:xfrm>
            <a:off x="544982" y="2414016"/>
            <a:ext cx="1039673" cy="602590"/>
          </a:xfrm>
          <a:prstGeom prst="rect">
            <a:avLst/>
          </a:prstGeom>
          <a:solidFill>
            <a:srgbClr val="B9D2F7"/>
          </a:solidFill>
          <a:ln/>
        </p:spPr>
        <p:txBody>
          <a:bodyPr/>
          <a:p/>
        </p:txBody>
      </p:sp>
      <p:sp>
        <p:nvSpPr>
          <p:cNvPr id="34" name="R1 num"/>
          <p:cNvSpPr/>
          <p:nvPr/>
        </p:nvSpPr>
        <p:spPr>
          <a:xfrm>
            <a:off x="686714" y="2414016"/>
            <a:ext cx="1109167" cy="602590"/>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41401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Have you done your laundry yet this week?</a:t>
            </a:r>
            <a:endParaRPr lang="en-US" sz="1800" dirty="0"/>
          </a:p>
        </p:txBody>
      </p:sp>
      <p:sp>
        <p:nvSpPr>
          <p:cNvPr id="36" name="R1 dot"/>
          <p:cNvSpPr/>
          <p:nvPr/>
        </p:nvSpPr>
        <p:spPr>
          <a:xfrm rot="10800000">
            <a:off x="6361481" y="2547518"/>
            <a:ext cx="88697" cy="76810"/>
          </a:xfrm>
          <a:prstGeom prst="triangle">
            <a:avLst/>
          </a:prstGeom>
          <a:solidFill>
            <a:srgbClr val="8FAFE3"/>
          </a:solidFill>
          <a:ln/>
        </p:spPr>
        <p:txBody>
          <a:bodyPr/>
          <a:p/>
        </p:txBody>
      </p:sp>
      <p:sp>
        <p:nvSpPr>
          <p:cNvPr id="37" name="R2 card"/>
          <p:cNvSpPr/>
          <p:nvPr/>
        </p:nvSpPr>
        <p:spPr>
          <a:xfrm>
            <a:off x="1583741" y="3125419"/>
            <a:ext cx="5130698" cy="602590"/>
          </a:xfrm>
          <a:prstGeom prst="round1Rect">
            <a:avLst>
              <a:gd name="adj" fmla="val 23087"/>
            </a:avLst>
          </a:prstGeom>
          <a:solidFill>
            <a:srgbClr val="FFFFFF"/>
          </a:solidFill>
          <a:ln/>
        </p:spPr>
        <p:txBody>
          <a:bodyPr/>
          <a:p/>
        </p:txBody>
      </p:sp>
      <p:sp>
        <p:nvSpPr>
          <p:cNvPr id="38" name="R2 chip"/>
          <p:cNvSpPr/>
          <p:nvPr/>
        </p:nvSpPr>
        <p:spPr>
          <a:xfrm>
            <a:off x="544982" y="3125419"/>
            <a:ext cx="1039673" cy="602590"/>
          </a:xfrm>
          <a:prstGeom prst="rect">
            <a:avLst/>
          </a:prstGeom>
          <a:solidFill>
            <a:srgbClr val="B9D2F7"/>
          </a:solidFill>
          <a:ln/>
        </p:spPr>
        <p:txBody>
          <a:bodyPr/>
          <a:p/>
        </p:txBody>
      </p:sp>
      <p:sp>
        <p:nvSpPr>
          <p:cNvPr id="39" name="R2 num"/>
          <p:cNvSpPr/>
          <p:nvPr/>
        </p:nvSpPr>
        <p:spPr>
          <a:xfrm>
            <a:off x="686714" y="312541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312541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have you already done today?</a:t>
            </a:r>
            <a:endParaRPr lang="en-US" sz="1800" dirty="0"/>
          </a:p>
        </p:txBody>
      </p:sp>
      <p:sp>
        <p:nvSpPr>
          <p:cNvPr id="41" name="R2 dot"/>
          <p:cNvSpPr/>
          <p:nvPr/>
        </p:nvSpPr>
        <p:spPr>
          <a:xfrm rot="10800000">
            <a:off x="6361481" y="3258922"/>
            <a:ext cx="88697" cy="76810"/>
          </a:xfrm>
          <a:prstGeom prst="triangle">
            <a:avLst/>
          </a:prstGeom>
          <a:solidFill>
            <a:srgbClr val="8FAFE3"/>
          </a:solidFill>
          <a:ln/>
        </p:spPr>
        <p:txBody>
          <a:bodyPr/>
          <a:p/>
        </p:txBody>
      </p:sp>
      <p:sp>
        <p:nvSpPr>
          <p:cNvPr id="42" name="R3 card"/>
          <p:cNvSpPr/>
          <p:nvPr/>
        </p:nvSpPr>
        <p:spPr>
          <a:xfrm>
            <a:off x="1583741" y="3836822"/>
            <a:ext cx="5130698" cy="602590"/>
          </a:xfrm>
          <a:prstGeom prst="round1Rect">
            <a:avLst>
              <a:gd name="adj" fmla="val 23087"/>
            </a:avLst>
          </a:prstGeom>
          <a:solidFill>
            <a:srgbClr val="FFFFFF"/>
          </a:solidFill>
          <a:ln/>
        </p:spPr>
        <p:txBody>
          <a:bodyPr/>
          <a:p/>
        </p:txBody>
      </p:sp>
      <p:sp>
        <p:nvSpPr>
          <p:cNvPr id="43" name="R3 chip"/>
          <p:cNvSpPr/>
          <p:nvPr/>
        </p:nvSpPr>
        <p:spPr>
          <a:xfrm>
            <a:off x="544982" y="3836822"/>
            <a:ext cx="1039673" cy="602590"/>
          </a:xfrm>
          <a:prstGeom prst="rect">
            <a:avLst/>
          </a:prstGeom>
          <a:solidFill>
            <a:srgbClr val="B9D2F7"/>
          </a:solidFill>
          <a:ln/>
        </p:spPr>
        <p:txBody>
          <a:bodyPr/>
          <a:p/>
        </p:txBody>
      </p:sp>
      <p:sp>
        <p:nvSpPr>
          <p:cNvPr id="44" name="R3 num"/>
          <p:cNvSpPr/>
          <p:nvPr/>
        </p:nvSpPr>
        <p:spPr>
          <a:xfrm>
            <a:off x="686714" y="3836822"/>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836822"/>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Have you paid your bills yet this month?</a:t>
            </a:r>
            <a:endParaRPr lang="en-US" sz="1800" dirty="0"/>
          </a:p>
        </p:txBody>
      </p:sp>
      <p:sp>
        <p:nvSpPr>
          <p:cNvPr id="46" name="R3 dot"/>
          <p:cNvSpPr/>
          <p:nvPr/>
        </p:nvSpPr>
        <p:spPr>
          <a:xfrm rot="10800000">
            <a:off x="6361481" y="3970325"/>
            <a:ext cx="88697" cy="76810"/>
          </a:xfrm>
          <a:prstGeom prst="triangle">
            <a:avLst/>
          </a:prstGeom>
          <a:solidFill>
            <a:srgbClr val="8FAFE3"/>
          </a:solidFill>
          <a:ln/>
        </p:spPr>
        <p:txBody>
          <a:bodyPr/>
          <a:p/>
        </p:txBody>
      </p:sp>
      <p:sp>
        <p:nvSpPr>
          <p:cNvPr id="47" name="R4 card"/>
          <p:cNvSpPr/>
          <p:nvPr/>
        </p:nvSpPr>
        <p:spPr>
          <a:xfrm>
            <a:off x="1583741" y="4548226"/>
            <a:ext cx="5130698" cy="602590"/>
          </a:xfrm>
          <a:prstGeom prst="round1Rect">
            <a:avLst>
              <a:gd name="adj" fmla="val 23087"/>
            </a:avLst>
          </a:prstGeom>
          <a:solidFill>
            <a:srgbClr val="FFFFFF"/>
          </a:solidFill>
          <a:ln/>
        </p:spPr>
        <p:txBody>
          <a:bodyPr/>
          <a:p/>
        </p:txBody>
      </p:sp>
      <p:sp>
        <p:nvSpPr>
          <p:cNvPr id="48" name="R4 chip"/>
          <p:cNvSpPr/>
          <p:nvPr/>
        </p:nvSpPr>
        <p:spPr>
          <a:xfrm>
            <a:off x="544982" y="4548226"/>
            <a:ext cx="1039673" cy="602590"/>
          </a:xfrm>
          <a:prstGeom prst="rect">
            <a:avLst/>
          </a:prstGeom>
          <a:solidFill>
            <a:srgbClr val="B9D2F7"/>
          </a:solidFill>
          <a:ln/>
        </p:spPr>
        <p:txBody>
          <a:bodyPr/>
          <a:p/>
        </p:txBody>
      </p:sp>
      <p:sp>
        <p:nvSpPr>
          <p:cNvPr id="49" name="R4 num"/>
          <p:cNvSpPr/>
          <p:nvPr/>
        </p:nvSpPr>
        <p:spPr>
          <a:xfrm>
            <a:off x="686714" y="4548226"/>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54822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Have you cooked dinner yet today?</a:t>
            </a:r>
            <a:endParaRPr lang="en-US" sz="1800" dirty="0"/>
          </a:p>
        </p:txBody>
      </p:sp>
      <p:sp>
        <p:nvSpPr>
          <p:cNvPr id="51" name="R4 dot"/>
          <p:cNvSpPr/>
          <p:nvPr/>
        </p:nvSpPr>
        <p:spPr>
          <a:xfrm rot="10800000">
            <a:off x="6361481" y="4681728"/>
            <a:ext cx="88697" cy="76810"/>
          </a:xfrm>
          <a:prstGeom prst="triangle">
            <a:avLst/>
          </a:prstGeom>
          <a:solidFill>
            <a:srgbClr val="8FAFE3"/>
          </a:solidFill>
          <a:ln/>
        </p:spPr>
        <p:txBody>
          <a:bodyPr/>
          <a:p/>
        </p:txBody>
      </p:sp>
      <p:sp>
        <p:nvSpPr>
          <p:cNvPr id="52" name="R5 card"/>
          <p:cNvSpPr/>
          <p:nvPr/>
        </p:nvSpPr>
        <p:spPr>
          <a:xfrm>
            <a:off x="1583741" y="5259629"/>
            <a:ext cx="5130698" cy="602590"/>
          </a:xfrm>
          <a:prstGeom prst="round1Rect">
            <a:avLst>
              <a:gd name="adj" fmla="val 23087"/>
            </a:avLst>
          </a:prstGeom>
          <a:solidFill>
            <a:srgbClr val="FFFFFF"/>
          </a:solidFill>
          <a:ln/>
        </p:spPr>
        <p:txBody>
          <a:bodyPr/>
          <a:p/>
        </p:txBody>
      </p:sp>
      <p:sp>
        <p:nvSpPr>
          <p:cNvPr id="53" name="R5 chip"/>
          <p:cNvSpPr/>
          <p:nvPr/>
        </p:nvSpPr>
        <p:spPr>
          <a:xfrm>
            <a:off x="544982" y="5259629"/>
            <a:ext cx="1039673" cy="602590"/>
          </a:xfrm>
          <a:prstGeom prst="rect">
            <a:avLst/>
          </a:prstGeom>
          <a:solidFill>
            <a:srgbClr val="B9D2F7"/>
          </a:solidFill>
          <a:ln/>
        </p:spPr>
        <p:txBody>
          <a:bodyPr/>
          <a:p/>
        </p:txBody>
      </p:sp>
      <p:sp>
        <p:nvSpPr>
          <p:cNvPr id="54" name="R5 num"/>
          <p:cNvSpPr/>
          <p:nvPr/>
        </p:nvSpPr>
        <p:spPr>
          <a:xfrm>
            <a:off x="686714" y="525962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25962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Homework check: Lesson 3, items 1 and 3.</a:t>
            </a:r>
            <a:endParaRPr lang="en-US" sz="1800" dirty="0"/>
          </a:p>
        </p:txBody>
      </p:sp>
      <p:sp>
        <p:nvSpPr>
          <p:cNvPr id="56" name="R5 dot"/>
          <p:cNvSpPr/>
          <p:nvPr/>
        </p:nvSpPr>
        <p:spPr>
          <a:xfrm rot="10800000">
            <a:off x="6361481" y="5393131"/>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name="L4: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Look. Listen.</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Repeat.</a:t>
            </a:r>
            <a:endParaRPr lang="en-US" sz="2200" dirty="0" b="1"/>
          </a:p>
        </p:txBody>
      </p:sp>
      <p:pic>
        <p:nvPicPr>
          <p:cNvPr id="17" name="Word picture 1" descr="Checkup: a stethoscope and a clipboard [sign: CHECKUP]"/>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checkup</a:t>
            </a:r>
            <a:endParaRPr lang="en-US" sz="2000" dirty="0" b="1"/>
          </a:p>
        </p:txBody>
      </p:sp>
      <p:pic>
        <p:nvPicPr>
          <p:cNvPr id="19" name="Word picture 2" descr="Health history: a clipboard and a pen [sign: HEALTH HISTORY]"/>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health history</a:t>
            </a:r>
            <a:endParaRPr lang="en-US" sz="2000" dirty="0" b="1"/>
          </a:p>
        </p:txBody>
      </p:sp>
      <p:pic>
        <p:nvPicPr>
          <p:cNvPr id="21" name="Word picture 3" descr="Symptom: a person with a fever and a person sneezing [sign: SYMPTOMS]"/>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symptom</a:t>
            </a:r>
            <a:endParaRPr lang="en-US" sz="2000" dirty="0" b="1"/>
          </a:p>
        </p:txBody>
      </p:sp>
      <p:pic>
        <p:nvPicPr>
          <p:cNvPr id="23" name="Word picture 4" descr="Allergy: peanuts and a person sneezing [sign: ALLERGY: PEANUTS]"/>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allergy</a:t>
            </a:r>
            <a:endParaRPr lang="en-US" sz="2000" dirty="0" b="1"/>
          </a:p>
        </p:txBody>
      </p:sp>
      <p:pic>
        <p:nvPicPr>
          <p:cNvPr id="25" name="Word picture 5" descr="Blood pressure: a stethoscope and an arm [sign: 120/80]"/>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blood pressure</a:t>
            </a:r>
            <a:endParaRPr lang="en-US" sz="2000" dirty="0" b="1"/>
          </a:p>
        </p:txBody>
      </p:sp>
      <p:pic>
        <p:nvPicPr>
          <p:cNvPr id="27" name="Word picture 6" descr="Rash: a hand [sign: RASH]"/>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rash</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name="L4: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More New Words</a:t>
            </a:r>
            <a:endParaRPr lang="en-US" sz="4900" dirty="0" b="1"/>
          </a:p>
        </p:txBody>
      </p:sp>
      <p:sp>
        <p:nvSpPr>
          <p:cNvPr id="9" name="instr card"/>
          <p:cNvSpPr/>
          <p:nvPr/>
        </p:nvSpPr>
        <p:spPr>
          <a:xfrm>
            <a:off x="1121969" y="587045"/>
            <a:ext cx="3291840" cy="1143000"/>
          </a:xfrm>
          <a:prstGeom prst="round1Rect">
            <a:avLst>
              <a:gd name="adj" fmla="val 23087"/>
            </a:avLst>
          </a:prstGeom>
          <a:solidFill>
            <a:srgbClr val="FFFFFF"/>
          </a:solidFill>
          <a:ln/>
        </p:spPr>
        <p:txBody>
          <a:bodyPr/>
          <a:p/>
        </p:txBody>
      </p:sp>
      <p:sp>
        <p:nvSpPr>
          <p:cNvPr id="13" name="instr"/>
          <p:cNvSpPr/>
          <p:nvPr/>
        </p:nvSpPr>
        <p:spPr>
          <a:xfrm>
            <a:off x="1325880" y="685800"/>
            <a:ext cx="288036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Partner game:</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Symptom or suggestion?</a:t>
            </a:r>
            <a:endParaRPr lang="en-US" sz="2200" dirty="0" b="1"/>
          </a:p>
        </p:txBody>
      </p:sp>
      <p:pic>
        <p:nvPicPr>
          <p:cNvPr id="17" name="Word picture 1" descr="Dizzy: a dizzy face"/>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dizzy</a:t>
            </a:r>
            <a:endParaRPr lang="en-US" sz="2000" dirty="0" b="1"/>
          </a:p>
        </p:txBody>
      </p:sp>
      <p:pic>
        <p:nvPicPr>
          <p:cNvPr id="19" name="Word picture 2" descr="Teeth cleaning: a tooth and a toothbrush [sign: CLEANING]"/>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teeth cleaning</a:t>
            </a:r>
            <a:endParaRPr lang="en-US" sz="2000" dirty="0" b="1"/>
          </a:p>
        </p:txBody>
      </p:sp>
      <p:pic>
        <p:nvPicPr>
          <p:cNvPr id="21" name="Word picture 3" descr="Cavity: a tooth and a magnifying glass [sign: CAVITY]"/>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cavity</a:t>
            </a:r>
            <a:endParaRPr lang="en-US" sz="2000" dirty="0" b="1"/>
          </a:p>
        </p:txBody>
      </p:sp>
      <p:pic>
        <p:nvPicPr>
          <p:cNvPr id="23" name="Word picture 4" descr="Flu shot: a syringe [sign: FLU SHOT]"/>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flu shot</a:t>
            </a:r>
            <a:endParaRPr lang="en-US" sz="2000" dirty="0" b="1"/>
          </a:p>
        </p:txBody>
      </p:sp>
      <p:pic>
        <p:nvPicPr>
          <p:cNvPr id="25" name="Word picture 5" descr="Prescription: pills and a paper [sign: Rx]"/>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prescription</a:t>
            </a:r>
            <a:endParaRPr lang="en-US" sz="2000" dirty="0" b="1"/>
          </a:p>
        </p:txBody>
      </p:sp>
      <p:pic>
        <p:nvPicPr>
          <p:cNvPr id="27" name="Word picture 6" descr="Copay: a card and money [sign: COPAY $20]"/>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copay</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name="L4:check">
    <p:bg>
      <p:bgPr>
        <a:solidFill>
          <a:srgbClr val="F1F5FB"/>
        </a:solidFill>
      </p:bgPr>
    </p:bg>
    <p:spTree>
      <p:nvGrpSpPr>
        <p:cNvPr id="1" name=""/>
        <p:cNvGrpSpPr/>
        <p:nvPr/>
      </p:nvGrpSpPr>
      <p:grpSpPr/>
      <p:sp>
        <p:nvSpPr>
          <p:cNvPr id="2" name="title"/>
          <p:cNvSpPr/>
          <p:nvPr/>
        </p:nvSpPr>
        <p:spPr>
          <a:xfrm>
            <a:off x="685800" y="502920"/>
            <a:ext cx="1078992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Check the Meaning</a:t>
            </a:r>
            <a:endParaRPr lang="en-US" sz="4300" dirty="0" b="1"/>
          </a:p>
        </p:txBody>
      </p:sp>
      <p:sp>
        <p:nvSpPr>
          <p:cNvPr id="3" name="sub"/>
          <p:cNvSpPr/>
          <p:nvPr/>
        </p:nvSpPr>
        <p:spPr>
          <a:xfrm>
            <a:off x="685800" y="1554480"/>
            <a:ext cx="10789920" cy="548640"/>
          </a:xfrm>
          <a:prstGeom prst="rect">
            <a:avLst/>
          </a:prstGeom>
          <a:noFill/>
          <a:ln/>
        </p:spPr>
        <p:txBody>
          <a:bodyPr wrap="square" rtlCol="0" anchor="t"/>
          <a:lstStyle/>
          <a:p>
            <a:pPr algn="l" indent="0" marL="0">
              <a:buNone/>
            </a:pPr>
            <a:r>
              <a:rPr lang="en-US" sz="2400" dirty="0">
                <a:solidFill>
                  <a:srgbClr val="1B2236"/>
                </a:solidFill>
                <a:latin typeface="Lexend Deca" pitchFamily="34" charset="0"/>
                <a:ea typeface="Lexend Deca" pitchFamily="34" charset="-122"/>
                <a:cs typeface="Lexend Deca" pitchFamily="34" charset="-120"/>
              </a:rPr>
              <a:t>Look at the picture. Answer the question.</a:t>
            </a:r>
            <a:endParaRPr lang="en-US" sz="2400" dirty="0"/>
          </a:p>
        </p:txBody>
      </p:sp>
      <p:sp>
        <p:nvSpPr>
          <p:cNvPr id="4" name="R1 shadow"/>
          <p:cNvSpPr/>
          <p:nvPr/>
        </p:nvSpPr>
        <p:spPr>
          <a:xfrm>
            <a:off x="758952" y="2395728"/>
            <a:ext cx="3291840" cy="3383280"/>
          </a:xfrm>
          <a:prstGeom prst="round1Rect">
            <a:avLst>
              <a:gd name="adj" fmla="val 23087"/>
            </a:avLst>
          </a:prstGeom>
          <a:solidFill>
            <a:srgbClr val="8FAFE3"/>
          </a:solidFill>
          <a:ln/>
        </p:spPr>
        <p:txBody>
          <a:bodyPr/>
          <a:p/>
        </p:txBody>
      </p:sp>
      <p:sp>
        <p:nvSpPr>
          <p:cNvPr id="5" name="R1 card"/>
          <p:cNvSpPr/>
          <p:nvPr/>
        </p:nvSpPr>
        <p:spPr>
          <a:xfrm>
            <a:off x="6858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6" name="R1 circle"/>
          <p:cNvSpPr/>
          <p:nvPr/>
        </p:nvSpPr>
        <p:spPr>
          <a:xfrm>
            <a:off x="960120" y="2560320"/>
            <a:ext cx="731520" cy="731520"/>
          </a:xfrm>
          <a:prstGeom prst="ellipse">
            <a:avLst/>
          </a:prstGeom>
          <a:solidFill>
            <a:srgbClr val="FFE28C"/>
          </a:solidFill>
          <a:ln/>
        </p:spPr>
        <p:txBody>
          <a:bodyPr/>
          <a:p/>
        </p:txBody>
      </p:sp>
      <p:sp>
        <p:nvSpPr>
          <p:cNvPr id="7" name="R1 num"/>
          <p:cNvSpPr/>
          <p:nvPr/>
        </p:nvSpPr>
        <p:spPr>
          <a:xfrm>
            <a:off x="9601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1</a:t>
            </a:r>
            <a:endParaRPr lang="en-US" sz="2500" dirty="0"/>
          </a:p>
        </p:txBody>
      </p:sp>
      <p:sp>
        <p:nvSpPr>
          <p:cNvPr id="8" name="R1 q"/>
          <p:cNvSpPr/>
          <p:nvPr/>
        </p:nvSpPr>
        <p:spPr>
          <a:xfrm>
            <a:off x="960120" y="3931920"/>
            <a:ext cx="2788920" cy="731520"/>
          </a:xfrm>
          <a:prstGeom prst="rect">
            <a:avLst/>
          </a:prstGeom>
          <a:noFill/>
          <a:ln/>
        </p:spPr>
        <p:txBody>
          <a:bodyPr wrap="square" rtlCol="0" anchor="t"/>
          <a:lstStyle/>
          <a:p>
            <a:pPr algn="l" indent="0" marL="0">
              <a:buNone/>
            </a:pPr>
            <a:r>
              <a:rPr lang="en-US" sz="1500" dirty="0" b="1">
                <a:solidFill>
                  <a:srgbClr val="1B2236"/>
                </a:solidFill>
                <a:latin typeface="Lexend Deca" pitchFamily="34" charset="0"/>
                <a:ea typeface="Lexend Deca" pitchFamily="34" charset="-122"/>
                <a:cs typeface="Lexend Deca" pitchFamily="34" charset="-120"/>
              </a:rPr>
              <a:t>Do you get a checkup when you are sick or when you are well?</a:t>
            </a:r>
            <a:endParaRPr lang="en-US" sz="1500" dirty="0" b="1"/>
          </a:p>
        </p:txBody>
      </p:sp>
      <p:pic>
        <p:nvPicPr>
          <p:cNvPr id="101" name="R1 pic" descr="Checkup: a stethoscope and a clipboard [sign: CHECKUP]"/>
          <p:cNvPicPr>
            <a:picLocks noChangeAspect="1"/>
          </p:cNvPicPr>
          <p:nvPr/>
        </p:nvPicPr>
        <p:blipFill>
          <a:blip r:embed="rId5"/>
          <a:stretch>
            <a:fillRect/>
          </a:stretch>
        </p:blipFill>
        <p:spPr>
          <a:xfrm>
            <a:off x="1783080" y="2560320"/>
            <a:ext cx="1920240" cy="1344168"/>
          </a:xfrm>
          <a:prstGeom prst="rect">
            <a:avLst/>
          </a:prstGeom>
        </p:spPr>
      </p:pic>
      <p:sp>
        <p:nvSpPr>
          <p:cNvPr id="10" name="R2 shadow"/>
          <p:cNvSpPr/>
          <p:nvPr/>
        </p:nvSpPr>
        <p:spPr>
          <a:xfrm>
            <a:off x="4416552" y="2395728"/>
            <a:ext cx="3291840" cy="3383280"/>
          </a:xfrm>
          <a:prstGeom prst="round1Rect">
            <a:avLst>
              <a:gd name="adj" fmla="val 23087"/>
            </a:avLst>
          </a:prstGeom>
          <a:solidFill>
            <a:srgbClr val="8FAFE3"/>
          </a:solidFill>
          <a:ln/>
        </p:spPr>
        <p:txBody>
          <a:bodyPr/>
          <a:p/>
        </p:txBody>
      </p:sp>
      <p:sp>
        <p:nvSpPr>
          <p:cNvPr id="11" name="R2 card"/>
          <p:cNvSpPr/>
          <p:nvPr/>
        </p:nvSpPr>
        <p:spPr>
          <a:xfrm>
            <a:off x="4343400" y="2286000"/>
            <a:ext cx="3291840" cy="3383280"/>
          </a:xfrm>
          <a:prstGeom prst="round1Rect">
            <a:avLst>
              <a:gd name="adj" fmla="val 23087"/>
            </a:avLst>
          </a:prstGeom>
          <a:solidFill>
            <a:srgbClr val="C9B8F2"/>
          </a:solidFill>
          <a:ln w="19050">
            <a:solidFill>
              <a:srgbClr val="8FAFE3"/>
            </a:solidFill>
            <a:prstDash val="solid"/>
          </a:ln>
        </p:spPr>
        <p:txBody>
          <a:bodyPr/>
          <a:p/>
        </p:txBody>
      </p:sp>
      <p:sp>
        <p:nvSpPr>
          <p:cNvPr id="12" name="R2 circle"/>
          <p:cNvSpPr/>
          <p:nvPr/>
        </p:nvSpPr>
        <p:spPr>
          <a:xfrm>
            <a:off x="4617720" y="2560320"/>
            <a:ext cx="731520" cy="731520"/>
          </a:xfrm>
          <a:prstGeom prst="ellipse">
            <a:avLst/>
          </a:prstGeom>
          <a:solidFill>
            <a:srgbClr val="FFE28C"/>
          </a:solidFill>
          <a:ln/>
        </p:spPr>
        <p:txBody>
          <a:bodyPr/>
          <a:p/>
        </p:txBody>
      </p:sp>
      <p:sp>
        <p:nvSpPr>
          <p:cNvPr id="13" name="R2 num"/>
          <p:cNvSpPr/>
          <p:nvPr/>
        </p:nvSpPr>
        <p:spPr>
          <a:xfrm>
            <a:off x="46177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2</a:t>
            </a:r>
            <a:endParaRPr lang="en-US" sz="2500" dirty="0"/>
          </a:p>
        </p:txBody>
      </p:sp>
      <p:sp>
        <p:nvSpPr>
          <p:cNvPr id="14" name="R2 q"/>
          <p:cNvSpPr/>
          <p:nvPr/>
        </p:nvSpPr>
        <p:spPr>
          <a:xfrm>
            <a:off x="46177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Is a cough a symptom?</a:t>
            </a:r>
            <a:endParaRPr lang="en-US" sz="1600" dirty="0" b="1"/>
          </a:p>
        </p:txBody>
      </p:sp>
      <p:pic>
        <p:nvPicPr>
          <p:cNvPr id="102" name="R2 pic" descr="Symptom: a person with a fever and a person sneezing [sign: SYMPTOMS]"/>
          <p:cNvPicPr>
            <a:picLocks noChangeAspect="1"/>
          </p:cNvPicPr>
          <p:nvPr/>
        </p:nvPicPr>
        <p:blipFill>
          <a:blip r:embed="rId6"/>
          <a:stretch>
            <a:fillRect/>
          </a:stretch>
        </p:blipFill>
        <p:spPr>
          <a:xfrm>
            <a:off x="5440680" y="2560320"/>
            <a:ext cx="1920240" cy="1344168"/>
          </a:xfrm>
          <a:prstGeom prst="rect">
            <a:avLst/>
          </a:prstGeom>
        </p:spPr>
      </p:pic>
      <p:sp>
        <p:nvSpPr>
          <p:cNvPr id="16" name="R3 shadow"/>
          <p:cNvSpPr/>
          <p:nvPr/>
        </p:nvSpPr>
        <p:spPr>
          <a:xfrm>
            <a:off x="8074152" y="2395728"/>
            <a:ext cx="3291840" cy="3383280"/>
          </a:xfrm>
          <a:prstGeom prst="round1Rect">
            <a:avLst>
              <a:gd name="adj" fmla="val 23087"/>
            </a:avLst>
          </a:prstGeom>
          <a:solidFill>
            <a:srgbClr val="8FAFE3"/>
          </a:solidFill>
          <a:ln/>
        </p:spPr>
        <p:txBody>
          <a:bodyPr/>
          <a:p/>
        </p:txBody>
      </p:sp>
      <p:sp>
        <p:nvSpPr>
          <p:cNvPr id="17" name="R3 card"/>
          <p:cNvSpPr/>
          <p:nvPr/>
        </p:nvSpPr>
        <p:spPr>
          <a:xfrm>
            <a:off x="80010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18" name="R3 circle"/>
          <p:cNvSpPr/>
          <p:nvPr/>
        </p:nvSpPr>
        <p:spPr>
          <a:xfrm>
            <a:off x="8275320" y="2560320"/>
            <a:ext cx="731520" cy="731520"/>
          </a:xfrm>
          <a:prstGeom prst="ellipse">
            <a:avLst/>
          </a:prstGeom>
          <a:solidFill>
            <a:srgbClr val="FFE28C"/>
          </a:solidFill>
          <a:ln/>
        </p:spPr>
        <p:txBody>
          <a:bodyPr/>
          <a:p/>
        </p:txBody>
      </p:sp>
      <p:sp>
        <p:nvSpPr>
          <p:cNvPr id="19" name="R3 num"/>
          <p:cNvSpPr/>
          <p:nvPr/>
        </p:nvSpPr>
        <p:spPr>
          <a:xfrm>
            <a:off x="82753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3</a:t>
            </a:r>
            <a:endParaRPr lang="en-US" sz="2500" dirty="0"/>
          </a:p>
        </p:txBody>
      </p:sp>
      <p:sp>
        <p:nvSpPr>
          <p:cNvPr id="20" name="R3 q"/>
          <p:cNvSpPr/>
          <p:nvPr/>
        </p:nvSpPr>
        <p:spPr>
          <a:xfrm>
            <a:off x="82753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Do you pay a copay at the clinic or at home?</a:t>
            </a:r>
            <a:endParaRPr lang="en-US" sz="1600" dirty="0" b="1"/>
          </a:p>
        </p:txBody>
      </p:sp>
      <p:pic>
        <p:nvPicPr>
          <p:cNvPr id="103" name="R3 pic" descr="Copay: a card and money [sign: COPAY $20]"/>
          <p:cNvPicPr>
            <a:picLocks noChangeAspect="1"/>
          </p:cNvPicPr>
          <p:nvPr/>
        </p:nvPicPr>
        <p:blipFill>
          <a:blip r:embed="rId7"/>
          <a:stretch>
            <a:fillRect/>
          </a:stretch>
        </p:blipFill>
        <p:spPr>
          <a:xfrm>
            <a:off x="9098280" y="2560320"/>
            <a:ext cx="1920240" cy="1344168"/>
          </a:xfrm>
          <a:prstGeom prst="rect">
            <a:avLst/>
          </a:prstGeom>
        </p:spPr>
      </p:pic>
      <p:sp>
        <p:nvSpPr>
          <p:cNvPr id="25" name="R1 ans"/>
          <p:cNvSpPr/>
          <p:nvPr/>
        </p:nvSpPr>
        <p:spPr>
          <a:xfrm>
            <a:off x="9601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when you are well; it's every year</a:t>
            </a:r>
            <a:endParaRPr lang="en-US" sz="1400" dirty="0" b="1"/>
          </a:p>
        </p:txBody>
      </p:sp>
      <p:sp>
        <p:nvSpPr>
          <p:cNvPr id="26" name="R2 ans"/>
          <p:cNvSpPr/>
          <p:nvPr/>
        </p:nvSpPr>
        <p:spPr>
          <a:xfrm>
            <a:off x="46177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800" dirty="0" b="1">
                <a:solidFill>
                  <a:srgbClr val="1B2236"/>
                </a:solidFill>
                <a:latin typeface="Lexend Deca" pitchFamily="34" charset="0"/>
                <a:ea typeface="Lexend Deca" pitchFamily="34" charset="-122"/>
                <a:cs typeface="Lexend Deca" pitchFamily="34" charset="-120"/>
              </a:rPr>
              <a:t>yes</a:t>
            </a:r>
            <a:endParaRPr lang="en-US" sz="2800" dirty="0" b="1"/>
          </a:p>
        </p:txBody>
      </p:sp>
      <p:sp>
        <p:nvSpPr>
          <p:cNvPr id="27" name="R3 ans"/>
          <p:cNvSpPr/>
          <p:nvPr/>
        </p:nvSpPr>
        <p:spPr>
          <a:xfrm>
            <a:off x="82753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at the clinic</a:t>
            </a:r>
            <a:endParaRPr lang="en-US" sz="22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name="L4:before">
    <p:bg>
      <p:bgPr>
        <a:solidFill>
          <a:srgbClr val="F1F5FB"/>
        </a:solidFill>
      </p:bgPr>
    </p:bg>
    <p:spTree>
      <p:nvGrpSpPr>
        <p:cNvPr id="1" name=""/>
        <p:cNvGrpSpPr/>
        <p:nvPr/>
      </p:nvGrpSpPr>
      <p:grpSpPr/>
      <p:sp>
        <p:nvSpPr>
          <p:cNvPr id="2" name="Shape 0"/>
          <p:cNvSpPr/>
          <p:nvPr/>
        </p:nvSpPr>
        <p:spPr>
          <a:xfrm>
            <a:off x="0" y="0"/>
            <a:ext cx="3063240" cy="6858000"/>
          </a:xfrm>
          <a:prstGeom prst="rect">
            <a:avLst/>
          </a:prstGeom>
          <a:solidFill>
            <a:srgbClr val="B9D2F7"/>
          </a:solidFill>
          <a:ln/>
        </p:spPr>
        <p:txBody>
          <a:bodyPr/>
          <a:p/>
        </p:txBody>
      </p:sp>
      <p:sp>
        <p:nvSpPr>
          <p:cNvPr id="4" name="Shape 2"/>
          <p:cNvSpPr/>
          <p:nvPr/>
        </p:nvSpPr>
        <p:spPr>
          <a:xfrm>
            <a:off x="8156448" y="1289304"/>
            <a:ext cx="3429000" cy="4983480"/>
          </a:xfrm>
          <a:prstGeom prst="round1Rect">
            <a:avLst>
              <a:gd name="adj" fmla="val 23087"/>
            </a:avLst>
          </a:prstGeom>
          <a:solidFill>
            <a:srgbClr val="8FAFE3"/>
          </a:solidFill>
          <a:ln/>
        </p:spPr>
        <p:txBody>
          <a:bodyPr/>
          <a:p/>
        </p:txBody>
      </p:sp>
      <p:sp>
        <p:nvSpPr>
          <p:cNvPr id="5" name="Shape 3"/>
          <p:cNvSpPr/>
          <p:nvPr/>
        </p:nvSpPr>
        <p:spPr>
          <a:xfrm>
            <a:off x="8321040" y="1097280"/>
            <a:ext cx="3429000" cy="4983480"/>
          </a:xfrm>
          <a:prstGeom prst="round1Rect">
            <a:avLst>
              <a:gd name="adj" fmla="val 23087"/>
            </a:avLst>
          </a:prstGeom>
          <a:solidFill>
            <a:srgbClr val="B9D2F7"/>
          </a:solidFill>
          <a:ln/>
        </p:spPr>
        <p:txBody>
          <a:bodyPr/>
          <a:p/>
        </p:txBody>
      </p:sp>
      <p:sp>
        <p:nvSpPr>
          <p:cNvPr id="6" name="Shape 4"/>
          <p:cNvSpPr/>
          <p:nvPr/>
        </p:nvSpPr>
        <p:spPr>
          <a:xfrm>
            <a:off x="3394847" y="1032586"/>
            <a:ext cx="4424782" cy="1863547"/>
          </a:xfrm>
          <a:prstGeom prst="roundRect">
            <a:avLst>
              <a:gd name="adj" fmla="val 16667"/>
            </a:avLst>
          </a:prstGeom>
          <a:solidFill>
            <a:srgbClr val="8FAFE3"/>
          </a:solidFill>
          <a:ln/>
        </p:spPr>
        <p:txBody>
          <a:bodyPr/>
          <a:p/>
        </p:txBody>
      </p:sp>
      <p:sp>
        <p:nvSpPr>
          <p:cNvPr id="7" name="Shape 5"/>
          <p:cNvSpPr/>
          <p:nvPr/>
        </p:nvSpPr>
        <p:spPr>
          <a:xfrm>
            <a:off x="3420770" y="956462"/>
            <a:ext cx="4424782" cy="1863547"/>
          </a:xfrm>
          <a:prstGeom prst="roundRect">
            <a:avLst>
              <a:gd name="adj" fmla="val 16667"/>
            </a:avLst>
          </a:prstGeom>
          <a:solidFill>
            <a:srgbClr val="FFFFFF"/>
          </a:solidFill>
          <a:ln/>
        </p:spPr>
        <p:txBody>
          <a:bodyPr/>
          <a:p/>
        </p:txBody>
      </p:sp>
      <p:sp>
        <p:nvSpPr>
          <p:cNvPr id="8" name="title1"/>
          <p:cNvSpPr/>
          <p:nvPr/>
        </p:nvSpPr>
        <p:spPr>
          <a:xfrm>
            <a:off x="3566160" y="1078992"/>
            <a:ext cx="4114800" cy="749808"/>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Before You</a:t>
            </a:r>
            <a:endParaRPr lang="en-US" sz="4400" dirty="0" b="1"/>
          </a:p>
        </p:txBody>
      </p:sp>
      <p:sp>
        <p:nvSpPr>
          <p:cNvPr id="9" name="title2"/>
          <p:cNvSpPr/>
          <p:nvPr/>
        </p:nvSpPr>
        <p:spPr>
          <a:xfrm>
            <a:off x="3566160" y="1828800"/>
            <a:ext cx="4114800" cy="822960"/>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Listen</a:t>
            </a:r>
            <a:endParaRPr lang="en-US" sz="4400" dirty="0" b="1"/>
          </a:p>
        </p:txBody>
      </p:sp>
      <p:sp>
        <p:nvSpPr>
          <p:cNvPr id="10" name="context"/>
          <p:cNvSpPr/>
          <p:nvPr/>
        </p:nvSpPr>
        <p:spPr>
          <a:xfrm>
            <a:off x="3487522" y="3108960"/>
            <a:ext cx="4206240" cy="868680"/>
          </a:xfrm>
          <a:prstGeom prst="rect">
            <a:avLst/>
          </a:prstGeom>
          <a:noFill/>
          <a:ln/>
        </p:spPr>
        <p:txBody>
          <a:bodyPr wrap="square" lIns="0" tIns="0" rIns="0" bIns="0" rtlCol="0" anchor="ct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Amina is at a clinic for back pain. First, Daniel, the medical assistant, asks her health history questions. Then, at checkout, she talks to Ms. Park, the receptionist.</a:t>
            </a:r>
            <a:endParaRPr lang="en-US" sz="1600" dirty="0"/>
          </a:p>
        </p:txBody>
      </p:sp>
      <p:sp>
        <p:nvSpPr>
          <p:cNvPr id="11" name="R1 num"/>
          <p:cNvSpPr/>
          <p:nvPr/>
        </p:nvSpPr>
        <p:spPr>
          <a:xfrm>
            <a:off x="3383280" y="4114800"/>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01</a:t>
            </a:r>
            <a:endParaRPr lang="en-US" sz="3600" dirty="0"/>
          </a:p>
        </p:txBody>
      </p:sp>
      <p:sp>
        <p:nvSpPr>
          <p:cNvPr id="13" name="R2 num"/>
          <p:cNvSpPr/>
          <p:nvPr/>
        </p:nvSpPr>
        <p:spPr>
          <a:xfrm>
            <a:off x="3383280" y="4919472"/>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02</a:t>
            </a:r>
            <a:endParaRPr lang="en-US" sz="3600" dirty="0"/>
          </a:p>
        </p:txBody>
      </p:sp>
      <p:sp>
        <p:nvSpPr>
          <p:cNvPr id="15" name="R3 num"/>
          <p:cNvSpPr/>
          <p:nvPr/>
        </p:nvSpPr>
        <p:spPr>
          <a:xfrm>
            <a:off x="3383280" y="5724144"/>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03</a:t>
            </a:r>
            <a:endParaRPr lang="en-US" sz="3600" dirty="0"/>
          </a:p>
        </p:txBody>
      </p:sp>
      <p:sp>
        <p:nvSpPr>
          <p:cNvPr id="17" name="line 1"/>
          <p:cNvSpPr/>
          <p:nvPr/>
        </p:nvSpPr>
        <p:spPr>
          <a:xfrm>
            <a:off x="3503066" y="4928616"/>
            <a:ext cx="4480560" cy="0"/>
          </a:xfrm>
          <a:prstGeom prst="line">
            <a:avLst/>
          </a:prstGeom>
          <a:noFill/>
          <a:ln w="6350">
            <a:solidFill>
              <a:srgbClr val="1B2236"/>
            </a:solidFill>
            <a:prstDash val="solid"/>
          </a:ln>
        </p:spPr>
        <p:txBody>
          <a:bodyPr/>
          <a:p/>
        </p:txBody>
      </p:sp>
      <p:sp>
        <p:nvSpPr>
          <p:cNvPr id="18" name="line 2"/>
          <p:cNvSpPr/>
          <p:nvPr/>
        </p:nvSpPr>
        <p:spPr>
          <a:xfrm>
            <a:off x="3503066" y="5733288"/>
            <a:ext cx="4480560" cy="0"/>
          </a:xfrm>
          <a:prstGeom prst="line">
            <a:avLst/>
          </a:prstGeom>
          <a:noFill/>
          <a:ln w="6350">
            <a:solidFill>
              <a:srgbClr val="1B2236"/>
            </a:solidFill>
            <a:prstDash val="solid"/>
          </a:ln>
        </p:spPr>
        <p:txBody>
          <a:bodyPr/>
          <a:p/>
        </p:txBody>
      </p:sp>
      <p:pic>
        <p:nvPicPr>
          <p:cNvPr id="24" name="pic" descr="Blood pressure: a stethoscope and an arm [sign: 120/80]"/>
          <p:cNvPicPr>
            <a:picLocks noChangeAspect="1"/>
          </p:cNvPicPr>
          <p:nvPr/>
        </p:nvPicPr>
        <p:blipFill>
          <a:blip r:embed="rId3"/>
          <a:stretch>
            <a:fillRect/>
          </a:stretch>
        </p:blipFill>
        <p:spPr>
          <a:xfrm>
            <a:off x="160020" y="2423160"/>
            <a:ext cx="2743200" cy="1920240"/>
          </a:xfrm>
          <a:prstGeom prst="rect">
            <a:avLst/>
          </a:prstGeom>
        </p:spPr>
      </p:pic>
      <p:sp>
        <p:nvSpPr>
          <p:cNvPr id="25" name="R1 hl"/>
          <p:cNvSpPr/>
          <p:nvPr/>
        </p:nvSpPr>
        <p:spPr>
          <a:xfrm>
            <a:off x="4389120" y="4251960"/>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R1 voice"/>
          <p:cNvSpPr/>
          <p:nvPr/>
        </p:nvSpPr>
        <p:spPr>
          <a:xfrm>
            <a:off x="4389120" y="4251960"/>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Amina</a:t>
            </a:r>
            <a:endParaRPr lang="en-US" sz="2200" dirty="0" b="1"/>
          </a:p>
        </p:txBody>
      </p:sp>
      <p:sp>
        <p:nvSpPr>
          <p:cNvPr id="29" name="R2 hl"/>
          <p:cNvSpPr/>
          <p:nvPr/>
        </p:nvSpPr>
        <p:spPr>
          <a:xfrm>
            <a:off x="4389120" y="5056632"/>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1" name="R2 voice"/>
          <p:cNvSpPr/>
          <p:nvPr/>
        </p:nvSpPr>
        <p:spPr>
          <a:xfrm>
            <a:off x="4389120" y="5056632"/>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Daniel</a:t>
            </a:r>
            <a:endParaRPr lang="en-US" sz="2200" dirty="0" b="1"/>
          </a:p>
        </p:txBody>
      </p:sp>
      <p:sp>
        <p:nvSpPr>
          <p:cNvPr id="33" name="R3 hl"/>
          <p:cNvSpPr/>
          <p:nvPr/>
        </p:nvSpPr>
        <p:spPr>
          <a:xfrm>
            <a:off x="4389120" y="5861304"/>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R3 voice"/>
          <p:cNvSpPr/>
          <p:nvPr/>
        </p:nvSpPr>
        <p:spPr>
          <a:xfrm>
            <a:off x="4389120" y="5861304"/>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Ms. Park</a:t>
            </a:r>
            <a:endParaRPr lang="en-US" sz="2200" dirty="0" b="1"/>
          </a:p>
        </p:txBody>
      </p:sp>
      <p:sp>
        <p:nvSpPr>
          <p:cNvPr id="37" name="listen head"/>
          <p:cNvSpPr/>
          <p:nvPr/>
        </p:nvSpPr>
        <p:spPr>
          <a:xfrm>
            <a:off x="8549640" y="1280160"/>
            <a:ext cx="3017520" cy="548640"/>
          </a:xfrm>
          <a:prstGeom prst="rect">
            <a:avLst/>
          </a:prstGeom>
          <a:noFill/>
          <a:ln w="38100">
            <a:noFill/>
          </a:ln>
        </p:spPr>
        <p:txBody>
          <a:bodyPr wrap="square" lIns="73152" tIns="36576" rIns="73152" bIns="36576" rtlCol="0" anchor="ctr">
            <a:noAutofit/>
          </a:bodyP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Listen for:</a:t>
            </a:r>
            <a:endParaRPr lang="en-US" sz="2400" dirty="0" b="1"/>
          </a:p>
        </p:txBody>
      </p:sp>
      <p:sp>
        <p:nvSpPr>
          <p:cNvPr id="39" name="listen 1"/>
          <p:cNvSpPr/>
          <p:nvPr/>
        </p:nvSpPr>
        <p:spPr>
          <a:xfrm>
            <a:off x="8549640" y="196596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Why is Amina at the clinic?</a:t>
            </a:r>
            <a:endParaRPr lang="en-US" sz="2200" dirty="0"/>
          </a:p>
        </p:txBody>
      </p:sp>
      <p:sp>
        <p:nvSpPr>
          <p:cNvPr id="41" name="listen 2"/>
          <p:cNvSpPr/>
          <p:nvPr/>
        </p:nvSpPr>
        <p:spPr>
          <a:xfrm>
            <a:off x="8549640" y="301752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Play 2: Tasks B and C.</a:t>
            </a:r>
            <a:endParaRPr lang="en-US" sz="2200" dirty="0"/>
          </a:p>
        </p:txBody>
      </p:sp>
      <p:sp>
        <p:nvSpPr>
          <p:cNvPr id="43" name="audio"/>
          <p:cNvSpPr/>
          <p:nvPr/>
        </p:nvSpPr>
        <p:spPr>
          <a:xfrm>
            <a:off x="8549640" y="406908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Audio (about 2:07): coming soon.</a:t>
            </a:r>
            <a:endParaRPr lang="en-US" sz="2200" dirty="0"/>
          </a:p>
        </p:txBody>
      </p:sp>
      <p:sp>
        <p:nvSpPr>
          <p:cNvPr id="46" name="play"/>
          <p:cNvSpPr/>
          <p:nvPr/>
        </p:nvSpPr>
        <p:spPr>
          <a:xfrm>
            <a:off x="8549640" y="5029200"/>
            <a:ext cx="301752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200" dirty="0" b="0">
                <a:solidFill>
                  <a:srgbClr val="1B2236"/>
                </a:solidFill>
                <a:latin typeface="Lexend Deca" pitchFamily="34" charset="0"/>
                <a:ea typeface="Lexend Deca" pitchFamily="34" charset="-122"/>
                <a:cs typeface="Lexend Deca" pitchFamily="34" charset="-120"/>
              </a:rPr>
              <a:t>Play 1: </a:t>
            </a:r>
            <a:r>
              <a:rPr lang="en-US" sz="2200" dirty="0" b="1">
                <a:solidFill>
                  <a:srgbClr val="5B3FC4"/>
                </a:solidFill>
                <a:latin typeface="Lexend Deca" pitchFamily="34" charset="0"/>
                <a:ea typeface="Lexend Deca" pitchFamily="34" charset="-122"/>
                <a:cs typeface="Lexend Deca" pitchFamily="34" charset="-120"/>
              </a:rPr>
              <a:t>Task A</a:t>
            </a:r>
            <a:endParaRPr lang="en-US" sz="22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Listening A</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Listen. Why is Amina at the clinic?</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a:t>
            </a:r>
            <a:endParaRPr lang="en-US" sz="2000" dirty="0"/>
          </a:p>
        </p:txBody>
      </p:sp>
      <p:sp>
        <p:nvSpPr>
          <p:cNvPr id="8" name="R1 stmt"/>
          <p:cNvSpPr/>
          <p:nvPr/>
        </p:nvSpPr>
        <p:spPr>
          <a:xfrm>
            <a:off x="502920" y="3108960"/>
            <a:ext cx="278892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Amina:</a:t>
            </a:r>
            <a:endParaRPr lang="en-US" sz="2000" dirty="0"/>
          </a:p>
        </p:txBody>
      </p:sp>
      <p:sp>
        <p:nvSpPr>
          <p:cNvPr id="9" name="R1 opt1"/>
          <p:cNvSpPr/>
          <p:nvPr/>
        </p:nvSpPr>
        <p:spPr>
          <a:xfrm>
            <a:off x="3474720" y="3108960"/>
            <a:ext cx="237744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a. for a flu shot</a:t>
            </a:r>
            <a:endParaRPr lang="en-US" sz="1700" dirty="0" b="1"/>
          </a:p>
        </p:txBody>
      </p:sp>
      <p:sp>
        <p:nvSpPr>
          <p:cNvPr id="10" name="R1 opt2"/>
          <p:cNvSpPr/>
          <p:nvPr/>
        </p:nvSpPr>
        <p:spPr>
          <a:xfrm>
            <a:off x="6035040" y="3108960"/>
            <a:ext cx="237744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b. for back pain</a:t>
            </a:r>
            <a:endParaRPr lang="en-US" sz="1700" dirty="0" b="1"/>
          </a:p>
        </p:txBody>
      </p:sp>
      <p:sp>
        <p:nvSpPr>
          <p:cNvPr id="11" name="R1 opt3"/>
          <p:cNvSpPr/>
          <p:nvPr/>
        </p:nvSpPr>
        <p:spPr>
          <a:xfrm>
            <a:off x="8595360" y="3108960"/>
            <a:ext cx="237744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c. for a teeth cleaning</a:t>
            </a:r>
            <a:endParaRPr lang="en-US" sz="1700" dirty="0" b="1"/>
          </a:p>
        </p:txBody>
      </p:sp>
      <p:sp>
        <p:nvSpPr>
          <p:cNvPr id="12" name="R1 circle"/>
          <p:cNvSpPr/>
          <p:nvPr/>
        </p:nvSpPr>
        <p:spPr>
          <a:xfrm>
            <a:off x="5907024" y="3054096"/>
            <a:ext cx="263347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Listening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Listen again. Complete Amina's form.</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the answer.</a:t>
            </a:r>
            <a:endParaRPr lang="en-US" sz="2000" dirty="0"/>
          </a:p>
        </p:txBody>
      </p:sp>
      <p:sp>
        <p:nvSpPr>
          <p:cNvPr id="8" name="R1 stmt"/>
          <p:cNvSpPr/>
          <p:nvPr/>
        </p:nvSpPr>
        <p:spPr>
          <a:xfrm>
            <a:off x="502920" y="3108960"/>
            <a:ext cx="452628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1. Symptom:</a:t>
            </a:r>
            <a:endParaRPr lang="en-US" sz="1800" dirty="0"/>
          </a:p>
        </p:txBody>
      </p:sp>
      <p:sp>
        <p:nvSpPr>
          <p:cNvPr id="9" name="R1 opt1"/>
          <p:cNvSpPr/>
          <p:nvPr/>
        </p:nvSpPr>
        <p:spPr>
          <a:xfrm>
            <a:off x="5212080" y="310896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a rash</a:t>
            </a:r>
            <a:endParaRPr lang="en-US" sz="1500" dirty="0" b="1"/>
          </a:p>
        </p:txBody>
      </p:sp>
      <p:sp>
        <p:nvSpPr>
          <p:cNvPr id="10" name="R1 opt2"/>
          <p:cNvSpPr/>
          <p:nvPr/>
        </p:nvSpPr>
        <p:spPr>
          <a:xfrm>
            <a:off x="7178040" y="310896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back pain</a:t>
            </a:r>
            <a:endParaRPr lang="en-US" sz="1500" dirty="0" b="1"/>
          </a:p>
        </p:txBody>
      </p:sp>
      <p:sp>
        <p:nvSpPr>
          <p:cNvPr id="11" name="R1 opt3"/>
          <p:cNvSpPr/>
          <p:nvPr/>
        </p:nvSpPr>
        <p:spPr>
          <a:xfrm>
            <a:off x="9144000" y="310896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a cough</a:t>
            </a:r>
            <a:endParaRPr lang="en-US" sz="1500" dirty="0" b="1"/>
          </a:p>
        </p:txBody>
      </p:sp>
      <p:sp>
        <p:nvSpPr>
          <p:cNvPr id="12" name="R1 circle"/>
          <p:cNvSpPr/>
          <p:nvPr/>
        </p:nvSpPr>
        <p:spPr>
          <a:xfrm>
            <a:off x="7050024" y="305409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3" name="R2 stmt"/>
          <p:cNvSpPr/>
          <p:nvPr/>
        </p:nvSpPr>
        <p:spPr>
          <a:xfrm>
            <a:off x="502920" y="3657600"/>
            <a:ext cx="452628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2. How long?</a:t>
            </a:r>
            <a:endParaRPr lang="en-US" sz="1800" dirty="0"/>
          </a:p>
        </p:txBody>
      </p:sp>
      <p:sp>
        <p:nvSpPr>
          <p:cNvPr id="14" name="R2 opt1"/>
          <p:cNvSpPr/>
          <p:nvPr/>
        </p:nvSpPr>
        <p:spPr>
          <a:xfrm>
            <a:off x="5212080" y="365760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two days</a:t>
            </a:r>
            <a:endParaRPr lang="en-US" sz="1500" dirty="0" b="1"/>
          </a:p>
        </p:txBody>
      </p:sp>
      <p:sp>
        <p:nvSpPr>
          <p:cNvPr id="15" name="R2 opt2"/>
          <p:cNvSpPr/>
          <p:nvPr/>
        </p:nvSpPr>
        <p:spPr>
          <a:xfrm>
            <a:off x="7178040" y="365760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about two weeks</a:t>
            </a:r>
            <a:endParaRPr lang="en-US" sz="1500" dirty="0" b="1"/>
          </a:p>
        </p:txBody>
      </p:sp>
      <p:sp>
        <p:nvSpPr>
          <p:cNvPr id="16" name="R2 opt3"/>
          <p:cNvSpPr/>
          <p:nvPr/>
        </p:nvSpPr>
        <p:spPr>
          <a:xfrm>
            <a:off x="9144000" y="365760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since January</a:t>
            </a:r>
            <a:endParaRPr lang="en-US" sz="1500" dirty="0" b="1"/>
          </a:p>
        </p:txBody>
      </p:sp>
      <p:sp>
        <p:nvSpPr>
          <p:cNvPr id="17" name="R2 circle"/>
          <p:cNvSpPr/>
          <p:nvPr/>
        </p:nvSpPr>
        <p:spPr>
          <a:xfrm>
            <a:off x="7050024" y="360273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8" name="R3 stmt"/>
          <p:cNvSpPr/>
          <p:nvPr/>
        </p:nvSpPr>
        <p:spPr>
          <a:xfrm>
            <a:off x="502920" y="4206240"/>
            <a:ext cx="649224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3. Back problems before?</a:t>
            </a:r>
            <a:endParaRPr lang="en-US" sz="1800" dirty="0"/>
          </a:p>
        </p:txBody>
      </p:sp>
      <p:sp>
        <p:nvSpPr>
          <p:cNvPr id="19" name="R3 opt1"/>
          <p:cNvSpPr/>
          <p:nvPr/>
        </p:nvSpPr>
        <p:spPr>
          <a:xfrm>
            <a:off x="7178040" y="420624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yes</a:t>
            </a:r>
            <a:endParaRPr lang="en-US" sz="1500" dirty="0" b="1"/>
          </a:p>
        </p:txBody>
      </p:sp>
      <p:sp>
        <p:nvSpPr>
          <p:cNvPr id="20" name="R3 opt2"/>
          <p:cNvSpPr/>
          <p:nvPr/>
        </p:nvSpPr>
        <p:spPr>
          <a:xfrm>
            <a:off x="9144000" y="420624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no</a:t>
            </a:r>
            <a:endParaRPr lang="en-US" sz="1500" dirty="0" b="1"/>
          </a:p>
        </p:txBody>
      </p:sp>
      <p:sp>
        <p:nvSpPr>
          <p:cNvPr id="21" name="R3 circle"/>
          <p:cNvSpPr/>
          <p:nvPr/>
        </p:nvSpPr>
        <p:spPr>
          <a:xfrm>
            <a:off x="9015984" y="415137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2" name="R4 stmt"/>
          <p:cNvSpPr/>
          <p:nvPr/>
        </p:nvSpPr>
        <p:spPr>
          <a:xfrm>
            <a:off x="502920" y="4754880"/>
            <a:ext cx="452628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4. Allergy:</a:t>
            </a:r>
            <a:endParaRPr lang="en-US" sz="1800" dirty="0"/>
          </a:p>
        </p:txBody>
      </p:sp>
      <p:sp>
        <p:nvSpPr>
          <p:cNvPr id="23" name="R4 opt1"/>
          <p:cNvSpPr/>
          <p:nvPr/>
        </p:nvSpPr>
        <p:spPr>
          <a:xfrm>
            <a:off x="5212080" y="475488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peanuts</a:t>
            </a:r>
            <a:endParaRPr lang="en-US" sz="1500" dirty="0" b="1"/>
          </a:p>
        </p:txBody>
      </p:sp>
      <p:sp>
        <p:nvSpPr>
          <p:cNvPr id="24" name="R4 opt2"/>
          <p:cNvSpPr/>
          <p:nvPr/>
        </p:nvSpPr>
        <p:spPr>
          <a:xfrm>
            <a:off x="7178040" y="475488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penicillin</a:t>
            </a:r>
            <a:endParaRPr lang="en-US" sz="1500" dirty="0" b="1"/>
          </a:p>
        </p:txBody>
      </p:sp>
      <p:sp>
        <p:nvSpPr>
          <p:cNvPr id="25" name="R4 opt3"/>
          <p:cNvSpPr/>
          <p:nvPr/>
        </p:nvSpPr>
        <p:spPr>
          <a:xfrm>
            <a:off x="9144000" y="475488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none</a:t>
            </a:r>
            <a:endParaRPr lang="en-US" sz="1500" dirty="0" b="1"/>
          </a:p>
        </p:txBody>
      </p:sp>
      <p:sp>
        <p:nvSpPr>
          <p:cNvPr id="26" name="R4 circle"/>
          <p:cNvSpPr/>
          <p:nvPr/>
        </p:nvSpPr>
        <p:spPr>
          <a:xfrm>
            <a:off x="7050024" y="470001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R5 stmt"/>
          <p:cNvSpPr/>
          <p:nvPr/>
        </p:nvSpPr>
        <p:spPr>
          <a:xfrm>
            <a:off x="502920" y="5303520"/>
            <a:ext cx="649224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5. Dizzy?</a:t>
            </a:r>
            <a:endParaRPr lang="en-US" sz="1800" dirty="0"/>
          </a:p>
        </p:txBody>
      </p:sp>
      <p:sp>
        <p:nvSpPr>
          <p:cNvPr id="28" name="R5 opt1"/>
          <p:cNvSpPr/>
          <p:nvPr/>
        </p:nvSpPr>
        <p:spPr>
          <a:xfrm>
            <a:off x="7178040" y="530352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yes</a:t>
            </a:r>
            <a:endParaRPr lang="en-US" sz="1500" dirty="0" b="1"/>
          </a:p>
        </p:txBody>
      </p:sp>
      <p:sp>
        <p:nvSpPr>
          <p:cNvPr id="29" name="R5 opt2"/>
          <p:cNvSpPr/>
          <p:nvPr/>
        </p:nvSpPr>
        <p:spPr>
          <a:xfrm>
            <a:off x="9144000" y="530352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no</a:t>
            </a:r>
            <a:endParaRPr lang="en-US" sz="1500" dirty="0" b="1"/>
          </a:p>
        </p:txBody>
      </p:sp>
      <p:sp>
        <p:nvSpPr>
          <p:cNvPr id="30" name="R5 circle"/>
          <p:cNvSpPr/>
          <p:nvPr/>
        </p:nvSpPr>
        <p:spPr>
          <a:xfrm>
            <a:off x="9015984" y="524865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1" name="R6 stmt"/>
          <p:cNvSpPr/>
          <p:nvPr/>
        </p:nvSpPr>
        <p:spPr>
          <a:xfrm>
            <a:off x="502920" y="5852160"/>
            <a:ext cx="452628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6. Copay today:</a:t>
            </a:r>
            <a:endParaRPr lang="en-US" sz="1800" dirty="0"/>
          </a:p>
        </p:txBody>
      </p:sp>
      <p:sp>
        <p:nvSpPr>
          <p:cNvPr id="32" name="R6 opt1"/>
          <p:cNvSpPr/>
          <p:nvPr/>
        </p:nvSpPr>
        <p:spPr>
          <a:xfrm>
            <a:off x="5212080" y="585216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$10</a:t>
            </a:r>
            <a:endParaRPr lang="en-US" sz="1500" dirty="0" b="1"/>
          </a:p>
        </p:txBody>
      </p:sp>
      <p:sp>
        <p:nvSpPr>
          <p:cNvPr id="33" name="R6 opt2"/>
          <p:cNvSpPr/>
          <p:nvPr/>
        </p:nvSpPr>
        <p:spPr>
          <a:xfrm>
            <a:off x="7178040" y="585216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$20</a:t>
            </a:r>
            <a:endParaRPr lang="en-US" sz="1500" dirty="0" b="1"/>
          </a:p>
        </p:txBody>
      </p:sp>
      <p:sp>
        <p:nvSpPr>
          <p:cNvPr id="34" name="R6 opt3"/>
          <p:cNvSpPr/>
          <p:nvPr/>
        </p:nvSpPr>
        <p:spPr>
          <a:xfrm>
            <a:off x="9144000" y="585216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$40</a:t>
            </a:r>
            <a:endParaRPr lang="en-US" sz="1500" dirty="0" b="1"/>
          </a:p>
        </p:txBody>
      </p:sp>
      <p:sp>
        <p:nvSpPr>
          <p:cNvPr id="35" name="R6 circle"/>
          <p:cNvSpPr/>
          <p:nvPr/>
        </p:nvSpPr>
        <p:spPr>
          <a:xfrm>
            <a:off x="7050024" y="579729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4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4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for, since, or ever.</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C</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Words: </a:t>
            </a:r>
            <a:r>
              <a:rPr lang="en-US" sz="2000" dirty="0" b="1">
                <a:solidFill>
                  <a:srgbClr val="5B3FC4"/>
                </a:solidFill>
                <a:latin typeface="Lexend Deca" pitchFamily="34" charset="0"/>
                <a:ea typeface="Lexend Deca" pitchFamily="34" charset="-122"/>
                <a:cs typeface="Lexend Deca" pitchFamily="34" charset="-120"/>
              </a:rPr>
              <a:t>for, since, ever</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compare your answers.</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Then </a:t>
            </a:r>
            <a:r>
              <a:rPr lang="en-US" sz="2000" dirty="0" b="1">
                <a:solidFill>
                  <a:srgbClr val="5B3FC4"/>
                </a:solidFill>
                <a:latin typeface="Lexend Deca" pitchFamily="34" charset="0"/>
                <a:ea typeface="Lexend Deca" pitchFamily="34" charset="-122"/>
                <a:cs typeface="Lexend Deca" pitchFamily="34" charset="-120"/>
              </a:rPr>
              <a:t>check together.</a:t>
            </a:r>
            <a:endParaRPr lang="en-US" sz="2000" dirty="0" b="1"/>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I've had it ____ about two weeks.</a:t>
            </a:r>
            <a:endParaRPr lang="en-US" sz="1800" dirty="0"/>
          </a:p>
        </p:txBody>
      </p:sp>
      <p:sp>
        <p:nvSpPr>
          <p:cNvPr id="35" name="R1 ans"/>
          <p:cNvSpPr/>
          <p:nvPr/>
        </p:nvSpPr>
        <p:spPr>
          <a:xfrm>
            <a:off x="6382512" y="2222144"/>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for</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851404"/>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Have you ____ had back problems before?</a:t>
            </a:r>
            <a:endParaRPr lang="en-US" sz="1800" dirty="0"/>
          </a:p>
        </p:txBody>
      </p:sp>
      <p:sp>
        <p:nvSpPr>
          <p:cNvPr id="40" name="R2 ans"/>
          <p:cNvSpPr/>
          <p:nvPr/>
        </p:nvSpPr>
        <p:spPr>
          <a:xfrm>
            <a:off x="6382512" y="2950312"/>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ever</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579571"/>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Have you ____ had surgery?</a:t>
            </a:r>
            <a:endParaRPr lang="en-US" sz="1800" dirty="0"/>
          </a:p>
        </p:txBody>
      </p:sp>
      <p:sp>
        <p:nvSpPr>
          <p:cNvPr id="45" name="R3 ans"/>
          <p:cNvSpPr/>
          <p:nvPr/>
        </p:nvSpPr>
        <p:spPr>
          <a:xfrm>
            <a:off x="6382512" y="3678479"/>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ever</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307738"/>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I've had it ____ January.</a:t>
            </a:r>
            <a:endParaRPr lang="en-US" sz="1800" dirty="0"/>
          </a:p>
        </p:txBody>
      </p:sp>
      <p:sp>
        <p:nvSpPr>
          <p:cNvPr id="50" name="R4 ans"/>
          <p:cNvSpPr/>
          <p:nvPr/>
        </p:nvSpPr>
        <p:spPr>
          <a:xfrm>
            <a:off x="6382512" y="4406646"/>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since</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035906"/>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Also, you haven't had a teeth cleaning ____ a year</a:t>
            </a:r>
            <a:endParaRPr lang="en-US" sz="1800" dirty="0"/>
          </a:p>
        </p:txBody>
      </p:sp>
      <p:sp>
        <p:nvSpPr>
          <p:cNvPr id="55" name="R5 ans"/>
          <p:cNvSpPr/>
          <p:nvPr/>
        </p:nvSpPr>
        <p:spPr>
          <a:xfrm>
            <a:off x="6382512" y="5134813"/>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for</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764073"/>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and you haven't had a checkup ____ last spring.</a:t>
            </a:r>
            <a:endParaRPr lang="en-US" sz="1800" dirty="0"/>
          </a:p>
        </p:txBody>
      </p:sp>
      <p:sp>
        <p:nvSpPr>
          <p:cNvPr id="60" name="R6 ans"/>
          <p:cNvSpPr/>
          <p:nvPr/>
        </p:nvSpPr>
        <p:spPr>
          <a:xfrm>
            <a:off x="6382512" y="5862980"/>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since</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name="L4:checksay">
    <p:bg>
      <p:bgPr>
        <a:solidFill>
          <a:srgbClr val="F1F5FB"/>
        </a:solidFill>
      </p:bgPr>
    </p:bg>
    <p:spTree>
      <p:nvGrpSpPr>
        <p:cNvPr id="1" name=""/>
        <p:cNvGrpSpPr/>
        <p:nvPr/>
      </p:nvGrpSpPr>
      <p:grpSpPr/>
      <p:sp>
        <p:nvSpPr>
          <p:cNvPr id="2" name="head shadow"/>
          <p:cNvSpPr/>
          <p:nvPr/>
        </p:nvSpPr>
        <p:spPr>
          <a:xfrm>
            <a:off x="544982" y="1681582"/>
            <a:ext cx="6227064" cy="983894"/>
          </a:xfrm>
          <a:prstGeom prst="round1Rect">
            <a:avLst>
              <a:gd name="adj" fmla="val 23087"/>
            </a:avLst>
          </a:prstGeom>
          <a:solidFill>
            <a:srgbClr val="8FAFE3"/>
          </a:solidFill>
          <a:ln/>
        </p:spPr>
        <p:txBody>
          <a:bodyPr/>
          <a:p/>
        </p:txBody>
      </p:sp>
      <p:sp>
        <p:nvSpPr>
          <p:cNvPr id="3" name="head card"/>
          <p:cNvSpPr/>
          <p:nvPr/>
        </p:nvSpPr>
        <p:spPr>
          <a:xfrm>
            <a:off x="544982" y="1623974"/>
            <a:ext cx="6169457" cy="983894"/>
          </a:xfrm>
          <a:prstGeom prst="round1Rect">
            <a:avLst>
              <a:gd name="adj" fmla="val 23087"/>
            </a:avLst>
          </a:prstGeom>
          <a:solidFill>
            <a:srgbClr val="FFFFFF"/>
          </a:solidFill>
          <a:ln/>
        </p:spPr>
        <p:txBody>
          <a:bodyPr/>
          <a:p/>
        </p:txBody>
      </p:sp>
      <p:sp>
        <p:nvSpPr>
          <p:cNvPr id="8" name="head1"/>
          <p:cNvSpPr/>
          <p:nvPr/>
        </p:nvSpPr>
        <p:spPr>
          <a:xfrm>
            <a:off x="777240" y="1691640"/>
            <a:ext cx="5669280" cy="384048"/>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Hear it: gonna = going to, wanna = want to</a:t>
            </a:r>
            <a:endParaRPr lang="en-US" sz="1800" dirty="0" b="1"/>
          </a:p>
        </p:txBody>
      </p:sp>
      <p:sp>
        <p:nvSpPr>
          <p:cNvPr id="9" name="head2"/>
          <p:cNvSpPr/>
          <p:nvPr/>
        </p:nvSpPr>
        <p:spPr>
          <a:xfrm>
            <a:off x="868680" y="2093976"/>
            <a:ext cx="5577840" cy="411480"/>
          </a:xfrm>
          <a:prstGeom prst="rect">
            <a:avLst/>
          </a:prstGeom>
          <a:noFill/>
          <a:ln/>
        </p:spPr>
        <p:txBody>
          <a:bodyPr wrap="square" lIns="0" tIns="0" rIns="0" bIns="0" rtlCol="0" anchor="t"/>
          <a:lstStyle/>
          <a:p>
            <a:pPr algn="l" indent="0" marL="0">
              <a:buNone/>
            </a:pPr>
            <a:r>
              <a:rPr lang="en-US" sz="1800" dirty="0">
                <a:solidFill>
                  <a:srgbClr val="1B2236"/>
                </a:solidFill>
                <a:latin typeface="Lexend Deca" pitchFamily="34" charset="0"/>
                <a:ea typeface="Lexend Deca" pitchFamily="34" charset="-122"/>
                <a:cs typeface="Lexend Deca" pitchFamily="34" charset="-120"/>
              </a:rPr>
              <a:t>Say it: a suggestion, and the stress</a:t>
            </a:r>
            <a:endParaRPr lang="en-US" sz="1800" dirty="0"/>
          </a:p>
        </p:txBody>
      </p:sp>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Hear It,</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Say It</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gonna</a:t>
            </a:r>
            <a:r>
              <a:rPr lang="en-US" sz="2000" dirty="0">
                <a:solidFill>
                  <a:srgbClr val="1B2236"/>
                </a:solidFill>
                <a:latin typeface="Lexend Deca" pitchFamily="34" charset="0"/>
                <a:ea typeface="Lexend Deca" pitchFamily="34" charset="-122"/>
                <a:cs typeface="Lexend Deca" pitchFamily="34" charset="-120"/>
              </a:rPr>
              <a:t> and </a:t>
            </a:r>
            <a:r>
              <a:rPr lang="en-US" sz="2000" dirty="0" b="1">
                <a:solidFill>
                  <a:srgbClr val="5B3FC4"/>
                </a:solidFill>
                <a:latin typeface="Lexend Deca" pitchFamily="34" charset="0"/>
                <a:ea typeface="Lexend Deca" pitchFamily="34" charset="-122"/>
                <a:cs typeface="Lexend Deca" pitchFamily="34" charset="-120"/>
              </a:rPr>
              <a:t>wanna</a:t>
            </a:r>
            <a:r>
              <a:rPr lang="en-US" sz="2000" dirty="0">
                <a:solidFill>
                  <a:srgbClr val="1B2236"/>
                </a:solidFill>
                <a:latin typeface="Lexend Deca" pitchFamily="34" charset="0"/>
                <a:ea typeface="Lexend Deca" pitchFamily="34" charset="-122"/>
                <a:cs typeface="Lexend Deca" pitchFamily="34" charset="-120"/>
              </a:rPr>
              <a:t> are short forms. This listening uses the full forms.</a:t>
            </a:r>
            <a:endParaRPr lang="en-US" sz="2000" dirty="0"/>
          </a:p>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Why don't you…?</a:t>
            </a:r>
            <a:r>
              <a:rPr lang="en-US" sz="2000" dirty="0" b="0">
                <a:solidFill>
                  <a:srgbClr val="1B2236"/>
                </a:solidFill>
                <a:latin typeface="Lexend Deca" pitchFamily="34" charset="0"/>
                <a:ea typeface="Lexend Deca" pitchFamily="34" charset="-122"/>
                <a:cs typeface="Lexend Deca" pitchFamily="34" charset="-120"/>
              </a:rPr>
              <a:t> Your voice goes </a:t>
            </a:r>
            <a:r>
              <a:rPr lang="en-US" sz="2000" dirty="0" b="1">
                <a:solidFill>
                  <a:srgbClr val="5B3FC4"/>
                </a:solidFill>
                <a:latin typeface="Lexend Deca" pitchFamily="34" charset="0"/>
                <a:ea typeface="Lexend Deca" pitchFamily="34" charset="-122"/>
                <a:cs typeface="Lexend Deca" pitchFamily="34" charset="-120"/>
              </a:rPr>
              <a:t>down</a:t>
            </a:r>
            <a:r>
              <a:rPr lang="en-US" sz="2000" dirty="0" b="0">
                <a:solidFill>
                  <a:srgbClr val="1B2236"/>
                </a:solidFill>
                <a:latin typeface="Lexend Deca" pitchFamily="34" charset="0"/>
                <a:ea typeface="Lexend Deca" pitchFamily="34" charset="-122"/>
                <a:cs typeface="Lexend Deca" pitchFamily="34" charset="-120"/>
              </a:rPr>
              <a:t>.</a:t>
            </a:r>
            <a:endParaRPr lang="en-US" sz="2000" dirty="0" b="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Say each line </a:t>
            </a:r>
            <a:r>
              <a:rPr lang="en-US" sz="2000" dirty="0" b="1">
                <a:solidFill>
                  <a:srgbClr val="5B3FC4"/>
                </a:solidFill>
                <a:latin typeface="Lexend Deca" pitchFamily="34" charset="0"/>
                <a:ea typeface="Lexend Deca" pitchFamily="34" charset="-122"/>
                <a:cs typeface="Lexend Deca" pitchFamily="34" charset="-120"/>
              </a:rPr>
              <a:t>two times.</a:t>
            </a:r>
            <a:endParaRPr lang="en-US" sz="2000" dirty="0" b="0"/>
          </a:p>
        </p:txBody>
      </p:sp>
      <p:sp>
        <p:nvSpPr>
          <p:cNvPr id="31" name="S1 card"/>
          <p:cNvSpPr/>
          <p:nvPr/>
        </p:nvSpPr>
        <p:spPr>
          <a:xfrm>
            <a:off x="548640" y="2715768"/>
            <a:ext cx="6766560" cy="602590"/>
          </a:xfrm>
          <a:prstGeom prst="round1Rect">
            <a:avLst>
              <a:gd name="adj" fmla="val 23087"/>
            </a:avLst>
          </a:prstGeom>
          <a:solidFill>
            <a:srgbClr val="FFFFFF"/>
          </a:solidFill>
          <a:ln/>
        </p:spPr>
        <p:txBody>
          <a:bodyPr/>
          <a:p/>
        </p:txBody>
      </p:sp>
      <p:sp>
        <p:nvSpPr>
          <p:cNvPr id="32" name="S1 text"/>
          <p:cNvSpPr/>
          <p:nvPr/>
        </p:nvSpPr>
        <p:spPr>
          <a:xfrm>
            <a:off x="777240" y="2715768"/>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The doctor's </a:t>
            </a:r>
            <a:r>
              <a:rPr lang="en-US" sz="1800" dirty="0" b="1">
                <a:solidFill>
                  <a:srgbClr val="5B3FC4"/>
                </a:solidFill>
                <a:latin typeface="Lexend Deca" pitchFamily="34" charset="0"/>
                <a:ea typeface="Lexend Deca" pitchFamily="34" charset="-122"/>
                <a:cs typeface="Lexend Deca" pitchFamily="34" charset="-120"/>
              </a:rPr>
              <a:t>going to</a:t>
            </a:r>
            <a:r>
              <a:rPr lang="en-US" sz="1800" dirty="0" b="1">
                <a:solidFill>
                  <a:srgbClr val="1B2236"/>
                </a:solidFill>
                <a:latin typeface="Lexend Deca" pitchFamily="34" charset="0"/>
                <a:ea typeface="Lexend Deca" pitchFamily="34" charset="-122"/>
                <a:cs typeface="Lexend Deca" pitchFamily="34" charset="-120"/>
              </a:rPr>
              <a:t> see you in a few minutes.</a:t>
            </a:r>
            <a:endParaRPr lang="en-US" sz="1800" dirty="0" b="1"/>
          </a:p>
        </p:txBody>
      </p:sp>
      <p:sp>
        <p:nvSpPr>
          <p:cNvPr id="33" name="S2 card"/>
          <p:cNvSpPr/>
          <p:nvPr/>
        </p:nvSpPr>
        <p:spPr>
          <a:xfrm>
            <a:off x="548640" y="3427171"/>
            <a:ext cx="6766560" cy="602590"/>
          </a:xfrm>
          <a:prstGeom prst="round1Rect">
            <a:avLst>
              <a:gd name="adj" fmla="val 23087"/>
            </a:avLst>
          </a:prstGeom>
          <a:solidFill>
            <a:srgbClr val="FFFFFF"/>
          </a:solidFill>
          <a:ln/>
        </p:spPr>
        <p:txBody>
          <a:bodyPr/>
          <a:p/>
        </p:txBody>
      </p:sp>
      <p:sp>
        <p:nvSpPr>
          <p:cNvPr id="34" name="S2 text"/>
          <p:cNvSpPr/>
          <p:nvPr/>
        </p:nvSpPr>
        <p:spPr>
          <a:xfrm>
            <a:off x="777240" y="3427171"/>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 </a:t>
            </a:r>
            <a:r>
              <a:rPr lang="en-US" sz="1800" dirty="0" b="1">
                <a:solidFill>
                  <a:srgbClr val="5B3FC4"/>
                </a:solidFill>
                <a:latin typeface="Lexend Deca" pitchFamily="34" charset="0"/>
                <a:ea typeface="Lexend Deca" pitchFamily="34" charset="-122"/>
                <a:cs typeface="Lexend Deca" pitchFamily="34" charset="-120"/>
              </a:rPr>
              <a:t>want to</a:t>
            </a:r>
            <a:r>
              <a:rPr lang="en-US" sz="1800" dirty="0" b="1">
                <a:solidFill>
                  <a:srgbClr val="1B2236"/>
                </a:solidFill>
                <a:latin typeface="Lexend Deca" pitchFamily="34" charset="0"/>
                <a:ea typeface="Lexend Deca" pitchFamily="34" charset="-122"/>
                <a:cs typeface="Lexend Deca" pitchFamily="34" charset="-120"/>
              </a:rPr>
              <a:t> make an appointment.</a:t>
            </a:r>
            <a:endParaRPr lang="en-US" sz="1800" dirty="0" b="1"/>
          </a:p>
        </p:txBody>
      </p:sp>
      <p:sp>
        <p:nvSpPr>
          <p:cNvPr id="35" name="S3 card"/>
          <p:cNvSpPr/>
          <p:nvPr/>
        </p:nvSpPr>
        <p:spPr>
          <a:xfrm>
            <a:off x="548640" y="4138574"/>
            <a:ext cx="6766560" cy="602590"/>
          </a:xfrm>
          <a:prstGeom prst="round1Rect">
            <a:avLst>
              <a:gd name="adj" fmla="val 23087"/>
            </a:avLst>
          </a:prstGeom>
          <a:solidFill>
            <a:srgbClr val="FFFFFF"/>
          </a:solidFill>
          <a:ln/>
        </p:spPr>
        <p:txBody>
          <a:bodyPr/>
          <a:p/>
        </p:txBody>
      </p:sp>
      <p:sp>
        <p:nvSpPr>
          <p:cNvPr id="36" name="S3 text"/>
          <p:cNvSpPr/>
          <p:nvPr/>
        </p:nvSpPr>
        <p:spPr>
          <a:xfrm>
            <a:off x="777240" y="4138574"/>
            <a:ext cx="6355080" cy="602590"/>
          </a:xfrm>
          <a:prstGeom prst="rect">
            <a:avLst/>
          </a:prstGeom>
          <a:noFill/>
          <a:ln/>
        </p:spPr>
        <p:txBody>
          <a:bodyPr wrap="square" rtlCol="0" anchor="ct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Why don't you</a:t>
            </a:r>
            <a:r>
              <a:rPr lang="en-US" sz="1800" dirty="0" b="1">
                <a:solidFill>
                  <a:srgbClr val="1B2236"/>
                </a:solidFill>
                <a:latin typeface="Lexend Deca" pitchFamily="34" charset="0"/>
                <a:ea typeface="Lexend Deca" pitchFamily="34" charset="-122"/>
                <a:cs typeface="Lexend Deca" pitchFamily="34" charset="-120"/>
              </a:rPr>
              <a:t> call the clinic?</a:t>
            </a:r>
            <a:endParaRPr lang="en-US" sz="1800" dirty="0" b="1"/>
          </a:p>
        </p:txBody>
      </p:sp>
      <p:sp>
        <p:nvSpPr>
          <p:cNvPr id="37" name="S4 card"/>
          <p:cNvSpPr/>
          <p:nvPr/>
        </p:nvSpPr>
        <p:spPr>
          <a:xfrm>
            <a:off x="548640" y="4849978"/>
            <a:ext cx="6766560" cy="602590"/>
          </a:xfrm>
          <a:prstGeom prst="round1Rect">
            <a:avLst>
              <a:gd name="adj" fmla="val 23087"/>
            </a:avLst>
          </a:prstGeom>
          <a:solidFill>
            <a:srgbClr val="FFFFFF"/>
          </a:solidFill>
          <a:ln/>
        </p:spPr>
        <p:txBody>
          <a:bodyPr/>
          <a:p/>
        </p:txBody>
      </p:sp>
      <p:sp>
        <p:nvSpPr>
          <p:cNvPr id="38" name="S4 text"/>
          <p:cNvSpPr/>
          <p:nvPr/>
        </p:nvSpPr>
        <p:spPr>
          <a:xfrm>
            <a:off x="777240" y="4849978"/>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I've had a </a:t>
            </a:r>
            <a:r>
              <a:rPr lang="en-US" sz="1800" dirty="0" b="1">
                <a:solidFill>
                  <a:srgbClr val="5B3FC4"/>
                </a:solidFill>
                <a:latin typeface="Lexend Deca" pitchFamily="34" charset="0"/>
                <a:ea typeface="Lexend Deca" pitchFamily="34" charset="-122"/>
                <a:cs typeface="Lexend Deca" pitchFamily="34" charset="-120"/>
              </a:rPr>
              <a:t>RASH</a:t>
            </a:r>
            <a:r>
              <a:rPr lang="en-US" sz="1800" dirty="0" b="1">
                <a:solidFill>
                  <a:srgbClr val="1B2236"/>
                </a:solidFill>
                <a:latin typeface="Lexend Deca" pitchFamily="34" charset="0"/>
                <a:ea typeface="Lexend Deca" pitchFamily="34" charset="-122"/>
                <a:cs typeface="Lexend Deca" pitchFamily="34" charset="-120"/>
              </a:rPr>
              <a:t> since </a:t>
            </a:r>
            <a:r>
              <a:rPr lang="en-US" sz="1800" dirty="0" b="1">
                <a:solidFill>
                  <a:srgbClr val="5B3FC4"/>
                </a:solidFill>
                <a:latin typeface="Lexend Deca" pitchFamily="34" charset="0"/>
                <a:ea typeface="Lexend Deca" pitchFamily="34" charset="-122"/>
                <a:cs typeface="Lexend Deca" pitchFamily="34" charset="-120"/>
              </a:rPr>
              <a:t>MON</a:t>
            </a:r>
            <a:r>
              <a:rPr lang="en-US" sz="1800" dirty="0" b="1">
                <a:solidFill>
                  <a:srgbClr val="1B2236"/>
                </a:solidFill>
                <a:latin typeface="Lexend Deca" pitchFamily="34" charset="0"/>
                <a:ea typeface="Lexend Deca" pitchFamily="34" charset="-122"/>
                <a:cs typeface="Lexend Deca" pitchFamily="34" charset="-120"/>
              </a:rPr>
              <a:t>day.</a:t>
            </a:r>
            <a:endParaRPr lang="en-US" sz="1800" dirty="0" b="1"/>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Rash: a hand [sign: RASH]"/>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1</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How long…? / Have you ever…?</a:t>
            </a:r>
            <a:endParaRPr lang="en-US" sz="24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How long have</a:t>
            </a:r>
            <a:r>
              <a:rPr lang="en-US" sz="1700" dirty="0" b="1">
                <a:solidFill>
                  <a:srgbClr val="1B2236"/>
                </a:solidFill>
                <a:latin typeface="Lexend Deca" pitchFamily="34" charset="0"/>
                <a:ea typeface="Lexend Deca" pitchFamily="34" charset="-122"/>
                <a:cs typeface="Lexend Deca" pitchFamily="34" charset="-120"/>
              </a:rPr>
              <a:t> you </a:t>
            </a:r>
            <a:r>
              <a:rPr lang="en-US" sz="1700" dirty="0" b="1">
                <a:solidFill>
                  <a:srgbClr val="1B2236"/>
                </a:solidFill>
                <a:latin typeface="Lexend Deca" pitchFamily="34" charset="0"/>
                <a:ea typeface="Lexend Deca" pitchFamily="34" charset="-122"/>
                <a:cs typeface="Lexend Deca" pitchFamily="34" charset="-120"/>
              </a:rPr>
              <a:t>had</a:t>
            </a:r>
            <a:r>
              <a:rPr lang="en-US" sz="1700" dirty="0" b="1">
                <a:solidFill>
                  <a:srgbClr val="1B2236"/>
                </a:solidFill>
                <a:latin typeface="Lexend Deca" pitchFamily="34" charset="0"/>
                <a:ea typeface="Lexend Deca" pitchFamily="34" charset="-122"/>
                <a:cs typeface="Lexend Deca" pitchFamily="34" charset="-120"/>
              </a:rPr>
              <a:t> this rash?</a:t>
            </a:r>
            <a:endParaRPr lang="en-US" sz="1700" dirty="0" b="1"/>
          </a:p>
        </p:txBody>
      </p:sp>
      <p:sp>
        <p:nvSpPr>
          <p:cNvPr id="19" name="Answer bg 1"/>
          <p:cNvSpPr/>
          <p:nvPr/>
        </p:nvSpPr>
        <p:spPr>
          <a:xfrm>
            <a:off x="7863840" y="228600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a:t>
            </a:r>
            <a:r>
              <a:rPr lang="en-US" sz="1700" dirty="0" b="1">
                <a:solidFill>
                  <a:srgbClr val="1B2236"/>
                </a:solidFill>
                <a:latin typeface="Lexend Deca" pitchFamily="34" charset="0"/>
                <a:ea typeface="Lexend Deca" pitchFamily="34" charset="-122"/>
                <a:cs typeface="Lexend Deca" pitchFamily="34" charset="-120"/>
              </a:rPr>
              <a:t>'ve had</a:t>
            </a:r>
            <a:r>
              <a:rPr lang="en-US" sz="1700" dirty="0" b="1">
                <a:solidFill>
                  <a:srgbClr val="1B2236"/>
                </a:solidFill>
                <a:latin typeface="Lexend Deca" pitchFamily="34" charset="0"/>
                <a:ea typeface="Lexend Deca" pitchFamily="34" charset="-122"/>
                <a:cs typeface="Lexend Deca" pitchFamily="34" charset="-120"/>
              </a:rPr>
              <a:t> it </a:t>
            </a:r>
            <a:r>
              <a:rPr lang="en-US" sz="1700" dirty="0" b="1">
                <a:solidFill>
                  <a:srgbClr val="1B2236"/>
                </a:solidFill>
                <a:latin typeface="Lexend Deca" pitchFamily="34" charset="0"/>
                <a:ea typeface="Lexend Deca" pitchFamily="34" charset="-122"/>
                <a:cs typeface="Lexend Deca" pitchFamily="34" charset="-120"/>
              </a:rPr>
              <a:t>for</a:t>
            </a:r>
            <a:r>
              <a:rPr lang="en-US" sz="1700" dirty="0" b="1">
                <a:solidFill>
                  <a:srgbClr val="1B2236"/>
                </a:solidFill>
                <a:latin typeface="Lexend Deca" pitchFamily="34" charset="0"/>
                <a:ea typeface="Lexend Deca" pitchFamily="34" charset="-122"/>
                <a:cs typeface="Lexend Deca" pitchFamily="34" charset="-120"/>
              </a:rPr>
              <a:t> three days.</a:t>
            </a:r>
            <a:endParaRPr lang="en-US" sz="1700" dirty="0" b="1"/>
          </a:p>
          <a:p>
            <a:pPr algn="l" indent="0" marL="0">
              <a:buNone/>
            </a:pPr>
            <a:r>
              <a:rPr lang="en-US" sz="1700" dirty="0" b="1">
                <a:solidFill>
                  <a:srgbClr val="1B2236"/>
                </a:solidFill>
                <a:latin typeface="Lexend Deca" pitchFamily="34" charset="0"/>
                <a:ea typeface="Lexend Deca" pitchFamily="34" charset="-122"/>
                <a:cs typeface="Lexend Deca" pitchFamily="34" charset="-120"/>
              </a:rPr>
              <a:t>I</a:t>
            </a:r>
            <a:r>
              <a:rPr lang="en-US" sz="1700" dirty="0" b="1">
                <a:solidFill>
                  <a:srgbClr val="1B2236"/>
                </a:solidFill>
                <a:latin typeface="Lexend Deca" pitchFamily="34" charset="0"/>
                <a:ea typeface="Lexend Deca" pitchFamily="34" charset="-122"/>
                <a:cs typeface="Lexend Deca" pitchFamily="34" charset="-120"/>
              </a:rPr>
              <a:t>'ve had</a:t>
            </a:r>
            <a:r>
              <a:rPr lang="en-US" sz="1700" dirty="0" b="1">
                <a:solidFill>
                  <a:srgbClr val="1B2236"/>
                </a:solidFill>
                <a:latin typeface="Lexend Deca" pitchFamily="34" charset="0"/>
                <a:ea typeface="Lexend Deca" pitchFamily="34" charset="-122"/>
                <a:cs typeface="Lexend Deca" pitchFamily="34" charset="-120"/>
              </a:rPr>
              <a:t> it </a:t>
            </a:r>
            <a:r>
              <a:rPr lang="en-US" sz="1700" dirty="0" b="1">
                <a:solidFill>
                  <a:srgbClr val="1B2236"/>
                </a:solidFill>
                <a:latin typeface="Lexend Deca" pitchFamily="34" charset="0"/>
                <a:ea typeface="Lexend Deca" pitchFamily="34" charset="-122"/>
                <a:cs typeface="Lexend Deca" pitchFamily="34" charset="-120"/>
              </a:rPr>
              <a:t>since</a:t>
            </a:r>
            <a:r>
              <a:rPr lang="en-US" sz="1700" dirty="0" b="1">
                <a:solidFill>
                  <a:srgbClr val="1B2236"/>
                </a:solidFill>
                <a:latin typeface="Lexend Deca" pitchFamily="34" charset="0"/>
                <a:ea typeface="Lexend Deca" pitchFamily="34" charset="-122"/>
                <a:cs typeface="Lexend Deca" pitchFamily="34" charset="-120"/>
              </a:rPr>
              <a:t> Monday.</a:t>
            </a:r>
            <a:endParaRPr lang="en-US" sz="1700" dirty="0" b="1"/>
          </a:p>
        </p:txBody>
      </p:sp>
      <p:sp>
        <p:nvSpPr>
          <p:cNvPr id="21" name="Question 2"/>
          <p:cNvSpPr/>
          <p:nvPr/>
        </p:nvSpPr>
        <p:spPr>
          <a:xfrm>
            <a:off x="5138928" y="333756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How long has</a:t>
            </a:r>
            <a:r>
              <a:rPr lang="en-US" sz="1700" dirty="0" b="1">
                <a:solidFill>
                  <a:srgbClr val="1B2236"/>
                </a:solidFill>
                <a:latin typeface="Lexend Deca" pitchFamily="34" charset="0"/>
                <a:ea typeface="Lexend Deca" pitchFamily="34" charset="-122"/>
                <a:cs typeface="Lexend Deca" pitchFamily="34" charset="-120"/>
              </a:rPr>
              <a:t> your back </a:t>
            </a:r>
            <a:r>
              <a:rPr lang="en-US" sz="1700" dirty="0" b="1">
                <a:solidFill>
                  <a:srgbClr val="1B2236"/>
                </a:solidFill>
                <a:latin typeface="Lexend Deca" pitchFamily="34" charset="0"/>
                <a:ea typeface="Lexend Deca" pitchFamily="34" charset="-122"/>
                <a:cs typeface="Lexend Deca" pitchFamily="34" charset="-120"/>
              </a:rPr>
              <a:t>hurt</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22" name="Answer bg 2"/>
          <p:cNvSpPr/>
          <p:nvPr/>
        </p:nvSpPr>
        <p:spPr>
          <a:xfrm>
            <a:off x="7863840" y="333756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33756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It</a:t>
            </a:r>
            <a:r>
              <a:rPr lang="en-US" sz="1700" dirty="0" b="1">
                <a:solidFill>
                  <a:srgbClr val="1B2236"/>
                </a:solidFill>
                <a:latin typeface="Lexend Deca" pitchFamily="34" charset="0"/>
                <a:ea typeface="Lexend Deca" pitchFamily="34" charset="-122"/>
                <a:cs typeface="Lexend Deca" pitchFamily="34" charset="-120"/>
              </a:rPr>
              <a:t>'s hurt</a:t>
            </a:r>
            <a:r>
              <a:rPr lang="en-US" sz="1700" dirty="0" b="1">
                <a:solidFill>
                  <a:srgbClr val="1B2236"/>
                </a:solidFill>
                <a:latin typeface="Lexend Deca" pitchFamily="34" charset="0"/>
                <a:ea typeface="Lexend Deca" pitchFamily="34" charset="-122"/>
                <a:cs typeface="Lexend Deca" pitchFamily="34" charset="-120"/>
              </a:rPr>
              <a:t> </a:t>
            </a:r>
            <a:r>
              <a:rPr lang="en-US" sz="1700" dirty="0" b="1">
                <a:solidFill>
                  <a:srgbClr val="1B2236"/>
                </a:solidFill>
                <a:latin typeface="Lexend Deca" pitchFamily="34" charset="0"/>
                <a:ea typeface="Lexend Deca" pitchFamily="34" charset="-122"/>
                <a:cs typeface="Lexend Deca" pitchFamily="34" charset="-120"/>
              </a:rPr>
              <a:t>for</a:t>
            </a:r>
            <a:r>
              <a:rPr lang="en-US" sz="1700" dirty="0" b="1">
                <a:solidFill>
                  <a:srgbClr val="1B2236"/>
                </a:solidFill>
                <a:latin typeface="Lexend Deca" pitchFamily="34" charset="0"/>
                <a:ea typeface="Lexend Deca" pitchFamily="34" charset="-122"/>
                <a:cs typeface="Lexend Deca" pitchFamily="34" charset="-120"/>
              </a:rPr>
              <a:t> about two weeks.</a:t>
            </a:r>
            <a:endParaRPr lang="en-US" sz="1700" dirty="0" b="1"/>
          </a:p>
        </p:txBody>
      </p:sp>
      <p:sp>
        <p:nvSpPr>
          <p:cNvPr id="24" name="Question 3"/>
          <p:cNvSpPr/>
          <p:nvPr/>
        </p:nvSpPr>
        <p:spPr>
          <a:xfrm>
            <a:off x="5138928" y="438912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Have</a:t>
            </a:r>
            <a:r>
              <a:rPr lang="en-US" sz="1700" dirty="0" b="1">
                <a:solidFill>
                  <a:srgbClr val="1B2236"/>
                </a:solidFill>
                <a:latin typeface="Lexend Deca" pitchFamily="34" charset="0"/>
                <a:ea typeface="Lexend Deca" pitchFamily="34" charset="-122"/>
                <a:cs typeface="Lexend Deca" pitchFamily="34" charset="-120"/>
              </a:rPr>
              <a:t> you </a:t>
            </a:r>
            <a:r>
              <a:rPr lang="en-US" sz="1700" dirty="0" b="1">
                <a:solidFill>
                  <a:srgbClr val="1B2236"/>
                </a:solidFill>
                <a:latin typeface="Lexend Deca" pitchFamily="34" charset="0"/>
                <a:ea typeface="Lexend Deca" pitchFamily="34" charset="-122"/>
                <a:cs typeface="Lexend Deca" pitchFamily="34" charset="-120"/>
              </a:rPr>
              <a:t>ever</a:t>
            </a:r>
            <a:r>
              <a:rPr lang="en-US" sz="1700" dirty="0" b="1">
                <a:solidFill>
                  <a:srgbClr val="1B2236"/>
                </a:solidFill>
                <a:latin typeface="Lexend Deca" pitchFamily="34" charset="0"/>
                <a:ea typeface="Lexend Deca" pitchFamily="34" charset="-122"/>
                <a:cs typeface="Lexend Deca" pitchFamily="34" charset="-120"/>
              </a:rPr>
              <a:t> </a:t>
            </a:r>
            <a:r>
              <a:rPr lang="en-US" sz="1700" dirty="0" b="1">
                <a:solidFill>
                  <a:srgbClr val="1B2236"/>
                </a:solidFill>
                <a:latin typeface="Lexend Deca" pitchFamily="34" charset="0"/>
                <a:ea typeface="Lexend Deca" pitchFamily="34" charset="-122"/>
                <a:cs typeface="Lexend Deca" pitchFamily="34" charset="-120"/>
              </a:rPr>
              <a:t>had</a:t>
            </a:r>
            <a:r>
              <a:rPr lang="en-US" sz="1700" dirty="0" b="1">
                <a:solidFill>
                  <a:srgbClr val="1B2236"/>
                </a:solidFill>
                <a:latin typeface="Lexend Deca" pitchFamily="34" charset="0"/>
                <a:ea typeface="Lexend Deca" pitchFamily="34" charset="-122"/>
                <a:cs typeface="Lexend Deca" pitchFamily="34" charset="-120"/>
              </a:rPr>
              <a:t> surgery?</a:t>
            </a:r>
            <a:endParaRPr lang="en-US" sz="1700" dirty="0" b="1"/>
          </a:p>
        </p:txBody>
      </p:sp>
      <p:sp>
        <p:nvSpPr>
          <p:cNvPr id="25" name="Answer bg 3"/>
          <p:cNvSpPr/>
          <p:nvPr/>
        </p:nvSpPr>
        <p:spPr>
          <a:xfrm>
            <a:off x="7863840" y="438912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438912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No, </a:t>
            </a:r>
            <a:r>
              <a:rPr lang="en-US" sz="1700" dirty="0" b="1">
                <a:solidFill>
                  <a:srgbClr val="1B2236"/>
                </a:solidFill>
                <a:latin typeface="Lexend Deca" pitchFamily="34" charset="0"/>
                <a:ea typeface="Lexend Deca" pitchFamily="34" charset="-122"/>
                <a:cs typeface="Lexend Deca" pitchFamily="34" charset="-120"/>
              </a:rPr>
              <a:t>never</a:t>
            </a:r>
            <a:r>
              <a:rPr lang="en-US" sz="1700" dirty="0" b="1">
                <a:solidFill>
                  <a:srgbClr val="1B2236"/>
                </a:solidFill>
                <a:latin typeface="Lexend Deca" pitchFamily="34" charset="0"/>
                <a:ea typeface="Lexend Deca" pitchFamily="34" charset="-122"/>
                <a:cs typeface="Lexend Deca" pitchFamily="34" charset="-120"/>
              </a:rPr>
              <a:t>. / Yes, I </a:t>
            </a:r>
            <a:r>
              <a:rPr lang="en-US" sz="1700" dirty="0" b="1">
                <a:solidFill>
                  <a:srgbClr val="1B2236"/>
                </a:solidFill>
                <a:latin typeface="Lexend Deca" pitchFamily="34" charset="0"/>
                <a:ea typeface="Lexend Deca" pitchFamily="34" charset="-122"/>
                <a:cs typeface="Lexend Deca" pitchFamily="34" charset="-120"/>
              </a:rPr>
              <a:t>have</a:t>
            </a:r>
            <a:r>
              <a:rPr lang="en-US" sz="1700" dirty="0" b="1">
                <a:solidFill>
                  <a:srgbClr val="1B2236"/>
                </a:solidFill>
                <a:latin typeface="Lexend Deca" pitchFamily="34" charset="0"/>
                <a:ea typeface="Lexend Deca" pitchFamily="34" charset="-122"/>
                <a:cs typeface="Lexend Deca" pitchFamily="34" charset="-120"/>
              </a:rPr>
              <a:t>. I </a:t>
            </a:r>
            <a:r>
              <a:rPr lang="en-US" sz="1700" dirty="0" b="1">
                <a:solidFill>
                  <a:srgbClr val="1B2236"/>
                </a:solidFill>
                <a:latin typeface="Lexend Deca" pitchFamily="34" charset="0"/>
                <a:ea typeface="Lexend Deca" pitchFamily="34" charset="-122"/>
                <a:cs typeface="Lexend Deca" pitchFamily="34" charset="-120"/>
              </a:rPr>
              <a:t>had</a:t>
            </a:r>
            <a:r>
              <a:rPr lang="en-US" sz="1700" dirty="0" b="1">
                <a:solidFill>
                  <a:srgbClr val="1B2236"/>
                </a:solidFill>
                <a:latin typeface="Lexend Deca" pitchFamily="34" charset="0"/>
                <a:ea typeface="Lexend Deca" pitchFamily="34" charset="-122"/>
                <a:cs typeface="Lexend Deca" pitchFamily="34" charset="-120"/>
              </a:rPr>
              <a:t> knee surgery in 2018.</a:t>
            </a:r>
            <a:endParaRPr lang="en-US" sz="1700" dirty="0" b="1"/>
          </a:p>
        </p:txBody>
      </p:sp>
      <p:sp>
        <p:nvSpPr>
          <p:cNvPr id="27" name="Question 4"/>
          <p:cNvSpPr/>
          <p:nvPr/>
        </p:nvSpPr>
        <p:spPr>
          <a:xfrm>
            <a:off x="5138928" y="544068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Have</a:t>
            </a:r>
            <a:r>
              <a:rPr lang="en-US" sz="1700" dirty="0" b="1">
                <a:solidFill>
                  <a:srgbClr val="1B2236"/>
                </a:solidFill>
                <a:latin typeface="Lexend Deca" pitchFamily="34" charset="0"/>
                <a:ea typeface="Lexend Deca" pitchFamily="34" charset="-122"/>
                <a:cs typeface="Lexend Deca" pitchFamily="34" charset="-120"/>
              </a:rPr>
              <a:t> you </a:t>
            </a:r>
            <a:r>
              <a:rPr lang="en-US" sz="1700" dirty="0" b="1">
                <a:solidFill>
                  <a:srgbClr val="1B2236"/>
                </a:solidFill>
                <a:latin typeface="Lexend Deca" pitchFamily="34" charset="0"/>
                <a:ea typeface="Lexend Deca" pitchFamily="34" charset="-122"/>
                <a:cs typeface="Lexend Deca" pitchFamily="34" charset="-120"/>
              </a:rPr>
              <a:t>tried</a:t>
            </a:r>
            <a:r>
              <a:rPr lang="en-US" sz="1700" dirty="0" b="1">
                <a:solidFill>
                  <a:srgbClr val="1B2236"/>
                </a:solidFill>
                <a:latin typeface="Lexend Deca" pitchFamily="34" charset="0"/>
                <a:ea typeface="Lexend Deca" pitchFamily="34" charset="-122"/>
                <a:cs typeface="Lexend Deca" pitchFamily="34" charset="-120"/>
              </a:rPr>
              <a:t> anything for it?</a:t>
            </a:r>
            <a:endParaRPr lang="en-US" sz="1700" dirty="0" b="1"/>
          </a:p>
        </p:txBody>
      </p:sp>
      <p:sp>
        <p:nvSpPr>
          <p:cNvPr id="28" name="Answer bg 4"/>
          <p:cNvSpPr/>
          <p:nvPr/>
        </p:nvSpPr>
        <p:spPr>
          <a:xfrm>
            <a:off x="7863840" y="544068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7863840" y="544068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Yes, I </a:t>
            </a:r>
            <a:r>
              <a:rPr lang="en-US" sz="1700" dirty="0" b="1">
                <a:solidFill>
                  <a:srgbClr val="1B2236"/>
                </a:solidFill>
                <a:latin typeface="Lexend Deca" pitchFamily="34" charset="0"/>
                <a:ea typeface="Lexend Deca" pitchFamily="34" charset="-122"/>
                <a:cs typeface="Lexend Deca" pitchFamily="34" charset="-120"/>
              </a:rPr>
              <a:t>have</a:t>
            </a:r>
            <a:r>
              <a:rPr lang="en-US" sz="1700" dirty="0" b="1">
                <a:solidFill>
                  <a:srgbClr val="1B2236"/>
                </a:solidFill>
                <a:latin typeface="Lexend Deca" pitchFamily="34" charset="0"/>
                <a:ea typeface="Lexend Deca" pitchFamily="34" charset="-122"/>
                <a:cs typeface="Lexend Deca" pitchFamily="34" charset="-120"/>
              </a:rPr>
              <a:t>. I</a:t>
            </a:r>
            <a:r>
              <a:rPr lang="en-US" sz="1700" dirty="0" b="1">
                <a:solidFill>
                  <a:srgbClr val="1B2236"/>
                </a:solidFill>
                <a:latin typeface="Lexend Deca" pitchFamily="34" charset="0"/>
                <a:ea typeface="Lexend Deca" pitchFamily="34" charset="-122"/>
                <a:cs typeface="Lexend Deca" pitchFamily="34" charset="-120"/>
              </a:rPr>
              <a:t>'ve used</a:t>
            </a:r>
            <a:r>
              <a:rPr lang="en-US" sz="1700" dirty="0" b="1">
                <a:solidFill>
                  <a:srgbClr val="1B2236"/>
                </a:solidFill>
                <a:latin typeface="Lexend Deca" pitchFamily="34" charset="0"/>
                <a:ea typeface="Lexend Deca" pitchFamily="34" charset="-122"/>
                <a:cs typeface="Lexend Deca" pitchFamily="34" charset="-120"/>
              </a:rPr>
              <a:t> a heating pad.</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Prescription: pills and a paper [sign: Rx]"/>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2</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a problem → a suggestion</a:t>
            </a:r>
            <a:endParaRPr lang="en-US" sz="24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PROBLEM</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SUGGESTION</a:t>
            </a:r>
            <a:endParaRPr lang="en-US" sz="2000" dirty="0" b="1"/>
          </a:p>
        </p:txBody>
      </p:sp>
      <p:sp>
        <p:nvSpPr>
          <p:cNvPr id="18" name="Question 1"/>
          <p:cNvSpPr/>
          <p:nvPr/>
        </p:nvSpPr>
        <p:spPr>
          <a:xfrm>
            <a:off x="5138928" y="2286000"/>
            <a:ext cx="265176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My back hurts. What can I do?</a:t>
            </a:r>
            <a:endParaRPr lang="en-US" sz="1700" dirty="0" b="1"/>
          </a:p>
        </p:txBody>
      </p:sp>
      <p:sp>
        <p:nvSpPr>
          <p:cNvPr id="19" name="Answer bg 1"/>
          <p:cNvSpPr/>
          <p:nvPr/>
        </p:nvSpPr>
        <p:spPr>
          <a:xfrm>
            <a:off x="7863840" y="2286000"/>
            <a:ext cx="4069080" cy="8869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Why don't you</a:t>
            </a:r>
            <a:r>
              <a:rPr lang="en-US" sz="1700" dirty="0" b="1">
                <a:solidFill>
                  <a:srgbClr val="1B2236"/>
                </a:solidFill>
                <a:latin typeface="Lexend Deca" pitchFamily="34" charset="0"/>
                <a:ea typeface="Lexend Deca" pitchFamily="34" charset="-122"/>
                <a:cs typeface="Lexend Deca" pitchFamily="34" charset="-120"/>
              </a:rPr>
              <a:t> </a:t>
            </a:r>
            <a:r>
              <a:rPr lang="en-US" sz="1700" dirty="0" b="1">
                <a:solidFill>
                  <a:srgbClr val="1B2236"/>
                </a:solidFill>
                <a:latin typeface="Lexend Deca" pitchFamily="34" charset="0"/>
                <a:ea typeface="Lexend Deca" pitchFamily="34" charset="-122"/>
                <a:cs typeface="Lexend Deca" pitchFamily="34" charset="-120"/>
              </a:rPr>
              <a:t>call</a:t>
            </a:r>
            <a:r>
              <a:rPr lang="en-US" sz="1700" dirty="0" b="1">
                <a:solidFill>
                  <a:srgbClr val="1B2236"/>
                </a:solidFill>
                <a:latin typeface="Lexend Deca" pitchFamily="34" charset="0"/>
                <a:ea typeface="Lexend Deca" pitchFamily="34" charset="-122"/>
                <a:cs typeface="Lexend Deca" pitchFamily="34" charset="-120"/>
              </a:rPr>
              <a:t> the clinic?</a:t>
            </a:r>
            <a:endParaRPr lang="en-US" sz="1700" dirty="0" b="1"/>
          </a:p>
        </p:txBody>
      </p:sp>
      <p:sp>
        <p:nvSpPr>
          <p:cNvPr id="21" name="Question 2"/>
          <p:cNvSpPr/>
          <p:nvPr/>
        </p:nvSpPr>
        <p:spPr>
          <a:xfrm>
            <a:off x="5138928" y="3246120"/>
            <a:ext cx="265176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sit all day at work. Any ideas?</a:t>
            </a:r>
            <a:endParaRPr lang="en-US" sz="1700" dirty="0" b="1"/>
          </a:p>
        </p:txBody>
      </p:sp>
      <p:sp>
        <p:nvSpPr>
          <p:cNvPr id="22" name="Answer bg 2"/>
          <p:cNvSpPr/>
          <p:nvPr/>
        </p:nvSpPr>
        <p:spPr>
          <a:xfrm>
            <a:off x="7863840" y="3246120"/>
            <a:ext cx="4069080" cy="8869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246120"/>
            <a:ext cx="406908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You </a:t>
            </a:r>
            <a:r>
              <a:rPr lang="en-US" sz="1700" dirty="0" b="1">
                <a:solidFill>
                  <a:srgbClr val="1B2236"/>
                </a:solidFill>
                <a:latin typeface="Lexend Deca" pitchFamily="34" charset="0"/>
                <a:ea typeface="Lexend Deca" pitchFamily="34" charset="-122"/>
                <a:cs typeface="Lexend Deca" pitchFamily="34" charset="-120"/>
              </a:rPr>
              <a:t>could</a:t>
            </a:r>
            <a:r>
              <a:rPr lang="en-US" sz="1700" dirty="0" b="1">
                <a:solidFill>
                  <a:srgbClr val="1B2236"/>
                </a:solidFill>
                <a:latin typeface="Lexend Deca" pitchFamily="34" charset="0"/>
                <a:ea typeface="Lexend Deca" pitchFamily="34" charset="-122"/>
                <a:cs typeface="Lexend Deca" pitchFamily="34" charset="-120"/>
              </a:rPr>
              <a:t> </a:t>
            </a:r>
            <a:r>
              <a:rPr lang="en-US" sz="1700" dirty="0" b="1">
                <a:solidFill>
                  <a:srgbClr val="1B2236"/>
                </a:solidFill>
                <a:latin typeface="Lexend Deca" pitchFamily="34" charset="0"/>
                <a:ea typeface="Lexend Deca" pitchFamily="34" charset="-122"/>
                <a:cs typeface="Lexend Deca" pitchFamily="34" charset="-120"/>
              </a:rPr>
              <a:t>take</a:t>
            </a:r>
            <a:r>
              <a:rPr lang="en-US" sz="1700" dirty="0" b="1">
                <a:solidFill>
                  <a:srgbClr val="1B2236"/>
                </a:solidFill>
                <a:latin typeface="Lexend Deca" pitchFamily="34" charset="0"/>
                <a:ea typeface="Lexend Deca" pitchFamily="34" charset="-122"/>
                <a:cs typeface="Lexend Deca" pitchFamily="34" charset="-120"/>
              </a:rPr>
              <a:t> a short walk at lunch.</a:t>
            </a:r>
            <a:endParaRPr lang="en-US" sz="1700" dirty="0" b="1"/>
          </a:p>
        </p:txBody>
      </p:sp>
      <p:sp>
        <p:nvSpPr>
          <p:cNvPr id="24" name="Question 3"/>
          <p:cNvSpPr/>
          <p:nvPr/>
        </p:nvSpPr>
        <p:spPr>
          <a:xfrm>
            <a:off x="5138928" y="4206240"/>
            <a:ext cx="265176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haven't had a checkup for two years.</a:t>
            </a:r>
            <a:endParaRPr lang="en-US" sz="1700" dirty="0" b="1"/>
          </a:p>
        </p:txBody>
      </p:sp>
      <p:sp>
        <p:nvSpPr>
          <p:cNvPr id="25" name="Answer bg 3"/>
          <p:cNvSpPr/>
          <p:nvPr/>
        </p:nvSpPr>
        <p:spPr>
          <a:xfrm>
            <a:off x="7863840" y="4206240"/>
            <a:ext cx="4069080" cy="8869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4206240"/>
            <a:ext cx="406908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It's a good idea to</a:t>
            </a:r>
            <a:r>
              <a:rPr lang="en-US" sz="1700" dirty="0" b="1">
                <a:solidFill>
                  <a:srgbClr val="1B2236"/>
                </a:solidFill>
                <a:latin typeface="Lexend Deca" pitchFamily="34" charset="0"/>
                <a:ea typeface="Lexend Deca" pitchFamily="34" charset="-122"/>
                <a:cs typeface="Lexend Deca" pitchFamily="34" charset="-120"/>
              </a:rPr>
              <a:t> </a:t>
            </a:r>
            <a:r>
              <a:rPr lang="en-US" sz="1700" dirty="0" b="1">
                <a:solidFill>
                  <a:srgbClr val="1B2236"/>
                </a:solidFill>
                <a:latin typeface="Lexend Deca" pitchFamily="34" charset="0"/>
                <a:ea typeface="Lexend Deca" pitchFamily="34" charset="-122"/>
                <a:cs typeface="Lexend Deca" pitchFamily="34" charset="-120"/>
              </a:rPr>
              <a:t>get</a:t>
            </a:r>
            <a:r>
              <a:rPr lang="en-US" sz="1700" dirty="0" b="1">
                <a:solidFill>
                  <a:srgbClr val="1B2236"/>
                </a:solidFill>
                <a:latin typeface="Lexend Deca" pitchFamily="34" charset="0"/>
                <a:ea typeface="Lexend Deca" pitchFamily="34" charset="-122"/>
                <a:cs typeface="Lexend Deca" pitchFamily="34" charset="-120"/>
              </a:rPr>
              <a:t> one every year.</a:t>
            </a:r>
            <a:endParaRPr lang="en-US" sz="1700" dirty="0" b="1"/>
          </a:p>
        </p:txBody>
      </p:sp>
      <p:sp>
        <p:nvSpPr>
          <p:cNvPr id="27" name="Question 4"/>
          <p:cNvSpPr/>
          <p:nvPr/>
        </p:nvSpPr>
        <p:spPr>
          <a:xfrm>
            <a:off x="5138928" y="5166360"/>
            <a:ext cx="265176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My tooth has hurt since Friday.</a:t>
            </a:r>
            <a:endParaRPr lang="en-US" sz="1700" dirty="0" b="1"/>
          </a:p>
        </p:txBody>
      </p:sp>
      <p:sp>
        <p:nvSpPr>
          <p:cNvPr id="28" name="Answer bg 4"/>
          <p:cNvSpPr/>
          <p:nvPr/>
        </p:nvSpPr>
        <p:spPr>
          <a:xfrm>
            <a:off x="7863840" y="5166360"/>
            <a:ext cx="4069080" cy="8869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7863840" y="5166360"/>
            <a:ext cx="406908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You </a:t>
            </a:r>
            <a:r>
              <a:rPr lang="en-US" sz="1700" dirty="0" b="1">
                <a:solidFill>
                  <a:srgbClr val="1B2236"/>
                </a:solidFill>
                <a:latin typeface="Lexend Deca" pitchFamily="34" charset="0"/>
                <a:ea typeface="Lexend Deca" pitchFamily="34" charset="-122"/>
                <a:cs typeface="Lexend Deca" pitchFamily="34" charset="-120"/>
              </a:rPr>
              <a:t>should</a:t>
            </a:r>
            <a:r>
              <a:rPr lang="en-US" sz="1700" dirty="0" b="1">
                <a:solidFill>
                  <a:srgbClr val="1B2236"/>
                </a:solidFill>
                <a:latin typeface="Lexend Deca" pitchFamily="34" charset="0"/>
                <a:ea typeface="Lexend Deca" pitchFamily="34" charset="-122"/>
                <a:cs typeface="Lexend Deca" pitchFamily="34" charset="-120"/>
              </a:rPr>
              <a:t> </a:t>
            </a:r>
            <a:r>
              <a:rPr lang="en-US" sz="1700" dirty="0" b="1">
                <a:solidFill>
                  <a:srgbClr val="1B2236"/>
                </a:solidFill>
                <a:latin typeface="Lexend Deca" pitchFamily="34" charset="0"/>
                <a:ea typeface="Lexend Deca" pitchFamily="34" charset="-122"/>
                <a:cs typeface="Lexend Deca" pitchFamily="34" charset="-120"/>
              </a:rPr>
              <a:t>see</a:t>
            </a:r>
            <a:r>
              <a:rPr lang="en-US" sz="1700" dirty="0" b="1">
                <a:solidFill>
                  <a:srgbClr val="1B2236"/>
                </a:solidFill>
                <a:latin typeface="Lexend Deca" pitchFamily="34" charset="0"/>
                <a:ea typeface="Lexend Deca" pitchFamily="34" charset="-122"/>
                <a:cs typeface="Lexend Deca" pitchFamily="34" charset="-120"/>
              </a:rPr>
              <a:t> a dentist soon.</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Dizzy: a dizzy face"/>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3</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how to say a symptom</a:t>
            </a:r>
            <a:endParaRPr lang="en-US" sz="2400" dirty="0" b="1"/>
          </a:p>
        </p:txBody>
      </p:sp>
      <p:sp>
        <p:nvSpPr>
          <p:cNvPr id="8" name="Q head"/>
          <p:cNvSpPr/>
          <p:nvPr/>
        </p:nvSpPr>
        <p:spPr>
          <a:xfrm>
            <a:off x="5166360" y="1828800"/>
            <a:ext cx="237744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SAY</a:t>
            </a:r>
            <a:endParaRPr lang="en-US" sz="2000" dirty="0" b="1"/>
          </a:p>
        </p:txBody>
      </p:sp>
      <p:sp>
        <p:nvSpPr>
          <p:cNvPr id="11" name="A head"/>
          <p:cNvSpPr/>
          <p:nvPr/>
        </p:nvSpPr>
        <p:spPr>
          <a:xfrm>
            <a:off x="7589520" y="1828800"/>
            <a:ext cx="43434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EXAMPLES</a:t>
            </a:r>
            <a:endParaRPr lang="en-US" sz="2000" dirty="0" b="1"/>
          </a:p>
        </p:txBody>
      </p:sp>
      <p:sp>
        <p:nvSpPr>
          <p:cNvPr id="18" name="Question 1"/>
          <p:cNvSpPr/>
          <p:nvPr/>
        </p:nvSpPr>
        <p:spPr>
          <a:xfrm>
            <a:off x="5138928" y="2286000"/>
            <a:ext cx="2377440" cy="102412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I have / I've had</a:t>
            </a:r>
            <a:r>
              <a:rPr lang="en-US" sz="1800" dirty="0" b="1">
                <a:solidFill>
                  <a:srgbClr val="1B2236"/>
                </a:solidFill>
                <a:latin typeface="Lexend Deca" pitchFamily="34" charset="0"/>
                <a:ea typeface="Lexend Deca" pitchFamily="34" charset="-122"/>
                <a:cs typeface="Lexend Deca" pitchFamily="34" charset="-120"/>
              </a:rPr>
              <a:t> + a noun</a:t>
            </a:r>
            <a:endParaRPr lang="en-US" sz="1800" dirty="0" b="1"/>
          </a:p>
        </p:txBody>
      </p:sp>
      <p:sp>
        <p:nvSpPr>
          <p:cNvPr id="19" name="Answer bg 1"/>
          <p:cNvSpPr/>
          <p:nvPr/>
        </p:nvSpPr>
        <p:spPr>
          <a:xfrm>
            <a:off x="7589520" y="2286000"/>
            <a:ext cx="4343400" cy="1024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589520" y="2286000"/>
            <a:ext cx="4343400" cy="102412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 rash, a cough, a backache, a sore throat</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 I've had a cough since Sunday.</a:t>
            </a:r>
            <a:endParaRPr lang="en-US" sz="1700" dirty="0" b="1"/>
          </a:p>
        </p:txBody>
      </p:sp>
      <p:sp>
        <p:nvSpPr>
          <p:cNvPr id="21" name="Question 2"/>
          <p:cNvSpPr/>
          <p:nvPr/>
        </p:nvSpPr>
        <p:spPr>
          <a:xfrm>
            <a:off x="5138928" y="3383280"/>
            <a:ext cx="2377440" cy="102412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My</a:t>
            </a:r>
            <a:r>
              <a:rPr lang="en-US" sz="1800" dirty="0" b="1">
                <a:solidFill>
                  <a:srgbClr val="1B2236"/>
                </a:solidFill>
                <a:latin typeface="Lexend Deca" pitchFamily="34" charset="0"/>
                <a:ea typeface="Lexend Deca" pitchFamily="34" charset="-122"/>
                <a:cs typeface="Lexend Deca" pitchFamily="34" charset="-120"/>
              </a:rPr>
              <a:t> ___ </a:t>
            </a:r>
            <a:r>
              <a:rPr lang="en-US" sz="1800" dirty="0" b="1">
                <a:solidFill>
                  <a:srgbClr val="5B3FC4"/>
                </a:solidFill>
                <a:latin typeface="Lexend Deca" pitchFamily="34" charset="0"/>
                <a:ea typeface="Lexend Deca" pitchFamily="34" charset="-122"/>
                <a:cs typeface="Lexend Deca" pitchFamily="34" charset="-120"/>
              </a:rPr>
              <a:t>hurts / has hurt</a:t>
            </a:r>
            <a:endParaRPr lang="en-US" sz="1800" dirty="0" b="1"/>
          </a:p>
        </p:txBody>
      </p:sp>
      <p:sp>
        <p:nvSpPr>
          <p:cNvPr id="22" name="Answer bg 2"/>
          <p:cNvSpPr/>
          <p:nvPr/>
        </p:nvSpPr>
        <p:spPr>
          <a:xfrm>
            <a:off x="7589520" y="3383280"/>
            <a:ext cx="4343400" cy="1024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589520" y="3383280"/>
            <a:ext cx="4343400" cy="102412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My back hurts. My tooth has hurt for a week.</a:t>
            </a:r>
            <a:endParaRPr lang="en-US" sz="1700" dirty="0" b="1"/>
          </a:p>
        </p:txBody>
      </p:sp>
      <p:sp>
        <p:nvSpPr>
          <p:cNvPr id="24" name="Question 3"/>
          <p:cNvSpPr/>
          <p:nvPr/>
        </p:nvSpPr>
        <p:spPr>
          <a:xfrm>
            <a:off x="5138928" y="4480560"/>
            <a:ext cx="2377440" cy="102412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I feel / I've felt</a:t>
            </a:r>
            <a:r>
              <a:rPr lang="en-US" sz="1800" dirty="0" b="1">
                <a:solidFill>
                  <a:srgbClr val="1B2236"/>
                </a:solidFill>
                <a:latin typeface="Lexend Deca" pitchFamily="34" charset="0"/>
                <a:ea typeface="Lexend Deca" pitchFamily="34" charset="-122"/>
                <a:cs typeface="Lexend Deca" pitchFamily="34" charset="-120"/>
              </a:rPr>
              <a:t> + a word</a:t>
            </a:r>
            <a:endParaRPr lang="en-US" sz="1800" dirty="0" b="1"/>
          </a:p>
        </p:txBody>
      </p:sp>
      <p:sp>
        <p:nvSpPr>
          <p:cNvPr id="25" name="Answer bg 3"/>
          <p:cNvSpPr/>
          <p:nvPr/>
        </p:nvSpPr>
        <p:spPr>
          <a:xfrm>
            <a:off x="7589520" y="4480560"/>
            <a:ext cx="4343400" cy="1024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589520" y="4480560"/>
            <a:ext cx="4343400" cy="102412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dizzy, tired → I've felt tired for three days.</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Flu shot: a syringe [sign: FLU SHOT]"/>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4</a:t>
            </a:r>
            <a:endParaRPr lang="en-US" sz="2000" dirty="0" b="1"/>
          </a:p>
          <a:p>
            <a:pPr algn="l" indent="0" marL="0">
              <a:spcAft>
                <a:spcPts val="400"/>
              </a:spcAft>
              <a:buNone/>
            </a:pPr>
            <a:r>
              <a:rPr lang="en-US" sz="2100" dirty="0" b="1">
                <a:solidFill>
                  <a:srgbClr val="1B2236"/>
                </a:solidFill>
                <a:latin typeface="Lexend Deca" pitchFamily="34" charset="0"/>
                <a:ea typeface="Lexend Deca" pitchFamily="34" charset="-122"/>
                <a:cs typeface="Lexend Deca" pitchFamily="34" charset="-120"/>
              </a:rPr>
              <a:t>strong or soft?</a:t>
            </a:r>
            <a:endParaRPr lang="en-US" sz="2100" dirty="0" b="1"/>
          </a:p>
        </p:txBody>
      </p:sp>
      <p:sp>
        <p:nvSpPr>
          <p:cNvPr id="8" name="Q head"/>
          <p:cNvSpPr/>
          <p:nvPr/>
        </p:nvSpPr>
        <p:spPr>
          <a:xfrm>
            <a:off x="5166360" y="1828800"/>
            <a:ext cx="24688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SAY</a:t>
            </a:r>
            <a:endParaRPr lang="en-US" sz="2000" dirty="0" b="1"/>
          </a:p>
        </p:txBody>
      </p:sp>
      <p:sp>
        <p:nvSpPr>
          <p:cNvPr id="11" name="A head"/>
          <p:cNvSpPr/>
          <p:nvPr/>
        </p:nvSpPr>
        <p:spPr>
          <a:xfrm>
            <a:off x="7680960" y="1828800"/>
            <a:ext cx="42519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HOW STRONG?  ·  EXAMPLE</a:t>
            </a:r>
            <a:endParaRPr lang="en-US" sz="2000" dirty="0" b="1"/>
          </a:p>
        </p:txBody>
      </p:sp>
      <p:sp>
        <p:nvSpPr>
          <p:cNvPr id="18" name="Question 1"/>
          <p:cNvSpPr/>
          <p:nvPr/>
        </p:nvSpPr>
        <p:spPr>
          <a:xfrm>
            <a:off x="5138928" y="2286000"/>
            <a:ext cx="2468880" cy="102412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You should…</a:t>
            </a:r>
            <a:endParaRPr lang="en-US" sz="1800" dirty="0" b="1"/>
          </a:p>
        </p:txBody>
      </p:sp>
      <p:sp>
        <p:nvSpPr>
          <p:cNvPr id="19" name="Answer bg 1"/>
          <p:cNvSpPr/>
          <p:nvPr/>
        </p:nvSpPr>
        <p:spPr>
          <a:xfrm>
            <a:off x="7680960" y="2286000"/>
            <a:ext cx="4251960" cy="1024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680960" y="2286000"/>
            <a:ext cx="4251960" cy="102412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strong</a:t>
            </a:r>
            <a:r>
              <a:rPr lang="en-US" sz="1700" dirty="0" b="1">
                <a:solidFill>
                  <a:srgbClr val="1B2236"/>
                </a:solidFill>
                <a:latin typeface="Lexend Deca" pitchFamily="34" charset="0"/>
                <a:ea typeface="Lexend Deca" pitchFamily="34" charset="-122"/>
                <a:cs typeface="Lexend Deca" pitchFamily="34" charset="-120"/>
              </a:rPr>
              <a:t> advice</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You should see a doctor.</a:t>
            </a:r>
            <a:endParaRPr lang="en-US" sz="1700" dirty="0" b="1"/>
          </a:p>
        </p:txBody>
      </p:sp>
      <p:sp>
        <p:nvSpPr>
          <p:cNvPr id="21" name="Question 2"/>
          <p:cNvSpPr/>
          <p:nvPr/>
        </p:nvSpPr>
        <p:spPr>
          <a:xfrm>
            <a:off x="5138928" y="3383280"/>
            <a:ext cx="2468880" cy="102412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It's a good idea to…</a:t>
            </a:r>
            <a:endParaRPr lang="en-US" sz="1800" dirty="0" b="1"/>
          </a:p>
        </p:txBody>
      </p:sp>
      <p:sp>
        <p:nvSpPr>
          <p:cNvPr id="22" name="Answer bg 2"/>
          <p:cNvSpPr/>
          <p:nvPr/>
        </p:nvSpPr>
        <p:spPr>
          <a:xfrm>
            <a:off x="7680960" y="3383280"/>
            <a:ext cx="4251960" cy="1024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680960" y="3383280"/>
            <a:ext cx="4251960" cy="102412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 </a:t>
            </a:r>
            <a:r>
              <a:rPr lang="en-US" sz="1700" dirty="0" b="1">
                <a:solidFill>
                  <a:srgbClr val="1B2236"/>
                </a:solidFill>
                <a:latin typeface="Lexend Deca" pitchFamily="34" charset="0"/>
                <a:ea typeface="Lexend Deca" pitchFamily="34" charset="-122"/>
                <a:cs typeface="Lexend Deca" pitchFamily="34" charset="-120"/>
              </a:rPr>
              <a:t>general</a:t>
            </a:r>
            <a:r>
              <a:rPr lang="en-US" sz="1700" dirty="0" b="1">
                <a:solidFill>
                  <a:srgbClr val="1B2236"/>
                </a:solidFill>
                <a:latin typeface="Lexend Deca" pitchFamily="34" charset="0"/>
                <a:ea typeface="Lexend Deca" pitchFamily="34" charset="-122"/>
                <a:cs typeface="Lexend Deca" pitchFamily="34" charset="-120"/>
              </a:rPr>
              <a:t> idea (good for everyone)</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It's a good idea to get a flu shot every year.</a:t>
            </a:r>
            <a:endParaRPr lang="en-US" sz="1700" dirty="0" b="1"/>
          </a:p>
        </p:txBody>
      </p:sp>
      <p:sp>
        <p:nvSpPr>
          <p:cNvPr id="24" name="Question 3"/>
          <p:cNvSpPr/>
          <p:nvPr/>
        </p:nvSpPr>
        <p:spPr>
          <a:xfrm>
            <a:off x="5138928" y="4480560"/>
            <a:ext cx="2468880" cy="102412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Why don't you…? / You could…</a:t>
            </a:r>
            <a:endParaRPr lang="en-US" sz="1800" dirty="0" b="1"/>
          </a:p>
        </p:txBody>
      </p:sp>
      <p:sp>
        <p:nvSpPr>
          <p:cNvPr id="25" name="Answer bg 3"/>
          <p:cNvSpPr/>
          <p:nvPr/>
        </p:nvSpPr>
        <p:spPr>
          <a:xfrm>
            <a:off x="7680960" y="4480560"/>
            <a:ext cx="4251960" cy="1024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680960" y="4480560"/>
            <a:ext cx="4251960" cy="102412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 </a:t>
            </a:r>
            <a:r>
              <a:rPr lang="en-US" sz="1700" dirty="0" b="1">
                <a:solidFill>
                  <a:srgbClr val="1B2236"/>
                </a:solidFill>
                <a:latin typeface="Lexend Deca" pitchFamily="34" charset="0"/>
                <a:ea typeface="Lexend Deca" pitchFamily="34" charset="-122"/>
                <a:cs typeface="Lexend Deca" pitchFamily="34" charset="-120"/>
              </a:rPr>
              <a:t>soft</a:t>
            </a:r>
            <a:r>
              <a:rPr lang="en-US" sz="1700" dirty="0" b="1">
                <a:solidFill>
                  <a:srgbClr val="1B2236"/>
                </a:solidFill>
                <a:latin typeface="Lexend Deca" pitchFamily="34" charset="0"/>
                <a:ea typeface="Lexend Deca" pitchFamily="34" charset="-122"/>
                <a:cs typeface="Lexend Deca" pitchFamily="34" charset="-120"/>
              </a:rPr>
              <a:t> idea; the person chooses</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Why don't you try a heating pad? You could stretch.</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Practice A</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the correct form of the verb.</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Practice A</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Write the correct form of the verb.</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check your answers.</a:t>
            </a:r>
            <a:endParaRPr lang="en-US" sz="2000" dirty="0" b="1"/>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4988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How long have you ____ the cough? (have)</a:t>
            </a:r>
            <a:endParaRPr lang="en-US" sz="1600" dirty="0"/>
          </a:p>
        </p:txBody>
      </p:sp>
      <p:sp>
        <p:nvSpPr>
          <p:cNvPr id="35" name="R1 ans"/>
          <p:cNvSpPr/>
          <p:nvPr/>
        </p:nvSpPr>
        <p:spPr>
          <a:xfrm>
            <a:off x="6382512" y="2222144"/>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had</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851404"/>
            <a:ext cx="44988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Why don't you ____ the clinic? (call)</a:t>
            </a:r>
            <a:endParaRPr lang="en-US" sz="1600" dirty="0"/>
          </a:p>
        </p:txBody>
      </p:sp>
      <p:sp>
        <p:nvSpPr>
          <p:cNvPr id="40" name="R2 ans"/>
          <p:cNvSpPr/>
          <p:nvPr/>
        </p:nvSpPr>
        <p:spPr>
          <a:xfrm>
            <a:off x="6382512" y="2950312"/>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call</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579571"/>
            <a:ext cx="44988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I've ____ dizzy since this morning. (feel)</a:t>
            </a:r>
            <a:endParaRPr lang="en-US" sz="1600" dirty="0"/>
          </a:p>
        </p:txBody>
      </p:sp>
      <p:sp>
        <p:nvSpPr>
          <p:cNvPr id="45" name="R3 ans"/>
          <p:cNvSpPr/>
          <p:nvPr/>
        </p:nvSpPr>
        <p:spPr>
          <a:xfrm>
            <a:off x="6382512" y="3678479"/>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felt</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307738"/>
            <a:ext cx="44988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You could ____ some easy stretches. (try)</a:t>
            </a:r>
            <a:endParaRPr lang="en-US" sz="1600" dirty="0"/>
          </a:p>
        </p:txBody>
      </p:sp>
      <p:sp>
        <p:nvSpPr>
          <p:cNvPr id="50" name="R4 ans"/>
          <p:cNvSpPr/>
          <p:nvPr/>
        </p:nvSpPr>
        <p:spPr>
          <a:xfrm>
            <a:off x="6382512" y="4406646"/>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try</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035906"/>
            <a:ext cx="44988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It's a good idea to ____ a flu shot every year. (get)</a:t>
            </a:r>
            <a:endParaRPr lang="en-US" sz="1600" dirty="0"/>
          </a:p>
        </p:txBody>
      </p:sp>
      <p:sp>
        <p:nvSpPr>
          <p:cNvPr id="55" name="R5 ans"/>
          <p:cNvSpPr/>
          <p:nvPr/>
        </p:nvSpPr>
        <p:spPr>
          <a:xfrm>
            <a:off x="6382512" y="5134813"/>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get</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764073"/>
            <a:ext cx="44988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Have you ever ____ surgery? (have)</a:t>
            </a:r>
            <a:endParaRPr lang="en-US" sz="1600" dirty="0"/>
          </a:p>
        </p:txBody>
      </p:sp>
      <p:sp>
        <p:nvSpPr>
          <p:cNvPr id="60" name="R6 ans"/>
          <p:cNvSpPr/>
          <p:nvPr/>
        </p:nvSpPr>
        <p:spPr>
          <a:xfrm>
            <a:off x="6382512" y="5862980"/>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had</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Practice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the correct words.</a:t>
            </a:r>
            <a:endParaRPr lang="en-US" sz="2000" dirty="0"/>
          </a:p>
        </p:txBody>
      </p:sp>
      <p:sp>
        <p:nvSpPr>
          <p:cNvPr id="8" name="R1 stmt"/>
          <p:cNvSpPr/>
          <p:nvPr/>
        </p:nvSpPr>
        <p:spPr>
          <a:xfrm>
            <a:off x="502920" y="310896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1. I ____ a rash since Saturday.</a:t>
            </a:r>
            <a:endParaRPr lang="en-US" sz="1800" dirty="0"/>
          </a:p>
        </p:txBody>
      </p:sp>
      <p:sp>
        <p:nvSpPr>
          <p:cNvPr id="9" name="R1 opt1"/>
          <p:cNvSpPr/>
          <p:nvPr/>
        </p:nvSpPr>
        <p:spPr>
          <a:xfrm>
            <a:off x="6766560" y="310896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've had</a:t>
            </a:r>
            <a:endParaRPr lang="en-US" sz="1600" dirty="0" b="1"/>
          </a:p>
        </p:txBody>
      </p:sp>
      <p:sp>
        <p:nvSpPr>
          <p:cNvPr id="10" name="R1 opt2"/>
          <p:cNvSpPr/>
          <p:nvPr/>
        </p:nvSpPr>
        <p:spPr>
          <a:xfrm>
            <a:off x="8961120" y="310896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have</a:t>
            </a:r>
            <a:endParaRPr lang="en-US" sz="1600" dirty="0" b="1"/>
          </a:p>
        </p:txBody>
      </p:sp>
      <p:sp>
        <p:nvSpPr>
          <p:cNvPr id="11" name="R1 circle"/>
          <p:cNvSpPr/>
          <p:nvPr/>
        </p:nvSpPr>
        <p:spPr>
          <a:xfrm>
            <a:off x="6638544" y="305409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65760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2. You could ____ a heating pad.</a:t>
            </a:r>
            <a:endParaRPr lang="en-US" sz="1800" dirty="0"/>
          </a:p>
        </p:txBody>
      </p:sp>
      <p:sp>
        <p:nvSpPr>
          <p:cNvPr id="13" name="R2 opt1"/>
          <p:cNvSpPr/>
          <p:nvPr/>
        </p:nvSpPr>
        <p:spPr>
          <a:xfrm>
            <a:off x="6766560" y="365760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try</a:t>
            </a:r>
            <a:endParaRPr lang="en-US" sz="1600" dirty="0" b="1"/>
          </a:p>
        </p:txBody>
      </p:sp>
      <p:sp>
        <p:nvSpPr>
          <p:cNvPr id="14" name="R2 opt2"/>
          <p:cNvSpPr/>
          <p:nvPr/>
        </p:nvSpPr>
        <p:spPr>
          <a:xfrm>
            <a:off x="8961120" y="365760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to try</a:t>
            </a:r>
            <a:endParaRPr lang="en-US" sz="1600" dirty="0" b="1"/>
          </a:p>
        </p:txBody>
      </p:sp>
      <p:sp>
        <p:nvSpPr>
          <p:cNvPr id="15" name="R2 circle"/>
          <p:cNvSpPr/>
          <p:nvPr/>
        </p:nvSpPr>
        <p:spPr>
          <a:xfrm>
            <a:off x="6638544" y="360273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6" name="R3 stmt"/>
          <p:cNvSpPr/>
          <p:nvPr/>
        </p:nvSpPr>
        <p:spPr>
          <a:xfrm>
            <a:off x="502920" y="420624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3. ____ call the dentist?</a:t>
            </a:r>
            <a:endParaRPr lang="en-US" sz="1800" dirty="0"/>
          </a:p>
        </p:txBody>
      </p:sp>
      <p:sp>
        <p:nvSpPr>
          <p:cNvPr id="17" name="R3 opt1"/>
          <p:cNvSpPr/>
          <p:nvPr/>
        </p:nvSpPr>
        <p:spPr>
          <a:xfrm>
            <a:off x="6766560" y="420624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Why don't you</a:t>
            </a:r>
            <a:endParaRPr lang="en-US" sz="1600" dirty="0" b="1"/>
          </a:p>
        </p:txBody>
      </p:sp>
      <p:sp>
        <p:nvSpPr>
          <p:cNvPr id="18" name="R3 opt2"/>
          <p:cNvSpPr/>
          <p:nvPr/>
        </p:nvSpPr>
        <p:spPr>
          <a:xfrm>
            <a:off x="8961120" y="420624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Why you don't</a:t>
            </a:r>
            <a:endParaRPr lang="en-US" sz="1600" dirty="0" b="1"/>
          </a:p>
        </p:txBody>
      </p:sp>
      <p:sp>
        <p:nvSpPr>
          <p:cNvPr id="19" name="R3 circle"/>
          <p:cNvSpPr/>
          <p:nvPr/>
        </p:nvSpPr>
        <p:spPr>
          <a:xfrm>
            <a:off x="6638544" y="415137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R4 stmt"/>
          <p:cNvSpPr/>
          <p:nvPr/>
        </p:nvSpPr>
        <p:spPr>
          <a:xfrm>
            <a:off x="502920" y="475488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4. My tooth has hurt ____ a week.</a:t>
            </a:r>
            <a:endParaRPr lang="en-US" sz="1800" dirty="0"/>
          </a:p>
        </p:txBody>
      </p:sp>
      <p:sp>
        <p:nvSpPr>
          <p:cNvPr id="21" name="R4 opt1"/>
          <p:cNvSpPr/>
          <p:nvPr/>
        </p:nvSpPr>
        <p:spPr>
          <a:xfrm>
            <a:off x="6766560" y="475488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for</a:t>
            </a:r>
            <a:endParaRPr lang="en-US" sz="1600" dirty="0" b="1"/>
          </a:p>
        </p:txBody>
      </p:sp>
      <p:sp>
        <p:nvSpPr>
          <p:cNvPr id="22" name="R4 opt2"/>
          <p:cNvSpPr/>
          <p:nvPr/>
        </p:nvSpPr>
        <p:spPr>
          <a:xfrm>
            <a:off x="8961120" y="475488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since</a:t>
            </a:r>
            <a:endParaRPr lang="en-US" sz="1600" dirty="0" b="1"/>
          </a:p>
        </p:txBody>
      </p:sp>
      <p:sp>
        <p:nvSpPr>
          <p:cNvPr id="23" name="R4 circle"/>
          <p:cNvSpPr/>
          <p:nvPr/>
        </p:nvSpPr>
        <p:spPr>
          <a:xfrm>
            <a:off x="6638544" y="470001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R5 stmt"/>
          <p:cNvSpPr/>
          <p:nvPr/>
        </p:nvSpPr>
        <p:spPr>
          <a:xfrm>
            <a:off x="502920" y="530352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5. I ____ knee surgery in 2018.</a:t>
            </a:r>
            <a:endParaRPr lang="en-US" sz="1800" dirty="0"/>
          </a:p>
        </p:txBody>
      </p:sp>
      <p:sp>
        <p:nvSpPr>
          <p:cNvPr id="25" name="R5 opt1"/>
          <p:cNvSpPr/>
          <p:nvPr/>
        </p:nvSpPr>
        <p:spPr>
          <a:xfrm>
            <a:off x="6766560" y="530352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had</a:t>
            </a:r>
            <a:endParaRPr lang="en-US" sz="1600" dirty="0" b="1"/>
          </a:p>
        </p:txBody>
      </p:sp>
      <p:sp>
        <p:nvSpPr>
          <p:cNvPr id="26" name="R5 opt2"/>
          <p:cNvSpPr/>
          <p:nvPr/>
        </p:nvSpPr>
        <p:spPr>
          <a:xfrm>
            <a:off x="8961120" y="530352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've had</a:t>
            </a:r>
            <a:endParaRPr lang="en-US" sz="1600" dirty="0" b="1"/>
          </a:p>
        </p:txBody>
      </p:sp>
      <p:sp>
        <p:nvSpPr>
          <p:cNvPr id="27" name="R5 circle"/>
          <p:cNvSpPr/>
          <p:nvPr/>
        </p:nvSpPr>
        <p:spPr>
          <a:xfrm>
            <a:off x="6638544" y="524865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8" name="R6 stmt"/>
          <p:cNvSpPr/>
          <p:nvPr/>
        </p:nvSpPr>
        <p:spPr>
          <a:xfrm>
            <a:off x="502920" y="585216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6. It's a good idea ____ a checkup.</a:t>
            </a:r>
            <a:endParaRPr lang="en-US" sz="1800" dirty="0"/>
          </a:p>
        </p:txBody>
      </p:sp>
      <p:sp>
        <p:nvSpPr>
          <p:cNvPr id="29" name="R6 opt1"/>
          <p:cNvSpPr/>
          <p:nvPr/>
        </p:nvSpPr>
        <p:spPr>
          <a:xfrm>
            <a:off x="6766560" y="585216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to get</a:t>
            </a:r>
            <a:endParaRPr lang="en-US" sz="1600" dirty="0" b="1"/>
          </a:p>
        </p:txBody>
      </p:sp>
      <p:sp>
        <p:nvSpPr>
          <p:cNvPr id="30" name="R6 opt2"/>
          <p:cNvSpPr/>
          <p:nvPr/>
        </p:nvSpPr>
        <p:spPr>
          <a:xfrm>
            <a:off x="8961120" y="585216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get</a:t>
            </a:r>
            <a:endParaRPr lang="en-US" sz="1600" dirty="0" b="1"/>
          </a:p>
        </p:txBody>
      </p:sp>
      <p:sp>
        <p:nvSpPr>
          <p:cNvPr id="31" name="R6 circle"/>
          <p:cNvSpPr/>
          <p:nvPr/>
        </p:nvSpPr>
        <p:spPr>
          <a:xfrm>
            <a:off x="6638544" y="579729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name="L4:mistake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10442448" y="1188720"/>
            <a:ext cx="1691640" cy="1371600"/>
          </a:xfrm>
          <a:prstGeom prst="rect">
            <a:avLst/>
          </a:prstGeom>
          <a:solidFill>
            <a:srgbClr val="B9D2F7"/>
          </a:solidFill>
          <a:ln/>
        </p:spPr>
        <p:txBody>
          <a:bodyPr/>
          <a:p/>
        </p:txBody>
      </p:sp>
      <p:sp>
        <p:nvSpPr>
          <p:cNvPr id="5" name="Shape 3"/>
          <p:cNvSpPr/>
          <p:nvPr/>
        </p:nvSpPr>
        <p:spPr>
          <a:xfrm flipH="1">
            <a:off x="501091" y="2020824"/>
            <a:ext cx="3543300" cy="4709160"/>
          </a:xfrm>
          <a:prstGeom prst="round1Rect">
            <a:avLst>
              <a:gd name="adj" fmla="val 23087"/>
            </a:avLst>
          </a:prstGeom>
          <a:solidFill>
            <a:srgbClr val="8FAFE3"/>
          </a:solidFill>
          <a:ln/>
        </p:spPr>
        <p:txBody>
          <a:bodyPr/>
          <a:p/>
        </p:txBody>
      </p:sp>
      <p:sp>
        <p:nvSpPr>
          <p:cNvPr id="6" name="Shape 4"/>
          <p:cNvSpPr/>
          <p:nvPr/>
        </p:nvSpPr>
        <p:spPr>
          <a:xfrm flipH="1">
            <a:off x="4388206" y="2020824"/>
            <a:ext cx="5860390" cy="4709160"/>
          </a:xfrm>
          <a:prstGeom prst="round1Rect">
            <a:avLst>
              <a:gd name="adj" fmla="val 23087"/>
            </a:avLst>
          </a:prstGeom>
          <a:solidFill>
            <a:srgbClr val="8FAFE3"/>
          </a:solidFill>
          <a:ln/>
        </p:spPr>
        <p:txBody>
          <a:bodyPr/>
          <a:p/>
        </p:txBody>
      </p:sp>
      <p:sp>
        <p:nvSpPr>
          <p:cNvPr id="7" name="Shape 5"/>
          <p:cNvSpPr/>
          <p:nvPr/>
        </p:nvSpPr>
        <p:spPr>
          <a:xfrm>
            <a:off x="479328" y="457200"/>
            <a:ext cx="7295083" cy="1143000"/>
          </a:xfrm>
          <a:prstGeom prst="roundRect">
            <a:avLst>
              <a:gd name="adj" fmla="val 16667"/>
            </a:avLst>
          </a:prstGeom>
          <a:solidFill>
            <a:srgbClr val="8FAFE3"/>
          </a:solidFill>
          <a:ln/>
        </p:spPr>
        <p:txBody>
          <a:bodyPr/>
          <a:p/>
        </p:txBody>
      </p:sp>
      <p:sp>
        <p:nvSpPr>
          <p:cNvPr id="8" name="Shape 6"/>
          <p:cNvSpPr/>
          <p:nvPr/>
        </p:nvSpPr>
        <p:spPr>
          <a:xfrm>
            <a:off x="522122" y="393192"/>
            <a:ext cx="7295083" cy="1143000"/>
          </a:xfrm>
          <a:prstGeom prst="roundRect">
            <a:avLst>
              <a:gd name="adj" fmla="val 16667"/>
            </a:avLst>
          </a:prstGeom>
          <a:solidFill>
            <a:srgbClr val="FFFFFF"/>
          </a:solidFill>
          <a:ln/>
        </p:spPr>
        <p:txBody>
          <a:bodyPr/>
          <a:p/>
        </p:txBody>
      </p:sp>
      <p:sp>
        <p:nvSpPr>
          <p:cNvPr id="9" name="Shape 7"/>
          <p:cNvSpPr/>
          <p:nvPr/>
        </p:nvSpPr>
        <p:spPr>
          <a:xfrm flipH="1">
            <a:off x="658368" y="1828800"/>
            <a:ext cx="3610966" cy="4709160"/>
          </a:xfrm>
          <a:prstGeom prst="round1Rect">
            <a:avLst>
              <a:gd name="adj" fmla="val 23087"/>
            </a:avLst>
          </a:prstGeom>
          <a:solidFill>
            <a:srgbClr val="FFFFFF"/>
          </a:solidFill>
          <a:ln/>
        </p:spPr>
        <p:txBody>
          <a:bodyPr/>
          <a:p/>
        </p:txBody>
      </p:sp>
      <p:sp>
        <p:nvSpPr>
          <p:cNvPr id="10" name="Shape 8"/>
          <p:cNvSpPr/>
          <p:nvPr/>
        </p:nvSpPr>
        <p:spPr>
          <a:xfrm flipH="1">
            <a:off x="4519879" y="1828800"/>
            <a:ext cx="5860390" cy="4709160"/>
          </a:xfrm>
          <a:prstGeom prst="round1Rect">
            <a:avLst>
              <a:gd name="adj" fmla="val 23087"/>
            </a:avLst>
          </a:prstGeom>
          <a:solidFill>
            <a:srgbClr val="FFFFFF"/>
          </a:solidFill>
          <a:ln/>
        </p:spPr>
        <p:txBody>
          <a:bodyPr/>
          <a:p/>
        </p:txBody>
      </p:sp>
      <p:sp>
        <p:nvSpPr>
          <p:cNvPr id="11" name="title"/>
          <p:cNvSpPr/>
          <p:nvPr/>
        </p:nvSpPr>
        <p:spPr>
          <a:xfrm>
            <a:off x="608076" y="45720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Common Mistakes</a:t>
            </a:r>
            <a:endParaRPr lang="en-US" sz="4300" dirty="0" b="1"/>
          </a:p>
        </p:txBody>
      </p:sp>
      <p:pic>
        <p:nvPicPr>
          <p:cNvPr id="21" name="pic" descr="Allergy: peanuts and a person sneezing [sign: ALLERGY: PEANUTS]"/>
          <p:cNvPicPr>
            <a:picLocks noChangeAspect="1"/>
          </p:cNvPicPr>
          <p:nvPr/>
        </p:nvPicPr>
        <p:blipFill>
          <a:blip r:embed="rId3"/>
          <a:stretch>
            <a:fillRect/>
          </a:stretch>
        </p:blipFill>
        <p:spPr>
          <a:xfrm>
            <a:off x="10515600" y="1325880"/>
            <a:ext cx="1554480" cy="1088136"/>
          </a:xfrm>
          <a:prstGeom prst="rect">
            <a:avLst/>
          </a:prstGeom>
        </p:spPr>
      </p:pic>
      <p:sp>
        <p:nvSpPr>
          <p:cNvPr id="22" name="Dont head"/>
          <p:cNvSpPr/>
          <p:nvPr/>
        </p:nvSpPr>
        <p:spPr>
          <a:xfrm>
            <a:off x="914400" y="1938528"/>
            <a:ext cx="31089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B42318"/>
                </a:solidFill>
                <a:latin typeface="Lexend Deca" pitchFamily="34" charset="0"/>
                <a:ea typeface="Lexend Deca" pitchFamily="34" charset="-122"/>
                <a:cs typeface="Lexend Deca" pitchFamily="34" charset="-120"/>
              </a:rPr>
              <a:t>Don't say</a:t>
            </a:r>
            <a:endParaRPr lang="en-US" sz="2200" dirty="0"/>
          </a:p>
        </p:txBody>
      </p:sp>
      <p:sp>
        <p:nvSpPr>
          <p:cNvPr id="23" name="Say head"/>
          <p:cNvSpPr/>
          <p:nvPr/>
        </p:nvSpPr>
        <p:spPr>
          <a:xfrm>
            <a:off x="4800600" y="1938528"/>
            <a:ext cx="530352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Say</a:t>
            </a:r>
            <a:endParaRPr lang="en-US" sz="2200" dirty="0"/>
          </a:p>
        </p:txBody>
      </p:sp>
      <p:sp>
        <p:nvSpPr>
          <p:cNvPr id="24" name="Bad 1"/>
          <p:cNvSpPr/>
          <p:nvPr/>
        </p:nvSpPr>
        <p:spPr>
          <a:xfrm>
            <a:off x="914400" y="2468880"/>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have a rash since Monday.</a:t>
            </a:r>
            <a:endParaRPr lang="en-US" sz="1700" dirty="0"/>
          </a:p>
        </p:txBody>
      </p:sp>
      <p:sp>
        <p:nvSpPr>
          <p:cNvPr id="25" name="Good 1"/>
          <p:cNvSpPr/>
          <p:nvPr/>
        </p:nvSpPr>
        <p:spPr>
          <a:xfrm>
            <a:off x="4800600" y="2468880"/>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a:t>
            </a:r>
            <a:r>
              <a:rPr lang="en-US" sz="1700" dirty="0" b="1">
                <a:solidFill>
                  <a:srgbClr val="1B2236"/>
                </a:solidFill>
                <a:latin typeface="Lexend Deca" pitchFamily="34" charset="0"/>
                <a:ea typeface="Lexend Deca" pitchFamily="34" charset="-122"/>
                <a:cs typeface="Lexend Deca" pitchFamily="34" charset="-120"/>
              </a:rPr>
              <a:t>'ve had</a:t>
            </a:r>
            <a:r>
              <a:rPr lang="en-US" sz="1700" dirty="0" b="1">
                <a:solidFill>
                  <a:srgbClr val="1B2236"/>
                </a:solidFill>
                <a:latin typeface="Lexend Deca" pitchFamily="34" charset="0"/>
                <a:ea typeface="Lexend Deca" pitchFamily="34" charset="-122"/>
                <a:cs typeface="Lexend Deca" pitchFamily="34" charset="-120"/>
              </a:rPr>
              <a:t> a rash since Monday.</a:t>
            </a:r>
            <a:endParaRPr lang="en-US" sz="1700" dirty="0" b="1"/>
          </a:p>
        </p:txBody>
      </p:sp>
      <p:sp>
        <p:nvSpPr>
          <p:cNvPr id="26" name="Bad 2"/>
          <p:cNvSpPr/>
          <p:nvPr/>
        </p:nvSpPr>
        <p:spPr>
          <a:xfrm>
            <a:off x="914400" y="3035808"/>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You could to call the clinic.</a:t>
            </a:r>
            <a:endParaRPr lang="en-US" sz="1700" dirty="0"/>
          </a:p>
        </p:txBody>
      </p:sp>
      <p:sp>
        <p:nvSpPr>
          <p:cNvPr id="27" name="Good 2"/>
          <p:cNvSpPr/>
          <p:nvPr/>
        </p:nvSpPr>
        <p:spPr>
          <a:xfrm>
            <a:off x="4800600" y="3035808"/>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You could </a:t>
            </a:r>
            <a:r>
              <a:rPr lang="en-US" sz="1700" dirty="0" b="1">
                <a:solidFill>
                  <a:srgbClr val="1B2236"/>
                </a:solidFill>
                <a:latin typeface="Lexend Deca" pitchFamily="34" charset="0"/>
                <a:ea typeface="Lexend Deca" pitchFamily="34" charset="-122"/>
                <a:cs typeface="Lexend Deca" pitchFamily="34" charset="-120"/>
              </a:rPr>
              <a:t>call</a:t>
            </a:r>
            <a:r>
              <a:rPr lang="en-US" sz="1700" dirty="0" b="1">
                <a:solidFill>
                  <a:srgbClr val="1B2236"/>
                </a:solidFill>
                <a:latin typeface="Lexend Deca" pitchFamily="34" charset="0"/>
                <a:ea typeface="Lexend Deca" pitchFamily="34" charset="-122"/>
                <a:cs typeface="Lexend Deca" pitchFamily="34" charset="-120"/>
              </a:rPr>
              <a:t> the clinic.</a:t>
            </a:r>
            <a:endParaRPr lang="en-US" sz="1700" dirty="0" b="1"/>
          </a:p>
        </p:txBody>
      </p:sp>
      <p:sp>
        <p:nvSpPr>
          <p:cNvPr id="28" name="Bad 3"/>
          <p:cNvSpPr/>
          <p:nvPr/>
        </p:nvSpPr>
        <p:spPr>
          <a:xfrm>
            <a:off x="914400" y="3602736"/>
            <a:ext cx="3246120" cy="7772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Why you don't try a heating pad?</a:t>
            </a:r>
            <a:endParaRPr lang="en-US" sz="1700" dirty="0"/>
          </a:p>
        </p:txBody>
      </p:sp>
      <p:sp>
        <p:nvSpPr>
          <p:cNvPr id="29" name="Good 3"/>
          <p:cNvSpPr/>
          <p:nvPr/>
        </p:nvSpPr>
        <p:spPr>
          <a:xfrm>
            <a:off x="4800600" y="3602736"/>
            <a:ext cx="5394960" cy="77724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Why don't you</a:t>
            </a:r>
            <a:r>
              <a:rPr lang="en-US" sz="1700" dirty="0" b="1">
                <a:solidFill>
                  <a:srgbClr val="1B2236"/>
                </a:solidFill>
                <a:latin typeface="Lexend Deca" pitchFamily="34" charset="0"/>
                <a:ea typeface="Lexend Deca" pitchFamily="34" charset="-122"/>
                <a:cs typeface="Lexend Deca" pitchFamily="34" charset="-120"/>
              </a:rPr>
              <a:t> try a heating pad?</a:t>
            </a:r>
            <a:endParaRPr lang="en-US" sz="1700" dirty="0" b="1"/>
          </a:p>
        </p:txBody>
      </p:sp>
      <p:sp>
        <p:nvSpPr>
          <p:cNvPr id="30" name="Bad 4"/>
          <p:cNvSpPr/>
          <p:nvPr/>
        </p:nvSpPr>
        <p:spPr>
          <a:xfrm>
            <a:off x="914400" y="4443984"/>
            <a:ext cx="3246120" cy="7772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It's a good idea get a checkup.</a:t>
            </a:r>
            <a:endParaRPr lang="en-US" sz="1700" dirty="0"/>
          </a:p>
        </p:txBody>
      </p:sp>
      <p:sp>
        <p:nvSpPr>
          <p:cNvPr id="31" name="Good 4"/>
          <p:cNvSpPr/>
          <p:nvPr/>
        </p:nvSpPr>
        <p:spPr>
          <a:xfrm>
            <a:off x="4800600" y="4443984"/>
            <a:ext cx="5394960" cy="77724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It's a good idea </a:t>
            </a:r>
            <a:r>
              <a:rPr lang="en-US" sz="1700" dirty="0" b="1">
                <a:solidFill>
                  <a:srgbClr val="1B2236"/>
                </a:solidFill>
                <a:latin typeface="Lexend Deca" pitchFamily="34" charset="0"/>
                <a:ea typeface="Lexend Deca" pitchFamily="34" charset="-122"/>
                <a:cs typeface="Lexend Deca" pitchFamily="34" charset="-120"/>
              </a:rPr>
              <a:t>to</a:t>
            </a:r>
            <a:r>
              <a:rPr lang="en-US" sz="1700" dirty="0" b="1">
                <a:solidFill>
                  <a:srgbClr val="1B2236"/>
                </a:solidFill>
                <a:latin typeface="Lexend Deca" pitchFamily="34" charset="0"/>
                <a:ea typeface="Lexend Deca" pitchFamily="34" charset="-122"/>
                <a:cs typeface="Lexend Deca" pitchFamily="34" charset="-120"/>
              </a:rPr>
              <a:t> get a checkup.</a:t>
            </a:r>
            <a:endParaRPr lang="en-US" sz="1700" dirty="0" b="1"/>
          </a:p>
        </p:txBody>
      </p:sp>
      <p:sp>
        <p:nvSpPr>
          <p:cNvPr id="32" name="Bad 5"/>
          <p:cNvSpPr/>
          <p:nvPr/>
        </p:nvSpPr>
        <p:spPr>
          <a:xfrm>
            <a:off x="914400" y="5285232"/>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I've had surgery in 2018.</a:t>
            </a:r>
            <a:endParaRPr lang="en-US" sz="1700" dirty="0"/>
          </a:p>
        </p:txBody>
      </p:sp>
      <p:sp>
        <p:nvSpPr>
          <p:cNvPr id="33" name="Good 5"/>
          <p:cNvSpPr/>
          <p:nvPr/>
        </p:nvSpPr>
        <p:spPr>
          <a:xfrm>
            <a:off x="4800600" y="5285232"/>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a:t>
            </a:r>
            <a:r>
              <a:rPr lang="en-US" sz="1700" dirty="0" b="1">
                <a:solidFill>
                  <a:srgbClr val="1B2236"/>
                </a:solidFill>
                <a:latin typeface="Lexend Deca" pitchFamily="34" charset="0"/>
                <a:ea typeface="Lexend Deca" pitchFamily="34" charset="-122"/>
                <a:cs typeface="Lexend Deca" pitchFamily="34" charset="-120"/>
              </a:rPr>
              <a:t>had</a:t>
            </a:r>
            <a:r>
              <a:rPr lang="en-US" sz="1700" dirty="0" b="1">
                <a:solidFill>
                  <a:srgbClr val="1B2236"/>
                </a:solidFill>
                <a:latin typeface="Lexend Deca" pitchFamily="34" charset="0"/>
                <a:ea typeface="Lexend Deca" pitchFamily="34" charset="-122"/>
                <a:cs typeface="Lexend Deca" pitchFamily="34" charset="-120"/>
              </a:rPr>
              <a:t> surgery in 2018.</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name="L4:drill">
    <p:bg>
      <p:bgPr>
        <a:solidFill>
          <a:srgbClr val="F1F5FB"/>
        </a:solidFill>
      </p:bgPr>
    </p:bg>
    <p:spTree>
      <p:nvGrpSpPr>
        <p:cNvPr id="1" name=""/>
        <p:cNvGrpSpPr/>
        <p:nvPr/>
      </p:nvGrpSpPr>
      <p:grpSpPr/>
      <p:pic>
        <p:nvPicPr>
          <p:cNvPr id="26" name="pic" descr="Teeth cleaning: a tooth and a toothbrush [sign: CLEANING]"/>
          <p:cNvPicPr>
            <a:picLocks noChangeAspect="1"/>
          </p:cNvPicPr>
          <p:nvPr/>
        </p:nvPicPr>
        <p:blipFill>
          <a:blip r:embed="rId3"/>
          <a:stretch>
            <a:fillRect/>
          </a:stretch>
        </p:blipFill>
        <p:spPr>
          <a:xfrm>
            <a:off x="1274739" y="3680460"/>
            <a:ext cx="3449901" cy="2414930"/>
          </a:xfrm>
          <a:prstGeom prst="rect">
            <a:avLst/>
          </a:prstGeom>
        </p:spPr>
      </p:pic>
      <p:sp>
        <p:nvSpPr>
          <p:cNvPr id="4" name="Shape 2"/>
          <p:cNvSpPr/>
          <p:nvPr/>
        </p:nvSpPr>
        <p:spPr>
          <a:xfrm>
            <a:off x="560984" y="1342842"/>
            <a:ext cx="4912157" cy="1595628"/>
          </a:xfrm>
          <a:prstGeom prst="roundRect">
            <a:avLst>
              <a:gd name="adj" fmla="val 16667"/>
            </a:avLst>
          </a:prstGeom>
          <a:solidFill>
            <a:srgbClr val="8FAFE3"/>
          </a:solidFill>
          <a:ln/>
        </p:spPr>
        <p:txBody>
          <a:bodyPr/>
          <a:p/>
        </p:txBody>
      </p:sp>
      <p:sp>
        <p:nvSpPr>
          <p:cNvPr id="5" name="Shape 3"/>
          <p:cNvSpPr/>
          <p:nvPr/>
        </p:nvSpPr>
        <p:spPr>
          <a:xfrm>
            <a:off x="589788" y="1277417"/>
            <a:ext cx="4912157" cy="1595628"/>
          </a:xfrm>
          <a:prstGeom prst="roundRect">
            <a:avLst>
              <a:gd name="adj" fmla="val 16667"/>
            </a:avLst>
          </a:prstGeom>
          <a:solidFill>
            <a:srgbClr val="FFFFFF"/>
          </a:solidFill>
          <a:ln/>
        </p:spPr>
        <p:txBody>
          <a:bodyPr/>
          <a:p/>
        </p:txBody>
      </p:sp>
      <p:sp>
        <p:nvSpPr>
          <p:cNvPr id="6" name="title"/>
          <p:cNvSpPr/>
          <p:nvPr/>
        </p:nvSpPr>
        <p:spPr>
          <a:xfrm>
            <a:off x="771754" y="1417320"/>
            <a:ext cx="4572000" cy="73152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Pair Check</a:t>
            </a:r>
            <a:endParaRPr lang="en-US" sz="4000" dirty="0" b="1"/>
          </a:p>
        </p:txBody>
      </p:sp>
      <p:sp>
        <p:nvSpPr>
          <p:cNvPr id="7" name="Shape 5"/>
          <p:cNvSpPr/>
          <p:nvPr/>
        </p:nvSpPr>
        <p:spPr>
          <a:xfrm>
            <a:off x="6107278" y="1382572"/>
            <a:ext cx="5577840" cy="1920240"/>
          </a:xfrm>
          <a:prstGeom prst="round1Rect">
            <a:avLst>
              <a:gd name="adj" fmla="val 23087"/>
            </a:avLst>
          </a:prstGeom>
          <a:solidFill>
            <a:srgbClr val="8FAFE3"/>
          </a:solidFill>
          <a:ln/>
        </p:spPr>
        <p:txBody>
          <a:bodyPr/>
          <a:p/>
        </p:txBody>
      </p:sp>
      <p:sp>
        <p:nvSpPr>
          <p:cNvPr id="8" name="Shape 6"/>
          <p:cNvSpPr/>
          <p:nvPr/>
        </p:nvSpPr>
        <p:spPr>
          <a:xfrm>
            <a:off x="6107278" y="3714292"/>
            <a:ext cx="5577840" cy="1920240"/>
          </a:xfrm>
          <a:prstGeom prst="round1Rect">
            <a:avLst>
              <a:gd name="adj" fmla="val 23087"/>
            </a:avLst>
          </a:prstGeom>
          <a:solidFill>
            <a:srgbClr val="8FAFE3"/>
          </a:solidFill>
          <a:ln/>
        </p:spPr>
        <p:txBody>
          <a:bodyPr/>
          <a:p/>
        </p:txBody>
      </p:sp>
      <p:sp>
        <p:nvSpPr>
          <p:cNvPr id="10" name="Shape 8"/>
          <p:cNvSpPr/>
          <p:nvPr/>
        </p:nvSpPr>
        <p:spPr>
          <a:xfrm>
            <a:off x="6035040" y="1325880"/>
            <a:ext cx="5577840" cy="1920240"/>
          </a:xfrm>
          <a:prstGeom prst="round1Rect">
            <a:avLst>
              <a:gd name="adj" fmla="val 23087"/>
            </a:avLst>
          </a:prstGeom>
          <a:solidFill>
            <a:srgbClr val="FFFFFF"/>
          </a:solidFill>
          <a:ln/>
        </p:spPr>
        <p:txBody>
          <a:bodyPr/>
          <a:p/>
        </p:txBody>
      </p:sp>
      <p:sp>
        <p:nvSpPr>
          <p:cNvPr id="11" name="Shape 9"/>
          <p:cNvSpPr/>
          <p:nvPr/>
        </p:nvSpPr>
        <p:spPr>
          <a:xfrm>
            <a:off x="6172200" y="1946757"/>
            <a:ext cx="678485" cy="678485"/>
          </a:xfrm>
          <a:prstGeom prst="star32">
            <a:avLst>
              <a:gd name="adj" fmla="val 43755"/>
            </a:avLst>
          </a:prstGeom>
          <a:solidFill>
            <a:srgbClr val="B9D2F7"/>
          </a:solidFill>
          <a:ln/>
        </p:spPr>
        <p:txBody>
          <a:bodyPr/>
          <a:p/>
        </p:txBody>
      </p:sp>
      <p:sp>
        <p:nvSpPr>
          <p:cNvPr id="12" name="Text 10"/>
          <p:cNvSpPr/>
          <p:nvPr/>
        </p:nvSpPr>
        <p:spPr>
          <a:xfrm>
            <a:off x="6172200" y="194675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01</a:t>
            </a:r>
            <a:endParaRPr lang="en-US" sz="2000" dirty="0"/>
          </a:p>
        </p:txBody>
      </p:sp>
      <p:sp>
        <p:nvSpPr>
          <p:cNvPr id="13" name="s1 label"/>
          <p:cNvSpPr/>
          <p:nvPr/>
        </p:nvSpPr>
        <p:spPr>
          <a:xfrm>
            <a:off x="6995160" y="150876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A says a problem.</a:t>
            </a:r>
            <a:endParaRPr lang="en-US" sz="2200" dirty="0" b="1"/>
          </a:p>
        </p:txBody>
      </p:sp>
      <p:sp>
        <p:nvSpPr>
          <p:cNvPr id="14" name="Shape 12"/>
          <p:cNvSpPr/>
          <p:nvPr/>
        </p:nvSpPr>
        <p:spPr>
          <a:xfrm>
            <a:off x="6035040" y="3657600"/>
            <a:ext cx="5577840" cy="1920240"/>
          </a:xfrm>
          <a:prstGeom prst="round1Rect">
            <a:avLst>
              <a:gd name="adj" fmla="val 23087"/>
            </a:avLst>
          </a:prstGeom>
          <a:solidFill>
            <a:srgbClr val="B9D2F7"/>
          </a:solidFill>
          <a:ln/>
        </p:spPr>
        <p:txBody>
          <a:bodyPr/>
          <a:p/>
        </p:txBody>
      </p:sp>
      <p:sp>
        <p:nvSpPr>
          <p:cNvPr id="15" name="Shape 13"/>
          <p:cNvSpPr/>
          <p:nvPr/>
        </p:nvSpPr>
        <p:spPr>
          <a:xfrm>
            <a:off x="6172200" y="4278477"/>
            <a:ext cx="678485" cy="678485"/>
          </a:xfrm>
          <a:prstGeom prst="star32">
            <a:avLst>
              <a:gd name="adj" fmla="val 43755"/>
            </a:avLst>
          </a:prstGeom>
          <a:solidFill>
            <a:srgbClr val="FFFFFF"/>
          </a:solidFill>
          <a:ln/>
        </p:spPr>
        <p:txBody>
          <a:bodyPr/>
          <a:p/>
        </p:txBody>
      </p:sp>
      <p:sp>
        <p:nvSpPr>
          <p:cNvPr id="16" name="Text 14"/>
          <p:cNvSpPr/>
          <p:nvPr/>
        </p:nvSpPr>
        <p:spPr>
          <a:xfrm>
            <a:off x="6172200" y="427847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02</a:t>
            </a:r>
            <a:endParaRPr lang="en-US" sz="2000" dirty="0"/>
          </a:p>
        </p:txBody>
      </p:sp>
      <p:sp>
        <p:nvSpPr>
          <p:cNvPr id="17" name="s2 label"/>
          <p:cNvSpPr/>
          <p:nvPr/>
        </p:nvSpPr>
        <p:spPr>
          <a:xfrm>
            <a:off x="6995160" y="384048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B gives a suggestion.</a:t>
            </a:r>
            <a:endParaRPr lang="en-US" sz="2200" dirty="0" b="1"/>
          </a:p>
        </p:txBody>
      </p:sp>
      <p:sp>
        <p:nvSpPr>
          <p:cNvPr id="60" name="s1 body"/>
          <p:cNvSpPr/>
          <p:nvPr/>
        </p:nvSpPr>
        <p:spPr>
          <a:xfrm>
            <a:off x="6995160" y="2103120"/>
            <a:ext cx="4480560" cy="914400"/>
          </a:xfrm>
          <a:prstGeom prst="rect">
            <a:avLst/>
          </a:prstGeom>
          <a:noFill/>
          <a:ln/>
        </p:spPr>
        <p:txBody>
          <a:bodyPr wrap="square" lIns="0" tIns="0" rIns="0" bIns="0"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A:</a:t>
            </a:r>
            <a:r>
              <a:rPr lang="en-US" sz="1900" dirty="0" b="0">
                <a:solidFill>
                  <a:srgbClr val="1B2236"/>
                </a:solidFill>
                <a:latin typeface="Lexend Deca" pitchFamily="34" charset="0"/>
                <a:ea typeface="Lexend Deca" pitchFamily="34" charset="-122"/>
                <a:cs typeface="Lexend Deca" pitchFamily="34" charset="-120"/>
              </a:rPr>
              <a:t> My back hurts. What can I do?</a:t>
            </a:r>
            <a:endParaRPr lang="en-US" sz="1900" dirty="0" b="0"/>
          </a:p>
        </p:txBody>
      </p:sp>
      <p:sp>
        <p:nvSpPr>
          <p:cNvPr id="70" name="s2 body"/>
          <p:cNvSpPr/>
          <p:nvPr/>
        </p:nvSpPr>
        <p:spPr>
          <a:xfrm>
            <a:off x="6995160" y="4434840"/>
            <a:ext cx="4480560" cy="914400"/>
          </a:xfrm>
          <a:prstGeom prst="rect">
            <a:avLst/>
          </a:prstGeom>
          <a:noFill/>
          <a:ln/>
        </p:spPr>
        <p:txBody>
          <a:bodyPr wrap="square" lIns="0" tIns="0" rIns="0" bIns="0"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B:</a:t>
            </a:r>
            <a:r>
              <a:rPr lang="en-US" sz="1900" dirty="0" b="0">
                <a:solidFill>
                  <a:srgbClr val="1B2236"/>
                </a:solidFill>
                <a:latin typeface="Lexend Deca" pitchFamily="34" charset="0"/>
                <a:ea typeface="Lexend Deca" pitchFamily="34" charset="-122"/>
                <a:cs typeface="Lexend Deca" pitchFamily="34" charset="-120"/>
              </a:rPr>
              <a:t> Why don't you… / You could…</a:t>
            </a:r>
            <a:endParaRPr lang="en-US" sz="1900" dirty="0" b="0"/>
          </a:p>
          <a:p>
            <a:pPr algn="l" indent="0" marL="0">
              <a:buNone/>
            </a:pPr>
            <a:r>
              <a:rPr lang="en-US" sz="1900" dirty="0" b="1">
                <a:solidFill>
                  <a:srgbClr val="5B3FC4"/>
                </a:solidFill>
                <a:latin typeface="Lexend Deca" pitchFamily="34" charset="0"/>
                <a:ea typeface="Lexend Deca" pitchFamily="34" charset="-122"/>
                <a:cs typeface="Lexend Deca" pitchFamily="34" charset="-120"/>
              </a:rPr>
              <a:t>A:</a:t>
            </a:r>
            <a:r>
              <a:rPr lang="en-US" sz="1900" dirty="0" b="1">
                <a:solidFill>
                  <a:srgbClr val="1B2236"/>
                </a:solidFill>
                <a:latin typeface="Lexend Deca" pitchFamily="34" charset="0"/>
                <a:ea typeface="Lexend Deca" pitchFamily="34" charset="-122"/>
                <a:cs typeface="Lexend Deca" pitchFamily="34" charset="-120"/>
              </a:rPr>
              <a:t> Good idea.</a:t>
            </a:r>
            <a:endParaRPr lang="en-US" sz="1900" dirty="0" b="1"/>
          </a:p>
        </p:txBody>
      </p:sp>
      <p:sp>
        <p:nvSpPr>
          <p:cNvPr id="25" name="sub"/>
          <p:cNvSpPr/>
          <p:nvPr/>
        </p:nvSpPr>
        <p:spPr>
          <a:xfrm>
            <a:off x="771754" y="2148840"/>
            <a:ext cx="4572000" cy="685800"/>
          </a:xfrm>
          <a:prstGeom prst="rect">
            <a:avLst/>
          </a:prstGeom>
          <a:noFill/>
          <a:ln w="38100">
            <a:noFill/>
          </a:ln>
        </p:spPr>
        <p:txBody>
          <a:bodyPr wrap="square" lIns="91440" tIns="36576" rIns="91440"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 says a problem from Box 2. Then switch.</a:t>
            </a:r>
            <a:endParaRPr lang="en-US" sz="2000" dirty="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name="L4: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Health history: a clipboard and a pen [sign: HEALTH HISTORY]"/>
          <p:cNvPicPr>
            <a:picLocks noChangeAspect="1"/>
          </p:cNvPicPr>
          <p:nvPr/>
        </p:nvPicPr>
        <p:blipFill>
          <a:blip r:embed="rId3"/>
          <a:stretch>
            <a:fillRect/>
          </a:stretch>
        </p:blipFill>
        <p:spPr>
          <a:xfrm>
            <a:off x="726164" y="3418942"/>
            <a:ext cx="3882281"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3000" dirty="0" b="1">
                <a:solidFill>
                  <a:srgbClr val="1B2236"/>
                </a:solidFill>
                <a:latin typeface="Lexend Deca" pitchFamily="34" charset="0"/>
                <a:ea typeface="Lexend Deca" pitchFamily="34" charset="-122"/>
                <a:cs typeface="Lexend Deca" pitchFamily="34" charset="-120"/>
              </a:rPr>
              <a:t>Clinic Intake</a:t>
            </a:r>
            <a:endParaRPr lang="en-US" sz="30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Pairs.</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Sit back to back.</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7:00–7:15</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 is the medical assistant.</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What brings you in today?</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B chooses a symptom card and answers.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I've had it for three days.</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 writes short notes. Then switch.</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I'm sorry to hear that.</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name="L4: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Flu shot: a syringe [sign: FLU SHOT]"/>
          <p:cNvPicPr>
            <a:picLocks noChangeAspect="1"/>
          </p:cNvPicPr>
          <p:nvPr/>
        </p:nvPicPr>
        <p:blipFill>
          <a:blip r:embed="rId3"/>
          <a:stretch>
            <a:fillRect/>
          </a:stretch>
        </p:blipFill>
        <p:spPr>
          <a:xfrm>
            <a:off x="726164" y="3418942"/>
            <a:ext cx="3882281"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3000" dirty="0" b="1">
                <a:solidFill>
                  <a:srgbClr val="1B2236"/>
                </a:solidFill>
                <a:latin typeface="Lexend Deca" pitchFamily="34" charset="0"/>
                <a:ea typeface="Lexend Deca" pitchFamily="34" charset="-122"/>
                <a:cs typeface="Lexend Deca" pitchFamily="34" charset="-120"/>
              </a:rPr>
              <a:t>Good Idea Circle</a:t>
            </a:r>
            <a:endParaRPr lang="en-US" sz="30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Circles of 5.</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One person reads a problem card.</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7:00–7:15</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One person reads a problem card.</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I sit all day at work.</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Two people each give a suggestion.</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Why don't you…? • You could…</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The first person chooses one and says why.</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Good idea. I'm going to… because…</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407262"/>
            <a:ext cx="7086600" cy="983894"/>
          </a:xfrm>
          <a:prstGeom prst="round1Rect">
            <a:avLst>
              <a:gd name="adj" fmla="val 23087"/>
            </a:avLst>
          </a:prstGeom>
          <a:solidFill>
            <a:srgbClr val="8FAFE3"/>
          </a:solidFill>
          <a:ln/>
        </p:spPr>
        <p:txBody>
          <a:bodyPr/>
          <a:p/>
        </p:txBody>
      </p:sp>
      <p:sp>
        <p:nvSpPr>
          <p:cNvPr id="3" name="head card"/>
          <p:cNvSpPr/>
          <p:nvPr/>
        </p:nvSpPr>
        <p:spPr>
          <a:xfrm>
            <a:off x="548640" y="1349654"/>
            <a:ext cx="7086600" cy="983894"/>
          </a:xfrm>
          <a:prstGeom prst="round1Rect">
            <a:avLst>
              <a:gd name="adj" fmla="val 23087"/>
            </a:avLst>
          </a:prstGeom>
          <a:solidFill>
            <a:srgbClr val="FFFFFF"/>
          </a:solidFill>
          <a:ln/>
        </p:spPr>
        <p:txBody>
          <a:bodyPr/>
          <a:p/>
        </p:txBody>
      </p:sp>
      <p:sp>
        <p:nvSpPr>
          <p:cNvPr id="8" name="head1"/>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Read the letter.</a:t>
            </a:r>
            <a:endParaRPr lang="en-US" sz="2000" dirty="0" b="1"/>
          </a:p>
        </p:txBody>
      </p:sp>
      <p:sp>
        <p:nvSpPr>
          <p:cNvPr id="9" name="head2"/>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Answer the questions.</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Read &amp;</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Write</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Riverside Family Clinic:</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a letter + an insurance card.</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answer together.</a:t>
            </a:r>
            <a:endParaRPr lang="en-US" sz="2000" dirty="0" b="1"/>
          </a:p>
        </p:txBody>
      </p:sp>
      <p:sp>
        <p:nvSpPr>
          <p:cNvPr id="31" name="R1 card"/>
          <p:cNvSpPr/>
          <p:nvPr/>
        </p:nvSpPr>
        <p:spPr>
          <a:xfrm>
            <a:off x="1583741" y="2397557"/>
            <a:ext cx="6035040" cy="713232"/>
          </a:xfrm>
          <a:prstGeom prst="round1Rect">
            <a:avLst>
              <a:gd name="adj" fmla="val 23087"/>
            </a:avLst>
          </a:prstGeom>
          <a:solidFill>
            <a:srgbClr val="FFFFFF"/>
          </a:solidFill>
          <a:ln/>
        </p:spPr>
        <p:txBody>
          <a:bodyPr/>
          <a:p/>
        </p:txBody>
      </p:sp>
      <p:sp>
        <p:nvSpPr>
          <p:cNvPr id="32" name="R1 chip"/>
          <p:cNvSpPr/>
          <p:nvPr/>
        </p:nvSpPr>
        <p:spPr>
          <a:xfrm>
            <a:off x="544982" y="2397557"/>
            <a:ext cx="1039673" cy="713232"/>
          </a:xfrm>
          <a:prstGeom prst="rect">
            <a:avLst/>
          </a:prstGeom>
          <a:solidFill>
            <a:srgbClr val="B9D2F7"/>
          </a:solidFill>
          <a:ln/>
        </p:spPr>
        <p:txBody>
          <a:bodyPr/>
          <a:p/>
        </p:txBody>
      </p:sp>
      <p:sp>
        <p:nvSpPr>
          <p:cNvPr id="33" name="R1 num"/>
          <p:cNvSpPr/>
          <p:nvPr/>
        </p:nvSpPr>
        <p:spPr>
          <a:xfrm>
            <a:off x="686714" y="2461565"/>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397557"/>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When did Carmen have her last checkup?</a:t>
            </a:r>
            <a:endParaRPr lang="en-US" sz="1500" dirty="0"/>
          </a:p>
        </p:txBody>
      </p:sp>
      <p:sp>
        <p:nvSpPr>
          <p:cNvPr id="35" name="R1 ans"/>
          <p:cNvSpPr/>
          <p:nvPr/>
        </p:nvSpPr>
        <p:spPr>
          <a:xfrm>
            <a:off x="4187952" y="2525573"/>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In March 2025.</a:t>
            </a:r>
            <a:endParaRPr lang="en-US" sz="1400" dirty="0" b="1"/>
          </a:p>
        </p:txBody>
      </p:sp>
      <p:sp>
        <p:nvSpPr>
          <p:cNvPr id="36" name="R2 card"/>
          <p:cNvSpPr/>
          <p:nvPr/>
        </p:nvSpPr>
        <p:spPr>
          <a:xfrm>
            <a:off x="1583741" y="3183941"/>
            <a:ext cx="6035040" cy="713232"/>
          </a:xfrm>
          <a:prstGeom prst="round1Rect">
            <a:avLst>
              <a:gd name="adj" fmla="val 23087"/>
            </a:avLst>
          </a:prstGeom>
          <a:solidFill>
            <a:srgbClr val="FFFFFF"/>
          </a:solidFill>
          <a:ln/>
        </p:spPr>
        <p:txBody>
          <a:bodyPr/>
          <a:p/>
        </p:txBody>
      </p:sp>
      <p:sp>
        <p:nvSpPr>
          <p:cNvPr id="37" name="R2 chip"/>
          <p:cNvSpPr/>
          <p:nvPr/>
        </p:nvSpPr>
        <p:spPr>
          <a:xfrm>
            <a:off x="544982" y="3183941"/>
            <a:ext cx="1039673" cy="713232"/>
          </a:xfrm>
          <a:prstGeom prst="rect">
            <a:avLst/>
          </a:prstGeom>
          <a:solidFill>
            <a:srgbClr val="B9D2F7"/>
          </a:solidFill>
          <a:ln/>
        </p:spPr>
        <p:txBody>
          <a:bodyPr/>
          <a:p/>
        </p:txBody>
      </p:sp>
      <p:sp>
        <p:nvSpPr>
          <p:cNvPr id="38" name="R2 num"/>
          <p:cNvSpPr/>
          <p:nvPr/>
        </p:nvSpPr>
        <p:spPr>
          <a:xfrm>
            <a:off x="686714" y="3247949"/>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3183941"/>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How often is it a good idea to get a teeth cleaning?</a:t>
            </a:r>
            <a:endParaRPr lang="en-US" sz="1500" dirty="0"/>
          </a:p>
        </p:txBody>
      </p:sp>
      <p:sp>
        <p:nvSpPr>
          <p:cNvPr id="40" name="R2 ans"/>
          <p:cNvSpPr/>
          <p:nvPr/>
        </p:nvSpPr>
        <p:spPr>
          <a:xfrm>
            <a:off x="4187952" y="3311957"/>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Every six months.</a:t>
            </a:r>
            <a:endParaRPr lang="en-US" sz="1400" dirty="0" b="1"/>
          </a:p>
        </p:txBody>
      </p:sp>
      <p:sp>
        <p:nvSpPr>
          <p:cNvPr id="41" name="R3 card"/>
          <p:cNvSpPr/>
          <p:nvPr/>
        </p:nvSpPr>
        <p:spPr>
          <a:xfrm>
            <a:off x="1583741" y="3970325"/>
            <a:ext cx="6035040" cy="713232"/>
          </a:xfrm>
          <a:prstGeom prst="round1Rect">
            <a:avLst>
              <a:gd name="adj" fmla="val 23087"/>
            </a:avLst>
          </a:prstGeom>
          <a:solidFill>
            <a:srgbClr val="FFFFFF"/>
          </a:solidFill>
          <a:ln/>
        </p:spPr>
        <p:txBody>
          <a:bodyPr/>
          <a:p/>
        </p:txBody>
      </p:sp>
      <p:sp>
        <p:nvSpPr>
          <p:cNvPr id="42" name="R3 chip"/>
          <p:cNvSpPr/>
          <p:nvPr/>
        </p:nvSpPr>
        <p:spPr>
          <a:xfrm>
            <a:off x="544982" y="3970325"/>
            <a:ext cx="1039673" cy="713232"/>
          </a:xfrm>
          <a:prstGeom prst="rect">
            <a:avLst/>
          </a:prstGeom>
          <a:solidFill>
            <a:srgbClr val="B9D2F7"/>
          </a:solidFill>
          <a:ln/>
        </p:spPr>
        <p:txBody>
          <a:bodyPr/>
          <a:p/>
        </p:txBody>
      </p:sp>
      <p:sp>
        <p:nvSpPr>
          <p:cNvPr id="43" name="R3 num"/>
          <p:cNvSpPr/>
          <p:nvPr/>
        </p:nvSpPr>
        <p:spPr>
          <a:xfrm>
            <a:off x="686714" y="4034333"/>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970325"/>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What three things should she bring?</a:t>
            </a:r>
            <a:endParaRPr lang="en-US" sz="1500" dirty="0"/>
          </a:p>
        </p:txBody>
      </p:sp>
      <p:sp>
        <p:nvSpPr>
          <p:cNvPr id="45" name="R3 ans"/>
          <p:cNvSpPr/>
          <p:nvPr/>
        </p:nvSpPr>
        <p:spPr>
          <a:xfrm>
            <a:off x="4187952" y="4098341"/>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Her insurance card, a photo ID, and a list of her medicines.</a:t>
            </a:r>
            <a:endParaRPr lang="en-US" sz="1400" dirty="0" b="1"/>
          </a:p>
        </p:txBody>
      </p:sp>
      <p:sp>
        <p:nvSpPr>
          <p:cNvPr id="46" name="R4 card"/>
          <p:cNvSpPr/>
          <p:nvPr/>
        </p:nvSpPr>
        <p:spPr>
          <a:xfrm>
            <a:off x="1583741" y="4756709"/>
            <a:ext cx="6035040" cy="713232"/>
          </a:xfrm>
          <a:prstGeom prst="round1Rect">
            <a:avLst>
              <a:gd name="adj" fmla="val 23087"/>
            </a:avLst>
          </a:prstGeom>
          <a:solidFill>
            <a:srgbClr val="FFFFFF"/>
          </a:solidFill>
          <a:ln/>
        </p:spPr>
        <p:txBody>
          <a:bodyPr/>
          <a:p/>
        </p:txBody>
      </p:sp>
      <p:sp>
        <p:nvSpPr>
          <p:cNvPr id="47" name="R4 chip"/>
          <p:cNvSpPr/>
          <p:nvPr/>
        </p:nvSpPr>
        <p:spPr>
          <a:xfrm>
            <a:off x="544982" y="4756709"/>
            <a:ext cx="1039673" cy="713232"/>
          </a:xfrm>
          <a:prstGeom prst="rect">
            <a:avLst/>
          </a:prstGeom>
          <a:solidFill>
            <a:srgbClr val="B9D2F7"/>
          </a:solidFill>
          <a:ln/>
        </p:spPr>
        <p:txBody>
          <a:bodyPr/>
          <a:p/>
        </p:txBody>
      </p:sp>
      <p:sp>
        <p:nvSpPr>
          <p:cNvPr id="48" name="R4 num"/>
          <p:cNvSpPr/>
          <p:nvPr/>
        </p:nvSpPr>
        <p:spPr>
          <a:xfrm>
            <a:off x="686714" y="4820717"/>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756709"/>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What is her copay for a doctor visit?</a:t>
            </a:r>
            <a:endParaRPr lang="en-US" sz="1500" dirty="0"/>
          </a:p>
        </p:txBody>
      </p:sp>
      <p:sp>
        <p:nvSpPr>
          <p:cNvPr id="50" name="R4 ans"/>
          <p:cNvSpPr/>
          <p:nvPr/>
        </p:nvSpPr>
        <p:spPr>
          <a:xfrm>
            <a:off x="4187952" y="4884725"/>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$20.</a:t>
            </a:r>
            <a:endParaRPr lang="en-US" sz="1400" dirty="0" b="1"/>
          </a:p>
        </p:txBody>
      </p:sp>
      <p:sp>
        <p:nvSpPr>
          <p:cNvPr id="51" name="R5 card"/>
          <p:cNvSpPr/>
          <p:nvPr/>
        </p:nvSpPr>
        <p:spPr>
          <a:xfrm>
            <a:off x="1583741" y="5543093"/>
            <a:ext cx="6035040" cy="713232"/>
          </a:xfrm>
          <a:prstGeom prst="round1Rect">
            <a:avLst>
              <a:gd name="adj" fmla="val 23087"/>
            </a:avLst>
          </a:prstGeom>
          <a:solidFill>
            <a:srgbClr val="FFFFFF"/>
          </a:solidFill>
          <a:ln/>
        </p:spPr>
        <p:txBody>
          <a:bodyPr/>
          <a:p/>
        </p:txBody>
      </p:sp>
      <p:sp>
        <p:nvSpPr>
          <p:cNvPr id="52" name="R5 chip"/>
          <p:cNvSpPr/>
          <p:nvPr/>
        </p:nvSpPr>
        <p:spPr>
          <a:xfrm>
            <a:off x="544982" y="5543093"/>
            <a:ext cx="1039673" cy="713232"/>
          </a:xfrm>
          <a:prstGeom prst="rect">
            <a:avLst/>
          </a:prstGeom>
          <a:solidFill>
            <a:srgbClr val="B9D2F7"/>
          </a:solidFill>
          <a:ln/>
        </p:spPr>
        <p:txBody>
          <a:bodyPr/>
          <a:p/>
        </p:txBody>
      </p:sp>
      <p:sp>
        <p:nvSpPr>
          <p:cNvPr id="53" name="R5 num"/>
          <p:cNvSpPr/>
          <p:nvPr/>
        </p:nvSpPr>
        <p:spPr>
          <a:xfrm>
            <a:off x="686714" y="5607101"/>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543093"/>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How much is her deductible?</a:t>
            </a:r>
            <a:endParaRPr lang="en-US" sz="1500" dirty="0"/>
          </a:p>
        </p:txBody>
      </p:sp>
      <p:sp>
        <p:nvSpPr>
          <p:cNvPr id="55" name="R5 ans"/>
          <p:cNvSpPr/>
          <p:nvPr/>
        </p:nvSpPr>
        <p:spPr>
          <a:xfrm>
            <a:off x="4187952" y="5671109"/>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$1,000.</a:t>
            </a:r>
            <a:endParaRPr lang="en-US" sz="14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name="L4:go">
    <p:bg>
      <p:bgPr>
        <a:solidFill>
          <a:srgbClr val="F1F5FB"/>
        </a:solidFill>
      </p:bgPr>
    </p:bg>
    <p:spTree>
      <p:nvGrpSpPr>
        <p:cNvPr id="1" name=""/>
        <p:cNvGrpSpPr/>
        <p:nvPr/>
      </p:nvGrpSpPr>
      <p:grpSpPr/>
      <p:sp>
        <p:nvSpPr>
          <p:cNvPr id="2" name="Shape 0"/>
          <p:cNvSpPr/>
          <p:nvPr/>
        </p:nvSpPr>
        <p:spPr>
          <a:xfrm>
            <a:off x="544982" y="786384"/>
            <a:ext cx="5486400" cy="5731459"/>
          </a:xfrm>
          <a:prstGeom prst="rect">
            <a:avLst/>
          </a:prstGeom>
          <a:solidFill>
            <a:srgbClr val="B9D2F7"/>
          </a:solidFill>
          <a:ln/>
        </p:spPr>
        <p:txBody>
          <a:bodyPr/>
          <a:p/>
        </p:txBody>
      </p:sp>
      <p:sp>
        <p:nvSpPr>
          <p:cNvPr id="4" name="Shape 2"/>
          <p:cNvSpPr/>
          <p:nvPr/>
        </p:nvSpPr>
        <p:spPr>
          <a:xfrm>
            <a:off x="4147718" y="2196389"/>
            <a:ext cx="7699248" cy="4160520"/>
          </a:xfrm>
          <a:prstGeom prst="round1Rect">
            <a:avLst>
              <a:gd name="adj" fmla="val 23087"/>
            </a:avLst>
          </a:prstGeom>
          <a:solidFill>
            <a:srgbClr val="8FAFE3"/>
          </a:solidFill>
          <a:ln/>
        </p:spPr>
        <p:txBody>
          <a:bodyPr/>
          <a:p/>
        </p:txBody>
      </p:sp>
      <p:sp>
        <p:nvSpPr>
          <p:cNvPr id="5" name="Shape 3"/>
          <p:cNvSpPr/>
          <p:nvPr/>
        </p:nvSpPr>
        <p:spPr>
          <a:xfrm>
            <a:off x="3992270" y="1937614"/>
            <a:ext cx="7699248" cy="4160520"/>
          </a:xfrm>
          <a:prstGeom prst="round1Rect">
            <a:avLst>
              <a:gd name="adj" fmla="val 23087"/>
            </a:avLst>
          </a:prstGeom>
          <a:solidFill>
            <a:srgbClr val="FFFFFF"/>
          </a:solidFill>
          <a:ln/>
        </p:spPr>
        <p:txBody>
          <a:bodyPr/>
          <a:p/>
        </p:txBody>
      </p:sp>
      <p:sp>
        <p:nvSpPr>
          <p:cNvPr id="6" name="title"/>
          <p:cNvSpPr/>
          <p:nvPr/>
        </p:nvSpPr>
        <p:spPr>
          <a:xfrm>
            <a:off x="4343400" y="2103120"/>
            <a:ext cx="7315200" cy="822960"/>
          </a:xfrm>
          <a:prstGeom prst="rect">
            <a:avLst/>
          </a:prstGeom>
          <a:noFill/>
          <a:ln/>
        </p:spPr>
        <p:txBody>
          <a:bodyPr wrap="square" rtlCol="0" anchor="ctr"/>
          <a:lstStyle/>
          <a:p>
            <a:pPr algn="l" indent="0" marL="0">
              <a:buNone/>
            </a:pPr>
            <a:r>
              <a:rPr lang="en-US" sz="3800" dirty="0" b="1">
                <a:solidFill>
                  <a:srgbClr val="1B2236"/>
                </a:solidFill>
                <a:latin typeface="Lexend Deca" pitchFamily="34" charset="0"/>
                <a:ea typeface="Lexend Deca" pitchFamily="34" charset="-122"/>
                <a:cs typeface="Lexend Deca" pitchFamily="34" charset="-120"/>
              </a:rPr>
              <a:t>Before You Go   </a:t>
            </a:r>
            <a:r>
              <a:rPr lang="en-US" sz="2200" dirty="0" b="1">
                <a:solidFill>
                  <a:srgbClr val="5B3FC4"/>
                </a:solidFill>
                <a:latin typeface="Lexend Deca" pitchFamily="34" charset="0"/>
                <a:ea typeface="Lexend Deca" pitchFamily="34" charset="-122"/>
                <a:cs typeface="Lexend Deca" pitchFamily="34" charset="-120"/>
              </a:rPr>
              <a:t>7:25–7:30</a:t>
            </a:r>
            <a:endParaRPr lang="en-US" sz="4000" dirty="0"/>
          </a:p>
        </p:txBody>
      </p:sp>
      <p:pic>
        <p:nvPicPr>
          <p:cNvPr id="16" name="pic" descr="Cavity: a tooth and a magnifying glass [sign: CAVITY]"/>
          <p:cNvPicPr>
            <a:picLocks noChangeAspect="1"/>
          </p:cNvPicPr>
          <p:nvPr/>
        </p:nvPicPr>
        <p:blipFill>
          <a:blip r:embed="rId3"/>
          <a:stretch>
            <a:fillRect/>
          </a:stretch>
        </p:blipFill>
        <p:spPr>
          <a:xfrm>
            <a:off x="777240" y="2651760"/>
            <a:ext cx="3017520" cy="2112264"/>
          </a:xfrm>
          <a:prstGeom prst="rect">
            <a:avLst/>
          </a:prstGeom>
        </p:spPr>
      </p:pic>
      <p:sp>
        <p:nvSpPr>
          <p:cNvPr id="17" name="Num 01"/>
          <p:cNvSpPr/>
          <p:nvPr/>
        </p:nvSpPr>
        <p:spPr>
          <a:xfrm>
            <a:off x="43434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01</a:t>
            </a:r>
            <a:endParaRPr lang="en-US" sz="3000" dirty="0"/>
          </a:p>
        </p:txBody>
      </p:sp>
      <p:sp>
        <p:nvSpPr>
          <p:cNvPr id="18" name="Label 01"/>
          <p:cNvSpPr/>
          <p:nvPr/>
        </p:nvSpPr>
        <p:spPr>
          <a:xfrm>
            <a:off x="51206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Exit ticket</a:t>
            </a:r>
            <a:endParaRPr lang="en-US" sz="2200" dirty="0" b="1"/>
          </a:p>
        </p:txBody>
      </p:sp>
      <p:sp>
        <p:nvSpPr>
          <p:cNvPr id="19" name="Body 01"/>
          <p:cNvSpPr/>
          <p:nvPr/>
        </p:nvSpPr>
        <p:spPr>
          <a:xfrm>
            <a:off x="4343400" y="3520440"/>
            <a:ext cx="352044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A friend has had a backache for a week.</a:t>
            </a:r>
            <a:endParaRPr lang="en-US" sz="1600" dirty="0" b="1"/>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1. Ask how long (How long have you…?).</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2. A suggestion (Why don't you… / You could…).</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3. A reason, with because.</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Give it to me at the door.</a:t>
            </a:r>
            <a:endParaRPr lang="en-US" sz="1600" dirty="0" b="0"/>
          </a:p>
        </p:txBody>
      </p:sp>
      <p:sp>
        <p:nvSpPr>
          <p:cNvPr id="20" name="Num 02"/>
          <p:cNvSpPr/>
          <p:nvPr/>
        </p:nvSpPr>
        <p:spPr>
          <a:xfrm>
            <a:off x="80010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02</a:t>
            </a:r>
            <a:endParaRPr lang="en-US" sz="3000" dirty="0"/>
          </a:p>
        </p:txBody>
      </p:sp>
      <p:sp>
        <p:nvSpPr>
          <p:cNvPr id="21" name="Label 02"/>
          <p:cNvSpPr/>
          <p:nvPr/>
        </p:nvSpPr>
        <p:spPr>
          <a:xfrm>
            <a:off x="87782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Homework</a:t>
            </a:r>
            <a:endParaRPr lang="en-US" sz="2200" dirty="0" b="1"/>
          </a:p>
        </p:txBody>
      </p:sp>
      <p:sp>
        <p:nvSpPr>
          <p:cNvPr id="22" name="Body 02"/>
          <p:cNvSpPr/>
          <p:nvPr/>
        </p:nvSpPr>
        <p:spPr>
          <a:xfrm>
            <a:off x="8001000" y="3520440"/>
            <a:ext cx="365760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About 15–20 minutes.</a:t>
            </a:r>
            <a:endParaRPr lang="en-US" sz="1600" dirty="0" b="1"/>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1. Write the sentence. Use the words.</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2. Finish your email (Read &amp; Write C).</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3. Write 3 good ideas to stay healthy.</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4. Review: already, yet, or just.</a:t>
            </a:r>
            <a:endParaRPr lang="en-US" sz="1600" dirty="0" b="0"/>
          </a:p>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Bring it next week!</a:t>
            </a:r>
            <a:endParaRPr lang="en-US" sz="1600" dirty="0" b="1"/>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name="L4:goodby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Teeth cleaning: a tooth and a toothbrush [sign: CLEANING]">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4  ·  Level 4</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Goodbye! See You Next Week!</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Now you can:</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how long you've had a symptom</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Answer health history questions</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Make a suggestion</a:t>
            </a:r>
            <a:endParaRPr lang="en-US" sz="2200" dirty="0"/>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name="L4:credits">
    <p:bg>
      <p:bgPr>
        <a:solidFill>
          <a:srgbClr val="C9B8F2"/>
        </a:solidFill>
      </p:bgPr>
    </p:bg>
    <p:spTree>
      <p:nvGrpSpPr>
        <p:cNvPr id="1" name=""/>
        <p:cNvGrpSpPr/>
        <p:nvPr/>
      </p:nvGrpSpPr>
      <p:grpSpPr/>
      <p:sp>
        <p:nvSpPr>
          <p:cNvPr id="2" name="Shape 0"/>
          <p:cNvSpPr/>
          <p:nvPr/>
        </p:nvSpPr>
        <p:spPr>
          <a:xfrm>
            <a:off x="0" y="0"/>
            <a:ext cx="12191695" cy="6858000"/>
          </a:xfrm>
          <a:prstGeom prst="rect">
            <a:avLst/>
          </a:prstGeom>
          <a:solidFill>
            <a:srgbClr val="DCE6F5"/>
          </a:solidFill>
          <a:ln/>
        </p:spPr>
        <p:txBody>
          <a:bodyPr/>
          <a:p/>
        </p:txBody>
      </p:sp>
      <p:sp>
        <p:nvSpPr>
          <p:cNvPr id="4" name="Shape 2"/>
          <p:cNvSpPr/>
          <p:nvPr/>
        </p:nvSpPr>
        <p:spPr>
          <a:xfrm>
            <a:off x="0" y="1371600"/>
            <a:ext cx="12191695" cy="5486400"/>
          </a:xfrm>
          <a:prstGeom prst="round1Rect">
            <a:avLst>
              <a:gd name="adj" fmla="val 23087"/>
            </a:avLst>
          </a:prstGeom>
          <a:solidFill>
            <a:srgbClr val="B9D2F7"/>
          </a:solidFill>
          <a:ln/>
        </p:spPr>
        <p:txBody>
          <a:bodyPr/>
          <a:p/>
        </p:txBody>
      </p:sp>
      <p:sp>
        <p:nvSpPr>
          <p:cNvPr id="5" name="Shape 3"/>
          <p:cNvSpPr/>
          <p:nvPr/>
        </p:nvSpPr>
        <p:spPr>
          <a:xfrm>
            <a:off x="518465" y="431597"/>
            <a:ext cx="5361127" cy="1595628"/>
          </a:xfrm>
          <a:prstGeom prst="roundRect">
            <a:avLst>
              <a:gd name="adj" fmla="val 16667"/>
            </a:avLst>
          </a:prstGeom>
          <a:solidFill>
            <a:srgbClr val="8FAFE3"/>
          </a:solidFill>
          <a:ln/>
        </p:spPr>
        <p:txBody>
          <a:bodyPr/>
          <a:p/>
        </p:txBody>
      </p:sp>
      <p:sp>
        <p:nvSpPr>
          <p:cNvPr id="6" name="Shape 4"/>
          <p:cNvSpPr/>
          <p:nvPr/>
        </p:nvSpPr>
        <p:spPr>
          <a:xfrm>
            <a:off x="550469" y="365760"/>
            <a:ext cx="5361127" cy="1595628"/>
          </a:xfrm>
          <a:prstGeom prst="roundRect">
            <a:avLst>
              <a:gd name="adj" fmla="val 16667"/>
            </a:avLst>
          </a:prstGeom>
          <a:solidFill>
            <a:srgbClr val="FFFFFF"/>
          </a:solidFill>
          <a:ln/>
        </p:spPr>
        <p:txBody>
          <a:bodyPr/>
          <a:p/>
        </p:txBody>
      </p:sp>
      <p:sp>
        <p:nvSpPr>
          <p:cNvPr id="7" name="title"/>
          <p:cNvSpPr/>
          <p:nvPr/>
        </p:nvSpPr>
        <p:spPr>
          <a:xfrm>
            <a:off x="674827" y="640080"/>
            <a:ext cx="5120640" cy="1024128"/>
          </a:xfrm>
          <a:prstGeom prst="rect">
            <a:avLst/>
          </a:prstGeom>
          <a:noFill/>
          <a:ln/>
        </p:spPr>
        <p:txBody>
          <a:bodyPr wrap="square" lIns="50800" tIns="50800" rIns="50800" bIns="50800" rtlCol="0" anchor="ctr"/>
          <a:lstStyle/>
          <a:p>
            <a:pPr algn="l" indent="0" marL="0">
              <a:buNone/>
            </a:pPr>
            <a:r>
              <a:rPr lang="en-US" sz="5400" dirty="0" b="1">
                <a:solidFill>
                  <a:srgbClr val="1B2236"/>
                </a:solidFill>
                <a:latin typeface="Lexend Deca" pitchFamily="34" charset="0"/>
                <a:ea typeface="Lexend Deca" pitchFamily="34" charset="-122"/>
                <a:cs typeface="Lexend Deca" pitchFamily="34" charset="-120"/>
              </a:rPr>
              <a:t>Credits</a:t>
            </a:r>
            <a:endParaRPr lang="en-US" sz="5400" dirty="0"/>
          </a:p>
        </p:txBody>
      </p:sp>
      <p:sp>
        <p:nvSpPr>
          <p:cNvPr id="15" name="pictures"/>
          <p:cNvSpPr/>
          <p:nvPr/>
        </p:nvSpPr>
        <p:spPr>
          <a:xfrm>
            <a:off x="411480" y="2240280"/>
            <a:ext cx="11365992" cy="22402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Pictures</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Vocabulary pictures use Twemoji graphics by Twitter, Inc. and other contributors (https://github.com/jdecked/twemoji), licensed under CC BY 4.0 (https://creativecommons.org/licenses/by/4.0/). The graphics were resized and combined, and signs and labels were added.</a:t>
            </a:r>
            <a:endParaRPr lang="en-US" sz="1600" dirty="0" b="0"/>
          </a:p>
        </p:txBody>
      </p:sp>
      <p:sp>
        <p:nvSpPr>
          <p:cNvPr id="16" name="names"/>
          <p:cNvSpPr/>
          <p:nvPr/>
        </p:nvSpPr>
        <p:spPr>
          <a:xfrm>
            <a:off x="411480" y="4709160"/>
            <a:ext cx="4206240"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Names and story</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Amina, Daniel, Ms. Park, Carmen Lopez, Rosa, and Marta are invented names. The listening story is invented.</a:t>
            </a:r>
            <a:endParaRPr lang="en-US" sz="1600" dirty="0" b="0"/>
          </a:p>
        </p:txBody>
      </p:sp>
      <p:sp>
        <p:nvSpPr>
          <p:cNvPr id="17" name="audio"/>
          <p:cNvSpPr/>
          <p:nvPr/>
        </p:nvSpPr>
        <p:spPr>
          <a:xfrm>
            <a:off x="4846320" y="4709160"/>
            <a:ext cx="6931152"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Audio and font</a:t>
            </a:r>
            <a:endParaRPr lang="en-US" sz="2000" dirty="0" b="1"/>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Audio (coming soon): synthetic voices made with Chatterbox TTS (MIT License), cloned from short synthetic reference clips made with Kokoro-82M (Apache License 2.0). No recordings of real people. Each file will carry an inaudible Perth watermark marking it as AI-generated. Font: Lexend Deca (OFL 1.1).</a:t>
            </a:r>
            <a:endParaRPr lang="en-US" sz="1350" dirty="0" b="0"/>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 2026 the authors. The authors license this deck under CC BY-NC-SA 4.0.</a:t>
            </a:r>
            <a:endParaRPr lang="en-US" sz="1350" dirty="0" b="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4 Lesson 4: How Long Have You Had It?</dc:title>
  <dc:subject>PptxGenJS Presentation</dc:subject>
  <dc:creator>Level 1 ESL</dc:creator>
  <cp:lastModifiedBy>Level 1 ESL</cp:lastModifiedBy>
  <cp:revision>1</cp:revision>
  <dcterms:created xsi:type="dcterms:W3CDTF">2026-10-15T20:54:31Z</dcterms:created>
  <dcterms:modified xsi:type="dcterms:W3CDTF">2026-10-15T20:54:31Z</dcterms:modified>
</cp:coreProperties>
</file>