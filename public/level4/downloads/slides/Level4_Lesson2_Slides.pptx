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627" r:id="rId35"/>
    <p:sldId id="628" r:id="rId36"/>
    <p:sldId id="629" r:id="rId34"/>
    <p:sldId id="630" r:id="rId33"/>
    <p:sldId id="631" r:id="rId31"/>
    <p:sldId id="632" r:id="rId30"/>
    <p:sldId id="633" r:id="rId29"/>
    <p:sldId id="634" r:id="rId28"/>
    <p:sldId id="635" r:id="rId27"/>
    <p:sldId id="636" r:id="rId20"/>
    <p:sldId id="637" r:id="rId18"/>
    <p:sldId id="638" r:id="rId17"/>
    <p:sldId id="639" r:id="rId16"/>
    <p:sldId id="640" r:id="rId14"/>
    <p:sldId id="641" r:id="rId13"/>
    <p:sldId id="642" r:id="rId12"/>
    <p:sldId id="643" r:id="rId11"/>
    <p:sldId id="644" r:id="rId10"/>
    <p:sldId id="645" r:id="rId8"/>
    <p:sldId id="646" r:id="rId7"/>
    <p:sldId id="647" r:id="rId6"/>
    <p:sldId id="648" r:id="rId5"/>
    <p:sldId id="649" r:id="rId57"/>
    <p:sldId id="650" r:id="rId4"/>
    <p:sldId id="651" r:id="rId3"/>
    <p:sldId id="652"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4.xml"/><Relationship Id="rId3" Type="http://schemas.openxmlformats.org/officeDocument/2006/relationships/slide" Target="slides/slide53.xml"/><Relationship Id="rId4" Type="http://schemas.openxmlformats.org/officeDocument/2006/relationships/slide" Target="slides/slide52.xml"/><Relationship Id="rId5" Type="http://schemas.openxmlformats.org/officeDocument/2006/relationships/slide" Target="slides/slide50.xml"/><Relationship Id="rId6" Type="http://schemas.openxmlformats.org/officeDocument/2006/relationships/slide" Target="slides/slide49.xml"/><Relationship Id="rId7" Type="http://schemas.openxmlformats.org/officeDocument/2006/relationships/slide" Target="slides/slide48.xml"/><Relationship Id="rId8" Type="http://schemas.openxmlformats.org/officeDocument/2006/relationships/slide" Target="slides/slide47.xml"/><Relationship Id="rId10" Type="http://schemas.openxmlformats.org/officeDocument/2006/relationships/slide" Target="slides/slide46.xml"/><Relationship Id="rId11" Type="http://schemas.openxmlformats.org/officeDocument/2006/relationships/slide" Target="slides/slide45.xml"/><Relationship Id="rId12" Type="http://schemas.openxmlformats.org/officeDocument/2006/relationships/slide" Target="slides/slide44.xml"/><Relationship Id="rId13" Type="http://schemas.openxmlformats.org/officeDocument/2006/relationships/slide" Target="slides/slide43.xml"/><Relationship Id="rId14" Type="http://schemas.openxmlformats.org/officeDocument/2006/relationships/slide" Target="slides/slide42.xml"/><Relationship Id="rId16" Type="http://schemas.openxmlformats.org/officeDocument/2006/relationships/slide" Target="slides/slide41.xml"/><Relationship Id="rId17" Type="http://schemas.openxmlformats.org/officeDocument/2006/relationships/slide" Target="slides/slide40.xml"/><Relationship Id="rId18" Type="http://schemas.openxmlformats.org/officeDocument/2006/relationships/slide" Target="slides/slide39.xml"/><Relationship Id="rId20" Type="http://schemas.openxmlformats.org/officeDocument/2006/relationships/slide" Target="slides/slide3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7.xml"/><Relationship Id="rId28" Type="http://schemas.openxmlformats.org/officeDocument/2006/relationships/slide" Target="slides/slide36.xml"/><Relationship Id="rId29" Type="http://schemas.openxmlformats.org/officeDocument/2006/relationships/slide" Target="slides/slide35.xml"/><Relationship Id="rId30" Type="http://schemas.openxmlformats.org/officeDocument/2006/relationships/slide" Target="slides/slide34.xml"/><Relationship Id="rId31" Type="http://schemas.openxmlformats.org/officeDocument/2006/relationships/slide" Target="slides/slide33.xml"/><Relationship Id="rId33" Type="http://schemas.openxmlformats.org/officeDocument/2006/relationships/slide" Target="slides/slide32.xml"/><Relationship Id="rId34" Type="http://schemas.openxmlformats.org/officeDocument/2006/relationships/slide" Target="slides/slide31.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1:45)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"How long have you lived in this city?" and wait for an answer (for or since).</a:t>
            </a:r>
          </a:p>
          <a:p>
            <a:r>
              <a:t>Remind learners: homework, about 15–20 minutes. Bring it next week.</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How long have you lived in this city (or worked at your job)? Example on the board: I've lived in this city for four years. I moved here in 2022. I moved here because my sister lives here. With 5 or fewer, a learner can say it to you first and then write it.</a:t>
            </a:r>
          </a:p>
          <a:p>
            <a:r>
              <a:t>Collect the pages. After class, sort them into ✓ / almost / not yet. Start next week with 2 corrections on the board (no names).</a:t>
            </a:r>
          </a:p>
          <a:p>
            <a:r>
              <a:t>Homework (2 min): open the Homework page. Do item 1 together (she / work / at the hotel / ___ / March → She's worked at the hotel since March.). Say: "About 15–20 minutes. Finish your Read &amp; Write writing at home."</a:t>
            </a:r>
          </a:p>
          <a:p>
            <a:r>
              <a:t>Homework items: 1 write the sentence with for or since • 2 finish the writing from Read &amp; Write C and check it with the list in D • 3 ask a family member or a friend 3 questions with How long have you…? • 4 review: used to, use to, or didn't use to.</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At the Leasing Office (pairs). A is the agent and asks the questions on the role card. B is the applicant and answers (invented answers are fine). A fills in the application form. Then switch. Each click shows the next step.</a:t>
            </a:r>
          </a:p>
          <a:p>
            <a:r>
              <a:t>Role card questions: What's your current address? • How long have you lived there? • What's your previous address? • How long did you live there? • Who's your employer? • What's your position? • What's your start date? • Who's your reference? • Will you have a roommate? Useful: Can you spell that, please? • Is that with an e or an i? • Sorry, how long?</a:t>
            </a:r>
          </a:p>
          <a:p>
            <a:r>
              <a:t>Spelling and numbers: the agent asks Can you spell that? Encourage learners to say street numbers in pairs: 418 = "four eighteen." A real rental application often asks for 3–5 years of addresses and a reference who is not family. Learners can write N/A (not applicable) when a line doesn't fit them.</a:t>
            </a:r>
          </a:p>
          <a:p>
            <a:r>
              <a:t>5 or fewer: pairs or one group of 3. Every answer needs a reason; every partner asks a follow-up. Walk around and listen. Note 2 good sentences to praise and 1 common error for next week.</a:t>
            </a:r>
          </a:p>
          <a:p>
            <a:r>
              <a:t>If behind: round 1 only.</a:t>
            </a:r>
          </a:p>
          <a:p>
            <a:r>
              <a:t>Lesson plan: Step 5; Talk Time: At the Leasing Office;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Timeline Interviews + At the Leasing Office · 15 min.</a:t>
            </a:r>
          </a:p>
          <a:p>
            <a:r>
              <a:t>Model it first (1 min): ask one learner, "How long have you lived in this city?" When they answer, ask, "Where did you live before? How long did you live there?" Write the answers on the board on a timeline. Say: "Still true → have lived. Finished → lived."</a:t>
            </a:r>
          </a:p>
          <a:p>
            <a:r>
              <a:t>Round 1 (7 min): Timeline Interviews (pairs). Learners mark 4 points on their own timeline on the first Talk Time page (moved to this city, started a job or class, a hobby, a phone or car). Then they interview a partner: How long have you…? Since when? and write 3 sentences about the partner. Each click shows the next step.</a:t>
            </a:r>
          </a:p>
          <a:p>
            <a:r>
              <a:t>15 learners: pairs for both rounds; rotate once between rounds. 7–8 learners: pairs for both rounds; one rotation between rounds. 5 or fewer: one group for round 1 (each person interviews the person on their left).</a:t>
            </a:r>
          </a:p>
          <a:p>
            <a:r>
              <a:t>Learners choose what to share. Always ask about this city or this job, never this country. Never ask about income, rent, or immigration papers. Invented addresses and answers are fine in every activity.</a:t>
            </a:r>
          </a:p>
          <a:p>
            <a:r>
              <a:t>Lesson plan: Step 5; Talk Time: Timeline Interviews;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Use the time cards. A picks a card and says it (March). B makes a sentence with for or since: I've lived here since March. Switch. 15 learners: swap partners once. 5 or fewer: you join one pair.</a:t>
            </a:r>
          </a:p>
          <a:p>
            <a:r>
              <a:t>If behind: skip the pair check. Talk Time practices it.</a:t>
            </a:r>
          </a:p>
          <a:p>
            <a:r>
              <a:t>Break · 6:45–7:00 · 15 min. Write on the board: How long have you lived / worked…? → I've… for (two years). / I've… since (2020).</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have you lived, 2 worked, 3 's had, 4 did you move, 5 moved, 6 since.</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since, 2 for, 3 since, 4 for, 5 since, 6 for.</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which one? Each click shows one row.</a:t>
            </a:r>
          </a:p>
          <a:p>
            <a:r>
              <a:t>Questions and answers (2 min): Q: Can I say I live here since 2020? A: No. Use the present perfect: I've lived here since 2020. • Q: For or since with March? A: March is a starting point: since March. Three months is a length: for three months. • Q: I've worked or I worked at the bakery? A: Do you work there now? Yes → I've worked there for two years. No → I worked there for two years.</a:t>
            </a:r>
          </a:p>
          <a:p>
            <a:r>
              <a:t>Check questions: "I live here since 2020. Right or wrong?" (wrong: I've lived here since 2020.) • "since three years or for three years?" (for) • "I worked at a bakery for two years. Do I work there now?" (no).</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sort the time words. for + a length of time; since + a starting point. Each click shows the since side of one row.</a:t>
            </a:r>
          </a:p>
          <a:p>
            <a:r>
              <a:t>Use the time cards (2020, March, six months, Monday, ten years, a long time, I was 18, three weeks): hold up a card; the class says for or since.</a:t>
            </a:r>
          </a:p>
          <a:p>
            <a:r>
              <a:t>Lesson plan: Step 4; Grammar Box 3; Materials: time cards.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still true or finished? I've worked at the hotel since 2022 (still true) vs. I worked at a bakery for two years (finished). Each click shows the answer side of one row.</a:t>
            </a:r>
          </a:p>
          <a:p>
            <a:r>
              <a:t>Rule of thumb (read it aloud): still true now → have / has + past participle (I've lived here since 2020). finished → simple past (I lived there for three years). for + a length of time; since + a starting point.</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draw a timeline: "2020 ———————→ now." Say: "I moved here in 2020. I still live here. I've lived here since 2020. That's six years. I've lived here for six years." Point to 2020 (since) and the whole line (for).</a:t>
            </a:r>
          </a:p>
          <a:p>
            <a:r>
              <a:t>Box 1: read across: How long have you lived here? → I've lived here for two years / since 2024. Each click shows the answer side of one row.</a:t>
            </a:r>
          </a:p>
          <a:p>
            <a:r>
              <a:t>Lesson plan: Step 4; Grammar Box 1; Teacher notes: The timeline.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wanna = want to: "I wanna fill out an application." gonna = going to: "My mother is gonna live with me." You can say want to and going to.</a:t>
            </a:r>
          </a:p>
          <a:p>
            <a:r>
              <a:t>Then practice the weak, short for (it sounds like "fer"): for two years • for three years, and link the words: How long have you lived here? The class repeats the two lines twice.</a:t>
            </a:r>
          </a:p>
          <a:p>
            <a:r>
              <a:t>Reductions: learners need to understand gonna and wanna; they can always say going to and want to.</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for, 2 for, 3 Since, 4 for, 5 since, 6 for.</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two years • 2 Lake Road • 3 Green Valley Clinic • 4 medical assistant • 5 March 15, 2022 • 6 no.</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(an apartment).</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"Marisol is at a leasing office. She wants to rent an apartment. Mr. Chen helps her with the application. Listen: what is she applying for?"</a:t>
            </a:r>
          </a:p>
          <a:p>
            <a:r>
              <a:t>There are three voices: a Narrator, Marisol, and Mr. Chen. Each click highlights the next voice.</a:t>
            </a:r>
          </a:p>
          <a:p>
            <a:r>
              <a:t>The audio (about 1:45) is coming soon. When it is ready, it plays the conversation once; press play again for play 2. Until then, read the listening script (at the end of these notes) with a volunteer.</a:t>
            </a:r>
          </a:p>
          <a:p>
            <a:r>
              <a:t>No speaker? Read the script with a volunteer at a natural, friendly speed, two times. Say gonna and wanna where the script has them.</a:t>
            </a:r>
          </a:p>
          <a:p>
            <a:r>
              <a:t>Audio: the listening audio for this lesson (about 1:45)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two. Marisol is at a leasing office. She wants to rent an apartment, and Mr. Chen helps her.</a:t>
            </a:r>
          </a:p>
          <a:p>
            <a:r>
              <a:t>Mr. Chen: Good afternoon. Welcome to Park View Apartments. How can I help you?</a:t>
            </a:r>
          </a:p>
          <a:p>
            <a:r>
              <a:t>Marisol: Hi. I'm here about the two-bedroom apartment. I wanna fill out an application.</a:t>
            </a:r>
          </a:p>
          <a:p>
            <a:r>
              <a:t>Mr. Chen: Great. Let's do it together. What's your current address?</a:t>
            </a:r>
          </a:p>
          <a:p>
            <a:r>
              <a:t>Marisol: It's 418 Elm Street, apartment 3.</a:t>
            </a:r>
          </a:p>
          <a:p>
            <a:r>
              <a:t>Mr. Chen: And how long have you lived there?</a:t>
            </a:r>
          </a:p>
          <a:p>
            <a:r>
              <a:t>Marisol: I've lived there for two years.</a:t>
            </a:r>
          </a:p>
          <a:p>
            <a:r>
              <a:t>Mr. Chen: OK. And your previous address?</a:t>
            </a:r>
          </a:p>
          <a:p>
            <a:r>
              <a:t>Marisol: Before that, I lived on Lake Road with my cousins. I lived there for three years.</a:t>
            </a:r>
          </a:p>
          <a:p>
            <a:r>
              <a:t>Mr. Chen: Why are you moving?</a:t>
            </a:r>
          </a:p>
          <a:p>
            <a:r>
              <a:t>Marisol: My apartment is too small. My mother is gonna live with me.</a:t>
            </a:r>
          </a:p>
          <a:p>
            <a:r>
              <a:t>Mr. Chen: I see. Now, your job. Who's your employer?</a:t>
            </a:r>
          </a:p>
          <a:p>
            <a:r>
              <a:t>Marisol: Green Valley Clinic. I'm a medical assistant.</a:t>
            </a:r>
          </a:p>
          <a:p>
            <a:r>
              <a:t>Mr. Chen: How long have you worked there?</a:t>
            </a:r>
          </a:p>
          <a:p>
            <a:r>
              <a:t>Marisol: Since March 2022. Before that, I worked at a bakery for two years.</a:t>
            </a:r>
          </a:p>
          <a:p>
            <a:r>
              <a:t>Mr. Chen: And your start date at the clinic? March what?</a:t>
            </a:r>
          </a:p>
          <a:p>
            <a:r>
              <a:t>Marisol: March fifteenth.</a:t>
            </a:r>
          </a:p>
          <a:p>
            <a:r>
              <a:t>Mr. Chen: Thank you. We also need one reference. Not a family member, please.</a:t>
            </a:r>
          </a:p>
          <a:p>
            <a:r>
              <a:t>Marisol: Can I give my supervisor's name? She's known me since I started.</a:t>
            </a:r>
          </a:p>
          <a:p>
            <a:r>
              <a:t>Mr. Chen: Sure, that's fine. And will you have a roommate?</a:t>
            </a:r>
          </a:p>
          <a:p>
            <a:r>
              <a:t>Marisol: No, just my mother. When can we move in?</a:t>
            </a:r>
          </a:p>
          <a:p>
            <a:r>
              <a:t>Mr. Chen: The apartment is ready on June first. The lease is for one year.</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"Is your employer a company or a person?" (a company, usually) • 2. "Can your mother be your reference?" (no, usually not) • 3. "Is 2020 a length or a starting point?" (a starting point → since)</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end date (point to a second date on the board); reference (a person who knows you at work; not family). Show for as a length (from one date to another) and since as a starting point (one date).</a:t>
            </a:r>
          </a:p>
          <a:p>
            <a:r>
              <a:t>Partner game (2 min): A points to a picture and asks a question: "employer: Who's your employer?" B answers: "I work for City Hospital."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current address (now) vs. previous address (before); employer (the company) vs. position (your job title); start date (point to a date on the board).</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thing the partner has done.</a:t>
            </a:r>
          </a:p>
          <a:p>
            <a:r>
              <a:t>Homework Check (3 min, last click): pairs compare Homework item 1 (sentences with have / has + a past participle) and read one answer from item 3 to each other. Then they fill in the box on the Opening Talk page. Walk around. Write 2 common errors on the board (often I have seen it last year (→ I saw it last year) and a missing participle (I've never eat → eaten))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How long have you…? and Have you ever…?</a:t>
            </a:r>
          </a:p>
          <a:p>
            <a:r>
              <a:t>Model with one learner: you ask, "Have you ever tried a new food?" The learner answers. Then you ask, "When did you try it? How was it?" Help them say 3 sentences: the experience, when, and how it was.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"How long have you lived here?" Say: "Tonight we talk about housing and job applications: addresses, how long, jobs, and references."</a:t>
            </a:r>
          </a:p>
          <a:p>
            <a:r>
              <a:t>Read the three lines under "Today you will". Give one quick example of each: "How long have you lived here?" • "I've lived here for two years. / since 2024." • "Current address: 418 Elm Street."</a:t>
            </a:r>
          </a:p>
          <a:p>
            <a:r>
              <a:t>Learners choose what to share. Always ask about this city or this job, never this country. Never ask about income, rent, or immigration papers. Invented addresses and answers are fine in every activity.</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How long have you lived here? Goal 2: I've lived here for two years. / since 2024. Goal 3: I've worked at the hotel since 2022 (still true). / I worked at a bakery for two years (finished).</a:t>
            </a:r>
          </a:p>
          <a:p>
            <a:r>
              <a:t>Goal 4: the application in the listening, Talk Time, and Read &amp; Write. Goal 5: the writing in Read &amp; Write.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rental application + sentences about you · 10 min. Pairs read, then individual writing.</a:t>
            </a:r>
          </a:p>
          <a:p>
            <a:r>
              <a:t>Read (4 min): learners read the rental application on the Read &amp; Write page and answer the questions. Say: "Read fast first. Then find the answers." Pairs answer questions 1–5 together.</a:t>
            </a:r>
          </a:p>
          <a:p>
            <a:r>
              <a:t>Check (1 min): click to show each answer (one click per question, 1 to 5): 1 Since August 2023. • 2 For four years (2019–2023). • 3 City Bus Company. • 4 Ana Ruiz, his supervisor. • 5 He needs a bigger apartment for his family.</a:t>
            </a:r>
          </a:p>
          <a:p>
            <a:r>
              <a:t>Write (5 min): learners write 5–8 sentences about how long they (or an invented person) have done three things, with for and since and one used to. Show the example. Invented details are fine.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3.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14.png"/><Relationship Id="rId13" Type="http://schemas.openxmlformats.org/officeDocument/2006/relationships/image" Target="../media/image24.png"/><Relationship Id="rId14"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3.png"/><Relationship Id="rId8"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9.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Application: a clipboard and a pen [sign: APPLICATION]">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2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How Long Have You Lived Here?</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How long…?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Use for and since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Fill in an application</a:t>
            </a:r>
            <a:endParaRPr lang="en-US" sz="22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a:t>
            </a:r>
            <a:r>
              <a:rPr lang="en-US" sz="1500" dirty="0" b="1">
                <a:solidFill>
                  <a:srgbClr val="5B3FC4"/>
                </a:solidFill>
                <a:latin typeface="Lexend Deca" pitchFamily="34" charset="0"/>
                <a:ea typeface="Lexend Deca" pitchFamily="34" charset="-122"/>
                <a:cs typeface="Lexend Deca" pitchFamily="34" charset="-120"/>
              </a:rPr>
              <a:t>How long have you lived / worked…?</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answer with </a:t>
            </a:r>
            <a:r>
              <a:rPr lang="en-US" sz="1500" dirty="0" b="1">
                <a:solidFill>
                  <a:srgbClr val="5B3FC4"/>
                </a:solidFill>
                <a:latin typeface="Lexend Deca" pitchFamily="34" charset="0"/>
                <a:ea typeface="Lexend Deca" pitchFamily="34" charset="-122"/>
                <a:cs typeface="Lexend Deca" pitchFamily="34" charset="-120"/>
              </a:rPr>
              <a:t>for</a:t>
            </a:r>
            <a:r>
              <a:rPr lang="en-US" sz="1500" dirty="0">
                <a:solidFill>
                  <a:srgbClr val="1B2236"/>
                </a:solidFill>
                <a:latin typeface="Lexend Deca" pitchFamily="34" charset="0"/>
                <a:ea typeface="Lexend Deca" pitchFamily="34" charset="-122"/>
                <a:cs typeface="Lexend Deca" pitchFamily="34" charset="-120"/>
              </a:rPr>
              <a:t> + a length of time and </a:t>
            </a:r>
            <a:r>
              <a:rPr lang="en-US" sz="1500" dirty="0" b="1">
                <a:solidFill>
                  <a:srgbClr val="5B3FC4"/>
                </a:solidFill>
                <a:latin typeface="Lexend Deca" pitchFamily="34" charset="0"/>
                <a:ea typeface="Lexend Deca" pitchFamily="34" charset="-122"/>
                <a:cs typeface="Lexend Deca" pitchFamily="34" charset="-120"/>
              </a:rPr>
              <a:t>since</a:t>
            </a:r>
            <a:r>
              <a:rPr lang="en-US" sz="1500" dirty="0">
                <a:solidFill>
                  <a:srgbClr val="1B2236"/>
                </a:solidFill>
                <a:latin typeface="Lexend Deca" pitchFamily="34" charset="0"/>
                <a:ea typeface="Lexend Deca" pitchFamily="34" charset="-122"/>
                <a:cs typeface="Lexend Deca" pitchFamily="34" charset="-120"/>
              </a:rPr>
              <a:t> + a starting point.</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choose the present perfect (still true) or the simple past (finished).</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give an address, an employer, a position, and a start date on an application.</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5–8 sentences about how long I have done three things, with one </a:t>
            </a:r>
            <a:r>
              <a:rPr lang="en-US" sz="1500" dirty="0" b="1">
                <a:solidFill>
                  <a:srgbClr val="5B3FC4"/>
                </a:solidFill>
                <a:latin typeface="Lexend Deca" pitchFamily="34" charset="0"/>
                <a:ea typeface="Lexend Deca" pitchFamily="34" charset="-122"/>
                <a:cs typeface="Lexend Deca" pitchFamily="34" charset="-120"/>
              </a:rPr>
              <a:t>used to</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Roommate: two people and a house"/>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Have you ever tried a new food?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When did you try it? How was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When did you…? How was it?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tried a new food? What was it?</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you ever seen the ocean? Where?</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have you never done, but you want to try?</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Have you ever won a prize?</a:t>
            </a:r>
            <a:endParaRPr lang="en-US" sz="20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1,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Application: a clipboard and a pen [sign: APPLICATION]"/>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application</a:t>
            </a:r>
            <a:endParaRPr lang="en-US" sz="2000" dirty="0" b="1"/>
          </a:p>
        </p:txBody>
      </p:sp>
      <p:pic>
        <p:nvPicPr>
          <p:cNvPr id="19" name="Word picture 2" descr="Current address: a house [sign: NOW: 418 Elm St.]"/>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current address</a:t>
            </a:r>
            <a:endParaRPr lang="en-US" sz="2000" dirty="0" b="1"/>
          </a:p>
        </p:txBody>
      </p:sp>
      <p:pic>
        <p:nvPicPr>
          <p:cNvPr id="21" name="Word picture 3" descr="Previous address: houses [sign: BEFORE: 9 Lake Rd.]"/>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previous address</a:t>
            </a:r>
            <a:endParaRPr lang="en-US" sz="1800" dirty="0" b="1"/>
          </a:p>
        </p:txBody>
      </p:sp>
      <p:pic>
        <p:nvPicPr>
          <p:cNvPr id="23" name="Word picture 4" descr="Employer: an office building and a boss [sign: EMPLOYE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employer</a:t>
            </a:r>
            <a:endParaRPr lang="en-US" sz="2000" dirty="0" b="1"/>
          </a:p>
        </p:txBody>
      </p:sp>
      <p:pic>
        <p:nvPicPr>
          <p:cNvPr id="25" name="Word picture 5" descr="Position (job title): a mechanic [sign: MECHANIC]"/>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position (job title)</a:t>
            </a:r>
            <a:endParaRPr lang="en-US" sz="1800" dirty="0" b="1"/>
          </a:p>
        </p:txBody>
      </p:sp>
      <p:pic>
        <p:nvPicPr>
          <p:cNvPr id="27" name="Word picture 6" descr="Start date: a calendar and an arrow [sign: START: 03/15/2022]"/>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start date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Fill out the form!</a:t>
            </a:r>
            <a:endParaRPr lang="en-US" sz="2200" dirty="0" b="1"/>
          </a:p>
        </p:txBody>
      </p:sp>
      <p:pic>
        <p:nvPicPr>
          <p:cNvPr id="17" name="Word picture 1" descr="End date: a calendar and a stop sign [sign: END: 05/30/2024]"/>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end date</a:t>
            </a:r>
            <a:endParaRPr lang="en-US" sz="2000" dirty="0" b="1"/>
          </a:p>
        </p:txBody>
      </p:sp>
      <p:pic>
        <p:nvPicPr>
          <p:cNvPr id="19" name="Word picture 2" descr="Reference (a person): a supervisor and a phone [sign: REFERENC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reference (a person)</a:t>
            </a:r>
            <a:endParaRPr lang="en-US" sz="1800" dirty="0" b="1"/>
          </a:p>
        </p:txBody>
      </p:sp>
      <p:pic>
        <p:nvPicPr>
          <p:cNvPr id="21" name="Word picture 3" descr="For (two years): an hourglass [sign: FOR 2 YEAR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for (two years)</a:t>
            </a:r>
            <a:endParaRPr lang="en-US" sz="2000" dirty="0" b="1"/>
          </a:p>
        </p:txBody>
      </p:sp>
      <p:pic>
        <p:nvPicPr>
          <p:cNvPr id="23" name="Word picture 4" descr="Since (2020): a calendar [sign: SINCE 2020]"/>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since (2020)</a:t>
            </a:r>
            <a:endParaRPr lang="en-US" sz="2000" dirty="0" b="1"/>
          </a:p>
        </p:txBody>
      </p:sp>
      <p:pic>
        <p:nvPicPr>
          <p:cNvPr id="25" name="Word picture 5" descr="Roommate: two people and a hous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roommate</a:t>
            </a:r>
            <a:endParaRPr lang="en-US" sz="2000" dirty="0" b="1"/>
          </a:p>
        </p:txBody>
      </p:sp>
      <p:pic>
        <p:nvPicPr>
          <p:cNvPr id="27" name="Word picture 6" descr="Lease: a document and a key [sign: LEASE: 1 YEAR]"/>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lease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your employer a company or a person?</a:t>
            </a:r>
            <a:endParaRPr lang="en-US" sz="1600" dirty="0" b="1"/>
          </a:p>
        </p:txBody>
      </p:sp>
      <p:pic>
        <p:nvPicPr>
          <p:cNvPr id="101" name="R1 pic" descr="Employer: an office building and a boss [sign: EMPLOYER]"/>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Can your mother be your reference?</a:t>
            </a:r>
            <a:endParaRPr lang="en-US" sz="1600" dirty="0" b="1"/>
          </a:p>
        </p:txBody>
      </p:sp>
      <p:pic>
        <p:nvPicPr>
          <p:cNvPr id="102" name="R2 pic" descr="Reference (a person): a supervisor and a phone [sign: REFERENCE]"/>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2020 a length or a starting point?</a:t>
            </a:r>
            <a:endParaRPr lang="en-US" sz="1600" dirty="0" b="1"/>
          </a:p>
        </p:txBody>
      </p:sp>
      <p:pic>
        <p:nvPicPr>
          <p:cNvPr id="103" name="R3 pic" descr="Since (2020): a calendar [sign: SINCE 2020]"/>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 company, usually</a:t>
            </a:r>
            <a:endParaRPr lang="en-US" sz="1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no, usually not</a:t>
            </a:r>
            <a:endParaRPr lang="en-US" sz="1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a starting point → since</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Marisol is at a leasing office. She wants to rent an apartment. Mr. Chen helps her with the application.</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Lease: a document and a key [sign: LEASE: 1 YEAR]"/>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Marisol</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Mr. Chen</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Marisol applying for?</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1:45):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is Marisol applying for?</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78892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Marisol:</a:t>
            </a:r>
            <a:endParaRPr lang="en-US" sz="2000" dirty="0"/>
          </a:p>
        </p:txBody>
      </p:sp>
      <p:sp>
        <p:nvSpPr>
          <p:cNvPr id="9" name="R1 opt1"/>
          <p:cNvSpPr/>
          <p:nvPr/>
        </p:nvSpPr>
        <p:spPr>
          <a:xfrm>
            <a:off x="347472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a. a job at a clinic</a:t>
            </a:r>
            <a:endParaRPr lang="en-US" sz="1700" dirty="0" b="1"/>
          </a:p>
        </p:txBody>
      </p:sp>
      <p:sp>
        <p:nvSpPr>
          <p:cNvPr id="10" name="R1 opt2"/>
          <p:cNvSpPr/>
          <p:nvPr/>
        </p:nvSpPr>
        <p:spPr>
          <a:xfrm>
            <a:off x="603504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 an apartment</a:t>
            </a:r>
            <a:endParaRPr lang="en-US" sz="1700" dirty="0" b="1"/>
          </a:p>
        </p:txBody>
      </p:sp>
      <p:sp>
        <p:nvSpPr>
          <p:cNvPr id="11" name="R1 opt3"/>
          <p:cNvSpPr/>
          <p:nvPr/>
        </p:nvSpPr>
        <p:spPr>
          <a:xfrm>
            <a:off x="8595360" y="3108960"/>
            <a:ext cx="2377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c. a class at a bakery</a:t>
            </a:r>
            <a:endParaRPr lang="en-US" sz="1700" dirty="0" b="1"/>
          </a:p>
        </p:txBody>
      </p:sp>
      <p:sp>
        <p:nvSpPr>
          <p:cNvPr id="12" name="R1 circle"/>
          <p:cNvSpPr/>
          <p:nvPr/>
        </p:nvSpPr>
        <p:spPr>
          <a:xfrm>
            <a:off x="5907024" y="3054096"/>
            <a:ext cx="263347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Complete Marisol's application.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answers.</a:t>
            </a:r>
            <a:endParaRPr lang="en-US" sz="2000" dirty="0"/>
          </a:p>
        </p:txBody>
      </p:sp>
      <p:sp>
        <p:nvSpPr>
          <p:cNvPr id="8" name="R1 stmt"/>
          <p:cNvSpPr/>
          <p:nvPr/>
        </p:nvSpPr>
        <p:spPr>
          <a:xfrm>
            <a:off x="502920" y="310896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How long at the current address:</a:t>
            </a:r>
            <a:endParaRPr lang="en-US" sz="1700" dirty="0"/>
          </a:p>
        </p:txBody>
      </p:sp>
      <p:sp>
        <p:nvSpPr>
          <p:cNvPr id="9" name="R1 opt1"/>
          <p:cNvSpPr/>
          <p:nvPr/>
        </p:nvSpPr>
        <p:spPr>
          <a:xfrm>
            <a:off x="5129784" y="31089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two years</a:t>
            </a:r>
            <a:endParaRPr lang="en-US" sz="1400" dirty="0" b="1"/>
          </a:p>
        </p:txBody>
      </p:sp>
      <p:sp>
        <p:nvSpPr>
          <p:cNvPr id="10" name="R1 opt2"/>
          <p:cNvSpPr/>
          <p:nvPr/>
        </p:nvSpPr>
        <p:spPr>
          <a:xfrm>
            <a:off x="7114032" y="31089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three years</a:t>
            </a:r>
            <a:endParaRPr lang="en-US" sz="1400" dirty="0" b="1"/>
          </a:p>
        </p:txBody>
      </p:sp>
      <p:sp>
        <p:nvSpPr>
          <p:cNvPr id="11" name="R1 opt3"/>
          <p:cNvSpPr/>
          <p:nvPr/>
        </p:nvSpPr>
        <p:spPr>
          <a:xfrm>
            <a:off x="9098280" y="31089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since 2022</a:t>
            </a:r>
            <a:endParaRPr lang="en-US" sz="1400" dirty="0" b="1"/>
          </a:p>
        </p:txBody>
      </p:sp>
      <p:sp>
        <p:nvSpPr>
          <p:cNvPr id="12" name="R1 circle"/>
          <p:cNvSpPr/>
          <p:nvPr/>
        </p:nvSpPr>
        <p:spPr>
          <a:xfrm>
            <a:off x="5001768" y="305409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3" name="R2 stmt"/>
          <p:cNvSpPr/>
          <p:nvPr/>
        </p:nvSpPr>
        <p:spPr>
          <a:xfrm>
            <a:off x="502920" y="365760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Previous address:</a:t>
            </a:r>
            <a:endParaRPr lang="en-US" sz="1700" dirty="0"/>
          </a:p>
        </p:txBody>
      </p:sp>
      <p:sp>
        <p:nvSpPr>
          <p:cNvPr id="14" name="R2 opt1"/>
          <p:cNvSpPr/>
          <p:nvPr/>
        </p:nvSpPr>
        <p:spPr>
          <a:xfrm>
            <a:off x="5129784" y="365760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Elm Street</a:t>
            </a:r>
            <a:endParaRPr lang="en-US" sz="1400" dirty="0" b="1"/>
          </a:p>
        </p:txBody>
      </p:sp>
      <p:sp>
        <p:nvSpPr>
          <p:cNvPr id="15" name="R2 opt2"/>
          <p:cNvSpPr/>
          <p:nvPr/>
        </p:nvSpPr>
        <p:spPr>
          <a:xfrm>
            <a:off x="7114032" y="365760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Lake Road</a:t>
            </a:r>
            <a:endParaRPr lang="en-US" sz="1400" dirty="0" b="1"/>
          </a:p>
        </p:txBody>
      </p:sp>
      <p:sp>
        <p:nvSpPr>
          <p:cNvPr id="16" name="R2 opt3"/>
          <p:cNvSpPr/>
          <p:nvPr/>
        </p:nvSpPr>
        <p:spPr>
          <a:xfrm>
            <a:off x="9098280" y="365760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Park View</a:t>
            </a:r>
            <a:endParaRPr lang="en-US" sz="1400" dirty="0" b="1"/>
          </a:p>
        </p:txBody>
      </p:sp>
      <p:sp>
        <p:nvSpPr>
          <p:cNvPr id="17" name="R2 circle"/>
          <p:cNvSpPr/>
          <p:nvPr/>
        </p:nvSpPr>
        <p:spPr>
          <a:xfrm>
            <a:off x="6986016" y="360273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8" name="R3 stmt"/>
          <p:cNvSpPr/>
          <p:nvPr/>
        </p:nvSpPr>
        <p:spPr>
          <a:xfrm>
            <a:off x="502920" y="420624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Employer:</a:t>
            </a:r>
            <a:endParaRPr lang="en-US" sz="1700" dirty="0"/>
          </a:p>
        </p:txBody>
      </p:sp>
      <p:sp>
        <p:nvSpPr>
          <p:cNvPr id="19" name="R3 opt1"/>
          <p:cNvSpPr/>
          <p:nvPr/>
        </p:nvSpPr>
        <p:spPr>
          <a:xfrm>
            <a:off x="5129784" y="420624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 bakery</a:t>
            </a:r>
            <a:endParaRPr lang="en-US" sz="1400" dirty="0" b="1"/>
          </a:p>
        </p:txBody>
      </p:sp>
      <p:sp>
        <p:nvSpPr>
          <p:cNvPr id="20" name="R3 opt2"/>
          <p:cNvSpPr/>
          <p:nvPr/>
        </p:nvSpPr>
        <p:spPr>
          <a:xfrm>
            <a:off x="7114032" y="420624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Green Valley Clinic</a:t>
            </a:r>
            <a:endParaRPr lang="en-US" sz="1400" dirty="0" b="1"/>
          </a:p>
        </p:txBody>
      </p:sp>
      <p:sp>
        <p:nvSpPr>
          <p:cNvPr id="21" name="R3 opt3"/>
          <p:cNvSpPr/>
          <p:nvPr/>
        </p:nvSpPr>
        <p:spPr>
          <a:xfrm>
            <a:off x="9098280" y="420624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Park View Apartments</a:t>
            </a:r>
            <a:endParaRPr lang="en-US" sz="1400" dirty="0" b="1"/>
          </a:p>
        </p:txBody>
      </p:sp>
      <p:sp>
        <p:nvSpPr>
          <p:cNvPr id="22" name="R3 circle"/>
          <p:cNvSpPr/>
          <p:nvPr/>
        </p:nvSpPr>
        <p:spPr>
          <a:xfrm>
            <a:off x="6986016" y="415137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R4 stmt"/>
          <p:cNvSpPr/>
          <p:nvPr/>
        </p:nvSpPr>
        <p:spPr>
          <a:xfrm>
            <a:off x="502920" y="475488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Position:</a:t>
            </a:r>
            <a:endParaRPr lang="en-US" sz="1700" dirty="0"/>
          </a:p>
        </p:txBody>
      </p:sp>
      <p:sp>
        <p:nvSpPr>
          <p:cNvPr id="24" name="R4 opt1"/>
          <p:cNvSpPr/>
          <p:nvPr/>
        </p:nvSpPr>
        <p:spPr>
          <a:xfrm>
            <a:off x="5129784" y="475488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medical assistant</a:t>
            </a:r>
            <a:endParaRPr lang="en-US" sz="1400" dirty="0" b="1"/>
          </a:p>
        </p:txBody>
      </p:sp>
      <p:sp>
        <p:nvSpPr>
          <p:cNvPr id="25" name="R4 opt2"/>
          <p:cNvSpPr/>
          <p:nvPr/>
        </p:nvSpPr>
        <p:spPr>
          <a:xfrm>
            <a:off x="7114032" y="475488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supervisor</a:t>
            </a:r>
            <a:endParaRPr lang="en-US" sz="1400" dirty="0" b="1"/>
          </a:p>
        </p:txBody>
      </p:sp>
      <p:sp>
        <p:nvSpPr>
          <p:cNvPr id="26" name="R4 opt3"/>
          <p:cNvSpPr/>
          <p:nvPr/>
        </p:nvSpPr>
        <p:spPr>
          <a:xfrm>
            <a:off x="9098280" y="475488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baker</a:t>
            </a:r>
            <a:endParaRPr lang="en-US" sz="1400" dirty="0" b="1"/>
          </a:p>
        </p:txBody>
      </p:sp>
      <p:sp>
        <p:nvSpPr>
          <p:cNvPr id="27" name="R4 circle"/>
          <p:cNvSpPr/>
          <p:nvPr/>
        </p:nvSpPr>
        <p:spPr>
          <a:xfrm>
            <a:off x="5001768" y="470001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5 stmt"/>
          <p:cNvSpPr/>
          <p:nvPr/>
        </p:nvSpPr>
        <p:spPr>
          <a:xfrm>
            <a:off x="502920" y="5303520"/>
            <a:ext cx="4443984"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5. Start date:</a:t>
            </a:r>
            <a:endParaRPr lang="en-US" sz="1700" dirty="0"/>
          </a:p>
        </p:txBody>
      </p:sp>
      <p:sp>
        <p:nvSpPr>
          <p:cNvPr id="29" name="R5 opt1"/>
          <p:cNvSpPr/>
          <p:nvPr/>
        </p:nvSpPr>
        <p:spPr>
          <a:xfrm>
            <a:off x="5129784" y="530352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March 5, 2022</a:t>
            </a:r>
            <a:endParaRPr lang="en-US" sz="1400" dirty="0" b="1"/>
          </a:p>
        </p:txBody>
      </p:sp>
      <p:sp>
        <p:nvSpPr>
          <p:cNvPr id="30" name="R5 opt2"/>
          <p:cNvSpPr/>
          <p:nvPr/>
        </p:nvSpPr>
        <p:spPr>
          <a:xfrm>
            <a:off x="7114032" y="530352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March 15, 2022</a:t>
            </a:r>
            <a:endParaRPr lang="en-US" sz="1400" dirty="0" b="1"/>
          </a:p>
        </p:txBody>
      </p:sp>
      <p:sp>
        <p:nvSpPr>
          <p:cNvPr id="31" name="R5 opt3"/>
          <p:cNvSpPr/>
          <p:nvPr/>
        </p:nvSpPr>
        <p:spPr>
          <a:xfrm>
            <a:off x="9098280" y="530352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June 1, 2022</a:t>
            </a:r>
            <a:endParaRPr lang="en-US" sz="1400" dirty="0" b="1"/>
          </a:p>
        </p:txBody>
      </p:sp>
      <p:sp>
        <p:nvSpPr>
          <p:cNvPr id="32" name="R5 circle"/>
          <p:cNvSpPr/>
          <p:nvPr/>
        </p:nvSpPr>
        <p:spPr>
          <a:xfrm>
            <a:off x="6986016" y="524865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3" name="R6 stmt"/>
          <p:cNvSpPr/>
          <p:nvPr/>
        </p:nvSpPr>
        <p:spPr>
          <a:xfrm>
            <a:off x="502920" y="5852160"/>
            <a:ext cx="6428232"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6. Roommate:</a:t>
            </a:r>
            <a:endParaRPr lang="en-US" sz="1700" dirty="0"/>
          </a:p>
        </p:txBody>
      </p:sp>
      <p:sp>
        <p:nvSpPr>
          <p:cNvPr id="34" name="R6 opt1"/>
          <p:cNvSpPr/>
          <p:nvPr/>
        </p:nvSpPr>
        <p:spPr>
          <a:xfrm>
            <a:off x="7114032" y="58521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yes</a:t>
            </a:r>
            <a:endParaRPr lang="en-US" sz="1400" dirty="0" b="1"/>
          </a:p>
        </p:txBody>
      </p:sp>
      <p:sp>
        <p:nvSpPr>
          <p:cNvPr id="35" name="R6 opt2"/>
          <p:cNvSpPr/>
          <p:nvPr/>
        </p:nvSpPr>
        <p:spPr>
          <a:xfrm>
            <a:off x="9098280" y="5852160"/>
            <a:ext cx="18745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no</a:t>
            </a:r>
            <a:endParaRPr lang="en-US" sz="1400" dirty="0" b="1"/>
          </a:p>
        </p:txBody>
      </p:sp>
      <p:sp>
        <p:nvSpPr>
          <p:cNvPr id="36" name="R6 circle"/>
          <p:cNvSpPr/>
          <p:nvPr/>
        </p:nvSpPr>
        <p:spPr>
          <a:xfrm>
            <a:off x="8970264" y="5797296"/>
            <a:ext cx="21305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for or since.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for, since</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lived there ____ two years.</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lived there ____ three years.</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March 2022.</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Before that, I worked at a bakery ____ two years.</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She's known me ____ I started.</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lease is ____ one year.</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wanna = want to, gonna = going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a short for ("fer")</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You will hear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You can say </a:t>
            </a:r>
            <a:r>
              <a:rPr lang="en-US" sz="2000" dirty="0" b="1">
                <a:solidFill>
                  <a:srgbClr val="5B3FC4"/>
                </a:solidFill>
                <a:latin typeface="Lexend Deca" pitchFamily="34" charset="0"/>
                <a:ea typeface="Lexend Deca" pitchFamily="34" charset="-122"/>
                <a:cs typeface="Lexend Deca" pitchFamily="34" charset="-120"/>
              </a:rPr>
              <a:t>want to</a:t>
            </a:r>
            <a:r>
              <a:rPr lang="en-US" sz="2000" dirty="0" b="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going to</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wanna</a:t>
            </a:r>
            <a:r>
              <a:rPr lang="en-US" sz="1800" dirty="0" b="1">
                <a:solidFill>
                  <a:srgbClr val="1B2236"/>
                </a:solidFill>
                <a:latin typeface="Lexend Deca" pitchFamily="34" charset="0"/>
                <a:ea typeface="Lexend Deca" pitchFamily="34" charset="-122"/>
                <a:cs typeface="Lexend Deca" pitchFamily="34" charset="-120"/>
              </a:rPr>
              <a:t> fill out an application.</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My mother is </a:t>
            </a:r>
            <a:r>
              <a:rPr lang="en-US" sz="1800" dirty="0" b="1">
                <a:solidFill>
                  <a:srgbClr val="5B3FC4"/>
                </a:solidFill>
                <a:latin typeface="Lexend Deca" pitchFamily="34" charset="0"/>
                <a:ea typeface="Lexend Deca" pitchFamily="34" charset="-122"/>
                <a:cs typeface="Lexend Deca" pitchFamily="34" charset="-120"/>
              </a:rPr>
              <a:t>gonna</a:t>
            </a:r>
            <a:r>
              <a:rPr lang="en-US" sz="1800" dirty="0" b="1">
                <a:solidFill>
                  <a:srgbClr val="1B2236"/>
                </a:solidFill>
                <a:latin typeface="Lexend Deca" pitchFamily="34" charset="0"/>
                <a:ea typeface="Lexend Deca" pitchFamily="34" charset="-122"/>
                <a:cs typeface="Lexend Deca" pitchFamily="34" charset="-120"/>
              </a:rPr>
              <a:t> live with me.</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I've lived there </a:t>
            </a:r>
            <a:r>
              <a:rPr lang="en-US" sz="1800" dirty="0" b="1">
                <a:solidFill>
                  <a:srgbClr val="5B3FC4"/>
                </a:solidFill>
                <a:latin typeface="Lexend Deca" pitchFamily="34" charset="0"/>
                <a:ea typeface="Lexend Deca" pitchFamily="34" charset="-122"/>
                <a:cs typeface="Lexend Deca" pitchFamily="34" charset="-120"/>
              </a:rPr>
              <a:t>for</a:t>
            </a:r>
            <a:r>
              <a:rPr lang="en-US" sz="1800" dirty="0" b="1">
                <a:solidFill>
                  <a:srgbClr val="1B2236"/>
                </a:solidFill>
                <a:latin typeface="Lexend Deca" pitchFamily="34" charset="0"/>
                <a:ea typeface="Lexend Deca" pitchFamily="34" charset="-122"/>
                <a:cs typeface="Lexend Deca" pitchFamily="34" charset="-120"/>
              </a:rPr>
              <a:t> two years.</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have you lived here?</a:t>
            </a:r>
            <a:endParaRPr lang="en-US" sz="1800" dirty="0" b="1"/>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or (two years): an hourglass [sign: FOR 2 YEARS]"/>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How long…? with for and since</a:t>
            </a:r>
            <a:endParaRPr lang="en-US" sz="2100" dirty="0" b="1"/>
          </a:p>
        </p:txBody>
      </p:sp>
      <p:sp>
        <p:nvSpPr>
          <p:cNvPr id="8" name="Q head"/>
          <p:cNvSpPr/>
          <p:nvPr/>
        </p:nvSpPr>
        <p:spPr>
          <a:xfrm>
            <a:off x="5166360" y="182880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955280" y="1828800"/>
            <a:ext cx="39776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74320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have</a:t>
            </a:r>
            <a:r>
              <a:rPr lang="en-US" sz="1800" dirty="0" b="1">
                <a:solidFill>
                  <a:srgbClr val="1B2236"/>
                </a:solidFill>
                <a:latin typeface="Lexend Deca" pitchFamily="34" charset="0"/>
                <a:ea typeface="Lexend Deca" pitchFamily="34" charset="-122"/>
                <a:cs typeface="Lexend Deca" pitchFamily="34" charset="-120"/>
              </a:rPr>
              <a:t> you lived here?</a:t>
            </a:r>
            <a:endParaRPr lang="en-US" sz="1800" dirty="0" b="1"/>
          </a:p>
        </p:txBody>
      </p:sp>
      <p:sp>
        <p:nvSpPr>
          <p:cNvPr id="19" name="Answer bg 1"/>
          <p:cNvSpPr/>
          <p:nvPr/>
        </p:nvSpPr>
        <p:spPr>
          <a:xfrm>
            <a:off x="7955280" y="2286000"/>
            <a:ext cx="397764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955280" y="2286000"/>
            <a:ext cx="39776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a:t>
            </a:r>
            <a:r>
              <a:rPr lang="en-US" sz="1800" dirty="0" b="1">
                <a:solidFill>
                  <a:srgbClr val="1B2236"/>
                </a:solidFill>
                <a:latin typeface="Lexend Deca" pitchFamily="34" charset="0"/>
                <a:ea typeface="Lexend Deca" pitchFamily="34" charset="-122"/>
                <a:cs typeface="Lexend Deca" pitchFamily="34" charset="-120"/>
              </a:rPr>
              <a:t>'ve lived</a:t>
            </a:r>
            <a:r>
              <a:rPr lang="en-US" sz="1800" dirty="0" b="1">
                <a:solidFill>
                  <a:srgbClr val="1B2236"/>
                </a:solidFill>
                <a:latin typeface="Lexend Deca" pitchFamily="34" charset="0"/>
                <a:ea typeface="Lexend Deca" pitchFamily="34" charset="-122"/>
                <a:cs typeface="Lexend Deca" pitchFamily="34" charset="-120"/>
              </a:rPr>
              <a:t> here </a:t>
            </a:r>
            <a:r>
              <a:rPr lang="en-US" sz="1800" dirty="0" b="1">
                <a:solidFill>
                  <a:srgbClr val="1B2236"/>
                </a:solidFill>
                <a:latin typeface="Lexend Deca" pitchFamily="34" charset="0"/>
                <a:ea typeface="Lexend Deca" pitchFamily="34" charset="-122"/>
                <a:cs typeface="Lexend Deca" pitchFamily="34" charset="-120"/>
              </a:rPr>
              <a:t>for</a:t>
            </a:r>
            <a:r>
              <a:rPr lang="en-US" sz="1800" dirty="0" b="1">
                <a:solidFill>
                  <a:srgbClr val="1B2236"/>
                </a:solidFill>
                <a:latin typeface="Lexend Deca" pitchFamily="34" charset="0"/>
                <a:ea typeface="Lexend Deca" pitchFamily="34" charset="-122"/>
                <a:cs typeface="Lexend Deca" pitchFamily="34" charset="-120"/>
              </a:rPr>
              <a:t> two years.</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I</a:t>
            </a:r>
            <a:r>
              <a:rPr lang="en-US" sz="1800" dirty="0" b="1">
                <a:solidFill>
                  <a:srgbClr val="1B2236"/>
                </a:solidFill>
                <a:latin typeface="Lexend Deca" pitchFamily="34" charset="0"/>
                <a:ea typeface="Lexend Deca" pitchFamily="34" charset="-122"/>
                <a:cs typeface="Lexend Deca" pitchFamily="34" charset="-120"/>
              </a:rPr>
              <a:t>'ve lived</a:t>
            </a:r>
            <a:r>
              <a:rPr lang="en-US" sz="1800" dirty="0" b="1">
                <a:solidFill>
                  <a:srgbClr val="1B2236"/>
                </a:solidFill>
                <a:latin typeface="Lexend Deca" pitchFamily="34" charset="0"/>
                <a:ea typeface="Lexend Deca" pitchFamily="34" charset="-122"/>
                <a:cs typeface="Lexend Deca" pitchFamily="34" charset="-120"/>
              </a:rPr>
              <a:t> here </a:t>
            </a:r>
            <a:r>
              <a:rPr lang="en-US" sz="1800" dirty="0" b="1">
                <a:solidFill>
                  <a:srgbClr val="1B2236"/>
                </a:solidFill>
                <a:latin typeface="Lexend Deca" pitchFamily="34" charset="0"/>
                <a:ea typeface="Lexend Deca" pitchFamily="34" charset="-122"/>
                <a:cs typeface="Lexend Deca" pitchFamily="34" charset="-120"/>
              </a:rPr>
              <a:t>since</a:t>
            </a:r>
            <a:r>
              <a:rPr lang="en-US" sz="1800" dirty="0" b="1">
                <a:solidFill>
                  <a:srgbClr val="1B2236"/>
                </a:solidFill>
                <a:latin typeface="Lexend Deca" pitchFamily="34" charset="0"/>
                <a:ea typeface="Lexend Deca" pitchFamily="34" charset="-122"/>
                <a:cs typeface="Lexend Deca" pitchFamily="34" charset="-120"/>
              </a:rPr>
              <a:t> 2024.</a:t>
            </a:r>
            <a:endParaRPr lang="en-US" sz="1800" dirty="0" b="1"/>
          </a:p>
        </p:txBody>
      </p:sp>
      <p:sp>
        <p:nvSpPr>
          <p:cNvPr id="21" name="Question 2"/>
          <p:cNvSpPr/>
          <p:nvPr/>
        </p:nvSpPr>
        <p:spPr>
          <a:xfrm>
            <a:off x="5138928" y="3383280"/>
            <a:ext cx="274320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has</a:t>
            </a:r>
            <a:r>
              <a:rPr lang="en-US" sz="1800" dirty="0" b="1">
                <a:solidFill>
                  <a:srgbClr val="1B2236"/>
                </a:solidFill>
                <a:latin typeface="Lexend Deca" pitchFamily="34" charset="0"/>
                <a:ea typeface="Lexend Deca" pitchFamily="34" charset="-122"/>
                <a:cs typeface="Lexend Deca" pitchFamily="34" charset="-120"/>
              </a:rPr>
              <a:t> she worked at the clinic?</a:t>
            </a:r>
            <a:endParaRPr lang="en-US" sz="1800" dirty="0" b="1"/>
          </a:p>
        </p:txBody>
      </p:sp>
      <p:sp>
        <p:nvSpPr>
          <p:cNvPr id="22" name="Answer bg 2"/>
          <p:cNvSpPr/>
          <p:nvPr/>
        </p:nvSpPr>
        <p:spPr>
          <a:xfrm>
            <a:off x="7955280" y="3383280"/>
            <a:ext cx="397764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955280" y="3383280"/>
            <a:ext cx="39776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She</a:t>
            </a:r>
            <a:r>
              <a:rPr lang="en-US" sz="1800" dirty="0" b="1">
                <a:solidFill>
                  <a:srgbClr val="1B2236"/>
                </a:solidFill>
                <a:latin typeface="Lexend Deca" pitchFamily="34" charset="0"/>
                <a:ea typeface="Lexend Deca" pitchFamily="34" charset="-122"/>
                <a:cs typeface="Lexend Deca" pitchFamily="34" charset="-120"/>
              </a:rPr>
              <a:t>'s worked</a:t>
            </a:r>
            <a:r>
              <a:rPr lang="en-US" sz="1800" dirty="0" b="1">
                <a:solidFill>
                  <a:srgbClr val="1B2236"/>
                </a:solidFill>
                <a:latin typeface="Lexend Deca" pitchFamily="34" charset="0"/>
                <a:ea typeface="Lexend Deca" pitchFamily="34" charset="-122"/>
                <a:cs typeface="Lexend Deca" pitchFamily="34" charset="-120"/>
              </a:rPr>
              <a:t> there </a:t>
            </a:r>
            <a:r>
              <a:rPr lang="en-US" sz="1800" dirty="0" b="1">
                <a:solidFill>
                  <a:srgbClr val="1B2236"/>
                </a:solidFill>
                <a:latin typeface="Lexend Deca" pitchFamily="34" charset="0"/>
                <a:ea typeface="Lexend Deca" pitchFamily="34" charset="-122"/>
                <a:cs typeface="Lexend Deca" pitchFamily="34" charset="-120"/>
              </a:rPr>
              <a:t>since</a:t>
            </a:r>
            <a:r>
              <a:rPr lang="en-US" sz="1800" dirty="0" b="1">
                <a:solidFill>
                  <a:srgbClr val="1B2236"/>
                </a:solidFill>
                <a:latin typeface="Lexend Deca" pitchFamily="34" charset="0"/>
                <a:ea typeface="Lexend Deca" pitchFamily="34" charset="-122"/>
                <a:cs typeface="Lexend Deca" pitchFamily="34" charset="-120"/>
              </a:rPr>
              <a:t> March.</a:t>
            </a:r>
            <a:endParaRPr lang="en-US" sz="1800" dirty="0" b="1"/>
          </a:p>
        </p:txBody>
      </p:sp>
      <p:sp>
        <p:nvSpPr>
          <p:cNvPr id="24" name="Question 3"/>
          <p:cNvSpPr/>
          <p:nvPr/>
        </p:nvSpPr>
        <p:spPr>
          <a:xfrm>
            <a:off x="5138928" y="4480560"/>
            <a:ext cx="274320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How long has</a:t>
            </a:r>
            <a:r>
              <a:rPr lang="en-US" sz="1800" dirty="0" b="1">
                <a:solidFill>
                  <a:srgbClr val="1B2236"/>
                </a:solidFill>
                <a:latin typeface="Lexend Deca" pitchFamily="34" charset="0"/>
                <a:ea typeface="Lexend Deca" pitchFamily="34" charset="-122"/>
                <a:cs typeface="Lexend Deca" pitchFamily="34" charset="-120"/>
              </a:rPr>
              <a:t> he known his supervisor?</a:t>
            </a:r>
            <a:endParaRPr lang="en-US" sz="1800" dirty="0" b="1"/>
          </a:p>
        </p:txBody>
      </p:sp>
      <p:sp>
        <p:nvSpPr>
          <p:cNvPr id="25" name="Answer bg 3"/>
          <p:cNvSpPr/>
          <p:nvPr/>
        </p:nvSpPr>
        <p:spPr>
          <a:xfrm>
            <a:off x="7955280" y="4480560"/>
            <a:ext cx="397764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955280" y="4480560"/>
            <a:ext cx="397764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t>
            </a:r>
            <a:r>
              <a:rPr lang="en-US" sz="1800" dirty="0" b="1">
                <a:solidFill>
                  <a:srgbClr val="1B2236"/>
                </a:solidFill>
                <a:latin typeface="Lexend Deca" pitchFamily="34" charset="0"/>
                <a:ea typeface="Lexend Deca" pitchFamily="34" charset="-122"/>
                <a:cs typeface="Lexend Deca" pitchFamily="34" charset="-120"/>
              </a:rPr>
              <a:t>'s known</a:t>
            </a:r>
            <a:r>
              <a:rPr lang="en-US" sz="1800" dirty="0" b="1">
                <a:solidFill>
                  <a:srgbClr val="1B2236"/>
                </a:solidFill>
                <a:latin typeface="Lexend Deca" pitchFamily="34" charset="0"/>
                <a:ea typeface="Lexend Deca" pitchFamily="34" charset="-122"/>
                <a:cs typeface="Lexend Deca" pitchFamily="34" charset="-120"/>
              </a:rPr>
              <a:t> her </a:t>
            </a:r>
            <a:r>
              <a:rPr lang="en-US" sz="1800" dirty="0" b="1">
                <a:solidFill>
                  <a:srgbClr val="1B2236"/>
                </a:solidFill>
                <a:latin typeface="Lexend Deca" pitchFamily="34" charset="0"/>
                <a:ea typeface="Lexend Deca" pitchFamily="34" charset="-122"/>
                <a:cs typeface="Lexend Deca" pitchFamily="34" charset="-120"/>
              </a:rPr>
              <a:t>since</a:t>
            </a:r>
            <a:r>
              <a:rPr lang="en-US" sz="1800" dirty="0" b="1">
                <a:solidFill>
                  <a:srgbClr val="1B2236"/>
                </a:solidFill>
                <a:latin typeface="Lexend Deca" pitchFamily="34" charset="0"/>
                <a:ea typeface="Lexend Deca" pitchFamily="34" charset="-122"/>
                <a:cs typeface="Lexend Deca" pitchFamily="34" charset="-120"/>
              </a:rPr>
              <a:t> he started.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Previous address: houses [sign: BEFORE: 9 Lake Rd.]"/>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still true or finished?</a:t>
            </a:r>
            <a:endParaRPr lang="en-US" sz="2400" dirty="0" b="1"/>
          </a:p>
        </p:txBody>
      </p:sp>
      <p:sp>
        <p:nvSpPr>
          <p:cNvPr id="8" name="Q head"/>
          <p:cNvSpPr/>
          <p:nvPr/>
        </p:nvSpPr>
        <p:spPr>
          <a:xfrm>
            <a:off x="5166360" y="182880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955280" y="1828800"/>
            <a:ext cx="39776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have</a:t>
            </a:r>
            <a:r>
              <a:rPr lang="en-US" sz="1700" dirty="0" b="1">
                <a:solidFill>
                  <a:srgbClr val="1B2236"/>
                </a:solidFill>
                <a:latin typeface="Lexend Deca" pitchFamily="34" charset="0"/>
                <a:ea typeface="Lexend Deca" pitchFamily="34" charset="-122"/>
                <a:cs typeface="Lexend Deca" pitchFamily="34" charset="-120"/>
              </a:rPr>
              <a:t> you worked at the hotel?</a:t>
            </a:r>
            <a:endParaRPr lang="en-US" sz="1700" dirty="0" b="1"/>
          </a:p>
        </p:txBody>
      </p:sp>
      <p:sp>
        <p:nvSpPr>
          <p:cNvPr id="19" name="Answer bg 1"/>
          <p:cNvSpPr/>
          <p:nvPr/>
        </p:nvSpPr>
        <p:spPr>
          <a:xfrm>
            <a:off x="7955280" y="228600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955280" y="228600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worked</a:t>
            </a:r>
            <a:r>
              <a:rPr lang="en-US" sz="1700" dirty="0" b="1">
                <a:solidFill>
                  <a:srgbClr val="1B2236"/>
                </a:solidFill>
                <a:latin typeface="Lexend Deca" pitchFamily="34" charset="0"/>
                <a:ea typeface="Lexend Deca" pitchFamily="34" charset="-122"/>
                <a:cs typeface="Lexend Deca" pitchFamily="34" charset="-120"/>
              </a:rPr>
              <a:t> there </a:t>
            </a:r>
            <a:r>
              <a:rPr lang="en-US" sz="1700" dirty="0" b="1">
                <a:solidFill>
                  <a:srgbClr val="1B2236"/>
                </a:solidFill>
                <a:latin typeface="Lexend Deca" pitchFamily="34" charset="0"/>
                <a:ea typeface="Lexend Deca" pitchFamily="34" charset="-122"/>
                <a:cs typeface="Lexend Deca" pitchFamily="34" charset="-120"/>
              </a:rPr>
              <a:t>since</a:t>
            </a:r>
            <a:r>
              <a:rPr lang="en-US" sz="1700" dirty="0" b="1">
                <a:solidFill>
                  <a:srgbClr val="1B2236"/>
                </a:solidFill>
                <a:latin typeface="Lexend Deca" pitchFamily="34" charset="0"/>
                <a:ea typeface="Lexend Deca" pitchFamily="34" charset="-122"/>
                <a:cs typeface="Lexend Deca" pitchFamily="34" charset="-120"/>
              </a:rPr>
              <a:t> 2022. (still true)</a:t>
            </a:r>
            <a:endParaRPr lang="en-US" sz="1700" dirty="0" b="1"/>
          </a:p>
        </p:txBody>
      </p:sp>
      <p:sp>
        <p:nvSpPr>
          <p:cNvPr id="21" name="Question 2"/>
          <p:cNvSpPr/>
          <p:nvPr/>
        </p:nvSpPr>
        <p:spPr>
          <a:xfrm>
            <a:off x="5138928" y="324612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did</a:t>
            </a:r>
            <a:r>
              <a:rPr lang="en-US" sz="1700" dirty="0" b="1">
                <a:solidFill>
                  <a:srgbClr val="1B2236"/>
                </a:solidFill>
                <a:latin typeface="Lexend Deca" pitchFamily="34" charset="0"/>
                <a:ea typeface="Lexend Deca" pitchFamily="34" charset="-122"/>
                <a:cs typeface="Lexend Deca" pitchFamily="34" charset="-120"/>
              </a:rPr>
              <a:t> you work at the bakery?</a:t>
            </a:r>
            <a:endParaRPr lang="en-US" sz="1700" dirty="0" b="1"/>
          </a:p>
        </p:txBody>
      </p:sp>
      <p:sp>
        <p:nvSpPr>
          <p:cNvPr id="22" name="Answer bg 2"/>
          <p:cNvSpPr/>
          <p:nvPr/>
        </p:nvSpPr>
        <p:spPr>
          <a:xfrm>
            <a:off x="7955280" y="324612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955280" y="324612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worked</a:t>
            </a:r>
            <a:r>
              <a:rPr lang="en-US" sz="1700" dirty="0" b="1">
                <a:solidFill>
                  <a:srgbClr val="1B2236"/>
                </a:solidFill>
                <a:latin typeface="Lexend Deca" pitchFamily="34" charset="0"/>
                <a:ea typeface="Lexend Deca" pitchFamily="34" charset="-122"/>
                <a:cs typeface="Lexend Deca" pitchFamily="34" charset="-120"/>
              </a:rPr>
              <a:t> there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two years. (finished)</a:t>
            </a:r>
            <a:endParaRPr lang="en-US" sz="1700" dirty="0" b="1"/>
          </a:p>
        </p:txBody>
      </p:sp>
      <p:sp>
        <p:nvSpPr>
          <p:cNvPr id="24" name="Question 3"/>
          <p:cNvSpPr/>
          <p:nvPr/>
        </p:nvSpPr>
        <p:spPr>
          <a:xfrm>
            <a:off x="5138928" y="420624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When did</a:t>
            </a:r>
            <a:r>
              <a:rPr lang="en-US" sz="1700" dirty="0" b="1">
                <a:solidFill>
                  <a:srgbClr val="1B2236"/>
                </a:solidFill>
                <a:latin typeface="Lexend Deca" pitchFamily="34" charset="0"/>
                <a:ea typeface="Lexend Deca" pitchFamily="34" charset="-122"/>
                <a:cs typeface="Lexend Deca" pitchFamily="34" charset="-120"/>
              </a:rPr>
              <a:t> you move here?</a:t>
            </a:r>
            <a:endParaRPr lang="en-US" sz="1700" dirty="0" b="1"/>
          </a:p>
        </p:txBody>
      </p:sp>
      <p:sp>
        <p:nvSpPr>
          <p:cNvPr id="25" name="Answer bg 3"/>
          <p:cNvSpPr/>
          <p:nvPr/>
        </p:nvSpPr>
        <p:spPr>
          <a:xfrm>
            <a:off x="7955280" y="420624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955280" y="420624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moved</a:t>
            </a:r>
            <a:r>
              <a:rPr lang="en-US" sz="1700" dirty="0" b="1">
                <a:solidFill>
                  <a:srgbClr val="1B2236"/>
                </a:solidFill>
                <a:latin typeface="Lexend Deca" pitchFamily="34" charset="0"/>
                <a:ea typeface="Lexend Deca" pitchFamily="34" charset="-122"/>
                <a:cs typeface="Lexend Deca" pitchFamily="34" charset="-120"/>
              </a:rPr>
              <a:t> here in 2021. / five years ago.</a:t>
            </a:r>
            <a:endParaRPr lang="en-US" sz="1700" dirty="0" b="1"/>
          </a:p>
        </p:txBody>
      </p:sp>
      <p:sp>
        <p:nvSpPr>
          <p:cNvPr id="27" name="Question 4"/>
          <p:cNvSpPr/>
          <p:nvPr/>
        </p:nvSpPr>
        <p:spPr>
          <a:xfrm>
            <a:off x="5138928" y="5166360"/>
            <a:ext cx="274320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Did</a:t>
            </a:r>
            <a:r>
              <a:rPr lang="en-US" sz="1700" dirty="0" b="1">
                <a:solidFill>
                  <a:srgbClr val="1B2236"/>
                </a:solidFill>
                <a:latin typeface="Lexend Deca" pitchFamily="34" charset="0"/>
                <a:ea typeface="Lexend Deca" pitchFamily="34" charset="-122"/>
                <a:cs typeface="Lexend Deca" pitchFamily="34" charset="-120"/>
              </a:rPr>
              <a:t> you use to live with family?</a:t>
            </a:r>
            <a:endParaRPr lang="en-US" sz="1700" dirty="0" b="1"/>
          </a:p>
        </p:txBody>
      </p:sp>
      <p:sp>
        <p:nvSpPr>
          <p:cNvPr id="28" name="Answer bg 4"/>
          <p:cNvSpPr/>
          <p:nvPr/>
        </p:nvSpPr>
        <p:spPr>
          <a:xfrm>
            <a:off x="7955280" y="5166360"/>
            <a:ext cx="3977640" cy="8869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955280" y="5166360"/>
            <a:ext cx="3977640" cy="8869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I </a:t>
            </a:r>
            <a:r>
              <a:rPr lang="en-US" sz="1700" dirty="0" b="1">
                <a:solidFill>
                  <a:srgbClr val="1B2236"/>
                </a:solidFill>
                <a:latin typeface="Lexend Deca" pitchFamily="34" charset="0"/>
                <a:ea typeface="Lexend Deca" pitchFamily="34" charset="-122"/>
                <a:cs typeface="Lexend Deca" pitchFamily="34" charset="-120"/>
              </a:rPr>
              <a:t>used to</a:t>
            </a:r>
            <a:r>
              <a:rPr lang="en-US" sz="1700" dirty="0" b="1">
                <a:solidFill>
                  <a:srgbClr val="1B2236"/>
                </a:solidFill>
                <a:latin typeface="Lexend Deca" pitchFamily="34" charset="0"/>
                <a:ea typeface="Lexend Deca" pitchFamily="34" charset="-122"/>
                <a:cs typeface="Lexend Deca" pitchFamily="34" charset="-120"/>
              </a:rPr>
              <a:t> live with my cousins. Now I live with my mother.</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ince (2020): a calendar [sign: SINCE 2020]"/>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for or since?</a:t>
            </a:r>
            <a:endParaRPr lang="en-US" sz="28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FOR + A LENGTH OF TIME</a:t>
            </a:r>
            <a:endParaRPr lang="en-US" sz="16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SINCE + A STARTING POINT</a:t>
            </a:r>
            <a:endParaRPr lang="en-US" sz="1600" dirty="0" b="1"/>
          </a:p>
        </p:txBody>
      </p:sp>
      <p:sp>
        <p:nvSpPr>
          <p:cNvPr id="18" name="Question 1"/>
          <p:cNvSpPr/>
          <p:nvPr/>
        </p:nvSpPr>
        <p:spPr>
          <a:xfrm>
            <a:off x="5138928" y="2286000"/>
            <a:ext cx="329184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for two years • for six months</a:t>
            </a:r>
            <a:endParaRPr lang="en-US" sz="1900" dirty="0" b="1"/>
          </a:p>
        </p:txBody>
      </p:sp>
      <p:sp>
        <p:nvSpPr>
          <p:cNvPr id="19" name="Answer bg 1"/>
          <p:cNvSpPr/>
          <p:nvPr/>
        </p:nvSpPr>
        <p:spPr>
          <a:xfrm>
            <a:off x="8503920" y="2286000"/>
            <a:ext cx="3429000" cy="7498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since 2020 • since March</a:t>
            </a:r>
            <a:endParaRPr lang="en-US" sz="1900" dirty="0" b="1"/>
          </a:p>
        </p:txBody>
      </p:sp>
      <p:sp>
        <p:nvSpPr>
          <p:cNvPr id="21" name="Question 2"/>
          <p:cNvSpPr/>
          <p:nvPr/>
        </p:nvSpPr>
        <p:spPr>
          <a:xfrm>
            <a:off x="5138928" y="3108960"/>
            <a:ext cx="329184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for ten days • for a week</a:t>
            </a:r>
            <a:endParaRPr lang="en-US" sz="1900" dirty="0" b="1"/>
          </a:p>
        </p:txBody>
      </p:sp>
      <p:sp>
        <p:nvSpPr>
          <p:cNvPr id="22" name="Answer bg 2"/>
          <p:cNvSpPr/>
          <p:nvPr/>
        </p:nvSpPr>
        <p:spPr>
          <a:xfrm>
            <a:off x="8503920" y="3108960"/>
            <a:ext cx="3429000" cy="7498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3108960"/>
            <a:ext cx="342900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since Monday • since last summer</a:t>
            </a:r>
            <a:endParaRPr lang="en-US" sz="1900" dirty="0" b="1"/>
          </a:p>
        </p:txBody>
      </p:sp>
      <p:sp>
        <p:nvSpPr>
          <p:cNvPr id="24" name="Question 3"/>
          <p:cNvSpPr/>
          <p:nvPr/>
        </p:nvSpPr>
        <p:spPr>
          <a:xfrm>
            <a:off x="5138928" y="3931920"/>
            <a:ext cx="329184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for a long time • for 20 minutes</a:t>
            </a:r>
            <a:endParaRPr lang="en-US" sz="1900" dirty="0" b="1"/>
          </a:p>
        </p:txBody>
      </p:sp>
      <p:sp>
        <p:nvSpPr>
          <p:cNvPr id="25" name="Answer bg 3"/>
          <p:cNvSpPr/>
          <p:nvPr/>
        </p:nvSpPr>
        <p:spPr>
          <a:xfrm>
            <a:off x="8503920" y="3931920"/>
            <a:ext cx="3429000" cy="7498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8503920" y="3931920"/>
            <a:ext cx="3429000" cy="74980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since I was 18 • since I started</a:t>
            </a:r>
            <a:endParaRPr lang="en-US" sz="19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tart date: a calendar and an arrow [sign: START: 03/15/2022]"/>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Which one?</a:t>
            </a:r>
            <a:endParaRPr lang="en-US" sz="28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 / has</a:t>
            </a:r>
            <a:r>
              <a:rPr lang="en-US" sz="1800" dirty="0" b="1">
                <a:solidFill>
                  <a:srgbClr val="1B2236"/>
                </a:solidFill>
                <a:latin typeface="Lexend Deca" pitchFamily="34" charset="0"/>
                <a:ea typeface="Lexend Deca" pitchFamily="34" charset="-122"/>
                <a:cs typeface="Lexend Deca" pitchFamily="34" charset="-120"/>
              </a:rPr>
              <a:t> + past participle</a:t>
            </a:r>
            <a:endParaRPr lang="en-US" sz="1800" dirty="0" b="1"/>
          </a:p>
        </p:txBody>
      </p:sp>
      <p:sp>
        <p:nvSpPr>
          <p:cNvPr id="19" name="Answer bg 1"/>
          <p:cNvSpPr/>
          <p:nvPr/>
        </p:nvSpPr>
        <p:spPr>
          <a:xfrm>
            <a:off x="7589520" y="228600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started in the past and it is </a:t>
            </a:r>
            <a:r>
              <a:rPr lang="en-US" sz="1700" dirty="0" b="1">
                <a:solidFill>
                  <a:srgbClr val="1B2236"/>
                </a:solidFill>
                <a:latin typeface="Lexend Deca" pitchFamily="34" charset="0"/>
                <a:ea typeface="Lexend Deca" pitchFamily="34" charset="-122"/>
                <a:cs typeface="Lexend Deca" pitchFamily="34" charset="-120"/>
              </a:rPr>
              <a:t>still true now</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I've worked at the clinic since 2022.</a:t>
            </a:r>
            <a:endParaRPr lang="en-US" sz="1700" dirty="0" b="1"/>
          </a:p>
        </p:txBody>
      </p:sp>
      <p:sp>
        <p:nvSpPr>
          <p:cNvPr id="21" name="Question 2"/>
          <p:cNvSpPr/>
          <p:nvPr/>
        </p:nvSpPr>
        <p:spPr>
          <a:xfrm>
            <a:off x="5138928" y="347472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a:t>
            </a:r>
            <a:endParaRPr lang="en-US" sz="1800" dirty="0" b="1"/>
          </a:p>
        </p:txBody>
      </p:sp>
      <p:sp>
        <p:nvSpPr>
          <p:cNvPr id="22" name="Answer bg 2"/>
          <p:cNvSpPr/>
          <p:nvPr/>
        </p:nvSpPr>
        <p:spPr>
          <a:xfrm>
            <a:off x="7589520" y="347472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47472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is </a:t>
            </a:r>
            <a:r>
              <a:rPr lang="en-US" sz="1700" dirty="0" b="1">
                <a:solidFill>
                  <a:srgbClr val="1B2236"/>
                </a:solidFill>
                <a:latin typeface="Lexend Deca" pitchFamily="34" charset="0"/>
                <a:ea typeface="Lexend Deca" pitchFamily="34" charset="-122"/>
                <a:cs typeface="Lexend Deca" pitchFamily="34" charset="-120"/>
              </a:rPr>
              <a:t>finished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worked at a bakery for two years.</a:t>
            </a:r>
            <a:endParaRPr lang="en-US" sz="1700" dirty="0" b="1"/>
          </a:p>
        </p:txBody>
      </p:sp>
      <p:sp>
        <p:nvSpPr>
          <p:cNvPr id="24" name="Question 3"/>
          <p:cNvSpPr/>
          <p:nvPr/>
        </p:nvSpPr>
        <p:spPr>
          <a:xfrm>
            <a:off x="5138928" y="466344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 + </a:t>
            </a:r>
            <a:r>
              <a:rPr lang="en-US" sz="1800" dirty="0" b="1">
                <a:solidFill>
                  <a:srgbClr val="5B3FC4"/>
                </a:solidFill>
                <a:latin typeface="Lexend Deca" pitchFamily="34" charset="0"/>
                <a:ea typeface="Lexend Deca" pitchFamily="34" charset="-122"/>
                <a:cs typeface="Lexend Deca" pitchFamily="34" charset="-120"/>
              </a:rPr>
              <a:t>in / ago</a:t>
            </a:r>
            <a:endParaRPr lang="en-US" sz="1800" dirty="0" b="1"/>
          </a:p>
        </p:txBody>
      </p:sp>
      <p:sp>
        <p:nvSpPr>
          <p:cNvPr id="25" name="Answer bg 3"/>
          <p:cNvSpPr/>
          <p:nvPr/>
        </p:nvSpPr>
        <p:spPr>
          <a:xfrm>
            <a:off x="7589520" y="466344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589520" y="466344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when</a:t>
            </a:r>
            <a:r>
              <a:rPr lang="en-US" sz="1700" dirty="0" b="1">
                <a:solidFill>
                  <a:srgbClr val="1B2236"/>
                </a:solidFill>
                <a:latin typeface="Lexend Deca" pitchFamily="34" charset="0"/>
                <a:ea typeface="Lexend Deca" pitchFamily="34" charset="-122"/>
                <a:cs typeface="Lexend Deca" pitchFamily="34" charset="-120"/>
              </a:rPr>
              <a:t> it started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moved here in 2021. / five years ago.</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for or since.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for, since</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lived in this city ____ 2021.</a:t>
            </a:r>
            <a:endParaRPr lang="en-US" sz="1800" dirty="0"/>
          </a:p>
        </p:txBody>
      </p:sp>
      <p:sp>
        <p:nvSpPr>
          <p:cNvPr id="35" name="R1 ans"/>
          <p:cNvSpPr/>
          <p:nvPr/>
        </p:nvSpPr>
        <p:spPr>
          <a:xfrm>
            <a:off x="6382512" y="2222144"/>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She's worked at the clinic ____ six months.</a:t>
            </a:r>
            <a:endParaRPr lang="en-US" sz="1800" dirty="0"/>
          </a:p>
        </p:txBody>
      </p:sp>
      <p:sp>
        <p:nvSpPr>
          <p:cNvPr id="40" name="R2 ans"/>
          <p:cNvSpPr/>
          <p:nvPr/>
        </p:nvSpPr>
        <p:spPr>
          <a:xfrm>
            <a:off x="6382512" y="2950312"/>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We've had our car ____ January.</a:t>
            </a:r>
            <a:endParaRPr lang="en-US" sz="1800" dirty="0"/>
          </a:p>
        </p:txBody>
      </p:sp>
      <p:sp>
        <p:nvSpPr>
          <p:cNvPr id="45" name="R3 ans"/>
          <p:cNvSpPr/>
          <p:nvPr/>
        </p:nvSpPr>
        <p:spPr>
          <a:xfrm>
            <a:off x="6382512" y="3678479"/>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He's been a cook ____ ten years.</a:t>
            </a:r>
            <a:endParaRPr lang="en-US" sz="1800" dirty="0"/>
          </a:p>
        </p:txBody>
      </p:sp>
      <p:sp>
        <p:nvSpPr>
          <p:cNvPr id="50" name="R4 ans"/>
          <p:cNvSpPr/>
          <p:nvPr/>
        </p:nvSpPr>
        <p:spPr>
          <a:xfrm>
            <a:off x="6382512" y="4406646"/>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They've known each other ____ they were kids.</a:t>
            </a:r>
            <a:endParaRPr lang="en-US" sz="1800" dirty="0"/>
          </a:p>
        </p:txBody>
      </p:sp>
      <p:sp>
        <p:nvSpPr>
          <p:cNvPr id="55" name="R5 ans"/>
          <p:cNvSpPr/>
          <p:nvPr/>
        </p:nvSpPr>
        <p:spPr>
          <a:xfrm>
            <a:off x="6382512" y="5134813"/>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since</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4988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studied English ____ a long time.</a:t>
            </a:r>
            <a:endParaRPr lang="en-US" sz="1800" dirty="0"/>
          </a:p>
        </p:txBody>
      </p:sp>
      <p:sp>
        <p:nvSpPr>
          <p:cNvPr id="60" name="R6 ans"/>
          <p:cNvSpPr/>
          <p:nvPr/>
        </p:nvSpPr>
        <p:spPr>
          <a:xfrm>
            <a:off x="6382512" y="5862980"/>
            <a:ext cx="11887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How long ____ here?</a:t>
            </a:r>
            <a:endParaRPr lang="en-US" sz="1700" dirty="0"/>
          </a:p>
        </p:txBody>
      </p:sp>
      <p:sp>
        <p:nvSpPr>
          <p:cNvPr id="9" name="R1 opt1"/>
          <p:cNvSpPr/>
          <p:nvPr/>
        </p:nvSpPr>
        <p:spPr>
          <a:xfrm>
            <a:off x="70866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 you lived</a:t>
            </a:r>
            <a:endParaRPr lang="en-US" sz="1600" dirty="0" b="1"/>
          </a:p>
        </p:txBody>
      </p:sp>
      <p:sp>
        <p:nvSpPr>
          <p:cNvPr id="10" name="R1 opt2"/>
          <p:cNvSpPr/>
          <p:nvPr/>
        </p:nvSpPr>
        <p:spPr>
          <a:xfrm>
            <a:off x="9144000" y="31089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do you live</a:t>
            </a:r>
            <a:endParaRPr lang="en-US" sz="1600" dirty="0" b="1"/>
          </a:p>
        </p:txBody>
      </p:sp>
      <p:sp>
        <p:nvSpPr>
          <p:cNvPr id="11" name="R1 circle"/>
          <p:cNvSpPr/>
          <p:nvPr/>
        </p:nvSpPr>
        <p:spPr>
          <a:xfrm>
            <a:off x="6958584" y="30540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I ____ at a bakery for two years. Then I changed jobs.</a:t>
            </a:r>
            <a:endParaRPr lang="en-US" sz="1700" dirty="0"/>
          </a:p>
        </p:txBody>
      </p:sp>
      <p:sp>
        <p:nvSpPr>
          <p:cNvPr id="13" name="R2 opt1"/>
          <p:cNvSpPr/>
          <p:nvPr/>
        </p:nvSpPr>
        <p:spPr>
          <a:xfrm>
            <a:off x="70866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worked</a:t>
            </a:r>
            <a:endParaRPr lang="en-US" sz="1600" dirty="0" b="1"/>
          </a:p>
        </p:txBody>
      </p:sp>
      <p:sp>
        <p:nvSpPr>
          <p:cNvPr id="14" name="R2 opt2"/>
          <p:cNvSpPr/>
          <p:nvPr/>
        </p:nvSpPr>
        <p:spPr>
          <a:xfrm>
            <a:off x="9144000" y="365760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worked</a:t>
            </a:r>
            <a:endParaRPr lang="en-US" sz="1600" dirty="0" b="1"/>
          </a:p>
        </p:txBody>
      </p:sp>
      <p:sp>
        <p:nvSpPr>
          <p:cNvPr id="15" name="R2 circle"/>
          <p:cNvSpPr/>
          <p:nvPr/>
        </p:nvSpPr>
        <p:spPr>
          <a:xfrm>
            <a:off x="6958584" y="360273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She ____ her car since 2022.</a:t>
            </a:r>
            <a:endParaRPr lang="en-US" sz="1700" dirty="0"/>
          </a:p>
        </p:txBody>
      </p:sp>
      <p:sp>
        <p:nvSpPr>
          <p:cNvPr id="17" name="R3 opt1"/>
          <p:cNvSpPr/>
          <p:nvPr/>
        </p:nvSpPr>
        <p:spPr>
          <a:xfrm>
            <a:off x="70866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's had</a:t>
            </a:r>
            <a:endParaRPr lang="en-US" sz="1600" dirty="0" b="1"/>
          </a:p>
        </p:txBody>
      </p:sp>
      <p:sp>
        <p:nvSpPr>
          <p:cNvPr id="18" name="R3 opt2"/>
          <p:cNvSpPr/>
          <p:nvPr/>
        </p:nvSpPr>
        <p:spPr>
          <a:xfrm>
            <a:off x="9144000" y="420624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has</a:t>
            </a:r>
            <a:endParaRPr lang="en-US" sz="1600" dirty="0" b="1"/>
          </a:p>
        </p:txBody>
      </p:sp>
      <p:sp>
        <p:nvSpPr>
          <p:cNvPr id="19" name="R3 circle"/>
          <p:cNvSpPr/>
          <p:nvPr/>
        </p:nvSpPr>
        <p:spPr>
          <a:xfrm>
            <a:off x="6958584" y="415137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When ____ here?</a:t>
            </a:r>
            <a:endParaRPr lang="en-US" sz="1700" dirty="0"/>
          </a:p>
        </p:txBody>
      </p:sp>
      <p:sp>
        <p:nvSpPr>
          <p:cNvPr id="21" name="R4 opt1"/>
          <p:cNvSpPr/>
          <p:nvPr/>
        </p:nvSpPr>
        <p:spPr>
          <a:xfrm>
            <a:off x="70866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did you move</a:t>
            </a:r>
            <a:endParaRPr lang="en-US" sz="1600" dirty="0" b="1"/>
          </a:p>
        </p:txBody>
      </p:sp>
      <p:sp>
        <p:nvSpPr>
          <p:cNvPr id="22" name="R4 opt2"/>
          <p:cNvSpPr/>
          <p:nvPr/>
        </p:nvSpPr>
        <p:spPr>
          <a:xfrm>
            <a:off x="9144000" y="475488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 you moved</a:t>
            </a:r>
            <a:endParaRPr lang="en-US" sz="1600" dirty="0" b="1"/>
          </a:p>
        </p:txBody>
      </p:sp>
      <p:sp>
        <p:nvSpPr>
          <p:cNvPr id="23" name="R4 circle"/>
          <p:cNvSpPr/>
          <p:nvPr/>
        </p:nvSpPr>
        <p:spPr>
          <a:xfrm>
            <a:off x="6958584" y="470001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5. I ____ here three years ago.</a:t>
            </a:r>
            <a:endParaRPr lang="en-US" sz="1700" dirty="0"/>
          </a:p>
        </p:txBody>
      </p:sp>
      <p:sp>
        <p:nvSpPr>
          <p:cNvPr id="25" name="R5 opt1"/>
          <p:cNvSpPr/>
          <p:nvPr/>
        </p:nvSpPr>
        <p:spPr>
          <a:xfrm>
            <a:off x="70866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moved</a:t>
            </a:r>
            <a:endParaRPr lang="en-US" sz="1600" dirty="0" b="1"/>
          </a:p>
        </p:txBody>
      </p:sp>
      <p:sp>
        <p:nvSpPr>
          <p:cNvPr id="26" name="R5 opt2"/>
          <p:cNvSpPr/>
          <p:nvPr/>
        </p:nvSpPr>
        <p:spPr>
          <a:xfrm>
            <a:off x="9144000" y="530352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moved</a:t>
            </a:r>
            <a:endParaRPr lang="en-US" sz="1600" dirty="0" b="1"/>
          </a:p>
        </p:txBody>
      </p:sp>
      <p:sp>
        <p:nvSpPr>
          <p:cNvPr id="27" name="R5 circle"/>
          <p:cNvSpPr/>
          <p:nvPr/>
        </p:nvSpPr>
        <p:spPr>
          <a:xfrm>
            <a:off x="6958584" y="524865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400800" cy="475488"/>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6. He's lived here ____ last summer.</a:t>
            </a:r>
            <a:endParaRPr lang="en-US" sz="1700" dirty="0"/>
          </a:p>
        </p:txBody>
      </p:sp>
      <p:sp>
        <p:nvSpPr>
          <p:cNvPr id="29" name="R6 opt1"/>
          <p:cNvSpPr/>
          <p:nvPr/>
        </p:nvSpPr>
        <p:spPr>
          <a:xfrm>
            <a:off x="70866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since</a:t>
            </a:r>
            <a:endParaRPr lang="en-US" sz="1600" dirty="0" b="1"/>
          </a:p>
        </p:txBody>
      </p:sp>
      <p:sp>
        <p:nvSpPr>
          <p:cNvPr id="30" name="R6 opt2"/>
          <p:cNvSpPr/>
          <p:nvPr/>
        </p:nvSpPr>
        <p:spPr>
          <a:xfrm>
            <a:off x="9144000" y="5852160"/>
            <a:ext cx="18288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for</a:t>
            </a:r>
            <a:endParaRPr lang="en-US" sz="1600" dirty="0" b="1"/>
          </a:p>
        </p:txBody>
      </p:sp>
      <p:sp>
        <p:nvSpPr>
          <p:cNvPr id="31" name="R6 circle"/>
          <p:cNvSpPr/>
          <p:nvPr/>
        </p:nvSpPr>
        <p:spPr>
          <a:xfrm>
            <a:off x="6958584" y="5797296"/>
            <a:ext cx="20848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Current address: a house [sign: NOW: 418 Elm St.]"/>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live here since 2020.</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lived</a:t>
            </a:r>
            <a:r>
              <a:rPr lang="en-US" sz="1700" dirty="0" b="1">
                <a:solidFill>
                  <a:srgbClr val="1B2236"/>
                </a:solidFill>
                <a:latin typeface="Lexend Deca" pitchFamily="34" charset="0"/>
                <a:ea typeface="Lexend Deca" pitchFamily="34" charset="-122"/>
                <a:cs typeface="Lexend Deca" pitchFamily="34" charset="-120"/>
              </a:rPr>
              <a:t> here since 2020.</a:t>
            </a:r>
            <a:endParaRPr lang="en-US" sz="1700" dirty="0" b="1"/>
          </a:p>
        </p:txBody>
      </p:sp>
      <p:sp>
        <p:nvSpPr>
          <p:cNvPr id="26" name="Bad 2"/>
          <p:cNvSpPr/>
          <p:nvPr/>
        </p:nvSpPr>
        <p:spPr>
          <a:xfrm>
            <a:off x="914400" y="3035808"/>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lived here since three years.</a:t>
            </a:r>
            <a:endParaRPr lang="en-US" sz="1700" dirty="0"/>
          </a:p>
        </p:txBody>
      </p:sp>
      <p:sp>
        <p:nvSpPr>
          <p:cNvPr id="27" name="Good 2"/>
          <p:cNvSpPr/>
          <p:nvPr/>
        </p:nvSpPr>
        <p:spPr>
          <a:xfrm>
            <a:off x="4800600" y="3035808"/>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lived here </a:t>
            </a:r>
            <a:r>
              <a:rPr lang="en-US" sz="1700" dirty="0" b="1">
                <a:solidFill>
                  <a:srgbClr val="1B2236"/>
                </a:solidFill>
                <a:latin typeface="Lexend Deca" pitchFamily="34" charset="0"/>
                <a:ea typeface="Lexend Deca" pitchFamily="34" charset="-122"/>
                <a:cs typeface="Lexend Deca" pitchFamily="34" charset="-120"/>
              </a:rPr>
              <a:t>for</a:t>
            </a:r>
            <a:r>
              <a:rPr lang="en-US" sz="1700" dirty="0" b="1">
                <a:solidFill>
                  <a:srgbClr val="1B2236"/>
                </a:solidFill>
                <a:latin typeface="Lexend Deca" pitchFamily="34" charset="0"/>
                <a:ea typeface="Lexend Deca" pitchFamily="34" charset="-122"/>
                <a:cs typeface="Lexend Deca" pitchFamily="34" charset="-120"/>
              </a:rPr>
              <a:t> three years.</a:t>
            </a:r>
            <a:endParaRPr lang="en-US" sz="1700" dirty="0" b="1"/>
          </a:p>
        </p:txBody>
      </p:sp>
      <p:sp>
        <p:nvSpPr>
          <p:cNvPr id="28" name="Bad 3"/>
          <p:cNvSpPr/>
          <p:nvPr/>
        </p:nvSpPr>
        <p:spPr>
          <a:xfrm>
            <a:off x="914400" y="387705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moved here in 2021.</a:t>
            </a:r>
            <a:endParaRPr lang="en-US" sz="1700" dirty="0"/>
          </a:p>
        </p:txBody>
      </p:sp>
      <p:sp>
        <p:nvSpPr>
          <p:cNvPr id="29" name="Good 3"/>
          <p:cNvSpPr/>
          <p:nvPr/>
        </p:nvSpPr>
        <p:spPr>
          <a:xfrm>
            <a:off x="4800600" y="387705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moved</a:t>
            </a:r>
            <a:r>
              <a:rPr lang="en-US" sz="1700" dirty="0" b="1">
                <a:solidFill>
                  <a:srgbClr val="1B2236"/>
                </a:solidFill>
                <a:latin typeface="Lexend Deca" pitchFamily="34" charset="0"/>
                <a:ea typeface="Lexend Deca" pitchFamily="34" charset="-122"/>
                <a:cs typeface="Lexend Deca" pitchFamily="34" charset="-120"/>
              </a:rPr>
              <a:t> here in 2021.</a:t>
            </a:r>
            <a:endParaRPr lang="en-US" sz="1700" dirty="0" b="1"/>
          </a:p>
        </p:txBody>
      </p:sp>
      <p:sp>
        <p:nvSpPr>
          <p:cNvPr id="30" name="Bad 4"/>
          <p:cNvSpPr/>
          <p:nvPr/>
        </p:nvSpPr>
        <p:spPr>
          <a:xfrm>
            <a:off x="914400" y="4443984"/>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How long you have worked there?</a:t>
            </a:r>
            <a:endParaRPr lang="en-US" sz="1700" dirty="0"/>
          </a:p>
        </p:txBody>
      </p:sp>
      <p:sp>
        <p:nvSpPr>
          <p:cNvPr id="31" name="Good 4"/>
          <p:cNvSpPr/>
          <p:nvPr/>
        </p:nvSpPr>
        <p:spPr>
          <a:xfrm>
            <a:off x="4800600" y="4443984"/>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How long </a:t>
            </a:r>
            <a:r>
              <a:rPr lang="en-US" sz="1700" dirty="0" b="1">
                <a:solidFill>
                  <a:srgbClr val="1B2236"/>
                </a:solidFill>
                <a:latin typeface="Lexend Deca" pitchFamily="34" charset="0"/>
                <a:ea typeface="Lexend Deca" pitchFamily="34" charset="-122"/>
                <a:cs typeface="Lexend Deca" pitchFamily="34" charset="-120"/>
              </a:rPr>
              <a:t>have you</a:t>
            </a:r>
            <a:r>
              <a:rPr lang="en-US" sz="1700" dirty="0" b="1">
                <a:solidFill>
                  <a:srgbClr val="1B2236"/>
                </a:solidFill>
                <a:latin typeface="Lexend Deca" pitchFamily="34" charset="0"/>
                <a:ea typeface="Lexend Deca" pitchFamily="34" charset="-122"/>
                <a:cs typeface="Lexend Deca" pitchFamily="34" charset="-120"/>
              </a:rPr>
              <a:t> worked there?</a:t>
            </a:r>
            <a:endParaRPr lang="en-US" sz="1700" dirty="0" b="1"/>
          </a:p>
        </p:txBody>
      </p:sp>
      <p:sp>
        <p:nvSpPr>
          <p:cNvPr id="32" name="Bad 5"/>
          <p:cNvSpPr/>
          <p:nvPr/>
        </p:nvSpPr>
        <p:spPr>
          <a:xfrm>
            <a:off x="914400" y="5285232"/>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am here for two years. (still true)</a:t>
            </a:r>
            <a:endParaRPr lang="en-US" sz="1700" dirty="0"/>
          </a:p>
        </p:txBody>
      </p:sp>
      <p:sp>
        <p:nvSpPr>
          <p:cNvPr id="33" name="Good 5"/>
          <p:cNvSpPr/>
          <p:nvPr/>
        </p:nvSpPr>
        <p:spPr>
          <a:xfrm>
            <a:off x="4800600" y="5285232"/>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've been</a:t>
            </a:r>
            <a:r>
              <a:rPr lang="en-US" sz="1700" dirty="0" b="1">
                <a:solidFill>
                  <a:srgbClr val="1B2236"/>
                </a:solidFill>
                <a:latin typeface="Lexend Deca" pitchFamily="34" charset="0"/>
                <a:ea typeface="Lexend Deca" pitchFamily="34" charset="-122"/>
                <a:cs typeface="Lexend Deca" pitchFamily="34" charset="-120"/>
              </a:rPr>
              <a:t> here for two years.</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End date: a calendar and a stop sign [sign: END: 05/30/2024]"/>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picks a card and says it.</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makes a sentence with for or since.</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March.</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I've lived here since March.</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Then switch.</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Use the time cards. Then switch.</a:t>
            </a:r>
            <a:endParaRPr lang="en-US" sz="20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Start date: a calendar and an arrow [sign: START: 03/15/2022]"/>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Timeline Interviews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Mark 4 points on your timeline.</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Mark 4 points on your timeline.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When did it start? (in 2021 / three years ago)</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Interview a partner.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How long have you…? Since when?</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3 sentences about your partner.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Ana has lived in this city since 2021.</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Application: a clipboard and a pen [sign: APPLICATION]"/>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At the Leasing Office</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is the agent. B is the applicant.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asks the questions on the role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What's your current address? How long have you lived there?</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answers. Invented answers are fine.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Can you spell that, please?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fills in the application. Then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Employer and position • Start date • Reference</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form.</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Park View Apartments: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 rental application.</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long has David lived at his current address?</a:t>
            </a:r>
            <a:endParaRPr lang="en-US" sz="1500" dirty="0"/>
          </a:p>
        </p:txBody>
      </p:sp>
      <p:sp>
        <p:nvSpPr>
          <p:cNvPr id="35" name="R1 ans"/>
          <p:cNvSpPr/>
          <p:nvPr/>
        </p:nvSpPr>
        <p:spPr>
          <a:xfrm>
            <a:off x="4279392" y="2525573"/>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Since August 2023.</a:t>
            </a:r>
            <a:endParaRPr lang="en-US" sz="15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long did he live on Hill Street?</a:t>
            </a:r>
            <a:endParaRPr lang="en-US" sz="1500" dirty="0"/>
          </a:p>
        </p:txBody>
      </p:sp>
      <p:sp>
        <p:nvSpPr>
          <p:cNvPr id="40" name="R2 ans"/>
          <p:cNvSpPr/>
          <p:nvPr/>
        </p:nvSpPr>
        <p:spPr>
          <a:xfrm>
            <a:off x="4279392" y="3311957"/>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For four years (2019–2023).</a:t>
            </a:r>
            <a:endParaRPr lang="en-US" sz="15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Who is his employer?</a:t>
            </a:r>
            <a:endParaRPr lang="en-US" sz="1500" dirty="0"/>
          </a:p>
        </p:txBody>
      </p:sp>
      <p:sp>
        <p:nvSpPr>
          <p:cNvPr id="45" name="R3 ans"/>
          <p:cNvSpPr/>
          <p:nvPr/>
        </p:nvSpPr>
        <p:spPr>
          <a:xfrm>
            <a:off x="4279392" y="4098341"/>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City Bus Company.</a:t>
            </a:r>
            <a:endParaRPr lang="en-US" sz="15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Who is his reference?</a:t>
            </a:r>
            <a:endParaRPr lang="en-US" sz="1500" dirty="0"/>
          </a:p>
        </p:txBody>
      </p:sp>
      <p:sp>
        <p:nvSpPr>
          <p:cNvPr id="50" name="R4 ans"/>
          <p:cNvSpPr/>
          <p:nvPr/>
        </p:nvSpPr>
        <p:spPr>
          <a:xfrm>
            <a:off x="4279392" y="4884725"/>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Ana Ruiz, his supervisor.</a:t>
            </a:r>
            <a:endParaRPr lang="en-US" sz="15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9572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Why is he moving?</a:t>
            </a:r>
            <a:endParaRPr lang="en-US" sz="1500" dirty="0"/>
          </a:p>
        </p:txBody>
      </p:sp>
      <p:sp>
        <p:nvSpPr>
          <p:cNvPr id="55" name="R5 ans"/>
          <p:cNvSpPr/>
          <p:nvPr/>
        </p:nvSpPr>
        <p:spPr>
          <a:xfrm>
            <a:off x="4279392" y="5671109"/>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He needs a bigger apartment for his family.</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Current address: a house [sign: NOW: 418 Elm St.]"/>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Answer in 3 sentences: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How long (for or since).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When you started (I moved / started… in…).</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Why,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for or since.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writing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Ask 3 questions with How long have you…?</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used to.</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Position (job title): a mechanic [sign: MECHANIC]">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2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How long…?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Use for and since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Fill in an application</a:t>
            </a:r>
            <a:endParaRPr lang="en-US" sz="2200"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Marisol, Mr. Chen, David Morales, Ana Ruiz, and Ana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2: How Long Have You Lived Here?</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