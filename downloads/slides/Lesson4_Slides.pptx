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64" r:id="rId10"/>
    <p:sldId id="260" r:id="rId6"/>
    <p:sldId id="259" r:id="rId5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goals together; learners repeat.</a:t>
            </a:r>
          </a:p>
          <a:p>
            <a:r>
              <a:rPr lang="en-US" dirty="0"/>
              <a:t>Objectives: say what people are doing now (am/is/are + -ing); ask What are you doing?; tell the difference between now (present continuous) and every day (simple present); review telling time.</a:t>
            </a:r>
          </a:p>
          <a:p>
            <a:r>
              <a:rPr lang="en-US" dirty="0"/>
              <a:t>Source: Level2_Curriculum_v4_1_public.md, Lesson 4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Groups of 3–4 (15) / whole group (7–8); same group for both parts.</a:t>
            </a:r>
          </a:p>
          <a:p>
            <a:r>
              <a:rPr lang="en-US" dirty="0"/>
              <a:t>Minutes 0–5: these questions review Lesson 3; answer with Me too / Me neither / Really? Each click shows one question.</a:t>
            </a:r>
          </a:p>
          <a:p>
            <a:r>
              <a:rPr lang="en-US" dirty="0"/>
              <a:t>Source: Level2_Curriculum_v4_1_public.md, Lesson 4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What's the difference between I cook and I'm cooking? I cook = every day, a routine. I'm cooking = right now.</a:t>
            </a:r>
          </a:p>
          <a:p>
            <a:r>
              <a:rPr lang="en-US" dirty="0"/>
              <a:t>Click 1 and click 2 highlight one pair each.</a:t>
            </a:r>
          </a:p>
          <a:p>
            <a:r>
              <a:rPr lang="en-US" dirty="0"/>
              <a:t>Right-now words: now, right now, today, at the moment. Every-day words: every day, usually, always, on Mondays.</a:t>
            </a:r>
          </a:p>
          <a:p>
            <a:r>
              <a:rPr lang="en-US" dirty="0"/>
              <a:t>Stative verbs (like, know, want): don't teach the rule now. If someone says I'm liking it, just recast: "Oh, you like it!"</a:t>
            </a:r>
          </a:p>
          <a:p>
            <a:r>
              <a:rPr lang="en-US" dirty="0"/>
              <a:t>Source: Level2_Curriculum_v4_1_public.md, Lesson 4 (Questions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Yes / No questions. Each click highlights one helper and its answers: Are, Is, Are.</a:t>
            </a:r>
          </a:p>
          <a:p>
            <a:r>
              <a:rPr lang="en-US" dirty="0"/>
              <a:t>More from the box: Are you working today? Is he / she working late? Are they doing homework?</a:t>
            </a:r>
          </a:p>
          <a:p>
            <a:r>
              <a:rPr lang="en-US" dirty="0"/>
              <a:t>Source: Level2_Curriculum_v4_1_public.md, Lesson 4 (Grammar Box 2).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Q: Can I leave out am / is / are? No. Point to the 'm every time. Learners can read the note on their Grammar page; you don't need to explain it.</a:t>
            </a:r>
          </a:p>
          <a:p>
            <a:r>
              <a:rPr lang="en-US" dirty="0"/>
              <a:t>Source: Level2_Curriculum_v4_1_public.md, Lesson 4 (Common mistakes;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now · every day · No: I'm cooking.</a:t>
            </a:r>
          </a:p>
          <a:p>
            <a:r>
              <a:rPr lang="en-US" dirty="0"/>
              <a:t>Short Picture Talk (last 5 min): pairs describe a busy picture ("The man is waiting."); B points to the person. If behind: skip it.</a:t>
            </a:r>
          </a:p>
          <a:p>
            <a:r>
              <a:rPr lang="en-US" dirty="0"/>
              <a:t>Source: Level2_Curriculum_v4_1_public.md, Lesson 4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Grammar. Say: "For something happening right now, use am / is / are + verb-ing. For every day / usually, use the simple present."</a:t>
            </a:r>
          </a:p>
          <a:p>
            <a:r>
              <a:rPr lang="en-US" dirty="0"/>
              <a:t>Board: a timeline with a dot labeled NOW and X X X marks (every day).</a:t>
            </a:r>
          </a:p>
          <a:p>
            <a:r>
              <a:rPr lang="en-US" dirty="0"/>
              <a:t>Grammar Box 1: each click highlights the helper: are, is, are.</a:t>
            </a:r>
          </a:p>
          <a:p>
            <a:r>
              <a:rPr lang="en-US" dirty="0"/>
              <a:t>Q: Is What do you do? the same as What are you doing? No! What do you do? = What's your job? What are you doing? = right now.</a:t>
            </a:r>
          </a:p>
          <a:p>
            <a:r>
              <a:rPr lang="en-US" dirty="0"/>
              <a:t>Source: Level2_Curriculum_v4_1_public.md, Lesson 4 (Step 4;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(2 teams / 1 team). Point, say, repeat. Each click shows one word.</a:t>
            </a:r>
          </a:p>
          <a:p>
            <a:r>
              <a:rPr lang="en-US" dirty="0"/>
              <a:t>Star words here: waiting (for the bus), cooking (now), doing homework, watching TV.</a:t>
            </a:r>
          </a:p>
          <a:p>
            <a:r>
              <a:rPr lang="en-US" dirty="0"/>
              <a:t>If behind: teach the star words and do 3 charades.</a:t>
            </a:r>
          </a:p>
          <a:p>
            <a:r>
              <a:rPr lang="en-US" dirty="0"/>
              <a:t>Source: Level2_Curriculum_v4_1_public.md, Lesson 4 (Step 2; Student Page 4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What time is it? → It's five forty-five. / six o'clock. / seven fifteen. Click 1 and click 2 show one answer each.</a:t>
            </a:r>
          </a:p>
          <a:p>
            <a:r>
              <a:rPr lang="en-US" dirty="0"/>
              <a:t>Pronunciation (if time): fifteen (fif-TEEN) vs. fifty (FIF-ty). A says a time; B points to it on the clock.</a:t>
            </a:r>
          </a:p>
          <a:p>
            <a:r>
              <a:rPr lang="en-US" dirty="0"/>
              <a:t>Source: Level2_Curriculum_v4_1_public.md, Lesson 4 (Grammar Box 3; If time).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each person shares 2 homework sentences about other people (Lesson 3 homework); the group votes for the funniest.</a:t>
            </a:r>
          </a:p>
          <a:p>
            <a:r>
              <a:rPr lang="en-US" dirty="0"/>
              <a:t>Each click shows one answer. Lines review Lesson 3 (homework model, Common mistakes, Grammar Box 3).</a:t>
            </a:r>
          </a:p>
          <a:p>
            <a:r>
              <a:rPr lang="en-US" dirty="0"/>
              <a:t>Teacher: correct 2 sentences on the board. If behind: skip the vote.</a:t>
            </a:r>
          </a:p>
          <a:p>
            <a:r>
              <a:rPr lang="en-US" dirty="0"/>
              <a:t>Source: Level2_Curriculum_v4_1_public.md, Lesson 4 (Step 1); Lesson 3 Homework, Common mistakes, Grammar Box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(L4_listening.mp3, about 1:40). Before you listen: show a woman at a bus stop on the phone: "Who is she calling? Why?"</a:t>
            </a:r>
          </a:p>
          <a:p>
            <a:r>
              <a:rPr lang="en-US" dirty="0"/>
              <a:t>Listen 1 → Task A (circle). Each click circles one answer.</a:t>
            </a:r>
          </a:p>
          <a:p>
            <a:r>
              <a:rPr lang="en-US" dirty="0"/>
              <a:t>Answer key: 1 cooking, 2 at the bus stop, 3 5:45.</a:t>
            </a:r>
          </a:p>
          <a:p>
            <a:r>
              <a:rPr lang="en-US" dirty="0"/>
              <a:t>Rosa and Sam are the same characters as in Lesson 1. No speaker? Read the script with a volunteer learner.</a:t>
            </a:r>
          </a:p>
          <a:p>
            <a:r>
              <a:rPr lang="en-US" dirty="0"/>
              <a:t>Source: Level2_Curriculum_v4_1_public.md, Lesson 4 (Step 3; Answer key;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Phone Call Role Play. Set chairs back to back during the break. Each click shows one step.</a:t>
            </a:r>
          </a:p>
          <a:p>
            <a:r>
              <a:rPr lang="en-US" dirty="0"/>
              <a:t>Card A: "You're at the bus stop. The bus is late." Card B: "You're at home cooking. Your kids are doing homework."</a:t>
            </a:r>
          </a:p>
          <a:p>
            <a:r>
              <a:rPr lang="en-US" dirty="0"/>
              <a:t>Frame: Hi, it's ___. What are you doing? / I'm ___. Where are you? / I'm ___.</a:t>
            </a:r>
          </a:p>
          <a:p>
            <a:r>
              <a:rPr lang="en-US" dirty="0"/>
              <a:t>Then switch cards, then switch partners (15: 7 pairs + a 3-person conference call; 7–8: everyone does 3 calls). If behind: one call each.</a:t>
            </a:r>
          </a:p>
          <a:p>
            <a:r>
              <a:rPr lang="en-US" dirty="0"/>
              <a:t>Source: Level2_Curriculum_v4_1_public.md, Lesson 4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"What is your family doing right now?" (one sentence).</a:t>
            </a:r>
          </a:p>
          <a:p>
            <a:r>
              <a:rPr lang="en-US" dirty="0"/>
              <a:t>Homework (10 minutes): at 3 different times this week, write what you and your family are doing: It's 8:00 PM. I'm washing the dishes. My son is watching TV. My husband is working. Bring the 3 "photos in words" next week (Lesson 5's Opening Talk uses them). Do the first one together.</a:t>
            </a:r>
          </a:p>
          <a:p>
            <a:r>
              <a:rPr lang="en-US" dirty="0"/>
              <a:t>Source: Level2_Curriculum_v4_1_public.md, Lesson 4 (Step 6; Student Page 4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(true / false). Each click circles one answer and shows the correction.</a:t>
            </a:r>
          </a:p>
          <a:p>
            <a:r>
              <a:rPr lang="en-US" dirty="0"/>
              <a:t>Answer key: 1 T, 2 F (he's working late), 3 T, 4 F (he has it / he's looking at it).</a:t>
            </a:r>
          </a:p>
          <a:p>
            <a:r>
              <a:rPr lang="en-US" dirty="0"/>
              <a:t>Source: Level2_Curriculum_v4_1_public.md, Lesson 4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4.</a:t>
            </a:r>
          </a:p>
          <a:p>
            <a:r>
              <a:rPr lang="en-US" dirty="0"/>
              <a:t>Image credit line copied exactly from images/CREDITS.md. Deck license: CC BY-NC-SA 4.0 (proposed curriculum license, Section 7.4).</a:t>
            </a:r>
          </a:p>
          <a:p>
            <a:r>
              <a:rPr lang="en-US" dirty="0"/>
              <a:t>Independence notice from the curriculum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calling (on the phone), What time is it? (It's 5:45.)</a:t>
            </a:r>
          </a:p>
          <a:p>
            <a:r>
              <a:rPr lang="en-US" dirty="0"/>
              <a:t>Charades: a learner mimes an action; the class says "You're cooking!"</a:t>
            </a:r>
          </a:p>
          <a:p>
            <a:r>
              <a:rPr lang="en-US" dirty="0"/>
              <a:t>Source: Level2_Curriculum_v4_1_public.md, Lesson 4 (Step 2; Student Page 4).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</a:t>
            </a:r>
          </a:p>
          <a:p>
            <a:r>
              <a:rPr lang="en-US" dirty="0"/>
              <a:t>Answer key: cooking; are; doing; is.</a:t>
            </a:r>
          </a:p>
          <a:p>
            <a:r>
              <a:rPr lang="en-US" dirty="0"/>
              <a:t>Ask: "Is Rosa waiting for the bus every day or right now?" (right now)</a:t>
            </a:r>
          </a:p>
          <a:p>
            <a:r>
              <a:rPr lang="en-US" dirty="0"/>
              <a:t>"Say it" (1–2 min): repeat "I'm cooking dinner. What are you doing?"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Level2_Curriculum_v4_1_public.md, Lesson 4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Every day = simple present: I cook every day.</a:t>
            </a:r>
          </a:p>
          <a:p>
            <a:r>
              <a:rPr lang="en-US" dirty="0"/>
              <a:t>Source: Level2_Curriculum_v4_1_public.md, Lesson 4 (Common mistakes).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K1" Type="http://schemas.openxmlformats.org/officeDocument/2006/relationships/image" Target="../media/k_L4_right_now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K1" Type="http://schemas.openxmlformats.org/officeDocument/2006/relationships/image" Target="../media/k_L2_on_weekends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K1" Type="http://schemas.openxmlformats.org/officeDocument/2006/relationships/image" Target="../media/k_L4_working_late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K1" Type="http://schemas.openxmlformats.org/officeDocument/2006/relationships/image" Target="../media/k_L4_coming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K1" Type="http://schemas.openxmlformats.org/officeDocument/2006/relationships/image" Target="../media/k_L4_doing_homework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K1" Type="http://schemas.openxmlformats.org/officeDocument/2006/relationships/image" Target="../media/k_L4_cooking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K1" Type="http://schemas.openxmlformats.org/officeDocument/2006/relationships/image" Target="../media/k_L4_waiting_for_the_bus.png"/><Relationship Id="rIdK2" Type="http://schemas.openxmlformats.org/officeDocument/2006/relationships/image" Target="../media/k_L4_cooking.png"/><Relationship Id="rIdK3" Type="http://schemas.openxmlformats.org/officeDocument/2006/relationships/image" Target="../media/k_L4_working_late.png"/><Relationship Id="rIdK4" Type="http://schemas.openxmlformats.org/officeDocument/2006/relationships/image" Target="../media/k_L4_doing_homework.png"/><Relationship Id="rIdK5" Type="http://schemas.openxmlformats.org/officeDocument/2006/relationships/image" Target="../media/k_L4_watching_tv.png"/><Relationship Id="rIdK6" Type="http://schemas.openxmlformats.org/officeDocument/2006/relationships/image" Target="../media/k_L4_looking_a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K1" Type="http://schemas.openxmlformats.org/officeDocument/2006/relationships/image" Target="../media/k_L4_what_time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K1" Type="http://schemas.openxmlformats.org/officeDocument/2006/relationships/image" Target="../media/k_L4_calling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K1" Type="http://schemas.openxmlformats.org/officeDocument/2006/relationships/image" Target="../media/k_L4_calling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K1" Type="http://schemas.openxmlformats.org/officeDocument/2006/relationships/image" Target="../media/k_L4_watching_tv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K1" Type="http://schemas.openxmlformats.org/officeDocument/2006/relationships/image" Target="../media/k_L4_calling.png"/><Relationship Id="rIdK2" Type="http://schemas.openxmlformats.org/officeDocument/2006/relationships/image" Target="../media/k_L4_coming.png"/><Relationship Id="rIdK3" Type="http://schemas.openxmlformats.org/officeDocument/2006/relationships/image" Target="../media/k_L4_right_now.png"/><Relationship Id="rIdK4" Type="http://schemas.openxmlformats.org/officeDocument/2006/relationships/image" Target="../media/k_L4_today.png"/><Relationship Id="rIdK5" Type="http://schemas.openxmlformats.org/officeDocument/2006/relationships/image" Target="../media/k_L4_what_time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K1" Type="http://schemas.openxmlformats.org/officeDocument/2006/relationships/image" Target="../media/k_L4_today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4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people are doing now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What are you doing?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Now or every day?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the time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group.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Reply: Me too! / Me neither!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6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love doing on weekends?</a:t>
            </a:r>
            <a:endParaRPr lang="en-US" sz="2200" dirty="0"/>
          </a:p>
        </p:txBody>
      </p:sp>
      <p:sp>
        <p:nvSpPr>
          <p:cNvPr id="17" name="Question"/>
          <p:cNvSpPr/>
          <p:nvPr/>
        </p:nvSpPr>
        <p:spPr>
          <a:xfrm>
            <a:off x="599846" y="4910328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hate doing?</a:t>
            </a:r>
            <a:endParaRPr lang="en-US" sz="2200" dirty="0"/>
          </a:p>
        </p:txBody>
      </p:sp>
      <p:pic>
        <p:nvPicPr>
          <p:cNvPr id="18" name="Picture 18" descr="L2_on_weekends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or every day?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 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1" name="Picture 31" descr="L4_working_lat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32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endParaRPr lang="en-US" sz="2000" dirty="0"/>
          </a:p>
        </p:txBody>
      </p:sp>
      <p:sp>
        <p:nvSpPr>
          <p:cNvPr id="33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000" dirty="0"/>
          </a:p>
        </p:txBody>
      </p:sp>
      <p:sp>
        <p:nvSpPr>
          <p:cNvPr id="34" name="Highlight"/>
          <p:cNvSpPr/>
          <p:nvPr/>
        </p:nvSpPr>
        <p:spPr>
          <a:xfrm>
            <a:off x="1481328" y="4453128"/>
            <a:ext cx="339791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 cooking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right now.</a:t>
            </a:r>
            <a:endParaRPr lang="en-US" sz="2200" dirty="0"/>
          </a:p>
        </p:txBody>
      </p:sp>
      <p:sp>
        <p:nvSpPr>
          <p:cNvPr id="37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every day.</a:t>
            </a:r>
            <a:endParaRPr lang="en-US" sz="2200" dirty="0"/>
          </a:p>
        </p:txBody>
      </p:sp>
      <p:sp>
        <p:nvSpPr>
          <p:cNvPr id="38" name="Highlight"/>
          <p:cNvSpPr/>
          <p:nvPr/>
        </p:nvSpPr>
        <p:spPr>
          <a:xfrm>
            <a:off x="1481328" y="5367528"/>
            <a:ext cx="381762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9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 working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late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1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hotel.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 / No Questions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8" name="Picture 28" descr="L4_com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29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31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coming?</a:t>
            </a:r>
            <a:endParaRPr lang="en-US" sz="2200" dirty="0"/>
          </a:p>
        </p:txBody>
      </p:sp>
      <p:sp>
        <p:nvSpPr>
          <p:cNvPr id="33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36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cooking?</a:t>
            </a:r>
            <a:endParaRPr lang="en-US" sz="2200" dirty="0"/>
          </a:p>
        </p:txBody>
      </p:sp>
      <p:sp>
        <p:nvSpPr>
          <p:cNvPr id="38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9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41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sleeping?</a:t>
            </a:r>
            <a:endParaRPr lang="en-US" sz="2200" dirty="0"/>
          </a:p>
        </p:txBody>
      </p:sp>
      <p:sp>
        <p:nvSpPr>
          <p:cNvPr id="43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4_doing_homework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cooking now.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cooking now.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work today.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work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today.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or every day?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"I'm cooking."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"She works at night."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"I cooking" OK?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8" name="Answer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endParaRPr lang="en-US" sz="2200" dirty="0"/>
          </a:p>
        </p:txBody>
      </p:sp>
      <p:sp>
        <p:nvSpPr>
          <p:cNvPr id="29" name="Answer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200" dirty="0"/>
          </a:p>
        </p:txBody>
      </p:sp>
      <p:sp>
        <p:nvSpPr>
          <p:cNvPr id="30" name="Answer"/>
          <p:cNvSpPr/>
          <p:nvPr/>
        </p:nvSpPr>
        <p:spPr>
          <a:xfrm>
            <a:off x="82753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No: I'm cooking.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doing?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Helper: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47" name="Picture 47" descr="L4_cook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48" name="Wh"/>
          <p:cNvSpPr/>
          <p:nvPr/>
        </p:nvSpPr>
        <p:spPr>
          <a:xfrm>
            <a:off x="3520440" y="4114800"/>
            <a:ext cx="86191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4382353" y="4114800"/>
            <a:ext cx="762683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Helper"/>
          <p:cNvSpPr/>
          <p:nvPr/>
        </p:nvSpPr>
        <p:spPr>
          <a:xfrm>
            <a:off x="4382353" y="4114800"/>
            <a:ext cx="76268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51" name="Rest"/>
          <p:cNvSpPr/>
          <p:nvPr/>
        </p:nvSpPr>
        <p:spPr>
          <a:xfrm>
            <a:off x="5199900" y="4114800"/>
            <a:ext cx="15819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doing?</a:t>
            </a:r>
            <a:endParaRPr lang="en-US" sz="2200" dirty="0"/>
          </a:p>
        </p:txBody>
      </p:sp>
      <p:sp>
        <p:nvSpPr>
          <p:cNvPr id="52" name="Wh"/>
          <p:cNvSpPr/>
          <p:nvPr/>
        </p:nvSpPr>
        <p:spPr>
          <a:xfrm>
            <a:off x="3520440" y="4846320"/>
            <a:ext cx="86191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53" name="Highlight"/>
          <p:cNvSpPr/>
          <p:nvPr/>
        </p:nvSpPr>
        <p:spPr>
          <a:xfrm>
            <a:off x="4382353" y="4846320"/>
            <a:ext cx="60599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4" name="Helper"/>
          <p:cNvSpPr/>
          <p:nvPr/>
        </p:nvSpPr>
        <p:spPr>
          <a:xfrm>
            <a:off x="4382353" y="4846320"/>
            <a:ext cx="60599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200" dirty="0"/>
          </a:p>
        </p:txBody>
      </p:sp>
      <p:sp>
        <p:nvSpPr>
          <p:cNvPr id="55" name="Rest"/>
          <p:cNvSpPr/>
          <p:nvPr/>
        </p:nvSpPr>
        <p:spPr>
          <a:xfrm>
            <a:off x="5043209" y="4846320"/>
            <a:ext cx="15819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doing?</a:t>
            </a:r>
            <a:endParaRPr lang="en-US" sz="2200" dirty="0"/>
          </a:p>
        </p:txBody>
      </p:sp>
      <p:sp>
        <p:nvSpPr>
          <p:cNvPr id="56" name="Wh"/>
          <p:cNvSpPr/>
          <p:nvPr/>
        </p:nvSpPr>
        <p:spPr>
          <a:xfrm>
            <a:off x="3520440" y="5577840"/>
            <a:ext cx="86191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57" name="Highlight"/>
          <p:cNvSpPr/>
          <p:nvPr/>
        </p:nvSpPr>
        <p:spPr>
          <a:xfrm>
            <a:off x="4382353" y="5577840"/>
            <a:ext cx="762683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Helper"/>
          <p:cNvSpPr/>
          <p:nvPr/>
        </p:nvSpPr>
        <p:spPr>
          <a:xfrm>
            <a:off x="4382353" y="5577840"/>
            <a:ext cx="76268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59" name="Rest"/>
          <p:cNvSpPr/>
          <p:nvPr/>
        </p:nvSpPr>
        <p:spPr>
          <a:xfrm>
            <a:off x="5199900" y="5577840"/>
            <a:ext cx="172181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doing?</a:t>
            </a:r>
            <a:endParaRPr lang="en-US" sz="2200" dirty="0"/>
          </a:p>
        </p:txBody>
      </p:sp>
      <p:sp>
        <p:nvSpPr>
          <p:cNvPr id="60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</a:t>
            </a:r>
            <a:endParaRPr lang="en-US" sz="2400" dirty="0"/>
          </a:p>
        </p:txBody>
      </p:sp>
      <p:sp>
        <p:nvSpPr>
          <p:cNvPr id="61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cooking.</a:t>
            </a:r>
            <a:endParaRPr lang="en-US" sz="2000" dirty="0"/>
          </a:p>
        </p:txBody>
      </p:sp>
      <p:sp>
        <p:nvSpPr>
          <p:cNvPr id="62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working late.</a:t>
            </a:r>
            <a:endParaRPr lang="en-US" sz="2000" dirty="0"/>
          </a:p>
        </p:txBody>
      </p:sp>
      <p:sp>
        <p:nvSpPr>
          <p:cNvPr id="63" name="Card item"/>
          <p:cNvSpPr/>
          <p:nvPr/>
        </p:nvSpPr>
        <p:spPr>
          <a:xfrm>
            <a:off x="8549640" y="2889504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 homework.</a:t>
            </a:r>
            <a:endParaRPr lang="en-US" sz="2000" dirty="0"/>
          </a:p>
        </p:txBody>
      </p:sp>
      <p:sp>
        <p:nvSpPr>
          <p:cNvPr id="64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 +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29" name="Picture 29" descr="waiting (for the bus)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598632" y="2240280"/>
            <a:ext cx="1619794" cy="113385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85405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(for the bus)</a:t>
            </a:r>
            <a:endParaRPr lang="en-US" sz="2000" dirty="0"/>
          </a:p>
        </p:txBody>
      </p:sp>
      <p:pic>
        <p:nvPicPr>
          <p:cNvPr id="31" name="Picture 31" descr="cooking (now)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5210512" y="2240280"/>
            <a:ext cx="1619794" cy="113385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446593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(now)</a:t>
            </a:r>
            <a:endParaRPr lang="en-US" sz="2000" dirty="0"/>
          </a:p>
        </p:txBody>
      </p:sp>
      <p:pic>
        <p:nvPicPr>
          <p:cNvPr id="33" name="Picture 33" descr="working late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8822392" y="2240280"/>
            <a:ext cx="1619794" cy="113385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807781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 late</a:t>
            </a:r>
            <a:endParaRPr lang="en-US" sz="2000" dirty="0"/>
          </a:p>
        </p:txBody>
      </p:sp>
      <p:pic>
        <p:nvPicPr>
          <p:cNvPr id="35" name="Picture 35" descr="doing homework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1598632" y="4315968"/>
            <a:ext cx="1619794" cy="113385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5405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doing homework</a:t>
            </a:r>
            <a:endParaRPr lang="en-US" sz="2000" dirty="0"/>
          </a:p>
        </p:txBody>
      </p:sp>
      <p:pic>
        <p:nvPicPr>
          <p:cNvPr id="37" name="Picture 37" descr="watching TV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5210512" y="4315968"/>
            <a:ext cx="1619794" cy="113385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446593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watching TV</a:t>
            </a:r>
            <a:endParaRPr lang="en-US" sz="2000" dirty="0"/>
          </a:p>
        </p:txBody>
      </p:sp>
      <p:pic>
        <p:nvPicPr>
          <p:cNvPr id="39" name="Picture 39" descr="looking at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8822392" y="4315968"/>
            <a:ext cx="1619794" cy="113385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807781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looking at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 · Telling time</a:t>
            </a:r>
            <a:endParaRPr lang="en-US" sz="2000" dirty="0"/>
          </a:p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five forty-five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six o'clock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5:45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</a:t>
            </a:r>
            <a:endParaRPr lang="en-US" sz="6000" dirty="0"/>
          </a:p>
        </p:txBody>
      </p:sp>
      <p:pic>
        <p:nvPicPr>
          <p:cNvPr id="22" name="Picture 22" descr="L4_what_tim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Share 2 sentences. Vote!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hates ____. (clean)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dancing. (like)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____. (cook)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037637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like, love, hate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: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verb 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4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cleaning</a:t>
            </a:r>
            <a:endParaRPr lang="en-US" sz="2000" dirty="0"/>
          </a:p>
        </p:txBody>
      </p:sp>
      <p:sp>
        <p:nvSpPr>
          <p:cNvPr id="35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likes</a:t>
            </a:r>
            <a:endParaRPr lang="en-US" sz="2000" dirty="0"/>
          </a:p>
        </p:txBody>
      </p:sp>
      <p:sp>
        <p:nvSpPr>
          <p:cNvPr id="36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</p:txBody>
      </p:sp>
      <p:sp>
        <p:nvSpPr>
          <p:cNvPr id="37" name="Answer 4"/>
          <p:cNvSpPr/>
          <p:nvPr/>
        </p:nvSpPr>
        <p:spPr>
          <a:xfrm>
            <a:off x="4921301" y="5334610"/>
            <a:ext cx="1662379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9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/>
          </a:p>
        </p:txBody>
      </p:sp>
      <p:pic>
        <p:nvPicPr>
          <p:cNvPr id="40" name="Picture 40" descr="L4_call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41" name="Row shadow"/>
          <p:cNvSpPr/>
          <p:nvPr/>
        </p:nvSpPr>
        <p:spPr>
          <a:xfrm>
            <a:off x="5970118" y="138257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Row"/>
          <p:cNvSpPr/>
          <p:nvPr/>
        </p:nvSpPr>
        <p:spPr>
          <a:xfrm>
            <a:off x="5897880" y="1325880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Row num"/>
          <p:cNvSpPr/>
          <p:nvPr/>
        </p:nvSpPr>
        <p:spPr>
          <a:xfrm>
            <a:off x="6035040" y="158099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44" name="Row question"/>
          <p:cNvSpPr/>
          <p:nvPr/>
        </p:nvSpPr>
        <p:spPr>
          <a:xfrm>
            <a:off x="6858000" y="139903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 is ...</a:t>
            </a:r>
            <a:endParaRPr lang="en-US" sz="2200" dirty="0"/>
          </a:p>
        </p:txBody>
      </p:sp>
      <p:sp>
        <p:nvSpPr>
          <p:cNvPr id="45" name="Option"/>
          <p:cNvSpPr/>
          <p:nvPr/>
        </p:nvSpPr>
        <p:spPr>
          <a:xfrm>
            <a:off x="6858000" y="194767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</p:txBody>
      </p:sp>
      <p:sp>
        <p:nvSpPr>
          <p:cNvPr id="46" name="Circle 1"/>
          <p:cNvSpPr/>
          <p:nvPr/>
        </p:nvSpPr>
        <p:spPr>
          <a:xfrm>
            <a:off x="6748272" y="1883664"/>
            <a:ext cx="1384069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Option"/>
          <p:cNvSpPr/>
          <p:nvPr/>
        </p:nvSpPr>
        <p:spPr>
          <a:xfrm>
            <a:off x="8159773" y="1947672"/>
            <a:ext cx="1291798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sleeping</a:t>
            </a:r>
            <a:endParaRPr lang="en-US" sz="2000" dirty="0"/>
          </a:p>
        </p:txBody>
      </p:sp>
      <p:sp>
        <p:nvSpPr>
          <p:cNvPr id="48" name="Option"/>
          <p:cNvSpPr/>
          <p:nvPr/>
        </p:nvSpPr>
        <p:spPr>
          <a:xfrm>
            <a:off x="9588731" y="194767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driving</a:t>
            </a:r>
            <a:endParaRPr lang="en-US" sz="2000" dirty="0"/>
          </a:p>
        </p:txBody>
      </p:sp>
      <p:sp>
        <p:nvSpPr>
          <p:cNvPr id="49" name="Row shadow"/>
          <p:cNvSpPr/>
          <p:nvPr/>
        </p:nvSpPr>
        <p:spPr>
          <a:xfrm>
            <a:off x="5970118" y="279989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Row"/>
          <p:cNvSpPr/>
          <p:nvPr/>
        </p:nvSpPr>
        <p:spPr>
          <a:xfrm>
            <a:off x="5897880" y="2743200"/>
            <a:ext cx="589788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Row num"/>
          <p:cNvSpPr/>
          <p:nvPr/>
        </p:nvSpPr>
        <p:spPr>
          <a:xfrm>
            <a:off x="6035040" y="2998318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52" name="Row question"/>
          <p:cNvSpPr/>
          <p:nvPr/>
        </p:nvSpPr>
        <p:spPr>
          <a:xfrm>
            <a:off x="6858000" y="281635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is ...</a:t>
            </a:r>
            <a:endParaRPr lang="en-US" sz="2200" dirty="0"/>
          </a:p>
        </p:txBody>
      </p:sp>
      <p:sp>
        <p:nvSpPr>
          <p:cNvPr id="53" name="Option"/>
          <p:cNvSpPr/>
          <p:nvPr/>
        </p:nvSpPr>
        <p:spPr>
          <a:xfrm>
            <a:off x="6858000" y="336499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home</a:t>
            </a:r>
            <a:endParaRPr lang="en-US" sz="2000" dirty="0"/>
          </a:p>
        </p:txBody>
      </p:sp>
      <p:sp>
        <p:nvSpPr>
          <p:cNvPr id="54" name="Option"/>
          <p:cNvSpPr/>
          <p:nvPr/>
        </p:nvSpPr>
        <p:spPr>
          <a:xfrm>
            <a:off x="8159773" y="3364992"/>
            <a:ext cx="2182091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the bus stop</a:t>
            </a:r>
            <a:endParaRPr lang="en-US" sz="2000" dirty="0"/>
          </a:p>
        </p:txBody>
      </p:sp>
      <p:sp>
        <p:nvSpPr>
          <p:cNvPr id="55" name="Circle 2"/>
          <p:cNvSpPr/>
          <p:nvPr/>
        </p:nvSpPr>
        <p:spPr>
          <a:xfrm>
            <a:off x="8050045" y="3300984"/>
            <a:ext cx="2401547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Option"/>
          <p:cNvSpPr/>
          <p:nvPr/>
        </p:nvSpPr>
        <p:spPr>
          <a:xfrm>
            <a:off x="10479024" y="336499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work</a:t>
            </a:r>
            <a:endParaRPr lang="en-US" sz="2000" dirty="0"/>
          </a:p>
        </p:txBody>
      </p:sp>
      <p:sp>
        <p:nvSpPr>
          <p:cNvPr id="57" name="Row shadow"/>
          <p:cNvSpPr/>
          <p:nvPr/>
        </p:nvSpPr>
        <p:spPr>
          <a:xfrm>
            <a:off x="5970118" y="421721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Row"/>
          <p:cNvSpPr/>
          <p:nvPr/>
        </p:nvSpPr>
        <p:spPr>
          <a:xfrm>
            <a:off x="5897880" y="4160520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9" name="Row num"/>
          <p:cNvSpPr/>
          <p:nvPr/>
        </p:nvSpPr>
        <p:spPr>
          <a:xfrm>
            <a:off x="6035040" y="441563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60" name="Row question"/>
          <p:cNvSpPr/>
          <p:nvPr/>
        </p:nvSpPr>
        <p:spPr>
          <a:xfrm>
            <a:off x="6858000" y="423367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...</a:t>
            </a:r>
            <a:endParaRPr lang="en-US" sz="2200" dirty="0"/>
          </a:p>
        </p:txBody>
      </p:sp>
      <p:sp>
        <p:nvSpPr>
          <p:cNvPr id="61" name="Option"/>
          <p:cNvSpPr/>
          <p:nvPr/>
        </p:nvSpPr>
        <p:spPr>
          <a:xfrm>
            <a:off x="6858000" y="478231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5:15</a:t>
            </a:r>
            <a:endParaRPr lang="en-US" sz="2000" dirty="0"/>
          </a:p>
        </p:txBody>
      </p:sp>
      <p:sp>
        <p:nvSpPr>
          <p:cNvPr id="62" name="Option"/>
          <p:cNvSpPr/>
          <p:nvPr/>
        </p:nvSpPr>
        <p:spPr>
          <a:xfrm>
            <a:off x="8138160" y="478231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5:45</a:t>
            </a:r>
            <a:endParaRPr lang="en-US" sz="2000" dirty="0"/>
          </a:p>
        </p:txBody>
      </p:sp>
      <p:sp>
        <p:nvSpPr>
          <p:cNvPr id="63" name="Circle 3"/>
          <p:cNvSpPr/>
          <p:nvPr/>
        </p:nvSpPr>
        <p:spPr>
          <a:xfrm>
            <a:off x="8028432" y="4718304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4" name="Option"/>
          <p:cNvSpPr/>
          <p:nvPr/>
        </p:nvSpPr>
        <p:spPr>
          <a:xfrm>
            <a:off x="9418320" y="478231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6:15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Phone Call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 cards and partners.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5" name="Picture 25" descr="L4_call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26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Sit back to back.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lip reading!</a:t>
            </a:r>
            <a:endParaRPr lang="en-US" sz="2000" dirty="0"/>
          </a:p>
        </p:txBody>
      </p:sp>
      <p:sp>
        <p:nvSpPr>
          <p:cNvPr id="28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 You're at the bus stop.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 You're at home cooking.</a:t>
            </a:r>
            <a:endParaRPr lang="en-US" sz="2000" dirty="0"/>
          </a:p>
        </p:txBody>
      </p:sp>
      <p:sp>
        <p:nvSpPr>
          <p:cNvPr id="30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frame.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doing? I'm ___.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3" name="Picture 23" descr="L4_watching_tv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24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25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26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your family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doing right now?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sentence.</a:t>
            </a:r>
            <a:endParaRPr lang="en-US" sz="2000" dirty="0"/>
          </a:p>
        </p:txBody>
      </p:sp>
      <p:sp>
        <p:nvSpPr>
          <p:cNvPr id="27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8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9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 times this week: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what you and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family are doing.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8:00 PM. My son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watching TV.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 or False?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49" name="Statement 1"/>
          <p:cNvSpPr/>
          <p:nvPr/>
        </p:nvSpPr>
        <p:spPr>
          <a:xfrm>
            <a:off x="502920" y="306324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Rosa's daughters are doing their homework.</a:t>
            </a:r>
            <a:endParaRPr lang="en-US" sz="2000" dirty="0"/>
          </a:p>
        </p:txBody>
      </p:sp>
      <p:sp>
        <p:nvSpPr>
          <p:cNvPr id="50" name="Option 11"/>
          <p:cNvSpPr/>
          <p:nvPr/>
        </p:nvSpPr>
        <p:spPr>
          <a:xfrm>
            <a:off x="6583680" y="316382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51" name="Option 12"/>
          <p:cNvSpPr/>
          <p:nvPr/>
        </p:nvSpPr>
        <p:spPr>
          <a:xfrm>
            <a:off x="8001000" y="316382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52" name="Circle 1"/>
          <p:cNvSpPr/>
          <p:nvPr/>
        </p:nvSpPr>
        <p:spPr>
          <a:xfrm>
            <a:off x="6455664" y="309981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Statement 2"/>
          <p:cNvSpPr/>
          <p:nvPr/>
        </p:nvSpPr>
        <p:spPr>
          <a:xfrm>
            <a:off x="502920" y="388620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Rosa's husband is watching TV.</a:t>
            </a:r>
            <a:endParaRPr lang="en-US" sz="2000" dirty="0"/>
          </a:p>
        </p:txBody>
      </p:sp>
      <p:sp>
        <p:nvSpPr>
          <p:cNvPr id="54" name="Option 21"/>
          <p:cNvSpPr/>
          <p:nvPr/>
        </p:nvSpPr>
        <p:spPr>
          <a:xfrm>
            <a:off x="6583680" y="398678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55" name="Option 22"/>
          <p:cNvSpPr/>
          <p:nvPr/>
        </p:nvSpPr>
        <p:spPr>
          <a:xfrm>
            <a:off x="8001000" y="398678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56" name="Circle 2"/>
          <p:cNvSpPr/>
          <p:nvPr/>
        </p:nvSpPr>
        <p:spPr>
          <a:xfrm>
            <a:off x="7872984" y="392277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7" name="Fix 2"/>
          <p:cNvSpPr/>
          <p:nvPr/>
        </p:nvSpPr>
        <p:spPr>
          <a:xfrm>
            <a:off x="9326880" y="3886200"/>
            <a:ext cx="210312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working late.</a:t>
            </a:r>
            <a:endParaRPr lang="en-US" sz="2000" dirty="0"/>
          </a:p>
        </p:txBody>
      </p:sp>
      <p:sp>
        <p:nvSpPr>
          <p:cNvPr id="58" name="Statement 3"/>
          <p:cNvSpPr/>
          <p:nvPr/>
        </p:nvSpPr>
        <p:spPr>
          <a:xfrm>
            <a:off x="502920" y="470916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Rosa is coming to class tonight.</a:t>
            </a:r>
            <a:endParaRPr lang="en-US" sz="2000" dirty="0"/>
          </a:p>
        </p:txBody>
      </p:sp>
      <p:sp>
        <p:nvSpPr>
          <p:cNvPr id="59" name="Option 31"/>
          <p:cNvSpPr/>
          <p:nvPr/>
        </p:nvSpPr>
        <p:spPr>
          <a:xfrm>
            <a:off x="6583680" y="480974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60" name="Option 32"/>
          <p:cNvSpPr/>
          <p:nvPr/>
        </p:nvSpPr>
        <p:spPr>
          <a:xfrm>
            <a:off x="8001000" y="480974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61" name="Circle 3"/>
          <p:cNvSpPr/>
          <p:nvPr/>
        </p:nvSpPr>
        <p:spPr>
          <a:xfrm>
            <a:off x="6455664" y="474573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2" name="Statement 4"/>
          <p:cNvSpPr/>
          <p:nvPr/>
        </p:nvSpPr>
        <p:spPr>
          <a:xfrm>
            <a:off x="502920" y="5532120"/>
            <a:ext cx="59436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Sam doesn't have the homework page.</a:t>
            </a:r>
            <a:endParaRPr lang="en-US" sz="2000" dirty="0"/>
          </a:p>
        </p:txBody>
      </p:sp>
      <p:sp>
        <p:nvSpPr>
          <p:cNvPr id="63" name="Option 41"/>
          <p:cNvSpPr/>
          <p:nvPr/>
        </p:nvSpPr>
        <p:spPr>
          <a:xfrm>
            <a:off x="6583680" y="563270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64" name="Option 42"/>
          <p:cNvSpPr/>
          <p:nvPr/>
        </p:nvSpPr>
        <p:spPr>
          <a:xfrm>
            <a:off x="8001000" y="563270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65" name="Circle 4"/>
          <p:cNvSpPr/>
          <p:nvPr/>
        </p:nvSpPr>
        <p:spPr>
          <a:xfrm>
            <a:off x="7872984" y="556869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6" name="Fix 4"/>
          <p:cNvSpPr/>
          <p:nvPr/>
        </p:nvSpPr>
        <p:spPr>
          <a:xfrm>
            <a:off x="9326880" y="5532120"/>
            <a:ext cx="210312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has it.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License: CC BY-NC-SA 4.0</a:t>
            </a:r>
            <a:endParaRPr lang="en-US" sz="2000" dirty="0"/>
          </a:p>
        </p:txBody>
      </p:sp>
      <p:sp>
        <p:nvSpPr>
          <p:cNvPr id="17" name="Independence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Independent project, not affiliated with or endorsed by Intercambio Uniting Communities.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Charades: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You're cooking!</a:t>
            </a:r>
            <a:endParaRPr lang="en-US" sz="2200" dirty="0"/>
          </a:p>
        </p:txBody>
      </p:sp>
      <p:pic>
        <p:nvPicPr>
          <p:cNvPr id="29" name="Picture 29" descr="calling (on the phone)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598632" y="2240280"/>
            <a:ext cx="1619794" cy="113385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85405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(on the phone)</a:t>
            </a:r>
            <a:endParaRPr lang="en-US" sz="2000" dirty="0"/>
          </a:p>
        </p:txBody>
      </p:sp>
      <p:pic>
        <p:nvPicPr>
          <p:cNvPr id="31" name="Picture 31" descr="coming (The bus is coming.)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5210512" y="2240280"/>
            <a:ext cx="1619794" cy="113385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446593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coming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(The bus is coming.)</a:t>
            </a:r>
            <a:endParaRPr lang="en-US" sz="2000" dirty="0"/>
          </a:p>
        </p:txBody>
      </p:sp>
      <p:pic>
        <p:nvPicPr>
          <p:cNvPr id="33" name="Picture 33" descr="right now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8822392" y="2240280"/>
            <a:ext cx="1619794" cy="113385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8077810" y="3429000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endParaRPr lang="en-US" sz="2000" dirty="0"/>
          </a:p>
        </p:txBody>
      </p:sp>
      <p:pic>
        <p:nvPicPr>
          <p:cNvPr id="35" name="Picture 35" descr="today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3404572" y="4315968"/>
            <a:ext cx="1619794" cy="113385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265999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</a:t>
            </a:r>
            <a:endParaRPr lang="en-US" sz="2000" dirty="0"/>
          </a:p>
        </p:txBody>
      </p:sp>
      <p:pic>
        <p:nvPicPr>
          <p:cNvPr id="37" name="Picture 37" descr="What time is it? (It's 5:45.)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7016452" y="4315968"/>
            <a:ext cx="1619794" cy="113385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6271870" y="5504688"/>
            <a:ext cx="310896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it?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(It's 5:45.)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238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____ dinner.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____ you doing?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6255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They're ____ their homework.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____ coming now.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Rosa is waiting for the bus.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right now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8" name="Answer 1"/>
          <p:cNvSpPr/>
          <p:nvPr/>
        </p:nvSpPr>
        <p:spPr>
          <a:xfrm>
            <a:off x="5207508" y="3278124"/>
            <a:ext cx="1376172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200" dirty="0"/>
          </a:p>
        </p:txBody>
      </p:sp>
      <p:sp>
        <p:nvSpPr>
          <p:cNvPr id="39" name="Answer 2"/>
          <p:cNvSpPr/>
          <p:nvPr/>
        </p:nvSpPr>
        <p:spPr>
          <a:xfrm>
            <a:off x="5532120" y="4128516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40" name="Answer 3"/>
          <p:cNvSpPr/>
          <p:nvPr/>
        </p:nvSpPr>
        <p:spPr>
          <a:xfrm>
            <a:off x="5509260" y="4978908"/>
            <a:ext cx="107442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doing</a:t>
            </a:r>
            <a:endParaRPr lang="en-US" sz="2200" dirty="0"/>
          </a:p>
        </p:txBody>
      </p:sp>
      <p:sp>
        <p:nvSpPr>
          <p:cNvPr id="41" name="Answer 4"/>
          <p:cNvSpPr/>
          <p:nvPr/>
        </p:nvSpPr>
        <p:spPr>
          <a:xfrm>
            <a:off x="5532120" y="58293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4_today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you are doing?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doing?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cooking every day.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every day.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