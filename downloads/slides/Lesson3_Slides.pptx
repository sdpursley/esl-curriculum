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7" r:id="rId13"/>
    <p:sldId id="265" r:id="rId11"/>
    <p:sldId id="276" r:id="rId27"/>
    <p:sldId id="272" r:id="rId18"/>
    <p:sldId id="268" r:id="rId14"/>
    <p:sldId id="277" r:id="rId28"/>
    <p:sldId id="260" r:id="rId6"/>
    <p:sldId id="264" r:id="rId10"/>
    <p:sldId id="259" r:id="rId5"/>
    <p:sldId id="261" r:id="rId7"/>
    <p:sldId id="278" r:id="rId29"/>
    <p:sldId id="262" r:id="rId8"/>
    <p:sldId id="266" r:id="rId12"/>
    <p:sldId id="270" r:id="rId16"/>
    <p:sldId id="271" r:id="rId17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11.xml"/><Relationship Id="rId6" Type="http://schemas.openxmlformats.org/officeDocument/2006/relationships/slide" Target="slides/slide9.xml"/><Relationship Id="rId7" Type="http://schemas.openxmlformats.org/officeDocument/2006/relationships/slide" Target="slides/slide12.xml"/><Relationship Id="rId8" Type="http://schemas.openxmlformats.org/officeDocument/2006/relationships/slide" Target="slides/slide14.xml"/><Relationship Id="rId10" Type="http://schemas.openxmlformats.org/officeDocument/2006/relationships/slide" Target="slides/slide10.xml"/><Relationship Id="rId11" Type="http://schemas.openxmlformats.org/officeDocument/2006/relationships/slide" Target="slides/slide4.xml"/><Relationship Id="rId12" Type="http://schemas.openxmlformats.org/officeDocument/2006/relationships/slide" Target="slides/slide15.xml"/><Relationship Id="rId13" Type="http://schemas.openxmlformats.org/officeDocument/2006/relationships/slide" Target="slides/slide3.xml"/><Relationship Id="rId14" Type="http://schemas.openxmlformats.org/officeDocument/2006/relationships/slide" Target="slides/slide7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6.xml"/><Relationship Id="rId20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5.xml"/><Relationship Id="rId28" Type="http://schemas.openxmlformats.org/officeDocument/2006/relationships/slide" Target="slides/slide8.xml"/><Relationship Id="rId2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Read the three goals together; learners repeat.</a:t>
            </a:r>
          </a:p>
          <a:p>
            <a:r>
              <a:rPr lang="en-US" dirty="0"/>
              <a:t>Objectives: say likes and dislikes with love / like / don't mind / don't like / hate + noun or -ing; agree and disagree (Me too / Me neither / Really? I don't / Oh, I do!); keep a short conversation going with What kind of...?</a:t>
            </a:r>
          </a:p>
          <a:p>
            <a:r>
              <a:rPr lang="en-US" dirty="0"/>
              <a:t>Source: Level2_Curriculum_v4_1_public.md, Lesson 3 (At a glance).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· 6:00–6:10 · Opening Talk + Homework Check (pairs, same partner for both parts). Minutes 0–5: these two questions review Lesson 2. Each click shows one question.</a:t>
            </a:r>
          </a:p>
          <a:p>
            <a:r>
              <a:rPr lang="en-US" dirty="0"/>
              <a:t>Source: Level2_Curriculum_v4_1_public.md, Lesson 3 (Step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3: agree or disagree. Say: "Me too answers a positive sentence. Me neither answers a negative sentence."</a:t>
            </a:r>
          </a:p>
          <a:p>
            <a:r>
              <a:rPr lang="en-US" dirty="0"/>
              <a:t>Click 1 highlights the positive sentence and shows the replies; click 2 the negative sentence.</a:t>
            </a:r>
          </a:p>
          <a:p>
            <a:r>
              <a:rPr lang="en-US" dirty="0"/>
              <a:t>Short Ball Toss (last 5 min): the thrower says a true sentence; the catcher agrees or disagrees correctly, then makes a new sentence. If behind: skip it.</a:t>
            </a:r>
          </a:p>
          <a:p>
            <a:r>
              <a:rPr lang="en-US" dirty="0"/>
              <a:t>Source: Level2_Curriculum_v4_1_public.md, Lesson 3 (Step 4; Grammar Box 3).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· 6:30–6:45 · Grammar. Say: "After like, love, hate, don't mind, use a thing or an activity. To make an action an activity, add -ing."</a:t>
            </a:r>
          </a:p>
          <a:p>
            <a:r>
              <a:rPr lang="en-US" dirty="0"/>
              <a:t>Click 1 highlights Do and its answers; click 2 highlights Does and its answers.</a:t>
            </a:r>
          </a:p>
          <a:p>
            <a:r>
              <a:rPr lang="en-US" dirty="0"/>
              <a:t>More from the box: Do you like soccer? cooking? dancing? → Yes, I do. I love it. / It's OK. I don't mind it. / No, I don't. I hate it. Does he / she like shopping? cleaning? → Yes, he/she does. He/She loves it. / No, he/she doesn't. He/She hates it.</a:t>
            </a:r>
          </a:p>
          <a:p>
            <a:r>
              <a:rPr lang="en-US" dirty="0"/>
              <a:t>Source: Level2_Curriculum_v4_1_public.md, Lesson 3 (Step 4; Grammar Box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1). Read the left side; ask "What's wrong?" Each click shows the correct sentence.</a:t>
            </a:r>
          </a:p>
          <a:p>
            <a:r>
              <a:rPr lang="en-US" dirty="0"/>
              <a:t>I like to cook is also correct. At this level we practice the -ing form so learners learn one pattern well.</a:t>
            </a:r>
          </a:p>
          <a:p>
            <a:r>
              <a:rPr lang="en-US" dirty="0"/>
              <a:t>Source: Level2_Curriculum_v4_1_public.md, Lesson 3 (Common mistakes;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questions. Learners answer; each click shows one answer.</a:t>
            </a:r>
          </a:p>
          <a:p>
            <a:r>
              <a:rPr lang="en-US" dirty="0"/>
              <a:t>1: Me neither! (or Really? I do!) · 2: Me too! (or Really? I don't.) · 3: dancing (silent e: drop it).</a:t>
            </a:r>
          </a:p>
          <a:p>
            <a:r>
              <a:rPr lang="en-US" dirty="0"/>
              <a:t>Source: Level2_Curriculum_v4_1_public.md, Lesson 3 (Step 4 Check; Grammar Box 3; -ing spelling).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2: What...? questions. Each click highlights the helper do.</a:t>
            </a:r>
          </a:p>
          <a:p>
            <a:r>
              <a:rPr lang="en-US" dirty="0"/>
              <a:t>Answers: I like / love / hate / don't mind cooking. / dancing. / cleaning. What kind of music / food / movies do you like? → I like salsa. / cumbia. / pop.</a:t>
            </a:r>
          </a:p>
          <a:p>
            <a:r>
              <a:rPr lang="en-US" dirty="0"/>
              <a:t>Q: How strong are these words? love (strongest) → like → don't mind → don't like → hate. Spelling -ing: cook → cooking; dance → dancing; shop → shopping.</a:t>
            </a:r>
          </a:p>
          <a:p>
            <a:r>
              <a:rPr lang="en-US" dirty="0"/>
              <a:t>Source: Level2_Curriculum_v4_1_public.md, Lesson 3 (Grammar Box 2;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· 6:10–6:18 · New Words (pairs). Point, say, repeat. Each click shows one word.</a:t>
            </a:r>
          </a:p>
          <a:p>
            <a:r>
              <a:rPr lang="en-US" dirty="0"/>
              <a:t>Star words here: soccer, cooking, dancing, shopping, cleaning.</a:t>
            </a:r>
          </a:p>
          <a:p>
            <a:r>
              <a:rPr lang="en-US" dirty="0"/>
              <a:t>If behind: teach the star words only; skip the picture sort.</a:t>
            </a:r>
          </a:p>
          <a:p>
            <a:r>
              <a:rPr lang="en-US" dirty="0"/>
              <a:t>Source: Level2_Curriculum_v4_1_public.md, Lesson 3 (Step 2; Student Page 3 New Words).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Q: Me too or Me neither? Look at your partner's sentence. Positive (I like...) → Me too. Negative (I don't like...) → Me neither.</a:t>
            </a:r>
          </a:p>
          <a:p>
            <a:r>
              <a:rPr lang="en-US" dirty="0"/>
              <a:t>Click 1: positive. Click 2: negative.</a:t>
            </a:r>
          </a:p>
          <a:p>
            <a:r>
              <a:rPr lang="en-US" dirty="0"/>
              <a:t>Source: Level2_Curriculum_v4_1_public.md, Lesson 3 (Questions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1, minutes 5–10: each partner reads their 6 homework sentences (Lesson 2 homework: someone's routine); the listener raises a hand at every -s.</a:t>
            </a:r>
          </a:p>
          <a:p>
            <a:r>
              <a:rPr lang="en-US" dirty="0"/>
              <a:t>Each click shows one answer. Say the verb for each line: get, take, work, work. Examples come from Lesson 2 (homework model and Common mistakes).</a:t>
            </a:r>
          </a:p>
          <a:p>
            <a:r>
              <a:rPr lang="en-US" dirty="0"/>
              <a:t>Teacher: note 2 common errors for the board. If behind: collect the homework.</a:t>
            </a:r>
          </a:p>
          <a:p>
            <a:r>
              <a:rPr lang="en-US" dirty="0"/>
              <a:t>Source: Level2_Curriculum_v4_1_public.md, Lesson 3 (Step 1); Lesson 2 Homework and Common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2 → Task B (circle the reply Carlos says). Each click circles one answer.</a:t>
            </a:r>
          </a:p>
          <a:p>
            <a:r>
              <a:rPr lang="en-US" dirty="0"/>
              <a:t>Answer key: 1 Me too!  2 Me neither.</a:t>
            </a:r>
          </a:p>
          <a:p>
            <a:r>
              <a:rPr lang="en-US" dirty="0"/>
              <a:t>Source: Level2_Curriculum_v4_1_public.md, Lesson 3 (Step 3; Answer key).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· 7:00–7:10 · Talk Time. Put the four corner signs up during the break. Each click shows one step.</a:t>
            </a:r>
          </a:p>
          <a:p>
            <a:r>
              <a:rPr lang="en-US" dirty="0"/>
              <a:t>Four Corners (5 min): call out an activity; learners walk to a corner and tell the others why ("...because it's boring"). 7–8 learners: use 2 corners only (LIKE / DON'T LIKE).</a:t>
            </a:r>
          </a:p>
          <a:p>
            <a:r>
              <a:rPr lang="en-US" dirty="0"/>
              <a:t>Break-Room Small Talk (5 min): "You're on a break with a new coworker. Find one thing you both like." Switch partners once. If behind: Small Talk only.</a:t>
            </a:r>
          </a:p>
          <a:p>
            <a:r>
              <a:rPr lang="en-US" dirty="0"/>
              <a:t>Source: Level2_Curriculum_v4_1_public.md, Lesson 3 (Step 5).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· 7:10–7:15 · Exit Ticket + Homework. NEVER SKIP.</a:t>
            </a:r>
          </a:p>
          <a:p>
            <a:r>
              <a:rPr lang="en-US" dirty="0"/>
              <a:t>Exit ticket: one love / hate + -ing sentence.</a:t>
            </a:r>
          </a:p>
          <a:p>
            <a:r>
              <a:rPr lang="en-US" dirty="0"/>
              <a:t>Homework (10–15 minutes): 1. Ask 3 people (family, friends, coworkers): What do you like doing? What do you hate doing? If they don't speak English, they can answer in their language, but learners write in English. 2. Write 6 sentences: My son loves playing video games. My wife hates cleaning... Explain it and do item 1 together.</a:t>
            </a:r>
          </a:p>
          <a:p>
            <a:r>
              <a:rPr lang="en-US" dirty="0"/>
              <a:t>Source: Level2_Curriculum_v4_1_public.md, Lesson 3 (Step 6; Student Page 3 Homework).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· 6:18–6:30 · Listening (L3_listening.mp3, about 1:05). Before you listen: "What do you think Kim likes?"</a:t>
            </a:r>
          </a:p>
          <a:p>
            <a:r>
              <a:rPr lang="en-US" dirty="0"/>
              <a:t>Listen 1 → Task A (chart). Some boxes stay empty. Each click shows one row.</a:t>
            </a:r>
          </a:p>
          <a:p>
            <a:r>
              <a:rPr lang="en-US" dirty="0"/>
              <a:t>Answer key: playing soccer: Carlos yes, Kim no · watching soccer on TV: Kim yes · cooking: Kim yes · dancing: Kim yes, Carlos yes · rock music: Kim no, Carlos no · cleaning: Kim no (hates), Carlos yes (doesn't mind).</a:t>
            </a:r>
          </a:p>
          <a:p>
            <a:r>
              <a:rPr lang="en-US" dirty="0"/>
              <a:t>No speaker? Read the script with a volunteer learner.</a:t>
            </a:r>
          </a:p>
          <a:p>
            <a:r>
              <a:rPr lang="en-US" dirty="0"/>
              <a:t>Source: Level2_Curriculum_v4_1_public.md, Lesson 3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Credits. Lesson content: Level 2 Adult ESL Curriculum v4.1, public edition, Lesson 3.</a:t>
            </a:r>
          </a:p>
          <a:p>
            <a:r>
              <a:rPr lang="en-US" dirty="0"/>
              <a:t>Image credit line copied exactly from images/CREDITS.md. Deck notice: © 2026 the authors; the authors license this deck under CC BY-NC-SA 4.0 (Section 7.2).</a:t>
            </a:r>
          </a:p>
          <a:p>
            <a:r>
              <a:rPr lang="en-US" dirty="0"/>
              <a:t>Audio and font credits: Chatterbox TTS (Resemble AI, MIT; Perth watermark), Lexend Deca (SIL OFL 1.1).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Words, part 2. Each click shows one word. Star words here: watching TV / movies, What kind of (music)?</a:t>
            </a:r>
          </a:p>
          <a:p>
            <a:r>
              <a:rPr lang="en-US" dirty="0"/>
              <a:t>Music examples: salsa, cumbia, pop, rock (ask learners for their favorite kinds).</a:t>
            </a:r>
          </a:p>
          <a:p>
            <a:r>
              <a:rPr lang="en-US" dirty="0"/>
              <a:t>Feelings scale: teach with gestures (love → hate). Picture sort: pairs sort the free-time cards into "I like" and "I don't like."</a:t>
            </a:r>
          </a:p>
          <a:p>
            <a:r>
              <a:rPr lang="en-US" dirty="0"/>
              <a:t>Source: Level2_Curriculum_v4_1_public.md, Lesson 3 (Step 2; Student Page 3).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3 → Task C (fill in). Each click fills one blank.</a:t>
            </a:r>
          </a:p>
          <a:p>
            <a:r>
              <a:rPr lang="en-US" dirty="0"/>
              <a:t>Answer key: Fridays; Saturday; mind.</a:t>
            </a:r>
          </a:p>
          <a:p>
            <a:r>
              <a:rPr lang="en-US" dirty="0"/>
              <a:t>"Say it" (1–2 min): repeat "I love dancing." and "Me neither!" with strong feeling.</a:t>
            </a:r>
          </a:p>
          <a:p>
            <a:r>
              <a:rPr lang="en-US" dirty="0"/>
              <a:t>If behind: skip the third play; do Task C together.</a:t>
            </a:r>
          </a:p>
          <a:p>
            <a:r>
              <a:rPr lang="en-US" dirty="0"/>
              <a:t>Source: Level2_Curriculum_v4_1_public.md, Lesson 3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2). Each click shows the correct sentence.</a:t>
            </a:r>
          </a:p>
          <a:p>
            <a:r>
              <a:rPr lang="en-US" dirty="0"/>
              <a:t>a lot and very much go at the end: I like soccer a lot.</a:t>
            </a:r>
          </a:p>
          <a:p>
            <a:r>
              <a:rPr lang="en-US" dirty="0"/>
              <a:t>Source: Level2_Curriculum_v4_1_public.md, Lesson 3 (Common mistakes;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K1" Type="http://schemas.openxmlformats.org/officeDocument/2006/relationships/image" Target="../media/k_L3_music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K1" Type="http://schemas.openxmlformats.org/officeDocument/2006/relationships/image" Target="../media/k_L2_get_up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K1" Type="http://schemas.openxmlformats.org/officeDocument/2006/relationships/image" Target="../media/k_L3_soccer.png"/><Relationship Id="rIdK2" Type="http://schemas.openxmlformats.org/officeDocument/2006/relationships/image" Target="../media/k_L3_cooking.png"/><Relationship Id="rIdK3" Type="http://schemas.openxmlformats.org/officeDocument/2006/relationships/image" Target="../media/k_L3_dancing.png"/><Relationship Id="rIdK4" Type="http://schemas.openxmlformats.org/officeDocument/2006/relationships/image" Target="../media/k_L3_shopping.png"/><Relationship Id="rIdK5" Type="http://schemas.openxmlformats.org/officeDocument/2006/relationships/image" Target="../media/k_L3_cleaning.png"/><Relationship Id="rIdK6" Type="http://schemas.openxmlformats.org/officeDocument/2006/relationships/image" Target="../media/k_L3_gardening.png"/><Relationship Id="rIdK7" Type="http://schemas.openxmlformats.org/officeDocument/2006/relationships/image" Target="../media/k_L3_fixing_things.png"/><Relationship Id="rIdK8" Type="http://schemas.openxmlformats.org/officeDocument/2006/relationships/image" Target="../media/k_L3_walking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5.xml.rels><?xml version='1.0' encoding='UTF-8' standalone='yes'?>
<Relationships xmlns="http://schemas.openxmlformats.org/package/2006/relationships"><Relationship Id="rIdK1" Type="http://schemas.openxmlformats.org/officeDocument/2006/relationships/image" Target="../media/k_L3_watching_tv.png"/><Relationship Id="rIdK2" Type="http://schemas.openxmlformats.org/officeDocument/2006/relationships/image" Target="../media/k_L3_reading.png"/><Relationship Id="rIdK3" Type="http://schemas.openxmlformats.org/officeDocument/2006/relationships/image" Target="../media/k_L3_video_calls.png"/><Relationship Id="rIdK4" Type="http://schemas.openxmlformats.org/officeDocument/2006/relationships/image" Target="../media/k_L3_music.png"/><Relationship Id="rIdK5" Type="http://schemas.openxmlformats.org/officeDocument/2006/relationships/image" Target="../media/k_L3_kind_of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7.xml.rels><?xml version='1.0' encoding='UTF-8' standalone='yes'?>
<Relationships xmlns="http://schemas.openxmlformats.org/package/2006/relationships"><Relationship Id="rIdK1" Type="http://schemas.openxmlformats.org/officeDocument/2006/relationships/image" Target="../media/k_L3_dancing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9.xml.rels><?xml version='1.0' encoding='UTF-8' standalone='yes'?>
<Relationships xmlns="http://schemas.openxmlformats.org/package/2006/relationships"><Relationship Id="rIdK1" Type="http://schemas.openxmlformats.org/officeDocument/2006/relationships/image" Target="../media/k_L3_soccer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K1" Type="http://schemas.openxmlformats.org/officeDocument/2006/relationships/image" Target="../media/k_L3_kind_of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K1" Type="http://schemas.openxmlformats.org/officeDocument/2006/relationships/image" Target="../media/k_L3_cooking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K1" Type="http://schemas.openxmlformats.org/officeDocument/2006/relationships/image" Target="../media/k_L3_shopping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K1" Type="http://schemas.openxmlformats.org/officeDocument/2006/relationships/image" Target="../media/k_L3_cleaning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K1" Type="http://schemas.openxmlformats.org/officeDocument/2006/relationships/image" Target="../media/k_L3_watching_tv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K1" Type="http://schemas.openxmlformats.org/officeDocument/2006/relationships/image" Target="../media/k_L3_walking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K1" Type="http://schemas.openxmlformats.org/officeDocument/2006/relationships/image" Target="../media/k_L3_gardening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3  ·  Level 2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Free Time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you like and hate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Agree: Me too / Me neither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What kind of...?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72200" y="594360"/>
            <a:ext cx="914400" cy="863781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45679" y="582930"/>
            <a:ext cx="930729" cy="93072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rot="900000">
            <a:off x="6498771" y="849902"/>
            <a:ext cx="397601" cy="39760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14" name="Picture 14" descr="L3_music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9846" y="29718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Same partner.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2 questions.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22546" y="4854550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04842" y="4841748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5188306" y="5140757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6" name="Question"/>
          <p:cNvSpPr/>
          <p:nvPr/>
        </p:nvSpPr>
        <p:spPr>
          <a:xfrm>
            <a:off x="599846" y="3977640"/>
            <a:ext cx="4114800" cy="80467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 do you usually get up?</a:t>
            </a:r>
            <a:endParaRPr lang="en-US" sz="2200" dirty="0"/>
          </a:p>
        </p:txBody>
      </p:sp>
      <p:sp>
        <p:nvSpPr>
          <p:cNvPr id="17" name="Question"/>
          <p:cNvSpPr/>
          <p:nvPr/>
        </p:nvSpPr>
        <p:spPr>
          <a:xfrm>
            <a:off x="599846" y="4910328"/>
            <a:ext cx="4114800" cy="80467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your family get up early?</a:t>
            </a:r>
            <a:endParaRPr lang="en-US" sz="2200" dirty="0"/>
          </a:p>
        </p:txBody>
      </p:sp>
      <p:pic>
        <p:nvPicPr>
          <p:cNvPr id="18" name="Picture 18" descr="L2_get_up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6795821" y="2101291"/>
            <a:ext cx="4763110" cy="33341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your 6 sentences.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sister ____ up at 6.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always ____ the bus.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____ at a store.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doesn't ____.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HW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Raise a hand at every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-s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/ she / it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= -s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4" name="Answer 1"/>
          <p:cNvSpPr/>
          <p:nvPr/>
        </p:nvSpPr>
        <p:spPr>
          <a:xfrm>
            <a:off x="5257800" y="320040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gets</a:t>
            </a:r>
            <a:endParaRPr lang="en-US" sz="2000" dirty="0"/>
          </a:p>
        </p:txBody>
      </p:sp>
      <p:sp>
        <p:nvSpPr>
          <p:cNvPr id="35" name="Answer 2"/>
          <p:cNvSpPr/>
          <p:nvPr/>
        </p:nvSpPr>
        <p:spPr>
          <a:xfrm>
            <a:off x="5257800" y="3911803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takes</a:t>
            </a:r>
            <a:endParaRPr lang="en-US" sz="2000" dirty="0"/>
          </a:p>
        </p:txBody>
      </p:sp>
      <p:sp>
        <p:nvSpPr>
          <p:cNvPr id="36" name="Answer 3"/>
          <p:cNvSpPr/>
          <p:nvPr/>
        </p:nvSpPr>
        <p:spPr>
          <a:xfrm>
            <a:off x="5257800" y="4623206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works</a:t>
            </a:r>
            <a:endParaRPr lang="en-US" sz="2000" dirty="0"/>
          </a:p>
        </p:txBody>
      </p:sp>
      <p:sp>
        <p:nvSpPr>
          <p:cNvPr id="37" name="Answer 4"/>
          <p:cNvSpPr/>
          <p:nvPr/>
        </p:nvSpPr>
        <p:spPr>
          <a:xfrm>
            <a:off x="5257800" y="533461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/>
          </a:p>
        </p:txBody>
      </p:sp>
      <p:pic>
        <p:nvPicPr>
          <p:cNvPr id="29" name="Picture 29" descr="soccer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952837" y="2240280"/>
            <a:ext cx="2076994" cy="1453896"/>
          </a:xfrm>
          <a:prstGeom prst="rect">
            <a:avLst/>
          </a:prstGeom>
        </p:spPr>
      </p:pic>
      <p:sp>
        <p:nvSpPr>
          <p:cNvPr id="30" name="Word label"/>
          <p:cNvSpPr/>
          <p:nvPr/>
        </p:nvSpPr>
        <p:spPr>
          <a:xfrm>
            <a:off x="76261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soccer</a:t>
            </a:r>
            <a:endParaRPr lang="en-US" sz="2000" dirty="0"/>
          </a:p>
        </p:txBody>
      </p:sp>
      <p:pic>
        <p:nvPicPr>
          <p:cNvPr id="31" name="Picture 31" descr="cooking"/>
          <p:cNvPicPr>
            <a:picLocks noChangeAspect="1"/>
          </p:cNvPicPr>
          <p:nvPr/>
        </p:nvPicPr>
        <p:blipFill>
          <a:blip r:embed="rIdK2"/>
          <a:stretch>
            <a:fillRect/>
          </a:stretch>
        </p:blipFill>
        <p:spPr>
          <a:xfrm>
            <a:off x="3638887" y="2240280"/>
            <a:ext cx="2076994" cy="1453896"/>
          </a:xfrm>
          <a:prstGeom prst="rect">
            <a:avLst/>
          </a:prstGeom>
        </p:spPr>
      </p:pic>
      <p:sp>
        <p:nvSpPr>
          <p:cNvPr id="32" name="Word label"/>
          <p:cNvSpPr/>
          <p:nvPr/>
        </p:nvSpPr>
        <p:spPr>
          <a:xfrm>
            <a:off x="344866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cooking</a:t>
            </a:r>
            <a:endParaRPr lang="en-US" sz="2000" dirty="0"/>
          </a:p>
        </p:txBody>
      </p:sp>
      <p:pic>
        <p:nvPicPr>
          <p:cNvPr id="33" name="Picture 33" descr="dancing"/>
          <p:cNvPicPr>
            <a:picLocks noChangeAspect="1"/>
          </p:cNvPicPr>
          <p:nvPr/>
        </p:nvPicPr>
        <p:blipFill>
          <a:blip r:embed="rIdK3"/>
          <a:stretch>
            <a:fillRect/>
          </a:stretch>
        </p:blipFill>
        <p:spPr>
          <a:xfrm>
            <a:off x="6324937" y="2240280"/>
            <a:ext cx="2076994" cy="1453896"/>
          </a:xfrm>
          <a:prstGeom prst="rect">
            <a:avLst/>
          </a:prstGeom>
        </p:spPr>
      </p:pic>
      <p:sp>
        <p:nvSpPr>
          <p:cNvPr id="34" name="Word label"/>
          <p:cNvSpPr/>
          <p:nvPr/>
        </p:nvSpPr>
        <p:spPr>
          <a:xfrm>
            <a:off x="613471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dancing</a:t>
            </a:r>
            <a:endParaRPr lang="en-US" sz="2000" dirty="0"/>
          </a:p>
        </p:txBody>
      </p:sp>
      <p:pic>
        <p:nvPicPr>
          <p:cNvPr id="35" name="Picture 35" descr="shopping"/>
          <p:cNvPicPr>
            <a:picLocks noChangeAspect="1"/>
          </p:cNvPicPr>
          <p:nvPr/>
        </p:nvPicPr>
        <p:blipFill>
          <a:blip r:embed="rIdK4"/>
          <a:stretch>
            <a:fillRect/>
          </a:stretch>
        </p:blipFill>
        <p:spPr>
          <a:xfrm>
            <a:off x="9010987" y="2240280"/>
            <a:ext cx="2076994" cy="1453896"/>
          </a:xfrm>
          <a:prstGeom prst="rect">
            <a:avLst/>
          </a:prstGeom>
        </p:spPr>
      </p:pic>
      <p:sp>
        <p:nvSpPr>
          <p:cNvPr id="36" name="Word label"/>
          <p:cNvSpPr/>
          <p:nvPr/>
        </p:nvSpPr>
        <p:spPr>
          <a:xfrm>
            <a:off x="882076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shopping</a:t>
            </a:r>
            <a:endParaRPr lang="en-US" sz="2000" dirty="0"/>
          </a:p>
        </p:txBody>
      </p:sp>
      <p:pic>
        <p:nvPicPr>
          <p:cNvPr id="37" name="Picture 37" descr="cleaning"/>
          <p:cNvPicPr>
            <a:picLocks noChangeAspect="1"/>
          </p:cNvPicPr>
          <p:nvPr/>
        </p:nvPicPr>
        <p:blipFill>
          <a:blip r:embed="rIdK5"/>
          <a:stretch>
            <a:fillRect/>
          </a:stretch>
        </p:blipFill>
        <p:spPr>
          <a:xfrm>
            <a:off x="952837" y="4315968"/>
            <a:ext cx="2076994" cy="1453896"/>
          </a:xfrm>
          <a:prstGeom prst="rect">
            <a:avLst/>
          </a:prstGeom>
        </p:spPr>
      </p:pic>
      <p:sp>
        <p:nvSpPr>
          <p:cNvPr id="38" name="Word label"/>
          <p:cNvSpPr/>
          <p:nvPr/>
        </p:nvSpPr>
        <p:spPr>
          <a:xfrm>
            <a:off x="762610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cleaning</a:t>
            </a:r>
            <a:endParaRPr lang="en-US" sz="2000" dirty="0"/>
          </a:p>
        </p:txBody>
      </p:sp>
      <p:pic>
        <p:nvPicPr>
          <p:cNvPr id="39" name="Picture 39" descr="gardening"/>
          <p:cNvPicPr>
            <a:picLocks noChangeAspect="1"/>
          </p:cNvPicPr>
          <p:nvPr/>
        </p:nvPicPr>
        <p:blipFill>
          <a:blip r:embed="rIdK6"/>
          <a:stretch>
            <a:fillRect/>
          </a:stretch>
        </p:blipFill>
        <p:spPr>
          <a:xfrm>
            <a:off x="3638887" y="4315968"/>
            <a:ext cx="2076994" cy="1453896"/>
          </a:xfrm>
          <a:prstGeom prst="rect">
            <a:avLst/>
          </a:prstGeom>
        </p:spPr>
      </p:pic>
      <p:sp>
        <p:nvSpPr>
          <p:cNvPr id="40" name="Word label"/>
          <p:cNvSpPr/>
          <p:nvPr/>
        </p:nvSpPr>
        <p:spPr>
          <a:xfrm>
            <a:off x="3448660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gardening</a:t>
            </a:r>
            <a:endParaRPr lang="en-US" sz="2000" dirty="0"/>
          </a:p>
        </p:txBody>
      </p:sp>
      <p:pic>
        <p:nvPicPr>
          <p:cNvPr id="41" name="Picture 41" descr="fixing things"/>
          <p:cNvPicPr>
            <a:picLocks noChangeAspect="1"/>
          </p:cNvPicPr>
          <p:nvPr/>
        </p:nvPicPr>
        <p:blipFill>
          <a:blip r:embed="rIdK7"/>
          <a:stretch>
            <a:fillRect/>
          </a:stretch>
        </p:blipFill>
        <p:spPr>
          <a:xfrm>
            <a:off x="6324937" y="4315968"/>
            <a:ext cx="2076994" cy="145389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6134710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fixing things</a:t>
            </a:r>
            <a:endParaRPr lang="en-US" sz="2000" dirty="0"/>
          </a:p>
        </p:txBody>
      </p:sp>
      <p:pic>
        <p:nvPicPr>
          <p:cNvPr id="43" name="Picture 43" descr="walking"/>
          <p:cNvPicPr>
            <a:picLocks noChangeAspect="1"/>
          </p:cNvPicPr>
          <p:nvPr/>
        </p:nvPicPr>
        <p:blipFill>
          <a:blip r:embed="rIdK8"/>
          <a:stretch>
            <a:fillRect/>
          </a:stretch>
        </p:blipFill>
        <p:spPr>
          <a:xfrm>
            <a:off x="9010987" y="4315968"/>
            <a:ext cx="2076994" cy="145389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8820760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walking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 it?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like it?</a:t>
            </a:r>
            <a:endParaRPr lang="en-US" sz="2200" dirty="0"/>
          </a:p>
        </p:txBody>
      </p:sp>
      <p:pic>
        <p:nvPicPr>
          <p:cNvPr id="29" name="Picture 29" descr="watching TV / movies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1370032" y="2240280"/>
            <a:ext cx="2076994" cy="1453896"/>
          </a:xfrm>
          <a:prstGeom prst="rect">
            <a:avLst/>
          </a:prstGeom>
        </p:spPr>
      </p:pic>
      <p:sp>
        <p:nvSpPr>
          <p:cNvPr id="30" name="Word label"/>
          <p:cNvSpPr/>
          <p:nvPr/>
        </p:nvSpPr>
        <p:spPr>
          <a:xfrm>
            <a:off x="854050" y="3749040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watching TV / movies</a:t>
            </a:r>
            <a:endParaRPr lang="en-US" sz="2000" dirty="0"/>
          </a:p>
        </p:txBody>
      </p:sp>
      <p:pic>
        <p:nvPicPr>
          <p:cNvPr id="31" name="Picture 31" descr="reading"/>
          <p:cNvPicPr>
            <a:picLocks noChangeAspect="1"/>
          </p:cNvPicPr>
          <p:nvPr/>
        </p:nvPicPr>
        <p:blipFill>
          <a:blip r:embed="rIdK2"/>
          <a:stretch>
            <a:fillRect/>
          </a:stretch>
        </p:blipFill>
        <p:spPr>
          <a:xfrm>
            <a:off x="4981912" y="2240280"/>
            <a:ext cx="2076994" cy="1453896"/>
          </a:xfrm>
          <a:prstGeom prst="rect">
            <a:avLst/>
          </a:prstGeom>
        </p:spPr>
      </p:pic>
      <p:sp>
        <p:nvSpPr>
          <p:cNvPr id="32" name="Word label"/>
          <p:cNvSpPr/>
          <p:nvPr/>
        </p:nvSpPr>
        <p:spPr>
          <a:xfrm>
            <a:off x="4465930" y="3749040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reading</a:t>
            </a:r>
            <a:endParaRPr lang="en-US" sz="2000" dirty="0"/>
          </a:p>
        </p:txBody>
      </p:sp>
      <p:pic>
        <p:nvPicPr>
          <p:cNvPr id="33" name="Picture 33" descr="video calls"/>
          <p:cNvPicPr>
            <a:picLocks noChangeAspect="1"/>
          </p:cNvPicPr>
          <p:nvPr/>
        </p:nvPicPr>
        <p:blipFill>
          <a:blip r:embed="rIdK3"/>
          <a:stretch>
            <a:fillRect/>
          </a:stretch>
        </p:blipFill>
        <p:spPr>
          <a:xfrm>
            <a:off x="8593792" y="2240280"/>
            <a:ext cx="2076994" cy="1453896"/>
          </a:xfrm>
          <a:prstGeom prst="rect">
            <a:avLst/>
          </a:prstGeom>
        </p:spPr>
      </p:pic>
      <p:sp>
        <p:nvSpPr>
          <p:cNvPr id="34" name="Word label"/>
          <p:cNvSpPr/>
          <p:nvPr/>
        </p:nvSpPr>
        <p:spPr>
          <a:xfrm>
            <a:off x="8077810" y="3749040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video calls</a:t>
            </a:r>
            <a:endParaRPr lang="en-US" sz="2000" dirty="0"/>
          </a:p>
        </p:txBody>
      </p:sp>
      <p:pic>
        <p:nvPicPr>
          <p:cNvPr id="35" name="Picture 35" descr="music"/>
          <p:cNvPicPr>
            <a:picLocks noChangeAspect="1"/>
          </p:cNvPicPr>
          <p:nvPr/>
        </p:nvPicPr>
        <p:blipFill>
          <a:blip r:embed="rIdK4"/>
          <a:stretch>
            <a:fillRect/>
          </a:stretch>
        </p:blipFill>
        <p:spPr>
          <a:xfrm>
            <a:off x="3175972" y="4315968"/>
            <a:ext cx="2076994" cy="1453896"/>
          </a:xfrm>
          <a:prstGeom prst="rect">
            <a:avLst/>
          </a:prstGeom>
        </p:spPr>
      </p:pic>
      <p:sp>
        <p:nvSpPr>
          <p:cNvPr id="36" name="Word label"/>
          <p:cNvSpPr/>
          <p:nvPr/>
        </p:nvSpPr>
        <p:spPr>
          <a:xfrm>
            <a:off x="2659990" y="5824728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music</a:t>
            </a:r>
            <a:endParaRPr lang="en-US" sz="2000" dirty="0"/>
          </a:p>
        </p:txBody>
      </p:sp>
      <p:pic>
        <p:nvPicPr>
          <p:cNvPr id="37" name="Picture 37" descr="What kind of (music)?"/>
          <p:cNvPicPr>
            <a:picLocks noChangeAspect="1"/>
          </p:cNvPicPr>
          <p:nvPr/>
        </p:nvPicPr>
        <p:blipFill>
          <a:blip r:embed="rIdK5"/>
          <a:stretch>
            <a:fillRect/>
          </a:stretch>
        </p:blipFill>
        <p:spPr>
          <a:xfrm>
            <a:off x="6787852" y="4315968"/>
            <a:ext cx="2076994" cy="1453896"/>
          </a:xfrm>
          <a:prstGeom prst="rect">
            <a:avLst/>
          </a:prstGeom>
        </p:spPr>
      </p:pic>
      <p:sp>
        <p:nvSpPr>
          <p:cNvPr id="38" name="Word label"/>
          <p:cNvSpPr/>
          <p:nvPr/>
        </p:nvSpPr>
        <p:spPr>
          <a:xfrm>
            <a:off x="6271870" y="5824728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kind of (music)?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to Kim and Carlos.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= likes / doesn't mind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= doesn't like / hates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49" name="Col head"/>
          <p:cNvSpPr/>
          <p:nvPr/>
        </p:nvSpPr>
        <p:spPr>
          <a:xfrm>
            <a:off x="6583680" y="2487168"/>
            <a:ext cx="1371600" cy="3840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</a:t>
            </a:r>
            <a:endParaRPr lang="en-US" sz="2000" dirty="0"/>
          </a:p>
        </p:txBody>
      </p:sp>
      <p:sp>
        <p:nvSpPr>
          <p:cNvPr id="50" name="Col head"/>
          <p:cNvSpPr/>
          <p:nvPr/>
        </p:nvSpPr>
        <p:spPr>
          <a:xfrm>
            <a:off x="8183880" y="2487168"/>
            <a:ext cx="1371600" cy="3840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Carlos</a:t>
            </a:r>
            <a:endParaRPr lang="en-US" sz="2000" dirty="0"/>
          </a:p>
        </p:txBody>
      </p:sp>
      <p:sp>
        <p:nvSpPr>
          <p:cNvPr id="51" name="Statement 1"/>
          <p:cNvSpPr/>
          <p:nvPr/>
        </p:nvSpPr>
        <p:spPr>
          <a:xfrm>
            <a:off x="502920" y="306324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playing soccer</a:t>
            </a:r>
            <a:endParaRPr lang="en-US" sz="2200" dirty="0"/>
          </a:p>
        </p:txBody>
      </p:sp>
      <p:sp>
        <p:nvSpPr>
          <p:cNvPr id="52" name="Cell 11"/>
          <p:cNvSpPr/>
          <p:nvPr/>
        </p:nvSpPr>
        <p:spPr>
          <a:xfrm>
            <a:off x="6583680" y="303580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3" name="Mark 11"/>
          <p:cNvSpPr/>
          <p:nvPr/>
        </p:nvSpPr>
        <p:spPr>
          <a:xfrm>
            <a:off x="6583680" y="3035808"/>
            <a:ext cx="1371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000" dirty="0"/>
          </a:p>
        </p:txBody>
      </p:sp>
      <p:sp>
        <p:nvSpPr>
          <p:cNvPr id="54" name="Cell 12"/>
          <p:cNvSpPr/>
          <p:nvPr/>
        </p:nvSpPr>
        <p:spPr>
          <a:xfrm>
            <a:off x="8183880" y="303580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5" name="Mark 12"/>
          <p:cNvSpPr/>
          <p:nvPr/>
        </p:nvSpPr>
        <p:spPr>
          <a:xfrm>
            <a:off x="8183880" y="3035808"/>
            <a:ext cx="1371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56" name="Statement 2"/>
          <p:cNvSpPr/>
          <p:nvPr/>
        </p:nvSpPr>
        <p:spPr>
          <a:xfrm>
            <a:off x="502920" y="361188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watching soccer on TV</a:t>
            </a:r>
            <a:endParaRPr lang="en-US" sz="2200" dirty="0"/>
          </a:p>
        </p:txBody>
      </p:sp>
      <p:sp>
        <p:nvSpPr>
          <p:cNvPr id="57" name="Cell 21"/>
          <p:cNvSpPr/>
          <p:nvPr/>
        </p:nvSpPr>
        <p:spPr>
          <a:xfrm>
            <a:off x="6583680" y="358444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8" name="Mark 21"/>
          <p:cNvSpPr/>
          <p:nvPr/>
        </p:nvSpPr>
        <p:spPr>
          <a:xfrm>
            <a:off x="6583680" y="3584448"/>
            <a:ext cx="1371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59" name="Cell 22"/>
          <p:cNvSpPr/>
          <p:nvPr/>
        </p:nvSpPr>
        <p:spPr>
          <a:xfrm>
            <a:off x="8183880" y="358444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0" name="Statement 3"/>
          <p:cNvSpPr/>
          <p:nvPr/>
        </p:nvSpPr>
        <p:spPr>
          <a:xfrm>
            <a:off x="502920" y="416052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cooking</a:t>
            </a:r>
            <a:endParaRPr lang="en-US" sz="2200" dirty="0"/>
          </a:p>
        </p:txBody>
      </p:sp>
      <p:sp>
        <p:nvSpPr>
          <p:cNvPr id="61" name="Cell 31"/>
          <p:cNvSpPr/>
          <p:nvPr/>
        </p:nvSpPr>
        <p:spPr>
          <a:xfrm>
            <a:off x="6583680" y="413308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2" name="Mark 31"/>
          <p:cNvSpPr/>
          <p:nvPr/>
        </p:nvSpPr>
        <p:spPr>
          <a:xfrm>
            <a:off x="6583680" y="4133088"/>
            <a:ext cx="1371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63" name="Cell 32"/>
          <p:cNvSpPr/>
          <p:nvPr/>
        </p:nvSpPr>
        <p:spPr>
          <a:xfrm>
            <a:off x="8183880" y="413308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4" name="Statement 4"/>
          <p:cNvSpPr/>
          <p:nvPr/>
        </p:nvSpPr>
        <p:spPr>
          <a:xfrm>
            <a:off x="502920" y="47091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dancing</a:t>
            </a:r>
            <a:endParaRPr lang="en-US" sz="2200" dirty="0"/>
          </a:p>
        </p:txBody>
      </p:sp>
      <p:sp>
        <p:nvSpPr>
          <p:cNvPr id="65" name="Cell 41"/>
          <p:cNvSpPr/>
          <p:nvPr/>
        </p:nvSpPr>
        <p:spPr>
          <a:xfrm>
            <a:off x="6583680" y="468172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6" name="Mark 41"/>
          <p:cNvSpPr/>
          <p:nvPr/>
        </p:nvSpPr>
        <p:spPr>
          <a:xfrm>
            <a:off x="6583680" y="4681728"/>
            <a:ext cx="1371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67" name="Cell 42"/>
          <p:cNvSpPr/>
          <p:nvPr/>
        </p:nvSpPr>
        <p:spPr>
          <a:xfrm>
            <a:off x="8183880" y="468172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Mark 42"/>
          <p:cNvSpPr/>
          <p:nvPr/>
        </p:nvSpPr>
        <p:spPr>
          <a:xfrm>
            <a:off x="8183880" y="4681728"/>
            <a:ext cx="1371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69" name="Statement 5"/>
          <p:cNvSpPr/>
          <p:nvPr/>
        </p:nvSpPr>
        <p:spPr>
          <a:xfrm>
            <a:off x="502920" y="525780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rock music</a:t>
            </a:r>
            <a:endParaRPr lang="en-US" sz="2200" dirty="0"/>
          </a:p>
        </p:txBody>
      </p:sp>
      <p:sp>
        <p:nvSpPr>
          <p:cNvPr id="70" name="Cell 51"/>
          <p:cNvSpPr/>
          <p:nvPr/>
        </p:nvSpPr>
        <p:spPr>
          <a:xfrm>
            <a:off x="6583680" y="523036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1" name="Mark 51"/>
          <p:cNvSpPr/>
          <p:nvPr/>
        </p:nvSpPr>
        <p:spPr>
          <a:xfrm>
            <a:off x="6583680" y="5230368"/>
            <a:ext cx="1371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000" dirty="0"/>
          </a:p>
        </p:txBody>
      </p:sp>
      <p:sp>
        <p:nvSpPr>
          <p:cNvPr id="72" name="Cell 52"/>
          <p:cNvSpPr/>
          <p:nvPr/>
        </p:nvSpPr>
        <p:spPr>
          <a:xfrm>
            <a:off x="8183880" y="523036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3" name="Mark 52"/>
          <p:cNvSpPr/>
          <p:nvPr/>
        </p:nvSpPr>
        <p:spPr>
          <a:xfrm>
            <a:off x="8183880" y="5230368"/>
            <a:ext cx="1371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000" dirty="0"/>
          </a:p>
        </p:txBody>
      </p:sp>
      <p:sp>
        <p:nvSpPr>
          <p:cNvPr id="74" name="Statement 6"/>
          <p:cNvSpPr/>
          <p:nvPr/>
        </p:nvSpPr>
        <p:spPr>
          <a:xfrm>
            <a:off x="502920" y="580644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cleaning</a:t>
            </a:r>
            <a:endParaRPr lang="en-US" sz="2200" dirty="0"/>
          </a:p>
        </p:txBody>
      </p:sp>
      <p:sp>
        <p:nvSpPr>
          <p:cNvPr id="75" name="Cell 61"/>
          <p:cNvSpPr/>
          <p:nvPr/>
        </p:nvSpPr>
        <p:spPr>
          <a:xfrm>
            <a:off x="6583680" y="577900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Mark 61"/>
          <p:cNvSpPr/>
          <p:nvPr/>
        </p:nvSpPr>
        <p:spPr>
          <a:xfrm>
            <a:off x="6583680" y="5779008"/>
            <a:ext cx="1371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000" dirty="0"/>
          </a:p>
        </p:txBody>
      </p:sp>
      <p:sp>
        <p:nvSpPr>
          <p:cNvPr id="77" name="Cell 62"/>
          <p:cNvSpPr/>
          <p:nvPr/>
        </p:nvSpPr>
        <p:spPr>
          <a:xfrm>
            <a:off x="8183880" y="577900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8" name="Mark 62"/>
          <p:cNvSpPr/>
          <p:nvPr/>
        </p:nvSpPr>
        <p:spPr>
          <a:xfrm>
            <a:off x="8183880" y="5779008"/>
            <a:ext cx="1371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4702759" y="5703113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761248" y="5694015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4962710" y="5906524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9" name="Subtitle"/>
          <p:cNvSpPr/>
          <p:nvPr/>
        </p:nvSpPr>
        <p:spPr>
          <a:xfrm>
            <a:off x="771754" y="2148840"/>
            <a:ext cx="45720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Circle the reply.</a:t>
            </a:r>
            <a:endParaRPr lang="en-US" sz="2000" dirty="0"/>
          </a:p>
        </p:txBody>
      </p:sp>
      <p:pic>
        <p:nvPicPr>
          <p:cNvPr id="40" name="Picture 40" descr="L3_dancing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1274674" y="3680460"/>
            <a:ext cx="3450031" cy="2415022"/>
          </a:xfrm>
          <a:prstGeom prst="rect">
            <a:avLst/>
          </a:prstGeom>
        </p:spPr>
      </p:pic>
      <p:sp>
        <p:nvSpPr>
          <p:cNvPr id="41" name="Row shadow"/>
          <p:cNvSpPr/>
          <p:nvPr/>
        </p:nvSpPr>
        <p:spPr>
          <a:xfrm>
            <a:off x="6107278" y="2068373"/>
            <a:ext cx="557784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2" name="Row"/>
          <p:cNvSpPr/>
          <p:nvPr/>
        </p:nvSpPr>
        <p:spPr>
          <a:xfrm>
            <a:off x="6035040" y="2011680"/>
            <a:ext cx="5577840" cy="1188720"/>
          </a:xfrm>
          <a:prstGeom prst="round1Rect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3" name="Row num"/>
          <p:cNvSpPr/>
          <p:nvPr/>
        </p:nvSpPr>
        <p:spPr>
          <a:xfrm>
            <a:off x="6172200" y="2266798"/>
            <a:ext cx="678485" cy="678485"/>
          </a:xfrm>
          <a:prstGeom prst="ellipse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44" name="Row question"/>
          <p:cNvSpPr/>
          <p:nvPr/>
        </p:nvSpPr>
        <p:spPr>
          <a:xfrm>
            <a:off x="6995160" y="2084832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Kim: "I like dancing."</a:t>
            </a:r>
            <a:endParaRPr lang="en-US" sz="2000" dirty="0"/>
          </a:p>
        </p:txBody>
      </p:sp>
      <p:sp>
        <p:nvSpPr>
          <p:cNvPr id="45" name="Option"/>
          <p:cNvSpPr/>
          <p:nvPr/>
        </p:nvSpPr>
        <p:spPr>
          <a:xfrm>
            <a:off x="6995160" y="2633472"/>
            <a:ext cx="1164613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 too!</a:t>
            </a:r>
            <a:endParaRPr lang="en-US" sz="2000" dirty="0"/>
          </a:p>
        </p:txBody>
      </p:sp>
      <p:sp>
        <p:nvSpPr>
          <p:cNvPr id="46" name="Circle 1"/>
          <p:cNvSpPr/>
          <p:nvPr/>
        </p:nvSpPr>
        <p:spPr>
          <a:xfrm>
            <a:off x="6885432" y="2569464"/>
            <a:ext cx="1384069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7" name="Option"/>
          <p:cNvSpPr/>
          <p:nvPr/>
        </p:nvSpPr>
        <p:spPr>
          <a:xfrm>
            <a:off x="8296933" y="2633472"/>
            <a:ext cx="1673352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 neither!</a:t>
            </a:r>
            <a:endParaRPr lang="en-US" sz="2000" dirty="0"/>
          </a:p>
        </p:txBody>
      </p:sp>
      <p:sp>
        <p:nvSpPr>
          <p:cNvPr id="48" name="Row shadow"/>
          <p:cNvSpPr/>
          <p:nvPr/>
        </p:nvSpPr>
        <p:spPr>
          <a:xfrm>
            <a:off x="6107278" y="3485693"/>
            <a:ext cx="557784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9" name="Row"/>
          <p:cNvSpPr/>
          <p:nvPr/>
        </p:nvSpPr>
        <p:spPr>
          <a:xfrm>
            <a:off x="6035040" y="3429000"/>
            <a:ext cx="5577840" cy="1188720"/>
          </a:xfrm>
          <a:prstGeom prst="round1Rect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0" name="Row num"/>
          <p:cNvSpPr/>
          <p:nvPr/>
        </p:nvSpPr>
        <p:spPr>
          <a:xfrm>
            <a:off x="6172200" y="3684118"/>
            <a:ext cx="678485" cy="678485"/>
          </a:xfrm>
          <a:prstGeom prst="ellipse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51" name="Row question"/>
          <p:cNvSpPr/>
          <p:nvPr/>
        </p:nvSpPr>
        <p:spPr>
          <a:xfrm>
            <a:off x="6995160" y="3502152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Kim: "I don't like rock music."</a:t>
            </a:r>
            <a:endParaRPr lang="en-US" sz="2000" dirty="0"/>
          </a:p>
        </p:txBody>
      </p:sp>
      <p:sp>
        <p:nvSpPr>
          <p:cNvPr id="52" name="Option"/>
          <p:cNvSpPr/>
          <p:nvPr/>
        </p:nvSpPr>
        <p:spPr>
          <a:xfrm>
            <a:off x="6995160" y="4050792"/>
            <a:ext cx="1164613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 too.</a:t>
            </a:r>
            <a:endParaRPr lang="en-US" sz="2000" dirty="0"/>
          </a:p>
        </p:txBody>
      </p:sp>
      <p:sp>
        <p:nvSpPr>
          <p:cNvPr id="53" name="Option"/>
          <p:cNvSpPr/>
          <p:nvPr/>
        </p:nvSpPr>
        <p:spPr>
          <a:xfrm>
            <a:off x="8296933" y="4050792"/>
            <a:ext cx="1673352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 neither.</a:t>
            </a:r>
            <a:endParaRPr lang="en-US" sz="2000" dirty="0"/>
          </a:p>
        </p:txBody>
      </p:sp>
      <p:sp>
        <p:nvSpPr>
          <p:cNvPr id="54" name="Circle 2"/>
          <p:cNvSpPr/>
          <p:nvPr/>
        </p:nvSpPr>
        <p:spPr>
          <a:xfrm>
            <a:off x="8187205" y="3986784"/>
            <a:ext cx="1892808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977640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828032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3238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 goes dancing on ____.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977640"/>
            <a:ext cx="3172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Carlos plays soccer every ____.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828032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Kim: "Shopping? I don't ____ it."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27248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977640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977640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828032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828032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I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love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dancing.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neither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!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8" name="Answer 1"/>
          <p:cNvSpPr/>
          <p:nvPr/>
        </p:nvSpPr>
        <p:spPr>
          <a:xfrm>
            <a:off x="5207508" y="3278124"/>
            <a:ext cx="1376172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Fridays</a:t>
            </a:r>
            <a:endParaRPr lang="en-US" sz="2200" dirty="0"/>
          </a:p>
        </p:txBody>
      </p:sp>
      <p:sp>
        <p:nvSpPr>
          <p:cNvPr id="39" name="Answer 2"/>
          <p:cNvSpPr/>
          <p:nvPr/>
        </p:nvSpPr>
        <p:spPr>
          <a:xfrm>
            <a:off x="5056632" y="4128516"/>
            <a:ext cx="1527048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Saturday</a:t>
            </a:r>
            <a:endParaRPr lang="en-US" sz="2200" dirty="0"/>
          </a:p>
        </p:txBody>
      </p:sp>
      <p:sp>
        <p:nvSpPr>
          <p:cNvPr id="40" name="Answer 3"/>
          <p:cNvSpPr/>
          <p:nvPr/>
        </p:nvSpPr>
        <p:spPr>
          <a:xfrm>
            <a:off x="5532120" y="4978908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mind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1163345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1087222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33695" y="12801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like...?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16636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41664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5852" y="247893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328148" y="2466137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900000">
            <a:off x="10611612" y="2765146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28" name="Picture 28" descr="L3_soccer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699516" y="2264969"/>
            <a:ext cx="3326587" cy="2328611"/>
          </a:xfrm>
          <a:prstGeom prst="rect">
            <a:avLst/>
          </a:prstGeom>
        </p:spPr>
      </p:pic>
      <p:sp>
        <p:nvSpPr>
          <p:cNvPr id="29" name="Highlight"/>
          <p:cNvSpPr/>
          <p:nvPr/>
        </p:nvSpPr>
        <p:spPr>
          <a:xfrm>
            <a:off x="5138928" y="3977640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Helper"/>
          <p:cNvSpPr/>
          <p:nvPr/>
        </p:nvSpPr>
        <p:spPr>
          <a:xfrm>
            <a:off x="5138928" y="3794760"/>
            <a:ext cx="960120" cy="932688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600" dirty="0"/>
          </a:p>
        </p:txBody>
      </p:sp>
      <p:sp>
        <p:nvSpPr>
          <p:cNvPr id="31" name="Question"/>
          <p:cNvSpPr/>
          <p:nvPr/>
        </p:nvSpPr>
        <p:spPr>
          <a:xfrm>
            <a:off x="6144768" y="3794760"/>
            <a:ext cx="2487168" cy="9326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like soccer?</a:t>
            </a:r>
            <a:endParaRPr lang="en-US" sz="2000" dirty="0"/>
          </a:p>
        </p:txBody>
      </p:sp>
      <p:sp>
        <p:nvSpPr>
          <p:cNvPr id="33" name="Answer bg"/>
          <p:cNvSpPr/>
          <p:nvPr/>
        </p:nvSpPr>
        <p:spPr>
          <a:xfrm>
            <a:off x="8668512" y="3794760"/>
            <a:ext cx="3017520" cy="9326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Answer"/>
          <p:cNvSpPr/>
          <p:nvPr/>
        </p:nvSpPr>
        <p:spPr>
          <a:xfrm>
            <a:off x="8668512" y="3794760"/>
            <a:ext cx="3017520" cy="9326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34" name="Highlight"/>
          <p:cNvSpPr/>
          <p:nvPr/>
        </p:nvSpPr>
        <p:spPr>
          <a:xfrm>
            <a:off x="5138928" y="5166360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Helper"/>
          <p:cNvSpPr/>
          <p:nvPr/>
        </p:nvSpPr>
        <p:spPr>
          <a:xfrm>
            <a:off x="5138928" y="4983480"/>
            <a:ext cx="960120" cy="932688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endParaRPr lang="en-US" sz="2600" dirty="0"/>
          </a:p>
        </p:txBody>
      </p:sp>
      <p:sp>
        <p:nvSpPr>
          <p:cNvPr id="36" name="Question"/>
          <p:cNvSpPr/>
          <p:nvPr/>
        </p:nvSpPr>
        <p:spPr>
          <a:xfrm>
            <a:off x="6144768" y="4983480"/>
            <a:ext cx="2487168" cy="9326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like shopping?</a:t>
            </a:r>
            <a:endParaRPr lang="en-US" sz="2000" dirty="0"/>
          </a:p>
        </p:txBody>
      </p:sp>
      <p:sp>
        <p:nvSpPr>
          <p:cNvPr id="38" name="Answer bg"/>
          <p:cNvSpPr/>
          <p:nvPr/>
        </p:nvSpPr>
        <p:spPr>
          <a:xfrm>
            <a:off x="8668512" y="4983480"/>
            <a:ext cx="3017520" cy="9326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7" name="Answer"/>
          <p:cNvSpPr/>
          <p:nvPr/>
        </p:nvSpPr>
        <p:spPr>
          <a:xfrm>
            <a:off x="8668512" y="4983480"/>
            <a:ext cx="3017520" cy="9326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What...?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2: helper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pic>
        <p:nvPicPr>
          <p:cNvPr id="47" name="Picture 47" descr="L3_kind_of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48" name="Wh"/>
          <p:cNvSpPr/>
          <p:nvPr/>
        </p:nvSpPr>
        <p:spPr>
          <a:xfrm>
            <a:off x="3291840" y="4114800"/>
            <a:ext cx="8084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endParaRPr lang="en-US" sz="2000" dirty="0"/>
          </a:p>
        </p:txBody>
      </p:sp>
      <p:sp>
        <p:nvSpPr>
          <p:cNvPr id="49" name="Highlight"/>
          <p:cNvSpPr/>
          <p:nvPr/>
        </p:nvSpPr>
        <p:spPr>
          <a:xfrm>
            <a:off x="4100336" y="4114800"/>
            <a:ext cx="577502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0" name="Helper"/>
          <p:cNvSpPr/>
          <p:nvPr/>
        </p:nvSpPr>
        <p:spPr>
          <a:xfrm>
            <a:off x="4100336" y="4114800"/>
            <a:ext cx="577502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000" dirty="0"/>
          </a:p>
        </p:txBody>
      </p:sp>
      <p:sp>
        <p:nvSpPr>
          <p:cNvPr id="51" name="Rest"/>
          <p:cNvSpPr/>
          <p:nvPr/>
        </p:nvSpPr>
        <p:spPr>
          <a:xfrm>
            <a:off x="4732702" y="4114800"/>
            <a:ext cx="209065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like doing?</a:t>
            </a:r>
            <a:endParaRPr lang="en-US" sz="2000" dirty="0"/>
          </a:p>
        </p:txBody>
      </p:sp>
      <p:sp>
        <p:nvSpPr>
          <p:cNvPr id="52" name="Wh"/>
          <p:cNvSpPr/>
          <p:nvPr/>
        </p:nvSpPr>
        <p:spPr>
          <a:xfrm>
            <a:off x="3291840" y="4846320"/>
            <a:ext cx="8084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endParaRPr lang="en-US" sz="2000" dirty="0"/>
          </a:p>
        </p:txBody>
      </p:sp>
      <p:sp>
        <p:nvSpPr>
          <p:cNvPr id="53" name="Highlight"/>
          <p:cNvSpPr/>
          <p:nvPr/>
        </p:nvSpPr>
        <p:spPr>
          <a:xfrm>
            <a:off x="4100336" y="4846320"/>
            <a:ext cx="577502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4" name="Helper"/>
          <p:cNvSpPr/>
          <p:nvPr/>
        </p:nvSpPr>
        <p:spPr>
          <a:xfrm>
            <a:off x="4100336" y="4846320"/>
            <a:ext cx="577502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000" dirty="0"/>
          </a:p>
        </p:txBody>
      </p:sp>
      <p:sp>
        <p:nvSpPr>
          <p:cNvPr id="55" name="Rest"/>
          <p:cNvSpPr/>
          <p:nvPr/>
        </p:nvSpPr>
        <p:spPr>
          <a:xfrm>
            <a:off x="4732702" y="4846320"/>
            <a:ext cx="209065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hate doing?</a:t>
            </a:r>
            <a:endParaRPr lang="en-US" sz="2000" dirty="0"/>
          </a:p>
        </p:txBody>
      </p:sp>
      <p:sp>
        <p:nvSpPr>
          <p:cNvPr id="56" name="Wh"/>
          <p:cNvSpPr/>
          <p:nvPr/>
        </p:nvSpPr>
        <p:spPr>
          <a:xfrm>
            <a:off x="3291840" y="5577840"/>
            <a:ext cx="267811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kind of music</a:t>
            </a:r>
            <a:endParaRPr lang="en-US" sz="2000" dirty="0"/>
          </a:p>
        </p:txBody>
      </p:sp>
      <p:sp>
        <p:nvSpPr>
          <p:cNvPr id="57" name="Highlight"/>
          <p:cNvSpPr/>
          <p:nvPr/>
        </p:nvSpPr>
        <p:spPr>
          <a:xfrm>
            <a:off x="5969951" y="5577840"/>
            <a:ext cx="577502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8" name="Helper"/>
          <p:cNvSpPr/>
          <p:nvPr/>
        </p:nvSpPr>
        <p:spPr>
          <a:xfrm>
            <a:off x="5969951" y="5577840"/>
            <a:ext cx="577502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000" dirty="0"/>
          </a:p>
        </p:txBody>
      </p:sp>
      <p:sp>
        <p:nvSpPr>
          <p:cNvPr id="59" name="Rest"/>
          <p:cNvSpPr/>
          <p:nvPr/>
        </p:nvSpPr>
        <p:spPr>
          <a:xfrm>
            <a:off x="6602317" y="5577840"/>
            <a:ext cx="1327543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like?</a:t>
            </a:r>
            <a:endParaRPr lang="en-US" sz="2000" dirty="0"/>
          </a:p>
        </p:txBody>
      </p:sp>
      <p:sp>
        <p:nvSpPr>
          <p:cNvPr id="60" name="Card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strong?</a:t>
            </a:r>
            <a:endParaRPr lang="en-US" sz="2400" dirty="0"/>
          </a:p>
        </p:txBody>
      </p:sp>
      <p:sp>
        <p:nvSpPr>
          <p:cNvPr id="61" name="Card item"/>
          <p:cNvSpPr/>
          <p:nvPr/>
        </p:nvSpPr>
        <p:spPr>
          <a:xfrm>
            <a:off x="8549640" y="1920240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love</a:t>
            </a:r>
            <a:endParaRPr lang="en-US" sz="2000" dirty="0"/>
          </a:p>
        </p:txBody>
      </p:sp>
      <p:sp>
        <p:nvSpPr>
          <p:cNvPr id="62" name="Card item"/>
          <p:cNvSpPr/>
          <p:nvPr/>
        </p:nvSpPr>
        <p:spPr>
          <a:xfrm>
            <a:off x="8549640" y="2404872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</a:t>
            </a:r>
            <a:endParaRPr lang="en-US" sz="2000" dirty="0"/>
          </a:p>
        </p:txBody>
      </p:sp>
      <p:sp>
        <p:nvSpPr>
          <p:cNvPr id="63" name="Card item"/>
          <p:cNvSpPr/>
          <p:nvPr/>
        </p:nvSpPr>
        <p:spPr>
          <a:xfrm>
            <a:off x="8549640" y="2889504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mind</a:t>
            </a:r>
            <a:endParaRPr lang="en-US" sz="2000" dirty="0"/>
          </a:p>
        </p:txBody>
      </p:sp>
      <p:sp>
        <p:nvSpPr>
          <p:cNvPr id="64" name="Card item"/>
          <p:cNvSpPr/>
          <p:nvPr/>
        </p:nvSpPr>
        <p:spPr>
          <a:xfrm>
            <a:off x="8549640" y="3374136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like</a:t>
            </a:r>
            <a:endParaRPr lang="en-US" sz="2000" dirty="0"/>
          </a:p>
        </p:txBody>
      </p:sp>
      <p:sp>
        <p:nvSpPr>
          <p:cNvPr id="65" name="Card item"/>
          <p:cNvSpPr/>
          <p:nvPr/>
        </p:nvSpPr>
        <p:spPr>
          <a:xfrm>
            <a:off x="8549640" y="3858768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hate</a:t>
            </a:r>
            <a:endParaRPr lang="en-US" sz="2000" dirty="0"/>
          </a:p>
        </p:txBody>
      </p:sp>
      <p:sp>
        <p:nvSpPr>
          <p:cNvPr id="66" name="Example"/>
          <p:cNvSpPr/>
          <p:nvPr/>
        </p:nvSpPr>
        <p:spPr>
          <a:xfrm>
            <a:off x="8549640" y="5394960"/>
            <a:ext cx="30175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love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dancing.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Agree or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Disagree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1578" y="3253435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3874" y="3240634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1107338" y="3539642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1" name="Picture 31" descr="L3_cooking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598664" y="1216152"/>
            <a:ext cx="3254350" cy="2278045"/>
          </a:xfrm>
          <a:prstGeom prst="rect">
            <a:avLst/>
          </a:prstGeom>
        </p:spPr>
      </p:pic>
      <p:sp>
        <p:nvSpPr>
          <p:cNvPr id="32" name="Q head"/>
          <p:cNvSpPr/>
          <p:nvPr/>
        </p:nvSpPr>
        <p:spPr>
          <a:xfrm>
            <a:off x="1920240" y="3794760"/>
            <a:ext cx="40233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SAY</a:t>
            </a:r>
            <a:endParaRPr lang="en-US" sz="2000" dirty="0"/>
          </a:p>
        </p:txBody>
      </p:sp>
      <p:sp>
        <p:nvSpPr>
          <p:cNvPr id="33" name="A head"/>
          <p:cNvSpPr/>
          <p:nvPr/>
        </p:nvSpPr>
        <p:spPr>
          <a:xfrm>
            <a:off x="7040880" y="379476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PARTNER SAYS</a:t>
            </a:r>
            <a:endParaRPr lang="en-US" sz="2000" dirty="0"/>
          </a:p>
        </p:txBody>
      </p:sp>
      <p:sp>
        <p:nvSpPr>
          <p:cNvPr id="34" name="Highlight"/>
          <p:cNvSpPr/>
          <p:nvPr/>
        </p:nvSpPr>
        <p:spPr>
          <a:xfrm>
            <a:off x="1481328" y="4453128"/>
            <a:ext cx="2418588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Question"/>
          <p:cNvSpPr/>
          <p:nvPr/>
        </p:nvSpPr>
        <p:spPr>
          <a:xfrm>
            <a:off x="1481328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dancing.</a:t>
            </a:r>
            <a:endParaRPr lang="en-US" sz="2200" dirty="0"/>
          </a:p>
        </p:txBody>
      </p:sp>
      <p:sp>
        <p:nvSpPr>
          <p:cNvPr id="37" name="Answer bg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6" name="Answer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 too!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I don't.</a:t>
            </a:r>
            <a:endParaRPr lang="en-US" sz="2200" dirty="0"/>
          </a:p>
        </p:txBody>
      </p:sp>
      <p:sp>
        <p:nvSpPr>
          <p:cNvPr id="38" name="Highlight"/>
          <p:cNvSpPr/>
          <p:nvPr/>
        </p:nvSpPr>
        <p:spPr>
          <a:xfrm>
            <a:off x="1481328" y="5367528"/>
            <a:ext cx="3118104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9" name="Question"/>
          <p:cNvSpPr/>
          <p:nvPr/>
        </p:nvSpPr>
        <p:spPr>
          <a:xfrm>
            <a:off x="1481328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like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coffee.</a:t>
            </a:r>
            <a:endParaRPr lang="en-US" sz="2200" dirty="0"/>
          </a:p>
        </p:txBody>
      </p:sp>
      <p:sp>
        <p:nvSpPr>
          <p:cNvPr id="41" name="Answer bg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0" name="Answer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 neither!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Oh, I do!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75600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75600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75600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75600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0" name="Picture 30" descr="L3_shopping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1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2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33" name="Bad"/>
          <p:cNvSpPr/>
          <p:nvPr/>
        </p:nvSpPr>
        <p:spPr>
          <a:xfrm>
            <a:off x="914400" y="402336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like cook.</a:t>
            </a:r>
            <a:endParaRPr lang="en-US" sz="2200" dirty="0"/>
          </a:p>
        </p:txBody>
      </p:sp>
      <p:sp>
        <p:nvSpPr>
          <p:cNvPr id="34" name="Good"/>
          <p:cNvSpPr/>
          <p:nvPr/>
        </p:nvSpPr>
        <p:spPr>
          <a:xfrm>
            <a:off x="4800600" y="402336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like cook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35" name="Bad"/>
          <p:cNvSpPr/>
          <p:nvPr/>
        </p:nvSpPr>
        <p:spPr>
          <a:xfrm>
            <a:off x="914400" y="462686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am like pizza.</a:t>
            </a:r>
            <a:endParaRPr lang="en-US" sz="2200" dirty="0"/>
          </a:p>
        </p:txBody>
      </p:sp>
      <p:sp>
        <p:nvSpPr>
          <p:cNvPr id="36" name="Good"/>
          <p:cNvSpPr/>
          <p:nvPr/>
        </p:nvSpPr>
        <p:spPr>
          <a:xfrm>
            <a:off x="4800600" y="462686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like pizza.</a:t>
            </a:r>
            <a:endParaRPr lang="en-US" sz="2200" dirty="0"/>
          </a:p>
        </p:txBody>
      </p:sp>
      <p:sp>
        <p:nvSpPr>
          <p:cNvPr id="37" name="Bad"/>
          <p:cNvSpPr/>
          <p:nvPr/>
        </p:nvSpPr>
        <p:spPr>
          <a:xfrm>
            <a:off x="914400" y="5230368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like dancing.</a:t>
            </a:r>
            <a:endParaRPr lang="en-US" sz="2200" dirty="0"/>
          </a:p>
        </p:txBody>
      </p:sp>
      <p:sp>
        <p:nvSpPr>
          <p:cNvPr id="38" name="Good"/>
          <p:cNvSpPr/>
          <p:nvPr/>
        </p:nvSpPr>
        <p:spPr>
          <a:xfrm>
            <a:off x="4800600" y="523036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like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dancing.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 These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0" name="Picture 30" descr="L3_cleaning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1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2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33" name="Bad"/>
          <p:cNvSpPr/>
          <p:nvPr/>
        </p:nvSpPr>
        <p:spPr>
          <a:xfrm>
            <a:off x="914400" y="4023360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don't like coffee.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 too.</a:t>
            </a:r>
            <a:endParaRPr lang="en-US" sz="2200" dirty="0"/>
          </a:p>
        </p:txBody>
      </p:sp>
      <p:sp>
        <p:nvSpPr>
          <p:cNvPr id="34" name="Good"/>
          <p:cNvSpPr/>
          <p:nvPr/>
        </p:nvSpPr>
        <p:spPr>
          <a:xfrm>
            <a:off x="4800600" y="4023360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don't like coffee.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 neither.</a:t>
            </a:r>
            <a:endParaRPr lang="en-US" sz="2200" dirty="0"/>
          </a:p>
        </p:txBody>
      </p:sp>
      <p:sp>
        <p:nvSpPr>
          <p:cNvPr id="35" name="Bad"/>
          <p:cNvSpPr/>
          <p:nvPr/>
        </p:nvSpPr>
        <p:spPr>
          <a:xfrm>
            <a:off x="914400" y="4855464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like very much soccer.</a:t>
            </a:r>
            <a:endParaRPr lang="en-US" sz="2200" dirty="0"/>
          </a:p>
        </p:txBody>
      </p:sp>
      <p:sp>
        <p:nvSpPr>
          <p:cNvPr id="36" name="Good"/>
          <p:cNvSpPr/>
          <p:nvPr/>
        </p:nvSpPr>
        <p:spPr>
          <a:xfrm>
            <a:off x="4800600" y="4855464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like soccer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lot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37" name="Bad"/>
          <p:cNvSpPr/>
          <p:nvPr/>
        </p:nvSpPr>
        <p:spPr>
          <a:xfrm>
            <a:off x="914400" y="5687568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don't like nothing.</a:t>
            </a:r>
            <a:endParaRPr lang="en-US" sz="2200" dirty="0"/>
          </a:p>
        </p:txBody>
      </p:sp>
      <p:sp>
        <p:nvSpPr>
          <p:cNvPr id="38" name="Good"/>
          <p:cNvSpPr/>
          <p:nvPr/>
        </p:nvSpPr>
        <p:spPr>
          <a:xfrm>
            <a:off x="4800600" y="568756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don't like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Quick Check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Agree or disagree?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"I don't like snow."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"I like dancing."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dance + -ing = ?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10972800" y="5120640"/>
            <a:ext cx="777240" cy="734214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035257" y="5110925"/>
            <a:ext cx="791119" cy="79111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11250386" y="5337851"/>
            <a:ext cx="337961" cy="33796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28" name="Answer"/>
          <p:cNvSpPr/>
          <p:nvPr/>
        </p:nvSpPr>
        <p:spPr>
          <a:xfrm>
            <a:off x="960120" y="4709160"/>
            <a:ext cx="2327148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 neither!</a:t>
            </a:r>
            <a:endParaRPr lang="en-US" sz="2600" dirty="0"/>
          </a:p>
        </p:txBody>
      </p:sp>
      <p:sp>
        <p:nvSpPr>
          <p:cNvPr id="29" name="Answer"/>
          <p:cNvSpPr/>
          <p:nvPr/>
        </p:nvSpPr>
        <p:spPr>
          <a:xfrm>
            <a:off x="46177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 too!</a:t>
            </a:r>
            <a:endParaRPr lang="en-US" sz="2600" dirty="0"/>
          </a:p>
        </p:txBody>
      </p:sp>
      <p:sp>
        <p:nvSpPr>
          <p:cNvPr id="30" name="Answer"/>
          <p:cNvSpPr/>
          <p:nvPr/>
        </p:nvSpPr>
        <p:spPr>
          <a:xfrm>
            <a:off x="82753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dancing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your partner's sentence.</a:t>
            </a:r>
            <a:endParaRPr lang="en-US" sz="2000" dirty="0"/>
          </a:p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or Neither?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like coffee.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 too!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don't like coffee.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 neither!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5256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9052560" y="4709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neither</a:t>
            </a:r>
            <a:endParaRPr lang="en-US" sz="3800" dirty="0"/>
          </a:p>
        </p:txBody>
      </p:sp>
      <p:pic>
        <p:nvPicPr>
          <p:cNvPr id="22" name="Picture 22" descr="L3_watching_tv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649224" y="2871216"/>
            <a:ext cx="2825496" cy="19778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Four Corners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91072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Put 4 signs on the walls.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033358" y="198699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091847" y="197789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9293308" y="219040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25" name="Picture 25" descr="L3_walking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22376" y="3418942"/>
            <a:ext cx="3882542" cy="2717780"/>
          </a:xfrm>
          <a:prstGeom prst="rect">
            <a:avLst/>
          </a:prstGeom>
        </p:spPr>
      </p:pic>
      <p:sp>
        <p:nvSpPr>
          <p:cNvPr id="26" name="Step num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Step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Four Corners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Walk to a corner. Say why.</a:t>
            </a:r>
            <a:endParaRPr lang="en-US" sz="2000" dirty="0"/>
          </a:p>
        </p:txBody>
      </p:sp>
      <p:sp>
        <p:nvSpPr>
          <p:cNvPr id="28" name="Step num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9" name="Step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Break-Room Small Talk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You're on a break at work.</a:t>
            </a:r>
            <a:endParaRPr lang="en-US" sz="2000" dirty="0"/>
          </a:p>
        </p:txBody>
      </p:sp>
      <p:sp>
        <p:nvSpPr>
          <p:cNvPr id="30" name="Step num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Step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Find a match.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thing you both like.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9907524" y="2565806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966013" y="2556708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900000">
            <a:off x="10167475" y="2769218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23" name="Picture 23" descr="L3_gardening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24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25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26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sentence: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love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hate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-ing</a:t>
            </a:r>
            <a:endParaRPr lang="en-US" sz="2000" dirty="0"/>
          </a:p>
        </p:txBody>
      </p:sp>
      <p:sp>
        <p:nvSpPr>
          <p:cNvPr id="27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8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29" name="Body 02"/>
          <p:cNvSpPr/>
          <p:nvPr/>
        </p:nvSpPr>
        <p:spPr>
          <a:xfrm>
            <a:off x="80010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3 people: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like doing?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hate doing?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6 sentences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English.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275234" y="75895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3723" y="66797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900000">
            <a:off x="535185" y="279307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arrows, calendars, clocks, and labels were added.</a:t>
            </a:r>
            <a:endParaRPr lang="en-US" sz="2000" dirty="0"/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deck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2000" dirty="0"/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Chatterbox TTS (Resemble AI, MIT); AI voices with a Perth watermark. Font: Lexend Deca (OFL 1.1). Provided as-is, without warranty.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1: Nice to Meet You</dc:title>
  <dc:subject>PptxGenJS Presentation</dc:subject>
  <dc:creator>Level 2 ESL</dc:creator>
  <cp:lastModifiedBy>Level 2 ESL</cp:lastModifiedBy>
  <cp:revision>1</cp:revision>
  <dcterms:created xsi:type="dcterms:W3CDTF">2026-10-15T20:54:31Z</dcterms:created>
  <dcterms:modified xsi:type="dcterms:W3CDTF">2026-10-15T20:54:31Z</dcterms:modified>
</cp:coreProperties>
</file>