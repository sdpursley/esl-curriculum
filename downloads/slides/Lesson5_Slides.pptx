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72" r:id="rId18"/>
    <p:sldId id="268" r:id="rId14"/>
    <p:sldId id="277" r:id="rId28"/>
    <p:sldId id="259" r:id="rId5"/>
    <p:sldId id="260" r:id="rId6"/>
    <p:sldId id="264" r:id="rId10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9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4" Type="http://schemas.openxmlformats.org/officeDocument/2006/relationships/slide" Target="slides/slide6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7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Read the goals together; learners repeat.</a:t>
            </a:r>
          </a:p>
          <a:p>
            <a:r>
              <a:rPr lang="en-US" dirty="0"/>
              <a:t>Objectives: ask and answer How was…? / Was it…? / Were you…?; use was / were / wasn't / weren't; tell about last weekend with 8 or more regular past verbs (-ed); pronounce the three -ed endings /t/ /d/ /ɪd/.</a:t>
            </a:r>
          </a:p>
          <a:p>
            <a:r>
              <a:rPr lang="en-US" dirty="0"/>
              <a:t>Source: Level2_Curriculum_v5_public.md, Lesson 5 (At a glance).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Check. Pairs (same partner for both parts). Late arrivals join a pair.</a:t>
            </a:r>
          </a:p>
          <a:p>
            <a:r>
              <a:rPr lang="en-US" dirty="0"/>
              <a:t>Minutes 0–5: these questions review Lesson 4. Each click shows one question.</a:t>
            </a:r>
          </a:p>
          <a:p>
            <a:r>
              <a:rPr lang="en-US" dirty="0"/>
              <a:t>Source: Level2_Curriculum_v5_public.md, Lesson 5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Grammar: was / were + regular past. Say: "For the past, am and is become was. Are becomes were. Most other verbs add -ed, the same for everyone."</a:t>
            </a:r>
          </a:p>
          <a:p>
            <a:r>
              <a:rPr lang="en-US" dirty="0"/>
              <a:t>Grammar Box 1: read across the question side, then the answer side. Click 1 and click 2 highlight one row each.</a:t>
            </a:r>
          </a:p>
          <a:p>
            <a:r>
              <a:rPr lang="en-US" dirty="0"/>
              <a:t>More from the box: How was the party / the movie? Was the food good / expensive?</a:t>
            </a:r>
          </a:p>
          <a:p>
            <a:r>
              <a:rPr lang="en-US" dirty="0"/>
              <a:t>Source: Level2_Curriculum_v5_public.md, Lesson 5 (Step 4; Grammar Box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Were you…? Each click highlights one helper and its answers: Were, Was, Were.</a:t>
            </a:r>
          </a:p>
          <a:p>
            <a:r>
              <a:rPr lang="en-US" dirty="0"/>
              <a:t>Q: When do I use was and were? They are the past of be. am / is → was. are → were. I'm tired today. → I was tired yesterday.</a:t>
            </a:r>
          </a:p>
          <a:p>
            <a:r>
              <a:rPr lang="en-US" dirty="0"/>
              <a:t>Q&amp;A routine: a learner reads the Q → the class guesses → read the A → board example.</a:t>
            </a:r>
          </a:p>
          <a:p>
            <a:r>
              <a:rPr lang="en-US" dirty="0"/>
              <a:t>Source: Level2_Curriculum_v5_public.md, Lesson 5 (Grammar Box 2;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Each click shows the correct sentence.</a:t>
            </a:r>
          </a:p>
          <a:p>
            <a:r>
              <a:rPr lang="en-US" dirty="0"/>
              <a:t>I was clean the house: was is not a past marker for other verbs. Write the correct form on the board. Learners can read the note on their Grammar page; you don't need to explain it.</a:t>
            </a:r>
          </a:p>
          <a:p>
            <a:r>
              <a:rPr lang="en-US" dirty="0"/>
              <a:t>Source: Level2_Curriculum_v5_public.md, Lesson 5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check questions. Learners answer; each click shows one answer.</a:t>
            </a:r>
          </a:p>
          <a:p>
            <a:r>
              <a:rPr lang="en-US" dirty="0"/>
              <a:t>Answers: was · were · watched.</a:t>
            </a:r>
          </a:p>
          <a:p>
            <a:r>
              <a:rPr lang="en-US" dirty="0"/>
              <a:t>Short Weekend Chain (last 5 min): pairs take turns: On Saturday, I cleaned the house. / On Saturday, you cleaned the house, and I visited my sister… If behind: skip the Weekend Chain.</a:t>
            </a:r>
          </a:p>
          <a:p>
            <a:r>
              <a:rPr lang="en-US" dirty="0"/>
              <a:t>Source: Level2_Curriculum_v5_public.md, Lesson 5 (Step 4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3: What did you do? Each click highlights did. Add a time: … last weekend? / … on Saturday? / … yesterday?</a:t>
            </a:r>
          </a:p>
          <a:p>
            <a:r>
              <a:rPr lang="en-US" dirty="0"/>
              <a:t>Q: What does What did you do? mean? It asks about activities in the past. Answer with an -ed verb: I cleaned the house.</a:t>
            </a:r>
          </a:p>
          <a:p>
            <a:r>
              <a:rPr lang="en-US" dirty="0"/>
              <a:t>Teacher note: What did you do? is a fixed question today. Lesson 6 explains did fully. Don't teach it yet.</a:t>
            </a:r>
          </a:p>
          <a:p>
            <a:r>
              <a:rPr lang="en-US" dirty="0"/>
              <a:t>Q: Do I add -s for he or she in the past? No. The past is the same for everyone: I worked. She worked. They worked.</a:t>
            </a:r>
          </a:p>
          <a:p>
            <a:r>
              <a:rPr lang="en-US" dirty="0"/>
              <a:t>Source: Level2_Curriculum_v5_public.md, Lesson 5 (Grammar Box 3;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(pairs). Point, say, repeat twice. Stress that the words are past: Yesterday I cleaned. Each click shows one word.</a:t>
            </a:r>
          </a:p>
          <a:p>
            <a:r>
              <a:rPr lang="en-US" dirty="0"/>
              <a:t>Star words here: last weekend, yesterday, stayed home, cleaned the house, visited family, watched a movie.</a:t>
            </a:r>
          </a:p>
          <a:p>
            <a:r>
              <a:rPr lang="en-US" dirty="0"/>
              <a:t>Yesterday or every day? Say a sentence (I cleaned the house. / I clean the house.). Learners point behind them (past) or down (every day).</a:t>
            </a:r>
          </a:p>
          <a:p>
            <a:r>
              <a:rPr lang="en-US" dirty="0"/>
              <a:t>If behind: teach the star words only.</a:t>
            </a:r>
          </a:p>
          <a:p>
            <a:r>
              <a:rPr lang="en-US" dirty="0"/>
              <a:t>Source: Level2_Curriculum_v5_public.md, Lesson 5 (Step 2; Student Page 5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Sentences with was and were. Click 1 and click 2 show one row each.</a:t>
            </a:r>
          </a:p>
          <a:p>
            <a:r>
              <a:rPr lang="en-US" dirty="0"/>
              <a:t>Pronunciation (If time ①): three -ed sounds. /t/ worked, walked, cooked; /d/ played, called, stayed; /ɪd/ visited, waited, needed. The extra syllable comes only after t or d. Hold up 1 finger for /t/, 2 for /d/, 3 for /ɪd/.</a:t>
            </a:r>
          </a:p>
          <a:p>
            <a:r>
              <a:rPr lang="en-US" dirty="0"/>
              <a:t>Source: Level2_Curriculum_v5_public.md, Lesson 5 (Sentences: was and were; If time).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partners read their 3 homework "photos in words." The listener checks for am / is / are + -ing.</a:t>
            </a:r>
          </a:p>
          <a:p>
            <a:r>
              <a:rPr lang="en-US" dirty="0"/>
              <a:t>Each click shows one answer. The lines review Lesson 4 (homework model and Grammar Box 1).</a:t>
            </a:r>
          </a:p>
          <a:p>
            <a:r>
              <a:rPr lang="en-US" dirty="0"/>
              <a:t>Teacher: walk around; write only 2 corrected sentences on the board. If behind: collect the homework; return it next week with one correction each.</a:t>
            </a:r>
          </a:p>
          <a:p>
            <a:r>
              <a:rPr lang="en-US" dirty="0"/>
              <a:t>Source: Level2_Curriculum_v5_public.md, Lesson 5 (Step 1); Lesson 4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(circle). Each click circles one answer. The audio plays once, play again if needed.</a:t>
            </a:r>
          </a:p>
          <a:p>
            <a:r>
              <a:rPr lang="en-US" dirty="0"/>
              <a:t>Answer key: 1 great; 2 boring; 3 terrible; 4 20 minutes.</a:t>
            </a:r>
          </a:p>
          <a:p>
            <a:r>
              <a:rPr lang="en-US" dirty="0"/>
              <a:t>Source: Level2_Curriculum_v5_public.md, Lesson 5 (Step 3; Answer key).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Time: Weekend Mingle. Mingle: talk to 5 people (15 learners) / everyone (7–8). Each click shows one step.</a:t>
            </a:r>
          </a:p>
          <a:p>
            <a:r>
              <a:rPr lang="en-US" dirty="0"/>
              <a:t>Model: "How was your weekend?" "It was fun. I visited my family. How about you?" Learners write each person's name and one activity in a box on the Weekend Mingle sheet.</a:t>
            </a:r>
          </a:p>
          <a:p>
            <a:r>
              <a:rPr lang="en-US" dirty="0"/>
              <a:t>Report (last 3 min): "Ana visited her family. Marco worked. Two people cleaned the house."</a:t>
            </a:r>
          </a:p>
          <a:p>
            <a:r>
              <a:rPr lang="en-US" dirty="0"/>
              <a:t>Privacy: learners can tell the truth or make it up. If behind: learners talk to 3 people; skip the report.</a:t>
            </a:r>
          </a:p>
          <a:p>
            <a:r>
              <a:rPr lang="en-US" dirty="0"/>
              <a:t>Source: Level2_Curriculum_v5_public.md, Lesson 5 (Step 5).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one sentence with was or were and one sentence with an -ed verb about yesterday.</a:t>
            </a:r>
          </a:p>
          <a:p>
            <a:r>
              <a:rPr lang="en-US" dirty="0"/>
              <a:t>Homework (10 minutes): 1. Write 6 sentences about your last weekend: 3 with was / were and 3 with -ed verbs (On Saturday I was tired. I cleaned the house…). 2. Ask a family member or friend: How was your weekend? Write their answer in English. 3. Bonus: circle every -ed and say each one aloud. Explain it and do item 1 together.</a:t>
            </a:r>
          </a:p>
          <a:p>
            <a:r>
              <a:rPr lang="en-US" dirty="0"/>
              <a:t>Source: Level2_Curriculum_v5_public.md, Lesson 5 (Step 6; Student Page 5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+ "Say it" (L5_listening.mp3, about 1:30). Audio: L5_listening.mp3 (about 1:30). The audio plays once, play again if needed. Audio coming soon: until it is ready, read the script with a volunteer learner.</a:t>
            </a:r>
          </a:p>
          <a:p>
            <a:r>
              <a:rPr lang="en-US" dirty="0"/>
              <a:t>Before you listen: "It's Monday. Kim and Marco talk about the weekend. Who had a good weekend?" Take 2 guesses.</a:t>
            </a:r>
          </a:p>
          <a:p>
            <a:r>
              <a:rPr lang="en-US" dirty="0"/>
              <a:t>Listen 1 → Task A (who did it?). On the Student Page learners check ✓ Marco or Kim. Each click circles one answer.</a:t>
            </a:r>
          </a:p>
          <a:p>
            <a:r>
              <a:rPr lang="en-US" dirty="0"/>
              <a:t>Answer key: visited his sister = Marco; worked all day = Kim; played soccer = Marco; cleaned the house = Kim; watched a movie = Kim; cooked a big lunch = Marco.</a:t>
            </a:r>
          </a:p>
          <a:p>
            <a:r>
              <a:rPr lang="en-US" dirty="0"/>
              <a:t>Source: Level2_Curriculum_v5_public.md, Lesson 5 (Step 3; Answer key).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v5, public edition, Lesson 5.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worked, tired.</a:t>
            </a:r>
          </a:p>
          <a:p>
            <a:r>
              <a:rPr lang="en-US" dirty="0"/>
              <a:t>fun / boring describe the weekend or the movie: It was boring. tired / busy describe the person: I was tired.</a:t>
            </a:r>
          </a:p>
          <a:p>
            <a:r>
              <a:rPr lang="en-US" dirty="0"/>
              <a:t>Source: Level2_Curriculum_v5_public.md, Lesson 5 (Step 2; Student Page 5).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 The audio plays once, play again if needed.</a:t>
            </a:r>
          </a:p>
          <a:p>
            <a:r>
              <a:rPr lang="en-US" dirty="0"/>
              <a:t>Answer key: was; cooked; Were; cleaned.</a:t>
            </a:r>
          </a:p>
          <a:p>
            <a:r>
              <a:rPr lang="en-US" dirty="0"/>
              <a:t>Ask: "Kim says I cleaned the house. Is that today or before?" (before = past)</a:t>
            </a:r>
          </a:p>
          <a:p>
            <a:r>
              <a:rPr lang="en-US" dirty="0"/>
              <a:t>"Say it" (1–2 min): the class repeats "How was your weekend?" and "It was great!"</a:t>
            </a:r>
          </a:p>
          <a:p>
            <a:r>
              <a:rPr lang="en-US" dirty="0"/>
              <a:t>If behind: skip the third play; do Task C together (teacher reads the 4 lines).</a:t>
            </a:r>
          </a:p>
          <a:p>
            <a:r>
              <a:rPr lang="en-US" dirty="0"/>
              <a:t>Source: Level2_Curriculum_v5_public.md, Lesson 5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Spelling: most verbs +ed; ends in e +d (dance → danced); consonant + y → -ied (study → studied); short verb: double (stop → stopped).</a:t>
            </a:r>
          </a:p>
          <a:p>
            <a:r>
              <a:rPr lang="en-US" dirty="0"/>
              <a:t>boring = the thing (the movie); bored = the person feels it.</a:t>
            </a:r>
          </a:p>
          <a:p>
            <a:r>
              <a:rPr lang="en-US" dirty="0"/>
              <a:t>Source: Level2_Curriculum_v5_public.md, Lesson 5 (Common mistakes;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K1" Type="http://schemas.openxmlformats.org/officeDocument/2006/relationships/image" Target="../media/k_L4_right_now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Q1" Type="http://schemas.openxmlformats.org/officeDocument/2006/relationships/image" Target="../media/k_L5_last_weekend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Q1" Type="http://schemas.openxmlformats.org/officeDocument/2006/relationships/image" Target="../media/k_L4_right_now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Q1" Type="http://schemas.openxmlformats.org/officeDocument/2006/relationships/image" Target="../media/k_L5_last_weekend.png"/><Relationship Id="rIdQ2" Type="http://schemas.openxmlformats.org/officeDocument/2006/relationships/image" Target="../media/k_L5_yesterday.png"/><Relationship Id="rIdQ3" Type="http://schemas.openxmlformats.org/officeDocument/2006/relationships/image" Target="../media/k_L5_stayed_home.png"/><Relationship Id="rIdQ4" Type="http://schemas.openxmlformats.org/officeDocument/2006/relationships/image" Target="../media/k_L5_cleaned_the_house.png"/><Relationship Id="rIdQ5" Type="http://schemas.openxmlformats.org/officeDocument/2006/relationships/image" Target="../media/k_L5_visited_family.png"/><Relationship Id="rIdQ6" Type="http://schemas.openxmlformats.org/officeDocument/2006/relationships/image" Target="../media/k_L5_watched_a_movie.png"/><Relationship Id="rIdQ7" Type="http://schemas.openxmlformats.org/officeDocument/2006/relationships/image" Target="../media/k_L5_cooked.png"/><Relationship Id="rIdQ8" Type="http://schemas.openxmlformats.org/officeDocument/2006/relationships/image" Target="../media/k_L5_walked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Q1" Type="http://schemas.openxmlformats.org/officeDocument/2006/relationships/image" Target="../media/k_L5_called.png"/><Relationship Id="rIdQ2" Type="http://schemas.openxmlformats.org/officeDocument/2006/relationships/image" Target="../media/k_L5_listened_to_music.png"/><Relationship Id="rIdQ3" Type="http://schemas.openxmlformats.org/officeDocument/2006/relationships/image" Target="../media/k_L5_worked.png"/><Relationship Id="rIdQ4" Type="http://schemas.openxmlformats.org/officeDocument/2006/relationships/image" Target="../media/k_L5_relaxed.png"/><Relationship Id="rIdQ5" Type="http://schemas.openxmlformats.org/officeDocument/2006/relationships/image" Target="../media/k_L5_fun.png"/><Relationship Id="rIdQ6" Type="http://schemas.openxmlformats.org/officeDocument/2006/relationships/image" Target="../media/k_L5_boring.png"/><Relationship Id="rIdQ7" Type="http://schemas.openxmlformats.org/officeDocument/2006/relationships/image" Target="../media/k_L5_tired.png"/><Relationship Id="rIdQ8" Type="http://schemas.openxmlformats.org/officeDocument/2006/relationships/image" Target="../media/k_L5_busy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Q1" Type="http://schemas.openxmlformats.org/officeDocument/2006/relationships/image" Target="../media/k_L5_watched_a_movie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Q1" Type="http://schemas.openxmlformats.org/officeDocument/2006/relationships/image" Target="../media/k_L5_cleaned_the_house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Q1" Type="http://schemas.openxmlformats.org/officeDocument/2006/relationships/image" Target="../media/k_L5_tired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Q1" Type="http://schemas.openxmlformats.org/officeDocument/2006/relationships/image" Target="../media/k_L5_fun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Q1" Type="http://schemas.openxmlformats.org/officeDocument/2006/relationships/image" Target="../media/k_L5_cleaned_the_house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Q1" Type="http://schemas.openxmlformats.org/officeDocument/2006/relationships/image" Target="../media/k_L5_boring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Q1" Type="http://schemas.openxmlformats.org/officeDocument/2006/relationships/image" Target="../media/k_L5_busy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Q1" Type="http://schemas.openxmlformats.org/officeDocument/2006/relationships/image" Target="../media/k_L5_visited_family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Q1" Type="http://schemas.openxmlformats.org/officeDocument/2006/relationships/image" Target="../media/k_L5_yesterday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5 (Week 5)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Weekend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How was your weekend?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was / were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Tell about last weekend (-ed)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-ed three ways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4_right_now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pic>
        <p:nvPicPr>
          <p:cNvPr id="15" name="Picture 15" descr="L5_last_weeken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partner.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 Lesson 4.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Question"/>
          <p:cNvSpPr/>
          <p:nvPr/>
        </p:nvSpPr>
        <p:spPr>
          <a:xfrm>
            <a:off x="599846" y="3977640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doing right now?</a:t>
            </a:r>
            <a:endParaRPr lang="en-US" sz="2200" dirty="0"/>
          </a:p>
        </p:txBody>
      </p:sp>
      <p:sp>
        <p:nvSpPr>
          <p:cNvPr id="20" name="Question"/>
          <p:cNvSpPr/>
          <p:nvPr/>
        </p:nvSpPr>
        <p:spPr>
          <a:xfrm>
            <a:off x="599846" y="4910328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your family doing at 8 PM?</a:t>
            </a:r>
            <a:endParaRPr lang="en-US" sz="2200" dirty="0"/>
          </a:p>
        </p:txBody>
      </p:sp>
      <p:pic>
        <p:nvPicPr>
          <p:cNvPr id="21" name="Picture 21" descr="L4_right_now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your 3 photos in words.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cooking now.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____ watching TV.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____ eating.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Dad is ____. (work)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 / is / are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verb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257800" y="320040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</a:t>
            </a:r>
            <a:endParaRPr lang="en-US" sz="2000" dirty="0"/>
          </a:p>
        </p:txBody>
      </p:sp>
      <p:sp>
        <p:nvSpPr>
          <p:cNvPr id="39" name="Answer 2"/>
          <p:cNvSpPr/>
          <p:nvPr/>
        </p:nvSpPr>
        <p:spPr>
          <a:xfrm>
            <a:off x="5257800" y="3911803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000" dirty="0"/>
          </a:p>
        </p:txBody>
      </p:sp>
      <p:sp>
        <p:nvSpPr>
          <p:cNvPr id="40" name="Answer 3"/>
          <p:cNvSpPr/>
          <p:nvPr/>
        </p:nvSpPr>
        <p:spPr>
          <a:xfrm>
            <a:off x="5257800" y="4623206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000" dirty="0"/>
          </a:p>
        </p:txBody>
      </p:sp>
      <p:sp>
        <p:nvSpPr>
          <p:cNvPr id="41" name="Answer 4"/>
          <p:cNvSpPr/>
          <p:nvPr/>
        </p:nvSpPr>
        <p:spPr>
          <a:xfrm>
            <a:off x="5257800" y="533461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Yesterday or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day?</a:t>
            </a:r>
            <a:endParaRPr lang="en-US" sz="2200" dirty="0"/>
          </a:p>
        </p:txBody>
      </p:sp>
      <p:pic>
        <p:nvPicPr>
          <p:cNvPr id="41" name="Picture 41" descr="last weekend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weekend</a:t>
            </a:r>
            <a:endParaRPr lang="en-US" sz="2000" dirty="0"/>
          </a:p>
        </p:txBody>
      </p:sp>
      <p:pic>
        <p:nvPicPr>
          <p:cNvPr id="43" name="Picture 43" descr="yesterday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yesterday</a:t>
            </a:r>
            <a:endParaRPr lang="en-US" sz="2000" dirty="0"/>
          </a:p>
        </p:txBody>
      </p:sp>
      <p:pic>
        <p:nvPicPr>
          <p:cNvPr id="45" name="Picture 45" descr="stayed home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stayed home</a:t>
            </a:r>
            <a:endParaRPr lang="en-US" sz="2000" dirty="0"/>
          </a:p>
        </p:txBody>
      </p:sp>
      <p:pic>
        <p:nvPicPr>
          <p:cNvPr id="47" name="Picture 47" descr="cleaned the house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cleaned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house</a:t>
            </a:r>
            <a:endParaRPr lang="en-US" sz="2000" dirty="0"/>
          </a:p>
        </p:txBody>
      </p:sp>
      <p:pic>
        <p:nvPicPr>
          <p:cNvPr id="49" name="Picture 49" descr="visited family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1181437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76261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visited family</a:t>
            </a:r>
            <a:endParaRPr lang="en-US" sz="2000" dirty="0"/>
          </a:p>
        </p:txBody>
      </p:sp>
      <p:pic>
        <p:nvPicPr>
          <p:cNvPr id="51" name="Picture 51" descr="watched a movie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3867487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344866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watched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movie</a:t>
            </a:r>
            <a:endParaRPr lang="en-US" sz="2000" dirty="0"/>
          </a:p>
        </p:txBody>
      </p:sp>
      <p:pic>
        <p:nvPicPr>
          <p:cNvPr id="53" name="Picture 53" descr="cooked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6553537" y="4315968"/>
            <a:ext cx="1619794" cy="1133856"/>
          </a:xfrm>
          <a:prstGeom prst="rect">
            <a:avLst/>
          </a:prstGeom>
        </p:spPr>
      </p:pic>
      <p:sp>
        <p:nvSpPr>
          <p:cNvPr id="54" name="Word label"/>
          <p:cNvSpPr/>
          <p:nvPr/>
        </p:nvSpPr>
        <p:spPr>
          <a:xfrm>
            <a:off x="613471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cooked</a:t>
            </a:r>
            <a:endParaRPr lang="en-US" sz="2000" dirty="0"/>
          </a:p>
        </p:txBody>
      </p:sp>
      <p:pic>
        <p:nvPicPr>
          <p:cNvPr id="55" name="Picture 55" descr="walked (in the park)"/>
          <p:cNvPicPr>
            <a:picLocks noChangeAspect="1"/>
          </p:cNvPicPr>
          <p:nvPr/>
        </p:nvPicPr>
        <p:blipFill>
          <a:blip r:embed="rIdQ8"/>
          <a:stretch>
            <a:fillRect/>
          </a:stretch>
        </p:blipFill>
        <p:spPr>
          <a:xfrm>
            <a:off x="9239587" y="4315968"/>
            <a:ext cx="1619794" cy="1133856"/>
          </a:xfrm>
          <a:prstGeom prst="rect">
            <a:avLst/>
          </a:prstGeom>
        </p:spPr>
      </p:pic>
      <p:sp>
        <p:nvSpPr>
          <p:cNvPr id="56" name="Word label"/>
          <p:cNvSpPr/>
          <p:nvPr/>
        </p:nvSpPr>
        <p:spPr>
          <a:xfrm>
            <a:off x="882076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walked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(in the park)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 behind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you: past!</a:t>
            </a:r>
            <a:endParaRPr lang="en-US" sz="2200" dirty="0"/>
          </a:p>
        </p:txBody>
      </p:sp>
      <p:pic>
        <p:nvPicPr>
          <p:cNvPr id="39" name="Picture 39" descr="called (my mom)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(my mom)</a:t>
            </a:r>
            <a:endParaRPr lang="en-US" sz="2000" dirty="0"/>
          </a:p>
        </p:txBody>
      </p:sp>
      <p:pic>
        <p:nvPicPr>
          <p:cNvPr id="41" name="Picture 41" descr="listened to music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music</a:t>
            </a:r>
            <a:endParaRPr lang="en-US" sz="2000" dirty="0"/>
          </a:p>
        </p:txBody>
      </p:sp>
      <p:pic>
        <p:nvPicPr>
          <p:cNvPr id="43" name="Picture 43" descr="worked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endParaRPr lang="en-US" sz="2000" dirty="0"/>
          </a:p>
        </p:txBody>
      </p:sp>
      <p:pic>
        <p:nvPicPr>
          <p:cNvPr id="45" name="Picture 45" descr="relaxed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relaxed</a:t>
            </a:r>
            <a:endParaRPr lang="en-US" sz="2000" dirty="0"/>
          </a:p>
        </p:txBody>
      </p:sp>
      <p:pic>
        <p:nvPicPr>
          <p:cNvPr id="47" name="Picture 47" descr="fun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1181437" y="4315968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76261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fun</a:t>
            </a:r>
            <a:endParaRPr lang="en-US" sz="2000" dirty="0"/>
          </a:p>
        </p:txBody>
      </p:sp>
      <p:pic>
        <p:nvPicPr>
          <p:cNvPr id="49" name="Picture 49" descr="boring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3867487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344866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boring</a:t>
            </a:r>
            <a:endParaRPr lang="en-US" sz="2000" dirty="0"/>
          </a:p>
        </p:txBody>
      </p:sp>
      <p:pic>
        <p:nvPicPr>
          <p:cNvPr id="51" name="Picture 51" descr="tired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6553537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613471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tired</a:t>
            </a:r>
            <a:endParaRPr lang="en-US" sz="2000" dirty="0"/>
          </a:p>
        </p:txBody>
      </p:sp>
      <p:pic>
        <p:nvPicPr>
          <p:cNvPr id="53" name="Picture 53" descr="busy"/>
          <p:cNvPicPr>
            <a:picLocks noChangeAspect="1"/>
          </p:cNvPicPr>
          <p:nvPr/>
        </p:nvPicPr>
        <p:blipFill>
          <a:blip r:embed="rIdQ8"/>
          <a:stretch>
            <a:fillRect/>
          </a:stretch>
        </p:blipFill>
        <p:spPr>
          <a:xfrm>
            <a:off x="9239587" y="4315968"/>
            <a:ext cx="1619794" cy="1133856"/>
          </a:xfrm>
          <a:prstGeom prst="rect">
            <a:avLst/>
          </a:prstGeom>
        </p:spPr>
      </p:pic>
      <p:sp>
        <p:nvSpPr>
          <p:cNvPr id="54" name="Word label"/>
          <p:cNvSpPr/>
          <p:nvPr/>
        </p:nvSpPr>
        <p:spPr>
          <a:xfrm>
            <a:off x="8820760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busy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4702759" y="5703113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61248" y="5694015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4962710" y="590652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5" name="Subtitle"/>
          <p:cNvSpPr/>
          <p:nvPr/>
        </p:nvSpPr>
        <p:spPr>
          <a:xfrm>
            <a:off x="771754" y="2148840"/>
            <a:ext cx="45720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Circle.</a:t>
            </a:r>
            <a:endParaRPr lang="en-US" sz="2000" dirty="0"/>
          </a:p>
        </p:txBody>
      </p:sp>
      <p:pic>
        <p:nvPicPr>
          <p:cNvPr id="66" name="Picture 66" descr="L5_watched_a_movi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274674" y="3680460"/>
            <a:ext cx="3450031" cy="2415022"/>
          </a:xfrm>
          <a:prstGeom prst="rect">
            <a:avLst/>
          </a:prstGeom>
        </p:spPr>
      </p:pic>
      <p:sp>
        <p:nvSpPr>
          <p:cNvPr id="67" name="Row shadow"/>
          <p:cNvSpPr/>
          <p:nvPr/>
        </p:nvSpPr>
        <p:spPr>
          <a:xfrm>
            <a:off x="5970118" y="1153973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Row"/>
          <p:cNvSpPr/>
          <p:nvPr/>
        </p:nvSpPr>
        <p:spPr>
          <a:xfrm>
            <a:off x="5897880" y="1097280"/>
            <a:ext cx="5897880" cy="118872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9" name="Row num"/>
          <p:cNvSpPr/>
          <p:nvPr/>
        </p:nvSpPr>
        <p:spPr>
          <a:xfrm>
            <a:off x="6035040" y="1352398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70" name="Row question"/>
          <p:cNvSpPr/>
          <p:nvPr/>
        </p:nvSpPr>
        <p:spPr>
          <a:xfrm>
            <a:off x="6858000" y="1170432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Marco's weekend was ...</a:t>
            </a:r>
            <a:endParaRPr lang="en-US" sz="2200" dirty="0"/>
          </a:p>
        </p:txBody>
      </p:sp>
      <p:sp>
        <p:nvSpPr>
          <p:cNvPr id="71" name="Option"/>
          <p:cNvSpPr/>
          <p:nvPr/>
        </p:nvSpPr>
        <p:spPr>
          <a:xfrm>
            <a:off x="6858000" y="1719072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great</a:t>
            </a:r>
            <a:endParaRPr lang="en-US" sz="2000" dirty="0"/>
          </a:p>
        </p:txBody>
      </p:sp>
      <p:sp>
        <p:nvSpPr>
          <p:cNvPr id="72" name="Circle 1"/>
          <p:cNvSpPr/>
          <p:nvPr/>
        </p:nvSpPr>
        <p:spPr>
          <a:xfrm>
            <a:off x="6748272" y="1655064"/>
            <a:ext cx="1316736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3" name="Option"/>
          <p:cNvSpPr/>
          <p:nvPr/>
        </p:nvSpPr>
        <p:spPr>
          <a:xfrm>
            <a:off x="8065008" y="1719072"/>
            <a:ext cx="1163117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boring</a:t>
            </a:r>
            <a:endParaRPr lang="en-US" sz="2000" dirty="0"/>
          </a:p>
        </p:txBody>
      </p:sp>
      <p:sp>
        <p:nvSpPr>
          <p:cNvPr id="74" name="Option"/>
          <p:cNvSpPr/>
          <p:nvPr/>
        </p:nvSpPr>
        <p:spPr>
          <a:xfrm>
            <a:off x="9337853" y="1719072"/>
            <a:ext cx="1459382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terrible</a:t>
            </a:r>
            <a:endParaRPr lang="en-US" sz="2000" dirty="0"/>
          </a:p>
        </p:txBody>
      </p:sp>
      <p:sp>
        <p:nvSpPr>
          <p:cNvPr id="75" name="Row shadow"/>
          <p:cNvSpPr/>
          <p:nvPr/>
        </p:nvSpPr>
        <p:spPr>
          <a:xfrm>
            <a:off x="5970118" y="2452421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Row"/>
          <p:cNvSpPr/>
          <p:nvPr/>
        </p:nvSpPr>
        <p:spPr>
          <a:xfrm>
            <a:off x="5897880" y="2395728"/>
            <a:ext cx="5897880" cy="118872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7" name="Row num"/>
          <p:cNvSpPr/>
          <p:nvPr/>
        </p:nvSpPr>
        <p:spPr>
          <a:xfrm>
            <a:off x="6035040" y="2650846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78" name="Row question"/>
          <p:cNvSpPr/>
          <p:nvPr/>
        </p:nvSpPr>
        <p:spPr>
          <a:xfrm>
            <a:off x="6858000" y="2468880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Kim's weekend was ...</a:t>
            </a:r>
            <a:endParaRPr lang="en-US" sz="2200" dirty="0"/>
          </a:p>
        </p:txBody>
      </p:sp>
      <p:sp>
        <p:nvSpPr>
          <p:cNvPr id="79" name="Option"/>
          <p:cNvSpPr/>
          <p:nvPr/>
        </p:nvSpPr>
        <p:spPr>
          <a:xfrm>
            <a:off x="6858000" y="3017520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fun</a:t>
            </a:r>
            <a:endParaRPr lang="en-US" sz="2000" dirty="0"/>
          </a:p>
        </p:txBody>
      </p:sp>
      <p:sp>
        <p:nvSpPr>
          <p:cNvPr id="80" name="Option"/>
          <p:cNvSpPr/>
          <p:nvPr/>
        </p:nvSpPr>
        <p:spPr>
          <a:xfrm>
            <a:off x="8065008" y="3017520"/>
            <a:ext cx="1163117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boring</a:t>
            </a:r>
            <a:endParaRPr lang="en-US" sz="2000" dirty="0"/>
          </a:p>
        </p:txBody>
      </p:sp>
      <p:sp>
        <p:nvSpPr>
          <p:cNvPr id="81" name="Circle 2"/>
          <p:cNvSpPr/>
          <p:nvPr/>
        </p:nvSpPr>
        <p:spPr>
          <a:xfrm>
            <a:off x="7955280" y="2953512"/>
            <a:ext cx="1382573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Option"/>
          <p:cNvSpPr/>
          <p:nvPr/>
        </p:nvSpPr>
        <p:spPr>
          <a:xfrm>
            <a:off x="9337853" y="3017520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great</a:t>
            </a:r>
            <a:endParaRPr lang="en-US" sz="2000" dirty="0"/>
          </a:p>
        </p:txBody>
      </p:sp>
      <p:sp>
        <p:nvSpPr>
          <p:cNvPr id="83" name="Row shadow"/>
          <p:cNvSpPr/>
          <p:nvPr/>
        </p:nvSpPr>
        <p:spPr>
          <a:xfrm>
            <a:off x="5970118" y="3750869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4" name="Row"/>
          <p:cNvSpPr/>
          <p:nvPr/>
        </p:nvSpPr>
        <p:spPr>
          <a:xfrm>
            <a:off x="5897880" y="3694176"/>
            <a:ext cx="5897880" cy="118872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5" name="Row num"/>
          <p:cNvSpPr/>
          <p:nvPr/>
        </p:nvSpPr>
        <p:spPr>
          <a:xfrm>
            <a:off x="6035040" y="3949294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2000" dirty="0"/>
          </a:p>
        </p:txBody>
      </p:sp>
      <p:sp>
        <p:nvSpPr>
          <p:cNvPr id="86" name="Row question"/>
          <p:cNvSpPr/>
          <p:nvPr/>
        </p:nvSpPr>
        <p:spPr>
          <a:xfrm>
            <a:off x="6858000" y="3767328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Kim's movie was ...</a:t>
            </a:r>
            <a:endParaRPr lang="en-US" sz="2200" dirty="0"/>
          </a:p>
        </p:txBody>
      </p:sp>
      <p:sp>
        <p:nvSpPr>
          <p:cNvPr id="87" name="Option"/>
          <p:cNvSpPr/>
          <p:nvPr/>
        </p:nvSpPr>
        <p:spPr>
          <a:xfrm>
            <a:off x="6858000" y="4315968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</a:t>
            </a:r>
            <a:endParaRPr lang="en-US" sz="2000" dirty="0"/>
          </a:p>
        </p:txBody>
      </p:sp>
      <p:sp>
        <p:nvSpPr>
          <p:cNvPr id="88" name="Option"/>
          <p:cNvSpPr/>
          <p:nvPr/>
        </p:nvSpPr>
        <p:spPr>
          <a:xfrm>
            <a:off x="8065008" y="4315968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funny</a:t>
            </a:r>
            <a:endParaRPr lang="en-US" sz="2000" dirty="0"/>
          </a:p>
        </p:txBody>
      </p:sp>
      <p:sp>
        <p:nvSpPr>
          <p:cNvPr id="89" name="Option"/>
          <p:cNvSpPr/>
          <p:nvPr/>
        </p:nvSpPr>
        <p:spPr>
          <a:xfrm>
            <a:off x="9272016" y="4315968"/>
            <a:ext cx="1459382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terrible</a:t>
            </a:r>
            <a:endParaRPr lang="en-US" sz="2000" dirty="0"/>
          </a:p>
        </p:txBody>
      </p:sp>
      <p:sp>
        <p:nvSpPr>
          <p:cNvPr id="90" name="Circle 3"/>
          <p:cNvSpPr/>
          <p:nvPr/>
        </p:nvSpPr>
        <p:spPr>
          <a:xfrm>
            <a:off x="9162288" y="4251960"/>
            <a:ext cx="1678838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1" name="Row shadow"/>
          <p:cNvSpPr/>
          <p:nvPr/>
        </p:nvSpPr>
        <p:spPr>
          <a:xfrm>
            <a:off x="5970118" y="5049317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2" name="Row"/>
          <p:cNvSpPr/>
          <p:nvPr/>
        </p:nvSpPr>
        <p:spPr>
          <a:xfrm>
            <a:off x="5897880" y="4992624"/>
            <a:ext cx="5897880" cy="118872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3" name="Row num"/>
          <p:cNvSpPr/>
          <p:nvPr/>
        </p:nvSpPr>
        <p:spPr>
          <a:xfrm>
            <a:off x="6035040" y="5247742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2000" dirty="0"/>
          </a:p>
        </p:txBody>
      </p:sp>
      <p:sp>
        <p:nvSpPr>
          <p:cNvPr id="94" name="Row question"/>
          <p:cNvSpPr/>
          <p:nvPr/>
        </p:nvSpPr>
        <p:spPr>
          <a:xfrm>
            <a:off x="6858000" y="5065776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stopped it after ...</a:t>
            </a:r>
            <a:endParaRPr lang="en-US" sz="2200" dirty="0"/>
          </a:p>
        </p:txBody>
      </p:sp>
      <p:sp>
        <p:nvSpPr>
          <p:cNvPr id="95" name="Option"/>
          <p:cNvSpPr/>
          <p:nvPr/>
        </p:nvSpPr>
        <p:spPr>
          <a:xfrm>
            <a:off x="6858000" y="5614416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10</a:t>
            </a:r>
            <a:endParaRPr lang="en-US" sz="2000" dirty="0"/>
          </a:p>
        </p:txBody>
      </p:sp>
      <p:sp>
        <p:nvSpPr>
          <p:cNvPr id="96" name="Option"/>
          <p:cNvSpPr/>
          <p:nvPr/>
        </p:nvSpPr>
        <p:spPr>
          <a:xfrm>
            <a:off x="8065008" y="5614416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20</a:t>
            </a:r>
            <a:endParaRPr lang="en-US" sz="2000" dirty="0"/>
          </a:p>
        </p:txBody>
      </p:sp>
      <p:sp>
        <p:nvSpPr>
          <p:cNvPr id="97" name="Circle 4"/>
          <p:cNvSpPr/>
          <p:nvPr/>
        </p:nvSpPr>
        <p:spPr>
          <a:xfrm>
            <a:off x="7955280" y="5550408"/>
            <a:ext cx="1316736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8" name="Option"/>
          <p:cNvSpPr/>
          <p:nvPr/>
        </p:nvSpPr>
        <p:spPr>
          <a:xfrm>
            <a:off x="9272016" y="5614416"/>
            <a:ext cx="1755648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30 minutes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Who did it?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name.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Statement 1"/>
          <p:cNvSpPr/>
          <p:nvPr/>
        </p:nvSpPr>
        <p:spPr>
          <a:xfrm>
            <a:off x="502920" y="2743200"/>
            <a:ext cx="59436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visited his sister</a:t>
            </a:r>
            <a:endParaRPr lang="en-US" sz="2200" dirty="0"/>
          </a:p>
        </p:txBody>
      </p:sp>
      <p:sp>
        <p:nvSpPr>
          <p:cNvPr id="68" name="Option 11"/>
          <p:cNvSpPr/>
          <p:nvPr/>
        </p:nvSpPr>
        <p:spPr>
          <a:xfrm>
            <a:off x="6583680" y="275234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69" name="Option 12"/>
          <p:cNvSpPr/>
          <p:nvPr/>
        </p:nvSpPr>
        <p:spPr>
          <a:xfrm>
            <a:off x="8275320" y="275234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</a:t>
            </a:r>
            <a:endParaRPr lang="en-US" sz="2000" dirty="0"/>
          </a:p>
        </p:txBody>
      </p:sp>
      <p:sp>
        <p:nvSpPr>
          <p:cNvPr id="70" name="Circle 1"/>
          <p:cNvSpPr/>
          <p:nvPr/>
        </p:nvSpPr>
        <p:spPr>
          <a:xfrm>
            <a:off x="6455664" y="2688336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1" name="Statement 2"/>
          <p:cNvSpPr/>
          <p:nvPr/>
        </p:nvSpPr>
        <p:spPr>
          <a:xfrm>
            <a:off x="502920" y="3383280"/>
            <a:ext cx="59436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worked all day</a:t>
            </a:r>
            <a:endParaRPr lang="en-US" sz="2200" dirty="0"/>
          </a:p>
        </p:txBody>
      </p:sp>
      <p:sp>
        <p:nvSpPr>
          <p:cNvPr id="72" name="Option 21"/>
          <p:cNvSpPr/>
          <p:nvPr/>
        </p:nvSpPr>
        <p:spPr>
          <a:xfrm>
            <a:off x="6583680" y="339242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73" name="Option 22"/>
          <p:cNvSpPr/>
          <p:nvPr/>
        </p:nvSpPr>
        <p:spPr>
          <a:xfrm>
            <a:off x="8275320" y="339242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</a:t>
            </a:r>
            <a:endParaRPr lang="en-US" sz="2000" dirty="0"/>
          </a:p>
        </p:txBody>
      </p:sp>
      <p:sp>
        <p:nvSpPr>
          <p:cNvPr id="74" name="Circle 2"/>
          <p:cNvSpPr/>
          <p:nvPr/>
        </p:nvSpPr>
        <p:spPr>
          <a:xfrm>
            <a:off x="8147304" y="3328416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5" name="Statement 3"/>
          <p:cNvSpPr/>
          <p:nvPr/>
        </p:nvSpPr>
        <p:spPr>
          <a:xfrm>
            <a:off x="502920" y="4023360"/>
            <a:ext cx="59436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played soccer</a:t>
            </a:r>
            <a:endParaRPr lang="en-US" sz="2200" dirty="0"/>
          </a:p>
        </p:txBody>
      </p:sp>
      <p:sp>
        <p:nvSpPr>
          <p:cNvPr id="76" name="Option 31"/>
          <p:cNvSpPr/>
          <p:nvPr/>
        </p:nvSpPr>
        <p:spPr>
          <a:xfrm>
            <a:off x="6583680" y="403250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77" name="Option 32"/>
          <p:cNvSpPr/>
          <p:nvPr/>
        </p:nvSpPr>
        <p:spPr>
          <a:xfrm>
            <a:off x="8275320" y="403250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</a:t>
            </a:r>
            <a:endParaRPr lang="en-US" sz="2000" dirty="0"/>
          </a:p>
        </p:txBody>
      </p:sp>
      <p:sp>
        <p:nvSpPr>
          <p:cNvPr id="78" name="Circle 3"/>
          <p:cNvSpPr/>
          <p:nvPr/>
        </p:nvSpPr>
        <p:spPr>
          <a:xfrm>
            <a:off x="6455664" y="3968496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9" name="Statement 4"/>
          <p:cNvSpPr/>
          <p:nvPr/>
        </p:nvSpPr>
        <p:spPr>
          <a:xfrm>
            <a:off x="502920" y="4663440"/>
            <a:ext cx="59436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cleaned the house</a:t>
            </a:r>
            <a:endParaRPr lang="en-US" sz="2200" dirty="0"/>
          </a:p>
        </p:txBody>
      </p:sp>
      <p:sp>
        <p:nvSpPr>
          <p:cNvPr id="80" name="Option 41"/>
          <p:cNvSpPr/>
          <p:nvPr/>
        </p:nvSpPr>
        <p:spPr>
          <a:xfrm>
            <a:off x="6583680" y="467258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81" name="Option 42"/>
          <p:cNvSpPr/>
          <p:nvPr/>
        </p:nvSpPr>
        <p:spPr>
          <a:xfrm>
            <a:off x="8275320" y="467258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</a:t>
            </a:r>
            <a:endParaRPr lang="en-US" sz="2000" dirty="0"/>
          </a:p>
        </p:txBody>
      </p:sp>
      <p:sp>
        <p:nvSpPr>
          <p:cNvPr id="82" name="Circle 4"/>
          <p:cNvSpPr/>
          <p:nvPr/>
        </p:nvSpPr>
        <p:spPr>
          <a:xfrm>
            <a:off x="8147304" y="4608576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3" name="Statement 5"/>
          <p:cNvSpPr/>
          <p:nvPr/>
        </p:nvSpPr>
        <p:spPr>
          <a:xfrm>
            <a:off x="502920" y="5303520"/>
            <a:ext cx="59436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watched a movie</a:t>
            </a:r>
            <a:endParaRPr lang="en-US" sz="2200" dirty="0"/>
          </a:p>
        </p:txBody>
      </p:sp>
      <p:sp>
        <p:nvSpPr>
          <p:cNvPr id="84" name="Option 51"/>
          <p:cNvSpPr/>
          <p:nvPr/>
        </p:nvSpPr>
        <p:spPr>
          <a:xfrm>
            <a:off x="6583680" y="531266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85" name="Option 52"/>
          <p:cNvSpPr/>
          <p:nvPr/>
        </p:nvSpPr>
        <p:spPr>
          <a:xfrm>
            <a:off x="8275320" y="531266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</a:t>
            </a:r>
            <a:endParaRPr lang="en-US" sz="2000" dirty="0"/>
          </a:p>
        </p:txBody>
      </p:sp>
      <p:sp>
        <p:nvSpPr>
          <p:cNvPr id="86" name="Circle 5"/>
          <p:cNvSpPr/>
          <p:nvPr/>
        </p:nvSpPr>
        <p:spPr>
          <a:xfrm>
            <a:off x="8147304" y="5248656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7" name="Statement 6"/>
          <p:cNvSpPr/>
          <p:nvPr/>
        </p:nvSpPr>
        <p:spPr>
          <a:xfrm>
            <a:off x="502920" y="5943600"/>
            <a:ext cx="59436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cooked a big lunch</a:t>
            </a:r>
            <a:endParaRPr lang="en-US" sz="2200" dirty="0"/>
          </a:p>
        </p:txBody>
      </p:sp>
      <p:sp>
        <p:nvSpPr>
          <p:cNvPr id="88" name="Option 61"/>
          <p:cNvSpPr/>
          <p:nvPr/>
        </p:nvSpPr>
        <p:spPr>
          <a:xfrm>
            <a:off x="6583680" y="595274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000" dirty="0"/>
          </a:p>
        </p:txBody>
      </p:sp>
      <p:sp>
        <p:nvSpPr>
          <p:cNvPr id="89" name="Option 62"/>
          <p:cNvSpPr/>
          <p:nvPr/>
        </p:nvSpPr>
        <p:spPr>
          <a:xfrm>
            <a:off x="8275320" y="5952744"/>
            <a:ext cx="14630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</a:t>
            </a:r>
            <a:endParaRPr lang="en-US" sz="2000" dirty="0"/>
          </a:p>
        </p:txBody>
      </p:sp>
      <p:sp>
        <p:nvSpPr>
          <p:cNvPr id="90" name="Circle 6"/>
          <p:cNvSpPr/>
          <p:nvPr/>
        </p:nvSpPr>
        <p:spPr>
          <a:xfrm>
            <a:off x="6455664" y="5888736"/>
            <a:ext cx="171907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678424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____ great, thanks.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340339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____ a big lunch together.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you tired this morning?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678424"/>
            <a:ext cx="32406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Sunday, I ____ the house.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678424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678424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 says I cleaned the house.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2" name="Answer 1"/>
          <p:cNvSpPr/>
          <p:nvPr/>
        </p:nvSpPr>
        <p:spPr>
          <a:xfrm>
            <a:off x="5532120" y="3278124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200" dirty="0"/>
          </a:p>
        </p:txBody>
      </p:sp>
      <p:sp>
        <p:nvSpPr>
          <p:cNvPr id="43" name="Answer 2"/>
          <p:cNvSpPr/>
          <p:nvPr/>
        </p:nvSpPr>
        <p:spPr>
          <a:xfrm>
            <a:off x="5287061" y="4128516"/>
            <a:ext cx="1296619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cooked</a:t>
            </a:r>
            <a:endParaRPr lang="en-US" sz="2200" dirty="0"/>
          </a:p>
        </p:txBody>
      </p:sp>
      <p:sp>
        <p:nvSpPr>
          <p:cNvPr id="44" name="Answer 3"/>
          <p:cNvSpPr/>
          <p:nvPr/>
        </p:nvSpPr>
        <p:spPr>
          <a:xfrm>
            <a:off x="5532120" y="4978908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200" dirty="0"/>
          </a:p>
        </p:txBody>
      </p:sp>
      <p:sp>
        <p:nvSpPr>
          <p:cNvPr id="45" name="Answer 4"/>
          <p:cNvSpPr/>
          <p:nvPr/>
        </p:nvSpPr>
        <p:spPr>
          <a:xfrm>
            <a:off x="5124298" y="5829300"/>
            <a:ext cx="1459382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cleaned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with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-ed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pic>
        <p:nvPicPr>
          <p:cNvPr id="65" name="Picture 65" descr="L5_cleaned_the_hous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66" name="Wh"/>
          <p:cNvSpPr/>
          <p:nvPr/>
        </p:nvSpPr>
        <p:spPr>
          <a:xfrm>
            <a:off x="3520440" y="4114800"/>
            <a:ext cx="90799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67" name="Highlight"/>
          <p:cNvSpPr/>
          <p:nvPr/>
        </p:nvSpPr>
        <p:spPr>
          <a:xfrm>
            <a:off x="4428439" y="411480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Helper"/>
          <p:cNvSpPr/>
          <p:nvPr/>
        </p:nvSpPr>
        <p:spPr>
          <a:xfrm>
            <a:off x="4428439" y="411480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200" dirty="0"/>
          </a:p>
        </p:txBody>
      </p:sp>
      <p:sp>
        <p:nvSpPr>
          <p:cNvPr id="69" name="Rest"/>
          <p:cNvSpPr/>
          <p:nvPr/>
        </p:nvSpPr>
        <p:spPr>
          <a:xfrm>
            <a:off x="5282855" y="4114800"/>
            <a:ext cx="123901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do?</a:t>
            </a:r>
            <a:endParaRPr lang="en-US" sz="2200" dirty="0"/>
          </a:p>
        </p:txBody>
      </p:sp>
      <p:sp>
        <p:nvSpPr>
          <p:cNvPr id="70" name="Wh"/>
          <p:cNvSpPr/>
          <p:nvPr/>
        </p:nvSpPr>
        <p:spPr>
          <a:xfrm>
            <a:off x="3520440" y="4846320"/>
            <a:ext cx="90799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71" name="Highlight"/>
          <p:cNvSpPr/>
          <p:nvPr/>
        </p:nvSpPr>
        <p:spPr>
          <a:xfrm>
            <a:off x="4428439" y="484632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Helper"/>
          <p:cNvSpPr/>
          <p:nvPr/>
        </p:nvSpPr>
        <p:spPr>
          <a:xfrm>
            <a:off x="4428439" y="484632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200" dirty="0"/>
          </a:p>
        </p:txBody>
      </p:sp>
      <p:sp>
        <p:nvSpPr>
          <p:cNvPr id="73" name="Rest"/>
          <p:cNvSpPr/>
          <p:nvPr/>
        </p:nvSpPr>
        <p:spPr>
          <a:xfrm>
            <a:off x="5282855" y="4846320"/>
            <a:ext cx="123901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do?</a:t>
            </a:r>
            <a:endParaRPr lang="en-US" sz="2200" dirty="0"/>
          </a:p>
        </p:txBody>
      </p:sp>
      <p:sp>
        <p:nvSpPr>
          <p:cNvPr id="74" name="Wh"/>
          <p:cNvSpPr/>
          <p:nvPr/>
        </p:nvSpPr>
        <p:spPr>
          <a:xfrm>
            <a:off x="3520440" y="5577840"/>
            <a:ext cx="90799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75" name="Highlight"/>
          <p:cNvSpPr/>
          <p:nvPr/>
        </p:nvSpPr>
        <p:spPr>
          <a:xfrm>
            <a:off x="4428439" y="557784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Helper"/>
          <p:cNvSpPr/>
          <p:nvPr/>
        </p:nvSpPr>
        <p:spPr>
          <a:xfrm>
            <a:off x="4428439" y="557784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200" dirty="0"/>
          </a:p>
        </p:txBody>
      </p:sp>
      <p:sp>
        <p:nvSpPr>
          <p:cNvPr id="77" name="Rest"/>
          <p:cNvSpPr/>
          <p:nvPr/>
        </p:nvSpPr>
        <p:spPr>
          <a:xfrm>
            <a:off x="5282855" y="5577840"/>
            <a:ext cx="108813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do?</a:t>
            </a:r>
            <a:endParaRPr lang="en-US" sz="2200" dirty="0"/>
          </a:p>
        </p:txBody>
      </p:sp>
      <p:sp>
        <p:nvSpPr>
          <p:cNvPr id="78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</a:t>
            </a:r>
            <a:endParaRPr lang="en-US" sz="2400" dirty="0"/>
          </a:p>
        </p:txBody>
      </p:sp>
      <p:sp>
        <p:nvSpPr>
          <p:cNvPr id="79" name="Card item"/>
          <p:cNvSpPr/>
          <p:nvPr/>
        </p:nvSpPr>
        <p:spPr>
          <a:xfrm>
            <a:off x="8549640" y="1920240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clean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house.</a:t>
            </a:r>
            <a:endParaRPr lang="en-US" sz="2000" dirty="0"/>
          </a:p>
        </p:txBody>
      </p:sp>
      <p:sp>
        <p:nvSpPr>
          <p:cNvPr id="80" name="Card item"/>
          <p:cNvSpPr/>
          <p:nvPr/>
        </p:nvSpPr>
        <p:spPr>
          <a:xfrm>
            <a:off x="8549640" y="2724912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watch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movie.</a:t>
            </a:r>
            <a:endParaRPr lang="en-US" sz="2000" dirty="0"/>
          </a:p>
        </p:txBody>
      </p:sp>
      <p:sp>
        <p:nvSpPr>
          <p:cNvPr id="81" name="Card item"/>
          <p:cNvSpPr/>
          <p:nvPr/>
        </p:nvSpPr>
        <p:spPr>
          <a:xfrm>
            <a:off x="8549640" y="3529584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visit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family.</a:t>
            </a:r>
            <a:endParaRPr lang="en-US" sz="2000" dirty="0"/>
          </a:p>
        </p:txBody>
      </p:sp>
      <p:sp>
        <p:nvSpPr>
          <p:cNvPr id="82" name="Example"/>
          <p:cNvSpPr/>
          <p:nvPr/>
        </p:nvSpPr>
        <p:spPr>
          <a:xfrm>
            <a:off x="8549640" y="5394960"/>
            <a:ext cx="30175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... last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weekend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you ...?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4" name="Picture 44" descr="L5_tire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45" name="Highlight"/>
          <p:cNvSpPr/>
          <p:nvPr/>
        </p:nvSpPr>
        <p:spPr>
          <a:xfrm>
            <a:off x="5138928" y="38999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5138928" y="37490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6144768" y="37490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busy?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8668512" y="37490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8668512" y="37490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5138928" y="48143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5138928" y="46634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6144768" y="46634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tired?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8668512" y="46634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8668512" y="46634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5" name="Highlight"/>
          <p:cNvSpPr/>
          <p:nvPr/>
        </p:nvSpPr>
        <p:spPr>
          <a:xfrm>
            <a:off x="5138928" y="57287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6" name="Helper"/>
          <p:cNvSpPr/>
          <p:nvPr/>
        </p:nvSpPr>
        <p:spPr>
          <a:xfrm>
            <a:off x="5138928" y="55778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600" dirty="0"/>
          </a:p>
        </p:txBody>
      </p:sp>
      <p:sp>
        <p:nvSpPr>
          <p:cNvPr id="57" name="Question"/>
          <p:cNvSpPr/>
          <p:nvPr/>
        </p:nvSpPr>
        <p:spPr>
          <a:xfrm>
            <a:off x="6144768" y="55778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at home?</a:t>
            </a:r>
            <a:endParaRPr lang="en-US" sz="2200" dirty="0"/>
          </a:p>
        </p:txBody>
      </p:sp>
      <p:sp>
        <p:nvSpPr>
          <p:cNvPr id="59" name="Answer bg"/>
          <p:cNvSpPr/>
          <p:nvPr/>
        </p:nvSpPr>
        <p:spPr>
          <a:xfrm>
            <a:off x="8668512" y="55778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Answer"/>
          <p:cNvSpPr/>
          <p:nvPr/>
        </p:nvSpPr>
        <p:spPr>
          <a:xfrm>
            <a:off x="8668512" y="55778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they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they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was ...?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it ...?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2" name="Picture 42" descr="L5_fun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43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44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45" name="Highlight"/>
          <p:cNvSpPr/>
          <p:nvPr/>
        </p:nvSpPr>
        <p:spPr>
          <a:xfrm>
            <a:off x="1481328" y="4453128"/>
            <a:ext cx="11887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1481328" y="4315968"/>
            <a:ext cx="11887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2697480" y="4315968"/>
            <a:ext cx="32918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weekend?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great.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boring.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1481328" y="5367528"/>
            <a:ext cx="11887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1481328" y="5230368"/>
            <a:ext cx="11887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2697480" y="5230368"/>
            <a:ext cx="32918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fun?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5_cleaned_the_hous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clean the house.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clean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house.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8554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were tired.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8554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tired.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was busy.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busy.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5_boring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Yesterday I work.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Yesterday I work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studyed.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stud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ied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2303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movie was bored.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2303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movie was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boring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was, were, or -ed?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 tired.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___ at home.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Yesterday I ___ TV. (watch)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1" name="Answer"/>
          <p:cNvSpPr/>
          <p:nvPr/>
        </p:nvSpPr>
        <p:spPr>
          <a:xfrm>
            <a:off x="9601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600" dirty="0"/>
          </a:p>
        </p:txBody>
      </p:sp>
      <p:sp>
        <p:nvSpPr>
          <p:cNvPr id="32" name="Answer"/>
          <p:cNvSpPr/>
          <p:nvPr/>
        </p:nvSpPr>
        <p:spPr>
          <a:xfrm>
            <a:off x="46177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2600" dirty="0"/>
          </a:p>
        </p:txBody>
      </p:sp>
      <p:sp>
        <p:nvSpPr>
          <p:cNvPr id="33" name="Answer"/>
          <p:cNvSpPr/>
          <p:nvPr/>
        </p:nvSpPr>
        <p:spPr>
          <a:xfrm>
            <a:off x="82753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watched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Sentences · was and were</a:t>
            </a:r>
            <a:endParaRPr lang="en-US" sz="2000" dirty="0"/>
          </a:p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or Were?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/ He / She / It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busy.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busy.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/ We / They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busy.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busy.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</a:t>
            </a:r>
            <a:endParaRPr lang="en-US" sz="6000" dirty="0"/>
          </a:p>
        </p:txBody>
      </p:sp>
      <p:pic>
        <p:nvPicPr>
          <p:cNvPr id="23" name="Picture 23" descr="L5_busy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Weekend Mingle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report to the class.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2" name="Picture 32" descr="L5_visited_family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33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to 5 people.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was your weekend?</a:t>
            </a:r>
            <a:endParaRPr lang="en-US" sz="2000" dirty="0"/>
          </a:p>
        </p:txBody>
      </p:sp>
      <p:sp>
        <p:nvSpPr>
          <p:cNvPr id="35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Ask: What did you do?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fun. I visited my family.</a:t>
            </a:r>
            <a:endParaRPr lang="en-US" sz="2000" dirty="0"/>
          </a:p>
        </p:txBody>
      </p:sp>
      <p:sp>
        <p:nvSpPr>
          <p:cNvPr id="37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a name + activity.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 visited her family.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5_yesterday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31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32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33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2 sentences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yesterday: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with was / were,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with an -ed verb.</a:t>
            </a:r>
            <a:endParaRPr lang="en-US" sz="2000" dirty="0"/>
          </a:p>
        </p:txBody>
      </p:sp>
      <p:sp>
        <p:nvSpPr>
          <p:cNvPr id="34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35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36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6 sentences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last weekend: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 with was / were,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 with -ed verbs.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a friend: How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your weekend?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5 (Week 5): Last Weekend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