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68" r:id="rId14"/>
    <p:sldId id="272" r:id="rId18"/>
    <p:sldId id="277" r:id="rId28"/>
    <p:sldId id="259" r:id="rId5"/>
    <p:sldId id="260" r:id="rId6"/>
    <p:sldId id="264" r:id="rId10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11.xml"/><Relationship Id="rId6" Type="http://schemas.openxmlformats.org/officeDocument/2006/relationships/slide" Target="slides/slide10.xml"/><Relationship Id="rId7" Type="http://schemas.openxmlformats.org/officeDocument/2006/relationships/slide" Target="slides/slide12.xml"/><Relationship Id="rId8" Type="http://schemas.openxmlformats.org/officeDocument/2006/relationships/slide" Target="slides/slide14.xml"/><Relationship Id="rId10" Type="http://schemas.openxmlformats.org/officeDocument/2006/relationships/slide" Target="slides/slide9.xml"/><Relationship Id="rId11" Type="http://schemas.openxmlformats.org/officeDocument/2006/relationships/slide" Target="slides/slide4.xml"/><Relationship Id="rId12" Type="http://schemas.openxmlformats.org/officeDocument/2006/relationships/slide" Target="slides/slide15.xml"/><Relationship Id="rId13" Type="http://schemas.openxmlformats.org/officeDocument/2006/relationships/slide" Target="slides/slide3.xml"/><Relationship Id="rId14" Type="http://schemas.openxmlformats.org/officeDocument/2006/relationships/slide" Target="slides/slide6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7.xml"/><Relationship Id="rId20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back. Read the goals together; learners repeat.</a:t>
            </a:r>
          </a:p>
          <a:p>
            <a:r>
              <a:rPr lang="en-US" dirty="0"/>
              <a:t>Objectives: name common health problems (a headache, a cold, a fever…); say I have a… / My … hurts; give and ask for advice with should / shouldn't; make a simple appointment on the phone.</a:t>
            </a:r>
          </a:p>
          <a:p>
            <a:r>
              <a:rPr lang="en-US" dirty="0"/>
              <a:t>Language practice only, not medical advice. Use invented role cards. Never ask learners about their real health or medicines.</a:t>
            </a:r>
          </a:p>
          <a:p>
            <a:r>
              <a:rPr lang="en-US" dirty="0"/>
              <a:t>Source: Level2_Curriculum_v5_public.md, Lesson 10 (At a glance;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Opening Talk + Homework Check. Pairs (same partner for both parts).</a:t>
            </a:r>
          </a:p>
          <a:p>
            <a:r>
              <a:rPr lang="en-US" dirty="0"/>
              <a:t>Minutes 0–5 (review Lesson 9): partners ask What do you need from the store this week? How many eggs? How much rice? Each click shows one question.</a:t>
            </a:r>
          </a:p>
          <a:p>
            <a:r>
              <a:rPr lang="en-US" dirty="0"/>
              <a:t>Source: Level2_Curriculum_v5_public.md, Lesson 10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6:30–6:45 · Grammar: have / hurt / should. Say: "Problems: I have a headache. Body parts: My arm hurts. Advice: You should rest. Should + base verb, the same for everyone."</a:t>
            </a:r>
          </a:p>
          <a:p>
            <a:r>
              <a:rPr lang="en-US" dirty="0"/>
              <a:t>Grammar Box 1: click 1 and click 2 highlight one pair each.</a:t>
            </a:r>
          </a:p>
          <a:p>
            <a:r>
              <a:rPr lang="en-US" dirty="0"/>
              <a:t>Q: have or hurt? have + the problem: I have a headache. hurt + body part: My back hurts. Q: hurts or hurt? One part: My arm hurts. Two or more: My feet hurt.</a:t>
            </a:r>
          </a:p>
          <a:p>
            <a:r>
              <a:rPr lang="en-US" dirty="0"/>
              <a:t>Source: Level2_Curriculum_v5_public.md, Lesson 10 (Step 4; Grammar Box 1;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2: Does your … hurt? Each click highlights Does / Do and its answers.</a:t>
            </a:r>
          </a:p>
          <a:p>
            <a:r>
              <a:rPr lang="en-US" dirty="0"/>
              <a:t>More from the box: Does your back hurt? Do your eyes hurt?</a:t>
            </a:r>
          </a:p>
          <a:p>
            <a:r>
              <a:rPr lang="en-US" dirty="0"/>
              <a:t>Source: Level2_Curriculum_v5_public.md, Lesson 10 (Grammar Box 2).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Each click shows the correct sentence.</a:t>
            </a:r>
          </a:p>
          <a:p>
            <a:r>
              <a:rPr lang="en-US" dirty="0"/>
              <a:t>Write the correct form on the board. Learners can read the note on their Grammar page; you don't need to explain it.</a:t>
            </a:r>
          </a:p>
          <a:p>
            <a:r>
              <a:rPr lang="en-US" dirty="0"/>
              <a:t>Source: Level2_Curriculum_v5_public.md, Lesson 10 (Common mistakes;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check questions. Learners answer; each click shows one answer.</a:t>
            </a:r>
          </a:p>
          <a:p>
            <a:r>
              <a:rPr lang="en-US" dirty="0"/>
              <a:t>Answers: rest · No: I have a headache · hurt.</a:t>
            </a:r>
          </a:p>
          <a:p>
            <a:r>
              <a:rPr lang="en-US" dirty="0"/>
              <a:t>Short "Advice Circle" (last 5 min): A says a problem; B gives advice; C gives a different idea. If behind: skip it.</a:t>
            </a:r>
          </a:p>
          <a:p>
            <a:r>
              <a:rPr lang="en-US" dirty="0"/>
              <a:t>Source: Level2_Curriculum_v5_public.md, Lesson 10 (Step 4 Check).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3: What should I do? Each click highlights should.</a:t>
            </a:r>
          </a:p>
          <a:p>
            <a:r>
              <a:rPr lang="en-US" dirty="0"/>
              <a:t>More advice: drink water, take medicine; shouldn't eat a lot, shouldn't stay up late. Should I see a doctor? Yes, you should. / No, you shouldn't.</a:t>
            </a:r>
          </a:p>
          <a:p>
            <a:r>
              <a:rPr lang="en-US" dirty="0"/>
              <a:t>Q: should + what? The base verb, the same for everyone: She should rest. (not shoulds, not should to rest)</a:t>
            </a:r>
          </a:p>
          <a:p>
            <a:r>
              <a:rPr lang="en-US" dirty="0"/>
              <a:t>Source: Level2_Curriculum_v5_public.md, Lesson 10 (Grammar Box 3;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6:10–6:18 · New Words (pairs). Point, say, repeat twice. Each click shows one word.</a:t>
            </a:r>
          </a:p>
          <a:p>
            <a:r>
              <a:rPr lang="en-US" dirty="0"/>
              <a:t>Note: a headache, a cold (with a).</a:t>
            </a:r>
          </a:p>
          <a:p>
            <a:r>
              <a:rPr lang="en-US" dirty="0"/>
              <a:t>Star words here: a headache, a fever, a cold, a cough, a sore throat.</a:t>
            </a:r>
          </a:p>
          <a:p>
            <a:r>
              <a:rPr lang="en-US" dirty="0"/>
              <a:t>Act it out: one learner acts (cough, hand on head); the partner says "You have a cough!" If behind: teach the star words only.</a:t>
            </a:r>
          </a:p>
          <a:p>
            <a:r>
              <a:rPr lang="en-US" dirty="0"/>
              <a:t>Source: Level2_Curriculum_v5_public.md, Lesson 10 (Step 2; Student Page 10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4: Making an appointment. Click 1 and click 2 show one row each.</a:t>
            </a:r>
          </a:p>
          <a:p>
            <a:r>
              <a:rPr lang="en-US" dirty="0"/>
              <a:t>You say: I'd like to make an appointment, please. Is there a later time? / an earlier time? ___ is fine. Thank you.</a:t>
            </a:r>
          </a:p>
          <a:p>
            <a:r>
              <a:rPr lang="en-US" dirty="0"/>
              <a:t>The receptionist says: What's the matter? When did it start? How about 3:30? / tomorrow at 9? What's your name, please?</a:t>
            </a:r>
          </a:p>
          <a:p>
            <a:r>
              <a:rPr lang="en-US" dirty="0"/>
              <a:t>Source: Level2_Curriculum_v5_public.md, Lesson 10 (Grammar Box 4).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1, minutes 5–10: partners read their homework restaurant conversation as a role play.</a:t>
            </a:r>
          </a:p>
          <a:p>
            <a:r>
              <a:rPr lang="en-US" dirty="0"/>
              <a:t>Each click shows one answer. The lines review Lesson 9 (Grammar Boxes 1 and 3).</a:t>
            </a:r>
          </a:p>
          <a:p>
            <a:r>
              <a:rPr lang="en-US" dirty="0"/>
              <a:t>Teacher: write 2 corrected sentences on the board. If behind: collect the homework.</a:t>
            </a:r>
          </a:p>
          <a:p>
            <a:r>
              <a:rPr lang="en-US" dirty="0"/>
              <a:t>Source: Level2_Curriculum_v5_public.md, Lesson 10 (Step 1); Lesson 9 Homework.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6:18–6:30 · Listening + "Say it" (L10_listening.mp3, about 1:30). Audio: L10_listening.mp3 (about 1:30). The audio plays once, play again if needed. Audio coming soon: until it is ready, read the script with a volunteer learner.</a:t>
            </a:r>
          </a:p>
          <a:p>
            <a:r>
              <a:rPr lang="en-US" dirty="0"/>
              <a:t>Before you listen: "Marco is sick. He calls the clinic. What does he say?" Take 2 guesses.</a:t>
            </a:r>
          </a:p>
          <a:p>
            <a:r>
              <a:rPr lang="en-US" dirty="0"/>
              <a:t>Listen 1 → Task A (check the problems). Each click shows Yes or No.</a:t>
            </a:r>
          </a:p>
          <a:p>
            <a:r>
              <a:rPr lang="en-US" dirty="0"/>
              <a:t>Answer key: ✓ a cough, a sore throat, a fever. ✗ a headache, a stomachache, a toothache.</a:t>
            </a:r>
          </a:p>
          <a:p>
            <a:r>
              <a:rPr lang="en-US" dirty="0"/>
              <a:t>Riverside Clinic and Marco Silva are invented.</a:t>
            </a:r>
          </a:p>
          <a:p>
            <a:r>
              <a:rPr lang="en-US" dirty="0"/>
              <a:t>Source: Level2_Curriculum_v5_public.md, Lesson 10 (Step 3; Answer key;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7:00–7:10 · Talk Time: At the Clinic. Pairs (15) / pairs + teacher (7–8). Each click shows one step.</a:t>
            </a:r>
          </a:p>
          <a:p>
            <a:r>
              <a:rPr lang="en-US" dirty="0"/>
              <a:t>Do: A takes a patient role card (an invented problem). B is the receptionist: What's the matter? When did it start? Then B offers a time, and A accepts or asks for another time.</a:t>
            </a:r>
          </a:p>
          <a:p>
            <a:r>
              <a:rPr lang="en-US" dirty="0"/>
              <a:t>Switch after 4 minutes. Then new partners: friend and friend: What's the matter? You should…</a:t>
            </a:r>
          </a:p>
          <a:p>
            <a:r>
              <a:rPr lang="en-US" dirty="0"/>
              <a:t>Rule: use the role card; nobody talks about their real health unless they want to. If behind: one role play only.</a:t>
            </a:r>
          </a:p>
          <a:p>
            <a:r>
              <a:rPr lang="en-US" dirty="0"/>
              <a:t>Source: Level2_Curriculum_v5_public.md, Lesson 10 (Step 5).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7:10–7:15 · Exit Ticket + Homework. NEVER SKIP.</a:t>
            </a:r>
          </a:p>
          <a:p>
            <a:r>
              <a:rPr lang="en-US" dirty="0"/>
              <a:t>Exit ticket: one problem (I have… / My … hurts) and one piece of advice with should or shouldn't.</a:t>
            </a:r>
          </a:p>
          <a:p>
            <a:r>
              <a:rPr lang="en-US" dirty="0"/>
              <a:t>Homework (10 minutes): 1. Write 4 health problems and advice for each (I have a cold. You should rest and drink water.). 2. Write a phone call to make an appointment (4–6 lines). Use an invented problem. 3. Bonus: learn the clinic and emergency numbers your program gives you.</a:t>
            </a:r>
          </a:p>
          <a:p>
            <a:r>
              <a:rPr lang="en-US" dirty="0"/>
              <a:t>Source: Level2_Curriculum_v5_public.md, Lesson 10 (Step 6; Student Page 10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→ Task B (true / false). Each click circles one answer and shows the correction. The audio plays once, play again if needed.</a:t>
            </a:r>
          </a:p>
          <a:p>
            <a:r>
              <a:rPr lang="en-US" dirty="0"/>
              <a:t>Answer key: 1 T; 2 F (three days ago); 3 F (he can't come at 10:15); 4 T (3:30); 5 F (he shouldn't go to work).</a:t>
            </a:r>
          </a:p>
          <a:p>
            <a:r>
              <a:rPr lang="en-US" dirty="0"/>
              <a:t>Source: Level2_Curriculum_v5_public.md, Lesson 10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v5, public edition, Lesson 10.</a:t>
            </a:r>
          </a:p>
          <a:p>
            <a:r>
              <a:rPr lang="en-US" dirty="0"/>
              <a:t>Image credit line copied exactly from images/CREDITS.md. Deck notice: © 2026 the authors; the authors license this deck under CC BY-NC-SA 4.0 (Section 7.2).</a:t>
            </a:r>
          </a:p>
          <a:p>
            <a:r>
              <a:rPr lang="en-US" dirty="0"/>
              <a:t>Audio and font credits: Chatterbox TTS (Resemble AI, MIT; Perth watermark), Lexend Deca (SIL OFL 1.1).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 Star words here: hurts (My arm hurts.), medicine, appointment.</a:t>
            </a:r>
          </a:p>
          <a:p>
            <a:r>
              <a:rPr lang="en-US" dirty="0"/>
              <a:t>Learners may want local information (clinics, low-cost care). Share a printed list from your program if it has one; don't give medical opinions.</a:t>
            </a:r>
          </a:p>
          <a:p>
            <a:r>
              <a:rPr lang="en-US" dirty="0"/>
              <a:t>Source: Level2_Curriculum_v5_public.md, Lesson 10 (Step 2; Student Page 10;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→ Task C (fill in). Each click fills one blank. The audio plays once, play again if needed.</a:t>
            </a:r>
          </a:p>
          <a:p>
            <a:r>
              <a:rPr lang="en-US" dirty="0"/>
              <a:t>Answer key: matter; ago; should; shouldn't.</a:t>
            </a:r>
          </a:p>
          <a:p>
            <a:r>
              <a:rPr lang="en-US" dirty="0"/>
              <a:t>"Say it" (1–2 min): the class repeats "What's the matter?" and "You should rest."</a:t>
            </a:r>
          </a:p>
          <a:p>
            <a:r>
              <a:rPr lang="en-US" dirty="0"/>
              <a:t>If behind: skip the third play; do Task C together.</a:t>
            </a:r>
          </a:p>
          <a:p>
            <a:r>
              <a:rPr lang="en-US" dirty="0"/>
              <a:t>Source: Level2_Curriculum_v5_public.md, Lesson 10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I have pain in my throat is OK, but I have a sore throat is more common.</a:t>
            </a:r>
          </a:p>
          <a:p>
            <a:r>
              <a:rPr lang="en-US" dirty="0"/>
              <a:t>Source: Level2_Curriculum_v5_public.md, Lesson 10 (Common mistakes).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K1" Type="http://schemas.openxmlformats.org/officeDocument/2006/relationships/image" Target="../media/k_L4_right_now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Q1" Type="http://schemas.openxmlformats.org/officeDocument/2006/relationships/image" Target="../media/k_L10_doctor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Q1" Type="http://schemas.openxmlformats.org/officeDocument/2006/relationships/image" Target="../media/k_L9_shopping_list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Q1" Type="http://schemas.openxmlformats.org/officeDocument/2006/relationships/image" Target="../media/k_L10_headache.png"/><Relationship Id="rIdQ2" Type="http://schemas.openxmlformats.org/officeDocument/2006/relationships/image" Target="../media/k_L10_stomachache.png"/><Relationship Id="rIdQ3" Type="http://schemas.openxmlformats.org/officeDocument/2006/relationships/image" Target="../media/k_L10_fever.png"/><Relationship Id="rIdQ4" Type="http://schemas.openxmlformats.org/officeDocument/2006/relationships/image" Target="../media/k_L10_cold.png"/><Relationship Id="rIdQ5" Type="http://schemas.openxmlformats.org/officeDocument/2006/relationships/image" Target="../media/k_L10_cough.png"/><Relationship Id="rIdQ6" Type="http://schemas.openxmlformats.org/officeDocument/2006/relationships/image" Target="../media/k_L10_sore_throat.png"/><Relationship Id="rIdQ7" Type="http://schemas.openxmlformats.org/officeDocument/2006/relationships/image" Target="../media/k_L10_toothache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Q1" Type="http://schemas.openxmlformats.org/officeDocument/2006/relationships/image" Target="../media/k_L10_hurts.png"/><Relationship Id="rIdQ2" Type="http://schemas.openxmlformats.org/officeDocument/2006/relationships/image" Target="../media/k_L10_doctor.png"/><Relationship Id="rIdQ3" Type="http://schemas.openxmlformats.org/officeDocument/2006/relationships/image" Target="../media/k_L10_dentist.png"/><Relationship Id="rIdQ4" Type="http://schemas.openxmlformats.org/officeDocument/2006/relationships/image" Target="../media/k_L10_medicine.png"/><Relationship Id="rIdQ5" Type="http://schemas.openxmlformats.org/officeDocument/2006/relationships/image" Target="../media/k_L10_appointment.png"/><Relationship Id="rIdQ6" Type="http://schemas.openxmlformats.org/officeDocument/2006/relationships/image" Target="../media/k_L10_rest.png"/><Relationship Id="rIdQ7" Type="http://schemas.openxmlformats.org/officeDocument/2006/relationships/image" Target="../media/k_L10_drink_water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Q1" Type="http://schemas.openxmlformats.org/officeDocument/2006/relationships/image" Target="../media/k_L10_cough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Q1" Type="http://schemas.openxmlformats.org/officeDocument/2006/relationships/image" Target="../media/k_L10_rest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Q1" Type="http://schemas.openxmlformats.org/officeDocument/2006/relationships/image" Target="../media/k_L10_hurts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Q1" Type="http://schemas.openxmlformats.org/officeDocument/2006/relationships/image" Target="../media/k_L10_headache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Q1" Type="http://schemas.openxmlformats.org/officeDocument/2006/relationships/image" Target="../media/k_L10_fever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Q1" Type="http://schemas.openxmlformats.org/officeDocument/2006/relationships/image" Target="../media/k_L10_sore_throat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Q1" Type="http://schemas.openxmlformats.org/officeDocument/2006/relationships/image" Target="../media/k_L10_appointment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Q1" Type="http://schemas.openxmlformats.org/officeDocument/2006/relationships/image" Target="../media/k_L10_medicine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Q1" Type="http://schemas.openxmlformats.org/officeDocument/2006/relationships/image" Target="../media/k_L10_drink_water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10 (Week 11)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Health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Name health problems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I have a… / My … hurts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Give advice: should / shouldn't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Make an appointment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14" name="Picture 14" descr="L4_right_now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pic>
        <p:nvPicPr>
          <p:cNvPr id="15" name="Picture 15" descr="L10_doctor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29718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partner.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Review Lesson 9.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Question"/>
          <p:cNvSpPr/>
          <p:nvPr/>
        </p:nvSpPr>
        <p:spPr>
          <a:xfrm>
            <a:off x="599846" y="3977640"/>
            <a:ext cx="4114800" cy="80467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need from the store this week?</a:t>
            </a:r>
            <a:endParaRPr lang="en-US" sz="2200" dirty="0"/>
          </a:p>
        </p:txBody>
      </p:sp>
      <p:sp>
        <p:nvSpPr>
          <p:cNvPr id="20" name="Question"/>
          <p:cNvSpPr/>
          <p:nvPr/>
        </p:nvSpPr>
        <p:spPr>
          <a:xfrm>
            <a:off x="599846" y="4910328"/>
            <a:ext cx="4114800" cy="80467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many eggs? How much rice?</a:t>
            </a:r>
            <a:endParaRPr lang="en-US" sz="2200" dirty="0"/>
          </a:p>
        </p:txBody>
      </p:sp>
      <p:pic>
        <p:nvPicPr>
          <p:cNvPr id="21" name="Picture 21" descr="L9_shopping_lis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795821" y="2101291"/>
            <a:ext cx="4763110" cy="33341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your role play.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36662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 the soup, please.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 I have the check?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___ eggs?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___ rice?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HW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Polite: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I have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…?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8" name="Answer 1"/>
          <p:cNvSpPr/>
          <p:nvPr/>
        </p:nvSpPr>
        <p:spPr>
          <a:xfrm>
            <a:off x="5220326" y="3200400"/>
            <a:ext cx="1363354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</a:t>
            </a:r>
            <a:endParaRPr lang="en-US" sz="2000" dirty="0"/>
          </a:p>
        </p:txBody>
      </p:sp>
      <p:sp>
        <p:nvSpPr>
          <p:cNvPr id="39" name="Answer 2"/>
          <p:cNvSpPr/>
          <p:nvPr/>
        </p:nvSpPr>
        <p:spPr>
          <a:xfrm>
            <a:off x="5257800" y="3911803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</a:t>
            </a:r>
            <a:endParaRPr lang="en-US" sz="2000" dirty="0"/>
          </a:p>
        </p:txBody>
      </p:sp>
      <p:sp>
        <p:nvSpPr>
          <p:cNvPr id="40" name="Answer 3"/>
          <p:cNvSpPr/>
          <p:nvPr/>
        </p:nvSpPr>
        <p:spPr>
          <a:xfrm>
            <a:off x="5257800" y="4623206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endParaRPr lang="en-US" sz="2000" dirty="0"/>
          </a:p>
        </p:txBody>
      </p:sp>
      <p:sp>
        <p:nvSpPr>
          <p:cNvPr id="41" name="Answer 4"/>
          <p:cNvSpPr/>
          <p:nvPr/>
        </p:nvSpPr>
        <p:spPr>
          <a:xfrm>
            <a:off x="5257800" y="533461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Act it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out!</a:t>
            </a:r>
            <a:endParaRPr lang="en-US" sz="2200" dirty="0"/>
          </a:p>
        </p:txBody>
      </p:sp>
      <p:pic>
        <p:nvPicPr>
          <p:cNvPr id="41" name="Picture 41" descr="a headache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952837" y="2240280"/>
            <a:ext cx="2076994" cy="145389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7626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headache</a:t>
            </a:r>
            <a:endParaRPr lang="en-US" sz="2000" dirty="0"/>
          </a:p>
        </p:txBody>
      </p:sp>
      <p:pic>
        <p:nvPicPr>
          <p:cNvPr id="43" name="Picture 43" descr="a stomachache"/>
          <p:cNvPicPr>
            <a:picLocks noChangeAspect="1"/>
          </p:cNvPicPr>
          <p:nvPr/>
        </p:nvPicPr>
        <p:blipFill>
          <a:blip r:embed="rIdQ2"/>
          <a:stretch>
            <a:fillRect/>
          </a:stretch>
        </p:blipFill>
        <p:spPr>
          <a:xfrm>
            <a:off x="3638887" y="2240280"/>
            <a:ext cx="2076994" cy="145389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34486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stomachache</a:t>
            </a:r>
            <a:endParaRPr lang="en-US" sz="2000" dirty="0"/>
          </a:p>
        </p:txBody>
      </p:sp>
      <p:pic>
        <p:nvPicPr>
          <p:cNvPr id="45" name="Picture 45" descr="a fever"/>
          <p:cNvPicPr>
            <a:picLocks noChangeAspect="1"/>
          </p:cNvPicPr>
          <p:nvPr/>
        </p:nvPicPr>
        <p:blipFill>
          <a:blip r:embed="rIdQ3"/>
          <a:stretch>
            <a:fillRect/>
          </a:stretch>
        </p:blipFill>
        <p:spPr>
          <a:xfrm>
            <a:off x="6324937" y="2240280"/>
            <a:ext cx="2076994" cy="1453896"/>
          </a:xfrm>
          <a:prstGeom prst="rect">
            <a:avLst/>
          </a:prstGeom>
        </p:spPr>
      </p:pic>
      <p:sp>
        <p:nvSpPr>
          <p:cNvPr id="46" name="Word label"/>
          <p:cNvSpPr/>
          <p:nvPr/>
        </p:nvSpPr>
        <p:spPr>
          <a:xfrm>
            <a:off x="61347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fever</a:t>
            </a:r>
            <a:endParaRPr lang="en-US" sz="2000" dirty="0"/>
          </a:p>
        </p:txBody>
      </p:sp>
      <p:pic>
        <p:nvPicPr>
          <p:cNvPr id="47" name="Picture 47" descr="a cold"/>
          <p:cNvPicPr>
            <a:picLocks noChangeAspect="1"/>
          </p:cNvPicPr>
          <p:nvPr/>
        </p:nvPicPr>
        <p:blipFill>
          <a:blip r:embed="rIdQ4"/>
          <a:stretch>
            <a:fillRect/>
          </a:stretch>
        </p:blipFill>
        <p:spPr>
          <a:xfrm>
            <a:off x="9010987" y="2240280"/>
            <a:ext cx="2076994" cy="1453896"/>
          </a:xfrm>
          <a:prstGeom prst="rect">
            <a:avLst/>
          </a:prstGeom>
        </p:spPr>
      </p:pic>
      <p:sp>
        <p:nvSpPr>
          <p:cNvPr id="48" name="Word label"/>
          <p:cNvSpPr/>
          <p:nvPr/>
        </p:nvSpPr>
        <p:spPr>
          <a:xfrm>
            <a:off x="88207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cold</a:t>
            </a:r>
            <a:endParaRPr lang="en-US" sz="2000" dirty="0"/>
          </a:p>
        </p:txBody>
      </p:sp>
      <p:pic>
        <p:nvPicPr>
          <p:cNvPr id="49" name="Picture 49" descr="a cough"/>
          <p:cNvPicPr>
            <a:picLocks noChangeAspect="1"/>
          </p:cNvPicPr>
          <p:nvPr/>
        </p:nvPicPr>
        <p:blipFill>
          <a:blip r:embed="rIdQ5"/>
          <a:stretch>
            <a:fillRect/>
          </a:stretch>
        </p:blipFill>
        <p:spPr>
          <a:xfrm>
            <a:off x="2295862" y="4315968"/>
            <a:ext cx="2076994" cy="1453896"/>
          </a:xfrm>
          <a:prstGeom prst="rect">
            <a:avLst/>
          </a:prstGeom>
        </p:spPr>
      </p:pic>
      <p:sp>
        <p:nvSpPr>
          <p:cNvPr id="50" name="Word label"/>
          <p:cNvSpPr/>
          <p:nvPr/>
        </p:nvSpPr>
        <p:spPr>
          <a:xfrm>
            <a:off x="2105635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cough</a:t>
            </a:r>
            <a:endParaRPr lang="en-US" sz="2000" dirty="0"/>
          </a:p>
        </p:txBody>
      </p:sp>
      <p:pic>
        <p:nvPicPr>
          <p:cNvPr id="51" name="Picture 51" descr="a sore throat"/>
          <p:cNvPicPr>
            <a:picLocks noChangeAspect="1"/>
          </p:cNvPicPr>
          <p:nvPr/>
        </p:nvPicPr>
        <p:blipFill>
          <a:blip r:embed="rIdQ6"/>
          <a:stretch>
            <a:fillRect/>
          </a:stretch>
        </p:blipFill>
        <p:spPr>
          <a:xfrm>
            <a:off x="4981912" y="4315968"/>
            <a:ext cx="2076994" cy="1453896"/>
          </a:xfrm>
          <a:prstGeom prst="rect">
            <a:avLst/>
          </a:prstGeom>
        </p:spPr>
      </p:pic>
      <p:sp>
        <p:nvSpPr>
          <p:cNvPr id="52" name="Word label"/>
          <p:cNvSpPr/>
          <p:nvPr/>
        </p:nvSpPr>
        <p:spPr>
          <a:xfrm>
            <a:off x="4791685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sore throat</a:t>
            </a:r>
            <a:endParaRPr lang="en-US" sz="2000" dirty="0"/>
          </a:p>
        </p:txBody>
      </p:sp>
      <p:pic>
        <p:nvPicPr>
          <p:cNvPr id="53" name="Picture 53" descr="a toothache"/>
          <p:cNvPicPr>
            <a:picLocks noChangeAspect="1"/>
          </p:cNvPicPr>
          <p:nvPr/>
        </p:nvPicPr>
        <p:blipFill>
          <a:blip r:embed="rIdQ7"/>
          <a:stretch>
            <a:fillRect/>
          </a:stretch>
        </p:blipFill>
        <p:spPr>
          <a:xfrm>
            <a:off x="7667962" y="4315968"/>
            <a:ext cx="2076994" cy="1453896"/>
          </a:xfrm>
          <a:prstGeom prst="rect">
            <a:avLst/>
          </a:prstGeom>
        </p:spPr>
      </p:pic>
      <p:sp>
        <p:nvSpPr>
          <p:cNvPr id="54" name="Word label"/>
          <p:cNvSpPr/>
          <p:nvPr/>
        </p:nvSpPr>
        <p:spPr>
          <a:xfrm>
            <a:off x="7477735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toothache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have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cough!</a:t>
            </a:r>
            <a:endParaRPr lang="en-US" sz="2200" dirty="0"/>
          </a:p>
        </p:txBody>
      </p:sp>
      <p:pic>
        <p:nvPicPr>
          <p:cNvPr id="39" name="Picture 39" descr="hurts (My arm hurts.)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181437" y="2240280"/>
            <a:ext cx="1619794" cy="113385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76261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hurts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(My arm hurts.)</a:t>
            </a:r>
            <a:endParaRPr lang="en-US" sz="2000" dirty="0"/>
          </a:p>
        </p:txBody>
      </p:sp>
      <p:pic>
        <p:nvPicPr>
          <p:cNvPr id="41" name="Picture 41" descr="doctor"/>
          <p:cNvPicPr>
            <a:picLocks noChangeAspect="1"/>
          </p:cNvPicPr>
          <p:nvPr/>
        </p:nvPicPr>
        <p:blipFill>
          <a:blip r:embed="rIdQ2"/>
          <a:stretch>
            <a:fillRect/>
          </a:stretch>
        </p:blipFill>
        <p:spPr>
          <a:xfrm>
            <a:off x="3867487" y="2240280"/>
            <a:ext cx="1619794" cy="113385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344866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doctor</a:t>
            </a:r>
            <a:endParaRPr lang="en-US" sz="2000" dirty="0"/>
          </a:p>
        </p:txBody>
      </p:sp>
      <p:pic>
        <p:nvPicPr>
          <p:cNvPr id="43" name="Picture 43" descr="dentist"/>
          <p:cNvPicPr>
            <a:picLocks noChangeAspect="1"/>
          </p:cNvPicPr>
          <p:nvPr/>
        </p:nvPicPr>
        <p:blipFill>
          <a:blip r:embed="rIdQ3"/>
          <a:stretch>
            <a:fillRect/>
          </a:stretch>
        </p:blipFill>
        <p:spPr>
          <a:xfrm>
            <a:off x="6553537" y="2240280"/>
            <a:ext cx="1619794" cy="113385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613471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dentist</a:t>
            </a:r>
            <a:endParaRPr lang="en-US" sz="2000" dirty="0"/>
          </a:p>
        </p:txBody>
      </p:sp>
      <p:pic>
        <p:nvPicPr>
          <p:cNvPr id="45" name="Picture 45" descr="medicine"/>
          <p:cNvPicPr>
            <a:picLocks noChangeAspect="1"/>
          </p:cNvPicPr>
          <p:nvPr/>
        </p:nvPicPr>
        <p:blipFill>
          <a:blip r:embed="rIdQ4"/>
          <a:stretch>
            <a:fillRect/>
          </a:stretch>
        </p:blipFill>
        <p:spPr>
          <a:xfrm>
            <a:off x="9239587" y="2240280"/>
            <a:ext cx="1619794" cy="1133856"/>
          </a:xfrm>
          <a:prstGeom prst="rect">
            <a:avLst/>
          </a:prstGeom>
        </p:spPr>
      </p:pic>
      <p:sp>
        <p:nvSpPr>
          <p:cNvPr id="46" name="Word label"/>
          <p:cNvSpPr/>
          <p:nvPr/>
        </p:nvSpPr>
        <p:spPr>
          <a:xfrm>
            <a:off x="882076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medicine</a:t>
            </a:r>
            <a:endParaRPr lang="en-US" sz="2000" dirty="0"/>
          </a:p>
        </p:txBody>
      </p:sp>
      <p:pic>
        <p:nvPicPr>
          <p:cNvPr id="47" name="Picture 47" descr="appointment"/>
          <p:cNvPicPr>
            <a:picLocks noChangeAspect="1"/>
          </p:cNvPicPr>
          <p:nvPr/>
        </p:nvPicPr>
        <p:blipFill>
          <a:blip r:embed="rIdQ5"/>
          <a:stretch>
            <a:fillRect/>
          </a:stretch>
        </p:blipFill>
        <p:spPr>
          <a:xfrm>
            <a:off x="2524462" y="4315968"/>
            <a:ext cx="1619794" cy="1133856"/>
          </a:xfrm>
          <a:prstGeom prst="rect">
            <a:avLst/>
          </a:prstGeom>
        </p:spPr>
      </p:pic>
      <p:sp>
        <p:nvSpPr>
          <p:cNvPr id="48" name="Word label"/>
          <p:cNvSpPr/>
          <p:nvPr/>
        </p:nvSpPr>
        <p:spPr>
          <a:xfrm>
            <a:off x="2105635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appointment</a:t>
            </a:r>
            <a:endParaRPr lang="en-US" sz="2000" dirty="0"/>
          </a:p>
        </p:txBody>
      </p:sp>
      <p:pic>
        <p:nvPicPr>
          <p:cNvPr id="49" name="Picture 49" descr="rest"/>
          <p:cNvPicPr>
            <a:picLocks noChangeAspect="1"/>
          </p:cNvPicPr>
          <p:nvPr/>
        </p:nvPicPr>
        <p:blipFill>
          <a:blip r:embed="rIdQ6"/>
          <a:stretch>
            <a:fillRect/>
          </a:stretch>
        </p:blipFill>
        <p:spPr>
          <a:xfrm>
            <a:off x="5210512" y="4315968"/>
            <a:ext cx="1619794" cy="1133856"/>
          </a:xfrm>
          <a:prstGeom prst="rect">
            <a:avLst/>
          </a:prstGeom>
        </p:spPr>
      </p:pic>
      <p:sp>
        <p:nvSpPr>
          <p:cNvPr id="50" name="Word label"/>
          <p:cNvSpPr/>
          <p:nvPr/>
        </p:nvSpPr>
        <p:spPr>
          <a:xfrm>
            <a:off x="4791685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rest</a:t>
            </a:r>
            <a:endParaRPr lang="en-US" sz="2000" dirty="0"/>
          </a:p>
        </p:txBody>
      </p:sp>
      <p:pic>
        <p:nvPicPr>
          <p:cNvPr id="51" name="Picture 51" descr="drink water"/>
          <p:cNvPicPr>
            <a:picLocks noChangeAspect="1"/>
          </p:cNvPicPr>
          <p:nvPr/>
        </p:nvPicPr>
        <p:blipFill>
          <a:blip r:embed="rIdQ7"/>
          <a:stretch>
            <a:fillRect/>
          </a:stretch>
        </p:blipFill>
        <p:spPr>
          <a:xfrm>
            <a:off x="7896562" y="4315968"/>
            <a:ext cx="1619794" cy="1133856"/>
          </a:xfrm>
          <a:prstGeom prst="rect">
            <a:avLst/>
          </a:prstGeom>
        </p:spPr>
      </p:pic>
      <p:sp>
        <p:nvSpPr>
          <p:cNvPr id="52" name="Word label"/>
          <p:cNvSpPr/>
          <p:nvPr/>
        </p:nvSpPr>
        <p:spPr>
          <a:xfrm>
            <a:off x="7477735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drink water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65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What's the matter?</a:t>
            </a:r>
            <a:endParaRPr lang="en-US" sz="2000" dirty="0"/>
          </a:p>
        </p:txBody>
      </p:sp>
      <p:pic>
        <p:nvPicPr>
          <p:cNvPr id="66" name="Picture 66" descr="L10_cough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274674" y="3680460"/>
            <a:ext cx="3450031" cy="2415022"/>
          </a:xfrm>
          <a:prstGeom prst="rect">
            <a:avLst/>
          </a:prstGeom>
        </p:spPr>
      </p:pic>
      <p:sp>
        <p:nvSpPr>
          <p:cNvPr id="67" name="Row shadow"/>
          <p:cNvSpPr/>
          <p:nvPr/>
        </p:nvSpPr>
        <p:spPr>
          <a:xfrm>
            <a:off x="5815584" y="1243584"/>
            <a:ext cx="598932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8" name="Row"/>
          <p:cNvSpPr/>
          <p:nvPr/>
        </p:nvSpPr>
        <p:spPr>
          <a:xfrm>
            <a:off x="5760720" y="1188720"/>
            <a:ext cx="598932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9" name="Item"/>
          <p:cNvSpPr/>
          <p:nvPr/>
        </p:nvSpPr>
        <p:spPr>
          <a:xfrm>
            <a:off x="5870448" y="1188720"/>
            <a:ext cx="47091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headache</a:t>
            </a:r>
            <a:endParaRPr lang="en-US" sz="2200" dirty="0"/>
          </a:p>
        </p:txBody>
      </p:sp>
      <p:sp>
        <p:nvSpPr>
          <p:cNvPr id="70" name="Tag 1"/>
          <p:cNvSpPr/>
          <p:nvPr/>
        </p:nvSpPr>
        <p:spPr>
          <a:xfrm>
            <a:off x="10607040" y="128016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B42318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71" name="Row shadow"/>
          <p:cNvSpPr/>
          <p:nvPr/>
        </p:nvSpPr>
        <p:spPr>
          <a:xfrm>
            <a:off x="5815584" y="2112264"/>
            <a:ext cx="598932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2" name="Row"/>
          <p:cNvSpPr/>
          <p:nvPr/>
        </p:nvSpPr>
        <p:spPr>
          <a:xfrm>
            <a:off x="5760720" y="2057400"/>
            <a:ext cx="598932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3" name="Item"/>
          <p:cNvSpPr/>
          <p:nvPr/>
        </p:nvSpPr>
        <p:spPr>
          <a:xfrm>
            <a:off x="5870448" y="2057400"/>
            <a:ext cx="47091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cough</a:t>
            </a:r>
            <a:endParaRPr lang="en-US" sz="2200" dirty="0"/>
          </a:p>
        </p:txBody>
      </p:sp>
      <p:sp>
        <p:nvSpPr>
          <p:cNvPr id="74" name="Tag 2"/>
          <p:cNvSpPr/>
          <p:nvPr/>
        </p:nvSpPr>
        <p:spPr>
          <a:xfrm>
            <a:off x="10607040" y="214884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75" name="Row shadow"/>
          <p:cNvSpPr/>
          <p:nvPr/>
        </p:nvSpPr>
        <p:spPr>
          <a:xfrm>
            <a:off x="5815584" y="2980944"/>
            <a:ext cx="598932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6" name="Row"/>
          <p:cNvSpPr/>
          <p:nvPr/>
        </p:nvSpPr>
        <p:spPr>
          <a:xfrm>
            <a:off x="5760720" y="2926080"/>
            <a:ext cx="598932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7" name="Item"/>
          <p:cNvSpPr/>
          <p:nvPr/>
        </p:nvSpPr>
        <p:spPr>
          <a:xfrm>
            <a:off x="5870448" y="2926080"/>
            <a:ext cx="47091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stomachache</a:t>
            </a:r>
            <a:endParaRPr lang="en-US" sz="2200" dirty="0"/>
          </a:p>
        </p:txBody>
      </p:sp>
      <p:sp>
        <p:nvSpPr>
          <p:cNvPr id="78" name="Tag 3"/>
          <p:cNvSpPr/>
          <p:nvPr/>
        </p:nvSpPr>
        <p:spPr>
          <a:xfrm>
            <a:off x="10607040" y="301752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B42318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79" name="Row shadow"/>
          <p:cNvSpPr/>
          <p:nvPr/>
        </p:nvSpPr>
        <p:spPr>
          <a:xfrm>
            <a:off x="5815584" y="3849624"/>
            <a:ext cx="598932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0" name="Row"/>
          <p:cNvSpPr/>
          <p:nvPr/>
        </p:nvSpPr>
        <p:spPr>
          <a:xfrm>
            <a:off x="5760720" y="3794760"/>
            <a:ext cx="598932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1" name="Item"/>
          <p:cNvSpPr/>
          <p:nvPr/>
        </p:nvSpPr>
        <p:spPr>
          <a:xfrm>
            <a:off x="5870448" y="3794760"/>
            <a:ext cx="47091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sore throat</a:t>
            </a:r>
            <a:endParaRPr lang="en-US" sz="2200" dirty="0"/>
          </a:p>
        </p:txBody>
      </p:sp>
      <p:sp>
        <p:nvSpPr>
          <p:cNvPr id="82" name="Tag 4"/>
          <p:cNvSpPr/>
          <p:nvPr/>
        </p:nvSpPr>
        <p:spPr>
          <a:xfrm>
            <a:off x="10607040" y="38862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83" name="Row shadow"/>
          <p:cNvSpPr/>
          <p:nvPr/>
        </p:nvSpPr>
        <p:spPr>
          <a:xfrm>
            <a:off x="5815584" y="4718304"/>
            <a:ext cx="598932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4" name="Row"/>
          <p:cNvSpPr/>
          <p:nvPr/>
        </p:nvSpPr>
        <p:spPr>
          <a:xfrm>
            <a:off x="5760720" y="4663440"/>
            <a:ext cx="598932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5" name="Item"/>
          <p:cNvSpPr/>
          <p:nvPr/>
        </p:nvSpPr>
        <p:spPr>
          <a:xfrm>
            <a:off x="5870448" y="4663440"/>
            <a:ext cx="47091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fever</a:t>
            </a:r>
            <a:endParaRPr lang="en-US" sz="2200" dirty="0"/>
          </a:p>
        </p:txBody>
      </p:sp>
      <p:sp>
        <p:nvSpPr>
          <p:cNvPr id="86" name="Tag 5"/>
          <p:cNvSpPr/>
          <p:nvPr/>
        </p:nvSpPr>
        <p:spPr>
          <a:xfrm>
            <a:off x="10607040" y="475488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87" name="Row shadow"/>
          <p:cNvSpPr/>
          <p:nvPr/>
        </p:nvSpPr>
        <p:spPr>
          <a:xfrm>
            <a:off x="5815584" y="5586984"/>
            <a:ext cx="598932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8" name="Row"/>
          <p:cNvSpPr/>
          <p:nvPr/>
        </p:nvSpPr>
        <p:spPr>
          <a:xfrm>
            <a:off x="5760720" y="5532120"/>
            <a:ext cx="598932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9" name="Item"/>
          <p:cNvSpPr/>
          <p:nvPr/>
        </p:nvSpPr>
        <p:spPr>
          <a:xfrm>
            <a:off x="5870448" y="5532120"/>
            <a:ext cx="47091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toothache</a:t>
            </a:r>
            <a:endParaRPr lang="en-US" sz="2200" dirty="0"/>
          </a:p>
        </p:txBody>
      </p:sp>
      <p:sp>
        <p:nvSpPr>
          <p:cNvPr id="90" name="Tag 6"/>
          <p:cNvSpPr/>
          <p:nvPr/>
        </p:nvSpPr>
        <p:spPr>
          <a:xfrm>
            <a:off x="10607040" y="562356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B42318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 or False?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67" name="Statement 1"/>
          <p:cNvSpPr/>
          <p:nvPr/>
        </p:nvSpPr>
        <p:spPr>
          <a:xfrm>
            <a:off x="502920" y="2834640"/>
            <a:ext cx="5303520" cy="62179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Marco wants an appointment.</a:t>
            </a:r>
            <a:endParaRPr lang="en-US" sz="2000" dirty="0"/>
          </a:p>
        </p:txBody>
      </p:sp>
      <p:sp>
        <p:nvSpPr>
          <p:cNvPr id="68" name="Option 11"/>
          <p:cNvSpPr/>
          <p:nvPr/>
        </p:nvSpPr>
        <p:spPr>
          <a:xfrm>
            <a:off x="5852160" y="2880360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69" name="Option 12"/>
          <p:cNvSpPr/>
          <p:nvPr/>
        </p:nvSpPr>
        <p:spPr>
          <a:xfrm>
            <a:off x="7269480" y="2880360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70" name="Circle 1"/>
          <p:cNvSpPr/>
          <p:nvPr/>
        </p:nvSpPr>
        <p:spPr>
          <a:xfrm>
            <a:off x="5724144" y="2816352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1" name="Statement 2"/>
          <p:cNvSpPr/>
          <p:nvPr/>
        </p:nvSpPr>
        <p:spPr>
          <a:xfrm>
            <a:off x="502920" y="3566160"/>
            <a:ext cx="5303520" cy="62179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He got sick yesterday.</a:t>
            </a:r>
            <a:endParaRPr lang="en-US" sz="2000" dirty="0"/>
          </a:p>
        </p:txBody>
      </p:sp>
      <p:sp>
        <p:nvSpPr>
          <p:cNvPr id="72" name="Option 21"/>
          <p:cNvSpPr/>
          <p:nvPr/>
        </p:nvSpPr>
        <p:spPr>
          <a:xfrm>
            <a:off x="5852160" y="3611880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73" name="Option 22"/>
          <p:cNvSpPr/>
          <p:nvPr/>
        </p:nvSpPr>
        <p:spPr>
          <a:xfrm>
            <a:off x="7269480" y="3611880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74" name="Circle 2"/>
          <p:cNvSpPr/>
          <p:nvPr/>
        </p:nvSpPr>
        <p:spPr>
          <a:xfrm>
            <a:off x="7141464" y="3547872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5" name="Fix 2"/>
          <p:cNvSpPr/>
          <p:nvPr/>
        </p:nvSpPr>
        <p:spPr>
          <a:xfrm>
            <a:off x="8732520" y="3566160"/>
            <a:ext cx="2194560" cy="62179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Three days ago.</a:t>
            </a:r>
            <a:endParaRPr lang="en-US" sz="2000" dirty="0"/>
          </a:p>
        </p:txBody>
      </p:sp>
      <p:sp>
        <p:nvSpPr>
          <p:cNvPr id="76" name="Statement 3"/>
          <p:cNvSpPr/>
          <p:nvPr/>
        </p:nvSpPr>
        <p:spPr>
          <a:xfrm>
            <a:off x="502920" y="4297680"/>
            <a:ext cx="5303520" cy="62179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He can come at 10:15.</a:t>
            </a:r>
            <a:endParaRPr lang="en-US" sz="2000" dirty="0"/>
          </a:p>
        </p:txBody>
      </p:sp>
      <p:sp>
        <p:nvSpPr>
          <p:cNvPr id="77" name="Option 31"/>
          <p:cNvSpPr/>
          <p:nvPr/>
        </p:nvSpPr>
        <p:spPr>
          <a:xfrm>
            <a:off x="5852160" y="4343400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78" name="Option 32"/>
          <p:cNvSpPr/>
          <p:nvPr/>
        </p:nvSpPr>
        <p:spPr>
          <a:xfrm>
            <a:off x="7269480" y="4343400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79" name="Circle 3"/>
          <p:cNvSpPr/>
          <p:nvPr/>
        </p:nvSpPr>
        <p:spPr>
          <a:xfrm>
            <a:off x="7141464" y="4279392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0" name="Fix 3"/>
          <p:cNvSpPr/>
          <p:nvPr/>
        </p:nvSpPr>
        <p:spPr>
          <a:xfrm>
            <a:off x="8732520" y="4297680"/>
            <a:ext cx="2194560" cy="62179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can't.</a:t>
            </a:r>
            <a:endParaRPr lang="en-US" sz="2000" dirty="0"/>
          </a:p>
        </p:txBody>
      </p:sp>
      <p:sp>
        <p:nvSpPr>
          <p:cNvPr id="81" name="Statement 4"/>
          <p:cNvSpPr/>
          <p:nvPr/>
        </p:nvSpPr>
        <p:spPr>
          <a:xfrm>
            <a:off x="502920" y="5029200"/>
            <a:ext cx="5303520" cy="62179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His appointment is at 3:30.</a:t>
            </a:r>
            <a:endParaRPr lang="en-US" sz="2000" dirty="0"/>
          </a:p>
        </p:txBody>
      </p:sp>
      <p:sp>
        <p:nvSpPr>
          <p:cNvPr id="82" name="Option 41"/>
          <p:cNvSpPr/>
          <p:nvPr/>
        </p:nvSpPr>
        <p:spPr>
          <a:xfrm>
            <a:off x="5852160" y="5074920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83" name="Option 42"/>
          <p:cNvSpPr/>
          <p:nvPr/>
        </p:nvSpPr>
        <p:spPr>
          <a:xfrm>
            <a:off x="7269480" y="5074920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84" name="Circle 4"/>
          <p:cNvSpPr/>
          <p:nvPr/>
        </p:nvSpPr>
        <p:spPr>
          <a:xfrm>
            <a:off x="5724144" y="5010912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5" name="Statement 5"/>
          <p:cNvSpPr/>
          <p:nvPr/>
        </p:nvSpPr>
        <p:spPr>
          <a:xfrm>
            <a:off x="502920" y="5760720"/>
            <a:ext cx="5303520" cy="62179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 He should go to work today.</a:t>
            </a:r>
            <a:endParaRPr lang="en-US" sz="2000" dirty="0"/>
          </a:p>
        </p:txBody>
      </p:sp>
      <p:sp>
        <p:nvSpPr>
          <p:cNvPr id="86" name="Option 51"/>
          <p:cNvSpPr/>
          <p:nvPr/>
        </p:nvSpPr>
        <p:spPr>
          <a:xfrm>
            <a:off x="5852160" y="5806440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87" name="Option 52"/>
          <p:cNvSpPr/>
          <p:nvPr/>
        </p:nvSpPr>
        <p:spPr>
          <a:xfrm>
            <a:off x="7269480" y="5806440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88" name="Circle 5"/>
          <p:cNvSpPr/>
          <p:nvPr/>
        </p:nvSpPr>
        <p:spPr>
          <a:xfrm>
            <a:off x="7141464" y="5742432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9" name="Fix 5"/>
          <p:cNvSpPr/>
          <p:nvPr/>
        </p:nvSpPr>
        <p:spPr>
          <a:xfrm>
            <a:off x="8732520" y="5760720"/>
            <a:ext cx="2194560" cy="62179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shouldn't.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977640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828032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678424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4033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sorry. What's the ____?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977640"/>
            <a:ext cx="3648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Three days ____.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828032"/>
            <a:ext cx="34033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____ rest and drink a lot of water.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678424"/>
            <a:ext cx="291510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____ go to work today.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27248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977640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977640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828032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828032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678424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678424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a good idea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shouldn't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not a good idea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42" name="Answer 1"/>
          <p:cNvSpPr/>
          <p:nvPr/>
        </p:nvSpPr>
        <p:spPr>
          <a:xfrm>
            <a:off x="5287061" y="3278124"/>
            <a:ext cx="1296619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matter</a:t>
            </a:r>
            <a:endParaRPr lang="en-US" sz="2200" dirty="0"/>
          </a:p>
        </p:txBody>
      </p:sp>
      <p:sp>
        <p:nvSpPr>
          <p:cNvPr id="43" name="Answer 2"/>
          <p:cNvSpPr/>
          <p:nvPr/>
        </p:nvSpPr>
        <p:spPr>
          <a:xfrm>
            <a:off x="5532120" y="4128516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ago</a:t>
            </a:r>
            <a:endParaRPr lang="en-US" sz="2200" dirty="0"/>
          </a:p>
        </p:txBody>
      </p:sp>
      <p:sp>
        <p:nvSpPr>
          <p:cNvPr id="44" name="Answer 3"/>
          <p:cNvSpPr/>
          <p:nvPr/>
        </p:nvSpPr>
        <p:spPr>
          <a:xfrm>
            <a:off x="5287061" y="4978908"/>
            <a:ext cx="1296619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endParaRPr lang="en-US" sz="2200" dirty="0"/>
          </a:p>
        </p:txBody>
      </p:sp>
      <p:sp>
        <p:nvSpPr>
          <p:cNvPr id="45" name="Answer 4"/>
          <p:cNvSpPr/>
          <p:nvPr/>
        </p:nvSpPr>
        <p:spPr>
          <a:xfrm>
            <a:off x="4798771" y="5829300"/>
            <a:ext cx="1784909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shouldn't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should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do?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 +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base verb</a:t>
            </a:r>
            <a:endParaRPr lang="en-US" sz="2000" dirty="0"/>
          </a:p>
        </p:txBody>
      </p:sp>
      <p:pic>
        <p:nvPicPr>
          <p:cNvPr id="65" name="Picture 65" descr="L10_res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66" name="Wh"/>
          <p:cNvSpPr/>
          <p:nvPr/>
        </p:nvSpPr>
        <p:spPr>
          <a:xfrm>
            <a:off x="3520440" y="4114800"/>
            <a:ext cx="90799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67" name="Highlight"/>
          <p:cNvSpPr/>
          <p:nvPr/>
        </p:nvSpPr>
        <p:spPr>
          <a:xfrm>
            <a:off x="4428439" y="4114800"/>
            <a:ext cx="1306495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8" name="Helper"/>
          <p:cNvSpPr/>
          <p:nvPr/>
        </p:nvSpPr>
        <p:spPr>
          <a:xfrm>
            <a:off x="4428439" y="4114800"/>
            <a:ext cx="130649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endParaRPr lang="en-US" sz="2200" dirty="0"/>
          </a:p>
        </p:txBody>
      </p:sp>
      <p:sp>
        <p:nvSpPr>
          <p:cNvPr id="69" name="Rest"/>
          <p:cNvSpPr/>
          <p:nvPr/>
        </p:nvSpPr>
        <p:spPr>
          <a:xfrm>
            <a:off x="5789798" y="4114800"/>
            <a:ext cx="9372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do?</a:t>
            </a:r>
            <a:endParaRPr lang="en-US" sz="2200" dirty="0"/>
          </a:p>
        </p:txBody>
      </p:sp>
      <p:sp>
        <p:nvSpPr>
          <p:cNvPr id="70" name="Wh"/>
          <p:cNvSpPr/>
          <p:nvPr/>
        </p:nvSpPr>
        <p:spPr>
          <a:xfrm>
            <a:off x="3520440" y="4846320"/>
            <a:ext cx="90799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71" name="Highlight"/>
          <p:cNvSpPr/>
          <p:nvPr/>
        </p:nvSpPr>
        <p:spPr>
          <a:xfrm>
            <a:off x="4428439" y="4846320"/>
            <a:ext cx="1306495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2" name="Helper"/>
          <p:cNvSpPr/>
          <p:nvPr/>
        </p:nvSpPr>
        <p:spPr>
          <a:xfrm>
            <a:off x="4428439" y="4846320"/>
            <a:ext cx="130649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endParaRPr lang="en-US" sz="2200" dirty="0"/>
          </a:p>
        </p:txBody>
      </p:sp>
      <p:sp>
        <p:nvSpPr>
          <p:cNvPr id="73" name="Rest"/>
          <p:cNvSpPr/>
          <p:nvPr/>
        </p:nvSpPr>
        <p:spPr>
          <a:xfrm>
            <a:off x="5789798" y="4846320"/>
            <a:ext cx="108813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do?</a:t>
            </a:r>
            <a:endParaRPr lang="en-US" sz="2200" dirty="0"/>
          </a:p>
        </p:txBody>
      </p:sp>
      <p:sp>
        <p:nvSpPr>
          <p:cNvPr id="74" name="Wh"/>
          <p:cNvSpPr/>
          <p:nvPr/>
        </p:nvSpPr>
        <p:spPr>
          <a:xfrm>
            <a:off x="3520440" y="5577840"/>
            <a:ext cx="90799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75" name="Highlight"/>
          <p:cNvSpPr/>
          <p:nvPr/>
        </p:nvSpPr>
        <p:spPr>
          <a:xfrm>
            <a:off x="4428439" y="5577840"/>
            <a:ext cx="1306495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6" name="Helper"/>
          <p:cNvSpPr/>
          <p:nvPr/>
        </p:nvSpPr>
        <p:spPr>
          <a:xfrm>
            <a:off x="4428439" y="5577840"/>
            <a:ext cx="130649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endParaRPr lang="en-US" sz="2200" dirty="0"/>
          </a:p>
        </p:txBody>
      </p:sp>
      <p:sp>
        <p:nvSpPr>
          <p:cNvPr id="77" name="Rest"/>
          <p:cNvSpPr/>
          <p:nvPr/>
        </p:nvSpPr>
        <p:spPr>
          <a:xfrm>
            <a:off x="5789798" y="5577840"/>
            <a:ext cx="123901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do?</a:t>
            </a:r>
            <a:endParaRPr lang="en-US" sz="2200" dirty="0"/>
          </a:p>
        </p:txBody>
      </p:sp>
      <p:sp>
        <p:nvSpPr>
          <p:cNvPr id="78" name="Card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Advice</a:t>
            </a:r>
            <a:endParaRPr lang="en-US" sz="2400" dirty="0"/>
          </a:p>
        </p:txBody>
      </p:sp>
      <p:sp>
        <p:nvSpPr>
          <p:cNvPr id="79" name="Card item"/>
          <p:cNvSpPr/>
          <p:nvPr/>
        </p:nvSpPr>
        <p:spPr>
          <a:xfrm>
            <a:off x="8549640" y="1920240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rest.</a:t>
            </a:r>
            <a:endParaRPr lang="en-US" sz="2000" dirty="0"/>
          </a:p>
        </p:txBody>
      </p:sp>
      <p:sp>
        <p:nvSpPr>
          <p:cNvPr id="80" name="Card item"/>
          <p:cNvSpPr/>
          <p:nvPr/>
        </p:nvSpPr>
        <p:spPr>
          <a:xfrm>
            <a:off x="8549640" y="2404872"/>
            <a:ext cx="3017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see a doctor.</a:t>
            </a:r>
            <a:endParaRPr lang="en-US" sz="2000" dirty="0"/>
          </a:p>
        </p:txBody>
      </p:sp>
      <p:sp>
        <p:nvSpPr>
          <p:cNvPr id="81" name="Card item"/>
          <p:cNvSpPr/>
          <p:nvPr/>
        </p:nvSpPr>
        <p:spPr>
          <a:xfrm>
            <a:off x="8549640" y="3209544"/>
            <a:ext cx="3017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shouldn't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go to work.</a:t>
            </a:r>
            <a:endParaRPr lang="en-US" sz="2000" dirty="0"/>
          </a:p>
        </p:txBody>
      </p:sp>
      <p:sp>
        <p:nvSpPr>
          <p:cNvPr id="82" name="Example"/>
          <p:cNvSpPr/>
          <p:nvPr/>
        </p:nvSpPr>
        <p:spPr>
          <a:xfrm>
            <a:off x="8549640" y="5394960"/>
            <a:ext cx="30175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No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your ... hurt?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44" name="Picture 44" descr="L10_hurts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99516" y="2264969"/>
            <a:ext cx="3326587" cy="2328611"/>
          </a:xfrm>
          <a:prstGeom prst="rect">
            <a:avLst/>
          </a:prstGeom>
        </p:spPr>
      </p:pic>
      <p:sp>
        <p:nvSpPr>
          <p:cNvPr id="45" name="Highlight"/>
          <p:cNvSpPr/>
          <p:nvPr/>
        </p:nvSpPr>
        <p:spPr>
          <a:xfrm>
            <a:off x="5138928" y="38999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6" name="Helper"/>
          <p:cNvSpPr/>
          <p:nvPr/>
        </p:nvSpPr>
        <p:spPr>
          <a:xfrm>
            <a:off x="5138928" y="37490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600" dirty="0"/>
          </a:p>
        </p:txBody>
      </p:sp>
      <p:sp>
        <p:nvSpPr>
          <p:cNvPr id="47" name="Question"/>
          <p:cNvSpPr/>
          <p:nvPr/>
        </p:nvSpPr>
        <p:spPr>
          <a:xfrm>
            <a:off x="6144768" y="37490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head hurt?</a:t>
            </a:r>
            <a:endParaRPr lang="en-US" sz="2200" dirty="0"/>
          </a:p>
        </p:txBody>
      </p:sp>
      <p:sp>
        <p:nvSpPr>
          <p:cNvPr id="49" name="Answer bg"/>
          <p:cNvSpPr/>
          <p:nvPr/>
        </p:nvSpPr>
        <p:spPr>
          <a:xfrm>
            <a:off x="8668512" y="37490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8" name="Answer"/>
          <p:cNvSpPr/>
          <p:nvPr/>
        </p:nvSpPr>
        <p:spPr>
          <a:xfrm>
            <a:off x="8668512" y="37490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it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it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50" name="Highlight"/>
          <p:cNvSpPr/>
          <p:nvPr/>
        </p:nvSpPr>
        <p:spPr>
          <a:xfrm>
            <a:off x="5138928" y="48143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Helper"/>
          <p:cNvSpPr/>
          <p:nvPr/>
        </p:nvSpPr>
        <p:spPr>
          <a:xfrm>
            <a:off x="5138928" y="46634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600" dirty="0"/>
          </a:p>
        </p:txBody>
      </p:sp>
      <p:sp>
        <p:nvSpPr>
          <p:cNvPr id="52" name="Question"/>
          <p:cNvSpPr/>
          <p:nvPr/>
        </p:nvSpPr>
        <p:spPr>
          <a:xfrm>
            <a:off x="6144768" y="46634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arm hurt?</a:t>
            </a:r>
            <a:endParaRPr lang="en-US" sz="2200" dirty="0"/>
          </a:p>
        </p:txBody>
      </p:sp>
      <p:sp>
        <p:nvSpPr>
          <p:cNvPr id="54" name="Answer bg"/>
          <p:cNvSpPr/>
          <p:nvPr/>
        </p:nvSpPr>
        <p:spPr>
          <a:xfrm>
            <a:off x="8668512" y="46634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3" name="Answer"/>
          <p:cNvSpPr/>
          <p:nvPr/>
        </p:nvSpPr>
        <p:spPr>
          <a:xfrm>
            <a:off x="8668512" y="46634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it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it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55" name="Highlight"/>
          <p:cNvSpPr/>
          <p:nvPr/>
        </p:nvSpPr>
        <p:spPr>
          <a:xfrm>
            <a:off x="5138928" y="57287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6" name="Helper"/>
          <p:cNvSpPr/>
          <p:nvPr/>
        </p:nvSpPr>
        <p:spPr>
          <a:xfrm>
            <a:off x="5138928" y="55778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600" dirty="0"/>
          </a:p>
        </p:txBody>
      </p:sp>
      <p:sp>
        <p:nvSpPr>
          <p:cNvPr id="57" name="Question"/>
          <p:cNvSpPr/>
          <p:nvPr/>
        </p:nvSpPr>
        <p:spPr>
          <a:xfrm>
            <a:off x="6144768" y="55778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feet hurt?</a:t>
            </a:r>
            <a:endParaRPr lang="en-US" sz="2200" dirty="0"/>
          </a:p>
        </p:txBody>
      </p:sp>
      <p:sp>
        <p:nvSpPr>
          <p:cNvPr id="59" name="Answer bg"/>
          <p:cNvSpPr/>
          <p:nvPr/>
        </p:nvSpPr>
        <p:spPr>
          <a:xfrm>
            <a:off x="8668512" y="55778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Answer"/>
          <p:cNvSpPr/>
          <p:nvPr/>
        </p:nvSpPr>
        <p:spPr>
          <a:xfrm>
            <a:off x="8668512" y="55778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they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they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the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Matter?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42" name="Picture 42" descr="L10_headache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598664" y="1216152"/>
            <a:ext cx="3254350" cy="2278045"/>
          </a:xfrm>
          <a:prstGeom prst="rect">
            <a:avLst/>
          </a:prstGeom>
        </p:spPr>
      </p:pic>
      <p:sp>
        <p:nvSpPr>
          <p:cNvPr id="43" name="Q head"/>
          <p:cNvSpPr/>
          <p:nvPr/>
        </p:nvSpPr>
        <p:spPr>
          <a:xfrm>
            <a:off x="1920240" y="3794760"/>
            <a:ext cx="40233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44" name="A head"/>
          <p:cNvSpPr/>
          <p:nvPr/>
        </p:nvSpPr>
        <p:spPr>
          <a:xfrm>
            <a:off x="7040880" y="379476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45" name="Highlight"/>
          <p:cNvSpPr/>
          <p:nvPr/>
        </p:nvSpPr>
        <p:spPr>
          <a:xfrm>
            <a:off x="1481328" y="4453128"/>
            <a:ext cx="3035808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6" name="Question"/>
          <p:cNvSpPr/>
          <p:nvPr/>
        </p:nvSpPr>
        <p:spPr>
          <a:xfrm>
            <a:off x="1481328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matter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200" dirty="0"/>
          </a:p>
        </p:txBody>
      </p:sp>
      <p:sp>
        <p:nvSpPr>
          <p:cNvPr id="48" name="Answer bg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7" name="Answer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headache.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head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hurts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9" name="Highlight"/>
          <p:cNvSpPr/>
          <p:nvPr/>
        </p:nvSpPr>
        <p:spPr>
          <a:xfrm>
            <a:off x="1481328" y="5367528"/>
            <a:ext cx="2281428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Question"/>
          <p:cNvSpPr/>
          <p:nvPr/>
        </p:nvSpPr>
        <p:spPr>
          <a:xfrm>
            <a:off x="1481328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wrong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200" dirty="0"/>
          </a:p>
        </p:txBody>
      </p:sp>
      <p:sp>
        <p:nvSpPr>
          <p:cNvPr id="52" name="Answer bg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Answer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cold.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feet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hurt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706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706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706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706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7" name="Picture 37" descr="L10_fever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8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9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40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headache.</a:t>
            </a:r>
            <a:endParaRPr lang="en-US" sz="2200" dirty="0"/>
          </a:p>
        </p:txBody>
      </p:sp>
      <p:sp>
        <p:nvSpPr>
          <p:cNvPr id="41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headache.</a:t>
            </a:r>
            <a:endParaRPr lang="en-US" sz="2200" dirty="0"/>
          </a:p>
        </p:txBody>
      </p:sp>
      <p:sp>
        <p:nvSpPr>
          <p:cNvPr id="42" name="Bad"/>
          <p:cNvSpPr/>
          <p:nvPr/>
        </p:nvSpPr>
        <p:spPr>
          <a:xfrm>
            <a:off x="914400" y="46268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head is hurting me.</a:t>
            </a:r>
            <a:endParaRPr lang="en-US" sz="2200" dirty="0"/>
          </a:p>
        </p:txBody>
      </p:sp>
      <p:sp>
        <p:nvSpPr>
          <p:cNvPr id="43" name="Good"/>
          <p:cNvSpPr/>
          <p:nvPr/>
        </p:nvSpPr>
        <p:spPr>
          <a:xfrm>
            <a:off x="4800600" y="4626864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head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hurts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4" name="Bad"/>
          <p:cNvSpPr/>
          <p:nvPr/>
        </p:nvSpPr>
        <p:spPr>
          <a:xfrm>
            <a:off x="914400" y="54589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should to rest.</a:t>
            </a:r>
            <a:endParaRPr lang="en-US" sz="2200" dirty="0"/>
          </a:p>
        </p:txBody>
      </p:sp>
      <p:sp>
        <p:nvSpPr>
          <p:cNvPr id="45" name="Good"/>
          <p:cNvSpPr/>
          <p:nvPr/>
        </p:nvSpPr>
        <p:spPr>
          <a:xfrm>
            <a:off x="4800600" y="54589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should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706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706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706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706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7" name="Picture 37" descr="L10_sore_throa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8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9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40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shoulds go.</a:t>
            </a:r>
            <a:endParaRPr lang="en-US" sz="2200" dirty="0"/>
          </a:p>
        </p:txBody>
      </p:sp>
      <p:sp>
        <p:nvSpPr>
          <p:cNvPr id="41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go.</a:t>
            </a:r>
            <a:endParaRPr lang="en-US" sz="2200" dirty="0"/>
          </a:p>
        </p:txBody>
      </p:sp>
      <p:sp>
        <p:nvSpPr>
          <p:cNvPr id="42" name="Bad"/>
          <p:cNvSpPr/>
          <p:nvPr/>
        </p:nvSpPr>
        <p:spPr>
          <a:xfrm>
            <a:off x="914400" y="46268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pain in my throat.</a:t>
            </a:r>
            <a:endParaRPr lang="en-US" sz="2200" dirty="0"/>
          </a:p>
        </p:txBody>
      </p:sp>
      <p:sp>
        <p:nvSpPr>
          <p:cNvPr id="43" name="Good"/>
          <p:cNvSpPr/>
          <p:nvPr/>
        </p:nvSpPr>
        <p:spPr>
          <a:xfrm>
            <a:off x="4800600" y="4626864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sore throat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4" name="Bad"/>
          <p:cNvSpPr/>
          <p:nvPr/>
        </p:nvSpPr>
        <p:spPr>
          <a:xfrm>
            <a:off x="914400" y="54589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feet hurts.</a:t>
            </a:r>
            <a:endParaRPr lang="en-US" sz="2200" dirty="0"/>
          </a:p>
        </p:txBody>
      </p:sp>
      <p:sp>
        <p:nvSpPr>
          <p:cNvPr id="45" name="Good"/>
          <p:cNvSpPr/>
          <p:nvPr/>
        </p:nvSpPr>
        <p:spPr>
          <a:xfrm>
            <a:off x="4800600" y="54589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feet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hurt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Quick Check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have, hurt, or should?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should ___. (rest / to rest)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headache. OK?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legs ___. (hurt / hurts)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1" name="Answer"/>
          <p:cNvSpPr/>
          <p:nvPr/>
        </p:nvSpPr>
        <p:spPr>
          <a:xfrm>
            <a:off x="9601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rest</a:t>
            </a:r>
            <a:endParaRPr lang="en-US" sz="2200" dirty="0"/>
          </a:p>
        </p:txBody>
      </p:sp>
      <p:sp>
        <p:nvSpPr>
          <p:cNvPr id="32" name="Answer"/>
          <p:cNvSpPr/>
          <p:nvPr/>
        </p:nvSpPr>
        <p:spPr>
          <a:xfrm>
            <a:off x="4617720" y="4709160"/>
            <a:ext cx="260604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No: a headache</a:t>
            </a:r>
            <a:endParaRPr lang="en-US" sz="2200" dirty="0"/>
          </a:p>
        </p:txBody>
      </p:sp>
      <p:sp>
        <p:nvSpPr>
          <p:cNvPr id="33" name="Answer"/>
          <p:cNvSpPr/>
          <p:nvPr/>
        </p:nvSpPr>
        <p:spPr>
          <a:xfrm>
            <a:off x="82753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hurt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 · Appointments</a:t>
            </a:r>
            <a:endParaRPr lang="en-US" sz="2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Make an Appointment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come at 10:15?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Sorry, 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there a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later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time?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about 3:30?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3:30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fine.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Thank you.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10:15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3:30</a:t>
            </a:r>
            <a:endParaRPr lang="en-US" sz="6000" dirty="0"/>
          </a:p>
        </p:txBody>
      </p:sp>
      <p:pic>
        <p:nvPicPr>
          <p:cNvPr id="23" name="Picture 23" descr="L10_appointmen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49224" y="2871216"/>
            <a:ext cx="2825496" cy="197784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the Clinic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the role card.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2" name="Picture 32" descr="L10_medicine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22376" y="3418942"/>
            <a:ext cx="3882542" cy="2717780"/>
          </a:xfrm>
          <a:prstGeom prst="rect">
            <a:avLst/>
          </a:prstGeom>
        </p:spPr>
      </p:pic>
      <p:sp>
        <p:nvSpPr>
          <p:cNvPr id="33" name="Step num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34" name="Step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 patient card.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 What's the matter?</a:t>
            </a:r>
            <a:endParaRPr lang="en-US" sz="2000" dirty="0"/>
          </a:p>
        </p:txBody>
      </p:sp>
      <p:sp>
        <p:nvSpPr>
          <p:cNvPr id="35" name="Step num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36" name="Step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offers a time.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about 3:30?</a:t>
            </a:r>
            <a:endParaRPr lang="en-US" sz="2000" dirty="0"/>
          </a:p>
        </p:txBody>
      </p:sp>
      <p:sp>
        <p:nvSpPr>
          <p:cNvPr id="37" name="Step num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38" name="Step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Switch. New partner.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should …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0" name="Picture 30" descr="L10_drink_water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31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32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33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problem: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have… / My … hurts.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advice: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should…</a:t>
            </a:r>
            <a:endParaRPr lang="en-US" sz="2000" dirty="0"/>
          </a:p>
        </p:txBody>
      </p:sp>
      <p:sp>
        <p:nvSpPr>
          <p:cNvPr id="34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35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36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4 problems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and advice for each.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a phone call: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make an appointment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(4–6 lines).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2000" dirty="0"/>
          </a:p>
        </p:txBody>
      </p:sp>
      <p:sp>
        <p:nvSpPr>
          <p:cNvPr id="17" name="AudioFontCredits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Chatterbox TTS (Resemble AI, MIT); AI voices with a Perth watermark. Font: Lexend Deca (OFL 1.1). Provided as-is, without warranty.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10 (Week 11): Health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