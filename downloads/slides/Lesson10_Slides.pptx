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67" r:id="rId13"/>
    <p:sldId id="265" r:id="rId11"/>
    <p:sldId id="276" r:id="rId27"/>
    <p:sldId id="268" r:id="rId14"/>
    <p:sldId id="272" r:id="rId18"/>
    <p:sldId id="277" r:id="rId28"/>
    <p:sldId id="259" r:id="rId5"/>
    <p:sldId id="260" r:id="rId6"/>
    <p:sldId id="264" r:id="rId10"/>
    <p:sldId id="261" r:id="rId7"/>
    <p:sldId id="278" r:id="rId29"/>
    <p:sldId id="262" r:id="rId8"/>
    <p:sldId id="266" r:id="rId12"/>
    <p:sldId id="270" r:id="rId16"/>
    <p:sldId id="271" r:id="rId17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5" Type="http://schemas.openxmlformats.org/officeDocument/2006/relationships/slide" Target="slides/slide9.xml"/><Relationship Id="rId6" Type="http://schemas.openxmlformats.org/officeDocument/2006/relationships/slide" Target="slides/slide10.xml"/><Relationship Id="rId7" Type="http://schemas.openxmlformats.org/officeDocument/2006/relationships/slide" Target="slides/slide12.xml"/><Relationship Id="rId8" Type="http://schemas.openxmlformats.org/officeDocument/2006/relationships/slide" Target="slides/slide14.xml"/><Relationship Id="rId10" Type="http://schemas.openxmlformats.org/officeDocument/2006/relationships/slide" Target="slides/slide11.xml"/><Relationship Id="rId11" Type="http://schemas.openxmlformats.org/officeDocument/2006/relationships/slide" Target="slides/slide4.xml"/><Relationship Id="rId12" Type="http://schemas.openxmlformats.org/officeDocument/2006/relationships/slide" Target="slides/slide15.xml"/><Relationship Id="rId13" Type="http://schemas.openxmlformats.org/officeDocument/2006/relationships/slide" Target="slides/slide3.xml"/><Relationship Id="rId14" Type="http://schemas.openxmlformats.org/officeDocument/2006/relationships/slide" Target="slides/slide6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7.xml"/><Relationship Id="rId20" Type="http://schemas.openxmlformats.org/officeDocument/2006/relationships/slide" Target="slides/slide18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slide" Target="slides/slide5.xml"/><Relationship Id="rId28" Type="http://schemas.openxmlformats.org/officeDocument/2006/relationships/slide" Target="slides/slide8.xml"/><Relationship Id="rId29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back. Read the goals together; learners repeat.</a:t>
            </a:r>
          </a:p>
          <a:p>
            <a:r>
              <a:rPr lang="en-US" dirty="0"/>
              <a:t>Objectives: name common health problems (a headache, a cold, a fever…); say I have a… / My … hurts; give and ask for advice with should / shouldn't; make a simple appointment on the phone.</a:t>
            </a:r>
          </a:p>
          <a:p>
            <a:r>
              <a:rPr lang="en-US" dirty="0"/>
              <a:t>Language practice only, not medical advice. Use invented role cards. Never ask learners about their real health or medicines.</a:t>
            </a:r>
          </a:p>
          <a:p>
            <a:r>
              <a:rPr lang="en-US" dirty="0"/>
              <a:t>Source: Level2_Curriculum_v5_public.md, Lesson 10 (At a glance; Teacher notes).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 · 6:00–6:10 · Opening Talk + Homework Check. Pairs (same partner for both parts).</a:t>
            </a:r>
          </a:p>
          <a:p>
            <a:r>
              <a:rPr lang="en-US" dirty="0"/>
              <a:t>Minutes 0–5 (review Lesson 9): partners ask What do you need from the store this week? How many eggs? How much rice? Each click shows one question.</a:t>
            </a:r>
          </a:p>
          <a:p>
            <a:r>
              <a:rPr lang="en-US" dirty="0"/>
              <a:t>Source: Level2_Curriculum_v5_public.md, Lesson 10 (Step 1).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4 · 6:30–6:45 · Grammar: have / hurt / should. Say: "Problems: I have a headache. Body parts: My arm hurts. Advice: You should rest. Should + base verb, the same for everyone."</a:t>
            </a:r>
          </a:p>
          <a:p>
            <a:r>
              <a:rPr lang="en-US" dirty="0"/>
              <a:t>Grammar Box 1: click 1 and click 2 highlight one pair each.</a:t>
            </a:r>
          </a:p>
          <a:p>
            <a:r>
              <a:rPr lang="en-US" dirty="0"/>
              <a:t>Q: have or hurt? have + the problem: I have a headache. hurt + body part: My back hurts. Q: hurts or hurt? One part: My arm hurts. Two or more: My feet hurt.</a:t>
            </a:r>
          </a:p>
          <a:p>
            <a:r>
              <a:rPr lang="en-US" dirty="0"/>
              <a:t>Source: Level2_Curriculum_v5_public.md, Lesson 10 (Step 4; Grammar Box 1; Questions and answers).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 Box 2: Does your … hurt? Each click highlights Does / Do and its answers.</a:t>
            </a:r>
          </a:p>
          <a:p>
            <a:r>
              <a:rPr lang="en-US" dirty="0"/>
              <a:t>More from the box: Does your back hurt? Do your eyes hurt?</a:t>
            </a:r>
          </a:p>
          <a:p>
            <a:r>
              <a:rPr lang="en-US" dirty="0"/>
              <a:t>Source: Level2_Curriculum_v5_public.md, Lesson 10 (Grammar Box 2).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Common mistakes (part 1). Each click shows the correct sentence.</a:t>
            </a:r>
          </a:p>
          <a:p>
            <a:r>
              <a:rPr lang="en-US" dirty="0"/>
              <a:t>Write the correct form on the board. Learners can read the note on their Grammar page; you don't need to explain it.</a:t>
            </a:r>
          </a:p>
          <a:p>
            <a:r>
              <a:rPr lang="en-US" dirty="0"/>
              <a:t>Source: Level2_Curriculum_v5_public.md, Lesson 10 (Common mistakes; Teacher notes).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4 check questions. Learners answer; each click shows one answer.</a:t>
            </a:r>
          </a:p>
          <a:p>
            <a:r>
              <a:rPr lang="en-US" dirty="0"/>
              <a:t>Answers: rest · No: I have a headache · hurt.</a:t>
            </a:r>
          </a:p>
          <a:p>
            <a:r>
              <a:rPr lang="en-US" dirty="0"/>
              <a:t>Short "Advice Circle" (last 5 min): A says a problem; B gives advice; C gives a different idea. If behind: skip it.</a:t>
            </a:r>
          </a:p>
          <a:p>
            <a:r>
              <a:rPr lang="en-US" dirty="0"/>
              <a:t>Source: Level2_Curriculum_v5_public.md, Lesson 10 (Step 4 Check).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 Box 3: What should I do? Each click highlights should.</a:t>
            </a:r>
          </a:p>
          <a:p>
            <a:r>
              <a:rPr lang="en-US" dirty="0"/>
              <a:t>More advice: drink water, take medicine; shouldn't eat a lot, shouldn't stay up late. Should I see a doctor? Yes, you should. / No, you shouldn't.</a:t>
            </a:r>
          </a:p>
          <a:p>
            <a:r>
              <a:rPr lang="en-US" dirty="0"/>
              <a:t>Q: should + what? The base verb, the same for everyone: She should rest. (not shoulds, not should to rest)</a:t>
            </a:r>
          </a:p>
          <a:p>
            <a:r>
              <a:rPr lang="en-US" dirty="0"/>
              <a:t>Source: Level2_Curriculum_v5_public.md, Lesson 10 (Grammar Box 3; Questions and answers).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2 · 6:10–6:18 · New Words (pairs). Point, say, repeat twice. Each click shows one word.</a:t>
            </a:r>
          </a:p>
          <a:p>
            <a:r>
              <a:rPr lang="en-US" dirty="0"/>
              <a:t>Note: a headache, a cold (with a).</a:t>
            </a:r>
          </a:p>
          <a:p>
            <a:r>
              <a:rPr lang="en-US" dirty="0"/>
              <a:t>Star words here: a headache, a fever, a cold, a cough, a sore throat.</a:t>
            </a:r>
          </a:p>
          <a:p>
            <a:r>
              <a:rPr lang="en-US" dirty="0"/>
              <a:t>Act it out: one learner acts (cough, hand on head); the partner says "You have a cough!" If behind: teach the star words only.</a:t>
            </a:r>
          </a:p>
          <a:p>
            <a:r>
              <a:rPr lang="en-US" dirty="0"/>
              <a:t>Source: Level2_Curriculum_v5_public.md, Lesson 10 (Step 2; Student Page 10 New Words).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 Box 4: Making an appointment. Click 1 and click 2 show one row each.</a:t>
            </a:r>
          </a:p>
          <a:p>
            <a:r>
              <a:rPr lang="en-US" dirty="0"/>
              <a:t>You say: I'd like to make an appointment, please. Is there a later time? / an earlier time? ___ is fine. Thank you.</a:t>
            </a:r>
          </a:p>
          <a:p>
            <a:r>
              <a:rPr lang="en-US" dirty="0"/>
              <a:t>The receptionist says: What's the matter? When did it start? How about 3:30? / tomorrow at 9? What's your name, please?</a:t>
            </a:r>
          </a:p>
          <a:p>
            <a:r>
              <a:rPr lang="en-US" dirty="0"/>
              <a:t>Source: Level2_Curriculum_v5_public.md, Lesson 10 (Grammar Box 4).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1, minutes 5–10: partners read their homework restaurant conversation as a role play.</a:t>
            </a:r>
          </a:p>
          <a:p>
            <a:r>
              <a:rPr lang="en-US" dirty="0"/>
              <a:t>Each click shows one answer. The lines review Lesson 9 (Grammar Boxes 1 and 3).</a:t>
            </a:r>
          </a:p>
          <a:p>
            <a:r>
              <a:rPr lang="en-US" dirty="0"/>
              <a:t>Teacher: write 2 corrected sentences on the board. If behind: collect the homework.</a:t>
            </a:r>
          </a:p>
          <a:p>
            <a:r>
              <a:rPr lang="en-US" dirty="0"/>
              <a:t>Source: Level2_Curriculum_v5_public.md, Lesson 10 (Step 1); Lesson 9 Homework.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3 · 6:18–6:30 · Listening + "Say it" (L10_listening.mp3, about 1:01). Audio: L10_listening.mp3 (about 1:01). The audio plays once, play again if needed. No speaker? Read the script with a volunteer learner.</a:t>
            </a:r>
          </a:p>
          <a:p>
            <a:r>
              <a:rPr lang="en-US" dirty="0"/>
              <a:t>Before you listen: "Marco is sick. He calls the clinic. What does he say?" Take 2 guesses.</a:t>
            </a:r>
          </a:p>
          <a:p>
            <a:r>
              <a:rPr lang="en-US" dirty="0"/>
              <a:t>Listen 1 → Task A (check the problems). Each click shows Yes or No.</a:t>
            </a:r>
          </a:p>
          <a:p>
            <a:r>
              <a:rPr lang="en-US" dirty="0"/>
              <a:t>Answer key: ✓ a cough, a sore throat, a fever. ✗ a headache, a stomachache, a toothache.</a:t>
            </a:r>
          </a:p>
          <a:p>
            <a:r>
              <a:rPr lang="en-US" dirty="0"/>
              <a:t>Riverside Clinic and Marco Silva are invented.</a:t>
            </a:r>
          </a:p>
          <a:p>
            <a:r>
              <a:rPr lang="en-US" dirty="0"/>
              <a:t>Source: Level2_Curriculum_v5_public.md, Lesson 10 (Step 3; Answer key; Teacher notes).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5 · 7:00–7:10 · Talk Time: At the Clinic. Pairs (15) / pairs + teacher (7–8). Each click shows one step.</a:t>
            </a:r>
          </a:p>
          <a:p>
            <a:r>
              <a:rPr lang="en-US" dirty="0"/>
              <a:t>Do: A takes a patient role card (an invented problem). B is the receptionist: What's the matter? When did it start? Then B offers a time, and A accepts or asks for another time.</a:t>
            </a:r>
          </a:p>
          <a:p>
            <a:r>
              <a:rPr lang="en-US" dirty="0"/>
              <a:t>Switch after 4 minutes. Then new partners: friend and friend: What's the matter? You should…</a:t>
            </a:r>
          </a:p>
          <a:p>
            <a:r>
              <a:rPr lang="en-US" dirty="0"/>
              <a:t>Rule: use the role card; nobody talks about their real health unless they want to. If behind: one role play only.</a:t>
            </a:r>
          </a:p>
          <a:p>
            <a:r>
              <a:rPr lang="en-US" dirty="0"/>
              <a:t>Source: Level2_Curriculum_v5_public.md, Lesson 10 (Step 5).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6 · 7:10–7:15 · Exit Ticket + Homework. NEVER SKIP.</a:t>
            </a:r>
          </a:p>
          <a:p>
            <a:r>
              <a:rPr lang="en-US" dirty="0"/>
              <a:t>Exit ticket: one problem (I have… / My … hurts) and one piece of advice with should or shouldn't.</a:t>
            </a:r>
          </a:p>
          <a:p>
            <a:r>
              <a:rPr lang="en-US" dirty="0"/>
              <a:t>Homework (10 minutes): 1. Write 4 health problems and advice for each (I have a cold. You should rest and drink water.). 2. Write a phone call to make an appointment (4–6 lines). Use an invented problem. 3. Bonus: learn the clinic and emergency numbers your program gives you.</a:t>
            </a:r>
          </a:p>
          <a:p>
            <a:r>
              <a:rPr lang="en-US" dirty="0"/>
              <a:t>Source: Level2_Curriculum_v5_public.md, Lesson 10 (Step 6; Student Page 10 Homework).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Listen 2 → Task B (true / false). Each click circles one answer and shows the correction. The audio plays once, play again if needed.</a:t>
            </a:r>
          </a:p>
          <a:p>
            <a:r>
              <a:rPr lang="en-US" dirty="0"/>
              <a:t>Answer key: 1 T; 2 F (three days ago); 3 F (he can't come at 10:15); 4 T (3:30); 5 F (he shouldn't go to work).</a:t>
            </a:r>
          </a:p>
          <a:p>
            <a:r>
              <a:rPr lang="en-US" dirty="0"/>
              <a:t>Source: Level2_Curriculum_v5_public.md, Lesson 10 (Step 3; Answer key).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Credits. Lesson content: Level 2 Adult ESL Curriculum v5, public edition, Lesson 10.</a:t>
            </a:r>
          </a:p>
          <a:p>
            <a:r>
              <a:rPr lang="en-US" dirty="0"/>
              <a:t>Image credit line copied exactly from images/CREDITS.md. Deck notice: © 2026 the authors; the authors license this deck under CC BY-NC-SA 4.0 (Section 7.2).</a:t>
            </a:r>
          </a:p>
          <a:p>
            <a:r>
              <a:rPr lang="en-US" dirty="0"/>
              <a:t>Audio and font credits: Chatterbox TTS (Resemble AI, MIT; Perth watermark), Lexend Deca (SIL OFL 1.1).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Words, part 2. Each click shows one word. Star words here: hurts (My arm hurts.), medicine, appointment.</a:t>
            </a:r>
          </a:p>
          <a:p>
            <a:r>
              <a:rPr lang="en-US" dirty="0"/>
              <a:t>Learners may want local information (clinics, low-cost care). Share a printed list from your program if it has one; don't give medical opinions.</a:t>
            </a:r>
          </a:p>
          <a:p>
            <a:r>
              <a:rPr lang="en-US" dirty="0"/>
              <a:t>Source: Level2_Curriculum_v5_public.md, Lesson 10 (Step 2; Student Page 10; Teacher notes).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Listen 3 → Task C (fill in). Each click fills one blank. The audio plays once, play again if needed.</a:t>
            </a:r>
          </a:p>
          <a:p>
            <a:r>
              <a:rPr lang="en-US" dirty="0"/>
              <a:t>Answer key: matter; ago; should; shouldn't.</a:t>
            </a:r>
          </a:p>
          <a:p>
            <a:r>
              <a:rPr lang="en-US" dirty="0"/>
              <a:t>"Say it" (1–2 min): the class repeats "What's the matter?" and "You should rest."</a:t>
            </a:r>
          </a:p>
          <a:p>
            <a:r>
              <a:rPr lang="en-US" dirty="0"/>
              <a:t>If behind: skip the third play; do Task C together.</a:t>
            </a:r>
          </a:p>
          <a:p>
            <a:r>
              <a:rPr lang="en-US" dirty="0"/>
              <a:t>Source: Level2_Curriculum_v5_public.md, Lesson 10 (Step 3; Answer key).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Common mistakes (part 2). Each click shows the correct sentence.</a:t>
            </a:r>
          </a:p>
          <a:p>
            <a:r>
              <a:rPr lang="en-US" dirty="0"/>
              <a:t>I have pain in my throat is OK, but I have a sore throat is more common.</a:t>
            </a:r>
          </a:p>
          <a:p>
            <a:r>
              <a:rPr lang="en-US" dirty="0"/>
              <a:t>Source: Level2_Curriculum_v5_public.md, Lesson 10 (Common mistakes).</a:t>
            </a:r>
          </a:p>
          <a:p>
            <a:r>
              <a:rPr lang="en-US" dirty="0"/>
              <a:t>Picture: Twemoji graphics by Twitter, Inc. and other contributors (https://github.com/jdecked/twemoji), CC BY 4.0 (https://creativecommons.org/licenses/by/4.0/); resized and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K1" Type="http://schemas.openxmlformats.org/officeDocument/2006/relationships/image" Target="../media/k_L4_right_now.png"/><Relationship Id="rIdQ1" Type="http://schemas.openxmlformats.org/officeDocument/2006/relationships/image" Target="../media/k_L10_doctor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Q1" Type="http://schemas.openxmlformats.org/officeDocument/2006/relationships/image" Target="../media/k_L9_shopping_list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4.xml.rels><?xml version='1.0' encoding='UTF-8' standalone='yes'?>
<Relationships xmlns="http://schemas.openxmlformats.org/package/2006/relationships"><Relationship Id="rIdQ1" Type="http://schemas.openxmlformats.org/officeDocument/2006/relationships/image" Target="../media/k_L10_headache.png"/><Relationship Id="rIdQ2" Type="http://schemas.openxmlformats.org/officeDocument/2006/relationships/image" Target="../media/k_L10_stomachache.png"/><Relationship Id="rIdQ3" Type="http://schemas.openxmlformats.org/officeDocument/2006/relationships/image" Target="../media/k_L10_fever.png"/><Relationship Id="rIdQ4" Type="http://schemas.openxmlformats.org/officeDocument/2006/relationships/image" Target="../media/k_L10_cold.png"/><Relationship Id="rIdQ5" Type="http://schemas.openxmlformats.org/officeDocument/2006/relationships/image" Target="../media/k_L10_cough.png"/><Relationship Id="rIdQ6" Type="http://schemas.openxmlformats.org/officeDocument/2006/relationships/image" Target="../media/k_L10_sore_throat.png"/><Relationship Id="rIdQ7" Type="http://schemas.openxmlformats.org/officeDocument/2006/relationships/image" Target="../media/k_L10_toothache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5.xml.rels><?xml version='1.0' encoding='UTF-8' standalone='yes'?>
<Relationships xmlns="http://schemas.openxmlformats.org/package/2006/relationships"><Relationship Id="rIdQ1" Type="http://schemas.openxmlformats.org/officeDocument/2006/relationships/image" Target="../media/k_L10_hurts.png"/><Relationship Id="rIdQ2" Type="http://schemas.openxmlformats.org/officeDocument/2006/relationships/image" Target="../media/k_L10_doctor.png"/><Relationship Id="rIdQ3" Type="http://schemas.openxmlformats.org/officeDocument/2006/relationships/image" Target="../media/k_L10_dentist.png"/><Relationship Id="rIdQ4" Type="http://schemas.openxmlformats.org/officeDocument/2006/relationships/image" Target="../media/k_L10_medicine.png"/><Relationship Id="rIdQ5" Type="http://schemas.openxmlformats.org/officeDocument/2006/relationships/image" Target="../media/k_L10_appointment.png"/><Relationship Id="rIdQ6" Type="http://schemas.openxmlformats.org/officeDocument/2006/relationships/image" Target="../media/k_L10_rest.png"/><Relationship Id="rIdQ7" Type="http://schemas.openxmlformats.org/officeDocument/2006/relationships/image" Target="../media/k_L10_drink_water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6.xml.rels><?xml version='1.0' encoding='UTF-8' standalone='yes'?>
<Relationships xmlns="http://schemas.openxmlformats.org/package/2006/relationships"><Relationship Id="rIdQ1" Type="http://schemas.openxmlformats.org/officeDocument/2006/relationships/image" Target="../media/k_L10_cough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9.xml.rels><?xml version='1.0' encoding='UTF-8' standalone='yes'?>
<Relationships xmlns="http://schemas.openxmlformats.org/package/2006/relationships"><Relationship Id="rIdQ1" Type="http://schemas.openxmlformats.org/officeDocument/2006/relationships/image" Target="../media/k_L10_headache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Q1" Type="http://schemas.openxmlformats.org/officeDocument/2006/relationships/image" Target="../media/k_L10_hurts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11.xml.rels><?xml version='1.0' encoding='UTF-8' standalone='yes'?>
<Relationships xmlns="http://schemas.openxmlformats.org/package/2006/relationships"><Relationship Id="rIdQ1" Type="http://schemas.openxmlformats.org/officeDocument/2006/relationships/image" Target="../media/k_L10_rest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Q1" Type="http://schemas.openxmlformats.org/officeDocument/2006/relationships/image" Target="../media/k_L10_fever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13.xml.rels><?xml version='1.0' encoding='UTF-8' standalone='yes'?>
<Relationships xmlns="http://schemas.openxmlformats.org/package/2006/relationships"><Relationship Id="rIdQ1" Type="http://schemas.openxmlformats.org/officeDocument/2006/relationships/image" Target="../media/k_L10_sore_throat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15.xml.rels><?xml version='1.0' encoding='UTF-8' standalone='yes'?>
<Relationships xmlns="http://schemas.openxmlformats.org/package/2006/relationships"><Relationship Id="rIdQ1" Type="http://schemas.openxmlformats.org/officeDocument/2006/relationships/image" Target="../media/k_L10_appointment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6.xml.rels><?xml version='1.0' encoding='UTF-8' standalone='yes'?>
<Relationships xmlns="http://schemas.openxmlformats.org/package/2006/relationships"><Relationship Id="rIdQ1" Type="http://schemas.openxmlformats.org/officeDocument/2006/relationships/image" Target="../media/k_L10_medicine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Q1" Type="http://schemas.openxmlformats.org/officeDocument/2006/relationships/image" Target="../media/k_L10_drink_water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914400"/>
            <a:ext cx="4480560" cy="512064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7635240" y="44348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Lesson 10 (Week 11)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661111" y="1146658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685800" y="1097280"/>
            <a:ext cx="6035040" cy="2468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868680" y="1325880"/>
            <a:ext cx="58064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Health</a:t>
            </a:r>
            <a:endParaRPr lang="en-US" sz="5000" dirty="0"/>
          </a:p>
        </p:txBody>
      </p:sp>
      <p:sp>
        <p:nvSpPr>
          <p:cNvPr id="9" name="Text 6"/>
          <p:cNvSpPr/>
          <p:nvPr/>
        </p:nvSpPr>
        <p:spPr>
          <a:xfrm>
            <a:off x="777240" y="3977640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Today you will: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777240" y="4480560"/>
            <a:ext cx="60350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Name health problems</a:t>
            </a:r>
            <a:endParaRPr lang="en-US" sz="2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Say I have a… / My … hurts</a:t>
            </a:r>
            <a:endParaRPr lang="en-US" sz="2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Give advice: should / shouldn't</a:t>
            </a:r>
            <a:endParaRPr lang="en-US" sz="2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•  Make an appointment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6172200" y="594360"/>
            <a:ext cx="914400" cy="863781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6245679" y="582930"/>
            <a:ext cx="930729" cy="930729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 rot="900000">
            <a:off x="6498771" y="849902"/>
            <a:ext cx="397601" cy="397601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pic>
        <p:nvPicPr>
          <p:cNvPr id="14" name="Picture 14" descr="L4_right_now.png"/>
          <p:cNvPicPr>
            <a:picLocks noChangeAspect="1"/>
          </p:cNvPicPr>
          <p:nvPr/>
        </p:nvPicPr>
        <p:blipFill>
          <a:blip r:embed="rIdK1"/>
          <a:stretch>
            <a:fillRect/>
          </a:stretch>
        </p:blipFill>
        <p:spPr>
          <a:xfrm>
            <a:off x="7726680" y="1664208"/>
            <a:ext cx="3474720" cy="2432304"/>
          </a:xfrm>
          <a:prstGeom prst="rect">
            <a:avLst/>
          </a:prstGeom>
        </p:spPr>
      </p:pic>
      <p:pic>
        <p:nvPicPr>
          <p:cNvPr id="15" name="Picture 15" descr="L10_doctor.png"/>
          <p:cNvPicPr>
            <a:picLocks noChangeAspect="1"/>
          </p:cNvPicPr>
          <p:nvPr/>
        </p:nvPicPr>
        <p:blipFill>
          <a:blip r:embed="rIdQ1"/>
          <a:stretch>
            <a:fillRect/>
          </a:stretch>
        </p:blipFill>
        <p:spPr>
          <a:xfrm>
            <a:off x="7726680" y="1664208"/>
            <a:ext cx="3474720" cy="243230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7604" y="1352535"/>
            <a:ext cx="5246827" cy="127741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8465" y="1300277"/>
            <a:ext cx="5246827" cy="127741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 flipH="1">
            <a:off x="5503774" y="3276295"/>
            <a:ext cx="6847942" cy="3931006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48640" y="1764792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Warm-Up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599846" y="1371600"/>
            <a:ext cx="484632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OPENING TALK  ·  6:00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99846" y="297180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Same partner.</a:t>
            </a:r>
            <a:endParaRPr lang="en-US" sz="2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Review Lesson 9.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822546" y="4854550"/>
            <a:ext cx="1024128" cy="967435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904842" y="4841748"/>
            <a:ext cx="1042416" cy="1042416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 rot="900000">
            <a:off x="5188306" y="5140757"/>
            <a:ext cx="445313" cy="445313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19" name="Question"/>
          <p:cNvSpPr/>
          <p:nvPr/>
        </p:nvSpPr>
        <p:spPr>
          <a:xfrm>
            <a:off x="599846" y="3977640"/>
            <a:ext cx="4114800" cy="80467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do you need from the store this week?</a:t>
            </a:r>
            <a:endParaRPr lang="en-US" sz="2200" dirty="0"/>
          </a:p>
        </p:txBody>
      </p:sp>
      <p:sp>
        <p:nvSpPr>
          <p:cNvPr id="20" name="Question"/>
          <p:cNvSpPr/>
          <p:nvPr/>
        </p:nvSpPr>
        <p:spPr>
          <a:xfrm>
            <a:off x="599846" y="4910328"/>
            <a:ext cx="4114800" cy="80467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 many eggs? How much rice?</a:t>
            </a:r>
            <a:endParaRPr lang="en-US" sz="2200" dirty="0"/>
          </a:p>
        </p:txBody>
      </p:sp>
      <p:pic>
        <p:nvPicPr>
          <p:cNvPr id="21" name="Picture 21" descr="L9_shopping_list.png"/>
          <p:cNvPicPr>
            <a:picLocks noChangeAspect="1"/>
          </p:cNvPicPr>
          <p:nvPr/>
        </p:nvPicPr>
        <p:blipFill>
          <a:blip r:embed="rIdQ1"/>
          <a:stretch>
            <a:fillRect/>
          </a:stretch>
        </p:blipFill>
        <p:spPr>
          <a:xfrm>
            <a:off x="6795821" y="2101291"/>
            <a:ext cx="4763110" cy="333417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4982" y="2093062"/>
            <a:ext cx="6227064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583741" y="2035454"/>
            <a:ext cx="5130698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583741" y="3127248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583741" y="3838651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583741" y="4550054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583741" y="5261458"/>
            <a:ext cx="5130698" cy="60259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10512" y="2103120"/>
            <a:ext cx="4434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Homework check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901952" y="2505456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Read your role play.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810512" y="3127248"/>
            <a:ext cx="3336662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___ the soup, please.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810512" y="3838651"/>
            <a:ext cx="3374136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___ I have the check?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810512" y="4550054"/>
            <a:ext cx="3374136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 ___ eggs?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810512" y="5261458"/>
            <a:ext cx="3374136" cy="6025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 ___ rice?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44982" y="2035454"/>
            <a:ext cx="1039673" cy="983894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86714" y="2166214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HW</a:t>
            </a:r>
            <a:endParaRPr lang="en-US" sz="3000" dirty="0"/>
          </a:p>
        </p:txBody>
      </p:sp>
      <p:sp>
        <p:nvSpPr>
          <p:cNvPr id="21" name="Shape 19"/>
          <p:cNvSpPr/>
          <p:nvPr/>
        </p:nvSpPr>
        <p:spPr>
          <a:xfrm>
            <a:off x="544982" y="3127248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86714" y="3112618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3200" dirty="0"/>
          </a:p>
        </p:txBody>
      </p:sp>
      <p:sp>
        <p:nvSpPr>
          <p:cNvPr id="23" name="Shape 21"/>
          <p:cNvSpPr/>
          <p:nvPr/>
        </p:nvSpPr>
        <p:spPr>
          <a:xfrm>
            <a:off x="544982" y="3838651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86714" y="3816706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3200" dirty="0"/>
          </a:p>
        </p:txBody>
      </p:sp>
      <p:sp>
        <p:nvSpPr>
          <p:cNvPr id="25" name="Shape 23"/>
          <p:cNvSpPr/>
          <p:nvPr/>
        </p:nvSpPr>
        <p:spPr>
          <a:xfrm>
            <a:off x="544982" y="4550054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86714" y="4543654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3200" dirty="0"/>
          </a:p>
        </p:txBody>
      </p:sp>
      <p:sp>
        <p:nvSpPr>
          <p:cNvPr id="27" name="Shape 25"/>
          <p:cNvSpPr/>
          <p:nvPr/>
        </p:nvSpPr>
        <p:spPr>
          <a:xfrm>
            <a:off x="544982" y="5279746"/>
            <a:ext cx="1039673" cy="60259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86714" y="5269687"/>
            <a:ext cx="1109167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Homework</a:t>
            </a:r>
            <a:endParaRPr lang="en-US" sz="4000" dirty="0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Check</a:t>
            </a:r>
            <a:endParaRPr lang="en-US" sz="4000" dirty="0"/>
          </a:p>
        </p:txBody>
      </p:sp>
      <p:sp>
        <p:nvSpPr>
          <p:cNvPr id="30" name="Text 28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Polite: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I'd like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or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Can I have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…?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6184087" y="1804111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6242576" y="1795013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 rot="900000">
            <a:off x="6444038" y="2007523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38" name="Answer 1"/>
          <p:cNvSpPr/>
          <p:nvPr/>
        </p:nvSpPr>
        <p:spPr>
          <a:xfrm>
            <a:off x="5220326" y="3200400"/>
            <a:ext cx="1363354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I'd like</a:t>
            </a:r>
            <a:endParaRPr lang="en-US" sz="2000" dirty="0"/>
          </a:p>
        </p:txBody>
      </p:sp>
      <p:sp>
        <p:nvSpPr>
          <p:cNvPr id="39" name="Answer 2"/>
          <p:cNvSpPr/>
          <p:nvPr/>
        </p:nvSpPr>
        <p:spPr>
          <a:xfrm>
            <a:off x="5257800" y="3911803"/>
            <a:ext cx="13258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Can</a:t>
            </a:r>
            <a:endParaRPr lang="en-US" sz="2000" dirty="0"/>
          </a:p>
        </p:txBody>
      </p:sp>
      <p:sp>
        <p:nvSpPr>
          <p:cNvPr id="40" name="Answer 3"/>
          <p:cNvSpPr/>
          <p:nvPr/>
        </p:nvSpPr>
        <p:spPr>
          <a:xfrm>
            <a:off x="5257800" y="4623206"/>
            <a:ext cx="13258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many</a:t>
            </a:r>
            <a:endParaRPr lang="en-US" sz="2000" dirty="0"/>
          </a:p>
        </p:txBody>
      </p:sp>
      <p:sp>
        <p:nvSpPr>
          <p:cNvPr id="41" name="Answer 4"/>
          <p:cNvSpPr/>
          <p:nvPr/>
        </p:nvSpPr>
        <p:spPr>
          <a:xfrm>
            <a:off x="5257800" y="5334610"/>
            <a:ext cx="1325880" cy="45720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much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 flipV="1">
            <a:off x="541325" y="2231136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flipH="1" flipV="1">
            <a:off x="541325" y="2090318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30738" y="517002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666537" y="462686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938114" y="594360"/>
            <a:ext cx="5669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9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New Words</a:t>
            </a:r>
            <a:endParaRPr lang="en-US" sz="4900" dirty="0"/>
          </a:p>
        </p:txBody>
      </p:sp>
      <p:sp>
        <p:nvSpPr>
          <p:cNvPr id="9" name="Shape 7"/>
          <p:cNvSpPr/>
          <p:nvPr/>
        </p:nvSpPr>
        <p:spPr>
          <a:xfrm>
            <a:off x="1121969" y="587045"/>
            <a:ext cx="3557930" cy="114300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286561" y="744322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1345050" y="735223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 rot="900000">
            <a:off x="1546512" y="947733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2148840" y="68580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Act it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out!</a:t>
            </a:r>
            <a:endParaRPr lang="en-US" sz="2200" dirty="0"/>
          </a:p>
        </p:txBody>
      </p:sp>
      <p:pic>
        <p:nvPicPr>
          <p:cNvPr id="41" name="Picture 41" descr="a headache"/>
          <p:cNvPicPr>
            <a:picLocks noChangeAspect="1"/>
          </p:cNvPicPr>
          <p:nvPr/>
        </p:nvPicPr>
        <p:blipFill>
          <a:blip r:embed="rIdQ1"/>
          <a:stretch>
            <a:fillRect/>
          </a:stretch>
        </p:blipFill>
        <p:spPr>
          <a:xfrm>
            <a:off x="952837" y="2240280"/>
            <a:ext cx="2076994" cy="1453896"/>
          </a:xfrm>
          <a:prstGeom prst="rect">
            <a:avLst/>
          </a:prstGeom>
        </p:spPr>
      </p:pic>
      <p:sp>
        <p:nvSpPr>
          <p:cNvPr id="42" name="Word label"/>
          <p:cNvSpPr/>
          <p:nvPr/>
        </p:nvSpPr>
        <p:spPr>
          <a:xfrm>
            <a:off x="762610" y="3749040"/>
            <a:ext cx="2457450" cy="457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headache</a:t>
            </a:r>
            <a:endParaRPr lang="en-US" sz="2000" dirty="0"/>
          </a:p>
        </p:txBody>
      </p:sp>
      <p:pic>
        <p:nvPicPr>
          <p:cNvPr id="43" name="Picture 43" descr="a stomachache"/>
          <p:cNvPicPr>
            <a:picLocks noChangeAspect="1"/>
          </p:cNvPicPr>
          <p:nvPr/>
        </p:nvPicPr>
        <p:blipFill>
          <a:blip r:embed="rIdQ2"/>
          <a:stretch>
            <a:fillRect/>
          </a:stretch>
        </p:blipFill>
        <p:spPr>
          <a:xfrm>
            <a:off x="3638887" y="2240280"/>
            <a:ext cx="2076994" cy="1453896"/>
          </a:xfrm>
          <a:prstGeom prst="rect">
            <a:avLst/>
          </a:prstGeom>
        </p:spPr>
      </p:pic>
      <p:sp>
        <p:nvSpPr>
          <p:cNvPr id="44" name="Word label"/>
          <p:cNvSpPr/>
          <p:nvPr/>
        </p:nvSpPr>
        <p:spPr>
          <a:xfrm>
            <a:off x="3448660" y="3749040"/>
            <a:ext cx="2457450" cy="457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stomachache</a:t>
            </a:r>
            <a:endParaRPr lang="en-US" sz="2000" dirty="0"/>
          </a:p>
        </p:txBody>
      </p:sp>
      <p:pic>
        <p:nvPicPr>
          <p:cNvPr id="45" name="Picture 45" descr="a fever"/>
          <p:cNvPicPr>
            <a:picLocks noChangeAspect="1"/>
          </p:cNvPicPr>
          <p:nvPr/>
        </p:nvPicPr>
        <p:blipFill>
          <a:blip r:embed="rIdQ3"/>
          <a:stretch>
            <a:fillRect/>
          </a:stretch>
        </p:blipFill>
        <p:spPr>
          <a:xfrm>
            <a:off x="6324937" y="2240280"/>
            <a:ext cx="2076994" cy="1453896"/>
          </a:xfrm>
          <a:prstGeom prst="rect">
            <a:avLst/>
          </a:prstGeom>
        </p:spPr>
      </p:pic>
      <p:sp>
        <p:nvSpPr>
          <p:cNvPr id="46" name="Word label"/>
          <p:cNvSpPr/>
          <p:nvPr/>
        </p:nvSpPr>
        <p:spPr>
          <a:xfrm>
            <a:off x="6134710" y="3749040"/>
            <a:ext cx="2457450" cy="457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fever</a:t>
            </a:r>
            <a:endParaRPr lang="en-US" sz="2000" dirty="0"/>
          </a:p>
        </p:txBody>
      </p:sp>
      <p:pic>
        <p:nvPicPr>
          <p:cNvPr id="47" name="Picture 47" descr="a cold"/>
          <p:cNvPicPr>
            <a:picLocks noChangeAspect="1"/>
          </p:cNvPicPr>
          <p:nvPr/>
        </p:nvPicPr>
        <p:blipFill>
          <a:blip r:embed="rIdQ4"/>
          <a:stretch>
            <a:fillRect/>
          </a:stretch>
        </p:blipFill>
        <p:spPr>
          <a:xfrm>
            <a:off x="9010987" y="2240280"/>
            <a:ext cx="2076994" cy="1453896"/>
          </a:xfrm>
          <a:prstGeom prst="rect">
            <a:avLst/>
          </a:prstGeom>
        </p:spPr>
      </p:pic>
      <p:sp>
        <p:nvSpPr>
          <p:cNvPr id="48" name="Word label"/>
          <p:cNvSpPr/>
          <p:nvPr/>
        </p:nvSpPr>
        <p:spPr>
          <a:xfrm>
            <a:off x="8820760" y="3749040"/>
            <a:ext cx="2457450" cy="457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cold</a:t>
            </a:r>
            <a:endParaRPr lang="en-US" sz="2000" dirty="0"/>
          </a:p>
        </p:txBody>
      </p:sp>
      <p:pic>
        <p:nvPicPr>
          <p:cNvPr id="49" name="Picture 49" descr="a cough"/>
          <p:cNvPicPr>
            <a:picLocks noChangeAspect="1"/>
          </p:cNvPicPr>
          <p:nvPr/>
        </p:nvPicPr>
        <p:blipFill>
          <a:blip r:embed="rIdQ5"/>
          <a:stretch>
            <a:fillRect/>
          </a:stretch>
        </p:blipFill>
        <p:spPr>
          <a:xfrm>
            <a:off x="2295862" y="4315968"/>
            <a:ext cx="2076994" cy="1453896"/>
          </a:xfrm>
          <a:prstGeom prst="rect">
            <a:avLst/>
          </a:prstGeom>
        </p:spPr>
      </p:pic>
      <p:sp>
        <p:nvSpPr>
          <p:cNvPr id="50" name="Word label"/>
          <p:cNvSpPr/>
          <p:nvPr/>
        </p:nvSpPr>
        <p:spPr>
          <a:xfrm>
            <a:off x="2105635" y="5824728"/>
            <a:ext cx="2457450" cy="457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cough</a:t>
            </a:r>
            <a:endParaRPr lang="en-US" sz="2000" dirty="0"/>
          </a:p>
        </p:txBody>
      </p:sp>
      <p:pic>
        <p:nvPicPr>
          <p:cNvPr id="51" name="Picture 51" descr="a sore throat"/>
          <p:cNvPicPr>
            <a:picLocks noChangeAspect="1"/>
          </p:cNvPicPr>
          <p:nvPr/>
        </p:nvPicPr>
        <p:blipFill>
          <a:blip r:embed="rIdQ6"/>
          <a:stretch>
            <a:fillRect/>
          </a:stretch>
        </p:blipFill>
        <p:spPr>
          <a:xfrm>
            <a:off x="4981912" y="4315968"/>
            <a:ext cx="2076994" cy="1453896"/>
          </a:xfrm>
          <a:prstGeom prst="rect">
            <a:avLst/>
          </a:prstGeom>
        </p:spPr>
      </p:pic>
      <p:sp>
        <p:nvSpPr>
          <p:cNvPr id="52" name="Word label"/>
          <p:cNvSpPr/>
          <p:nvPr/>
        </p:nvSpPr>
        <p:spPr>
          <a:xfrm>
            <a:off x="4791685" y="5824728"/>
            <a:ext cx="2457450" cy="457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sore throat</a:t>
            </a:r>
            <a:endParaRPr lang="en-US" sz="2000" dirty="0"/>
          </a:p>
        </p:txBody>
      </p:sp>
      <p:pic>
        <p:nvPicPr>
          <p:cNvPr id="53" name="Picture 53" descr="a toothache"/>
          <p:cNvPicPr>
            <a:picLocks noChangeAspect="1"/>
          </p:cNvPicPr>
          <p:nvPr/>
        </p:nvPicPr>
        <p:blipFill>
          <a:blip r:embed="rIdQ7"/>
          <a:stretch>
            <a:fillRect/>
          </a:stretch>
        </p:blipFill>
        <p:spPr>
          <a:xfrm>
            <a:off x="7667962" y="4315968"/>
            <a:ext cx="2076994" cy="1453896"/>
          </a:xfrm>
          <a:prstGeom prst="rect">
            <a:avLst/>
          </a:prstGeom>
        </p:spPr>
      </p:pic>
      <p:sp>
        <p:nvSpPr>
          <p:cNvPr id="54" name="Word label"/>
          <p:cNvSpPr/>
          <p:nvPr/>
        </p:nvSpPr>
        <p:spPr>
          <a:xfrm>
            <a:off x="7477735" y="5824728"/>
            <a:ext cx="2457450" cy="45720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toothache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 flipV="1">
            <a:off x="541325" y="2231136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 flipH="1" flipV="1">
            <a:off x="541325" y="2090318"/>
            <a:ext cx="10958170" cy="4343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30738" y="517002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666537" y="462686"/>
            <a:ext cx="6063386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938114" y="594360"/>
            <a:ext cx="5669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More New Words</a:t>
            </a:r>
            <a:endParaRPr lang="en-US" sz="4400" dirty="0"/>
          </a:p>
        </p:txBody>
      </p:sp>
      <p:sp>
        <p:nvSpPr>
          <p:cNvPr id="9" name="Shape 7"/>
          <p:cNvSpPr/>
          <p:nvPr/>
        </p:nvSpPr>
        <p:spPr>
          <a:xfrm>
            <a:off x="1121969" y="587045"/>
            <a:ext cx="3557930" cy="114300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1286561" y="744322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1345050" y="735223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 rot="900000">
            <a:off x="1546512" y="947733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2148840" y="68580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have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cough!</a:t>
            </a:r>
            <a:endParaRPr lang="en-US" sz="2200" dirty="0"/>
          </a:p>
        </p:txBody>
      </p:sp>
      <p:pic>
        <p:nvPicPr>
          <p:cNvPr id="39" name="Picture 39" descr="hurts (My arm hurts.)"/>
          <p:cNvPicPr>
            <a:picLocks noChangeAspect="1"/>
          </p:cNvPicPr>
          <p:nvPr/>
        </p:nvPicPr>
        <p:blipFill>
          <a:blip r:embed="rIdQ1"/>
          <a:stretch>
            <a:fillRect/>
          </a:stretch>
        </p:blipFill>
        <p:spPr>
          <a:xfrm>
            <a:off x="1181437" y="2240280"/>
            <a:ext cx="1619794" cy="1133856"/>
          </a:xfrm>
          <a:prstGeom prst="rect">
            <a:avLst/>
          </a:prstGeom>
        </p:spPr>
      </p:pic>
      <p:sp>
        <p:nvSpPr>
          <p:cNvPr id="40" name="Word label"/>
          <p:cNvSpPr/>
          <p:nvPr/>
        </p:nvSpPr>
        <p:spPr>
          <a:xfrm>
            <a:off x="762610" y="3429000"/>
            <a:ext cx="2457450" cy="7772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hurts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(My arm hurts.)</a:t>
            </a:r>
            <a:endParaRPr lang="en-US" sz="2000" dirty="0"/>
          </a:p>
        </p:txBody>
      </p:sp>
      <p:pic>
        <p:nvPicPr>
          <p:cNvPr id="41" name="Picture 41" descr="doctor"/>
          <p:cNvPicPr>
            <a:picLocks noChangeAspect="1"/>
          </p:cNvPicPr>
          <p:nvPr/>
        </p:nvPicPr>
        <p:blipFill>
          <a:blip r:embed="rIdQ2"/>
          <a:stretch>
            <a:fillRect/>
          </a:stretch>
        </p:blipFill>
        <p:spPr>
          <a:xfrm>
            <a:off x="3867487" y="2240280"/>
            <a:ext cx="1619794" cy="1133856"/>
          </a:xfrm>
          <a:prstGeom prst="rect">
            <a:avLst/>
          </a:prstGeom>
        </p:spPr>
      </p:pic>
      <p:sp>
        <p:nvSpPr>
          <p:cNvPr id="42" name="Word label"/>
          <p:cNvSpPr/>
          <p:nvPr/>
        </p:nvSpPr>
        <p:spPr>
          <a:xfrm>
            <a:off x="3448660" y="3429000"/>
            <a:ext cx="2457450" cy="7772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doctor</a:t>
            </a:r>
            <a:endParaRPr lang="en-US" sz="2000" dirty="0"/>
          </a:p>
        </p:txBody>
      </p:sp>
      <p:pic>
        <p:nvPicPr>
          <p:cNvPr id="43" name="Picture 43" descr="dentist"/>
          <p:cNvPicPr>
            <a:picLocks noChangeAspect="1"/>
          </p:cNvPicPr>
          <p:nvPr/>
        </p:nvPicPr>
        <p:blipFill>
          <a:blip r:embed="rIdQ3"/>
          <a:stretch>
            <a:fillRect/>
          </a:stretch>
        </p:blipFill>
        <p:spPr>
          <a:xfrm>
            <a:off x="6553537" y="2240280"/>
            <a:ext cx="1619794" cy="1133856"/>
          </a:xfrm>
          <a:prstGeom prst="rect">
            <a:avLst/>
          </a:prstGeom>
        </p:spPr>
      </p:pic>
      <p:sp>
        <p:nvSpPr>
          <p:cNvPr id="44" name="Word label"/>
          <p:cNvSpPr/>
          <p:nvPr/>
        </p:nvSpPr>
        <p:spPr>
          <a:xfrm>
            <a:off x="6134710" y="3429000"/>
            <a:ext cx="2457450" cy="7772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dentist</a:t>
            </a:r>
            <a:endParaRPr lang="en-US" sz="2000" dirty="0"/>
          </a:p>
        </p:txBody>
      </p:sp>
      <p:pic>
        <p:nvPicPr>
          <p:cNvPr id="45" name="Picture 45" descr="medicine"/>
          <p:cNvPicPr>
            <a:picLocks noChangeAspect="1"/>
          </p:cNvPicPr>
          <p:nvPr/>
        </p:nvPicPr>
        <p:blipFill>
          <a:blip r:embed="rIdQ4"/>
          <a:stretch>
            <a:fillRect/>
          </a:stretch>
        </p:blipFill>
        <p:spPr>
          <a:xfrm>
            <a:off x="9239587" y="2240280"/>
            <a:ext cx="1619794" cy="1133856"/>
          </a:xfrm>
          <a:prstGeom prst="rect">
            <a:avLst/>
          </a:prstGeom>
        </p:spPr>
      </p:pic>
      <p:sp>
        <p:nvSpPr>
          <p:cNvPr id="46" name="Word label"/>
          <p:cNvSpPr/>
          <p:nvPr/>
        </p:nvSpPr>
        <p:spPr>
          <a:xfrm>
            <a:off x="8820760" y="3429000"/>
            <a:ext cx="2457450" cy="7772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medicine</a:t>
            </a:r>
            <a:endParaRPr lang="en-US" sz="2000" dirty="0"/>
          </a:p>
        </p:txBody>
      </p:sp>
      <p:pic>
        <p:nvPicPr>
          <p:cNvPr id="47" name="Picture 47" descr="appointment"/>
          <p:cNvPicPr>
            <a:picLocks noChangeAspect="1"/>
          </p:cNvPicPr>
          <p:nvPr/>
        </p:nvPicPr>
        <p:blipFill>
          <a:blip r:embed="rIdQ5"/>
          <a:stretch>
            <a:fillRect/>
          </a:stretch>
        </p:blipFill>
        <p:spPr>
          <a:xfrm>
            <a:off x="2524462" y="4315968"/>
            <a:ext cx="1619794" cy="1133856"/>
          </a:xfrm>
          <a:prstGeom prst="rect">
            <a:avLst/>
          </a:prstGeom>
        </p:spPr>
      </p:pic>
      <p:sp>
        <p:nvSpPr>
          <p:cNvPr id="48" name="Word label"/>
          <p:cNvSpPr/>
          <p:nvPr/>
        </p:nvSpPr>
        <p:spPr>
          <a:xfrm>
            <a:off x="2105635" y="5504688"/>
            <a:ext cx="2457450" cy="7772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appointment</a:t>
            </a:r>
            <a:endParaRPr lang="en-US" sz="2000" dirty="0"/>
          </a:p>
        </p:txBody>
      </p:sp>
      <p:pic>
        <p:nvPicPr>
          <p:cNvPr id="49" name="Picture 49" descr="rest"/>
          <p:cNvPicPr>
            <a:picLocks noChangeAspect="1"/>
          </p:cNvPicPr>
          <p:nvPr/>
        </p:nvPicPr>
        <p:blipFill>
          <a:blip r:embed="rIdQ6"/>
          <a:stretch>
            <a:fillRect/>
          </a:stretch>
        </p:blipFill>
        <p:spPr>
          <a:xfrm>
            <a:off x="5210512" y="4315968"/>
            <a:ext cx="1619794" cy="1133856"/>
          </a:xfrm>
          <a:prstGeom prst="rect">
            <a:avLst/>
          </a:prstGeom>
        </p:spPr>
      </p:pic>
      <p:sp>
        <p:nvSpPr>
          <p:cNvPr id="50" name="Word label"/>
          <p:cNvSpPr/>
          <p:nvPr/>
        </p:nvSpPr>
        <p:spPr>
          <a:xfrm>
            <a:off x="4791685" y="5504688"/>
            <a:ext cx="2457450" cy="7772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rest</a:t>
            </a:r>
            <a:endParaRPr lang="en-US" sz="2000" dirty="0"/>
          </a:p>
        </p:txBody>
      </p:sp>
      <p:pic>
        <p:nvPicPr>
          <p:cNvPr id="51" name="Picture 51" descr="drink water"/>
          <p:cNvPicPr>
            <a:picLocks noChangeAspect="1"/>
          </p:cNvPicPr>
          <p:nvPr/>
        </p:nvPicPr>
        <p:blipFill>
          <a:blip r:embed="rIdQ7"/>
          <a:stretch>
            <a:fillRect/>
          </a:stretch>
        </p:blipFill>
        <p:spPr>
          <a:xfrm>
            <a:off x="7896562" y="4315968"/>
            <a:ext cx="1619794" cy="1133856"/>
          </a:xfrm>
          <a:prstGeom prst="rect">
            <a:avLst/>
          </a:prstGeom>
        </p:spPr>
      </p:pic>
      <p:sp>
        <p:nvSpPr>
          <p:cNvPr id="52" name="Word label"/>
          <p:cNvSpPr/>
          <p:nvPr/>
        </p:nvSpPr>
        <p:spPr>
          <a:xfrm>
            <a:off x="7477735" y="5504688"/>
            <a:ext cx="2457450" cy="77724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drink water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560984" y="1342842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89788" y="1277417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71754" y="141732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A</a:t>
            </a:r>
            <a:endParaRPr lang="en-US" sz="4000" dirty="0"/>
          </a:p>
        </p:txBody>
      </p:sp>
      <p:sp>
        <p:nvSpPr>
          <p:cNvPr id="22" name="Shape 20"/>
          <p:cNvSpPr/>
          <p:nvPr/>
        </p:nvSpPr>
        <p:spPr>
          <a:xfrm>
            <a:off x="4702759" y="5703113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4761248" y="5694015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 rot="900000">
            <a:off x="4962710" y="5906524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65" name="Subtitle"/>
          <p:cNvSpPr/>
          <p:nvPr/>
        </p:nvSpPr>
        <p:spPr>
          <a:xfrm>
            <a:off x="771754" y="2148840"/>
            <a:ext cx="457200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91440" tIns="36576" rIns="9144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Listen. What's the matter?</a:t>
            </a:r>
            <a:endParaRPr lang="en-US" sz="2000" dirty="0"/>
          </a:p>
        </p:txBody>
      </p:sp>
      <p:pic>
        <p:nvPicPr>
          <p:cNvPr id="66" name="Picture 66" descr="L10_cough.png"/>
          <p:cNvPicPr>
            <a:picLocks noChangeAspect="1"/>
          </p:cNvPicPr>
          <p:nvPr/>
        </p:nvPicPr>
        <p:blipFill>
          <a:blip r:embed="rIdQ1"/>
          <a:stretch>
            <a:fillRect/>
          </a:stretch>
        </p:blipFill>
        <p:spPr>
          <a:xfrm>
            <a:off x="1274674" y="3680460"/>
            <a:ext cx="3450031" cy="2415022"/>
          </a:xfrm>
          <a:prstGeom prst="rect">
            <a:avLst/>
          </a:prstGeom>
        </p:spPr>
      </p:pic>
      <p:sp>
        <p:nvSpPr>
          <p:cNvPr id="67" name="Row shadow"/>
          <p:cNvSpPr/>
          <p:nvPr/>
        </p:nvSpPr>
        <p:spPr>
          <a:xfrm>
            <a:off x="5815584" y="1243584"/>
            <a:ext cx="5989320" cy="658368"/>
          </a:xfrm>
          <a:prstGeom prst="roundRect">
            <a:avLst>
              <a:gd name="adj" fmla="val 22000"/>
            </a:avLst>
          </a:prstGeom>
          <a:solidFill>
            <a:srgbClr val="8FAFE3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68" name="Row"/>
          <p:cNvSpPr/>
          <p:nvPr/>
        </p:nvSpPr>
        <p:spPr>
          <a:xfrm>
            <a:off x="5760720" y="1188720"/>
            <a:ext cx="5989320" cy="65836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69" name="Item"/>
          <p:cNvSpPr/>
          <p:nvPr/>
        </p:nvSpPr>
        <p:spPr>
          <a:xfrm>
            <a:off x="5870448" y="1188720"/>
            <a:ext cx="4709160" cy="6583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headache</a:t>
            </a:r>
            <a:endParaRPr lang="en-US" sz="2200" dirty="0"/>
          </a:p>
        </p:txBody>
      </p:sp>
      <p:sp>
        <p:nvSpPr>
          <p:cNvPr id="70" name="Tag 1"/>
          <p:cNvSpPr/>
          <p:nvPr/>
        </p:nvSpPr>
        <p:spPr>
          <a:xfrm>
            <a:off x="10607040" y="1280160"/>
            <a:ext cx="1051560" cy="475488"/>
          </a:xfrm>
          <a:prstGeom prst="roundRect">
            <a:avLst>
              <a:gd name="adj" fmla="val 22000"/>
            </a:avLst>
          </a:prstGeom>
          <a:solidFill>
            <a:srgbClr val="F1F5FB"/>
          </a:solidFill>
          <a:ln w="31750">
            <a:solidFill>
              <a:srgbClr val="B42318"/>
            </a:solidFill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B423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</a:t>
            </a:r>
            <a:endParaRPr lang="en-US" sz="2000" dirty="0"/>
          </a:p>
        </p:txBody>
      </p:sp>
      <p:sp>
        <p:nvSpPr>
          <p:cNvPr id="71" name="Row shadow"/>
          <p:cNvSpPr/>
          <p:nvPr/>
        </p:nvSpPr>
        <p:spPr>
          <a:xfrm>
            <a:off x="5815584" y="2112264"/>
            <a:ext cx="5989320" cy="658368"/>
          </a:xfrm>
          <a:prstGeom prst="roundRect">
            <a:avLst>
              <a:gd name="adj" fmla="val 22000"/>
            </a:avLst>
          </a:prstGeom>
          <a:solidFill>
            <a:srgbClr val="8FAFE3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72" name="Row"/>
          <p:cNvSpPr/>
          <p:nvPr/>
        </p:nvSpPr>
        <p:spPr>
          <a:xfrm>
            <a:off x="5760720" y="2057400"/>
            <a:ext cx="5989320" cy="65836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73" name="Item"/>
          <p:cNvSpPr/>
          <p:nvPr/>
        </p:nvSpPr>
        <p:spPr>
          <a:xfrm>
            <a:off x="5870448" y="2057400"/>
            <a:ext cx="4709160" cy="6583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cough</a:t>
            </a:r>
            <a:endParaRPr lang="en-US" sz="2200" dirty="0"/>
          </a:p>
        </p:txBody>
      </p:sp>
      <p:sp>
        <p:nvSpPr>
          <p:cNvPr id="74" name="Tag 2"/>
          <p:cNvSpPr/>
          <p:nvPr/>
        </p:nvSpPr>
        <p:spPr>
          <a:xfrm>
            <a:off x="10607040" y="2148840"/>
            <a:ext cx="1051560" cy="475488"/>
          </a:xfrm>
          <a:prstGeom prst="roundRect">
            <a:avLst>
              <a:gd name="adj" fmla="val 22000"/>
            </a:avLst>
          </a:prstGeom>
          <a:solidFill>
            <a:srgbClr val="F1F5FB"/>
          </a:solidFill>
          <a:ln w="31750">
            <a:solidFill>
              <a:srgbClr val="1E6B45"/>
            </a:solidFill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E6B45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</a:t>
            </a:r>
            <a:endParaRPr lang="en-US" sz="2000" dirty="0"/>
          </a:p>
        </p:txBody>
      </p:sp>
      <p:sp>
        <p:nvSpPr>
          <p:cNvPr id="75" name="Row shadow"/>
          <p:cNvSpPr/>
          <p:nvPr/>
        </p:nvSpPr>
        <p:spPr>
          <a:xfrm>
            <a:off x="5815584" y="2980944"/>
            <a:ext cx="5989320" cy="658368"/>
          </a:xfrm>
          <a:prstGeom prst="roundRect">
            <a:avLst>
              <a:gd name="adj" fmla="val 22000"/>
            </a:avLst>
          </a:prstGeom>
          <a:solidFill>
            <a:srgbClr val="8FAFE3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76" name="Row"/>
          <p:cNvSpPr/>
          <p:nvPr/>
        </p:nvSpPr>
        <p:spPr>
          <a:xfrm>
            <a:off x="5760720" y="2926080"/>
            <a:ext cx="5989320" cy="65836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77" name="Item"/>
          <p:cNvSpPr/>
          <p:nvPr/>
        </p:nvSpPr>
        <p:spPr>
          <a:xfrm>
            <a:off x="5870448" y="2926080"/>
            <a:ext cx="4709160" cy="6583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stomachache</a:t>
            </a:r>
            <a:endParaRPr lang="en-US" sz="2200" dirty="0"/>
          </a:p>
        </p:txBody>
      </p:sp>
      <p:sp>
        <p:nvSpPr>
          <p:cNvPr id="78" name="Tag 3"/>
          <p:cNvSpPr/>
          <p:nvPr/>
        </p:nvSpPr>
        <p:spPr>
          <a:xfrm>
            <a:off x="10607040" y="3017520"/>
            <a:ext cx="1051560" cy="475488"/>
          </a:xfrm>
          <a:prstGeom prst="roundRect">
            <a:avLst>
              <a:gd name="adj" fmla="val 22000"/>
            </a:avLst>
          </a:prstGeom>
          <a:solidFill>
            <a:srgbClr val="F1F5FB"/>
          </a:solidFill>
          <a:ln w="31750">
            <a:solidFill>
              <a:srgbClr val="B42318"/>
            </a:solidFill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B423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</a:t>
            </a:r>
            <a:endParaRPr lang="en-US" sz="2000" dirty="0"/>
          </a:p>
        </p:txBody>
      </p:sp>
      <p:sp>
        <p:nvSpPr>
          <p:cNvPr id="79" name="Row shadow"/>
          <p:cNvSpPr/>
          <p:nvPr/>
        </p:nvSpPr>
        <p:spPr>
          <a:xfrm>
            <a:off x="5815584" y="3849624"/>
            <a:ext cx="5989320" cy="658368"/>
          </a:xfrm>
          <a:prstGeom prst="roundRect">
            <a:avLst>
              <a:gd name="adj" fmla="val 22000"/>
            </a:avLst>
          </a:prstGeom>
          <a:solidFill>
            <a:srgbClr val="8FAFE3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80" name="Row"/>
          <p:cNvSpPr/>
          <p:nvPr/>
        </p:nvSpPr>
        <p:spPr>
          <a:xfrm>
            <a:off x="5760720" y="3794760"/>
            <a:ext cx="5989320" cy="65836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81" name="Item"/>
          <p:cNvSpPr/>
          <p:nvPr/>
        </p:nvSpPr>
        <p:spPr>
          <a:xfrm>
            <a:off x="5870448" y="3794760"/>
            <a:ext cx="4709160" cy="6583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sore throat</a:t>
            </a:r>
            <a:endParaRPr lang="en-US" sz="2200" dirty="0"/>
          </a:p>
        </p:txBody>
      </p:sp>
      <p:sp>
        <p:nvSpPr>
          <p:cNvPr id="82" name="Tag 4"/>
          <p:cNvSpPr/>
          <p:nvPr/>
        </p:nvSpPr>
        <p:spPr>
          <a:xfrm>
            <a:off x="10607040" y="3886200"/>
            <a:ext cx="1051560" cy="475488"/>
          </a:xfrm>
          <a:prstGeom prst="roundRect">
            <a:avLst>
              <a:gd name="adj" fmla="val 22000"/>
            </a:avLst>
          </a:prstGeom>
          <a:solidFill>
            <a:srgbClr val="F1F5FB"/>
          </a:solidFill>
          <a:ln w="31750">
            <a:solidFill>
              <a:srgbClr val="1E6B45"/>
            </a:solidFill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E6B45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</a:t>
            </a:r>
            <a:endParaRPr lang="en-US" sz="2000" dirty="0"/>
          </a:p>
        </p:txBody>
      </p:sp>
      <p:sp>
        <p:nvSpPr>
          <p:cNvPr id="83" name="Row shadow"/>
          <p:cNvSpPr/>
          <p:nvPr/>
        </p:nvSpPr>
        <p:spPr>
          <a:xfrm>
            <a:off x="5815584" y="4718304"/>
            <a:ext cx="5989320" cy="658368"/>
          </a:xfrm>
          <a:prstGeom prst="roundRect">
            <a:avLst>
              <a:gd name="adj" fmla="val 22000"/>
            </a:avLst>
          </a:prstGeom>
          <a:solidFill>
            <a:srgbClr val="8FAFE3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84" name="Row"/>
          <p:cNvSpPr/>
          <p:nvPr/>
        </p:nvSpPr>
        <p:spPr>
          <a:xfrm>
            <a:off x="5760720" y="4663440"/>
            <a:ext cx="5989320" cy="65836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85" name="Item"/>
          <p:cNvSpPr/>
          <p:nvPr/>
        </p:nvSpPr>
        <p:spPr>
          <a:xfrm>
            <a:off x="5870448" y="4663440"/>
            <a:ext cx="4709160" cy="6583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fever</a:t>
            </a:r>
            <a:endParaRPr lang="en-US" sz="2200" dirty="0"/>
          </a:p>
        </p:txBody>
      </p:sp>
      <p:sp>
        <p:nvSpPr>
          <p:cNvPr id="86" name="Tag 5"/>
          <p:cNvSpPr/>
          <p:nvPr/>
        </p:nvSpPr>
        <p:spPr>
          <a:xfrm>
            <a:off x="10607040" y="4754880"/>
            <a:ext cx="1051560" cy="475488"/>
          </a:xfrm>
          <a:prstGeom prst="roundRect">
            <a:avLst>
              <a:gd name="adj" fmla="val 22000"/>
            </a:avLst>
          </a:prstGeom>
          <a:solidFill>
            <a:srgbClr val="F1F5FB"/>
          </a:solidFill>
          <a:ln w="31750">
            <a:solidFill>
              <a:srgbClr val="1E6B45"/>
            </a:solidFill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E6B45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</a:t>
            </a:r>
            <a:endParaRPr lang="en-US" sz="2000" dirty="0"/>
          </a:p>
        </p:txBody>
      </p:sp>
      <p:sp>
        <p:nvSpPr>
          <p:cNvPr id="87" name="Row shadow"/>
          <p:cNvSpPr/>
          <p:nvPr/>
        </p:nvSpPr>
        <p:spPr>
          <a:xfrm>
            <a:off x="5815584" y="5586984"/>
            <a:ext cx="5989320" cy="658368"/>
          </a:xfrm>
          <a:prstGeom prst="roundRect">
            <a:avLst>
              <a:gd name="adj" fmla="val 22000"/>
            </a:avLst>
          </a:prstGeom>
          <a:solidFill>
            <a:srgbClr val="8FAFE3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88" name="Row"/>
          <p:cNvSpPr/>
          <p:nvPr/>
        </p:nvSpPr>
        <p:spPr>
          <a:xfrm>
            <a:off x="5760720" y="5532120"/>
            <a:ext cx="5989320" cy="658368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89" name="Item"/>
          <p:cNvSpPr/>
          <p:nvPr/>
        </p:nvSpPr>
        <p:spPr>
          <a:xfrm>
            <a:off x="5870448" y="5532120"/>
            <a:ext cx="4709160" cy="658368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toothache</a:t>
            </a:r>
            <a:endParaRPr lang="en-US" sz="2200" dirty="0"/>
          </a:p>
        </p:txBody>
      </p:sp>
      <p:sp>
        <p:nvSpPr>
          <p:cNvPr id="90" name="Tag 6"/>
          <p:cNvSpPr/>
          <p:nvPr/>
        </p:nvSpPr>
        <p:spPr>
          <a:xfrm>
            <a:off x="10607040" y="5623560"/>
            <a:ext cx="1051560" cy="475488"/>
          </a:xfrm>
          <a:prstGeom prst="roundRect">
            <a:avLst>
              <a:gd name="adj" fmla="val 22000"/>
            </a:avLst>
          </a:prstGeom>
          <a:solidFill>
            <a:srgbClr val="F1F5FB"/>
          </a:solidFill>
          <a:ln w="31750">
            <a:solidFill>
              <a:srgbClr val="B42318"/>
            </a:solidFill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B423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4592" y="2980944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33172" y="1137194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66090" y="1080821"/>
            <a:ext cx="5607101" cy="137525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0" y="2856586"/>
            <a:ext cx="11582705" cy="3623767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16052" y="1452067"/>
            <a:ext cx="5680253" cy="94731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48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B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6745529" y="1234440"/>
            <a:ext cx="47548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again.</a:t>
            </a:r>
            <a:endParaRPr lang="en-US" sz="22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True or False?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10865815" y="2695651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10924304" y="2686553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 rot="900000">
            <a:off x="11125766" y="2899063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67" name="Statement 1"/>
          <p:cNvSpPr/>
          <p:nvPr/>
        </p:nvSpPr>
        <p:spPr>
          <a:xfrm>
            <a:off x="502920" y="2834640"/>
            <a:ext cx="5303520" cy="62179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1. Marco wants an appointment.</a:t>
            </a:r>
            <a:endParaRPr lang="en-US" sz="2000" dirty="0"/>
          </a:p>
        </p:txBody>
      </p:sp>
      <p:sp>
        <p:nvSpPr>
          <p:cNvPr id="68" name="Option 11"/>
          <p:cNvSpPr/>
          <p:nvPr/>
        </p:nvSpPr>
        <p:spPr>
          <a:xfrm>
            <a:off x="5852160" y="2880360"/>
            <a:ext cx="118872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True</a:t>
            </a:r>
            <a:endParaRPr lang="en-US" sz="2000" dirty="0"/>
          </a:p>
        </p:txBody>
      </p:sp>
      <p:sp>
        <p:nvSpPr>
          <p:cNvPr id="69" name="Option 12"/>
          <p:cNvSpPr/>
          <p:nvPr/>
        </p:nvSpPr>
        <p:spPr>
          <a:xfrm>
            <a:off x="7269480" y="2880360"/>
            <a:ext cx="118872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False</a:t>
            </a:r>
            <a:endParaRPr lang="en-US" sz="2000" dirty="0"/>
          </a:p>
        </p:txBody>
      </p:sp>
      <p:sp>
        <p:nvSpPr>
          <p:cNvPr id="70" name="Circle 1"/>
          <p:cNvSpPr/>
          <p:nvPr/>
        </p:nvSpPr>
        <p:spPr>
          <a:xfrm>
            <a:off x="5724144" y="2816352"/>
            <a:ext cx="1444752" cy="658368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71" name="Statement 2"/>
          <p:cNvSpPr/>
          <p:nvPr/>
        </p:nvSpPr>
        <p:spPr>
          <a:xfrm>
            <a:off x="502920" y="3566160"/>
            <a:ext cx="5303520" cy="62179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2. He got sick yesterday.</a:t>
            </a:r>
            <a:endParaRPr lang="en-US" sz="2000" dirty="0"/>
          </a:p>
        </p:txBody>
      </p:sp>
      <p:sp>
        <p:nvSpPr>
          <p:cNvPr id="72" name="Option 21"/>
          <p:cNvSpPr/>
          <p:nvPr/>
        </p:nvSpPr>
        <p:spPr>
          <a:xfrm>
            <a:off x="5852160" y="3611880"/>
            <a:ext cx="118872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True</a:t>
            </a:r>
            <a:endParaRPr lang="en-US" sz="2000" dirty="0"/>
          </a:p>
        </p:txBody>
      </p:sp>
      <p:sp>
        <p:nvSpPr>
          <p:cNvPr id="73" name="Option 22"/>
          <p:cNvSpPr/>
          <p:nvPr/>
        </p:nvSpPr>
        <p:spPr>
          <a:xfrm>
            <a:off x="7269480" y="3611880"/>
            <a:ext cx="118872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False</a:t>
            </a:r>
            <a:endParaRPr lang="en-US" sz="2000" dirty="0"/>
          </a:p>
        </p:txBody>
      </p:sp>
      <p:sp>
        <p:nvSpPr>
          <p:cNvPr id="74" name="Circle 2"/>
          <p:cNvSpPr/>
          <p:nvPr/>
        </p:nvSpPr>
        <p:spPr>
          <a:xfrm>
            <a:off x="7141464" y="3547872"/>
            <a:ext cx="1444752" cy="658368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75" name="Fix 2"/>
          <p:cNvSpPr/>
          <p:nvPr/>
        </p:nvSpPr>
        <p:spPr>
          <a:xfrm>
            <a:off x="8732520" y="3566160"/>
            <a:ext cx="2194560" cy="62179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Three days ago.</a:t>
            </a:r>
            <a:endParaRPr lang="en-US" sz="2000" dirty="0"/>
          </a:p>
        </p:txBody>
      </p:sp>
      <p:sp>
        <p:nvSpPr>
          <p:cNvPr id="76" name="Statement 3"/>
          <p:cNvSpPr/>
          <p:nvPr/>
        </p:nvSpPr>
        <p:spPr>
          <a:xfrm>
            <a:off x="502920" y="4297680"/>
            <a:ext cx="5303520" cy="62179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3. He can come at 10:15.</a:t>
            </a:r>
            <a:endParaRPr lang="en-US" sz="2000" dirty="0"/>
          </a:p>
        </p:txBody>
      </p:sp>
      <p:sp>
        <p:nvSpPr>
          <p:cNvPr id="77" name="Option 31"/>
          <p:cNvSpPr/>
          <p:nvPr/>
        </p:nvSpPr>
        <p:spPr>
          <a:xfrm>
            <a:off x="5852160" y="4343400"/>
            <a:ext cx="118872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True</a:t>
            </a:r>
            <a:endParaRPr lang="en-US" sz="2000" dirty="0"/>
          </a:p>
        </p:txBody>
      </p:sp>
      <p:sp>
        <p:nvSpPr>
          <p:cNvPr id="78" name="Option 32"/>
          <p:cNvSpPr/>
          <p:nvPr/>
        </p:nvSpPr>
        <p:spPr>
          <a:xfrm>
            <a:off x="7269480" y="4343400"/>
            <a:ext cx="118872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False</a:t>
            </a:r>
            <a:endParaRPr lang="en-US" sz="2000" dirty="0"/>
          </a:p>
        </p:txBody>
      </p:sp>
      <p:sp>
        <p:nvSpPr>
          <p:cNvPr id="79" name="Circle 3"/>
          <p:cNvSpPr/>
          <p:nvPr/>
        </p:nvSpPr>
        <p:spPr>
          <a:xfrm>
            <a:off x="7141464" y="4279392"/>
            <a:ext cx="1444752" cy="658368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80" name="Fix 3"/>
          <p:cNvSpPr/>
          <p:nvPr/>
        </p:nvSpPr>
        <p:spPr>
          <a:xfrm>
            <a:off x="8732520" y="4297680"/>
            <a:ext cx="2194560" cy="62179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 can't.</a:t>
            </a:r>
            <a:endParaRPr lang="en-US" sz="2000" dirty="0"/>
          </a:p>
        </p:txBody>
      </p:sp>
      <p:sp>
        <p:nvSpPr>
          <p:cNvPr id="81" name="Statement 4"/>
          <p:cNvSpPr/>
          <p:nvPr/>
        </p:nvSpPr>
        <p:spPr>
          <a:xfrm>
            <a:off x="502920" y="5029200"/>
            <a:ext cx="5303520" cy="62179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4. His appointment is at 3:30.</a:t>
            </a:r>
            <a:endParaRPr lang="en-US" sz="2000" dirty="0"/>
          </a:p>
        </p:txBody>
      </p:sp>
      <p:sp>
        <p:nvSpPr>
          <p:cNvPr id="82" name="Option 41"/>
          <p:cNvSpPr/>
          <p:nvPr/>
        </p:nvSpPr>
        <p:spPr>
          <a:xfrm>
            <a:off x="5852160" y="5074920"/>
            <a:ext cx="118872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True</a:t>
            </a:r>
            <a:endParaRPr lang="en-US" sz="2000" dirty="0"/>
          </a:p>
        </p:txBody>
      </p:sp>
      <p:sp>
        <p:nvSpPr>
          <p:cNvPr id="83" name="Option 42"/>
          <p:cNvSpPr/>
          <p:nvPr/>
        </p:nvSpPr>
        <p:spPr>
          <a:xfrm>
            <a:off x="7269480" y="5074920"/>
            <a:ext cx="118872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False</a:t>
            </a:r>
            <a:endParaRPr lang="en-US" sz="2000" dirty="0"/>
          </a:p>
        </p:txBody>
      </p:sp>
      <p:sp>
        <p:nvSpPr>
          <p:cNvPr id="84" name="Circle 4"/>
          <p:cNvSpPr/>
          <p:nvPr/>
        </p:nvSpPr>
        <p:spPr>
          <a:xfrm>
            <a:off x="5724144" y="5010912"/>
            <a:ext cx="1444752" cy="658368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85" name="Statement 5"/>
          <p:cNvSpPr/>
          <p:nvPr/>
        </p:nvSpPr>
        <p:spPr>
          <a:xfrm>
            <a:off x="502920" y="5760720"/>
            <a:ext cx="5303520" cy="62179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5. He should go to work today.</a:t>
            </a:r>
            <a:endParaRPr lang="en-US" sz="2000" dirty="0"/>
          </a:p>
        </p:txBody>
      </p:sp>
      <p:sp>
        <p:nvSpPr>
          <p:cNvPr id="86" name="Option 51"/>
          <p:cNvSpPr/>
          <p:nvPr/>
        </p:nvSpPr>
        <p:spPr>
          <a:xfrm>
            <a:off x="5852160" y="5806440"/>
            <a:ext cx="118872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True</a:t>
            </a:r>
            <a:endParaRPr lang="en-US" sz="2000" dirty="0"/>
          </a:p>
        </p:txBody>
      </p:sp>
      <p:sp>
        <p:nvSpPr>
          <p:cNvPr id="87" name="Option 52"/>
          <p:cNvSpPr/>
          <p:nvPr/>
        </p:nvSpPr>
        <p:spPr>
          <a:xfrm>
            <a:off x="7269480" y="5806440"/>
            <a:ext cx="1188720" cy="530352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False</a:t>
            </a:r>
            <a:endParaRPr lang="en-US" sz="2000" dirty="0"/>
          </a:p>
        </p:txBody>
      </p:sp>
      <p:sp>
        <p:nvSpPr>
          <p:cNvPr id="88" name="Circle 5"/>
          <p:cNvSpPr/>
          <p:nvPr/>
        </p:nvSpPr>
        <p:spPr>
          <a:xfrm>
            <a:off x="7141464" y="5742432"/>
            <a:ext cx="1444752" cy="658368"/>
          </a:xfrm>
          <a:prstGeom prst="ellipse">
            <a:avLst/>
          </a:prstGeom>
          <a:noFill/>
          <a:ln w="50800">
            <a:solidFill>
              <a:srgbClr val="5B3FC4"/>
            </a:solidFill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89" name="Fix 5"/>
          <p:cNvSpPr/>
          <p:nvPr/>
        </p:nvSpPr>
        <p:spPr>
          <a:xfrm>
            <a:off x="8732520" y="5760720"/>
            <a:ext cx="2194560" cy="621792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 shouldn't.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4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4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4982" y="2093062"/>
            <a:ext cx="6227064" cy="983894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1583741" y="2035454"/>
            <a:ext cx="5130698" cy="983894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583741" y="3127248"/>
            <a:ext cx="5130698" cy="77724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583741" y="3977640"/>
            <a:ext cx="5130698" cy="77724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1583741" y="4828032"/>
            <a:ext cx="5130698" cy="77724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583741" y="5678424"/>
            <a:ext cx="5130698" cy="77724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10512" y="2103120"/>
            <a:ext cx="443484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 again.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901952" y="2505456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the missing word.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810512" y="3127248"/>
            <a:ext cx="3403397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I'm sorry. What's the ____?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810512" y="3977640"/>
            <a:ext cx="364845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Three days ____.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810512" y="4828032"/>
            <a:ext cx="3403397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____ rest and drink a lot of water.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810512" y="5678424"/>
            <a:ext cx="2915107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____ go to work today.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44982" y="2035454"/>
            <a:ext cx="1039673" cy="983894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86714" y="2166214"/>
            <a:ext cx="1109167" cy="64648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</a:t>
            </a:r>
            <a:endParaRPr lang="en-US" sz="3600" dirty="0"/>
          </a:p>
        </p:txBody>
      </p:sp>
      <p:sp>
        <p:nvSpPr>
          <p:cNvPr id="21" name="Shape 19"/>
          <p:cNvSpPr/>
          <p:nvPr/>
        </p:nvSpPr>
        <p:spPr>
          <a:xfrm>
            <a:off x="544982" y="3127248"/>
            <a:ext cx="1039673" cy="77724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86714" y="3127248"/>
            <a:ext cx="1109167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3200" dirty="0"/>
          </a:p>
        </p:txBody>
      </p:sp>
      <p:sp>
        <p:nvSpPr>
          <p:cNvPr id="23" name="Shape 21"/>
          <p:cNvSpPr/>
          <p:nvPr/>
        </p:nvSpPr>
        <p:spPr>
          <a:xfrm>
            <a:off x="544982" y="3977640"/>
            <a:ext cx="1039673" cy="77724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86714" y="3977640"/>
            <a:ext cx="1109167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3200" dirty="0"/>
          </a:p>
        </p:txBody>
      </p:sp>
      <p:sp>
        <p:nvSpPr>
          <p:cNvPr id="25" name="Shape 23"/>
          <p:cNvSpPr/>
          <p:nvPr/>
        </p:nvSpPr>
        <p:spPr>
          <a:xfrm>
            <a:off x="544982" y="4828032"/>
            <a:ext cx="1039673" cy="77724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86714" y="4828032"/>
            <a:ext cx="1109167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3200" dirty="0"/>
          </a:p>
        </p:txBody>
      </p:sp>
      <p:sp>
        <p:nvSpPr>
          <p:cNvPr id="27" name="Shape 25"/>
          <p:cNvSpPr/>
          <p:nvPr/>
        </p:nvSpPr>
        <p:spPr>
          <a:xfrm>
            <a:off x="544982" y="5678424"/>
            <a:ext cx="1039673" cy="77724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86714" y="5678424"/>
            <a:ext cx="1109167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4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7634326" y="1783080"/>
            <a:ext cx="4229100" cy="1600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Listening C</a:t>
            </a:r>
            <a:endParaRPr lang="en-US" sz="4000" dirty="0"/>
          </a:p>
        </p:txBody>
      </p:sp>
      <p:sp>
        <p:nvSpPr>
          <p:cNvPr id="30" name="Text 28"/>
          <p:cNvSpPr/>
          <p:nvPr/>
        </p:nvSpPr>
        <p:spPr>
          <a:xfrm>
            <a:off x="7751369" y="3611880"/>
            <a:ext cx="3931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should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= a good idea</a:t>
            </a:r>
            <a:endParaRPr lang="en-US" sz="2000" dirty="0"/>
          </a:p>
          <a:p>
            <a:pPr algn="l" indent="0" marL="0">
              <a:lnSpc>
                <a:spcPct val="120000"/>
              </a:lnSpc>
              <a:spcAft>
                <a:spcPts val="12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shouldn't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= not a good idea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6184087" y="1804111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6242576" y="1795013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 rot="900000">
            <a:off x="6444038" y="2007523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42" name="Answer 1"/>
          <p:cNvSpPr/>
          <p:nvPr/>
        </p:nvSpPr>
        <p:spPr>
          <a:xfrm>
            <a:off x="5287061" y="3278124"/>
            <a:ext cx="1296619" cy="47548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matter</a:t>
            </a:r>
            <a:endParaRPr lang="en-US" sz="2200" dirty="0"/>
          </a:p>
        </p:txBody>
      </p:sp>
      <p:sp>
        <p:nvSpPr>
          <p:cNvPr id="43" name="Answer 2"/>
          <p:cNvSpPr/>
          <p:nvPr/>
        </p:nvSpPr>
        <p:spPr>
          <a:xfrm>
            <a:off x="5532120" y="4128516"/>
            <a:ext cx="1051560" cy="47548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ago</a:t>
            </a:r>
            <a:endParaRPr lang="en-US" sz="2200" dirty="0"/>
          </a:p>
        </p:txBody>
      </p:sp>
      <p:sp>
        <p:nvSpPr>
          <p:cNvPr id="44" name="Answer 3"/>
          <p:cNvSpPr/>
          <p:nvPr/>
        </p:nvSpPr>
        <p:spPr>
          <a:xfrm>
            <a:off x="5287061" y="4978908"/>
            <a:ext cx="1296619" cy="47548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should</a:t>
            </a:r>
            <a:endParaRPr lang="en-US" sz="2200" dirty="0"/>
          </a:p>
        </p:txBody>
      </p:sp>
      <p:sp>
        <p:nvSpPr>
          <p:cNvPr id="45" name="Answer 4"/>
          <p:cNvSpPr/>
          <p:nvPr/>
        </p:nvSpPr>
        <p:spPr>
          <a:xfrm>
            <a:off x="4798771" y="5829300"/>
            <a:ext cx="1784909" cy="475488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36576" tIns="36576" rIns="36576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shouldn't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42786" y="3649370"/>
            <a:ext cx="4912157" cy="256123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60116" y="1350752"/>
            <a:ext cx="5663794" cy="156636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93446" y="1286561"/>
            <a:ext cx="5663794" cy="156636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32104" y="1371600"/>
            <a:ext cx="52578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1</a:t>
            </a:r>
            <a:endParaRPr lang="en-US" sz="2000" dirty="0"/>
          </a:p>
          <a:p>
            <a:pPr algn="l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What's the</a:t>
            </a:r>
            <a:endParaRPr lang="en-US" sz="3200" dirty="0"/>
          </a:p>
          <a:p>
            <a:pPr algn="l" indent="0" marL="0">
              <a:buNone/>
            </a:pPr>
            <a:r>
              <a:rPr lang="en-US" sz="3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Matter?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1305763" y="3649370"/>
            <a:ext cx="4790542" cy="2599639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2540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741578" y="3253435"/>
            <a:ext cx="1024128" cy="967435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823874" y="3240634"/>
            <a:ext cx="1042416" cy="1042416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 rot="900000">
            <a:off x="1107338" y="3539642"/>
            <a:ext cx="445313" cy="445313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pic>
        <p:nvPicPr>
          <p:cNvPr id="42" name="Picture 42" descr="L10_headache.png"/>
          <p:cNvPicPr>
            <a:picLocks noChangeAspect="1"/>
          </p:cNvPicPr>
          <p:nvPr/>
        </p:nvPicPr>
        <p:blipFill>
          <a:blip r:embed="rIdQ1"/>
          <a:stretch>
            <a:fillRect/>
          </a:stretch>
        </p:blipFill>
        <p:spPr>
          <a:xfrm>
            <a:off x="7598664" y="1216152"/>
            <a:ext cx="3254350" cy="2278045"/>
          </a:xfrm>
          <a:prstGeom prst="rect">
            <a:avLst/>
          </a:prstGeom>
        </p:spPr>
      </p:pic>
      <p:sp>
        <p:nvSpPr>
          <p:cNvPr id="43" name="Q head"/>
          <p:cNvSpPr/>
          <p:nvPr/>
        </p:nvSpPr>
        <p:spPr>
          <a:xfrm>
            <a:off x="1920240" y="3794760"/>
            <a:ext cx="402336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QUESTION</a:t>
            </a:r>
            <a:endParaRPr lang="en-US" sz="2000" dirty="0"/>
          </a:p>
        </p:txBody>
      </p:sp>
      <p:sp>
        <p:nvSpPr>
          <p:cNvPr id="44" name="A head"/>
          <p:cNvSpPr/>
          <p:nvPr/>
        </p:nvSpPr>
        <p:spPr>
          <a:xfrm>
            <a:off x="7040880" y="3794760"/>
            <a:ext cx="448056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000" dirty="0"/>
          </a:p>
        </p:txBody>
      </p:sp>
      <p:sp>
        <p:nvSpPr>
          <p:cNvPr id="45" name="Highlight"/>
          <p:cNvSpPr/>
          <p:nvPr/>
        </p:nvSpPr>
        <p:spPr>
          <a:xfrm>
            <a:off x="1481328" y="4453128"/>
            <a:ext cx="3035808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46" name="Question"/>
          <p:cNvSpPr/>
          <p:nvPr/>
        </p:nvSpPr>
        <p:spPr>
          <a:xfrm>
            <a:off x="1481328" y="4315968"/>
            <a:ext cx="4526280" cy="8229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What's 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the matter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?</a:t>
            </a:r>
            <a:endParaRPr lang="en-US" sz="2200" dirty="0"/>
          </a:p>
        </p:txBody>
      </p:sp>
      <p:sp>
        <p:nvSpPr>
          <p:cNvPr id="48" name="Answer bg"/>
          <p:cNvSpPr/>
          <p:nvPr/>
        </p:nvSpPr>
        <p:spPr>
          <a:xfrm>
            <a:off x="6949440" y="4334256"/>
            <a:ext cx="4526280" cy="786384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47" name="Answer"/>
          <p:cNvSpPr/>
          <p:nvPr/>
        </p:nvSpPr>
        <p:spPr>
          <a:xfrm>
            <a:off x="6949440" y="4315968"/>
            <a:ext cx="4526280" cy="8229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have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 headache.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My head 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hurts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200" dirty="0"/>
          </a:p>
        </p:txBody>
      </p:sp>
      <p:sp>
        <p:nvSpPr>
          <p:cNvPr id="49" name="Highlight"/>
          <p:cNvSpPr/>
          <p:nvPr/>
        </p:nvSpPr>
        <p:spPr>
          <a:xfrm>
            <a:off x="1481328" y="5367528"/>
            <a:ext cx="2281428" cy="54864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50" name="Question"/>
          <p:cNvSpPr/>
          <p:nvPr/>
        </p:nvSpPr>
        <p:spPr>
          <a:xfrm>
            <a:off x="1481328" y="5230368"/>
            <a:ext cx="4526280" cy="8229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What's 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wrong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?</a:t>
            </a:r>
            <a:endParaRPr lang="en-US" sz="2200" dirty="0"/>
          </a:p>
        </p:txBody>
      </p:sp>
      <p:sp>
        <p:nvSpPr>
          <p:cNvPr id="52" name="Answer bg"/>
          <p:cNvSpPr/>
          <p:nvPr/>
        </p:nvSpPr>
        <p:spPr>
          <a:xfrm>
            <a:off x="6949440" y="5248656"/>
            <a:ext cx="4526280" cy="786384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51" name="Answer"/>
          <p:cNvSpPr/>
          <p:nvPr/>
        </p:nvSpPr>
        <p:spPr>
          <a:xfrm>
            <a:off x="6949440" y="5230368"/>
            <a:ext cx="4526280" cy="82296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have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a cold.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My feet 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hurt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76429" y="1163345"/>
            <a:ext cx="5814670" cy="186354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110582" y="1087222"/>
            <a:ext cx="5814670" cy="186354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 flipV="1">
            <a:off x="-106985" y="-101498"/>
            <a:ext cx="3844138" cy="6418174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333695" y="1280160"/>
            <a:ext cx="4846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2</a:t>
            </a:r>
            <a:endParaRPr lang="en-US" sz="2000" dirty="0"/>
          </a:p>
          <a:p>
            <a:pPr algn="l" indent="0" marL="0">
              <a:spcAft>
                <a:spcPts val="400"/>
              </a:spcAft>
              <a:buNone/>
            </a:pPr>
            <a:r>
              <a:rPr lang="en-US" sz="3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Does your ... hurt?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166360" y="3246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QUESTION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741664" y="3246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ANSWER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0245852" y="2478938"/>
            <a:ext cx="1024128" cy="967435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10328148" y="2466137"/>
            <a:ext cx="1042416" cy="1042416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 rot="900000">
            <a:off x="10611612" y="2765146"/>
            <a:ext cx="445313" cy="445313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pic>
        <p:nvPicPr>
          <p:cNvPr id="44" name="Picture 44" descr="L10_hurts.png"/>
          <p:cNvPicPr>
            <a:picLocks noChangeAspect="1"/>
          </p:cNvPicPr>
          <p:nvPr/>
        </p:nvPicPr>
        <p:blipFill>
          <a:blip r:embed="rIdQ1"/>
          <a:stretch>
            <a:fillRect/>
          </a:stretch>
        </p:blipFill>
        <p:spPr>
          <a:xfrm>
            <a:off x="699516" y="2264969"/>
            <a:ext cx="3326587" cy="2328611"/>
          </a:xfrm>
          <a:prstGeom prst="rect">
            <a:avLst/>
          </a:prstGeom>
        </p:spPr>
      </p:pic>
      <p:sp>
        <p:nvSpPr>
          <p:cNvPr id="45" name="Highlight"/>
          <p:cNvSpPr/>
          <p:nvPr/>
        </p:nvSpPr>
        <p:spPr>
          <a:xfrm>
            <a:off x="5138928" y="3899916"/>
            <a:ext cx="960120" cy="566928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46" name="Helper"/>
          <p:cNvSpPr/>
          <p:nvPr/>
        </p:nvSpPr>
        <p:spPr>
          <a:xfrm>
            <a:off x="5138928" y="3749040"/>
            <a:ext cx="96012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18288" tIns="36576" rIns="18288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Does</a:t>
            </a:r>
            <a:endParaRPr lang="en-US" sz="2600" dirty="0"/>
          </a:p>
        </p:txBody>
      </p:sp>
      <p:sp>
        <p:nvSpPr>
          <p:cNvPr id="47" name="Question"/>
          <p:cNvSpPr/>
          <p:nvPr/>
        </p:nvSpPr>
        <p:spPr>
          <a:xfrm>
            <a:off x="6144768" y="3749040"/>
            <a:ext cx="2487168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your head hurt?</a:t>
            </a:r>
            <a:endParaRPr lang="en-US" sz="2200" dirty="0"/>
          </a:p>
        </p:txBody>
      </p:sp>
      <p:sp>
        <p:nvSpPr>
          <p:cNvPr id="49" name="Answer bg"/>
          <p:cNvSpPr/>
          <p:nvPr/>
        </p:nvSpPr>
        <p:spPr>
          <a:xfrm>
            <a:off x="8668512" y="3749040"/>
            <a:ext cx="3017520" cy="86868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48" name="Answer"/>
          <p:cNvSpPr/>
          <p:nvPr/>
        </p:nvSpPr>
        <p:spPr>
          <a:xfrm>
            <a:off x="8668512" y="3749040"/>
            <a:ext cx="301752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it 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does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No, it 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doesn't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200" dirty="0"/>
          </a:p>
        </p:txBody>
      </p:sp>
      <p:sp>
        <p:nvSpPr>
          <p:cNvPr id="50" name="Highlight"/>
          <p:cNvSpPr/>
          <p:nvPr/>
        </p:nvSpPr>
        <p:spPr>
          <a:xfrm>
            <a:off x="5138928" y="4814316"/>
            <a:ext cx="960120" cy="566928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51" name="Helper"/>
          <p:cNvSpPr/>
          <p:nvPr/>
        </p:nvSpPr>
        <p:spPr>
          <a:xfrm>
            <a:off x="5138928" y="4663440"/>
            <a:ext cx="96012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18288" tIns="36576" rIns="18288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Does</a:t>
            </a:r>
            <a:endParaRPr lang="en-US" sz="2600" dirty="0"/>
          </a:p>
        </p:txBody>
      </p:sp>
      <p:sp>
        <p:nvSpPr>
          <p:cNvPr id="52" name="Question"/>
          <p:cNvSpPr/>
          <p:nvPr/>
        </p:nvSpPr>
        <p:spPr>
          <a:xfrm>
            <a:off x="6144768" y="4663440"/>
            <a:ext cx="2487168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your arm hurt?</a:t>
            </a:r>
            <a:endParaRPr lang="en-US" sz="2200" dirty="0"/>
          </a:p>
        </p:txBody>
      </p:sp>
      <p:sp>
        <p:nvSpPr>
          <p:cNvPr id="54" name="Answer bg"/>
          <p:cNvSpPr/>
          <p:nvPr/>
        </p:nvSpPr>
        <p:spPr>
          <a:xfrm>
            <a:off x="8668512" y="4663440"/>
            <a:ext cx="3017520" cy="86868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53" name="Answer"/>
          <p:cNvSpPr/>
          <p:nvPr/>
        </p:nvSpPr>
        <p:spPr>
          <a:xfrm>
            <a:off x="8668512" y="4663440"/>
            <a:ext cx="301752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it 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does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No, it 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doesn't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200" dirty="0"/>
          </a:p>
        </p:txBody>
      </p:sp>
      <p:sp>
        <p:nvSpPr>
          <p:cNvPr id="55" name="Highlight"/>
          <p:cNvSpPr/>
          <p:nvPr/>
        </p:nvSpPr>
        <p:spPr>
          <a:xfrm>
            <a:off x="5138928" y="5728716"/>
            <a:ext cx="960120" cy="566928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56" name="Helper"/>
          <p:cNvSpPr/>
          <p:nvPr/>
        </p:nvSpPr>
        <p:spPr>
          <a:xfrm>
            <a:off x="5138928" y="5577840"/>
            <a:ext cx="96012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18288" tIns="36576" rIns="18288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6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</a:t>
            </a:r>
            <a:endParaRPr lang="en-US" sz="2600" dirty="0"/>
          </a:p>
        </p:txBody>
      </p:sp>
      <p:sp>
        <p:nvSpPr>
          <p:cNvPr id="57" name="Question"/>
          <p:cNvSpPr/>
          <p:nvPr/>
        </p:nvSpPr>
        <p:spPr>
          <a:xfrm>
            <a:off x="6144768" y="5577840"/>
            <a:ext cx="2487168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your feet hurt?</a:t>
            </a:r>
            <a:endParaRPr lang="en-US" sz="2200" dirty="0"/>
          </a:p>
        </p:txBody>
      </p:sp>
      <p:sp>
        <p:nvSpPr>
          <p:cNvPr id="59" name="Answer bg"/>
          <p:cNvSpPr/>
          <p:nvPr/>
        </p:nvSpPr>
        <p:spPr>
          <a:xfrm>
            <a:off x="8668512" y="5577840"/>
            <a:ext cx="3017520" cy="868680"/>
          </a:xfrm>
          <a:prstGeom prst="roundRect">
            <a:avLst>
              <a:gd name="adj" fmla="val 22000"/>
            </a:avLst>
          </a:prstGeom>
          <a:solidFill>
            <a:srgbClr val="C9B8F2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58" name="Answer"/>
          <p:cNvSpPr/>
          <p:nvPr/>
        </p:nvSpPr>
        <p:spPr>
          <a:xfrm>
            <a:off x="8668512" y="5577840"/>
            <a:ext cx="301752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Yes, they 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No, they </a:t>
            </a: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63240" cy="685800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8156448" y="1289304"/>
            <a:ext cx="3429000" cy="49834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321040" y="1097280"/>
            <a:ext cx="3429000" cy="498348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94847" y="1032586"/>
            <a:ext cx="4424782" cy="186354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3420770" y="956462"/>
            <a:ext cx="4424782" cy="186354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566160" y="1078992"/>
            <a:ext cx="4114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 should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3566160" y="1828800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do?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487522" y="310896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should +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base verb</a:t>
            </a:r>
            <a:endParaRPr lang="en-US" sz="2000" dirty="0"/>
          </a:p>
        </p:txBody>
      </p:sp>
      <p:pic>
        <p:nvPicPr>
          <p:cNvPr id="65" name="Picture 65" descr="L10_rest.png"/>
          <p:cNvPicPr>
            <a:picLocks noChangeAspect="1"/>
          </p:cNvPicPr>
          <p:nvPr/>
        </p:nvPicPr>
        <p:blipFill>
          <a:blip r:embed="rIdQ1"/>
          <a:stretch>
            <a:fillRect/>
          </a:stretch>
        </p:blipFill>
        <p:spPr>
          <a:xfrm>
            <a:off x="160020" y="2423160"/>
            <a:ext cx="2743200" cy="1920240"/>
          </a:xfrm>
          <a:prstGeom prst="rect">
            <a:avLst/>
          </a:prstGeom>
        </p:spPr>
      </p:pic>
      <p:sp>
        <p:nvSpPr>
          <p:cNvPr id="66" name="Wh"/>
          <p:cNvSpPr/>
          <p:nvPr/>
        </p:nvSpPr>
        <p:spPr>
          <a:xfrm>
            <a:off x="3520440" y="4114800"/>
            <a:ext cx="907999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</a:t>
            </a:r>
            <a:endParaRPr lang="en-US" sz="2200" dirty="0"/>
          </a:p>
        </p:txBody>
      </p:sp>
      <p:sp>
        <p:nvSpPr>
          <p:cNvPr id="67" name="Highlight"/>
          <p:cNvSpPr/>
          <p:nvPr/>
        </p:nvSpPr>
        <p:spPr>
          <a:xfrm>
            <a:off x="4428439" y="4114800"/>
            <a:ext cx="1306495" cy="530352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68" name="Helper"/>
          <p:cNvSpPr/>
          <p:nvPr/>
        </p:nvSpPr>
        <p:spPr>
          <a:xfrm>
            <a:off x="4428439" y="4114800"/>
            <a:ext cx="1306495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should</a:t>
            </a:r>
            <a:endParaRPr lang="en-US" sz="2200" dirty="0"/>
          </a:p>
        </p:txBody>
      </p:sp>
      <p:sp>
        <p:nvSpPr>
          <p:cNvPr id="69" name="Rest"/>
          <p:cNvSpPr/>
          <p:nvPr/>
        </p:nvSpPr>
        <p:spPr>
          <a:xfrm>
            <a:off x="5789798" y="4114800"/>
            <a:ext cx="937260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do?</a:t>
            </a:r>
            <a:endParaRPr lang="en-US" sz="2200" dirty="0"/>
          </a:p>
        </p:txBody>
      </p:sp>
      <p:sp>
        <p:nvSpPr>
          <p:cNvPr id="70" name="Wh"/>
          <p:cNvSpPr/>
          <p:nvPr/>
        </p:nvSpPr>
        <p:spPr>
          <a:xfrm>
            <a:off x="3520440" y="4846320"/>
            <a:ext cx="907999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</a:t>
            </a:r>
            <a:endParaRPr lang="en-US" sz="2200" dirty="0"/>
          </a:p>
        </p:txBody>
      </p:sp>
      <p:sp>
        <p:nvSpPr>
          <p:cNvPr id="71" name="Highlight"/>
          <p:cNvSpPr/>
          <p:nvPr/>
        </p:nvSpPr>
        <p:spPr>
          <a:xfrm>
            <a:off x="4428439" y="4846320"/>
            <a:ext cx="1306495" cy="530352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72" name="Helper"/>
          <p:cNvSpPr/>
          <p:nvPr/>
        </p:nvSpPr>
        <p:spPr>
          <a:xfrm>
            <a:off x="4428439" y="4846320"/>
            <a:ext cx="1306495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should</a:t>
            </a:r>
            <a:endParaRPr lang="en-US" sz="2200" dirty="0"/>
          </a:p>
        </p:txBody>
      </p:sp>
      <p:sp>
        <p:nvSpPr>
          <p:cNvPr id="73" name="Rest"/>
          <p:cNvSpPr/>
          <p:nvPr/>
        </p:nvSpPr>
        <p:spPr>
          <a:xfrm>
            <a:off x="5789798" y="4846320"/>
            <a:ext cx="1088136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 do?</a:t>
            </a:r>
            <a:endParaRPr lang="en-US" sz="2200" dirty="0"/>
          </a:p>
        </p:txBody>
      </p:sp>
      <p:sp>
        <p:nvSpPr>
          <p:cNvPr id="74" name="Wh"/>
          <p:cNvSpPr/>
          <p:nvPr/>
        </p:nvSpPr>
        <p:spPr>
          <a:xfrm>
            <a:off x="3520440" y="5577840"/>
            <a:ext cx="907999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What</a:t>
            </a:r>
            <a:endParaRPr lang="en-US" sz="2200" dirty="0"/>
          </a:p>
        </p:txBody>
      </p:sp>
      <p:sp>
        <p:nvSpPr>
          <p:cNvPr id="75" name="Highlight"/>
          <p:cNvSpPr/>
          <p:nvPr/>
        </p:nvSpPr>
        <p:spPr>
          <a:xfrm>
            <a:off x="4428439" y="5577840"/>
            <a:ext cx="1306495" cy="530352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/>
            </a:r>
            <a:endParaRPr lang="en-US" sz="2000" dirty="0"/>
          </a:p>
        </p:txBody>
      </p:sp>
      <p:sp>
        <p:nvSpPr>
          <p:cNvPr id="76" name="Helper"/>
          <p:cNvSpPr/>
          <p:nvPr/>
        </p:nvSpPr>
        <p:spPr>
          <a:xfrm>
            <a:off x="4428439" y="5577840"/>
            <a:ext cx="1306495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should</a:t>
            </a:r>
            <a:endParaRPr lang="en-US" sz="2200" dirty="0"/>
          </a:p>
        </p:txBody>
      </p:sp>
      <p:sp>
        <p:nvSpPr>
          <p:cNvPr id="77" name="Rest"/>
          <p:cNvSpPr/>
          <p:nvPr/>
        </p:nvSpPr>
        <p:spPr>
          <a:xfrm>
            <a:off x="5789798" y="5577840"/>
            <a:ext cx="1239012" cy="530352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 do?</a:t>
            </a:r>
            <a:endParaRPr lang="en-US" sz="2200" dirty="0"/>
          </a:p>
        </p:txBody>
      </p:sp>
      <p:sp>
        <p:nvSpPr>
          <p:cNvPr id="78" name="Card head"/>
          <p:cNvSpPr/>
          <p:nvPr/>
        </p:nvSpPr>
        <p:spPr>
          <a:xfrm>
            <a:off x="8549640" y="1280160"/>
            <a:ext cx="3017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Advice</a:t>
            </a:r>
            <a:endParaRPr lang="en-US" sz="2400" dirty="0"/>
          </a:p>
        </p:txBody>
      </p:sp>
      <p:sp>
        <p:nvSpPr>
          <p:cNvPr id="79" name="Card item"/>
          <p:cNvSpPr/>
          <p:nvPr/>
        </p:nvSpPr>
        <p:spPr>
          <a:xfrm>
            <a:off x="8549640" y="1920240"/>
            <a:ext cx="3017520" cy="45720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should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rest.</a:t>
            </a:r>
            <a:endParaRPr lang="en-US" sz="2000" dirty="0"/>
          </a:p>
        </p:txBody>
      </p:sp>
      <p:sp>
        <p:nvSpPr>
          <p:cNvPr id="80" name="Card item"/>
          <p:cNvSpPr/>
          <p:nvPr/>
        </p:nvSpPr>
        <p:spPr>
          <a:xfrm>
            <a:off x="8549640" y="2404872"/>
            <a:ext cx="3017520" cy="7772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He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should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see a doctor.</a:t>
            </a:r>
            <a:endParaRPr lang="en-US" sz="2000" dirty="0"/>
          </a:p>
        </p:txBody>
      </p:sp>
      <p:sp>
        <p:nvSpPr>
          <p:cNvPr id="81" name="Card item"/>
          <p:cNvSpPr/>
          <p:nvPr/>
        </p:nvSpPr>
        <p:spPr>
          <a:xfrm>
            <a:off x="8549640" y="3209544"/>
            <a:ext cx="3017520" cy="7772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 </a:t>
            </a: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shouldn't</a:t>
            </a: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go to work.</a:t>
            </a:r>
            <a:endParaRPr lang="en-US" sz="2000" dirty="0"/>
          </a:p>
        </p:txBody>
      </p:sp>
      <p:sp>
        <p:nvSpPr>
          <p:cNvPr id="82" name="Example"/>
          <p:cNvSpPr/>
          <p:nvPr/>
        </p:nvSpPr>
        <p:spPr>
          <a:xfrm>
            <a:off x="8549640" y="5394960"/>
            <a:ext cx="3017520" cy="50292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to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 No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-s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 flipV="1">
            <a:off x="8060436" y="1132027"/>
            <a:ext cx="4274820" cy="586039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8126273" y="1165860"/>
            <a:ext cx="4132174" cy="342900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 flipH="1">
            <a:off x="501091" y="3621024"/>
            <a:ext cx="3543300" cy="2770632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 flipH="1">
            <a:off x="4388206" y="3629254"/>
            <a:ext cx="5860390" cy="2770632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79328" y="1251082"/>
            <a:ext cx="7295083" cy="156636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22122" y="1186891"/>
            <a:ext cx="7295083" cy="156636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 flipH="1">
            <a:off x="658368" y="3429000"/>
            <a:ext cx="3610966" cy="27706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 flipH="1">
            <a:off x="4519879" y="3429000"/>
            <a:ext cx="5860390" cy="27706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08076" y="155448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Common Mistakes</a:t>
            </a:r>
            <a:endParaRPr lang="en-US" sz="4300" dirty="0"/>
          </a:p>
        </p:txBody>
      </p:sp>
      <p:sp>
        <p:nvSpPr>
          <p:cNvPr id="18" name="Shape 16"/>
          <p:cNvSpPr/>
          <p:nvPr/>
        </p:nvSpPr>
        <p:spPr>
          <a:xfrm>
            <a:off x="9562795" y="3112618"/>
            <a:ext cx="1024128" cy="967435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9645091" y="3099816"/>
            <a:ext cx="1042416" cy="1042416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 rot="900000">
            <a:off x="9928555" y="3398825"/>
            <a:ext cx="445313" cy="445313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pic>
        <p:nvPicPr>
          <p:cNvPr id="37" name="Picture 37" descr="L10_fever.png"/>
          <p:cNvPicPr>
            <a:picLocks noChangeAspect="1"/>
          </p:cNvPicPr>
          <p:nvPr/>
        </p:nvPicPr>
        <p:blipFill>
          <a:blip r:embed="rIdQ1"/>
          <a:stretch>
            <a:fillRect/>
          </a:stretch>
        </p:blipFill>
        <p:spPr>
          <a:xfrm>
            <a:off x="8915400" y="1280160"/>
            <a:ext cx="2551176" cy="1785823"/>
          </a:xfrm>
          <a:prstGeom prst="rect">
            <a:avLst/>
          </a:prstGeom>
        </p:spPr>
      </p:pic>
      <p:sp>
        <p:nvSpPr>
          <p:cNvPr id="38" name="Dont head"/>
          <p:cNvSpPr/>
          <p:nvPr/>
        </p:nvSpPr>
        <p:spPr>
          <a:xfrm>
            <a:off x="914400" y="3520440"/>
            <a:ext cx="3108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B423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say</a:t>
            </a:r>
            <a:endParaRPr lang="en-US" sz="2200" dirty="0"/>
          </a:p>
        </p:txBody>
      </p:sp>
      <p:sp>
        <p:nvSpPr>
          <p:cNvPr id="39" name="Say head"/>
          <p:cNvSpPr/>
          <p:nvPr/>
        </p:nvSpPr>
        <p:spPr>
          <a:xfrm>
            <a:off x="4800600" y="3520440"/>
            <a:ext cx="53035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E6B45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</a:t>
            </a:r>
            <a:endParaRPr lang="en-US" sz="2200" dirty="0"/>
          </a:p>
        </p:txBody>
      </p:sp>
      <p:sp>
        <p:nvSpPr>
          <p:cNvPr id="40" name="Bad"/>
          <p:cNvSpPr/>
          <p:nvPr/>
        </p:nvSpPr>
        <p:spPr>
          <a:xfrm>
            <a:off x="914400" y="4023360"/>
            <a:ext cx="32461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have headache.</a:t>
            </a:r>
            <a:endParaRPr lang="en-US" sz="2200" dirty="0"/>
          </a:p>
        </p:txBody>
      </p:sp>
      <p:sp>
        <p:nvSpPr>
          <p:cNvPr id="41" name="Good"/>
          <p:cNvSpPr/>
          <p:nvPr/>
        </p:nvSpPr>
        <p:spPr>
          <a:xfrm>
            <a:off x="4800600" y="4023360"/>
            <a:ext cx="5303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have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headache.</a:t>
            </a:r>
            <a:endParaRPr lang="en-US" sz="2200" dirty="0"/>
          </a:p>
        </p:txBody>
      </p:sp>
      <p:sp>
        <p:nvSpPr>
          <p:cNvPr id="42" name="Bad"/>
          <p:cNvSpPr/>
          <p:nvPr/>
        </p:nvSpPr>
        <p:spPr>
          <a:xfrm>
            <a:off x="914400" y="4626864"/>
            <a:ext cx="3246120" cy="7772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My head is hurting me.</a:t>
            </a:r>
            <a:endParaRPr lang="en-US" sz="2200" dirty="0"/>
          </a:p>
        </p:txBody>
      </p:sp>
      <p:sp>
        <p:nvSpPr>
          <p:cNvPr id="43" name="Good"/>
          <p:cNvSpPr/>
          <p:nvPr/>
        </p:nvSpPr>
        <p:spPr>
          <a:xfrm>
            <a:off x="4800600" y="4626864"/>
            <a:ext cx="5303520" cy="7772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My head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hurts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200" dirty="0"/>
          </a:p>
        </p:txBody>
      </p:sp>
      <p:sp>
        <p:nvSpPr>
          <p:cNvPr id="44" name="Bad"/>
          <p:cNvSpPr/>
          <p:nvPr/>
        </p:nvSpPr>
        <p:spPr>
          <a:xfrm>
            <a:off x="914400" y="5458968"/>
            <a:ext cx="32461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should to rest.</a:t>
            </a:r>
            <a:endParaRPr lang="en-US" sz="2200" dirty="0"/>
          </a:p>
        </p:txBody>
      </p:sp>
      <p:sp>
        <p:nvSpPr>
          <p:cNvPr id="45" name="Good"/>
          <p:cNvSpPr/>
          <p:nvPr/>
        </p:nvSpPr>
        <p:spPr>
          <a:xfrm>
            <a:off x="4800600" y="5458968"/>
            <a:ext cx="5303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should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rest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 flipV="1">
            <a:off x="8060436" y="1132027"/>
            <a:ext cx="4274820" cy="586039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762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8126273" y="1165860"/>
            <a:ext cx="4132174" cy="3429000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 flipH="1">
            <a:off x="501091" y="3621024"/>
            <a:ext cx="3543300" cy="2770632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 flipH="1">
            <a:off x="4388206" y="3629254"/>
            <a:ext cx="5860390" cy="2770632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79328" y="1251082"/>
            <a:ext cx="7295083" cy="1566367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522122" y="1186891"/>
            <a:ext cx="7295083" cy="156636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 flipH="1">
            <a:off x="658368" y="3429000"/>
            <a:ext cx="3610966" cy="27706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 flipH="1">
            <a:off x="4519879" y="3429000"/>
            <a:ext cx="5860390" cy="2770632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08076" y="1554480"/>
            <a:ext cx="6949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Fix These Mistakes</a:t>
            </a:r>
            <a:endParaRPr lang="en-US" sz="4300" dirty="0"/>
          </a:p>
        </p:txBody>
      </p:sp>
      <p:sp>
        <p:nvSpPr>
          <p:cNvPr id="18" name="Shape 16"/>
          <p:cNvSpPr/>
          <p:nvPr/>
        </p:nvSpPr>
        <p:spPr>
          <a:xfrm>
            <a:off x="9562795" y="3112618"/>
            <a:ext cx="1024128" cy="967435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9645091" y="3099816"/>
            <a:ext cx="1042416" cy="1042416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 rot="900000">
            <a:off x="9928555" y="3398825"/>
            <a:ext cx="445313" cy="445313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pic>
        <p:nvPicPr>
          <p:cNvPr id="37" name="Picture 37" descr="L10_sore_throat.png"/>
          <p:cNvPicPr>
            <a:picLocks noChangeAspect="1"/>
          </p:cNvPicPr>
          <p:nvPr/>
        </p:nvPicPr>
        <p:blipFill>
          <a:blip r:embed="rIdQ1"/>
          <a:stretch>
            <a:fillRect/>
          </a:stretch>
        </p:blipFill>
        <p:spPr>
          <a:xfrm>
            <a:off x="8915400" y="1280160"/>
            <a:ext cx="2551176" cy="1785823"/>
          </a:xfrm>
          <a:prstGeom prst="rect">
            <a:avLst/>
          </a:prstGeom>
        </p:spPr>
      </p:pic>
      <p:sp>
        <p:nvSpPr>
          <p:cNvPr id="38" name="Dont head"/>
          <p:cNvSpPr/>
          <p:nvPr/>
        </p:nvSpPr>
        <p:spPr>
          <a:xfrm>
            <a:off x="914400" y="3520440"/>
            <a:ext cx="310896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B42318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Don't say</a:t>
            </a:r>
            <a:endParaRPr lang="en-US" sz="2200" dirty="0"/>
          </a:p>
        </p:txBody>
      </p:sp>
      <p:sp>
        <p:nvSpPr>
          <p:cNvPr id="39" name="Say head"/>
          <p:cNvSpPr/>
          <p:nvPr/>
        </p:nvSpPr>
        <p:spPr>
          <a:xfrm>
            <a:off x="4800600" y="3520440"/>
            <a:ext cx="5303520" cy="50292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E6B45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Say</a:t>
            </a:r>
            <a:endParaRPr lang="en-US" sz="2200" dirty="0"/>
          </a:p>
        </p:txBody>
      </p:sp>
      <p:sp>
        <p:nvSpPr>
          <p:cNvPr id="40" name="Bad"/>
          <p:cNvSpPr/>
          <p:nvPr/>
        </p:nvSpPr>
        <p:spPr>
          <a:xfrm>
            <a:off x="914400" y="4023360"/>
            <a:ext cx="32461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 shoulds go.</a:t>
            </a:r>
            <a:endParaRPr lang="en-US" sz="2200" dirty="0"/>
          </a:p>
        </p:txBody>
      </p:sp>
      <p:sp>
        <p:nvSpPr>
          <p:cNvPr id="41" name="Good"/>
          <p:cNvSpPr/>
          <p:nvPr/>
        </p:nvSpPr>
        <p:spPr>
          <a:xfrm>
            <a:off x="4800600" y="4023360"/>
            <a:ext cx="5303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should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go.</a:t>
            </a:r>
            <a:endParaRPr lang="en-US" sz="2200" dirty="0"/>
          </a:p>
        </p:txBody>
      </p:sp>
      <p:sp>
        <p:nvSpPr>
          <p:cNvPr id="42" name="Bad"/>
          <p:cNvSpPr/>
          <p:nvPr/>
        </p:nvSpPr>
        <p:spPr>
          <a:xfrm>
            <a:off x="914400" y="4626864"/>
            <a:ext cx="3246120" cy="7772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have pain in my throat.</a:t>
            </a:r>
            <a:endParaRPr lang="en-US" sz="2200" dirty="0"/>
          </a:p>
        </p:txBody>
      </p:sp>
      <p:sp>
        <p:nvSpPr>
          <p:cNvPr id="43" name="Good"/>
          <p:cNvSpPr/>
          <p:nvPr/>
        </p:nvSpPr>
        <p:spPr>
          <a:xfrm>
            <a:off x="4800600" y="4626864"/>
            <a:ext cx="5303520" cy="7772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have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 sore throat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200" dirty="0"/>
          </a:p>
        </p:txBody>
      </p:sp>
      <p:sp>
        <p:nvSpPr>
          <p:cNvPr id="44" name="Bad"/>
          <p:cNvSpPr/>
          <p:nvPr/>
        </p:nvSpPr>
        <p:spPr>
          <a:xfrm>
            <a:off x="914400" y="5458968"/>
            <a:ext cx="32461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My feet hurts.</a:t>
            </a:r>
            <a:endParaRPr lang="en-US" sz="2200" dirty="0"/>
          </a:p>
        </p:txBody>
      </p:sp>
      <p:sp>
        <p:nvSpPr>
          <p:cNvPr id="45" name="Good"/>
          <p:cNvSpPr/>
          <p:nvPr/>
        </p:nvSpPr>
        <p:spPr>
          <a:xfrm>
            <a:off x="4800600" y="5458968"/>
            <a:ext cx="5303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My feet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hurt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3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Quick Check</a:t>
            </a:r>
            <a:endParaRPr lang="en-US" sz="4300" dirty="0"/>
          </a:p>
        </p:txBody>
      </p:sp>
      <p:sp>
        <p:nvSpPr>
          <p:cNvPr id="3" name="Text 1"/>
          <p:cNvSpPr/>
          <p:nvPr/>
        </p:nvSpPr>
        <p:spPr>
          <a:xfrm>
            <a:off x="685800" y="155448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have, hurt, or should?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589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858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601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601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960120" y="3429000"/>
            <a:ext cx="2788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She should ___. (rest / to rest)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4165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43434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C9B8F2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6177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6177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500" dirty="0"/>
          </a:p>
        </p:txBody>
      </p:sp>
      <p:sp>
        <p:nvSpPr>
          <p:cNvPr id="14" name="Text 12"/>
          <p:cNvSpPr/>
          <p:nvPr/>
        </p:nvSpPr>
        <p:spPr>
          <a:xfrm>
            <a:off x="4617720" y="3429000"/>
            <a:ext cx="2788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have headache. OK?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8074152" y="2395728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8001000" y="2286000"/>
            <a:ext cx="3291840" cy="338328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 w="19050">
            <a:solidFill>
              <a:srgbClr val="8FAFE3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8275320" y="2560320"/>
            <a:ext cx="731520" cy="731520"/>
          </a:xfrm>
          <a:prstGeom prst="ellipse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275320" y="2560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500" dirty="0"/>
          </a:p>
        </p:txBody>
      </p:sp>
      <p:sp>
        <p:nvSpPr>
          <p:cNvPr id="20" name="Text 18"/>
          <p:cNvSpPr/>
          <p:nvPr/>
        </p:nvSpPr>
        <p:spPr>
          <a:xfrm>
            <a:off x="8275320" y="3429000"/>
            <a:ext cx="27889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My legs ___. (hurt / hurts)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10972800" y="5120640"/>
            <a:ext cx="777240" cy="734214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11035257" y="5110925"/>
            <a:ext cx="791119" cy="791119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 rot="900000">
            <a:off x="11250386" y="5337851"/>
            <a:ext cx="337961" cy="337961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31" name="Answer"/>
          <p:cNvSpPr/>
          <p:nvPr/>
        </p:nvSpPr>
        <p:spPr>
          <a:xfrm>
            <a:off x="960120" y="4709160"/>
            <a:ext cx="173736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rest</a:t>
            </a:r>
            <a:endParaRPr lang="en-US" sz="2200" dirty="0"/>
          </a:p>
        </p:txBody>
      </p:sp>
      <p:sp>
        <p:nvSpPr>
          <p:cNvPr id="32" name="Answer"/>
          <p:cNvSpPr/>
          <p:nvPr/>
        </p:nvSpPr>
        <p:spPr>
          <a:xfrm>
            <a:off x="4617720" y="4709160"/>
            <a:ext cx="260604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No: a headache</a:t>
            </a:r>
            <a:endParaRPr lang="en-US" sz="2200" dirty="0"/>
          </a:p>
        </p:txBody>
      </p:sp>
      <p:sp>
        <p:nvSpPr>
          <p:cNvPr id="33" name="Answer"/>
          <p:cNvSpPr/>
          <p:nvPr/>
        </p:nvSpPr>
        <p:spPr>
          <a:xfrm>
            <a:off x="8275320" y="4709160"/>
            <a:ext cx="1737360" cy="685800"/>
          </a:xfrm>
          <a:prstGeom prst="roundRect">
            <a:avLst>
              <a:gd name="adj" fmla="val 22000"/>
            </a:avLst>
          </a:prstGeom>
          <a:solidFill>
            <a:srgbClr val="FFE28C"/>
          </a:solidFill>
          <a:ln w="38100">
            <a:noFill/>
          </a:ln>
        </p:spPr>
        <p:txBody>
          <a:bodyPr wrap="square" lIns="45720" tIns="36576" rIns="4572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hurt</a:t>
            </a:r>
            <a:endParaRPr lang="en-US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9496" y="1360627"/>
            <a:ext cx="3045866" cy="4995367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582058" y="4619549"/>
            <a:ext cx="4033418" cy="1492301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08906" y="4572000"/>
            <a:ext cx="4033418" cy="1492301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395201" y="1473464"/>
            <a:ext cx="7210044" cy="1331366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4437583" y="1419149"/>
            <a:ext cx="7210044" cy="133136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4800600" y="1481328"/>
            <a:ext cx="65836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Grammar Box 4 · Appointments</a:t>
            </a:r>
            <a:endParaRPr lang="en-US" sz="2000" dirty="0"/>
          </a:p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Make an Appointment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713732" y="30632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Can you come at 10:15?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713732" y="361188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Sorry, I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can't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.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Is there a </a:t>
            </a: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later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time?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713732" y="46634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 about 3:30?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713732" y="5193792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3:30</a:t>
            </a: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 is fine.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Thank you.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9052560" y="310896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10:15</a:t>
            </a:r>
            <a:endParaRPr lang="en-US" sz="5400" dirty="0"/>
          </a:p>
        </p:txBody>
      </p:sp>
      <p:sp>
        <p:nvSpPr>
          <p:cNvPr id="17" name="Text 15"/>
          <p:cNvSpPr/>
          <p:nvPr/>
        </p:nvSpPr>
        <p:spPr>
          <a:xfrm>
            <a:off x="9052560" y="470916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3:30</a:t>
            </a:r>
            <a:endParaRPr lang="en-US" sz="6000" dirty="0"/>
          </a:p>
        </p:txBody>
      </p:sp>
      <p:pic>
        <p:nvPicPr>
          <p:cNvPr id="23" name="Picture 23" descr="L10_appointment.png"/>
          <p:cNvPicPr>
            <a:picLocks noChangeAspect="1"/>
          </p:cNvPicPr>
          <p:nvPr/>
        </p:nvPicPr>
        <p:blipFill>
          <a:blip r:embed="rIdQ1"/>
          <a:stretch>
            <a:fillRect/>
          </a:stretch>
        </p:blipFill>
        <p:spPr>
          <a:xfrm>
            <a:off x="649224" y="2871216"/>
            <a:ext cx="2825496" cy="197784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71907" y="-142646"/>
            <a:ext cx="5937199" cy="7143293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 w="127000">
            <a:solidFill>
              <a:srgbClr val="F1F5FB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08610" y="1260546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7414" y="1195121"/>
            <a:ext cx="491215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02920" y="1298448"/>
            <a:ext cx="4663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Talk Time</a:t>
            </a:r>
            <a:endParaRPr lang="en-US" sz="4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3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At the Clinic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291072" y="178308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Use the role card.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9734702" y="2103120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734702" y="2571293"/>
            <a:ext cx="1992478" cy="0"/>
          </a:xfrm>
          <a:prstGeom prst="line">
            <a:avLst/>
          </a:prstGeom>
          <a:noFill/>
          <a:ln w="6350">
            <a:solidFill>
              <a:srgbClr val="1B2236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784080" y="2130552"/>
            <a:ext cx="1920240" cy="38404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7:00–7:10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416345" y="3198571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6291986" y="3071470"/>
            <a:ext cx="5486400" cy="3411626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9033358" y="1986991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9091847" y="1977893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 rot="900000">
            <a:off x="9293308" y="2190403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pic>
        <p:nvPicPr>
          <p:cNvPr id="32" name="Picture 32" descr="L10_medicine.png"/>
          <p:cNvPicPr>
            <a:picLocks noChangeAspect="1"/>
          </p:cNvPicPr>
          <p:nvPr/>
        </p:nvPicPr>
        <p:blipFill>
          <a:blip r:embed="rIdQ1"/>
          <a:stretch>
            <a:fillRect/>
          </a:stretch>
        </p:blipFill>
        <p:spPr>
          <a:xfrm>
            <a:off x="722376" y="3418942"/>
            <a:ext cx="3882542" cy="2717780"/>
          </a:xfrm>
          <a:prstGeom prst="rect">
            <a:avLst/>
          </a:prstGeom>
        </p:spPr>
      </p:pic>
      <p:sp>
        <p:nvSpPr>
          <p:cNvPr id="33" name="Step num"/>
          <p:cNvSpPr/>
          <p:nvPr/>
        </p:nvSpPr>
        <p:spPr>
          <a:xfrm>
            <a:off x="6583680" y="3511296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1</a:t>
            </a:r>
            <a:endParaRPr lang="en-US" sz="2200" dirty="0"/>
          </a:p>
        </p:txBody>
      </p:sp>
      <p:sp>
        <p:nvSpPr>
          <p:cNvPr id="34" name="Step"/>
          <p:cNvSpPr/>
          <p:nvPr/>
        </p:nvSpPr>
        <p:spPr>
          <a:xfrm>
            <a:off x="7315200" y="3401568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A: patient card.</a:t>
            </a:r>
            <a:endParaRPr lang="en-US" sz="22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B: What's the matter?</a:t>
            </a:r>
            <a:endParaRPr lang="en-US" sz="2000" dirty="0"/>
          </a:p>
        </p:txBody>
      </p:sp>
      <p:sp>
        <p:nvSpPr>
          <p:cNvPr id="35" name="Step num"/>
          <p:cNvSpPr/>
          <p:nvPr/>
        </p:nvSpPr>
        <p:spPr>
          <a:xfrm>
            <a:off x="6583680" y="4489704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2</a:t>
            </a:r>
            <a:endParaRPr lang="en-US" sz="2200" dirty="0"/>
          </a:p>
        </p:txBody>
      </p:sp>
      <p:sp>
        <p:nvSpPr>
          <p:cNvPr id="36" name="Step"/>
          <p:cNvSpPr/>
          <p:nvPr/>
        </p:nvSpPr>
        <p:spPr>
          <a:xfrm>
            <a:off x="7315200" y="4379976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 offers a time.</a:t>
            </a:r>
            <a:endParaRPr lang="en-US" sz="22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How about 3:30?</a:t>
            </a:r>
            <a:endParaRPr lang="en-US" sz="2000" dirty="0"/>
          </a:p>
        </p:txBody>
      </p:sp>
      <p:sp>
        <p:nvSpPr>
          <p:cNvPr id="37" name="Step num"/>
          <p:cNvSpPr/>
          <p:nvPr/>
        </p:nvSpPr>
        <p:spPr>
          <a:xfrm>
            <a:off x="6583680" y="5468112"/>
            <a:ext cx="566928" cy="566928"/>
          </a:xfrm>
          <a:prstGeom prst="ellipse">
            <a:avLst/>
          </a:prstGeom>
          <a:solidFill>
            <a:srgbClr val="FFE28C"/>
          </a:solidFill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ctr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3</a:t>
            </a:r>
            <a:endParaRPr lang="en-US" sz="2200" dirty="0"/>
          </a:p>
        </p:txBody>
      </p:sp>
      <p:sp>
        <p:nvSpPr>
          <p:cNvPr id="38" name="Step"/>
          <p:cNvSpPr/>
          <p:nvPr/>
        </p:nvSpPr>
        <p:spPr>
          <a:xfrm>
            <a:off x="7315200" y="5358384"/>
            <a:ext cx="4206240" cy="868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Switch. New partner.</a:t>
            </a:r>
            <a:endParaRPr lang="en-US" sz="22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should …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4982" y="786384"/>
            <a:ext cx="5486400" cy="5731459"/>
          </a:xfrm>
          <a:prstGeom prst="rect">
            <a:avLst/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147718" y="2196389"/>
            <a:ext cx="7699248" cy="4160520"/>
          </a:xfrm>
          <a:prstGeom prst="round1Rect">
            <a:avLst>
              <a:gd name="adj" fmla="val 2308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3992270" y="1937614"/>
            <a:ext cx="7699248" cy="4160520"/>
          </a:xfrm>
          <a:prstGeom prst="round1Rect">
            <a:avLst>
              <a:gd name="adj" fmla="val 2308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343400" y="210312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Before You Go</a:t>
            </a:r>
            <a:endParaRPr lang="en-US" sz="4000" dirty="0"/>
          </a:p>
        </p:txBody>
      </p:sp>
      <p:sp>
        <p:nvSpPr>
          <p:cNvPr id="13" name="Shape 11"/>
          <p:cNvSpPr/>
          <p:nvPr/>
        </p:nvSpPr>
        <p:spPr>
          <a:xfrm>
            <a:off x="9907524" y="2565806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9966013" y="2556708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 rot="900000">
            <a:off x="10167475" y="2769218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pic>
        <p:nvPicPr>
          <p:cNvPr id="30" name="Picture 30" descr="L10_drink_water.png"/>
          <p:cNvPicPr>
            <a:picLocks noChangeAspect="1"/>
          </p:cNvPicPr>
          <p:nvPr/>
        </p:nvPicPr>
        <p:blipFill>
          <a:blip r:embed="rIdQ1"/>
          <a:stretch>
            <a:fillRect/>
          </a:stretch>
        </p:blipFill>
        <p:spPr>
          <a:xfrm>
            <a:off x="777240" y="2651760"/>
            <a:ext cx="3017520" cy="2112264"/>
          </a:xfrm>
          <a:prstGeom prst="rect">
            <a:avLst/>
          </a:prstGeom>
        </p:spPr>
      </p:pic>
      <p:sp>
        <p:nvSpPr>
          <p:cNvPr id="31" name="Num 01"/>
          <p:cNvSpPr/>
          <p:nvPr/>
        </p:nvSpPr>
        <p:spPr>
          <a:xfrm>
            <a:off x="4343400" y="3337560"/>
            <a:ext cx="731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3000" dirty="0" b="1">
                <a:solidFill>
                  <a:srgbClr val="8FAFE3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01</a:t>
            </a:r>
            <a:endParaRPr lang="en-US" sz="3000" dirty="0"/>
          </a:p>
        </p:txBody>
      </p:sp>
      <p:sp>
        <p:nvSpPr>
          <p:cNvPr id="32" name="Label 01"/>
          <p:cNvSpPr/>
          <p:nvPr/>
        </p:nvSpPr>
        <p:spPr>
          <a:xfrm>
            <a:off x="5120640" y="3337560"/>
            <a:ext cx="26517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Exit ticket</a:t>
            </a:r>
            <a:endParaRPr lang="en-US" sz="2200" dirty="0"/>
          </a:p>
        </p:txBody>
      </p:sp>
      <p:sp>
        <p:nvSpPr>
          <p:cNvPr id="33" name="Body 01"/>
          <p:cNvSpPr/>
          <p:nvPr/>
        </p:nvSpPr>
        <p:spPr>
          <a:xfrm>
            <a:off x="4343400" y="3977640"/>
            <a:ext cx="3520440" cy="2011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one problem:</a:t>
            </a:r>
            <a:endParaRPr lang="en-US" sz="2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I have… / My … hurts.</a:t>
            </a:r>
            <a:endParaRPr lang="en-US" sz="2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one advice:</a:t>
            </a:r>
            <a:endParaRPr lang="en-US" sz="2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You should…</a:t>
            </a:r>
            <a:endParaRPr lang="en-US" sz="2000" dirty="0"/>
          </a:p>
        </p:txBody>
      </p:sp>
      <p:sp>
        <p:nvSpPr>
          <p:cNvPr id="34" name="Num 02"/>
          <p:cNvSpPr/>
          <p:nvPr/>
        </p:nvSpPr>
        <p:spPr>
          <a:xfrm>
            <a:off x="8001000" y="3337560"/>
            <a:ext cx="73152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0" tIns="36576" rIns="0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3000" dirty="0" b="1">
                <a:solidFill>
                  <a:srgbClr val="8FAFE3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02</a:t>
            </a:r>
            <a:endParaRPr lang="en-US" sz="3000" dirty="0"/>
          </a:p>
        </p:txBody>
      </p:sp>
      <p:sp>
        <p:nvSpPr>
          <p:cNvPr id="35" name="Label 02"/>
          <p:cNvSpPr/>
          <p:nvPr/>
        </p:nvSpPr>
        <p:spPr>
          <a:xfrm>
            <a:off x="8778240" y="3337560"/>
            <a:ext cx="2651760" cy="54864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ctr">
            <a:noAutofit/>
          </a:bodyPr>
          <a:lstStyle/>
          <a:p>
            <a:pPr algn="l" indent="0" marL="0">
              <a:buNone/>
            </a:pPr>
            <a:r>
              <a:rPr lang="en-US" sz="22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Homework</a:t>
            </a:r>
            <a:endParaRPr lang="en-US" sz="2200" dirty="0"/>
          </a:p>
        </p:txBody>
      </p:sp>
      <p:sp>
        <p:nvSpPr>
          <p:cNvPr id="36" name="Body 02"/>
          <p:cNvSpPr/>
          <p:nvPr/>
        </p:nvSpPr>
        <p:spPr>
          <a:xfrm>
            <a:off x="8001000" y="3977640"/>
            <a:ext cx="3520440" cy="2011680"/>
          </a:xfrm>
          <a:prstGeom prst="rect">
            <a:avLst/>
          </a:prstGeom>
          <a:noFill/>
          <a:ln w="38100">
            <a:noFill/>
          </a:ln>
        </p:spPr>
        <p:txBody>
          <a:bodyPr wrap="square" lIns="73152" tIns="36576" rIns="73152" bIns="36576" rtlCol="0" anchor="t">
            <a:noAutofit/>
          </a:bodyPr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4 problems</a:t>
            </a:r>
            <a:endParaRPr lang="en-US" sz="2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and advice for each.</a:t>
            </a:r>
            <a:endParaRPr lang="en-US" sz="2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Write a phone call:</a:t>
            </a:r>
            <a:endParaRPr lang="en-US" sz="2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make an appointment</a:t>
            </a:r>
            <a:endParaRPr lang="en-US" sz="2000" dirty="0"/>
          </a:p>
          <a:p>
            <a:pPr algn="l" indent="0" marL="0">
              <a:spcAft>
                <a:spcPts val="2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(4–6 lines).</a:t>
            </a:r>
            <a:endParaRPr 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C9B8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1371600"/>
            <a:ext cx="12191695" cy="5486400"/>
          </a:xfrm>
          <a:prstGeom prst="round1Rect">
            <a:avLst>
              <a:gd name="adj" fmla="val 23087"/>
            </a:avLst>
          </a:prstGeom>
          <a:solidFill>
            <a:srgbClr val="B9D2F7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18465" y="431597"/>
            <a:ext cx="5361127" cy="1595628"/>
          </a:xfrm>
          <a:prstGeom prst="roundRect">
            <a:avLst>
              <a:gd name="adj" fmla="val 16667"/>
            </a:avLst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50469" y="365760"/>
            <a:ext cx="5361127" cy="159562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74827" y="640080"/>
            <a:ext cx="5120640" cy="10241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5400" dirty="0" b="1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Credits</a:t>
            </a:r>
            <a:endParaRPr lang="en-US" sz="5400" dirty="0"/>
          </a:p>
        </p:txBody>
      </p:sp>
      <p:sp>
        <p:nvSpPr>
          <p:cNvPr id="12" name="Shape 10"/>
          <p:cNvSpPr/>
          <p:nvPr/>
        </p:nvSpPr>
        <p:spPr>
          <a:xfrm>
            <a:off x="275234" y="75895"/>
            <a:ext cx="727862" cy="687570"/>
          </a:xfrm>
          <a:prstGeom prst="star10">
            <a:avLst/>
          </a:prstGeom>
          <a:solidFill>
            <a:srgbClr val="8FAFE3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333723" y="66797"/>
            <a:ext cx="740860" cy="740860"/>
          </a:xfrm>
          <a:prstGeom prst="star10">
            <a:avLst/>
          </a:prstGeom>
          <a:solidFill>
            <a:srgbClr val="FFE28C"/>
          </a:solidFill>
          <a:ln/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 rot="900000">
            <a:off x="535185" y="279307"/>
            <a:ext cx="316490" cy="316490"/>
          </a:xfrm>
          <a:prstGeom prst="mathPlus">
            <a:avLst/>
          </a:prstGeom>
          <a:solidFill>
            <a:srgbClr val="1B2236"/>
          </a:solidFill>
          <a:ln/>
        </p:spPr>
        <p:txBody>
          <a:bodyPr/>
          <a:p/>
        </p:txBody>
      </p:sp>
      <p:sp>
        <p:nvSpPr>
          <p:cNvPr id="15" name="Twemoji credit"/>
          <p:cNvSpPr/>
          <p:nvPr/>
        </p:nvSpPr>
        <p:spPr>
          <a:xfrm>
            <a:off x="411480" y="2240280"/>
            <a:ext cx="11365992" cy="22402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Pictures</a:t>
            </a:r>
            <a:endParaRPr lang="en-US" sz="22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Vocabulary pictures use Twemoji graphics by Twitter, Inc. and other contributors (https://github.com/jdecked/twemoji), licensed under CC BY 4.0 (https://creativecommons.org/licenses/by/4.0/). The graphics were resized and combined, and arrows, calendars, clocks, and labels were added.</a:t>
            </a:r>
            <a:endParaRPr lang="en-US" sz="2000" dirty="0"/>
          </a:p>
        </p:txBody>
      </p:sp>
      <p:sp>
        <p:nvSpPr>
          <p:cNvPr id="16" name="Deck license"/>
          <p:cNvSpPr/>
          <p:nvPr/>
        </p:nvSpPr>
        <p:spPr>
          <a:xfrm>
            <a:off x="411480" y="4709160"/>
            <a:ext cx="4206240" cy="1783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This deck</a:t>
            </a:r>
            <a:endParaRPr lang="en-US" sz="22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© 2026 the authors. The authors license this deck under CC BY-NC-SA 4.0.</a:t>
            </a:r>
            <a:endParaRPr lang="en-US" sz="2000" dirty="0"/>
          </a:p>
        </p:txBody>
      </p:sp>
      <p:sp>
        <p:nvSpPr>
          <p:cNvPr id="17" name="AudioFontCredits"/>
          <p:cNvSpPr/>
          <p:nvPr/>
        </p:nvSpPr>
        <p:spPr>
          <a:xfrm>
            <a:off x="4846320" y="4709160"/>
            <a:ext cx="6931152" cy="178308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38100">
            <a:noFill/>
          </a:ln>
        </p:spPr>
        <p:txBody>
          <a:bodyPr wrap="square" lIns="274320" tIns="36576" rIns="274320" bIns="36576" rtlCol="0" anchor="ctr">
            <a:noAutofit/>
          </a:bodyPr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200" dirty="0" b="1">
                <a:solidFill>
                  <a:srgbClr val="5B3FC4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 and font</a:t>
            </a:r>
            <a:endParaRPr lang="en-US" sz="22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1B2236"/>
                </a:solidFill>
                <a:latin typeface="Lexend Deca" pitchFamily="34" charset="0"/>
                <a:ea typeface="Lexend Deca" pitchFamily="34" charset="-122"/>
                <a:cs typeface="Lexend Deca" pitchFamily="34" charset="-120"/>
              </a:rPr>
              <a:t>Audio: Chatterbox TTS (Resemble AI, MIT); AI voices with a Perth watermark. Font: Lexend Deca (OFL 1.1). Provided as-is, without warranty.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10 (Week 11): Health</dc:title>
  <dc:subject>PptxGenJS Presentation</dc:subject>
  <dc:creator>Level 2 ESL</dc:creator>
  <cp:lastModifiedBy>Level 2 ESL</cp:lastModifiedBy>
  <cp:revision>1</cp:revision>
  <dcterms:created xsi:type="dcterms:W3CDTF">2026-10-15T20:54:31Z</dcterms:created>
  <dcterms:modified xsi:type="dcterms:W3CDTF">2026-10-15T20:54:31Z</dcterms:modified>
</cp:coreProperties>
</file>