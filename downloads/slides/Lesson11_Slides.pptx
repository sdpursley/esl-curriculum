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7" r:id="rId13"/>
    <p:sldId id="265" r:id="rId11"/>
    <p:sldId id="276" r:id="rId27"/>
    <p:sldId id="268" r:id="rId14"/>
    <p:sldId id="272" r:id="rId18"/>
    <p:sldId id="277" r:id="rId28"/>
    <p:sldId id="264" r:id="rId10"/>
    <p:sldId id="260" r:id="rId6"/>
    <p:sldId id="259" r:id="rId5"/>
    <p:sldId id="261" r:id="rId7"/>
    <p:sldId id="278" r:id="rId29"/>
    <p:sldId id="262" r:id="rId8"/>
    <p:sldId id="266" r:id="rId12"/>
    <p:sldId id="270" r:id="rId16"/>
    <p:sldId id="271" r:id="rId17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11.xml"/><Relationship Id="rId6" Type="http://schemas.openxmlformats.org/officeDocument/2006/relationships/slide" Target="slides/slide10.xml"/><Relationship Id="rId7" Type="http://schemas.openxmlformats.org/officeDocument/2006/relationships/slide" Target="slides/slide12.xml"/><Relationship Id="rId8" Type="http://schemas.openxmlformats.org/officeDocument/2006/relationships/slide" Target="slides/slide14.xml"/><Relationship Id="rId10" Type="http://schemas.openxmlformats.org/officeDocument/2006/relationships/slide" Target="slides/slide9.xml"/><Relationship Id="rId11" Type="http://schemas.openxmlformats.org/officeDocument/2006/relationships/slide" Target="slides/slide4.xml"/><Relationship Id="rId12" Type="http://schemas.openxmlformats.org/officeDocument/2006/relationships/slide" Target="slides/slide15.xml"/><Relationship Id="rId13" Type="http://schemas.openxmlformats.org/officeDocument/2006/relationships/slide" Target="slides/slide3.xml"/><Relationship Id="rId14" Type="http://schemas.openxmlformats.org/officeDocument/2006/relationships/slide" Target="slides/slide6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7.xml"/><Relationship Id="rId20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5.xml"/><Relationship Id="rId28" Type="http://schemas.openxmlformats.org/officeDocument/2006/relationships/slide" Target="slides/slide8.xml"/><Relationship Id="rId2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back. Read the goals together; learners repeat.</a:t>
            </a:r>
          </a:p>
          <a:p>
            <a:r>
              <a:rPr lang="en-US" dirty="0"/>
              <a:t>Objectives: talk about future plans with be going to; use the present continuous for fixed plans (I'm working on Saturday); invite with Would you like to…? / Do you want to…?; accept or decline politely with a reason.</a:t>
            </a:r>
          </a:p>
          <a:p>
            <a:r>
              <a:rPr lang="en-US" dirty="0"/>
              <a:t>Source: Level2_Curriculum_v5_public.md, Lesson 11 (At a glance).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· 6:00–6:10 · Opening Talk + Homework Check. Pairs (same partner for both parts).</a:t>
            </a:r>
          </a:p>
          <a:p>
            <a:r>
              <a:rPr lang="en-US" dirty="0"/>
              <a:t>Minutes 0–5 (review Lesson 10): A acts a health problem; B asks What's the matter? and gives advice with should. Switch. Each click shows one prompt.</a:t>
            </a:r>
          </a:p>
          <a:p>
            <a:r>
              <a:rPr lang="en-US" dirty="0"/>
              <a:t>Source: Level2_Curriculum_v5_public.md, Lesson 11 (Step 1).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Box 3: Invitations. Click 1 and click 2 highlight one pair each.</a:t>
            </a:r>
          </a:p>
          <a:p>
            <a:r>
              <a:rPr lang="en-US" dirty="0"/>
              <a:t>Say: "Would you like to…? (polite) / Do you want to…? (friendly). Accept: I'd love to! / Sure! Decline: Sorry, I can't. + a reason."</a:t>
            </a:r>
          </a:p>
          <a:p>
            <a:r>
              <a:rPr lang="en-US" dirty="0"/>
              <a:t>More from the box: Would you like to go to the movies / have a picnic / watch a game on Saturday? Do you want to visit friends / have dinner tonight? Sorry, I can't. I'm visiting my mother.</a:t>
            </a:r>
          </a:p>
          <a:p>
            <a:r>
              <a:rPr lang="en-US" dirty="0"/>
              <a:t>Q: How do I say no politely? Sorry, I can't. + a reason. Maybe add Thanks for asking!</a:t>
            </a:r>
          </a:p>
          <a:p>
            <a:r>
              <a:rPr lang="en-US" dirty="0"/>
              <a:t>Source: Level2_Curriculum_v5_public.md, Lesson 11 (Grammar Box 3;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Box 2: Are you going to…? Each click highlights Are / Is and its answers.</a:t>
            </a:r>
          </a:p>
          <a:p>
            <a:r>
              <a:rPr lang="en-US" dirty="0"/>
              <a:t>More from the box: Are you going to cook tonight? Is he going to call?</a:t>
            </a:r>
          </a:p>
          <a:p>
            <a:r>
              <a:rPr lang="en-US" dirty="0"/>
              <a:t>Source: Level2_Curriculum_v5_public.md, Lesson 11 (Grammar Box 2).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mistakes (part 1). Each click shows the correct sentence.</a:t>
            </a:r>
          </a:p>
          <a:p>
            <a:r>
              <a:rPr lang="en-US" dirty="0"/>
              <a:t>Plans need three parts: am / is / are + going to + verb. Write the correct form on the board. Learners can read the note on their Grammar page; you don't need to explain it.</a:t>
            </a:r>
          </a:p>
          <a:p>
            <a:r>
              <a:rPr lang="en-US" dirty="0"/>
              <a:t>Source: Level2_Curriculum_v5_public.md, Lesson 11 (Common mistakes;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check questions. Learners answer; each click shows one answer.</a:t>
            </a:r>
          </a:p>
          <a:p>
            <a:r>
              <a:rPr lang="en-US" dirty="0"/>
              <a:t>Answers: is · No: I'm going to work · to come.</a:t>
            </a:r>
          </a:p>
          <a:p>
            <a:r>
              <a:rPr lang="en-US" dirty="0"/>
              <a:t>Short "Yes / No / Reason" (last 5 min): A invites; B accepts or declines with a reason. If behind: skip it.</a:t>
            </a:r>
          </a:p>
          <a:p>
            <a:r>
              <a:rPr lang="en-US" dirty="0"/>
              <a:t>Source: Level2_Curriculum_v5_public.md, Lesson 11 (Step 4 Check).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· 6:30–6:45 · Grammar: going to + invitations. Say: "For plans: am / is / are + going to + verb. I'm going to visit my mother. For fixed plans with a time, we also say I'm working on Saturday."</a:t>
            </a:r>
          </a:p>
          <a:p>
            <a:r>
              <a:rPr lang="en-US" dirty="0"/>
              <a:t>Grammar Box 1: each click highlights are / is / are. Add a time: tonight? this weekend? tomorrow?</a:t>
            </a:r>
          </a:p>
          <a:p>
            <a:r>
              <a:rPr lang="en-US" dirty="0"/>
              <a:t>Q: How do I make going to? am / is / are + going to + base verb: I'm going to visit my mother. She's going to rest.</a:t>
            </a:r>
          </a:p>
          <a:p>
            <a:r>
              <a:rPr lang="en-US" dirty="0"/>
              <a:t>Source: Level2_Curriculum_v5_public.md, Lesson 11 (Step 4; Grammar Box 1;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· 6:10–6:18 · New Words (pairs). Point, say, repeat twice. Each click shows one word.</a:t>
            </a:r>
          </a:p>
          <a:p>
            <a:r>
              <a:rPr lang="en-US" dirty="0"/>
              <a:t>Star words here: tonight, tomorrow, this weekend, next week, have a party.</a:t>
            </a:r>
          </a:p>
          <a:p>
            <a:r>
              <a:rPr lang="en-US" dirty="0"/>
              <a:t>"When?": draw a line on the board: now → tonight → tomorrow → this weekend → next week. Learners say an activity for each time.</a:t>
            </a:r>
          </a:p>
          <a:p>
            <a:r>
              <a:rPr lang="en-US" dirty="0"/>
              <a:t>If behind: teach the star words only.</a:t>
            </a:r>
          </a:p>
          <a:p>
            <a:r>
              <a:rPr lang="en-US" dirty="0"/>
              <a:t>Source: Level2_Curriculum_v5_public.md, Lesson 11 (Step 2; Student Page 11 New Words).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Box 4: Fixed plans (present continuous). Click 1 and click 2 show one row each.</a:t>
            </a:r>
          </a:p>
          <a:p>
            <a:r>
              <a:rPr lang="en-US" dirty="0"/>
              <a:t>Q: going to or -ing for the future? Both are OK for plans. -ing is common for fixed plans with a time: I'm working on Saturday.</a:t>
            </a:r>
          </a:p>
          <a:p>
            <a:r>
              <a:rPr lang="en-US" dirty="0"/>
              <a:t>Pronunciation (If time ①): going to → "gonna" in fast speech. Learners recognize it; in writing, use going to.</a:t>
            </a:r>
          </a:p>
          <a:p>
            <a:r>
              <a:rPr lang="en-US" dirty="0"/>
              <a:t>Teacher note: will is not taught here. If learners use it for offers (I'll bring a salad), accept it.</a:t>
            </a:r>
          </a:p>
          <a:p>
            <a:r>
              <a:rPr lang="en-US" dirty="0"/>
              <a:t>Source: Level2_Curriculum_v5_public.md, Lesson 11 (Grammar Box 4; Questions and answers;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1, minutes 5–10: partners read their homework appointment call as a role play.</a:t>
            </a:r>
          </a:p>
          <a:p>
            <a:r>
              <a:rPr lang="en-US" dirty="0"/>
              <a:t>Each click shows one answer. The lines review Lesson 10 (Grammar Boxes 1–3; Common mistakes).</a:t>
            </a:r>
          </a:p>
          <a:p>
            <a:r>
              <a:rPr lang="en-US" dirty="0"/>
              <a:t>Teacher: write 2 corrected sentences on the board (often should to). If behind: collect the homework.</a:t>
            </a:r>
          </a:p>
          <a:p>
            <a:r>
              <a:rPr lang="en-US" dirty="0"/>
              <a:t>Source: Level2_Curriculum_v5_public.md, Lesson 11 (Step 1); Lesson 10 Homework.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3 · 6:18–6:30 · Listening + "Say it" (L11_listening.mp3, about 1:05). Audio: L11_listening.mp3 (about 1:05). The audio plays once, play again if needed. No speaker? Read the script with a volunteer learner.</a:t>
            </a:r>
          </a:p>
          <a:p>
            <a:r>
              <a:rPr lang="en-US" dirty="0"/>
              <a:t>Before you listen: "Kim calls Carlos. She invites him. Does he say yes?" Take 2 guesses.</a:t>
            </a:r>
          </a:p>
          <a:p>
            <a:r>
              <a:rPr lang="en-US" dirty="0"/>
              <a:t>Listen 1 → Task A (circle). Each click circles one answer.</a:t>
            </a:r>
          </a:p>
          <a:p>
            <a:r>
              <a:rPr lang="en-US" dirty="0"/>
              <a:t>Answer key: 1 a picnic; 2 Saturday; 3 2:00; 4 a ball.</a:t>
            </a:r>
          </a:p>
          <a:p>
            <a:r>
              <a:rPr lang="en-US" dirty="0"/>
              <a:t>Source: Level2_Curriculum_v5_public.md, Lesson 11 (Step 3; Answer key).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· 7:00–7:10 · Talk Time: Weekend Planner Mingle. Mingle: everyone. Each click shows one step.</a:t>
            </a:r>
          </a:p>
          <a:p>
            <a:r>
              <a:rPr lang="en-US" dirty="0"/>
              <a:t>Do (2 min): learners write 2 plans in their planner and leave the other times free.</a:t>
            </a:r>
          </a:p>
          <a:p>
            <a:r>
              <a:rPr lang="en-US" dirty="0"/>
              <a:t>Mingle (6 min): invite classmates to fill free times: Are you free on Saturday afternoon? Would you like to have a picnic? Accept or decline with a reason. Write the plan + name.</a:t>
            </a:r>
          </a:p>
          <a:p>
            <a:r>
              <a:rPr lang="en-US" dirty="0"/>
              <a:t>Report (2 min): "On Sunday I'm going to watch a game with Marco." If behind: skip the report.</a:t>
            </a:r>
          </a:p>
          <a:p>
            <a:r>
              <a:rPr lang="en-US" dirty="0"/>
              <a:t>Source: Level2_Curriculum_v5_public.md, Lesson 11 (Step 5).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· 7:10–7:15 · Exit Ticket + Homework. NEVER SKIP.</a:t>
            </a:r>
          </a:p>
          <a:p>
            <a:r>
              <a:rPr lang="en-US" dirty="0"/>
              <a:t>Exit ticket: one going to sentence about this weekend and one invitation.</a:t>
            </a:r>
          </a:p>
          <a:p>
            <a:r>
              <a:rPr lang="en-US" dirty="0"/>
              <a:t>Homework (10 minutes): 1. Write 5 plans for this weekend or next week with going to. 2. Write an invitation text message to a friend and two answers: one yes, one no with a reason. 3. Bonus: ask a family member: What are you going to do this weekend? Write the answer.</a:t>
            </a:r>
          </a:p>
          <a:p>
            <a:r>
              <a:rPr lang="en-US" dirty="0"/>
              <a:t>Source: Level2_Curriculum_v5_public.md, Lesson 11 (Step 6; Student Page 11 Homework).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2 → Task B (true / false). Each click circles one answer and shows the correction. The audio plays once, play again if needed.</a:t>
            </a:r>
          </a:p>
          <a:p>
            <a:r>
              <a:rPr lang="en-US" dirty="0"/>
              <a:t>Answer key: 1 T; 2 F (he's working in the morning); 3 F (she's going to visit her mother); 4 T; 5 F (he's helping his brother).</a:t>
            </a:r>
          </a:p>
          <a:p>
            <a:r>
              <a:rPr lang="en-US" dirty="0"/>
              <a:t>Source: Level2_Curriculum_v5_public.md, Lesson 11 (Step 3; Answer key).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Credits. Lesson content: Level 2 Adult ESL Curriculum v5, public edition, Lesson 11.</a:t>
            </a:r>
          </a:p>
          <a:p>
            <a:r>
              <a:rPr lang="en-US" dirty="0"/>
              <a:t>Image credit line copied exactly from images/CREDITS.md. Deck notice: © 2026 the authors; the authors license this deck under CC BY-NC-SA 4.0 (Section 7.2).</a:t>
            </a:r>
          </a:p>
          <a:p>
            <a:r>
              <a:rPr lang="en-US" dirty="0"/>
              <a:t>Audio and font credits: Chatterbox TTS (Resemble AI, MIT; Perth watermark), Lexend Deca (SIL OFL 1.1).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Words, part 2. Each click shows one word. Star words here: invite, free (not busy), Sorry, I can't.</a:t>
            </a:r>
          </a:p>
          <a:p>
            <a:r>
              <a:rPr lang="en-US" dirty="0"/>
              <a:t>Learners can decline any real invitation in class. Practice invitations are always "pretend."</a:t>
            </a:r>
          </a:p>
          <a:p>
            <a:r>
              <a:rPr lang="en-US" dirty="0"/>
              <a:t>Source: Level2_Curriculum_v5_public.md, Lesson 11 (Step 2; Student Page 11;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3 → Task C (fill in). Each click fills one blank. The audio plays once, play again if needed.</a:t>
            </a:r>
          </a:p>
          <a:p>
            <a:r>
              <a:rPr lang="en-US" dirty="0"/>
              <a:t>Answer key: going; love; can't; helping.</a:t>
            </a:r>
          </a:p>
          <a:p>
            <a:r>
              <a:rPr lang="en-US" dirty="0"/>
              <a:t>"Say it" (1–2 min): the class repeats "Would you like to come?" and "I'd love to!" / "Sorry, I can't."</a:t>
            </a:r>
          </a:p>
          <a:p>
            <a:r>
              <a:rPr lang="en-US" dirty="0"/>
              <a:t>If behind: skip the third play; do Task C together.</a:t>
            </a:r>
          </a:p>
          <a:p>
            <a:r>
              <a:rPr lang="en-US" dirty="0"/>
              <a:t>Source: Level2_Curriculum_v5_public.md, Lesson 11 (Step 3; Answer key).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mistakes (part 2). Each click shows the correct sentence.</a:t>
            </a:r>
          </a:p>
          <a:p>
            <a:r>
              <a:rPr lang="en-US" dirty="0"/>
              <a:t>No, I can't. is too short. Add Sorry and a reason.</a:t>
            </a:r>
          </a:p>
          <a:p>
            <a:r>
              <a:rPr lang="en-US" dirty="0"/>
              <a:t>Source: Level2_Curriculum_v5_public.md, Lesson 11 (Common mistakes).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K1" Type="http://schemas.openxmlformats.org/officeDocument/2006/relationships/image" Target="../media/k_L4_right_now.png"/><Relationship Id="rIdQ1" Type="http://schemas.openxmlformats.org/officeDocument/2006/relationships/image" Target="../media/k_L11_this_weekend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Q1" Type="http://schemas.openxmlformats.org/officeDocument/2006/relationships/image" Target="../media/k_L10_headach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4.xml.rels><?xml version='1.0' encoding='UTF-8' standalone='yes'?>
<Relationships xmlns="http://schemas.openxmlformats.org/package/2006/relationships"><Relationship Id="rIdQ1" Type="http://schemas.openxmlformats.org/officeDocument/2006/relationships/image" Target="../media/k_L11_tonight.png"/><Relationship Id="rIdQ2" Type="http://schemas.openxmlformats.org/officeDocument/2006/relationships/image" Target="../media/k_L11_tomorrow.png"/><Relationship Id="rIdQ3" Type="http://schemas.openxmlformats.org/officeDocument/2006/relationships/image" Target="../media/k_L11_this_weekend.png"/><Relationship Id="rIdQ4" Type="http://schemas.openxmlformats.org/officeDocument/2006/relationships/image" Target="../media/k_L11_next_week.png"/><Relationship Id="rIdQ5" Type="http://schemas.openxmlformats.org/officeDocument/2006/relationships/image" Target="../media/k_L11_go_to_the_movies.png"/><Relationship Id="rIdQ6" Type="http://schemas.openxmlformats.org/officeDocument/2006/relationships/image" Target="../media/k_L11_have_a_party.png"/><Relationship Id="rIdQ7" Type="http://schemas.openxmlformats.org/officeDocument/2006/relationships/image" Target="../media/k_L11_have_a_picnic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5.xml.rels><?xml version='1.0' encoding='UTF-8' standalone='yes'?>
<Relationships xmlns="http://schemas.openxmlformats.org/package/2006/relationships"><Relationship Id="rIdQ1" Type="http://schemas.openxmlformats.org/officeDocument/2006/relationships/image" Target="../media/k_L11_go_to_the_beach.png"/><Relationship Id="rIdQ2" Type="http://schemas.openxmlformats.org/officeDocument/2006/relationships/image" Target="../media/k_L11_watch_a_game.png"/><Relationship Id="rIdQ3" Type="http://schemas.openxmlformats.org/officeDocument/2006/relationships/image" Target="../media/k_L11_visit_friends.png"/><Relationship Id="rIdQ4" Type="http://schemas.openxmlformats.org/officeDocument/2006/relationships/image" Target="../media/k_L11_invite.png"/><Relationship Id="rIdQ5" Type="http://schemas.openxmlformats.org/officeDocument/2006/relationships/image" Target="../media/k_L11_free.png"/><Relationship Id="rIdQ6" Type="http://schemas.openxmlformats.org/officeDocument/2006/relationships/image" Target="../media/k_L11_id_love_to.png"/><Relationship Id="rIdQ7" Type="http://schemas.openxmlformats.org/officeDocument/2006/relationships/image" Target="../media/k_L11_sorry_i_cant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6.xml.rels><?xml version='1.0' encoding='UTF-8' standalone='yes'?>
<Relationships xmlns="http://schemas.openxmlformats.org/package/2006/relationships"><Relationship Id="rIdQ1" Type="http://schemas.openxmlformats.org/officeDocument/2006/relationships/image" Target="../media/k_L11_have_a_picnic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9.xml.rels><?xml version='1.0' encoding='UTF-8' standalone='yes'?>
<Relationships xmlns="http://schemas.openxmlformats.org/package/2006/relationships"><Relationship Id="rIdQ1" Type="http://schemas.openxmlformats.org/officeDocument/2006/relationships/image" Target="../media/k_L11_visit_friends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Q1" Type="http://schemas.openxmlformats.org/officeDocument/2006/relationships/image" Target="../media/k_L11_tomorrow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Q1" Type="http://schemas.openxmlformats.org/officeDocument/2006/relationships/image" Target="../media/k_L11_invit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Q1" Type="http://schemas.openxmlformats.org/officeDocument/2006/relationships/image" Target="../media/k_L11_go_to_the_movies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Q1" Type="http://schemas.openxmlformats.org/officeDocument/2006/relationships/image" Target="../media/k_L11_sorry_i_cant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Q1" Type="http://schemas.openxmlformats.org/officeDocument/2006/relationships/image" Target="../media/k_L11_next_week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Q1" Type="http://schemas.openxmlformats.org/officeDocument/2006/relationships/image" Target="../media/k_L11_watch_a_gam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Q1" Type="http://schemas.openxmlformats.org/officeDocument/2006/relationships/image" Target="../media/k_L11_go_to_the_beach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11 (Week 12)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Making Plans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77240" y="4480560"/>
            <a:ext cx="60350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Talk about plans: going to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fixed plans: I'm working…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Invite: Would you like to…?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yes or no politely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172200" y="594360"/>
            <a:ext cx="914400" cy="863781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245679" y="582930"/>
            <a:ext cx="930729" cy="93072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 rot="900000">
            <a:off x="6498771" y="849902"/>
            <a:ext cx="397601" cy="39760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14" name="Picture 14" descr="L4_right_now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pic>
        <p:nvPicPr>
          <p:cNvPr id="15" name="Picture 15" descr="L11_this_weekend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7604" y="1352535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764792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Warm-Up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9846" y="29718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acts a problem.</a:t>
            </a:r>
            <a:endParaRPr lang="en-US" sz="2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gives advice.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822546" y="4854550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904842" y="4841748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5188306" y="5140757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9" name="Question"/>
          <p:cNvSpPr/>
          <p:nvPr/>
        </p:nvSpPr>
        <p:spPr>
          <a:xfrm>
            <a:off x="599846" y="3977640"/>
            <a:ext cx="41148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 the matter?</a:t>
            </a:r>
            <a:endParaRPr lang="en-US" sz="2200" dirty="0"/>
          </a:p>
        </p:txBody>
      </p:sp>
      <p:sp>
        <p:nvSpPr>
          <p:cNvPr id="20" name="Question"/>
          <p:cNvSpPr/>
          <p:nvPr/>
        </p:nvSpPr>
        <p:spPr>
          <a:xfrm>
            <a:off x="599846" y="4562856"/>
            <a:ext cx="41148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should …</a:t>
            </a:r>
            <a:endParaRPr lang="en-US" sz="2200" dirty="0"/>
          </a:p>
        </p:txBody>
      </p:sp>
      <p:pic>
        <p:nvPicPr>
          <p:cNvPr id="21" name="Picture 21" descr="L10_headache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6795821" y="2101291"/>
            <a:ext cx="4763110" cy="33341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55005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526145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your appointment call.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have ___ cold.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838651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should ___. (rest)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550054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feet ___. (hurt)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5261458"/>
            <a:ext cx="3200533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___ go to work.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HW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55005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5436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27974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526968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verb: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no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-s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38" name="Answer 1"/>
          <p:cNvSpPr/>
          <p:nvPr/>
        </p:nvSpPr>
        <p:spPr>
          <a:xfrm>
            <a:off x="5257800" y="3200400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000" dirty="0"/>
          </a:p>
        </p:txBody>
      </p:sp>
      <p:sp>
        <p:nvSpPr>
          <p:cNvPr id="39" name="Answer 2"/>
          <p:cNvSpPr/>
          <p:nvPr/>
        </p:nvSpPr>
        <p:spPr>
          <a:xfrm>
            <a:off x="5257800" y="3911803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rest</a:t>
            </a:r>
            <a:endParaRPr lang="en-US" sz="2000" dirty="0"/>
          </a:p>
        </p:txBody>
      </p:sp>
      <p:sp>
        <p:nvSpPr>
          <p:cNvPr id="40" name="Answer 3"/>
          <p:cNvSpPr/>
          <p:nvPr/>
        </p:nvSpPr>
        <p:spPr>
          <a:xfrm>
            <a:off x="5257800" y="4623206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hurt</a:t>
            </a:r>
            <a:endParaRPr lang="en-US" sz="2000" dirty="0"/>
          </a:p>
        </p:txBody>
      </p:sp>
      <p:sp>
        <p:nvSpPr>
          <p:cNvPr id="41" name="Answer 4"/>
          <p:cNvSpPr/>
          <p:nvPr/>
        </p:nvSpPr>
        <p:spPr>
          <a:xfrm>
            <a:off x="5084197" y="5334610"/>
            <a:ext cx="1499483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shouldn't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When?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→ next</a:t>
            </a:r>
            <a:endParaRPr lang="en-US" sz="2200" dirty="0"/>
          </a:p>
        </p:txBody>
      </p:sp>
      <p:pic>
        <p:nvPicPr>
          <p:cNvPr id="41" name="Picture 41" descr="tonight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1181437" y="2240280"/>
            <a:ext cx="1619794" cy="1133856"/>
          </a:xfrm>
          <a:prstGeom prst="rect">
            <a:avLst/>
          </a:prstGeom>
        </p:spPr>
      </p:pic>
      <p:sp>
        <p:nvSpPr>
          <p:cNvPr id="42" name="Word label"/>
          <p:cNvSpPr/>
          <p:nvPr/>
        </p:nvSpPr>
        <p:spPr>
          <a:xfrm>
            <a:off x="762610" y="3429000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tonight</a:t>
            </a:r>
            <a:endParaRPr lang="en-US" sz="2000" dirty="0"/>
          </a:p>
        </p:txBody>
      </p:sp>
      <p:pic>
        <p:nvPicPr>
          <p:cNvPr id="43" name="Picture 43" descr="tomorrow"/>
          <p:cNvPicPr>
            <a:picLocks noChangeAspect="1"/>
          </p:cNvPicPr>
          <p:nvPr/>
        </p:nvPicPr>
        <p:blipFill>
          <a:blip r:embed="rIdQ2"/>
          <a:stretch>
            <a:fillRect/>
          </a:stretch>
        </p:blipFill>
        <p:spPr>
          <a:xfrm>
            <a:off x="3867487" y="2240280"/>
            <a:ext cx="1619794" cy="1133856"/>
          </a:xfrm>
          <a:prstGeom prst="rect">
            <a:avLst/>
          </a:prstGeom>
        </p:spPr>
      </p:pic>
      <p:sp>
        <p:nvSpPr>
          <p:cNvPr id="44" name="Word label"/>
          <p:cNvSpPr/>
          <p:nvPr/>
        </p:nvSpPr>
        <p:spPr>
          <a:xfrm>
            <a:off x="3448660" y="3429000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tomorrow</a:t>
            </a:r>
            <a:endParaRPr lang="en-US" sz="2000" dirty="0"/>
          </a:p>
        </p:txBody>
      </p:sp>
      <p:pic>
        <p:nvPicPr>
          <p:cNvPr id="45" name="Picture 45" descr="this weekend"/>
          <p:cNvPicPr>
            <a:picLocks noChangeAspect="1"/>
          </p:cNvPicPr>
          <p:nvPr/>
        </p:nvPicPr>
        <p:blipFill>
          <a:blip r:embed="rIdQ3"/>
          <a:stretch>
            <a:fillRect/>
          </a:stretch>
        </p:blipFill>
        <p:spPr>
          <a:xfrm>
            <a:off x="6553537" y="2240280"/>
            <a:ext cx="1619794" cy="1133856"/>
          </a:xfrm>
          <a:prstGeom prst="rect">
            <a:avLst/>
          </a:prstGeom>
        </p:spPr>
      </p:pic>
      <p:sp>
        <p:nvSpPr>
          <p:cNvPr id="46" name="Word label"/>
          <p:cNvSpPr/>
          <p:nvPr/>
        </p:nvSpPr>
        <p:spPr>
          <a:xfrm>
            <a:off x="6134710" y="3429000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this weekend</a:t>
            </a:r>
            <a:endParaRPr lang="en-US" sz="2000" dirty="0"/>
          </a:p>
        </p:txBody>
      </p:sp>
      <p:pic>
        <p:nvPicPr>
          <p:cNvPr id="47" name="Picture 47" descr="next week"/>
          <p:cNvPicPr>
            <a:picLocks noChangeAspect="1"/>
          </p:cNvPicPr>
          <p:nvPr/>
        </p:nvPicPr>
        <p:blipFill>
          <a:blip r:embed="rIdQ4"/>
          <a:stretch>
            <a:fillRect/>
          </a:stretch>
        </p:blipFill>
        <p:spPr>
          <a:xfrm>
            <a:off x="9239587" y="2240280"/>
            <a:ext cx="1619794" cy="1133856"/>
          </a:xfrm>
          <a:prstGeom prst="rect">
            <a:avLst/>
          </a:prstGeom>
        </p:spPr>
      </p:pic>
      <p:sp>
        <p:nvSpPr>
          <p:cNvPr id="48" name="Word label"/>
          <p:cNvSpPr/>
          <p:nvPr/>
        </p:nvSpPr>
        <p:spPr>
          <a:xfrm>
            <a:off x="8820760" y="3429000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next week</a:t>
            </a:r>
            <a:endParaRPr lang="en-US" sz="2000" dirty="0"/>
          </a:p>
        </p:txBody>
      </p:sp>
      <p:pic>
        <p:nvPicPr>
          <p:cNvPr id="49" name="Picture 49" descr="go to the movies"/>
          <p:cNvPicPr>
            <a:picLocks noChangeAspect="1"/>
          </p:cNvPicPr>
          <p:nvPr/>
        </p:nvPicPr>
        <p:blipFill>
          <a:blip r:embed="rIdQ5"/>
          <a:stretch>
            <a:fillRect/>
          </a:stretch>
        </p:blipFill>
        <p:spPr>
          <a:xfrm>
            <a:off x="2524462" y="4315968"/>
            <a:ext cx="1619794" cy="1133856"/>
          </a:xfrm>
          <a:prstGeom prst="rect">
            <a:avLst/>
          </a:prstGeom>
        </p:spPr>
      </p:pic>
      <p:sp>
        <p:nvSpPr>
          <p:cNvPr id="50" name="Word label"/>
          <p:cNvSpPr/>
          <p:nvPr/>
        </p:nvSpPr>
        <p:spPr>
          <a:xfrm>
            <a:off x="2105635" y="5504688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 to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movies</a:t>
            </a:r>
            <a:endParaRPr lang="en-US" sz="2000" dirty="0"/>
          </a:p>
        </p:txBody>
      </p:sp>
      <p:pic>
        <p:nvPicPr>
          <p:cNvPr id="51" name="Picture 51" descr="have a party"/>
          <p:cNvPicPr>
            <a:picLocks noChangeAspect="1"/>
          </p:cNvPicPr>
          <p:nvPr/>
        </p:nvPicPr>
        <p:blipFill>
          <a:blip r:embed="rIdQ6"/>
          <a:stretch>
            <a:fillRect/>
          </a:stretch>
        </p:blipFill>
        <p:spPr>
          <a:xfrm>
            <a:off x="5210512" y="4315968"/>
            <a:ext cx="1619794" cy="1133856"/>
          </a:xfrm>
          <a:prstGeom prst="rect">
            <a:avLst/>
          </a:prstGeom>
        </p:spPr>
      </p:pic>
      <p:sp>
        <p:nvSpPr>
          <p:cNvPr id="52" name="Word label"/>
          <p:cNvSpPr/>
          <p:nvPr/>
        </p:nvSpPr>
        <p:spPr>
          <a:xfrm>
            <a:off x="4791685" y="5504688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have a party</a:t>
            </a:r>
            <a:endParaRPr lang="en-US" sz="2000" dirty="0"/>
          </a:p>
        </p:txBody>
      </p:sp>
      <p:pic>
        <p:nvPicPr>
          <p:cNvPr id="53" name="Picture 53" descr="have a picnic"/>
          <p:cNvPicPr>
            <a:picLocks noChangeAspect="1"/>
          </p:cNvPicPr>
          <p:nvPr/>
        </p:nvPicPr>
        <p:blipFill>
          <a:blip r:embed="rIdQ7"/>
          <a:stretch>
            <a:fillRect/>
          </a:stretch>
        </p:blipFill>
        <p:spPr>
          <a:xfrm>
            <a:off x="7896562" y="4315968"/>
            <a:ext cx="1619794" cy="1133856"/>
          </a:xfrm>
          <a:prstGeom prst="rect">
            <a:avLst/>
          </a:prstGeom>
        </p:spPr>
      </p:pic>
      <p:sp>
        <p:nvSpPr>
          <p:cNvPr id="54" name="Word label"/>
          <p:cNvSpPr/>
          <p:nvPr/>
        </p:nvSpPr>
        <p:spPr>
          <a:xfrm>
            <a:off x="7477735" y="5504688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have a picnic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love to!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Sorry, I can't.</a:t>
            </a:r>
            <a:endParaRPr lang="en-US" sz="2200" dirty="0"/>
          </a:p>
        </p:txBody>
      </p:sp>
      <p:pic>
        <p:nvPicPr>
          <p:cNvPr id="39" name="Picture 39" descr="go to the beach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1181437" y="2240280"/>
            <a:ext cx="1619794" cy="1133856"/>
          </a:xfrm>
          <a:prstGeom prst="rect">
            <a:avLst/>
          </a:prstGeom>
        </p:spPr>
      </p:pic>
      <p:sp>
        <p:nvSpPr>
          <p:cNvPr id="40" name="Word label"/>
          <p:cNvSpPr/>
          <p:nvPr/>
        </p:nvSpPr>
        <p:spPr>
          <a:xfrm>
            <a:off x="762610" y="3429000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 to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beach</a:t>
            </a:r>
            <a:endParaRPr lang="en-US" sz="2000" dirty="0"/>
          </a:p>
        </p:txBody>
      </p:sp>
      <p:pic>
        <p:nvPicPr>
          <p:cNvPr id="41" name="Picture 41" descr="watch a game"/>
          <p:cNvPicPr>
            <a:picLocks noChangeAspect="1"/>
          </p:cNvPicPr>
          <p:nvPr/>
        </p:nvPicPr>
        <p:blipFill>
          <a:blip r:embed="rIdQ2"/>
          <a:stretch>
            <a:fillRect/>
          </a:stretch>
        </p:blipFill>
        <p:spPr>
          <a:xfrm>
            <a:off x="3867487" y="2240280"/>
            <a:ext cx="1619794" cy="1133856"/>
          </a:xfrm>
          <a:prstGeom prst="rect">
            <a:avLst/>
          </a:prstGeom>
        </p:spPr>
      </p:pic>
      <p:sp>
        <p:nvSpPr>
          <p:cNvPr id="42" name="Word label"/>
          <p:cNvSpPr/>
          <p:nvPr/>
        </p:nvSpPr>
        <p:spPr>
          <a:xfrm>
            <a:off x="3448660" y="3429000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watch a game</a:t>
            </a:r>
            <a:endParaRPr lang="en-US" sz="2000" dirty="0"/>
          </a:p>
        </p:txBody>
      </p:sp>
      <p:pic>
        <p:nvPicPr>
          <p:cNvPr id="43" name="Picture 43" descr="visit friends"/>
          <p:cNvPicPr>
            <a:picLocks noChangeAspect="1"/>
          </p:cNvPicPr>
          <p:nvPr/>
        </p:nvPicPr>
        <p:blipFill>
          <a:blip r:embed="rIdQ3"/>
          <a:stretch>
            <a:fillRect/>
          </a:stretch>
        </p:blipFill>
        <p:spPr>
          <a:xfrm>
            <a:off x="6553537" y="2240280"/>
            <a:ext cx="1619794" cy="1133856"/>
          </a:xfrm>
          <a:prstGeom prst="rect">
            <a:avLst/>
          </a:prstGeom>
        </p:spPr>
      </p:pic>
      <p:sp>
        <p:nvSpPr>
          <p:cNvPr id="44" name="Word label"/>
          <p:cNvSpPr/>
          <p:nvPr/>
        </p:nvSpPr>
        <p:spPr>
          <a:xfrm>
            <a:off x="6134710" y="3429000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visit friends</a:t>
            </a:r>
            <a:endParaRPr lang="en-US" sz="2000" dirty="0"/>
          </a:p>
        </p:txBody>
      </p:sp>
      <p:pic>
        <p:nvPicPr>
          <p:cNvPr id="45" name="Picture 45" descr="invite"/>
          <p:cNvPicPr>
            <a:picLocks noChangeAspect="1"/>
          </p:cNvPicPr>
          <p:nvPr/>
        </p:nvPicPr>
        <p:blipFill>
          <a:blip r:embed="rIdQ4"/>
          <a:stretch>
            <a:fillRect/>
          </a:stretch>
        </p:blipFill>
        <p:spPr>
          <a:xfrm>
            <a:off x="9239587" y="2240280"/>
            <a:ext cx="1619794" cy="1133856"/>
          </a:xfrm>
          <a:prstGeom prst="rect">
            <a:avLst/>
          </a:prstGeom>
        </p:spPr>
      </p:pic>
      <p:sp>
        <p:nvSpPr>
          <p:cNvPr id="46" name="Word label"/>
          <p:cNvSpPr/>
          <p:nvPr/>
        </p:nvSpPr>
        <p:spPr>
          <a:xfrm>
            <a:off x="8820760" y="3429000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invite</a:t>
            </a:r>
            <a:endParaRPr lang="en-US" sz="2000" dirty="0"/>
          </a:p>
        </p:txBody>
      </p:sp>
      <p:pic>
        <p:nvPicPr>
          <p:cNvPr id="47" name="Picture 47" descr="free (not busy)"/>
          <p:cNvPicPr>
            <a:picLocks noChangeAspect="1"/>
          </p:cNvPicPr>
          <p:nvPr/>
        </p:nvPicPr>
        <p:blipFill>
          <a:blip r:embed="rIdQ5"/>
          <a:stretch>
            <a:fillRect/>
          </a:stretch>
        </p:blipFill>
        <p:spPr>
          <a:xfrm>
            <a:off x="2524462" y="4315968"/>
            <a:ext cx="1619794" cy="1133856"/>
          </a:xfrm>
          <a:prstGeom prst="rect">
            <a:avLst/>
          </a:prstGeom>
        </p:spPr>
      </p:pic>
      <p:sp>
        <p:nvSpPr>
          <p:cNvPr id="48" name="Word label"/>
          <p:cNvSpPr/>
          <p:nvPr/>
        </p:nvSpPr>
        <p:spPr>
          <a:xfrm>
            <a:off x="2105635" y="5504688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free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(not busy)</a:t>
            </a:r>
            <a:endParaRPr lang="en-US" sz="2000" dirty="0"/>
          </a:p>
        </p:txBody>
      </p:sp>
      <p:pic>
        <p:nvPicPr>
          <p:cNvPr id="49" name="Picture 49" descr="I'd love to!"/>
          <p:cNvPicPr>
            <a:picLocks noChangeAspect="1"/>
          </p:cNvPicPr>
          <p:nvPr/>
        </p:nvPicPr>
        <p:blipFill>
          <a:blip r:embed="rIdQ6"/>
          <a:stretch>
            <a:fillRect/>
          </a:stretch>
        </p:blipFill>
        <p:spPr>
          <a:xfrm>
            <a:off x="5210512" y="4315968"/>
            <a:ext cx="1619794" cy="1133856"/>
          </a:xfrm>
          <a:prstGeom prst="rect">
            <a:avLst/>
          </a:prstGeom>
        </p:spPr>
      </p:pic>
      <p:sp>
        <p:nvSpPr>
          <p:cNvPr id="50" name="Word label"/>
          <p:cNvSpPr/>
          <p:nvPr/>
        </p:nvSpPr>
        <p:spPr>
          <a:xfrm>
            <a:off x="4791685" y="5504688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love to!</a:t>
            </a:r>
            <a:endParaRPr lang="en-US" sz="2000" dirty="0"/>
          </a:p>
        </p:txBody>
      </p:sp>
      <p:pic>
        <p:nvPicPr>
          <p:cNvPr id="51" name="Picture 51" descr="Sorry, I can't."/>
          <p:cNvPicPr>
            <a:picLocks noChangeAspect="1"/>
          </p:cNvPicPr>
          <p:nvPr/>
        </p:nvPicPr>
        <p:blipFill>
          <a:blip r:embed="rIdQ7"/>
          <a:stretch>
            <a:fillRect/>
          </a:stretch>
        </p:blipFill>
        <p:spPr>
          <a:xfrm>
            <a:off x="7896562" y="4315968"/>
            <a:ext cx="1619794" cy="1133856"/>
          </a:xfrm>
          <a:prstGeom prst="rect">
            <a:avLst/>
          </a:prstGeom>
        </p:spPr>
      </p:pic>
      <p:sp>
        <p:nvSpPr>
          <p:cNvPr id="52" name="Word label"/>
          <p:cNvSpPr/>
          <p:nvPr/>
        </p:nvSpPr>
        <p:spPr>
          <a:xfrm>
            <a:off x="7477735" y="5504688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Sorry, I can't.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000" dirty="0"/>
          </a:p>
        </p:txBody>
      </p:sp>
      <p:sp>
        <p:nvSpPr>
          <p:cNvPr id="22" name="Shape 20"/>
          <p:cNvSpPr/>
          <p:nvPr/>
        </p:nvSpPr>
        <p:spPr>
          <a:xfrm>
            <a:off x="4702759" y="5703113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761248" y="5694015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900000">
            <a:off x="4962710" y="5906524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65" name="Subtitle"/>
          <p:cNvSpPr/>
          <p:nvPr/>
        </p:nvSpPr>
        <p:spPr>
          <a:xfrm>
            <a:off x="771754" y="2148840"/>
            <a:ext cx="457200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Circle the answer.</a:t>
            </a:r>
            <a:endParaRPr lang="en-US" sz="2000" dirty="0"/>
          </a:p>
        </p:txBody>
      </p:sp>
      <p:pic>
        <p:nvPicPr>
          <p:cNvPr id="66" name="Picture 66" descr="L11_have_a_picnic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1274674" y="3680460"/>
            <a:ext cx="3450031" cy="2415022"/>
          </a:xfrm>
          <a:prstGeom prst="rect">
            <a:avLst/>
          </a:prstGeom>
        </p:spPr>
      </p:pic>
      <p:sp>
        <p:nvSpPr>
          <p:cNvPr id="67" name="Row shadow"/>
          <p:cNvSpPr/>
          <p:nvPr/>
        </p:nvSpPr>
        <p:spPr>
          <a:xfrm>
            <a:off x="5970118" y="1153973"/>
            <a:ext cx="5897880" cy="1188720"/>
          </a:xfrm>
          <a:prstGeom prst="round1Rect">
            <a:avLst/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8" name="Row"/>
          <p:cNvSpPr/>
          <p:nvPr/>
        </p:nvSpPr>
        <p:spPr>
          <a:xfrm>
            <a:off x="5897880" y="1097280"/>
            <a:ext cx="5897880" cy="1188720"/>
          </a:xfrm>
          <a:prstGeom prst="round1Rect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9" name="Row num"/>
          <p:cNvSpPr/>
          <p:nvPr/>
        </p:nvSpPr>
        <p:spPr>
          <a:xfrm>
            <a:off x="6035040" y="1352398"/>
            <a:ext cx="678485" cy="678485"/>
          </a:xfrm>
          <a:prstGeom prst="ellipse">
            <a:avLst/>
          </a:prstGeom>
          <a:solidFill>
            <a:srgbClr val="B9D2F7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70" name="Row question"/>
          <p:cNvSpPr/>
          <p:nvPr/>
        </p:nvSpPr>
        <p:spPr>
          <a:xfrm>
            <a:off x="6858000" y="1170432"/>
            <a:ext cx="48006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Kim is going to have ...</a:t>
            </a:r>
            <a:endParaRPr lang="en-US" sz="2000" dirty="0"/>
          </a:p>
        </p:txBody>
      </p:sp>
      <p:sp>
        <p:nvSpPr>
          <p:cNvPr id="71" name="Option"/>
          <p:cNvSpPr/>
          <p:nvPr/>
        </p:nvSpPr>
        <p:spPr>
          <a:xfrm>
            <a:off x="6858000" y="1719072"/>
            <a:ext cx="1311250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party</a:t>
            </a:r>
            <a:endParaRPr lang="en-US" sz="2000" dirty="0"/>
          </a:p>
        </p:txBody>
      </p:sp>
      <p:sp>
        <p:nvSpPr>
          <p:cNvPr id="72" name="Option"/>
          <p:cNvSpPr/>
          <p:nvPr/>
        </p:nvSpPr>
        <p:spPr>
          <a:xfrm>
            <a:off x="8278978" y="1719072"/>
            <a:ext cx="1459382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picnic</a:t>
            </a:r>
            <a:endParaRPr lang="en-US" sz="2000" dirty="0"/>
          </a:p>
        </p:txBody>
      </p:sp>
      <p:sp>
        <p:nvSpPr>
          <p:cNvPr id="73" name="Circle 1"/>
          <p:cNvSpPr/>
          <p:nvPr/>
        </p:nvSpPr>
        <p:spPr>
          <a:xfrm>
            <a:off x="8169250" y="1655064"/>
            <a:ext cx="1678838" cy="56692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4" name="Option"/>
          <p:cNvSpPr/>
          <p:nvPr/>
        </p:nvSpPr>
        <p:spPr>
          <a:xfrm>
            <a:off x="9848088" y="1719072"/>
            <a:ext cx="1459382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dinner</a:t>
            </a:r>
            <a:endParaRPr lang="en-US" sz="2000" dirty="0"/>
          </a:p>
        </p:txBody>
      </p:sp>
      <p:sp>
        <p:nvSpPr>
          <p:cNvPr id="75" name="Row shadow"/>
          <p:cNvSpPr/>
          <p:nvPr/>
        </p:nvSpPr>
        <p:spPr>
          <a:xfrm>
            <a:off x="5970118" y="2452421"/>
            <a:ext cx="5897880" cy="1188720"/>
          </a:xfrm>
          <a:prstGeom prst="round1Rect">
            <a:avLst/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6" name="Row"/>
          <p:cNvSpPr/>
          <p:nvPr/>
        </p:nvSpPr>
        <p:spPr>
          <a:xfrm>
            <a:off x="5897880" y="2395728"/>
            <a:ext cx="5897880" cy="1188720"/>
          </a:xfrm>
          <a:prstGeom prst="round1Rect">
            <a:avLst/>
          </a:prstGeom>
          <a:solidFill>
            <a:srgbClr val="B9D2F7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7" name="Row num"/>
          <p:cNvSpPr/>
          <p:nvPr/>
        </p:nvSpPr>
        <p:spPr>
          <a:xfrm>
            <a:off x="6035040" y="2650846"/>
            <a:ext cx="678485" cy="678485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78" name="Row question"/>
          <p:cNvSpPr/>
          <p:nvPr/>
        </p:nvSpPr>
        <p:spPr>
          <a:xfrm>
            <a:off x="6858000" y="2468880"/>
            <a:ext cx="48006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picnic is on ...</a:t>
            </a:r>
            <a:endParaRPr lang="en-US" sz="2000" dirty="0"/>
          </a:p>
        </p:txBody>
      </p:sp>
      <p:sp>
        <p:nvSpPr>
          <p:cNvPr id="79" name="Option"/>
          <p:cNvSpPr/>
          <p:nvPr/>
        </p:nvSpPr>
        <p:spPr>
          <a:xfrm>
            <a:off x="6858000" y="3017520"/>
            <a:ext cx="1163117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Friday</a:t>
            </a:r>
            <a:endParaRPr lang="en-US" sz="2000" dirty="0"/>
          </a:p>
        </p:txBody>
      </p:sp>
      <p:sp>
        <p:nvSpPr>
          <p:cNvPr id="80" name="Option"/>
          <p:cNvSpPr/>
          <p:nvPr/>
        </p:nvSpPr>
        <p:spPr>
          <a:xfrm>
            <a:off x="8130845" y="3017520"/>
            <a:ext cx="145938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Saturday</a:t>
            </a:r>
            <a:endParaRPr lang="en-US" sz="2000" dirty="0"/>
          </a:p>
        </p:txBody>
      </p:sp>
      <p:sp>
        <p:nvSpPr>
          <p:cNvPr id="81" name="Circle 2"/>
          <p:cNvSpPr/>
          <p:nvPr/>
        </p:nvSpPr>
        <p:spPr>
          <a:xfrm>
            <a:off x="8021117" y="2953512"/>
            <a:ext cx="1678838" cy="56692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2" name="Option"/>
          <p:cNvSpPr/>
          <p:nvPr/>
        </p:nvSpPr>
        <p:spPr>
          <a:xfrm>
            <a:off x="9699955" y="3017520"/>
            <a:ext cx="1163117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Sunday</a:t>
            </a:r>
            <a:endParaRPr lang="en-US" sz="2000" dirty="0"/>
          </a:p>
        </p:txBody>
      </p:sp>
      <p:sp>
        <p:nvSpPr>
          <p:cNvPr id="83" name="Row shadow"/>
          <p:cNvSpPr/>
          <p:nvPr/>
        </p:nvSpPr>
        <p:spPr>
          <a:xfrm>
            <a:off x="5970118" y="3750869"/>
            <a:ext cx="5897880" cy="1188720"/>
          </a:xfrm>
          <a:prstGeom prst="round1Rect">
            <a:avLst/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4" name="Row"/>
          <p:cNvSpPr/>
          <p:nvPr/>
        </p:nvSpPr>
        <p:spPr>
          <a:xfrm>
            <a:off x="5897880" y="3694176"/>
            <a:ext cx="5897880" cy="1188720"/>
          </a:xfrm>
          <a:prstGeom prst="round1Rect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5" name="Row num"/>
          <p:cNvSpPr/>
          <p:nvPr/>
        </p:nvSpPr>
        <p:spPr>
          <a:xfrm>
            <a:off x="6035040" y="3949294"/>
            <a:ext cx="678485" cy="678485"/>
          </a:xfrm>
          <a:prstGeom prst="ellipse">
            <a:avLst/>
          </a:prstGeom>
          <a:solidFill>
            <a:srgbClr val="B9D2F7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2000" dirty="0"/>
          </a:p>
        </p:txBody>
      </p:sp>
      <p:sp>
        <p:nvSpPr>
          <p:cNvPr id="86" name="Row question"/>
          <p:cNvSpPr/>
          <p:nvPr/>
        </p:nvSpPr>
        <p:spPr>
          <a:xfrm>
            <a:off x="6858000" y="3767328"/>
            <a:ext cx="48006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starts at ...</a:t>
            </a:r>
            <a:endParaRPr lang="en-US" sz="2000" dirty="0"/>
          </a:p>
        </p:txBody>
      </p:sp>
      <p:sp>
        <p:nvSpPr>
          <p:cNvPr id="87" name="Option"/>
          <p:cNvSpPr/>
          <p:nvPr/>
        </p:nvSpPr>
        <p:spPr>
          <a:xfrm>
            <a:off x="6858000" y="4315968"/>
            <a:ext cx="1097280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2:00</a:t>
            </a:r>
            <a:endParaRPr lang="en-US" sz="2000" dirty="0"/>
          </a:p>
        </p:txBody>
      </p:sp>
      <p:sp>
        <p:nvSpPr>
          <p:cNvPr id="88" name="Circle 3"/>
          <p:cNvSpPr/>
          <p:nvPr/>
        </p:nvSpPr>
        <p:spPr>
          <a:xfrm>
            <a:off x="6748272" y="4251960"/>
            <a:ext cx="1316736" cy="56692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9" name="Option"/>
          <p:cNvSpPr/>
          <p:nvPr/>
        </p:nvSpPr>
        <p:spPr>
          <a:xfrm>
            <a:off x="8065008" y="4315968"/>
            <a:ext cx="1097280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4:00</a:t>
            </a:r>
            <a:endParaRPr lang="en-US" sz="2000" dirty="0"/>
          </a:p>
        </p:txBody>
      </p:sp>
      <p:sp>
        <p:nvSpPr>
          <p:cNvPr id="90" name="Option"/>
          <p:cNvSpPr/>
          <p:nvPr/>
        </p:nvSpPr>
        <p:spPr>
          <a:xfrm>
            <a:off x="9272016" y="4315968"/>
            <a:ext cx="1097280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12:00</a:t>
            </a:r>
            <a:endParaRPr lang="en-US" sz="2000" dirty="0"/>
          </a:p>
        </p:txBody>
      </p:sp>
      <p:sp>
        <p:nvSpPr>
          <p:cNvPr id="91" name="Row shadow"/>
          <p:cNvSpPr/>
          <p:nvPr/>
        </p:nvSpPr>
        <p:spPr>
          <a:xfrm>
            <a:off x="5970118" y="5049317"/>
            <a:ext cx="5897880" cy="1188720"/>
          </a:xfrm>
          <a:prstGeom prst="round1Rect">
            <a:avLst/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92" name="Row"/>
          <p:cNvSpPr/>
          <p:nvPr/>
        </p:nvSpPr>
        <p:spPr>
          <a:xfrm>
            <a:off x="5897880" y="4992624"/>
            <a:ext cx="5897880" cy="1188720"/>
          </a:xfrm>
          <a:prstGeom prst="round1Rect">
            <a:avLst/>
          </a:prstGeom>
          <a:solidFill>
            <a:srgbClr val="B9D2F7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93" name="Row num"/>
          <p:cNvSpPr/>
          <p:nvPr/>
        </p:nvSpPr>
        <p:spPr>
          <a:xfrm>
            <a:off x="6035040" y="5247742"/>
            <a:ext cx="678485" cy="678485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2000" dirty="0"/>
          </a:p>
        </p:txBody>
      </p:sp>
      <p:sp>
        <p:nvSpPr>
          <p:cNvPr id="94" name="Row question"/>
          <p:cNvSpPr/>
          <p:nvPr/>
        </p:nvSpPr>
        <p:spPr>
          <a:xfrm>
            <a:off x="6858000" y="5065776"/>
            <a:ext cx="48006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 is going to bring ...</a:t>
            </a:r>
            <a:endParaRPr lang="en-US" sz="2000" dirty="0"/>
          </a:p>
        </p:txBody>
      </p:sp>
      <p:sp>
        <p:nvSpPr>
          <p:cNvPr id="95" name="Option"/>
          <p:cNvSpPr/>
          <p:nvPr/>
        </p:nvSpPr>
        <p:spPr>
          <a:xfrm>
            <a:off x="6858000" y="5614416"/>
            <a:ext cx="1311250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salad</a:t>
            </a:r>
            <a:endParaRPr lang="en-US" sz="2000" dirty="0"/>
          </a:p>
        </p:txBody>
      </p:sp>
      <p:sp>
        <p:nvSpPr>
          <p:cNvPr id="96" name="Option"/>
          <p:cNvSpPr/>
          <p:nvPr/>
        </p:nvSpPr>
        <p:spPr>
          <a:xfrm>
            <a:off x="8278978" y="5614416"/>
            <a:ext cx="1163117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cake</a:t>
            </a:r>
            <a:endParaRPr lang="en-US" sz="2000" dirty="0"/>
          </a:p>
        </p:txBody>
      </p:sp>
      <p:sp>
        <p:nvSpPr>
          <p:cNvPr id="97" name="Option"/>
          <p:cNvSpPr/>
          <p:nvPr/>
        </p:nvSpPr>
        <p:spPr>
          <a:xfrm>
            <a:off x="9551822" y="5614416"/>
            <a:ext cx="1163117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ball</a:t>
            </a:r>
            <a:endParaRPr lang="en-US" sz="2000" dirty="0"/>
          </a:p>
        </p:txBody>
      </p:sp>
      <p:sp>
        <p:nvSpPr>
          <p:cNvPr id="98" name="Circle 4"/>
          <p:cNvSpPr/>
          <p:nvPr/>
        </p:nvSpPr>
        <p:spPr>
          <a:xfrm>
            <a:off x="9442094" y="5550408"/>
            <a:ext cx="1382573" cy="56692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 or False?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865815" y="269565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0924304" y="268655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 rot="900000">
            <a:off x="11125766" y="289906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67" name="Statement 1"/>
          <p:cNvSpPr/>
          <p:nvPr/>
        </p:nvSpPr>
        <p:spPr>
          <a:xfrm>
            <a:off x="502920" y="2834640"/>
            <a:ext cx="512064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The picnic is at Lake Park.</a:t>
            </a:r>
            <a:endParaRPr lang="en-US" sz="2000" dirty="0"/>
          </a:p>
        </p:txBody>
      </p:sp>
      <p:sp>
        <p:nvSpPr>
          <p:cNvPr id="68" name="Option 11"/>
          <p:cNvSpPr/>
          <p:nvPr/>
        </p:nvSpPr>
        <p:spPr>
          <a:xfrm>
            <a:off x="5669280" y="2889504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69" name="Option 12"/>
          <p:cNvSpPr/>
          <p:nvPr/>
        </p:nvSpPr>
        <p:spPr>
          <a:xfrm>
            <a:off x="7086600" y="2889504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70" name="Circle 1"/>
          <p:cNvSpPr/>
          <p:nvPr/>
        </p:nvSpPr>
        <p:spPr>
          <a:xfrm>
            <a:off x="5541264" y="2825496"/>
            <a:ext cx="144475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1" name="Statement 2"/>
          <p:cNvSpPr/>
          <p:nvPr/>
        </p:nvSpPr>
        <p:spPr>
          <a:xfrm>
            <a:off x="502920" y="3566160"/>
            <a:ext cx="512064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Carlos is free on Saturday morning.</a:t>
            </a:r>
            <a:endParaRPr lang="en-US" sz="2000" dirty="0"/>
          </a:p>
        </p:txBody>
      </p:sp>
      <p:sp>
        <p:nvSpPr>
          <p:cNvPr id="72" name="Option 21"/>
          <p:cNvSpPr/>
          <p:nvPr/>
        </p:nvSpPr>
        <p:spPr>
          <a:xfrm>
            <a:off x="5669280" y="3621024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73" name="Option 22"/>
          <p:cNvSpPr/>
          <p:nvPr/>
        </p:nvSpPr>
        <p:spPr>
          <a:xfrm>
            <a:off x="7086600" y="3621024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74" name="Circle 2"/>
          <p:cNvSpPr/>
          <p:nvPr/>
        </p:nvSpPr>
        <p:spPr>
          <a:xfrm>
            <a:off x="6958584" y="3557016"/>
            <a:ext cx="144475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5" name="Fix 2"/>
          <p:cNvSpPr/>
          <p:nvPr/>
        </p:nvSpPr>
        <p:spPr>
          <a:xfrm>
            <a:off x="8549640" y="3566160"/>
            <a:ext cx="237744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He's working.</a:t>
            </a:r>
            <a:endParaRPr lang="en-US" sz="2000" dirty="0"/>
          </a:p>
        </p:txBody>
      </p:sp>
      <p:sp>
        <p:nvSpPr>
          <p:cNvPr id="76" name="Statement 3"/>
          <p:cNvSpPr/>
          <p:nvPr/>
        </p:nvSpPr>
        <p:spPr>
          <a:xfrm>
            <a:off x="502920" y="4297680"/>
            <a:ext cx="512064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Rosa is going to come to the picnic.</a:t>
            </a:r>
            <a:endParaRPr lang="en-US" sz="2000" dirty="0"/>
          </a:p>
        </p:txBody>
      </p:sp>
      <p:sp>
        <p:nvSpPr>
          <p:cNvPr id="77" name="Option 31"/>
          <p:cNvSpPr/>
          <p:nvPr/>
        </p:nvSpPr>
        <p:spPr>
          <a:xfrm>
            <a:off x="5669280" y="4352544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78" name="Option 32"/>
          <p:cNvSpPr/>
          <p:nvPr/>
        </p:nvSpPr>
        <p:spPr>
          <a:xfrm>
            <a:off x="7086600" y="4352544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79" name="Circle 3"/>
          <p:cNvSpPr/>
          <p:nvPr/>
        </p:nvSpPr>
        <p:spPr>
          <a:xfrm>
            <a:off x="6958584" y="4288536"/>
            <a:ext cx="144475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0" name="Fix 3"/>
          <p:cNvSpPr/>
          <p:nvPr/>
        </p:nvSpPr>
        <p:spPr>
          <a:xfrm>
            <a:off x="8549640" y="4297680"/>
            <a:ext cx="237744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She's visiting her mother.</a:t>
            </a:r>
            <a:endParaRPr lang="en-US" sz="2000" dirty="0"/>
          </a:p>
        </p:txBody>
      </p:sp>
      <p:sp>
        <p:nvSpPr>
          <p:cNvPr id="81" name="Statement 4"/>
          <p:cNvSpPr/>
          <p:nvPr/>
        </p:nvSpPr>
        <p:spPr>
          <a:xfrm>
            <a:off x="502920" y="5029200"/>
            <a:ext cx="512064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Kim invites Carlos to the movies.</a:t>
            </a:r>
            <a:endParaRPr lang="en-US" sz="2000" dirty="0"/>
          </a:p>
        </p:txBody>
      </p:sp>
      <p:sp>
        <p:nvSpPr>
          <p:cNvPr id="82" name="Option 41"/>
          <p:cNvSpPr/>
          <p:nvPr/>
        </p:nvSpPr>
        <p:spPr>
          <a:xfrm>
            <a:off x="5669280" y="5084064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83" name="Option 42"/>
          <p:cNvSpPr/>
          <p:nvPr/>
        </p:nvSpPr>
        <p:spPr>
          <a:xfrm>
            <a:off x="7086600" y="5084064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84" name="Circle 4"/>
          <p:cNvSpPr/>
          <p:nvPr/>
        </p:nvSpPr>
        <p:spPr>
          <a:xfrm>
            <a:off x="5541264" y="5020056"/>
            <a:ext cx="144475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5" name="Statement 5"/>
          <p:cNvSpPr/>
          <p:nvPr/>
        </p:nvSpPr>
        <p:spPr>
          <a:xfrm>
            <a:off x="502920" y="5760720"/>
            <a:ext cx="512064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5. Carlos is free on Sunday.</a:t>
            </a:r>
            <a:endParaRPr lang="en-US" sz="2000" dirty="0"/>
          </a:p>
        </p:txBody>
      </p:sp>
      <p:sp>
        <p:nvSpPr>
          <p:cNvPr id="86" name="Option 51"/>
          <p:cNvSpPr/>
          <p:nvPr/>
        </p:nvSpPr>
        <p:spPr>
          <a:xfrm>
            <a:off x="5669280" y="5815584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True</a:t>
            </a:r>
            <a:endParaRPr lang="en-US" sz="2000" dirty="0"/>
          </a:p>
        </p:txBody>
      </p:sp>
      <p:sp>
        <p:nvSpPr>
          <p:cNvPr id="87" name="Option 52"/>
          <p:cNvSpPr/>
          <p:nvPr/>
        </p:nvSpPr>
        <p:spPr>
          <a:xfrm>
            <a:off x="7086600" y="5815584"/>
            <a:ext cx="11887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False</a:t>
            </a:r>
            <a:endParaRPr lang="en-US" sz="2000" dirty="0"/>
          </a:p>
        </p:txBody>
      </p:sp>
      <p:sp>
        <p:nvSpPr>
          <p:cNvPr id="88" name="Circle 5"/>
          <p:cNvSpPr/>
          <p:nvPr/>
        </p:nvSpPr>
        <p:spPr>
          <a:xfrm>
            <a:off x="6958584" y="5751576"/>
            <a:ext cx="144475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9" name="Fix 5"/>
          <p:cNvSpPr/>
          <p:nvPr/>
        </p:nvSpPr>
        <p:spPr>
          <a:xfrm>
            <a:off x="8549640" y="5760720"/>
            <a:ext cx="237744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He's helping his brother.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977640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828032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5678424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We're ____ to have a picnic.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977640"/>
            <a:ext cx="36484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____ to! What time?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828032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Sorry, I ____.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5678424"/>
            <a:ext cx="324063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____ my brother on Sunday.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27248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977640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977640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828032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828032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678424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5678424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love to!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Sorry, I can't.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a reason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42" name="Answer 1"/>
          <p:cNvSpPr/>
          <p:nvPr/>
        </p:nvSpPr>
        <p:spPr>
          <a:xfrm>
            <a:off x="5449824" y="3278124"/>
            <a:ext cx="1133856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</a:t>
            </a:r>
            <a:endParaRPr lang="en-US" sz="2200" dirty="0"/>
          </a:p>
        </p:txBody>
      </p:sp>
      <p:sp>
        <p:nvSpPr>
          <p:cNvPr id="43" name="Answer 2"/>
          <p:cNvSpPr/>
          <p:nvPr/>
        </p:nvSpPr>
        <p:spPr>
          <a:xfrm>
            <a:off x="5532120" y="4128516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love</a:t>
            </a:r>
            <a:endParaRPr lang="en-US" sz="2200" dirty="0"/>
          </a:p>
        </p:txBody>
      </p:sp>
      <p:sp>
        <p:nvSpPr>
          <p:cNvPr id="44" name="Answer 3"/>
          <p:cNvSpPr/>
          <p:nvPr/>
        </p:nvSpPr>
        <p:spPr>
          <a:xfrm>
            <a:off x="5449824" y="4978908"/>
            <a:ext cx="1133856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can't</a:t>
            </a:r>
            <a:endParaRPr lang="en-US" sz="2200" dirty="0"/>
          </a:p>
        </p:txBody>
      </p:sp>
      <p:sp>
        <p:nvSpPr>
          <p:cNvPr id="45" name="Answer 4"/>
          <p:cNvSpPr/>
          <p:nvPr/>
        </p:nvSpPr>
        <p:spPr>
          <a:xfrm>
            <a:off x="5124298" y="5829300"/>
            <a:ext cx="1459382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helping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are you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 do?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Plans: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am / is / are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pic>
        <p:nvPicPr>
          <p:cNvPr id="65" name="Picture 65" descr="L11_visit_friends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66" name="Wh"/>
          <p:cNvSpPr/>
          <p:nvPr/>
        </p:nvSpPr>
        <p:spPr>
          <a:xfrm>
            <a:off x="3520440" y="4114800"/>
            <a:ext cx="907999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</a:t>
            </a:r>
            <a:endParaRPr lang="en-US" sz="2200" dirty="0"/>
          </a:p>
        </p:txBody>
      </p:sp>
      <p:sp>
        <p:nvSpPr>
          <p:cNvPr id="67" name="Highlight"/>
          <p:cNvSpPr/>
          <p:nvPr/>
        </p:nvSpPr>
        <p:spPr>
          <a:xfrm>
            <a:off x="4428439" y="4114800"/>
            <a:ext cx="799551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8" name="Helper"/>
          <p:cNvSpPr/>
          <p:nvPr/>
        </p:nvSpPr>
        <p:spPr>
          <a:xfrm>
            <a:off x="4428439" y="4114800"/>
            <a:ext cx="799551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endParaRPr lang="en-US" sz="2200" dirty="0"/>
          </a:p>
        </p:txBody>
      </p:sp>
      <p:sp>
        <p:nvSpPr>
          <p:cNvPr id="69" name="Rest"/>
          <p:cNvSpPr/>
          <p:nvPr/>
        </p:nvSpPr>
        <p:spPr>
          <a:xfrm>
            <a:off x="5282855" y="4114800"/>
            <a:ext cx="259689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going to do?</a:t>
            </a:r>
            <a:endParaRPr lang="en-US" sz="2200" dirty="0"/>
          </a:p>
        </p:txBody>
      </p:sp>
      <p:sp>
        <p:nvSpPr>
          <p:cNvPr id="70" name="Wh"/>
          <p:cNvSpPr/>
          <p:nvPr/>
        </p:nvSpPr>
        <p:spPr>
          <a:xfrm>
            <a:off x="3520440" y="4846320"/>
            <a:ext cx="907999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</a:t>
            </a:r>
            <a:endParaRPr lang="en-US" sz="2200" dirty="0"/>
          </a:p>
        </p:txBody>
      </p:sp>
      <p:sp>
        <p:nvSpPr>
          <p:cNvPr id="71" name="Highlight"/>
          <p:cNvSpPr/>
          <p:nvPr/>
        </p:nvSpPr>
        <p:spPr>
          <a:xfrm>
            <a:off x="4428439" y="4846320"/>
            <a:ext cx="630570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2" name="Helper"/>
          <p:cNvSpPr/>
          <p:nvPr/>
        </p:nvSpPr>
        <p:spPr>
          <a:xfrm>
            <a:off x="4428439" y="4846320"/>
            <a:ext cx="63057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endParaRPr lang="en-US" sz="2200" dirty="0"/>
          </a:p>
        </p:txBody>
      </p:sp>
      <p:sp>
        <p:nvSpPr>
          <p:cNvPr id="73" name="Rest"/>
          <p:cNvSpPr/>
          <p:nvPr/>
        </p:nvSpPr>
        <p:spPr>
          <a:xfrm>
            <a:off x="5113873" y="4846320"/>
            <a:ext cx="259689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going to do?</a:t>
            </a:r>
            <a:endParaRPr lang="en-US" sz="2200" dirty="0"/>
          </a:p>
        </p:txBody>
      </p:sp>
      <p:sp>
        <p:nvSpPr>
          <p:cNvPr id="74" name="Wh"/>
          <p:cNvSpPr/>
          <p:nvPr/>
        </p:nvSpPr>
        <p:spPr>
          <a:xfrm>
            <a:off x="3520440" y="5577840"/>
            <a:ext cx="907999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</a:t>
            </a:r>
            <a:endParaRPr lang="en-US" sz="2200" dirty="0"/>
          </a:p>
        </p:txBody>
      </p:sp>
      <p:sp>
        <p:nvSpPr>
          <p:cNvPr id="75" name="Highlight"/>
          <p:cNvSpPr/>
          <p:nvPr/>
        </p:nvSpPr>
        <p:spPr>
          <a:xfrm>
            <a:off x="4428439" y="5577840"/>
            <a:ext cx="799551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6" name="Helper"/>
          <p:cNvSpPr/>
          <p:nvPr/>
        </p:nvSpPr>
        <p:spPr>
          <a:xfrm>
            <a:off x="4428439" y="5577840"/>
            <a:ext cx="799551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endParaRPr lang="en-US" sz="2200" dirty="0"/>
          </a:p>
        </p:txBody>
      </p:sp>
      <p:sp>
        <p:nvSpPr>
          <p:cNvPr id="77" name="Rest"/>
          <p:cNvSpPr/>
          <p:nvPr/>
        </p:nvSpPr>
        <p:spPr>
          <a:xfrm>
            <a:off x="5282855" y="5577840"/>
            <a:ext cx="2747772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 going to do?</a:t>
            </a:r>
            <a:endParaRPr lang="en-US" sz="2200" dirty="0"/>
          </a:p>
        </p:txBody>
      </p:sp>
      <p:sp>
        <p:nvSpPr>
          <p:cNvPr id="78" name="Card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Answers</a:t>
            </a:r>
            <a:endParaRPr lang="en-US" sz="2400" dirty="0"/>
          </a:p>
        </p:txBody>
      </p:sp>
      <p:sp>
        <p:nvSpPr>
          <p:cNvPr id="79" name="Card item"/>
          <p:cNvSpPr/>
          <p:nvPr/>
        </p:nvSpPr>
        <p:spPr>
          <a:xfrm>
            <a:off x="8549640" y="1920240"/>
            <a:ext cx="3017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'm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going to visit friends.</a:t>
            </a:r>
            <a:endParaRPr lang="en-US" sz="2000" dirty="0"/>
          </a:p>
        </p:txBody>
      </p:sp>
      <p:sp>
        <p:nvSpPr>
          <p:cNvPr id="80" name="Card item"/>
          <p:cNvSpPr/>
          <p:nvPr/>
        </p:nvSpPr>
        <p:spPr>
          <a:xfrm>
            <a:off x="8549640" y="2724912"/>
            <a:ext cx="3017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's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going to rest.</a:t>
            </a:r>
            <a:endParaRPr lang="en-US" sz="2000" dirty="0"/>
          </a:p>
        </p:txBody>
      </p:sp>
      <p:sp>
        <p:nvSpPr>
          <p:cNvPr id="81" name="Card item"/>
          <p:cNvSpPr/>
          <p:nvPr/>
        </p:nvSpPr>
        <p:spPr>
          <a:xfrm>
            <a:off x="8549640" y="3529584"/>
            <a:ext cx="3017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're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going to watch a game.</a:t>
            </a:r>
            <a:endParaRPr lang="en-US" sz="2000" dirty="0"/>
          </a:p>
        </p:txBody>
      </p:sp>
      <p:sp>
        <p:nvSpPr>
          <p:cNvPr id="82" name="Example"/>
          <p:cNvSpPr/>
          <p:nvPr/>
        </p:nvSpPr>
        <p:spPr>
          <a:xfrm>
            <a:off x="8549640" y="5394960"/>
            <a:ext cx="30175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+ going to +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verb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6429" y="1163345"/>
            <a:ext cx="5814670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1087222"/>
            <a:ext cx="5814670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333695" y="12801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 going to ...?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166360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741664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245852" y="247893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328148" y="2466137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 rot="900000">
            <a:off x="10611612" y="2765146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44" name="Picture 44" descr="L11_tomorrow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699516" y="2264969"/>
            <a:ext cx="3326587" cy="2328611"/>
          </a:xfrm>
          <a:prstGeom prst="rect">
            <a:avLst/>
          </a:prstGeom>
        </p:spPr>
      </p:pic>
      <p:sp>
        <p:nvSpPr>
          <p:cNvPr id="45" name="Highlight"/>
          <p:cNvSpPr/>
          <p:nvPr/>
        </p:nvSpPr>
        <p:spPr>
          <a:xfrm>
            <a:off x="5138928" y="3899916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6" name="Helper"/>
          <p:cNvSpPr/>
          <p:nvPr/>
        </p:nvSpPr>
        <p:spPr>
          <a:xfrm>
            <a:off x="5138928" y="3749040"/>
            <a:ext cx="9601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endParaRPr lang="en-US" sz="2600" dirty="0"/>
          </a:p>
        </p:txBody>
      </p:sp>
      <p:sp>
        <p:nvSpPr>
          <p:cNvPr id="47" name="Question"/>
          <p:cNvSpPr/>
          <p:nvPr/>
        </p:nvSpPr>
        <p:spPr>
          <a:xfrm>
            <a:off x="6144768" y="3749040"/>
            <a:ext cx="2487168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going to work tomorrow?</a:t>
            </a:r>
            <a:endParaRPr lang="en-US" sz="2200" dirty="0"/>
          </a:p>
        </p:txBody>
      </p:sp>
      <p:sp>
        <p:nvSpPr>
          <p:cNvPr id="49" name="Answer bg"/>
          <p:cNvSpPr/>
          <p:nvPr/>
        </p:nvSpPr>
        <p:spPr>
          <a:xfrm>
            <a:off x="8668512" y="3749040"/>
            <a:ext cx="3017520" cy="8686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8" name="Answer"/>
          <p:cNvSpPr/>
          <p:nvPr/>
        </p:nvSpPr>
        <p:spPr>
          <a:xfrm>
            <a:off x="8668512" y="3749040"/>
            <a:ext cx="30175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am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I'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 not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50" name="Highlight"/>
          <p:cNvSpPr/>
          <p:nvPr/>
        </p:nvSpPr>
        <p:spPr>
          <a:xfrm>
            <a:off x="5138928" y="4814316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1" name="Helper"/>
          <p:cNvSpPr/>
          <p:nvPr/>
        </p:nvSpPr>
        <p:spPr>
          <a:xfrm>
            <a:off x="5138928" y="4663440"/>
            <a:ext cx="9601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endParaRPr lang="en-US" sz="2600" dirty="0"/>
          </a:p>
        </p:txBody>
      </p:sp>
      <p:sp>
        <p:nvSpPr>
          <p:cNvPr id="52" name="Question"/>
          <p:cNvSpPr/>
          <p:nvPr/>
        </p:nvSpPr>
        <p:spPr>
          <a:xfrm>
            <a:off x="6144768" y="4663440"/>
            <a:ext cx="2487168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going to come?</a:t>
            </a:r>
            <a:endParaRPr lang="en-US" sz="2200" dirty="0"/>
          </a:p>
        </p:txBody>
      </p:sp>
      <p:sp>
        <p:nvSpPr>
          <p:cNvPr id="54" name="Answer bg"/>
          <p:cNvSpPr/>
          <p:nvPr/>
        </p:nvSpPr>
        <p:spPr>
          <a:xfrm>
            <a:off x="8668512" y="4663440"/>
            <a:ext cx="3017520" cy="8686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3" name="Answer"/>
          <p:cNvSpPr/>
          <p:nvPr/>
        </p:nvSpPr>
        <p:spPr>
          <a:xfrm>
            <a:off x="8668512" y="4663440"/>
            <a:ext cx="30175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55" name="Highlight"/>
          <p:cNvSpPr/>
          <p:nvPr/>
        </p:nvSpPr>
        <p:spPr>
          <a:xfrm>
            <a:off x="5138928" y="5728716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6" name="Helper"/>
          <p:cNvSpPr/>
          <p:nvPr/>
        </p:nvSpPr>
        <p:spPr>
          <a:xfrm>
            <a:off x="5138928" y="5577840"/>
            <a:ext cx="9601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endParaRPr lang="en-US" sz="2600" dirty="0"/>
          </a:p>
        </p:txBody>
      </p:sp>
      <p:sp>
        <p:nvSpPr>
          <p:cNvPr id="57" name="Question"/>
          <p:cNvSpPr/>
          <p:nvPr/>
        </p:nvSpPr>
        <p:spPr>
          <a:xfrm>
            <a:off x="6144768" y="5577840"/>
            <a:ext cx="2487168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 going to call?</a:t>
            </a:r>
            <a:endParaRPr lang="en-US" sz="2200" dirty="0"/>
          </a:p>
        </p:txBody>
      </p:sp>
      <p:sp>
        <p:nvSpPr>
          <p:cNvPr id="59" name="Answer bg"/>
          <p:cNvSpPr/>
          <p:nvPr/>
        </p:nvSpPr>
        <p:spPr>
          <a:xfrm>
            <a:off x="8668512" y="5577840"/>
            <a:ext cx="3017520" cy="8686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8" name="Answer"/>
          <p:cNvSpPr/>
          <p:nvPr/>
        </p:nvSpPr>
        <p:spPr>
          <a:xfrm>
            <a:off x="8668512" y="5577840"/>
            <a:ext cx="30175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they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they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42786" y="3649370"/>
            <a:ext cx="4912157" cy="256123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32104" y="1371600"/>
            <a:ext cx="52578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 · Invitations</a:t>
            </a:r>
            <a:endParaRPr lang="en-US" sz="20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You</a:t>
            </a:r>
            <a:endParaRPr lang="en-US" sz="32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 to ...?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305763" y="3649370"/>
            <a:ext cx="4790542" cy="2599639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41578" y="3253435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3874" y="3240634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 rot="900000">
            <a:off x="1107338" y="3539642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42" name="Picture 42" descr="L11_invite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7598664" y="1216152"/>
            <a:ext cx="3254350" cy="2278045"/>
          </a:xfrm>
          <a:prstGeom prst="rect">
            <a:avLst/>
          </a:prstGeom>
        </p:spPr>
      </p:pic>
      <p:sp>
        <p:nvSpPr>
          <p:cNvPr id="43" name="Q head"/>
          <p:cNvSpPr/>
          <p:nvPr/>
        </p:nvSpPr>
        <p:spPr>
          <a:xfrm>
            <a:off x="1920240" y="3794760"/>
            <a:ext cx="40233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INVITE</a:t>
            </a:r>
            <a:endParaRPr lang="en-US" sz="2000" dirty="0"/>
          </a:p>
        </p:txBody>
      </p:sp>
      <p:sp>
        <p:nvSpPr>
          <p:cNvPr id="44" name="A head"/>
          <p:cNvSpPr/>
          <p:nvPr/>
        </p:nvSpPr>
        <p:spPr>
          <a:xfrm>
            <a:off x="7040880" y="3794760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ACCEPT / DECLINE</a:t>
            </a:r>
            <a:endParaRPr lang="en-US" sz="2000" dirty="0"/>
          </a:p>
        </p:txBody>
      </p:sp>
      <p:sp>
        <p:nvSpPr>
          <p:cNvPr id="45" name="Highlight"/>
          <p:cNvSpPr/>
          <p:nvPr/>
        </p:nvSpPr>
        <p:spPr>
          <a:xfrm>
            <a:off x="1481328" y="4453128"/>
            <a:ext cx="3790188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6" name="Question"/>
          <p:cNvSpPr/>
          <p:nvPr/>
        </p:nvSpPr>
        <p:spPr>
          <a:xfrm>
            <a:off x="1481328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you like to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come?</a:t>
            </a:r>
            <a:endParaRPr lang="en-US" sz="2200" dirty="0"/>
          </a:p>
        </p:txBody>
      </p:sp>
      <p:sp>
        <p:nvSpPr>
          <p:cNvPr id="48" name="Answer bg"/>
          <p:cNvSpPr/>
          <p:nvPr/>
        </p:nvSpPr>
        <p:spPr>
          <a:xfrm>
            <a:off x="6949440" y="43342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7" name="Answer"/>
          <p:cNvSpPr/>
          <p:nvPr/>
        </p:nvSpPr>
        <p:spPr>
          <a:xfrm>
            <a:off x="6949440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love to!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time?</a:t>
            </a:r>
            <a:endParaRPr lang="en-US" sz="2200" dirty="0"/>
          </a:p>
        </p:txBody>
      </p:sp>
      <p:sp>
        <p:nvSpPr>
          <p:cNvPr id="49" name="Highlight"/>
          <p:cNvSpPr/>
          <p:nvPr/>
        </p:nvSpPr>
        <p:spPr>
          <a:xfrm>
            <a:off x="1481328" y="5367528"/>
            <a:ext cx="3639312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0" name="Question"/>
          <p:cNvSpPr/>
          <p:nvPr/>
        </p:nvSpPr>
        <p:spPr>
          <a:xfrm>
            <a:off x="1481328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want to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go out?</a:t>
            </a:r>
            <a:endParaRPr lang="en-US" sz="2200" dirty="0"/>
          </a:p>
        </p:txBody>
      </p:sp>
      <p:sp>
        <p:nvSpPr>
          <p:cNvPr id="52" name="Answer bg"/>
          <p:cNvSpPr/>
          <p:nvPr/>
        </p:nvSpPr>
        <p:spPr>
          <a:xfrm>
            <a:off x="6949440" y="52486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1" name="Answer"/>
          <p:cNvSpPr/>
          <p:nvPr/>
        </p:nvSpPr>
        <p:spPr>
          <a:xfrm>
            <a:off x="6949440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Sorry, I can't.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working.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3621024"/>
            <a:ext cx="3543300" cy="2999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3629254"/>
            <a:ext cx="5860390" cy="2999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125108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118689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429000"/>
            <a:ext cx="3610966" cy="2999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3429000"/>
            <a:ext cx="5860390" cy="2999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8076" y="15544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311261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45091" y="309981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900000">
            <a:off x="9928555" y="339882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37" name="Picture 37" descr="L11_go_to_the_movies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38" name="Dont head"/>
          <p:cNvSpPr/>
          <p:nvPr/>
        </p:nvSpPr>
        <p:spPr>
          <a:xfrm>
            <a:off x="914400" y="352044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39" name="Say head"/>
          <p:cNvSpPr/>
          <p:nvPr/>
        </p:nvSpPr>
        <p:spPr>
          <a:xfrm>
            <a:off x="4800600" y="352044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40" name="Bad"/>
          <p:cNvSpPr/>
          <p:nvPr/>
        </p:nvSpPr>
        <p:spPr>
          <a:xfrm>
            <a:off x="914400" y="4023360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going to work.</a:t>
            </a:r>
            <a:endParaRPr lang="en-US" sz="2200" dirty="0"/>
          </a:p>
        </p:txBody>
      </p:sp>
      <p:sp>
        <p:nvSpPr>
          <p:cNvPr id="41" name="Good"/>
          <p:cNvSpPr/>
          <p:nvPr/>
        </p:nvSpPr>
        <p:spPr>
          <a:xfrm>
            <a:off x="4800600" y="4023360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going to work.</a:t>
            </a:r>
            <a:endParaRPr lang="en-US" sz="2200" dirty="0"/>
          </a:p>
        </p:txBody>
      </p:sp>
      <p:sp>
        <p:nvSpPr>
          <p:cNvPr id="42" name="Bad"/>
          <p:cNvSpPr/>
          <p:nvPr/>
        </p:nvSpPr>
        <p:spPr>
          <a:xfrm>
            <a:off x="914400" y="4626864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go to visit my mother tomorrow.</a:t>
            </a:r>
            <a:endParaRPr lang="en-US" sz="2200" dirty="0"/>
          </a:p>
        </p:txBody>
      </p:sp>
      <p:sp>
        <p:nvSpPr>
          <p:cNvPr id="43" name="Good"/>
          <p:cNvSpPr/>
          <p:nvPr/>
        </p:nvSpPr>
        <p:spPr>
          <a:xfrm>
            <a:off x="4800600" y="4626864"/>
            <a:ext cx="5303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visit my mother tomorrow.</a:t>
            </a:r>
            <a:endParaRPr lang="en-US" sz="2200" dirty="0"/>
          </a:p>
        </p:txBody>
      </p:sp>
      <p:sp>
        <p:nvSpPr>
          <p:cNvPr id="44" name="Bad"/>
          <p:cNvSpPr/>
          <p:nvPr/>
        </p:nvSpPr>
        <p:spPr>
          <a:xfrm>
            <a:off x="914400" y="5458968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is going to visits.</a:t>
            </a:r>
            <a:endParaRPr lang="en-US" sz="2200" dirty="0"/>
          </a:p>
        </p:txBody>
      </p:sp>
      <p:sp>
        <p:nvSpPr>
          <p:cNvPr id="45" name="Good"/>
          <p:cNvSpPr/>
          <p:nvPr/>
        </p:nvSpPr>
        <p:spPr>
          <a:xfrm>
            <a:off x="4800600" y="5458968"/>
            <a:ext cx="5303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is going to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visit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3621024"/>
            <a:ext cx="3543300" cy="27706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3629254"/>
            <a:ext cx="5860390" cy="27706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125108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118689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429000"/>
            <a:ext cx="3610966" cy="27706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3429000"/>
            <a:ext cx="5860390" cy="27706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8076" y="15544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Fix These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311261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45091" y="309981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900000">
            <a:off x="9928555" y="339882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37" name="Picture 37" descr="L11_sorry_i_cant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38" name="Dont head"/>
          <p:cNvSpPr/>
          <p:nvPr/>
        </p:nvSpPr>
        <p:spPr>
          <a:xfrm>
            <a:off x="914400" y="352044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39" name="Say head"/>
          <p:cNvSpPr/>
          <p:nvPr/>
        </p:nvSpPr>
        <p:spPr>
          <a:xfrm>
            <a:off x="4800600" y="352044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40" name="Bad"/>
          <p:cNvSpPr/>
          <p:nvPr/>
        </p:nvSpPr>
        <p:spPr>
          <a:xfrm>
            <a:off x="914400" y="4023360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you like come?</a:t>
            </a:r>
            <a:endParaRPr lang="en-US" sz="2200" dirty="0"/>
          </a:p>
        </p:txBody>
      </p:sp>
      <p:sp>
        <p:nvSpPr>
          <p:cNvPr id="41" name="Good"/>
          <p:cNvSpPr/>
          <p:nvPr/>
        </p:nvSpPr>
        <p:spPr>
          <a:xfrm>
            <a:off x="4800600" y="4023360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you like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come?</a:t>
            </a:r>
            <a:endParaRPr lang="en-US" sz="2200" dirty="0"/>
          </a:p>
        </p:txBody>
      </p:sp>
      <p:sp>
        <p:nvSpPr>
          <p:cNvPr id="42" name="Bad"/>
          <p:cNvSpPr/>
          <p:nvPr/>
        </p:nvSpPr>
        <p:spPr>
          <a:xfrm>
            <a:off x="914400" y="4626864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 can't.</a:t>
            </a:r>
            <a:endParaRPr lang="en-US" sz="2200" dirty="0"/>
          </a:p>
        </p:txBody>
      </p:sp>
      <p:sp>
        <p:nvSpPr>
          <p:cNvPr id="43" name="Good"/>
          <p:cNvSpPr/>
          <p:nvPr/>
        </p:nvSpPr>
        <p:spPr>
          <a:xfrm>
            <a:off x="4800600" y="4626864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Sorry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I can't.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working.</a:t>
            </a:r>
            <a:endParaRPr lang="en-US" sz="2200" dirty="0"/>
          </a:p>
        </p:txBody>
      </p:sp>
      <p:sp>
        <p:nvSpPr>
          <p:cNvPr id="44" name="Bad"/>
          <p:cNvSpPr/>
          <p:nvPr/>
        </p:nvSpPr>
        <p:spPr>
          <a:xfrm>
            <a:off x="914400" y="5230368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 free in Saturday?</a:t>
            </a:r>
            <a:endParaRPr lang="en-US" sz="2200" dirty="0"/>
          </a:p>
        </p:txBody>
      </p:sp>
      <p:sp>
        <p:nvSpPr>
          <p:cNvPr id="45" name="Good"/>
          <p:cNvSpPr/>
          <p:nvPr/>
        </p:nvSpPr>
        <p:spPr>
          <a:xfrm>
            <a:off x="4800600" y="5230368"/>
            <a:ext cx="5303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 free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Saturday?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Quick Check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Plans and invitations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9601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___ going to cook.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6177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"I going to work" OK?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82753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you like ___? (come)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10972800" y="5120640"/>
            <a:ext cx="777240" cy="734214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1035257" y="5110925"/>
            <a:ext cx="791119" cy="79111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900000">
            <a:off x="11250386" y="5337851"/>
            <a:ext cx="337961" cy="33796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31" name="Answer"/>
          <p:cNvSpPr/>
          <p:nvPr/>
        </p:nvSpPr>
        <p:spPr>
          <a:xfrm>
            <a:off x="960120" y="4709160"/>
            <a:ext cx="173736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endParaRPr lang="en-US" sz="2000" dirty="0"/>
          </a:p>
        </p:txBody>
      </p:sp>
      <p:sp>
        <p:nvSpPr>
          <p:cNvPr id="32" name="Answer"/>
          <p:cNvSpPr/>
          <p:nvPr/>
        </p:nvSpPr>
        <p:spPr>
          <a:xfrm>
            <a:off x="4617720" y="4709160"/>
            <a:ext cx="260604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No: I'm going to</a:t>
            </a:r>
            <a:endParaRPr lang="en-US" sz="2000" dirty="0"/>
          </a:p>
        </p:txBody>
      </p:sp>
      <p:sp>
        <p:nvSpPr>
          <p:cNvPr id="33" name="Answer"/>
          <p:cNvSpPr/>
          <p:nvPr/>
        </p:nvSpPr>
        <p:spPr>
          <a:xfrm>
            <a:off x="8275320" y="4709160"/>
            <a:ext cx="173736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come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" y="1360627"/>
            <a:ext cx="3045866" cy="4995367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82058" y="4619549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08906" y="4572000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395201" y="1473464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437583" y="1419149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800600" y="1481328"/>
            <a:ext cx="6583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 · Fixed plans</a:t>
            </a:r>
            <a:endParaRPr lang="en-US" sz="2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Are You Doing?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713732" y="3063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are you doing?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713732" y="36118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'm working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 Saturday.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13732" y="46634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And on Sunday?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13732" y="519379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'm helping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brother.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052560" y="31089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Sat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9052560" y="47091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Sun</a:t>
            </a:r>
            <a:endParaRPr lang="en-US" sz="6000" dirty="0"/>
          </a:p>
        </p:txBody>
      </p:sp>
      <p:pic>
        <p:nvPicPr>
          <p:cNvPr id="23" name="Picture 23" descr="L11_next_week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649224" y="2871216"/>
            <a:ext cx="2825496" cy="197784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Weekend Planner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291072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Accept or decline with a reason.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9033358" y="198699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091847" y="197789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 rot="900000">
            <a:off x="9293308" y="219040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32" name="Picture 32" descr="L11_watch_a_game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722376" y="3418942"/>
            <a:ext cx="3882542" cy="2717780"/>
          </a:xfrm>
          <a:prstGeom prst="rect">
            <a:avLst/>
          </a:prstGeom>
        </p:spPr>
      </p:pic>
      <p:sp>
        <p:nvSpPr>
          <p:cNvPr id="33" name="Step num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34" name="Step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2 plans.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Leave other times free.</a:t>
            </a:r>
            <a:endParaRPr lang="en-US" sz="2000" dirty="0"/>
          </a:p>
        </p:txBody>
      </p:sp>
      <p:sp>
        <p:nvSpPr>
          <p:cNvPr id="35" name="Step num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36" name="Step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Invite classmates.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you like to …?</a:t>
            </a:r>
            <a:endParaRPr lang="en-US" sz="2000" dirty="0"/>
          </a:p>
        </p:txBody>
      </p:sp>
      <p:sp>
        <p:nvSpPr>
          <p:cNvPr id="37" name="Step num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38" name="Step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plan + name.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 Sunday I'm going to …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343400" y="210312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9907524" y="2565806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966013" y="2556708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 rot="900000">
            <a:off x="10167475" y="2769218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30" name="Picture 30" descr="L11_go_to_the_beach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31" name="Num 01"/>
          <p:cNvSpPr/>
          <p:nvPr/>
        </p:nvSpPr>
        <p:spPr>
          <a:xfrm>
            <a:off x="43434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32" name="Label 01"/>
          <p:cNvSpPr/>
          <p:nvPr/>
        </p:nvSpPr>
        <p:spPr>
          <a:xfrm>
            <a:off x="51206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/>
          </a:p>
        </p:txBody>
      </p:sp>
      <p:sp>
        <p:nvSpPr>
          <p:cNvPr id="33" name="Body 01"/>
          <p:cNvSpPr/>
          <p:nvPr/>
        </p:nvSpPr>
        <p:spPr>
          <a:xfrm>
            <a:off x="43434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going to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sentence about this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weekend. Write one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invitation.</a:t>
            </a:r>
            <a:endParaRPr lang="en-US" sz="2000" dirty="0"/>
          </a:p>
        </p:txBody>
      </p:sp>
      <p:sp>
        <p:nvSpPr>
          <p:cNvPr id="34" name="Num 02"/>
          <p:cNvSpPr/>
          <p:nvPr/>
        </p:nvSpPr>
        <p:spPr>
          <a:xfrm>
            <a:off x="80010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35" name="Label 02"/>
          <p:cNvSpPr/>
          <p:nvPr/>
        </p:nvSpPr>
        <p:spPr>
          <a:xfrm>
            <a:off x="87782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/>
          </a:p>
        </p:txBody>
      </p:sp>
      <p:sp>
        <p:nvSpPr>
          <p:cNvPr id="36" name="Body 02"/>
          <p:cNvSpPr/>
          <p:nvPr/>
        </p:nvSpPr>
        <p:spPr>
          <a:xfrm>
            <a:off x="80010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5 plans with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to. Write an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invitation text and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answers: one yes,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one no + a reason.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2" name="Shape 10"/>
          <p:cNvSpPr/>
          <p:nvPr/>
        </p:nvSpPr>
        <p:spPr>
          <a:xfrm>
            <a:off x="275234" y="75895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33723" y="66797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 rot="900000">
            <a:off x="535185" y="279307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5" name="Twemoji credit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arrows, calendars, clocks, and labels were added.</a:t>
            </a:r>
            <a:endParaRPr lang="en-US" sz="2000" dirty="0"/>
          </a:p>
        </p:txBody>
      </p:sp>
      <p:sp>
        <p:nvSpPr>
          <p:cNvPr id="16" name="Deck license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This deck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2000" dirty="0"/>
          </a:p>
        </p:txBody>
      </p:sp>
      <p:sp>
        <p:nvSpPr>
          <p:cNvPr id="17" name="AudioFontCredits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Chatterbox TTS (Resemble AI, MIT); AI voices with a Perth watermark. Font: Lexend Deca (OFL 1.1). Provided as-is, without warranty.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11 (Week 12): Making Plans</dc:title>
  <dc:subject>PptxGenJS Presentation</dc:subject>
  <dc:creator>Level 2 ESL</dc:creator>
  <cp:lastModifiedBy>Level 2 ESL</cp:lastModifiedBy>
  <cp:revision>1</cp:revision>
  <dcterms:created xsi:type="dcterms:W3CDTF">2026-10-15T20:54:31Z</dcterms:created>
  <dcterms:modified xsi:type="dcterms:W3CDTF">2026-10-15T20:54:31Z</dcterms:modified>
</cp:coreProperties>
</file>