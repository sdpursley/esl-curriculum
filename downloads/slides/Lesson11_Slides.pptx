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4" r:id="rId10"/>
    <p:sldId id="260" r:id="rId6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talk about future plans with be going to; use the present continuous for fixed plans (I'm working on Saturday); invite with Would you like to…? / Do you want to…?; accept or decline politely with a reason.</a:t>
            </a:r>
          </a:p>
          <a:p>
            <a:r>
              <a:rPr lang="en-US" dirty="0"/>
              <a:t>Source: Level2_Curriculum_v5_public.md, Lesson 11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10): A acts a health problem; B asks What's the matter? and gives advice with should. Switch. Each click shows one prompt.</a:t>
            </a:r>
          </a:p>
          <a:p>
            <a:r>
              <a:rPr lang="en-US" dirty="0"/>
              <a:t>Source: Level2_Curriculum_v5_public.md, Lesson 11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Invitations. Click 1 and click 2 highlight one pair each.</a:t>
            </a:r>
          </a:p>
          <a:p>
            <a:r>
              <a:rPr lang="en-US" dirty="0"/>
              <a:t>Say: "Would you like to…? (polite) / Do you want to…? (friendly). Accept: I'd love to! / Sure! Decline: Sorry, I can't. + a reason."</a:t>
            </a:r>
          </a:p>
          <a:p>
            <a:r>
              <a:rPr lang="en-US" dirty="0"/>
              <a:t>More from the box: Would you like to go to the movies / have a picnic / watch a game on Saturday? Do you want to visit friends / have dinner tonight? Sorry, I can't. I'm visiting my mother.</a:t>
            </a:r>
          </a:p>
          <a:p>
            <a:r>
              <a:rPr lang="en-US" dirty="0"/>
              <a:t>Q: How do I say no politely? Sorry, I can't. + a reason. Maybe add Thanks for asking!</a:t>
            </a:r>
          </a:p>
          <a:p>
            <a:r>
              <a:rPr lang="en-US" dirty="0"/>
              <a:t>Source: Level2_Curriculum_v5_public.md, Lesson 11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Are you going to…? Each click highlights Are / Is and its answers.</a:t>
            </a:r>
          </a:p>
          <a:p>
            <a:r>
              <a:rPr lang="en-US" dirty="0"/>
              <a:t>More from the box: Are you going to cook tonight? Is he going to call?</a:t>
            </a:r>
          </a:p>
          <a:p>
            <a:r>
              <a:rPr lang="en-US" dirty="0"/>
              <a:t>Source: Level2_Curriculum_v5_public.md, Lesson 11 (Grammar Box 2).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Plans need three parts: am / is / are + going to + verb.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11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is · No: I'm going to work · to come.</a:t>
            </a:r>
          </a:p>
          <a:p>
            <a:r>
              <a:rPr lang="en-US" dirty="0"/>
              <a:t>Short "Yes / No / Reason" (last 5 min): A invites; B accepts or declines with a reason. If behind: skip it.</a:t>
            </a:r>
          </a:p>
          <a:p>
            <a:r>
              <a:rPr lang="en-US" dirty="0"/>
              <a:t>Source: Level2_Curriculum_v5_public.md, Lesson 11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going to + invitations. Say: "For plans: am / is / are + going to + verb. I'm going to visit my mother. For fixed plans with a time, we also say I'm working on Saturday."</a:t>
            </a:r>
          </a:p>
          <a:p>
            <a:r>
              <a:rPr lang="en-US" dirty="0"/>
              <a:t>Grammar Box 1: each click highlights are / is / are. Add a time: tonight? this weekend? tomorrow?</a:t>
            </a:r>
          </a:p>
          <a:p>
            <a:r>
              <a:rPr lang="en-US" dirty="0"/>
              <a:t>Q: How do I make going to? am / is / are + going to + base verb: I'm going to visit my mother. She's going to rest.</a:t>
            </a:r>
          </a:p>
          <a:p>
            <a:r>
              <a:rPr lang="en-US" dirty="0"/>
              <a:t>Source: Level2_Curriculum_v5_public.md, Lesson 11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tonight, tomorrow, this weekend, next week, have a party.</a:t>
            </a:r>
          </a:p>
          <a:p>
            <a:r>
              <a:rPr lang="en-US" dirty="0"/>
              <a:t>"When?": draw a line on the board: now → tonight → tomorrow → this weekend → next week. Learners say an activity for each time.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11 (Step 2; Student Page 11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4: Fixed plans (present continuous). Click 1 and click 2 show one row each.</a:t>
            </a:r>
          </a:p>
          <a:p>
            <a:r>
              <a:rPr lang="en-US" dirty="0"/>
              <a:t>Q: going to or -ing for the future? Both are OK for plans. -ing is common for fixed plans with a time: I'm working on Saturday.</a:t>
            </a:r>
          </a:p>
          <a:p>
            <a:r>
              <a:rPr lang="en-US" dirty="0"/>
              <a:t>Pronunciation (If time ①): going to → "gonna" in fast speech. Learners recognize it; in writing, use going to.</a:t>
            </a:r>
          </a:p>
          <a:p>
            <a:r>
              <a:rPr lang="en-US" dirty="0"/>
              <a:t>Teacher note: will is not taught here. If learners use it for offers (I'll bring a salad), accept it.</a:t>
            </a:r>
          </a:p>
          <a:p>
            <a:r>
              <a:rPr lang="en-US" dirty="0"/>
              <a:t>Source: Level2_Curriculum_v5_public.md, Lesson 11 (Grammar Box 4;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homework appointment call as a role play.</a:t>
            </a:r>
          </a:p>
          <a:p>
            <a:r>
              <a:rPr lang="en-US" dirty="0"/>
              <a:t>Each click shows one answer. The lines review Lesson 10 (Grammar Boxes 1–3; Common mistakes).</a:t>
            </a:r>
          </a:p>
          <a:p>
            <a:r>
              <a:rPr lang="en-US" dirty="0"/>
              <a:t>Teacher: write 2 corrected sentences on the board (often should to). If behind: collect the homework.</a:t>
            </a:r>
          </a:p>
          <a:p>
            <a:r>
              <a:rPr lang="en-US" dirty="0"/>
              <a:t>Source: Level2_Curriculum_v5_public.md, Lesson 11 (Step 1); Lesson 10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(L11_listening.mp3, about 1:30). Audio: L11_listening.mp3 (about 1:30).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"Kim calls Carlos. She invites him. Does he say yes?" Take 2 guesses.</a:t>
            </a:r>
          </a:p>
          <a:p>
            <a:r>
              <a:rPr lang="en-US" dirty="0"/>
              <a:t>Listen 1 → Task A (circle). Each click circles one answer.</a:t>
            </a:r>
          </a:p>
          <a:p>
            <a:r>
              <a:rPr lang="en-US" dirty="0"/>
              <a:t>Answer key: 1 a picnic; 2 Saturday; 3 2:00; 4 a ball.</a:t>
            </a:r>
          </a:p>
          <a:p>
            <a:r>
              <a:rPr lang="en-US" dirty="0"/>
              <a:t>Source: Level2_Curriculum_v5_public.md, Lesson 11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Weekend Planner Mingle. Mingle: everyone. Each click shows one step.</a:t>
            </a:r>
          </a:p>
          <a:p>
            <a:r>
              <a:rPr lang="en-US" dirty="0"/>
              <a:t>Do (2 min): learners write 2 plans in their planner and leave the other times free.</a:t>
            </a:r>
          </a:p>
          <a:p>
            <a:r>
              <a:rPr lang="en-US" dirty="0"/>
              <a:t>Mingle (6 min): invite classmates to fill free times: Are you free on Saturday afternoon? Would you like to have a picnic? Accept or decline with a reason. Write the plan + name.</a:t>
            </a:r>
          </a:p>
          <a:p>
            <a:r>
              <a:rPr lang="en-US" dirty="0"/>
              <a:t>Report (2 min): "On Sunday I'm going to watch a game with Marco." If behind: skip the report.</a:t>
            </a:r>
          </a:p>
          <a:p>
            <a:r>
              <a:rPr lang="en-US" dirty="0"/>
              <a:t>Source: Level2_Curriculum_v5_public.md, Lesson 11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going to sentence about this weekend and one invitation.</a:t>
            </a:r>
          </a:p>
          <a:p>
            <a:r>
              <a:rPr lang="en-US" dirty="0"/>
              <a:t>Homework (10 minutes): 1. Write 5 plans for this weekend or next week with going to. 2. Write an invitation text message to a friend and two answers: one yes, one no with a reason. 3. Bonus: ask a family member: What are you going to do this weekend? Write the answer.</a:t>
            </a:r>
          </a:p>
          <a:p>
            <a:r>
              <a:rPr lang="en-US" dirty="0"/>
              <a:t>Source: Level2_Curriculum_v5_public.md, Lesson 11 (Step 6; Student Page 11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T; 2 F (he's working in the morning); 3 F (she's going to visit her mother); 4 T; 5 F (he's helping his brother).</a:t>
            </a:r>
          </a:p>
          <a:p>
            <a:r>
              <a:rPr lang="en-US" dirty="0"/>
              <a:t>Source: Level2_Curriculum_v5_public.md, Lesson 11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11.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invite, free (not busy), Sorry, I can't.</a:t>
            </a:r>
          </a:p>
          <a:p>
            <a:r>
              <a:rPr lang="en-US" dirty="0"/>
              <a:t>Learners can decline any real invitation in class. Practice invitations are always "pretend."</a:t>
            </a:r>
          </a:p>
          <a:p>
            <a:r>
              <a:rPr lang="en-US" dirty="0"/>
              <a:t>Source: Level2_Curriculum_v5_public.md, Lesson 11 (Step 2; Student Page 11;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going; love; can't; helping.</a:t>
            </a:r>
          </a:p>
          <a:p>
            <a:r>
              <a:rPr lang="en-US" dirty="0"/>
              <a:t>"Say it" (1–2 min): the class repeats "Would you like to come?" and "I'd love to!" / "Sorry, I can't."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11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No, I can't. is too short. Add Sorry and a reason.</a:t>
            </a:r>
          </a:p>
          <a:p>
            <a:r>
              <a:rPr lang="en-US" dirty="0"/>
              <a:t>Source: Level2_Curriculum_v5_public.md, Lesson 11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11_this_weekend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10_headache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11_tonight.png"/><Relationship Id="rIdQ2" Type="http://schemas.openxmlformats.org/officeDocument/2006/relationships/image" Target="../media/k_L11_tomorrow.png"/><Relationship Id="rIdQ3" Type="http://schemas.openxmlformats.org/officeDocument/2006/relationships/image" Target="../media/k_L11_this_weekend.png"/><Relationship Id="rIdQ4" Type="http://schemas.openxmlformats.org/officeDocument/2006/relationships/image" Target="../media/k_L11_next_week.png"/><Relationship Id="rIdQ5" Type="http://schemas.openxmlformats.org/officeDocument/2006/relationships/image" Target="../media/k_L11_go_to_the_movies.png"/><Relationship Id="rIdQ6" Type="http://schemas.openxmlformats.org/officeDocument/2006/relationships/image" Target="../media/k_L11_have_a_party.png"/><Relationship Id="rIdQ7" Type="http://schemas.openxmlformats.org/officeDocument/2006/relationships/image" Target="../media/k_L11_have_a_picnic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11_go_to_the_beach.png"/><Relationship Id="rIdQ2" Type="http://schemas.openxmlformats.org/officeDocument/2006/relationships/image" Target="../media/k_L11_watch_a_game.png"/><Relationship Id="rIdQ3" Type="http://schemas.openxmlformats.org/officeDocument/2006/relationships/image" Target="../media/k_L11_visit_friends.png"/><Relationship Id="rIdQ4" Type="http://schemas.openxmlformats.org/officeDocument/2006/relationships/image" Target="../media/k_L11_invite.png"/><Relationship Id="rIdQ5" Type="http://schemas.openxmlformats.org/officeDocument/2006/relationships/image" Target="../media/k_L11_free.png"/><Relationship Id="rIdQ6" Type="http://schemas.openxmlformats.org/officeDocument/2006/relationships/image" Target="../media/k_L11_id_love_to.png"/><Relationship Id="rIdQ7" Type="http://schemas.openxmlformats.org/officeDocument/2006/relationships/image" Target="../media/k_L11_sorry_i_cant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Q1" Type="http://schemas.openxmlformats.org/officeDocument/2006/relationships/image" Target="../media/k_L11_have_a_picnic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11_visit_friends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11_tomorrow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11_invite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11_go_to_the_movies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11_sorry_i_cant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11_next_week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11_watch_a_game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11_go_to_the_beach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(Week 12)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Making Plans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plans: going to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fixed plans: I'm working…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Invite: Would you like to…?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yes or no politely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1_this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acts a problem.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gives advice.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 matter?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562856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…</a:t>
            </a:r>
            <a:endParaRPr lang="en-US" sz="2200" dirty="0"/>
          </a:p>
        </p:txBody>
      </p:sp>
      <p:pic>
        <p:nvPicPr>
          <p:cNvPr id="21" name="Picture 21" descr="L10_headach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appointment call.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___ cold.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___. (rest)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feet ___. (hurt)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200533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 go to work.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verb: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no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084197" y="5334610"/>
            <a:ext cx="1499483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When?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→ next</a:t>
            </a:r>
            <a:endParaRPr lang="en-US" sz="2200" dirty="0"/>
          </a:p>
        </p:txBody>
      </p:sp>
      <p:pic>
        <p:nvPicPr>
          <p:cNvPr id="41" name="Picture 41" descr="tonight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</a:t>
            </a:r>
            <a:endParaRPr lang="en-US" sz="2000" dirty="0"/>
          </a:p>
        </p:txBody>
      </p:sp>
      <p:pic>
        <p:nvPicPr>
          <p:cNvPr id="43" name="Picture 43" descr="tomorrow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tomorrow</a:t>
            </a:r>
            <a:endParaRPr lang="en-US" sz="2000" dirty="0"/>
          </a:p>
        </p:txBody>
      </p:sp>
      <p:pic>
        <p:nvPicPr>
          <p:cNvPr id="45" name="Picture 45" descr="this weekend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weekend</a:t>
            </a:r>
            <a:endParaRPr lang="en-US" sz="2000" dirty="0"/>
          </a:p>
        </p:txBody>
      </p:sp>
      <p:pic>
        <p:nvPicPr>
          <p:cNvPr id="47" name="Picture 47" descr="next week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week</a:t>
            </a:r>
            <a:endParaRPr lang="en-US" sz="2000" dirty="0"/>
          </a:p>
        </p:txBody>
      </p:sp>
      <p:pic>
        <p:nvPicPr>
          <p:cNvPr id="49" name="Picture 49" descr="go to the movies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movies</a:t>
            </a:r>
            <a:endParaRPr lang="en-US" sz="2000" dirty="0"/>
          </a:p>
        </p:txBody>
      </p:sp>
      <p:pic>
        <p:nvPicPr>
          <p:cNvPr id="51" name="Picture 51" descr="have a party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a party</a:t>
            </a:r>
            <a:endParaRPr lang="en-US" sz="2000" dirty="0"/>
          </a:p>
        </p:txBody>
      </p:sp>
      <p:pic>
        <p:nvPicPr>
          <p:cNvPr id="53" name="Picture 53" descr="have a picnic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a picnic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love to!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endParaRPr lang="en-US" sz="2200" dirty="0"/>
          </a:p>
        </p:txBody>
      </p:sp>
      <p:pic>
        <p:nvPicPr>
          <p:cNvPr id="39" name="Picture 39" descr="go to the beach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beach</a:t>
            </a:r>
            <a:endParaRPr lang="en-US" sz="2000" dirty="0"/>
          </a:p>
        </p:txBody>
      </p:sp>
      <p:pic>
        <p:nvPicPr>
          <p:cNvPr id="41" name="Picture 41" descr="watch a gam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 a game</a:t>
            </a:r>
            <a:endParaRPr lang="en-US" sz="2000" dirty="0"/>
          </a:p>
        </p:txBody>
      </p:sp>
      <p:pic>
        <p:nvPicPr>
          <p:cNvPr id="43" name="Picture 43" descr="visit friends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 friends</a:t>
            </a:r>
            <a:endParaRPr lang="en-US" sz="2000" dirty="0"/>
          </a:p>
        </p:txBody>
      </p:sp>
      <p:pic>
        <p:nvPicPr>
          <p:cNvPr id="45" name="Picture 45" descr="invit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invite</a:t>
            </a:r>
            <a:endParaRPr lang="en-US" sz="2000" dirty="0"/>
          </a:p>
        </p:txBody>
      </p:sp>
      <p:pic>
        <p:nvPicPr>
          <p:cNvPr id="47" name="Picture 47" descr="free (not busy)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free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(not busy)</a:t>
            </a:r>
            <a:endParaRPr lang="en-US" sz="2000" dirty="0"/>
          </a:p>
        </p:txBody>
      </p:sp>
      <p:pic>
        <p:nvPicPr>
          <p:cNvPr id="49" name="Picture 49" descr="I'd love to!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love to!</a:t>
            </a:r>
            <a:endParaRPr lang="en-US" sz="2000" dirty="0"/>
          </a:p>
        </p:txBody>
      </p:sp>
      <p:pic>
        <p:nvPicPr>
          <p:cNvPr id="51" name="Picture 51" descr="Sorry, I can't.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pic>
        <p:nvPicPr>
          <p:cNvPr id="66" name="Picture 66" descr="L11_have_a_picnic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is going to have ...</a:t>
            </a:r>
            <a:endParaRPr lang="en-US" sz="20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party</a:t>
            </a:r>
            <a:endParaRPr lang="en-US" sz="2000" dirty="0"/>
          </a:p>
        </p:txBody>
      </p:sp>
      <p:sp>
        <p:nvSpPr>
          <p:cNvPr id="72" name="Option"/>
          <p:cNvSpPr/>
          <p:nvPr/>
        </p:nvSpPr>
        <p:spPr>
          <a:xfrm>
            <a:off x="8278978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picnic</a:t>
            </a:r>
            <a:endParaRPr lang="en-US" sz="2000" dirty="0"/>
          </a:p>
        </p:txBody>
      </p:sp>
      <p:sp>
        <p:nvSpPr>
          <p:cNvPr id="73" name="Circle 1"/>
          <p:cNvSpPr/>
          <p:nvPr/>
        </p:nvSpPr>
        <p:spPr>
          <a:xfrm>
            <a:off x="8169250" y="1655064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848088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dinner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picnic is on ...</a:t>
            </a:r>
            <a:endParaRPr lang="en-US" sz="20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130845" y="3017520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8021117" y="2953512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699955" y="3017520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Sunday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starts at ...</a:t>
            </a:r>
            <a:endParaRPr lang="en-US" sz="20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2:00</a:t>
            </a:r>
            <a:endParaRPr lang="en-US" sz="2000" dirty="0"/>
          </a:p>
        </p:txBody>
      </p:sp>
      <p:sp>
        <p:nvSpPr>
          <p:cNvPr id="88" name="Circle 3"/>
          <p:cNvSpPr/>
          <p:nvPr/>
        </p:nvSpPr>
        <p:spPr>
          <a:xfrm>
            <a:off x="6748272" y="4251960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4:00</a:t>
            </a:r>
            <a:endParaRPr lang="en-US" sz="2000" dirty="0"/>
          </a:p>
        </p:txBody>
      </p:sp>
      <p:sp>
        <p:nvSpPr>
          <p:cNvPr id="90" name="Option"/>
          <p:cNvSpPr/>
          <p:nvPr/>
        </p:nvSpPr>
        <p:spPr>
          <a:xfrm>
            <a:off x="9272016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12:00</a:t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 is going to bring ...</a:t>
            </a:r>
            <a:endParaRPr lang="en-US" sz="20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salad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278978" y="5614416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cake</a:t>
            </a:r>
            <a:endParaRPr lang="en-US" sz="2000" dirty="0"/>
          </a:p>
        </p:txBody>
      </p:sp>
      <p:sp>
        <p:nvSpPr>
          <p:cNvPr id="97" name="Option"/>
          <p:cNvSpPr/>
          <p:nvPr/>
        </p:nvSpPr>
        <p:spPr>
          <a:xfrm>
            <a:off x="9551822" y="5614416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ball</a:t>
            </a:r>
            <a:endParaRPr lang="en-US" sz="2000" dirty="0"/>
          </a:p>
        </p:txBody>
      </p:sp>
      <p:sp>
        <p:nvSpPr>
          <p:cNvPr id="98" name="Circle 4"/>
          <p:cNvSpPr/>
          <p:nvPr/>
        </p:nvSpPr>
        <p:spPr>
          <a:xfrm>
            <a:off x="9442094" y="5550408"/>
            <a:ext cx="1382573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The picnic is at Lake Park.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66928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08660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5541264" y="282549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56616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Carlos is free on Saturday morning.</a:t>
            </a:r>
            <a:endParaRPr lang="en-US" sz="2000" dirty="0"/>
          </a:p>
        </p:txBody>
      </p:sp>
      <p:sp>
        <p:nvSpPr>
          <p:cNvPr id="72" name="Option 21"/>
          <p:cNvSpPr/>
          <p:nvPr/>
        </p:nvSpPr>
        <p:spPr>
          <a:xfrm>
            <a:off x="566928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3" name="Option 22"/>
          <p:cNvSpPr/>
          <p:nvPr/>
        </p:nvSpPr>
        <p:spPr>
          <a:xfrm>
            <a:off x="708660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4" name="Circle 2"/>
          <p:cNvSpPr/>
          <p:nvPr/>
        </p:nvSpPr>
        <p:spPr>
          <a:xfrm>
            <a:off x="6958584" y="355701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Fix 2"/>
          <p:cNvSpPr/>
          <p:nvPr/>
        </p:nvSpPr>
        <p:spPr>
          <a:xfrm>
            <a:off x="8549640" y="356616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working.</a:t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Rosa is going to come to the picnic.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66928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08660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6958584" y="428853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549640" y="429768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visiting her mother.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Kim invites Carlos to the movies.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66928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08660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541264" y="502005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Carlos is free on Sunday.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66928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08660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6958584" y="575157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549640" y="576072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helping his brother.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____ to have a picnic.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____ to! What time?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____.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2406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____ my brother on Sunday.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love to!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a reason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449824" y="3278124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532120" y="4128516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love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449824" y="4978908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124298" y="5829300"/>
            <a:ext cx="145938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 do?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65" name="Picture 65" descr="L11_visit_friend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42843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42843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282855" y="411480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going to do?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428439" y="4846320"/>
            <a:ext cx="630570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428439" y="4846320"/>
            <a:ext cx="63057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113873" y="484632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going to do?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42843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42843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282855" y="5577840"/>
            <a:ext cx="274777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going to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going to visit friends.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going to rest.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529584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going to watch a game.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going to +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going to ...?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1_tomorrow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going to work tomorrow?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 not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going to come?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going to call?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· Invitations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to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1_invi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INVITE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ACCEPT / DECLINE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3790188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love to!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time?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363931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want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 out?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working.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1_go_to_the_movie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going to work.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going to work.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 to visit my mother tomorrow.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visit my mother tomorrow.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 going to visits.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 going to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1_sorry_i_ca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come?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can't.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 can't.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working.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free in Saturday?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free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Saturday?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Plans and invitations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going to cook.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"I going to work" OK?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___? (come)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No: I'm going to</a:t>
            </a:r>
            <a:endParaRPr lang="en-US" sz="20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come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 · Fixed plans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Doing?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doing?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working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Saturday.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on Sunday?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helping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brother.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</a:t>
            </a:r>
            <a:endParaRPr lang="en-US" sz="6000" dirty="0"/>
          </a:p>
        </p:txBody>
      </p:sp>
      <p:pic>
        <p:nvPicPr>
          <p:cNvPr id="23" name="Picture 23" descr="L11_next_wee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 Planner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Accept or decline with a reason.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1_watch_a_gam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plans.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 other times free.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Invite classmates.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to …?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plan + name.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Sunday I'm going to …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1_go_to_the_beach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going to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 about this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weekend. Write one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invitation.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5 plans with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to. Write an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invitation text and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answers: one yes,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no + a reason.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11 (Week 12): Making Plans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