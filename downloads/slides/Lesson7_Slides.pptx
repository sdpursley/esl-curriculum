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4" r:id="rId10"/>
    <p:sldId id="260" r:id="rId6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ask and answer How do you get to…? How long does it take?; say by bus / by car / on foot; compare two things with -er / more … than, better, worse; compare their commute with a classmate's.</a:t>
            </a:r>
          </a:p>
          <a:p>
            <a:r>
              <a:rPr lang="en-US" dirty="0"/>
              <a:t>Source: Level2_Curriculum_v5_public.md, Lesson 7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6): partners tell 3 sentences from their homework story. The listener asks one Did you…? or When did you…? question. Each click shows one prompt.</a:t>
            </a:r>
          </a:p>
          <a:p>
            <a:r>
              <a:rPr lang="en-US" dirty="0"/>
              <a:t>Source: Level2_Curriculum_v5_public.md, Lesson 7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Which is…? Click 1 and click 2 highlight one pair each. Add than: The car is faster than the bus.</a:t>
            </a:r>
          </a:p>
          <a:p>
            <a:r>
              <a:rPr lang="en-US" dirty="0"/>
              <a:t>Say: "To compare two things: short words add -er; long words use more. Then say than."</a:t>
            </a:r>
          </a:p>
          <a:p>
            <a:r>
              <a:rPr lang="en-US" dirty="0"/>
              <a:t>Board: fast → faster than; expensive → more expensive than; good → better; bad → worse.</a:t>
            </a:r>
          </a:p>
          <a:p>
            <a:r>
              <a:rPr lang="en-US" dirty="0"/>
              <a:t>Source: Level2_Curriculum_v5_public.md, Lesson 7 (Step 4; Grammar Box 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How long does it take? Each click highlights by / on and its answer.</a:t>
            </a:r>
          </a:p>
          <a:p>
            <a:r>
              <a:rPr lang="en-US" dirty="0"/>
              <a:t>Q: What does How long does it take? ask? How much time a trip needs. Answer: It takes twenty minutes.</a:t>
            </a:r>
          </a:p>
          <a:p>
            <a:r>
              <a:rPr lang="en-US" dirty="0"/>
              <a:t>Teacher note: How long does it take? asks about time. How much does it cost? asks about money. Write both on the board.</a:t>
            </a:r>
          </a:p>
          <a:p>
            <a:r>
              <a:rPr lang="en-US" dirty="0"/>
              <a:t>Source: Level2_Curriculum_v5_public.md, Lesson 7 (Grammar Box 2;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Q: Can I say more faster? No. Use -er or more, never both.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7 (Common mistakes;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cheaper · faster · bigger than.</a:t>
            </a:r>
          </a:p>
          <a:p>
            <a:r>
              <a:rPr lang="en-US" dirty="0"/>
              <a:t>Short "Which is better?" (last 5 min): pairs compare two cards: A bike is cheaper than a car. A car is more comfortable. If behind: skip it.</a:t>
            </a:r>
          </a:p>
          <a:p>
            <a:r>
              <a:rPr lang="en-US" dirty="0"/>
              <a:t>Source: Level2_Curriculum_v5_public.md, Lesson 7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comparatives + How long does it take? Grammar Box 1: How do you get to…? Each click highlights do / does.</a:t>
            </a:r>
          </a:p>
          <a:p>
            <a:r>
              <a:rPr lang="en-US" dirty="0"/>
              <a:t>More answers: I take the bus. / drive. / walk. / ride my bike. He / She takes the bus. / drives. / walks.</a:t>
            </a:r>
          </a:p>
          <a:p>
            <a:r>
              <a:rPr lang="en-US" dirty="0"/>
              <a:t>Q: By or on? by bus, by car, by train, by bike, but on foot (= walk).</a:t>
            </a:r>
          </a:p>
          <a:p>
            <a:r>
              <a:rPr lang="en-US" dirty="0"/>
              <a:t>Source: Level2_Curriculum_v5_public.md, Lesson 7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Note: by bus, by car, but on foot.</a:t>
            </a:r>
          </a:p>
          <a:p>
            <a:r>
              <a:rPr lang="en-US" dirty="0"/>
              <a:t>Star words here: by bus, by car, on foot (walk), traffic, fast.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7 (Step 2; Student Page 7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compare two things. Click 1 and click 2 show one row each.</a:t>
            </a:r>
          </a:p>
          <a:p>
            <a:r>
              <a:rPr lang="en-US" dirty="0"/>
              <a:t>More rules: ends in e: +r (safe → safer); ends in y: -ier (easy → easier); short, 1 vowel + 1 consonant: double + er (big → bigger); irregular: good → better, bad → worse, far → farther.</a:t>
            </a:r>
          </a:p>
          <a:p>
            <a:r>
              <a:rPr lang="en-US" dirty="0"/>
              <a:t>Pronunciation (If time ①): weak -er and than: faster = "FAS-ter", than = weak /ðən/. Word stress: ex-PEN-sive, COM-for-ta-ble.</a:t>
            </a:r>
          </a:p>
          <a:p>
            <a:r>
              <a:rPr lang="en-US" dirty="0"/>
              <a:t>Source: Level2_Curriculum_v5_public.md, Lesson 7 (How to compare two things;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swap stories and underline the irregular verbs.</a:t>
            </a:r>
          </a:p>
          <a:p>
            <a:r>
              <a:rPr lang="en-US" dirty="0"/>
              <a:t>Each click shows one answer. The lines review Lesson 6 (homework model, Grammar Boxes 1–3).</a:t>
            </a:r>
          </a:p>
          <a:p>
            <a:r>
              <a:rPr lang="en-US" dirty="0"/>
              <a:t>Teacher: write 2 corrected sentences on the board (often did + past). If behind: collect the homework.</a:t>
            </a:r>
          </a:p>
          <a:p>
            <a:r>
              <a:rPr lang="en-US" dirty="0"/>
              <a:t>Source: Level2_Curriculum_v5_public.md, Lesson 7 (Step 1); Lesson 6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(L7_listening.mp3, about 1:09). Audio: L7_listening.mp3 (about 1:09). The audio plays once, play again if needed. No speaker? Read the script with a volunteer learner.</a:t>
            </a:r>
          </a:p>
          <a:p>
            <a:r>
              <a:rPr lang="en-US" dirty="0"/>
              <a:t>Before you listen: "Rosa takes the bus. Carlos drives. Which is better?" Take 2 opinions.</a:t>
            </a:r>
          </a:p>
          <a:p>
            <a:r>
              <a:rPr lang="en-US" dirty="0"/>
              <a:t>Listen 1 → Task A (circle). Each click circles one answer.</a:t>
            </a:r>
          </a:p>
          <a:p>
            <a:r>
              <a:rPr lang="en-US" dirty="0"/>
              <a:t>Answer key: 1 by car; 2 20 minutes; 3 45 minutes; 4 $10.</a:t>
            </a:r>
          </a:p>
          <a:p>
            <a:r>
              <a:rPr lang="en-US" dirty="0"/>
              <a:t>Source: Level2_Curriculum_v5_public.md, Lesson 7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Commute Survey + Line-Up. Pairs, then whole class. Each click shows one step.</a:t>
            </a:r>
          </a:p>
          <a:p>
            <a:r>
              <a:rPr lang="en-US" dirty="0"/>
              <a:t>Survey (5 min): pairs ask How do you get to class? How long does it take? Is it expensive? Then compare: "My trip is longer than Ana's trip."</a:t>
            </a:r>
          </a:p>
          <a:p>
            <a:r>
              <a:rPr lang="en-US" dirty="0"/>
              <a:t>Line-Up (5 min): everyone stands in a line from the shortest trip to the longest, asking How long does it take? to find their place. (15 learners: two lines. 7–8: one line.)</a:t>
            </a:r>
          </a:p>
          <a:p>
            <a:r>
              <a:rPr lang="en-US" dirty="0"/>
              <a:t>Close: two learners compare out loud: "Carlos's trip is shorter than my trip." Accept every way of getting around; don't ask about owning a car or a driver's license. If behind: do the survey only.</a:t>
            </a:r>
          </a:p>
          <a:p>
            <a:r>
              <a:rPr lang="en-US" dirty="0"/>
              <a:t>Source: Level2_Curriculum_v5_public.md, Lesson 7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comparative sentence about two ways to travel.</a:t>
            </a:r>
          </a:p>
          <a:p>
            <a:r>
              <a:rPr lang="en-US" dirty="0"/>
              <a:t>Homework (10 minutes) + Midterm review: 1. Write about your trip to work or class: How do you get there? How long does it take? (2 sentences) 2. Write 4 comparison sentences about two ways to travel. 3. Midterm next week: look at the Midterm Review pages in the workbook and listen to the Lesson 1–7 audio again.</a:t>
            </a:r>
          </a:p>
          <a:p>
            <a:r>
              <a:rPr lang="en-US" dirty="0"/>
              <a:t>Remind learners: next week is the midterm (review, not a surprise). Bring the workbook.</a:t>
            </a:r>
          </a:p>
          <a:p>
            <a:r>
              <a:rPr lang="en-US" dirty="0"/>
              <a:t>Source: Level2_Curriculum_v5_public.md, Lesson 7 (Step 6; Student Page 7 Homework;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(car or bus?). On the Student Page learners check ✓ Car or Bus. Each click circles one answer. The audio plays once, play again if needed.</a:t>
            </a:r>
          </a:p>
          <a:p>
            <a:r>
              <a:rPr lang="en-US" dirty="0"/>
              <a:t>Answer key: faster = car; cheaper = bus; more relaxing = bus; slower = bus.</a:t>
            </a:r>
          </a:p>
          <a:p>
            <a:r>
              <a:rPr lang="en-US" dirty="0"/>
              <a:t>Source: Level2_Curriculum_v5_public.md, Lesson 7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7.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slow, cheap, expensive.</a:t>
            </a:r>
          </a:p>
          <a:p>
            <a:r>
              <a:rPr lang="en-US" dirty="0"/>
              <a:t>Faster or slower? Hold up two cards (bike / car). Learners call out "The car is faster!" Model only; grammar comes later.</a:t>
            </a:r>
          </a:p>
          <a:p>
            <a:r>
              <a:rPr lang="en-US" dirty="0"/>
              <a:t>Source: Level2_Curriculum_v5_public.md, Lesson 7 (Step 2; Student Page 7).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faster; more; takes; better.</a:t>
            </a:r>
          </a:p>
          <a:p>
            <a:r>
              <a:rPr lang="en-US" dirty="0"/>
              <a:t>Ask: "Rosa says slower. What is the short word?" (slow)</a:t>
            </a:r>
          </a:p>
          <a:p>
            <a:r>
              <a:rPr lang="en-US" dirty="0"/>
              <a:t>"Say it" (1–2 min): the class repeats "How long does it take?" and "The car is faster than the bus."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7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Special words: good → better, bad → worse, far → farther.</a:t>
            </a:r>
          </a:p>
          <a:p>
            <a:r>
              <a:rPr lang="en-US" dirty="0"/>
              <a:t>Source: Level2_Curriculum_v5_public.md, Lesson 7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7_by_bus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6_grew_u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7_by_bus.png"/><Relationship Id="rIdQ2" Type="http://schemas.openxmlformats.org/officeDocument/2006/relationships/image" Target="../media/k_L7_by_car.png"/><Relationship Id="rIdQ3" Type="http://schemas.openxmlformats.org/officeDocument/2006/relationships/image" Target="../media/k_L7_by_bike.png"/><Relationship Id="rIdQ4" Type="http://schemas.openxmlformats.org/officeDocument/2006/relationships/image" Target="../media/k_L7_on_foot.png"/><Relationship Id="rIdQ5" Type="http://schemas.openxmlformats.org/officeDocument/2006/relationships/image" Target="../media/k_L7_by_train.png"/><Relationship Id="rIdQ6" Type="http://schemas.openxmlformats.org/officeDocument/2006/relationships/image" Target="../media/k_L7_by_taxi.png"/><Relationship Id="rIdQ7" Type="http://schemas.openxmlformats.org/officeDocument/2006/relationships/image" Target="../media/k_L7_traffic.png"/><Relationship Id="rIdQ8" Type="http://schemas.openxmlformats.org/officeDocument/2006/relationships/image" Target="../media/k_L7_fas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7_slow.png"/><Relationship Id="rIdQ2" Type="http://schemas.openxmlformats.org/officeDocument/2006/relationships/image" Target="../media/k_L7_cheap.png"/><Relationship Id="rIdQ3" Type="http://schemas.openxmlformats.org/officeDocument/2006/relationships/image" Target="../media/k_L7_expensive.png"/><Relationship Id="rIdQ4" Type="http://schemas.openxmlformats.org/officeDocument/2006/relationships/image" Target="../media/k_L7_far.png"/><Relationship Id="rIdQ5" Type="http://schemas.openxmlformats.org/officeDocument/2006/relationships/image" Target="../media/k_L7_crowded.png"/><Relationship Id="rIdQ6" Type="http://schemas.openxmlformats.org/officeDocument/2006/relationships/image" Target="../media/k_L7_comfortable.png"/><Relationship Id="rIdQ7" Type="http://schemas.openxmlformats.org/officeDocument/2006/relationships/image" Target="../media/k_L7_how_lo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Q1" Type="http://schemas.openxmlformats.org/officeDocument/2006/relationships/image" Target="../media/k_L7_by_ca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7_by_trai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7_how_lo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7_chea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7_chea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7_on_foo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7_comfortabl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7_traffic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7_fa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7 (Week 7)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Getting Around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How do you get to…?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by bus / by car / on foot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Compare: faster, more … than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Compare your trip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7_by_bu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6.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3 things from your story.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 When did you…?</a:t>
            </a:r>
            <a:endParaRPr lang="en-US" sz="2200" dirty="0"/>
          </a:p>
        </p:txBody>
      </p:sp>
      <p:pic>
        <p:nvPicPr>
          <p:cNvPr id="21" name="Picture 21" descr="L6_grew_u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Swap stories. Underline.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up by the sea.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a job. (get)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___ to school?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 ___.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Underline the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irregular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verbs.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grew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got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bus,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foot</a:t>
            </a:r>
            <a:endParaRPr lang="en-US" sz="2200" dirty="0"/>
          </a:p>
        </p:txBody>
      </p:sp>
      <p:pic>
        <p:nvPicPr>
          <p:cNvPr id="41" name="Picture 41" descr="by bus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bus</a:t>
            </a:r>
            <a:endParaRPr lang="en-US" sz="2000" dirty="0"/>
          </a:p>
        </p:txBody>
      </p:sp>
      <p:pic>
        <p:nvPicPr>
          <p:cNvPr id="43" name="Picture 43" descr="by car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car</a:t>
            </a:r>
            <a:endParaRPr lang="en-US" sz="2000" dirty="0"/>
          </a:p>
        </p:txBody>
      </p:sp>
      <p:pic>
        <p:nvPicPr>
          <p:cNvPr id="45" name="Picture 45" descr="by bik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bike</a:t>
            </a:r>
            <a:endParaRPr lang="en-US" sz="2000" dirty="0"/>
          </a:p>
        </p:txBody>
      </p:sp>
      <p:pic>
        <p:nvPicPr>
          <p:cNvPr id="47" name="Picture 47" descr="on foot (walk)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foot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(walk)</a:t>
            </a:r>
            <a:endParaRPr lang="en-US" sz="2000" dirty="0"/>
          </a:p>
        </p:txBody>
      </p:sp>
      <p:pic>
        <p:nvPicPr>
          <p:cNvPr id="49" name="Picture 49" descr="by train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train</a:t>
            </a:r>
            <a:endParaRPr lang="en-US" sz="2000" dirty="0"/>
          </a:p>
        </p:txBody>
      </p:sp>
      <p:pic>
        <p:nvPicPr>
          <p:cNvPr id="51" name="Picture 51" descr="by taxi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taxi</a:t>
            </a:r>
            <a:endParaRPr lang="en-US" sz="2000" dirty="0"/>
          </a:p>
        </p:txBody>
      </p:sp>
      <p:pic>
        <p:nvPicPr>
          <p:cNvPr id="53" name="Picture 53" descr="traffic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traffic</a:t>
            </a:r>
            <a:endParaRPr lang="en-US" sz="2000" dirty="0"/>
          </a:p>
        </p:txBody>
      </p:sp>
      <p:pic>
        <p:nvPicPr>
          <p:cNvPr id="55" name="Picture 55" descr="fast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6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 or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slower?</a:t>
            </a:r>
            <a:endParaRPr lang="en-US" sz="2200" dirty="0"/>
          </a:p>
        </p:txBody>
      </p:sp>
      <p:pic>
        <p:nvPicPr>
          <p:cNvPr id="39" name="Picture 39" descr="slow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slow</a:t>
            </a:r>
            <a:endParaRPr lang="en-US" sz="2000" dirty="0"/>
          </a:p>
        </p:txBody>
      </p:sp>
      <p:pic>
        <p:nvPicPr>
          <p:cNvPr id="41" name="Picture 41" descr="cheap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</a:t>
            </a:r>
            <a:endParaRPr lang="en-US" sz="2000" dirty="0"/>
          </a:p>
        </p:txBody>
      </p:sp>
      <p:pic>
        <p:nvPicPr>
          <p:cNvPr id="43" name="Picture 43" descr="expensiv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expensive</a:t>
            </a:r>
            <a:endParaRPr lang="en-US" sz="2000" dirty="0"/>
          </a:p>
        </p:txBody>
      </p:sp>
      <p:pic>
        <p:nvPicPr>
          <p:cNvPr id="45" name="Picture 45" descr="far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far</a:t>
            </a:r>
            <a:endParaRPr lang="en-US" sz="2000" dirty="0"/>
          </a:p>
        </p:txBody>
      </p:sp>
      <p:pic>
        <p:nvPicPr>
          <p:cNvPr id="47" name="Picture 47" descr="crowded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crowded</a:t>
            </a:r>
            <a:endParaRPr lang="en-US" sz="2000" dirty="0"/>
          </a:p>
        </p:txBody>
      </p:sp>
      <p:pic>
        <p:nvPicPr>
          <p:cNvPr id="49" name="Picture 49" descr="comfortable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comfortable</a:t>
            </a:r>
            <a:endParaRPr lang="en-US" sz="2000" dirty="0"/>
          </a:p>
        </p:txBody>
      </p:sp>
      <p:pic>
        <p:nvPicPr>
          <p:cNvPr id="51" name="Picture 51" descr="How long does it take?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it take?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pic>
        <p:nvPicPr>
          <p:cNvPr id="66" name="Picture 66" descr="L7_by_car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 goes to work ...</a:t>
            </a:r>
            <a:endParaRPr lang="en-US" sz="22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car</a:t>
            </a:r>
            <a:endParaRPr lang="en-US" sz="2000" dirty="0"/>
          </a:p>
        </p:txBody>
      </p:sp>
      <p:sp>
        <p:nvSpPr>
          <p:cNvPr id="72" name="Circle 1"/>
          <p:cNvSpPr/>
          <p:nvPr/>
        </p:nvSpPr>
        <p:spPr>
          <a:xfrm>
            <a:off x="6748272" y="1655064"/>
            <a:ext cx="1382573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Option"/>
          <p:cNvSpPr/>
          <p:nvPr/>
        </p:nvSpPr>
        <p:spPr>
          <a:xfrm>
            <a:off x="8130845" y="1719072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bus</a:t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403690" y="1719072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bike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car, it takes ...</a:t>
            </a:r>
            <a:endParaRPr lang="en-US" sz="22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065008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7955280" y="2953512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272016" y="3017520"/>
            <a:ext cx="1755648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45 minutes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bus, it takes ...</a:t>
            </a:r>
            <a:endParaRPr lang="en-US" sz="22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88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</a:t>
            </a:r>
            <a:endParaRPr lang="en-US" sz="2000" dirty="0"/>
          </a:p>
        </p:txBody>
      </p:sp>
      <p:sp>
        <p:nvSpPr>
          <p:cNvPr id="89" name="Option"/>
          <p:cNvSpPr/>
          <p:nvPr/>
        </p:nvSpPr>
        <p:spPr>
          <a:xfrm>
            <a:off x="9272016" y="4315968"/>
            <a:ext cx="1755648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45 minutes</a:t>
            </a:r>
            <a:endParaRPr lang="en-US" sz="2000" dirty="0"/>
          </a:p>
        </p:txBody>
      </p:sp>
      <p:sp>
        <p:nvSpPr>
          <p:cNvPr id="90" name="Circle 3"/>
          <p:cNvSpPr/>
          <p:nvPr/>
        </p:nvSpPr>
        <p:spPr>
          <a:xfrm>
            <a:off x="9162288" y="4251960"/>
            <a:ext cx="1975104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Parking costs ...</a:t>
            </a:r>
            <a:endParaRPr lang="en-US" sz="22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$5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065008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$10</a:t>
            </a:r>
            <a:endParaRPr lang="en-US" sz="2000" dirty="0"/>
          </a:p>
        </p:txBody>
      </p:sp>
      <p:sp>
        <p:nvSpPr>
          <p:cNvPr id="97" name="Circle 4"/>
          <p:cNvSpPr/>
          <p:nvPr/>
        </p:nvSpPr>
        <p:spPr>
          <a:xfrm>
            <a:off x="7955280" y="5550408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Option"/>
          <p:cNvSpPr/>
          <p:nvPr/>
        </p:nvSpPr>
        <p:spPr>
          <a:xfrm>
            <a:off x="9272016" y="5614416"/>
            <a:ext cx="1607515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$20 a day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one? Car or bus?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306324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endParaRPr lang="en-US" sz="2400" dirty="0"/>
          </a:p>
        </p:txBody>
      </p:sp>
      <p:sp>
        <p:nvSpPr>
          <p:cNvPr id="68" name="Option 11"/>
          <p:cNvSpPr/>
          <p:nvPr/>
        </p:nvSpPr>
        <p:spPr>
          <a:xfrm>
            <a:off x="6035040" y="31181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726680" y="31181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5907024" y="305409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867912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endParaRPr lang="en-US" sz="2400" dirty="0"/>
          </a:p>
        </p:txBody>
      </p:sp>
      <p:sp>
        <p:nvSpPr>
          <p:cNvPr id="72" name="Option 21"/>
          <p:cNvSpPr/>
          <p:nvPr/>
        </p:nvSpPr>
        <p:spPr>
          <a:xfrm>
            <a:off x="6035040" y="39227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</a:t>
            </a:r>
            <a:endParaRPr lang="en-US" sz="2000" dirty="0"/>
          </a:p>
        </p:txBody>
      </p:sp>
      <p:sp>
        <p:nvSpPr>
          <p:cNvPr id="73" name="Option 22"/>
          <p:cNvSpPr/>
          <p:nvPr/>
        </p:nvSpPr>
        <p:spPr>
          <a:xfrm>
            <a:off x="7726680" y="3922776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</a:t>
            </a:r>
            <a:endParaRPr lang="en-US" sz="2000" dirty="0"/>
          </a:p>
        </p:txBody>
      </p:sp>
      <p:sp>
        <p:nvSpPr>
          <p:cNvPr id="74" name="Circle 2"/>
          <p:cNvSpPr/>
          <p:nvPr/>
        </p:nvSpPr>
        <p:spPr>
          <a:xfrm>
            <a:off x="7598664" y="3858768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Statement 3"/>
          <p:cNvSpPr/>
          <p:nvPr/>
        </p:nvSpPr>
        <p:spPr>
          <a:xfrm>
            <a:off x="502920" y="4672584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relaxing</a:t>
            </a:r>
            <a:endParaRPr lang="en-US" sz="2400" dirty="0"/>
          </a:p>
        </p:txBody>
      </p:sp>
      <p:sp>
        <p:nvSpPr>
          <p:cNvPr id="76" name="Option 31"/>
          <p:cNvSpPr/>
          <p:nvPr/>
        </p:nvSpPr>
        <p:spPr>
          <a:xfrm>
            <a:off x="6035040" y="4727448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</a:t>
            </a:r>
            <a:endParaRPr lang="en-US" sz="2000" dirty="0"/>
          </a:p>
        </p:txBody>
      </p:sp>
      <p:sp>
        <p:nvSpPr>
          <p:cNvPr id="77" name="Option 32"/>
          <p:cNvSpPr/>
          <p:nvPr/>
        </p:nvSpPr>
        <p:spPr>
          <a:xfrm>
            <a:off x="7726680" y="4727448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</a:t>
            </a:r>
            <a:endParaRPr lang="en-US" sz="2000" dirty="0"/>
          </a:p>
        </p:txBody>
      </p:sp>
      <p:sp>
        <p:nvSpPr>
          <p:cNvPr id="78" name="Circle 3"/>
          <p:cNvSpPr/>
          <p:nvPr/>
        </p:nvSpPr>
        <p:spPr>
          <a:xfrm>
            <a:off x="7598664" y="4663440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9" name="Statement 4"/>
          <p:cNvSpPr/>
          <p:nvPr/>
        </p:nvSpPr>
        <p:spPr>
          <a:xfrm>
            <a:off x="502920" y="5477256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slower</a:t>
            </a:r>
            <a:endParaRPr lang="en-US" sz="2400" dirty="0"/>
          </a:p>
        </p:txBody>
      </p:sp>
      <p:sp>
        <p:nvSpPr>
          <p:cNvPr id="80" name="Option 41"/>
          <p:cNvSpPr/>
          <p:nvPr/>
        </p:nvSpPr>
        <p:spPr>
          <a:xfrm>
            <a:off x="6035040" y="553212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</a:t>
            </a:r>
            <a:endParaRPr lang="en-US" sz="2000" dirty="0"/>
          </a:p>
        </p:txBody>
      </p:sp>
      <p:sp>
        <p:nvSpPr>
          <p:cNvPr id="81" name="Option 42"/>
          <p:cNvSpPr/>
          <p:nvPr/>
        </p:nvSpPr>
        <p:spPr>
          <a:xfrm>
            <a:off x="7726680" y="5532120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</a:t>
            </a:r>
            <a:endParaRPr lang="en-US" sz="2000" dirty="0"/>
          </a:p>
        </p:txBody>
      </p:sp>
      <p:sp>
        <p:nvSpPr>
          <p:cNvPr id="82" name="Circle 4"/>
          <p:cNvSpPr/>
          <p:nvPr/>
        </p:nvSpPr>
        <p:spPr>
          <a:xfrm>
            <a:off x="7598664" y="5468112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car is ____ than the bus.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____ relaxing than driving.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____ twenty minutes by car.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bike is ____ for my health.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says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slower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short word?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287061" y="3278124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532120" y="4128516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449824" y="4978908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287061" y="5829300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better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to work?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verb.</a:t>
            </a:r>
            <a:endParaRPr lang="en-US" sz="2000" dirty="0"/>
          </a:p>
        </p:txBody>
      </p:sp>
      <p:pic>
        <p:nvPicPr>
          <p:cNvPr id="65" name="Picture 65" descr="L7_by_train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270019" y="4114800"/>
            <a:ext cx="630570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270019" y="4114800"/>
            <a:ext cx="63057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4955454" y="411480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get to work?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270019" y="4846320"/>
            <a:ext cx="968532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270019" y="4846320"/>
            <a:ext cx="96853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93416" y="484632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get to work?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74957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270019" y="5577840"/>
            <a:ext cx="630570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270019" y="5577840"/>
            <a:ext cx="63057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4955454" y="5577840"/>
            <a:ext cx="289864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get to class?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take the bus.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40487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drive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288950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walk.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bus ·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foot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does it take?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7_how_long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twenty minutes.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45 minutes.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foot?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hour.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Better?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7_chea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2734056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car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288493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car.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32278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32278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32278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32278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7_chea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more cheap.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car is more faster.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car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6875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bigger that my house.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6875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bigger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house.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7_on_foo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bike is more good.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bike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better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time it takes?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long does it take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6875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 by foot.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6875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go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foot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Compare two things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___ than the car. (cheap)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fast or faster?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bigger that or bigger than?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endParaRPr lang="en-US" sz="24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endParaRPr lang="en-US" sz="24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2318918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bigger than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to compare two things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 or More?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words: + 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than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Long words: more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expensive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than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comfortable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than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-er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</a:t>
            </a:r>
            <a:endParaRPr lang="en-US" sz="6000" dirty="0"/>
          </a:p>
        </p:txBody>
      </p:sp>
      <p:pic>
        <p:nvPicPr>
          <p:cNvPr id="23" name="Picture 23" descr="L7_comfortabl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Commute Survey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Close: two learners compare out loud.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7_traffic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partner.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get to class?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trip is longer than Ana's.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Line up: short to long.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long does it take?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7_far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compare two ways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travel.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about your trip: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get there?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comparisons.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Midterm next week: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Lessons 1–7.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 (Week 7): Getting Around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