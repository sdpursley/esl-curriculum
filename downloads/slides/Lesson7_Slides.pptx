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64" r:id="rId10"/>
    <p:sldId id="260" r:id="rId6"/>
    <p:sldId id="259" r:id="rId5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9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goals together; learners repeat.</a:t>
            </a:r>
          </a:p>
          <a:p>
            <a:r>
              <a:rPr lang="en-US" dirty="0"/>
              <a:t>Objectives: ask and answer How do you get to…? How long does it take?; say by bus / by car / on foot; compare two things with -er / more … than, better, worse; compare their commute with a classmate's.</a:t>
            </a:r>
          </a:p>
          <a:p>
            <a:r>
              <a:rPr lang="en-US" dirty="0"/>
              <a:t>Source: Level2_Curriculum_v5_public.md, Lesson 7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Pairs (same partner for both parts).</a:t>
            </a:r>
          </a:p>
          <a:p>
            <a:r>
              <a:rPr lang="en-US" dirty="0"/>
              <a:t>Minutes 0–5 (review Lesson 6): partners tell 3 sentences from their homework story. The listener asks one Did you…? or When did you…? question. Each click shows one prompt.</a:t>
            </a:r>
          </a:p>
          <a:p>
            <a:r>
              <a:rPr lang="en-US" dirty="0"/>
              <a:t>Source: Level2_Curriculum_v5_public.md, Lesson 7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Which is…? Click 1 and click 2 highlight one pair each. Add than: The car is faster than the bus.</a:t>
            </a:r>
          </a:p>
          <a:p>
            <a:r>
              <a:rPr lang="en-US" dirty="0"/>
              <a:t>Say: "To compare two things: short words add -er; long words use more. Then say than."</a:t>
            </a:r>
          </a:p>
          <a:p>
            <a:r>
              <a:rPr lang="en-US" dirty="0"/>
              <a:t>Board: fast → faster than; expensive → more expensive than; good → better; bad → worse.</a:t>
            </a:r>
          </a:p>
          <a:p>
            <a:r>
              <a:rPr lang="en-US" dirty="0"/>
              <a:t>Source: Level2_Curriculum_v5_public.md, Lesson 7 (Step 4; Grammar Box 3).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How long does it take? Each click highlights by / on and its answer.</a:t>
            </a:r>
          </a:p>
          <a:p>
            <a:r>
              <a:rPr lang="en-US" dirty="0"/>
              <a:t>Q: What does How long does it take? ask? How much time a trip needs. Answer: It takes twenty minutes.</a:t>
            </a:r>
          </a:p>
          <a:p>
            <a:r>
              <a:rPr lang="en-US" dirty="0"/>
              <a:t>Teacher note: How long does it take? asks about time. How much does it cost? asks about money. Write both on the board.</a:t>
            </a:r>
          </a:p>
          <a:p>
            <a:r>
              <a:rPr lang="en-US" dirty="0"/>
              <a:t>Source: Level2_Curriculum_v5_public.md, Lesson 7 (Grammar Box 2;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Q: Can I say more faster? No. Use -er or more, never both. Write the correct form on the board. Learners can read the note on their Grammar page; you don't need to explain it.</a:t>
            </a:r>
          </a:p>
          <a:p>
            <a:r>
              <a:rPr lang="en-US" dirty="0"/>
              <a:t>Source: Level2_Curriculum_v5_public.md, Lesson 7 (Common mistakes;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cheaper · faster · bigger than.</a:t>
            </a:r>
          </a:p>
          <a:p>
            <a:r>
              <a:rPr lang="en-US" dirty="0"/>
              <a:t>Short "Which is better?" (last 5 min): pairs compare two cards: A bike is cheaper than a car. A car is more comfortable. If behind: skip it.</a:t>
            </a:r>
          </a:p>
          <a:p>
            <a:r>
              <a:rPr lang="en-US" dirty="0"/>
              <a:t>Source: Level2_Curriculum_v5_public.md, Lesson 7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comparatives + How long does it take? Grammar Box 1: How do you get to…? Each click highlights do / does.</a:t>
            </a:r>
          </a:p>
          <a:p>
            <a:r>
              <a:rPr lang="en-US" dirty="0"/>
              <a:t>More answers: I take the bus. / drive. / walk. / ride my bike. He / She takes the bus. / drives. / walks.</a:t>
            </a:r>
          </a:p>
          <a:p>
            <a:r>
              <a:rPr lang="en-US" dirty="0"/>
              <a:t>Q: By or on? by bus, by car, by train, by bike, but on foot (= walk).</a:t>
            </a:r>
          </a:p>
          <a:p>
            <a:r>
              <a:rPr lang="en-US" dirty="0"/>
              <a:t>Source: Level2_Curriculum_v5_public.md, Lesson 7 (Step 4;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 twice. Each click shows one word.</a:t>
            </a:r>
          </a:p>
          <a:p>
            <a:r>
              <a:rPr lang="en-US" dirty="0"/>
              <a:t>Note: by bus, by car, but on foot.</a:t>
            </a:r>
          </a:p>
          <a:p>
            <a:r>
              <a:rPr lang="en-US" dirty="0"/>
              <a:t>Star words here: by bus, by car, on foot (walk), traffic, fast.</a:t>
            </a:r>
          </a:p>
          <a:p>
            <a:r>
              <a:rPr lang="en-US" dirty="0"/>
              <a:t>If behind: teach the star words only.</a:t>
            </a:r>
          </a:p>
          <a:p>
            <a:r>
              <a:rPr lang="en-US" dirty="0"/>
              <a:t>Source: Level2_Curriculum_v5_public.md, Lesson 7 (Step 2; Student Page 7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compare two things. Click 1 and click 2 show one row each.</a:t>
            </a:r>
          </a:p>
          <a:p>
            <a:r>
              <a:rPr lang="en-US" dirty="0"/>
              <a:t>More rules: ends in e: +r (safe → safer); ends in y: -ier (easy → easier); short, 1 vowel + 1 consonant: double + er (big → bigger); irregular: good → better, bad → worse, far → farther.</a:t>
            </a:r>
          </a:p>
          <a:p>
            <a:r>
              <a:rPr lang="en-US" dirty="0"/>
              <a:t>Pronunciation (If time ①): weak -er and than: faster = "FAS-ter", than = weak /ðən/. Word stress: ex-PEN-sive, COM-for-ta-ble.</a:t>
            </a:r>
          </a:p>
          <a:p>
            <a:r>
              <a:rPr lang="en-US" dirty="0"/>
              <a:t>Source: Level2_Curriculum_v5_public.md, Lesson 7 (How to compare two things; If time).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swap stories and underline the irregular verbs.</a:t>
            </a:r>
          </a:p>
          <a:p>
            <a:r>
              <a:rPr lang="en-US" dirty="0"/>
              <a:t>Each click shows one answer. The lines review Lesson 6 (homework model, Grammar Boxes 1–3).</a:t>
            </a:r>
          </a:p>
          <a:p>
            <a:r>
              <a:rPr lang="en-US" dirty="0"/>
              <a:t>Teacher: write 2 corrected sentences on the board (often did + past). If behind: collect the homework.</a:t>
            </a:r>
          </a:p>
          <a:p>
            <a:r>
              <a:rPr lang="en-US" dirty="0"/>
              <a:t>Source: Level2_Curriculum_v5_public.md, Lesson 7 (Step 1); Lesson 6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+ "Say it" (L7_listening.mp3, about 1:30). Audio: L7_listening.mp3 (about 1:30). The audio plays once, play again if needed. Audio coming soon: until it is ready, read the script with a volunteer learner.</a:t>
            </a:r>
          </a:p>
          <a:p>
            <a:r>
              <a:rPr lang="en-US" dirty="0"/>
              <a:t>Before you listen: "Rosa takes the bus. Carlos drives. Which is better?" Take 2 opinions.</a:t>
            </a:r>
          </a:p>
          <a:p>
            <a:r>
              <a:rPr lang="en-US" dirty="0"/>
              <a:t>Listen 1 → Task A (circle). Each click circles one answer.</a:t>
            </a:r>
          </a:p>
          <a:p>
            <a:r>
              <a:rPr lang="en-US" dirty="0"/>
              <a:t>Answer key: 1 by car; 2 20 minutes; 3 45 minutes; 4 $10.</a:t>
            </a:r>
          </a:p>
          <a:p>
            <a:r>
              <a:rPr lang="en-US" dirty="0"/>
              <a:t>Source: Level2_Curriculum_v5_public.md, Lesson 7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Commute Survey + Line-Up. Pairs, then whole class. Each click shows one step.</a:t>
            </a:r>
          </a:p>
          <a:p>
            <a:r>
              <a:rPr lang="en-US" dirty="0"/>
              <a:t>Survey (5 min): pairs ask How do you get to class? How long does it take? Is it expensive? Then compare: "My trip is longer than Ana's trip."</a:t>
            </a:r>
          </a:p>
          <a:p>
            <a:r>
              <a:rPr lang="en-US" dirty="0"/>
              <a:t>Line-Up (5 min): everyone stands in a line from the shortest trip to the longest, asking How long does it take? to find their place. (15 learners: two lines. 7–8: one line.)</a:t>
            </a:r>
          </a:p>
          <a:p>
            <a:r>
              <a:rPr lang="en-US" dirty="0"/>
              <a:t>Close: two learners compare out loud: "Carlos's trip is shorter than my trip." Accept every way of getting around; don't ask about owning a car or a driver's license. If behind: do the survey only.</a:t>
            </a:r>
          </a:p>
          <a:p>
            <a:r>
              <a:rPr lang="en-US" dirty="0"/>
              <a:t>Source: Level2_Curriculum_v5_public.md, Lesson 7 (Step 5;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comparative sentence about two ways to travel.</a:t>
            </a:r>
          </a:p>
          <a:p>
            <a:r>
              <a:rPr lang="en-US" dirty="0"/>
              <a:t>Homework (10 minutes) + Midterm review: 1. Write about your trip to work or class: How do you get there? How long does it take? (2 sentences) 2. Write 4 comparison sentences about two ways to travel. 3. Midterm next week: look at the Midterm Review pages in the workbook and listen to the Lesson 1–7 audio again.</a:t>
            </a:r>
          </a:p>
          <a:p>
            <a:r>
              <a:rPr lang="en-US" dirty="0"/>
              <a:t>Remind learners: next week is the midterm (review, not a surprise). Bring the workbook.</a:t>
            </a:r>
          </a:p>
          <a:p>
            <a:r>
              <a:rPr lang="en-US" dirty="0"/>
              <a:t>Source: Level2_Curriculum_v5_public.md, Lesson 7 (Step 6; Student Page 7 Homework;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(car or bus?). On the Student Page learners check ✓ Car or Bus. Each click circles one answer. The audio plays once, play again if needed.</a:t>
            </a:r>
          </a:p>
          <a:p>
            <a:r>
              <a:rPr lang="en-US" dirty="0"/>
              <a:t>Answer key: faster = car; cheaper = bus; more relaxing = bus; slower = bus.</a:t>
            </a:r>
          </a:p>
          <a:p>
            <a:r>
              <a:rPr lang="en-US" dirty="0"/>
              <a:t>Source: Level2_Curriculum_v5_public.md, Lesson 7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v5, public edition, Lesson 7.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slow, cheap, expensive.</a:t>
            </a:r>
          </a:p>
          <a:p>
            <a:r>
              <a:rPr lang="en-US" dirty="0"/>
              <a:t>Faster or slower? Hold up two cards (bike / car). Learners call out "The car is faster!" Model only; grammar comes later.</a:t>
            </a:r>
          </a:p>
          <a:p>
            <a:r>
              <a:rPr lang="en-US" dirty="0"/>
              <a:t>Source: Level2_Curriculum_v5_public.md, Lesson 7 (Step 2; Student Page 7).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 The audio plays once, play again if needed.</a:t>
            </a:r>
          </a:p>
          <a:p>
            <a:r>
              <a:rPr lang="en-US" dirty="0"/>
              <a:t>Answer key: faster; more; takes; better.</a:t>
            </a:r>
          </a:p>
          <a:p>
            <a:r>
              <a:rPr lang="en-US" dirty="0"/>
              <a:t>Ask: "Rosa says slower. What is the short word?" (slow)</a:t>
            </a:r>
          </a:p>
          <a:p>
            <a:r>
              <a:rPr lang="en-US" dirty="0"/>
              <a:t>"Say it" (1–2 min): the class repeats "How long does it take?" and "The car is faster than the bus."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Level2_Curriculum_v5_public.md, Lesson 7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Special words: good → better, bad → worse, far → farther.</a:t>
            </a:r>
          </a:p>
          <a:p>
            <a:r>
              <a:rPr lang="en-US" dirty="0"/>
              <a:t>Source: Level2_Curriculum_v5_public.md, Lesson 7 (Common mistakes;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K1" Type="http://schemas.openxmlformats.org/officeDocument/2006/relationships/image" Target="../media/k_L4_right_now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Q1" Type="http://schemas.openxmlformats.org/officeDocument/2006/relationships/image" Target="../media/k_L7_by_bus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Q1" Type="http://schemas.openxmlformats.org/officeDocument/2006/relationships/image" Target="../media/k_L6_grew_up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Q1" Type="http://schemas.openxmlformats.org/officeDocument/2006/relationships/image" Target="../media/k_L7_by_bus.png"/><Relationship Id="rIdQ2" Type="http://schemas.openxmlformats.org/officeDocument/2006/relationships/image" Target="../media/k_L7_by_car.png"/><Relationship Id="rIdQ3" Type="http://schemas.openxmlformats.org/officeDocument/2006/relationships/image" Target="../media/k_L7_by_bike.png"/><Relationship Id="rIdQ4" Type="http://schemas.openxmlformats.org/officeDocument/2006/relationships/image" Target="../media/k_L7_on_foot.png"/><Relationship Id="rIdQ5" Type="http://schemas.openxmlformats.org/officeDocument/2006/relationships/image" Target="../media/k_L7_by_train.png"/><Relationship Id="rIdQ6" Type="http://schemas.openxmlformats.org/officeDocument/2006/relationships/image" Target="../media/k_L7_by_taxi.png"/><Relationship Id="rIdQ7" Type="http://schemas.openxmlformats.org/officeDocument/2006/relationships/image" Target="../media/k_L7_traffic.png"/><Relationship Id="rIdQ8" Type="http://schemas.openxmlformats.org/officeDocument/2006/relationships/image" Target="../media/k_L7_fast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Q1" Type="http://schemas.openxmlformats.org/officeDocument/2006/relationships/image" Target="../media/k_L7_slow.png"/><Relationship Id="rIdQ2" Type="http://schemas.openxmlformats.org/officeDocument/2006/relationships/image" Target="../media/k_L7_cheap.png"/><Relationship Id="rIdQ3" Type="http://schemas.openxmlformats.org/officeDocument/2006/relationships/image" Target="../media/k_L7_expensive.png"/><Relationship Id="rIdQ4" Type="http://schemas.openxmlformats.org/officeDocument/2006/relationships/image" Target="../media/k_L7_far.png"/><Relationship Id="rIdQ5" Type="http://schemas.openxmlformats.org/officeDocument/2006/relationships/image" Target="../media/k_L7_crowded.png"/><Relationship Id="rIdQ6" Type="http://schemas.openxmlformats.org/officeDocument/2006/relationships/image" Target="../media/k_L7_comfortable.png"/><Relationship Id="rIdQ7" Type="http://schemas.openxmlformats.org/officeDocument/2006/relationships/image" Target="../media/k_L7_how_long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Q1" Type="http://schemas.openxmlformats.org/officeDocument/2006/relationships/image" Target="../media/k_L7_by_car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Q1" Type="http://schemas.openxmlformats.org/officeDocument/2006/relationships/image" Target="../media/k_L7_by_train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Q1" Type="http://schemas.openxmlformats.org/officeDocument/2006/relationships/image" Target="../media/k_L7_how_long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Q1" Type="http://schemas.openxmlformats.org/officeDocument/2006/relationships/image" Target="../media/k_L7_cheap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Q1" Type="http://schemas.openxmlformats.org/officeDocument/2006/relationships/image" Target="../media/k_L7_cheap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Q1" Type="http://schemas.openxmlformats.org/officeDocument/2006/relationships/image" Target="../media/k_L7_on_foot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Q1" Type="http://schemas.openxmlformats.org/officeDocument/2006/relationships/image" Target="../media/k_L7_comfortable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Q1" Type="http://schemas.openxmlformats.org/officeDocument/2006/relationships/image" Target="../media/k_L7_traffic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Q1" Type="http://schemas.openxmlformats.org/officeDocument/2006/relationships/image" Target="../media/k_L7_far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(Week 7)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Getting Around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How do you get to…?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by bus / by car / on foot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Compare: faster, more … than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Compare your trip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pic>
        <p:nvPicPr>
          <p:cNvPr id="15" name="Picture 15" descr="L7_by_bus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 Lesson 6.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3 things from your story.</a:t>
            </a:r>
            <a:endParaRPr lang="en-US" sz="2200" dirty="0"/>
          </a:p>
        </p:txBody>
      </p:sp>
      <p:sp>
        <p:nvSpPr>
          <p:cNvPr id="20" name="Question"/>
          <p:cNvSpPr/>
          <p:nvPr/>
        </p:nvSpPr>
        <p:spPr>
          <a:xfrm>
            <a:off x="599846" y="4910328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Ask: When did you…?</a:t>
            </a:r>
            <a:endParaRPr lang="en-US" sz="2200" dirty="0"/>
          </a:p>
        </p:txBody>
      </p:sp>
      <p:pic>
        <p:nvPicPr>
          <p:cNvPr id="21" name="Picture 21" descr="L6_grew_up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Swap stories. Underline.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 up by the sea.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 a job. (get)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___ to school?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Five years ___.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Underline the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irregular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verbs.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grew</a:t>
            </a:r>
            <a:endParaRPr lang="en-US" sz="2000" dirty="0"/>
          </a:p>
        </p:txBody>
      </p:sp>
      <p:sp>
        <p:nvSpPr>
          <p:cNvPr id="39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got</a:t>
            </a:r>
            <a:endParaRPr lang="en-US" sz="2000" dirty="0"/>
          </a:p>
        </p:txBody>
      </p:sp>
      <p:sp>
        <p:nvSpPr>
          <p:cNvPr id="40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</a:t>
            </a:r>
            <a:endParaRPr lang="en-US" sz="2000" dirty="0"/>
          </a:p>
        </p:txBody>
      </p:sp>
      <p:sp>
        <p:nvSpPr>
          <p:cNvPr id="41" name="Answer 4"/>
          <p:cNvSpPr/>
          <p:nvPr/>
        </p:nvSpPr>
        <p:spPr>
          <a:xfrm>
            <a:off x="5257800" y="533461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ago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bus,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foot</a:t>
            </a:r>
            <a:endParaRPr lang="en-US" sz="2200" dirty="0"/>
          </a:p>
        </p:txBody>
      </p:sp>
      <p:pic>
        <p:nvPicPr>
          <p:cNvPr id="41" name="Picture 41" descr="by bus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181437" y="2240280"/>
            <a:ext cx="1619794" cy="113385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7626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bus</a:t>
            </a:r>
            <a:endParaRPr lang="en-US" sz="2000" dirty="0"/>
          </a:p>
        </p:txBody>
      </p:sp>
      <p:pic>
        <p:nvPicPr>
          <p:cNvPr id="43" name="Picture 43" descr="by car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867487" y="2240280"/>
            <a:ext cx="1619794" cy="113385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34486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car</a:t>
            </a:r>
            <a:endParaRPr lang="en-US" sz="2000" dirty="0"/>
          </a:p>
        </p:txBody>
      </p:sp>
      <p:pic>
        <p:nvPicPr>
          <p:cNvPr id="45" name="Picture 45" descr="by bike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553537" y="2240280"/>
            <a:ext cx="1619794" cy="113385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61347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bike</a:t>
            </a:r>
            <a:endParaRPr lang="en-US" sz="2000" dirty="0"/>
          </a:p>
        </p:txBody>
      </p:sp>
      <p:pic>
        <p:nvPicPr>
          <p:cNvPr id="47" name="Picture 47" descr="on foot (walk)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239587" y="2240280"/>
            <a:ext cx="1619794" cy="113385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88207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foot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(walk)</a:t>
            </a:r>
            <a:endParaRPr lang="en-US" sz="2000" dirty="0"/>
          </a:p>
        </p:txBody>
      </p:sp>
      <p:pic>
        <p:nvPicPr>
          <p:cNvPr id="49" name="Picture 49" descr="by train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1181437" y="4315968"/>
            <a:ext cx="1619794" cy="113385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76261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train</a:t>
            </a:r>
            <a:endParaRPr lang="en-US" sz="2000" dirty="0"/>
          </a:p>
        </p:txBody>
      </p:sp>
      <p:pic>
        <p:nvPicPr>
          <p:cNvPr id="51" name="Picture 51" descr="by taxi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3867487" y="4315968"/>
            <a:ext cx="1619794" cy="113385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344866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taxi</a:t>
            </a:r>
            <a:endParaRPr lang="en-US" sz="2000" dirty="0"/>
          </a:p>
        </p:txBody>
      </p:sp>
      <p:pic>
        <p:nvPicPr>
          <p:cNvPr id="53" name="Picture 53" descr="traffic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6553537" y="4315968"/>
            <a:ext cx="1619794" cy="1133856"/>
          </a:xfrm>
          <a:prstGeom prst="rect">
            <a:avLst/>
          </a:prstGeom>
        </p:spPr>
      </p:pic>
      <p:sp>
        <p:nvSpPr>
          <p:cNvPr id="54" name="Word label"/>
          <p:cNvSpPr/>
          <p:nvPr/>
        </p:nvSpPr>
        <p:spPr>
          <a:xfrm>
            <a:off x="613471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traffic</a:t>
            </a:r>
            <a:endParaRPr lang="en-US" sz="2000" dirty="0"/>
          </a:p>
        </p:txBody>
      </p:sp>
      <p:pic>
        <p:nvPicPr>
          <p:cNvPr id="55" name="Picture 55" descr="fast"/>
          <p:cNvPicPr>
            <a:picLocks noChangeAspect="1"/>
          </p:cNvPicPr>
          <p:nvPr/>
        </p:nvPicPr>
        <p:blipFill>
          <a:blip r:embed="rIdQ8"/>
          <a:stretch>
            <a:fillRect/>
          </a:stretch>
        </p:blipFill>
        <p:spPr>
          <a:xfrm>
            <a:off x="9239587" y="4315968"/>
            <a:ext cx="1619794" cy="1133856"/>
          </a:xfrm>
          <a:prstGeom prst="rect">
            <a:avLst/>
          </a:prstGeom>
        </p:spPr>
      </p:pic>
      <p:sp>
        <p:nvSpPr>
          <p:cNvPr id="56" name="Word label"/>
          <p:cNvSpPr/>
          <p:nvPr/>
        </p:nvSpPr>
        <p:spPr>
          <a:xfrm>
            <a:off x="882076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 or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slower?</a:t>
            </a:r>
            <a:endParaRPr lang="en-US" sz="2200" dirty="0"/>
          </a:p>
        </p:txBody>
      </p:sp>
      <p:pic>
        <p:nvPicPr>
          <p:cNvPr id="39" name="Picture 39" descr="slow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181437" y="2240280"/>
            <a:ext cx="1619794" cy="113385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7626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slow</a:t>
            </a:r>
            <a:endParaRPr lang="en-US" sz="2000" dirty="0"/>
          </a:p>
        </p:txBody>
      </p:sp>
      <p:pic>
        <p:nvPicPr>
          <p:cNvPr id="41" name="Picture 41" descr="cheap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867487" y="2240280"/>
            <a:ext cx="1619794" cy="113385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34486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</a:t>
            </a:r>
            <a:endParaRPr lang="en-US" sz="2000" dirty="0"/>
          </a:p>
        </p:txBody>
      </p:sp>
      <p:pic>
        <p:nvPicPr>
          <p:cNvPr id="43" name="Picture 43" descr="expensive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553537" y="2240280"/>
            <a:ext cx="1619794" cy="113385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61347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expensive</a:t>
            </a:r>
            <a:endParaRPr lang="en-US" sz="2000" dirty="0"/>
          </a:p>
        </p:txBody>
      </p:sp>
      <p:pic>
        <p:nvPicPr>
          <p:cNvPr id="45" name="Picture 45" descr="far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239587" y="2240280"/>
            <a:ext cx="1619794" cy="113385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88207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far</a:t>
            </a:r>
            <a:endParaRPr lang="en-US" sz="2000" dirty="0"/>
          </a:p>
        </p:txBody>
      </p:sp>
      <p:pic>
        <p:nvPicPr>
          <p:cNvPr id="47" name="Picture 47" descr="crowded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524462" y="4315968"/>
            <a:ext cx="1619794" cy="113385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21056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crowded</a:t>
            </a:r>
            <a:endParaRPr lang="en-US" sz="2000" dirty="0"/>
          </a:p>
        </p:txBody>
      </p:sp>
      <p:pic>
        <p:nvPicPr>
          <p:cNvPr id="49" name="Picture 49" descr="comfortable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5210512" y="4315968"/>
            <a:ext cx="1619794" cy="113385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479168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comfortable</a:t>
            </a:r>
            <a:endParaRPr lang="en-US" sz="2000" dirty="0"/>
          </a:p>
        </p:txBody>
      </p:sp>
      <p:pic>
        <p:nvPicPr>
          <p:cNvPr id="51" name="Picture 51" descr="How long does it take?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896562" y="4315968"/>
            <a:ext cx="1619794" cy="113385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74777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long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it take?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/>
          </a:p>
        </p:txBody>
      </p:sp>
      <p:pic>
        <p:nvPicPr>
          <p:cNvPr id="66" name="Picture 66" descr="L7_by_car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67" name="Row shadow"/>
          <p:cNvSpPr/>
          <p:nvPr/>
        </p:nvSpPr>
        <p:spPr>
          <a:xfrm>
            <a:off x="5970118" y="115397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Row"/>
          <p:cNvSpPr/>
          <p:nvPr/>
        </p:nvSpPr>
        <p:spPr>
          <a:xfrm>
            <a:off x="5897880" y="1097280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9" name="Row num"/>
          <p:cNvSpPr/>
          <p:nvPr/>
        </p:nvSpPr>
        <p:spPr>
          <a:xfrm>
            <a:off x="6035040" y="135239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70" name="Row question"/>
          <p:cNvSpPr/>
          <p:nvPr/>
        </p:nvSpPr>
        <p:spPr>
          <a:xfrm>
            <a:off x="6858000" y="117043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 goes to work ...</a:t>
            </a:r>
            <a:endParaRPr lang="en-US" sz="2200" dirty="0"/>
          </a:p>
        </p:txBody>
      </p:sp>
      <p:sp>
        <p:nvSpPr>
          <p:cNvPr id="71" name="Option"/>
          <p:cNvSpPr/>
          <p:nvPr/>
        </p:nvSpPr>
        <p:spPr>
          <a:xfrm>
            <a:off x="6858000" y="1719072"/>
            <a:ext cx="1163117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car</a:t>
            </a:r>
            <a:endParaRPr lang="en-US" sz="2000" dirty="0"/>
          </a:p>
        </p:txBody>
      </p:sp>
      <p:sp>
        <p:nvSpPr>
          <p:cNvPr id="72" name="Circle 1"/>
          <p:cNvSpPr/>
          <p:nvPr/>
        </p:nvSpPr>
        <p:spPr>
          <a:xfrm>
            <a:off x="6748272" y="1655064"/>
            <a:ext cx="1382573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3" name="Option"/>
          <p:cNvSpPr/>
          <p:nvPr/>
        </p:nvSpPr>
        <p:spPr>
          <a:xfrm>
            <a:off x="8130845" y="1719072"/>
            <a:ext cx="1163117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bus</a:t>
            </a:r>
            <a:endParaRPr lang="en-US" sz="2000" dirty="0"/>
          </a:p>
        </p:txBody>
      </p:sp>
      <p:sp>
        <p:nvSpPr>
          <p:cNvPr id="74" name="Option"/>
          <p:cNvSpPr/>
          <p:nvPr/>
        </p:nvSpPr>
        <p:spPr>
          <a:xfrm>
            <a:off x="9403690" y="1719072"/>
            <a:ext cx="131125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bike</a:t>
            </a:r>
            <a:endParaRPr lang="en-US" sz="2000" dirty="0"/>
          </a:p>
        </p:txBody>
      </p:sp>
      <p:sp>
        <p:nvSpPr>
          <p:cNvPr id="75" name="Row shadow"/>
          <p:cNvSpPr/>
          <p:nvPr/>
        </p:nvSpPr>
        <p:spPr>
          <a:xfrm>
            <a:off x="5970118" y="2452421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Row"/>
          <p:cNvSpPr/>
          <p:nvPr/>
        </p:nvSpPr>
        <p:spPr>
          <a:xfrm>
            <a:off x="5897880" y="2395728"/>
            <a:ext cx="589788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7" name="Row num"/>
          <p:cNvSpPr/>
          <p:nvPr/>
        </p:nvSpPr>
        <p:spPr>
          <a:xfrm>
            <a:off x="6035040" y="2650846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78" name="Row question"/>
          <p:cNvSpPr/>
          <p:nvPr/>
        </p:nvSpPr>
        <p:spPr>
          <a:xfrm>
            <a:off x="6858000" y="2468880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car, it takes ...</a:t>
            </a:r>
            <a:endParaRPr lang="en-US" sz="2200" dirty="0"/>
          </a:p>
        </p:txBody>
      </p:sp>
      <p:sp>
        <p:nvSpPr>
          <p:cNvPr id="79" name="Option"/>
          <p:cNvSpPr/>
          <p:nvPr/>
        </p:nvSpPr>
        <p:spPr>
          <a:xfrm>
            <a:off x="6858000" y="3017520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10</a:t>
            </a:r>
            <a:endParaRPr lang="en-US" sz="2000" dirty="0"/>
          </a:p>
        </p:txBody>
      </p:sp>
      <p:sp>
        <p:nvSpPr>
          <p:cNvPr id="80" name="Option"/>
          <p:cNvSpPr/>
          <p:nvPr/>
        </p:nvSpPr>
        <p:spPr>
          <a:xfrm>
            <a:off x="8065008" y="3017520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20</a:t>
            </a:r>
            <a:endParaRPr lang="en-US" sz="2000" dirty="0"/>
          </a:p>
        </p:txBody>
      </p:sp>
      <p:sp>
        <p:nvSpPr>
          <p:cNvPr id="81" name="Circle 2"/>
          <p:cNvSpPr/>
          <p:nvPr/>
        </p:nvSpPr>
        <p:spPr>
          <a:xfrm>
            <a:off x="7955280" y="2953512"/>
            <a:ext cx="131673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Option"/>
          <p:cNvSpPr/>
          <p:nvPr/>
        </p:nvSpPr>
        <p:spPr>
          <a:xfrm>
            <a:off x="9272016" y="3017520"/>
            <a:ext cx="1755648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45 minutes</a:t>
            </a:r>
            <a:endParaRPr lang="en-US" sz="2000" dirty="0"/>
          </a:p>
        </p:txBody>
      </p:sp>
      <p:sp>
        <p:nvSpPr>
          <p:cNvPr id="83" name="Row shadow"/>
          <p:cNvSpPr/>
          <p:nvPr/>
        </p:nvSpPr>
        <p:spPr>
          <a:xfrm>
            <a:off x="5970118" y="3750869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4" name="Row"/>
          <p:cNvSpPr/>
          <p:nvPr/>
        </p:nvSpPr>
        <p:spPr>
          <a:xfrm>
            <a:off x="5897880" y="3694176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Row num"/>
          <p:cNvSpPr/>
          <p:nvPr/>
        </p:nvSpPr>
        <p:spPr>
          <a:xfrm>
            <a:off x="6035040" y="3949294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86" name="Row question"/>
          <p:cNvSpPr/>
          <p:nvPr/>
        </p:nvSpPr>
        <p:spPr>
          <a:xfrm>
            <a:off x="6858000" y="3767328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bus, it takes ...</a:t>
            </a:r>
            <a:endParaRPr lang="en-US" sz="2200" dirty="0"/>
          </a:p>
        </p:txBody>
      </p:sp>
      <p:sp>
        <p:nvSpPr>
          <p:cNvPr id="87" name="Option"/>
          <p:cNvSpPr/>
          <p:nvPr/>
        </p:nvSpPr>
        <p:spPr>
          <a:xfrm>
            <a:off x="6858000" y="4315968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20</a:t>
            </a:r>
            <a:endParaRPr lang="en-US" sz="2000" dirty="0"/>
          </a:p>
        </p:txBody>
      </p:sp>
      <p:sp>
        <p:nvSpPr>
          <p:cNvPr id="88" name="Option"/>
          <p:cNvSpPr/>
          <p:nvPr/>
        </p:nvSpPr>
        <p:spPr>
          <a:xfrm>
            <a:off x="8065008" y="4315968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30</a:t>
            </a:r>
            <a:endParaRPr lang="en-US" sz="2000" dirty="0"/>
          </a:p>
        </p:txBody>
      </p:sp>
      <p:sp>
        <p:nvSpPr>
          <p:cNvPr id="89" name="Option"/>
          <p:cNvSpPr/>
          <p:nvPr/>
        </p:nvSpPr>
        <p:spPr>
          <a:xfrm>
            <a:off x="9272016" y="4315968"/>
            <a:ext cx="1755648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45 minutes</a:t>
            </a:r>
            <a:endParaRPr lang="en-US" sz="2000" dirty="0"/>
          </a:p>
        </p:txBody>
      </p:sp>
      <p:sp>
        <p:nvSpPr>
          <p:cNvPr id="90" name="Circle 3"/>
          <p:cNvSpPr/>
          <p:nvPr/>
        </p:nvSpPr>
        <p:spPr>
          <a:xfrm>
            <a:off x="9162288" y="4251960"/>
            <a:ext cx="1975104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1" name="Row shadow"/>
          <p:cNvSpPr/>
          <p:nvPr/>
        </p:nvSpPr>
        <p:spPr>
          <a:xfrm>
            <a:off x="5970118" y="5049317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2" name="Row"/>
          <p:cNvSpPr/>
          <p:nvPr/>
        </p:nvSpPr>
        <p:spPr>
          <a:xfrm>
            <a:off x="5897880" y="4992624"/>
            <a:ext cx="589788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3" name="Row num"/>
          <p:cNvSpPr/>
          <p:nvPr/>
        </p:nvSpPr>
        <p:spPr>
          <a:xfrm>
            <a:off x="6035040" y="5247742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2000" dirty="0"/>
          </a:p>
        </p:txBody>
      </p:sp>
      <p:sp>
        <p:nvSpPr>
          <p:cNvPr id="94" name="Row question"/>
          <p:cNvSpPr/>
          <p:nvPr/>
        </p:nvSpPr>
        <p:spPr>
          <a:xfrm>
            <a:off x="6858000" y="5065776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Parking costs ...</a:t>
            </a:r>
            <a:endParaRPr lang="en-US" sz="2200" dirty="0"/>
          </a:p>
        </p:txBody>
      </p:sp>
      <p:sp>
        <p:nvSpPr>
          <p:cNvPr id="95" name="Option"/>
          <p:cNvSpPr/>
          <p:nvPr/>
        </p:nvSpPr>
        <p:spPr>
          <a:xfrm>
            <a:off x="6858000" y="5614416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$5</a:t>
            </a:r>
            <a:endParaRPr lang="en-US" sz="2000" dirty="0"/>
          </a:p>
        </p:txBody>
      </p:sp>
      <p:sp>
        <p:nvSpPr>
          <p:cNvPr id="96" name="Option"/>
          <p:cNvSpPr/>
          <p:nvPr/>
        </p:nvSpPr>
        <p:spPr>
          <a:xfrm>
            <a:off x="8065008" y="5614416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$10</a:t>
            </a:r>
            <a:endParaRPr lang="en-US" sz="2000" dirty="0"/>
          </a:p>
        </p:txBody>
      </p:sp>
      <p:sp>
        <p:nvSpPr>
          <p:cNvPr id="97" name="Circle 4"/>
          <p:cNvSpPr/>
          <p:nvPr/>
        </p:nvSpPr>
        <p:spPr>
          <a:xfrm>
            <a:off x="7955280" y="5550408"/>
            <a:ext cx="131673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8" name="Option"/>
          <p:cNvSpPr/>
          <p:nvPr/>
        </p:nvSpPr>
        <p:spPr>
          <a:xfrm>
            <a:off x="9272016" y="5614416"/>
            <a:ext cx="1607515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$20 a day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one? Car or bus?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7" name="Statement 1"/>
          <p:cNvSpPr/>
          <p:nvPr/>
        </p:nvSpPr>
        <p:spPr>
          <a:xfrm>
            <a:off x="502920" y="3063240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endParaRPr lang="en-US" sz="2400" dirty="0"/>
          </a:p>
        </p:txBody>
      </p:sp>
      <p:sp>
        <p:nvSpPr>
          <p:cNvPr id="68" name="Option 11"/>
          <p:cNvSpPr/>
          <p:nvPr/>
        </p:nvSpPr>
        <p:spPr>
          <a:xfrm>
            <a:off x="6035040" y="3118104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</a:t>
            </a:r>
            <a:endParaRPr lang="en-US" sz="2000" dirty="0"/>
          </a:p>
        </p:txBody>
      </p:sp>
      <p:sp>
        <p:nvSpPr>
          <p:cNvPr id="69" name="Option 12"/>
          <p:cNvSpPr/>
          <p:nvPr/>
        </p:nvSpPr>
        <p:spPr>
          <a:xfrm>
            <a:off x="7726680" y="3118104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</a:t>
            </a:r>
            <a:endParaRPr lang="en-US" sz="2000" dirty="0"/>
          </a:p>
        </p:txBody>
      </p:sp>
      <p:sp>
        <p:nvSpPr>
          <p:cNvPr id="70" name="Circle 1"/>
          <p:cNvSpPr/>
          <p:nvPr/>
        </p:nvSpPr>
        <p:spPr>
          <a:xfrm>
            <a:off x="5907024" y="3054096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1" name="Statement 2"/>
          <p:cNvSpPr/>
          <p:nvPr/>
        </p:nvSpPr>
        <p:spPr>
          <a:xfrm>
            <a:off x="502920" y="3867912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endParaRPr lang="en-US" sz="2400" dirty="0"/>
          </a:p>
        </p:txBody>
      </p:sp>
      <p:sp>
        <p:nvSpPr>
          <p:cNvPr id="72" name="Option 21"/>
          <p:cNvSpPr/>
          <p:nvPr/>
        </p:nvSpPr>
        <p:spPr>
          <a:xfrm>
            <a:off x="6035040" y="3922776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</a:t>
            </a:r>
            <a:endParaRPr lang="en-US" sz="2000" dirty="0"/>
          </a:p>
        </p:txBody>
      </p:sp>
      <p:sp>
        <p:nvSpPr>
          <p:cNvPr id="73" name="Option 22"/>
          <p:cNvSpPr/>
          <p:nvPr/>
        </p:nvSpPr>
        <p:spPr>
          <a:xfrm>
            <a:off x="7726680" y="3922776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</a:t>
            </a:r>
            <a:endParaRPr lang="en-US" sz="2000" dirty="0"/>
          </a:p>
        </p:txBody>
      </p:sp>
      <p:sp>
        <p:nvSpPr>
          <p:cNvPr id="74" name="Circle 2"/>
          <p:cNvSpPr/>
          <p:nvPr/>
        </p:nvSpPr>
        <p:spPr>
          <a:xfrm>
            <a:off x="7598664" y="3858768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5" name="Statement 3"/>
          <p:cNvSpPr/>
          <p:nvPr/>
        </p:nvSpPr>
        <p:spPr>
          <a:xfrm>
            <a:off x="502920" y="4672584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relaxing</a:t>
            </a:r>
            <a:endParaRPr lang="en-US" sz="2400" dirty="0"/>
          </a:p>
        </p:txBody>
      </p:sp>
      <p:sp>
        <p:nvSpPr>
          <p:cNvPr id="76" name="Option 31"/>
          <p:cNvSpPr/>
          <p:nvPr/>
        </p:nvSpPr>
        <p:spPr>
          <a:xfrm>
            <a:off x="6035040" y="4727448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</a:t>
            </a:r>
            <a:endParaRPr lang="en-US" sz="2000" dirty="0"/>
          </a:p>
        </p:txBody>
      </p:sp>
      <p:sp>
        <p:nvSpPr>
          <p:cNvPr id="77" name="Option 32"/>
          <p:cNvSpPr/>
          <p:nvPr/>
        </p:nvSpPr>
        <p:spPr>
          <a:xfrm>
            <a:off x="7726680" y="4727448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</a:t>
            </a:r>
            <a:endParaRPr lang="en-US" sz="2000" dirty="0"/>
          </a:p>
        </p:txBody>
      </p:sp>
      <p:sp>
        <p:nvSpPr>
          <p:cNvPr id="78" name="Circle 3"/>
          <p:cNvSpPr/>
          <p:nvPr/>
        </p:nvSpPr>
        <p:spPr>
          <a:xfrm>
            <a:off x="7598664" y="4663440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9" name="Statement 4"/>
          <p:cNvSpPr/>
          <p:nvPr/>
        </p:nvSpPr>
        <p:spPr>
          <a:xfrm>
            <a:off x="502920" y="5477256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slower</a:t>
            </a:r>
            <a:endParaRPr lang="en-US" sz="2400" dirty="0"/>
          </a:p>
        </p:txBody>
      </p:sp>
      <p:sp>
        <p:nvSpPr>
          <p:cNvPr id="80" name="Option 41"/>
          <p:cNvSpPr/>
          <p:nvPr/>
        </p:nvSpPr>
        <p:spPr>
          <a:xfrm>
            <a:off x="6035040" y="5532120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</a:t>
            </a:r>
            <a:endParaRPr lang="en-US" sz="2000" dirty="0"/>
          </a:p>
        </p:txBody>
      </p:sp>
      <p:sp>
        <p:nvSpPr>
          <p:cNvPr id="81" name="Option 42"/>
          <p:cNvSpPr/>
          <p:nvPr/>
        </p:nvSpPr>
        <p:spPr>
          <a:xfrm>
            <a:off x="7726680" y="5532120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</a:t>
            </a:r>
            <a:endParaRPr lang="en-US" sz="2000" dirty="0"/>
          </a:p>
        </p:txBody>
      </p:sp>
      <p:sp>
        <p:nvSpPr>
          <p:cNvPr id="82" name="Circle 4"/>
          <p:cNvSpPr/>
          <p:nvPr/>
        </p:nvSpPr>
        <p:spPr>
          <a:xfrm>
            <a:off x="7598664" y="5468112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4033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car is ____ than the bus.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____ relaxing than driving.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____ twenty minutes by car.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4033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bike is ____ for my health.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says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slower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short word?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2" name="Answer 1"/>
          <p:cNvSpPr/>
          <p:nvPr/>
        </p:nvSpPr>
        <p:spPr>
          <a:xfrm>
            <a:off x="5287061" y="3278124"/>
            <a:ext cx="1296619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endParaRPr lang="en-US" sz="2200" dirty="0"/>
          </a:p>
        </p:txBody>
      </p:sp>
      <p:sp>
        <p:nvSpPr>
          <p:cNvPr id="43" name="Answer 2"/>
          <p:cNvSpPr/>
          <p:nvPr/>
        </p:nvSpPr>
        <p:spPr>
          <a:xfrm>
            <a:off x="5532120" y="4128516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</a:t>
            </a:r>
            <a:endParaRPr lang="en-US" sz="2200" dirty="0"/>
          </a:p>
        </p:txBody>
      </p:sp>
      <p:sp>
        <p:nvSpPr>
          <p:cNvPr id="44" name="Answer 3"/>
          <p:cNvSpPr/>
          <p:nvPr/>
        </p:nvSpPr>
        <p:spPr>
          <a:xfrm>
            <a:off x="5449824" y="4978908"/>
            <a:ext cx="113385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200" dirty="0"/>
          </a:p>
        </p:txBody>
      </p:sp>
      <p:sp>
        <p:nvSpPr>
          <p:cNvPr id="45" name="Answer 4"/>
          <p:cNvSpPr/>
          <p:nvPr/>
        </p:nvSpPr>
        <p:spPr>
          <a:xfrm>
            <a:off x="5287061" y="5829300"/>
            <a:ext cx="1296619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better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 to work?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/ she: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verb.</a:t>
            </a:r>
            <a:endParaRPr lang="en-US" sz="2000" dirty="0"/>
          </a:p>
        </p:txBody>
      </p:sp>
      <p:pic>
        <p:nvPicPr>
          <p:cNvPr id="65" name="Picture 65" descr="L7_by_train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66" name="Wh"/>
          <p:cNvSpPr/>
          <p:nvPr/>
        </p:nvSpPr>
        <p:spPr>
          <a:xfrm>
            <a:off x="3520440" y="4114800"/>
            <a:ext cx="74957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200" dirty="0"/>
          </a:p>
        </p:txBody>
      </p:sp>
      <p:sp>
        <p:nvSpPr>
          <p:cNvPr id="67" name="Highlight"/>
          <p:cNvSpPr/>
          <p:nvPr/>
        </p:nvSpPr>
        <p:spPr>
          <a:xfrm>
            <a:off x="4270019" y="4114800"/>
            <a:ext cx="630570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Helper"/>
          <p:cNvSpPr/>
          <p:nvPr/>
        </p:nvSpPr>
        <p:spPr>
          <a:xfrm>
            <a:off x="4270019" y="4114800"/>
            <a:ext cx="63057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69" name="Rest"/>
          <p:cNvSpPr/>
          <p:nvPr/>
        </p:nvSpPr>
        <p:spPr>
          <a:xfrm>
            <a:off x="4955454" y="4114800"/>
            <a:ext cx="2596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get to work?</a:t>
            </a:r>
            <a:endParaRPr lang="en-US" sz="2200" dirty="0"/>
          </a:p>
        </p:txBody>
      </p:sp>
      <p:sp>
        <p:nvSpPr>
          <p:cNvPr id="70" name="Wh"/>
          <p:cNvSpPr/>
          <p:nvPr/>
        </p:nvSpPr>
        <p:spPr>
          <a:xfrm>
            <a:off x="3520440" y="4846320"/>
            <a:ext cx="74957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200" dirty="0"/>
          </a:p>
        </p:txBody>
      </p:sp>
      <p:sp>
        <p:nvSpPr>
          <p:cNvPr id="71" name="Highlight"/>
          <p:cNvSpPr/>
          <p:nvPr/>
        </p:nvSpPr>
        <p:spPr>
          <a:xfrm>
            <a:off x="4270019" y="4846320"/>
            <a:ext cx="96853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Helper"/>
          <p:cNvSpPr/>
          <p:nvPr/>
        </p:nvSpPr>
        <p:spPr>
          <a:xfrm>
            <a:off x="4270019" y="4846320"/>
            <a:ext cx="96853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200" dirty="0"/>
          </a:p>
        </p:txBody>
      </p:sp>
      <p:sp>
        <p:nvSpPr>
          <p:cNvPr id="73" name="Rest"/>
          <p:cNvSpPr/>
          <p:nvPr/>
        </p:nvSpPr>
        <p:spPr>
          <a:xfrm>
            <a:off x="5293416" y="4846320"/>
            <a:ext cx="2596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get to work?</a:t>
            </a:r>
            <a:endParaRPr lang="en-US" sz="2200" dirty="0"/>
          </a:p>
        </p:txBody>
      </p:sp>
      <p:sp>
        <p:nvSpPr>
          <p:cNvPr id="74" name="Wh"/>
          <p:cNvSpPr/>
          <p:nvPr/>
        </p:nvSpPr>
        <p:spPr>
          <a:xfrm>
            <a:off x="3520440" y="5577840"/>
            <a:ext cx="74957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200" dirty="0"/>
          </a:p>
        </p:txBody>
      </p:sp>
      <p:sp>
        <p:nvSpPr>
          <p:cNvPr id="75" name="Highlight"/>
          <p:cNvSpPr/>
          <p:nvPr/>
        </p:nvSpPr>
        <p:spPr>
          <a:xfrm>
            <a:off x="4270019" y="5577840"/>
            <a:ext cx="630570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Helper"/>
          <p:cNvSpPr/>
          <p:nvPr/>
        </p:nvSpPr>
        <p:spPr>
          <a:xfrm>
            <a:off x="4270019" y="5577840"/>
            <a:ext cx="63057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77" name="Rest"/>
          <p:cNvSpPr/>
          <p:nvPr/>
        </p:nvSpPr>
        <p:spPr>
          <a:xfrm>
            <a:off x="4955454" y="5577840"/>
            <a:ext cx="2898648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get to class?</a:t>
            </a:r>
            <a:endParaRPr lang="en-US" sz="2200" dirty="0"/>
          </a:p>
        </p:txBody>
      </p:sp>
      <p:sp>
        <p:nvSpPr>
          <p:cNvPr id="78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</a:t>
            </a:r>
            <a:endParaRPr lang="en-US" sz="2400" dirty="0"/>
          </a:p>
        </p:txBody>
      </p:sp>
      <p:sp>
        <p:nvSpPr>
          <p:cNvPr id="79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take the bus.</a:t>
            </a:r>
            <a:endParaRPr lang="en-US" sz="2000" dirty="0"/>
          </a:p>
        </p:txBody>
      </p:sp>
      <p:sp>
        <p:nvSpPr>
          <p:cNvPr id="80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drive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81" name="Card item"/>
          <p:cNvSpPr/>
          <p:nvPr/>
        </p:nvSpPr>
        <p:spPr>
          <a:xfrm>
            <a:off x="8549640" y="2889504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walk.</a:t>
            </a:r>
            <a:endParaRPr lang="en-US" sz="2000" dirty="0"/>
          </a:p>
        </p:txBody>
      </p:sp>
      <p:sp>
        <p:nvSpPr>
          <p:cNvPr id="82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bus ·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foot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long does it take?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4" name="Picture 44" descr="L7_how_long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45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</a:t>
            </a:r>
            <a:endParaRPr lang="en-US" sz="2600" dirty="0"/>
          </a:p>
        </p:txBody>
      </p:sp>
      <p:sp>
        <p:nvSpPr>
          <p:cNvPr id="47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car?</a:t>
            </a:r>
            <a:endParaRPr lang="en-US" sz="2200" dirty="0"/>
          </a:p>
        </p:txBody>
      </p:sp>
      <p:sp>
        <p:nvSpPr>
          <p:cNvPr id="49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8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twenty minutes.</a:t>
            </a:r>
            <a:endParaRPr lang="en-US" sz="2200" dirty="0"/>
          </a:p>
        </p:txBody>
      </p:sp>
      <p:sp>
        <p:nvSpPr>
          <p:cNvPr id="50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</a:t>
            </a:r>
            <a:endParaRPr lang="en-US" sz="2600" dirty="0"/>
          </a:p>
        </p:txBody>
      </p:sp>
      <p:sp>
        <p:nvSpPr>
          <p:cNvPr id="52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bus?</a:t>
            </a:r>
            <a:endParaRPr lang="en-US" sz="2200" dirty="0"/>
          </a:p>
        </p:txBody>
      </p:sp>
      <p:sp>
        <p:nvSpPr>
          <p:cNvPr id="54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45 minutes.</a:t>
            </a:r>
            <a:endParaRPr lang="en-US" sz="2200" dirty="0"/>
          </a:p>
        </p:txBody>
      </p:sp>
      <p:sp>
        <p:nvSpPr>
          <p:cNvPr id="55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</a:t>
            </a:r>
            <a:endParaRPr lang="en-US" sz="2600" dirty="0"/>
          </a:p>
        </p:txBody>
      </p:sp>
      <p:sp>
        <p:nvSpPr>
          <p:cNvPr id="57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foot?</a:t>
            </a:r>
            <a:endParaRPr lang="en-US" sz="2200" dirty="0"/>
          </a:p>
        </p:txBody>
      </p:sp>
      <p:sp>
        <p:nvSpPr>
          <p:cNvPr id="59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hour.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Better?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2" name="Picture 42" descr="L7_cheap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43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44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45" name="Highlight"/>
          <p:cNvSpPr/>
          <p:nvPr/>
        </p:nvSpPr>
        <p:spPr>
          <a:xfrm>
            <a:off x="1481328" y="4453128"/>
            <a:ext cx="2734056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  <p:sp>
        <p:nvSpPr>
          <p:cNvPr id="48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car is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bus.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1481328" y="5367528"/>
            <a:ext cx="288493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  <p:sp>
        <p:nvSpPr>
          <p:cNvPr id="52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is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car.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32278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32278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32278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32278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7_cheap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is more cheap.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is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8554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car is more faster.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8554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car is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68756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bigger that my house.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687568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bigger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house.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7_on_foo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bike is more good.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bike is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better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8554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much time it takes?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8554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long does it take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6875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 by foot.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6875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foot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/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Compare two things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is ___ than the car. (cheap)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fast or faster?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bigger that or bigger than?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1" name="Answer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endParaRPr lang="en-US" sz="2400" dirty="0"/>
          </a:p>
        </p:txBody>
      </p:sp>
      <p:sp>
        <p:nvSpPr>
          <p:cNvPr id="32" name="Answer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endParaRPr lang="en-US" sz="2400" dirty="0"/>
          </a:p>
        </p:txBody>
      </p:sp>
      <p:sp>
        <p:nvSpPr>
          <p:cNvPr id="33" name="Answer"/>
          <p:cNvSpPr/>
          <p:nvPr/>
        </p:nvSpPr>
        <p:spPr>
          <a:xfrm>
            <a:off x="8275320" y="4709160"/>
            <a:ext cx="2318918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bigger than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to compare two things</a:t>
            </a:r>
            <a:endParaRPr lang="en-US" sz="2000" dirty="0"/>
          </a:p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 or More?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words: + 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than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than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Long words: more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expensive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than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comfortable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than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-er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</a:t>
            </a:r>
            <a:endParaRPr lang="en-US" sz="6000" dirty="0"/>
          </a:p>
        </p:txBody>
      </p:sp>
      <p:pic>
        <p:nvPicPr>
          <p:cNvPr id="23" name="Picture 23" descr="L7_comfortabl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Commute Survey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Close: two learners compare out loud.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2" name="Picture 32" descr="L7_traffic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33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4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your partner.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get to class?</a:t>
            </a:r>
            <a:endParaRPr lang="en-US" sz="2000" dirty="0"/>
          </a:p>
        </p:txBody>
      </p:sp>
      <p:sp>
        <p:nvSpPr>
          <p:cNvPr id="35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36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Compare.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trip is longer than Ana's.</a:t>
            </a:r>
            <a:endParaRPr lang="en-US" sz="2000" dirty="0"/>
          </a:p>
        </p:txBody>
      </p:sp>
      <p:sp>
        <p:nvSpPr>
          <p:cNvPr id="37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Line up: short to long.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long does it take?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7_far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31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32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33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compare two ways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travel.</a:t>
            </a:r>
            <a:endParaRPr lang="en-US" sz="2000" dirty="0"/>
          </a:p>
        </p:txBody>
      </p:sp>
      <p:sp>
        <p:nvSpPr>
          <p:cNvPr id="34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35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36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about your trip: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get there?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4 comparisons.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Midterm next week: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 Lessons 1–7.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 (Week 7): Getting Around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