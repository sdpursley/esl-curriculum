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7" r:id="rId13"/>
    <p:sldId id="265" r:id="rId11"/>
    <p:sldId id="276" r:id="rId27"/>
    <p:sldId id="268" r:id="rId14"/>
    <p:sldId id="272" r:id="rId18"/>
    <p:sldId id="277" r:id="rId28"/>
    <p:sldId id="259" r:id="rId5"/>
    <p:sldId id="260" r:id="rId6"/>
    <p:sldId id="264" r:id="rId10"/>
    <p:sldId id="261" r:id="rId7"/>
    <p:sldId id="278" r:id="rId29"/>
    <p:sldId id="262" r:id="rId8"/>
    <p:sldId id="266" r:id="rId12"/>
    <p:sldId id="270" r:id="rId16"/>
    <p:sldId id="271" r:id="rId17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9.xml"/><Relationship Id="rId6" Type="http://schemas.openxmlformats.org/officeDocument/2006/relationships/slide" Target="slides/slide10.xml"/><Relationship Id="rId7" Type="http://schemas.openxmlformats.org/officeDocument/2006/relationships/slide" Target="slides/slide12.xml"/><Relationship Id="rId8" Type="http://schemas.openxmlformats.org/officeDocument/2006/relationships/slide" Target="slides/slide14.xml"/><Relationship Id="rId10" Type="http://schemas.openxmlformats.org/officeDocument/2006/relationships/slide" Target="slides/slide11.xml"/><Relationship Id="rId11" Type="http://schemas.openxmlformats.org/officeDocument/2006/relationships/slide" Target="slides/slide4.xml"/><Relationship Id="rId12" Type="http://schemas.openxmlformats.org/officeDocument/2006/relationships/slide" Target="slides/slide15.xml"/><Relationship Id="rId13" Type="http://schemas.openxmlformats.org/officeDocument/2006/relationships/slide" Target="slides/slide3.xml"/><Relationship Id="rId14" Type="http://schemas.openxmlformats.org/officeDocument/2006/relationships/slide" Target="slides/slide6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7.xml"/><Relationship Id="rId20" Type="http://schemas.openxmlformats.org/officeDocument/2006/relationships/slide" Target="slides/slide18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5.xml"/><Relationship Id="rId28" Type="http://schemas.openxmlformats.org/officeDocument/2006/relationships/slide" Target="slides/slide8.xml"/><Relationship Id="rId2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back. Read the goals together; learners repeat.</a:t>
            </a:r>
          </a:p>
          <a:p>
            <a:r>
              <a:rPr lang="en-US" dirty="0"/>
              <a:t>Objectives: name 15 or more food and drink items; use some / any and How much / How many; order in a restaurant with I'd like… / Can I have…?; ask and say prices.</a:t>
            </a:r>
          </a:p>
          <a:p>
            <a:r>
              <a:rPr lang="en-US" dirty="0"/>
              <a:t>Source: Level2_Curriculum_v5_public.md, Lesson 9 (At a glance).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· 6:00–6:10 · Opening Talk + Homework Check. Pairs (same partner for both parts).</a:t>
            </a:r>
          </a:p>
          <a:p>
            <a:r>
              <a:rPr lang="en-US" dirty="0"/>
              <a:t>Minutes 0–5 (review Lesson 8): partners ask What's the best restaurant / park in your neighborhood? Is there a pharmacy near your home? Each click shows one question.</a:t>
            </a:r>
          </a:p>
          <a:p>
            <a:r>
              <a:rPr lang="en-US" dirty="0"/>
              <a:t>Source: Level2_Curriculum_v5_public.md, Lesson 9 (Step 1).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· 6:30–6:45 · Grammar: some / any, How much / many, I'd like. Grammar Box 1: Ordering. Click 1 and click 2 highlight one pair each.</a:t>
            </a:r>
          </a:p>
          <a:p>
            <a:r>
              <a:rPr lang="en-US" dirty="0"/>
              <a:t>Say: "I'd like = I want (polite)." I'd like the soup / a sandwich / a coffee, please. Can I have some water / some bread / the check, please?</a:t>
            </a:r>
          </a:p>
          <a:p>
            <a:r>
              <a:rPr lang="en-US" dirty="0"/>
              <a:t>Teacher note: a coffee / a water are common in restaurants (= a cup / a glass). Accept them in role plays.</a:t>
            </a:r>
          </a:p>
          <a:p>
            <a:r>
              <a:rPr lang="en-US" dirty="0"/>
              <a:t>Source: Level2_Curriculum_v5_public.md, Lesson 9 (Step 4; Grammar Box 1;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 2: Do you have any…? Each click highlights any and its answer. Read: Do you have any fish? Sorry, we don't have any today.</a:t>
            </a:r>
          </a:p>
          <a:p>
            <a:r>
              <a:rPr lang="en-US" dirty="0"/>
              <a:t>Q: Some or any? some in positive sentences: I need some eggs. any in questions and negatives: Do you have any milk? We don't have any fish.</a:t>
            </a:r>
          </a:p>
          <a:p>
            <a:r>
              <a:rPr lang="en-US" dirty="0"/>
              <a:t>Source: Level2_Curriculum_v5_public.md, Lesson 9 (Grammar Box 2;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1). Each click shows the correct sentence.</a:t>
            </a:r>
          </a:p>
          <a:p>
            <a:r>
              <a:rPr lang="en-US" dirty="0"/>
              <a:t>I want a coffee sounds too direct. Write the correct form on the board. Learners can read the note on their Grammar page; you don't need to explain it.</a:t>
            </a:r>
          </a:p>
          <a:p>
            <a:r>
              <a:rPr lang="en-US" dirty="0"/>
              <a:t>Source: Level2_Curriculum_v5_public.md, Lesson 9 (Common mistakes;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check questions. Learners answer; each click shows one answer.</a:t>
            </a:r>
          </a:p>
          <a:p>
            <a:r>
              <a:rPr lang="en-US" dirty="0"/>
              <a:t>Answers: many · much · any. Also ask: "I want a coffee or I'd like a coffee?" (I'd like = more polite)</a:t>
            </a:r>
          </a:p>
          <a:p>
            <a:r>
              <a:rPr lang="en-US" dirty="0"/>
              <a:t>Short "Shopping List" (last 5 min): A dictates a list; B writes it and asks How many? How much? If behind: skip it.</a:t>
            </a:r>
          </a:p>
          <a:p>
            <a:r>
              <a:rPr lang="en-US" dirty="0"/>
              <a:t>Source: Level2_Curriculum_v5_public.md, Lesson 9 (Step 4 Check).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Boxes 3 and 4: How many? How much? Prices. Each click highlights many / much.</a:t>
            </a:r>
          </a:p>
          <a:p>
            <a:r>
              <a:rPr lang="en-US" dirty="0"/>
              <a:t>Say: "Some foods we can count: one egg, two eggs. Some we can't: rice, milk. Count → How many. Can't count → How much. Money → How much."</a:t>
            </a:r>
          </a:p>
          <a:p>
            <a:r>
              <a:rPr lang="en-US" dirty="0"/>
              <a:t>Prices: How much is the soup? It's $3.50. How much are the apples? They're $4.00 a pound. $3.50 = "three fifty" or "three dollars and fifty cents."</a:t>
            </a:r>
          </a:p>
          <a:p>
            <a:r>
              <a:rPr lang="en-US" dirty="0"/>
              <a:t>Source: Level2_Curriculum_v5_public.md, Lesson 9 (Grammar Boxes 3–4;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· 6:10–6:18 · New Words (pairs). Point, say, repeat twice. Each click shows one word.</a:t>
            </a:r>
          </a:p>
          <a:p>
            <a:r>
              <a:rPr lang="en-US" dirty="0"/>
              <a:t>Star words here: eggs, rice, bread, milk.</a:t>
            </a:r>
          </a:p>
          <a:p>
            <a:r>
              <a:rPr lang="en-US" dirty="0"/>
              <a:t>Can you count it? Say a food. Learners hold up fingers if you can count it (apples, eggs) or make a "pile" with both hands if you can't (rice, milk, water).</a:t>
            </a:r>
          </a:p>
          <a:p>
            <a:r>
              <a:rPr lang="en-US" dirty="0"/>
              <a:t>If behind: teach the star words only.</a:t>
            </a:r>
          </a:p>
          <a:p>
            <a:r>
              <a:rPr lang="en-US" dirty="0"/>
              <a:t>Source: Level2_Curriculum_v5_public.md, Lesson 9 (Step 2; Student Page 9 New Words).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Count or no count? Click 1 and click 2 show one row each.</a:t>
            </a:r>
          </a:p>
          <a:p>
            <a:r>
              <a:rPr lang="en-US" dirty="0"/>
              <a:t>Tip: count it on your fingers? → How many. Can't count it? → How much.</a:t>
            </a:r>
          </a:p>
          <a:p>
            <a:r>
              <a:rPr lang="en-US" dirty="0"/>
              <a:t>Pronunciation (If time ①): short /ɪ/ chicken, fish, milk, chip; long /i/ cheese, eat, beans, cheap. Then prices: fifteen vs. fifty (fif-TEEN, FIF-ty).</a:t>
            </a:r>
          </a:p>
          <a:p>
            <a:r>
              <a:rPr lang="en-US" dirty="0"/>
              <a:t>Source: Level2_Curriculum_v5_public.md, Lesson 9 (Count or no count?; If time).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1, minutes 5–10: partners read their 5 homework sentences. The listener checks for the + -est.</a:t>
            </a:r>
          </a:p>
          <a:p>
            <a:r>
              <a:rPr lang="en-US" dirty="0"/>
              <a:t>Each click shows one answer. The lines review Lesson 8 (Grammar Boxes 1–3).</a:t>
            </a:r>
          </a:p>
          <a:p>
            <a:r>
              <a:rPr lang="en-US" dirty="0"/>
              <a:t>Teacher: write 2 corrected sentences on the board. If behind: collect the homework.</a:t>
            </a:r>
          </a:p>
          <a:p>
            <a:r>
              <a:rPr lang="en-US" dirty="0"/>
              <a:t>Source: Level2_Curriculum_v5_public.md, Lesson 9 (Step 1); Lesson 8 Homework.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· 6:18–6:30 · Listening + "Say it" (L9_listening.mp3, about 0:57). Audio: L9_listening.mp3 (about 0:57). The audio plays once, play again if needed. No speaker? Read the script with a volunteer learner.</a:t>
            </a:r>
          </a:p>
          <a:p>
            <a:r>
              <a:rPr lang="en-US" dirty="0"/>
              <a:t>Before you listen: "Sam and Ana are in a restaurant. What do they order?" Take 2 guesses.</a:t>
            </a:r>
          </a:p>
          <a:p>
            <a:r>
              <a:rPr lang="en-US" dirty="0"/>
              <a:t>Listen 1 → Task A (check the food). Each click shows Yes or No.</a:t>
            </a:r>
          </a:p>
          <a:p>
            <a:r>
              <a:rPr lang="en-US" dirty="0"/>
              <a:t>Answer key: ✓ soup, bread, sandwich, salad, water, coffee, milk. ✗ fish, eggs, cheese.</a:t>
            </a:r>
          </a:p>
          <a:p>
            <a:r>
              <a:rPr lang="en-US" dirty="0"/>
              <a:t>Source: Level2_Curriculum_v5_public.md, Lesson 9 (Step 3; Answer key).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· 7:00–7:10 · Talk Time: Restaurant Role Play. Groups of 3: 1 server + 2 customers (15: 5 groups; 7–8: 2 groups + teacher). Each click shows one step.</a:t>
            </a:r>
          </a:p>
          <a:p>
            <a:r>
              <a:rPr lang="en-US" dirty="0"/>
              <a:t>Model with a volunteer (1 min): "Are you ready to order?" "Yes. I'd like the soup, please." "Anything to drink?"</a:t>
            </a:r>
          </a:p>
          <a:p>
            <a:r>
              <a:rPr lang="en-US" dirty="0"/>
              <a:t>Do: each group uses a menu card. The server takes the order and says the total. Switch roles every 3 minutes. Challenge: the server says "Sorry, we don't have any ___ today." The customer chooses again.</a:t>
            </a:r>
          </a:p>
          <a:p>
            <a:r>
              <a:rPr lang="en-US" dirty="0"/>
              <a:t>Diet and allergies: let learners say I don't eat ___ without explaining why. If behind: one round only.</a:t>
            </a:r>
          </a:p>
          <a:p>
            <a:r>
              <a:rPr lang="en-US" dirty="0"/>
              <a:t>Source: Level2_Curriculum_v5_public.md, Lesson 9 (Step 5;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6 · 7:10–7:15 · Exit Ticket + Homework. NEVER SKIP.</a:t>
            </a:r>
          </a:p>
          <a:p>
            <a:r>
              <a:rPr lang="en-US" dirty="0"/>
              <a:t>Exit ticket: write one restaurant order (I'd like… / Can I have…?) and one How much / How many question.</a:t>
            </a:r>
          </a:p>
          <a:p>
            <a:r>
              <a:rPr lang="en-US" dirty="0"/>
              <a:t>Homework (10 minutes): 1. Write your shopping list for this week with numbers and amounts (6 eggs, some rice, 2 pounds of apples…). 2. Write a restaurant conversation (4–6 lines): you and a server. 3. Bonus: at a store, read 3 prices in English. Write them in words ($2.99 = two ninety-nine).</a:t>
            </a:r>
          </a:p>
          <a:p>
            <a:r>
              <a:rPr lang="en-US" dirty="0"/>
              <a:t>Source: Level2_Curriculum_v5_public.md, Lesson 9 (Step 6; Student Page 9 Homework).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2 → Task B (circle). Each click circles one answer. The audio plays once, play again if needed.</a:t>
            </a:r>
          </a:p>
          <a:p>
            <a:r>
              <a:rPr lang="en-US" dirty="0"/>
              <a:t>Answer key: 1 chicken soup; 2 fish; 3 no ice; 4 two; 5 $24.50.</a:t>
            </a:r>
          </a:p>
          <a:p>
            <a:r>
              <a:rPr lang="en-US" dirty="0"/>
              <a:t>Prices: $24.50 = "twenty-four fifty."</a:t>
            </a:r>
          </a:p>
          <a:p>
            <a:r>
              <a:rPr lang="en-US" dirty="0"/>
              <a:t>Source: Level2_Curriculum_v5_public.md, Lesson 9 (Step 3; Answer key; Questions and answers).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Credits. Lesson content: Level 2 Adult ESL Curriculum v5, public edition, Lesson 9.</a:t>
            </a:r>
          </a:p>
          <a:p>
            <a:r>
              <a:rPr lang="en-US" dirty="0"/>
              <a:t>Image credit line copied exactly from images/CREDITS.md. Deck notice: © 2026 the authors; the authors license this deck under CC BY-NC-SA 4.0 (Section 7.2).</a:t>
            </a:r>
          </a:p>
          <a:p>
            <a:r>
              <a:rPr lang="en-US" dirty="0"/>
              <a:t>Audio and font credits: Chatterbox TTS (Resemble AI, MIT; Perth watermark), Lexend Deca (SIL OFL 1.1).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Words, part 2. Each click shows one word. Star words here: chicken, water, shopping list, the check (the bill).</a:t>
            </a:r>
          </a:p>
          <a:p>
            <a:r>
              <a:rPr lang="en-US" dirty="0"/>
              <a:t>Menus and prices are invented. Learners can talk about any food from their culture.</a:t>
            </a:r>
          </a:p>
          <a:p>
            <a:r>
              <a:rPr lang="en-US" dirty="0"/>
              <a:t>Source: Level2_Curriculum_v5_public.md, Lesson 9 (Step 2; Student Page 9; Teacher notes).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Listen 3 → Task C (fill in). Each click fills one blank. The audio plays once, play again if needed.</a:t>
            </a:r>
          </a:p>
          <a:p>
            <a:r>
              <a:rPr lang="en-US" dirty="0"/>
              <a:t>Answer key: I'd like; any; Can I; check.</a:t>
            </a:r>
          </a:p>
          <a:p>
            <a:r>
              <a:rPr lang="en-US" dirty="0"/>
              <a:t>"Say it" (1–2 min): the class repeats "I'd like the chicken soup, please." and "Can I have the check?"</a:t>
            </a:r>
          </a:p>
          <a:p>
            <a:r>
              <a:rPr lang="en-US" dirty="0"/>
              <a:t>If behind: skip the third play; do Task C together.</a:t>
            </a:r>
          </a:p>
          <a:p>
            <a:r>
              <a:rPr lang="en-US" dirty="0"/>
              <a:t>Source: Level2_Curriculum_v5_public.md, Lesson 9 (Step 3; Answer key).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Common mistakes (part 2). Each click shows the correct sentence.</a:t>
            </a:r>
          </a:p>
          <a:p>
            <a:r>
              <a:rPr lang="en-US" dirty="0"/>
              <a:t>Do you have some fish? is OK, but any is more common in questions. Q: Can I say breads or rices? No. Say some bread, a loaf of bread, a bag of rice.</a:t>
            </a:r>
          </a:p>
          <a:p>
            <a:r>
              <a:rPr lang="en-US" dirty="0"/>
              <a:t>Source: Level2_Curriculum_v5_public.md, Lesson 9 (Common mistakes; Questions and answers).</a:t>
            </a:r>
          </a:p>
          <a:p>
            <a:r>
              <a:rPr lang="en-US" dirty="0"/>
              <a:t>Picture: Twemoji graphics by Twitter, Inc. and other contributors (https://github.com/jdecked/twemoji), CC BY 4.0 (https://creativecommons.org/licenses/by/4.0/); resized and combined.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K1" Type="http://schemas.openxmlformats.org/officeDocument/2006/relationships/image" Target="../media/k_L4_right_now.png"/><Relationship Id="rIdQ1" Type="http://schemas.openxmlformats.org/officeDocument/2006/relationships/image" Target="../media/k_L9_shopping_list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Q1" Type="http://schemas.openxmlformats.org/officeDocument/2006/relationships/image" Target="../media/k_L8_restaurant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4.xml.rels><?xml version='1.0' encoding='UTF-8' standalone='yes'?>
<Relationships xmlns="http://schemas.openxmlformats.org/package/2006/relationships"><Relationship Id="rIdQ1" Type="http://schemas.openxmlformats.org/officeDocument/2006/relationships/image" Target="../media/k_L9_apples.png"/><Relationship Id="rIdQ2" Type="http://schemas.openxmlformats.org/officeDocument/2006/relationships/image" Target="../media/k_L9_bananas.png"/><Relationship Id="rIdQ3" Type="http://schemas.openxmlformats.org/officeDocument/2006/relationships/image" Target="../media/k_L9_tomatoes.png"/><Relationship Id="rIdQ4" Type="http://schemas.openxmlformats.org/officeDocument/2006/relationships/image" Target="../media/k_L9_onions.png"/><Relationship Id="rIdQ5" Type="http://schemas.openxmlformats.org/officeDocument/2006/relationships/image" Target="../media/k_L9_eggs.png"/><Relationship Id="rIdQ6" Type="http://schemas.openxmlformats.org/officeDocument/2006/relationships/image" Target="../media/k_L9_rice.png"/><Relationship Id="rIdQ7" Type="http://schemas.openxmlformats.org/officeDocument/2006/relationships/image" Target="../media/k_L9_bread.png"/><Relationship Id="rIdQ8" Type="http://schemas.openxmlformats.org/officeDocument/2006/relationships/image" Target="../media/k_L9_mil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5.xml.rels><?xml version='1.0' encoding='UTF-8' standalone='yes'?>
<Relationships xmlns="http://schemas.openxmlformats.org/package/2006/relationships"><Relationship Id="rIdQ1" Type="http://schemas.openxmlformats.org/officeDocument/2006/relationships/image" Target="../media/k_L9_cheese.png"/><Relationship Id="rIdQ2" Type="http://schemas.openxmlformats.org/officeDocument/2006/relationships/image" Target="../media/k_L9_chicken.png"/><Relationship Id="rIdQ3" Type="http://schemas.openxmlformats.org/officeDocument/2006/relationships/image" Target="../media/k_L9_coffee.png"/><Relationship Id="rIdQ4" Type="http://schemas.openxmlformats.org/officeDocument/2006/relationships/image" Target="../media/k_L9_water.png"/><Relationship Id="rIdQ5" Type="http://schemas.openxmlformats.org/officeDocument/2006/relationships/image" Target="../media/k_L9_soup.png"/><Relationship Id="rIdQ6" Type="http://schemas.openxmlformats.org/officeDocument/2006/relationships/image" Target="../media/k_L9_sandwich.png"/><Relationship Id="rIdQ7" Type="http://schemas.openxmlformats.org/officeDocument/2006/relationships/image" Target="../media/k_L9_shopping_list.png"/><Relationship Id="rIdQ8" Type="http://schemas.openxmlformats.org/officeDocument/2006/relationships/image" Target="../media/k_L9_the_chec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6.xml.rels><?xml version='1.0' encoding='UTF-8' standalone='yes'?>
<Relationships xmlns="http://schemas.openxmlformats.org/package/2006/relationships"><Relationship Id="rIdQ1" Type="http://schemas.openxmlformats.org/officeDocument/2006/relationships/image" Target="../media/k_L9_soup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9.xml.rels><?xml version='1.0' encoding='UTF-8' standalone='yes'?>
<Relationships xmlns="http://schemas.openxmlformats.org/package/2006/relationships"><Relationship Id="rIdQ1" Type="http://schemas.openxmlformats.org/officeDocument/2006/relationships/image" Target="../media/k_L9_sandwich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Q1" Type="http://schemas.openxmlformats.org/officeDocument/2006/relationships/image" Target="../media/k_L9_bread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Q1" Type="http://schemas.openxmlformats.org/officeDocument/2006/relationships/image" Target="../media/k_L9_eggs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Q1" Type="http://schemas.openxmlformats.org/officeDocument/2006/relationships/image" Target="../media/k_L9_mil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Q1" Type="http://schemas.openxmlformats.org/officeDocument/2006/relationships/image" Target="../media/k_L9_ric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Q1" Type="http://schemas.openxmlformats.org/officeDocument/2006/relationships/image" Target="../media/k_L9_apples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Q1" Type="http://schemas.openxmlformats.org/officeDocument/2006/relationships/image" Target="../media/k_L9_the_check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Q1" Type="http://schemas.openxmlformats.org/officeDocument/2006/relationships/image" Target="../media/k_L9_coffee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9 (Week 10)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Food and Shopping</a:t>
            </a:r>
            <a:endParaRPr lang="en-US" sz="5000" dirty="0"/>
          </a:p>
        </p:txBody>
      </p:sp>
      <p:sp>
        <p:nvSpPr>
          <p:cNvPr id="9" name="Text 6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77240" y="4480560"/>
            <a:ext cx="60350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Name 15+ foods and drinks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Use some / any, How much / many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Order: I'd like… / Can I have…?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and say prices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172200" y="594360"/>
            <a:ext cx="914400" cy="863781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245679" y="582930"/>
            <a:ext cx="930729" cy="93072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 rot="900000">
            <a:off x="6498771" y="849902"/>
            <a:ext cx="397601" cy="39760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14" name="Picture 14" descr="L4_right_now.png"/>
          <p:cNvPicPr>
            <a:picLocks noChangeAspect="1"/>
          </p:cNvPicPr>
          <p:nvPr/>
        </p:nvPicPr>
        <p:blipFill>
          <a:blip r:embed="rIdK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pic>
        <p:nvPicPr>
          <p:cNvPr id="15" name="Picture 15" descr="L9_shopping_lis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7604" y="1352535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27741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64792"/>
            <a:ext cx="5120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Warm-Up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9846" y="297180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Same partner.</a:t>
            </a:r>
            <a:endParaRPr lang="en-US" sz="22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 Lesson 8.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822546" y="4854550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904842" y="4841748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5188306" y="5140757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9" name="Question"/>
          <p:cNvSpPr/>
          <p:nvPr/>
        </p:nvSpPr>
        <p:spPr>
          <a:xfrm>
            <a:off x="599846" y="3977640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What's the best restaurant in your neighborhood?</a:t>
            </a:r>
            <a:endParaRPr lang="en-US" sz="2200" dirty="0"/>
          </a:p>
        </p:txBody>
      </p:sp>
      <p:sp>
        <p:nvSpPr>
          <p:cNvPr id="20" name="Question"/>
          <p:cNvSpPr/>
          <p:nvPr/>
        </p:nvSpPr>
        <p:spPr>
          <a:xfrm>
            <a:off x="599846" y="4910328"/>
            <a:ext cx="4114800" cy="80467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there a pharmacy near your home?</a:t>
            </a:r>
            <a:endParaRPr lang="en-US" sz="2200" dirty="0"/>
          </a:p>
        </p:txBody>
      </p:sp>
      <p:pic>
        <p:nvPicPr>
          <p:cNvPr id="21" name="Picture 21" descr="L8_restaurant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795821" y="2101291"/>
            <a:ext cx="4763110" cy="33341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838651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550054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261458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your 5 sentences.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336662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the ___. (cheap)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838651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the ___. (big)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550054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the ___ park. (good)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261458"/>
            <a:ext cx="3374136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 there a bank?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HW</a:t>
            </a:r>
            <a:endParaRPr lang="en-US" sz="30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1261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838651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81670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550054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54365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27974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26968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+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-est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8" name="Answer 1"/>
          <p:cNvSpPr/>
          <p:nvPr/>
        </p:nvSpPr>
        <p:spPr>
          <a:xfrm>
            <a:off x="5220326" y="3200400"/>
            <a:ext cx="1363354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cheapest</a:t>
            </a:r>
            <a:endParaRPr lang="en-US" sz="2000" dirty="0"/>
          </a:p>
        </p:txBody>
      </p:sp>
      <p:sp>
        <p:nvSpPr>
          <p:cNvPr id="39" name="Answer 2"/>
          <p:cNvSpPr/>
          <p:nvPr/>
        </p:nvSpPr>
        <p:spPr>
          <a:xfrm>
            <a:off x="5257800" y="3911803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biggest</a:t>
            </a:r>
            <a:endParaRPr lang="en-US" sz="2000" dirty="0"/>
          </a:p>
        </p:txBody>
      </p:sp>
      <p:sp>
        <p:nvSpPr>
          <p:cNvPr id="40" name="Answer 3"/>
          <p:cNvSpPr/>
          <p:nvPr/>
        </p:nvSpPr>
        <p:spPr>
          <a:xfrm>
            <a:off x="5257800" y="4623206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best</a:t>
            </a:r>
            <a:endParaRPr lang="en-US" sz="2000" dirty="0"/>
          </a:p>
        </p:txBody>
      </p:sp>
      <p:sp>
        <p:nvSpPr>
          <p:cNvPr id="41" name="Answer 4"/>
          <p:cNvSpPr/>
          <p:nvPr/>
        </p:nvSpPr>
        <p:spPr>
          <a:xfrm>
            <a:off x="5257800" y="5334610"/>
            <a:ext cx="13258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you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count it?</a:t>
            </a:r>
            <a:endParaRPr lang="en-US" sz="2200" dirty="0"/>
          </a:p>
        </p:txBody>
      </p:sp>
      <p:pic>
        <p:nvPicPr>
          <p:cNvPr id="41" name="Picture 41" descr="apples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952837" y="2240280"/>
            <a:ext cx="2076994" cy="145389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7626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apples</a:t>
            </a:r>
            <a:endParaRPr lang="en-US" sz="2000" dirty="0"/>
          </a:p>
        </p:txBody>
      </p:sp>
      <p:pic>
        <p:nvPicPr>
          <p:cNvPr id="43" name="Picture 43" descr="bananas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638887" y="2240280"/>
            <a:ext cx="2076994" cy="145389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34486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bananas</a:t>
            </a:r>
            <a:endParaRPr lang="en-US" sz="2000" dirty="0"/>
          </a:p>
        </p:txBody>
      </p:sp>
      <p:pic>
        <p:nvPicPr>
          <p:cNvPr id="45" name="Picture 45" descr="tomatoes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324937" y="2240280"/>
            <a:ext cx="2076994" cy="145389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613471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tomatoes</a:t>
            </a:r>
            <a:endParaRPr lang="en-US" sz="2000" dirty="0"/>
          </a:p>
        </p:txBody>
      </p:sp>
      <p:pic>
        <p:nvPicPr>
          <p:cNvPr id="47" name="Picture 47" descr="onions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010987" y="2240280"/>
            <a:ext cx="2076994" cy="145389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8820760" y="3749040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onions</a:t>
            </a:r>
            <a:endParaRPr lang="en-US" sz="2000" dirty="0"/>
          </a:p>
        </p:txBody>
      </p:sp>
      <p:pic>
        <p:nvPicPr>
          <p:cNvPr id="49" name="Picture 49" descr="eggs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952837" y="4315968"/>
            <a:ext cx="2076994" cy="145389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7626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eggs</a:t>
            </a:r>
            <a:endParaRPr lang="en-US" sz="2000" dirty="0"/>
          </a:p>
        </p:txBody>
      </p:sp>
      <p:pic>
        <p:nvPicPr>
          <p:cNvPr id="51" name="Picture 51" descr="rice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3638887" y="4315968"/>
            <a:ext cx="2076994" cy="145389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34486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rice</a:t>
            </a:r>
            <a:endParaRPr lang="en-US" sz="2000" dirty="0"/>
          </a:p>
        </p:txBody>
      </p:sp>
      <p:pic>
        <p:nvPicPr>
          <p:cNvPr id="53" name="Picture 53" descr="bread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6324937" y="4315968"/>
            <a:ext cx="2076994" cy="1453896"/>
          </a:xfrm>
          <a:prstGeom prst="rect">
            <a:avLst/>
          </a:prstGeom>
        </p:spPr>
      </p:pic>
      <p:sp>
        <p:nvSpPr>
          <p:cNvPr id="54" name="Word label"/>
          <p:cNvSpPr/>
          <p:nvPr/>
        </p:nvSpPr>
        <p:spPr>
          <a:xfrm>
            <a:off x="613471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bread</a:t>
            </a:r>
            <a:endParaRPr lang="en-US" sz="2000" dirty="0"/>
          </a:p>
        </p:txBody>
      </p:sp>
      <p:pic>
        <p:nvPicPr>
          <p:cNvPr id="55" name="Picture 55" descr="milk"/>
          <p:cNvPicPr>
            <a:picLocks noChangeAspect="1"/>
          </p:cNvPicPr>
          <p:nvPr/>
        </p:nvPicPr>
        <p:blipFill>
          <a:blip r:embed="rIdQ8"/>
          <a:stretch>
            <a:fillRect/>
          </a:stretch>
        </p:blipFill>
        <p:spPr>
          <a:xfrm>
            <a:off x="9010987" y="4315968"/>
            <a:ext cx="2076994" cy="1453896"/>
          </a:xfrm>
          <a:prstGeom prst="rect">
            <a:avLst/>
          </a:prstGeom>
        </p:spPr>
      </p:pic>
      <p:sp>
        <p:nvSpPr>
          <p:cNvPr id="56" name="Word label"/>
          <p:cNvSpPr/>
          <p:nvPr/>
        </p:nvSpPr>
        <p:spPr>
          <a:xfrm>
            <a:off x="8820760" y="5824728"/>
            <a:ext cx="2457450" cy="457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milk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400" dirty="0"/>
          </a:p>
        </p:txBody>
      </p:sp>
      <p:sp>
        <p:nvSpPr>
          <p:cNvPr id="9" name="Shape 7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286561" y="744322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345050" y="73522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rot="900000">
            <a:off x="1546512" y="94773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14884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Fingers or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pile?</a:t>
            </a:r>
            <a:endParaRPr lang="en-US" sz="2200" dirty="0"/>
          </a:p>
        </p:txBody>
      </p:sp>
      <p:pic>
        <p:nvPicPr>
          <p:cNvPr id="39" name="Picture 39" descr="cheese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181437" y="2240280"/>
            <a:ext cx="1619794" cy="1133856"/>
          </a:xfrm>
          <a:prstGeom prst="rect">
            <a:avLst/>
          </a:prstGeom>
        </p:spPr>
      </p:pic>
      <p:sp>
        <p:nvSpPr>
          <p:cNvPr id="40" name="Word label"/>
          <p:cNvSpPr/>
          <p:nvPr/>
        </p:nvSpPr>
        <p:spPr>
          <a:xfrm>
            <a:off x="7626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cheese</a:t>
            </a:r>
            <a:endParaRPr lang="en-US" sz="2000" dirty="0"/>
          </a:p>
        </p:txBody>
      </p:sp>
      <p:pic>
        <p:nvPicPr>
          <p:cNvPr id="41" name="Picture 41" descr="chicken"/>
          <p:cNvPicPr>
            <a:picLocks noChangeAspect="1"/>
          </p:cNvPicPr>
          <p:nvPr/>
        </p:nvPicPr>
        <p:blipFill>
          <a:blip r:embed="rIdQ2"/>
          <a:stretch>
            <a:fillRect/>
          </a:stretch>
        </p:blipFill>
        <p:spPr>
          <a:xfrm>
            <a:off x="3867487" y="2240280"/>
            <a:ext cx="1619794" cy="1133856"/>
          </a:xfrm>
          <a:prstGeom prst="rect">
            <a:avLst/>
          </a:prstGeom>
        </p:spPr>
      </p:pic>
      <p:sp>
        <p:nvSpPr>
          <p:cNvPr id="42" name="Word label"/>
          <p:cNvSpPr/>
          <p:nvPr/>
        </p:nvSpPr>
        <p:spPr>
          <a:xfrm>
            <a:off x="34486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chicken</a:t>
            </a:r>
            <a:endParaRPr lang="en-US" sz="2000" dirty="0"/>
          </a:p>
        </p:txBody>
      </p:sp>
      <p:pic>
        <p:nvPicPr>
          <p:cNvPr id="43" name="Picture 43" descr="coffee"/>
          <p:cNvPicPr>
            <a:picLocks noChangeAspect="1"/>
          </p:cNvPicPr>
          <p:nvPr/>
        </p:nvPicPr>
        <p:blipFill>
          <a:blip r:embed="rIdQ3"/>
          <a:stretch>
            <a:fillRect/>
          </a:stretch>
        </p:blipFill>
        <p:spPr>
          <a:xfrm>
            <a:off x="6553537" y="2240280"/>
            <a:ext cx="1619794" cy="1133856"/>
          </a:xfrm>
          <a:prstGeom prst="rect">
            <a:avLst/>
          </a:prstGeom>
        </p:spPr>
      </p:pic>
      <p:sp>
        <p:nvSpPr>
          <p:cNvPr id="44" name="Word label"/>
          <p:cNvSpPr/>
          <p:nvPr/>
        </p:nvSpPr>
        <p:spPr>
          <a:xfrm>
            <a:off x="613471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coffee</a:t>
            </a:r>
            <a:endParaRPr lang="en-US" sz="2000" dirty="0"/>
          </a:p>
        </p:txBody>
      </p:sp>
      <p:pic>
        <p:nvPicPr>
          <p:cNvPr id="45" name="Picture 45" descr="water"/>
          <p:cNvPicPr>
            <a:picLocks noChangeAspect="1"/>
          </p:cNvPicPr>
          <p:nvPr/>
        </p:nvPicPr>
        <p:blipFill>
          <a:blip r:embed="rIdQ4"/>
          <a:stretch>
            <a:fillRect/>
          </a:stretch>
        </p:blipFill>
        <p:spPr>
          <a:xfrm>
            <a:off x="9239587" y="2240280"/>
            <a:ext cx="1619794" cy="1133856"/>
          </a:xfrm>
          <a:prstGeom prst="rect">
            <a:avLst/>
          </a:prstGeom>
        </p:spPr>
      </p:pic>
      <p:sp>
        <p:nvSpPr>
          <p:cNvPr id="46" name="Word label"/>
          <p:cNvSpPr/>
          <p:nvPr/>
        </p:nvSpPr>
        <p:spPr>
          <a:xfrm>
            <a:off x="8820760" y="3429000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water</a:t>
            </a:r>
            <a:endParaRPr lang="en-US" sz="2000" dirty="0"/>
          </a:p>
        </p:txBody>
      </p:sp>
      <p:pic>
        <p:nvPicPr>
          <p:cNvPr id="47" name="Picture 47" descr="soup"/>
          <p:cNvPicPr>
            <a:picLocks noChangeAspect="1"/>
          </p:cNvPicPr>
          <p:nvPr/>
        </p:nvPicPr>
        <p:blipFill>
          <a:blip r:embed="rIdQ5"/>
          <a:stretch>
            <a:fillRect/>
          </a:stretch>
        </p:blipFill>
        <p:spPr>
          <a:xfrm>
            <a:off x="1181437" y="4315968"/>
            <a:ext cx="1619794" cy="1133856"/>
          </a:xfrm>
          <a:prstGeom prst="rect">
            <a:avLst/>
          </a:prstGeom>
        </p:spPr>
      </p:pic>
      <p:sp>
        <p:nvSpPr>
          <p:cNvPr id="48" name="Word label"/>
          <p:cNvSpPr/>
          <p:nvPr/>
        </p:nvSpPr>
        <p:spPr>
          <a:xfrm>
            <a:off x="762610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soup</a:t>
            </a:r>
            <a:endParaRPr lang="en-US" sz="2000" dirty="0"/>
          </a:p>
        </p:txBody>
      </p:sp>
      <p:pic>
        <p:nvPicPr>
          <p:cNvPr id="49" name="Picture 49" descr="sandwich"/>
          <p:cNvPicPr>
            <a:picLocks noChangeAspect="1"/>
          </p:cNvPicPr>
          <p:nvPr/>
        </p:nvPicPr>
        <p:blipFill>
          <a:blip r:embed="rIdQ6"/>
          <a:stretch>
            <a:fillRect/>
          </a:stretch>
        </p:blipFill>
        <p:spPr>
          <a:xfrm>
            <a:off x="3867487" y="4315968"/>
            <a:ext cx="1619794" cy="1133856"/>
          </a:xfrm>
          <a:prstGeom prst="rect">
            <a:avLst/>
          </a:prstGeom>
        </p:spPr>
      </p:pic>
      <p:sp>
        <p:nvSpPr>
          <p:cNvPr id="50" name="Word label"/>
          <p:cNvSpPr/>
          <p:nvPr/>
        </p:nvSpPr>
        <p:spPr>
          <a:xfrm>
            <a:off x="3448660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sandwich</a:t>
            </a:r>
            <a:endParaRPr lang="en-US" sz="2000" dirty="0"/>
          </a:p>
        </p:txBody>
      </p:sp>
      <p:pic>
        <p:nvPicPr>
          <p:cNvPr id="51" name="Picture 51" descr="shopping list"/>
          <p:cNvPicPr>
            <a:picLocks noChangeAspect="1"/>
          </p:cNvPicPr>
          <p:nvPr/>
        </p:nvPicPr>
        <p:blipFill>
          <a:blip r:embed="rIdQ7"/>
          <a:stretch>
            <a:fillRect/>
          </a:stretch>
        </p:blipFill>
        <p:spPr>
          <a:xfrm>
            <a:off x="6553537" y="4315968"/>
            <a:ext cx="1619794" cy="1133856"/>
          </a:xfrm>
          <a:prstGeom prst="rect">
            <a:avLst/>
          </a:prstGeom>
        </p:spPr>
      </p:pic>
      <p:sp>
        <p:nvSpPr>
          <p:cNvPr id="52" name="Word label"/>
          <p:cNvSpPr/>
          <p:nvPr/>
        </p:nvSpPr>
        <p:spPr>
          <a:xfrm>
            <a:off x="6134710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shopping list</a:t>
            </a:r>
            <a:endParaRPr lang="en-US" sz="2000" dirty="0"/>
          </a:p>
        </p:txBody>
      </p:sp>
      <p:pic>
        <p:nvPicPr>
          <p:cNvPr id="53" name="Picture 53" descr="the check (the bill)"/>
          <p:cNvPicPr>
            <a:picLocks noChangeAspect="1"/>
          </p:cNvPicPr>
          <p:nvPr/>
        </p:nvPicPr>
        <p:blipFill>
          <a:blip r:embed="rIdQ8"/>
          <a:stretch>
            <a:fillRect/>
          </a:stretch>
        </p:blipFill>
        <p:spPr>
          <a:xfrm>
            <a:off x="9239587" y="4315968"/>
            <a:ext cx="1619794" cy="1133856"/>
          </a:xfrm>
          <a:prstGeom prst="rect">
            <a:avLst/>
          </a:prstGeom>
        </p:spPr>
      </p:pic>
      <p:sp>
        <p:nvSpPr>
          <p:cNvPr id="54" name="Word label"/>
          <p:cNvSpPr/>
          <p:nvPr/>
        </p:nvSpPr>
        <p:spPr>
          <a:xfrm>
            <a:off x="8820760" y="5504688"/>
            <a:ext cx="2457450" cy="7772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check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(the bill)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702759" y="5703113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761248" y="5694015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4962710" y="5906524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5" name="Subtitle"/>
          <p:cNvSpPr/>
          <p:nvPr/>
        </p:nvSpPr>
        <p:spPr>
          <a:xfrm>
            <a:off x="771754" y="2148840"/>
            <a:ext cx="457200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do they order?</a:t>
            </a:r>
            <a:endParaRPr lang="en-US" sz="2000" dirty="0"/>
          </a:p>
        </p:txBody>
      </p:sp>
      <p:pic>
        <p:nvPicPr>
          <p:cNvPr id="66" name="Picture 66" descr="L9_soup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274674" y="3680460"/>
            <a:ext cx="3450031" cy="2415022"/>
          </a:xfrm>
          <a:prstGeom prst="rect">
            <a:avLst/>
          </a:prstGeom>
        </p:spPr>
      </p:pic>
      <p:sp>
        <p:nvSpPr>
          <p:cNvPr id="67" name="Row shadow"/>
          <p:cNvSpPr/>
          <p:nvPr/>
        </p:nvSpPr>
        <p:spPr>
          <a:xfrm>
            <a:off x="5815584" y="15636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Row"/>
          <p:cNvSpPr/>
          <p:nvPr/>
        </p:nvSpPr>
        <p:spPr>
          <a:xfrm>
            <a:off x="5760720" y="15087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9" name="Item"/>
          <p:cNvSpPr/>
          <p:nvPr/>
        </p:nvSpPr>
        <p:spPr>
          <a:xfrm>
            <a:off x="5870448" y="15087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soup</a:t>
            </a:r>
            <a:endParaRPr lang="en-US" sz="2200" dirty="0"/>
          </a:p>
        </p:txBody>
      </p:sp>
      <p:sp>
        <p:nvSpPr>
          <p:cNvPr id="70" name="Tag 1"/>
          <p:cNvSpPr/>
          <p:nvPr/>
        </p:nvSpPr>
        <p:spPr>
          <a:xfrm>
            <a:off x="7498080" y="16002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71" name="Row shadow"/>
          <p:cNvSpPr/>
          <p:nvPr/>
        </p:nvSpPr>
        <p:spPr>
          <a:xfrm>
            <a:off x="5815584" y="24780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Row"/>
          <p:cNvSpPr/>
          <p:nvPr/>
        </p:nvSpPr>
        <p:spPr>
          <a:xfrm>
            <a:off x="5760720" y="24231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3" name="Item"/>
          <p:cNvSpPr/>
          <p:nvPr/>
        </p:nvSpPr>
        <p:spPr>
          <a:xfrm>
            <a:off x="5870448" y="24231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fish</a:t>
            </a:r>
            <a:endParaRPr lang="en-US" sz="2200" dirty="0"/>
          </a:p>
        </p:txBody>
      </p:sp>
      <p:sp>
        <p:nvSpPr>
          <p:cNvPr id="74" name="Tag 2"/>
          <p:cNvSpPr/>
          <p:nvPr/>
        </p:nvSpPr>
        <p:spPr>
          <a:xfrm>
            <a:off x="7498080" y="25146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B42318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75" name="Row shadow"/>
          <p:cNvSpPr/>
          <p:nvPr/>
        </p:nvSpPr>
        <p:spPr>
          <a:xfrm>
            <a:off x="5815584" y="33924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Row"/>
          <p:cNvSpPr/>
          <p:nvPr/>
        </p:nvSpPr>
        <p:spPr>
          <a:xfrm>
            <a:off x="5760720" y="33375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7" name="Item"/>
          <p:cNvSpPr/>
          <p:nvPr/>
        </p:nvSpPr>
        <p:spPr>
          <a:xfrm>
            <a:off x="5870448" y="33375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sandwich</a:t>
            </a:r>
            <a:endParaRPr lang="en-US" sz="2200" dirty="0"/>
          </a:p>
        </p:txBody>
      </p:sp>
      <p:sp>
        <p:nvSpPr>
          <p:cNvPr id="78" name="Tag 3"/>
          <p:cNvSpPr/>
          <p:nvPr/>
        </p:nvSpPr>
        <p:spPr>
          <a:xfrm>
            <a:off x="7498080" y="34290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79" name="Row shadow"/>
          <p:cNvSpPr/>
          <p:nvPr/>
        </p:nvSpPr>
        <p:spPr>
          <a:xfrm>
            <a:off x="5815584" y="43068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0" name="Row"/>
          <p:cNvSpPr/>
          <p:nvPr/>
        </p:nvSpPr>
        <p:spPr>
          <a:xfrm>
            <a:off x="5760720" y="42519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1" name="Item"/>
          <p:cNvSpPr/>
          <p:nvPr/>
        </p:nvSpPr>
        <p:spPr>
          <a:xfrm>
            <a:off x="5870448" y="42519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salad</a:t>
            </a:r>
            <a:endParaRPr lang="en-US" sz="2200" dirty="0"/>
          </a:p>
        </p:txBody>
      </p:sp>
      <p:sp>
        <p:nvSpPr>
          <p:cNvPr id="82" name="Tag 4"/>
          <p:cNvSpPr/>
          <p:nvPr/>
        </p:nvSpPr>
        <p:spPr>
          <a:xfrm>
            <a:off x="7498080" y="43434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83" name="Row shadow"/>
          <p:cNvSpPr/>
          <p:nvPr/>
        </p:nvSpPr>
        <p:spPr>
          <a:xfrm>
            <a:off x="5815584" y="52212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4" name="Row"/>
          <p:cNvSpPr/>
          <p:nvPr/>
        </p:nvSpPr>
        <p:spPr>
          <a:xfrm>
            <a:off x="5760720" y="51663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5" name="Item"/>
          <p:cNvSpPr/>
          <p:nvPr/>
        </p:nvSpPr>
        <p:spPr>
          <a:xfrm>
            <a:off x="5870448" y="51663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bread</a:t>
            </a:r>
            <a:endParaRPr lang="en-US" sz="2200" dirty="0"/>
          </a:p>
        </p:txBody>
      </p:sp>
      <p:sp>
        <p:nvSpPr>
          <p:cNvPr id="86" name="Tag 5"/>
          <p:cNvSpPr/>
          <p:nvPr/>
        </p:nvSpPr>
        <p:spPr>
          <a:xfrm>
            <a:off x="7498080" y="52578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87" name="Row shadow"/>
          <p:cNvSpPr/>
          <p:nvPr/>
        </p:nvSpPr>
        <p:spPr>
          <a:xfrm>
            <a:off x="8924544" y="15636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8" name="Row"/>
          <p:cNvSpPr/>
          <p:nvPr/>
        </p:nvSpPr>
        <p:spPr>
          <a:xfrm>
            <a:off x="8869680" y="15087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9" name="Item"/>
          <p:cNvSpPr/>
          <p:nvPr/>
        </p:nvSpPr>
        <p:spPr>
          <a:xfrm>
            <a:off x="8979408" y="15087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water</a:t>
            </a:r>
            <a:endParaRPr lang="en-US" sz="2200" dirty="0"/>
          </a:p>
        </p:txBody>
      </p:sp>
      <p:sp>
        <p:nvSpPr>
          <p:cNvPr id="90" name="Tag 6"/>
          <p:cNvSpPr/>
          <p:nvPr/>
        </p:nvSpPr>
        <p:spPr>
          <a:xfrm>
            <a:off x="10607040" y="16002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91" name="Row shadow"/>
          <p:cNvSpPr/>
          <p:nvPr/>
        </p:nvSpPr>
        <p:spPr>
          <a:xfrm>
            <a:off x="8924544" y="24780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2" name="Row"/>
          <p:cNvSpPr/>
          <p:nvPr/>
        </p:nvSpPr>
        <p:spPr>
          <a:xfrm>
            <a:off x="8869680" y="24231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3" name="Item"/>
          <p:cNvSpPr/>
          <p:nvPr/>
        </p:nvSpPr>
        <p:spPr>
          <a:xfrm>
            <a:off x="8979408" y="24231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coffee</a:t>
            </a:r>
            <a:endParaRPr lang="en-US" sz="2200" dirty="0"/>
          </a:p>
        </p:txBody>
      </p:sp>
      <p:sp>
        <p:nvSpPr>
          <p:cNvPr id="94" name="Tag 7"/>
          <p:cNvSpPr/>
          <p:nvPr/>
        </p:nvSpPr>
        <p:spPr>
          <a:xfrm>
            <a:off x="10607040" y="25146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  <p:sp>
        <p:nvSpPr>
          <p:cNvPr id="95" name="Row shadow"/>
          <p:cNvSpPr/>
          <p:nvPr/>
        </p:nvSpPr>
        <p:spPr>
          <a:xfrm>
            <a:off x="8924544" y="33924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6" name="Row"/>
          <p:cNvSpPr/>
          <p:nvPr/>
        </p:nvSpPr>
        <p:spPr>
          <a:xfrm>
            <a:off x="8869680" y="33375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97" name="Item"/>
          <p:cNvSpPr/>
          <p:nvPr/>
        </p:nvSpPr>
        <p:spPr>
          <a:xfrm>
            <a:off x="8979408" y="33375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eggs</a:t>
            </a:r>
            <a:endParaRPr lang="en-US" sz="2200" dirty="0"/>
          </a:p>
        </p:txBody>
      </p:sp>
      <p:sp>
        <p:nvSpPr>
          <p:cNvPr id="98" name="Tag 8"/>
          <p:cNvSpPr/>
          <p:nvPr/>
        </p:nvSpPr>
        <p:spPr>
          <a:xfrm>
            <a:off x="10607040" y="34290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B42318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99" name="Row shadow"/>
          <p:cNvSpPr/>
          <p:nvPr/>
        </p:nvSpPr>
        <p:spPr>
          <a:xfrm>
            <a:off x="8924544" y="43068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00" name="Row"/>
          <p:cNvSpPr/>
          <p:nvPr/>
        </p:nvSpPr>
        <p:spPr>
          <a:xfrm>
            <a:off x="8869680" y="42519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01" name="Item"/>
          <p:cNvSpPr/>
          <p:nvPr/>
        </p:nvSpPr>
        <p:spPr>
          <a:xfrm>
            <a:off x="8979408" y="42519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cheese</a:t>
            </a:r>
            <a:endParaRPr lang="en-US" sz="2200" dirty="0"/>
          </a:p>
        </p:txBody>
      </p:sp>
      <p:sp>
        <p:nvSpPr>
          <p:cNvPr id="102" name="Tag 9"/>
          <p:cNvSpPr/>
          <p:nvPr/>
        </p:nvSpPr>
        <p:spPr>
          <a:xfrm>
            <a:off x="10607040" y="43434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B42318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</a:t>
            </a:r>
            <a:endParaRPr lang="en-US" sz="2000" dirty="0"/>
          </a:p>
        </p:txBody>
      </p:sp>
      <p:sp>
        <p:nvSpPr>
          <p:cNvPr id="103" name="Row shadow"/>
          <p:cNvSpPr/>
          <p:nvPr/>
        </p:nvSpPr>
        <p:spPr>
          <a:xfrm>
            <a:off x="8924544" y="5221224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8FAFE3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04" name="Row"/>
          <p:cNvSpPr/>
          <p:nvPr/>
        </p:nvSpPr>
        <p:spPr>
          <a:xfrm>
            <a:off x="8869680" y="5166360"/>
            <a:ext cx="2880360" cy="6583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05" name="Item"/>
          <p:cNvSpPr/>
          <p:nvPr/>
        </p:nvSpPr>
        <p:spPr>
          <a:xfrm>
            <a:off x="8979408" y="5166360"/>
            <a:ext cx="1600200" cy="6583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milk</a:t>
            </a:r>
            <a:endParaRPr lang="en-US" sz="2200" dirty="0"/>
          </a:p>
        </p:txBody>
      </p:sp>
      <p:sp>
        <p:nvSpPr>
          <p:cNvPr id="106" name="Tag 10"/>
          <p:cNvSpPr/>
          <p:nvPr/>
        </p:nvSpPr>
        <p:spPr>
          <a:xfrm>
            <a:off x="10607040" y="5257800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F1F5FB"/>
          </a:solidFill>
          <a:ln w="31750">
            <a:solidFill>
              <a:srgbClr val="1E6B45"/>
            </a:solidFill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2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10865815" y="269565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10924304" y="268655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 rot="900000">
            <a:off x="11125766" y="289906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67" name="Statement 1"/>
          <p:cNvSpPr/>
          <p:nvPr/>
        </p:nvSpPr>
        <p:spPr>
          <a:xfrm>
            <a:off x="502920" y="2834640"/>
            <a:ext cx="4480560" cy="603504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Ana orders ...</a:t>
            </a:r>
            <a:endParaRPr lang="en-US" sz="2200" dirty="0"/>
          </a:p>
        </p:txBody>
      </p:sp>
      <p:sp>
        <p:nvSpPr>
          <p:cNvPr id="68" name="Option 11"/>
          <p:cNvSpPr/>
          <p:nvPr/>
        </p:nvSpPr>
        <p:spPr>
          <a:xfrm>
            <a:off x="5166360" y="2871216"/>
            <a:ext cx="2141359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chicken soup</a:t>
            </a:r>
            <a:endParaRPr lang="en-US" sz="2000" dirty="0"/>
          </a:p>
        </p:txBody>
      </p:sp>
      <p:sp>
        <p:nvSpPr>
          <p:cNvPr id="69" name="Option 12"/>
          <p:cNvSpPr/>
          <p:nvPr/>
        </p:nvSpPr>
        <p:spPr>
          <a:xfrm>
            <a:off x="7536319" y="287121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fish</a:t>
            </a:r>
            <a:endParaRPr lang="en-US" sz="2000" dirty="0"/>
          </a:p>
        </p:txBody>
      </p:sp>
      <p:sp>
        <p:nvSpPr>
          <p:cNvPr id="70" name="Option 13"/>
          <p:cNvSpPr/>
          <p:nvPr/>
        </p:nvSpPr>
        <p:spPr>
          <a:xfrm>
            <a:off x="9136519" y="2871216"/>
            <a:ext cx="1401526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salad</a:t>
            </a:r>
            <a:endParaRPr lang="en-US" sz="2000" dirty="0"/>
          </a:p>
        </p:txBody>
      </p:sp>
      <p:sp>
        <p:nvSpPr>
          <p:cNvPr id="71" name="Circle 1"/>
          <p:cNvSpPr/>
          <p:nvPr/>
        </p:nvSpPr>
        <p:spPr>
          <a:xfrm>
            <a:off x="5038344" y="2807208"/>
            <a:ext cx="2397391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Statement 2"/>
          <p:cNvSpPr/>
          <p:nvPr/>
        </p:nvSpPr>
        <p:spPr>
          <a:xfrm>
            <a:off x="502920" y="3566160"/>
            <a:ext cx="4480560" cy="603504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They don't have any ...</a:t>
            </a:r>
            <a:endParaRPr lang="en-US" sz="2200" dirty="0"/>
          </a:p>
        </p:txBody>
      </p:sp>
      <p:sp>
        <p:nvSpPr>
          <p:cNvPr id="73" name="Option 21"/>
          <p:cNvSpPr/>
          <p:nvPr/>
        </p:nvSpPr>
        <p:spPr>
          <a:xfrm>
            <a:off x="5166360" y="3602736"/>
            <a:ext cx="2141359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chicken</a:t>
            </a:r>
            <a:endParaRPr lang="en-US" sz="2000" dirty="0"/>
          </a:p>
        </p:txBody>
      </p:sp>
      <p:sp>
        <p:nvSpPr>
          <p:cNvPr id="74" name="Option 22"/>
          <p:cNvSpPr/>
          <p:nvPr/>
        </p:nvSpPr>
        <p:spPr>
          <a:xfrm>
            <a:off x="7536319" y="360273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fish</a:t>
            </a:r>
            <a:endParaRPr lang="en-US" sz="2000" dirty="0"/>
          </a:p>
        </p:txBody>
      </p:sp>
      <p:sp>
        <p:nvSpPr>
          <p:cNvPr id="75" name="Option 23"/>
          <p:cNvSpPr/>
          <p:nvPr/>
        </p:nvSpPr>
        <p:spPr>
          <a:xfrm>
            <a:off x="9136519" y="3602736"/>
            <a:ext cx="1401526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bread</a:t>
            </a:r>
            <a:endParaRPr lang="en-US" sz="2000" dirty="0"/>
          </a:p>
        </p:txBody>
      </p:sp>
      <p:sp>
        <p:nvSpPr>
          <p:cNvPr id="76" name="Circle 2"/>
          <p:cNvSpPr/>
          <p:nvPr/>
        </p:nvSpPr>
        <p:spPr>
          <a:xfrm>
            <a:off x="7408303" y="3538728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7" name="Statement 3"/>
          <p:cNvSpPr/>
          <p:nvPr/>
        </p:nvSpPr>
        <p:spPr>
          <a:xfrm>
            <a:off x="502920" y="4297680"/>
            <a:ext cx="4480560" cy="603504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Ana wants water with ...</a:t>
            </a:r>
            <a:endParaRPr lang="en-US" sz="2200" dirty="0"/>
          </a:p>
        </p:txBody>
      </p:sp>
      <p:sp>
        <p:nvSpPr>
          <p:cNvPr id="78" name="Option 31"/>
          <p:cNvSpPr/>
          <p:nvPr/>
        </p:nvSpPr>
        <p:spPr>
          <a:xfrm>
            <a:off x="5166360" y="4334256"/>
            <a:ext cx="2141359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ice</a:t>
            </a:r>
            <a:endParaRPr lang="en-US" sz="2000" dirty="0"/>
          </a:p>
        </p:txBody>
      </p:sp>
      <p:sp>
        <p:nvSpPr>
          <p:cNvPr id="79" name="Option 32"/>
          <p:cNvSpPr/>
          <p:nvPr/>
        </p:nvSpPr>
        <p:spPr>
          <a:xfrm>
            <a:off x="7536319" y="433425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ice</a:t>
            </a:r>
            <a:endParaRPr lang="en-US" sz="2000" dirty="0"/>
          </a:p>
        </p:txBody>
      </p:sp>
      <p:sp>
        <p:nvSpPr>
          <p:cNvPr id="80" name="Option 33"/>
          <p:cNvSpPr/>
          <p:nvPr/>
        </p:nvSpPr>
        <p:spPr>
          <a:xfrm>
            <a:off x="9136519" y="4334256"/>
            <a:ext cx="1401526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lemon</a:t>
            </a:r>
            <a:endParaRPr lang="en-US" sz="2000" dirty="0"/>
          </a:p>
        </p:txBody>
      </p:sp>
      <p:sp>
        <p:nvSpPr>
          <p:cNvPr id="81" name="Circle 3"/>
          <p:cNvSpPr/>
          <p:nvPr/>
        </p:nvSpPr>
        <p:spPr>
          <a:xfrm>
            <a:off x="7408303" y="4270248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2" name="Statement 4"/>
          <p:cNvSpPr/>
          <p:nvPr/>
        </p:nvSpPr>
        <p:spPr>
          <a:xfrm>
            <a:off x="502920" y="5029200"/>
            <a:ext cx="4480560" cy="603504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Sam wants ... sugars.</a:t>
            </a:r>
            <a:endParaRPr lang="en-US" sz="2200" dirty="0"/>
          </a:p>
        </p:txBody>
      </p:sp>
      <p:sp>
        <p:nvSpPr>
          <p:cNvPr id="83" name="Option 41"/>
          <p:cNvSpPr/>
          <p:nvPr/>
        </p:nvSpPr>
        <p:spPr>
          <a:xfrm>
            <a:off x="5166360" y="5065776"/>
            <a:ext cx="2141359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one</a:t>
            </a:r>
            <a:endParaRPr lang="en-US" sz="2000" dirty="0"/>
          </a:p>
        </p:txBody>
      </p:sp>
      <p:sp>
        <p:nvSpPr>
          <p:cNvPr id="84" name="Option 42"/>
          <p:cNvSpPr/>
          <p:nvPr/>
        </p:nvSpPr>
        <p:spPr>
          <a:xfrm>
            <a:off x="7536319" y="506577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</a:t>
            </a:r>
            <a:endParaRPr lang="en-US" sz="2000" dirty="0"/>
          </a:p>
        </p:txBody>
      </p:sp>
      <p:sp>
        <p:nvSpPr>
          <p:cNvPr id="85" name="Option 43"/>
          <p:cNvSpPr/>
          <p:nvPr/>
        </p:nvSpPr>
        <p:spPr>
          <a:xfrm>
            <a:off x="9136519" y="5065776"/>
            <a:ext cx="1401526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three</a:t>
            </a:r>
            <a:endParaRPr lang="en-US" sz="2000" dirty="0"/>
          </a:p>
        </p:txBody>
      </p:sp>
      <p:sp>
        <p:nvSpPr>
          <p:cNvPr id="86" name="Circle 4"/>
          <p:cNvSpPr/>
          <p:nvPr/>
        </p:nvSpPr>
        <p:spPr>
          <a:xfrm>
            <a:off x="7408303" y="5001768"/>
            <a:ext cx="1627632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87" name="Statement 5"/>
          <p:cNvSpPr/>
          <p:nvPr/>
        </p:nvSpPr>
        <p:spPr>
          <a:xfrm>
            <a:off x="502920" y="5760720"/>
            <a:ext cx="4480560" cy="603504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5. The total is ...</a:t>
            </a:r>
            <a:endParaRPr lang="en-US" sz="2200" dirty="0"/>
          </a:p>
        </p:txBody>
      </p:sp>
      <p:sp>
        <p:nvSpPr>
          <p:cNvPr id="88" name="Option 51"/>
          <p:cNvSpPr/>
          <p:nvPr/>
        </p:nvSpPr>
        <p:spPr>
          <a:xfrm>
            <a:off x="5166360" y="5797296"/>
            <a:ext cx="2141359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$14.50</a:t>
            </a:r>
            <a:endParaRPr lang="en-US" sz="2000" dirty="0"/>
          </a:p>
        </p:txBody>
      </p:sp>
      <p:sp>
        <p:nvSpPr>
          <p:cNvPr id="89" name="Option 52"/>
          <p:cNvSpPr/>
          <p:nvPr/>
        </p:nvSpPr>
        <p:spPr>
          <a:xfrm>
            <a:off x="7536319" y="5797296"/>
            <a:ext cx="13716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$24.15</a:t>
            </a:r>
            <a:endParaRPr lang="en-US" sz="2000" dirty="0"/>
          </a:p>
        </p:txBody>
      </p:sp>
      <p:sp>
        <p:nvSpPr>
          <p:cNvPr id="90" name="Option 53"/>
          <p:cNvSpPr/>
          <p:nvPr/>
        </p:nvSpPr>
        <p:spPr>
          <a:xfrm>
            <a:off x="9136519" y="5797296"/>
            <a:ext cx="1401526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$24.50</a:t>
            </a:r>
            <a:endParaRPr lang="en-US" sz="2000" dirty="0"/>
          </a:p>
        </p:txBody>
      </p:sp>
      <p:sp>
        <p:nvSpPr>
          <p:cNvPr id="91" name="Circle 5"/>
          <p:cNvSpPr/>
          <p:nvPr/>
        </p:nvSpPr>
        <p:spPr>
          <a:xfrm>
            <a:off x="9008503" y="5733288"/>
            <a:ext cx="1657558" cy="658368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209306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83741" y="2035454"/>
            <a:ext cx="5130698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583741" y="3127248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583741" y="3977640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583741" y="4828032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583741" y="5678424"/>
            <a:ext cx="5130698" cy="777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10512" y="2103120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901952" y="2505456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810512" y="3127248"/>
            <a:ext cx="307787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the chicken soup.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810512" y="3977640"/>
            <a:ext cx="364845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we don't have ____ fish today.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10512" y="4828032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____ ____ have a chicken sandwich?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810512" y="5678424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we have the ____, please?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4982" y="2035454"/>
            <a:ext cx="1039673" cy="983894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86714" y="2166214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</a:t>
            </a:r>
            <a:endParaRPr lang="en-US" sz="3600" dirty="0"/>
          </a:p>
        </p:txBody>
      </p:sp>
      <p:sp>
        <p:nvSpPr>
          <p:cNvPr id="21" name="Shape 19"/>
          <p:cNvSpPr/>
          <p:nvPr/>
        </p:nvSpPr>
        <p:spPr>
          <a:xfrm>
            <a:off x="544982" y="3127248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6714" y="3127248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3200" dirty="0"/>
          </a:p>
        </p:txBody>
      </p:sp>
      <p:sp>
        <p:nvSpPr>
          <p:cNvPr id="23" name="Shape 21"/>
          <p:cNvSpPr/>
          <p:nvPr/>
        </p:nvSpPr>
        <p:spPr>
          <a:xfrm>
            <a:off x="544982" y="3977640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6714" y="3977640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544982" y="4828032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86714" y="4828032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3200" dirty="0"/>
          </a:p>
        </p:txBody>
      </p:sp>
      <p:sp>
        <p:nvSpPr>
          <p:cNvPr id="27" name="Shape 25"/>
          <p:cNvSpPr/>
          <p:nvPr/>
        </p:nvSpPr>
        <p:spPr>
          <a:xfrm>
            <a:off x="544982" y="5678424"/>
            <a:ext cx="1039673" cy="77724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86714" y="5678424"/>
            <a:ext cx="110916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</a:t>
            </a:r>
            <a:endParaRPr lang="en-US" sz="3200" dirty="0"/>
          </a:p>
        </p:txBody>
      </p:sp>
      <p:sp>
        <p:nvSpPr>
          <p:cNvPr id="29" name="Text 27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= I want.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is more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polite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184087" y="180411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242576" y="179501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 rot="900000">
            <a:off x="6444038" y="200752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42" name="Answer 1"/>
          <p:cNvSpPr/>
          <p:nvPr/>
        </p:nvSpPr>
        <p:spPr>
          <a:xfrm>
            <a:off x="4961534" y="3278124"/>
            <a:ext cx="162214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</a:t>
            </a:r>
            <a:endParaRPr lang="en-US" sz="2200" dirty="0"/>
          </a:p>
        </p:txBody>
      </p:sp>
      <p:sp>
        <p:nvSpPr>
          <p:cNvPr id="43" name="Answer 2"/>
          <p:cNvSpPr/>
          <p:nvPr/>
        </p:nvSpPr>
        <p:spPr>
          <a:xfrm>
            <a:off x="5532120" y="4128516"/>
            <a:ext cx="1051560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</a:t>
            </a:r>
            <a:endParaRPr lang="en-US" sz="2200" dirty="0"/>
          </a:p>
        </p:txBody>
      </p:sp>
      <p:sp>
        <p:nvSpPr>
          <p:cNvPr id="44" name="Answer 3"/>
          <p:cNvSpPr/>
          <p:nvPr/>
        </p:nvSpPr>
        <p:spPr>
          <a:xfrm>
            <a:off x="5449824" y="4978908"/>
            <a:ext cx="113385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</a:t>
            </a:r>
            <a:endParaRPr lang="en-US" sz="2200" dirty="0"/>
          </a:p>
        </p:txBody>
      </p:sp>
      <p:sp>
        <p:nvSpPr>
          <p:cNvPr id="45" name="Answer 4"/>
          <p:cNvSpPr/>
          <p:nvPr/>
        </p:nvSpPr>
        <p:spPr>
          <a:xfrm>
            <a:off x="5449824" y="5829300"/>
            <a:ext cx="1133856" cy="47548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36576" tIns="36576" rIns="36576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42786" y="3649370"/>
            <a:ext cx="4912157" cy="256123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0116" y="1350752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93446" y="1286561"/>
            <a:ext cx="5663794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32104" y="1371600"/>
            <a:ext cx="525780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 · Ordering</a:t>
            </a:r>
            <a:endParaRPr lang="en-US" sz="20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...</a:t>
            </a:r>
            <a:endParaRPr lang="en-US" sz="3200" dirty="0"/>
          </a:p>
          <a:p>
            <a:pPr algn="l" indent="0" marL="0">
              <a:buNone/>
            </a:pPr>
            <a:r>
              <a:rPr lang="en-US" sz="3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 have ...?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1305763" y="3649370"/>
            <a:ext cx="4790542" cy="2599639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2540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41578" y="3253435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3874" y="3240634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1107338" y="3539642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2" name="Picture 42" descr="L9_sandwich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598664" y="1216152"/>
            <a:ext cx="3254350" cy="2278045"/>
          </a:xfrm>
          <a:prstGeom prst="rect">
            <a:avLst/>
          </a:prstGeom>
        </p:spPr>
      </p:pic>
      <p:sp>
        <p:nvSpPr>
          <p:cNvPr id="43" name="Q head"/>
          <p:cNvSpPr/>
          <p:nvPr/>
        </p:nvSpPr>
        <p:spPr>
          <a:xfrm>
            <a:off x="1920240" y="3794760"/>
            <a:ext cx="40233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SAY</a:t>
            </a:r>
            <a:endParaRPr lang="en-US" sz="2000" dirty="0"/>
          </a:p>
        </p:txBody>
      </p:sp>
      <p:sp>
        <p:nvSpPr>
          <p:cNvPr id="44" name="A head"/>
          <p:cNvSpPr/>
          <p:nvPr/>
        </p:nvSpPr>
        <p:spPr>
          <a:xfrm>
            <a:off x="7040880" y="3794760"/>
            <a:ext cx="448056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SERVER SAYS</a:t>
            </a:r>
            <a:endParaRPr lang="en-US" sz="2000" dirty="0"/>
          </a:p>
        </p:txBody>
      </p:sp>
      <p:sp>
        <p:nvSpPr>
          <p:cNvPr id="45" name="Highlight"/>
          <p:cNvSpPr/>
          <p:nvPr/>
        </p:nvSpPr>
        <p:spPr>
          <a:xfrm>
            <a:off x="1481328" y="4453128"/>
            <a:ext cx="4242816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Question"/>
          <p:cNvSpPr/>
          <p:nvPr/>
        </p:nvSpPr>
        <p:spPr>
          <a:xfrm>
            <a:off x="1481328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soup, please.</a:t>
            </a:r>
            <a:endParaRPr lang="en-US" sz="2200" dirty="0"/>
          </a:p>
        </p:txBody>
      </p:sp>
      <p:sp>
        <p:nvSpPr>
          <p:cNvPr id="48" name="Answer bg"/>
          <p:cNvSpPr/>
          <p:nvPr/>
        </p:nvSpPr>
        <p:spPr>
          <a:xfrm>
            <a:off x="6949440" y="43342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7" name="Answer"/>
          <p:cNvSpPr/>
          <p:nvPr/>
        </p:nvSpPr>
        <p:spPr>
          <a:xfrm>
            <a:off x="6949440" y="43159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 to drink?</a:t>
            </a:r>
            <a:endParaRPr lang="en-US" sz="2200" dirty="0"/>
          </a:p>
        </p:txBody>
      </p:sp>
      <p:sp>
        <p:nvSpPr>
          <p:cNvPr id="49" name="Highlight"/>
          <p:cNvSpPr/>
          <p:nvPr/>
        </p:nvSpPr>
        <p:spPr>
          <a:xfrm>
            <a:off x="1481328" y="5367528"/>
            <a:ext cx="3639312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0" name="Question"/>
          <p:cNvSpPr/>
          <p:nvPr/>
        </p:nvSpPr>
        <p:spPr>
          <a:xfrm>
            <a:off x="1481328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 have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some water?</a:t>
            </a:r>
            <a:endParaRPr lang="en-US" sz="2200" dirty="0"/>
          </a:p>
        </p:txBody>
      </p:sp>
      <p:sp>
        <p:nvSpPr>
          <p:cNvPr id="52" name="Answer bg"/>
          <p:cNvSpPr/>
          <p:nvPr/>
        </p:nvSpPr>
        <p:spPr>
          <a:xfrm>
            <a:off x="6949440" y="5248656"/>
            <a:ext cx="4526280" cy="7863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Answer"/>
          <p:cNvSpPr/>
          <p:nvPr/>
        </p:nvSpPr>
        <p:spPr>
          <a:xfrm>
            <a:off x="6949440" y="5230368"/>
            <a:ext cx="4526280" cy="82296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Of course.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Anything else?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6429" y="1163345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1087222"/>
            <a:ext cx="5814670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333695" y="128016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 any ...?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16636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741664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245852" y="247893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328148" y="2466137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900000">
            <a:off x="10611612" y="2765146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44" name="Picture 44" descr="L9_bread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99516" y="2264969"/>
            <a:ext cx="3326587" cy="2328611"/>
          </a:xfrm>
          <a:prstGeom prst="rect">
            <a:avLst/>
          </a:prstGeom>
        </p:spPr>
      </p:pic>
      <p:sp>
        <p:nvSpPr>
          <p:cNvPr id="45" name="Highlight"/>
          <p:cNvSpPr/>
          <p:nvPr/>
        </p:nvSpPr>
        <p:spPr>
          <a:xfrm>
            <a:off x="5138928" y="38999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6" name="Helper"/>
          <p:cNvSpPr/>
          <p:nvPr/>
        </p:nvSpPr>
        <p:spPr>
          <a:xfrm>
            <a:off x="5138928" y="37490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</a:t>
            </a:r>
            <a:endParaRPr lang="en-US" sz="2600" dirty="0"/>
          </a:p>
        </p:txBody>
      </p:sp>
      <p:sp>
        <p:nvSpPr>
          <p:cNvPr id="47" name="Question"/>
          <p:cNvSpPr/>
          <p:nvPr/>
        </p:nvSpPr>
        <p:spPr>
          <a:xfrm>
            <a:off x="6144768" y="37490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fish?</a:t>
            </a:r>
            <a:endParaRPr lang="en-US" sz="2200" dirty="0"/>
          </a:p>
        </p:txBody>
      </p:sp>
      <p:sp>
        <p:nvSpPr>
          <p:cNvPr id="49" name="Answer bg"/>
          <p:cNvSpPr/>
          <p:nvPr/>
        </p:nvSpPr>
        <p:spPr>
          <a:xfrm>
            <a:off x="8668512" y="37490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48" name="Answer"/>
          <p:cNvSpPr/>
          <p:nvPr/>
        </p:nvSpPr>
        <p:spPr>
          <a:xfrm>
            <a:off x="8668512" y="37490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we don't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have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today.</a:t>
            </a:r>
            <a:endParaRPr lang="en-US" sz="2200" dirty="0"/>
          </a:p>
        </p:txBody>
      </p:sp>
      <p:sp>
        <p:nvSpPr>
          <p:cNvPr id="50" name="Highlight"/>
          <p:cNvSpPr/>
          <p:nvPr/>
        </p:nvSpPr>
        <p:spPr>
          <a:xfrm>
            <a:off x="5138928" y="48143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1" name="Helper"/>
          <p:cNvSpPr/>
          <p:nvPr/>
        </p:nvSpPr>
        <p:spPr>
          <a:xfrm>
            <a:off x="5138928" y="46634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</a:t>
            </a:r>
            <a:endParaRPr lang="en-US" sz="2600" dirty="0"/>
          </a:p>
        </p:txBody>
      </p:sp>
      <p:sp>
        <p:nvSpPr>
          <p:cNvPr id="52" name="Question"/>
          <p:cNvSpPr/>
          <p:nvPr/>
        </p:nvSpPr>
        <p:spPr>
          <a:xfrm>
            <a:off x="6144768" y="46634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bread?</a:t>
            </a:r>
            <a:endParaRPr lang="en-US" sz="2200" dirty="0"/>
          </a:p>
        </p:txBody>
      </p:sp>
      <p:sp>
        <p:nvSpPr>
          <p:cNvPr id="54" name="Answer bg"/>
          <p:cNvSpPr/>
          <p:nvPr/>
        </p:nvSpPr>
        <p:spPr>
          <a:xfrm>
            <a:off x="8668512" y="46634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3" name="Answer"/>
          <p:cNvSpPr/>
          <p:nvPr/>
        </p:nvSpPr>
        <p:spPr>
          <a:xfrm>
            <a:off x="8668512" y="46634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we have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55" name="Highlight"/>
          <p:cNvSpPr/>
          <p:nvPr/>
        </p:nvSpPr>
        <p:spPr>
          <a:xfrm>
            <a:off x="5138928" y="5728716"/>
            <a:ext cx="960120" cy="566928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6" name="Helper"/>
          <p:cNvSpPr/>
          <p:nvPr/>
        </p:nvSpPr>
        <p:spPr>
          <a:xfrm>
            <a:off x="5138928" y="5577840"/>
            <a:ext cx="9601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18288" tIns="36576" rIns="18288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</a:t>
            </a:r>
            <a:endParaRPr lang="en-US" sz="2600" dirty="0"/>
          </a:p>
        </p:txBody>
      </p:sp>
      <p:sp>
        <p:nvSpPr>
          <p:cNvPr id="57" name="Question"/>
          <p:cNvSpPr/>
          <p:nvPr/>
        </p:nvSpPr>
        <p:spPr>
          <a:xfrm>
            <a:off x="6144768" y="5577840"/>
            <a:ext cx="2487168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milk?</a:t>
            </a:r>
            <a:endParaRPr lang="en-US" sz="2200" dirty="0"/>
          </a:p>
        </p:txBody>
      </p:sp>
      <p:sp>
        <p:nvSpPr>
          <p:cNvPr id="59" name="Answer bg"/>
          <p:cNvSpPr/>
          <p:nvPr/>
        </p:nvSpPr>
        <p:spPr>
          <a:xfrm>
            <a:off x="8668512" y="5577840"/>
            <a:ext cx="3017520" cy="86868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58" name="Answer"/>
          <p:cNvSpPr/>
          <p:nvPr/>
        </p:nvSpPr>
        <p:spPr>
          <a:xfrm>
            <a:off x="8668512" y="5577840"/>
            <a:ext cx="301752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we have </a:t>
            </a: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many?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much?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Count it?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endParaRPr lang="en-US" sz="2000" dirty="0"/>
          </a:p>
        </p:txBody>
      </p:sp>
      <p:pic>
        <p:nvPicPr>
          <p:cNvPr id="65" name="Picture 65" descr="L9_eggs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66" name="Wh"/>
          <p:cNvSpPr/>
          <p:nvPr/>
        </p:nvSpPr>
        <p:spPr>
          <a:xfrm>
            <a:off x="3520440" y="4114800"/>
            <a:ext cx="74957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</a:t>
            </a:r>
            <a:endParaRPr lang="en-US" sz="2200" dirty="0"/>
          </a:p>
        </p:txBody>
      </p:sp>
      <p:sp>
        <p:nvSpPr>
          <p:cNvPr id="67" name="Highlight"/>
          <p:cNvSpPr/>
          <p:nvPr/>
        </p:nvSpPr>
        <p:spPr>
          <a:xfrm>
            <a:off x="4270019" y="4114800"/>
            <a:ext cx="96853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68" name="Helper"/>
          <p:cNvSpPr/>
          <p:nvPr/>
        </p:nvSpPr>
        <p:spPr>
          <a:xfrm>
            <a:off x="4270019" y="4114800"/>
            <a:ext cx="96853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endParaRPr lang="en-US" sz="2200" dirty="0"/>
          </a:p>
        </p:txBody>
      </p:sp>
      <p:sp>
        <p:nvSpPr>
          <p:cNvPr id="69" name="Rest"/>
          <p:cNvSpPr/>
          <p:nvPr/>
        </p:nvSpPr>
        <p:spPr>
          <a:xfrm>
            <a:off x="5293416" y="4114800"/>
            <a:ext cx="9372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eggs?</a:t>
            </a:r>
            <a:endParaRPr lang="en-US" sz="2200" dirty="0"/>
          </a:p>
        </p:txBody>
      </p:sp>
      <p:sp>
        <p:nvSpPr>
          <p:cNvPr id="70" name="Wh"/>
          <p:cNvSpPr/>
          <p:nvPr/>
        </p:nvSpPr>
        <p:spPr>
          <a:xfrm>
            <a:off x="3520440" y="4846320"/>
            <a:ext cx="74957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</a:t>
            </a:r>
            <a:endParaRPr lang="en-US" sz="2200" dirty="0"/>
          </a:p>
        </p:txBody>
      </p:sp>
      <p:sp>
        <p:nvSpPr>
          <p:cNvPr id="71" name="Highlight"/>
          <p:cNvSpPr/>
          <p:nvPr/>
        </p:nvSpPr>
        <p:spPr>
          <a:xfrm>
            <a:off x="4270019" y="4846320"/>
            <a:ext cx="96853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2" name="Helper"/>
          <p:cNvSpPr/>
          <p:nvPr/>
        </p:nvSpPr>
        <p:spPr>
          <a:xfrm>
            <a:off x="4270019" y="4846320"/>
            <a:ext cx="96853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2200" dirty="0"/>
          </a:p>
        </p:txBody>
      </p:sp>
      <p:sp>
        <p:nvSpPr>
          <p:cNvPr id="73" name="Rest"/>
          <p:cNvSpPr/>
          <p:nvPr/>
        </p:nvSpPr>
        <p:spPr>
          <a:xfrm>
            <a:off x="5293416" y="4846320"/>
            <a:ext cx="93726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rice?</a:t>
            </a:r>
            <a:endParaRPr lang="en-US" sz="2200" dirty="0"/>
          </a:p>
        </p:txBody>
      </p:sp>
      <p:sp>
        <p:nvSpPr>
          <p:cNvPr id="74" name="Wh"/>
          <p:cNvSpPr/>
          <p:nvPr/>
        </p:nvSpPr>
        <p:spPr>
          <a:xfrm>
            <a:off x="3520440" y="5577840"/>
            <a:ext cx="749579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</a:t>
            </a:r>
            <a:endParaRPr lang="en-US" sz="2200" dirty="0"/>
          </a:p>
        </p:txBody>
      </p:sp>
      <p:sp>
        <p:nvSpPr>
          <p:cNvPr id="75" name="Highlight"/>
          <p:cNvSpPr/>
          <p:nvPr/>
        </p:nvSpPr>
        <p:spPr>
          <a:xfrm>
            <a:off x="4270019" y="5577840"/>
            <a:ext cx="968532" cy="530352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76" name="Helper"/>
          <p:cNvSpPr/>
          <p:nvPr/>
        </p:nvSpPr>
        <p:spPr>
          <a:xfrm>
            <a:off x="4270019" y="5577840"/>
            <a:ext cx="96853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2200" dirty="0"/>
          </a:p>
        </p:txBody>
      </p:sp>
      <p:sp>
        <p:nvSpPr>
          <p:cNvPr id="77" name="Rest"/>
          <p:cNvSpPr/>
          <p:nvPr/>
        </p:nvSpPr>
        <p:spPr>
          <a:xfrm>
            <a:off x="5293416" y="5577840"/>
            <a:ext cx="108813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it?</a:t>
            </a:r>
            <a:endParaRPr lang="en-US" sz="2200" dirty="0"/>
          </a:p>
        </p:txBody>
      </p:sp>
      <p:sp>
        <p:nvSpPr>
          <p:cNvPr id="78" name="Card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</a:t>
            </a:r>
            <a:endParaRPr lang="en-US" sz="2400" dirty="0"/>
          </a:p>
        </p:txBody>
      </p:sp>
      <p:sp>
        <p:nvSpPr>
          <p:cNvPr id="79" name="Card item"/>
          <p:cNvSpPr/>
          <p:nvPr/>
        </p:nvSpPr>
        <p:spPr>
          <a:xfrm>
            <a:off x="8549640" y="1920240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Six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eggs.</a:t>
            </a:r>
            <a:endParaRPr lang="en-US" sz="2000" dirty="0"/>
          </a:p>
        </p:txBody>
      </p:sp>
      <p:sp>
        <p:nvSpPr>
          <p:cNvPr id="80" name="Card item"/>
          <p:cNvSpPr/>
          <p:nvPr/>
        </p:nvSpPr>
        <p:spPr>
          <a:xfrm>
            <a:off x="8549640" y="2404872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little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rice.</a:t>
            </a:r>
            <a:endParaRPr lang="en-US" sz="2000" dirty="0"/>
          </a:p>
        </p:txBody>
      </p:sp>
      <p:sp>
        <p:nvSpPr>
          <p:cNvPr id="81" name="Card item"/>
          <p:cNvSpPr/>
          <p:nvPr/>
        </p:nvSpPr>
        <p:spPr>
          <a:xfrm>
            <a:off x="8549640" y="2889504"/>
            <a:ext cx="3017520" cy="4572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$3.50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</p:txBody>
      </p:sp>
      <p:sp>
        <p:nvSpPr>
          <p:cNvPr id="82" name="Example"/>
          <p:cNvSpPr/>
          <p:nvPr/>
        </p:nvSpPr>
        <p:spPr>
          <a:xfrm>
            <a:off x="8549640" y="5394960"/>
            <a:ext cx="301752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Money: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much?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75600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9_milk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many milk?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milk?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6268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many money?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6268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money?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230368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want a coffee.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230368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coffee, please.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26273" y="1165860"/>
            <a:ext cx="4132174" cy="3429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3621024"/>
            <a:ext cx="354330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3629254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1251082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1186891"/>
            <a:ext cx="7295083" cy="156636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3429000"/>
            <a:ext cx="3610966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3429000"/>
            <a:ext cx="5860390" cy="2999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08076" y="15544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Fix These Mistakes</a:t>
            </a:r>
            <a:endParaRPr lang="en-US" sz="4300" dirty="0"/>
          </a:p>
        </p:txBody>
      </p:sp>
      <p:sp>
        <p:nvSpPr>
          <p:cNvPr id="18" name="Shape 16"/>
          <p:cNvSpPr/>
          <p:nvPr/>
        </p:nvSpPr>
        <p:spPr>
          <a:xfrm>
            <a:off x="9562795" y="3112618"/>
            <a:ext cx="1024128" cy="967435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645091" y="3099816"/>
            <a:ext cx="1042416" cy="1042416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 rot="900000">
            <a:off x="9928555" y="3398825"/>
            <a:ext cx="445313" cy="445313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7" name="Picture 37" descr="L9_rice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8915400" y="1280160"/>
            <a:ext cx="2551176" cy="1785823"/>
          </a:xfrm>
          <a:prstGeom prst="rect">
            <a:avLst/>
          </a:prstGeom>
        </p:spPr>
      </p:pic>
      <p:sp>
        <p:nvSpPr>
          <p:cNvPr id="38" name="Dont head"/>
          <p:cNvSpPr/>
          <p:nvPr/>
        </p:nvSpPr>
        <p:spPr>
          <a:xfrm>
            <a:off x="914400" y="3520440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39" name="Say head"/>
          <p:cNvSpPr/>
          <p:nvPr/>
        </p:nvSpPr>
        <p:spPr>
          <a:xfrm>
            <a:off x="4800600" y="3520440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40" name="Bad"/>
          <p:cNvSpPr/>
          <p:nvPr/>
        </p:nvSpPr>
        <p:spPr>
          <a:xfrm>
            <a:off x="914400" y="4023360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 some fish?</a:t>
            </a:r>
            <a:endParaRPr lang="en-US" sz="2200" dirty="0"/>
          </a:p>
        </p:txBody>
      </p:sp>
      <p:sp>
        <p:nvSpPr>
          <p:cNvPr id="41" name="Good"/>
          <p:cNvSpPr/>
          <p:nvPr/>
        </p:nvSpPr>
        <p:spPr>
          <a:xfrm>
            <a:off x="4800600" y="4023360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fish?</a:t>
            </a:r>
            <a:endParaRPr lang="en-US" sz="2200" dirty="0"/>
          </a:p>
        </p:txBody>
      </p:sp>
      <p:sp>
        <p:nvSpPr>
          <p:cNvPr id="42" name="Bad"/>
          <p:cNvSpPr/>
          <p:nvPr/>
        </p:nvSpPr>
        <p:spPr>
          <a:xfrm>
            <a:off x="914400" y="4855464"/>
            <a:ext cx="32461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need two breads.</a:t>
            </a:r>
            <a:endParaRPr lang="en-US" sz="2200" dirty="0"/>
          </a:p>
        </p:txBody>
      </p:sp>
      <p:sp>
        <p:nvSpPr>
          <p:cNvPr id="43" name="Good"/>
          <p:cNvSpPr/>
          <p:nvPr/>
        </p:nvSpPr>
        <p:spPr>
          <a:xfrm>
            <a:off x="4800600" y="4855464"/>
            <a:ext cx="5303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need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some bread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200" dirty="0"/>
          </a:p>
        </p:txBody>
      </p:sp>
      <p:sp>
        <p:nvSpPr>
          <p:cNvPr id="44" name="Bad"/>
          <p:cNvSpPr/>
          <p:nvPr/>
        </p:nvSpPr>
        <p:spPr>
          <a:xfrm>
            <a:off x="914400" y="5458968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don't have some eggs.</a:t>
            </a:r>
            <a:endParaRPr lang="en-US" sz="2200" dirty="0"/>
          </a:p>
        </p:txBody>
      </p:sp>
      <p:sp>
        <p:nvSpPr>
          <p:cNvPr id="45" name="Good"/>
          <p:cNvSpPr/>
          <p:nvPr/>
        </p:nvSpPr>
        <p:spPr>
          <a:xfrm>
            <a:off x="4800600" y="5458968"/>
            <a:ext cx="53035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don't have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</a:t>
            </a: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eggs.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Quick Check</a:t>
            </a:r>
            <a:endParaRPr lang="en-US" sz="430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much, many, or any?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9601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___ eggs?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46177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___ milk?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8275320" y="3429000"/>
            <a:ext cx="27889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have ___ bread?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10972800" y="5120640"/>
            <a:ext cx="777240" cy="734214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1035257" y="5110925"/>
            <a:ext cx="791119" cy="791119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 rot="900000">
            <a:off x="11250386" y="5337851"/>
            <a:ext cx="337961" cy="337961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31" name="Answer"/>
          <p:cNvSpPr/>
          <p:nvPr/>
        </p:nvSpPr>
        <p:spPr>
          <a:xfrm>
            <a:off x="9601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endParaRPr lang="en-US" sz="2600" dirty="0"/>
          </a:p>
        </p:txBody>
      </p:sp>
      <p:sp>
        <p:nvSpPr>
          <p:cNvPr id="32" name="Answer"/>
          <p:cNvSpPr/>
          <p:nvPr/>
        </p:nvSpPr>
        <p:spPr>
          <a:xfrm>
            <a:off x="46177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2600" dirty="0"/>
          </a:p>
        </p:txBody>
      </p:sp>
      <p:sp>
        <p:nvSpPr>
          <p:cNvPr id="33" name="Answer"/>
          <p:cNvSpPr/>
          <p:nvPr/>
        </p:nvSpPr>
        <p:spPr>
          <a:xfrm>
            <a:off x="8275320" y="4709160"/>
            <a:ext cx="173736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45720" tIns="36576" rIns="4572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any</a:t>
            </a:r>
            <a:endParaRPr lang="en-US" sz="2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" y="1360627"/>
            <a:ext cx="3045866" cy="4995367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82058" y="4619549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08906" y="4572000"/>
            <a:ext cx="4033418" cy="1492301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395201" y="1473464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437583" y="1419149"/>
            <a:ext cx="7210044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800600" y="1481328"/>
            <a:ext cx="6583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Count or no count?</a:t>
            </a:r>
            <a:endParaRPr lang="en-US" sz="2000" dirty="0"/>
          </a:p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 or Much?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713732" y="3063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Count: How many?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713732" y="361188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egg, six egg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apple, two apple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3732" y="46634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 count: How much?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713732" y="519379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rice, milk, water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bread, cheese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052560" y="31089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many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9052560" y="470916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much</a:t>
            </a:r>
            <a:endParaRPr lang="en-US" sz="6000" dirty="0"/>
          </a:p>
        </p:txBody>
      </p:sp>
      <p:pic>
        <p:nvPicPr>
          <p:cNvPr id="23" name="Picture 23" descr="L9_apples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649224" y="2871216"/>
            <a:ext cx="2825496" cy="197784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Restaurant Role Play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291072" y="17830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the menu card. Say the total.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9033358" y="1986991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091847" y="1977893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 rot="900000">
            <a:off x="9293308" y="2190403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2" name="Picture 32" descr="L9_the_check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22376" y="3418942"/>
            <a:ext cx="3882542" cy="2717780"/>
          </a:xfrm>
          <a:prstGeom prst="rect">
            <a:avLst/>
          </a:prstGeom>
        </p:spPr>
      </p:pic>
      <p:sp>
        <p:nvSpPr>
          <p:cNvPr id="33" name="Step num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34" name="Step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 server + 2 customers</a:t>
            </a:r>
            <a:endParaRPr lang="en-US" sz="2000" dirty="0"/>
          </a:p>
        </p:txBody>
      </p:sp>
      <p:sp>
        <p:nvSpPr>
          <p:cNvPr id="35" name="Step num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36" name="Step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Ready to order?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 the soup, please.</a:t>
            </a:r>
            <a:endParaRPr lang="en-US" sz="2000" dirty="0"/>
          </a:p>
        </p:txBody>
      </p:sp>
      <p:sp>
        <p:nvSpPr>
          <p:cNvPr id="37" name="Step num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38" name="Step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 every 3 minutes.</a:t>
            </a:r>
            <a:endParaRPr lang="en-US" sz="22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Sorry, we don't have any ___.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343400" y="210312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9907524" y="2565806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966013" y="2556708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 rot="900000">
            <a:off x="10167475" y="2769218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pic>
        <p:nvPicPr>
          <p:cNvPr id="30" name="Picture 30" descr="L9_coffee.png"/>
          <p:cNvPicPr>
            <a:picLocks noChangeAspect="1"/>
          </p:cNvPicPr>
          <p:nvPr/>
        </p:nvPicPr>
        <p:blipFill>
          <a:blip r:embed="rIdQ1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31" name="Num 01"/>
          <p:cNvSpPr/>
          <p:nvPr/>
        </p:nvSpPr>
        <p:spPr>
          <a:xfrm>
            <a:off x="43434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32" name="Label 01"/>
          <p:cNvSpPr/>
          <p:nvPr/>
        </p:nvSpPr>
        <p:spPr>
          <a:xfrm>
            <a:off x="51206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/>
          </a:p>
        </p:txBody>
      </p:sp>
      <p:sp>
        <p:nvSpPr>
          <p:cNvPr id="33" name="Body 01"/>
          <p:cNvSpPr/>
          <p:nvPr/>
        </p:nvSpPr>
        <p:spPr>
          <a:xfrm>
            <a:off x="43434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order: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I'd like… or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I have…?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one question: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much / many…?</a:t>
            </a:r>
            <a:endParaRPr lang="en-US" sz="2000" dirty="0"/>
          </a:p>
        </p:txBody>
      </p:sp>
      <p:sp>
        <p:nvSpPr>
          <p:cNvPr id="34" name="Num 02"/>
          <p:cNvSpPr/>
          <p:nvPr/>
        </p:nvSpPr>
        <p:spPr>
          <a:xfrm>
            <a:off x="8001000" y="333756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35" name="Label 02"/>
          <p:cNvSpPr/>
          <p:nvPr/>
        </p:nvSpPr>
        <p:spPr>
          <a:xfrm>
            <a:off x="8778240" y="333756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/>
          </a:p>
        </p:txBody>
      </p:sp>
      <p:sp>
        <p:nvSpPr>
          <p:cNvPr id="36" name="Body 02"/>
          <p:cNvSpPr/>
          <p:nvPr/>
        </p:nvSpPr>
        <p:spPr>
          <a:xfrm>
            <a:off x="8001000" y="3977640"/>
            <a:ext cx="3520440" cy="2011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your shopping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 (6 eggs, some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rice…). Write a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restaurant talk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(4–6 lines).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2" name="Shape 10"/>
          <p:cNvSpPr/>
          <p:nvPr/>
        </p:nvSpPr>
        <p:spPr>
          <a:xfrm>
            <a:off x="275234" y="75895"/>
            <a:ext cx="727862" cy="687570"/>
          </a:xfrm>
          <a:prstGeom prst="star10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3723" y="66797"/>
            <a:ext cx="740860" cy="740860"/>
          </a:xfrm>
          <a:prstGeom prst="star10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 rot="900000">
            <a:off x="535185" y="279307"/>
            <a:ext cx="316490" cy="316490"/>
          </a:xfrm>
          <a:prstGeom prst="mathPlus">
            <a:avLst/>
          </a:prstGeom>
          <a:solidFill>
            <a:srgbClr val="1B2236"/>
          </a:solidFill>
          <a:ln/>
        </p:spPr>
        <p:txBody>
          <a:bodyPr/>
          <a:p/>
        </p:txBody>
      </p:sp>
      <p:sp>
        <p:nvSpPr>
          <p:cNvPr id="15" name="Twemoji credit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arrows, calendars, clocks, and labels were added.</a:t>
            </a:r>
            <a:endParaRPr lang="en-US" sz="2000" dirty="0"/>
          </a:p>
        </p:txBody>
      </p:sp>
      <p:sp>
        <p:nvSpPr>
          <p:cNvPr id="16" name="Deck license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This deck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2000" dirty="0"/>
          </a:p>
        </p:txBody>
      </p:sp>
      <p:sp>
        <p:nvSpPr>
          <p:cNvPr id="17" name="AudioFontCredits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Chatterbox TTS (Resemble AI, MIT); AI voices with a Perth watermark. Font: Lexend Deca (OFL 1.1). Provided as-is, without warranty.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9 (Week 10): Food and Shopping</dc:title>
  <dc:subject>PptxGenJS Presentation</dc:subject>
  <dc:creator>Level 2 ESL</dc:creator>
  <cp:lastModifiedBy>Level 2 ESL</cp:lastModifiedBy>
  <cp:revision>1</cp:revision>
  <dcterms:created xsi:type="dcterms:W3CDTF">2026-10-15T20:54:31Z</dcterms:created>
  <dcterms:modified xsi:type="dcterms:W3CDTF">2026-10-15T20:54:31Z</dcterms:modified>
</cp:coreProperties>
</file>