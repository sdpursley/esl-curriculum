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59" r:id="rId5"/>
    <p:sldId id="260" r:id="rId6"/>
    <p:sldId id="264" r:id="rId10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name 15 or more food and drink items; use some / any and How much / How many; order in a restaurant with I'd like… / Can I have…?; ask and say prices.</a:t>
            </a:r>
          </a:p>
          <a:p>
            <a:r>
              <a:rPr lang="en-US" dirty="0"/>
              <a:t>Source: Level2_Curriculum_v5_public.md, Lesson 9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Lesson 8): partners ask What's the best restaurant / park in your neighborhood? Is there a pharmacy near your home? Each click shows one question.</a:t>
            </a:r>
          </a:p>
          <a:p>
            <a:r>
              <a:rPr lang="en-US" dirty="0"/>
              <a:t>Source: Level2_Curriculum_v5_public.md, Lesson 9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some / any, How much / many, I'd like. Grammar Box 1: Ordering. Click 1 and click 2 highlight one pair each.</a:t>
            </a:r>
          </a:p>
          <a:p>
            <a:r>
              <a:rPr lang="en-US" dirty="0"/>
              <a:t>Say: "I'd like = I want (polite)." I'd like the soup / a sandwich / a coffee, please. Can I have some water / some bread / the check, please?</a:t>
            </a:r>
          </a:p>
          <a:p>
            <a:r>
              <a:rPr lang="en-US" dirty="0"/>
              <a:t>Teacher note: a coffee / a water are common in restaurants (= a cup / a glass). Accept them in role plays.</a:t>
            </a:r>
          </a:p>
          <a:p>
            <a:r>
              <a:rPr lang="en-US" dirty="0"/>
              <a:t>Source: Level2_Curriculum_v5_public.md, Lesson 9 (Step 4; Grammar Box 1;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Do you have any…? Each click highlights any and its answer. Read: Do you have any fish? Sorry, we don't have any today.</a:t>
            </a:r>
          </a:p>
          <a:p>
            <a:r>
              <a:rPr lang="en-US" dirty="0"/>
              <a:t>Q: Some or any? some in positive sentences: I need some eggs. any in questions and negatives: Do you have any milk? We don't have any fish.</a:t>
            </a:r>
          </a:p>
          <a:p>
            <a:r>
              <a:rPr lang="en-US" dirty="0"/>
              <a:t>Source: Level2_Curriculum_v5_public.md, Lesson 9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I want a coffee sounds too direct.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9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many · much · any. Also ask: "I want a coffee or I'd like a coffee?" (I'd like = more polite)</a:t>
            </a:r>
          </a:p>
          <a:p>
            <a:r>
              <a:rPr lang="en-US" dirty="0"/>
              <a:t>Short "Shopping List" (last 5 min): A dictates a list; B writes it and asks How many? How much? If behind: skip it.</a:t>
            </a:r>
          </a:p>
          <a:p>
            <a:r>
              <a:rPr lang="en-US" dirty="0"/>
              <a:t>Source: Level2_Curriculum_v5_public.md, Lesson 9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Boxes 3 and 4: How many? How much? Prices. Each click highlights many / much.</a:t>
            </a:r>
          </a:p>
          <a:p>
            <a:r>
              <a:rPr lang="en-US" dirty="0"/>
              <a:t>Say: "Some foods we can count: one egg, two eggs. Some we can't: rice, milk. Count → How many. Can't count → How much. Money → How much."</a:t>
            </a:r>
          </a:p>
          <a:p>
            <a:r>
              <a:rPr lang="en-US" dirty="0"/>
              <a:t>Prices: How much is the soup? It's $3.50. How much are the apples? They're $4.00 a pound. $3.50 = "three fifty" or "three dollars and fifty cents."</a:t>
            </a:r>
          </a:p>
          <a:p>
            <a:r>
              <a:rPr lang="en-US" dirty="0"/>
              <a:t>Source: Level2_Curriculum_v5_public.md, Lesson 9 (Grammar Boxes 3–4;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eggs, rice, bread, milk.</a:t>
            </a:r>
          </a:p>
          <a:p>
            <a:r>
              <a:rPr lang="en-US" dirty="0"/>
              <a:t>Can you count it? Say a food. Learners hold up fingers if you can count it (apples, eggs) or make a "pile" with both hands if you can't (rice, milk, water).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9 (Step 2; Student Page 9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or no count? Click 1 and click 2 show one row each.</a:t>
            </a:r>
          </a:p>
          <a:p>
            <a:r>
              <a:rPr lang="en-US" dirty="0"/>
              <a:t>Tip: count it on your fingers? → How many. Can't count it? → How much.</a:t>
            </a:r>
          </a:p>
          <a:p>
            <a:r>
              <a:rPr lang="en-US" dirty="0"/>
              <a:t>Pronunciation (If time ①): short /ɪ/ chicken, fish, milk, chip; long /i/ cheese, eat, beans, cheap. Then prices: fifteen vs. fifty (fif-TEEN, FIF-ty).</a:t>
            </a:r>
          </a:p>
          <a:p>
            <a:r>
              <a:rPr lang="en-US" dirty="0"/>
              <a:t>Source: Level2_Curriculum_v5_public.md, Lesson 9 (Count or no count?;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5 homework sentences. The listener checks for the + -est.</a:t>
            </a:r>
          </a:p>
          <a:p>
            <a:r>
              <a:rPr lang="en-US" dirty="0"/>
              <a:t>Each click shows one answer. The lines review Lesson 8 (Grammar Boxes 1–3).</a:t>
            </a:r>
          </a:p>
          <a:p>
            <a:r>
              <a:rPr lang="en-US" dirty="0"/>
              <a:t>Teacher: write 2 corrected sentences on the board. If behind: collect the homework.</a:t>
            </a:r>
          </a:p>
          <a:p>
            <a:r>
              <a:rPr lang="en-US" dirty="0"/>
              <a:t>Source: Level2_Curriculum_v5_public.md, Lesson 9 (Step 1); Lesson 8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(L9_listening.mp3, about 1:35). Audio: L9_listening.mp3 (about 1:35). The audio plays once, play again if needed. Audio coming soon: until it is ready, read the script with a volunteer learner.</a:t>
            </a:r>
          </a:p>
          <a:p>
            <a:r>
              <a:rPr lang="en-US" dirty="0"/>
              <a:t>Before you listen: "Sam and Ana are in a restaurant. What do they order?" Take 2 guesses.</a:t>
            </a:r>
          </a:p>
          <a:p>
            <a:r>
              <a:rPr lang="en-US" dirty="0"/>
              <a:t>Listen 1 → Task A (check the food). Each click shows Yes or No.</a:t>
            </a:r>
          </a:p>
          <a:p>
            <a:r>
              <a:rPr lang="en-US" dirty="0"/>
              <a:t>Answer key: ✓ soup, bread, sandwich, salad, water, coffee, milk. ✗ fish, eggs, cheese.</a:t>
            </a:r>
          </a:p>
          <a:p>
            <a:r>
              <a:rPr lang="en-US" dirty="0"/>
              <a:t>Source: Level2_Curriculum_v5_public.md, Lesson 9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Restaurant Role Play. Groups of 3: 1 server + 2 customers (15: 5 groups; 7–8: 2 groups + teacher). Each click shows one step.</a:t>
            </a:r>
          </a:p>
          <a:p>
            <a:r>
              <a:rPr lang="en-US" dirty="0"/>
              <a:t>Model with a volunteer (1 min): "Are you ready to order?" "Yes. I'd like the soup, please." "Anything to drink?"</a:t>
            </a:r>
          </a:p>
          <a:p>
            <a:r>
              <a:rPr lang="en-US" dirty="0"/>
              <a:t>Do: each group uses a menu card. The server takes the order and says the total. Switch roles every 3 minutes. Challenge: the server says "Sorry, we don't have any ___ today." The customer chooses again.</a:t>
            </a:r>
          </a:p>
          <a:p>
            <a:r>
              <a:rPr lang="en-US" dirty="0"/>
              <a:t>Diet and allergies: let learners say I don't eat ___ without explaining why. If behind: one round only.</a:t>
            </a:r>
          </a:p>
          <a:p>
            <a:r>
              <a:rPr lang="en-US" dirty="0"/>
              <a:t>Source: Level2_Curriculum_v5_public.md, Lesson 9 (Step 5;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write one restaurant order (I'd like… / Can I have…?) and one How much / How many question.</a:t>
            </a:r>
          </a:p>
          <a:p>
            <a:r>
              <a:rPr lang="en-US" dirty="0"/>
              <a:t>Homework (10 minutes): 1. Write your shopping list for this week with numbers and amounts (6 eggs, some rice, 2 pounds of apples…). 2. Write a restaurant conversation (4–6 lines): you and a server. 3. Bonus: at a store, read 3 prices in English. Write them in words ($2.99 = two ninety-nine).</a:t>
            </a:r>
          </a:p>
          <a:p>
            <a:r>
              <a:rPr lang="en-US" dirty="0"/>
              <a:t>Source: Level2_Curriculum_v5_public.md, Lesson 9 (Step 6; Student Page 9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(circle). Each click circles one answer. The audio plays once, play again if needed.</a:t>
            </a:r>
          </a:p>
          <a:p>
            <a:r>
              <a:rPr lang="en-US" dirty="0"/>
              <a:t>Answer key: 1 chicken soup; 2 fish; 3 no ice; 4 two; 5 $24.50.</a:t>
            </a:r>
          </a:p>
          <a:p>
            <a:r>
              <a:rPr lang="en-US" dirty="0"/>
              <a:t>Prices: $24.50 = "twenty-four fifty."</a:t>
            </a:r>
          </a:p>
          <a:p>
            <a:r>
              <a:rPr lang="en-US" dirty="0"/>
              <a:t>Source: Level2_Curriculum_v5_public.md, Lesson 9 (Step 3; Answer key; Questions and answers).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9.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chicken, water, shopping list, the check (the bill).</a:t>
            </a:r>
          </a:p>
          <a:p>
            <a:r>
              <a:rPr lang="en-US" dirty="0"/>
              <a:t>Menus and prices are invented. Learners can talk about any food from their culture.</a:t>
            </a:r>
          </a:p>
          <a:p>
            <a:r>
              <a:rPr lang="en-US" dirty="0"/>
              <a:t>Source: Level2_Curriculum_v5_public.md, Lesson 9 (Step 2; Student Page 9;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I'd like; any; Can I; check.</a:t>
            </a:r>
          </a:p>
          <a:p>
            <a:r>
              <a:rPr lang="en-US" dirty="0"/>
              <a:t>"Say it" (1–2 min): the class repeats "I'd like the chicken soup, please." and "Can I have the check?"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9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Do you have some fish? is OK, but any is more common in questions. Q: Can I say breads or rices? No. Say some bread, a loaf of bread, a bag of rice.</a:t>
            </a:r>
          </a:p>
          <a:p>
            <a:r>
              <a:rPr lang="en-US" dirty="0"/>
              <a:t>Source: Level2_Curriculum_v5_public.md, Lesson 9 (Common mistakes;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K1" Type="http://schemas.openxmlformats.org/officeDocument/2006/relationships/image" Target="../media/k_L4_right_now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Q1" Type="http://schemas.openxmlformats.org/officeDocument/2006/relationships/image" Target="../media/k_L9_shopping_list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Q1" Type="http://schemas.openxmlformats.org/officeDocument/2006/relationships/image" Target="../media/k_L8_restaurant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Q1" Type="http://schemas.openxmlformats.org/officeDocument/2006/relationships/image" Target="../media/k_L9_apples.png"/><Relationship Id="rIdQ2" Type="http://schemas.openxmlformats.org/officeDocument/2006/relationships/image" Target="../media/k_L9_bananas.png"/><Relationship Id="rIdQ3" Type="http://schemas.openxmlformats.org/officeDocument/2006/relationships/image" Target="../media/k_L9_tomatoes.png"/><Relationship Id="rIdQ4" Type="http://schemas.openxmlformats.org/officeDocument/2006/relationships/image" Target="../media/k_L9_onions.png"/><Relationship Id="rIdQ5" Type="http://schemas.openxmlformats.org/officeDocument/2006/relationships/image" Target="../media/k_L9_eggs.png"/><Relationship Id="rIdQ6" Type="http://schemas.openxmlformats.org/officeDocument/2006/relationships/image" Target="../media/k_L9_rice.png"/><Relationship Id="rIdQ7" Type="http://schemas.openxmlformats.org/officeDocument/2006/relationships/image" Target="../media/k_L9_bread.png"/><Relationship Id="rIdQ8" Type="http://schemas.openxmlformats.org/officeDocument/2006/relationships/image" Target="../media/k_L9_milk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Q1" Type="http://schemas.openxmlformats.org/officeDocument/2006/relationships/image" Target="../media/k_L9_cheese.png"/><Relationship Id="rIdQ2" Type="http://schemas.openxmlformats.org/officeDocument/2006/relationships/image" Target="../media/k_L9_chicken.png"/><Relationship Id="rIdQ3" Type="http://schemas.openxmlformats.org/officeDocument/2006/relationships/image" Target="../media/k_L9_coffee.png"/><Relationship Id="rIdQ4" Type="http://schemas.openxmlformats.org/officeDocument/2006/relationships/image" Target="../media/k_L9_water.png"/><Relationship Id="rIdQ5" Type="http://schemas.openxmlformats.org/officeDocument/2006/relationships/image" Target="../media/k_L9_soup.png"/><Relationship Id="rIdQ6" Type="http://schemas.openxmlformats.org/officeDocument/2006/relationships/image" Target="../media/k_L9_sandwich.png"/><Relationship Id="rIdQ7" Type="http://schemas.openxmlformats.org/officeDocument/2006/relationships/image" Target="../media/k_L9_shopping_list.png"/><Relationship Id="rIdQ8" Type="http://schemas.openxmlformats.org/officeDocument/2006/relationships/image" Target="../media/k_L9_the_check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Q1" Type="http://schemas.openxmlformats.org/officeDocument/2006/relationships/image" Target="../media/k_L9_soup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Q1" Type="http://schemas.openxmlformats.org/officeDocument/2006/relationships/image" Target="../media/k_L9_eggs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Q1" Type="http://schemas.openxmlformats.org/officeDocument/2006/relationships/image" Target="../media/k_L9_bread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Q1" Type="http://schemas.openxmlformats.org/officeDocument/2006/relationships/image" Target="../media/k_L9_sandwich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Q1" Type="http://schemas.openxmlformats.org/officeDocument/2006/relationships/image" Target="../media/k_L9_milk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Q1" Type="http://schemas.openxmlformats.org/officeDocument/2006/relationships/image" Target="../media/k_L9_rice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Q1" Type="http://schemas.openxmlformats.org/officeDocument/2006/relationships/image" Target="../media/k_L9_apples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Q1" Type="http://schemas.openxmlformats.org/officeDocument/2006/relationships/image" Target="../media/k_L9_the_check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Q1" Type="http://schemas.openxmlformats.org/officeDocument/2006/relationships/image" Target="../media/k_L9_coffee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(Week 10)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Food and Shopping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Name 15+ foods and drinks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some / any, How much / many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Order: I'd like… / Can I have…?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and say prices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9_shopping_lis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8.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the best restaurant in your neighborhood?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 a pharmacy near your home?</a:t>
            </a:r>
            <a:endParaRPr lang="en-US" sz="2200" dirty="0"/>
          </a:p>
        </p:txBody>
      </p:sp>
      <p:pic>
        <p:nvPicPr>
          <p:cNvPr id="21" name="Picture 21" descr="L8_restauran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5 sentences.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36662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the ___. (cheap)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the ___. (big)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the ___ park. (good)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there a bank?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-est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20326" y="3200400"/>
            <a:ext cx="1363354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cheapest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biggest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best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count it?</a:t>
            </a:r>
            <a:endParaRPr lang="en-US" sz="2200" dirty="0"/>
          </a:p>
        </p:txBody>
      </p:sp>
      <p:pic>
        <p:nvPicPr>
          <p:cNvPr id="41" name="Picture 41" descr="apples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952837" y="2240280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apples</a:t>
            </a:r>
            <a:endParaRPr lang="en-US" sz="2000" dirty="0"/>
          </a:p>
        </p:txBody>
      </p:sp>
      <p:pic>
        <p:nvPicPr>
          <p:cNvPr id="43" name="Picture 43" descr="bananas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638887" y="2240280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bananas</a:t>
            </a:r>
            <a:endParaRPr lang="en-US" sz="2000" dirty="0"/>
          </a:p>
        </p:txBody>
      </p:sp>
      <p:pic>
        <p:nvPicPr>
          <p:cNvPr id="45" name="Picture 45" descr="tomatoes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324937" y="2240280"/>
            <a:ext cx="2076994" cy="145389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tomatoes</a:t>
            </a:r>
            <a:endParaRPr lang="en-US" sz="2000" dirty="0"/>
          </a:p>
        </p:txBody>
      </p:sp>
      <p:pic>
        <p:nvPicPr>
          <p:cNvPr id="47" name="Picture 47" descr="onions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010987" y="2240280"/>
            <a:ext cx="2076994" cy="145389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onions</a:t>
            </a:r>
            <a:endParaRPr lang="en-US" sz="2000" dirty="0"/>
          </a:p>
        </p:txBody>
      </p:sp>
      <p:pic>
        <p:nvPicPr>
          <p:cNvPr id="49" name="Picture 49" descr="eggs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952837" y="4315968"/>
            <a:ext cx="2076994" cy="145389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76261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eggs</a:t>
            </a:r>
            <a:endParaRPr lang="en-US" sz="2000" dirty="0"/>
          </a:p>
        </p:txBody>
      </p:sp>
      <p:pic>
        <p:nvPicPr>
          <p:cNvPr id="51" name="Picture 51" descr="rice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3638887" y="4315968"/>
            <a:ext cx="2076994" cy="145389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344866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rice</a:t>
            </a:r>
            <a:endParaRPr lang="en-US" sz="2000" dirty="0"/>
          </a:p>
        </p:txBody>
      </p:sp>
      <p:pic>
        <p:nvPicPr>
          <p:cNvPr id="53" name="Picture 53" descr="bread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6324937" y="4315968"/>
            <a:ext cx="2076994" cy="145389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613471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bread</a:t>
            </a:r>
            <a:endParaRPr lang="en-US" sz="2000" dirty="0"/>
          </a:p>
        </p:txBody>
      </p:sp>
      <p:pic>
        <p:nvPicPr>
          <p:cNvPr id="55" name="Picture 55" descr="milk"/>
          <p:cNvPicPr>
            <a:picLocks noChangeAspect="1"/>
          </p:cNvPicPr>
          <p:nvPr/>
        </p:nvPicPr>
        <p:blipFill>
          <a:blip r:embed="rIdQ8"/>
          <a:stretch>
            <a:fillRect/>
          </a:stretch>
        </p:blipFill>
        <p:spPr>
          <a:xfrm>
            <a:off x="9010987" y="4315968"/>
            <a:ext cx="2076994" cy="1453896"/>
          </a:xfrm>
          <a:prstGeom prst="rect">
            <a:avLst/>
          </a:prstGeom>
        </p:spPr>
      </p:pic>
      <p:sp>
        <p:nvSpPr>
          <p:cNvPr id="56" name="Word label"/>
          <p:cNvSpPr/>
          <p:nvPr/>
        </p:nvSpPr>
        <p:spPr>
          <a:xfrm>
            <a:off x="882076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milk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Fingers or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pile?</a:t>
            </a:r>
            <a:endParaRPr lang="en-US" sz="2200" dirty="0"/>
          </a:p>
        </p:txBody>
      </p:sp>
      <p:pic>
        <p:nvPicPr>
          <p:cNvPr id="39" name="Picture 39" descr="cheese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cheese</a:t>
            </a:r>
            <a:endParaRPr lang="en-US" sz="2000" dirty="0"/>
          </a:p>
        </p:txBody>
      </p:sp>
      <p:pic>
        <p:nvPicPr>
          <p:cNvPr id="41" name="Picture 41" descr="chicken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chicken</a:t>
            </a:r>
            <a:endParaRPr lang="en-US" sz="2000" dirty="0"/>
          </a:p>
        </p:txBody>
      </p:sp>
      <p:pic>
        <p:nvPicPr>
          <p:cNvPr id="43" name="Picture 43" descr="coffee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coffee</a:t>
            </a:r>
            <a:endParaRPr lang="en-US" sz="2000" dirty="0"/>
          </a:p>
        </p:txBody>
      </p:sp>
      <p:pic>
        <p:nvPicPr>
          <p:cNvPr id="45" name="Picture 45" descr="water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water</a:t>
            </a:r>
            <a:endParaRPr lang="en-US" sz="2000" dirty="0"/>
          </a:p>
        </p:txBody>
      </p:sp>
      <p:pic>
        <p:nvPicPr>
          <p:cNvPr id="47" name="Picture 47" descr="soup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1181437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7626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soup</a:t>
            </a:r>
            <a:endParaRPr lang="en-US" sz="2000" dirty="0"/>
          </a:p>
        </p:txBody>
      </p:sp>
      <p:pic>
        <p:nvPicPr>
          <p:cNvPr id="49" name="Picture 49" descr="sandwich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3867487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34486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sandwich</a:t>
            </a:r>
            <a:endParaRPr lang="en-US" sz="2000" dirty="0"/>
          </a:p>
        </p:txBody>
      </p:sp>
      <p:pic>
        <p:nvPicPr>
          <p:cNvPr id="51" name="Picture 51" descr="shopping list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6553537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61347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shopping list</a:t>
            </a:r>
            <a:endParaRPr lang="en-US" sz="2000" dirty="0"/>
          </a:p>
        </p:txBody>
      </p:sp>
      <p:pic>
        <p:nvPicPr>
          <p:cNvPr id="53" name="Picture 53" descr="the check (the bill)"/>
          <p:cNvPicPr>
            <a:picLocks noChangeAspect="1"/>
          </p:cNvPicPr>
          <p:nvPr/>
        </p:nvPicPr>
        <p:blipFill>
          <a:blip r:embed="rIdQ8"/>
          <a:stretch>
            <a:fillRect/>
          </a:stretch>
        </p:blipFill>
        <p:spPr>
          <a:xfrm>
            <a:off x="9239587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88207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check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(the bill)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do they order?</a:t>
            </a:r>
            <a:endParaRPr lang="en-US" sz="2000" dirty="0"/>
          </a:p>
        </p:txBody>
      </p:sp>
      <p:pic>
        <p:nvPicPr>
          <p:cNvPr id="66" name="Picture 66" descr="L9_soup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815584" y="15636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760720" y="15087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Item"/>
          <p:cNvSpPr/>
          <p:nvPr/>
        </p:nvSpPr>
        <p:spPr>
          <a:xfrm>
            <a:off x="5870448" y="15087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soup</a:t>
            </a:r>
            <a:endParaRPr lang="en-US" sz="2200" dirty="0"/>
          </a:p>
        </p:txBody>
      </p:sp>
      <p:sp>
        <p:nvSpPr>
          <p:cNvPr id="70" name="Tag 1"/>
          <p:cNvSpPr/>
          <p:nvPr/>
        </p:nvSpPr>
        <p:spPr>
          <a:xfrm>
            <a:off x="7498080" y="16002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71" name="Row shadow"/>
          <p:cNvSpPr/>
          <p:nvPr/>
        </p:nvSpPr>
        <p:spPr>
          <a:xfrm>
            <a:off x="5815584" y="24780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Row"/>
          <p:cNvSpPr/>
          <p:nvPr/>
        </p:nvSpPr>
        <p:spPr>
          <a:xfrm>
            <a:off x="5760720" y="24231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Item"/>
          <p:cNvSpPr/>
          <p:nvPr/>
        </p:nvSpPr>
        <p:spPr>
          <a:xfrm>
            <a:off x="5870448" y="24231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fish</a:t>
            </a:r>
            <a:endParaRPr lang="en-US" sz="2200" dirty="0"/>
          </a:p>
        </p:txBody>
      </p:sp>
      <p:sp>
        <p:nvSpPr>
          <p:cNvPr id="74" name="Tag 2"/>
          <p:cNvSpPr/>
          <p:nvPr/>
        </p:nvSpPr>
        <p:spPr>
          <a:xfrm>
            <a:off x="7498080" y="25146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B42318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815584" y="33924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760720" y="33375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Item"/>
          <p:cNvSpPr/>
          <p:nvPr/>
        </p:nvSpPr>
        <p:spPr>
          <a:xfrm>
            <a:off x="5870448" y="33375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sandwich</a:t>
            </a:r>
            <a:endParaRPr lang="en-US" sz="2200" dirty="0"/>
          </a:p>
        </p:txBody>
      </p:sp>
      <p:sp>
        <p:nvSpPr>
          <p:cNvPr id="78" name="Tag 3"/>
          <p:cNvSpPr/>
          <p:nvPr/>
        </p:nvSpPr>
        <p:spPr>
          <a:xfrm>
            <a:off x="7498080" y="34290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79" name="Row shadow"/>
          <p:cNvSpPr/>
          <p:nvPr/>
        </p:nvSpPr>
        <p:spPr>
          <a:xfrm>
            <a:off x="5815584" y="43068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Row"/>
          <p:cNvSpPr/>
          <p:nvPr/>
        </p:nvSpPr>
        <p:spPr>
          <a:xfrm>
            <a:off x="5760720" y="42519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1" name="Item"/>
          <p:cNvSpPr/>
          <p:nvPr/>
        </p:nvSpPr>
        <p:spPr>
          <a:xfrm>
            <a:off x="5870448" y="42519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salad</a:t>
            </a:r>
            <a:endParaRPr lang="en-US" sz="2200" dirty="0"/>
          </a:p>
        </p:txBody>
      </p:sp>
      <p:sp>
        <p:nvSpPr>
          <p:cNvPr id="82" name="Tag 4"/>
          <p:cNvSpPr/>
          <p:nvPr/>
        </p:nvSpPr>
        <p:spPr>
          <a:xfrm>
            <a:off x="7498080" y="43434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815584" y="52212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760720" y="51663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Item"/>
          <p:cNvSpPr/>
          <p:nvPr/>
        </p:nvSpPr>
        <p:spPr>
          <a:xfrm>
            <a:off x="5870448" y="51663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bread</a:t>
            </a:r>
            <a:endParaRPr lang="en-US" sz="2200" dirty="0"/>
          </a:p>
        </p:txBody>
      </p:sp>
      <p:sp>
        <p:nvSpPr>
          <p:cNvPr id="86" name="Tag 5"/>
          <p:cNvSpPr/>
          <p:nvPr/>
        </p:nvSpPr>
        <p:spPr>
          <a:xfrm>
            <a:off x="7498080" y="52578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87" name="Row shadow"/>
          <p:cNvSpPr/>
          <p:nvPr/>
        </p:nvSpPr>
        <p:spPr>
          <a:xfrm>
            <a:off x="8924544" y="15636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8" name="Row"/>
          <p:cNvSpPr/>
          <p:nvPr/>
        </p:nvSpPr>
        <p:spPr>
          <a:xfrm>
            <a:off x="8869680" y="15087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Item"/>
          <p:cNvSpPr/>
          <p:nvPr/>
        </p:nvSpPr>
        <p:spPr>
          <a:xfrm>
            <a:off x="8979408" y="15087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water</a:t>
            </a:r>
            <a:endParaRPr lang="en-US" sz="2200" dirty="0"/>
          </a:p>
        </p:txBody>
      </p:sp>
      <p:sp>
        <p:nvSpPr>
          <p:cNvPr id="90" name="Tag 6"/>
          <p:cNvSpPr/>
          <p:nvPr/>
        </p:nvSpPr>
        <p:spPr>
          <a:xfrm>
            <a:off x="10607040" y="16002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91" name="Row shadow"/>
          <p:cNvSpPr/>
          <p:nvPr/>
        </p:nvSpPr>
        <p:spPr>
          <a:xfrm>
            <a:off x="8924544" y="24780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2" name="Row"/>
          <p:cNvSpPr/>
          <p:nvPr/>
        </p:nvSpPr>
        <p:spPr>
          <a:xfrm>
            <a:off x="8869680" y="24231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3" name="Item"/>
          <p:cNvSpPr/>
          <p:nvPr/>
        </p:nvSpPr>
        <p:spPr>
          <a:xfrm>
            <a:off x="8979408" y="24231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coffee</a:t>
            </a:r>
            <a:endParaRPr lang="en-US" sz="2200" dirty="0"/>
          </a:p>
        </p:txBody>
      </p:sp>
      <p:sp>
        <p:nvSpPr>
          <p:cNvPr id="94" name="Tag 7"/>
          <p:cNvSpPr/>
          <p:nvPr/>
        </p:nvSpPr>
        <p:spPr>
          <a:xfrm>
            <a:off x="10607040" y="25146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95" name="Row shadow"/>
          <p:cNvSpPr/>
          <p:nvPr/>
        </p:nvSpPr>
        <p:spPr>
          <a:xfrm>
            <a:off x="8924544" y="33924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6" name="Row"/>
          <p:cNvSpPr/>
          <p:nvPr/>
        </p:nvSpPr>
        <p:spPr>
          <a:xfrm>
            <a:off x="8869680" y="33375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7" name="Item"/>
          <p:cNvSpPr/>
          <p:nvPr/>
        </p:nvSpPr>
        <p:spPr>
          <a:xfrm>
            <a:off x="8979408" y="33375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eggs</a:t>
            </a:r>
            <a:endParaRPr lang="en-US" sz="2200" dirty="0"/>
          </a:p>
        </p:txBody>
      </p:sp>
      <p:sp>
        <p:nvSpPr>
          <p:cNvPr id="98" name="Tag 8"/>
          <p:cNvSpPr/>
          <p:nvPr/>
        </p:nvSpPr>
        <p:spPr>
          <a:xfrm>
            <a:off x="10607040" y="34290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B42318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99" name="Row shadow"/>
          <p:cNvSpPr/>
          <p:nvPr/>
        </p:nvSpPr>
        <p:spPr>
          <a:xfrm>
            <a:off x="8924544" y="43068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00" name="Row"/>
          <p:cNvSpPr/>
          <p:nvPr/>
        </p:nvSpPr>
        <p:spPr>
          <a:xfrm>
            <a:off x="8869680" y="42519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01" name="Item"/>
          <p:cNvSpPr/>
          <p:nvPr/>
        </p:nvSpPr>
        <p:spPr>
          <a:xfrm>
            <a:off x="8979408" y="42519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cheese</a:t>
            </a:r>
            <a:endParaRPr lang="en-US" sz="2200" dirty="0"/>
          </a:p>
        </p:txBody>
      </p:sp>
      <p:sp>
        <p:nvSpPr>
          <p:cNvPr id="102" name="Tag 9"/>
          <p:cNvSpPr/>
          <p:nvPr/>
        </p:nvSpPr>
        <p:spPr>
          <a:xfrm>
            <a:off x="10607040" y="43434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B42318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103" name="Row shadow"/>
          <p:cNvSpPr/>
          <p:nvPr/>
        </p:nvSpPr>
        <p:spPr>
          <a:xfrm>
            <a:off x="8924544" y="5221224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04" name="Row"/>
          <p:cNvSpPr/>
          <p:nvPr/>
        </p:nvSpPr>
        <p:spPr>
          <a:xfrm>
            <a:off x="8869680" y="5166360"/>
            <a:ext cx="288036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05" name="Item"/>
          <p:cNvSpPr/>
          <p:nvPr/>
        </p:nvSpPr>
        <p:spPr>
          <a:xfrm>
            <a:off x="8979408" y="5166360"/>
            <a:ext cx="160020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milk</a:t>
            </a:r>
            <a:endParaRPr lang="en-US" sz="2200" dirty="0"/>
          </a:p>
        </p:txBody>
      </p:sp>
      <p:sp>
        <p:nvSpPr>
          <p:cNvPr id="106" name="Tag 10"/>
          <p:cNvSpPr/>
          <p:nvPr/>
        </p:nvSpPr>
        <p:spPr>
          <a:xfrm>
            <a:off x="10607040" y="52578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448056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Ana orders ...</a:t>
            </a:r>
            <a:endParaRPr lang="en-US" sz="2200" dirty="0"/>
          </a:p>
        </p:txBody>
      </p:sp>
      <p:sp>
        <p:nvSpPr>
          <p:cNvPr id="68" name="Option 11"/>
          <p:cNvSpPr/>
          <p:nvPr/>
        </p:nvSpPr>
        <p:spPr>
          <a:xfrm>
            <a:off x="5166360" y="2871216"/>
            <a:ext cx="2141359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chicken soup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536319" y="28712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fish</a:t>
            </a:r>
            <a:endParaRPr lang="en-US" sz="2000" dirty="0"/>
          </a:p>
        </p:txBody>
      </p:sp>
      <p:sp>
        <p:nvSpPr>
          <p:cNvPr id="70" name="Option 13"/>
          <p:cNvSpPr/>
          <p:nvPr/>
        </p:nvSpPr>
        <p:spPr>
          <a:xfrm>
            <a:off x="9136519" y="2871216"/>
            <a:ext cx="1401526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salad</a:t>
            </a:r>
            <a:endParaRPr lang="en-US" sz="2000" dirty="0"/>
          </a:p>
        </p:txBody>
      </p:sp>
      <p:sp>
        <p:nvSpPr>
          <p:cNvPr id="71" name="Circle 1"/>
          <p:cNvSpPr/>
          <p:nvPr/>
        </p:nvSpPr>
        <p:spPr>
          <a:xfrm>
            <a:off x="5038344" y="2807208"/>
            <a:ext cx="2397391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Statement 2"/>
          <p:cNvSpPr/>
          <p:nvPr/>
        </p:nvSpPr>
        <p:spPr>
          <a:xfrm>
            <a:off x="502920" y="3566160"/>
            <a:ext cx="448056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They don't have any ...</a:t>
            </a:r>
            <a:endParaRPr lang="en-US" sz="2200" dirty="0"/>
          </a:p>
        </p:txBody>
      </p:sp>
      <p:sp>
        <p:nvSpPr>
          <p:cNvPr id="73" name="Option 21"/>
          <p:cNvSpPr/>
          <p:nvPr/>
        </p:nvSpPr>
        <p:spPr>
          <a:xfrm>
            <a:off x="5166360" y="3602736"/>
            <a:ext cx="2141359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chicken</a:t>
            </a:r>
            <a:endParaRPr lang="en-US" sz="2000" dirty="0"/>
          </a:p>
        </p:txBody>
      </p:sp>
      <p:sp>
        <p:nvSpPr>
          <p:cNvPr id="74" name="Option 22"/>
          <p:cNvSpPr/>
          <p:nvPr/>
        </p:nvSpPr>
        <p:spPr>
          <a:xfrm>
            <a:off x="7536319" y="360273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fish</a:t>
            </a:r>
            <a:endParaRPr lang="en-US" sz="2000" dirty="0"/>
          </a:p>
        </p:txBody>
      </p:sp>
      <p:sp>
        <p:nvSpPr>
          <p:cNvPr id="75" name="Option 23"/>
          <p:cNvSpPr/>
          <p:nvPr/>
        </p:nvSpPr>
        <p:spPr>
          <a:xfrm>
            <a:off x="9136519" y="3602736"/>
            <a:ext cx="1401526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bread</a:t>
            </a:r>
            <a:endParaRPr lang="en-US" sz="2000" dirty="0"/>
          </a:p>
        </p:txBody>
      </p:sp>
      <p:sp>
        <p:nvSpPr>
          <p:cNvPr id="76" name="Circle 2"/>
          <p:cNvSpPr/>
          <p:nvPr/>
        </p:nvSpPr>
        <p:spPr>
          <a:xfrm>
            <a:off x="7408303" y="3538728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Statement 3"/>
          <p:cNvSpPr/>
          <p:nvPr/>
        </p:nvSpPr>
        <p:spPr>
          <a:xfrm>
            <a:off x="502920" y="4297680"/>
            <a:ext cx="448056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Ana wants water with ...</a:t>
            </a:r>
            <a:endParaRPr lang="en-US" sz="2200" dirty="0"/>
          </a:p>
        </p:txBody>
      </p:sp>
      <p:sp>
        <p:nvSpPr>
          <p:cNvPr id="78" name="Option 31"/>
          <p:cNvSpPr/>
          <p:nvPr/>
        </p:nvSpPr>
        <p:spPr>
          <a:xfrm>
            <a:off x="5166360" y="4334256"/>
            <a:ext cx="2141359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ice</a:t>
            </a:r>
            <a:endParaRPr lang="en-US" sz="2000" dirty="0"/>
          </a:p>
        </p:txBody>
      </p:sp>
      <p:sp>
        <p:nvSpPr>
          <p:cNvPr id="79" name="Option 32"/>
          <p:cNvSpPr/>
          <p:nvPr/>
        </p:nvSpPr>
        <p:spPr>
          <a:xfrm>
            <a:off x="7536319" y="433425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ice</a:t>
            </a:r>
            <a:endParaRPr lang="en-US" sz="2000" dirty="0"/>
          </a:p>
        </p:txBody>
      </p:sp>
      <p:sp>
        <p:nvSpPr>
          <p:cNvPr id="80" name="Option 33"/>
          <p:cNvSpPr/>
          <p:nvPr/>
        </p:nvSpPr>
        <p:spPr>
          <a:xfrm>
            <a:off x="9136519" y="4334256"/>
            <a:ext cx="1401526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lemon</a:t>
            </a:r>
            <a:endParaRPr lang="en-US" sz="2000" dirty="0"/>
          </a:p>
        </p:txBody>
      </p:sp>
      <p:sp>
        <p:nvSpPr>
          <p:cNvPr id="81" name="Circle 3"/>
          <p:cNvSpPr/>
          <p:nvPr/>
        </p:nvSpPr>
        <p:spPr>
          <a:xfrm>
            <a:off x="7408303" y="4270248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Statement 4"/>
          <p:cNvSpPr/>
          <p:nvPr/>
        </p:nvSpPr>
        <p:spPr>
          <a:xfrm>
            <a:off x="502920" y="5029200"/>
            <a:ext cx="448056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Sam wants ... sugars.</a:t>
            </a:r>
            <a:endParaRPr lang="en-US" sz="2200" dirty="0"/>
          </a:p>
        </p:txBody>
      </p:sp>
      <p:sp>
        <p:nvSpPr>
          <p:cNvPr id="83" name="Option 41"/>
          <p:cNvSpPr/>
          <p:nvPr/>
        </p:nvSpPr>
        <p:spPr>
          <a:xfrm>
            <a:off x="5166360" y="5065776"/>
            <a:ext cx="2141359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</a:t>
            </a:r>
            <a:endParaRPr lang="en-US" sz="2000" dirty="0"/>
          </a:p>
        </p:txBody>
      </p:sp>
      <p:sp>
        <p:nvSpPr>
          <p:cNvPr id="84" name="Option 42"/>
          <p:cNvSpPr/>
          <p:nvPr/>
        </p:nvSpPr>
        <p:spPr>
          <a:xfrm>
            <a:off x="7536319" y="506577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</a:t>
            </a:r>
            <a:endParaRPr lang="en-US" sz="2000" dirty="0"/>
          </a:p>
        </p:txBody>
      </p:sp>
      <p:sp>
        <p:nvSpPr>
          <p:cNvPr id="85" name="Option 43"/>
          <p:cNvSpPr/>
          <p:nvPr/>
        </p:nvSpPr>
        <p:spPr>
          <a:xfrm>
            <a:off x="9136519" y="5065776"/>
            <a:ext cx="1401526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</a:t>
            </a:r>
            <a:endParaRPr lang="en-US" sz="2000" dirty="0"/>
          </a:p>
        </p:txBody>
      </p:sp>
      <p:sp>
        <p:nvSpPr>
          <p:cNvPr id="86" name="Circle 4"/>
          <p:cNvSpPr/>
          <p:nvPr/>
        </p:nvSpPr>
        <p:spPr>
          <a:xfrm>
            <a:off x="7408303" y="5001768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7" name="Statement 5"/>
          <p:cNvSpPr/>
          <p:nvPr/>
        </p:nvSpPr>
        <p:spPr>
          <a:xfrm>
            <a:off x="502920" y="5760720"/>
            <a:ext cx="448056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The total is ...</a:t>
            </a:r>
            <a:endParaRPr lang="en-US" sz="2200" dirty="0"/>
          </a:p>
        </p:txBody>
      </p:sp>
      <p:sp>
        <p:nvSpPr>
          <p:cNvPr id="88" name="Option 51"/>
          <p:cNvSpPr/>
          <p:nvPr/>
        </p:nvSpPr>
        <p:spPr>
          <a:xfrm>
            <a:off x="5166360" y="5797296"/>
            <a:ext cx="2141359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$14.50</a:t>
            </a:r>
            <a:endParaRPr lang="en-US" sz="2000" dirty="0"/>
          </a:p>
        </p:txBody>
      </p:sp>
      <p:sp>
        <p:nvSpPr>
          <p:cNvPr id="89" name="Option 52"/>
          <p:cNvSpPr/>
          <p:nvPr/>
        </p:nvSpPr>
        <p:spPr>
          <a:xfrm>
            <a:off x="7536319" y="579729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$24.15</a:t>
            </a:r>
            <a:endParaRPr lang="en-US" sz="2000" dirty="0"/>
          </a:p>
        </p:txBody>
      </p:sp>
      <p:sp>
        <p:nvSpPr>
          <p:cNvPr id="90" name="Option 53"/>
          <p:cNvSpPr/>
          <p:nvPr/>
        </p:nvSpPr>
        <p:spPr>
          <a:xfrm>
            <a:off x="9136519" y="5797296"/>
            <a:ext cx="1401526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$24.50</a:t>
            </a:r>
            <a:endParaRPr lang="en-US" sz="2000" dirty="0"/>
          </a:p>
        </p:txBody>
      </p:sp>
      <p:sp>
        <p:nvSpPr>
          <p:cNvPr id="91" name="Circle 5"/>
          <p:cNvSpPr/>
          <p:nvPr/>
        </p:nvSpPr>
        <p:spPr>
          <a:xfrm>
            <a:off x="9008503" y="5733288"/>
            <a:ext cx="1657558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0778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the chicken soup.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we don't have ____ fish today.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____ have a chicken sandwich?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we have the ____, please?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I want.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is more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polite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4961534" y="3278124"/>
            <a:ext cx="162214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532120" y="4128516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449824" y="4978908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449824" y="5829300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many?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Count it?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2000" dirty="0"/>
          </a:p>
        </p:txBody>
      </p:sp>
      <p:pic>
        <p:nvPicPr>
          <p:cNvPr id="65" name="Picture 65" descr="L9_eggs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74957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270019" y="4114800"/>
            <a:ext cx="968532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270019" y="4114800"/>
            <a:ext cx="96853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293416" y="4114800"/>
            <a:ext cx="9372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eggs?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74957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270019" y="4846320"/>
            <a:ext cx="968532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270019" y="4846320"/>
            <a:ext cx="96853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293416" y="4846320"/>
            <a:ext cx="9372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rice?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74957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270019" y="5577840"/>
            <a:ext cx="968532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270019" y="5577840"/>
            <a:ext cx="96853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293416" y="5577840"/>
            <a:ext cx="108813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eggs.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404872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little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rice.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288950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$3.50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Money: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any ...?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9_brea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fish?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we don't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today.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bread?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have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milk?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have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 · Ordering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...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have ...?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9_sandwich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SAY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SERVER SAYS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4242816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soup, please.</a:t>
            </a:r>
            <a:endParaRPr lang="en-US" sz="2200" dirty="0"/>
          </a:p>
        </p:txBody>
      </p:sp>
      <p:sp>
        <p:nvSpPr>
          <p:cNvPr id="48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 to drink?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1481328" y="5367528"/>
            <a:ext cx="3639312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have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some water?</a:t>
            </a:r>
            <a:endParaRPr lang="en-US" sz="2200" dirty="0"/>
          </a:p>
        </p:txBody>
      </p:sp>
      <p:sp>
        <p:nvSpPr>
          <p:cNvPr id="52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Of course.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 else?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9_milk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many milk?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milk?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many money?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money?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2303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a coffee.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2303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coffee, please.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9_ric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some fish?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fish?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need two breads.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need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 bread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don't have some eggs.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don't have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eggs.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much, many, or any?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___ eggs?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___ milk?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___ bread?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26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26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Count or no count?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 or Much?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Count: How many?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egg, six egg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apple, two apple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count: How much?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rice, milk, water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bread, cheese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6000" dirty="0"/>
          </a:p>
        </p:txBody>
      </p:sp>
      <p:pic>
        <p:nvPicPr>
          <p:cNvPr id="23" name="Picture 23" descr="L9_apples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Restaurant Role Play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the menu card. Say the total.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9_the_check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 server + 2 customers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Ready to order?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the soup, please.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 every 3 minutes.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we don't have any ___.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9_coffe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order: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like… or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have…?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question: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 / many…?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your shopping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 (6 eggs, some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rice…). Write a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restaurant talk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(4–6 lines).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 (Week 10): Food and Shopping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