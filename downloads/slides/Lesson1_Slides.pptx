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72" r:id="rId18"/>
    <p:sldId id="268" r:id="rId14"/>
    <p:sldId id="277" r:id="rId28"/>
    <p:sldId id="260" r:id="rId6"/>
    <p:sldId id="259" r:id="rId5"/>
    <p:sldId id="264" r:id="rId10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2.xml"/><Relationship Id="rId8" Type="http://schemas.openxmlformats.org/officeDocument/2006/relationships/slide" Target="slides/slide14.xml"/><Relationship Id="rId10" Type="http://schemas.openxmlformats.org/officeDocument/2006/relationships/slide" Target="slides/slide11.xml"/><Relationship Id="rId11" Type="http://schemas.openxmlformats.org/officeDocument/2006/relationships/slide" Target="slides/slide4.xml"/><Relationship Id="rId12" Type="http://schemas.openxmlformats.org/officeDocument/2006/relationships/slide" Target="slides/slide15.xml"/><Relationship Id="rId13" Type="http://schemas.openxmlformats.org/officeDocument/2006/relationships/slide" Target="slides/slide3.xml"/><Relationship Id="rId14" Type="http://schemas.openxmlformats.org/officeDocument/2006/relationships/slide" Target="slides/slide7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6.xml"/><Relationship Id="rId20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Read the three goals together; learners repeat.</a:t>
            </a:r>
          </a:p>
          <a:p>
            <a:r>
              <a:rPr lang="en-US" dirty="0"/>
              <a:t>Source: Level2_Curriculum_v4_1_public.md, Lesson 1 (At a glance: Objectives).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Welcome + Name Chain (10 min). Two circles (15 learners) / one circle (7–8 learners).</a:t>
            </a:r>
          </a:p>
          <a:p>
            <a:r>
              <a:rPr lang="en-US" dirty="0"/>
              <a:t>Click 1: model it yourself: "I'm Ana. I like coffee."</a:t>
            </a:r>
          </a:p>
          <a:p>
            <a:r>
              <a:rPr lang="en-US" dirty="0"/>
              <a:t>Click 2: each next person repeats the previous person, then adds their own: "She's Ana. She likes coffee. I'm Carlos. I like soccer."</a:t>
            </a:r>
          </a:p>
          <a:p>
            <a:r>
              <a:rPr lang="en-US" dirty="0"/>
              <a:t>Late arrivals join the circle. If behind: go around once only.</a:t>
            </a:r>
          </a:p>
          <a:p>
            <a:r>
              <a:rPr lang="en-US" dirty="0"/>
              <a:t>Source: Level2_Curriculum_v4_1_public.md, Lesson 1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Grammar Box 2. Say: "With no be, borrow do or does."</a:t>
            </a:r>
          </a:p>
          <a:p>
            <a:r>
              <a:rPr lang="en-US" dirty="0"/>
              <a:t>Click 1 highlights Do and its answer; click 2 highlights Does and its answer.</a:t>
            </a:r>
          </a:p>
          <a:p>
            <a:r>
              <a:rPr lang="en-US" dirty="0"/>
              <a:t>More choices from the box: Do you live here? / work near here? / have kids? · Does he/she live here? / work at night? / have kids?</a:t>
            </a:r>
          </a:p>
          <a:p>
            <a:r>
              <a:rPr lang="en-US" dirty="0"/>
              <a:t>Q&amp;A: we use do/does with action verbs like live, work, have, like, speak.</a:t>
            </a:r>
          </a:p>
          <a:p>
            <a:r>
              <a:rPr lang="en-US" dirty="0"/>
              <a:t>Source: Level2_Curriculum_v4_1_public.md, Lesson 1 (Step 5; Grammar Box 2;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6:33–6:45 · Grammar: be or do? Show the Grammar Box (question side / answer side).</a:t>
            </a:r>
          </a:p>
          <a:p>
            <a:r>
              <a:rPr lang="en-US" dirty="0"/>
              <a:t>Say: "English questions need a helper word at the front. With am/is/are, move it to the front."</a:t>
            </a:r>
          </a:p>
          <a:p>
            <a:r>
              <a:rPr lang="en-US" dirty="0"/>
              <a:t>Click 1 highlights Are and its answer; click 2 highlights Is and its answer. Learners read across: choose one word from each column.</a:t>
            </a:r>
          </a:p>
          <a:p>
            <a:r>
              <a:rPr lang="en-US" dirty="0"/>
              <a:t>More choices from the box: Are you from Mexico? / married? / new here? · Is he/she a cook? / from Peru? / married?</a:t>
            </a:r>
          </a:p>
          <a:p>
            <a:r>
              <a:rPr lang="en-US" dirty="0"/>
              <a:t>Q&amp;A: we use am/is/are with where you're from, age, job title, feelings, married/single, and places.</a:t>
            </a:r>
          </a:p>
          <a:p>
            <a:r>
              <a:rPr lang="en-US" dirty="0"/>
              <a:t>Source: Level2_Curriculum_v4_1_public.md, Lesson 1 (Step 5; Grammar Box 1;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Read the left side; ask "What's wrong?" Each click shows the correct question.</a:t>
            </a:r>
          </a:p>
          <a:p>
            <a:r>
              <a:rPr lang="en-US" dirty="0"/>
              <a:t>English questions need a helper word at the front. Never use do and are together: Do you are married? → Are you married?</a:t>
            </a:r>
          </a:p>
          <a:p>
            <a:r>
              <a:rPr lang="en-US" dirty="0"/>
              <a:t>Typical mistake this week: Where you live? (no helper word). Write the correct form on the board and point learners to the note on their Grammar page.</a:t>
            </a:r>
          </a:p>
          <a:p>
            <a:r>
              <a:rPr lang="en-US" dirty="0"/>
              <a:t>Source: Level2_Curriculum_v4_1_public.md, Lesson 1 (Common mistakes table;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Check questions. Learners say the helper word; each click shows one answer.</a:t>
            </a:r>
          </a:p>
          <a:p>
            <a:r>
              <a:rPr lang="en-US" dirty="0"/>
              <a:t>Answers: ___ you like rice? (do) · ___ you tired? (are) · Where ___ she work? (does).</a:t>
            </a:r>
          </a:p>
          <a:p>
            <a:r>
              <a:rPr lang="en-US" dirty="0"/>
              <a:t>Pair check (last 3–4 min): A builds a question from the Grammar Box; B answers from the answer side. If behind: skip the pair check; it becomes homework item 1.</a:t>
            </a:r>
          </a:p>
          <a:p>
            <a:r>
              <a:rPr lang="en-US" dirty="0"/>
              <a:t>Source: Level2_Curriculum_v4_1_public.md, Lesson 1 (Step 5 check questions).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Grammar Box 3: Wh- questions. Word order: question word, helper, person, the rest.</a:t>
            </a:r>
          </a:p>
          <a:p>
            <a:r>
              <a:rPr lang="en-US" dirty="0"/>
              <a:t>Each click highlights the helper word: are, do, do.</a:t>
            </a:r>
          </a:p>
          <a:p>
            <a:r>
              <a:rPr lang="en-US" dirty="0"/>
              <a:t>More from the box: Where do you work? I work at a hotel. / at a bakery. · What do you do? I'm a cook. / driver. / teacher.</a:t>
            </a:r>
          </a:p>
          <a:p>
            <a:r>
              <a:rPr lang="en-US" dirty="0"/>
              <a:t>Check questions: "___ you like rice?" (do) · "___ you tired?" (are) · "Where ___ she work?" (does).</a:t>
            </a:r>
          </a:p>
          <a:p>
            <a:r>
              <a:rPr lang="en-US" dirty="0"/>
              <a:t>Source: Level2_Curriculum_v4_1_public.md, Lesson 1 (Step 5; Grammar Box 3;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6:15–6:23 · New Words (8 min, pairs). Each click shows one word under its picture.</a:t>
            </a:r>
          </a:p>
          <a:p>
            <a:r>
              <a:rPr lang="en-US" dirty="0"/>
              <a:t>Point to each picture and say the word; learners repeat twice. Star (most important) words here: from, live, work, job, married / single.</a:t>
            </a:r>
          </a:p>
          <a:p>
            <a:r>
              <a:rPr lang="en-US" dirty="0"/>
              <a:t>Privacy: married / single is optional. Alternative question: "Do you have family here?"</a:t>
            </a:r>
          </a:p>
          <a:p>
            <a:r>
              <a:rPr lang="en-US" dirty="0"/>
              <a:t>If behind: teach only the star words.</a:t>
            </a:r>
          </a:p>
          <a:p>
            <a:r>
              <a:rPr lang="en-US" dirty="0"/>
              <a:t>Source: Level2_Curriculum_v4_1_public.md, Lesson 1 (Step 3; Student Page 1 New Words;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answers use the same helper as the question. Click 1: Are you...? → Yes, I am. Click 2: Do you...? → Yes, I do.</a:t>
            </a:r>
          </a:p>
          <a:p>
            <a:r>
              <a:rPr lang="en-US" dirty="0"/>
              <a:t>Q&amp;A: Can I use do and are together? No, never. Do you are married? → Are you married?</a:t>
            </a:r>
          </a:p>
          <a:p>
            <a:r>
              <a:rPr lang="en-US" dirty="0"/>
              <a:t>Pair practice: A asks a question from the Grammar Box; B gives a short answer.</a:t>
            </a:r>
          </a:p>
          <a:p>
            <a:r>
              <a:rPr lang="en-US" dirty="0"/>
              <a:t>Source: Level2_Curriculum_v4_1_public.md, Lesson 1 (Questions and answers: short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6:10–6:15 · Orientation: "How Our Class Works" (5 min, whole class). Each click shows one row.</a:t>
            </a:r>
          </a:p>
          <a:p>
            <a:r>
              <a:rPr lang="en-US" dirty="0"/>
              <a:t>Class times and the break: core class 6:00–6:45 and 7:00–7:15; break 6:45–7:00; 7:15–7:30 is optional ("If time").</a:t>
            </a:r>
          </a:p>
          <a:p>
            <a:r>
              <a:rPr lang="en-US" dirty="0"/>
              <a:t>Language rule: "English in class. If you're stuck, a classmate can help you for a few seconds. Then back to English." You don't need to understand what classmates say to each other. Just smile and say "Now in English, please."</a:t>
            </a:r>
          </a:p>
          <a:p>
            <a:r>
              <a:rPr lang="en-US" dirty="0"/>
              <a:t>Also say: phones are OK for audio and dictionary. "You can tell the truth or make it up." Homework every week (short!), checked at the start of class.</a:t>
            </a:r>
          </a:p>
          <a:p>
            <a:r>
              <a:rPr lang="en-US" dirty="0"/>
              <a:t>If behind: hand out the sheet and read the 3 key rules only.</a:t>
            </a:r>
          </a:p>
          <a:p>
            <a:r>
              <a:rPr lang="en-US" dirty="0"/>
              <a:t>Source: Level2_Curriculum_v4_1_public.md, Lesson 1 (Clock-time plan; Step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Listen 2 → Task B (circle the answer). Pairs compare. Each click circles one answer.</a:t>
            </a:r>
          </a:p>
          <a:p>
            <a:r>
              <a:rPr lang="en-US" dirty="0"/>
              <a:t>Answer key: 1 a cook, 2 5:00, 3 brother.</a:t>
            </a:r>
          </a:p>
          <a:p>
            <a:r>
              <a:rPr lang="en-US" dirty="0"/>
              <a:t>Source: Level2_Curriculum_v4_1_public.md, Lesson 1 (Step 4; Answer key; Student Page Listening B).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7:00–7:10 · Talk Time: Find Someone Who (mingle; talk to 6+ people / everyone). Set up the sheets during the break.</a:t>
            </a:r>
          </a:p>
          <a:p>
            <a:r>
              <a:rPr lang="en-US" dirty="0"/>
              <a:t>Learners turn each prompt into a correct question (Do you live near here? / Are you a morning person?). When someone says yes: write their name and ask one follow-up question. One name per row. Each click shows one step.</a:t>
            </a:r>
          </a:p>
          <a:p>
            <a:r>
              <a:rPr lang="en-US" dirty="0"/>
              <a:t>Baseline snapshot: the teacher (or a second volunteer) uses the checklist: Can they ask a do question? Answer in a full sentence? Give 1 extra detail?</a:t>
            </a:r>
          </a:p>
          <a:p>
            <a:r>
              <a:rPr lang="en-US" dirty="0"/>
              <a:t>If behind: learners talk to 4 people.</a:t>
            </a:r>
          </a:p>
          <a:p>
            <a:r>
              <a:rPr lang="en-US" dirty="0"/>
              <a:t>Source: Level2_Curriculum_v4_1_public.md, Lesson 1 (Step 6).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· 7:10–7:15 · Exit Ticket + Homework. NEVER SKIP.</a:t>
            </a:r>
          </a:p>
          <a:p>
            <a:r>
              <a:rPr lang="en-US" dirty="0"/>
              <a:t>Exit ticket: on a slip, learners write one be question and one do question. Read the slips after class.</a:t>
            </a:r>
          </a:p>
          <a:p>
            <a:r>
              <a:rPr lang="en-US" dirty="0"/>
              <a:t>Homework (10 minutes, bring it next week): 1. Write 5 questions for a friend, family member, or coworker: 3 with do/does and 2 with am/is/are. 2. Write their answers (in English!). 3. Bonus: ask one person your questions in English. Explain it from the workbook and do item 1 together.</a:t>
            </a:r>
          </a:p>
          <a:p>
            <a:r>
              <a:rPr lang="en-US" dirty="0"/>
              <a:t>Source: Level2_Curriculum_v4_1_public.md, Lesson 1 (Step 7; Student Page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6:23–6:33 · Listening (L1_listening.mp3, about 1:10; plays once, so play the audio again if needed). Before you listen (1 min): "Rosa and Sam meet. What questions do they ask?" Write 2–3 guesses.</a:t>
            </a:r>
          </a:p>
          <a:p>
            <a:r>
              <a:rPr lang="en-US" dirty="0"/>
              <a:t>Listen 1 → Task A. Pairs compare. Each click circles one answer.</a:t>
            </a:r>
          </a:p>
          <a:p>
            <a:r>
              <a:rPr lang="en-US" dirty="0"/>
              <a:t>Answer key: 1 T, 2 F (Honduras), 3 T, 4 F (a hotel), 5 T.</a:t>
            </a:r>
          </a:p>
          <a:p>
            <a:r>
              <a:rPr lang="en-US" dirty="0"/>
              <a:t>No speaker? Read the script aloud with a volunteer learner.</a:t>
            </a:r>
          </a:p>
          <a:p>
            <a:r>
              <a:rPr lang="en-US" dirty="0"/>
              <a:t>Source: Level2_Curriculum_v4_1_public.md, Lesson 1 (Step 4; Listening script; Answer key; Student Page Listening 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v4.1, public edition, Lesson 1.</a:t>
            </a:r>
          </a:p>
          <a:p>
            <a:r>
              <a:rPr lang="en-US" dirty="0"/>
              <a:t>Image credit line copied exactly from images/CREDITS.md. Deck notice: © 2026 the authors; the authors license this deck under CC BY-NC-SA 4.0 (Section 7.2).</a:t>
            </a:r>
          </a:p>
          <a:p>
            <a:r>
              <a:rPr lang="en-US" dirty="0"/>
              <a:t>Audio and font credits: Chatterbox TTS (Resemble AI, MIT; Perth watermark), Lexend Deca (SIL OFL 1.1).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</a:t>
            </a:r>
          </a:p>
          <a:p>
            <a:r>
              <a:rPr lang="en-US" dirty="0"/>
              <a:t>Star words here: kids, Nice to meet you, What about you?</a:t>
            </a:r>
          </a:p>
          <a:p>
            <a:r>
              <a:rPr lang="en-US" dirty="0"/>
              <a:t>Pairs: A points to a picture, B says the word. Then switch.</a:t>
            </a:r>
          </a:p>
          <a:p>
            <a:r>
              <a:rPr lang="en-US" dirty="0"/>
              <a:t>Extra example: show the ID card for a fictional person.</a:t>
            </a:r>
          </a:p>
          <a:p>
            <a:r>
              <a:rPr lang="en-US" dirty="0"/>
              <a:t>Source: Level2_Curriculum_v4_1_public.md, Lesson 1 (Step 3; Student Page 1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Listen 3 → Task C (write are / do). Pairs compare. Each click fills one blank.</a:t>
            </a:r>
          </a:p>
          <a:p>
            <a:r>
              <a:rPr lang="en-US" dirty="0"/>
              <a:t>Answer key: 1 are, 2 do, 3 Do, 4 Are.</a:t>
            </a:r>
          </a:p>
          <a:p>
            <a:r>
              <a:rPr lang="en-US" dirty="0"/>
              <a:t>"Say it" (1–2 min): pause after "Where are you from?" and "Where do you live?" The class repeats each line twice.</a:t>
            </a:r>
          </a:p>
          <a:p>
            <a:r>
              <a:rPr lang="en-US" dirty="0"/>
              <a:t>Bridge to grammar: "When do we use are? When do we use do?"</a:t>
            </a:r>
          </a:p>
          <a:p>
            <a:r>
              <a:rPr lang="en-US" dirty="0"/>
              <a:t>If behind: skip the third play; do Task C together (you read the 4 lines).</a:t>
            </a:r>
          </a:p>
          <a:p>
            <a:r>
              <a:rPr lang="en-US" dirty="0"/>
              <a:t>Source: Level2_Curriculum_v4_1_public.md, Lesson 1 (Step 4; Answer key; Student Page Listening 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Age uses be: I'm 35 (not I have 35 years). Always say the person: She's from Peru. Short answers use the same helper: Do you live here? Yes, I do.</a:t>
            </a:r>
          </a:p>
          <a:p>
            <a:r>
              <a:rPr lang="en-US" dirty="0"/>
              <a:t>Typical mistake this week: I have 35 years. Write the correct form on the board and point learners to the note on their Grammar page; you don't need to explain it.</a:t>
            </a:r>
          </a:p>
          <a:p>
            <a:r>
              <a:rPr lang="en-US" dirty="0"/>
              <a:t>Privacy: married / single is optional; never ask about immigration status, money, or exact addresses.</a:t>
            </a:r>
          </a:p>
          <a:p>
            <a:r>
              <a:rPr lang="en-US" dirty="0"/>
              <a:t>Source: Level2_Curriculum_v4_1_public.md, Lesson 1 (Common mistakes table;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G1img" Type="http://schemas.openxmlformats.org/officeDocument/2006/relationships/image" Target="../media/g1_what_about_you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G1" Type="http://schemas.openxmlformats.org/officeDocument/2006/relationships/image" Target="../media/g_L1_from.png"/><Relationship Id="rIdG2" Type="http://schemas.openxmlformats.org/officeDocument/2006/relationships/image" Target="../media/g_L1_live.png"/><Relationship Id="rIdG3" Type="http://schemas.openxmlformats.org/officeDocument/2006/relationships/image" Target="../media/g_L1_work.png"/><Relationship Id="rIdG4" Type="http://schemas.openxmlformats.org/officeDocument/2006/relationships/image" Target="../media/g_L1_job.png"/><Relationship Id="rIdG5" Type="http://schemas.openxmlformats.org/officeDocument/2006/relationships/image" Target="../media/g_L1_neighborhood.png"/><Relationship Id="rIdG6" Type="http://schemas.openxmlformats.org/officeDocument/2006/relationships/image" Target="../media/g_L1_married_singl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5.xml.rels><?xml version='1.0' encoding='UTF-8' standalone='yes'?>
<Relationships xmlns="http://schemas.openxmlformats.org/package/2006/relationships"><Relationship Id="rIdG1" Type="http://schemas.openxmlformats.org/officeDocument/2006/relationships/image" Target="../media/g_L1_kids.png"/><Relationship Id="rIdG2" Type="http://schemas.openxmlformats.org/officeDocument/2006/relationships/image" Target="../media/g_L1_brother_sister.png"/><Relationship Id="rIdG3" Type="http://schemas.openxmlformats.org/officeDocument/2006/relationships/image" Target="../media/g_L1_hometown.png"/><Relationship Id="rIdG4" Type="http://schemas.openxmlformats.org/officeDocument/2006/relationships/image" Target="../media/g_L1_near.png"/><Relationship Id="rIdG5" Type="http://schemas.openxmlformats.org/officeDocument/2006/relationships/image" Target="../media/g_L1_nice_to_meet_you.png"/><Relationship Id="rIdG6" Type="http://schemas.openxmlformats.org/officeDocument/2006/relationships/image" Target="../media/g_L1_what_about_you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7.xml.rels><?xml version='1.0' encoding='UTF-8' standalone='yes'?>
<Relationships xmlns="http://schemas.openxmlformats.org/package/2006/relationships"><Relationship Id="rIdG1" Type="http://schemas.openxmlformats.org/officeDocument/2006/relationships/image" Target="../media/g_L1_job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9.xml.rels><?xml version='1.0' encoding='UTF-8' standalone='yes'?>
<Relationships xmlns="http://schemas.openxmlformats.org/package/2006/relationships"><Relationship Id="rIdG1" Type="http://schemas.openxmlformats.org/officeDocument/2006/relationships/image" Target="../media/g_L1_from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G1" Type="http://schemas.openxmlformats.org/officeDocument/2006/relationships/image" Target="../media/g_L1_wor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G1" Type="http://schemas.openxmlformats.org/officeDocument/2006/relationships/image" Target="../media/g_L1_liv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G1" Type="http://schemas.openxmlformats.org/officeDocument/2006/relationships/image" Target="../media/g_L1_hometown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G1" Type="http://schemas.openxmlformats.org/officeDocument/2006/relationships/image" Target="../media/g_L1_married_singl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G1" Type="http://schemas.openxmlformats.org/officeDocument/2006/relationships/image" Target="../media/g_L1_kids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G1" Type="http://schemas.openxmlformats.org/officeDocument/2006/relationships/image" Target="../media/g_L1_near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G1" Type="http://schemas.openxmlformats.org/officeDocument/2006/relationships/image" Target="../media/g_L1_what_about_you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Image 0" descr="/workspace/level2_curriculum/images/L1_nice_to_meet_y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  ·  Level 2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Nice to Meet You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and answer questions about you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Choose: be or do?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Introduce a partner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ture What about you" descr="A hand pointing at you and a question mark"/>
          <p:cNvPicPr>
            <a:picLocks noChangeAspect="1"/>
          </p:cNvPicPr>
          <p:nvPr/>
        </p:nvPicPr>
        <p:blipFill>
          <a:blip r:embed="rIdG1img"/>
          <a:stretch>
            <a:fillRect/>
          </a:stretch>
        </p:blipFill>
        <p:spPr>
          <a:xfrm>
            <a:off x="6799936" y="2104034"/>
            <a:ext cx="4754880" cy="3328416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 Chain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30175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your name.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one thing you like.</a:t>
            </a:r>
            <a:endParaRPr lang="en-US" sz="2200" dirty="0"/>
          </a:p>
        </p:txBody>
      </p:sp>
      <p:sp>
        <p:nvSpPr>
          <p:cNvPr id="13" name="Model Ana"/>
          <p:cNvSpPr/>
          <p:nvPr/>
        </p:nvSpPr>
        <p:spPr>
          <a:xfrm>
            <a:off x="599846" y="40233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Ana: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Ana. I like coffee.</a:t>
            </a:r>
            <a:endParaRPr lang="en-US" sz="2200" dirty="0"/>
          </a:p>
        </p:txBody>
      </p:sp>
      <p:sp>
        <p:nvSpPr>
          <p:cNvPr id="14" name="Model Carlos"/>
          <p:cNvSpPr/>
          <p:nvPr/>
        </p:nvSpPr>
        <p:spPr>
          <a:xfrm>
            <a:off x="599846" y="470916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Carlos: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She's Ana. She likes coffee.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Carlos. I like soccer.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 times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6:00–6:45 and 7:00–7:15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 rot="10800000">
            <a:off x="6361481" y="22302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810512" y="312724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Break: 6:45–7:00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 rot="10800000">
            <a:off x="6361481" y="326075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810512" y="383865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time: 7:15–7:30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6361481" y="39556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810512" y="455005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English in class, please!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 rot="10800000">
            <a:off x="6361481" y="466709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810512" y="526145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Phones OK: audio, dictionary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10800000">
            <a:off x="6361481" y="5377586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Our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 Works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Stuck? A classmate can help for a few seconds. Then back to English.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every week.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short!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pic>
        <p:nvPicPr>
          <p:cNvPr id="17" name="Word picture 1" descr="from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from</a:t>
            </a:r>
            <a:endParaRPr lang="en-US" sz="2000" dirty="0"/>
          </a:p>
        </p:txBody>
      </p:sp>
      <p:pic>
        <p:nvPicPr>
          <p:cNvPr id="19" name="Word picture 2" descr="live"/>
          <p:cNvPicPr>
            <a:picLocks noChangeAspect="1"/>
          </p:cNvPicPr>
          <p:nvPr/>
        </p:nvPicPr>
        <p:blipFill>
          <a:blip r:embed="rIdG2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live</a:t>
            </a:r>
            <a:endParaRPr lang="en-US" sz="2000" dirty="0"/>
          </a:p>
        </p:txBody>
      </p:sp>
      <p:pic>
        <p:nvPicPr>
          <p:cNvPr id="21" name="Word picture 3" descr="work"/>
          <p:cNvPicPr>
            <a:picLocks noChangeAspect="1"/>
          </p:cNvPicPr>
          <p:nvPr/>
        </p:nvPicPr>
        <p:blipFill>
          <a:blip r:embed="rIdG3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endParaRPr lang="en-US" sz="2000" dirty="0"/>
          </a:p>
        </p:txBody>
      </p:sp>
      <p:pic>
        <p:nvPicPr>
          <p:cNvPr id="23" name="Word picture 4" descr="job"/>
          <p:cNvPicPr>
            <a:picLocks noChangeAspect="1"/>
          </p:cNvPicPr>
          <p:nvPr/>
        </p:nvPicPr>
        <p:blipFill>
          <a:blip r:embed="rIdG4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job</a:t>
            </a:r>
            <a:endParaRPr lang="en-US" sz="2000" dirty="0"/>
          </a:p>
        </p:txBody>
      </p:sp>
      <p:pic>
        <p:nvPicPr>
          <p:cNvPr id="25" name="Word picture 5" descr="neighborhood"/>
          <p:cNvPicPr>
            <a:picLocks noChangeAspect="1"/>
          </p:cNvPicPr>
          <p:nvPr/>
        </p:nvPicPr>
        <p:blipFill>
          <a:blip r:embed="rIdG5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neighborhood</a:t>
            </a:r>
            <a:endParaRPr lang="en-US" sz="2000" dirty="0"/>
          </a:p>
        </p:txBody>
      </p:sp>
      <p:pic>
        <p:nvPicPr>
          <p:cNvPr id="27" name="Word picture 6" descr="married / single"/>
          <p:cNvPicPr>
            <a:picLocks noChangeAspect="1"/>
          </p:cNvPicPr>
          <p:nvPr/>
        </p:nvPicPr>
        <p:blipFill>
          <a:blip r:embed="rIdG6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married / single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Point. Say.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Switch!</a:t>
            </a:r>
            <a:endParaRPr lang="en-US" sz="2200" dirty="0"/>
          </a:p>
        </p:txBody>
      </p:sp>
      <p:pic>
        <p:nvPicPr>
          <p:cNvPr id="17" name="Word picture 1" descr="kids (children)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kids (children)</a:t>
            </a:r>
            <a:endParaRPr lang="en-US" sz="2000" dirty="0"/>
          </a:p>
        </p:txBody>
      </p:sp>
      <p:pic>
        <p:nvPicPr>
          <p:cNvPr id="19" name="Word picture 2" descr="brother / sister"/>
          <p:cNvPicPr>
            <a:picLocks noChangeAspect="1"/>
          </p:cNvPicPr>
          <p:nvPr/>
        </p:nvPicPr>
        <p:blipFill>
          <a:blip r:embed="rIdG2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brother / sister</a:t>
            </a:r>
            <a:endParaRPr lang="en-US" sz="2000" dirty="0"/>
          </a:p>
        </p:txBody>
      </p:sp>
      <p:pic>
        <p:nvPicPr>
          <p:cNvPr id="21" name="Word picture 3" descr="hometown"/>
          <p:cNvPicPr>
            <a:picLocks noChangeAspect="1"/>
          </p:cNvPicPr>
          <p:nvPr/>
        </p:nvPicPr>
        <p:blipFill>
          <a:blip r:embed="rIdG3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hometown</a:t>
            </a:r>
            <a:endParaRPr lang="en-US" sz="2000" dirty="0"/>
          </a:p>
        </p:txBody>
      </p:sp>
      <p:pic>
        <p:nvPicPr>
          <p:cNvPr id="23" name="Word picture 4" descr="near"/>
          <p:cNvPicPr>
            <a:picLocks noChangeAspect="1"/>
          </p:cNvPicPr>
          <p:nvPr/>
        </p:nvPicPr>
        <p:blipFill>
          <a:blip r:embed="rIdG4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near</a:t>
            </a:r>
            <a:endParaRPr lang="en-US" sz="2000" dirty="0"/>
          </a:p>
        </p:txBody>
      </p:sp>
      <p:pic>
        <p:nvPicPr>
          <p:cNvPr id="25" name="Word picture 5" descr="Nice to meet you"/>
          <p:cNvPicPr>
            <a:picLocks noChangeAspect="1"/>
          </p:cNvPicPr>
          <p:nvPr/>
        </p:nvPicPr>
        <p:blipFill>
          <a:blip r:embed="rIdG5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Nice to meet you</a:t>
            </a:r>
            <a:endParaRPr lang="en-US" sz="2000" dirty="0"/>
          </a:p>
        </p:txBody>
      </p:sp>
      <p:pic>
        <p:nvPicPr>
          <p:cNvPr id="27" name="Word picture 6" descr="What about you?"/>
          <p:cNvPicPr>
            <a:picLocks noChangeAspect="1"/>
          </p:cNvPicPr>
          <p:nvPr/>
        </p:nvPicPr>
        <p:blipFill>
          <a:blip r:embed="rIdG6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about you?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to Rosa and Sam.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 or False?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7" name="Statement 1"/>
          <p:cNvSpPr/>
          <p:nvPr/>
        </p:nvSpPr>
        <p:spPr>
          <a:xfrm>
            <a:off x="502920" y="3127248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Sam is new.</a:t>
            </a:r>
            <a:endParaRPr lang="en-US" sz="2200" dirty="0"/>
          </a:p>
        </p:txBody>
      </p:sp>
      <p:sp>
        <p:nvSpPr>
          <p:cNvPr id="28" name="True 1"/>
          <p:cNvSpPr/>
          <p:nvPr/>
        </p:nvSpPr>
        <p:spPr>
          <a:xfrm>
            <a:off x="658368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29" name="False 1"/>
          <p:cNvSpPr/>
          <p:nvPr/>
        </p:nvSpPr>
        <p:spPr>
          <a:xfrm>
            <a:off x="832104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30" name="Circle 1"/>
          <p:cNvSpPr/>
          <p:nvPr/>
        </p:nvSpPr>
        <p:spPr>
          <a:xfrm>
            <a:off x="6455664" y="3063240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Statement 2"/>
          <p:cNvSpPr/>
          <p:nvPr/>
        </p:nvSpPr>
        <p:spPr>
          <a:xfrm>
            <a:off x="502920" y="3785616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Sam is from Colombia.</a:t>
            </a:r>
            <a:endParaRPr lang="en-US" sz="2200" dirty="0"/>
          </a:p>
        </p:txBody>
      </p:sp>
      <p:sp>
        <p:nvSpPr>
          <p:cNvPr id="32" name="True 2"/>
          <p:cNvSpPr/>
          <p:nvPr/>
        </p:nvSpPr>
        <p:spPr>
          <a:xfrm>
            <a:off x="658368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33" name="False 2"/>
          <p:cNvSpPr/>
          <p:nvPr/>
        </p:nvSpPr>
        <p:spPr>
          <a:xfrm>
            <a:off x="832104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34" name="Circle 2"/>
          <p:cNvSpPr/>
          <p:nvPr/>
        </p:nvSpPr>
        <p:spPr>
          <a:xfrm>
            <a:off x="8193024" y="3721608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Fix 2"/>
          <p:cNvSpPr/>
          <p:nvPr/>
        </p:nvSpPr>
        <p:spPr>
          <a:xfrm>
            <a:off x="9921240" y="3785616"/>
            <a:ext cx="17373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Honduras</a:t>
            </a:r>
            <a:endParaRPr lang="en-US" sz="2200" dirty="0"/>
          </a:p>
        </p:txBody>
      </p:sp>
      <p:sp>
        <p:nvSpPr>
          <p:cNvPr id="36" name="Statement 3"/>
          <p:cNvSpPr/>
          <p:nvPr/>
        </p:nvSpPr>
        <p:spPr>
          <a:xfrm>
            <a:off x="502920" y="4443984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Rosa lives on Pine Street.</a:t>
            </a:r>
            <a:endParaRPr lang="en-US" sz="2200" dirty="0"/>
          </a:p>
        </p:txBody>
      </p:sp>
      <p:sp>
        <p:nvSpPr>
          <p:cNvPr id="37" name="True 3"/>
          <p:cNvSpPr/>
          <p:nvPr/>
        </p:nvSpPr>
        <p:spPr>
          <a:xfrm>
            <a:off x="658368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38" name="False 3"/>
          <p:cNvSpPr/>
          <p:nvPr/>
        </p:nvSpPr>
        <p:spPr>
          <a:xfrm>
            <a:off x="832104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39" name="Circle 3"/>
          <p:cNvSpPr/>
          <p:nvPr/>
        </p:nvSpPr>
        <p:spPr>
          <a:xfrm>
            <a:off x="6455664" y="4379976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Statement 4"/>
          <p:cNvSpPr/>
          <p:nvPr/>
        </p:nvSpPr>
        <p:spPr>
          <a:xfrm>
            <a:off x="502920" y="5102352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Sam works at a bakery.</a:t>
            </a:r>
            <a:endParaRPr lang="en-US" sz="2200" dirty="0"/>
          </a:p>
        </p:txBody>
      </p:sp>
      <p:sp>
        <p:nvSpPr>
          <p:cNvPr id="41" name="True 4"/>
          <p:cNvSpPr/>
          <p:nvPr/>
        </p:nvSpPr>
        <p:spPr>
          <a:xfrm>
            <a:off x="658368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42" name="False 4"/>
          <p:cNvSpPr/>
          <p:nvPr/>
        </p:nvSpPr>
        <p:spPr>
          <a:xfrm>
            <a:off x="832104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8193024" y="5038344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4" name="Fix 4"/>
          <p:cNvSpPr/>
          <p:nvPr/>
        </p:nvSpPr>
        <p:spPr>
          <a:xfrm>
            <a:off x="9921240" y="5102352"/>
            <a:ext cx="17373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hotel</a:t>
            </a:r>
            <a:endParaRPr lang="en-US" sz="2200" dirty="0"/>
          </a:p>
        </p:txBody>
      </p:sp>
      <p:sp>
        <p:nvSpPr>
          <p:cNvPr id="45" name="Statement 5"/>
          <p:cNvSpPr/>
          <p:nvPr/>
        </p:nvSpPr>
        <p:spPr>
          <a:xfrm>
            <a:off x="502920" y="5760720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 Rosa has two daughters.</a:t>
            </a:r>
            <a:endParaRPr lang="en-US" sz="2200" dirty="0"/>
          </a:p>
        </p:txBody>
      </p:sp>
      <p:sp>
        <p:nvSpPr>
          <p:cNvPr id="46" name="True 5"/>
          <p:cNvSpPr/>
          <p:nvPr/>
        </p:nvSpPr>
        <p:spPr>
          <a:xfrm>
            <a:off x="658368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47" name="False 5"/>
          <p:cNvSpPr/>
          <p:nvPr/>
        </p:nvSpPr>
        <p:spPr>
          <a:xfrm>
            <a:off x="832104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48" name="Circle 5"/>
          <p:cNvSpPr/>
          <p:nvPr/>
        </p:nvSpPr>
        <p:spPr>
          <a:xfrm>
            <a:off x="6455664" y="5696712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" descr="A cook, a mechanic and a teacher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274739" y="3680460"/>
            <a:ext cx="3449900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107278" y="1382573"/>
            <a:ext cx="5577840" cy="11887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2799893"/>
            <a:ext cx="5577840" cy="11887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107278" y="4217213"/>
            <a:ext cx="5577840" cy="11887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1887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581912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581912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9516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 is a ...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035040" y="2743200"/>
            <a:ext cx="5577840" cy="118872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2999232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2999232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 starts work at ...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035040" y="4160520"/>
            <a:ext cx="5577840" cy="11887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4416552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172200" y="4416552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995160" y="4251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 lives with his ...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5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Circle the answer.</a:t>
            </a:r>
            <a:endParaRPr lang="en-US" sz="2000" dirty="0"/>
          </a:p>
        </p:txBody>
      </p:sp>
      <p:sp>
        <p:nvSpPr>
          <p:cNvPr id="27" name="Option 11"/>
          <p:cNvSpPr/>
          <p:nvPr/>
        </p:nvSpPr>
        <p:spPr>
          <a:xfrm>
            <a:off x="6995160" y="194767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</a:t>
            </a:r>
            <a:endParaRPr lang="en-US" sz="2000" dirty="0"/>
          </a:p>
        </p:txBody>
      </p:sp>
      <p:sp>
        <p:nvSpPr>
          <p:cNvPr id="28" name="Circle 1"/>
          <p:cNvSpPr/>
          <p:nvPr/>
        </p:nvSpPr>
        <p:spPr>
          <a:xfrm>
            <a:off x="6885432" y="1883664"/>
            <a:ext cx="1545336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Option 12"/>
          <p:cNvSpPr/>
          <p:nvPr/>
        </p:nvSpPr>
        <p:spPr>
          <a:xfrm>
            <a:off x="8503920" y="194767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driver</a:t>
            </a:r>
            <a:endParaRPr lang="en-US" sz="2000" dirty="0"/>
          </a:p>
        </p:txBody>
      </p:sp>
      <p:sp>
        <p:nvSpPr>
          <p:cNvPr id="30" name="Option 13"/>
          <p:cNvSpPr/>
          <p:nvPr/>
        </p:nvSpPr>
        <p:spPr>
          <a:xfrm>
            <a:off x="10012680" y="194767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teacher</a:t>
            </a:r>
            <a:endParaRPr lang="en-US" sz="2000" dirty="0"/>
          </a:p>
        </p:txBody>
      </p:sp>
      <p:sp>
        <p:nvSpPr>
          <p:cNvPr id="31" name="Option 21"/>
          <p:cNvSpPr/>
          <p:nvPr/>
        </p:nvSpPr>
        <p:spPr>
          <a:xfrm>
            <a:off x="6995160" y="336499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5:00</a:t>
            </a:r>
            <a:endParaRPr lang="en-US" sz="2000" dirty="0"/>
          </a:p>
        </p:txBody>
      </p:sp>
      <p:sp>
        <p:nvSpPr>
          <p:cNvPr id="32" name="Circle 2"/>
          <p:cNvSpPr/>
          <p:nvPr/>
        </p:nvSpPr>
        <p:spPr>
          <a:xfrm>
            <a:off x="6885432" y="3300984"/>
            <a:ext cx="1545336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3" name="Option 22"/>
          <p:cNvSpPr/>
          <p:nvPr/>
        </p:nvSpPr>
        <p:spPr>
          <a:xfrm>
            <a:off x="8503920" y="336499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</a:t>
            </a:r>
            <a:endParaRPr lang="en-US" sz="2000" dirty="0"/>
          </a:p>
        </p:txBody>
      </p:sp>
      <p:sp>
        <p:nvSpPr>
          <p:cNvPr id="34" name="Option 23"/>
          <p:cNvSpPr/>
          <p:nvPr/>
        </p:nvSpPr>
        <p:spPr>
          <a:xfrm>
            <a:off x="10012680" y="336499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9:00</a:t>
            </a:r>
            <a:endParaRPr lang="en-US" sz="2000" dirty="0"/>
          </a:p>
        </p:txBody>
      </p:sp>
      <p:sp>
        <p:nvSpPr>
          <p:cNvPr id="35" name="Option 31"/>
          <p:cNvSpPr/>
          <p:nvPr/>
        </p:nvSpPr>
        <p:spPr>
          <a:xfrm>
            <a:off x="6995160" y="478231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wife</a:t>
            </a:r>
            <a:endParaRPr lang="en-US" sz="2000" dirty="0"/>
          </a:p>
        </p:txBody>
      </p:sp>
      <p:sp>
        <p:nvSpPr>
          <p:cNvPr id="36" name="Option 32"/>
          <p:cNvSpPr/>
          <p:nvPr/>
        </p:nvSpPr>
        <p:spPr>
          <a:xfrm>
            <a:off x="8503920" y="478231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brother</a:t>
            </a:r>
            <a:endParaRPr lang="en-US" sz="2000" dirty="0"/>
          </a:p>
        </p:txBody>
      </p:sp>
      <p:sp>
        <p:nvSpPr>
          <p:cNvPr id="37" name="Circle 3"/>
          <p:cNvSpPr/>
          <p:nvPr/>
        </p:nvSpPr>
        <p:spPr>
          <a:xfrm>
            <a:off x="8394192" y="4718304"/>
            <a:ext cx="1545336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8" name="Option 33"/>
          <p:cNvSpPr/>
          <p:nvPr/>
        </p:nvSpPr>
        <p:spPr>
          <a:xfrm>
            <a:off x="10012680" y="478231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sister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are or do.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____ you from?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____ you live?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 work near here?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 married?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do we use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do we use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4" name="Answer 1"/>
          <p:cNvSpPr/>
          <p:nvPr/>
        </p:nvSpPr>
        <p:spPr>
          <a:xfrm>
            <a:off x="5468112" y="3200400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  <p:sp>
        <p:nvSpPr>
          <p:cNvPr id="35" name="Answer 2"/>
          <p:cNvSpPr/>
          <p:nvPr/>
        </p:nvSpPr>
        <p:spPr>
          <a:xfrm>
            <a:off x="5468112" y="3911803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36" name="Answer 3"/>
          <p:cNvSpPr/>
          <p:nvPr/>
        </p:nvSpPr>
        <p:spPr>
          <a:xfrm>
            <a:off x="5468112" y="4623206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37" name="Answer 4"/>
          <p:cNvSpPr/>
          <p:nvPr/>
        </p:nvSpPr>
        <p:spPr>
          <a:xfrm>
            <a:off x="5468112" y="5334610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ture" descr="A globe with a map pin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699516" y="2265152"/>
            <a:ext cx="3326587" cy="2328611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Questions with 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8" name="Highlight 1"/>
          <p:cNvSpPr/>
          <p:nvPr/>
        </p:nvSpPr>
        <p:spPr>
          <a:xfrm>
            <a:off x="5138928" y="3977640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9" name="Helper 1"/>
          <p:cNvSpPr/>
          <p:nvPr/>
        </p:nvSpPr>
        <p:spPr>
          <a:xfrm>
            <a:off x="5138928" y="3794760"/>
            <a:ext cx="9601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600" dirty="0"/>
          </a:p>
        </p:txBody>
      </p:sp>
      <p:sp>
        <p:nvSpPr>
          <p:cNvPr id="20" name="Question 1"/>
          <p:cNvSpPr/>
          <p:nvPr/>
        </p:nvSpPr>
        <p:spPr>
          <a:xfrm>
            <a:off x="6144768" y="3794760"/>
            <a:ext cx="251460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new here?</a:t>
            </a:r>
            <a:endParaRPr lang="en-US" sz="2200" dirty="0"/>
          </a:p>
        </p:txBody>
      </p:sp>
      <p:sp>
        <p:nvSpPr>
          <p:cNvPr id="22" name="Answer bg 1"/>
          <p:cNvSpPr/>
          <p:nvPr/>
        </p:nvSpPr>
        <p:spPr>
          <a:xfrm>
            <a:off x="8668512" y="3794760"/>
            <a:ext cx="3017520" cy="9326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1" name="Answer 1"/>
          <p:cNvSpPr/>
          <p:nvPr/>
        </p:nvSpPr>
        <p:spPr>
          <a:xfrm>
            <a:off x="8668512" y="3794760"/>
            <a:ext cx="30175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I'm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23" name="Highlight 2"/>
          <p:cNvSpPr/>
          <p:nvPr/>
        </p:nvSpPr>
        <p:spPr>
          <a:xfrm>
            <a:off x="5138928" y="5166360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Helper 2"/>
          <p:cNvSpPr/>
          <p:nvPr/>
        </p:nvSpPr>
        <p:spPr>
          <a:xfrm>
            <a:off x="5138928" y="4983480"/>
            <a:ext cx="9601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600" dirty="0"/>
          </a:p>
        </p:txBody>
      </p:sp>
      <p:sp>
        <p:nvSpPr>
          <p:cNvPr id="25" name="Question 2"/>
          <p:cNvSpPr/>
          <p:nvPr/>
        </p:nvSpPr>
        <p:spPr>
          <a:xfrm>
            <a:off x="6144768" y="4983480"/>
            <a:ext cx="251460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a cook?</a:t>
            </a:r>
            <a:endParaRPr lang="en-US" sz="2200" dirty="0"/>
          </a:p>
        </p:txBody>
      </p:sp>
      <p:sp>
        <p:nvSpPr>
          <p:cNvPr id="27" name="Answer bg 2"/>
          <p:cNvSpPr/>
          <p:nvPr/>
        </p:nvSpPr>
        <p:spPr>
          <a:xfrm>
            <a:off x="8668512" y="4983480"/>
            <a:ext cx="3017520" cy="9326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8668512" y="4983480"/>
            <a:ext cx="30175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ture" descr="Two people at work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598664" y="1217386"/>
            <a:ext cx="3254350" cy="2278045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Questions with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/ does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79476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20" name="A head"/>
          <p:cNvSpPr/>
          <p:nvPr/>
        </p:nvSpPr>
        <p:spPr>
          <a:xfrm>
            <a:off x="7040880" y="379476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21" name="Highlight 1"/>
          <p:cNvSpPr/>
          <p:nvPr/>
        </p:nvSpPr>
        <p:spPr>
          <a:xfrm>
            <a:off x="1481328" y="4453128"/>
            <a:ext cx="11887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4315968"/>
            <a:ext cx="118872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600" dirty="0"/>
          </a:p>
        </p:txBody>
      </p:sp>
      <p:sp>
        <p:nvSpPr>
          <p:cNvPr id="23" name="Question 1"/>
          <p:cNvSpPr/>
          <p:nvPr/>
        </p:nvSpPr>
        <p:spPr>
          <a:xfrm>
            <a:off x="2697480" y="4315968"/>
            <a:ext cx="329184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have kids?</a:t>
            </a:r>
            <a:endParaRPr lang="en-US" sz="2200" dirty="0"/>
          </a:p>
        </p:txBody>
      </p:sp>
      <p:sp>
        <p:nvSpPr>
          <p:cNvPr id="25" name="Answer bg 1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Answer 1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26" name="Highlight 2"/>
          <p:cNvSpPr/>
          <p:nvPr/>
        </p:nvSpPr>
        <p:spPr>
          <a:xfrm>
            <a:off x="1481328" y="5367528"/>
            <a:ext cx="11887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5230368"/>
            <a:ext cx="118872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600" dirty="0"/>
          </a:p>
        </p:txBody>
      </p:sp>
      <p:sp>
        <p:nvSpPr>
          <p:cNvPr id="28" name="Question 2"/>
          <p:cNvSpPr/>
          <p:nvPr/>
        </p:nvSpPr>
        <p:spPr>
          <a:xfrm>
            <a:off x="2697480" y="5230368"/>
            <a:ext cx="329184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work at night?</a:t>
            </a:r>
            <a:endParaRPr lang="en-US" sz="2200" dirty="0"/>
          </a:p>
        </p:txBody>
      </p:sp>
      <p:sp>
        <p:nvSpPr>
          <p:cNvPr id="30" name="Answer bg 2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2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Wh-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Questions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3: the question word comes first.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ture live" descr="A person and a house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Highlight 1"/>
          <p:cNvSpPr/>
          <p:nvPr/>
        </p:nvSpPr>
        <p:spPr>
          <a:xfrm>
            <a:off x="5349240" y="4251960"/>
            <a:ext cx="8229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Wh 1"/>
          <p:cNvSpPr/>
          <p:nvPr/>
        </p:nvSpPr>
        <p:spPr>
          <a:xfrm>
            <a:off x="4389120" y="4251960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2200" dirty="0"/>
          </a:p>
        </p:txBody>
      </p:sp>
      <p:sp>
        <p:nvSpPr>
          <p:cNvPr id="27" name="Helper 1"/>
          <p:cNvSpPr/>
          <p:nvPr/>
        </p:nvSpPr>
        <p:spPr>
          <a:xfrm>
            <a:off x="5349240" y="4251960"/>
            <a:ext cx="8229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  <p:sp>
        <p:nvSpPr>
          <p:cNvPr id="28" name="Rest 1"/>
          <p:cNvSpPr/>
          <p:nvPr/>
        </p:nvSpPr>
        <p:spPr>
          <a:xfrm>
            <a:off x="6217920" y="4251960"/>
            <a:ext cx="17373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from?</a:t>
            </a:r>
            <a:endParaRPr lang="en-US" sz="2200" dirty="0"/>
          </a:p>
        </p:txBody>
      </p:sp>
      <p:sp>
        <p:nvSpPr>
          <p:cNvPr id="29" name="Highlight 2"/>
          <p:cNvSpPr/>
          <p:nvPr/>
        </p:nvSpPr>
        <p:spPr>
          <a:xfrm>
            <a:off x="5349240" y="5056632"/>
            <a:ext cx="8229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Wh 2"/>
          <p:cNvSpPr/>
          <p:nvPr/>
        </p:nvSpPr>
        <p:spPr>
          <a:xfrm>
            <a:off x="4389120" y="5056632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2200" dirty="0"/>
          </a:p>
        </p:txBody>
      </p:sp>
      <p:sp>
        <p:nvSpPr>
          <p:cNvPr id="31" name="Helper 2"/>
          <p:cNvSpPr/>
          <p:nvPr/>
        </p:nvSpPr>
        <p:spPr>
          <a:xfrm>
            <a:off x="5349240" y="5056632"/>
            <a:ext cx="8229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32" name="Rest 2"/>
          <p:cNvSpPr/>
          <p:nvPr/>
        </p:nvSpPr>
        <p:spPr>
          <a:xfrm>
            <a:off x="6217920" y="5056632"/>
            <a:ext cx="17373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live?</a:t>
            </a:r>
            <a:endParaRPr lang="en-US" sz="2200" dirty="0"/>
          </a:p>
        </p:txBody>
      </p:sp>
      <p:sp>
        <p:nvSpPr>
          <p:cNvPr id="33" name="Highlight 3"/>
          <p:cNvSpPr/>
          <p:nvPr/>
        </p:nvSpPr>
        <p:spPr>
          <a:xfrm>
            <a:off x="5349240" y="5861304"/>
            <a:ext cx="8229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4" name="Wh 3"/>
          <p:cNvSpPr/>
          <p:nvPr/>
        </p:nvSpPr>
        <p:spPr>
          <a:xfrm>
            <a:off x="4389120" y="5861304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35" name="Helper 3"/>
          <p:cNvSpPr/>
          <p:nvPr/>
        </p:nvSpPr>
        <p:spPr>
          <a:xfrm>
            <a:off x="5349240" y="5861304"/>
            <a:ext cx="8229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36" name="Rest 3"/>
          <p:cNvSpPr/>
          <p:nvPr/>
        </p:nvSpPr>
        <p:spPr>
          <a:xfrm>
            <a:off x="6217920" y="5861304"/>
            <a:ext cx="17373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do?</a:t>
            </a:r>
            <a:endParaRPr lang="en-US" sz="2200" dirty="0"/>
          </a:p>
        </p:txBody>
      </p:sp>
      <p:sp>
        <p:nvSpPr>
          <p:cNvPr id="37" name="Order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Word order</a:t>
            </a:r>
            <a:endParaRPr lang="en-US" sz="2400" dirty="0"/>
          </a:p>
        </p:txBody>
      </p:sp>
      <p:sp>
        <p:nvSpPr>
          <p:cNvPr id="38" name="Step num 1"/>
          <p:cNvSpPr/>
          <p:nvPr/>
        </p:nvSpPr>
        <p:spPr>
          <a:xfrm>
            <a:off x="8549640" y="196596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39" name="Step 1"/>
          <p:cNvSpPr/>
          <p:nvPr/>
        </p:nvSpPr>
        <p:spPr>
          <a:xfrm>
            <a:off x="9235440" y="1965960"/>
            <a:ext cx="23774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 word</a:t>
            </a:r>
            <a:endParaRPr lang="en-US" sz="2200" dirty="0"/>
          </a:p>
        </p:txBody>
      </p:sp>
      <p:sp>
        <p:nvSpPr>
          <p:cNvPr id="40" name="Step num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41" name="Step 2"/>
          <p:cNvSpPr/>
          <p:nvPr/>
        </p:nvSpPr>
        <p:spPr>
          <a:xfrm>
            <a:off x="9235440" y="2697480"/>
            <a:ext cx="23774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Helper</a:t>
            </a:r>
            <a:endParaRPr lang="en-US" sz="2200" dirty="0"/>
          </a:p>
        </p:txBody>
      </p:sp>
      <p:sp>
        <p:nvSpPr>
          <p:cNvPr id="42" name="Step num 3"/>
          <p:cNvSpPr/>
          <p:nvPr/>
        </p:nvSpPr>
        <p:spPr>
          <a:xfrm>
            <a:off x="8549640" y="342900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43" name="Step 3"/>
          <p:cNvSpPr/>
          <p:nvPr/>
        </p:nvSpPr>
        <p:spPr>
          <a:xfrm>
            <a:off x="9235440" y="3429000"/>
            <a:ext cx="23774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Person</a:t>
            </a:r>
            <a:endParaRPr lang="en-US" sz="2200" dirty="0"/>
          </a:p>
        </p:txBody>
      </p:sp>
      <p:sp>
        <p:nvSpPr>
          <p:cNvPr id="44" name="Step num 4"/>
          <p:cNvSpPr/>
          <p:nvPr/>
        </p:nvSpPr>
        <p:spPr>
          <a:xfrm>
            <a:off x="8549640" y="416052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2200" dirty="0"/>
          </a:p>
        </p:txBody>
      </p:sp>
      <p:sp>
        <p:nvSpPr>
          <p:cNvPr id="45" name="Step 4"/>
          <p:cNvSpPr/>
          <p:nvPr/>
        </p:nvSpPr>
        <p:spPr>
          <a:xfrm>
            <a:off x="9235440" y="4160520"/>
            <a:ext cx="23774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rest</a:t>
            </a:r>
            <a:endParaRPr lang="en-US" sz="2200" dirty="0"/>
          </a:p>
        </p:txBody>
      </p:sp>
      <p:sp>
        <p:nvSpPr>
          <p:cNvPr id="46" name="Example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live?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21" name="Picture" descr="A hometown with a map pin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361188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361188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42519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you are from?</a:t>
            </a:r>
            <a:endParaRPr lang="en-US" sz="2200" dirty="0"/>
          </a:p>
        </p:txBody>
      </p:sp>
      <p:sp>
        <p:nvSpPr>
          <p:cNvPr id="25" name="Good 1"/>
          <p:cNvSpPr/>
          <p:nvPr/>
        </p:nvSpPr>
        <p:spPr>
          <a:xfrm>
            <a:off x="4800600" y="42519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from?</a:t>
            </a:r>
            <a:endParaRPr lang="en-US" sz="2200" dirty="0"/>
          </a:p>
        </p:txBody>
      </p:sp>
      <p:sp>
        <p:nvSpPr>
          <p:cNvPr id="26" name="Bad 2"/>
          <p:cNvSpPr/>
          <p:nvPr/>
        </p:nvSpPr>
        <p:spPr>
          <a:xfrm>
            <a:off x="914400" y="4873752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you live?</a:t>
            </a:r>
            <a:endParaRPr lang="en-US" sz="2200" dirty="0"/>
          </a:p>
        </p:txBody>
      </p:sp>
      <p:sp>
        <p:nvSpPr>
          <p:cNvPr id="27" name="Good 2"/>
          <p:cNvSpPr/>
          <p:nvPr/>
        </p:nvSpPr>
        <p:spPr>
          <a:xfrm>
            <a:off x="4800600" y="4873752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live?</a:t>
            </a:r>
            <a:endParaRPr lang="en-US" sz="2200" dirty="0"/>
          </a:p>
        </p:txBody>
      </p:sp>
      <p:sp>
        <p:nvSpPr>
          <p:cNvPr id="28" name="Bad 3"/>
          <p:cNvSpPr/>
          <p:nvPr/>
        </p:nvSpPr>
        <p:spPr>
          <a:xfrm>
            <a:off x="914400" y="549554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are married?</a:t>
            </a:r>
            <a:endParaRPr lang="en-US" sz="2200" dirty="0"/>
          </a:p>
        </p:txBody>
      </p:sp>
      <p:sp>
        <p:nvSpPr>
          <p:cNvPr id="29" name="Good 3"/>
          <p:cNvSpPr/>
          <p:nvPr/>
        </p:nvSpPr>
        <p:spPr>
          <a:xfrm>
            <a:off x="4800600" y="549554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married?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21" name="Picture" descr="Married and single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361188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361188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42519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35 years.</a:t>
            </a:r>
            <a:endParaRPr lang="en-US" sz="2200" dirty="0"/>
          </a:p>
        </p:txBody>
      </p:sp>
      <p:sp>
        <p:nvSpPr>
          <p:cNvPr id="25" name="Good 1"/>
          <p:cNvSpPr/>
          <p:nvPr/>
        </p:nvSpPr>
        <p:spPr>
          <a:xfrm>
            <a:off x="4800600" y="42519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'm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35.</a:t>
            </a:r>
            <a:endParaRPr lang="en-US" sz="2200" dirty="0"/>
          </a:p>
        </p:txBody>
      </p:sp>
      <p:sp>
        <p:nvSpPr>
          <p:cNvPr id="26" name="Bad 2"/>
          <p:cNvSpPr/>
          <p:nvPr/>
        </p:nvSpPr>
        <p:spPr>
          <a:xfrm>
            <a:off x="914400" y="4873752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from Peru.</a:t>
            </a:r>
            <a:endParaRPr lang="en-US" sz="2200" dirty="0"/>
          </a:p>
        </p:txBody>
      </p:sp>
      <p:sp>
        <p:nvSpPr>
          <p:cNvPr id="27" name="Good 2"/>
          <p:cNvSpPr/>
          <p:nvPr/>
        </p:nvSpPr>
        <p:spPr>
          <a:xfrm>
            <a:off x="4800600" y="4873752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She's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from Peru.</a:t>
            </a:r>
            <a:endParaRPr lang="en-US" sz="2200" dirty="0"/>
          </a:p>
        </p:txBody>
      </p:sp>
      <p:sp>
        <p:nvSpPr>
          <p:cNvPr id="28" name="Bad 3"/>
          <p:cNvSpPr/>
          <p:nvPr/>
        </p:nvSpPr>
        <p:spPr>
          <a:xfrm>
            <a:off x="914400" y="549554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live.</a:t>
            </a:r>
            <a:endParaRPr lang="en-US" sz="2200" dirty="0"/>
          </a:p>
        </p:txBody>
      </p:sp>
      <p:sp>
        <p:nvSpPr>
          <p:cNvPr id="29" name="Good 3"/>
          <p:cNvSpPr/>
          <p:nvPr/>
        </p:nvSpPr>
        <p:spPr>
          <a:xfrm>
            <a:off x="4800600" y="549554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 or Do?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helper word goes in the blank?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 like rice?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 tired?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____ she work?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5" name="Answer do"/>
          <p:cNvSpPr/>
          <p:nvPr/>
        </p:nvSpPr>
        <p:spPr>
          <a:xfrm>
            <a:off x="9601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800" dirty="0"/>
          </a:p>
        </p:txBody>
      </p:sp>
      <p:sp>
        <p:nvSpPr>
          <p:cNvPr id="26" name="Answer are"/>
          <p:cNvSpPr/>
          <p:nvPr/>
        </p:nvSpPr>
        <p:spPr>
          <a:xfrm>
            <a:off x="46177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800" dirty="0"/>
          </a:p>
        </p:txBody>
      </p:sp>
      <p:sp>
        <p:nvSpPr>
          <p:cNvPr id="27" name="Answer does"/>
          <p:cNvSpPr/>
          <p:nvPr/>
        </p:nvSpPr>
        <p:spPr>
          <a:xfrm>
            <a:off x="82753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21" name="Picture" descr="Three children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649224" y="2869067"/>
            <a:ext cx="2826410" cy="1978487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the same helper word.</a:t>
            </a:r>
            <a:endParaRPr lang="en-US" sz="2000" dirty="0"/>
          </a:p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Short Answers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new here?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I'm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have kids?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6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ture" descr="A house near a school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25707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Someone Who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Mingle. Talk to 6 or more people.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Make the question.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live near here?</a:t>
            </a:r>
            <a:endParaRPr lang="en-US" sz="2000" dirty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Someone says yes?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their name.</a:t>
            </a:r>
            <a:endParaRPr lang="en-US" sz="2000" dirty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one more question.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find a new person.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16" name="Picture" descr="A hand pointing and a question mark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19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question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and one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question.</a:t>
            </a:r>
            <a:endParaRPr lang="en-US" sz="2000" dirty="0"/>
          </a:p>
        </p:txBody>
      </p:sp>
      <p:sp>
        <p:nvSpPr>
          <p:cNvPr id="20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22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5 questions: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 with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/ does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 with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 / is / are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answers.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Bonus: ask one person!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2000" dirty="0"/>
          </a:p>
        </p:txBody>
      </p:sp>
      <p:sp>
        <p:nvSpPr>
          <p:cNvPr id="17" name="AudioFontCredits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Chatterbox TTS (Resemble AI, MIT); AI voices with a Perth watermark. Font: Lexend Deca (OFL 1.1). Provided as-is, without warranty.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1: Nice to Meet You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