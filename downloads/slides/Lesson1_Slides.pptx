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7" r:id="rId13"/>
    <p:sldId id="265" r:id="rId11"/>
    <p:sldId id="276" r:id="rId27"/>
    <p:sldId id="272" r:id="rId18"/>
    <p:sldId id="268" r:id="rId14"/>
    <p:sldId id="277" r:id="rId28"/>
    <p:sldId id="260" r:id="rId6"/>
    <p:sldId id="259" r:id="rId5"/>
    <p:sldId id="264" r:id="rId10"/>
    <p:sldId id="261" r:id="rId7"/>
    <p:sldId id="278" r:id="rId29"/>
    <p:sldId id="262" r:id="rId8"/>
    <p:sldId id="266" r:id="rId12"/>
    <p:sldId id="270" r:id="rId16"/>
    <p:sldId id="271" r:id="rId17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12.xml"/><Relationship Id="rId8" Type="http://schemas.openxmlformats.org/officeDocument/2006/relationships/slide" Target="slides/slide14.xml"/><Relationship Id="rId10" Type="http://schemas.openxmlformats.org/officeDocument/2006/relationships/slide" Target="slides/slide11.xml"/><Relationship Id="rId11" Type="http://schemas.openxmlformats.org/officeDocument/2006/relationships/slide" Target="slides/slide4.xml"/><Relationship Id="rId12" Type="http://schemas.openxmlformats.org/officeDocument/2006/relationships/slide" Target="slides/slide15.xml"/><Relationship Id="rId13" Type="http://schemas.openxmlformats.org/officeDocument/2006/relationships/slide" Target="slides/slide3.xml"/><Relationship Id="rId14" Type="http://schemas.openxmlformats.org/officeDocument/2006/relationships/slide" Target="slides/slide7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6.xml"/><Relationship Id="rId20" Type="http://schemas.openxmlformats.org/officeDocument/2006/relationships/slide" Target="slides/slide1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5.xml"/><Relationship Id="rId28" Type="http://schemas.openxmlformats.org/officeDocument/2006/relationships/slide" Target="slides/slide8.xml"/><Relationship Id="rId2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Read the three goals together; learners repeat.</a:t>
            </a:r>
          </a:p>
          <a:p>
            <a:r>
              <a:rPr lang="en-US" dirty="0"/>
              <a:t>Source: Level2_Curriculum_v4_1_public.md, Lesson 1 (At a glance: Objectives).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· 6:00–6:10 · Welcome + Name Chain (10 min). Two circles (15 learners) / one circle (7–8 learners).</a:t>
            </a:r>
          </a:p>
          <a:p>
            <a:r>
              <a:rPr lang="en-US" dirty="0"/>
              <a:t>Click 1: model it yourself: "I'm Ana. I like coffee."</a:t>
            </a:r>
          </a:p>
          <a:p>
            <a:r>
              <a:rPr lang="en-US" dirty="0"/>
              <a:t>Click 2: each next person repeats the previous person, then adds their own: "She's Ana. She likes coffee. I'm Carlos. I like soccer."</a:t>
            </a:r>
          </a:p>
          <a:p>
            <a:r>
              <a:rPr lang="en-US" dirty="0"/>
              <a:t>Late arrivals join the circle. If behind: go around once only.</a:t>
            </a:r>
          </a:p>
          <a:p>
            <a:r>
              <a:rPr lang="en-US" dirty="0"/>
              <a:t>Source: Level2_Curriculum_v4_1_public.md, Lesson 1 (Step 1).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· Grammar Box 2. Say: "With no be, borrow do or does."</a:t>
            </a:r>
          </a:p>
          <a:p>
            <a:r>
              <a:rPr lang="en-US" dirty="0"/>
              <a:t>Click 1 highlights Do and its answer; click 2 highlights Does and its answer.</a:t>
            </a:r>
          </a:p>
          <a:p>
            <a:r>
              <a:rPr lang="en-US" dirty="0"/>
              <a:t>More choices from the box: Do you live here? / work near here? / have kids? · Does he/she live here? / work at night? / have kids?</a:t>
            </a:r>
          </a:p>
          <a:p>
            <a:r>
              <a:rPr lang="en-US" dirty="0"/>
              <a:t>Q&amp;A: we use do/does with action verbs like live, work, have, like, speak.</a:t>
            </a:r>
          </a:p>
          <a:p>
            <a:r>
              <a:rPr lang="en-US" dirty="0"/>
              <a:t>Source: Level2_Curriculum_v4_1_public.md, Lesson 1 (Step 5; Grammar Box 2;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· 6:33–6:45 · Grammar: be or do? Show the Grammar Box (question side / answer side).</a:t>
            </a:r>
          </a:p>
          <a:p>
            <a:r>
              <a:rPr lang="en-US" dirty="0"/>
              <a:t>Say: "English questions need a helper word at the front. With am/is/are, move it to the front."</a:t>
            </a:r>
          </a:p>
          <a:p>
            <a:r>
              <a:rPr lang="en-US" dirty="0"/>
              <a:t>Click 1 highlights Are and its answer; click 2 highlights Is and its answer. Learners read across: choose one word from each column.</a:t>
            </a:r>
          </a:p>
          <a:p>
            <a:r>
              <a:rPr lang="en-US" dirty="0"/>
              <a:t>More choices from the box: Are you from Mexico? / married? / new here? · Is he/she a cook? / from Peru? / married?</a:t>
            </a:r>
          </a:p>
          <a:p>
            <a:r>
              <a:rPr lang="en-US" dirty="0"/>
              <a:t>Q&amp;A: we use am/is/are with where you're from, age, job title, feelings, married/single, and places.</a:t>
            </a:r>
          </a:p>
          <a:p>
            <a:r>
              <a:rPr lang="en-US" dirty="0"/>
              <a:t>Source: Level2_Curriculum_v4_1_public.md, Lesson 1 (Step 5; Grammar Box 1;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mistakes (part 1). Read the left side; ask "What's wrong?" Each click shows the correct question.</a:t>
            </a:r>
          </a:p>
          <a:p>
            <a:r>
              <a:rPr lang="en-US" dirty="0"/>
              <a:t>English questions need a helper word at the front. Never use do and are together: Do you are married? → Are you married?</a:t>
            </a:r>
          </a:p>
          <a:p>
            <a:r>
              <a:rPr lang="en-US" dirty="0"/>
              <a:t>Typical mistake this week: Where you live? (no helper word). Write the correct form on the board and point learners to the note on their Grammar page.</a:t>
            </a:r>
          </a:p>
          <a:p>
            <a:r>
              <a:rPr lang="en-US" dirty="0"/>
              <a:t>Source: Level2_Curriculum_v4_1_public.md, Lesson 1 (Common mistakes table; Questions and answers;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· Check questions. Learners say the helper word; each click shows one answer.</a:t>
            </a:r>
          </a:p>
          <a:p>
            <a:r>
              <a:rPr lang="en-US" dirty="0"/>
              <a:t>Answers: ___ you like rice? (do) · ___ you tired? (are) · Where ___ she work? (does).</a:t>
            </a:r>
          </a:p>
          <a:p>
            <a:r>
              <a:rPr lang="en-US" dirty="0"/>
              <a:t>Pair check (last 3–4 min): A builds a question from the Grammar Box; B answers from the answer side. If behind: skip the pair check; it becomes homework item 1.</a:t>
            </a:r>
          </a:p>
          <a:p>
            <a:r>
              <a:rPr lang="en-US" dirty="0"/>
              <a:t>Source: Level2_Curriculum_v4_1_public.md, Lesson 1 (Step 5 check questions).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· Grammar Box 3: Wh- questions. Word order: question word, helper, person, the rest.</a:t>
            </a:r>
          </a:p>
          <a:p>
            <a:r>
              <a:rPr lang="en-US" dirty="0"/>
              <a:t>Each click highlights the helper word: are, do, do.</a:t>
            </a:r>
          </a:p>
          <a:p>
            <a:r>
              <a:rPr lang="en-US" dirty="0"/>
              <a:t>More from the box: Where do you work? I work at a hotel. / at a bakery. · What do you do? I'm a cook. / driver. / teacher.</a:t>
            </a:r>
          </a:p>
          <a:p>
            <a:r>
              <a:rPr lang="en-US" dirty="0"/>
              <a:t>Check questions: "___ you like rice?" (do) · "___ you tired?" (are) · "Where ___ she work?" (does).</a:t>
            </a:r>
          </a:p>
          <a:p>
            <a:r>
              <a:rPr lang="en-US" dirty="0"/>
              <a:t>Source: Level2_Curriculum_v4_1_public.md, Lesson 1 (Step 5; Grammar Box 3;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· 6:15–6:23 · New Words (8 min, pairs). Each click shows one word under its picture.</a:t>
            </a:r>
          </a:p>
          <a:p>
            <a:r>
              <a:rPr lang="en-US" dirty="0"/>
              <a:t>Point to each picture and say the word; learners repeat twice. Star (most important) words here: from, live, work, job, married / single.</a:t>
            </a:r>
          </a:p>
          <a:p>
            <a:r>
              <a:rPr lang="en-US" dirty="0"/>
              <a:t>Privacy: married / single is optional. Alternative question: "Do you have family here?"</a:t>
            </a:r>
          </a:p>
          <a:p>
            <a:r>
              <a:rPr lang="en-US" dirty="0"/>
              <a:t>If behind: teach only the star words.</a:t>
            </a:r>
          </a:p>
          <a:p>
            <a:r>
              <a:rPr lang="en-US" dirty="0"/>
              <a:t>Source: Level2_Curriculum_v4_1_public.md, Lesson 1 (Step 3; Student Page 1 New Words;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answers use the same helper as the question. Click 1: Are you...? → Yes, I am. Click 2: Do you...? → Yes, I do.</a:t>
            </a:r>
          </a:p>
          <a:p>
            <a:r>
              <a:rPr lang="en-US" dirty="0"/>
              <a:t>Q&amp;A: Can I use do and are together? No, never. Do you are married? → Are you married?</a:t>
            </a:r>
          </a:p>
          <a:p>
            <a:r>
              <a:rPr lang="en-US" dirty="0"/>
              <a:t>Pair practice: A asks a question from the Grammar Box; B gives a short answer.</a:t>
            </a:r>
          </a:p>
          <a:p>
            <a:r>
              <a:rPr lang="en-US" dirty="0"/>
              <a:t>Source: Level2_Curriculum_v4_1_public.md, Lesson 1 (Questions and answers: short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· 6:10–6:15 · Orientation: "How Our Class Works" (5 min, whole class). Each click shows one row.</a:t>
            </a:r>
          </a:p>
          <a:p>
            <a:r>
              <a:rPr lang="en-US" dirty="0"/>
              <a:t>Class times and the break: core class 6:00–6:45 and 7:00–7:15; break 6:45–7:00; 7:15–7:30 is optional ("If time").</a:t>
            </a:r>
          </a:p>
          <a:p>
            <a:r>
              <a:rPr lang="en-US" dirty="0"/>
              <a:t>Language rule: "English in class. If you're stuck, a classmate can help you for a few seconds. Then back to English." You don't need to understand what classmates say to each other. Just smile and say "Now in English, please."</a:t>
            </a:r>
          </a:p>
          <a:p>
            <a:r>
              <a:rPr lang="en-US" dirty="0"/>
              <a:t>Also say: phones are OK for audio and dictionary. "You can tell the truth or make it up." Homework every week (short!), checked at the start of class.</a:t>
            </a:r>
          </a:p>
          <a:p>
            <a:r>
              <a:rPr lang="en-US" dirty="0"/>
              <a:t>If behind: hand out the sheet and read the 3 key rules only.</a:t>
            </a:r>
          </a:p>
          <a:p>
            <a:r>
              <a:rPr lang="en-US" dirty="0"/>
              <a:t>Source: Level2_Curriculum_v4_1_public.md, Lesson 1 (Clock-time plan; Step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· Listen 2 → Task B (circle the answer). Pairs compare. Each click circles one answer.</a:t>
            </a:r>
          </a:p>
          <a:p>
            <a:r>
              <a:rPr lang="en-US" dirty="0"/>
              <a:t>Answer key: 1 a cook, 2 5:00, 3 brother.</a:t>
            </a:r>
          </a:p>
          <a:p>
            <a:r>
              <a:rPr lang="en-US" dirty="0"/>
              <a:t>Source: Level2_Curriculum_v4_1_public.md, Lesson 1 (Step 4; Answer key; Student Page Listening B).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 · 7:00–7:10 · Talk Time: Find Someone Who (mingle; talk to 6+ people / everyone). Set up the sheets during the break.</a:t>
            </a:r>
          </a:p>
          <a:p>
            <a:r>
              <a:rPr lang="en-US" dirty="0"/>
              <a:t>Learners turn each prompt into a correct question (Do you live near here? / Are you a morning person?). When someone says yes: write their name and ask one follow-up question. One name per row. Each click shows one step.</a:t>
            </a:r>
          </a:p>
          <a:p>
            <a:r>
              <a:rPr lang="en-US" dirty="0"/>
              <a:t>Baseline snapshot: the teacher (or a second volunteer) uses the checklist: Can they ask a do question? Answer in a full sentence? Give 1 extra detail?</a:t>
            </a:r>
          </a:p>
          <a:p>
            <a:r>
              <a:rPr lang="en-US" dirty="0"/>
              <a:t>If behind: learners talk to 4 people.</a:t>
            </a:r>
          </a:p>
          <a:p>
            <a:r>
              <a:rPr lang="en-US" dirty="0"/>
              <a:t>Source: Level2_Curriculum_v4_1_public.md, Lesson 1 (Step 6).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7 · 7:10–7:15 · Exit Ticket + Homework. NEVER SKIP.</a:t>
            </a:r>
          </a:p>
          <a:p>
            <a:r>
              <a:rPr lang="en-US" dirty="0"/>
              <a:t>Exit ticket: on a slip, learners write one be question and one do question. Read the slips after class.</a:t>
            </a:r>
          </a:p>
          <a:p>
            <a:r>
              <a:rPr lang="en-US" dirty="0"/>
              <a:t>Homework (10 minutes, bring it next week): 1. Write 5 questions for a friend, family member, or coworker: 3 with do/does and 2 with am/is/are. 2. Write their answers (in English!). 3. Bonus: ask one person your questions in English. Explain it from the workbook and do item 1 together.</a:t>
            </a:r>
          </a:p>
          <a:p>
            <a:r>
              <a:rPr lang="en-US" dirty="0"/>
              <a:t>Source: Level2_Curriculum_v4_1_public.md, Lesson 1 (Step 7; Student Page Homework).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· 6:23–6:33 · Listening (L1_listening.mp3, about 1:10; plays once, so play the audio again if needed). Before you listen (1 min): "Rosa and Sam meet. What questions do they ask?" Write 2–3 guesses.</a:t>
            </a:r>
          </a:p>
          <a:p>
            <a:r>
              <a:rPr lang="en-US" dirty="0"/>
              <a:t>Listen 1 → Task A. Pairs compare. Each click circles one answer.</a:t>
            </a:r>
          </a:p>
          <a:p>
            <a:r>
              <a:rPr lang="en-US" dirty="0"/>
              <a:t>Answer key: 1 T, 2 F (Honduras), 3 T, 4 F (a hotel), 5 T.</a:t>
            </a:r>
          </a:p>
          <a:p>
            <a:r>
              <a:rPr lang="en-US" dirty="0"/>
              <a:t>No speaker? Read the script aloud with a volunteer learner.</a:t>
            </a:r>
          </a:p>
          <a:p>
            <a:r>
              <a:rPr lang="en-US" dirty="0"/>
              <a:t>Source: Level2_Curriculum_v4_1_public.md, Lesson 1 (Step 4; Listening script; Answer key; Student Page Listening 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Credits. Lesson content: Level 2 Adult ESL Curriculum v4.1, public edition, Lesson 1.</a:t>
            </a:r>
          </a:p>
          <a:p>
            <a:r>
              <a:rPr lang="en-US" dirty="0"/>
              <a:t>Image credit line copied exactly from images/CREDITS.md. Deck license: CC BY-NC-SA 4.0 (proposed curriculum license, Section 7.4).</a:t>
            </a:r>
          </a:p>
          <a:p>
            <a:r>
              <a:rPr lang="en-US" dirty="0"/>
              <a:t>Independence notice from the curriculum front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Words, part 2. Each click shows one word.</a:t>
            </a:r>
          </a:p>
          <a:p>
            <a:r>
              <a:rPr lang="en-US" dirty="0"/>
              <a:t>Star words here: kids, Nice to meet you, What about you?</a:t>
            </a:r>
          </a:p>
          <a:p>
            <a:r>
              <a:rPr lang="en-US" dirty="0"/>
              <a:t>Pairs: A points to a picture, B says the word. Then switch.</a:t>
            </a:r>
          </a:p>
          <a:p>
            <a:r>
              <a:rPr lang="en-US" dirty="0"/>
              <a:t>Extra example: show the ID card for a fictional person.</a:t>
            </a:r>
          </a:p>
          <a:p>
            <a:r>
              <a:rPr lang="en-US" dirty="0"/>
              <a:t>Source: Level2_Curriculum_v4_1_public.md, Lesson 1 (Step 3; Student Page 1 New Words).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· Listen 3 → Task C (write are / do). Pairs compare. Each click fills one blank.</a:t>
            </a:r>
          </a:p>
          <a:p>
            <a:r>
              <a:rPr lang="en-US" dirty="0"/>
              <a:t>Answer key: 1 are, 2 do, 3 Do, 4 Are.</a:t>
            </a:r>
          </a:p>
          <a:p>
            <a:r>
              <a:rPr lang="en-US" dirty="0"/>
              <a:t>"Say it" (1–2 min): pause after "Where are you from?" and "Where do you live?" The class repeats each line twice.</a:t>
            </a:r>
          </a:p>
          <a:p>
            <a:r>
              <a:rPr lang="en-US" dirty="0"/>
              <a:t>Bridge to grammar: "When do we use are? When do we use do?"</a:t>
            </a:r>
          </a:p>
          <a:p>
            <a:r>
              <a:rPr lang="en-US" dirty="0"/>
              <a:t>If behind: skip the third play; do Task C together (you read the 4 lines).</a:t>
            </a:r>
          </a:p>
          <a:p>
            <a:r>
              <a:rPr lang="en-US" dirty="0"/>
              <a:t>Source: Level2_Curriculum_v4_1_public.md, Lesson 1 (Step 4; Answer key; Student Page Listening 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mistakes (part 2). Each click shows the correct sentence.</a:t>
            </a:r>
          </a:p>
          <a:p>
            <a:r>
              <a:rPr lang="en-US" dirty="0"/>
              <a:t>Age uses be: I'm 35 (not I have 35 years). Always say the person: She's from Peru. Short answers use the same helper: Do you live here? Yes, I do.</a:t>
            </a:r>
          </a:p>
          <a:p>
            <a:r>
              <a:rPr lang="en-US" dirty="0"/>
              <a:t>Typical mistake this week: I have 35 years. Write the correct form on the board and point learners to the note on their Grammar page; you don't need to explain it.</a:t>
            </a:r>
          </a:p>
          <a:p>
            <a:r>
              <a:rPr lang="en-US" dirty="0"/>
              <a:t>Privacy: married / single is optional; never ask about immigration status, money, or exact addresses.</a:t>
            </a:r>
          </a:p>
          <a:p>
            <a:r>
              <a:rPr lang="en-US" dirty="0"/>
              <a:t>Source: Level2_Curriculum_v4_1_public.md, Lesson 1 (Common mistakes table; Questions and answers;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G1img" Type="http://schemas.openxmlformats.org/officeDocument/2006/relationships/image" Target="../media/g1_what_about_you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4.xml.rels><?xml version='1.0' encoding='UTF-8' standalone='yes'?>
<Relationships xmlns="http://schemas.openxmlformats.org/package/2006/relationships"><Relationship Id="rIdG1" Type="http://schemas.openxmlformats.org/officeDocument/2006/relationships/image" Target="../media/g_L1_from.png"/><Relationship Id="rIdG2" Type="http://schemas.openxmlformats.org/officeDocument/2006/relationships/image" Target="../media/g_L1_live.png"/><Relationship Id="rIdG3" Type="http://schemas.openxmlformats.org/officeDocument/2006/relationships/image" Target="../media/g_L1_work.png"/><Relationship Id="rIdG4" Type="http://schemas.openxmlformats.org/officeDocument/2006/relationships/image" Target="../media/g_L1_job.png"/><Relationship Id="rIdG5" Type="http://schemas.openxmlformats.org/officeDocument/2006/relationships/image" Target="../media/g_L1_neighborhood.png"/><Relationship Id="rIdG6" Type="http://schemas.openxmlformats.org/officeDocument/2006/relationships/image" Target="../media/g_L1_married_singl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5.xml.rels><?xml version='1.0' encoding='UTF-8' standalone='yes'?>
<Relationships xmlns="http://schemas.openxmlformats.org/package/2006/relationships"><Relationship Id="rIdG1" Type="http://schemas.openxmlformats.org/officeDocument/2006/relationships/image" Target="../media/g_L1_kids.png"/><Relationship Id="rIdG2" Type="http://schemas.openxmlformats.org/officeDocument/2006/relationships/image" Target="../media/g_L1_brother_sister.png"/><Relationship Id="rIdG3" Type="http://schemas.openxmlformats.org/officeDocument/2006/relationships/image" Target="../media/g_L1_hometown.png"/><Relationship Id="rIdG4" Type="http://schemas.openxmlformats.org/officeDocument/2006/relationships/image" Target="../media/g_L1_near.png"/><Relationship Id="rIdG5" Type="http://schemas.openxmlformats.org/officeDocument/2006/relationships/image" Target="../media/g_L1_nice_to_meet_you.png"/><Relationship Id="rIdG6" Type="http://schemas.openxmlformats.org/officeDocument/2006/relationships/image" Target="../media/g_L1_what_about_you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7.xml.rels><?xml version='1.0' encoding='UTF-8' standalone='yes'?>
<Relationships xmlns="http://schemas.openxmlformats.org/package/2006/relationships"><Relationship Id="rIdG1" Type="http://schemas.openxmlformats.org/officeDocument/2006/relationships/image" Target="../media/g_L1_job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9.xml.rels><?xml version='1.0' encoding='UTF-8' standalone='yes'?>
<Relationships xmlns="http://schemas.openxmlformats.org/package/2006/relationships"><Relationship Id="rIdG1" Type="http://schemas.openxmlformats.org/officeDocument/2006/relationships/image" Target="../media/g_L1_from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G1" Type="http://schemas.openxmlformats.org/officeDocument/2006/relationships/image" Target="../media/g_L1_work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G1" Type="http://schemas.openxmlformats.org/officeDocument/2006/relationships/image" Target="../media/g_L1_liv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G1" Type="http://schemas.openxmlformats.org/officeDocument/2006/relationships/image" Target="../media/g_L1_hometown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G1" Type="http://schemas.openxmlformats.org/officeDocument/2006/relationships/image" Target="../media/g_L1_married_singl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G1" Type="http://schemas.openxmlformats.org/officeDocument/2006/relationships/image" Target="../media/g_L1_kids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G1" Type="http://schemas.openxmlformats.org/officeDocument/2006/relationships/image" Target="../media/g_L1_near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G1" Type="http://schemas.openxmlformats.org/officeDocument/2006/relationships/image" Target="../media/g_L1_what_about_you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</p:sp>
      <p:pic>
        <p:nvPicPr>
          <p:cNvPr id="4" name="Image 0" descr="/workspace/level2_curriculum/images/L1_nice_to_meet_yo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  ·  Level 2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50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Nice to Meet You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and answer questions about you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Choose: be or do?</a:t>
            </a:r>
            <a:endParaRPr lang="en-US" sz="2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Introduce a partner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172200" y="594360"/>
            <a:ext cx="914400" cy="863781"/>
          </a:xfrm>
          <a:prstGeom prst="star10">
            <a:avLst/>
          </a:prstGeom>
          <a:solidFill>
            <a:srgbClr val="8FAFE3"/>
          </a:solidFill>
          <a:ln/>
        </p:spPr>
      </p:sp>
      <p:sp>
        <p:nvSpPr>
          <p:cNvPr id="12" name="Shape 9"/>
          <p:cNvSpPr/>
          <p:nvPr/>
        </p:nvSpPr>
        <p:spPr>
          <a:xfrm>
            <a:off x="6245679" y="582930"/>
            <a:ext cx="930729" cy="930729"/>
          </a:xfrm>
          <a:prstGeom prst="star10">
            <a:avLst/>
          </a:prstGeom>
          <a:solidFill>
            <a:srgbClr val="FFE28C"/>
          </a:solidFill>
          <a:ln/>
        </p:spPr>
      </p:sp>
      <p:sp>
        <p:nvSpPr>
          <p:cNvPr id="13" name="Shape 10"/>
          <p:cNvSpPr/>
          <p:nvPr/>
        </p:nvSpPr>
        <p:spPr>
          <a:xfrm rot="900000">
            <a:off x="6498771" y="849902"/>
            <a:ext cx="397601" cy="397601"/>
          </a:xfrm>
          <a:prstGeom prst="mathPlus">
            <a:avLst/>
          </a:prstGeom>
          <a:solidFill>
            <a:srgbClr val="1B223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04" y="1352535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</p:sp>
      <p:sp>
        <p:nvSpPr>
          <p:cNvPr id="3" name="Shape 1"/>
          <p:cNvSpPr/>
          <p:nvPr/>
        </p:nvSpPr>
        <p:spPr>
          <a:xfrm>
            <a:off x="518465" y="1300277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</p:sp>
      <p:pic>
        <p:nvPicPr>
          <p:cNvPr id="15" name="Picture What about you" descr="A hand pointing at you and a question mark"/>
          <p:cNvPicPr>
            <a:picLocks noChangeAspect="1"/>
          </p:cNvPicPr>
          <p:nvPr/>
        </p:nvPicPr>
        <p:blipFill>
          <a:blip r:embed="rIdG1img"/>
          <a:stretch>
            <a:fillRect/>
          </a:stretch>
        </p:blipFill>
        <p:spPr>
          <a:xfrm>
            <a:off x="6799936" y="2104034"/>
            <a:ext cx="4754880" cy="3328416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548640" y="176479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 Chain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WARM-UP  ·  6:00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9846" y="30175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your name.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 one thing you like.</a:t>
            </a:r>
            <a:endParaRPr lang="en-US" sz="2200" dirty="0"/>
          </a:p>
        </p:txBody>
      </p:sp>
      <p:sp>
        <p:nvSpPr>
          <p:cNvPr id="13" name="Model Ana"/>
          <p:cNvSpPr/>
          <p:nvPr/>
        </p:nvSpPr>
        <p:spPr>
          <a:xfrm>
            <a:off x="599846" y="4023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Ana: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Ana. I like coffee.</a:t>
            </a:r>
            <a:endParaRPr lang="en-US" sz="2200" dirty="0"/>
          </a:p>
        </p:txBody>
      </p:sp>
      <p:sp>
        <p:nvSpPr>
          <p:cNvPr id="14" name="Model Carlos"/>
          <p:cNvSpPr/>
          <p:nvPr/>
        </p:nvSpPr>
        <p:spPr>
          <a:xfrm>
            <a:off x="599846" y="470916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Carlos: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She's Ana. She likes coffee.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Carlos. I like soccer.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822546" y="4854550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</p:sp>
      <p:sp>
        <p:nvSpPr>
          <p:cNvPr id="11" name="Shape 9"/>
          <p:cNvSpPr/>
          <p:nvPr/>
        </p:nvSpPr>
        <p:spPr>
          <a:xfrm>
            <a:off x="4904842" y="4841748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</p:sp>
      <p:sp>
        <p:nvSpPr>
          <p:cNvPr id="12" name="Shape 10"/>
          <p:cNvSpPr/>
          <p:nvPr/>
        </p:nvSpPr>
        <p:spPr>
          <a:xfrm rot="900000">
            <a:off x="5188306" y="5140757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583741" y="455005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583741" y="526145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Class times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6:00–6:45 and 7:00–7:15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 rot="10800000">
            <a:off x="6361481" y="2230222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</p:sp>
      <p:sp>
        <p:nvSpPr>
          <p:cNvPr id="11" name="Text 9"/>
          <p:cNvSpPr/>
          <p:nvPr/>
        </p:nvSpPr>
        <p:spPr>
          <a:xfrm>
            <a:off x="1810512" y="312724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Break: 6:45–7:00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 rot="10800000">
            <a:off x="6361481" y="3260750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</p:sp>
      <p:sp>
        <p:nvSpPr>
          <p:cNvPr id="13" name="Text 11"/>
          <p:cNvSpPr/>
          <p:nvPr/>
        </p:nvSpPr>
        <p:spPr>
          <a:xfrm>
            <a:off x="1810512" y="3838651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If time: 7:15–7:30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 rot="10800000">
            <a:off x="6361481" y="3955694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</p:sp>
      <p:sp>
        <p:nvSpPr>
          <p:cNvPr id="15" name="Text 13"/>
          <p:cNvSpPr/>
          <p:nvPr/>
        </p:nvSpPr>
        <p:spPr>
          <a:xfrm>
            <a:off x="1810512" y="4550054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English in class, please!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 rot="10800000">
            <a:off x="6361481" y="4667098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</p:sp>
      <p:sp>
        <p:nvSpPr>
          <p:cNvPr id="17" name="Text 15"/>
          <p:cNvSpPr/>
          <p:nvPr/>
        </p:nvSpPr>
        <p:spPr>
          <a:xfrm>
            <a:off x="1810512" y="5261458"/>
            <a:ext cx="443484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Phones OK: audio, dictionary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 rot="10800000">
            <a:off x="6361481" y="5377586"/>
            <a:ext cx="88697" cy="76810"/>
          </a:xfrm>
          <a:prstGeom prst="triangle">
            <a:avLst/>
          </a:prstGeom>
          <a:solidFill>
            <a:srgbClr val="8FAFE3"/>
          </a:solidFill>
          <a:ln/>
        </p:spPr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55005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</p:sp>
      <p:sp>
        <p:nvSpPr>
          <p:cNvPr id="26" name="Text 24"/>
          <p:cNvSpPr/>
          <p:nvPr/>
        </p:nvSpPr>
        <p:spPr>
          <a:xfrm>
            <a:off x="686714" y="45436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27974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</p:sp>
      <p:sp>
        <p:nvSpPr>
          <p:cNvPr id="28" name="Text 26"/>
          <p:cNvSpPr/>
          <p:nvPr/>
        </p:nvSpPr>
        <p:spPr>
          <a:xfrm>
            <a:off x="686714" y="526968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05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Our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Class Works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Stuck? A classmate can help for a few seconds. Then back to English.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every week.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It's short!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</p:sp>
      <p:sp>
        <p:nvSpPr>
          <p:cNvPr id="13" name="Text 11"/>
          <p:cNvSpPr/>
          <p:nvPr/>
        </p:nvSpPr>
        <p:spPr>
          <a:xfrm>
            <a:off x="214884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Look. Listen.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Repeat.</a:t>
            </a:r>
            <a:endParaRPr lang="en-US" sz="2200" dirty="0"/>
          </a:p>
        </p:txBody>
      </p:sp>
      <p:pic>
        <p:nvPicPr>
          <p:cNvPr id="17" name="Word picture 1" descr="from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from</a:t>
            </a:r>
            <a:endParaRPr lang="en-US" sz="2000" dirty="0"/>
          </a:p>
        </p:txBody>
      </p:sp>
      <p:pic>
        <p:nvPicPr>
          <p:cNvPr id="19" name="Word picture 2" descr="live"/>
          <p:cNvPicPr>
            <a:picLocks noChangeAspect="1"/>
          </p:cNvPicPr>
          <p:nvPr/>
        </p:nvPicPr>
        <p:blipFill>
          <a:blip r:embed="rIdG2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live</a:t>
            </a:r>
            <a:endParaRPr lang="en-US" sz="2000" dirty="0"/>
          </a:p>
        </p:txBody>
      </p:sp>
      <p:pic>
        <p:nvPicPr>
          <p:cNvPr id="21" name="Word picture 3" descr="work"/>
          <p:cNvPicPr>
            <a:picLocks noChangeAspect="1"/>
          </p:cNvPicPr>
          <p:nvPr/>
        </p:nvPicPr>
        <p:blipFill>
          <a:blip r:embed="rIdG3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work</a:t>
            </a:r>
            <a:endParaRPr lang="en-US" sz="2000" dirty="0"/>
          </a:p>
        </p:txBody>
      </p:sp>
      <p:pic>
        <p:nvPicPr>
          <p:cNvPr id="23" name="Word picture 4" descr="job"/>
          <p:cNvPicPr>
            <a:picLocks noChangeAspect="1"/>
          </p:cNvPicPr>
          <p:nvPr/>
        </p:nvPicPr>
        <p:blipFill>
          <a:blip r:embed="rIdG4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job</a:t>
            </a:r>
            <a:endParaRPr lang="en-US" sz="2000" dirty="0"/>
          </a:p>
        </p:txBody>
      </p:sp>
      <p:pic>
        <p:nvPicPr>
          <p:cNvPr id="25" name="Word picture 5" descr="neighborhood"/>
          <p:cNvPicPr>
            <a:picLocks noChangeAspect="1"/>
          </p:cNvPicPr>
          <p:nvPr/>
        </p:nvPicPr>
        <p:blipFill>
          <a:blip r:embed="rIdG5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neighborhood</a:t>
            </a:r>
            <a:endParaRPr lang="en-US" sz="2000" dirty="0"/>
          </a:p>
        </p:txBody>
      </p:sp>
      <p:pic>
        <p:nvPicPr>
          <p:cNvPr id="27" name="Word picture 6" descr="married / single"/>
          <p:cNvPicPr>
            <a:picLocks noChangeAspect="1"/>
          </p:cNvPicPr>
          <p:nvPr/>
        </p:nvPicPr>
        <p:blipFill>
          <a:blip r:embed="rIdG6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married / single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</p:sp>
      <p:sp>
        <p:nvSpPr>
          <p:cNvPr id="13" name="Text 11"/>
          <p:cNvSpPr/>
          <p:nvPr/>
        </p:nvSpPr>
        <p:spPr>
          <a:xfrm>
            <a:off x="214884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Point. Say.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Switch!</a:t>
            </a:r>
            <a:endParaRPr lang="en-US" sz="2200" dirty="0"/>
          </a:p>
        </p:txBody>
      </p:sp>
      <p:pic>
        <p:nvPicPr>
          <p:cNvPr id="17" name="Word picture 1" descr="kids (children)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1448410" y="2286000"/>
            <a:ext cx="1920240" cy="1344168"/>
          </a:xfrm>
          <a:prstGeom prst="rect">
            <a:avLst/>
          </a:prstGeom>
        </p:spPr>
      </p:pic>
      <p:sp>
        <p:nvSpPr>
          <p:cNvPr id="18" name="Word label 1"/>
          <p:cNvSpPr/>
          <p:nvPr/>
        </p:nvSpPr>
        <p:spPr>
          <a:xfrm>
            <a:off x="85405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kids (children)</a:t>
            </a:r>
            <a:endParaRPr lang="en-US" sz="2000" dirty="0"/>
          </a:p>
        </p:txBody>
      </p:sp>
      <p:pic>
        <p:nvPicPr>
          <p:cNvPr id="19" name="Word picture 2" descr="brother / sister"/>
          <p:cNvPicPr>
            <a:picLocks noChangeAspect="1"/>
          </p:cNvPicPr>
          <p:nvPr/>
        </p:nvPicPr>
        <p:blipFill>
          <a:blip r:embed="rIdG2"/>
          <a:stretch>
            <a:fillRect/>
          </a:stretch>
        </p:blipFill>
        <p:spPr>
          <a:xfrm>
            <a:off x="5060290" y="2286000"/>
            <a:ext cx="1920240" cy="1344168"/>
          </a:xfrm>
          <a:prstGeom prst="rect">
            <a:avLst/>
          </a:prstGeom>
        </p:spPr>
      </p:pic>
      <p:sp>
        <p:nvSpPr>
          <p:cNvPr id="20" name="Word label 2"/>
          <p:cNvSpPr/>
          <p:nvPr/>
        </p:nvSpPr>
        <p:spPr>
          <a:xfrm>
            <a:off x="446593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brother / sister</a:t>
            </a:r>
            <a:endParaRPr lang="en-US" sz="2000" dirty="0"/>
          </a:p>
        </p:txBody>
      </p:sp>
      <p:pic>
        <p:nvPicPr>
          <p:cNvPr id="21" name="Word picture 3" descr="hometown"/>
          <p:cNvPicPr>
            <a:picLocks noChangeAspect="1"/>
          </p:cNvPicPr>
          <p:nvPr/>
        </p:nvPicPr>
        <p:blipFill>
          <a:blip r:embed="rIdG3"/>
          <a:stretch>
            <a:fillRect/>
          </a:stretch>
        </p:blipFill>
        <p:spPr>
          <a:xfrm>
            <a:off x="8672170" y="2286000"/>
            <a:ext cx="1920240" cy="1344168"/>
          </a:xfrm>
          <a:prstGeom prst="rect">
            <a:avLst/>
          </a:prstGeom>
        </p:spPr>
      </p:pic>
      <p:sp>
        <p:nvSpPr>
          <p:cNvPr id="22" name="Word label 3"/>
          <p:cNvSpPr/>
          <p:nvPr/>
        </p:nvSpPr>
        <p:spPr>
          <a:xfrm>
            <a:off x="8077810" y="3703320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hometown</a:t>
            </a:r>
            <a:endParaRPr lang="en-US" sz="2000" dirty="0"/>
          </a:p>
        </p:txBody>
      </p:sp>
      <p:pic>
        <p:nvPicPr>
          <p:cNvPr id="23" name="Word picture 4" descr="near"/>
          <p:cNvPicPr>
            <a:picLocks noChangeAspect="1"/>
          </p:cNvPicPr>
          <p:nvPr/>
        </p:nvPicPr>
        <p:blipFill>
          <a:blip r:embed="rIdG4"/>
          <a:stretch>
            <a:fillRect/>
          </a:stretch>
        </p:blipFill>
        <p:spPr>
          <a:xfrm>
            <a:off x="1448410" y="4315968"/>
            <a:ext cx="1920240" cy="1344168"/>
          </a:xfrm>
          <a:prstGeom prst="rect">
            <a:avLst/>
          </a:prstGeom>
        </p:spPr>
      </p:pic>
      <p:sp>
        <p:nvSpPr>
          <p:cNvPr id="24" name="Word label 4"/>
          <p:cNvSpPr/>
          <p:nvPr/>
        </p:nvSpPr>
        <p:spPr>
          <a:xfrm>
            <a:off x="85405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near</a:t>
            </a:r>
            <a:endParaRPr lang="en-US" sz="2000" dirty="0"/>
          </a:p>
        </p:txBody>
      </p:sp>
      <p:pic>
        <p:nvPicPr>
          <p:cNvPr id="25" name="Word picture 5" descr="Nice to meet you"/>
          <p:cNvPicPr>
            <a:picLocks noChangeAspect="1"/>
          </p:cNvPicPr>
          <p:nvPr/>
        </p:nvPicPr>
        <p:blipFill>
          <a:blip r:embed="rIdG5"/>
          <a:stretch>
            <a:fillRect/>
          </a:stretch>
        </p:blipFill>
        <p:spPr>
          <a:xfrm>
            <a:off x="5060290" y="4315968"/>
            <a:ext cx="1920240" cy="1344168"/>
          </a:xfrm>
          <a:prstGeom prst="rect">
            <a:avLst/>
          </a:prstGeom>
        </p:spPr>
      </p:pic>
      <p:sp>
        <p:nvSpPr>
          <p:cNvPr id="26" name="Word label 5"/>
          <p:cNvSpPr/>
          <p:nvPr/>
        </p:nvSpPr>
        <p:spPr>
          <a:xfrm>
            <a:off x="446593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Nice to meet you</a:t>
            </a:r>
            <a:endParaRPr lang="en-US" sz="2000" dirty="0"/>
          </a:p>
        </p:txBody>
      </p:sp>
      <p:pic>
        <p:nvPicPr>
          <p:cNvPr id="27" name="Word picture 6" descr="What about you?"/>
          <p:cNvPicPr>
            <a:picLocks noChangeAspect="1"/>
          </p:cNvPicPr>
          <p:nvPr/>
        </p:nvPicPr>
        <p:blipFill>
          <a:blip r:embed="rIdG6"/>
          <a:stretch>
            <a:fillRect/>
          </a:stretch>
        </p:blipFill>
        <p:spPr>
          <a:xfrm>
            <a:off x="8672170" y="4315968"/>
            <a:ext cx="1920240" cy="1344168"/>
          </a:xfrm>
          <a:prstGeom prst="rect">
            <a:avLst/>
          </a:prstGeom>
        </p:spPr>
      </p:pic>
      <p:sp>
        <p:nvSpPr>
          <p:cNvPr id="28" name="Word label 6"/>
          <p:cNvSpPr/>
          <p:nvPr/>
        </p:nvSpPr>
        <p:spPr>
          <a:xfrm>
            <a:off x="8077810" y="5733288"/>
            <a:ext cx="310896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about you?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</p:sp>
      <p:sp>
        <p:nvSpPr>
          <p:cNvPr id="6" name="Text 4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to Rosa and Sam.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 or False?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865815" y="269565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</p:sp>
      <p:sp>
        <p:nvSpPr>
          <p:cNvPr id="25" name="Shape 23"/>
          <p:cNvSpPr/>
          <p:nvPr/>
        </p:nvSpPr>
        <p:spPr>
          <a:xfrm>
            <a:off x="10924304" y="268655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</p:sp>
      <p:sp>
        <p:nvSpPr>
          <p:cNvPr id="26" name="Shape 24"/>
          <p:cNvSpPr/>
          <p:nvPr/>
        </p:nvSpPr>
        <p:spPr>
          <a:xfrm rot="900000">
            <a:off x="11125766" y="289906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</p:sp>
      <p:sp>
        <p:nvSpPr>
          <p:cNvPr id="27" name="Statement 1"/>
          <p:cNvSpPr/>
          <p:nvPr/>
        </p:nvSpPr>
        <p:spPr>
          <a:xfrm>
            <a:off x="502920" y="3127248"/>
            <a:ext cx="5943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Sam is new.</a:t>
            </a:r>
            <a:endParaRPr lang="en-US" sz="2200" dirty="0"/>
          </a:p>
        </p:txBody>
      </p:sp>
      <p:sp>
        <p:nvSpPr>
          <p:cNvPr id="28" name="True 1"/>
          <p:cNvSpPr/>
          <p:nvPr/>
        </p:nvSpPr>
        <p:spPr>
          <a:xfrm>
            <a:off x="6583680" y="3127248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29" name="False 1"/>
          <p:cNvSpPr/>
          <p:nvPr/>
        </p:nvSpPr>
        <p:spPr>
          <a:xfrm>
            <a:off x="8321040" y="3127248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30" name="Circle 1"/>
          <p:cNvSpPr/>
          <p:nvPr/>
        </p:nvSpPr>
        <p:spPr>
          <a:xfrm>
            <a:off x="6455664" y="3063240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1" name="Statement 2"/>
          <p:cNvSpPr/>
          <p:nvPr/>
        </p:nvSpPr>
        <p:spPr>
          <a:xfrm>
            <a:off x="502920" y="3785616"/>
            <a:ext cx="5943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Sam is from Colombia.</a:t>
            </a:r>
            <a:endParaRPr lang="en-US" sz="2200" dirty="0"/>
          </a:p>
        </p:txBody>
      </p:sp>
      <p:sp>
        <p:nvSpPr>
          <p:cNvPr id="32" name="True 2"/>
          <p:cNvSpPr/>
          <p:nvPr/>
        </p:nvSpPr>
        <p:spPr>
          <a:xfrm>
            <a:off x="6583680" y="3785616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33" name="False 2"/>
          <p:cNvSpPr/>
          <p:nvPr/>
        </p:nvSpPr>
        <p:spPr>
          <a:xfrm>
            <a:off x="8321040" y="3785616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34" name="Circle 2"/>
          <p:cNvSpPr/>
          <p:nvPr/>
        </p:nvSpPr>
        <p:spPr>
          <a:xfrm>
            <a:off x="8193024" y="3721608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5" name="Fix 2"/>
          <p:cNvSpPr/>
          <p:nvPr/>
        </p:nvSpPr>
        <p:spPr>
          <a:xfrm>
            <a:off x="9921240" y="3785616"/>
            <a:ext cx="17373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Honduras</a:t>
            </a:r>
            <a:endParaRPr lang="en-US" sz="2200" dirty="0"/>
          </a:p>
        </p:txBody>
      </p:sp>
      <p:sp>
        <p:nvSpPr>
          <p:cNvPr id="36" name="Statement 3"/>
          <p:cNvSpPr/>
          <p:nvPr/>
        </p:nvSpPr>
        <p:spPr>
          <a:xfrm>
            <a:off x="502920" y="4443984"/>
            <a:ext cx="5943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Rosa lives on Pine Street.</a:t>
            </a:r>
            <a:endParaRPr lang="en-US" sz="2200" dirty="0"/>
          </a:p>
        </p:txBody>
      </p:sp>
      <p:sp>
        <p:nvSpPr>
          <p:cNvPr id="37" name="True 3"/>
          <p:cNvSpPr/>
          <p:nvPr/>
        </p:nvSpPr>
        <p:spPr>
          <a:xfrm>
            <a:off x="6583680" y="4443984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38" name="False 3"/>
          <p:cNvSpPr/>
          <p:nvPr/>
        </p:nvSpPr>
        <p:spPr>
          <a:xfrm>
            <a:off x="8321040" y="4443984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39" name="Circle 3"/>
          <p:cNvSpPr/>
          <p:nvPr/>
        </p:nvSpPr>
        <p:spPr>
          <a:xfrm>
            <a:off x="6455664" y="4379976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0" name="Statement 4"/>
          <p:cNvSpPr/>
          <p:nvPr/>
        </p:nvSpPr>
        <p:spPr>
          <a:xfrm>
            <a:off x="502920" y="5102352"/>
            <a:ext cx="5943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Sam works at a bakery.</a:t>
            </a:r>
            <a:endParaRPr lang="en-US" sz="2200" dirty="0"/>
          </a:p>
        </p:txBody>
      </p:sp>
      <p:sp>
        <p:nvSpPr>
          <p:cNvPr id="41" name="True 4"/>
          <p:cNvSpPr/>
          <p:nvPr/>
        </p:nvSpPr>
        <p:spPr>
          <a:xfrm>
            <a:off x="6583680" y="5102352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42" name="False 4"/>
          <p:cNvSpPr/>
          <p:nvPr/>
        </p:nvSpPr>
        <p:spPr>
          <a:xfrm>
            <a:off x="8321040" y="5102352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43" name="Circle 4"/>
          <p:cNvSpPr/>
          <p:nvPr/>
        </p:nvSpPr>
        <p:spPr>
          <a:xfrm>
            <a:off x="8193024" y="5038344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4" name="Fix 4"/>
          <p:cNvSpPr/>
          <p:nvPr/>
        </p:nvSpPr>
        <p:spPr>
          <a:xfrm>
            <a:off x="9921240" y="5102352"/>
            <a:ext cx="17373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hotel</a:t>
            </a:r>
            <a:endParaRPr lang="en-US" sz="2200" dirty="0"/>
          </a:p>
        </p:txBody>
      </p:sp>
      <p:sp>
        <p:nvSpPr>
          <p:cNvPr id="45" name="Statement 5"/>
          <p:cNvSpPr/>
          <p:nvPr/>
        </p:nvSpPr>
        <p:spPr>
          <a:xfrm>
            <a:off x="502920" y="5760720"/>
            <a:ext cx="594360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Rosa has two daughters.</a:t>
            </a:r>
            <a:endParaRPr lang="en-US" sz="2200" dirty="0"/>
          </a:p>
        </p:txBody>
      </p:sp>
      <p:sp>
        <p:nvSpPr>
          <p:cNvPr id="46" name="True 5"/>
          <p:cNvSpPr/>
          <p:nvPr/>
        </p:nvSpPr>
        <p:spPr>
          <a:xfrm>
            <a:off x="6583680" y="5760720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47" name="False 5"/>
          <p:cNvSpPr/>
          <p:nvPr/>
        </p:nvSpPr>
        <p:spPr>
          <a:xfrm>
            <a:off x="8321040" y="5760720"/>
            <a:ext cx="137160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48" name="Circle 5"/>
          <p:cNvSpPr/>
          <p:nvPr/>
        </p:nvSpPr>
        <p:spPr>
          <a:xfrm>
            <a:off x="6455664" y="5696712"/>
            <a:ext cx="162763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" descr="A cook, a mechanic and a teacher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1274739" y="3680460"/>
            <a:ext cx="3449900" cy="2414930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6107278" y="1382573"/>
            <a:ext cx="5577840" cy="11887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</p:sp>
      <p:sp>
        <p:nvSpPr>
          <p:cNvPr id="8" name="Shape 6"/>
          <p:cNvSpPr/>
          <p:nvPr/>
        </p:nvSpPr>
        <p:spPr>
          <a:xfrm>
            <a:off x="6107278" y="2799893"/>
            <a:ext cx="5577840" cy="11887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</p:sp>
      <p:sp>
        <p:nvSpPr>
          <p:cNvPr id="9" name="Shape 7"/>
          <p:cNvSpPr/>
          <p:nvPr/>
        </p:nvSpPr>
        <p:spPr>
          <a:xfrm>
            <a:off x="6107278" y="4217213"/>
            <a:ext cx="5577840" cy="11887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</p:sp>
      <p:sp>
        <p:nvSpPr>
          <p:cNvPr id="10" name="Shape 8"/>
          <p:cNvSpPr/>
          <p:nvPr/>
        </p:nvSpPr>
        <p:spPr>
          <a:xfrm>
            <a:off x="6035040" y="1325880"/>
            <a:ext cx="5577840" cy="11887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1581912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1581912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995160" y="14173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Sam is a ...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035040" y="2743200"/>
            <a:ext cx="5577840" cy="118872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</p:sp>
      <p:sp>
        <p:nvSpPr>
          <p:cNvPr id="15" name="Shape 13"/>
          <p:cNvSpPr/>
          <p:nvPr/>
        </p:nvSpPr>
        <p:spPr>
          <a:xfrm>
            <a:off x="6172200" y="2999232"/>
            <a:ext cx="678485" cy="678485"/>
          </a:xfrm>
          <a:prstGeom prst="star32">
            <a:avLst>
              <a:gd name="adj" fmla="val 43755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2999232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95160" y="2834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Rosa starts work at ...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035040" y="4160520"/>
            <a:ext cx="5577840" cy="11887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172200" y="4416552"/>
            <a:ext cx="678485" cy="678485"/>
          </a:xfrm>
          <a:prstGeom prst="star32">
            <a:avLst>
              <a:gd name="adj" fmla="val 43755"/>
            </a:avLst>
          </a:prstGeom>
          <a:solidFill>
            <a:srgbClr val="B9D2F7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4416552"/>
            <a:ext cx="678485" cy="6784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995160" y="4251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Sam lives with his ...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4702759" y="5703113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</p:sp>
      <p:sp>
        <p:nvSpPr>
          <p:cNvPr id="23" name="Shape 21"/>
          <p:cNvSpPr/>
          <p:nvPr/>
        </p:nvSpPr>
        <p:spPr>
          <a:xfrm>
            <a:off x="4761248" y="5694015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</p:sp>
      <p:sp>
        <p:nvSpPr>
          <p:cNvPr id="24" name="Shape 22"/>
          <p:cNvSpPr/>
          <p:nvPr/>
        </p:nvSpPr>
        <p:spPr>
          <a:xfrm rot="900000">
            <a:off x="4962710" y="5906524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</p:sp>
      <p:sp>
        <p:nvSpPr>
          <p:cNvPr id="25" name="Subtitle"/>
          <p:cNvSpPr/>
          <p:nvPr/>
        </p:nvSpPr>
        <p:spPr>
          <a:xfrm>
            <a:off x="771754" y="2148840"/>
            <a:ext cx="457200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Circle the answer.</a:t>
            </a:r>
            <a:endParaRPr lang="en-US" sz="2000" dirty="0"/>
          </a:p>
        </p:txBody>
      </p:sp>
      <p:sp>
        <p:nvSpPr>
          <p:cNvPr id="27" name="Option 11"/>
          <p:cNvSpPr/>
          <p:nvPr/>
        </p:nvSpPr>
        <p:spPr>
          <a:xfrm>
            <a:off x="6995160" y="1947672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cook</a:t>
            </a:r>
            <a:endParaRPr lang="en-US" sz="2000" dirty="0"/>
          </a:p>
        </p:txBody>
      </p:sp>
      <p:sp>
        <p:nvSpPr>
          <p:cNvPr id="28" name="Circle 1"/>
          <p:cNvSpPr/>
          <p:nvPr/>
        </p:nvSpPr>
        <p:spPr>
          <a:xfrm>
            <a:off x="6885432" y="1883664"/>
            <a:ext cx="1545336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Option 12"/>
          <p:cNvSpPr/>
          <p:nvPr/>
        </p:nvSpPr>
        <p:spPr>
          <a:xfrm>
            <a:off x="8503920" y="1947672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driver</a:t>
            </a:r>
            <a:endParaRPr lang="en-US" sz="2000" dirty="0"/>
          </a:p>
        </p:txBody>
      </p:sp>
      <p:sp>
        <p:nvSpPr>
          <p:cNvPr id="30" name="Option 13"/>
          <p:cNvSpPr/>
          <p:nvPr/>
        </p:nvSpPr>
        <p:spPr>
          <a:xfrm>
            <a:off x="10012680" y="1947672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teacher</a:t>
            </a:r>
            <a:endParaRPr lang="en-US" sz="2000" dirty="0"/>
          </a:p>
        </p:txBody>
      </p:sp>
      <p:sp>
        <p:nvSpPr>
          <p:cNvPr id="31" name="Option 21"/>
          <p:cNvSpPr/>
          <p:nvPr/>
        </p:nvSpPr>
        <p:spPr>
          <a:xfrm>
            <a:off x="6995160" y="3364992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5:00</a:t>
            </a:r>
            <a:endParaRPr lang="en-US" sz="2000" dirty="0"/>
          </a:p>
        </p:txBody>
      </p:sp>
      <p:sp>
        <p:nvSpPr>
          <p:cNvPr id="32" name="Circle 2"/>
          <p:cNvSpPr/>
          <p:nvPr/>
        </p:nvSpPr>
        <p:spPr>
          <a:xfrm>
            <a:off x="6885432" y="3300984"/>
            <a:ext cx="1545336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3" name="Option 22"/>
          <p:cNvSpPr/>
          <p:nvPr/>
        </p:nvSpPr>
        <p:spPr>
          <a:xfrm>
            <a:off x="8503920" y="3364992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</a:t>
            </a:r>
            <a:endParaRPr lang="en-US" sz="2000" dirty="0"/>
          </a:p>
        </p:txBody>
      </p:sp>
      <p:sp>
        <p:nvSpPr>
          <p:cNvPr id="34" name="Option 23"/>
          <p:cNvSpPr/>
          <p:nvPr/>
        </p:nvSpPr>
        <p:spPr>
          <a:xfrm>
            <a:off x="10012680" y="3364992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9:00</a:t>
            </a:r>
            <a:endParaRPr lang="en-US" sz="2000" dirty="0"/>
          </a:p>
        </p:txBody>
      </p:sp>
      <p:sp>
        <p:nvSpPr>
          <p:cNvPr id="35" name="Option 31"/>
          <p:cNvSpPr/>
          <p:nvPr/>
        </p:nvSpPr>
        <p:spPr>
          <a:xfrm>
            <a:off x="6995160" y="4782312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wife</a:t>
            </a:r>
            <a:endParaRPr lang="en-US" sz="2000" dirty="0"/>
          </a:p>
        </p:txBody>
      </p:sp>
      <p:sp>
        <p:nvSpPr>
          <p:cNvPr id="36" name="Option 32"/>
          <p:cNvSpPr/>
          <p:nvPr/>
        </p:nvSpPr>
        <p:spPr>
          <a:xfrm>
            <a:off x="8503920" y="4782312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brother</a:t>
            </a:r>
            <a:endParaRPr lang="en-US" sz="2000" dirty="0"/>
          </a:p>
        </p:txBody>
      </p:sp>
      <p:sp>
        <p:nvSpPr>
          <p:cNvPr id="37" name="Circle 3"/>
          <p:cNvSpPr/>
          <p:nvPr/>
        </p:nvSpPr>
        <p:spPr>
          <a:xfrm>
            <a:off x="8394192" y="4718304"/>
            <a:ext cx="1545336" cy="585216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8" name="Option 33"/>
          <p:cNvSpPr/>
          <p:nvPr/>
        </p:nvSpPr>
        <p:spPr>
          <a:xfrm>
            <a:off x="10012680" y="4782312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sister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1583741" y="455005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583741" y="526145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are or do.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6118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____ you from?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838651"/>
            <a:ext cx="36118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____ you live?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550054"/>
            <a:ext cx="36118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you work near here?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5261458"/>
            <a:ext cx="3611880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you married?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55005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</p:sp>
      <p:sp>
        <p:nvSpPr>
          <p:cNvPr id="26" name="Text 24"/>
          <p:cNvSpPr/>
          <p:nvPr/>
        </p:nvSpPr>
        <p:spPr>
          <a:xfrm>
            <a:off x="686714" y="45436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27974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</p:sp>
      <p:sp>
        <p:nvSpPr>
          <p:cNvPr id="28" name="Text 26"/>
          <p:cNvSpPr/>
          <p:nvPr/>
        </p:nvSpPr>
        <p:spPr>
          <a:xfrm>
            <a:off x="686714" y="526968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Pairs: compare your answers.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do we use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do we use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</p:sp>
      <p:sp>
        <p:nvSpPr>
          <p:cNvPr id="34" name="Answer 1"/>
          <p:cNvSpPr/>
          <p:nvPr/>
        </p:nvSpPr>
        <p:spPr>
          <a:xfrm>
            <a:off x="5468112" y="3200400"/>
            <a:ext cx="10515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endParaRPr lang="en-US" sz="2200" dirty="0"/>
          </a:p>
        </p:txBody>
      </p:sp>
      <p:sp>
        <p:nvSpPr>
          <p:cNvPr id="35" name="Answer 2"/>
          <p:cNvSpPr/>
          <p:nvPr/>
        </p:nvSpPr>
        <p:spPr>
          <a:xfrm>
            <a:off x="5468112" y="3911803"/>
            <a:ext cx="10515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endParaRPr lang="en-US" sz="2200" dirty="0"/>
          </a:p>
        </p:txBody>
      </p:sp>
      <p:sp>
        <p:nvSpPr>
          <p:cNvPr id="36" name="Answer 3"/>
          <p:cNvSpPr/>
          <p:nvPr/>
        </p:nvSpPr>
        <p:spPr>
          <a:xfrm>
            <a:off x="5468112" y="4623206"/>
            <a:ext cx="10515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endParaRPr lang="en-US" sz="2200" dirty="0"/>
          </a:p>
        </p:txBody>
      </p:sp>
      <p:sp>
        <p:nvSpPr>
          <p:cNvPr id="37" name="Answer 4"/>
          <p:cNvSpPr/>
          <p:nvPr/>
        </p:nvSpPr>
        <p:spPr>
          <a:xfrm>
            <a:off x="5468112" y="5334610"/>
            <a:ext cx="105156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1163345"/>
            <a:ext cx="5814670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</p:sp>
      <p:sp>
        <p:nvSpPr>
          <p:cNvPr id="3" name="Shape 1"/>
          <p:cNvSpPr/>
          <p:nvPr/>
        </p:nvSpPr>
        <p:spPr>
          <a:xfrm>
            <a:off x="5110582" y="1087222"/>
            <a:ext cx="5814670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</p:sp>
      <p:pic>
        <p:nvPicPr>
          <p:cNvPr id="17" name="Picture" descr="A globe with a map pin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699516" y="2265152"/>
            <a:ext cx="3326587" cy="2328611"/>
          </a:xfrm>
          <a:prstGeom prst="rect">
            <a:avLst/>
          </a:prstGeom>
        </p:spPr>
      </p:pic>
      <p:sp>
        <p:nvSpPr>
          <p:cNvPr id="7" name="Text 5"/>
          <p:cNvSpPr/>
          <p:nvPr/>
        </p:nvSpPr>
        <p:spPr>
          <a:xfrm>
            <a:off x="5333695" y="128016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3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Questions with be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16636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741664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245852" y="247893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</p:sp>
      <p:sp>
        <p:nvSpPr>
          <p:cNvPr id="15" name="Shape 13"/>
          <p:cNvSpPr/>
          <p:nvPr/>
        </p:nvSpPr>
        <p:spPr>
          <a:xfrm>
            <a:off x="10328148" y="2466137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</p:sp>
      <p:sp>
        <p:nvSpPr>
          <p:cNvPr id="16" name="Shape 14"/>
          <p:cNvSpPr/>
          <p:nvPr/>
        </p:nvSpPr>
        <p:spPr>
          <a:xfrm rot="900000">
            <a:off x="10611612" y="2765146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</p:sp>
      <p:sp>
        <p:nvSpPr>
          <p:cNvPr id="18" name="Highlight 1"/>
          <p:cNvSpPr/>
          <p:nvPr/>
        </p:nvSpPr>
        <p:spPr>
          <a:xfrm>
            <a:off x="5138928" y="3977640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19" name="Helper 1"/>
          <p:cNvSpPr/>
          <p:nvPr/>
        </p:nvSpPr>
        <p:spPr>
          <a:xfrm>
            <a:off x="5138928" y="3794760"/>
            <a:ext cx="960120" cy="9326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endParaRPr lang="en-US" sz="2600" dirty="0"/>
          </a:p>
        </p:txBody>
      </p:sp>
      <p:sp>
        <p:nvSpPr>
          <p:cNvPr id="20" name="Question 1"/>
          <p:cNvSpPr/>
          <p:nvPr/>
        </p:nvSpPr>
        <p:spPr>
          <a:xfrm>
            <a:off x="6144768" y="3794760"/>
            <a:ext cx="2514600" cy="9326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new here?</a:t>
            </a:r>
            <a:endParaRPr lang="en-US" sz="2200" dirty="0"/>
          </a:p>
        </p:txBody>
      </p:sp>
      <p:sp>
        <p:nvSpPr>
          <p:cNvPr id="22" name="Answer bg 1"/>
          <p:cNvSpPr/>
          <p:nvPr/>
        </p:nvSpPr>
        <p:spPr>
          <a:xfrm>
            <a:off x="8668512" y="3794760"/>
            <a:ext cx="3017520" cy="9326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1" name="Answer 1"/>
          <p:cNvSpPr/>
          <p:nvPr/>
        </p:nvSpPr>
        <p:spPr>
          <a:xfrm>
            <a:off x="8668512" y="3794760"/>
            <a:ext cx="3017520" cy="9326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am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I'm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23" name="Highlight 2"/>
          <p:cNvSpPr/>
          <p:nvPr/>
        </p:nvSpPr>
        <p:spPr>
          <a:xfrm>
            <a:off x="5138928" y="5166360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Helper 2"/>
          <p:cNvSpPr/>
          <p:nvPr/>
        </p:nvSpPr>
        <p:spPr>
          <a:xfrm>
            <a:off x="5138928" y="4983480"/>
            <a:ext cx="960120" cy="9326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endParaRPr lang="en-US" sz="2600" dirty="0"/>
          </a:p>
        </p:txBody>
      </p:sp>
      <p:sp>
        <p:nvSpPr>
          <p:cNvPr id="25" name="Question 2"/>
          <p:cNvSpPr/>
          <p:nvPr/>
        </p:nvSpPr>
        <p:spPr>
          <a:xfrm>
            <a:off x="6144768" y="4983480"/>
            <a:ext cx="2514600" cy="9326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a cook?</a:t>
            </a:r>
            <a:endParaRPr lang="en-US" sz="2200" dirty="0"/>
          </a:p>
        </p:txBody>
      </p:sp>
      <p:sp>
        <p:nvSpPr>
          <p:cNvPr id="27" name="Answer bg 2"/>
          <p:cNvSpPr/>
          <p:nvPr/>
        </p:nvSpPr>
        <p:spPr>
          <a:xfrm>
            <a:off x="8668512" y="4983480"/>
            <a:ext cx="3017520" cy="9326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Answer 2"/>
          <p:cNvSpPr/>
          <p:nvPr/>
        </p:nvSpPr>
        <p:spPr>
          <a:xfrm>
            <a:off x="8668512" y="4983480"/>
            <a:ext cx="3017520" cy="93268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she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she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2786" y="3649370"/>
            <a:ext cx="4912157" cy="256123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</p:sp>
      <p:pic>
        <p:nvPicPr>
          <p:cNvPr id="18" name="Picture" descr="Two people at work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7598664" y="1217386"/>
            <a:ext cx="3254350" cy="2278045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32104" y="1371600"/>
            <a:ext cx="5257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Questions with</a:t>
            </a:r>
            <a:endParaRPr lang="en-US" sz="32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/ does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305763" y="3649370"/>
            <a:ext cx="4790542" cy="2599639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1578" y="3253435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</p:sp>
      <p:sp>
        <p:nvSpPr>
          <p:cNvPr id="16" name="Shape 14"/>
          <p:cNvSpPr/>
          <p:nvPr/>
        </p:nvSpPr>
        <p:spPr>
          <a:xfrm>
            <a:off x="823874" y="3240634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</p:sp>
      <p:sp>
        <p:nvSpPr>
          <p:cNvPr id="17" name="Shape 15"/>
          <p:cNvSpPr/>
          <p:nvPr/>
        </p:nvSpPr>
        <p:spPr>
          <a:xfrm rot="900000">
            <a:off x="1107338" y="3539642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</p:sp>
      <p:sp>
        <p:nvSpPr>
          <p:cNvPr id="19" name="Q head"/>
          <p:cNvSpPr/>
          <p:nvPr/>
        </p:nvSpPr>
        <p:spPr>
          <a:xfrm>
            <a:off x="1920240" y="379476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20" name="A head"/>
          <p:cNvSpPr/>
          <p:nvPr/>
        </p:nvSpPr>
        <p:spPr>
          <a:xfrm>
            <a:off x="7040880" y="3794760"/>
            <a:ext cx="27432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21" name="Highlight 1"/>
          <p:cNvSpPr/>
          <p:nvPr/>
        </p:nvSpPr>
        <p:spPr>
          <a:xfrm>
            <a:off x="1481328" y="4453128"/>
            <a:ext cx="118872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2" name="Helper 1"/>
          <p:cNvSpPr/>
          <p:nvPr/>
        </p:nvSpPr>
        <p:spPr>
          <a:xfrm>
            <a:off x="1481328" y="4315968"/>
            <a:ext cx="118872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endParaRPr lang="en-US" sz="2600" dirty="0"/>
          </a:p>
        </p:txBody>
      </p:sp>
      <p:sp>
        <p:nvSpPr>
          <p:cNvPr id="23" name="Question 1"/>
          <p:cNvSpPr/>
          <p:nvPr/>
        </p:nvSpPr>
        <p:spPr>
          <a:xfrm>
            <a:off x="2697480" y="4315968"/>
            <a:ext cx="329184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have kids?</a:t>
            </a:r>
            <a:endParaRPr lang="en-US" sz="2200" dirty="0"/>
          </a:p>
        </p:txBody>
      </p:sp>
      <p:sp>
        <p:nvSpPr>
          <p:cNvPr id="25" name="Answer bg 1"/>
          <p:cNvSpPr/>
          <p:nvPr/>
        </p:nvSpPr>
        <p:spPr>
          <a:xfrm>
            <a:off x="6949440" y="43342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4" name="Answer 1"/>
          <p:cNvSpPr/>
          <p:nvPr/>
        </p:nvSpPr>
        <p:spPr>
          <a:xfrm>
            <a:off x="6949440" y="43159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26" name="Highlight 2"/>
          <p:cNvSpPr/>
          <p:nvPr/>
        </p:nvSpPr>
        <p:spPr>
          <a:xfrm>
            <a:off x="1481328" y="5367528"/>
            <a:ext cx="118872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7" name="Helper 2"/>
          <p:cNvSpPr/>
          <p:nvPr/>
        </p:nvSpPr>
        <p:spPr>
          <a:xfrm>
            <a:off x="1481328" y="5230368"/>
            <a:ext cx="118872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</a:t>
            </a:r>
            <a:endParaRPr lang="en-US" sz="2600" dirty="0"/>
          </a:p>
        </p:txBody>
      </p:sp>
      <p:sp>
        <p:nvSpPr>
          <p:cNvPr id="28" name="Question 2"/>
          <p:cNvSpPr/>
          <p:nvPr/>
        </p:nvSpPr>
        <p:spPr>
          <a:xfrm>
            <a:off x="2697480" y="5230368"/>
            <a:ext cx="329184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work at night?</a:t>
            </a:r>
            <a:endParaRPr lang="en-US" sz="2200" dirty="0"/>
          </a:p>
        </p:txBody>
      </p:sp>
      <p:sp>
        <p:nvSpPr>
          <p:cNvPr id="30" name="Answer bg 2"/>
          <p:cNvSpPr/>
          <p:nvPr/>
        </p:nvSpPr>
        <p:spPr>
          <a:xfrm>
            <a:off x="6949440" y="52486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9" name="Answer 2"/>
          <p:cNvSpPr/>
          <p:nvPr/>
        </p:nvSpPr>
        <p:spPr>
          <a:xfrm>
            <a:off x="6949440" y="52303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she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she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Wh-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Questions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3: the question word comes first.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83280" y="411480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83280" y="4919472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383280" y="57241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Shape 15"/>
          <p:cNvSpPr/>
          <p:nvPr/>
        </p:nvSpPr>
        <p:spPr>
          <a:xfrm>
            <a:off x="3503066" y="4928616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03066" y="5733288"/>
            <a:ext cx="4480560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</p:sp>
      <p:pic>
        <p:nvPicPr>
          <p:cNvPr id="24" name="Picture live" descr="A person and a house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25" name="Highlight 1"/>
          <p:cNvSpPr/>
          <p:nvPr/>
        </p:nvSpPr>
        <p:spPr>
          <a:xfrm>
            <a:off x="5349240" y="4251960"/>
            <a:ext cx="8229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26" name="Wh 1"/>
          <p:cNvSpPr/>
          <p:nvPr/>
        </p:nvSpPr>
        <p:spPr>
          <a:xfrm>
            <a:off x="4389120" y="4251960"/>
            <a:ext cx="960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</a:t>
            </a:r>
            <a:endParaRPr lang="en-US" sz="2200" dirty="0"/>
          </a:p>
        </p:txBody>
      </p:sp>
      <p:sp>
        <p:nvSpPr>
          <p:cNvPr id="27" name="Helper 1"/>
          <p:cNvSpPr/>
          <p:nvPr/>
        </p:nvSpPr>
        <p:spPr>
          <a:xfrm>
            <a:off x="5349240" y="4251960"/>
            <a:ext cx="8229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endParaRPr lang="en-US" sz="2200" dirty="0"/>
          </a:p>
        </p:txBody>
      </p:sp>
      <p:sp>
        <p:nvSpPr>
          <p:cNvPr id="28" name="Rest 1"/>
          <p:cNvSpPr/>
          <p:nvPr/>
        </p:nvSpPr>
        <p:spPr>
          <a:xfrm>
            <a:off x="6217920" y="4251960"/>
            <a:ext cx="17373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from?</a:t>
            </a:r>
            <a:endParaRPr lang="en-US" sz="2200" dirty="0"/>
          </a:p>
        </p:txBody>
      </p:sp>
      <p:sp>
        <p:nvSpPr>
          <p:cNvPr id="29" name="Highlight 2"/>
          <p:cNvSpPr/>
          <p:nvPr/>
        </p:nvSpPr>
        <p:spPr>
          <a:xfrm>
            <a:off x="5349240" y="5056632"/>
            <a:ext cx="8229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0" name="Wh 2"/>
          <p:cNvSpPr/>
          <p:nvPr/>
        </p:nvSpPr>
        <p:spPr>
          <a:xfrm>
            <a:off x="4389120" y="5056632"/>
            <a:ext cx="960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</a:t>
            </a:r>
            <a:endParaRPr lang="en-US" sz="2200" dirty="0"/>
          </a:p>
        </p:txBody>
      </p:sp>
      <p:sp>
        <p:nvSpPr>
          <p:cNvPr id="31" name="Helper 2"/>
          <p:cNvSpPr/>
          <p:nvPr/>
        </p:nvSpPr>
        <p:spPr>
          <a:xfrm>
            <a:off x="5349240" y="5056632"/>
            <a:ext cx="8229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endParaRPr lang="en-US" sz="2200" dirty="0"/>
          </a:p>
        </p:txBody>
      </p:sp>
      <p:sp>
        <p:nvSpPr>
          <p:cNvPr id="32" name="Rest 2"/>
          <p:cNvSpPr/>
          <p:nvPr/>
        </p:nvSpPr>
        <p:spPr>
          <a:xfrm>
            <a:off x="6217920" y="5056632"/>
            <a:ext cx="17373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live?</a:t>
            </a:r>
            <a:endParaRPr lang="en-US" sz="2200" dirty="0"/>
          </a:p>
        </p:txBody>
      </p:sp>
      <p:sp>
        <p:nvSpPr>
          <p:cNvPr id="33" name="Highlight 3"/>
          <p:cNvSpPr/>
          <p:nvPr/>
        </p:nvSpPr>
        <p:spPr>
          <a:xfrm>
            <a:off x="5349240" y="5861304"/>
            <a:ext cx="822960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34" name="Wh 3"/>
          <p:cNvSpPr/>
          <p:nvPr/>
        </p:nvSpPr>
        <p:spPr>
          <a:xfrm>
            <a:off x="4389120" y="5861304"/>
            <a:ext cx="960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</a:t>
            </a:r>
            <a:endParaRPr lang="en-US" sz="2200" dirty="0"/>
          </a:p>
        </p:txBody>
      </p:sp>
      <p:sp>
        <p:nvSpPr>
          <p:cNvPr id="35" name="Helper 3"/>
          <p:cNvSpPr/>
          <p:nvPr/>
        </p:nvSpPr>
        <p:spPr>
          <a:xfrm>
            <a:off x="5349240" y="5861304"/>
            <a:ext cx="8229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endParaRPr lang="en-US" sz="2200" dirty="0"/>
          </a:p>
        </p:txBody>
      </p:sp>
      <p:sp>
        <p:nvSpPr>
          <p:cNvPr id="36" name="Rest 3"/>
          <p:cNvSpPr/>
          <p:nvPr/>
        </p:nvSpPr>
        <p:spPr>
          <a:xfrm>
            <a:off x="6217920" y="5861304"/>
            <a:ext cx="17373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do?</a:t>
            </a:r>
            <a:endParaRPr lang="en-US" sz="2200" dirty="0"/>
          </a:p>
        </p:txBody>
      </p:sp>
      <p:sp>
        <p:nvSpPr>
          <p:cNvPr id="37" name="Order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Word order</a:t>
            </a:r>
            <a:endParaRPr lang="en-US" sz="2400" dirty="0"/>
          </a:p>
        </p:txBody>
      </p:sp>
      <p:sp>
        <p:nvSpPr>
          <p:cNvPr id="38" name="Step num 1"/>
          <p:cNvSpPr/>
          <p:nvPr/>
        </p:nvSpPr>
        <p:spPr>
          <a:xfrm>
            <a:off x="8549640" y="1965960"/>
            <a:ext cx="548640" cy="548640"/>
          </a:xfrm>
          <a:prstGeom prst="ellipse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39" name="Step 1"/>
          <p:cNvSpPr/>
          <p:nvPr/>
        </p:nvSpPr>
        <p:spPr>
          <a:xfrm>
            <a:off x="9235440" y="1965960"/>
            <a:ext cx="237744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 word</a:t>
            </a:r>
            <a:endParaRPr lang="en-US" sz="2200" dirty="0"/>
          </a:p>
        </p:txBody>
      </p:sp>
      <p:sp>
        <p:nvSpPr>
          <p:cNvPr id="40" name="Step num 2"/>
          <p:cNvSpPr/>
          <p:nvPr/>
        </p:nvSpPr>
        <p:spPr>
          <a:xfrm>
            <a:off x="8549640" y="2697480"/>
            <a:ext cx="548640" cy="548640"/>
          </a:xfrm>
          <a:prstGeom prst="ellipse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41" name="Step 2"/>
          <p:cNvSpPr/>
          <p:nvPr/>
        </p:nvSpPr>
        <p:spPr>
          <a:xfrm>
            <a:off x="9235440" y="2697480"/>
            <a:ext cx="237744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Helper</a:t>
            </a:r>
            <a:endParaRPr lang="en-US" sz="2200" dirty="0"/>
          </a:p>
        </p:txBody>
      </p:sp>
      <p:sp>
        <p:nvSpPr>
          <p:cNvPr id="42" name="Step num 3"/>
          <p:cNvSpPr/>
          <p:nvPr/>
        </p:nvSpPr>
        <p:spPr>
          <a:xfrm>
            <a:off x="8549640" y="3429000"/>
            <a:ext cx="548640" cy="548640"/>
          </a:xfrm>
          <a:prstGeom prst="ellipse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43" name="Step 3"/>
          <p:cNvSpPr/>
          <p:nvPr/>
        </p:nvSpPr>
        <p:spPr>
          <a:xfrm>
            <a:off x="9235440" y="3429000"/>
            <a:ext cx="237744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Person</a:t>
            </a:r>
            <a:endParaRPr lang="en-US" sz="2200" dirty="0"/>
          </a:p>
        </p:txBody>
      </p:sp>
      <p:sp>
        <p:nvSpPr>
          <p:cNvPr id="44" name="Step num 4"/>
          <p:cNvSpPr/>
          <p:nvPr/>
        </p:nvSpPr>
        <p:spPr>
          <a:xfrm>
            <a:off x="8549640" y="4160520"/>
            <a:ext cx="548640" cy="548640"/>
          </a:xfrm>
          <a:prstGeom prst="ellipse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2200" dirty="0"/>
          </a:p>
        </p:txBody>
      </p:sp>
      <p:sp>
        <p:nvSpPr>
          <p:cNvPr id="45" name="Step 4"/>
          <p:cNvSpPr/>
          <p:nvPr/>
        </p:nvSpPr>
        <p:spPr>
          <a:xfrm>
            <a:off x="9235440" y="4160520"/>
            <a:ext cx="237744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rest</a:t>
            </a:r>
            <a:endParaRPr lang="en-US" sz="2200" dirty="0"/>
          </a:p>
        </p:txBody>
      </p:sp>
      <p:sp>
        <p:nvSpPr>
          <p:cNvPr id="46" name="Example"/>
          <p:cNvSpPr/>
          <p:nvPr/>
        </p:nvSpPr>
        <p:spPr>
          <a:xfrm>
            <a:off x="8549640" y="5029200"/>
            <a:ext cx="3017520" cy="7315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live?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</p:sp>
      <p:sp>
        <p:nvSpPr>
          <p:cNvPr id="5" name="Shape 3"/>
          <p:cNvSpPr/>
          <p:nvPr/>
        </p:nvSpPr>
        <p:spPr>
          <a:xfrm flipH="1">
            <a:off x="501091" y="3621024"/>
            <a:ext cx="3543300" cy="275600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</p:sp>
      <p:sp>
        <p:nvSpPr>
          <p:cNvPr id="6" name="Shape 4"/>
          <p:cNvSpPr/>
          <p:nvPr/>
        </p:nvSpPr>
        <p:spPr>
          <a:xfrm flipH="1">
            <a:off x="4388206" y="3629254"/>
            <a:ext cx="5860390" cy="275600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</p:sp>
      <p:sp>
        <p:nvSpPr>
          <p:cNvPr id="7" name="Shape 5"/>
          <p:cNvSpPr/>
          <p:nvPr/>
        </p:nvSpPr>
        <p:spPr>
          <a:xfrm>
            <a:off x="479328" y="125108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</p:sp>
      <p:sp>
        <p:nvSpPr>
          <p:cNvPr id="8" name="Shape 6"/>
          <p:cNvSpPr/>
          <p:nvPr/>
        </p:nvSpPr>
        <p:spPr>
          <a:xfrm>
            <a:off x="522122" y="118689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 flipH="1">
            <a:off x="658368" y="3429000"/>
            <a:ext cx="3610966" cy="275600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 flipH="1">
            <a:off x="4519879" y="3429000"/>
            <a:ext cx="5860390" cy="275600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08076" y="15544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311261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</p:sp>
      <p:sp>
        <p:nvSpPr>
          <p:cNvPr id="19" name="Shape 17"/>
          <p:cNvSpPr/>
          <p:nvPr/>
        </p:nvSpPr>
        <p:spPr>
          <a:xfrm>
            <a:off x="9645091" y="309981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</p:sp>
      <p:sp>
        <p:nvSpPr>
          <p:cNvPr id="20" name="Shape 18"/>
          <p:cNvSpPr/>
          <p:nvPr/>
        </p:nvSpPr>
        <p:spPr>
          <a:xfrm rot="900000">
            <a:off x="9928555" y="339882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</p:sp>
      <p:pic>
        <p:nvPicPr>
          <p:cNvPr id="21" name="Picture" descr="A hometown with a map pin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361188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361188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4251960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you are from?</a:t>
            </a:r>
            <a:endParaRPr lang="en-US" sz="2200" dirty="0"/>
          </a:p>
        </p:txBody>
      </p:sp>
      <p:sp>
        <p:nvSpPr>
          <p:cNvPr id="25" name="Good 1"/>
          <p:cNvSpPr/>
          <p:nvPr/>
        </p:nvSpPr>
        <p:spPr>
          <a:xfrm>
            <a:off x="4800600" y="4251960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you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from?</a:t>
            </a:r>
            <a:endParaRPr lang="en-US" sz="2200" dirty="0"/>
          </a:p>
        </p:txBody>
      </p:sp>
      <p:sp>
        <p:nvSpPr>
          <p:cNvPr id="26" name="Bad 2"/>
          <p:cNvSpPr/>
          <p:nvPr/>
        </p:nvSpPr>
        <p:spPr>
          <a:xfrm>
            <a:off x="914400" y="4873752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you live?</a:t>
            </a:r>
            <a:endParaRPr lang="en-US" sz="2200" dirty="0"/>
          </a:p>
        </p:txBody>
      </p:sp>
      <p:sp>
        <p:nvSpPr>
          <p:cNvPr id="27" name="Good 2"/>
          <p:cNvSpPr/>
          <p:nvPr/>
        </p:nvSpPr>
        <p:spPr>
          <a:xfrm>
            <a:off x="4800600" y="4873752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live?</a:t>
            </a:r>
            <a:endParaRPr lang="en-US" sz="2200" dirty="0"/>
          </a:p>
        </p:txBody>
      </p:sp>
      <p:sp>
        <p:nvSpPr>
          <p:cNvPr id="28" name="Bad 3"/>
          <p:cNvSpPr/>
          <p:nvPr/>
        </p:nvSpPr>
        <p:spPr>
          <a:xfrm>
            <a:off x="914400" y="5495544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are married?</a:t>
            </a:r>
            <a:endParaRPr lang="en-US" sz="2200" dirty="0"/>
          </a:p>
        </p:txBody>
      </p:sp>
      <p:sp>
        <p:nvSpPr>
          <p:cNvPr id="29" name="Good 3"/>
          <p:cNvSpPr/>
          <p:nvPr/>
        </p:nvSpPr>
        <p:spPr>
          <a:xfrm>
            <a:off x="4800600" y="5495544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you married?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</p:sp>
      <p:sp>
        <p:nvSpPr>
          <p:cNvPr id="5" name="Shape 3"/>
          <p:cNvSpPr/>
          <p:nvPr/>
        </p:nvSpPr>
        <p:spPr>
          <a:xfrm flipH="1">
            <a:off x="501091" y="3621024"/>
            <a:ext cx="3543300" cy="275600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</p:sp>
      <p:sp>
        <p:nvSpPr>
          <p:cNvPr id="6" name="Shape 4"/>
          <p:cNvSpPr/>
          <p:nvPr/>
        </p:nvSpPr>
        <p:spPr>
          <a:xfrm flipH="1">
            <a:off x="4388206" y="3629254"/>
            <a:ext cx="5860390" cy="275600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</p:sp>
      <p:sp>
        <p:nvSpPr>
          <p:cNvPr id="7" name="Shape 5"/>
          <p:cNvSpPr/>
          <p:nvPr/>
        </p:nvSpPr>
        <p:spPr>
          <a:xfrm>
            <a:off x="479328" y="125108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</p:sp>
      <p:sp>
        <p:nvSpPr>
          <p:cNvPr id="8" name="Shape 6"/>
          <p:cNvSpPr/>
          <p:nvPr/>
        </p:nvSpPr>
        <p:spPr>
          <a:xfrm>
            <a:off x="522122" y="118689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 flipH="1">
            <a:off x="658368" y="3429000"/>
            <a:ext cx="3610966" cy="275600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 flipH="1">
            <a:off x="4519879" y="3429000"/>
            <a:ext cx="5860390" cy="275600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08076" y="15544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Fix These Mistakes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311261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</p:sp>
      <p:sp>
        <p:nvSpPr>
          <p:cNvPr id="19" name="Shape 17"/>
          <p:cNvSpPr/>
          <p:nvPr/>
        </p:nvSpPr>
        <p:spPr>
          <a:xfrm>
            <a:off x="9645091" y="309981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</p:sp>
      <p:sp>
        <p:nvSpPr>
          <p:cNvPr id="20" name="Shape 18"/>
          <p:cNvSpPr/>
          <p:nvPr/>
        </p:nvSpPr>
        <p:spPr>
          <a:xfrm rot="900000">
            <a:off x="9928555" y="339882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</p:sp>
      <p:pic>
        <p:nvPicPr>
          <p:cNvPr id="21" name="Picture" descr="Married and single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22" name="Dont head"/>
          <p:cNvSpPr/>
          <p:nvPr/>
        </p:nvSpPr>
        <p:spPr>
          <a:xfrm>
            <a:off x="914400" y="361188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23" name="Say head"/>
          <p:cNvSpPr/>
          <p:nvPr/>
        </p:nvSpPr>
        <p:spPr>
          <a:xfrm>
            <a:off x="4800600" y="361188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24" name="Bad 1"/>
          <p:cNvSpPr/>
          <p:nvPr/>
        </p:nvSpPr>
        <p:spPr>
          <a:xfrm>
            <a:off x="914400" y="4251960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have 35 years.</a:t>
            </a:r>
            <a:endParaRPr lang="en-US" sz="2200" dirty="0"/>
          </a:p>
        </p:txBody>
      </p:sp>
      <p:sp>
        <p:nvSpPr>
          <p:cNvPr id="25" name="Good 1"/>
          <p:cNvSpPr/>
          <p:nvPr/>
        </p:nvSpPr>
        <p:spPr>
          <a:xfrm>
            <a:off x="4800600" y="4251960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'm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35.</a:t>
            </a:r>
            <a:endParaRPr lang="en-US" sz="2200" dirty="0"/>
          </a:p>
        </p:txBody>
      </p:sp>
      <p:sp>
        <p:nvSpPr>
          <p:cNvPr id="26" name="Bad 2"/>
          <p:cNvSpPr/>
          <p:nvPr/>
        </p:nvSpPr>
        <p:spPr>
          <a:xfrm>
            <a:off x="914400" y="4873752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from Peru.</a:t>
            </a:r>
            <a:endParaRPr lang="en-US" sz="2200" dirty="0"/>
          </a:p>
        </p:txBody>
      </p:sp>
      <p:sp>
        <p:nvSpPr>
          <p:cNvPr id="27" name="Good 2"/>
          <p:cNvSpPr/>
          <p:nvPr/>
        </p:nvSpPr>
        <p:spPr>
          <a:xfrm>
            <a:off x="4800600" y="4873752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She's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from Peru.</a:t>
            </a:r>
            <a:endParaRPr lang="en-US" sz="2200" dirty="0"/>
          </a:p>
        </p:txBody>
      </p:sp>
      <p:sp>
        <p:nvSpPr>
          <p:cNvPr id="28" name="Bad 3"/>
          <p:cNvSpPr/>
          <p:nvPr/>
        </p:nvSpPr>
        <p:spPr>
          <a:xfrm>
            <a:off x="914400" y="5495544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live.</a:t>
            </a:r>
            <a:endParaRPr lang="en-US" sz="2200" dirty="0"/>
          </a:p>
        </p:txBody>
      </p:sp>
      <p:sp>
        <p:nvSpPr>
          <p:cNvPr id="29" name="Good 3"/>
          <p:cNvSpPr/>
          <p:nvPr/>
        </p:nvSpPr>
        <p:spPr>
          <a:xfrm>
            <a:off x="4800600" y="5495544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 or Do?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Which helper word goes in the blank?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you like rice?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6177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____ you tired?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</p:sp>
      <p:sp>
        <p:nvSpPr>
          <p:cNvPr id="17" name="Shape 15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</p:sp>
      <p:sp>
        <p:nvSpPr>
          <p:cNvPr id="19" name="Text 17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82753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Where ____ she work?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10972800" y="5120640"/>
            <a:ext cx="777240" cy="734214"/>
          </a:xfrm>
          <a:prstGeom prst="star10">
            <a:avLst/>
          </a:prstGeom>
          <a:solidFill>
            <a:srgbClr val="8FAFE3"/>
          </a:solidFill>
          <a:ln/>
        </p:spPr>
      </p:sp>
      <p:sp>
        <p:nvSpPr>
          <p:cNvPr id="23" name="Shape 21"/>
          <p:cNvSpPr/>
          <p:nvPr/>
        </p:nvSpPr>
        <p:spPr>
          <a:xfrm>
            <a:off x="11035257" y="5110925"/>
            <a:ext cx="791119" cy="791119"/>
          </a:xfrm>
          <a:prstGeom prst="star10">
            <a:avLst/>
          </a:prstGeom>
          <a:solidFill>
            <a:srgbClr val="FFE28C"/>
          </a:solidFill>
          <a:ln/>
        </p:spPr>
      </p:sp>
      <p:sp>
        <p:nvSpPr>
          <p:cNvPr id="24" name="Shape 22"/>
          <p:cNvSpPr/>
          <p:nvPr/>
        </p:nvSpPr>
        <p:spPr>
          <a:xfrm rot="900000">
            <a:off x="11250386" y="5337851"/>
            <a:ext cx="337961" cy="337961"/>
          </a:xfrm>
          <a:prstGeom prst="mathPlus">
            <a:avLst/>
          </a:prstGeom>
          <a:solidFill>
            <a:srgbClr val="1B2236"/>
          </a:solidFill>
          <a:ln/>
        </p:spPr>
      </p:sp>
      <p:sp>
        <p:nvSpPr>
          <p:cNvPr id="25" name="Answer do"/>
          <p:cNvSpPr/>
          <p:nvPr/>
        </p:nvSpPr>
        <p:spPr>
          <a:xfrm>
            <a:off x="960120" y="4709160"/>
            <a:ext cx="173736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endParaRPr lang="en-US" sz="2800" dirty="0"/>
          </a:p>
        </p:txBody>
      </p:sp>
      <p:sp>
        <p:nvSpPr>
          <p:cNvPr id="26" name="Answer are"/>
          <p:cNvSpPr/>
          <p:nvPr/>
        </p:nvSpPr>
        <p:spPr>
          <a:xfrm>
            <a:off x="4617720" y="4709160"/>
            <a:ext cx="173736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</a:t>
            </a:r>
            <a:endParaRPr lang="en-US" sz="2800" dirty="0"/>
          </a:p>
        </p:txBody>
      </p:sp>
      <p:sp>
        <p:nvSpPr>
          <p:cNvPr id="27" name="Answer does"/>
          <p:cNvSpPr/>
          <p:nvPr/>
        </p:nvSpPr>
        <p:spPr>
          <a:xfrm>
            <a:off x="8275320" y="4709160"/>
            <a:ext cx="173736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" y="1360627"/>
            <a:ext cx="3045866" cy="4995367"/>
          </a:xfrm>
          <a:prstGeom prst="rect">
            <a:avLst/>
          </a:prstGeom>
          <a:solidFill>
            <a:srgbClr val="B9D2F7"/>
          </a:solidFill>
          <a:ln/>
        </p:spPr>
      </p:sp>
      <p:pic>
        <p:nvPicPr>
          <p:cNvPr id="21" name="Picture" descr="Three children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649224" y="2869067"/>
            <a:ext cx="2826410" cy="1978487"/>
          </a:xfrm>
          <a:prstGeom prst="rect">
            <a:avLst/>
          </a:prstGeom>
        </p:spPr>
      </p:pic>
      <p:sp>
        <p:nvSpPr>
          <p:cNvPr id="4" name="Shape 2"/>
          <p:cNvSpPr/>
          <p:nvPr/>
        </p:nvSpPr>
        <p:spPr>
          <a:xfrm>
            <a:off x="4582058" y="4619549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</p:sp>
      <p:sp>
        <p:nvSpPr>
          <p:cNvPr id="5" name="Shape 3"/>
          <p:cNvSpPr/>
          <p:nvPr/>
        </p:nvSpPr>
        <p:spPr>
          <a:xfrm>
            <a:off x="4508906" y="4572000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</p:sp>
      <p:sp>
        <p:nvSpPr>
          <p:cNvPr id="6" name="Shape 4"/>
          <p:cNvSpPr/>
          <p:nvPr/>
        </p:nvSpPr>
        <p:spPr>
          <a:xfrm>
            <a:off x="4395201" y="1473464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</p:sp>
      <p:sp>
        <p:nvSpPr>
          <p:cNvPr id="7" name="Shape 5"/>
          <p:cNvSpPr/>
          <p:nvPr/>
        </p:nvSpPr>
        <p:spPr>
          <a:xfrm>
            <a:off x="4437583" y="1419149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800600" y="1481328"/>
            <a:ext cx="6583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the same helper word.</a:t>
            </a:r>
            <a:endParaRPr lang="en-US" sz="2000" dirty="0"/>
          </a:p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Short Answers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713732" y="3063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Are you new here?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13732" y="3611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am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I'm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13732" y="4663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have kids?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13732" y="519379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052560" y="31089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am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9052560" y="4709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endParaRPr lang="en-US" sz="6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</p:sp>
      <p:pic>
        <p:nvPicPr>
          <p:cNvPr id="18" name="Picture" descr="A house near a school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725707" y="3418942"/>
            <a:ext cx="3882281" cy="2717597"/>
          </a:xfrm>
          <a:prstGeom prst="rect">
            <a:avLst/>
          </a:prstGeom>
        </p:spPr>
      </p:pic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Find Someone Who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91072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Mingle. Talk to 6 or more people.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033358" y="198699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</p:sp>
      <p:sp>
        <p:nvSpPr>
          <p:cNvPr id="16" name="Shape 14"/>
          <p:cNvSpPr/>
          <p:nvPr/>
        </p:nvSpPr>
        <p:spPr>
          <a:xfrm>
            <a:off x="9091847" y="197789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</p:sp>
      <p:sp>
        <p:nvSpPr>
          <p:cNvPr id="17" name="Shape 15"/>
          <p:cNvSpPr/>
          <p:nvPr/>
        </p:nvSpPr>
        <p:spPr>
          <a:xfrm rot="900000">
            <a:off x="9293308" y="219040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</p:sp>
      <p:sp>
        <p:nvSpPr>
          <p:cNvPr id="19" name="Step num 1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20" name="Step 1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Make the question.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you live near here?</a:t>
            </a:r>
            <a:endParaRPr lang="en-US" sz="2000" dirty="0"/>
          </a:p>
        </p:txBody>
      </p:sp>
      <p:sp>
        <p:nvSpPr>
          <p:cNvPr id="21" name="Step num 2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Step 2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Someone says yes?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their name.</a:t>
            </a:r>
            <a:endParaRPr lang="en-US" sz="2000" dirty="0"/>
          </a:p>
        </p:txBody>
      </p:sp>
      <p:sp>
        <p:nvSpPr>
          <p:cNvPr id="23" name="Step num 3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tep 3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 one more question.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Then find a new person.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4343400" y="21031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9907524" y="2565806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</p:sp>
      <p:sp>
        <p:nvSpPr>
          <p:cNvPr id="14" name="Shape 12"/>
          <p:cNvSpPr/>
          <p:nvPr/>
        </p:nvSpPr>
        <p:spPr>
          <a:xfrm>
            <a:off x="9966013" y="2556708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</p:sp>
      <p:sp>
        <p:nvSpPr>
          <p:cNvPr id="15" name="Shape 13"/>
          <p:cNvSpPr/>
          <p:nvPr/>
        </p:nvSpPr>
        <p:spPr>
          <a:xfrm rot="900000">
            <a:off x="10167475" y="2769218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</p:sp>
      <p:pic>
        <p:nvPicPr>
          <p:cNvPr id="16" name="Picture" descr="A hand pointing and a question mark"/>
          <p:cNvPicPr>
            <a:picLocks noChangeAspect="1"/>
          </p:cNvPicPr>
          <p:nvPr/>
        </p:nvPicPr>
        <p:blipFill>
          <a:blip r:embed="rIdG1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17" name="Num 01"/>
          <p:cNvSpPr/>
          <p:nvPr/>
        </p:nvSpPr>
        <p:spPr>
          <a:xfrm>
            <a:off x="43434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18" name="Label 01"/>
          <p:cNvSpPr/>
          <p:nvPr/>
        </p:nvSpPr>
        <p:spPr>
          <a:xfrm>
            <a:off x="51206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/>
          </a:p>
        </p:txBody>
      </p:sp>
      <p:sp>
        <p:nvSpPr>
          <p:cNvPr id="19" name="Body 01"/>
          <p:cNvSpPr/>
          <p:nvPr/>
        </p:nvSpPr>
        <p:spPr>
          <a:xfrm>
            <a:off x="43434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one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question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and one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question.</a:t>
            </a:r>
            <a:endParaRPr lang="en-US" sz="2000" dirty="0"/>
          </a:p>
        </p:txBody>
      </p:sp>
      <p:sp>
        <p:nvSpPr>
          <p:cNvPr id="20" name="Num 02"/>
          <p:cNvSpPr/>
          <p:nvPr/>
        </p:nvSpPr>
        <p:spPr>
          <a:xfrm>
            <a:off x="80010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21" name="Label 02"/>
          <p:cNvSpPr/>
          <p:nvPr/>
        </p:nvSpPr>
        <p:spPr>
          <a:xfrm>
            <a:off x="87782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/>
          </a:p>
        </p:txBody>
      </p:sp>
      <p:sp>
        <p:nvSpPr>
          <p:cNvPr id="22" name="Body 02"/>
          <p:cNvSpPr/>
          <p:nvPr/>
        </p:nvSpPr>
        <p:spPr>
          <a:xfrm>
            <a:off x="80010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5 questions: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 with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/ does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 with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am / is / are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answers.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Bonus: ask one person!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275234" y="75895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</p:sp>
      <p:sp>
        <p:nvSpPr>
          <p:cNvPr id="13" name="Shape 11"/>
          <p:cNvSpPr/>
          <p:nvPr/>
        </p:nvSpPr>
        <p:spPr>
          <a:xfrm>
            <a:off x="333723" y="66797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</p:sp>
      <p:sp>
        <p:nvSpPr>
          <p:cNvPr id="14" name="Shape 12"/>
          <p:cNvSpPr/>
          <p:nvPr/>
        </p:nvSpPr>
        <p:spPr>
          <a:xfrm rot="900000">
            <a:off x="535185" y="279307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</p:sp>
      <p:sp>
        <p:nvSpPr>
          <p:cNvPr id="15" name="Twemoji credit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arrows, calendars, clocks, and labels were added.</a:t>
            </a:r>
            <a:endParaRPr lang="en-US" sz="2000" dirty="0"/>
          </a:p>
        </p:txBody>
      </p:sp>
      <p:sp>
        <p:nvSpPr>
          <p:cNvPr id="16" name="Deck license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deck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License: CC BY-NC-SA 4.0</a:t>
            </a:r>
            <a:endParaRPr lang="en-US" sz="2000" dirty="0"/>
          </a:p>
        </p:txBody>
      </p:sp>
      <p:sp>
        <p:nvSpPr>
          <p:cNvPr id="17" name="Independence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About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Independent project, not affiliated with or endorsed by Intercambio Uniting Communities.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1: Nice to Meet You</dc:title>
  <dc:subject>PptxGenJS Presentation</dc:subject>
  <dc:creator>Level 2 ESL</dc:creator>
  <cp:lastModifiedBy>Level 2 ESL</cp:lastModifiedBy>
  <cp:revision>1</cp:revision>
  <dcterms:created xsi:type="dcterms:W3CDTF">2026-10-15T20:54:31Z</dcterms:created>
  <dcterms:modified xsi:type="dcterms:W3CDTF">2026-10-15T20:54:31Z</dcterms:modified>
</cp:coreProperties>
</file>