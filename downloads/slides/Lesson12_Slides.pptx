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68" r:id="rId14"/>
    <p:sldId id="272" r:id="rId18"/>
    <p:sldId id="277" r:id="rId28"/>
    <p:sldId id="260" r:id="rId6"/>
    <p:sldId id="259" r:id="rId5"/>
    <p:sldId id="264" r:id="rId10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say what is necessary with have to / need to / don't have to; make polite requests with Can you…? / Could you…?; ask for repetition and spelling on the phone; leave a simple phone message.</a:t>
            </a:r>
          </a:p>
          <a:p>
            <a:r>
              <a:rPr lang="en-US" dirty="0"/>
              <a:t>Source: Level2_Curriculum_v5_public.md, Lesson 12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 (review Lesson 11): partners ask What are you going to do this weekend? Then A invites B; B accepts or declines with a reason. Each click shows one prompt.</a:t>
            </a:r>
          </a:p>
          <a:p>
            <a:r>
              <a:rPr lang="en-US" dirty="0"/>
              <a:t>Source: Level2_Curriculum_v5_public.md, Lesson 12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Can you…? Could you…? Click 1 and click 2 highlight one pair each.</a:t>
            </a:r>
          </a:p>
          <a:p>
            <a:r>
              <a:rPr lang="en-US" dirty="0"/>
              <a:t>Say: "Can you…? is friendly; Could you…? is more polite: good for phone calls, offices, and strangers."</a:t>
            </a:r>
          </a:p>
          <a:p>
            <a:r>
              <a:rPr lang="en-US" dirty="0"/>
              <a:t>More from the box: spell that, speak more slowly, help me, send me a new bill… please? Sure. / Of course.</a:t>
            </a:r>
          </a:p>
          <a:p>
            <a:r>
              <a:rPr lang="en-US" dirty="0"/>
              <a:t>Rescue phrases: Could you repeat that? Could you speak more slowly? Can you spell that?</a:t>
            </a:r>
          </a:p>
          <a:p>
            <a:r>
              <a:rPr lang="en-US" dirty="0"/>
              <a:t>Source: Level2_Curriculum_v5_public.md, Lesson 12 (Grammar Box 2;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have to / need to + Can / Could you. Say: "have to / need to = it is necessary. don't have to = not necessary (you can choose)."</a:t>
            </a:r>
          </a:p>
          <a:p>
            <a:r>
              <a:rPr lang="en-US" dirty="0"/>
              <a:t>Board: I have to pay. She has to pay. Do I have to pay? You don't have to pay today.</a:t>
            </a:r>
          </a:p>
          <a:p>
            <a:r>
              <a:rPr lang="en-US" dirty="0"/>
              <a:t>Grammar Box 1: each click highlights Do / Does and its answers.</a:t>
            </a:r>
          </a:p>
          <a:p>
            <a:r>
              <a:rPr lang="en-US" dirty="0"/>
              <a:t>Q: have to or has to? he / she / it → has to: She has to work. Questions: Does she have to work?</a:t>
            </a:r>
          </a:p>
          <a:p>
            <a:r>
              <a:rPr lang="en-US" dirty="0"/>
              <a:t>Source: Level2_Curriculum_v5_public.md, Lesson 12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I must pay is also correct. 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12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has · No, you don't have to · help (Could you help me?).</a:t>
            </a:r>
          </a:p>
          <a:p>
            <a:r>
              <a:rPr lang="en-US" dirty="0"/>
              <a:t>Short "Errand List" (last 5 min): pairs tell 3 things they have to do this week and 1 thing they don't have to do. If behind: skip it.</a:t>
            </a:r>
          </a:p>
          <a:p>
            <a:r>
              <a:rPr lang="en-US" dirty="0"/>
              <a:t>Source: Level2_Curriculum_v5_public.md, Lesson 12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Can I…? Each click highlights Can I.</a:t>
            </a:r>
          </a:p>
          <a:p>
            <a:r>
              <a:rPr lang="en-US" dirty="0"/>
              <a:t>Answers: Yes, you can. / Sure. One moment, please. Sorry, you can't. You have to come in person.</a:t>
            </a:r>
          </a:p>
          <a:p>
            <a:r>
              <a:rPr lang="en-US" dirty="0"/>
              <a:t>Source: Level2_Curriculum_v5_public.md, Lesson 12 (Grammar Box 3).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Star words here: pay a bill, fill out a form, make a phone call, leave a message.</a:t>
            </a:r>
          </a:p>
          <a:p>
            <a:r>
              <a:rPr lang="en-US" dirty="0"/>
              <a:t>If behind: teach the star words only; skip "Spell it!".</a:t>
            </a:r>
          </a:p>
          <a:p>
            <a:r>
              <a:rPr lang="en-US" dirty="0"/>
              <a:t>Source: Level2_Curriculum_v5_public.md, Lesson 12 (Step 2; Student Page 12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to / need to / don't have to. Click 1 and click 2 show one row each.</a:t>
            </a:r>
          </a:p>
          <a:p>
            <a:r>
              <a:rPr lang="en-US" dirty="0"/>
              <a:t>need to = almost the same as have to: We need to fill out a form. He needs to call.</a:t>
            </a:r>
          </a:p>
          <a:p>
            <a:r>
              <a:rPr lang="en-US" dirty="0"/>
              <a:t>Pronunciation (If time ①): have to → "HAF-tuh," has to → "HAS-tuh," Could you → "COOD-juh." Then polite intonation: requests start higher and sound friendly.</a:t>
            </a:r>
          </a:p>
          <a:p>
            <a:r>
              <a:rPr lang="en-US" dirty="0"/>
              <a:t>Source: Level2_Curriculum_v5_public.md, Lesson 12 (have to / need to / don't have to;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read their homework invitation and answers.</a:t>
            </a:r>
          </a:p>
          <a:p>
            <a:r>
              <a:rPr lang="en-US" dirty="0"/>
              <a:t>Each click shows one answer. The lines review Lesson 11 (Grammar Boxes 1 and 3; Common mistakes).</a:t>
            </a:r>
          </a:p>
          <a:p>
            <a:r>
              <a:rPr lang="en-US" dirty="0"/>
              <a:t>Teacher: write 2 corrected sentences on the board. If behind: collect the homework.</a:t>
            </a:r>
          </a:p>
          <a:p>
            <a:r>
              <a:rPr lang="en-US" dirty="0"/>
              <a:t>Source: Level2_Curriculum_v5_public.md, Lesson 12 (Step 1); Lesson 11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(L12_listening.mp3, about 1:40). Audio: L12_listening.mp3 (about 1:40). The audio plays once, play again if needed. Audio coming soon: until it is ready, read the script with a volunteer learner.</a:t>
            </a:r>
          </a:p>
          <a:p>
            <a:r>
              <a:rPr lang="en-US" dirty="0"/>
              <a:t>Before you listen: "Sam calls the phone company. His bill is too high. What do they ask him?" Take 2 guesses.</a:t>
            </a:r>
          </a:p>
          <a:p>
            <a:r>
              <a:rPr lang="en-US" dirty="0"/>
              <a:t>Listen 1 → Task A (circle). Each click circles one answer.</a:t>
            </a:r>
          </a:p>
          <a:p>
            <a:r>
              <a:rPr lang="en-US" dirty="0"/>
              <a:t>Answer key: 1 too high; 2 two times; 3 $45; 4 the 15th.</a:t>
            </a:r>
          </a:p>
          <a:p>
            <a:r>
              <a:rPr lang="en-US" dirty="0"/>
              <a:t>City Phone, the names, and the numbers are invented.</a:t>
            </a:r>
          </a:p>
          <a:p>
            <a:r>
              <a:rPr lang="en-US" dirty="0"/>
              <a:t>Source: Level2_Curriculum_v5_public.md, Lesson 12 (Step 3; Answer key;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Phone Service Role Plays. Pairs, back to back (15) / pairs + teacher (7–8). Each click shows one step.</a:t>
            </a:r>
          </a:p>
          <a:p>
            <a:r>
              <a:rPr lang="en-US" dirty="0"/>
              <a:t>Do: customer card (problem + invented name + account number) and agent card. The agent asks Can you spell that? Could you repeat your account number? The customer writes what they have to do.</a:t>
            </a:r>
          </a:p>
          <a:p>
            <a:r>
              <a:rPr lang="en-US" dirty="0"/>
              <a:t>Switch after 4 minutes with a new card. Use only 555-0100 to 555-0199 phone numbers in materials (reserved for fiction). If behind: one role play only.</a:t>
            </a:r>
          </a:p>
          <a:p>
            <a:r>
              <a:rPr lang="en-US" dirty="0"/>
              <a:t>Source: Level2_Curriculum_v5_public.md, Lesson 12 (Step 5;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sentence with have to or need to and one request with Could you…?</a:t>
            </a:r>
          </a:p>
          <a:p>
            <a:r>
              <a:rPr lang="en-US" dirty="0"/>
              <a:t>Homework (10 minutes): 1. Write 4 things you have to do this week and 2 things you don't have to do. 2. Write a voicemail message (3–4 sentences): your name, a fictional number (555-01__), the reason, and Could you call me back, please? 3. Bonus: practice spelling your name and street aloud 3 times.</a:t>
            </a:r>
          </a:p>
          <a:p>
            <a:r>
              <a:rPr lang="en-US" dirty="0"/>
              <a:t>Source: Level2_Curriculum_v5_public.md, Lesson 12 (Step 6; Student Page 12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(write the numbers and letters). Each click shows one answer. The audio plays once, play again if needed.</a:t>
            </a:r>
          </a:p>
          <a:p>
            <a:r>
              <a:rPr lang="en-US" dirty="0"/>
              <a:t>Answer key: account number 472916; last name L-O-P-E-Z.</a:t>
            </a:r>
          </a:p>
          <a:p>
            <a:r>
              <a:rPr lang="en-US" dirty="0"/>
              <a:t>Privacy: never ask learners for real account numbers, bills, or ID numbers. Role cards give invented ones.</a:t>
            </a:r>
          </a:p>
          <a:p>
            <a:r>
              <a:rPr lang="en-US" dirty="0"/>
              <a:t>Source: Level2_Curriculum_v5_public.md, Lesson 12 (Step 3; Answer key;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12.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account number, customer service, Could you repeat that?, Can you spell that?</a:t>
            </a:r>
          </a:p>
          <a:p>
            <a:r>
              <a:rPr lang="en-US" dirty="0"/>
              <a:t>Spell it!: quick alphabet review: A spells their first name; B writes it. Review hard letters: A / E / I, G / J, B / V.</a:t>
            </a:r>
          </a:p>
          <a:p>
            <a:r>
              <a:rPr lang="en-US" dirty="0"/>
              <a:t>Source: Level2_Curriculum_v5_public.md, Lesson 12 (Step 2; Student Page 12).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repeat; spell; have; send.</a:t>
            </a:r>
          </a:p>
          <a:p>
            <a:r>
              <a:rPr lang="en-US" dirty="0"/>
              <a:t>"Say it" (1–2 min): the class repeats "Could you repeat that, please?" and "Do I have to pay today?"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12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Q: What does don't have to mean? Not necessary. You can choose. You don't have to pay today = you can pay later. It does not mean "you can't."</a:t>
            </a:r>
          </a:p>
          <a:p>
            <a:r>
              <a:rPr lang="en-US" dirty="0"/>
              <a:t>Source: Level2_Curriculum_v5_public.md, Lesson 12 (Common mistakes;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K1" Type="http://schemas.openxmlformats.org/officeDocument/2006/relationships/image" Target="../media/k_L4_right_now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Q1" Type="http://schemas.openxmlformats.org/officeDocument/2006/relationships/image" Target="../media/k_L12_make_a_phone_call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Q1" Type="http://schemas.openxmlformats.org/officeDocument/2006/relationships/image" Target="../media/k_L11_this_weekend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Q1" Type="http://schemas.openxmlformats.org/officeDocument/2006/relationships/image" Target="../media/k_L12_pay_a_bill.png"/><Relationship Id="rIdQ2" Type="http://schemas.openxmlformats.org/officeDocument/2006/relationships/image" Target="../media/k_L12_mail_a_package.png"/><Relationship Id="rIdQ3" Type="http://schemas.openxmlformats.org/officeDocument/2006/relationships/image" Target="../media/k_L12_fill_out_a_form.png"/><Relationship Id="rIdQ4" Type="http://schemas.openxmlformats.org/officeDocument/2006/relationships/image" Target="../media/k_L12_make_a_phone_call.png"/><Relationship Id="rIdQ5" Type="http://schemas.openxmlformats.org/officeDocument/2006/relationships/image" Target="../media/k_L12_leave_a_message.png"/><Relationship Id="rIdQ6" Type="http://schemas.openxmlformats.org/officeDocument/2006/relationships/image" Target="../media/k_L12_id_card.png"/><Relationship Id="rIdQ7" Type="http://schemas.openxmlformats.org/officeDocument/2006/relationships/image" Target="../media/k_L12_receipt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Q1" Type="http://schemas.openxmlformats.org/officeDocument/2006/relationships/image" Target="../media/k_L12_account_number.png"/><Relationship Id="rIdQ2" Type="http://schemas.openxmlformats.org/officeDocument/2006/relationships/image" Target="../media/k_L12_customer_service.png"/><Relationship Id="rIdQ3" Type="http://schemas.openxmlformats.org/officeDocument/2006/relationships/image" Target="../media/k_L12_fix.png"/><Relationship Id="rIdQ4" Type="http://schemas.openxmlformats.org/officeDocument/2006/relationships/image" Target="../media/k_L12_wait_in_line.png"/><Relationship Id="rIdQ5" Type="http://schemas.openxmlformats.org/officeDocument/2006/relationships/image" Target="../media/k_L12_repeat.png"/><Relationship Id="rIdQ6" Type="http://schemas.openxmlformats.org/officeDocument/2006/relationships/image" Target="../media/k_L12_spell.png"/><Relationship Id="rIdQ7" Type="http://schemas.openxmlformats.org/officeDocument/2006/relationships/image" Target="../media/k_L12_due_date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Q1" Type="http://schemas.openxmlformats.org/officeDocument/2006/relationships/image" Target="../media/k_L12_customer_service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Q1" Type="http://schemas.openxmlformats.org/officeDocument/2006/relationships/image" Target="../media/k_L12_leave_a_message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Q1" Type="http://schemas.openxmlformats.org/officeDocument/2006/relationships/image" Target="../media/k_L12_fill_out_a_form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Q1" Type="http://schemas.openxmlformats.org/officeDocument/2006/relationships/image" Target="../media/k_L12_repeat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Q1" Type="http://schemas.openxmlformats.org/officeDocument/2006/relationships/image" Target="../media/k_L12_pay_a_bill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Q1" Type="http://schemas.openxmlformats.org/officeDocument/2006/relationships/image" Target="../media/k_L12_wait_in_line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Q1" Type="http://schemas.openxmlformats.org/officeDocument/2006/relationships/image" Target="../media/k_L12_due_date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Q1" Type="http://schemas.openxmlformats.org/officeDocument/2006/relationships/image" Target="../media/k_L12_make_a_phone_call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Q1" Type="http://schemas.openxmlformats.org/officeDocument/2006/relationships/image" Target="../media/k_L12_id_card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(Week 13)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Getting Things Done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have to / don't have to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Can you…? Could you…?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to repeat and spell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Leave a phone message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12_make_a_phone_cal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11.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this weekend?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910328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like to …?</a:t>
            </a:r>
            <a:endParaRPr lang="en-US" sz="2200" dirty="0"/>
          </a:p>
        </p:txBody>
      </p:sp>
      <p:pic>
        <p:nvPicPr>
          <p:cNvPr id="21" name="Picture 21" descr="L11_this_weeken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invitation.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___ to visit friends.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like ___?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___. I'm busy.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going to ___.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/ is / are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verb.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come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it!</a:t>
            </a:r>
            <a:endParaRPr lang="en-US" sz="2200" dirty="0"/>
          </a:p>
        </p:txBody>
      </p:sp>
      <p:pic>
        <p:nvPicPr>
          <p:cNvPr id="41" name="Picture 41" descr="pay a bill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 a bill</a:t>
            </a:r>
            <a:endParaRPr lang="en-US" sz="2000" dirty="0"/>
          </a:p>
        </p:txBody>
      </p:sp>
      <p:pic>
        <p:nvPicPr>
          <p:cNvPr id="43" name="Picture 43" descr="mail a package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mail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package</a:t>
            </a:r>
            <a:endParaRPr lang="en-US" sz="2000" dirty="0"/>
          </a:p>
        </p:txBody>
      </p:sp>
      <p:pic>
        <p:nvPicPr>
          <p:cNvPr id="45" name="Picture 45" descr="fill out a form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fill out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form</a:t>
            </a:r>
            <a:endParaRPr lang="en-US" sz="2000" dirty="0"/>
          </a:p>
        </p:txBody>
      </p:sp>
      <p:pic>
        <p:nvPicPr>
          <p:cNvPr id="47" name="Picture 47" descr="make a phone call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make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call</a:t>
            </a:r>
            <a:endParaRPr lang="en-US" sz="2000" dirty="0"/>
          </a:p>
        </p:txBody>
      </p:sp>
      <p:pic>
        <p:nvPicPr>
          <p:cNvPr id="49" name="Picture 49" descr="leave a message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leave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message</a:t>
            </a:r>
            <a:endParaRPr lang="en-US" sz="2000" dirty="0"/>
          </a:p>
        </p:txBody>
      </p:sp>
      <p:pic>
        <p:nvPicPr>
          <p:cNvPr id="51" name="Picture 51" descr="ID card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ID card</a:t>
            </a:r>
            <a:endParaRPr lang="en-US" sz="2000" dirty="0"/>
          </a:p>
        </p:txBody>
      </p:sp>
      <p:pic>
        <p:nvPicPr>
          <p:cNvPr id="53" name="Picture 53" descr="receipt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receipt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/ E / I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 / J · B / V</a:t>
            </a:r>
            <a:endParaRPr lang="en-US" sz="2200" dirty="0"/>
          </a:p>
        </p:txBody>
      </p:sp>
      <p:pic>
        <p:nvPicPr>
          <p:cNvPr id="39" name="Picture 39" descr="account number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account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</a:t>
            </a:r>
            <a:endParaRPr lang="en-US" sz="2000" dirty="0"/>
          </a:p>
        </p:txBody>
      </p:sp>
      <p:pic>
        <p:nvPicPr>
          <p:cNvPr id="41" name="Picture 41" descr="customer service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customer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service</a:t>
            </a:r>
            <a:endParaRPr lang="en-US" sz="2000" dirty="0"/>
          </a:p>
        </p:txBody>
      </p:sp>
      <p:pic>
        <p:nvPicPr>
          <p:cNvPr id="43" name="Picture 43" descr="fix (the sink)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(the sink)</a:t>
            </a:r>
            <a:endParaRPr lang="en-US" sz="2000" dirty="0"/>
          </a:p>
        </p:txBody>
      </p:sp>
      <p:pic>
        <p:nvPicPr>
          <p:cNvPr id="45" name="Picture 45" descr="wait in line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 in line</a:t>
            </a:r>
            <a:endParaRPr lang="en-US" sz="2000" dirty="0"/>
          </a:p>
        </p:txBody>
      </p:sp>
      <p:pic>
        <p:nvPicPr>
          <p:cNvPr id="47" name="Picture 47" descr="Could you repeat that?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 that?</a:t>
            </a:r>
            <a:endParaRPr lang="en-US" sz="2000" dirty="0"/>
          </a:p>
        </p:txBody>
      </p:sp>
      <p:pic>
        <p:nvPicPr>
          <p:cNvPr id="49" name="Picture 49" descr="Can you spell that?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 that?</a:t>
            </a:r>
            <a:endParaRPr lang="en-US" sz="2000" dirty="0"/>
          </a:p>
        </p:txBody>
      </p:sp>
      <p:pic>
        <p:nvPicPr>
          <p:cNvPr id="51" name="Picture 51" descr="due date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due date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answer.</a:t>
            </a:r>
            <a:endParaRPr lang="en-US" sz="2000" dirty="0"/>
          </a:p>
        </p:txBody>
      </p:sp>
      <p:pic>
        <p:nvPicPr>
          <p:cNvPr id="66" name="Picture 66" descr="L12_customer_servic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67" name="Row shadow"/>
          <p:cNvSpPr/>
          <p:nvPr/>
        </p:nvSpPr>
        <p:spPr>
          <a:xfrm>
            <a:off x="5970118" y="1153973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Row"/>
          <p:cNvSpPr/>
          <p:nvPr/>
        </p:nvSpPr>
        <p:spPr>
          <a:xfrm>
            <a:off x="5897880" y="1097280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Row num"/>
          <p:cNvSpPr/>
          <p:nvPr/>
        </p:nvSpPr>
        <p:spPr>
          <a:xfrm>
            <a:off x="6035040" y="135239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70" name="Row question"/>
          <p:cNvSpPr/>
          <p:nvPr/>
        </p:nvSpPr>
        <p:spPr>
          <a:xfrm>
            <a:off x="6858000" y="1170432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Sam's bill is ...</a:t>
            </a:r>
            <a:endParaRPr lang="en-US" sz="2200" dirty="0"/>
          </a:p>
        </p:txBody>
      </p:sp>
      <p:sp>
        <p:nvSpPr>
          <p:cNvPr id="71" name="Option"/>
          <p:cNvSpPr/>
          <p:nvPr/>
        </p:nvSpPr>
        <p:spPr>
          <a:xfrm>
            <a:off x="6858000" y="1719072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high</a:t>
            </a:r>
            <a:endParaRPr lang="en-US" sz="2000" dirty="0"/>
          </a:p>
        </p:txBody>
      </p:sp>
      <p:sp>
        <p:nvSpPr>
          <p:cNvPr id="72" name="Circle 1"/>
          <p:cNvSpPr/>
          <p:nvPr/>
        </p:nvSpPr>
        <p:spPr>
          <a:xfrm>
            <a:off x="6748272" y="1655064"/>
            <a:ext cx="1678838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Option"/>
          <p:cNvSpPr/>
          <p:nvPr/>
        </p:nvSpPr>
        <p:spPr>
          <a:xfrm>
            <a:off x="8427110" y="1719072"/>
            <a:ext cx="131125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low</a:t>
            </a:r>
            <a:endParaRPr lang="en-US" sz="2000" dirty="0"/>
          </a:p>
        </p:txBody>
      </p:sp>
      <p:sp>
        <p:nvSpPr>
          <p:cNvPr id="74" name="Option"/>
          <p:cNvSpPr/>
          <p:nvPr/>
        </p:nvSpPr>
        <p:spPr>
          <a:xfrm>
            <a:off x="9848088" y="1719072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</a:t>
            </a:r>
            <a:endParaRPr lang="en-US" sz="2000" dirty="0"/>
          </a:p>
        </p:txBody>
      </p:sp>
      <p:sp>
        <p:nvSpPr>
          <p:cNvPr id="75" name="Row shadow"/>
          <p:cNvSpPr/>
          <p:nvPr/>
        </p:nvSpPr>
        <p:spPr>
          <a:xfrm>
            <a:off x="5970118" y="2452421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Row"/>
          <p:cNvSpPr/>
          <p:nvPr/>
        </p:nvSpPr>
        <p:spPr>
          <a:xfrm>
            <a:off x="5897880" y="2395728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Row num"/>
          <p:cNvSpPr/>
          <p:nvPr/>
        </p:nvSpPr>
        <p:spPr>
          <a:xfrm>
            <a:off x="6035040" y="2650846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78" name="Row question"/>
          <p:cNvSpPr/>
          <p:nvPr/>
        </p:nvSpPr>
        <p:spPr>
          <a:xfrm>
            <a:off x="6858000" y="2468880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charged him ...</a:t>
            </a:r>
            <a:endParaRPr lang="en-US" sz="2200" dirty="0"/>
          </a:p>
        </p:txBody>
      </p:sp>
      <p:sp>
        <p:nvSpPr>
          <p:cNvPr id="79" name="Option"/>
          <p:cNvSpPr/>
          <p:nvPr/>
        </p:nvSpPr>
        <p:spPr>
          <a:xfrm>
            <a:off x="6858000" y="3017520"/>
            <a:ext cx="1358439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/>
          </a:p>
        </p:txBody>
      </p:sp>
      <p:sp>
        <p:nvSpPr>
          <p:cNvPr id="80" name="Option"/>
          <p:cNvSpPr/>
          <p:nvPr/>
        </p:nvSpPr>
        <p:spPr>
          <a:xfrm>
            <a:off x="8326167" y="3017520"/>
            <a:ext cx="1496326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</a:t>
            </a:r>
            <a:endParaRPr lang="en-US" sz="2000" dirty="0"/>
          </a:p>
        </p:txBody>
      </p:sp>
      <p:sp>
        <p:nvSpPr>
          <p:cNvPr id="81" name="Circle 2"/>
          <p:cNvSpPr/>
          <p:nvPr/>
        </p:nvSpPr>
        <p:spPr>
          <a:xfrm>
            <a:off x="8216439" y="2953512"/>
            <a:ext cx="1715782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Option"/>
          <p:cNvSpPr/>
          <p:nvPr/>
        </p:nvSpPr>
        <p:spPr>
          <a:xfrm>
            <a:off x="9932221" y="3017520"/>
            <a:ext cx="1772099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times</a:t>
            </a:r>
            <a:endParaRPr lang="en-US" sz="2000" dirty="0"/>
          </a:p>
        </p:txBody>
      </p:sp>
      <p:sp>
        <p:nvSpPr>
          <p:cNvPr id="83" name="Row shadow"/>
          <p:cNvSpPr/>
          <p:nvPr/>
        </p:nvSpPr>
        <p:spPr>
          <a:xfrm>
            <a:off x="5970118" y="3750869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4" name="Row"/>
          <p:cNvSpPr/>
          <p:nvPr/>
        </p:nvSpPr>
        <p:spPr>
          <a:xfrm>
            <a:off x="5897880" y="3694176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Row num"/>
          <p:cNvSpPr/>
          <p:nvPr/>
        </p:nvSpPr>
        <p:spPr>
          <a:xfrm>
            <a:off x="6035040" y="3949294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000" dirty="0"/>
          </a:p>
        </p:txBody>
      </p:sp>
      <p:sp>
        <p:nvSpPr>
          <p:cNvPr id="86" name="Row question"/>
          <p:cNvSpPr/>
          <p:nvPr/>
        </p:nvSpPr>
        <p:spPr>
          <a:xfrm>
            <a:off x="6858000" y="3767328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 has to pay ...</a:t>
            </a:r>
            <a:endParaRPr lang="en-US" sz="2200" dirty="0"/>
          </a:p>
        </p:txBody>
      </p:sp>
      <p:sp>
        <p:nvSpPr>
          <p:cNvPr id="87" name="Option"/>
          <p:cNvSpPr/>
          <p:nvPr/>
        </p:nvSpPr>
        <p:spPr>
          <a:xfrm>
            <a:off x="6858000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$15</a:t>
            </a:r>
            <a:endParaRPr lang="en-US" sz="2000" dirty="0"/>
          </a:p>
        </p:txBody>
      </p:sp>
      <p:sp>
        <p:nvSpPr>
          <p:cNvPr id="88" name="Option"/>
          <p:cNvSpPr/>
          <p:nvPr/>
        </p:nvSpPr>
        <p:spPr>
          <a:xfrm>
            <a:off x="8065008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$45</a:t>
            </a:r>
            <a:endParaRPr lang="en-US" sz="2000" dirty="0"/>
          </a:p>
        </p:txBody>
      </p:sp>
      <p:sp>
        <p:nvSpPr>
          <p:cNvPr id="89" name="Circle 3"/>
          <p:cNvSpPr/>
          <p:nvPr/>
        </p:nvSpPr>
        <p:spPr>
          <a:xfrm>
            <a:off x="7955280" y="4251960"/>
            <a:ext cx="131673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0" name="Option"/>
          <p:cNvSpPr/>
          <p:nvPr/>
        </p:nvSpPr>
        <p:spPr>
          <a:xfrm>
            <a:off x="9272016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$54</a:t>
            </a:r>
            <a:endParaRPr lang="en-US" sz="2000" dirty="0"/>
          </a:p>
        </p:txBody>
      </p:sp>
      <p:sp>
        <p:nvSpPr>
          <p:cNvPr id="91" name="Row shadow"/>
          <p:cNvSpPr/>
          <p:nvPr/>
        </p:nvSpPr>
        <p:spPr>
          <a:xfrm>
            <a:off x="5970118" y="5049317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2" name="Row"/>
          <p:cNvSpPr/>
          <p:nvPr/>
        </p:nvSpPr>
        <p:spPr>
          <a:xfrm>
            <a:off x="5897880" y="4992624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3" name="Row num"/>
          <p:cNvSpPr/>
          <p:nvPr/>
        </p:nvSpPr>
        <p:spPr>
          <a:xfrm>
            <a:off x="6035040" y="5247742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2000" dirty="0"/>
          </a:p>
        </p:txBody>
      </p:sp>
      <p:sp>
        <p:nvSpPr>
          <p:cNvPr id="94" name="Row question"/>
          <p:cNvSpPr/>
          <p:nvPr/>
        </p:nvSpPr>
        <p:spPr>
          <a:xfrm>
            <a:off x="6858000" y="5065776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has to pay by ...</a:t>
            </a:r>
            <a:endParaRPr lang="en-US" sz="2200" dirty="0"/>
          </a:p>
        </p:txBody>
      </p:sp>
      <p:sp>
        <p:nvSpPr>
          <p:cNvPr id="95" name="Option"/>
          <p:cNvSpPr/>
          <p:nvPr/>
        </p:nvSpPr>
        <p:spPr>
          <a:xfrm>
            <a:off x="6858000" y="5614416"/>
            <a:ext cx="131125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5th</a:t>
            </a:r>
            <a:endParaRPr lang="en-US" sz="2000" dirty="0"/>
          </a:p>
        </p:txBody>
      </p:sp>
      <p:sp>
        <p:nvSpPr>
          <p:cNvPr id="96" name="Option"/>
          <p:cNvSpPr/>
          <p:nvPr/>
        </p:nvSpPr>
        <p:spPr>
          <a:xfrm>
            <a:off x="8278978" y="5614416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15th</a:t>
            </a:r>
            <a:endParaRPr lang="en-US" sz="2000" dirty="0"/>
          </a:p>
        </p:txBody>
      </p:sp>
      <p:sp>
        <p:nvSpPr>
          <p:cNvPr id="97" name="Circle 4"/>
          <p:cNvSpPr/>
          <p:nvPr/>
        </p:nvSpPr>
        <p:spPr>
          <a:xfrm>
            <a:off x="8169250" y="5550408"/>
            <a:ext cx="1678838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8" name="Option"/>
          <p:cNvSpPr/>
          <p:nvPr/>
        </p:nvSpPr>
        <p:spPr>
          <a:xfrm>
            <a:off x="9848088" y="5614416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50th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information.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3429000"/>
            <a:ext cx="402336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Account number:</a:t>
            </a:r>
            <a:endParaRPr lang="en-US" sz="2800" dirty="0"/>
          </a:p>
        </p:txBody>
      </p:sp>
      <p:sp>
        <p:nvSpPr>
          <p:cNvPr id="68" name="Cell 11"/>
          <p:cNvSpPr/>
          <p:nvPr/>
        </p:nvSpPr>
        <p:spPr>
          <a:xfrm>
            <a:off x="5120640" y="3575304"/>
            <a:ext cx="42062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Mark 11"/>
          <p:cNvSpPr/>
          <p:nvPr/>
        </p:nvSpPr>
        <p:spPr>
          <a:xfrm>
            <a:off x="5120640" y="3575304"/>
            <a:ext cx="42062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4 7 2 9 1 6</a:t>
            </a:r>
            <a:endParaRPr lang="en-US" sz="3200" dirty="0"/>
          </a:p>
        </p:txBody>
      </p:sp>
      <p:sp>
        <p:nvSpPr>
          <p:cNvPr id="70" name="Statement 2"/>
          <p:cNvSpPr/>
          <p:nvPr/>
        </p:nvSpPr>
        <p:spPr>
          <a:xfrm>
            <a:off x="502920" y="4572000"/>
            <a:ext cx="402336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name:</a:t>
            </a:r>
            <a:endParaRPr lang="en-US" sz="2800" dirty="0"/>
          </a:p>
        </p:txBody>
      </p:sp>
      <p:sp>
        <p:nvSpPr>
          <p:cNvPr id="71" name="Cell 21"/>
          <p:cNvSpPr/>
          <p:nvPr/>
        </p:nvSpPr>
        <p:spPr>
          <a:xfrm>
            <a:off x="5120640" y="4718304"/>
            <a:ext cx="42062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Mark 21"/>
          <p:cNvSpPr/>
          <p:nvPr/>
        </p:nvSpPr>
        <p:spPr>
          <a:xfrm>
            <a:off x="5120640" y="4718304"/>
            <a:ext cx="42062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 - O - P - E - Z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could you ____ that, please?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____ that, please?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I ____ to pay?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____ me a new bill, please?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rescue: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repeat that?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287061" y="3278124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449824" y="4128516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532120" y="4978908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532120" y="58293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pay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phone?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Asking: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…?</a:t>
            </a:r>
            <a:endParaRPr lang="en-US" sz="2000" dirty="0"/>
          </a:p>
        </p:txBody>
      </p:sp>
      <p:pic>
        <p:nvPicPr>
          <p:cNvPr id="65" name="Picture 65" descr="L12_leave_a_messag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2743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3794760" y="4114800"/>
            <a:ext cx="1137514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3794760" y="4114800"/>
            <a:ext cx="113751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4987138" y="4114800"/>
            <a:ext cx="2144268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 by phone?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2743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3794760" y="4846320"/>
            <a:ext cx="1137514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3794760" y="4846320"/>
            <a:ext cx="113751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4987138" y="4846320"/>
            <a:ext cx="2596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leave a message?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2743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3794760" y="5577840"/>
            <a:ext cx="1137514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3794760" y="5577840"/>
            <a:ext cx="113751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4987138" y="5577840"/>
            <a:ext cx="2898648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to a manager?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you can.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404872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One moment, please.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20954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you can't.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02920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come in person.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I have to ...?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12_fill_out_a_form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 pay today?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you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you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need to fill out a form?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you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you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have to work?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...?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...?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12_repea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REQUEST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3639312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repeat that?</a:t>
            </a:r>
            <a:endParaRPr lang="en-US" sz="2200" dirty="0"/>
          </a:p>
        </p:txBody>
      </p:sp>
      <p:sp>
        <p:nvSpPr>
          <p:cNvPr id="48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No problem.</a:t>
            </a:r>
            <a:endParaRPr lang="en-US" sz="2200" dirty="0"/>
          </a:p>
        </p:txBody>
      </p:sp>
      <p:sp>
        <p:nvSpPr>
          <p:cNvPr id="49" name="Highlight"/>
          <p:cNvSpPr/>
          <p:nvPr/>
        </p:nvSpPr>
        <p:spPr>
          <a:xfrm>
            <a:off x="1481328" y="5367528"/>
            <a:ext cx="3488436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me back?</a:t>
            </a:r>
            <a:endParaRPr lang="en-US" sz="2200" dirty="0"/>
          </a:p>
        </p:txBody>
      </p:sp>
      <p:sp>
        <p:nvSpPr>
          <p:cNvPr id="52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can't.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busy right now.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2_pay_a_bil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 paying.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must to pay.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pay.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2303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have to work.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2303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work.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2_wait_in_lin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to help me?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me?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she has to go?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go?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smoke here.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smoke here.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(= not allowed)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 to, don't have to, or help?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___ to work tomorrow.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I have to pay today? (due on the 15th)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___ me? (help / to help)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  <a:endParaRPr lang="en-US" sz="22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you don't.</a:t>
            </a:r>
            <a:endParaRPr lang="en-US" sz="22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 · need to · don't have to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Necessary or Not?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Necessary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pay the bill.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necessary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 today.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endParaRPr lang="en-US" sz="5400" dirty="0"/>
          </a:p>
        </p:txBody>
      </p:sp>
      <p:pic>
        <p:nvPicPr>
          <p:cNvPr id="23" name="Picture 23" descr="L12_due_dat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Service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what you have to do.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12_make_a_phone_cal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back to back.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a phone call.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Customer + agent cards.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spell that?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 after 4 minutes.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card, new problem.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12_id_car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sentence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 have to or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need to. Write one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request: Could you…?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4 things you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 do and 2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 voicemail: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name, 555-01__, and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call me back?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 (Week 13): Getting Things Done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