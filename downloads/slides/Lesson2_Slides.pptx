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68" r:id="rId14"/>
    <p:sldId id="272" r:id="rId18"/>
    <p:sldId id="277" r:id="rId28"/>
    <p:sldId id="260" r:id="rId6"/>
    <p:sldId id="259" r:id="rId5"/>
    <p:sldId id="264" r:id="rId10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2.xml"/><Relationship Id="rId8" Type="http://schemas.openxmlformats.org/officeDocument/2006/relationships/slide" Target="slides/slide14.xml"/><Relationship Id="rId10" Type="http://schemas.openxmlformats.org/officeDocument/2006/relationships/slide" Target="slides/slide11.xml"/><Relationship Id="rId11" Type="http://schemas.openxmlformats.org/officeDocument/2006/relationships/slide" Target="slides/slide4.xml"/><Relationship Id="rId12" Type="http://schemas.openxmlformats.org/officeDocument/2006/relationships/slide" Target="slides/slide15.xml"/><Relationship Id="rId13" Type="http://schemas.openxmlformats.org/officeDocument/2006/relationships/slide" Target="slides/slide3.xml"/><Relationship Id="rId14" Type="http://schemas.openxmlformats.org/officeDocument/2006/relationships/slide" Target="slides/slide6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7.xml"/><Relationship Id="rId20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back. Read the three goals together; learners repeat.</a:t>
            </a:r>
          </a:p>
          <a:p>
            <a:r>
              <a:rPr lang="en-US" dirty="0"/>
              <a:t>Objectives: describe a daily routine with 10 or more routine verbs; use he/she + -s, doesn't, Does...?; use always ... never in the correct position.</a:t>
            </a:r>
          </a:p>
          <a:p>
            <a:r>
              <a:rPr lang="en-US" dirty="0"/>
              <a:t>Source: Level2_Curriculum_v4_1_public.md, Lesson 2 (At a glance).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Opening Talk + Homework Check (pairs, same partner for both parts). Minutes 0–5: ask 3 questions. Each click shows one question.</a:t>
            </a:r>
          </a:p>
          <a:p>
            <a:r>
              <a:rPr lang="en-US" dirty="0"/>
              <a:t>Late arrivals join a pair.</a:t>
            </a:r>
          </a:p>
          <a:p>
            <a:r>
              <a:rPr lang="en-US" dirty="0"/>
              <a:t>Source: Level2_Curriculum_v4_1_public.md, Lesson 2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Positive and negative sentences. Click 1 highlights I / I don't; click 2 highlights she + -s / she doesn't.</a:t>
            </a:r>
          </a:p>
          <a:p>
            <a:r>
              <a:rPr lang="en-US" dirty="0"/>
              <a:t>The "one -s" rule: the -s moves to does. She works. → She doesn't work. → Does she work?</a:t>
            </a:r>
          </a:p>
          <a:p>
            <a:r>
              <a:rPr lang="en-US" dirty="0"/>
              <a:t>Add -s only with he, she, it. Spelling: work → works; watch → watches; go → goes; study → studies; have → has.</a:t>
            </a:r>
          </a:p>
          <a:p>
            <a:r>
              <a:rPr lang="en-US" dirty="0"/>
              <a:t>Source: Level2_Curriculum_v4_1_public.md, Lesson 2 (Sentences: positive and negative;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6:30–6:45 · Grammar: simple present + frequency. Say: "We use the simple present for routines and facts. With he, she, it, the verb gets an -s. With does / doesn't, the -s moves to does, so the main verb has no -s."</a:t>
            </a:r>
          </a:p>
          <a:p>
            <a:r>
              <a:rPr lang="en-US" dirty="0"/>
              <a:t>Click 1 highlights Do and its answers; click 2 highlights Does and its answers. Read across one row of the question side, then the answer side.</a:t>
            </a:r>
          </a:p>
          <a:p>
            <a:r>
              <a:rPr lang="en-US" dirty="0"/>
              <a:t>More from the box: Do you / they work? drive? cook? · Does he / she / it work? drive? cook? Answer about yourself: Do you work? → Yes, I do.</a:t>
            </a:r>
          </a:p>
          <a:p>
            <a:r>
              <a:rPr lang="en-US" dirty="0"/>
              <a:t>Source: Level2_Curriculum_v4_1_public.md, Lesson 2 (Step 4; Grammar Box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Read the left side; ask "What's wrong?" Each click shows the correct sentence.</a:t>
            </a:r>
          </a:p>
          <a:p>
            <a:r>
              <a:rPr lang="en-US" dirty="0"/>
              <a:t>Repeat the "one -s rule" every time the error appears this week.</a:t>
            </a:r>
          </a:p>
          <a:p>
            <a:r>
              <a:rPr lang="en-US" dirty="0"/>
              <a:t>Source: Level2_Curriculum_v4_1_public.md, Lesson 2 (Common mistakes;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check questions. Learners answer; each click shows one answer.</a:t>
            </a:r>
          </a:p>
          <a:p>
            <a:r>
              <a:rPr lang="en-US" dirty="0"/>
              <a:t>Answers: every day · She doesn't drive. · I usually take.</a:t>
            </a:r>
          </a:p>
          <a:p>
            <a:r>
              <a:rPr lang="en-US" dirty="0"/>
              <a:t>Short Information Gap (last 5 min): A has Rosa's week, B has Ali's. Ask 3 questions each (What time does Rosa start work?). Don't show papers. If behind: skip it.</a:t>
            </a:r>
          </a:p>
          <a:p>
            <a:r>
              <a:rPr lang="en-US" dirty="0"/>
              <a:t>Source: Level2_Curriculum_v4_1_public.md, Lesson 2 (Step 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2: What time...? and How often...? Each click highlights the helper word: do, does, do, does.</a:t>
            </a:r>
          </a:p>
          <a:p>
            <a:r>
              <a:rPr lang="en-US" dirty="0"/>
              <a:t>Answers from the box: I get up at 6:00. / She gets up at 6:00. / I always / sometimes / never cook. / She always / sometimes / never cooks.</a:t>
            </a:r>
          </a:p>
          <a:p>
            <a:r>
              <a:rPr lang="en-US" dirty="0"/>
              <a:t>Where do always, usually, never go? Before the main verb: I usually take the bus. After be: He is always late. Longer phrases go at the end: I cook every day.</a:t>
            </a:r>
          </a:p>
          <a:p>
            <a:r>
              <a:rPr lang="en-US" dirty="0"/>
              <a:t>Source: Level2_Curriculum_v4_1_public.md, Lesson 2 (Grammar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6:10–6:18 · New Words (groups of 4–5 / 2 groups). Point, say, repeat twice. Each click shows one word.</a:t>
            </a:r>
          </a:p>
          <a:p>
            <a:r>
              <a:rPr lang="en-US" dirty="0"/>
              <a:t>Star words here: get up, take a shower, have breakfast, take the bus, start work.</a:t>
            </a:r>
          </a:p>
          <a:p>
            <a:r>
              <a:rPr lang="en-US" dirty="0"/>
              <a:t>If behind: teach the star words only.</a:t>
            </a:r>
          </a:p>
          <a:p>
            <a:r>
              <a:rPr lang="en-US" dirty="0"/>
              <a:t>Source: Level2_Curriculum_v4_1_public.md, Lesson 2 (Step 2; Student Page 2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After does or doesn't, the verb has no -s. Click 1: She works. → She doesn't work. Click 2: She works. → Does she work?</a:t>
            </a:r>
          </a:p>
          <a:p>
            <a:r>
              <a:rPr lang="en-US" dirty="0"/>
              <a:t>Source: Level2_Curriculum_v4_1_public.md, Lesson 2 (Questions and answers: the one -s rule).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1, minutes 5–10: partners ask each other their 5 homework questions (Lesson 1 homework: 3 with do/does, 2 with am/is/are).</a:t>
            </a:r>
          </a:p>
          <a:p>
            <a:r>
              <a:rPr lang="en-US" dirty="0"/>
              <a:t>Each click shows one model answer from the Lesson 1 Grammar Boxes. Walk around; write only 2 corrected questions on the board.</a:t>
            </a:r>
          </a:p>
          <a:p>
            <a:r>
              <a:rPr lang="en-US" dirty="0"/>
              <a:t>If behind: collect the homework; return it next week with one correction each.</a:t>
            </a:r>
          </a:p>
          <a:p>
            <a:r>
              <a:rPr lang="en-US" dirty="0"/>
              <a:t>Source: Level2_Curriculum_v4_1_public.md, Lesson 2 (Step 1); Lesson 1 Grammar Boxes 1–2 and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6:18–6:30 · Listening (L2_listening.mp3, about 0:58; plays once, so play the audio again if needed). Before you listen: "Marco looks tired. Why?"</a:t>
            </a:r>
          </a:p>
          <a:p>
            <a:r>
              <a:rPr lang="en-US" dirty="0"/>
              <a:t>Listen 1 → Task A (circle the times). Pairs compare. Each click circles one answer.</a:t>
            </a:r>
          </a:p>
          <a:p>
            <a:r>
              <a:rPr lang="en-US" dirty="0"/>
              <a:t>Answer key: 5:30; 7:00; 3:30; 9:00.</a:t>
            </a:r>
          </a:p>
          <a:p>
            <a:r>
              <a:rPr lang="en-US" dirty="0"/>
              <a:t>No speaker? Read the script aloud with a volunteer learner.</a:t>
            </a:r>
          </a:p>
          <a:p>
            <a:r>
              <a:rPr lang="en-US" dirty="0"/>
              <a:t>Source: Level2_Curriculum_v4_1_public.md, Lesson 2 (Step 3; Answer key).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7:00–7:10 · Talk Time. Put the ALWAYS ... NEVER signs on the wall during the break. Each click shows one step.</a:t>
            </a:r>
          </a:p>
          <a:p>
            <a:r>
              <a:rPr lang="en-US" dirty="0"/>
              <a:t>Frequency Line (4 min): call "How often do you cook?" Learners stand at a sign and tell a neighbor.</a:t>
            </a:r>
          </a:p>
          <a:p>
            <a:r>
              <a:rPr lang="en-US" dirty="0"/>
              <a:t>Our Week (6 min): pairs find 2 things in common and 2 differences, then report: "We both take the bus. Maria usually cooks, but I never cook!"</a:t>
            </a:r>
          </a:p>
          <a:p>
            <a:r>
              <a:rPr lang="en-US" dirty="0"/>
              <a:t>If behind: do "Our Week" only.</a:t>
            </a:r>
          </a:p>
          <a:p>
            <a:r>
              <a:rPr lang="en-US" dirty="0"/>
              <a:t>Source: Level2_Curriculum_v4_1_public.md, Lesson 2 (Step 5).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7:10–7:15 · Exit Ticket + Homework. NEVER SKIP.</a:t>
            </a:r>
          </a:p>
          <a:p>
            <a:r>
              <a:rPr lang="en-US" dirty="0"/>
              <a:t>Exit ticket: one sentence about a family member with -s.</a:t>
            </a:r>
          </a:p>
          <a:p>
            <a:r>
              <a:rPr lang="en-US" dirty="0"/>
              <a:t>Homework (10 minutes): 1. Write 6 sentences about the routine of someone you know (My sister gets up at 6. She always takes the bus...). Use at least 3 frequency words. 2. Listen to the audio again at home and repeat Marco's lines. Explain it and do item 1 together.</a:t>
            </a:r>
          </a:p>
          <a:p>
            <a:r>
              <a:rPr lang="en-US" dirty="0"/>
              <a:t>Source: Level2_Curriculum_v4_1_public.md, Lesson 2 (Step 6; Student Page 2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→ Task B (Marco or his wife?). Each click circles one answer.</a:t>
            </a:r>
          </a:p>
          <a:p>
            <a:r>
              <a:rPr lang="en-US" dirty="0"/>
              <a:t>Answer key: works at the hospital = Marco; drives = wife; works at night = wife; picks up the kids = Marco; cooks dinner = Marco.</a:t>
            </a:r>
          </a:p>
          <a:p>
            <a:r>
              <a:rPr lang="en-US" dirty="0"/>
              <a:t>Source: Level2_Curriculum_v4_1_public.md, Lesson 2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v4.1, public edition, Lesson 2.</a:t>
            </a:r>
          </a:p>
          <a:p>
            <a:r>
              <a:rPr lang="en-US" dirty="0"/>
              <a:t>Image credit line copied exactly from images/CREDITS.md. Deck license: CC BY-NC-SA 4.0 (proposed curriculum license, Section 7.4).</a:t>
            </a:r>
          </a:p>
          <a:p>
            <a:r>
              <a:rPr lang="en-US" dirty="0"/>
              <a:t>Independence notice from the curriculum front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 Star words here: cook dinner, go to bed, every day.</a:t>
            </a:r>
          </a:p>
          <a:p>
            <a:r>
              <a:rPr lang="en-US" dirty="0"/>
              <a:t>Picture Sequence: groups put the 12 routine cards in order for a typical day and say each one aloud. If time: mime-and-guess.</a:t>
            </a:r>
          </a:p>
          <a:p>
            <a:r>
              <a:rPr lang="en-US" dirty="0"/>
              <a:t>Some learners work night shifts. Accept any routine: "morning" means whenever they wake up.</a:t>
            </a:r>
          </a:p>
          <a:p>
            <a:r>
              <a:rPr lang="en-US" dirty="0"/>
              <a:t>Source: Level2_Curriculum_v4_1_public.md, Lesson 2 (Step 2; Student Page 2;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→ Task C (fill in). Each click fills one blank.</a:t>
            </a:r>
          </a:p>
          <a:p>
            <a:r>
              <a:rPr lang="en-US" dirty="0"/>
              <a:t>Answer key: drives; works; always; never.</a:t>
            </a:r>
          </a:p>
          <a:p>
            <a:r>
              <a:rPr lang="en-US" dirty="0"/>
              <a:t>Ask: "Why drives with an -s?" (his wife = she).</a:t>
            </a:r>
          </a:p>
          <a:p>
            <a:r>
              <a:rPr lang="en-US" dirty="0"/>
              <a:t>"Say it" (1–2 min): the class repeats "My wife drives. She works at a restaurant." Make the -s loud.</a:t>
            </a:r>
          </a:p>
          <a:p>
            <a:r>
              <a:rPr lang="en-US" dirty="0"/>
              <a:t>If behind: skip the third play.</a:t>
            </a:r>
          </a:p>
          <a:p>
            <a:r>
              <a:rPr lang="en-US" dirty="0"/>
              <a:t>Source: Level2_Curriculum_v4_1_public.md, Lesson 2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Frequency words go before the main verb. Don't use am with another verb: I work (not I am work). have → has with he / she / it.</a:t>
            </a:r>
          </a:p>
          <a:p>
            <a:r>
              <a:rPr lang="en-US" dirty="0"/>
              <a:t>Learners can read the note on their Grammar page; you don't need to explain it.</a:t>
            </a:r>
          </a:p>
          <a:p>
            <a:r>
              <a:rPr lang="en-US" dirty="0"/>
              <a:t>Source: Level2_Curriculum_v4_1_public.md, Lesson 2 (Common mistakes).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K1" Type="http://schemas.openxmlformats.org/officeDocument/2006/relationships/image" Target="../media/k_L2_get_up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K1" Type="http://schemas.openxmlformats.org/officeDocument/2006/relationships/image" Target="../media/k_L1_liv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K1" Type="http://schemas.openxmlformats.org/officeDocument/2006/relationships/image" Target="../media/k_L2_get_up.png"/><Relationship Id="rIdK2" Type="http://schemas.openxmlformats.org/officeDocument/2006/relationships/image" Target="../media/k_L2_take_a_shower.png"/><Relationship Id="rIdK3" Type="http://schemas.openxmlformats.org/officeDocument/2006/relationships/image" Target="../media/k_L2_get_dressed.png"/><Relationship Id="rIdK4" Type="http://schemas.openxmlformats.org/officeDocument/2006/relationships/image" Target="../media/k_L2_have_breakfast.png"/><Relationship Id="rIdK5" Type="http://schemas.openxmlformats.org/officeDocument/2006/relationships/image" Target="../media/k_L2_take_the_bus.png"/><Relationship Id="rIdK6" Type="http://schemas.openxmlformats.org/officeDocument/2006/relationships/image" Target="../media/k_L2_drive.png"/><Relationship Id="rIdK7" Type="http://schemas.openxmlformats.org/officeDocument/2006/relationships/image" Target="../media/k_L2_start_work.png"/><Relationship Id="rIdK8" Type="http://schemas.openxmlformats.org/officeDocument/2006/relationships/image" Target="../media/k_L2_take_a_brea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5.xml.rels><?xml version='1.0' encoding='UTF-8' standalone='yes'?>
<Relationships xmlns="http://schemas.openxmlformats.org/package/2006/relationships"><Relationship Id="rIdK1" Type="http://schemas.openxmlformats.org/officeDocument/2006/relationships/image" Target="../media/k_L2_pick_up_the_kids.png"/><Relationship Id="rIdK2" Type="http://schemas.openxmlformats.org/officeDocument/2006/relationships/image" Target="../media/k_L2_cook_dinner.png"/><Relationship Id="rIdK3" Type="http://schemas.openxmlformats.org/officeDocument/2006/relationships/image" Target="../media/k_L2_do_the_dishes.png"/><Relationship Id="rIdK4" Type="http://schemas.openxmlformats.org/officeDocument/2006/relationships/image" Target="../media/k_L2_go_to_bed.png"/><Relationship Id="rIdK5" Type="http://schemas.openxmlformats.org/officeDocument/2006/relationships/image" Target="../media/k_L2_every_day.png"/><Relationship Id="rIdK6" Type="http://schemas.openxmlformats.org/officeDocument/2006/relationships/image" Target="../media/k_L2_on_weekends.png"/><Relationship Id="rIdK7" Type="http://schemas.openxmlformats.org/officeDocument/2006/relationships/image" Target="../media/k_L2_in_the_morning.png"/><Relationship Id="rIdK8" Type="http://schemas.openxmlformats.org/officeDocument/2006/relationships/image" Target="../media/k_L2_at_night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6.xml.rels><?xml version='1.0' encoding='UTF-8' standalone='yes'?>
<Relationships xmlns="http://schemas.openxmlformats.org/package/2006/relationships"><Relationship Id="rIdK1" Type="http://schemas.openxmlformats.org/officeDocument/2006/relationships/image" Target="../media/k_L2_start_wor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.xml.rels><?xml version='1.0' encoding='UTF-8' standalone='yes'?>
<Relationships xmlns="http://schemas.openxmlformats.org/package/2006/relationships"><Relationship Id="rIdK1" Type="http://schemas.openxmlformats.org/officeDocument/2006/relationships/image" Target="../media/k_L2_driv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K1" Type="http://schemas.openxmlformats.org/officeDocument/2006/relationships/image" Target="../media/k_L2_take_a_brea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K1" Type="http://schemas.openxmlformats.org/officeDocument/2006/relationships/image" Target="../media/k_L2_every_day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K1" Type="http://schemas.openxmlformats.org/officeDocument/2006/relationships/image" Target="../media/k_L2_get_dressed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K1" Type="http://schemas.openxmlformats.org/officeDocument/2006/relationships/image" Target="../media/k_L2_do_the_dishes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K1" Type="http://schemas.openxmlformats.org/officeDocument/2006/relationships/image" Target="../media/k_L2_take_the_bus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K1" Type="http://schemas.openxmlformats.org/officeDocument/2006/relationships/image" Target="../media/k_L2_cook_dinner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K1" Type="http://schemas.openxmlformats.org/officeDocument/2006/relationships/image" Target="../media/k_L2_go_to_bed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2  ·  Level 2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Day in My Life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Talk about your day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Use he / she + -s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how often: always ... never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14" name="Picture 14" descr="L2_get_up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partner.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3 questions.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6" name="Question"/>
          <p:cNvSpPr/>
          <p:nvPr/>
        </p:nvSpPr>
        <p:spPr>
          <a:xfrm>
            <a:off x="599846" y="3977640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do you live?</a:t>
            </a:r>
            <a:endParaRPr lang="en-US" sz="2200" dirty="0"/>
          </a:p>
        </p:txBody>
      </p:sp>
      <p:sp>
        <p:nvSpPr>
          <p:cNvPr id="17" name="Question"/>
          <p:cNvSpPr/>
          <p:nvPr/>
        </p:nvSpPr>
        <p:spPr>
          <a:xfrm>
            <a:off x="599846" y="4562856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work?</a:t>
            </a:r>
            <a:endParaRPr lang="en-US" sz="2200" dirty="0"/>
          </a:p>
        </p:txBody>
      </p:sp>
      <p:sp>
        <p:nvSpPr>
          <p:cNvPr id="18" name="Question"/>
          <p:cNvSpPr/>
          <p:nvPr/>
        </p:nvSpPr>
        <p:spPr>
          <a:xfrm>
            <a:off x="599846" y="5148072"/>
            <a:ext cx="411480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from a big city?</a:t>
            </a:r>
            <a:endParaRPr lang="en-US" sz="2200" dirty="0"/>
          </a:p>
        </p:txBody>
      </p:sp>
      <p:pic>
        <p:nvPicPr>
          <p:cNvPr id="19" name="Picture 19" descr="L1_live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795821" y="2101291"/>
            <a:ext cx="4763110" cy="33341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your 5 homework questions.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163824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have kids?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2659075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she live here?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291145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married?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037637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he a cook?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HW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with the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helper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you...? Yes, I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4" name="Answer 1"/>
          <p:cNvSpPr/>
          <p:nvPr/>
        </p:nvSpPr>
        <p:spPr>
          <a:xfrm>
            <a:off x="5047488" y="3200400"/>
            <a:ext cx="1536192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do.</a:t>
            </a:r>
            <a:endParaRPr lang="en-US" sz="2000" dirty="0"/>
          </a:p>
        </p:txBody>
      </p:sp>
      <p:sp>
        <p:nvSpPr>
          <p:cNvPr id="35" name="Answer 2"/>
          <p:cNvSpPr/>
          <p:nvPr/>
        </p:nvSpPr>
        <p:spPr>
          <a:xfrm>
            <a:off x="4542739" y="3911803"/>
            <a:ext cx="2040941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does.</a:t>
            </a:r>
            <a:endParaRPr lang="en-US" sz="2000" dirty="0"/>
          </a:p>
        </p:txBody>
      </p:sp>
      <p:sp>
        <p:nvSpPr>
          <p:cNvPr id="36" name="Answer 3"/>
          <p:cNvSpPr/>
          <p:nvPr/>
        </p:nvSpPr>
        <p:spPr>
          <a:xfrm>
            <a:off x="4795114" y="4623206"/>
            <a:ext cx="1788566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I'm not.</a:t>
            </a:r>
            <a:endParaRPr lang="en-US" sz="2000" dirty="0"/>
          </a:p>
        </p:txBody>
      </p:sp>
      <p:sp>
        <p:nvSpPr>
          <p:cNvPr id="37" name="Answer 4"/>
          <p:cNvSpPr/>
          <p:nvPr/>
        </p:nvSpPr>
        <p:spPr>
          <a:xfrm>
            <a:off x="4921301" y="5334610"/>
            <a:ext cx="1662379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he is.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/>
          </a:p>
        </p:txBody>
      </p:sp>
      <p:pic>
        <p:nvPicPr>
          <p:cNvPr id="29" name="Picture 29" descr="get up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952837" y="2240280"/>
            <a:ext cx="2076994" cy="145389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7626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get up</a:t>
            </a:r>
            <a:endParaRPr lang="en-US" sz="2000" dirty="0"/>
          </a:p>
        </p:txBody>
      </p:sp>
      <p:pic>
        <p:nvPicPr>
          <p:cNvPr id="31" name="Picture 31" descr="take a shower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3638887" y="2240280"/>
            <a:ext cx="2076994" cy="145389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34486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a shower</a:t>
            </a:r>
            <a:endParaRPr lang="en-US" sz="2000" dirty="0"/>
          </a:p>
        </p:txBody>
      </p:sp>
      <p:pic>
        <p:nvPicPr>
          <p:cNvPr id="33" name="Picture 33" descr="get dressed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6324937" y="2240280"/>
            <a:ext cx="2076994" cy="145389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61347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get dressed</a:t>
            </a:r>
            <a:endParaRPr lang="en-US" sz="2000" dirty="0"/>
          </a:p>
        </p:txBody>
      </p:sp>
      <p:pic>
        <p:nvPicPr>
          <p:cNvPr id="35" name="Picture 35" descr="have breakfast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9010987" y="2240280"/>
            <a:ext cx="2076994" cy="145389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88207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breakfast</a:t>
            </a:r>
            <a:endParaRPr lang="en-US" sz="2000" dirty="0"/>
          </a:p>
        </p:txBody>
      </p:sp>
      <p:pic>
        <p:nvPicPr>
          <p:cNvPr id="37" name="Picture 37" descr="take the bus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952837" y="4315968"/>
            <a:ext cx="2076994" cy="145389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7626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the bus</a:t>
            </a:r>
            <a:endParaRPr lang="en-US" sz="2000" dirty="0"/>
          </a:p>
        </p:txBody>
      </p:sp>
      <p:pic>
        <p:nvPicPr>
          <p:cNvPr id="39" name="Picture 39" descr="drive"/>
          <p:cNvPicPr>
            <a:picLocks noChangeAspect="1"/>
          </p:cNvPicPr>
          <p:nvPr/>
        </p:nvPicPr>
        <p:blipFill>
          <a:blip r:embed="rIdK6"/>
          <a:stretch>
            <a:fillRect/>
          </a:stretch>
        </p:blipFill>
        <p:spPr>
          <a:xfrm>
            <a:off x="3638887" y="4315968"/>
            <a:ext cx="2076994" cy="145389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34486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drive</a:t>
            </a:r>
            <a:endParaRPr lang="en-US" sz="2000" dirty="0"/>
          </a:p>
        </p:txBody>
      </p:sp>
      <p:pic>
        <p:nvPicPr>
          <p:cNvPr id="41" name="Picture 41" descr="start work"/>
          <p:cNvPicPr>
            <a:picLocks noChangeAspect="1"/>
          </p:cNvPicPr>
          <p:nvPr/>
        </p:nvPicPr>
        <p:blipFill>
          <a:blip r:embed="rIdK7"/>
          <a:stretch>
            <a:fillRect/>
          </a:stretch>
        </p:blipFill>
        <p:spPr>
          <a:xfrm>
            <a:off x="6324937" y="4315968"/>
            <a:ext cx="2076994" cy="145389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61347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start work</a:t>
            </a:r>
            <a:endParaRPr lang="en-US" sz="2000" dirty="0"/>
          </a:p>
        </p:txBody>
      </p:sp>
      <p:pic>
        <p:nvPicPr>
          <p:cNvPr id="43" name="Picture 43" descr="take a break"/>
          <p:cNvPicPr>
            <a:picLocks noChangeAspect="1"/>
          </p:cNvPicPr>
          <p:nvPr/>
        </p:nvPicPr>
        <p:blipFill>
          <a:blip r:embed="rIdK8"/>
          <a:stretch>
            <a:fillRect/>
          </a:stretch>
        </p:blipFill>
        <p:spPr>
          <a:xfrm>
            <a:off x="9010987" y="4315968"/>
            <a:ext cx="2076994" cy="145389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88207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a break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Put the day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order.</a:t>
            </a:r>
            <a:endParaRPr lang="en-US" sz="2200" dirty="0"/>
          </a:p>
        </p:txBody>
      </p:sp>
      <p:pic>
        <p:nvPicPr>
          <p:cNvPr id="29" name="Picture 29" descr="pick up the kids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952837" y="2240280"/>
            <a:ext cx="2076994" cy="1453896"/>
          </a:xfrm>
          <a:prstGeom prst="rect">
            <a:avLst/>
          </a:prstGeom>
        </p:spPr>
      </p:pic>
      <p:sp>
        <p:nvSpPr>
          <p:cNvPr id="30" name="Word label"/>
          <p:cNvSpPr/>
          <p:nvPr/>
        </p:nvSpPr>
        <p:spPr>
          <a:xfrm>
            <a:off x="7626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pick up the kids</a:t>
            </a:r>
            <a:endParaRPr lang="en-US" sz="2000" dirty="0"/>
          </a:p>
        </p:txBody>
      </p:sp>
      <p:pic>
        <p:nvPicPr>
          <p:cNvPr id="31" name="Picture 31" descr="cook dinner"/>
          <p:cNvPicPr>
            <a:picLocks noChangeAspect="1"/>
          </p:cNvPicPr>
          <p:nvPr/>
        </p:nvPicPr>
        <p:blipFill>
          <a:blip r:embed="rIdK2"/>
          <a:stretch>
            <a:fillRect/>
          </a:stretch>
        </p:blipFill>
        <p:spPr>
          <a:xfrm>
            <a:off x="3638887" y="2240280"/>
            <a:ext cx="2076994" cy="1453896"/>
          </a:xfrm>
          <a:prstGeom prst="rect">
            <a:avLst/>
          </a:prstGeom>
        </p:spPr>
      </p:pic>
      <p:sp>
        <p:nvSpPr>
          <p:cNvPr id="32" name="Word label"/>
          <p:cNvSpPr/>
          <p:nvPr/>
        </p:nvSpPr>
        <p:spPr>
          <a:xfrm>
            <a:off x="34486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 dinner</a:t>
            </a:r>
            <a:endParaRPr lang="en-US" sz="2000" dirty="0"/>
          </a:p>
        </p:txBody>
      </p:sp>
      <p:pic>
        <p:nvPicPr>
          <p:cNvPr id="33" name="Picture 33" descr="do the dishes"/>
          <p:cNvPicPr>
            <a:picLocks noChangeAspect="1"/>
          </p:cNvPicPr>
          <p:nvPr/>
        </p:nvPicPr>
        <p:blipFill>
          <a:blip r:embed="rIdK3"/>
          <a:stretch>
            <a:fillRect/>
          </a:stretch>
        </p:blipFill>
        <p:spPr>
          <a:xfrm>
            <a:off x="6324937" y="2240280"/>
            <a:ext cx="2076994" cy="1453896"/>
          </a:xfrm>
          <a:prstGeom prst="rect">
            <a:avLst/>
          </a:prstGeom>
        </p:spPr>
      </p:pic>
      <p:sp>
        <p:nvSpPr>
          <p:cNvPr id="34" name="Word label"/>
          <p:cNvSpPr/>
          <p:nvPr/>
        </p:nvSpPr>
        <p:spPr>
          <a:xfrm>
            <a:off x="61347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the dishes</a:t>
            </a:r>
            <a:endParaRPr lang="en-US" sz="2000" dirty="0"/>
          </a:p>
        </p:txBody>
      </p:sp>
      <p:pic>
        <p:nvPicPr>
          <p:cNvPr id="35" name="Picture 35" descr="go to bed"/>
          <p:cNvPicPr>
            <a:picLocks noChangeAspect="1"/>
          </p:cNvPicPr>
          <p:nvPr/>
        </p:nvPicPr>
        <p:blipFill>
          <a:blip r:embed="rIdK4"/>
          <a:stretch>
            <a:fillRect/>
          </a:stretch>
        </p:blipFill>
        <p:spPr>
          <a:xfrm>
            <a:off x="9010987" y="2240280"/>
            <a:ext cx="2076994" cy="1453896"/>
          </a:xfrm>
          <a:prstGeom prst="rect">
            <a:avLst/>
          </a:prstGeom>
        </p:spPr>
      </p:pic>
      <p:sp>
        <p:nvSpPr>
          <p:cNvPr id="36" name="Word label"/>
          <p:cNvSpPr/>
          <p:nvPr/>
        </p:nvSpPr>
        <p:spPr>
          <a:xfrm>
            <a:off x="88207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 to bed</a:t>
            </a:r>
            <a:endParaRPr lang="en-US" sz="2000" dirty="0"/>
          </a:p>
        </p:txBody>
      </p:sp>
      <p:pic>
        <p:nvPicPr>
          <p:cNvPr id="37" name="Picture 37" descr="every day"/>
          <p:cNvPicPr>
            <a:picLocks noChangeAspect="1"/>
          </p:cNvPicPr>
          <p:nvPr/>
        </p:nvPicPr>
        <p:blipFill>
          <a:blip r:embed="rIdK5"/>
          <a:stretch>
            <a:fillRect/>
          </a:stretch>
        </p:blipFill>
        <p:spPr>
          <a:xfrm>
            <a:off x="952837" y="4315968"/>
            <a:ext cx="2076994" cy="1453896"/>
          </a:xfrm>
          <a:prstGeom prst="rect">
            <a:avLst/>
          </a:prstGeom>
        </p:spPr>
      </p:pic>
      <p:sp>
        <p:nvSpPr>
          <p:cNvPr id="38" name="Word label"/>
          <p:cNvSpPr/>
          <p:nvPr/>
        </p:nvSpPr>
        <p:spPr>
          <a:xfrm>
            <a:off x="7626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</a:t>
            </a:r>
            <a:endParaRPr lang="en-US" sz="2000" dirty="0"/>
          </a:p>
        </p:txBody>
      </p:sp>
      <p:pic>
        <p:nvPicPr>
          <p:cNvPr id="39" name="Picture 39" descr="on weekends"/>
          <p:cNvPicPr>
            <a:picLocks noChangeAspect="1"/>
          </p:cNvPicPr>
          <p:nvPr/>
        </p:nvPicPr>
        <p:blipFill>
          <a:blip r:embed="rIdK6"/>
          <a:stretch>
            <a:fillRect/>
          </a:stretch>
        </p:blipFill>
        <p:spPr>
          <a:xfrm>
            <a:off x="3638887" y="4315968"/>
            <a:ext cx="2076994" cy="145389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34486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weekends</a:t>
            </a:r>
            <a:endParaRPr lang="en-US" sz="2000" dirty="0"/>
          </a:p>
        </p:txBody>
      </p:sp>
      <p:pic>
        <p:nvPicPr>
          <p:cNvPr id="41" name="Picture 41" descr="in the morning"/>
          <p:cNvPicPr>
            <a:picLocks noChangeAspect="1"/>
          </p:cNvPicPr>
          <p:nvPr/>
        </p:nvPicPr>
        <p:blipFill>
          <a:blip r:embed="rIdK7"/>
          <a:stretch>
            <a:fillRect/>
          </a:stretch>
        </p:blipFill>
        <p:spPr>
          <a:xfrm>
            <a:off x="6324937" y="4315968"/>
            <a:ext cx="2076994" cy="145389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61347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the morning</a:t>
            </a:r>
            <a:endParaRPr lang="en-US" sz="2000" dirty="0"/>
          </a:p>
        </p:txBody>
      </p:sp>
      <p:pic>
        <p:nvPicPr>
          <p:cNvPr id="43" name="Picture 43" descr="at night"/>
          <p:cNvPicPr>
            <a:picLocks noChangeAspect="1"/>
          </p:cNvPicPr>
          <p:nvPr/>
        </p:nvPicPr>
        <p:blipFill>
          <a:blip r:embed="rIdK8"/>
          <a:stretch>
            <a:fillRect/>
          </a:stretch>
        </p:blipFill>
        <p:spPr>
          <a:xfrm>
            <a:off x="9010987" y="4315968"/>
            <a:ext cx="2076994" cy="145389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88207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night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9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Circle the time.</a:t>
            </a:r>
            <a:endParaRPr lang="en-US" sz="2000" dirty="0"/>
          </a:p>
        </p:txBody>
      </p:sp>
      <p:pic>
        <p:nvPicPr>
          <p:cNvPr id="40" name="Picture 40" descr="L2_start_work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274674" y="3680460"/>
            <a:ext cx="3450031" cy="2415022"/>
          </a:xfrm>
          <a:prstGeom prst="rect">
            <a:avLst/>
          </a:prstGeom>
        </p:spPr>
      </p:pic>
      <p:sp>
        <p:nvSpPr>
          <p:cNvPr id="41" name="Row shadow"/>
          <p:cNvSpPr/>
          <p:nvPr/>
        </p:nvSpPr>
        <p:spPr>
          <a:xfrm>
            <a:off x="6107278" y="1382573"/>
            <a:ext cx="5577840" cy="109728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2" name="Row"/>
          <p:cNvSpPr/>
          <p:nvPr/>
        </p:nvSpPr>
        <p:spPr>
          <a:xfrm>
            <a:off x="6035040" y="1325880"/>
            <a:ext cx="5577840" cy="109728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3" name="Row num"/>
          <p:cNvSpPr/>
          <p:nvPr/>
        </p:nvSpPr>
        <p:spPr>
          <a:xfrm>
            <a:off x="6172200" y="1535278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44" name="Row question"/>
          <p:cNvSpPr/>
          <p:nvPr/>
        </p:nvSpPr>
        <p:spPr>
          <a:xfrm>
            <a:off x="6995160" y="1399032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 gets up at ...</a:t>
            </a:r>
            <a:endParaRPr lang="en-US" sz="2000" dirty="0"/>
          </a:p>
        </p:txBody>
      </p:sp>
      <p:sp>
        <p:nvSpPr>
          <p:cNvPr id="45" name="Option"/>
          <p:cNvSpPr/>
          <p:nvPr/>
        </p:nvSpPr>
        <p:spPr>
          <a:xfrm>
            <a:off x="6995160" y="185623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5:30</a:t>
            </a:r>
            <a:endParaRPr lang="en-US" sz="2000" dirty="0"/>
          </a:p>
        </p:txBody>
      </p:sp>
      <p:sp>
        <p:nvSpPr>
          <p:cNvPr id="46" name="Circle 1"/>
          <p:cNvSpPr/>
          <p:nvPr/>
        </p:nvSpPr>
        <p:spPr>
          <a:xfrm>
            <a:off x="6885432" y="1792224"/>
            <a:ext cx="136245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7" name="Option"/>
          <p:cNvSpPr/>
          <p:nvPr/>
        </p:nvSpPr>
        <p:spPr>
          <a:xfrm>
            <a:off x="8275320" y="185623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6:30</a:t>
            </a:r>
            <a:endParaRPr lang="en-US" sz="2000" dirty="0"/>
          </a:p>
        </p:txBody>
      </p:sp>
      <p:sp>
        <p:nvSpPr>
          <p:cNvPr id="48" name="Option"/>
          <p:cNvSpPr/>
          <p:nvPr/>
        </p:nvSpPr>
        <p:spPr>
          <a:xfrm>
            <a:off x="9555480" y="1856232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</a:t>
            </a:r>
            <a:endParaRPr lang="en-US" sz="2000" dirty="0"/>
          </a:p>
        </p:txBody>
      </p:sp>
      <p:sp>
        <p:nvSpPr>
          <p:cNvPr id="49" name="Row shadow"/>
          <p:cNvSpPr/>
          <p:nvPr/>
        </p:nvSpPr>
        <p:spPr>
          <a:xfrm>
            <a:off x="6107278" y="2644445"/>
            <a:ext cx="5577840" cy="109728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Row"/>
          <p:cNvSpPr/>
          <p:nvPr/>
        </p:nvSpPr>
        <p:spPr>
          <a:xfrm>
            <a:off x="6035040" y="2587752"/>
            <a:ext cx="5577840" cy="109728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Row num"/>
          <p:cNvSpPr/>
          <p:nvPr/>
        </p:nvSpPr>
        <p:spPr>
          <a:xfrm>
            <a:off x="6172200" y="2797150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52" name="Row question"/>
          <p:cNvSpPr/>
          <p:nvPr/>
        </p:nvSpPr>
        <p:spPr>
          <a:xfrm>
            <a:off x="6995160" y="2660904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starts work at ...</a:t>
            </a:r>
            <a:endParaRPr lang="en-US" sz="2000" dirty="0"/>
          </a:p>
        </p:txBody>
      </p:sp>
      <p:sp>
        <p:nvSpPr>
          <p:cNvPr id="53" name="Option"/>
          <p:cNvSpPr/>
          <p:nvPr/>
        </p:nvSpPr>
        <p:spPr>
          <a:xfrm>
            <a:off x="6995160" y="3118104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6:00</a:t>
            </a:r>
            <a:endParaRPr lang="en-US" sz="2000" dirty="0"/>
          </a:p>
        </p:txBody>
      </p:sp>
      <p:sp>
        <p:nvSpPr>
          <p:cNvPr id="54" name="Option"/>
          <p:cNvSpPr/>
          <p:nvPr/>
        </p:nvSpPr>
        <p:spPr>
          <a:xfrm>
            <a:off x="8275320" y="3118104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</a:t>
            </a:r>
            <a:endParaRPr lang="en-US" sz="2000" dirty="0"/>
          </a:p>
        </p:txBody>
      </p:sp>
      <p:sp>
        <p:nvSpPr>
          <p:cNvPr id="55" name="Circle 2"/>
          <p:cNvSpPr/>
          <p:nvPr/>
        </p:nvSpPr>
        <p:spPr>
          <a:xfrm>
            <a:off x="8165592" y="3054096"/>
            <a:ext cx="136245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6" name="Option"/>
          <p:cNvSpPr/>
          <p:nvPr/>
        </p:nvSpPr>
        <p:spPr>
          <a:xfrm>
            <a:off x="9555480" y="3118104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8:00</a:t>
            </a:r>
            <a:endParaRPr lang="en-US" sz="2000" dirty="0"/>
          </a:p>
        </p:txBody>
      </p:sp>
      <p:sp>
        <p:nvSpPr>
          <p:cNvPr id="57" name="Row shadow"/>
          <p:cNvSpPr/>
          <p:nvPr/>
        </p:nvSpPr>
        <p:spPr>
          <a:xfrm>
            <a:off x="6107278" y="3906317"/>
            <a:ext cx="5577840" cy="109728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Row"/>
          <p:cNvSpPr/>
          <p:nvPr/>
        </p:nvSpPr>
        <p:spPr>
          <a:xfrm>
            <a:off x="6035040" y="3849624"/>
            <a:ext cx="5577840" cy="1097280"/>
          </a:xfrm>
          <a:prstGeom prst="round1Rect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9" name="Row num"/>
          <p:cNvSpPr/>
          <p:nvPr/>
        </p:nvSpPr>
        <p:spPr>
          <a:xfrm>
            <a:off x="6172200" y="4059022"/>
            <a:ext cx="678485" cy="678485"/>
          </a:xfrm>
          <a:prstGeom prst="ellipse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2000" dirty="0"/>
          </a:p>
        </p:txBody>
      </p:sp>
      <p:sp>
        <p:nvSpPr>
          <p:cNvPr id="60" name="Row question"/>
          <p:cNvSpPr/>
          <p:nvPr/>
        </p:nvSpPr>
        <p:spPr>
          <a:xfrm>
            <a:off x="6995160" y="3922776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picks up the kids at ...</a:t>
            </a:r>
            <a:endParaRPr lang="en-US" sz="2000" dirty="0"/>
          </a:p>
        </p:txBody>
      </p:sp>
      <p:sp>
        <p:nvSpPr>
          <p:cNvPr id="61" name="Option"/>
          <p:cNvSpPr/>
          <p:nvPr/>
        </p:nvSpPr>
        <p:spPr>
          <a:xfrm>
            <a:off x="6995160" y="4379976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3:00</a:t>
            </a:r>
            <a:endParaRPr lang="en-US" sz="2000" dirty="0"/>
          </a:p>
        </p:txBody>
      </p:sp>
      <p:sp>
        <p:nvSpPr>
          <p:cNvPr id="62" name="Option"/>
          <p:cNvSpPr/>
          <p:nvPr/>
        </p:nvSpPr>
        <p:spPr>
          <a:xfrm>
            <a:off x="8275320" y="4379976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3:30</a:t>
            </a:r>
            <a:endParaRPr lang="en-US" sz="2000" dirty="0"/>
          </a:p>
        </p:txBody>
      </p:sp>
      <p:sp>
        <p:nvSpPr>
          <p:cNvPr id="63" name="Circle 3"/>
          <p:cNvSpPr/>
          <p:nvPr/>
        </p:nvSpPr>
        <p:spPr>
          <a:xfrm>
            <a:off x="8165592" y="4315968"/>
            <a:ext cx="136245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4" name="Option"/>
          <p:cNvSpPr/>
          <p:nvPr/>
        </p:nvSpPr>
        <p:spPr>
          <a:xfrm>
            <a:off x="9555480" y="4379976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4:30</a:t>
            </a:r>
            <a:endParaRPr lang="en-US" sz="2000" dirty="0"/>
          </a:p>
        </p:txBody>
      </p:sp>
      <p:sp>
        <p:nvSpPr>
          <p:cNvPr id="65" name="Row shadow"/>
          <p:cNvSpPr/>
          <p:nvPr/>
        </p:nvSpPr>
        <p:spPr>
          <a:xfrm>
            <a:off x="6107278" y="5168189"/>
            <a:ext cx="5577840" cy="1097280"/>
          </a:xfrm>
          <a:prstGeom prst="round1Rect">
            <a:avLst/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6" name="Row"/>
          <p:cNvSpPr/>
          <p:nvPr/>
        </p:nvSpPr>
        <p:spPr>
          <a:xfrm>
            <a:off x="6035040" y="5111496"/>
            <a:ext cx="5577840" cy="1097280"/>
          </a:xfrm>
          <a:prstGeom prst="round1Rect">
            <a:avLst/>
          </a:prstGeom>
          <a:solidFill>
            <a:srgbClr val="B9D2F7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7" name="Row num"/>
          <p:cNvSpPr/>
          <p:nvPr/>
        </p:nvSpPr>
        <p:spPr>
          <a:xfrm>
            <a:off x="6172200" y="5320894"/>
            <a:ext cx="678485" cy="678485"/>
          </a:xfrm>
          <a:prstGeom prst="ellipse">
            <a:avLst/>
          </a:prstGeom>
          <a:solidFill>
            <a:srgbClr val="FFFFFF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2000" dirty="0"/>
          </a:p>
        </p:txBody>
      </p:sp>
      <p:sp>
        <p:nvSpPr>
          <p:cNvPr id="68" name="Row question"/>
          <p:cNvSpPr/>
          <p:nvPr/>
        </p:nvSpPr>
        <p:spPr>
          <a:xfrm>
            <a:off x="6995160" y="5184648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Sundays he sleeps until ...</a:t>
            </a:r>
            <a:endParaRPr lang="en-US" sz="2000" dirty="0"/>
          </a:p>
        </p:txBody>
      </p:sp>
      <p:sp>
        <p:nvSpPr>
          <p:cNvPr id="69" name="Option"/>
          <p:cNvSpPr/>
          <p:nvPr/>
        </p:nvSpPr>
        <p:spPr>
          <a:xfrm>
            <a:off x="6995160" y="5641848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8:00</a:t>
            </a:r>
            <a:endParaRPr lang="en-US" sz="2000" dirty="0"/>
          </a:p>
        </p:txBody>
      </p:sp>
      <p:sp>
        <p:nvSpPr>
          <p:cNvPr id="70" name="Option"/>
          <p:cNvSpPr/>
          <p:nvPr/>
        </p:nvSpPr>
        <p:spPr>
          <a:xfrm>
            <a:off x="8275320" y="5641848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9:00</a:t>
            </a:r>
            <a:endParaRPr lang="en-US" sz="2000" dirty="0"/>
          </a:p>
        </p:txBody>
      </p:sp>
      <p:sp>
        <p:nvSpPr>
          <p:cNvPr id="71" name="Circle 4"/>
          <p:cNvSpPr/>
          <p:nvPr/>
        </p:nvSpPr>
        <p:spPr>
          <a:xfrm>
            <a:off x="8165592" y="5577840"/>
            <a:ext cx="1362456" cy="56692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Option"/>
          <p:cNvSpPr/>
          <p:nvPr/>
        </p:nvSpPr>
        <p:spPr>
          <a:xfrm>
            <a:off x="9555480" y="5641848"/>
            <a:ext cx="1143000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10:00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does it?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49" name="Statement 1"/>
          <p:cNvSpPr/>
          <p:nvPr/>
        </p:nvSpPr>
        <p:spPr>
          <a:xfrm>
            <a:off x="502920" y="3127248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 at the hospital</a:t>
            </a:r>
            <a:endParaRPr lang="en-US" sz="2200" dirty="0"/>
          </a:p>
        </p:txBody>
      </p:sp>
      <p:sp>
        <p:nvSpPr>
          <p:cNvPr id="50" name="Option 11"/>
          <p:cNvSpPr/>
          <p:nvPr/>
        </p:nvSpPr>
        <p:spPr>
          <a:xfrm>
            <a:off x="6583680" y="3127248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</a:t>
            </a:r>
            <a:endParaRPr lang="en-US" sz="2000" dirty="0"/>
          </a:p>
        </p:txBody>
      </p:sp>
      <p:sp>
        <p:nvSpPr>
          <p:cNvPr id="51" name="Option 12"/>
          <p:cNvSpPr/>
          <p:nvPr/>
        </p:nvSpPr>
        <p:spPr>
          <a:xfrm>
            <a:off x="8183880" y="3127248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</a:t>
            </a:r>
            <a:endParaRPr lang="en-US" sz="2000" dirty="0"/>
          </a:p>
        </p:txBody>
      </p:sp>
      <p:sp>
        <p:nvSpPr>
          <p:cNvPr id="52" name="Circle 1"/>
          <p:cNvSpPr/>
          <p:nvPr/>
        </p:nvSpPr>
        <p:spPr>
          <a:xfrm>
            <a:off x="6455664" y="3063240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3" name="Statement 2"/>
          <p:cNvSpPr/>
          <p:nvPr/>
        </p:nvSpPr>
        <p:spPr>
          <a:xfrm>
            <a:off x="502920" y="3785616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drives</a:t>
            </a:r>
            <a:endParaRPr lang="en-US" sz="2200" dirty="0"/>
          </a:p>
        </p:txBody>
      </p:sp>
      <p:sp>
        <p:nvSpPr>
          <p:cNvPr id="54" name="Option 21"/>
          <p:cNvSpPr/>
          <p:nvPr/>
        </p:nvSpPr>
        <p:spPr>
          <a:xfrm>
            <a:off x="6583680" y="37856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</a:t>
            </a:r>
            <a:endParaRPr lang="en-US" sz="2000" dirty="0"/>
          </a:p>
        </p:txBody>
      </p:sp>
      <p:sp>
        <p:nvSpPr>
          <p:cNvPr id="55" name="Option 22"/>
          <p:cNvSpPr/>
          <p:nvPr/>
        </p:nvSpPr>
        <p:spPr>
          <a:xfrm>
            <a:off x="8183880" y="3785616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</a:t>
            </a:r>
            <a:endParaRPr lang="en-US" sz="2000" dirty="0"/>
          </a:p>
        </p:txBody>
      </p:sp>
      <p:sp>
        <p:nvSpPr>
          <p:cNvPr id="56" name="Circle 2"/>
          <p:cNvSpPr/>
          <p:nvPr/>
        </p:nvSpPr>
        <p:spPr>
          <a:xfrm>
            <a:off x="8055864" y="3721608"/>
            <a:ext cx="171907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7" name="Statement 3"/>
          <p:cNvSpPr/>
          <p:nvPr/>
        </p:nvSpPr>
        <p:spPr>
          <a:xfrm>
            <a:off x="502920" y="4443984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 at night</a:t>
            </a:r>
            <a:endParaRPr lang="en-US" sz="2200" dirty="0"/>
          </a:p>
        </p:txBody>
      </p:sp>
      <p:sp>
        <p:nvSpPr>
          <p:cNvPr id="58" name="Option 31"/>
          <p:cNvSpPr/>
          <p:nvPr/>
        </p:nvSpPr>
        <p:spPr>
          <a:xfrm>
            <a:off x="6583680" y="4443984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</a:t>
            </a:r>
            <a:endParaRPr lang="en-US" sz="2000" dirty="0"/>
          </a:p>
        </p:txBody>
      </p:sp>
      <p:sp>
        <p:nvSpPr>
          <p:cNvPr id="59" name="Option 32"/>
          <p:cNvSpPr/>
          <p:nvPr/>
        </p:nvSpPr>
        <p:spPr>
          <a:xfrm>
            <a:off x="8183880" y="4443984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</a:t>
            </a:r>
            <a:endParaRPr lang="en-US" sz="2000" dirty="0"/>
          </a:p>
        </p:txBody>
      </p:sp>
      <p:sp>
        <p:nvSpPr>
          <p:cNvPr id="60" name="Circle 3"/>
          <p:cNvSpPr/>
          <p:nvPr/>
        </p:nvSpPr>
        <p:spPr>
          <a:xfrm>
            <a:off x="8055864" y="4379976"/>
            <a:ext cx="171907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1" name="Statement 4"/>
          <p:cNvSpPr/>
          <p:nvPr/>
        </p:nvSpPr>
        <p:spPr>
          <a:xfrm>
            <a:off x="502920" y="5102352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picks up the kids</a:t>
            </a:r>
            <a:endParaRPr lang="en-US" sz="2200" dirty="0"/>
          </a:p>
        </p:txBody>
      </p:sp>
      <p:sp>
        <p:nvSpPr>
          <p:cNvPr id="62" name="Option 41"/>
          <p:cNvSpPr/>
          <p:nvPr/>
        </p:nvSpPr>
        <p:spPr>
          <a:xfrm>
            <a:off x="6583680" y="5102352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</a:t>
            </a:r>
            <a:endParaRPr lang="en-US" sz="2000" dirty="0"/>
          </a:p>
        </p:txBody>
      </p:sp>
      <p:sp>
        <p:nvSpPr>
          <p:cNvPr id="63" name="Option 42"/>
          <p:cNvSpPr/>
          <p:nvPr/>
        </p:nvSpPr>
        <p:spPr>
          <a:xfrm>
            <a:off x="8183880" y="5102352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</a:t>
            </a:r>
            <a:endParaRPr lang="en-US" sz="2000" dirty="0"/>
          </a:p>
        </p:txBody>
      </p:sp>
      <p:sp>
        <p:nvSpPr>
          <p:cNvPr id="64" name="Circle 4"/>
          <p:cNvSpPr/>
          <p:nvPr/>
        </p:nvSpPr>
        <p:spPr>
          <a:xfrm>
            <a:off x="6455664" y="5038344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5" name="Statement 5"/>
          <p:cNvSpPr/>
          <p:nvPr/>
        </p:nvSpPr>
        <p:spPr>
          <a:xfrm>
            <a:off x="502920" y="5760720"/>
            <a:ext cx="594360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cooks dinner</a:t>
            </a:r>
            <a:endParaRPr lang="en-US" sz="2200" dirty="0"/>
          </a:p>
        </p:txBody>
      </p:sp>
      <p:sp>
        <p:nvSpPr>
          <p:cNvPr id="66" name="Option 51"/>
          <p:cNvSpPr/>
          <p:nvPr/>
        </p:nvSpPr>
        <p:spPr>
          <a:xfrm>
            <a:off x="6583680" y="5760720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</a:t>
            </a:r>
            <a:endParaRPr lang="en-US" sz="2000" dirty="0"/>
          </a:p>
        </p:txBody>
      </p:sp>
      <p:sp>
        <p:nvSpPr>
          <p:cNvPr id="67" name="Option 52"/>
          <p:cNvSpPr/>
          <p:nvPr/>
        </p:nvSpPr>
        <p:spPr>
          <a:xfrm>
            <a:off x="8183880" y="5760720"/>
            <a:ext cx="146304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</a:t>
            </a:r>
            <a:endParaRPr lang="en-US" sz="2000" dirty="0"/>
          </a:p>
        </p:txBody>
      </p:sp>
      <p:sp>
        <p:nvSpPr>
          <p:cNvPr id="68" name="Circle 5"/>
          <p:cNvSpPr/>
          <p:nvPr/>
        </p:nvSpPr>
        <p:spPr>
          <a:xfrm>
            <a:off x="6455664" y="5696712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583741" y="3127248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583741" y="3977640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583741" y="4828032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583741" y="5678424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wife ____. She has the car.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977640"/>
            <a:ext cx="36255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 at a restaurant.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828032"/>
            <a:ext cx="3474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____ pick them up at three thirty.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678424"/>
            <a:ext cx="362559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Sundays, I ____ get up early.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2" name="Text 20"/>
          <p:cNvSpPr/>
          <p:nvPr/>
        </p:nvSpPr>
        <p:spPr>
          <a:xfrm>
            <a:off x="686714" y="3127248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977640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4" name="Text 22"/>
          <p:cNvSpPr/>
          <p:nvPr/>
        </p:nvSpPr>
        <p:spPr>
          <a:xfrm>
            <a:off x="686714" y="3977640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828032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6" name="Text 24"/>
          <p:cNvSpPr/>
          <p:nvPr/>
        </p:nvSpPr>
        <p:spPr>
          <a:xfrm>
            <a:off x="686714" y="4828032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678424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28" name="Text 26"/>
          <p:cNvSpPr/>
          <p:nvPr/>
        </p:nvSpPr>
        <p:spPr>
          <a:xfrm>
            <a:off x="686714" y="5678424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drives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an -s?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His wife = she.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38" name="Answer 1"/>
          <p:cNvSpPr/>
          <p:nvPr/>
        </p:nvSpPr>
        <p:spPr>
          <a:xfrm>
            <a:off x="5358384" y="3278124"/>
            <a:ext cx="1225296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drives</a:t>
            </a:r>
            <a:endParaRPr lang="en-US" sz="2200" dirty="0"/>
          </a:p>
        </p:txBody>
      </p:sp>
      <p:sp>
        <p:nvSpPr>
          <p:cNvPr id="39" name="Answer 2"/>
          <p:cNvSpPr/>
          <p:nvPr/>
        </p:nvSpPr>
        <p:spPr>
          <a:xfrm>
            <a:off x="5509260" y="4128516"/>
            <a:ext cx="107442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</a:t>
            </a:r>
            <a:endParaRPr lang="en-US" sz="2200" dirty="0"/>
          </a:p>
        </p:txBody>
      </p:sp>
      <p:sp>
        <p:nvSpPr>
          <p:cNvPr id="40" name="Answer 3"/>
          <p:cNvSpPr/>
          <p:nvPr/>
        </p:nvSpPr>
        <p:spPr>
          <a:xfrm>
            <a:off x="5358384" y="4978908"/>
            <a:ext cx="1225296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always</a:t>
            </a:r>
            <a:endParaRPr lang="en-US" sz="2200" dirty="0"/>
          </a:p>
        </p:txBody>
      </p:sp>
      <p:sp>
        <p:nvSpPr>
          <p:cNvPr id="41" name="Answer 4"/>
          <p:cNvSpPr/>
          <p:nvPr/>
        </p:nvSpPr>
        <p:spPr>
          <a:xfrm>
            <a:off x="5509260" y="5829300"/>
            <a:ext cx="107442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 / No Questions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8" name="Picture 28" descr="L2_drive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99516" y="2264969"/>
            <a:ext cx="3326587" cy="2328611"/>
          </a:xfrm>
          <a:prstGeom prst="rect">
            <a:avLst/>
          </a:prstGeom>
        </p:spPr>
      </p:pic>
      <p:sp>
        <p:nvSpPr>
          <p:cNvPr id="29" name="Highlight"/>
          <p:cNvSpPr/>
          <p:nvPr/>
        </p:nvSpPr>
        <p:spPr>
          <a:xfrm>
            <a:off x="5138928" y="397764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0" name="Helper"/>
          <p:cNvSpPr/>
          <p:nvPr/>
        </p:nvSpPr>
        <p:spPr>
          <a:xfrm>
            <a:off x="5138928" y="379476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600" dirty="0"/>
          </a:p>
        </p:txBody>
      </p:sp>
      <p:sp>
        <p:nvSpPr>
          <p:cNvPr id="31" name="Question"/>
          <p:cNvSpPr/>
          <p:nvPr/>
        </p:nvSpPr>
        <p:spPr>
          <a:xfrm>
            <a:off x="6144768" y="3794760"/>
            <a:ext cx="2487168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work?</a:t>
            </a:r>
            <a:endParaRPr lang="en-US" sz="2200" dirty="0"/>
          </a:p>
        </p:txBody>
      </p:sp>
      <p:sp>
        <p:nvSpPr>
          <p:cNvPr id="33" name="Answer bg"/>
          <p:cNvSpPr/>
          <p:nvPr/>
        </p:nvSpPr>
        <p:spPr>
          <a:xfrm>
            <a:off x="8668512" y="379476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2" name="Answer"/>
          <p:cNvSpPr/>
          <p:nvPr/>
        </p:nvSpPr>
        <p:spPr>
          <a:xfrm>
            <a:off x="8668512" y="379476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4" name="Highlight"/>
          <p:cNvSpPr/>
          <p:nvPr/>
        </p:nvSpPr>
        <p:spPr>
          <a:xfrm>
            <a:off x="5138928" y="5166360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Helper"/>
          <p:cNvSpPr/>
          <p:nvPr/>
        </p:nvSpPr>
        <p:spPr>
          <a:xfrm>
            <a:off x="5138928" y="4983480"/>
            <a:ext cx="9601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600" dirty="0"/>
          </a:p>
        </p:txBody>
      </p:sp>
      <p:sp>
        <p:nvSpPr>
          <p:cNvPr id="36" name="Question"/>
          <p:cNvSpPr/>
          <p:nvPr/>
        </p:nvSpPr>
        <p:spPr>
          <a:xfrm>
            <a:off x="6144768" y="4983480"/>
            <a:ext cx="2487168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drive?</a:t>
            </a:r>
            <a:endParaRPr lang="en-US" sz="2200" dirty="0"/>
          </a:p>
        </p:txBody>
      </p:sp>
      <p:sp>
        <p:nvSpPr>
          <p:cNvPr id="38" name="Answer bg"/>
          <p:cNvSpPr/>
          <p:nvPr/>
        </p:nvSpPr>
        <p:spPr>
          <a:xfrm>
            <a:off x="8668512" y="4983480"/>
            <a:ext cx="3017520" cy="9326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7" name="Answer"/>
          <p:cNvSpPr/>
          <p:nvPr/>
        </p:nvSpPr>
        <p:spPr>
          <a:xfrm>
            <a:off x="8668512" y="4983480"/>
            <a:ext cx="3017520" cy="9326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Sentences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Positive and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Negative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1" name="Picture 31" descr="L2_take_a_break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598664" y="1216152"/>
            <a:ext cx="3254350" cy="2278045"/>
          </a:xfrm>
          <a:prstGeom prst="rect">
            <a:avLst/>
          </a:prstGeom>
        </p:spPr>
      </p:pic>
      <p:sp>
        <p:nvSpPr>
          <p:cNvPr id="32" name="Q head"/>
          <p:cNvSpPr/>
          <p:nvPr/>
        </p:nvSpPr>
        <p:spPr>
          <a:xfrm>
            <a:off x="1920240" y="3794760"/>
            <a:ext cx="40233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POSITIVE</a:t>
            </a:r>
            <a:endParaRPr lang="en-US" sz="2000" dirty="0"/>
          </a:p>
        </p:txBody>
      </p:sp>
      <p:sp>
        <p:nvSpPr>
          <p:cNvPr id="33" name="A head"/>
          <p:cNvSpPr/>
          <p:nvPr/>
        </p:nvSpPr>
        <p:spPr>
          <a:xfrm>
            <a:off x="7040880" y="379476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NEGATIVE</a:t>
            </a:r>
            <a:endParaRPr lang="en-US" sz="2000" dirty="0"/>
          </a:p>
        </p:txBody>
      </p:sp>
      <p:sp>
        <p:nvSpPr>
          <p:cNvPr id="34" name="Highlight"/>
          <p:cNvSpPr/>
          <p:nvPr/>
        </p:nvSpPr>
        <p:spPr>
          <a:xfrm>
            <a:off x="1481328" y="4453128"/>
            <a:ext cx="1299362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Question"/>
          <p:cNvSpPr/>
          <p:nvPr/>
        </p:nvSpPr>
        <p:spPr>
          <a:xfrm>
            <a:off x="1481328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7" name="Answer bg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6" name="Answer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8" name="Highlight"/>
          <p:cNvSpPr/>
          <p:nvPr/>
        </p:nvSpPr>
        <p:spPr>
          <a:xfrm>
            <a:off x="1481328" y="5367528"/>
            <a:ext cx="1719072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9" name="Question"/>
          <p:cNvSpPr/>
          <p:nvPr/>
        </p:nvSpPr>
        <p:spPr>
          <a:xfrm>
            <a:off x="1481328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1" name="Answer bg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0" name="Answer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 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time?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often?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Helper: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/ does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pic>
        <p:nvPicPr>
          <p:cNvPr id="47" name="Picture 47" descr="L2_every_day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48" name="Wh"/>
          <p:cNvSpPr/>
          <p:nvPr/>
        </p:nvSpPr>
        <p:spPr>
          <a:xfrm>
            <a:off x="3520440" y="4114800"/>
            <a:ext cx="159640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</a:t>
            </a:r>
            <a:endParaRPr lang="en-US" sz="2200" dirty="0"/>
          </a:p>
        </p:txBody>
      </p:sp>
      <p:sp>
        <p:nvSpPr>
          <p:cNvPr id="49" name="Highlight"/>
          <p:cNvSpPr/>
          <p:nvPr/>
        </p:nvSpPr>
        <p:spPr>
          <a:xfrm>
            <a:off x="5116845" y="4114800"/>
            <a:ext cx="605991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Helper"/>
          <p:cNvSpPr/>
          <p:nvPr/>
        </p:nvSpPr>
        <p:spPr>
          <a:xfrm>
            <a:off x="5116845" y="4114800"/>
            <a:ext cx="60599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51" name="Rest"/>
          <p:cNvSpPr/>
          <p:nvPr/>
        </p:nvSpPr>
        <p:spPr>
          <a:xfrm>
            <a:off x="5777700" y="4114800"/>
            <a:ext cx="172181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get up?</a:t>
            </a:r>
            <a:endParaRPr lang="en-US" sz="2200" dirty="0"/>
          </a:p>
        </p:txBody>
      </p:sp>
      <p:sp>
        <p:nvSpPr>
          <p:cNvPr id="52" name="Wh"/>
          <p:cNvSpPr/>
          <p:nvPr/>
        </p:nvSpPr>
        <p:spPr>
          <a:xfrm>
            <a:off x="3520440" y="4736592"/>
            <a:ext cx="159640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</a:t>
            </a:r>
            <a:endParaRPr lang="en-US" sz="2200" dirty="0"/>
          </a:p>
        </p:txBody>
      </p:sp>
      <p:sp>
        <p:nvSpPr>
          <p:cNvPr id="53" name="Highlight"/>
          <p:cNvSpPr/>
          <p:nvPr/>
        </p:nvSpPr>
        <p:spPr>
          <a:xfrm>
            <a:off x="5116845" y="4736592"/>
            <a:ext cx="919374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4" name="Helper"/>
          <p:cNvSpPr/>
          <p:nvPr/>
        </p:nvSpPr>
        <p:spPr>
          <a:xfrm>
            <a:off x="5116845" y="4736592"/>
            <a:ext cx="919374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200" dirty="0"/>
          </a:p>
        </p:txBody>
      </p:sp>
      <p:sp>
        <p:nvSpPr>
          <p:cNvPr id="55" name="Rest"/>
          <p:cNvSpPr/>
          <p:nvPr/>
        </p:nvSpPr>
        <p:spPr>
          <a:xfrm>
            <a:off x="6091084" y="4736592"/>
            <a:ext cx="172181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get up?</a:t>
            </a:r>
            <a:endParaRPr lang="en-US" sz="2200" dirty="0"/>
          </a:p>
        </p:txBody>
      </p:sp>
      <p:sp>
        <p:nvSpPr>
          <p:cNvPr id="56" name="Wh"/>
          <p:cNvSpPr/>
          <p:nvPr/>
        </p:nvSpPr>
        <p:spPr>
          <a:xfrm>
            <a:off x="3520440" y="5358384"/>
            <a:ext cx="159640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often</a:t>
            </a:r>
            <a:endParaRPr lang="en-US" sz="2200" dirty="0"/>
          </a:p>
        </p:txBody>
      </p:sp>
      <p:sp>
        <p:nvSpPr>
          <p:cNvPr id="57" name="Highlight"/>
          <p:cNvSpPr/>
          <p:nvPr/>
        </p:nvSpPr>
        <p:spPr>
          <a:xfrm>
            <a:off x="5116845" y="5358384"/>
            <a:ext cx="605991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Helper"/>
          <p:cNvSpPr/>
          <p:nvPr/>
        </p:nvSpPr>
        <p:spPr>
          <a:xfrm>
            <a:off x="5116845" y="5358384"/>
            <a:ext cx="605991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</a:t>
            </a:r>
            <a:endParaRPr lang="en-US" sz="2200" dirty="0"/>
          </a:p>
        </p:txBody>
      </p:sp>
      <p:sp>
        <p:nvSpPr>
          <p:cNvPr id="59" name="Rest"/>
          <p:cNvSpPr/>
          <p:nvPr/>
        </p:nvSpPr>
        <p:spPr>
          <a:xfrm>
            <a:off x="5777700" y="5358384"/>
            <a:ext cx="144200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cook?</a:t>
            </a:r>
            <a:endParaRPr lang="en-US" sz="2200" dirty="0"/>
          </a:p>
        </p:txBody>
      </p:sp>
      <p:sp>
        <p:nvSpPr>
          <p:cNvPr id="60" name="Wh"/>
          <p:cNvSpPr/>
          <p:nvPr/>
        </p:nvSpPr>
        <p:spPr>
          <a:xfrm>
            <a:off x="3520440" y="5980176"/>
            <a:ext cx="1596405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often</a:t>
            </a:r>
            <a:endParaRPr lang="en-US" sz="2200" dirty="0"/>
          </a:p>
        </p:txBody>
      </p:sp>
      <p:sp>
        <p:nvSpPr>
          <p:cNvPr id="61" name="Highlight"/>
          <p:cNvSpPr/>
          <p:nvPr/>
        </p:nvSpPr>
        <p:spPr>
          <a:xfrm>
            <a:off x="5116845" y="5980176"/>
            <a:ext cx="919374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2" name="Helper"/>
          <p:cNvSpPr/>
          <p:nvPr/>
        </p:nvSpPr>
        <p:spPr>
          <a:xfrm>
            <a:off x="5116845" y="5980176"/>
            <a:ext cx="919374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2200" dirty="0"/>
          </a:p>
        </p:txBody>
      </p:sp>
      <p:sp>
        <p:nvSpPr>
          <p:cNvPr id="63" name="Rest"/>
          <p:cNvSpPr/>
          <p:nvPr/>
        </p:nvSpPr>
        <p:spPr>
          <a:xfrm>
            <a:off x="6091084" y="5980176"/>
            <a:ext cx="144200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cook?</a:t>
            </a:r>
            <a:endParaRPr lang="en-US" sz="2200" dirty="0"/>
          </a:p>
        </p:txBody>
      </p:sp>
      <p:sp>
        <p:nvSpPr>
          <p:cNvPr id="64" name="Card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often?</a:t>
            </a:r>
            <a:endParaRPr lang="en-US" sz="2400" dirty="0"/>
          </a:p>
        </p:txBody>
      </p:sp>
      <p:sp>
        <p:nvSpPr>
          <p:cNvPr id="65" name="Card item"/>
          <p:cNvSpPr/>
          <p:nvPr/>
        </p:nvSpPr>
        <p:spPr>
          <a:xfrm>
            <a:off x="8549640" y="1920240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always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(100%)</a:t>
            </a:r>
            <a:endParaRPr lang="en-US" sz="2000" dirty="0"/>
          </a:p>
        </p:txBody>
      </p:sp>
      <p:sp>
        <p:nvSpPr>
          <p:cNvPr id="66" name="Card item"/>
          <p:cNvSpPr/>
          <p:nvPr/>
        </p:nvSpPr>
        <p:spPr>
          <a:xfrm>
            <a:off x="8549640" y="2404872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usually</a:t>
            </a:r>
            <a:endParaRPr lang="en-US" sz="2000" dirty="0"/>
          </a:p>
        </p:txBody>
      </p:sp>
      <p:sp>
        <p:nvSpPr>
          <p:cNvPr id="67" name="Card item"/>
          <p:cNvSpPr/>
          <p:nvPr/>
        </p:nvSpPr>
        <p:spPr>
          <a:xfrm>
            <a:off x="8549640" y="2889504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often</a:t>
            </a:r>
            <a:endParaRPr lang="en-US" sz="2000" dirty="0"/>
          </a:p>
        </p:txBody>
      </p:sp>
      <p:sp>
        <p:nvSpPr>
          <p:cNvPr id="68" name="Card item"/>
          <p:cNvSpPr/>
          <p:nvPr/>
        </p:nvSpPr>
        <p:spPr>
          <a:xfrm>
            <a:off x="8549640" y="3374136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sometimes</a:t>
            </a:r>
            <a:endParaRPr lang="en-US" sz="2000" dirty="0"/>
          </a:p>
        </p:txBody>
      </p:sp>
      <p:sp>
        <p:nvSpPr>
          <p:cNvPr id="69" name="Card item"/>
          <p:cNvSpPr/>
          <p:nvPr/>
        </p:nvSpPr>
        <p:spPr>
          <a:xfrm>
            <a:off x="8549640" y="3858768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rarely</a:t>
            </a:r>
            <a:endParaRPr lang="en-US" sz="2000" dirty="0"/>
          </a:p>
        </p:txBody>
      </p:sp>
      <p:sp>
        <p:nvSpPr>
          <p:cNvPr id="70" name="Card item"/>
          <p:cNvSpPr/>
          <p:nvPr/>
        </p:nvSpPr>
        <p:spPr>
          <a:xfrm>
            <a:off x="8549640" y="4343400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never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(0%)</a:t>
            </a:r>
            <a:endParaRPr lang="en-US" sz="2000" dirty="0"/>
          </a:p>
        </p:txBody>
      </p:sp>
      <p:sp>
        <p:nvSpPr>
          <p:cNvPr id="71" name="Example"/>
          <p:cNvSpPr/>
          <p:nvPr/>
        </p:nvSpPr>
        <p:spPr>
          <a:xfrm>
            <a:off x="8549640" y="502920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usually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the bus.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0" name="Picture 30" descr="L2_get_dressed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work at a store.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work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a store.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6268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doesn't works.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6268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doesn't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37" name="Bad"/>
          <p:cNvSpPr/>
          <p:nvPr/>
        </p:nvSpPr>
        <p:spPr>
          <a:xfrm>
            <a:off x="914400" y="52303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she works?</a:t>
            </a:r>
            <a:endParaRPr lang="en-US" sz="2200" dirty="0"/>
          </a:p>
        </p:txBody>
      </p:sp>
      <p:sp>
        <p:nvSpPr>
          <p:cNvPr id="38" name="Good"/>
          <p:cNvSpPr/>
          <p:nvPr/>
        </p:nvSpPr>
        <p:spPr>
          <a:xfrm>
            <a:off x="4800600" y="52303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she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30" name="Picture 30" descr="L2_do_the_dishes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1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2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33" name="Bad"/>
          <p:cNvSpPr/>
          <p:nvPr/>
        </p:nvSpPr>
        <p:spPr>
          <a:xfrm>
            <a:off x="914400" y="402336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go always to the park.</a:t>
            </a:r>
            <a:endParaRPr lang="en-US" sz="2200" dirty="0"/>
          </a:p>
        </p:txBody>
      </p:sp>
      <p:sp>
        <p:nvSpPr>
          <p:cNvPr id="34" name="Good"/>
          <p:cNvSpPr/>
          <p:nvPr/>
        </p:nvSpPr>
        <p:spPr>
          <a:xfrm>
            <a:off x="4800600" y="4023360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always go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 the park.</a:t>
            </a:r>
            <a:endParaRPr lang="en-US" sz="2200" dirty="0"/>
          </a:p>
        </p:txBody>
      </p:sp>
      <p:sp>
        <p:nvSpPr>
          <p:cNvPr id="35" name="Bad"/>
          <p:cNvSpPr/>
          <p:nvPr/>
        </p:nvSpPr>
        <p:spPr>
          <a:xfrm>
            <a:off x="914400" y="48554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work at a restaurant.</a:t>
            </a:r>
            <a:endParaRPr lang="en-US" sz="2200" dirty="0"/>
          </a:p>
        </p:txBody>
      </p:sp>
      <p:sp>
        <p:nvSpPr>
          <p:cNvPr id="36" name="Good"/>
          <p:cNvSpPr/>
          <p:nvPr/>
        </p:nvSpPr>
        <p:spPr>
          <a:xfrm>
            <a:off x="4800600" y="4855464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at a restaurant.</a:t>
            </a:r>
            <a:endParaRPr lang="en-US" sz="2200" dirty="0"/>
          </a:p>
        </p:txBody>
      </p:sp>
      <p:sp>
        <p:nvSpPr>
          <p:cNvPr id="37" name="Bad"/>
          <p:cNvSpPr/>
          <p:nvPr/>
        </p:nvSpPr>
        <p:spPr>
          <a:xfrm>
            <a:off x="914400" y="56875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have two kids.</a:t>
            </a:r>
            <a:endParaRPr lang="en-US" sz="2200" dirty="0"/>
          </a:p>
        </p:txBody>
      </p:sp>
      <p:sp>
        <p:nvSpPr>
          <p:cNvPr id="38" name="Good"/>
          <p:cNvSpPr/>
          <p:nvPr/>
        </p:nvSpPr>
        <p:spPr>
          <a:xfrm>
            <a:off x="4800600" y="56875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two kids.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Quick Check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 Then answer.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 takes the bus. One day or every day?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____. (not drive)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take usually or I usually take?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28" name="Answer"/>
          <p:cNvSpPr/>
          <p:nvPr/>
        </p:nvSpPr>
        <p:spPr>
          <a:xfrm>
            <a:off x="960120" y="4709160"/>
            <a:ext cx="1847088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day</a:t>
            </a:r>
            <a:endParaRPr lang="en-US" sz="2400" dirty="0"/>
          </a:p>
        </p:txBody>
      </p:sp>
      <p:sp>
        <p:nvSpPr>
          <p:cNvPr id="29" name="Answer"/>
          <p:cNvSpPr/>
          <p:nvPr/>
        </p:nvSpPr>
        <p:spPr>
          <a:xfrm>
            <a:off x="4617720" y="4709160"/>
            <a:ext cx="2505456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 drive</a:t>
            </a:r>
            <a:endParaRPr lang="en-US" sz="2400" dirty="0"/>
          </a:p>
        </p:txBody>
      </p:sp>
      <p:sp>
        <p:nvSpPr>
          <p:cNvPr id="30" name="Answer"/>
          <p:cNvSpPr/>
          <p:nvPr/>
        </p:nvSpPr>
        <p:spPr>
          <a:xfrm>
            <a:off x="8275320" y="4709160"/>
            <a:ext cx="260604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usually take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one -s rule</a:t>
            </a:r>
            <a:endParaRPr lang="en-US" sz="2000" dirty="0"/>
          </a:p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 -s Only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works. Negative?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works. Question?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she work?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endParaRPr lang="en-US" sz="6000" dirty="0"/>
          </a:p>
        </p:txBody>
      </p:sp>
      <p:pic>
        <p:nvPicPr>
          <p:cNvPr id="22" name="Picture 22" descr="L2_take_the_bus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649224" y="2871216"/>
            <a:ext cx="2825496" cy="19778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Frequency Line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Report: We both take the bus.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5" name="Picture 25" descr="L2_cook_dinner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22376" y="3418942"/>
            <a:ext cx="3882542" cy="2717780"/>
          </a:xfrm>
          <a:prstGeom prst="rect">
            <a:avLst/>
          </a:prstGeom>
        </p:spPr>
      </p:pic>
      <p:sp>
        <p:nvSpPr>
          <p:cNvPr id="26" name="Step num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7" name="Step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Frequency Line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often do you cook?</a:t>
            </a:r>
            <a:endParaRPr lang="en-US" sz="2000" dirty="0"/>
          </a:p>
        </p:txBody>
      </p:sp>
      <p:sp>
        <p:nvSpPr>
          <p:cNvPr id="28" name="Step num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9" name="Step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Stand at a sign.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Tell a neighbor.</a:t>
            </a:r>
            <a:endParaRPr lang="en-US" sz="2000" dirty="0"/>
          </a:p>
        </p:txBody>
      </p:sp>
      <p:sp>
        <p:nvSpPr>
          <p:cNvPr id="30" name="Step num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31" name="Step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Our Week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Find 2 same, 2 different.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pic>
        <p:nvPicPr>
          <p:cNvPr id="23" name="Picture 23" descr="L2_go_to_bed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24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25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26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sentence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a family member.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-s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!</a:t>
            </a:r>
            <a:endParaRPr lang="en-US" sz="2000" dirty="0"/>
          </a:p>
        </p:txBody>
      </p:sp>
      <p:sp>
        <p:nvSpPr>
          <p:cNvPr id="27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8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29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6 sentences about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someone's routine.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3 frequency words.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to the audio again.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 Marco's lines.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License: CC BY-NC-SA 4.0</a:t>
            </a:r>
            <a:endParaRPr lang="en-US" sz="2000" dirty="0"/>
          </a:p>
        </p:txBody>
      </p:sp>
      <p:sp>
        <p:nvSpPr>
          <p:cNvPr id="17" name="Independence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Independent project, not affiliated with or endorsed by Intercambio Uniting Communities.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1: Nice to Meet You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