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0" r:id="rId6"/>
    <p:sldId id="259" r:id="rId5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1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three goals together; learners repeat.</a:t>
            </a:r>
          </a:p>
          <a:p>
            <a:r>
              <a:rPr lang="en-US" dirty="0"/>
              <a:t>Objectives: describe a daily routine with 10 or more routine verbs; use he/she + -s, doesn't, Does...?; use always ... never in the correct position.</a:t>
            </a:r>
          </a:p>
          <a:p>
            <a:r>
              <a:rPr lang="en-US" dirty="0"/>
              <a:t>Source: Level2_Curriculum_v4_1_public.md, Lesson 2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 (pairs, same partner for both parts). Minutes 0–5: ask 3 questions. Each click shows one question.</a:t>
            </a:r>
          </a:p>
          <a:p>
            <a:r>
              <a:rPr lang="en-US" dirty="0"/>
              <a:t>Late arrivals join a pair.</a:t>
            </a:r>
          </a:p>
          <a:p>
            <a:r>
              <a:rPr lang="en-US" dirty="0"/>
              <a:t>Source: Level2_Curriculum_v4_1_public.md, Lesson 2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and negative sentences. Click 1 highlights I / I don't; click 2 highlights she + -s / she doesn't.</a:t>
            </a:r>
          </a:p>
          <a:p>
            <a:r>
              <a:rPr lang="en-US" dirty="0"/>
              <a:t>The "one -s" rule: the -s moves to does. She works. → She doesn't work. → Does she work?</a:t>
            </a:r>
          </a:p>
          <a:p>
            <a:r>
              <a:rPr lang="en-US" dirty="0"/>
              <a:t>Add -s only with he, she, it. Spelling: work → works; watch → watches; go → goes; study → studies; have → has.</a:t>
            </a:r>
          </a:p>
          <a:p>
            <a:r>
              <a:rPr lang="en-US" dirty="0"/>
              <a:t>Source: Level2_Curriculum_v4_1_public.md, Lesson 2 (Sentences: positive and negative;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simple present + frequency. Say: "We use the simple present for routines and facts. With he, she, it, the verb gets an -s. With does / doesn't, the -s moves to does, so the main verb has no -s."</a:t>
            </a:r>
          </a:p>
          <a:p>
            <a:r>
              <a:rPr lang="en-US" dirty="0"/>
              <a:t>Click 1 highlights Do and its answers; click 2 highlights Does and its answers. Read across one row of the question side, then the answer side.</a:t>
            </a:r>
          </a:p>
          <a:p>
            <a:r>
              <a:rPr lang="en-US" dirty="0"/>
              <a:t>More from the box: Do you / they work? drive? cook? · Does he / she / it work? drive? cook? Answer about yourself: Do you work? → Yes, I do.</a:t>
            </a:r>
          </a:p>
          <a:p>
            <a:r>
              <a:rPr lang="en-US" dirty="0"/>
              <a:t>Source: Level2_Curriculum_v4_1_public.md, Lesson 2 (Step 4;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Read the left side; ask "What's wrong?" Each click shows the correct sentence.</a:t>
            </a:r>
          </a:p>
          <a:p>
            <a:r>
              <a:rPr lang="en-US" dirty="0"/>
              <a:t>Repeat the "one -s rule" every time the error appears this week.</a:t>
            </a:r>
          </a:p>
          <a:p>
            <a:r>
              <a:rPr lang="en-US" dirty="0"/>
              <a:t>Source: Level2_Curriculum_v4_1_public.md, Lesson 2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every day · She doesn't drive. · I usually take.</a:t>
            </a:r>
          </a:p>
          <a:p>
            <a:r>
              <a:rPr lang="en-US" dirty="0"/>
              <a:t>Short Information Gap (last 5 min): A has Rosa's week, B has Ali's. Ask 3 questions each (What time does Rosa start work?). Don't show papers. If behind: skip it.</a:t>
            </a:r>
          </a:p>
          <a:p>
            <a:r>
              <a:rPr lang="en-US" dirty="0"/>
              <a:t>Source: Level2_Curriculum_v4_1_public.md, Lesson 2 (Step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What time...? and How often...? Each click highlights the helper word: do, does, do, does.</a:t>
            </a:r>
          </a:p>
          <a:p>
            <a:r>
              <a:rPr lang="en-US" dirty="0"/>
              <a:t>Answers from the box: I get up at 6:00. / She gets up at 6:00. / I always / sometimes / never cook. / She always / sometimes / never cooks.</a:t>
            </a:r>
          </a:p>
          <a:p>
            <a:r>
              <a:rPr lang="en-US" dirty="0"/>
              <a:t>Where do always, usually, never go? Before the main verb: I usually take the bus. After be: He is always late. Longer phrases go at the end: I cook every day.</a:t>
            </a:r>
          </a:p>
          <a:p>
            <a:r>
              <a:rPr lang="en-US" dirty="0"/>
              <a:t>Source: Level2_Curriculum_v4_1_public.md, Lesson 2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(groups of 4–5 / 2 groups). Point, say, repeat twice. Each click shows one word.</a:t>
            </a:r>
          </a:p>
          <a:p>
            <a:r>
              <a:rPr lang="en-US" dirty="0"/>
              <a:t>Star words here: get up, take a shower, have breakfast, take the bus, start work.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Level2_Curriculum_v4_1_public.md, Lesson 2 (Step 2; Student Page 2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does or doesn't, the verb has no -s. Click 1: She works. → She doesn't work. Click 2: She works. → Does she work?</a:t>
            </a:r>
          </a:p>
          <a:p>
            <a:r>
              <a:rPr lang="en-US" dirty="0"/>
              <a:t>Source: Level2_Curriculum_v4_1_public.md, Lesson 2 (Questions and answers: the one -s rule).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ask each other their 5 homework questions (Lesson 1 homework: 3 with do/does, 2 with am/is/are).</a:t>
            </a:r>
          </a:p>
          <a:p>
            <a:r>
              <a:rPr lang="en-US" dirty="0"/>
              <a:t>Each click shows one model answer from the Lesson 1 Grammar Boxes. Walk around; write only 2 corrected questions on the board.</a:t>
            </a:r>
          </a:p>
          <a:p>
            <a:r>
              <a:rPr lang="en-US" dirty="0"/>
              <a:t>If behind: collect the homework; return it next week with one correction each.</a:t>
            </a:r>
          </a:p>
          <a:p>
            <a:r>
              <a:rPr lang="en-US" dirty="0"/>
              <a:t>Source: Level2_Curriculum_v4_1_public.md, Lesson 2 (Step 1); Lesson 1 Grammar Boxes 1–2 and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(L2_listening.mp3, about 0:58; plays once, so play the audio again if needed). Before you listen: "Marco looks tired. Why?"</a:t>
            </a:r>
          </a:p>
          <a:p>
            <a:r>
              <a:rPr lang="en-US" dirty="0"/>
              <a:t>Listen 1 → Task A (circle the times). Pairs compare. Each click circles one answer.</a:t>
            </a:r>
          </a:p>
          <a:p>
            <a:r>
              <a:rPr lang="en-US" dirty="0"/>
              <a:t>Answer key: 5:30; 7:00; 3:30; 9:00.</a:t>
            </a:r>
          </a:p>
          <a:p>
            <a:r>
              <a:rPr lang="en-US" dirty="0"/>
              <a:t>No speaker? Read the script aloud with a volunteer learner.</a:t>
            </a:r>
          </a:p>
          <a:p>
            <a:r>
              <a:rPr lang="en-US" dirty="0"/>
              <a:t>Source: Level2_Curriculum_v4_1_public.md, Lesson 2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Time. Put the ALWAYS ... NEVER signs on the wall during the break. Each click shows one step.</a:t>
            </a:r>
          </a:p>
          <a:p>
            <a:r>
              <a:rPr lang="en-US" dirty="0"/>
              <a:t>Frequency Line (4 min): call "How often do you cook?" Learners stand at a sign and tell a neighbor.</a:t>
            </a:r>
          </a:p>
          <a:p>
            <a:r>
              <a:rPr lang="en-US" dirty="0"/>
              <a:t>Our Week (6 min): pairs find 2 things in common and 2 differences, then report: "We both take the bus. Maria usually cooks, but I never cook!"</a:t>
            </a:r>
          </a:p>
          <a:p>
            <a:r>
              <a:rPr lang="en-US" dirty="0"/>
              <a:t>If behind: do "Our Week" only.</a:t>
            </a:r>
          </a:p>
          <a:p>
            <a:r>
              <a:rPr lang="en-US" dirty="0"/>
              <a:t>Source: Level2_Curriculum_v4_1_public.md, Lesson 2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about a family member with -s.</a:t>
            </a:r>
          </a:p>
          <a:p>
            <a:r>
              <a:rPr lang="en-US" dirty="0"/>
              <a:t>Homework (10 minutes): 1. Write 6 sentences about the routine of someone you know (My sister gets up at 6. She always takes the bus...). Use at least 3 frequency words. 2. Listen to the audio again at home and repeat Marco's lines. Explain it and do item 1 together.</a:t>
            </a:r>
          </a:p>
          <a:p>
            <a:r>
              <a:rPr lang="en-US" dirty="0"/>
              <a:t>Source: Level2_Curriculum_v4_1_public.md, Lesson 2 (Step 6; Student Page 2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(Marco or his wife?). Each click circles one answer.</a:t>
            </a:r>
          </a:p>
          <a:p>
            <a:r>
              <a:rPr lang="en-US" dirty="0"/>
              <a:t>Answer key: works at the hospital = Marco; drives = wife; works at night = wife; picks up the kids = Marco; cooks dinner = Marco.</a:t>
            </a:r>
          </a:p>
          <a:p>
            <a:r>
              <a:rPr lang="en-US" dirty="0"/>
              <a:t>Source: Level2_Curriculum_v4_1_public.md, Lesson 2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v4.1, public edition, Lesson 2.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cook dinner, go to bed, every day.</a:t>
            </a:r>
          </a:p>
          <a:p>
            <a:r>
              <a:rPr lang="en-US" dirty="0"/>
              <a:t>Picture Sequence: groups put the 12 routine cards in order for a typical day and say each one aloud. If time: mime-and-guess.</a:t>
            </a:r>
          </a:p>
          <a:p>
            <a:r>
              <a:rPr lang="en-US" dirty="0"/>
              <a:t>Some learners work night shifts. Accept any routine: "morning" means whenever they wake up.</a:t>
            </a:r>
          </a:p>
          <a:p>
            <a:r>
              <a:rPr lang="en-US" dirty="0"/>
              <a:t>Source: Level2_Curriculum_v4_1_public.md, Lesson 2 (Step 2; Student Page 2;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</a:t>
            </a:r>
          </a:p>
          <a:p>
            <a:r>
              <a:rPr lang="en-US" dirty="0"/>
              <a:t>Answer key: drives; works; always; never.</a:t>
            </a:r>
          </a:p>
          <a:p>
            <a:r>
              <a:rPr lang="en-US" dirty="0"/>
              <a:t>Ask: "Why drives with an -s?" (his wife = she).</a:t>
            </a:r>
          </a:p>
          <a:p>
            <a:r>
              <a:rPr lang="en-US" dirty="0"/>
              <a:t>"Say it" (1–2 min): the class repeats "My wife drives. She works at a restaurant." Make the -s loud.</a:t>
            </a:r>
          </a:p>
          <a:p>
            <a:r>
              <a:rPr lang="en-US" dirty="0"/>
              <a:t>If behind: skip the third play.</a:t>
            </a:r>
          </a:p>
          <a:p>
            <a:r>
              <a:rPr lang="en-US" dirty="0"/>
              <a:t>Source: Level2_Curriculum_v4_1_public.md, Lesson 2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Frequency words go before the main verb. Don't use am with another verb: I work (not I am work). have → has with he / she / it.</a:t>
            </a:r>
          </a:p>
          <a:p>
            <a:r>
              <a:rPr lang="en-US" dirty="0"/>
              <a:t>Learners can read the note on their Grammar page; you don't need to explain it.</a:t>
            </a:r>
          </a:p>
          <a:p>
            <a:r>
              <a:rPr lang="en-US" dirty="0"/>
              <a:t>Source: Level2_Curriculum_v4_1_public.md, Lesson 2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2_get_up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K1" Type="http://schemas.openxmlformats.org/officeDocument/2006/relationships/image" Target="../media/k_L1_liv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K1" Type="http://schemas.openxmlformats.org/officeDocument/2006/relationships/image" Target="../media/k_L2_get_up.png"/><Relationship Id="rIdK2" Type="http://schemas.openxmlformats.org/officeDocument/2006/relationships/image" Target="../media/k_L2_take_a_shower.png"/><Relationship Id="rIdK3" Type="http://schemas.openxmlformats.org/officeDocument/2006/relationships/image" Target="../media/k_L2_get_dressed.png"/><Relationship Id="rIdK4" Type="http://schemas.openxmlformats.org/officeDocument/2006/relationships/image" Target="../media/k_L2_have_breakfast.png"/><Relationship Id="rIdK5" Type="http://schemas.openxmlformats.org/officeDocument/2006/relationships/image" Target="../media/k_L2_take_the_bus.png"/><Relationship Id="rIdK6" Type="http://schemas.openxmlformats.org/officeDocument/2006/relationships/image" Target="../media/k_L2_drive.png"/><Relationship Id="rIdK7" Type="http://schemas.openxmlformats.org/officeDocument/2006/relationships/image" Target="../media/k_L2_start_work.png"/><Relationship Id="rIdK8" Type="http://schemas.openxmlformats.org/officeDocument/2006/relationships/image" Target="../media/k_L2_take_a_brea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K1" Type="http://schemas.openxmlformats.org/officeDocument/2006/relationships/image" Target="../media/k_L2_pick_up_the_kids.png"/><Relationship Id="rIdK2" Type="http://schemas.openxmlformats.org/officeDocument/2006/relationships/image" Target="../media/k_L2_cook_dinner.png"/><Relationship Id="rIdK3" Type="http://schemas.openxmlformats.org/officeDocument/2006/relationships/image" Target="../media/k_L2_do_the_dishes.png"/><Relationship Id="rIdK4" Type="http://schemas.openxmlformats.org/officeDocument/2006/relationships/image" Target="../media/k_L2_go_to_bed.png"/><Relationship Id="rIdK5" Type="http://schemas.openxmlformats.org/officeDocument/2006/relationships/image" Target="../media/k_L2_every_day.png"/><Relationship Id="rIdK6" Type="http://schemas.openxmlformats.org/officeDocument/2006/relationships/image" Target="../media/k_L2_on_weekends.png"/><Relationship Id="rIdK7" Type="http://schemas.openxmlformats.org/officeDocument/2006/relationships/image" Target="../media/k_L2_in_the_morning.png"/><Relationship Id="rIdK8" Type="http://schemas.openxmlformats.org/officeDocument/2006/relationships/image" Target="../media/k_L2_at_nigh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K1" Type="http://schemas.openxmlformats.org/officeDocument/2006/relationships/image" Target="../media/k_L2_start_wor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K1" Type="http://schemas.openxmlformats.org/officeDocument/2006/relationships/image" Target="../media/k_L2_driv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K1" Type="http://schemas.openxmlformats.org/officeDocument/2006/relationships/image" Target="../media/k_L2_take_a_brea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K1" Type="http://schemas.openxmlformats.org/officeDocument/2006/relationships/image" Target="../media/k_L2_every_da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K1" Type="http://schemas.openxmlformats.org/officeDocument/2006/relationships/image" Target="../media/k_L2_get_dress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K1" Type="http://schemas.openxmlformats.org/officeDocument/2006/relationships/image" Target="../media/k_L2_do_the_dishe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K1" Type="http://schemas.openxmlformats.org/officeDocument/2006/relationships/image" Target="../media/k_L2_take_the_bu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K1" Type="http://schemas.openxmlformats.org/officeDocument/2006/relationships/image" Target="../media/k_L2_cook_dinn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K1" Type="http://schemas.openxmlformats.org/officeDocument/2006/relationships/image" Target="../media/k_L2_go_to_b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2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Day in My Life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your day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he / she + -s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how often: always ... never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2_get_up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questions.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6" name="Question"/>
          <p:cNvSpPr/>
          <p:nvPr/>
        </p:nvSpPr>
        <p:spPr>
          <a:xfrm>
            <a:off x="599846" y="3977640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live?</a:t>
            </a:r>
            <a:endParaRPr lang="en-US" sz="2200" dirty="0"/>
          </a:p>
        </p:txBody>
      </p:sp>
      <p:sp>
        <p:nvSpPr>
          <p:cNvPr id="17" name="Question"/>
          <p:cNvSpPr/>
          <p:nvPr/>
        </p:nvSpPr>
        <p:spPr>
          <a:xfrm>
            <a:off x="599846" y="4562856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work?</a:t>
            </a:r>
            <a:endParaRPr lang="en-US" sz="2200" dirty="0"/>
          </a:p>
        </p:txBody>
      </p:sp>
      <p:sp>
        <p:nvSpPr>
          <p:cNvPr id="18" name="Question"/>
          <p:cNvSpPr/>
          <p:nvPr/>
        </p:nvSpPr>
        <p:spPr>
          <a:xfrm>
            <a:off x="599846" y="5148072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from a big city?</a:t>
            </a:r>
            <a:endParaRPr lang="en-US" sz="2200" dirty="0"/>
          </a:p>
        </p:txBody>
      </p:sp>
      <p:pic>
        <p:nvPicPr>
          <p:cNvPr id="19" name="Picture 19" descr="L1_live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5 homework questions.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163824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2659075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live here?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291145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married?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037637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he a cook?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with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helper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you...? Yes, 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047488" y="3200400"/>
            <a:ext cx="153619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do.</a:t>
            </a:r>
            <a:endParaRPr lang="en-US" sz="2000" dirty="0"/>
          </a:p>
        </p:txBody>
      </p:sp>
      <p:sp>
        <p:nvSpPr>
          <p:cNvPr id="35" name="Answer 2"/>
          <p:cNvSpPr/>
          <p:nvPr/>
        </p:nvSpPr>
        <p:spPr>
          <a:xfrm>
            <a:off x="4542739" y="3911803"/>
            <a:ext cx="2040941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does.</a:t>
            </a:r>
            <a:endParaRPr lang="en-US" sz="2000" dirty="0"/>
          </a:p>
        </p:txBody>
      </p:sp>
      <p:sp>
        <p:nvSpPr>
          <p:cNvPr id="36" name="Answer 3"/>
          <p:cNvSpPr/>
          <p:nvPr/>
        </p:nvSpPr>
        <p:spPr>
          <a:xfrm>
            <a:off x="4795114" y="4623206"/>
            <a:ext cx="1788566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not.</a:t>
            </a:r>
            <a:endParaRPr lang="en-US" sz="2000" dirty="0"/>
          </a:p>
        </p:txBody>
      </p:sp>
      <p:sp>
        <p:nvSpPr>
          <p:cNvPr id="37" name="Answer 4"/>
          <p:cNvSpPr/>
          <p:nvPr/>
        </p:nvSpPr>
        <p:spPr>
          <a:xfrm>
            <a:off x="4921301" y="5334610"/>
            <a:ext cx="1662379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is.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29" name="Picture 29" descr="get up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up</a:t>
            </a:r>
            <a:endParaRPr lang="en-US" sz="2000" dirty="0"/>
          </a:p>
        </p:txBody>
      </p:sp>
      <p:pic>
        <p:nvPicPr>
          <p:cNvPr id="31" name="Picture 31" descr="take a shower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a shower</a:t>
            </a:r>
            <a:endParaRPr lang="en-US" sz="2000" dirty="0"/>
          </a:p>
        </p:txBody>
      </p:sp>
      <p:pic>
        <p:nvPicPr>
          <p:cNvPr id="33" name="Picture 33" descr="get dressed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dressed</a:t>
            </a:r>
            <a:endParaRPr lang="en-US" sz="2000" dirty="0"/>
          </a:p>
        </p:txBody>
      </p:sp>
      <p:pic>
        <p:nvPicPr>
          <p:cNvPr id="35" name="Picture 35" descr="have breakfast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breakfast</a:t>
            </a:r>
            <a:endParaRPr lang="en-US" sz="2000" dirty="0"/>
          </a:p>
        </p:txBody>
      </p:sp>
      <p:pic>
        <p:nvPicPr>
          <p:cNvPr id="37" name="Picture 37" descr="take the bus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952837" y="4315968"/>
            <a:ext cx="2076994" cy="145389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7626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the bus</a:t>
            </a:r>
            <a:endParaRPr lang="en-US" sz="2000" dirty="0"/>
          </a:p>
        </p:txBody>
      </p:sp>
      <p:pic>
        <p:nvPicPr>
          <p:cNvPr id="39" name="Picture 39" descr="drive"/>
          <p:cNvPicPr>
            <a:picLocks noChangeAspect="1"/>
          </p:cNvPicPr>
          <p:nvPr/>
        </p:nvPicPr>
        <p:blipFill>
          <a:blip r:embed="rIdK6"/>
          <a:stretch>
            <a:fillRect/>
          </a:stretch>
        </p:blipFill>
        <p:spPr>
          <a:xfrm>
            <a:off x="3638887" y="4315968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34486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</a:t>
            </a:r>
            <a:endParaRPr lang="en-US" sz="2000" dirty="0"/>
          </a:p>
        </p:txBody>
      </p:sp>
      <p:pic>
        <p:nvPicPr>
          <p:cNvPr id="41" name="Picture 41" descr="start work"/>
          <p:cNvPicPr>
            <a:picLocks noChangeAspect="1"/>
          </p:cNvPicPr>
          <p:nvPr/>
        </p:nvPicPr>
        <p:blipFill>
          <a:blip r:embed="rIdK7"/>
          <a:stretch>
            <a:fillRect/>
          </a:stretch>
        </p:blipFill>
        <p:spPr>
          <a:xfrm>
            <a:off x="6324937" y="4315968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61347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work</a:t>
            </a:r>
            <a:endParaRPr lang="en-US" sz="2000" dirty="0"/>
          </a:p>
        </p:txBody>
      </p:sp>
      <p:pic>
        <p:nvPicPr>
          <p:cNvPr id="43" name="Picture 43" descr="take a break"/>
          <p:cNvPicPr>
            <a:picLocks noChangeAspect="1"/>
          </p:cNvPicPr>
          <p:nvPr/>
        </p:nvPicPr>
        <p:blipFill>
          <a:blip r:embed="rIdK8"/>
          <a:stretch>
            <a:fillRect/>
          </a:stretch>
        </p:blipFill>
        <p:spPr>
          <a:xfrm>
            <a:off x="9010987" y="4315968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88207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a break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the day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order.</a:t>
            </a:r>
            <a:endParaRPr lang="en-US" sz="2200" dirty="0"/>
          </a:p>
        </p:txBody>
      </p:sp>
      <p:pic>
        <p:nvPicPr>
          <p:cNvPr id="29" name="Picture 29" descr="pick up the kids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pick up the kids</a:t>
            </a:r>
            <a:endParaRPr lang="en-US" sz="2000" dirty="0"/>
          </a:p>
        </p:txBody>
      </p:sp>
      <p:pic>
        <p:nvPicPr>
          <p:cNvPr id="31" name="Picture 31" descr="cook dinner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 dinner</a:t>
            </a:r>
            <a:endParaRPr lang="en-US" sz="2000" dirty="0"/>
          </a:p>
        </p:txBody>
      </p:sp>
      <p:pic>
        <p:nvPicPr>
          <p:cNvPr id="33" name="Picture 33" descr="do the dishes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the dishes</a:t>
            </a:r>
            <a:endParaRPr lang="en-US" sz="2000" dirty="0"/>
          </a:p>
        </p:txBody>
      </p:sp>
      <p:pic>
        <p:nvPicPr>
          <p:cNvPr id="35" name="Picture 35" descr="go to bed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to bed</a:t>
            </a:r>
            <a:endParaRPr lang="en-US" sz="2000" dirty="0"/>
          </a:p>
        </p:txBody>
      </p:sp>
      <p:pic>
        <p:nvPicPr>
          <p:cNvPr id="37" name="Picture 37" descr="every day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952837" y="4315968"/>
            <a:ext cx="2076994" cy="145389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7626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</a:t>
            </a:r>
            <a:endParaRPr lang="en-US" sz="2000" dirty="0"/>
          </a:p>
        </p:txBody>
      </p:sp>
      <p:pic>
        <p:nvPicPr>
          <p:cNvPr id="39" name="Picture 39" descr="on weekends"/>
          <p:cNvPicPr>
            <a:picLocks noChangeAspect="1"/>
          </p:cNvPicPr>
          <p:nvPr/>
        </p:nvPicPr>
        <p:blipFill>
          <a:blip r:embed="rIdK6"/>
          <a:stretch>
            <a:fillRect/>
          </a:stretch>
        </p:blipFill>
        <p:spPr>
          <a:xfrm>
            <a:off x="3638887" y="4315968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34486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weekends</a:t>
            </a:r>
            <a:endParaRPr lang="en-US" sz="2000" dirty="0"/>
          </a:p>
        </p:txBody>
      </p:sp>
      <p:pic>
        <p:nvPicPr>
          <p:cNvPr id="41" name="Picture 41" descr="in the morning"/>
          <p:cNvPicPr>
            <a:picLocks noChangeAspect="1"/>
          </p:cNvPicPr>
          <p:nvPr/>
        </p:nvPicPr>
        <p:blipFill>
          <a:blip r:embed="rIdK7"/>
          <a:stretch>
            <a:fillRect/>
          </a:stretch>
        </p:blipFill>
        <p:spPr>
          <a:xfrm>
            <a:off x="6324937" y="4315968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61347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morning</a:t>
            </a:r>
            <a:endParaRPr lang="en-US" sz="2000" dirty="0"/>
          </a:p>
        </p:txBody>
      </p:sp>
      <p:pic>
        <p:nvPicPr>
          <p:cNvPr id="43" name="Picture 43" descr="at night"/>
          <p:cNvPicPr>
            <a:picLocks noChangeAspect="1"/>
          </p:cNvPicPr>
          <p:nvPr/>
        </p:nvPicPr>
        <p:blipFill>
          <a:blip r:embed="rIdK8"/>
          <a:stretch>
            <a:fillRect/>
          </a:stretch>
        </p:blipFill>
        <p:spPr>
          <a:xfrm>
            <a:off x="9010987" y="4315968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88207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night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9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time.</a:t>
            </a:r>
            <a:endParaRPr lang="en-US" sz="2000" dirty="0"/>
          </a:p>
        </p:txBody>
      </p:sp>
      <p:pic>
        <p:nvPicPr>
          <p:cNvPr id="40" name="Picture 40" descr="L2_start_work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41" name="Row shadow"/>
          <p:cNvSpPr/>
          <p:nvPr/>
        </p:nvSpPr>
        <p:spPr>
          <a:xfrm>
            <a:off x="6107278" y="1382573"/>
            <a:ext cx="5577840" cy="109728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2" name="Row"/>
          <p:cNvSpPr/>
          <p:nvPr/>
        </p:nvSpPr>
        <p:spPr>
          <a:xfrm>
            <a:off x="6035040" y="1325880"/>
            <a:ext cx="5577840" cy="109728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Row num"/>
          <p:cNvSpPr/>
          <p:nvPr/>
        </p:nvSpPr>
        <p:spPr>
          <a:xfrm>
            <a:off x="6172200" y="153527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44" name="Row question"/>
          <p:cNvSpPr/>
          <p:nvPr/>
        </p:nvSpPr>
        <p:spPr>
          <a:xfrm>
            <a:off x="6995160" y="1399032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gets up at ...</a:t>
            </a:r>
            <a:endParaRPr lang="en-US" sz="2000" dirty="0"/>
          </a:p>
        </p:txBody>
      </p:sp>
      <p:sp>
        <p:nvSpPr>
          <p:cNvPr id="45" name="Option"/>
          <p:cNvSpPr/>
          <p:nvPr/>
        </p:nvSpPr>
        <p:spPr>
          <a:xfrm>
            <a:off x="6995160" y="185623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5:30</a:t>
            </a:r>
            <a:endParaRPr lang="en-US" sz="2000" dirty="0"/>
          </a:p>
        </p:txBody>
      </p:sp>
      <p:sp>
        <p:nvSpPr>
          <p:cNvPr id="46" name="Circle 1"/>
          <p:cNvSpPr/>
          <p:nvPr/>
        </p:nvSpPr>
        <p:spPr>
          <a:xfrm>
            <a:off x="6885432" y="1792224"/>
            <a:ext cx="136245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Option"/>
          <p:cNvSpPr/>
          <p:nvPr/>
        </p:nvSpPr>
        <p:spPr>
          <a:xfrm>
            <a:off x="8275320" y="185623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</a:t>
            </a:r>
            <a:endParaRPr lang="en-US" sz="2000" dirty="0"/>
          </a:p>
        </p:txBody>
      </p:sp>
      <p:sp>
        <p:nvSpPr>
          <p:cNvPr id="48" name="Option"/>
          <p:cNvSpPr/>
          <p:nvPr/>
        </p:nvSpPr>
        <p:spPr>
          <a:xfrm>
            <a:off x="9555480" y="185623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</a:t>
            </a:r>
            <a:endParaRPr lang="en-US" sz="2000" dirty="0"/>
          </a:p>
        </p:txBody>
      </p:sp>
      <p:sp>
        <p:nvSpPr>
          <p:cNvPr id="49" name="Row shadow"/>
          <p:cNvSpPr/>
          <p:nvPr/>
        </p:nvSpPr>
        <p:spPr>
          <a:xfrm>
            <a:off x="6107278" y="2644445"/>
            <a:ext cx="5577840" cy="109728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Row"/>
          <p:cNvSpPr/>
          <p:nvPr/>
        </p:nvSpPr>
        <p:spPr>
          <a:xfrm>
            <a:off x="6035040" y="2587752"/>
            <a:ext cx="5577840" cy="109728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Row num"/>
          <p:cNvSpPr/>
          <p:nvPr/>
        </p:nvSpPr>
        <p:spPr>
          <a:xfrm>
            <a:off x="6172200" y="2797150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52" name="Row question"/>
          <p:cNvSpPr/>
          <p:nvPr/>
        </p:nvSpPr>
        <p:spPr>
          <a:xfrm>
            <a:off x="6995160" y="2660904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starts work at ...</a:t>
            </a:r>
            <a:endParaRPr lang="en-US" sz="2000" dirty="0"/>
          </a:p>
        </p:txBody>
      </p:sp>
      <p:sp>
        <p:nvSpPr>
          <p:cNvPr id="53" name="Option"/>
          <p:cNvSpPr/>
          <p:nvPr/>
        </p:nvSpPr>
        <p:spPr>
          <a:xfrm>
            <a:off x="6995160" y="3118104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</a:t>
            </a:r>
            <a:endParaRPr lang="en-US" sz="2000" dirty="0"/>
          </a:p>
        </p:txBody>
      </p:sp>
      <p:sp>
        <p:nvSpPr>
          <p:cNvPr id="54" name="Option"/>
          <p:cNvSpPr/>
          <p:nvPr/>
        </p:nvSpPr>
        <p:spPr>
          <a:xfrm>
            <a:off x="8275320" y="3118104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</a:t>
            </a:r>
            <a:endParaRPr lang="en-US" sz="2000" dirty="0"/>
          </a:p>
        </p:txBody>
      </p:sp>
      <p:sp>
        <p:nvSpPr>
          <p:cNvPr id="55" name="Circle 2"/>
          <p:cNvSpPr/>
          <p:nvPr/>
        </p:nvSpPr>
        <p:spPr>
          <a:xfrm>
            <a:off x="8165592" y="3054096"/>
            <a:ext cx="136245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Option"/>
          <p:cNvSpPr/>
          <p:nvPr/>
        </p:nvSpPr>
        <p:spPr>
          <a:xfrm>
            <a:off x="9555480" y="3118104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8:00</a:t>
            </a:r>
            <a:endParaRPr lang="en-US" sz="2000" dirty="0"/>
          </a:p>
        </p:txBody>
      </p:sp>
      <p:sp>
        <p:nvSpPr>
          <p:cNvPr id="57" name="Row shadow"/>
          <p:cNvSpPr/>
          <p:nvPr/>
        </p:nvSpPr>
        <p:spPr>
          <a:xfrm>
            <a:off x="6107278" y="3906317"/>
            <a:ext cx="5577840" cy="109728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Row"/>
          <p:cNvSpPr/>
          <p:nvPr/>
        </p:nvSpPr>
        <p:spPr>
          <a:xfrm>
            <a:off x="6035040" y="3849624"/>
            <a:ext cx="5577840" cy="109728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9" name="Row num"/>
          <p:cNvSpPr/>
          <p:nvPr/>
        </p:nvSpPr>
        <p:spPr>
          <a:xfrm>
            <a:off x="6172200" y="4059022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60" name="Row question"/>
          <p:cNvSpPr/>
          <p:nvPr/>
        </p:nvSpPr>
        <p:spPr>
          <a:xfrm>
            <a:off x="6995160" y="3922776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picks up the kids at ...</a:t>
            </a:r>
            <a:endParaRPr lang="en-US" sz="2000" dirty="0"/>
          </a:p>
        </p:txBody>
      </p:sp>
      <p:sp>
        <p:nvSpPr>
          <p:cNvPr id="61" name="Option"/>
          <p:cNvSpPr/>
          <p:nvPr/>
        </p:nvSpPr>
        <p:spPr>
          <a:xfrm>
            <a:off x="6995160" y="4379976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2000" dirty="0"/>
          </a:p>
        </p:txBody>
      </p:sp>
      <p:sp>
        <p:nvSpPr>
          <p:cNvPr id="62" name="Option"/>
          <p:cNvSpPr/>
          <p:nvPr/>
        </p:nvSpPr>
        <p:spPr>
          <a:xfrm>
            <a:off x="8275320" y="4379976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3:30</a:t>
            </a:r>
            <a:endParaRPr lang="en-US" sz="2000" dirty="0"/>
          </a:p>
        </p:txBody>
      </p:sp>
      <p:sp>
        <p:nvSpPr>
          <p:cNvPr id="63" name="Circle 3"/>
          <p:cNvSpPr/>
          <p:nvPr/>
        </p:nvSpPr>
        <p:spPr>
          <a:xfrm>
            <a:off x="8165592" y="4315968"/>
            <a:ext cx="136245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4" name="Option"/>
          <p:cNvSpPr/>
          <p:nvPr/>
        </p:nvSpPr>
        <p:spPr>
          <a:xfrm>
            <a:off x="9555480" y="4379976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4:30</a:t>
            </a:r>
            <a:endParaRPr lang="en-US" sz="2000" dirty="0"/>
          </a:p>
        </p:txBody>
      </p:sp>
      <p:sp>
        <p:nvSpPr>
          <p:cNvPr id="65" name="Row shadow"/>
          <p:cNvSpPr/>
          <p:nvPr/>
        </p:nvSpPr>
        <p:spPr>
          <a:xfrm>
            <a:off x="6107278" y="5168189"/>
            <a:ext cx="5577840" cy="109728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6" name="Row"/>
          <p:cNvSpPr/>
          <p:nvPr/>
        </p:nvSpPr>
        <p:spPr>
          <a:xfrm>
            <a:off x="6035040" y="5111496"/>
            <a:ext cx="5577840" cy="109728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7" name="Row num"/>
          <p:cNvSpPr/>
          <p:nvPr/>
        </p:nvSpPr>
        <p:spPr>
          <a:xfrm>
            <a:off x="6172200" y="5320894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68" name="Row question"/>
          <p:cNvSpPr/>
          <p:nvPr/>
        </p:nvSpPr>
        <p:spPr>
          <a:xfrm>
            <a:off x="6995160" y="5184648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Sundays he sleeps until ...</a:t>
            </a:r>
            <a:endParaRPr lang="en-US" sz="2000" dirty="0"/>
          </a:p>
        </p:txBody>
      </p:sp>
      <p:sp>
        <p:nvSpPr>
          <p:cNvPr id="69" name="Option"/>
          <p:cNvSpPr/>
          <p:nvPr/>
        </p:nvSpPr>
        <p:spPr>
          <a:xfrm>
            <a:off x="6995160" y="5641848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8:00</a:t>
            </a:r>
            <a:endParaRPr lang="en-US" sz="2000" dirty="0"/>
          </a:p>
        </p:txBody>
      </p:sp>
      <p:sp>
        <p:nvSpPr>
          <p:cNvPr id="70" name="Option"/>
          <p:cNvSpPr/>
          <p:nvPr/>
        </p:nvSpPr>
        <p:spPr>
          <a:xfrm>
            <a:off x="8275320" y="5641848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  <a:endParaRPr lang="en-US" sz="2000" dirty="0"/>
          </a:p>
        </p:txBody>
      </p:sp>
      <p:sp>
        <p:nvSpPr>
          <p:cNvPr id="71" name="Circle 4"/>
          <p:cNvSpPr/>
          <p:nvPr/>
        </p:nvSpPr>
        <p:spPr>
          <a:xfrm>
            <a:off x="8165592" y="5577840"/>
            <a:ext cx="136245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Option"/>
          <p:cNvSpPr/>
          <p:nvPr/>
        </p:nvSpPr>
        <p:spPr>
          <a:xfrm>
            <a:off x="9555480" y="5641848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10:00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does it?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9" name="Statement 1"/>
          <p:cNvSpPr/>
          <p:nvPr/>
        </p:nvSpPr>
        <p:spPr>
          <a:xfrm>
            <a:off x="502920" y="3127248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 at the hospital</a:t>
            </a:r>
            <a:endParaRPr lang="en-US" sz="2200" dirty="0"/>
          </a:p>
        </p:txBody>
      </p:sp>
      <p:sp>
        <p:nvSpPr>
          <p:cNvPr id="50" name="Option 11"/>
          <p:cNvSpPr/>
          <p:nvPr/>
        </p:nvSpPr>
        <p:spPr>
          <a:xfrm>
            <a:off x="658368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51" name="Option 12"/>
          <p:cNvSpPr/>
          <p:nvPr/>
        </p:nvSpPr>
        <p:spPr>
          <a:xfrm>
            <a:off x="8183880" y="3127248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</a:t>
            </a:r>
            <a:endParaRPr lang="en-US" sz="2000" dirty="0"/>
          </a:p>
        </p:txBody>
      </p:sp>
      <p:sp>
        <p:nvSpPr>
          <p:cNvPr id="52" name="Circle 1"/>
          <p:cNvSpPr/>
          <p:nvPr/>
        </p:nvSpPr>
        <p:spPr>
          <a:xfrm>
            <a:off x="6455664" y="3063240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Statement 2"/>
          <p:cNvSpPr/>
          <p:nvPr/>
        </p:nvSpPr>
        <p:spPr>
          <a:xfrm>
            <a:off x="502920" y="3785616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drives</a:t>
            </a:r>
            <a:endParaRPr lang="en-US" sz="2200" dirty="0"/>
          </a:p>
        </p:txBody>
      </p:sp>
      <p:sp>
        <p:nvSpPr>
          <p:cNvPr id="54" name="Option 21"/>
          <p:cNvSpPr/>
          <p:nvPr/>
        </p:nvSpPr>
        <p:spPr>
          <a:xfrm>
            <a:off x="658368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55" name="Option 22"/>
          <p:cNvSpPr/>
          <p:nvPr/>
        </p:nvSpPr>
        <p:spPr>
          <a:xfrm>
            <a:off x="8183880" y="378561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</a:t>
            </a:r>
            <a:endParaRPr lang="en-US" sz="2000" dirty="0"/>
          </a:p>
        </p:txBody>
      </p:sp>
      <p:sp>
        <p:nvSpPr>
          <p:cNvPr id="56" name="Circle 2"/>
          <p:cNvSpPr/>
          <p:nvPr/>
        </p:nvSpPr>
        <p:spPr>
          <a:xfrm>
            <a:off x="8055864" y="3721608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7" name="Statement 3"/>
          <p:cNvSpPr/>
          <p:nvPr/>
        </p:nvSpPr>
        <p:spPr>
          <a:xfrm>
            <a:off x="502920" y="4443984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 at night</a:t>
            </a:r>
            <a:endParaRPr lang="en-US" sz="2200" dirty="0"/>
          </a:p>
        </p:txBody>
      </p:sp>
      <p:sp>
        <p:nvSpPr>
          <p:cNvPr id="58" name="Option 31"/>
          <p:cNvSpPr/>
          <p:nvPr/>
        </p:nvSpPr>
        <p:spPr>
          <a:xfrm>
            <a:off x="658368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59" name="Option 32"/>
          <p:cNvSpPr/>
          <p:nvPr/>
        </p:nvSpPr>
        <p:spPr>
          <a:xfrm>
            <a:off x="8183880" y="444398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</a:t>
            </a:r>
            <a:endParaRPr lang="en-US" sz="2000" dirty="0"/>
          </a:p>
        </p:txBody>
      </p:sp>
      <p:sp>
        <p:nvSpPr>
          <p:cNvPr id="60" name="Circle 3"/>
          <p:cNvSpPr/>
          <p:nvPr/>
        </p:nvSpPr>
        <p:spPr>
          <a:xfrm>
            <a:off x="8055864" y="437997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1" name="Statement 4"/>
          <p:cNvSpPr/>
          <p:nvPr/>
        </p:nvSpPr>
        <p:spPr>
          <a:xfrm>
            <a:off x="502920" y="510235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picks up the kids</a:t>
            </a:r>
            <a:endParaRPr lang="en-US" sz="2200" dirty="0"/>
          </a:p>
        </p:txBody>
      </p:sp>
      <p:sp>
        <p:nvSpPr>
          <p:cNvPr id="62" name="Option 41"/>
          <p:cNvSpPr/>
          <p:nvPr/>
        </p:nvSpPr>
        <p:spPr>
          <a:xfrm>
            <a:off x="658368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63" name="Option 42"/>
          <p:cNvSpPr/>
          <p:nvPr/>
        </p:nvSpPr>
        <p:spPr>
          <a:xfrm>
            <a:off x="8183880" y="510235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</a:t>
            </a:r>
            <a:endParaRPr lang="en-US" sz="2000" dirty="0"/>
          </a:p>
        </p:txBody>
      </p:sp>
      <p:sp>
        <p:nvSpPr>
          <p:cNvPr id="64" name="Circle 4"/>
          <p:cNvSpPr/>
          <p:nvPr/>
        </p:nvSpPr>
        <p:spPr>
          <a:xfrm>
            <a:off x="6455664" y="503834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5" name="Statement 5"/>
          <p:cNvSpPr/>
          <p:nvPr/>
        </p:nvSpPr>
        <p:spPr>
          <a:xfrm>
            <a:off x="502920" y="576072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cooks dinner</a:t>
            </a:r>
            <a:endParaRPr lang="en-US" sz="2200" dirty="0"/>
          </a:p>
        </p:txBody>
      </p:sp>
      <p:sp>
        <p:nvSpPr>
          <p:cNvPr id="66" name="Option 51"/>
          <p:cNvSpPr/>
          <p:nvPr/>
        </p:nvSpPr>
        <p:spPr>
          <a:xfrm>
            <a:off x="658368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67" name="Option 52"/>
          <p:cNvSpPr/>
          <p:nvPr/>
        </p:nvSpPr>
        <p:spPr>
          <a:xfrm>
            <a:off x="8183880" y="576072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</a:t>
            </a:r>
            <a:endParaRPr lang="en-US" sz="2000" dirty="0"/>
          </a:p>
        </p:txBody>
      </p:sp>
      <p:sp>
        <p:nvSpPr>
          <p:cNvPr id="68" name="Circle 5"/>
          <p:cNvSpPr/>
          <p:nvPr/>
        </p:nvSpPr>
        <p:spPr>
          <a:xfrm>
            <a:off x="6455664" y="569671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wife ____. She has the car.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255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at a restaurant.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pick them up at three thirty.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255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Sundays, I ____ get up early.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an -s?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wife = she.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358384" y="3278124"/>
            <a:ext cx="122529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drives</a:t>
            </a:r>
            <a:endParaRPr lang="en-US" sz="2200" dirty="0"/>
          </a:p>
        </p:txBody>
      </p:sp>
      <p:sp>
        <p:nvSpPr>
          <p:cNvPr id="39" name="Answer 2"/>
          <p:cNvSpPr/>
          <p:nvPr/>
        </p:nvSpPr>
        <p:spPr>
          <a:xfrm>
            <a:off x="5509260" y="4128516"/>
            <a:ext cx="107442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</a:t>
            </a:r>
            <a:endParaRPr lang="en-US" sz="2200" dirty="0"/>
          </a:p>
        </p:txBody>
      </p:sp>
      <p:sp>
        <p:nvSpPr>
          <p:cNvPr id="40" name="Answer 3"/>
          <p:cNvSpPr/>
          <p:nvPr/>
        </p:nvSpPr>
        <p:spPr>
          <a:xfrm>
            <a:off x="5358384" y="4978908"/>
            <a:ext cx="122529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always</a:t>
            </a:r>
            <a:endParaRPr lang="en-US" sz="2200" dirty="0"/>
          </a:p>
        </p:txBody>
      </p:sp>
      <p:sp>
        <p:nvSpPr>
          <p:cNvPr id="41" name="Answer 4"/>
          <p:cNvSpPr/>
          <p:nvPr/>
        </p:nvSpPr>
        <p:spPr>
          <a:xfrm>
            <a:off x="5509260" y="5829300"/>
            <a:ext cx="107442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/ No Questions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8" name="Picture 28" descr="L2_drive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29" name="Highlight"/>
          <p:cNvSpPr/>
          <p:nvPr/>
        </p:nvSpPr>
        <p:spPr>
          <a:xfrm>
            <a:off x="5138928" y="397764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Helper"/>
          <p:cNvSpPr/>
          <p:nvPr/>
        </p:nvSpPr>
        <p:spPr>
          <a:xfrm>
            <a:off x="5138928" y="379476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31" name="Question"/>
          <p:cNvSpPr/>
          <p:nvPr/>
        </p:nvSpPr>
        <p:spPr>
          <a:xfrm>
            <a:off x="6144768" y="3794760"/>
            <a:ext cx="2487168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work?</a:t>
            </a:r>
            <a:endParaRPr lang="en-US" sz="2200" dirty="0"/>
          </a:p>
        </p:txBody>
      </p:sp>
      <p:sp>
        <p:nvSpPr>
          <p:cNvPr id="33" name="Answer bg"/>
          <p:cNvSpPr/>
          <p:nvPr/>
        </p:nvSpPr>
        <p:spPr>
          <a:xfrm>
            <a:off x="8668512" y="379476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8668512" y="379476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4" name="Highlight"/>
          <p:cNvSpPr/>
          <p:nvPr/>
        </p:nvSpPr>
        <p:spPr>
          <a:xfrm>
            <a:off x="5138928" y="516636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"/>
          <p:cNvSpPr/>
          <p:nvPr/>
        </p:nvSpPr>
        <p:spPr>
          <a:xfrm>
            <a:off x="5138928" y="498348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36" name="Question"/>
          <p:cNvSpPr/>
          <p:nvPr/>
        </p:nvSpPr>
        <p:spPr>
          <a:xfrm>
            <a:off x="6144768" y="4983480"/>
            <a:ext cx="2487168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drive?</a:t>
            </a:r>
            <a:endParaRPr lang="en-US" sz="2200" dirty="0"/>
          </a:p>
        </p:txBody>
      </p:sp>
      <p:sp>
        <p:nvSpPr>
          <p:cNvPr id="38" name="Answer bg"/>
          <p:cNvSpPr/>
          <p:nvPr/>
        </p:nvSpPr>
        <p:spPr>
          <a:xfrm>
            <a:off x="8668512" y="498348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Answer"/>
          <p:cNvSpPr/>
          <p:nvPr/>
        </p:nvSpPr>
        <p:spPr>
          <a:xfrm>
            <a:off x="8668512" y="498348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Positive and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Negative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1" name="Picture 31" descr="L2_take_a_break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32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POSITIVE</a:t>
            </a:r>
            <a:endParaRPr lang="en-US" sz="2000" dirty="0"/>
          </a:p>
        </p:txBody>
      </p:sp>
      <p:sp>
        <p:nvSpPr>
          <p:cNvPr id="33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NEGATIVE</a:t>
            </a:r>
            <a:endParaRPr lang="en-US" sz="2000" dirty="0"/>
          </a:p>
        </p:txBody>
      </p:sp>
      <p:sp>
        <p:nvSpPr>
          <p:cNvPr id="34" name="Highlight"/>
          <p:cNvSpPr/>
          <p:nvPr/>
        </p:nvSpPr>
        <p:spPr>
          <a:xfrm>
            <a:off x="1481328" y="4453128"/>
            <a:ext cx="129936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7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8" name="Highlight"/>
          <p:cNvSpPr/>
          <p:nvPr/>
        </p:nvSpPr>
        <p:spPr>
          <a:xfrm>
            <a:off x="1481328" y="5367528"/>
            <a:ext cx="171907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9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1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/ does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47" name="Picture 47" descr="L2_every_day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48" name="Wh"/>
          <p:cNvSpPr/>
          <p:nvPr/>
        </p:nvSpPr>
        <p:spPr>
          <a:xfrm>
            <a:off x="3520440" y="4114800"/>
            <a:ext cx="159640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5116845" y="4114800"/>
            <a:ext cx="60599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Helper"/>
          <p:cNvSpPr/>
          <p:nvPr/>
        </p:nvSpPr>
        <p:spPr>
          <a:xfrm>
            <a:off x="5116845" y="4114800"/>
            <a:ext cx="60599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51" name="Rest"/>
          <p:cNvSpPr/>
          <p:nvPr/>
        </p:nvSpPr>
        <p:spPr>
          <a:xfrm>
            <a:off x="5777700" y="4114800"/>
            <a:ext cx="172181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get up?</a:t>
            </a:r>
            <a:endParaRPr lang="en-US" sz="2200" dirty="0"/>
          </a:p>
        </p:txBody>
      </p:sp>
      <p:sp>
        <p:nvSpPr>
          <p:cNvPr id="52" name="Wh"/>
          <p:cNvSpPr/>
          <p:nvPr/>
        </p:nvSpPr>
        <p:spPr>
          <a:xfrm>
            <a:off x="3520440" y="4736592"/>
            <a:ext cx="159640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</a:t>
            </a:r>
            <a:endParaRPr lang="en-US" sz="2200" dirty="0"/>
          </a:p>
        </p:txBody>
      </p:sp>
      <p:sp>
        <p:nvSpPr>
          <p:cNvPr id="53" name="Highlight"/>
          <p:cNvSpPr/>
          <p:nvPr/>
        </p:nvSpPr>
        <p:spPr>
          <a:xfrm>
            <a:off x="5116845" y="4736592"/>
            <a:ext cx="91937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4" name="Helper"/>
          <p:cNvSpPr/>
          <p:nvPr/>
        </p:nvSpPr>
        <p:spPr>
          <a:xfrm>
            <a:off x="5116845" y="4736592"/>
            <a:ext cx="91937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200" dirty="0"/>
          </a:p>
        </p:txBody>
      </p:sp>
      <p:sp>
        <p:nvSpPr>
          <p:cNvPr id="55" name="Rest"/>
          <p:cNvSpPr/>
          <p:nvPr/>
        </p:nvSpPr>
        <p:spPr>
          <a:xfrm>
            <a:off x="6091084" y="4736592"/>
            <a:ext cx="172181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get up?</a:t>
            </a:r>
            <a:endParaRPr lang="en-US" sz="2200" dirty="0"/>
          </a:p>
        </p:txBody>
      </p:sp>
      <p:sp>
        <p:nvSpPr>
          <p:cNvPr id="56" name="Wh"/>
          <p:cNvSpPr/>
          <p:nvPr/>
        </p:nvSpPr>
        <p:spPr>
          <a:xfrm>
            <a:off x="3520440" y="5358384"/>
            <a:ext cx="159640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</a:t>
            </a:r>
            <a:endParaRPr lang="en-US" sz="2200" dirty="0"/>
          </a:p>
        </p:txBody>
      </p:sp>
      <p:sp>
        <p:nvSpPr>
          <p:cNvPr id="57" name="Highlight"/>
          <p:cNvSpPr/>
          <p:nvPr/>
        </p:nvSpPr>
        <p:spPr>
          <a:xfrm>
            <a:off x="5116845" y="5358384"/>
            <a:ext cx="60599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Helper"/>
          <p:cNvSpPr/>
          <p:nvPr/>
        </p:nvSpPr>
        <p:spPr>
          <a:xfrm>
            <a:off x="5116845" y="5358384"/>
            <a:ext cx="60599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59" name="Rest"/>
          <p:cNvSpPr/>
          <p:nvPr/>
        </p:nvSpPr>
        <p:spPr>
          <a:xfrm>
            <a:off x="5777700" y="5358384"/>
            <a:ext cx="144200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cook?</a:t>
            </a:r>
            <a:endParaRPr lang="en-US" sz="2200" dirty="0"/>
          </a:p>
        </p:txBody>
      </p:sp>
      <p:sp>
        <p:nvSpPr>
          <p:cNvPr id="60" name="Wh"/>
          <p:cNvSpPr/>
          <p:nvPr/>
        </p:nvSpPr>
        <p:spPr>
          <a:xfrm>
            <a:off x="3520440" y="5980176"/>
            <a:ext cx="159640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</a:t>
            </a:r>
            <a:endParaRPr lang="en-US" sz="2200" dirty="0"/>
          </a:p>
        </p:txBody>
      </p:sp>
      <p:sp>
        <p:nvSpPr>
          <p:cNvPr id="61" name="Highlight"/>
          <p:cNvSpPr/>
          <p:nvPr/>
        </p:nvSpPr>
        <p:spPr>
          <a:xfrm>
            <a:off x="5116845" y="5980176"/>
            <a:ext cx="91937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2" name="Helper"/>
          <p:cNvSpPr/>
          <p:nvPr/>
        </p:nvSpPr>
        <p:spPr>
          <a:xfrm>
            <a:off x="5116845" y="5980176"/>
            <a:ext cx="91937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200" dirty="0"/>
          </a:p>
        </p:txBody>
      </p:sp>
      <p:sp>
        <p:nvSpPr>
          <p:cNvPr id="63" name="Rest"/>
          <p:cNvSpPr/>
          <p:nvPr/>
        </p:nvSpPr>
        <p:spPr>
          <a:xfrm>
            <a:off x="6091084" y="5980176"/>
            <a:ext cx="144200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cook?</a:t>
            </a:r>
            <a:endParaRPr lang="en-US" sz="2200" dirty="0"/>
          </a:p>
        </p:txBody>
      </p:sp>
      <p:sp>
        <p:nvSpPr>
          <p:cNvPr id="64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often?</a:t>
            </a:r>
            <a:endParaRPr lang="en-US" sz="2400" dirty="0"/>
          </a:p>
        </p:txBody>
      </p:sp>
      <p:sp>
        <p:nvSpPr>
          <p:cNvPr id="65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always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(100%)</a:t>
            </a:r>
            <a:endParaRPr lang="en-US" sz="2000" dirty="0"/>
          </a:p>
        </p:txBody>
      </p:sp>
      <p:sp>
        <p:nvSpPr>
          <p:cNvPr id="66" name="Card item"/>
          <p:cNvSpPr/>
          <p:nvPr/>
        </p:nvSpPr>
        <p:spPr>
          <a:xfrm>
            <a:off x="8549640" y="240487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</a:t>
            </a:r>
            <a:endParaRPr lang="en-US" sz="2000" dirty="0"/>
          </a:p>
        </p:txBody>
      </p:sp>
      <p:sp>
        <p:nvSpPr>
          <p:cNvPr id="67" name="Card item"/>
          <p:cNvSpPr/>
          <p:nvPr/>
        </p:nvSpPr>
        <p:spPr>
          <a:xfrm>
            <a:off x="8549640" y="288950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often</a:t>
            </a:r>
            <a:endParaRPr lang="en-US" sz="2000" dirty="0"/>
          </a:p>
        </p:txBody>
      </p:sp>
      <p:sp>
        <p:nvSpPr>
          <p:cNvPr id="68" name="Card item"/>
          <p:cNvSpPr/>
          <p:nvPr/>
        </p:nvSpPr>
        <p:spPr>
          <a:xfrm>
            <a:off x="8549640" y="3374136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sometimes</a:t>
            </a:r>
            <a:endParaRPr lang="en-US" sz="2000" dirty="0"/>
          </a:p>
        </p:txBody>
      </p:sp>
      <p:sp>
        <p:nvSpPr>
          <p:cNvPr id="69" name="Card item"/>
          <p:cNvSpPr/>
          <p:nvPr/>
        </p:nvSpPr>
        <p:spPr>
          <a:xfrm>
            <a:off x="8549640" y="3858768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rarely</a:t>
            </a:r>
            <a:endParaRPr lang="en-US" sz="2000" dirty="0"/>
          </a:p>
        </p:txBody>
      </p:sp>
      <p:sp>
        <p:nvSpPr>
          <p:cNvPr id="70" name="Card item"/>
          <p:cNvSpPr/>
          <p:nvPr/>
        </p:nvSpPr>
        <p:spPr>
          <a:xfrm>
            <a:off x="8549640" y="434340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(0%)</a:t>
            </a:r>
            <a:endParaRPr lang="en-US" sz="2000" dirty="0"/>
          </a:p>
        </p:txBody>
      </p:sp>
      <p:sp>
        <p:nvSpPr>
          <p:cNvPr id="71" name="Example"/>
          <p:cNvSpPr/>
          <p:nvPr/>
        </p:nvSpPr>
        <p:spPr>
          <a:xfrm>
            <a:off x="8549640" y="502920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2_get_dressed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work at a store.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store.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doesn't works.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doesn't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7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works?</a:t>
            </a:r>
            <a:endParaRPr lang="en-US" sz="2200" dirty="0"/>
          </a:p>
        </p:txBody>
      </p:sp>
      <p:sp>
        <p:nvSpPr>
          <p:cNvPr id="38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2_do_the_dishes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 always to the park.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always 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the park.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8554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work at a restaurant.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8554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restaurant.</a:t>
            </a:r>
            <a:endParaRPr lang="en-US" sz="2200" dirty="0"/>
          </a:p>
        </p:txBody>
      </p:sp>
      <p:sp>
        <p:nvSpPr>
          <p:cNvPr id="37" name="Bad"/>
          <p:cNvSpPr/>
          <p:nvPr/>
        </p:nvSpPr>
        <p:spPr>
          <a:xfrm>
            <a:off x="914400" y="56875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have two kids.</a:t>
            </a:r>
            <a:endParaRPr lang="en-US" sz="2200" dirty="0"/>
          </a:p>
        </p:txBody>
      </p:sp>
      <p:sp>
        <p:nvSpPr>
          <p:cNvPr id="38" name="Good"/>
          <p:cNvSpPr/>
          <p:nvPr/>
        </p:nvSpPr>
        <p:spPr>
          <a:xfrm>
            <a:off x="4800600" y="56875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kids.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 Then answer.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takes the bus. One day or every day?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____. (not drive)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take usually or I usually take?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8" name="Answer"/>
          <p:cNvSpPr/>
          <p:nvPr/>
        </p:nvSpPr>
        <p:spPr>
          <a:xfrm>
            <a:off x="960120" y="4709160"/>
            <a:ext cx="1847088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</a:t>
            </a:r>
            <a:endParaRPr lang="en-US" sz="2400" dirty="0"/>
          </a:p>
        </p:txBody>
      </p:sp>
      <p:sp>
        <p:nvSpPr>
          <p:cNvPr id="29" name="Answer"/>
          <p:cNvSpPr/>
          <p:nvPr/>
        </p:nvSpPr>
        <p:spPr>
          <a:xfrm>
            <a:off x="4617720" y="4709160"/>
            <a:ext cx="2505456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drive</a:t>
            </a:r>
            <a:endParaRPr lang="en-US" sz="2400" dirty="0"/>
          </a:p>
        </p:txBody>
      </p:sp>
      <p:sp>
        <p:nvSpPr>
          <p:cNvPr id="30" name="Answer"/>
          <p:cNvSpPr/>
          <p:nvPr/>
        </p:nvSpPr>
        <p:spPr>
          <a:xfrm>
            <a:off x="82753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usually take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one -s rule</a:t>
            </a:r>
            <a:endParaRPr lang="en-US" sz="2000" dirty="0"/>
          </a:p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-s Only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works. Negative?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works. Question?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 work?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6000" dirty="0"/>
          </a:p>
        </p:txBody>
      </p:sp>
      <p:pic>
        <p:nvPicPr>
          <p:cNvPr id="22" name="Picture 22" descr="L2_take_the_bus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Frequency Line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Report: We both take the bus.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5" name="Picture 25" descr="L2_cook_dinner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26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Frequency Line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 do you cook?</a:t>
            </a:r>
            <a:endParaRPr lang="en-US" sz="2000" dirty="0"/>
          </a:p>
        </p:txBody>
      </p:sp>
      <p:sp>
        <p:nvSpPr>
          <p:cNvPr id="28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at a sign.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a neighbor.</a:t>
            </a:r>
            <a:endParaRPr lang="en-US" sz="2000" dirty="0"/>
          </a:p>
        </p:txBody>
      </p:sp>
      <p:sp>
        <p:nvSpPr>
          <p:cNvPr id="30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Our Week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2 same, 2 different.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3" name="Picture 23" descr="L2_go_to_bed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24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25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26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a family member.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8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9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6 sentences about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someone's routine.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3 frequency words.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audio again.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 Marco's lines.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Nice to Meet You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