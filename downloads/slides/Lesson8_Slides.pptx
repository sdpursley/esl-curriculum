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59" r:id="rId5"/>
    <p:sldId id="264" r:id="rId10"/>
    <p:sldId id="260" r:id="rId6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slide" Target="slides/slide11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0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 after the midterm. Read the goals together; learners repeat.</a:t>
            </a:r>
          </a:p>
          <a:p>
            <a:r>
              <a:rPr lang="en-US" dirty="0"/>
              <a:t>Objectives: name 10 or more places in town; ask Where's the best…? Is there a… near here?; use superlatives: the cheapest, the biggest, the most expensive, the best; recommend places in their neighborhood.</a:t>
            </a:r>
          </a:p>
          <a:p>
            <a:r>
              <a:rPr lang="en-US" dirty="0"/>
              <a:t>Source: Level2_Curriculum_v5_public.md, Lesson 8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Pairs (same partner for both parts).</a:t>
            </a:r>
          </a:p>
          <a:p>
            <a:r>
              <a:rPr lang="en-US" dirty="0"/>
              <a:t>Minutes 0–5 (review Week 8): partners ask How was the midterm? Was it easy or difficult? How do you get to class? (Lesson 7 review). Each click shows one question.</a:t>
            </a:r>
          </a:p>
          <a:p>
            <a:r>
              <a:rPr lang="en-US" dirty="0"/>
              <a:t>Source: Level2_Curriculum_v5_public.md, Lesson 8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superlatives + Is there…? Say: "Two things: cheaper than. Three or more: the cheapest. Short words add -est; long words use the most."</a:t>
            </a:r>
          </a:p>
          <a:p>
            <a:r>
              <a:rPr lang="en-US" dirty="0"/>
              <a:t>Board: cheap → cheaper → the cheapest; expensive → more expensive → the most expensive; good → better → the best.</a:t>
            </a:r>
          </a:p>
          <a:p>
            <a:r>
              <a:rPr lang="en-US" dirty="0"/>
              <a:t>Grammar Box 1: click 1 and click 2 highlight one pair each. More: Where's the best / the cheapest / the closest supermarket / pharmacy / restaurant? It's on Main Street. It's next to the bank.</a:t>
            </a:r>
          </a:p>
          <a:p>
            <a:r>
              <a:rPr lang="en-US" dirty="0"/>
              <a:t>Source: Level2_Curriculum_v5_public.md, Lesson 8 (Step 4;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3: Is there…? Are there…? Each click highlights Is / Are and its answers.</a:t>
            </a:r>
          </a:p>
          <a:p>
            <a:r>
              <a:rPr lang="en-US" dirty="0"/>
              <a:t>Q: How do I ask if a place is near? Is there a bank near here? (one) • Are there any parks near here? (two or more)</a:t>
            </a:r>
          </a:p>
          <a:p>
            <a:r>
              <a:rPr lang="en-US" dirty="0"/>
              <a:t>Source: Level2_Curriculum_v5_public.md, Lesson 8 (Grammar Box 3;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Write the correct form on the board. Learners can read the note on their Grammar page; you don't need to explain it.</a:t>
            </a:r>
          </a:p>
          <a:p>
            <a:r>
              <a:rPr lang="en-US" dirty="0"/>
              <a:t>Source: Level2_Curriculum_v5_public.md, Lesson 8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the biggest · the cheapest · Is there a bank near here?</a:t>
            </a:r>
          </a:p>
          <a:p>
            <a:r>
              <a:rPr lang="en-US" dirty="0"/>
              <a:t>Short "Class Records" (last 5 min): pairs ask 2 questions and find a "record": Who has the longest trip? Who has the biggest family? If behind: skip it.</a:t>
            </a:r>
          </a:p>
          <a:p>
            <a:r>
              <a:rPr lang="en-US" dirty="0"/>
              <a:t>Source: Level2_Curriculum_v5_public.md, Lesson 8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What's the … in town? Each click highlights the superlative.</a:t>
            </a:r>
          </a:p>
          <a:p>
            <a:r>
              <a:rPr lang="en-US" dirty="0"/>
              <a:t>Q: Do I always say the? Yes. It's the best. (not It's best restaurant.)</a:t>
            </a:r>
          </a:p>
          <a:p>
            <a:r>
              <a:rPr lang="en-US" dirty="0"/>
              <a:t>Q: Short or long word? Short: the cheapest. Long: the most expensive. Never both: not the most cheapest.</a:t>
            </a:r>
          </a:p>
          <a:p>
            <a:r>
              <a:rPr lang="en-US" dirty="0"/>
              <a:t>Source: Level2_Curriculum_v5_public.md, Lesson 8 (Grammar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 twice. Each click shows one word.</a:t>
            </a:r>
          </a:p>
          <a:p>
            <a:r>
              <a:rPr lang="en-US" dirty="0"/>
              <a:t>Star words here: park, library, supermarket, clinic, pharmacy.</a:t>
            </a:r>
          </a:p>
          <a:p>
            <a:r>
              <a:rPr lang="en-US" dirty="0"/>
              <a:t>What can you do there? Say an action (buy medicine, send a letter, wash clothes). Pairs point to the place.</a:t>
            </a:r>
          </a:p>
          <a:p>
            <a:r>
              <a:rPr lang="en-US" dirty="0"/>
              <a:t>If behind: teach the star words only.</a:t>
            </a:r>
          </a:p>
          <a:p>
            <a:r>
              <a:rPr lang="en-US" dirty="0"/>
              <a:t>Source: Level2_Curriculum_v5_public.md, Lesson 8 (Step 2; Student Page 8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more than two? Click 1 and click 2 show one row each.</a:t>
            </a:r>
          </a:p>
          <a:p>
            <a:r>
              <a:rPr lang="en-US" dirty="0"/>
              <a:t>More from the table: big → bigger than → the biggest; easy → easier than → the easiest; good → better than → the best; bad → worse than → the worst; far → farther than → the farthest.</a:t>
            </a:r>
          </a:p>
          <a:p>
            <a:r>
              <a:rPr lang="en-US" dirty="0"/>
              <a:t>Pronunciation (If time ①): th /ð/ in the, there, this, that: tongue between the teeth. Is there a → "Iz-there-a."</a:t>
            </a:r>
          </a:p>
          <a:p>
            <a:r>
              <a:rPr lang="en-US" dirty="0"/>
              <a:t>Source: Level2_Curriculum_v5_public.md, Lesson 8 (Two or more than two?; If time).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share one goal from their midterm can-do self-check. Return the midterm score sheets.</a:t>
            </a:r>
          </a:p>
          <a:p>
            <a:r>
              <a:rPr lang="en-US" dirty="0"/>
              <a:t>Each click shows one answer. The lines review Lesson 7 (comparatives, How long does it take?).</a:t>
            </a:r>
          </a:p>
          <a:p>
            <a:r>
              <a:rPr lang="en-US" dirty="0"/>
              <a:t>Teacher: praise one strength from the speaking interviews for the whole class. If behind: return score sheets at the break instead.</a:t>
            </a:r>
          </a:p>
          <a:p>
            <a:r>
              <a:rPr lang="en-US" dirty="0"/>
              <a:t>Source: Level2_Curriculum_v5_public.md, Lesson 8 (Step 1); Lesson 7 Grammar.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+ "Say it" (L8_listening.mp3, about 1:09). Audio: L8_listening.mp3 (about 1:09). The audio plays once, play again if needed. No speaker? Read the script with a volunteer learner.</a:t>
            </a:r>
          </a:p>
          <a:p>
            <a:r>
              <a:rPr lang="en-US" dirty="0"/>
              <a:t>Before you listen: "Kim is new in the neighborhood. She asks Rosa for help. What places does she need?" Take 2 guesses.</a:t>
            </a:r>
          </a:p>
          <a:p>
            <a:r>
              <a:rPr lang="en-US" dirty="0"/>
              <a:t>Listen 1 → Task A (check the places). Each click shows Yes or No.</a:t>
            </a:r>
          </a:p>
          <a:p>
            <a:r>
              <a:rPr lang="en-US" dirty="0"/>
              <a:t>Answer key: ✓ supermarket, pharmacy, restaurant, park, bank (bank = next to the pharmacy). ✗ library, post office.</a:t>
            </a:r>
          </a:p>
          <a:p>
            <a:r>
              <a:rPr lang="en-US" dirty="0"/>
              <a:t>The listening places are invented. Learners can recommend real local places in Talk Time.</a:t>
            </a:r>
          </a:p>
          <a:p>
            <a:r>
              <a:rPr lang="en-US" dirty="0"/>
              <a:t>Source: Level2_Curriculum_v5_public.md, Lesson 8 (Step 3; Answer key;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Neighborhood Guide. Groups of 3–4 (15) / two groups (7–8). Each click shows one step.</a:t>
            </a:r>
          </a:p>
          <a:p>
            <a:r>
              <a:rPr lang="en-US" dirty="0"/>
              <a:t>Do (7 min): groups make a poster: "The best ___ in our neighborhood." Each learner adds 1–2 places: name, street, why it's the best (It's the cheapest. It's the closest.).</a:t>
            </a:r>
          </a:p>
          <a:p>
            <a:r>
              <a:rPr lang="en-US" dirty="0"/>
              <a:t>Share (3 min): groups present one place: "The best park is Lake Park. It's on Lake Street. It's the biggest."</a:t>
            </a:r>
          </a:p>
          <a:p>
            <a:r>
              <a:rPr lang="en-US" dirty="0"/>
              <a:t>If behind: one place per group; skip sharing.</a:t>
            </a:r>
          </a:p>
          <a:p>
            <a:r>
              <a:rPr lang="en-US" dirty="0"/>
              <a:t>Source: Level2_Curriculum_v5_public.md, Lesson 8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The best ___ in my neighborhood is ___. It's ___ (superlative).</a:t>
            </a:r>
          </a:p>
          <a:p>
            <a:r>
              <a:rPr lang="en-US" dirty="0"/>
              <a:t>Homework (10 minutes): 1. Write 5 sentences about the best places in your neighborhood (The best park is… It's the biggest…). 2. Write 2 questions with Is there…? or Are there…? and answer them. 3. Bonus: ask a friend or neighbor: What's the best restaurant in town? Write the answer.</a:t>
            </a:r>
          </a:p>
          <a:p>
            <a:r>
              <a:rPr lang="en-US" dirty="0"/>
              <a:t>Source: Level2_Curriculum_v5_public.md, Lesson 8 (Step 6; Student Page 8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(match). Each click shows one answer. The audio plays once, play again if needed.</a:t>
            </a:r>
          </a:p>
          <a:p>
            <a:r>
              <a:rPr lang="en-US" dirty="0"/>
              <a:t>Answer key: Fresh Market = the biggest; Value Foods = the cheapest; The Sunny Kitchen = the best restaurant; Lake Park = the most beautiful.</a:t>
            </a:r>
          </a:p>
          <a:p>
            <a:r>
              <a:rPr lang="en-US" dirty="0"/>
              <a:t>Source: Level2_Curriculum_v5_public.md, Lesson 8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v5, public edition, Lesson 8.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bank, the best, the cheapest.</a:t>
            </a:r>
          </a:p>
          <a:p>
            <a:r>
              <a:rPr lang="en-US" dirty="0"/>
              <a:t>Send a letter? → post office. Wash clothes? → laundromat. Buy medicine? → pharmacy.</a:t>
            </a:r>
          </a:p>
          <a:p>
            <a:r>
              <a:rPr lang="en-US" dirty="0"/>
              <a:t>Source: Level2_Curriculum_v5_public.md, Lesson 8 (Step 2; Student Page 8).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 The audio plays once, play again if needed.</a:t>
            </a:r>
          </a:p>
          <a:p>
            <a:r>
              <a:rPr lang="en-US" dirty="0"/>
              <a:t>Answer key: cheapest; closest; best; most.</a:t>
            </a:r>
          </a:p>
          <a:p>
            <a:r>
              <a:rPr lang="en-US" dirty="0"/>
              <a:t>"Say it" (1–2 min): the class repeats "Where's the best supermarket?" and "It's the cheapest in town."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Level2_Curriculum_v5_public.md, Lesson 8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Special words: good → the best, bad → the worst, far → the farthest.</a:t>
            </a:r>
          </a:p>
          <a:p>
            <a:r>
              <a:rPr lang="en-US" dirty="0"/>
              <a:t>Source: Level2_Curriculum_v5_public.md, Lesson 8 (Common mistakes;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K1" Type="http://schemas.openxmlformats.org/officeDocument/2006/relationships/image" Target="../media/k_L4_right_now.png"/><Relationship Id="rIdQ1" Type="http://schemas.openxmlformats.org/officeDocument/2006/relationships/image" Target="../media/k_L8_the_bes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Q1" Type="http://schemas.openxmlformats.org/officeDocument/2006/relationships/image" Target="../media/k_L7_how_long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Q1" Type="http://schemas.openxmlformats.org/officeDocument/2006/relationships/image" Target="../media/k_L8_park.png"/><Relationship Id="rIdQ2" Type="http://schemas.openxmlformats.org/officeDocument/2006/relationships/image" Target="../media/k_L8_library.png"/><Relationship Id="rIdQ3" Type="http://schemas.openxmlformats.org/officeDocument/2006/relationships/image" Target="../media/k_L8_supermarket.png"/><Relationship Id="rIdQ4" Type="http://schemas.openxmlformats.org/officeDocument/2006/relationships/image" Target="../media/k_L8_restaurant.png"/><Relationship Id="rIdQ5" Type="http://schemas.openxmlformats.org/officeDocument/2006/relationships/image" Target="../media/k_L8_clinic.png"/><Relationship Id="rIdQ6" Type="http://schemas.openxmlformats.org/officeDocument/2006/relationships/image" Target="../media/k_L8_pharmacy.png"/><Relationship Id="rIdQ7" Type="http://schemas.openxmlformats.org/officeDocument/2006/relationships/image" Target="../media/k_L8_laundroma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Q1" Type="http://schemas.openxmlformats.org/officeDocument/2006/relationships/image" Target="../media/k_L8_bank.png"/><Relationship Id="rIdQ2" Type="http://schemas.openxmlformats.org/officeDocument/2006/relationships/image" Target="../media/k_L8_post_office.png"/><Relationship Id="rIdQ3" Type="http://schemas.openxmlformats.org/officeDocument/2006/relationships/image" Target="../media/k_L8_gas_station.png"/><Relationship Id="rIdQ4" Type="http://schemas.openxmlformats.org/officeDocument/2006/relationships/image" Target="../media/k_L8_bakery.png"/><Relationship Id="rIdQ5" Type="http://schemas.openxmlformats.org/officeDocument/2006/relationships/image" Target="../media/k_L8_the_best.png"/><Relationship Id="rIdQ6" Type="http://schemas.openxmlformats.org/officeDocument/2006/relationships/image" Target="../media/k_L8_the_cheapest.png"/><Relationship Id="rIdQ7" Type="http://schemas.openxmlformats.org/officeDocument/2006/relationships/image" Target="../media/k_L8_the_closes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Q1" Type="http://schemas.openxmlformats.org/officeDocument/2006/relationships/image" Target="../media/k_L8_supermarke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Q1" Type="http://schemas.openxmlformats.org/officeDocument/2006/relationships/image" Target="../media/k_L8_ban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Q1" Type="http://schemas.openxmlformats.org/officeDocument/2006/relationships/image" Target="../media/k_L8_restauran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Q1" Type="http://schemas.openxmlformats.org/officeDocument/2006/relationships/image" Target="../media/k_L8_clinic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Q1" Type="http://schemas.openxmlformats.org/officeDocument/2006/relationships/image" Target="../media/k_L8_the_cheapes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Q1" Type="http://schemas.openxmlformats.org/officeDocument/2006/relationships/image" Target="../media/k_L8_pharmacy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Q1" Type="http://schemas.openxmlformats.org/officeDocument/2006/relationships/image" Target="../media/k_L8_the_closes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Q1" Type="http://schemas.openxmlformats.org/officeDocument/2006/relationships/image" Target="../media/k_L8_par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Q1" Type="http://schemas.openxmlformats.org/officeDocument/2006/relationships/image" Target="../media/k_L8_library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8 (Week 9)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 Place in Town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10+ places in town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Ask: Where's the best…?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the cheapest, the best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Recommend places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pic>
        <p:nvPicPr>
          <p:cNvPr id="15" name="Picture 15" descr="L8_the_bes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 Week 8.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uestion"/>
          <p:cNvSpPr/>
          <p:nvPr/>
        </p:nvSpPr>
        <p:spPr>
          <a:xfrm>
            <a:off x="599846" y="3977640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was the midterm?</a:t>
            </a:r>
            <a:endParaRPr lang="en-US" sz="2200" dirty="0"/>
          </a:p>
        </p:txBody>
      </p:sp>
      <p:sp>
        <p:nvSpPr>
          <p:cNvPr id="20" name="Question"/>
          <p:cNvSpPr/>
          <p:nvPr/>
        </p:nvSpPr>
        <p:spPr>
          <a:xfrm>
            <a:off x="599846" y="4562856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Was it easy or difficult?</a:t>
            </a:r>
            <a:endParaRPr lang="en-US" sz="2200" dirty="0"/>
          </a:p>
        </p:txBody>
      </p:sp>
      <p:pic>
        <p:nvPicPr>
          <p:cNvPr id="21" name="Picture 21" descr="L7_how_long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Midterm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Share one goal.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car is ___. (fast)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is ___. (cheap)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bike is ___. (good)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___ 20 minutes.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the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Midterm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Share one goal from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can-do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self-check.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57800" y="320040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faster</a:t>
            </a:r>
            <a:endParaRPr lang="en-US" sz="2000" dirty="0"/>
          </a:p>
        </p:txBody>
      </p:sp>
      <p:sp>
        <p:nvSpPr>
          <p:cNvPr id="39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endParaRPr lang="en-US" sz="2000" dirty="0"/>
          </a:p>
        </p:txBody>
      </p:sp>
      <p:sp>
        <p:nvSpPr>
          <p:cNvPr id="40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better</a:t>
            </a:r>
            <a:endParaRPr lang="en-US" sz="2000" dirty="0"/>
          </a:p>
        </p:txBody>
      </p:sp>
      <p:sp>
        <p:nvSpPr>
          <p:cNvPr id="41" name="Answer 4"/>
          <p:cNvSpPr/>
          <p:nvPr/>
        </p:nvSpPr>
        <p:spPr>
          <a:xfrm>
            <a:off x="5257800" y="533461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can you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there?</a:t>
            </a:r>
            <a:endParaRPr lang="en-US" sz="2200" dirty="0"/>
          </a:p>
        </p:txBody>
      </p:sp>
      <p:pic>
        <p:nvPicPr>
          <p:cNvPr id="41" name="Picture 41" descr="park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park</a:t>
            </a:r>
            <a:endParaRPr lang="en-US" sz="2000" dirty="0"/>
          </a:p>
        </p:txBody>
      </p:sp>
      <p:pic>
        <p:nvPicPr>
          <p:cNvPr id="43" name="Picture 43" descr="library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library</a:t>
            </a:r>
            <a:endParaRPr lang="en-US" sz="2000" dirty="0"/>
          </a:p>
        </p:txBody>
      </p:sp>
      <p:pic>
        <p:nvPicPr>
          <p:cNvPr id="45" name="Picture 45" descr="supermarket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supermarket</a:t>
            </a:r>
            <a:endParaRPr lang="en-US" sz="2000" dirty="0"/>
          </a:p>
        </p:txBody>
      </p:sp>
      <p:pic>
        <p:nvPicPr>
          <p:cNvPr id="47" name="Picture 47" descr="restaurant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</a:t>
            </a:r>
            <a:endParaRPr lang="en-US" sz="2000" dirty="0"/>
          </a:p>
        </p:txBody>
      </p:sp>
      <p:pic>
        <p:nvPicPr>
          <p:cNvPr id="49" name="Picture 49" descr="clinic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295862" y="4315968"/>
            <a:ext cx="2076994" cy="145389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210563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clinic</a:t>
            </a:r>
            <a:endParaRPr lang="en-US" sz="2000" dirty="0"/>
          </a:p>
        </p:txBody>
      </p:sp>
      <p:pic>
        <p:nvPicPr>
          <p:cNvPr id="51" name="Picture 51" descr="pharmacy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4981912" y="4315968"/>
            <a:ext cx="2076994" cy="145389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479168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pharmacy</a:t>
            </a:r>
            <a:endParaRPr lang="en-US" sz="2000" dirty="0"/>
          </a:p>
        </p:txBody>
      </p:sp>
      <p:pic>
        <p:nvPicPr>
          <p:cNvPr id="53" name="Picture 53" descr="laundromat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667962" y="4315968"/>
            <a:ext cx="2076994" cy="1453896"/>
          </a:xfrm>
          <a:prstGeom prst="rect">
            <a:avLst/>
          </a:prstGeom>
        </p:spPr>
      </p:pic>
      <p:sp>
        <p:nvSpPr>
          <p:cNvPr id="54" name="Word label"/>
          <p:cNvSpPr/>
          <p:nvPr/>
        </p:nvSpPr>
        <p:spPr>
          <a:xfrm>
            <a:off x="747773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laundromat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Send a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letter?</a:t>
            </a:r>
            <a:endParaRPr lang="en-US" sz="2200" dirty="0"/>
          </a:p>
        </p:txBody>
      </p:sp>
      <p:pic>
        <p:nvPicPr>
          <p:cNvPr id="39" name="Picture 39" descr="bank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bank</a:t>
            </a:r>
            <a:endParaRPr lang="en-US" sz="2000" dirty="0"/>
          </a:p>
        </p:txBody>
      </p:sp>
      <p:pic>
        <p:nvPicPr>
          <p:cNvPr id="41" name="Picture 41" descr="post office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post office</a:t>
            </a:r>
            <a:endParaRPr lang="en-US" sz="2000" dirty="0"/>
          </a:p>
        </p:txBody>
      </p:sp>
      <p:pic>
        <p:nvPicPr>
          <p:cNvPr id="43" name="Picture 43" descr="gas station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gas station</a:t>
            </a:r>
            <a:endParaRPr lang="en-US" sz="2000" dirty="0"/>
          </a:p>
        </p:txBody>
      </p:sp>
      <p:pic>
        <p:nvPicPr>
          <p:cNvPr id="45" name="Picture 45" descr="bakery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bakery</a:t>
            </a:r>
            <a:endParaRPr lang="en-US" sz="2000" dirty="0"/>
          </a:p>
        </p:txBody>
      </p:sp>
      <p:pic>
        <p:nvPicPr>
          <p:cNvPr id="47" name="Picture 47" descr="the best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2295862" y="4315968"/>
            <a:ext cx="2076994" cy="145389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210563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</a:t>
            </a:r>
            <a:endParaRPr lang="en-US" sz="2000" dirty="0"/>
          </a:p>
        </p:txBody>
      </p:sp>
      <p:pic>
        <p:nvPicPr>
          <p:cNvPr id="49" name="Picture 49" descr="the cheapest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4981912" y="4315968"/>
            <a:ext cx="2076994" cy="145389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479168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endParaRPr lang="en-US" sz="2000" dirty="0"/>
          </a:p>
        </p:txBody>
      </p:sp>
      <p:pic>
        <p:nvPicPr>
          <p:cNvPr id="51" name="Picture 51" descr="the closest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7667962" y="4315968"/>
            <a:ext cx="2076994" cy="145389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7477735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closest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Check the places.</a:t>
            </a:r>
            <a:endParaRPr lang="en-US" sz="2000" dirty="0"/>
          </a:p>
        </p:txBody>
      </p:sp>
      <p:pic>
        <p:nvPicPr>
          <p:cNvPr id="66" name="Picture 66" descr="L8_supermarke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67" name="Row shadow"/>
          <p:cNvSpPr/>
          <p:nvPr/>
        </p:nvSpPr>
        <p:spPr>
          <a:xfrm>
            <a:off x="5815584" y="1243584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Row"/>
          <p:cNvSpPr/>
          <p:nvPr/>
        </p:nvSpPr>
        <p:spPr>
          <a:xfrm>
            <a:off x="5760720" y="1188720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9" name="Item"/>
          <p:cNvSpPr/>
          <p:nvPr/>
        </p:nvSpPr>
        <p:spPr>
          <a:xfrm>
            <a:off x="5870448" y="1188720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supermarket</a:t>
            </a:r>
            <a:endParaRPr lang="en-US" sz="2200" dirty="0"/>
          </a:p>
        </p:txBody>
      </p:sp>
      <p:sp>
        <p:nvSpPr>
          <p:cNvPr id="70" name="Tag 1"/>
          <p:cNvSpPr/>
          <p:nvPr/>
        </p:nvSpPr>
        <p:spPr>
          <a:xfrm>
            <a:off x="10607040" y="1250115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71" name="Row shadow"/>
          <p:cNvSpPr/>
          <p:nvPr/>
        </p:nvSpPr>
        <p:spPr>
          <a:xfrm>
            <a:off x="5815584" y="1988167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Row"/>
          <p:cNvSpPr/>
          <p:nvPr/>
        </p:nvSpPr>
        <p:spPr>
          <a:xfrm>
            <a:off x="5760720" y="1933303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3" name="Item"/>
          <p:cNvSpPr/>
          <p:nvPr/>
        </p:nvSpPr>
        <p:spPr>
          <a:xfrm>
            <a:off x="5870448" y="1933303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pharmacy</a:t>
            </a:r>
            <a:endParaRPr lang="en-US" sz="2200" dirty="0"/>
          </a:p>
        </p:txBody>
      </p:sp>
      <p:sp>
        <p:nvSpPr>
          <p:cNvPr id="74" name="Tag 2"/>
          <p:cNvSpPr/>
          <p:nvPr/>
        </p:nvSpPr>
        <p:spPr>
          <a:xfrm>
            <a:off x="10607040" y="1994698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75" name="Row shadow"/>
          <p:cNvSpPr/>
          <p:nvPr/>
        </p:nvSpPr>
        <p:spPr>
          <a:xfrm>
            <a:off x="5815584" y="2732750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Row"/>
          <p:cNvSpPr/>
          <p:nvPr/>
        </p:nvSpPr>
        <p:spPr>
          <a:xfrm>
            <a:off x="5760720" y="2677886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7" name="Item"/>
          <p:cNvSpPr/>
          <p:nvPr/>
        </p:nvSpPr>
        <p:spPr>
          <a:xfrm>
            <a:off x="5870448" y="2677886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post office</a:t>
            </a:r>
            <a:endParaRPr lang="en-US" sz="2200" dirty="0"/>
          </a:p>
        </p:txBody>
      </p:sp>
      <p:sp>
        <p:nvSpPr>
          <p:cNvPr id="78" name="Tag 3"/>
          <p:cNvSpPr/>
          <p:nvPr/>
        </p:nvSpPr>
        <p:spPr>
          <a:xfrm>
            <a:off x="10607040" y="2739281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9" name="Row shadow"/>
          <p:cNvSpPr/>
          <p:nvPr/>
        </p:nvSpPr>
        <p:spPr>
          <a:xfrm>
            <a:off x="5815584" y="3477333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0" name="Row"/>
          <p:cNvSpPr/>
          <p:nvPr/>
        </p:nvSpPr>
        <p:spPr>
          <a:xfrm>
            <a:off x="5760720" y="3422469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1" name="Item"/>
          <p:cNvSpPr/>
          <p:nvPr/>
        </p:nvSpPr>
        <p:spPr>
          <a:xfrm>
            <a:off x="5870448" y="3422469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bank</a:t>
            </a:r>
            <a:endParaRPr lang="en-US" sz="2200" dirty="0"/>
          </a:p>
        </p:txBody>
      </p:sp>
      <p:sp>
        <p:nvSpPr>
          <p:cNvPr id="82" name="Tag 4"/>
          <p:cNvSpPr/>
          <p:nvPr/>
        </p:nvSpPr>
        <p:spPr>
          <a:xfrm>
            <a:off x="10607040" y="3483864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83" name="Row shadow"/>
          <p:cNvSpPr/>
          <p:nvPr/>
        </p:nvSpPr>
        <p:spPr>
          <a:xfrm>
            <a:off x="5815584" y="4221915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4" name="Row"/>
          <p:cNvSpPr/>
          <p:nvPr/>
        </p:nvSpPr>
        <p:spPr>
          <a:xfrm>
            <a:off x="5760720" y="4167051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Item"/>
          <p:cNvSpPr/>
          <p:nvPr/>
        </p:nvSpPr>
        <p:spPr>
          <a:xfrm>
            <a:off x="5870448" y="4167051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library</a:t>
            </a:r>
            <a:endParaRPr lang="en-US" sz="2200" dirty="0"/>
          </a:p>
        </p:txBody>
      </p:sp>
      <p:sp>
        <p:nvSpPr>
          <p:cNvPr id="86" name="Tag 5"/>
          <p:cNvSpPr/>
          <p:nvPr/>
        </p:nvSpPr>
        <p:spPr>
          <a:xfrm>
            <a:off x="10607040" y="4228447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87" name="Row shadow"/>
          <p:cNvSpPr/>
          <p:nvPr/>
        </p:nvSpPr>
        <p:spPr>
          <a:xfrm>
            <a:off x="5815584" y="4966498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8" name="Row"/>
          <p:cNvSpPr/>
          <p:nvPr/>
        </p:nvSpPr>
        <p:spPr>
          <a:xfrm>
            <a:off x="5760720" y="4911634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9" name="Item"/>
          <p:cNvSpPr/>
          <p:nvPr/>
        </p:nvSpPr>
        <p:spPr>
          <a:xfrm>
            <a:off x="5870448" y="4911634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</a:t>
            </a:r>
            <a:endParaRPr lang="en-US" sz="2200" dirty="0"/>
          </a:p>
        </p:txBody>
      </p:sp>
      <p:sp>
        <p:nvSpPr>
          <p:cNvPr id="90" name="Tag 6"/>
          <p:cNvSpPr/>
          <p:nvPr/>
        </p:nvSpPr>
        <p:spPr>
          <a:xfrm>
            <a:off x="10607040" y="497303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91" name="Row shadow"/>
          <p:cNvSpPr/>
          <p:nvPr/>
        </p:nvSpPr>
        <p:spPr>
          <a:xfrm>
            <a:off x="5815584" y="5711081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2" name="Row"/>
          <p:cNvSpPr/>
          <p:nvPr/>
        </p:nvSpPr>
        <p:spPr>
          <a:xfrm>
            <a:off x="5760720" y="5656217"/>
            <a:ext cx="5989320" cy="598279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3" name="Item"/>
          <p:cNvSpPr/>
          <p:nvPr/>
        </p:nvSpPr>
        <p:spPr>
          <a:xfrm>
            <a:off x="5870448" y="5656217"/>
            <a:ext cx="4709160" cy="598279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park</a:t>
            </a:r>
            <a:endParaRPr lang="en-US" sz="2200" dirty="0"/>
          </a:p>
        </p:txBody>
      </p:sp>
      <p:sp>
        <p:nvSpPr>
          <p:cNvPr id="94" name="Tag 7"/>
          <p:cNvSpPr/>
          <p:nvPr/>
        </p:nvSpPr>
        <p:spPr>
          <a:xfrm>
            <a:off x="10607040" y="5717613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Match. It's ...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7" name="Statement 1"/>
          <p:cNvSpPr/>
          <p:nvPr/>
        </p:nvSpPr>
        <p:spPr>
          <a:xfrm>
            <a:off x="502920" y="3063240"/>
            <a:ext cx="42062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Fresh Market</a:t>
            </a:r>
            <a:endParaRPr lang="en-US" sz="2400" dirty="0"/>
          </a:p>
        </p:txBody>
      </p:sp>
      <p:sp>
        <p:nvSpPr>
          <p:cNvPr id="68" name="Cell 11"/>
          <p:cNvSpPr/>
          <p:nvPr/>
        </p:nvSpPr>
        <p:spPr>
          <a:xfrm>
            <a:off x="5120640" y="3118104"/>
            <a:ext cx="45720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9" name="Mark 11"/>
          <p:cNvSpPr/>
          <p:nvPr/>
        </p:nvSpPr>
        <p:spPr>
          <a:xfrm>
            <a:off x="5120640" y="3118104"/>
            <a:ext cx="45720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the biggest</a:t>
            </a:r>
            <a:endParaRPr lang="en-US" sz="2200" dirty="0"/>
          </a:p>
        </p:txBody>
      </p:sp>
      <p:sp>
        <p:nvSpPr>
          <p:cNvPr id="70" name="Statement 2"/>
          <p:cNvSpPr/>
          <p:nvPr/>
        </p:nvSpPr>
        <p:spPr>
          <a:xfrm>
            <a:off x="502920" y="3867912"/>
            <a:ext cx="42062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Value Foods</a:t>
            </a:r>
            <a:endParaRPr lang="en-US" sz="2400" dirty="0"/>
          </a:p>
        </p:txBody>
      </p:sp>
      <p:sp>
        <p:nvSpPr>
          <p:cNvPr id="71" name="Cell 21"/>
          <p:cNvSpPr/>
          <p:nvPr/>
        </p:nvSpPr>
        <p:spPr>
          <a:xfrm>
            <a:off x="5120640" y="3922776"/>
            <a:ext cx="45720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Mark 21"/>
          <p:cNvSpPr/>
          <p:nvPr/>
        </p:nvSpPr>
        <p:spPr>
          <a:xfrm>
            <a:off x="5120640" y="3922776"/>
            <a:ext cx="45720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 cheapest</a:t>
            </a:r>
            <a:endParaRPr lang="en-US" sz="2200" dirty="0"/>
          </a:p>
        </p:txBody>
      </p:sp>
      <p:sp>
        <p:nvSpPr>
          <p:cNvPr id="73" name="Statement 3"/>
          <p:cNvSpPr/>
          <p:nvPr/>
        </p:nvSpPr>
        <p:spPr>
          <a:xfrm>
            <a:off x="502920" y="4672584"/>
            <a:ext cx="42062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The Sunny Kitchen</a:t>
            </a:r>
            <a:endParaRPr lang="en-US" sz="2400" dirty="0"/>
          </a:p>
        </p:txBody>
      </p:sp>
      <p:sp>
        <p:nvSpPr>
          <p:cNvPr id="74" name="Cell 31"/>
          <p:cNvSpPr/>
          <p:nvPr/>
        </p:nvSpPr>
        <p:spPr>
          <a:xfrm>
            <a:off x="5120640" y="4727448"/>
            <a:ext cx="45720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5" name="Mark 31"/>
          <p:cNvSpPr/>
          <p:nvPr/>
        </p:nvSpPr>
        <p:spPr>
          <a:xfrm>
            <a:off x="5120640" y="4727448"/>
            <a:ext cx="45720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d. the best restaurant</a:t>
            </a:r>
            <a:endParaRPr lang="en-US" sz="2200" dirty="0"/>
          </a:p>
        </p:txBody>
      </p:sp>
      <p:sp>
        <p:nvSpPr>
          <p:cNvPr id="76" name="Statement 4"/>
          <p:cNvSpPr/>
          <p:nvPr/>
        </p:nvSpPr>
        <p:spPr>
          <a:xfrm>
            <a:off x="502920" y="5477256"/>
            <a:ext cx="4206240" cy="6400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Lake Park</a:t>
            </a:r>
            <a:endParaRPr lang="en-US" sz="2400" dirty="0"/>
          </a:p>
        </p:txBody>
      </p:sp>
      <p:sp>
        <p:nvSpPr>
          <p:cNvPr id="77" name="Cell 41"/>
          <p:cNvSpPr/>
          <p:nvPr/>
        </p:nvSpPr>
        <p:spPr>
          <a:xfrm>
            <a:off x="5120640" y="5532120"/>
            <a:ext cx="45720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8" name="Mark 41"/>
          <p:cNvSpPr/>
          <p:nvPr/>
        </p:nvSpPr>
        <p:spPr>
          <a:xfrm>
            <a:off x="5120640" y="5532120"/>
            <a:ext cx="45720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the most beautiful park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0778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Value Foods is the ____.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24063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____ one is on Pine Street.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 The Sunny Kitchen is the ____.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Lake Park is the ____ beautiful park in town.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things: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or more: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2" name="Answer 1"/>
          <p:cNvSpPr/>
          <p:nvPr/>
        </p:nvSpPr>
        <p:spPr>
          <a:xfrm>
            <a:off x="4961534" y="3278124"/>
            <a:ext cx="162214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cheapest</a:t>
            </a:r>
            <a:endParaRPr lang="en-US" sz="2200" dirty="0"/>
          </a:p>
        </p:txBody>
      </p:sp>
      <p:sp>
        <p:nvSpPr>
          <p:cNvPr id="43" name="Answer 2"/>
          <p:cNvSpPr/>
          <p:nvPr/>
        </p:nvSpPr>
        <p:spPr>
          <a:xfrm>
            <a:off x="5124298" y="4128516"/>
            <a:ext cx="1459382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closest</a:t>
            </a:r>
            <a:endParaRPr lang="en-US" sz="2200" dirty="0"/>
          </a:p>
        </p:txBody>
      </p:sp>
      <p:sp>
        <p:nvSpPr>
          <p:cNvPr id="44" name="Answer 3"/>
          <p:cNvSpPr/>
          <p:nvPr/>
        </p:nvSpPr>
        <p:spPr>
          <a:xfrm>
            <a:off x="5532120" y="4978908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best</a:t>
            </a:r>
            <a:endParaRPr lang="en-US" sz="2200" dirty="0"/>
          </a:p>
        </p:txBody>
      </p:sp>
      <p:sp>
        <p:nvSpPr>
          <p:cNvPr id="45" name="Answer 4"/>
          <p:cNvSpPr/>
          <p:nvPr/>
        </p:nvSpPr>
        <p:spPr>
          <a:xfrm>
            <a:off x="5532120" y="58293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most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Where's the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Best ...?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2" name="Picture 42" descr="L8_bank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43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44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45" name="Highlight"/>
          <p:cNvSpPr/>
          <p:nvPr/>
        </p:nvSpPr>
        <p:spPr>
          <a:xfrm>
            <a:off x="1481328" y="4453128"/>
            <a:ext cx="363931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Where's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bank?</a:t>
            </a:r>
            <a:endParaRPr lang="en-US" sz="2200" dirty="0"/>
          </a:p>
        </p:txBody>
      </p:sp>
      <p:sp>
        <p:nvSpPr>
          <p:cNvPr id="48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Lake Street.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1481328" y="5367528"/>
            <a:ext cx="409194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Where's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closest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park?</a:t>
            </a:r>
            <a:endParaRPr lang="en-US" sz="2200" dirty="0"/>
          </a:p>
        </p:txBody>
      </p:sp>
      <p:sp>
        <p:nvSpPr>
          <p:cNvPr id="52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to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library.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the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best ...?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town?</a:t>
            </a:r>
            <a:endParaRPr lang="en-US" sz="2000" dirty="0"/>
          </a:p>
        </p:txBody>
      </p:sp>
      <p:pic>
        <p:nvPicPr>
          <p:cNvPr id="65" name="Picture 65" descr="L8_restauran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66" name="Wh"/>
          <p:cNvSpPr/>
          <p:nvPr/>
        </p:nvSpPr>
        <p:spPr>
          <a:xfrm>
            <a:off x="3291840" y="4114800"/>
            <a:ext cx="122483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67" name="Highlight"/>
          <p:cNvSpPr/>
          <p:nvPr/>
        </p:nvSpPr>
        <p:spPr>
          <a:xfrm>
            <a:off x="4516679" y="4114800"/>
            <a:ext cx="1644457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Helper"/>
          <p:cNvSpPr/>
          <p:nvPr/>
        </p:nvSpPr>
        <p:spPr>
          <a:xfrm>
            <a:off x="4516679" y="4114800"/>
            <a:ext cx="1644457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</a:t>
            </a:r>
            <a:endParaRPr lang="en-US" sz="2200" dirty="0"/>
          </a:p>
        </p:txBody>
      </p:sp>
      <p:sp>
        <p:nvSpPr>
          <p:cNvPr id="69" name="Rest"/>
          <p:cNvSpPr/>
          <p:nvPr/>
        </p:nvSpPr>
        <p:spPr>
          <a:xfrm>
            <a:off x="6216000" y="4114800"/>
            <a:ext cx="184251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restaurant?</a:t>
            </a:r>
            <a:endParaRPr lang="en-US" sz="2200" dirty="0"/>
          </a:p>
        </p:txBody>
      </p:sp>
      <p:sp>
        <p:nvSpPr>
          <p:cNvPr id="70" name="Wh"/>
          <p:cNvSpPr/>
          <p:nvPr/>
        </p:nvSpPr>
        <p:spPr>
          <a:xfrm>
            <a:off x="3291840" y="4846320"/>
            <a:ext cx="122483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71" name="Highlight"/>
          <p:cNvSpPr/>
          <p:nvPr/>
        </p:nvSpPr>
        <p:spPr>
          <a:xfrm>
            <a:off x="4516679" y="4846320"/>
            <a:ext cx="232038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Helper"/>
          <p:cNvSpPr/>
          <p:nvPr/>
        </p:nvSpPr>
        <p:spPr>
          <a:xfrm>
            <a:off x="4516679" y="4846320"/>
            <a:ext cx="232038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endParaRPr lang="en-US" sz="2200" dirty="0"/>
          </a:p>
        </p:txBody>
      </p:sp>
      <p:sp>
        <p:nvSpPr>
          <p:cNvPr id="73" name="Rest"/>
          <p:cNvSpPr/>
          <p:nvPr/>
        </p:nvSpPr>
        <p:spPr>
          <a:xfrm>
            <a:off x="6891924" y="4846320"/>
            <a:ext cx="108813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store?</a:t>
            </a:r>
            <a:endParaRPr lang="en-US" sz="2200" dirty="0"/>
          </a:p>
        </p:txBody>
      </p:sp>
      <p:sp>
        <p:nvSpPr>
          <p:cNvPr id="74" name="Wh"/>
          <p:cNvSpPr/>
          <p:nvPr/>
        </p:nvSpPr>
        <p:spPr>
          <a:xfrm>
            <a:off x="3291840" y="5577840"/>
            <a:ext cx="122483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</a:t>
            </a:r>
            <a:endParaRPr lang="en-US" sz="2200" dirty="0"/>
          </a:p>
        </p:txBody>
      </p:sp>
      <p:sp>
        <p:nvSpPr>
          <p:cNvPr id="75" name="Highlight"/>
          <p:cNvSpPr/>
          <p:nvPr/>
        </p:nvSpPr>
        <p:spPr>
          <a:xfrm>
            <a:off x="4516679" y="5577840"/>
            <a:ext cx="1644457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Helper"/>
          <p:cNvSpPr/>
          <p:nvPr/>
        </p:nvSpPr>
        <p:spPr>
          <a:xfrm>
            <a:off x="4516679" y="5577840"/>
            <a:ext cx="1644457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</a:t>
            </a:r>
            <a:endParaRPr lang="en-US" sz="2200" dirty="0"/>
          </a:p>
        </p:txBody>
      </p:sp>
      <p:sp>
        <p:nvSpPr>
          <p:cNvPr id="77" name="Rest"/>
          <p:cNvSpPr/>
          <p:nvPr/>
        </p:nvSpPr>
        <p:spPr>
          <a:xfrm>
            <a:off x="6216000" y="5577840"/>
            <a:ext cx="9372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park?</a:t>
            </a:r>
            <a:endParaRPr lang="en-US" sz="2200" dirty="0"/>
          </a:p>
        </p:txBody>
      </p:sp>
      <p:sp>
        <p:nvSpPr>
          <p:cNvPr id="78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</a:t>
            </a:r>
            <a:endParaRPr lang="en-US" sz="2400" dirty="0"/>
          </a:p>
        </p:txBody>
      </p:sp>
      <p:sp>
        <p:nvSpPr>
          <p:cNvPr id="79" name="Card item"/>
          <p:cNvSpPr/>
          <p:nvPr/>
        </p:nvSpPr>
        <p:spPr>
          <a:xfrm>
            <a:off x="8549640" y="1920240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 ___ is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80" name="Card item"/>
          <p:cNvSpPr/>
          <p:nvPr/>
        </p:nvSpPr>
        <p:spPr>
          <a:xfrm>
            <a:off x="8549640" y="2724912"/>
            <a:ext cx="3017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 ___ is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81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-est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 ...?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4" name="Picture 44" descr="L8_clinic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45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47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 bank near here?</a:t>
            </a:r>
            <a:endParaRPr lang="en-US" sz="2200" dirty="0"/>
          </a:p>
        </p:txBody>
      </p:sp>
      <p:sp>
        <p:nvSpPr>
          <p:cNvPr id="49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8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there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there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0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600" dirty="0"/>
          </a:p>
        </p:txBody>
      </p:sp>
      <p:sp>
        <p:nvSpPr>
          <p:cNvPr id="52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 clinic near here?</a:t>
            </a:r>
            <a:endParaRPr lang="en-US" sz="2200" dirty="0"/>
          </a:p>
        </p:txBody>
      </p:sp>
      <p:sp>
        <p:nvSpPr>
          <p:cNvPr id="54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there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there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5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endParaRPr lang="en-US" sz="2600" dirty="0"/>
          </a:p>
        </p:txBody>
      </p:sp>
      <p:sp>
        <p:nvSpPr>
          <p:cNvPr id="57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any parks near here?</a:t>
            </a:r>
            <a:endParaRPr lang="en-US" sz="2200" dirty="0"/>
          </a:p>
        </p:txBody>
      </p:sp>
      <p:sp>
        <p:nvSpPr>
          <p:cNvPr id="59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there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there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8_the_cheapes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the more cheap.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6268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the most cheapest.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6268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45896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best restaurant.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458968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best restaurant.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706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8_pharmacy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a pharmacy near here?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pharmacy near here?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8554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is two banks.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8554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two banks.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4589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more good park.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4589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or more than two?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___ store in town. (big)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most cheap or the cheapest?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a bank near here?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1" name="Answer"/>
          <p:cNvSpPr/>
          <p:nvPr/>
        </p:nvSpPr>
        <p:spPr>
          <a:xfrm>
            <a:off x="960120" y="4709160"/>
            <a:ext cx="1993392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biggest</a:t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4617720" y="4709160"/>
            <a:ext cx="2141359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cheapest</a:t>
            </a:r>
            <a:endParaRPr lang="en-US" sz="2000" dirty="0"/>
          </a:p>
        </p:txBody>
      </p:sp>
      <p:sp>
        <p:nvSpPr>
          <p:cNvPr id="33" name="Answer"/>
          <p:cNvSpPr/>
          <p:nvPr/>
        </p:nvSpPr>
        <p:spPr>
          <a:xfrm>
            <a:off x="82753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 a bank?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or more than two?</a:t>
            </a:r>
            <a:endParaRPr lang="en-US" sz="2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Cheaper or Cheapest?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things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er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than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expensive than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 or more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cheap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est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most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expensive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-er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-est</a:t>
            </a:r>
            <a:endParaRPr lang="en-US" sz="6000" dirty="0"/>
          </a:p>
        </p:txBody>
      </p:sp>
      <p:pic>
        <p:nvPicPr>
          <p:cNvPr id="23" name="Picture 23" descr="L8_the_closes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Neighborhood Guide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real places or invent them.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2" name="Picture 32" descr="L8_park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33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4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Make a poster.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 ___ in town</a:t>
            </a:r>
            <a:endParaRPr lang="en-US" sz="2000" dirty="0"/>
          </a:p>
        </p:txBody>
      </p:sp>
      <p:sp>
        <p:nvSpPr>
          <p:cNvPr id="35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36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Add 1–2 places.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 + why it's the best</a:t>
            </a:r>
            <a:endParaRPr lang="en-US" sz="2000" dirty="0"/>
          </a:p>
        </p:txBody>
      </p:sp>
      <p:sp>
        <p:nvSpPr>
          <p:cNvPr id="37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Share one place.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 park is Lake Park.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8_library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31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32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33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best ___ in my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neighborhood is ___.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the ___-est.</a:t>
            </a:r>
            <a:endParaRPr lang="en-US" sz="2000" dirty="0"/>
          </a:p>
        </p:txBody>
      </p:sp>
      <p:sp>
        <p:nvSpPr>
          <p:cNvPr id="34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35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36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5 sentences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the best places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your neighborhood.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2 questions: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there…? Are there…?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 (Week 9): The Best Place in Town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