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67" r:id="rId13"/>
    <p:sldId id="265" r:id="rId11"/>
    <p:sldId id="276" r:id="rId27"/>
    <p:sldId id="268" r:id="rId14"/>
    <p:sldId id="272" r:id="rId18"/>
    <p:sldId id="277" r:id="rId28"/>
    <p:sldId id="259" r:id="rId5"/>
    <p:sldId id="264" r:id="rId10"/>
    <p:sldId id="260" r:id="rId6"/>
    <p:sldId id="261" r:id="rId7"/>
    <p:sldId id="278" r:id="rId29"/>
    <p:sldId id="262" r:id="rId8"/>
    <p:sldId id="266" r:id="rId12"/>
    <p:sldId id="270" r:id="rId16"/>
    <p:sldId id="271" r:id="rId17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11.xml"/><Relationship Id="rId6" Type="http://schemas.openxmlformats.org/officeDocument/2006/relationships/slide" Target="slides/slide10.xml"/><Relationship Id="rId7" Type="http://schemas.openxmlformats.org/officeDocument/2006/relationships/slide" Target="slides/slide12.xml"/><Relationship Id="rId8" Type="http://schemas.openxmlformats.org/officeDocument/2006/relationships/slide" Target="slides/slide14.xml"/><Relationship Id="rId10" Type="http://schemas.openxmlformats.org/officeDocument/2006/relationships/slide" Target="slides/slide9.xml"/><Relationship Id="rId11" Type="http://schemas.openxmlformats.org/officeDocument/2006/relationships/slide" Target="slides/slide4.xml"/><Relationship Id="rId12" Type="http://schemas.openxmlformats.org/officeDocument/2006/relationships/slide" Target="slides/slide15.xml"/><Relationship Id="rId13" Type="http://schemas.openxmlformats.org/officeDocument/2006/relationships/slide" Target="slides/slide3.xml"/><Relationship Id="rId14" Type="http://schemas.openxmlformats.org/officeDocument/2006/relationships/slide" Target="slides/slide6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7.xml"/><Relationship Id="rId20" Type="http://schemas.openxmlformats.org/officeDocument/2006/relationships/slide" Target="slides/slide1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5.xml"/><Relationship Id="rId28" Type="http://schemas.openxmlformats.org/officeDocument/2006/relationships/slide" Target="slides/slide8.xml"/><Relationship Id="rId29" Type="http://schemas.openxmlformats.org/officeDocument/2006/relationships/slide" Target="slides/slide13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back after the midterm. Read the goals together; learners repeat.</a:t>
            </a:r>
          </a:p>
          <a:p>
            <a:r>
              <a:rPr lang="en-US" dirty="0"/>
              <a:t>Objectives: name 10 or more places in town; ask Where's the best…? Is there a… near here?; use superlatives: the cheapest, the biggest, the most expensive, the best; recommend places in their neighborhood.</a:t>
            </a:r>
          </a:p>
          <a:p>
            <a:r>
              <a:rPr lang="en-US" dirty="0"/>
              <a:t>Source: Level2_Curriculum_v5_public.md, Lesson 8 (At a glance).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· 6:00–6:10 · Opening Talk + Homework Check. Pairs (same partner for both parts).</a:t>
            </a:r>
          </a:p>
          <a:p>
            <a:r>
              <a:rPr lang="en-US" dirty="0"/>
              <a:t>Minutes 0–5 (review Week 8): partners ask How was the midterm? Was it easy or difficult? How do you get to class? (Lesson 7 review). Each click shows one question.</a:t>
            </a:r>
          </a:p>
          <a:p>
            <a:r>
              <a:rPr lang="en-US" dirty="0"/>
              <a:t>Source: Level2_Curriculum_v5_public.md, Lesson 8 (Step 1).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· 6:30–6:45 · Grammar: superlatives + Is there…? Say: "Two things: cheaper than. Three or more: the cheapest. Short words add -est; long words use the most."</a:t>
            </a:r>
          </a:p>
          <a:p>
            <a:r>
              <a:rPr lang="en-US" dirty="0"/>
              <a:t>Board: cheap → cheaper → the cheapest; expensive → more expensive → the most expensive; good → better → the best.</a:t>
            </a:r>
          </a:p>
          <a:p>
            <a:r>
              <a:rPr lang="en-US" dirty="0"/>
              <a:t>Grammar Box 1: click 1 and click 2 highlight one pair each. More: Where's the best / the cheapest / the closest supermarket / pharmacy / restaurant? It's on Main Street. It's next to the bank.</a:t>
            </a:r>
          </a:p>
          <a:p>
            <a:r>
              <a:rPr lang="en-US" dirty="0"/>
              <a:t>Source: Level2_Curriculum_v5_public.md, Lesson 8 (Step 4; Grammar Box 1).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Box 3: Is there…? Are there…? Each click highlights Is / Are and its answers.</a:t>
            </a:r>
          </a:p>
          <a:p>
            <a:r>
              <a:rPr lang="en-US" dirty="0"/>
              <a:t>Q: How do I ask if a place is near? Is there a bank near here? (one) • Are there any parks near here? (two or more)</a:t>
            </a:r>
          </a:p>
          <a:p>
            <a:r>
              <a:rPr lang="en-US" dirty="0"/>
              <a:t>Source: Level2_Curriculum_v5_public.md, Lesson 8 (Grammar Box 3; Questions and answers).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mistakes (part 1). Each click shows the correct sentence.</a:t>
            </a:r>
          </a:p>
          <a:p>
            <a:r>
              <a:rPr lang="en-US" dirty="0"/>
              <a:t>Write the correct form on the board. Learners can read the note on their Grammar page; you don't need to explain it.</a:t>
            </a:r>
          </a:p>
          <a:p>
            <a:r>
              <a:rPr lang="en-US" dirty="0"/>
              <a:t>Source: Level2_Curriculum_v5_public.md, Lesson 8 (Common mistakes;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check questions. Learners answer; each click shows one answer.</a:t>
            </a:r>
          </a:p>
          <a:p>
            <a:r>
              <a:rPr lang="en-US" dirty="0"/>
              <a:t>Answers: the biggest · the cheapest · Is there a bank near here?</a:t>
            </a:r>
          </a:p>
          <a:p>
            <a:r>
              <a:rPr lang="en-US" dirty="0"/>
              <a:t>Short "Class Records" (last 5 min): pairs ask 2 questions and find a "record": Who has the longest trip? Who has the biggest family? If behind: skip it.</a:t>
            </a:r>
          </a:p>
          <a:p>
            <a:r>
              <a:rPr lang="en-US" dirty="0"/>
              <a:t>Source: Level2_Curriculum_v5_public.md, Lesson 8 (Step 4 Check).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Box 2: What's the … in town? Each click highlights the superlative.</a:t>
            </a:r>
          </a:p>
          <a:p>
            <a:r>
              <a:rPr lang="en-US" dirty="0"/>
              <a:t>Q: Do I always say the? Yes. It's the best. (not It's best restaurant.)</a:t>
            </a:r>
          </a:p>
          <a:p>
            <a:r>
              <a:rPr lang="en-US" dirty="0"/>
              <a:t>Q: Short or long word? Short: the cheapest. Long: the most expensive. Never both: not the most cheapest.</a:t>
            </a:r>
          </a:p>
          <a:p>
            <a:r>
              <a:rPr lang="en-US" dirty="0"/>
              <a:t>Source: Level2_Curriculum_v5_public.md, Lesson 8 (Grammar Box 2; Questions and answers).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· 6:10–6:18 · New Words (pairs). Point, say, repeat twice. Each click shows one word.</a:t>
            </a:r>
          </a:p>
          <a:p>
            <a:r>
              <a:rPr lang="en-US" dirty="0"/>
              <a:t>Star words here: park, library, supermarket, clinic, pharmacy.</a:t>
            </a:r>
          </a:p>
          <a:p>
            <a:r>
              <a:rPr lang="en-US" dirty="0"/>
              <a:t>What can you do there? Say an action (buy medicine, send a letter, wash clothes). Pairs point to the place.</a:t>
            </a:r>
          </a:p>
          <a:p>
            <a:r>
              <a:rPr lang="en-US" dirty="0"/>
              <a:t>If behind: teach the star words only.</a:t>
            </a:r>
          </a:p>
          <a:p>
            <a:r>
              <a:rPr lang="en-US" dirty="0"/>
              <a:t>Source: Level2_Curriculum_v5_public.md, Lesson 8 (Step 2; Student Page 8 New Words).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more than two? Click 1 and click 2 show one row each.</a:t>
            </a:r>
          </a:p>
          <a:p>
            <a:r>
              <a:rPr lang="en-US" dirty="0"/>
              <a:t>More from the table: big → bigger than → the biggest; easy → easier than → the easiest; good → better than → the best; bad → worse than → the worst; far → farther than → the farthest.</a:t>
            </a:r>
          </a:p>
          <a:p>
            <a:r>
              <a:rPr lang="en-US" dirty="0"/>
              <a:t>Pronunciation (If time ①): th /ð/ in the, there, this, that: tongue between the teeth. Is there a → "Iz-there-a."</a:t>
            </a:r>
          </a:p>
          <a:p>
            <a:r>
              <a:rPr lang="en-US" dirty="0"/>
              <a:t>Source: Level2_Curriculum_v5_public.md, Lesson 8 (Two or more than two?; If time).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1, minutes 5–10: partners share one goal from their midterm can-do self-check. Return the midterm score sheets.</a:t>
            </a:r>
          </a:p>
          <a:p>
            <a:r>
              <a:rPr lang="en-US" dirty="0"/>
              <a:t>Each click shows one answer. The lines review Lesson 7 (comparatives, How long does it take?).</a:t>
            </a:r>
          </a:p>
          <a:p>
            <a:r>
              <a:rPr lang="en-US" dirty="0"/>
              <a:t>Teacher: praise one strength from the speaking interviews for the whole class. If behind: return score sheets at the break instead.</a:t>
            </a:r>
          </a:p>
          <a:p>
            <a:r>
              <a:rPr lang="en-US" dirty="0"/>
              <a:t>Source: Level2_Curriculum_v5_public.md, Lesson 8 (Step 1); Lesson 7 Grammar.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· 6:18–6:30 · Listening + "Say it" (L8_listening.mp3, about 1:35). Audio: L8_listening.mp3 (about 1:35). The audio plays once, play again if needed. Audio coming soon: until it is ready, read the script with a volunteer learner.</a:t>
            </a:r>
          </a:p>
          <a:p>
            <a:r>
              <a:rPr lang="en-US" dirty="0"/>
              <a:t>Before you listen: "Kim is new in the neighborhood. She asks Rosa for help. What places does she need?" Take 2 guesses.</a:t>
            </a:r>
          </a:p>
          <a:p>
            <a:r>
              <a:rPr lang="en-US" dirty="0"/>
              <a:t>Listen 1 → Task A (check the places). Each click shows Yes or No.</a:t>
            </a:r>
          </a:p>
          <a:p>
            <a:r>
              <a:rPr lang="en-US" dirty="0"/>
              <a:t>Answer key: ✓ supermarket, pharmacy, restaurant, park, bank (bank = next to the pharmacy). ✗ library, post office.</a:t>
            </a:r>
          </a:p>
          <a:p>
            <a:r>
              <a:rPr lang="en-US" dirty="0"/>
              <a:t>The listening places are invented. Learners can recommend real local places in Talk Time.</a:t>
            </a:r>
          </a:p>
          <a:p>
            <a:r>
              <a:rPr lang="en-US" dirty="0"/>
              <a:t>Source: Level2_Curriculum_v5_public.md, Lesson 8 (Step 3; Answer key;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· 7:00–7:10 · Talk Time: Neighborhood Guide. Groups of 3–4 (15) / two groups (7–8). Each click shows one step.</a:t>
            </a:r>
          </a:p>
          <a:p>
            <a:r>
              <a:rPr lang="en-US" dirty="0"/>
              <a:t>Do (7 min): groups make a poster: "The best ___ in our neighborhood." Each learner adds 1–2 places: name, street, why it's the best (It's the cheapest. It's the closest.).</a:t>
            </a:r>
          </a:p>
          <a:p>
            <a:r>
              <a:rPr lang="en-US" dirty="0"/>
              <a:t>Share (3 min): groups present one place: "The best park is Lake Park. It's on Lake Street. It's the biggest."</a:t>
            </a:r>
          </a:p>
          <a:p>
            <a:r>
              <a:rPr lang="en-US" dirty="0"/>
              <a:t>If behind: one place per group; skip sharing.</a:t>
            </a:r>
          </a:p>
          <a:p>
            <a:r>
              <a:rPr lang="en-US" dirty="0"/>
              <a:t>Source: Level2_Curriculum_v5_public.md, Lesson 8 (Step 5).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6 · 7:10–7:15 · Exit Ticket + Homework. NEVER SKIP.</a:t>
            </a:r>
          </a:p>
          <a:p>
            <a:r>
              <a:rPr lang="en-US" dirty="0"/>
              <a:t>Exit ticket: The best ___ in my neighborhood is ___. It's ___ (superlative).</a:t>
            </a:r>
          </a:p>
          <a:p>
            <a:r>
              <a:rPr lang="en-US" dirty="0"/>
              <a:t>Homework (10 minutes): 1. Write 5 sentences about the best places in your neighborhood (The best park is… It's the biggest…). 2. Write 2 questions with Is there…? or Are there…? and answer them. 3. Bonus: ask a friend or neighbor: What's the best restaurant in town? Write the answer.</a:t>
            </a:r>
          </a:p>
          <a:p>
            <a:r>
              <a:rPr lang="en-US" dirty="0"/>
              <a:t>Source: Level2_Curriculum_v5_public.md, Lesson 8 (Step 6; Student Page 8 Homework).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 2 → Task B (match). Each click shows one answer. The audio plays once, play again if needed.</a:t>
            </a:r>
          </a:p>
          <a:p>
            <a:r>
              <a:rPr lang="en-US" dirty="0"/>
              <a:t>Answer key: Fresh Market = the biggest; Value Foods = the cheapest; The Sunny Kitchen = the best restaurant; Lake Park = the most beautiful.</a:t>
            </a:r>
          </a:p>
          <a:p>
            <a:r>
              <a:rPr lang="en-US" dirty="0"/>
              <a:t>Source: Level2_Curriculum_v5_public.md, Lesson 8 (Step 3;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Credits. Lesson content: Level 2 Adult ESL Curriculum v5, public edition, Lesson 8.</a:t>
            </a:r>
          </a:p>
          <a:p>
            <a:r>
              <a:rPr lang="en-US" dirty="0"/>
              <a:t>Image credit line copied exactly from images/CREDITS.md. Deck notice: © 2026 the authors; the authors license this deck under CC BY-NC-SA 4.0 (Section 7.2).</a:t>
            </a:r>
          </a:p>
          <a:p>
            <a:r>
              <a:rPr lang="en-US" dirty="0"/>
              <a:t>Audio and font credits: Chatterbox TTS (Resemble AI, MIT; Perth watermark), Lexend Deca (SIL OFL 1.1).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Words, part 2. Each click shows one word. Star words here: bank, the best, the cheapest.</a:t>
            </a:r>
          </a:p>
          <a:p>
            <a:r>
              <a:rPr lang="en-US" dirty="0"/>
              <a:t>Send a letter? → post office. Wash clothes? → laundromat. Buy medicine? → pharmacy.</a:t>
            </a:r>
          </a:p>
          <a:p>
            <a:r>
              <a:rPr lang="en-US" dirty="0"/>
              <a:t>Source: Level2_Curriculum_v5_public.md, Lesson 8 (Step 2; Student Page 8).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 3 → Task C (fill in). Each click fills one blank. The audio plays once, play again if needed.</a:t>
            </a:r>
          </a:p>
          <a:p>
            <a:r>
              <a:rPr lang="en-US" dirty="0"/>
              <a:t>Answer key: cheapest; closest; best; most.</a:t>
            </a:r>
          </a:p>
          <a:p>
            <a:r>
              <a:rPr lang="en-US" dirty="0"/>
              <a:t>"Say it" (1–2 min): the class repeats "Where's the best supermarket?" and "It's the cheapest in town."</a:t>
            </a:r>
          </a:p>
          <a:p>
            <a:r>
              <a:rPr lang="en-US" dirty="0"/>
              <a:t>If behind: skip the third play; do Task C together.</a:t>
            </a:r>
          </a:p>
          <a:p>
            <a:r>
              <a:rPr lang="en-US" dirty="0"/>
              <a:t>Source: Level2_Curriculum_v5_public.md, Lesson 8 (Step 3;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mistakes (part 2). Each click shows the correct sentence.</a:t>
            </a:r>
          </a:p>
          <a:p>
            <a:r>
              <a:rPr lang="en-US" dirty="0"/>
              <a:t>Special words: good → the best, bad → the worst, far → the farthest.</a:t>
            </a:r>
          </a:p>
          <a:p>
            <a:r>
              <a:rPr lang="en-US" dirty="0"/>
              <a:t>Source: Level2_Curriculum_v5_public.md, Lesson 8 (Common mistakes; Questions and answers).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K1" Type="http://schemas.openxmlformats.org/officeDocument/2006/relationships/image" Target="../media/k_L4_right_now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Q1" Type="http://schemas.openxmlformats.org/officeDocument/2006/relationships/image" Target="../media/k_L8_the_best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Q1" Type="http://schemas.openxmlformats.org/officeDocument/2006/relationships/image" Target="../media/k_L7_how_long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Q1" Type="http://schemas.openxmlformats.org/officeDocument/2006/relationships/image" Target="../media/k_L8_park.png"/><Relationship Id="rIdQ2" Type="http://schemas.openxmlformats.org/officeDocument/2006/relationships/image" Target="../media/k_L8_library.png"/><Relationship Id="rIdQ3" Type="http://schemas.openxmlformats.org/officeDocument/2006/relationships/image" Target="../media/k_L8_supermarket.png"/><Relationship Id="rIdQ4" Type="http://schemas.openxmlformats.org/officeDocument/2006/relationships/image" Target="../media/k_L8_restaurant.png"/><Relationship Id="rIdQ5" Type="http://schemas.openxmlformats.org/officeDocument/2006/relationships/image" Target="../media/k_L8_clinic.png"/><Relationship Id="rIdQ6" Type="http://schemas.openxmlformats.org/officeDocument/2006/relationships/image" Target="../media/k_L8_pharmacy.png"/><Relationship Id="rIdQ7" Type="http://schemas.openxmlformats.org/officeDocument/2006/relationships/image" Target="../media/k_L8_laundromat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Q1" Type="http://schemas.openxmlformats.org/officeDocument/2006/relationships/image" Target="../media/k_L8_bank.png"/><Relationship Id="rIdQ2" Type="http://schemas.openxmlformats.org/officeDocument/2006/relationships/image" Target="../media/k_L8_post_office.png"/><Relationship Id="rIdQ3" Type="http://schemas.openxmlformats.org/officeDocument/2006/relationships/image" Target="../media/k_L8_gas_station.png"/><Relationship Id="rIdQ4" Type="http://schemas.openxmlformats.org/officeDocument/2006/relationships/image" Target="../media/k_L8_bakery.png"/><Relationship Id="rIdQ5" Type="http://schemas.openxmlformats.org/officeDocument/2006/relationships/image" Target="../media/k_L8_the_best.png"/><Relationship Id="rIdQ6" Type="http://schemas.openxmlformats.org/officeDocument/2006/relationships/image" Target="../media/k_L8_the_cheapest.png"/><Relationship Id="rIdQ7" Type="http://schemas.openxmlformats.org/officeDocument/2006/relationships/image" Target="../media/k_L8_the_closest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Q1" Type="http://schemas.openxmlformats.org/officeDocument/2006/relationships/image" Target="../media/k_L8_supermarket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Q1" Type="http://schemas.openxmlformats.org/officeDocument/2006/relationships/image" Target="../media/k_L8_restaurant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Q1" Type="http://schemas.openxmlformats.org/officeDocument/2006/relationships/image" Target="../media/k_L8_clinic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Q1" Type="http://schemas.openxmlformats.org/officeDocument/2006/relationships/image" Target="../media/k_L8_bank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Q1" Type="http://schemas.openxmlformats.org/officeDocument/2006/relationships/image" Target="../media/k_L8_the_cheapest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Q1" Type="http://schemas.openxmlformats.org/officeDocument/2006/relationships/image" Target="../media/k_L8_pharmacy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Q1" Type="http://schemas.openxmlformats.org/officeDocument/2006/relationships/image" Target="../media/k_L8_the_closest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Q1" Type="http://schemas.openxmlformats.org/officeDocument/2006/relationships/image" Target="../media/k_L8_park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Q1" Type="http://schemas.openxmlformats.org/officeDocument/2006/relationships/image" Target="../media/k_L8_library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8 (Week 9)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Best Place in Town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77240" y="4480560"/>
            <a:ext cx="6035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Name 10+ places in town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Ask: Where's the best…?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the cheapest, the best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Recommend places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6172200" y="594360"/>
            <a:ext cx="914400" cy="863781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6245679" y="582930"/>
            <a:ext cx="930729" cy="930729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 rot="900000">
            <a:off x="6498771" y="849902"/>
            <a:ext cx="397601" cy="397601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14" name="Picture 14" descr="L4_right_now.png"/>
          <p:cNvPicPr>
            <a:picLocks noChangeAspect="1"/>
          </p:cNvPicPr>
          <p:nvPr/>
        </p:nvPicPr>
        <p:blipFill>
          <a:blip r:embed="rIdK1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pic>
        <p:nvPicPr>
          <p:cNvPr id="15" name="Picture 15" descr="L8_the_best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04" y="1352535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1764792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Warm-Up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9846" y="297180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Same partner.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Review Week 8.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822546" y="4854550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904842" y="4841748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900000">
            <a:off x="5188306" y="5140757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9" name="Question"/>
          <p:cNvSpPr/>
          <p:nvPr/>
        </p:nvSpPr>
        <p:spPr>
          <a:xfrm>
            <a:off x="599846" y="3977640"/>
            <a:ext cx="41148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was the midterm?</a:t>
            </a:r>
            <a:endParaRPr lang="en-US" sz="2200" dirty="0"/>
          </a:p>
        </p:txBody>
      </p:sp>
      <p:sp>
        <p:nvSpPr>
          <p:cNvPr id="20" name="Question"/>
          <p:cNvSpPr/>
          <p:nvPr/>
        </p:nvSpPr>
        <p:spPr>
          <a:xfrm>
            <a:off x="599846" y="4562856"/>
            <a:ext cx="4114800" cy="80467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it easy or difficult?</a:t>
            </a:r>
            <a:endParaRPr lang="en-US" sz="2200" dirty="0"/>
          </a:p>
        </p:txBody>
      </p:sp>
      <p:pic>
        <p:nvPicPr>
          <p:cNvPr id="21" name="Picture 21" descr="L7_how_long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6795821" y="2101291"/>
            <a:ext cx="4763110" cy="33341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20930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035454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83865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4550054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526145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1031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Midterm check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01952" y="25054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Share one goal.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10512" y="3127248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car is ___. (fast)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10512" y="3838651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bus is ___. (cheap)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10512" y="4550054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bike is ___. (good)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10512" y="5261458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___ 20 minutes.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4982" y="2035454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166214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HW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1261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83865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81670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4550054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54365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527974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526968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 the</a:t>
            </a:r>
            <a:endParaRPr lang="en-US" sz="4000" dirty="0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Midterm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Share one goal from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your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can-do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self-check.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184087" y="180411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242576" y="179501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rot="900000">
            <a:off x="6444038" y="200752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38" name="Answer 1"/>
          <p:cNvSpPr/>
          <p:nvPr/>
        </p:nvSpPr>
        <p:spPr>
          <a:xfrm>
            <a:off x="5257800" y="3200400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faster</a:t>
            </a:r>
            <a:endParaRPr lang="en-US" sz="2000" dirty="0"/>
          </a:p>
        </p:txBody>
      </p:sp>
      <p:sp>
        <p:nvSpPr>
          <p:cNvPr id="39" name="Answer 2"/>
          <p:cNvSpPr/>
          <p:nvPr/>
        </p:nvSpPr>
        <p:spPr>
          <a:xfrm>
            <a:off x="5257800" y="3911803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cheaper</a:t>
            </a:r>
            <a:endParaRPr lang="en-US" sz="2000" dirty="0"/>
          </a:p>
        </p:txBody>
      </p:sp>
      <p:sp>
        <p:nvSpPr>
          <p:cNvPr id="40" name="Answer 3"/>
          <p:cNvSpPr/>
          <p:nvPr/>
        </p:nvSpPr>
        <p:spPr>
          <a:xfrm>
            <a:off x="5257800" y="4623206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better</a:t>
            </a:r>
            <a:endParaRPr lang="en-US" sz="2000" dirty="0"/>
          </a:p>
        </p:txBody>
      </p:sp>
      <p:sp>
        <p:nvSpPr>
          <p:cNvPr id="41" name="Answer 4"/>
          <p:cNvSpPr/>
          <p:nvPr/>
        </p:nvSpPr>
        <p:spPr>
          <a:xfrm>
            <a:off x="5257800" y="5334610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takes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/>
          </a:p>
        </p:txBody>
      </p:sp>
      <p:sp>
        <p:nvSpPr>
          <p:cNvPr id="9" name="Shape 7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286561" y="744322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345050" y="73522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900000">
            <a:off x="1546512" y="94773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14884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can you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there?</a:t>
            </a:r>
            <a:endParaRPr lang="en-US" sz="2200" dirty="0"/>
          </a:p>
        </p:txBody>
      </p:sp>
      <p:pic>
        <p:nvPicPr>
          <p:cNvPr id="41" name="Picture 41" descr="park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952837" y="2240280"/>
            <a:ext cx="2076994" cy="1453896"/>
          </a:xfrm>
          <a:prstGeom prst="rect">
            <a:avLst/>
          </a:prstGeom>
        </p:spPr>
      </p:pic>
      <p:sp>
        <p:nvSpPr>
          <p:cNvPr id="42" name="Word label"/>
          <p:cNvSpPr/>
          <p:nvPr/>
        </p:nvSpPr>
        <p:spPr>
          <a:xfrm>
            <a:off x="762610" y="3749040"/>
            <a:ext cx="245745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park</a:t>
            </a:r>
            <a:endParaRPr lang="en-US" sz="2000" dirty="0"/>
          </a:p>
        </p:txBody>
      </p:sp>
      <p:pic>
        <p:nvPicPr>
          <p:cNvPr id="43" name="Picture 43" descr="library"/>
          <p:cNvPicPr>
            <a:picLocks noChangeAspect="1"/>
          </p:cNvPicPr>
          <p:nvPr/>
        </p:nvPicPr>
        <p:blipFill>
          <a:blip r:embed="rIdQ2"/>
          <a:stretch>
            <a:fillRect/>
          </a:stretch>
        </p:blipFill>
        <p:spPr>
          <a:xfrm>
            <a:off x="3638887" y="2240280"/>
            <a:ext cx="2076994" cy="1453896"/>
          </a:xfrm>
          <a:prstGeom prst="rect">
            <a:avLst/>
          </a:prstGeom>
        </p:spPr>
      </p:pic>
      <p:sp>
        <p:nvSpPr>
          <p:cNvPr id="44" name="Word label"/>
          <p:cNvSpPr/>
          <p:nvPr/>
        </p:nvSpPr>
        <p:spPr>
          <a:xfrm>
            <a:off x="3448660" y="3749040"/>
            <a:ext cx="245745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library</a:t>
            </a:r>
            <a:endParaRPr lang="en-US" sz="2000" dirty="0"/>
          </a:p>
        </p:txBody>
      </p:sp>
      <p:pic>
        <p:nvPicPr>
          <p:cNvPr id="45" name="Picture 45" descr="supermarket"/>
          <p:cNvPicPr>
            <a:picLocks noChangeAspect="1"/>
          </p:cNvPicPr>
          <p:nvPr/>
        </p:nvPicPr>
        <p:blipFill>
          <a:blip r:embed="rIdQ3"/>
          <a:stretch>
            <a:fillRect/>
          </a:stretch>
        </p:blipFill>
        <p:spPr>
          <a:xfrm>
            <a:off x="6324937" y="2240280"/>
            <a:ext cx="2076994" cy="1453896"/>
          </a:xfrm>
          <a:prstGeom prst="rect">
            <a:avLst/>
          </a:prstGeom>
        </p:spPr>
      </p:pic>
      <p:sp>
        <p:nvSpPr>
          <p:cNvPr id="46" name="Word label"/>
          <p:cNvSpPr/>
          <p:nvPr/>
        </p:nvSpPr>
        <p:spPr>
          <a:xfrm>
            <a:off x="6134710" y="3749040"/>
            <a:ext cx="245745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supermarket</a:t>
            </a:r>
            <a:endParaRPr lang="en-US" sz="2000" dirty="0"/>
          </a:p>
        </p:txBody>
      </p:sp>
      <p:pic>
        <p:nvPicPr>
          <p:cNvPr id="47" name="Picture 47" descr="restaurant"/>
          <p:cNvPicPr>
            <a:picLocks noChangeAspect="1"/>
          </p:cNvPicPr>
          <p:nvPr/>
        </p:nvPicPr>
        <p:blipFill>
          <a:blip r:embed="rIdQ4"/>
          <a:stretch>
            <a:fillRect/>
          </a:stretch>
        </p:blipFill>
        <p:spPr>
          <a:xfrm>
            <a:off x="9010987" y="2240280"/>
            <a:ext cx="2076994" cy="1453896"/>
          </a:xfrm>
          <a:prstGeom prst="rect">
            <a:avLst/>
          </a:prstGeom>
        </p:spPr>
      </p:pic>
      <p:sp>
        <p:nvSpPr>
          <p:cNvPr id="48" name="Word label"/>
          <p:cNvSpPr/>
          <p:nvPr/>
        </p:nvSpPr>
        <p:spPr>
          <a:xfrm>
            <a:off x="8820760" y="3749040"/>
            <a:ext cx="245745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restaurant</a:t>
            </a:r>
            <a:endParaRPr lang="en-US" sz="2000" dirty="0"/>
          </a:p>
        </p:txBody>
      </p:sp>
      <p:pic>
        <p:nvPicPr>
          <p:cNvPr id="49" name="Picture 49" descr="clinic"/>
          <p:cNvPicPr>
            <a:picLocks noChangeAspect="1"/>
          </p:cNvPicPr>
          <p:nvPr/>
        </p:nvPicPr>
        <p:blipFill>
          <a:blip r:embed="rIdQ5"/>
          <a:stretch>
            <a:fillRect/>
          </a:stretch>
        </p:blipFill>
        <p:spPr>
          <a:xfrm>
            <a:off x="2295862" y="4315968"/>
            <a:ext cx="2076994" cy="1453896"/>
          </a:xfrm>
          <a:prstGeom prst="rect">
            <a:avLst/>
          </a:prstGeom>
        </p:spPr>
      </p:pic>
      <p:sp>
        <p:nvSpPr>
          <p:cNvPr id="50" name="Word label"/>
          <p:cNvSpPr/>
          <p:nvPr/>
        </p:nvSpPr>
        <p:spPr>
          <a:xfrm>
            <a:off x="2105635" y="5824728"/>
            <a:ext cx="245745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clinic</a:t>
            </a:r>
            <a:endParaRPr lang="en-US" sz="2000" dirty="0"/>
          </a:p>
        </p:txBody>
      </p:sp>
      <p:pic>
        <p:nvPicPr>
          <p:cNvPr id="51" name="Picture 51" descr="pharmacy"/>
          <p:cNvPicPr>
            <a:picLocks noChangeAspect="1"/>
          </p:cNvPicPr>
          <p:nvPr/>
        </p:nvPicPr>
        <p:blipFill>
          <a:blip r:embed="rIdQ6"/>
          <a:stretch>
            <a:fillRect/>
          </a:stretch>
        </p:blipFill>
        <p:spPr>
          <a:xfrm>
            <a:off x="4981912" y="4315968"/>
            <a:ext cx="2076994" cy="1453896"/>
          </a:xfrm>
          <a:prstGeom prst="rect">
            <a:avLst/>
          </a:prstGeom>
        </p:spPr>
      </p:pic>
      <p:sp>
        <p:nvSpPr>
          <p:cNvPr id="52" name="Word label"/>
          <p:cNvSpPr/>
          <p:nvPr/>
        </p:nvSpPr>
        <p:spPr>
          <a:xfrm>
            <a:off x="4791685" y="5824728"/>
            <a:ext cx="245745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pharmacy</a:t>
            </a:r>
            <a:endParaRPr lang="en-US" sz="2000" dirty="0"/>
          </a:p>
        </p:txBody>
      </p:sp>
      <p:pic>
        <p:nvPicPr>
          <p:cNvPr id="53" name="Picture 53" descr="laundromat"/>
          <p:cNvPicPr>
            <a:picLocks noChangeAspect="1"/>
          </p:cNvPicPr>
          <p:nvPr/>
        </p:nvPicPr>
        <p:blipFill>
          <a:blip r:embed="rIdQ7"/>
          <a:stretch>
            <a:fillRect/>
          </a:stretch>
        </p:blipFill>
        <p:spPr>
          <a:xfrm>
            <a:off x="7667962" y="4315968"/>
            <a:ext cx="2076994" cy="1453896"/>
          </a:xfrm>
          <a:prstGeom prst="rect">
            <a:avLst/>
          </a:prstGeom>
        </p:spPr>
      </p:pic>
      <p:sp>
        <p:nvSpPr>
          <p:cNvPr id="54" name="Word label"/>
          <p:cNvSpPr/>
          <p:nvPr/>
        </p:nvSpPr>
        <p:spPr>
          <a:xfrm>
            <a:off x="7477735" y="5824728"/>
            <a:ext cx="245745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laundromat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286561" y="744322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345050" y="73522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900000">
            <a:off x="1546512" y="94773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14884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Send a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letter?</a:t>
            </a:r>
            <a:endParaRPr lang="en-US" sz="2200" dirty="0"/>
          </a:p>
        </p:txBody>
      </p:sp>
      <p:pic>
        <p:nvPicPr>
          <p:cNvPr id="39" name="Picture 39" descr="bank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952837" y="2240280"/>
            <a:ext cx="2076994" cy="1453896"/>
          </a:xfrm>
          <a:prstGeom prst="rect">
            <a:avLst/>
          </a:prstGeom>
        </p:spPr>
      </p:pic>
      <p:sp>
        <p:nvSpPr>
          <p:cNvPr id="40" name="Word label"/>
          <p:cNvSpPr/>
          <p:nvPr/>
        </p:nvSpPr>
        <p:spPr>
          <a:xfrm>
            <a:off x="762610" y="3749040"/>
            <a:ext cx="245745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bank</a:t>
            </a:r>
            <a:endParaRPr lang="en-US" sz="2000" dirty="0"/>
          </a:p>
        </p:txBody>
      </p:sp>
      <p:pic>
        <p:nvPicPr>
          <p:cNvPr id="41" name="Picture 41" descr="post office"/>
          <p:cNvPicPr>
            <a:picLocks noChangeAspect="1"/>
          </p:cNvPicPr>
          <p:nvPr/>
        </p:nvPicPr>
        <p:blipFill>
          <a:blip r:embed="rIdQ2"/>
          <a:stretch>
            <a:fillRect/>
          </a:stretch>
        </p:blipFill>
        <p:spPr>
          <a:xfrm>
            <a:off x="3638887" y="2240280"/>
            <a:ext cx="2076994" cy="1453896"/>
          </a:xfrm>
          <a:prstGeom prst="rect">
            <a:avLst/>
          </a:prstGeom>
        </p:spPr>
      </p:pic>
      <p:sp>
        <p:nvSpPr>
          <p:cNvPr id="42" name="Word label"/>
          <p:cNvSpPr/>
          <p:nvPr/>
        </p:nvSpPr>
        <p:spPr>
          <a:xfrm>
            <a:off x="3448660" y="3749040"/>
            <a:ext cx="245745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post office</a:t>
            </a:r>
            <a:endParaRPr lang="en-US" sz="2000" dirty="0"/>
          </a:p>
        </p:txBody>
      </p:sp>
      <p:pic>
        <p:nvPicPr>
          <p:cNvPr id="43" name="Picture 43" descr="gas station"/>
          <p:cNvPicPr>
            <a:picLocks noChangeAspect="1"/>
          </p:cNvPicPr>
          <p:nvPr/>
        </p:nvPicPr>
        <p:blipFill>
          <a:blip r:embed="rIdQ3"/>
          <a:stretch>
            <a:fillRect/>
          </a:stretch>
        </p:blipFill>
        <p:spPr>
          <a:xfrm>
            <a:off x="6324937" y="2240280"/>
            <a:ext cx="2076994" cy="1453896"/>
          </a:xfrm>
          <a:prstGeom prst="rect">
            <a:avLst/>
          </a:prstGeom>
        </p:spPr>
      </p:pic>
      <p:sp>
        <p:nvSpPr>
          <p:cNvPr id="44" name="Word label"/>
          <p:cNvSpPr/>
          <p:nvPr/>
        </p:nvSpPr>
        <p:spPr>
          <a:xfrm>
            <a:off x="6134710" y="3749040"/>
            <a:ext cx="245745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gas station</a:t>
            </a:r>
            <a:endParaRPr lang="en-US" sz="2000" dirty="0"/>
          </a:p>
        </p:txBody>
      </p:sp>
      <p:pic>
        <p:nvPicPr>
          <p:cNvPr id="45" name="Picture 45" descr="bakery"/>
          <p:cNvPicPr>
            <a:picLocks noChangeAspect="1"/>
          </p:cNvPicPr>
          <p:nvPr/>
        </p:nvPicPr>
        <p:blipFill>
          <a:blip r:embed="rIdQ4"/>
          <a:stretch>
            <a:fillRect/>
          </a:stretch>
        </p:blipFill>
        <p:spPr>
          <a:xfrm>
            <a:off x="9010987" y="2240280"/>
            <a:ext cx="2076994" cy="1453896"/>
          </a:xfrm>
          <a:prstGeom prst="rect">
            <a:avLst/>
          </a:prstGeom>
        </p:spPr>
      </p:pic>
      <p:sp>
        <p:nvSpPr>
          <p:cNvPr id="46" name="Word label"/>
          <p:cNvSpPr/>
          <p:nvPr/>
        </p:nvSpPr>
        <p:spPr>
          <a:xfrm>
            <a:off x="8820760" y="3749040"/>
            <a:ext cx="245745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bakery</a:t>
            </a:r>
            <a:endParaRPr lang="en-US" sz="2000" dirty="0"/>
          </a:p>
        </p:txBody>
      </p:sp>
      <p:pic>
        <p:nvPicPr>
          <p:cNvPr id="47" name="Picture 47" descr="the best"/>
          <p:cNvPicPr>
            <a:picLocks noChangeAspect="1"/>
          </p:cNvPicPr>
          <p:nvPr/>
        </p:nvPicPr>
        <p:blipFill>
          <a:blip r:embed="rIdQ5"/>
          <a:stretch>
            <a:fillRect/>
          </a:stretch>
        </p:blipFill>
        <p:spPr>
          <a:xfrm>
            <a:off x="2295862" y="4315968"/>
            <a:ext cx="2076994" cy="1453896"/>
          </a:xfrm>
          <a:prstGeom prst="rect">
            <a:avLst/>
          </a:prstGeom>
        </p:spPr>
      </p:pic>
      <p:sp>
        <p:nvSpPr>
          <p:cNvPr id="48" name="Word label"/>
          <p:cNvSpPr/>
          <p:nvPr/>
        </p:nvSpPr>
        <p:spPr>
          <a:xfrm>
            <a:off x="2105635" y="5824728"/>
            <a:ext cx="245745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best</a:t>
            </a:r>
            <a:endParaRPr lang="en-US" sz="2000" dirty="0"/>
          </a:p>
        </p:txBody>
      </p:sp>
      <p:pic>
        <p:nvPicPr>
          <p:cNvPr id="49" name="Picture 49" descr="the cheapest"/>
          <p:cNvPicPr>
            <a:picLocks noChangeAspect="1"/>
          </p:cNvPicPr>
          <p:nvPr/>
        </p:nvPicPr>
        <p:blipFill>
          <a:blip r:embed="rIdQ6"/>
          <a:stretch>
            <a:fillRect/>
          </a:stretch>
        </p:blipFill>
        <p:spPr>
          <a:xfrm>
            <a:off x="4981912" y="4315968"/>
            <a:ext cx="2076994" cy="1453896"/>
          </a:xfrm>
          <a:prstGeom prst="rect">
            <a:avLst/>
          </a:prstGeom>
        </p:spPr>
      </p:pic>
      <p:sp>
        <p:nvSpPr>
          <p:cNvPr id="50" name="Word label"/>
          <p:cNvSpPr/>
          <p:nvPr/>
        </p:nvSpPr>
        <p:spPr>
          <a:xfrm>
            <a:off x="4791685" y="5824728"/>
            <a:ext cx="245745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cheapest</a:t>
            </a:r>
            <a:endParaRPr lang="en-US" sz="2000" dirty="0"/>
          </a:p>
        </p:txBody>
      </p:sp>
      <p:pic>
        <p:nvPicPr>
          <p:cNvPr id="51" name="Picture 51" descr="the closest"/>
          <p:cNvPicPr>
            <a:picLocks noChangeAspect="1"/>
          </p:cNvPicPr>
          <p:nvPr/>
        </p:nvPicPr>
        <p:blipFill>
          <a:blip r:embed="rIdQ7"/>
          <a:stretch>
            <a:fillRect/>
          </a:stretch>
        </p:blipFill>
        <p:spPr>
          <a:xfrm>
            <a:off x="7667962" y="4315968"/>
            <a:ext cx="2076994" cy="1453896"/>
          </a:xfrm>
          <a:prstGeom prst="rect">
            <a:avLst/>
          </a:prstGeom>
        </p:spPr>
      </p:pic>
      <p:sp>
        <p:nvSpPr>
          <p:cNvPr id="52" name="Word label"/>
          <p:cNvSpPr/>
          <p:nvPr/>
        </p:nvSpPr>
        <p:spPr>
          <a:xfrm>
            <a:off x="7477735" y="5824728"/>
            <a:ext cx="245745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closest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000" dirty="0"/>
          </a:p>
        </p:txBody>
      </p:sp>
      <p:sp>
        <p:nvSpPr>
          <p:cNvPr id="22" name="Shape 20"/>
          <p:cNvSpPr/>
          <p:nvPr/>
        </p:nvSpPr>
        <p:spPr>
          <a:xfrm>
            <a:off x="4702759" y="5703113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761248" y="5694015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rot="900000">
            <a:off x="4962710" y="5906524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65" name="Subtitle"/>
          <p:cNvSpPr/>
          <p:nvPr/>
        </p:nvSpPr>
        <p:spPr>
          <a:xfrm>
            <a:off x="771754" y="2148840"/>
            <a:ext cx="457200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Check the places.</a:t>
            </a:r>
            <a:endParaRPr lang="en-US" sz="2000" dirty="0"/>
          </a:p>
        </p:txBody>
      </p:sp>
      <p:pic>
        <p:nvPicPr>
          <p:cNvPr id="66" name="Picture 66" descr="L8_supermarket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1274674" y="3680460"/>
            <a:ext cx="3450031" cy="2415022"/>
          </a:xfrm>
          <a:prstGeom prst="rect">
            <a:avLst/>
          </a:prstGeom>
        </p:spPr>
      </p:pic>
      <p:sp>
        <p:nvSpPr>
          <p:cNvPr id="67" name="Row shadow"/>
          <p:cNvSpPr/>
          <p:nvPr/>
        </p:nvSpPr>
        <p:spPr>
          <a:xfrm>
            <a:off x="5815584" y="1243584"/>
            <a:ext cx="5989320" cy="598279"/>
          </a:xfrm>
          <a:prstGeom prst="roundRect">
            <a:avLst>
              <a:gd name="adj" fmla="val 22000"/>
            </a:avLst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68" name="Row"/>
          <p:cNvSpPr/>
          <p:nvPr/>
        </p:nvSpPr>
        <p:spPr>
          <a:xfrm>
            <a:off x="5760720" y="1188720"/>
            <a:ext cx="5989320" cy="598279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69" name="Item"/>
          <p:cNvSpPr/>
          <p:nvPr/>
        </p:nvSpPr>
        <p:spPr>
          <a:xfrm>
            <a:off x="5870448" y="1188720"/>
            <a:ext cx="4709160" cy="598279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supermarket</a:t>
            </a:r>
            <a:endParaRPr lang="en-US" sz="2200" dirty="0"/>
          </a:p>
        </p:txBody>
      </p:sp>
      <p:sp>
        <p:nvSpPr>
          <p:cNvPr id="70" name="Tag 1"/>
          <p:cNvSpPr/>
          <p:nvPr/>
        </p:nvSpPr>
        <p:spPr>
          <a:xfrm>
            <a:off x="10607040" y="1250115"/>
            <a:ext cx="1051560" cy="475488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1750">
            <a:solidFill>
              <a:srgbClr val="1E6B45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  <a:endParaRPr lang="en-US" sz="2000" dirty="0"/>
          </a:p>
        </p:txBody>
      </p:sp>
      <p:sp>
        <p:nvSpPr>
          <p:cNvPr id="71" name="Row shadow"/>
          <p:cNvSpPr/>
          <p:nvPr/>
        </p:nvSpPr>
        <p:spPr>
          <a:xfrm>
            <a:off x="5815584" y="1988167"/>
            <a:ext cx="5989320" cy="598279"/>
          </a:xfrm>
          <a:prstGeom prst="roundRect">
            <a:avLst>
              <a:gd name="adj" fmla="val 22000"/>
            </a:avLst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2" name="Row"/>
          <p:cNvSpPr/>
          <p:nvPr/>
        </p:nvSpPr>
        <p:spPr>
          <a:xfrm>
            <a:off x="5760720" y="1933303"/>
            <a:ext cx="5989320" cy="598279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3" name="Item"/>
          <p:cNvSpPr/>
          <p:nvPr/>
        </p:nvSpPr>
        <p:spPr>
          <a:xfrm>
            <a:off x="5870448" y="1933303"/>
            <a:ext cx="4709160" cy="598279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pharmacy</a:t>
            </a:r>
            <a:endParaRPr lang="en-US" sz="2200" dirty="0"/>
          </a:p>
        </p:txBody>
      </p:sp>
      <p:sp>
        <p:nvSpPr>
          <p:cNvPr id="74" name="Tag 2"/>
          <p:cNvSpPr/>
          <p:nvPr/>
        </p:nvSpPr>
        <p:spPr>
          <a:xfrm>
            <a:off x="10607040" y="1994698"/>
            <a:ext cx="1051560" cy="475488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1750">
            <a:solidFill>
              <a:srgbClr val="1E6B45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  <a:endParaRPr lang="en-US" sz="2000" dirty="0"/>
          </a:p>
        </p:txBody>
      </p:sp>
      <p:sp>
        <p:nvSpPr>
          <p:cNvPr id="75" name="Row shadow"/>
          <p:cNvSpPr/>
          <p:nvPr/>
        </p:nvSpPr>
        <p:spPr>
          <a:xfrm>
            <a:off x="5815584" y="2732750"/>
            <a:ext cx="5989320" cy="598279"/>
          </a:xfrm>
          <a:prstGeom prst="roundRect">
            <a:avLst>
              <a:gd name="adj" fmla="val 22000"/>
            </a:avLst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6" name="Row"/>
          <p:cNvSpPr/>
          <p:nvPr/>
        </p:nvSpPr>
        <p:spPr>
          <a:xfrm>
            <a:off x="5760720" y="2677886"/>
            <a:ext cx="5989320" cy="598279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7" name="Item"/>
          <p:cNvSpPr/>
          <p:nvPr/>
        </p:nvSpPr>
        <p:spPr>
          <a:xfrm>
            <a:off x="5870448" y="2677886"/>
            <a:ext cx="4709160" cy="598279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post office</a:t>
            </a:r>
            <a:endParaRPr lang="en-US" sz="2200" dirty="0"/>
          </a:p>
        </p:txBody>
      </p:sp>
      <p:sp>
        <p:nvSpPr>
          <p:cNvPr id="78" name="Tag 3"/>
          <p:cNvSpPr/>
          <p:nvPr/>
        </p:nvSpPr>
        <p:spPr>
          <a:xfrm>
            <a:off x="10607040" y="2739281"/>
            <a:ext cx="1051560" cy="475488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1750">
            <a:solidFill>
              <a:srgbClr val="B42318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</a:t>
            </a:r>
            <a:endParaRPr lang="en-US" sz="2000" dirty="0"/>
          </a:p>
        </p:txBody>
      </p:sp>
      <p:sp>
        <p:nvSpPr>
          <p:cNvPr id="79" name="Row shadow"/>
          <p:cNvSpPr/>
          <p:nvPr/>
        </p:nvSpPr>
        <p:spPr>
          <a:xfrm>
            <a:off x="5815584" y="3477333"/>
            <a:ext cx="5989320" cy="598279"/>
          </a:xfrm>
          <a:prstGeom prst="roundRect">
            <a:avLst>
              <a:gd name="adj" fmla="val 22000"/>
            </a:avLst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0" name="Row"/>
          <p:cNvSpPr/>
          <p:nvPr/>
        </p:nvSpPr>
        <p:spPr>
          <a:xfrm>
            <a:off x="5760720" y="3422469"/>
            <a:ext cx="5989320" cy="598279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1" name="Item"/>
          <p:cNvSpPr/>
          <p:nvPr/>
        </p:nvSpPr>
        <p:spPr>
          <a:xfrm>
            <a:off x="5870448" y="3422469"/>
            <a:ext cx="4709160" cy="598279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bank</a:t>
            </a:r>
            <a:endParaRPr lang="en-US" sz="2200" dirty="0"/>
          </a:p>
        </p:txBody>
      </p:sp>
      <p:sp>
        <p:nvSpPr>
          <p:cNvPr id="82" name="Tag 4"/>
          <p:cNvSpPr/>
          <p:nvPr/>
        </p:nvSpPr>
        <p:spPr>
          <a:xfrm>
            <a:off x="10607040" y="3483864"/>
            <a:ext cx="1051560" cy="475488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1750">
            <a:solidFill>
              <a:srgbClr val="1E6B45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  <a:endParaRPr lang="en-US" sz="2000" dirty="0"/>
          </a:p>
        </p:txBody>
      </p:sp>
      <p:sp>
        <p:nvSpPr>
          <p:cNvPr id="83" name="Row shadow"/>
          <p:cNvSpPr/>
          <p:nvPr/>
        </p:nvSpPr>
        <p:spPr>
          <a:xfrm>
            <a:off x="5815584" y="4221915"/>
            <a:ext cx="5989320" cy="598279"/>
          </a:xfrm>
          <a:prstGeom prst="roundRect">
            <a:avLst>
              <a:gd name="adj" fmla="val 22000"/>
            </a:avLst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4" name="Row"/>
          <p:cNvSpPr/>
          <p:nvPr/>
        </p:nvSpPr>
        <p:spPr>
          <a:xfrm>
            <a:off x="5760720" y="4167051"/>
            <a:ext cx="5989320" cy="598279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5" name="Item"/>
          <p:cNvSpPr/>
          <p:nvPr/>
        </p:nvSpPr>
        <p:spPr>
          <a:xfrm>
            <a:off x="5870448" y="4167051"/>
            <a:ext cx="4709160" cy="598279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library</a:t>
            </a:r>
            <a:endParaRPr lang="en-US" sz="2200" dirty="0"/>
          </a:p>
        </p:txBody>
      </p:sp>
      <p:sp>
        <p:nvSpPr>
          <p:cNvPr id="86" name="Tag 5"/>
          <p:cNvSpPr/>
          <p:nvPr/>
        </p:nvSpPr>
        <p:spPr>
          <a:xfrm>
            <a:off x="10607040" y="4228447"/>
            <a:ext cx="1051560" cy="475488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1750">
            <a:solidFill>
              <a:srgbClr val="B42318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</a:t>
            </a:r>
            <a:endParaRPr lang="en-US" sz="2000" dirty="0"/>
          </a:p>
        </p:txBody>
      </p:sp>
      <p:sp>
        <p:nvSpPr>
          <p:cNvPr id="87" name="Row shadow"/>
          <p:cNvSpPr/>
          <p:nvPr/>
        </p:nvSpPr>
        <p:spPr>
          <a:xfrm>
            <a:off x="5815584" y="4966498"/>
            <a:ext cx="5989320" cy="598279"/>
          </a:xfrm>
          <a:prstGeom prst="roundRect">
            <a:avLst>
              <a:gd name="adj" fmla="val 22000"/>
            </a:avLst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8" name="Row"/>
          <p:cNvSpPr/>
          <p:nvPr/>
        </p:nvSpPr>
        <p:spPr>
          <a:xfrm>
            <a:off x="5760720" y="4911634"/>
            <a:ext cx="5989320" cy="598279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9" name="Item"/>
          <p:cNvSpPr/>
          <p:nvPr/>
        </p:nvSpPr>
        <p:spPr>
          <a:xfrm>
            <a:off x="5870448" y="4911634"/>
            <a:ext cx="4709160" cy="598279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restaurant</a:t>
            </a:r>
            <a:endParaRPr lang="en-US" sz="2200" dirty="0"/>
          </a:p>
        </p:txBody>
      </p:sp>
      <p:sp>
        <p:nvSpPr>
          <p:cNvPr id="90" name="Tag 6"/>
          <p:cNvSpPr/>
          <p:nvPr/>
        </p:nvSpPr>
        <p:spPr>
          <a:xfrm>
            <a:off x="10607040" y="4973030"/>
            <a:ext cx="1051560" cy="475488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1750">
            <a:solidFill>
              <a:srgbClr val="1E6B45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  <a:endParaRPr lang="en-US" sz="2000" dirty="0"/>
          </a:p>
        </p:txBody>
      </p:sp>
      <p:sp>
        <p:nvSpPr>
          <p:cNvPr id="91" name="Row shadow"/>
          <p:cNvSpPr/>
          <p:nvPr/>
        </p:nvSpPr>
        <p:spPr>
          <a:xfrm>
            <a:off x="5815584" y="5711081"/>
            <a:ext cx="5989320" cy="598279"/>
          </a:xfrm>
          <a:prstGeom prst="roundRect">
            <a:avLst>
              <a:gd name="adj" fmla="val 22000"/>
            </a:avLst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92" name="Row"/>
          <p:cNvSpPr/>
          <p:nvPr/>
        </p:nvSpPr>
        <p:spPr>
          <a:xfrm>
            <a:off x="5760720" y="5656217"/>
            <a:ext cx="5989320" cy="598279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93" name="Item"/>
          <p:cNvSpPr/>
          <p:nvPr/>
        </p:nvSpPr>
        <p:spPr>
          <a:xfrm>
            <a:off x="5870448" y="5656217"/>
            <a:ext cx="4709160" cy="598279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park</a:t>
            </a:r>
            <a:endParaRPr lang="en-US" sz="2200" dirty="0"/>
          </a:p>
        </p:txBody>
      </p:sp>
      <p:sp>
        <p:nvSpPr>
          <p:cNvPr id="94" name="Tag 7"/>
          <p:cNvSpPr/>
          <p:nvPr/>
        </p:nvSpPr>
        <p:spPr>
          <a:xfrm>
            <a:off x="10607040" y="5717613"/>
            <a:ext cx="1051560" cy="475488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1750">
            <a:solidFill>
              <a:srgbClr val="1E6B45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Match. It's ...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0865815" y="269565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924304" y="268655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rot="900000">
            <a:off x="11125766" y="289906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67" name="Statement 1"/>
          <p:cNvSpPr/>
          <p:nvPr/>
        </p:nvSpPr>
        <p:spPr>
          <a:xfrm>
            <a:off x="502920" y="3063240"/>
            <a:ext cx="420624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Fresh Market</a:t>
            </a:r>
            <a:endParaRPr lang="en-US" sz="2400" dirty="0"/>
          </a:p>
        </p:txBody>
      </p:sp>
      <p:sp>
        <p:nvSpPr>
          <p:cNvPr id="68" name="Cell 11"/>
          <p:cNvSpPr/>
          <p:nvPr/>
        </p:nvSpPr>
        <p:spPr>
          <a:xfrm>
            <a:off x="5120640" y="3118104"/>
            <a:ext cx="45720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69" name="Mark 11"/>
          <p:cNvSpPr/>
          <p:nvPr/>
        </p:nvSpPr>
        <p:spPr>
          <a:xfrm>
            <a:off x="5120640" y="3118104"/>
            <a:ext cx="45720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c. the biggest</a:t>
            </a:r>
            <a:endParaRPr lang="en-US" sz="2200" dirty="0"/>
          </a:p>
        </p:txBody>
      </p:sp>
      <p:sp>
        <p:nvSpPr>
          <p:cNvPr id="70" name="Statement 2"/>
          <p:cNvSpPr/>
          <p:nvPr/>
        </p:nvSpPr>
        <p:spPr>
          <a:xfrm>
            <a:off x="502920" y="3867912"/>
            <a:ext cx="420624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Value Foods</a:t>
            </a:r>
            <a:endParaRPr lang="en-US" sz="2400" dirty="0"/>
          </a:p>
        </p:txBody>
      </p:sp>
      <p:sp>
        <p:nvSpPr>
          <p:cNvPr id="71" name="Cell 21"/>
          <p:cNvSpPr/>
          <p:nvPr/>
        </p:nvSpPr>
        <p:spPr>
          <a:xfrm>
            <a:off x="5120640" y="3922776"/>
            <a:ext cx="45720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2" name="Mark 21"/>
          <p:cNvSpPr/>
          <p:nvPr/>
        </p:nvSpPr>
        <p:spPr>
          <a:xfrm>
            <a:off x="5120640" y="3922776"/>
            <a:ext cx="45720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the cheapest</a:t>
            </a:r>
            <a:endParaRPr lang="en-US" sz="2200" dirty="0"/>
          </a:p>
        </p:txBody>
      </p:sp>
      <p:sp>
        <p:nvSpPr>
          <p:cNvPr id="73" name="Statement 3"/>
          <p:cNvSpPr/>
          <p:nvPr/>
        </p:nvSpPr>
        <p:spPr>
          <a:xfrm>
            <a:off x="502920" y="4672584"/>
            <a:ext cx="420624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The Sunny Kitchen</a:t>
            </a:r>
            <a:endParaRPr lang="en-US" sz="2400" dirty="0"/>
          </a:p>
        </p:txBody>
      </p:sp>
      <p:sp>
        <p:nvSpPr>
          <p:cNvPr id="74" name="Cell 31"/>
          <p:cNvSpPr/>
          <p:nvPr/>
        </p:nvSpPr>
        <p:spPr>
          <a:xfrm>
            <a:off x="5120640" y="4727448"/>
            <a:ext cx="45720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5" name="Mark 31"/>
          <p:cNvSpPr/>
          <p:nvPr/>
        </p:nvSpPr>
        <p:spPr>
          <a:xfrm>
            <a:off x="5120640" y="4727448"/>
            <a:ext cx="45720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d. the best restaurant</a:t>
            </a:r>
            <a:endParaRPr lang="en-US" sz="2200" dirty="0"/>
          </a:p>
        </p:txBody>
      </p:sp>
      <p:sp>
        <p:nvSpPr>
          <p:cNvPr id="76" name="Statement 4"/>
          <p:cNvSpPr/>
          <p:nvPr/>
        </p:nvSpPr>
        <p:spPr>
          <a:xfrm>
            <a:off x="502920" y="5477256"/>
            <a:ext cx="420624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Lake Park</a:t>
            </a:r>
            <a:endParaRPr lang="en-US" sz="2400" dirty="0"/>
          </a:p>
        </p:txBody>
      </p:sp>
      <p:sp>
        <p:nvSpPr>
          <p:cNvPr id="77" name="Cell 41"/>
          <p:cNvSpPr/>
          <p:nvPr/>
        </p:nvSpPr>
        <p:spPr>
          <a:xfrm>
            <a:off x="5120640" y="5532120"/>
            <a:ext cx="45720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8" name="Mark 41"/>
          <p:cNvSpPr/>
          <p:nvPr/>
        </p:nvSpPr>
        <p:spPr>
          <a:xfrm>
            <a:off x="5120640" y="5532120"/>
            <a:ext cx="45720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the most beautiful park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20930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035454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977640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4828032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5678424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1031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01952" y="25054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10512" y="3127248"/>
            <a:ext cx="307787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Value Foods is the ____.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10512" y="3977640"/>
            <a:ext cx="324063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____ one is on Pine Street.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10512" y="4828032"/>
            <a:ext cx="36484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think The Sunny Kitchen is the ____.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10512" y="5678424"/>
            <a:ext cx="36484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Lake Park is the ____ beautiful park in town.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4982" y="2035454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166214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27248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977640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977640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4828032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828032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5678424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5678424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things: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cheaper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Three or more: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cheapest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184087" y="180411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242576" y="179501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rot="900000">
            <a:off x="6444038" y="200752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42" name="Answer 1"/>
          <p:cNvSpPr/>
          <p:nvPr/>
        </p:nvSpPr>
        <p:spPr>
          <a:xfrm>
            <a:off x="4961534" y="3278124"/>
            <a:ext cx="1622146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cheapest</a:t>
            </a:r>
            <a:endParaRPr lang="en-US" sz="2200" dirty="0"/>
          </a:p>
        </p:txBody>
      </p:sp>
      <p:sp>
        <p:nvSpPr>
          <p:cNvPr id="43" name="Answer 2"/>
          <p:cNvSpPr/>
          <p:nvPr/>
        </p:nvSpPr>
        <p:spPr>
          <a:xfrm>
            <a:off x="5124298" y="4128516"/>
            <a:ext cx="1459382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closest</a:t>
            </a:r>
            <a:endParaRPr lang="en-US" sz="2200" dirty="0"/>
          </a:p>
        </p:txBody>
      </p:sp>
      <p:sp>
        <p:nvSpPr>
          <p:cNvPr id="44" name="Answer 3"/>
          <p:cNvSpPr/>
          <p:nvPr/>
        </p:nvSpPr>
        <p:spPr>
          <a:xfrm>
            <a:off x="5532120" y="4978908"/>
            <a:ext cx="1051560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best</a:t>
            </a:r>
            <a:endParaRPr lang="en-US" sz="2200" dirty="0"/>
          </a:p>
        </p:txBody>
      </p:sp>
      <p:sp>
        <p:nvSpPr>
          <p:cNvPr id="45" name="Answer 4"/>
          <p:cNvSpPr/>
          <p:nvPr/>
        </p:nvSpPr>
        <p:spPr>
          <a:xfrm>
            <a:off x="5532120" y="5829300"/>
            <a:ext cx="1051560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most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 the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best ...?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Add: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town?</a:t>
            </a:r>
            <a:endParaRPr lang="en-US" sz="2000" dirty="0"/>
          </a:p>
        </p:txBody>
      </p:sp>
      <p:pic>
        <p:nvPicPr>
          <p:cNvPr id="65" name="Picture 65" descr="L8_restaurant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66" name="Wh"/>
          <p:cNvSpPr/>
          <p:nvPr/>
        </p:nvSpPr>
        <p:spPr>
          <a:xfrm>
            <a:off x="3291840" y="4114800"/>
            <a:ext cx="1224839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</a:t>
            </a:r>
            <a:endParaRPr lang="en-US" sz="2200" dirty="0"/>
          </a:p>
        </p:txBody>
      </p:sp>
      <p:sp>
        <p:nvSpPr>
          <p:cNvPr id="67" name="Highlight"/>
          <p:cNvSpPr/>
          <p:nvPr/>
        </p:nvSpPr>
        <p:spPr>
          <a:xfrm>
            <a:off x="4516679" y="4114800"/>
            <a:ext cx="1644457" cy="530352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68" name="Helper"/>
          <p:cNvSpPr/>
          <p:nvPr/>
        </p:nvSpPr>
        <p:spPr>
          <a:xfrm>
            <a:off x="4516679" y="4114800"/>
            <a:ext cx="1644457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best</a:t>
            </a:r>
            <a:endParaRPr lang="en-US" sz="2200" dirty="0"/>
          </a:p>
        </p:txBody>
      </p:sp>
      <p:sp>
        <p:nvSpPr>
          <p:cNvPr id="69" name="Rest"/>
          <p:cNvSpPr/>
          <p:nvPr/>
        </p:nvSpPr>
        <p:spPr>
          <a:xfrm>
            <a:off x="6216000" y="4114800"/>
            <a:ext cx="1842516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restaurant?</a:t>
            </a:r>
            <a:endParaRPr lang="en-US" sz="2200" dirty="0"/>
          </a:p>
        </p:txBody>
      </p:sp>
      <p:sp>
        <p:nvSpPr>
          <p:cNvPr id="70" name="Wh"/>
          <p:cNvSpPr/>
          <p:nvPr/>
        </p:nvSpPr>
        <p:spPr>
          <a:xfrm>
            <a:off x="3291840" y="4846320"/>
            <a:ext cx="1224839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</a:t>
            </a:r>
            <a:endParaRPr lang="en-US" sz="2200" dirty="0"/>
          </a:p>
        </p:txBody>
      </p:sp>
      <p:sp>
        <p:nvSpPr>
          <p:cNvPr id="71" name="Highlight"/>
          <p:cNvSpPr/>
          <p:nvPr/>
        </p:nvSpPr>
        <p:spPr>
          <a:xfrm>
            <a:off x="4516679" y="4846320"/>
            <a:ext cx="2320381" cy="530352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2" name="Helper"/>
          <p:cNvSpPr/>
          <p:nvPr/>
        </p:nvSpPr>
        <p:spPr>
          <a:xfrm>
            <a:off x="4516679" y="4846320"/>
            <a:ext cx="2320381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cheapest</a:t>
            </a:r>
            <a:endParaRPr lang="en-US" sz="2200" dirty="0"/>
          </a:p>
        </p:txBody>
      </p:sp>
      <p:sp>
        <p:nvSpPr>
          <p:cNvPr id="73" name="Rest"/>
          <p:cNvSpPr/>
          <p:nvPr/>
        </p:nvSpPr>
        <p:spPr>
          <a:xfrm>
            <a:off x="6891924" y="4846320"/>
            <a:ext cx="1088136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store?</a:t>
            </a:r>
            <a:endParaRPr lang="en-US" sz="2200" dirty="0"/>
          </a:p>
        </p:txBody>
      </p:sp>
      <p:sp>
        <p:nvSpPr>
          <p:cNvPr id="74" name="Wh"/>
          <p:cNvSpPr/>
          <p:nvPr/>
        </p:nvSpPr>
        <p:spPr>
          <a:xfrm>
            <a:off x="3291840" y="5577840"/>
            <a:ext cx="1224839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</a:t>
            </a:r>
            <a:endParaRPr lang="en-US" sz="2200" dirty="0"/>
          </a:p>
        </p:txBody>
      </p:sp>
      <p:sp>
        <p:nvSpPr>
          <p:cNvPr id="75" name="Highlight"/>
          <p:cNvSpPr/>
          <p:nvPr/>
        </p:nvSpPr>
        <p:spPr>
          <a:xfrm>
            <a:off x="4516679" y="5577840"/>
            <a:ext cx="1644457" cy="530352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6" name="Helper"/>
          <p:cNvSpPr/>
          <p:nvPr/>
        </p:nvSpPr>
        <p:spPr>
          <a:xfrm>
            <a:off x="4516679" y="5577840"/>
            <a:ext cx="1644457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best</a:t>
            </a:r>
            <a:endParaRPr lang="en-US" sz="2200" dirty="0"/>
          </a:p>
        </p:txBody>
      </p:sp>
      <p:sp>
        <p:nvSpPr>
          <p:cNvPr id="77" name="Rest"/>
          <p:cNvSpPr/>
          <p:nvPr/>
        </p:nvSpPr>
        <p:spPr>
          <a:xfrm>
            <a:off x="6216000" y="5577840"/>
            <a:ext cx="93726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park?</a:t>
            </a:r>
            <a:endParaRPr lang="en-US" sz="2200" dirty="0"/>
          </a:p>
        </p:txBody>
      </p:sp>
      <p:sp>
        <p:nvSpPr>
          <p:cNvPr id="78" name="Card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Answers</a:t>
            </a:r>
            <a:endParaRPr lang="en-US" sz="2400" dirty="0"/>
          </a:p>
        </p:txBody>
      </p:sp>
      <p:sp>
        <p:nvSpPr>
          <p:cNvPr id="79" name="Card item"/>
          <p:cNvSpPr/>
          <p:nvPr/>
        </p:nvSpPr>
        <p:spPr>
          <a:xfrm>
            <a:off x="8549640" y="1920240"/>
            <a:ext cx="3017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think ___ is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best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/>
          </a:p>
        </p:txBody>
      </p:sp>
      <p:sp>
        <p:nvSpPr>
          <p:cNvPr id="80" name="Card item"/>
          <p:cNvSpPr/>
          <p:nvPr/>
        </p:nvSpPr>
        <p:spPr>
          <a:xfrm>
            <a:off x="8549640" y="2724912"/>
            <a:ext cx="3017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think ___ is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cheapest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/>
          </a:p>
        </p:txBody>
      </p:sp>
      <p:sp>
        <p:nvSpPr>
          <p:cNvPr id="81" name="Example"/>
          <p:cNvSpPr/>
          <p:nvPr/>
        </p:nvSpPr>
        <p:spPr>
          <a:xfrm>
            <a:off x="8549640" y="5394960"/>
            <a:ext cx="301752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+ -est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6429" y="1163345"/>
            <a:ext cx="5814670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1087222"/>
            <a:ext cx="5814670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333695" y="128016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there ...?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166360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741664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245852" y="247893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0328148" y="2466137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rot="900000">
            <a:off x="10611612" y="2765146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44" name="Picture 44" descr="L8_clinic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699516" y="2264969"/>
            <a:ext cx="3326587" cy="2328611"/>
          </a:xfrm>
          <a:prstGeom prst="rect">
            <a:avLst/>
          </a:prstGeom>
        </p:spPr>
      </p:pic>
      <p:sp>
        <p:nvSpPr>
          <p:cNvPr id="45" name="Highlight"/>
          <p:cNvSpPr/>
          <p:nvPr/>
        </p:nvSpPr>
        <p:spPr>
          <a:xfrm>
            <a:off x="5138928" y="3899916"/>
            <a:ext cx="9601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6" name="Helper"/>
          <p:cNvSpPr/>
          <p:nvPr/>
        </p:nvSpPr>
        <p:spPr>
          <a:xfrm>
            <a:off x="5138928" y="3749040"/>
            <a:ext cx="9601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18288" tIns="36576" rIns="18288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</a:t>
            </a:r>
            <a:endParaRPr lang="en-US" sz="2600" dirty="0"/>
          </a:p>
        </p:txBody>
      </p:sp>
      <p:sp>
        <p:nvSpPr>
          <p:cNvPr id="47" name="Question"/>
          <p:cNvSpPr/>
          <p:nvPr/>
        </p:nvSpPr>
        <p:spPr>
          <a:xfrm>
            <a:off x="6144768" y="3749040"/>
            <a:ext cx="2487168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there a bank near here?</a:t>
            </a:r>
            <a:endParaRPr lang="en-US" sz="2200" dirty="0"/>
          </a:p>
        </p:txBody>
      </p:sp>
      <p:sp>
        <p:nvSpPr>
          <p:cNvPr id="49" name="Answer bg"/>
          <p:cNvSpPr/>
          <p:nvPr/>
        </p:nvSpPr>
        <p:spPr>
          <a:xfrm>
            <a:off x="8668512" y="3749040"/>
            <a:ext cx="3017520" cy="8686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8" name="Answer"/>
          <p:cNvSpPr/>
          <p:nvPr/>
        </p:nvSpPr>
        <p:spPr>
          <a:xfrm>
            <a:off x="8668512" y="3749040"/>
            <a:ext cx="30175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there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there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isn't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50" name="Highlight"/>
          <p:cNvSpPr/>
          <p:nvPr/>
        </p:nvSpPr>
        <p:spPr>
          <a:xfrm>
            <a:off x="5138928" y="4814316"/>
            <a:ext cx="9601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1" name="Helper"/>
          <p:cNvSpPr/>
          <p:nvPr/>
        </p:nvSpPr>
        <p:spPr>
          <a:xfrm>
            <a:off x="5138928" y="4663440"/>
            <a:ext cx="9601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18288" tIns="36576" rIns="18288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</a:t>
            </a:r>
            <a:endParaRPr lang="en-US" sz="2600" dirty="0"/>
          </a:p>
        </p:txBody>
      </p:sp>
      <p:sp>
        <p:nvSpPr>
          <p:cNvPr id="52" name="Question"/>
          <p:cNvSpPr/>
          <p:nvPr/>
        </p:nvSpPr>
        <p:spPr>
          <a:xfrm>
            <a:off x="6144768" y="4663440"/>
            <a:ext cx="2487168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there a clinic near here?</a:t>
            </a:r>
            <a:endParaRPr lang="en-US" sz="2200" dirty="0"/>
          </a:p>
        </p:txBody>
      </p:sp>
      <p:sp>
        <p:nvSpPr>
          <p:cNvPr id="54" name="Answer bg"/>
          <p:cNvSpPr/>
          <p:nvPr/>
        </p:nvSpPr>
        <p:spPr>
          <a:xfrm>
            <a:off x="8668512" y="4663440"/>
            <a:ext cx="3017520" cy="8686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3" name="Answer"/>
          <p:cNvSpPr/>
          <p:nvPr/>
        </p:nvSpPr>
        <p:spPr>
          <a:xfrm>
            <a:off x="8668512" y="4663440"/>
            <a:ext cx="30175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there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there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isn't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55" name="Highlight"/>
          <p:cNvSpPr/>
          <p:nvPr/>
        </p:nvSpPr>
        <p:spPr>
          <a:xfrm>
            <a:off x="5138928" y="5728716"/>
            <a:ext cx="9601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6" name="Helper"/>
          <p:cNvSpPr/>
          <p:nvPr/>
        </p:nvSpPr>
        <p:spPr>
          <a:xfrm>
            <a:off x="5138928" y="5577840"/>
            <a:ext cx="9601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18288" tIns="36576" rIns="18288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</a:t>
            </a:r>
            <a:endParaRPr lang="en-US" sz="2600" dirty="0"/>
          </a:p>
        </p:txBody>
      </p:sp>
      <p:sp>
        <p:nvSpPr>
          <p:cNvPr id="57" name="Question"/>
          <p:cNvSpPr/>
          <p:nvPr/>
        </p:nvSpPr>
        <p:spPr>
          <a:xfrm>
            <a:off x="6144768" y="5577840"/>
            <a:ext cx="2487168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there any parks near here?</a:t>
            </a:r>
            <a:endParaRPr lang="en-US" sz="2200" dirty="0"/>
          </a:p>
        </p:txBody>
      </p:sp>
      <p:sp>
        <p:nvSpPr>
          <p:cNvPr id="59" name="Answer bg"/>
          <p:cNvSpPr/>
          <p:nvPr/>
        </p:nvSpPr>
        <p:spPr>
          <a:xfrm>
            <a:off x="8668512" y="5577840"/>
            <a:ext cx="3017520" cy="8686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8" name="Answer"/>
          <p:cNvSpPr/>
          <p:nvPr/>
        </p:nvSpPr>
        <p:spPr>
          <a:xfrm>
            <a:off x="8668512" y="5577840"/>
            <a:ext cx="30175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there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there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aren't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42786" y="3649370"/>
            <a:ext cx="4912157" cy="256123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32104" y="1371600"/>
            <a:ext cx="5257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/>
          </a:p>
          <a:p>
            <a:pPr algn="l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Where's the</a:t>
            </a:r>
            <a:endParaRPr lang="en-US" sz="3200" dirty="0"/>
          </a:p>
          <a:p>
            <a:pPr algn="l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Best ...?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305763" y="3649370"/>
            <a:ext cx="4790542" cy="2599639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41578" y="3253435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23874" y="3240634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rot="900000">
            <a:off x="1107338" y="3539642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42" name="Picture 42" descr="L8_bank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7598664" y="1216152"/>
            <a:ext cx="3254350" cy="2278045"/>
          </a:xfrm>
          <a:prstGeom prst="rect">
            <a:avLst/>
          </a:prstGeom>
        </p:spPr>
      </p:pic>
      <p:sp>
        <p:nvSpPr>
          <p:cNvPr id="43" name="Q head"/>
          <p:cNvSpPr/>
          <p:nvPr/>
        </p:nvSpPr>
        <p:spPr>
          <a:xfrm>
            <a:off x="1920240" y="3794760"/>
            <a:ext cx="40233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/>
          </a:p>
        </p:txBody>
      </p:sp>
      <p:sp>
        <p:nvSpPr>
          <p:cNvPr id="44" name="A head"/>
          <p:cNvSpPr/>
          <p:nvPr/>
        </p:nvSpPr>
        <p:spPr>
          <a:xfrm>
            <a:off x="7040880" y="3794760"/>
            <a:ext cx="44805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/>
          </a:p>
        </p:txBody>
      </p:sp>
      <p:sp>
        <p:nvSpPr>
          <p:cNvPr id="45" name="Highlight"/>
          <p:cNvSpPr/>
          <p:nvPr/>
        </p:nvSpPr>
        <p:spPr>
          <a:xfrm>
            <a:off x="1481328" y="4453128"/>
            <a:ext cx="3639312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6" name="Question"/>
          <p:cNvSpPr/>
          <p:nvPr/>
        </p:nvSpPr>
        <p:spPr>
          <a:xfrm>
            <a:off x="1481328" y="43159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Where's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best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bank?</a:t>
            </a:r>
            <a:endParaRPr lang="en-US" sz="2200" dirty="0"/>
          </a:p>
        </p:txBody>
      </p:sp>
      <p:sp>
        <p:nvSpPr>
          <p:cNvPr id="48" name="Answer bg"/>
          <p:cNvSpPr/>
          <p:nvPr/>
        </p:nvSpPr>
        <p:spPr>
          <a:xfrm>
            <a:off x="6949440" y="4334256"/>
            <a:ext cx="4526280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7" name="Answer"/>
          <p:cNvSpPr/>
          <p:nvPr/>
        </p:nvSpPr>
        <p:spPr>
          <a:xfrm>
            <a:off x="6949440" y="43159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Lake Street.</a:t>
            </a:r>
            <a:endParaRPr lang="en-US" sz="2200" dirty="0"/>
          </a:p>
        </p:txBody>
      </p:sp>
      <p:sp>
        <p:nvSpPr>
          <p:cNvPr id="49" name="Highlight"/>
          <p:cNvSpPr/>
          <p:nvPr/>
        </p:nvSpPr>
        <p:spPr>
          <a:xfrm>
            <a:off x="1481328" y="5367528"/>
            <a:ext cx="409194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0" name="Question"/>
          <p:cNvSpPr/>
          <p:nvPr/>
        </p:nvSpPr>
        <p:spPr>
          <a:xfrm>
            <a:off x="1481328" y="52303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Where's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closest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park?</a:t>
            </a:r>
            <a:endParaRPr lang="en-US" sz="2200" dirty="0"/>
          </a:p>
        </p:txBody>
      </p:sp>
      <p:sp>
        <p:nvSpPr>
          <p:cNvPr id="52" name="Answer bg"/>
          <p:cNvSpPr/>
          <p:nvPr/>
        </p:nvSpPr>
        <p:spPr>
          <a:xfrm>
            <a:off x="6949440" y="5248656"/>
            <a:ext cx="4526280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1" name="Answer"/>
          <p:cNvSpPr/>
          <p:nvPr/>
        </p:nvSpPr>
        <p:spPr>
          <a:xfrm>
            <a:off x="6949440" y="52303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 to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library.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3429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3621024"/>
            <a:ext cx="3543300" cy="29992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3629254"/>
            <a:ext cx="5860390" cy="29992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125108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118689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429000"/>
            <a:ext cx="3610966" cy="2999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3429000"/>
            <a:ext cx="5860390" cy="2999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8076" y="155448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/>
          </a:p>
        </p:txBody>
      </p:sp>
      <p:sp>
        <p:nvSpPr>
          <p:cNvPr id="18" name="Shape 16"/>
          <p:cNvSpPr/>
          <p:nvPr/>
        </p:nvSpPr>
        <p:spPr>
          <a:xfrm>
            <a:off x="9562795" y="311261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645091" y="3099816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rot="900000">
            <a:off x="9928555" y="3398825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7" name="Picture 37" descr="L8_the_cheapest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8915400" y="1280160"/>
            <a:ext cx="2551176" cy="1785823"/>
          </a:xfrm>
          <a:prstGeom prst="rect">
            <a:avLst/>
          </a:prstGeom>
        </p:spPr>
      </p:pic>
      <p:sp>
        <p:nvSpPr>
          <p:cNvPr id="38" name="Dont head"/>
          <p:cNvSpPr/>
          <p:nvPr/>
        </p:nvSpPr>
        <p:spPr>
          <a:xfrm>
            <a:off x="914400" y="3520440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39" name="Say head"/>
          <p:cNvSpPr/>
          <p:nvPr/>
        </p:nvSpPr>
        <p:spPr>
          <a:xfrm>
            <a:off x="4800600" y="352044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40" name="Bad"/>
          <p:cNvSpPr/>
          <p:nvPr/>
        </p:nvSpPr>
        <p:spPr>
          <a:xfrm>
            <a:off x="914400" y="4023360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the more cheap.</a:t>
            </a:r>
            <a:endParaRPr lang="en-US" sz="2200" dirty="0"/>
          </a:p>
        </p:txBody>
      </p:sp>
      <p:sp>
        <p:nvSpPr>
          <p:cNvPr id="41" name="Good"/>
          <p:cNvSpPr/>
          <p:nvPr/>
        </p:nvSpPr>
        <p:spPr>
          <a:xfrm>
            <a:off x="4800600" y="4023360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cheapest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42" name="Bad"/>
          <p:cNvSpPr/>
          <p:nvPr/>
        </p:nvSpPr>
        <p:spPr>
          <a:xfrm>
            <a:off x="914400" y="4626864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the most cheapest.</a:t>
            </a:r>
            <a:endParaRPr lang="en-US" sz="2200" dirty="0"/>
          </a:p>
        </p:txBody>
      </p:sp>
      <p:sp>
        <p:nvSpPr>
          <p:cNvPr id="43" name="Good"/>
          <p:cNvSpPr/>
          <p:nvPr/>
        </p:nvSpPr>
        <p:spPr>
          <a:xfrm>
            <a:off x="4800600" y="4626864"/>
            <a:ext cx="5303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cheapest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44" name="Bad"/>
          <p:cNvSpPr/>
          <p:nvPr/>
        </p:nvSpPr>
        <p:spPr>
          <a:xfrm>
            <a:off x="914400" y="5458968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best restaurant.</a:t>
            </a:r>
            <a:endParaRPr lang="en-US" sz="2200" dirty="0"/>
          </a:p>
        </p:txBody>
      </p:sp>
      <p:sp>
        <p:nvSpPr>
          <p:cNvPr id="45" name="Good"/>
          <p:cNvSpPr/>
          <p:nvPr/>
        </p:nvSpPr>
        <p:spPr>
          <a:xfrm>
            <a:off x="4800600" y="5458968"/>
            <a:ext cx="5303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best restaurant.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3429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3621024"/>
            <a:ext cx="3543300" cy="27706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3629254"/>
            <a:ext cx="5860390" cy="27706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125108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118689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429000"/>
            <a:ext cx="3610966" cy="27706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3429000"/>
            <a:ext cx="5860390" cy="27706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8076" y="155448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Fix These Mistakes</a:t>
            </a:r>
            <a:endParaRPr lang="en-US" sz="4300" dirty="0"/>
          </a:p>
        </p:txBody>
      </p:sp>
      <p:sp>
        <p:nvSpPr>
          <p:cNvPr id="18" name="Shape 16"/>
          <p:cNvSpPr/>
          <p:nvPr/>
        </p:nvSpPr>
        <p:spPr>
          <a:xfrm>
            <a:off x="9562795" y="311261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645091" y="3099816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rot="900000">
            <a:off x="9928555" y="3398825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7" name="Picture 37" descr="L8_pharmacy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8915400" y="1280160"/>
            <a:ext cx="2551176" cy="1785823"/>
          </a:xfrm>
          <a:prstGeom prst="rect">
            <a:avLst/>
          </a:prstGeom>
        </p:spPr>
      </p:pic>
      <p:sp>
        <p:nvSpPr>
          <p:cNvPr id="38" name="Dont head"/>
          <p:cNvSpPr/>
          <p:nvPr/>
        </p:nvSpPr>
        <p:spPr>
          <a:xfrm>
            <a:off x="914400" y="3520440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39" name="Say head"/>
          <p:cNvSpPr/>
          <p:nvPr/>
        </p:nvSpPr>
        <p:spPr>
          <a:xfrm>
            <a:off x="4800600" y="352044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40" name="Bad"/>
          <p:cNvSpPr/>
          <p:nvPr/>
        </p:nvSpPr>
        <p:spPr>
          <a:xfrm>
            <a:off x="914400" y="4023360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 a pharmacy near here?</a:t>
            </a:r>
            <a:endParaRPr lang="en-US" sz="2200" dirty="0"/>
          </a:p>
        </p:txBody>
      </p:sp>
      <p:sp>
        <p:nvSpPr>
          <p:cNvPr id="41" name="Good"/>
          <p:cNvSpPr/>
          <p:nvPr/>
        </p:nvSpPr>
        <p:spPr>
          <a:xfrm>
            <a:off x="4800600" y="4023360"/>
            <a:ext cx="5303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there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 pharmacy near here?</a:t>
            </a:r>
            <a:endParaRPr lang="en-US" sz="2200" dirty="0"/>
          </a:p>
        </p:txBody>
      </p:sp>
      <p:sp>
        <p:nvSpPr>
          <p:cNvPr id="42" name="Bad"/>
          <p:cNvSpPr/>
          <p:nvPr/>
        </p:nvSpPr>
        <p:spPr>
          <a:xfrm>
            <a:off x="914400" y="4855464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There is two banks.</a:t>
            </a:r>
            <a:endParaRPr lang="en-US" sz="2200" dirty="0"/>
          </a:p>
        </p:txBody>
      </p:sp>
      <p:sp>
        <p:nvSpPr>
          <p:cNvPr id="43" name="Good"/>
          <p:cNvSpPr/>
          <p:nvPr/>
        </p:nvSpPr>
        <p:spPr>
          <a:xfrm>
            <a:off x="4800600" y="4855464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There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two banks.</a:t>
            </a:r>
            <a:endParaRPr lang="en-US" sz="2200" dirty="0"/>
          </a:p>
        </p:txBody>
      </p:sp>
      <p:sp>
        <p:nvSpPr>
          <p:cNvPr id="44" name="Bad"/>
          <p:cNvSpPr/>
          <p:nvPr/>
        </p:nvSpPr>
        <p:spPr>
          <a:xfrm>
            <a:off x="914400" y="5458968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more good park.</a:t>
            </a:r>
            <a:endParaRPr lang="en-US" sz="2200" dirty="0"/>
          </a:p>
        </p:txBody>
      </p:sp>
      <p:sp>
        <p:nvSpPr>
          <p:cNvPr id="45" name="Good"/>
          <p:cNvSpPr/>
          <p:nvPr/>
        </p:nvSpPr>
        <p:spPr>
          <a:xfrm>
            <a:off x="4800600" y="5458968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best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park.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Quick Check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or more than two?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960120" y="34290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___ store in town. (big)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4617720" y="34290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most cheap or the cheapest?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8275320" y="34290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 a bank near here?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0972800" y="5120640"/>
            <a:ext cx="777240" cy="734214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1035257" y="5110925"/>
            <a:ext cx="791119" cy="791119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rot="900000">
            <a:off x="11250386" y="5337851"/>
            <a:ext cx="337961" cy="337961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31" name="Answer"/>
          <p:cNvSpPr/>
          <p:nvPr/>
        </p:nvSpPr>
        <p:spPr>
          <a:xfrm>
            <a:off x="960120" y="4709160"/>
            <a:ext cx="1993392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biggest</a:t>
            </a:r>
            <a:endParaRPr lang="en-US" sz="2000" dirty="0"/>
          </a:p>
        </p:txBody>
      </p:sp>
      <p:sp>
        <p:nvSpPr>
          <p:cNvPr id="32" name="Answer"/>
          <p:cNvSpPr/>
          <p:nvPr/>
        </p:nvSpPr>
        <p:spPr>
          <a:xfrm>
            <a:off x="4617720" y="4709160"/>
            <a:ext cx="2141359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cheapest</a:t>
            </a:r>
            <a:endParaRPr lang="en-US" sz="2000" dirty="0"/>
          </a:p>
        </p:txBody>
      </p:sp>
      <p:sp>
        <p:nvSpPr>
          <p:cNvPr id="33" name="Answer"/>
          <p:cNvSpPr/>
          <p:nvPr/>
        </p:nvSpPr>
        <p:spPr>
          <a:xfrm>
            <a:off x="8275320" y="4709160"/>
            <a:ext cx="260604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there a bank?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" y="1360627"/>
            <a:ext cx="3045866" cy="4995367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82058" y="4619549"/>
            <a:ext cx="4033418" cy="149230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08906" y="4572000"/>
            <a:ext cx="4033418" cy="1492301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395201" y="1473464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437583" y="1419149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00600" y="1481328"/>
            <a:ext cx="6583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or more than two?</a:t>
            </a:r>
            <a:endParaRPr lang="en-US" sz="2000" dirty="0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Cheaper or Cheapest?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713732" y="3063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things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713732" y="36118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cheap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er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than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expensive than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13732" y="46634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Three or more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13732" y="519379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cheap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est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most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expensive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052560" y="31089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-er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9052560" y="47091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-est</a:t>
            </a:r>
            <a:endParaRPr lang="en-US" sz="6000" dirty="0"/>
          </a:p>
        </p:txBody>
      </p:sp>
      <p:pic>
        <p:nvPicPr>
          <p:cNvPr id="23" name="Picture 23" descr="L8_the_closest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649224" y="2871216"/>
            <a:ext cx="2825496" cy="19778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Neighborhood Guide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291072" y="1783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real places or invent them.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033358" y="198699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091847" y="197789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rot="900000">
            <a:off x="9293308" y="219040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2" name="Picture 32" descr="L8_park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722376" y="3418942"/>
            <a:ext cx="3882542" cy="2717780"/>
          </a:xfrm>
          <a:prstGeom prst="rect">
            <a:avLst/>
          </a:prstGeom>
        </p:spPr>
      </p:pic>
      <p:sp>
        <p:nvSpPr>
          <p:cNvPr id="33" name="Step num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34" name="Step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Make a poster.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best ___ in town</a:t>
            </a:r>
            <a:endParaRPr lang="en-US" sz="2000" dirty="0"/>
          </a:p>
        </p:txBody>
      </p:sp>
      <p:sp>
        <p:nvSpPr>
          <p:cNvPr id="35" name="Step num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36" name="Step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Add 1–2 places.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 + why it's the best</a:t>
            </a:r>
            <a:endParaRPr lang="en-US" sz="2000" dirty="0"/>
          </a:p>
        </p:txBody>
      </p:sp>
      <p:sp>
        <p:nvSpPr>
          <p:cNvPr id="37" name="Step num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38" name="Step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Share one place.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best park is Lake Park.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343400" y="210312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9907524" y="2565806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966013" y="2556708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 rot="900000">
            <a:off x="10167475" y="2769218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0" name="Picture 30" descr="L8_library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31" name="Num 01"/>
          <p:cNvSpPr/>
          <p:nvPr/>
        </p:nvSpPr>
        <p:spPr>
          <a:xfrm>
            <a:off x="43434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32" name="Label 01"/>
          <p:cNvSpPr/>
          <p:nvPr/>
        </p:nvSpPr>
        <p:spPr>
          <a:xfrm>
            <a:off x="51206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/>
          </a:p>
        </p:txBody>
      </p:sp>
      <p:sp>
        <p:nvSpPr>
          <p:cNvPr id="33" name="Body 01"/>
          <p:cNvSpPr/>
          <p:nvPr/>
        </p:nvSpPr>
        <p:spPr>
          <a:xfrm>
            <a:off x="4343400" y="3977640"/>
            <a:ext cx="3520440" cy="2011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one sentence: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best ___ in my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neighborhood is ___.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the ___-est.</a:t>
            </a:r>
            <a:endParaRPr lang="en-US" sz="2000" dirty="0"/>
          </a:p>
        </p:txBody>
      </p:sp>
      <p:sp>
        <p:nvSpPr>
          <p:cNvPr id="34" name="Num 02"/>
          <p:cNvSpPr/>
          <p:nvPr/>
        </p:nvSpPr>
        <p:spPr>
          <a:xfrm>
            <a:off x="80010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35" name="Label 02"/>
          <p:cNvSpPr/>
          <p:nvPr/>
        </p:nvSpPr>
        <p:spPr>
          <a:xfrm>
            <a:off x="87782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/>
          </a:p>
        </p:txBody>
      </p:sp>
      <p:sp>
        <p:nvSpPr>
          <p:cNvPr id="36" name="Body 02"/>
          <p:cNvSpPr/>
          <p:nvPr/>
        </p:nvSpPr>
        <p:spPr>
          <a:xfrm>
            <a:off x="8001000" y="3977640"/>
            <a:ext cx="3520440" cy="2011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5 sentences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the best places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your neighborhood.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2 questions: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there…? Are there…?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2" name="Shape 10"/>
          <p:cNvSpPr/>
          <p:nvPr/>
        </p:nvSpPr>
        <p:spPr>
          <a:xfrm>
            <a:off x="275234" y="75895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33723" y="66797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 rot="900000">
            <a:off x="535185" y="279307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5" name="Twemoji credit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arrows, calendars, clocks, and labels were added.</a:t>
            </a:r>
            <a:endParaRPr lang="en-US" sz="2000" dirty="0"/>
          </a:p>
        </p:txBody>
      </p:sp>
      <p:sp>
        <p:nvSpPr>
          <p:cNvPr id="16" name="Deck license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This deck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2000" dirty="0"/>
          </a:p>
        </p:txBody>
      </p:sp>
      <p:sp>
        <p:nvSpPr>
          <p:cNvPr id="17" name="AudioFontCredits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Chatterbox TTS (Resemble AI, MIT); AI voices with a Perth watermark. Font: Lexend Deca (OFL 1.1). Provided as-is, without warranty.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8 (Week 9): The Best Place in Town</dc:title>
  <dc:subject>PptxGenJS Presentation</dc:subject>
  <dc:creator>Level 2 ESL</dc:creator>
  <cp:lastModifiedBy>Level 2 ESL</cp:lastModifiedBy>
  <cp:revision>1</cp:revision>
  <dcterms:created xsi:type="dcterms:W3CDTF">2026-10-15T20:54:31Z</dcterms:created>
  <dcterms:modified xsi:type="dcterms:W3CDTF">2026-10-15T20:54:31Z</dcterms:modified>
</cp:coreProperties>
</file>