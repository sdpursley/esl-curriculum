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679" r:id="rId33"/>
    <p:sldId id="680" r:id="rId34"/>
    <p:sldId id="681" r:id="rId35"/>
    <p:sldId id="682" r:id="rId36"/>
    <p:sldId id="683" r:id="rId31"/>
    <p:sldId id="684" r:id="rId30"/>
    <p:sldId id="685" r:id="rId29"/>
    <p:sldId id="686" r:id="rId28"/>
    <p:sldId id="687" r:id="rId27"/>
    <p:sldId id="688" r:id="rId20"/>
    <p:sldId id="689" r:id="rId18"/>
    <p:sldId id="690" r:id="rId17"/>
    <p:sldId id="691" r:id="rId16"/>
    <p:sldId id="692" r:id="rId14"/>
    <p:sldId id="693" r:id="rId13"/>
    <p:sldId id="694" r:id="rId12"/>
    <p:sldId id="695" r:id="rId11"/>
    <p:sldId id="696" r:id="rId10"/>
    <p:sldId id="697" r:id="rId8"/>
    <p:sldId id="698" r:id="rId7"/>
    <p:sldId id="699" r:id="rId6"/>
    <p:sldId id="700" r:id="rId5"/>
    <p:sldId id="701" r:id="rId4"/>
    <p:sldId id="702" r:id="rId3"/>
    <p:sldId id="703" r:id="rId57"/>
    <p:sldId id="704"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4" Type="http://schemas.openxmlformats.org/officeDocument/2006/relationships/slide" Target="slides/slide49.xml"/><Relationship Id="rId5" Type="http://schemas.openxmlformats.org/officeDocument/2006/relationships/slide" Target="slides/slide48.xml"/><Relationship Id="rId6" Type="http://schemas.openxmlformats.org/officeDocument/2006/relationships/slide" Target="slides/slide47.xml"/><Relationship Id="rId7" Type="http://schemas.openxmlformats.org/officeDocument/2006/relationships/slide" Target="slides/slide46.xml"/><Relationship Id="rId8" Type="http://schemas.openxmlformats.org/officeDocument/2006/relationships/slide" Target="slides/slide45.xml"/><Relationship Id="rId10" Type="http://schemas.openxmlformats.org/officeDocument/2006/relationships/slide" Target="slides/slide44.xml"/><Relationship Id="rId11" Type="http://schemas.openxmlformats.org/officeDocument/2006/relationships/slide" Target="slides/slide43.xml"/><Relationship Id="rId12" Type="http://schemas.openxmlformats.org/officeDocument/2006/relationships/slide" Target="slides/slide42.xml"/><Relationship Id="rId13" Type="http://schemas.openxmlformats.org/officeDocument/2006/relationships/slide" Target="slides/slide41.xml"/><Relationship Id="rId14" Type="http://schemas.openxmlformats.org/officeDocument/2006/relationships/slide" Target="slides/slide40.xml"/><Relationship Id="rId16" Type="http://schemas.openxmlformats.org/officeDocument/2006/relationships/slide" Target="slides/slide39.xml"/><Relationship Id="rId17" Type="http://schemas.openxmlformats.org/officeDocument/2006/relationships/slide" Target="slides/slide38.xml"/><Relationship Id="rId18" Type="http://schemas.openxmlformats.org/officeDocument/2006/relationships/slide" Target="slides/slide37.xml"/><Relationship Id="rId20" Type="http://schemas.openxmlformats.org/officeDocument/2006/relationships/slide" Target="slides/slide3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5.xml"/><Relationship Id="rId28" Type="http://schemas.openxmlformats.org/officeDocument/2006/relationships/slide" Target="slides/slide34.xml"/><Relationship Id="rId29" Type="http://schemas.openxmlformats.org/officeDocument/2006/relationships/slide" Target="slides/slide33.xml"/><Relationship Id="rId30" Type="http://schemas.openxmlformats.org/officeDocument/2006/relationships/slide" Target="slides/slide32.xml"/><Relationship Id="rId31" Type="http://schemas.openxmlformats.org/officeDocument/2006/relationships/slide" Target="slides/slide31.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synthetic voices, computer-generated (Chatterbox TTS cloned from Kokoro-82M reference clips). No recordings of real people.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A friend has had a backache for a week. What do you say? Example on the board: How long have you had it? Why don't you call the clinic? It's a good idea because a week is a long time. With 5 or fewer, a learner can say it to you first and then write it.</a:t>
            </a:r>
          </a:p>
          <a:p>
            <a:r>
              <a:t>Collect the pages. After class, sort them into ✓ / almost / not yet. Start next week with 2 corrections on the board (no names).</a:t>
            </a:r>
          </a:p>
          <a:p>
            <a:r>
              <a:t>Homework (2 min): open the Homework page. Do item 1 together (she / have / a rash / ___ / three days → She's had a rash for three days.). Say: "About 15–20 minutes. Finish your Read &amp; Write writing at home."</a:t>
            </a:r>
          </a:p>
          <a:p>
            <a:r>
              <a:t>Homework items: 1 write the sentence with the words • 2 finish the email from Read &amp; Write C and check it with the list in D • 3 write 3 good ideas to stay healthy (It's a good idea to… / You could… / Why don't you…?) and give a reason • 4 review (Lesson 3): already, yet, or just.</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 clinic letter + an insurance card · 10 min. Pairs read, then individual writing.</a:t>
            </a:r>
          </a:p>
          <a:p>
            <a:r>
              <a:t>Read (4 min): learners read the letter from the clinic and the insurance card on the Read &amp; Write page and answer the questions. Point to copay and deductible on the card. Say: "Read fast first. Then find the answers." Pairs answer questions 1–5 together.</a:t>
            </a:r>
          </a:p>
          <a:p>
            <a:r>
              <a:t>Check (1 min): click to show each answer (one click per question, 1 to 5): 1 In March 2025. • 2 Every six months. • 3 Her insurance card, a photo ID, and a list of her medicines. • 4 $20. • 5 $1,000.</a:t>
            </a:r>
          </a:p>
          <a:p>
            <a:r>
              <a:t>Insurance: stay at "read the card; know copay and deductible." A copay is what you pay at each visit; a deductible is what you pay first in a year before the plan pays more. Don't explain plans or prices.</a:t>
            </a:r>
          </a:p>
          <a:p>
            <a:r>
              <a:t>Write (5 min): learners write an email to a friend (5–8 sentences). The friend has had a backache for a week. Ask how long, give two suggestions with reasons, and say what to bring to the clinic. Show the example. Invented details are fine. Learners start in class and finish at home (Homework item 2).</a:t>
            </a:r>
          </a:p>
          <a:p>
            <a:r>
              <a:t>If behind: questions 1–5 only; the writing becomes homework.</a:t>
            </a:r>
          </a:p>
          <a:p>
            <a:r>
              <a:t>Lesson plan: Step 6; Read &amp; Write page; Answer key; Teacher notes: Insurance.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Good Idea Circle (circles of 5). One learner reads a problem card. The next two learners each give a suggestion. The first learner chooses one and says why: "Good idea. I'm going to… because…" Then the next learner reads a card. Each click shows the next step.</a:t>
            </a:r>
          </a:p>
          <a:p>
            <a:r>
              <a:t>Example: A: I sit all day at work. B: Why don't you take a short walk at lunch? C: You could stand up every hour. A: Good idea. I'm going to walk at lunch because I like being outside.</a:t>
            </a:r>
          </a:p>
          <a:p>
            <a:r>
              <a:t>15 learners: 3 circles of 5 for round 2. 7–8 learners: one circle for round 2. 5 or fewer: in round 2, make one circle; you add problem cards and suggest first.</a:t>
            </a:r>
          </a:p>
          <a:p>
            <a:r>
              <a:t>Real health questions: say, "For a real health question, ask your doctor or pharmacist. In an emergency, call 911." It is printed on the Good Idea Circle page.</a:t>
            </a:r>
          </a:p>
          <a:p>
            <a:r>
              <a:t>Every answer needs a reason; every partner asks a follow-up. Walk around and listen. Note 2 good sentences to praise and 1 common error for next week.</a:t>
            </a:r>
          </a:p>
          <a:p>
            <a:r>
              <a:t>If behind: round 1 only.</a:t>
            </a:r>
          </a:p>
          <a:p>
            <a:r>
              <a:t>Lesson plan: Step 5; Talk Time: Good Idea Circle;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Clinic Intake + Good Idea Circle · 15 min.</a:t>
            </a:r>
          </a:p>
          <a:p>
            <a:r>
              <a:t>Model it first (1 min): sit back to back with a learner. You are the medical assistant: "What brings you in today?" The learner reads a symptom card: "I have a rash on my arm." You ask, "How long have you had it?" Then switch: the learner asks you. Say: "Answer, then add one more detail."</a:t>
            </a:r>
          </a:p>
          <a:p>
            <a:r>
              <a:t>Round 1 (7 min): Clinic Intake (pairs, back to back). A is the medical assistant and asks the 8 form questions; B chooses a symptom card and answers (invented answers). A writes short notes. Then switch, with a new card. Each click shows the next step.</a:t>
            </a:r>
          </a:p>
          <a:p>
            <a:r>
              <a:t>Form questions: 1. What brings you in today? 2. How long have you had it? 3. Have you ever had this before? 4. Have you tried anything for it? 5. Do you have any allergies? 6. Have you ever had surgery? 7. Have you had a flu shot this year? 8. When was your last checkup?</a:t>
            </a:r>
          </a:p>
          <a:p>
            <a:r>
              <a:t>15 learners: pairs for round 1. 7–8 learners: pairs for round 1. 5 or fewer: pairs (you join if there is an odd number).</a:t>
            </a:r>
          </a:p>
          <a:p>
            <a:r>
              <a:t>Keep health invented and mild. All patients and symptoms are invented. Never ask learners about their own health, medicines, or insurance. If a learner shares something, thank them and move on.</a:t>
            </a:r>
          </a:p>
          <a:p>
            <a:r>
              <a:t>Lesson plan: Step 5; Talk Time: Clinic Intake;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says a problem from Box 2. B gives a suggestion with Why don't you… / You could… A says, "Good idea." Switch. 15 learners: swap partners once. 5 or fewer: you join one pair.</a:t>
            </a:r>
          </a:p>
          <a:p>
            <a:r>
              <a:t>If behind: skip the pair check. Talk Time practices it.</a:t>
            </a:r>
          </a:p>
          <a:p>
            <a:r>
              <a:t>Break · 6:45–7:00 · 15 min. Write on the board: How long have you had it? → I've had it for… / since… • Why don't you…? / You could… / It's a good idea to…</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've had, 2 try, 3 Why don't you, 4 for, 5 had, 6 to get.</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had, 2 call, 3 felt, 4 try, 5 get, 6 had.</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strong or soft? Each click shows one row.</a:t>
            </a:r>
          </a:p>
          <a:p>
            <a:r>
              <a:t>Questions and answers (2 min): Q: Can I say I have a rash since Monday? A: No. It started in the past and is still true: I've had a rash since Monday. • Q: Is Why don't you call the clinic? a real question? A: No. It's a suggestion. Answer: Good idea. / Thanks, I will. Your voice goes down at the end. • Q: You could to try or You could try? A: After could, use the base verb: You could try a heating pad.</a:t>
            </a:r>
          </a:p>
          <a:p>
            <a:r>
              <a:t>Check questions: "I have a rash since Monday. Right or wrong?" (wrong: I've had a rash since Monday.) • "You could to try or You could try?" (You could try) • "Is Why don't you call? a real question?" (no, it's a suggestion).</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how to say a symptom. Each click shows the examples of one row.</a:t>
            </a:r>
          </a:p>
          <a:p>
            <a:r>
              <a:t>Lesson plan: Step 4; Grammar Box 3.</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a problem → a suggestion. Read a problem; the class answers with the suggestion. Each click shows the suggestion side of one row.</a:t>
            </a:r>
          </a:p>
          <a:p>
            <a:r>
              <a:t>Rule of thumb (read it aloud): Use have / has + past participle + for / since for a problem that started in the past and is still true. After Why don't you, You could, It's a good idea to, and should, use the base verb (call, try, get).</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say, "I have a cough. It started on Sunday. Today is Thursday." Write: I've had a cough since Sunday. I've had it for four days. Then hold your back: "My back hurts." Point to a learner and help them say, "Why don't you call the clinic?" Write three suggestions on the board.</a:t>
            </a:r>
          </a:p>
          <a:p>
            <a:r>
              <a:t>Box 1: read across: How long have you had this rash? → I've had it for three days. and Have you ever had surgery? → Yes, I had knee surgery in 2018. Each click shows the answer side of one row.</a:t>
            </a:r>
          </a:p>
          <a:p>
            <a:r>
              <a:t>for / since: for + a length of time (three days); since + a start (Monday, January). With a finished time (in 2018), use the simple past.</a:t>
            </a:r>
          </a:p>
          <a:p>
            <a:r>
              <a:t>Lesson plan: Step 4; Grammar Box 1; Teacher notes: for / since.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"The doctor's going to see you in a few minutes." wanna = want to: "I want to make an appointment." You can say going to and want to.</a:t>
            </a:r>
          </a:p>
          <a:p>
            <a:r>
              <a:t>Then practice Why don't you…? as one smooth group with falling intonation (a suggestion, not a real question), and the stress: I've had a RASH since MONday. The class repeats the two lines twice.</a:t>
            </a:r>
          </a:p>
          <a:p>
            <a:r>
              <a:t>Reductions: the listening says going to and want to. People often say gonna and wanna. Learners only need to recognize the short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for, 2 ever, 3 ever, 4 since, 5 for, 6 since.</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back pain • 2 about two weeks • 3 no • 4 penicillin • 5 no • 6 $20.</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b (for back pain).</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"Amina is at a clinic. First, Daniel, the medical assistant, asks her some questions. Then she talks to Ms. Park, the receptionist. Listen: why is Amina at the clinic?"</a:t>
            </a:r>
          </a:p>
          <a:p>
            <a:r>
              <a:t>There are three people: Amina, Daniel (the medical assistant), and Ms. Park (the receptionist). A narrator starts and ends the listening. Each click highlights the next person.</a:t>
            </a:r>
          </a:p>
          <a:p>
            <a:r>
              <a:t>The audio (L4_L4_listening.mp3, about 1:58) plays the conversation once. Press play again for play 2. A third play is fine if the class needs it.</a:t>
            </a:r>
          </a:p>
          <a:p>
            <a:r>
              <a:t>No speaker? Read the script with a volunteer at a natural, friendly speed, two times. The script says going to and want to. People often say gonna and wanna; learners only need to recognize those words.</a:t>
            </a:r>
          </a:p>
          <a:p>
            <a:r>
              <a:t>Audio: synthetic voices, computer-generated (Chatterbox TTS cloned from Kokoro-82M reference clips). No recordings of real people.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"Do you get a checkup when you are sick or when you are well?" (when you are well; it's every year) • 2. "Is a cough a symptom?" (yes) • 3. "Do you pay a copay at the clinic or at home?" (at the clinic)</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dizzy (mime the room turning); teeth cleaning and cavity (a hole in a tooth); flu shot; prescription (paper from the doctor for medicine); copay (the money you pay at each visit).</a:t>
            </a:r>
          </a:p>
          <a:p>
            <a:r>
              <a:t>Partner game (2 min): A points to a picture and says a problem, for example, "I've had a rash since Monday." B gives a suggestion: "Why don't you call the clinic?"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checkup (a visit when you are well); health history (a form: your past illnesses, surgery, allergies); symptom (what you feel: a cough, a rash); allergy (I'm allergic to peanuts); blood pressure (mime the arm cuff: 120 over 80).</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"How long have you had it?" Say: "Tonight we talk about health: a health history form, a clinic visit, the dentist, and an insurance card. Everything is invented."</a:t>
            </a:r>
          </a:p>
          <a:p>
            <a:r>
              <a:t>Read the three lines under "Today you will". Give one quick example of each: "I've had a cough since Sunday." • "Have you ever had surgery?" • "Why don't you call the clinic?"</a:t>
            </a:r>
          </a:p>
          <a:p>
            <a:r>
              <a:t>Keep health invented and mild. All patients and symptoms are invented. Never ask learners about their own health, medicines, or insurance. If a learner shares something, thank them and move on.</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I've had a rash since Monday. Goal 2: Have you ever had surgery? Yes, I had knee surgery in 2018. Goal 3: Why don't you call the clinic?</a:t>
            </a:r>
          </a:p>
          <a:p>
            <a:r>
              <a:t>Goal 4: the clinic letter and the insurance card in Read &amp; Write. Goal 5: the email in Read &amp; Write.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Have you… yet? and already / just</a:t>
            </a:r>
          </a:p>
          <a:p>
            <a:r>
              <a:t>Model with one learner: you ask, "Have you done your laundry yet this week?" The learner answers with already or not yet. Then you ask, "When did you do it?" Help them say 3 sentences.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 Pairs write the partner's name and one thing they've already done.</a:t>
            </a:r>
          </a:p>
          <a:p>
            <a:r>
              <a:t>Homework Check (3 min, last click): pairs compare Homework item 1 (already / yet / just sentences) and read their to-do list (item 3) to each other. Then they fill in the box on the Opening Talk page. Walk around. Write 2 common errors on the board (often I've finished it yesterday (→ I finished it yesterday) and Have you yet…? (→ yet at the end))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Say to one learner: "I sit all day at work." Wait for a suggestion (Why don't you…? / You could…).</a:t>
            </a:r>
          </a:p>
          <a:p>
            <a:r>
              <a:t>Real health questions: say, "For a real health question, ask your doctor or pharmacist. In an emergency, call 911." It is printed on the Good Idea Circle page.</a:t>
            </a:r>
          </a:p>
          <a:p>
            <a:r>
              <a:t>Lesson plan: At a glance: Objectives; Step 7;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24.png"/><Relationship Id="rId8"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Checkup: a stethoscope and a clipboard [sign: CHECKUP]">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4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How Long Have You Had It?</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long you've had a symptom</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Answer health history questions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Make a suggestion</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describe a symptom and say how long I've had it (</a:t>
            </a:r>
            <a:r>
              <a:rPr lang="en-US" sz="1500" dirty="0" b="1">
                <a:solidFill>
                  <a:srgbClr val="5B3FC4"/>
                </a:solidFill>
                <a:latin typeface="Lexend Deca" pitchFamily="34" charset="0"/>
                <a:ea typeface="Lexend Deca" pitchFamily="34" charset="-122"/>
                <a:cs typeface="Lexend Deca" pitchFamily="34" charset="-120"/>
              </a:rPr>
              <a:t>for / since</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answer health history questions (</a:t>
            </a:r>
            <a:r>
              <a:rPr lang="en-US" sz="1500" dirty="0" b="1">
                <a:solidFill>
                  <a:srgbClr val="5B3FC4"/>
                </a:solidFill>
                <a:latin typeface="Lexend Deca" pitchFamily="34" charset="0"/>
                <a:ea typeface="Lexend Deca" pitchFamily="34" charset="-122"/>
                <a:cs typeface="Lexend Deca" pitchFamily="34" charset="-120"/>
              </a:rPr>
              <a:t>Have you ever had…?</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make a suggestion with </a:t>
            </a:r>
            <a:r>
              <a:rPr lang="en-US" sz="1500" dirty="0" b="1">
                <a:solidFill>
                  <a:srgbClr val="5B3FC4"/>
                </a:solidFill>
                <a:latin typeface="Lexend Deca" pitchFamily="34" charset="0"/>
                <a:ea typeface="Lexend Deca" pitchFamily="34" charset="-122"/>
                <a:cs typeface="Lexend Deca" pitchFamily="34" charset="-120"/>
              </a:rPr>
              <a:t>Why don't you…? / You could… / It's a good idea to…</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find key information on an insurance card and a clinic letter (copay, deductible).</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an email to a friend (5–8 sentences) with suggestions and reasons.</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Health history: a clipboard and a pen [sign: HEALTH HISTORY]"/>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Have you done your laundry yet this week?</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When did you do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When did you…? What haven't you done yet? Why?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done your laundry yet this week?</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have you already done today?</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paid your bills yet this month?</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cooked dinner yet today?</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3,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Checkup: a stethoscope and a clipboard [sign: CHECKUP]"/>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checkup</a:t>
            </a:r>
            <a:endParaRPr lang="en-US" sz="2000" dirty="0" b="1"/>
          </a:p>
        </p:txBody>
      </p:sp>
      <p:pic>
        <p:nvPicPr>
          <p:cNvPr id="19" name="Word picture 2" descr="Health history: a clipboard and a pen [sign: HEALTH HISTORY]"/>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health history</a:t>
            </a:r>
            <a:endParaRPr lang="en-US" sz="2000" dirty="0" b="1"/>
          </a:p>
        </p:txBody>
      </p:sp>
      <p:pic>
        <p:nvPicPr>
          <p:cNvPr id="21" name="Word picture 3" descr="Symptom: a person with a fever and a person sneezing [sign: SYMPTOM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symptom</a:t>
            </a:r>
            <a:endParaRPr lang="en-US" sz="2000" dirty="0" b="1"/>
          </a:p>
        </p:txBody>
      </p:sp>
      <p:pic>
        <p:nvPicPr>
          <p:cNvPr id="23" name="Word picture 4" descr="Allergy: peanuts and a person sneezing [sign: ALLERGY: PEANUTS]"/>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allergy</a:t>
            </a:r>
            <a:endParaRPr lang="en-US" sz="2000" dirty="0" b="1"/>
          </a:p>
        </p:txBody>
      </p:sp>
      <p:pic>
        <p:nvPicPr>
          <p:cNvPr id="25" name="Word picture 5" descr="Blood pressure: a stethoscope and an arm [sign: 120/80]"/>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blood pressure</a:t>
            </a:r>
            <a:endParaRPr lang="en-US" sz="2000" dirty="0" b="1"/>
          </a:p>
        </p:txBody>
      </p:sp>
      <p:pic>
        <p:nvPicPr>
          <p:cNvPr id="27" name="Word picture 6" descr="Rash: a hand [sign: RASH]"/>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rash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Symptom or suggestion?</a:t>
            </a:r>
            <a:endParaRPr lang="en-US" sz="2200" dirty="0" b="1"/>
          </a:p>
        </p:txBody>
      </p:sp>
      <p:pic>
        <p:nvPicPr>
          <p:cNvPr id="17" name="Word picture 1" descr="Dizzy: a dizzy fac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dizzy</a:t>
            </a:r>
            <a:endParaRPr lang="en-US" sz="2000" dirty="0" b="1"/>
          </a:p>
        </p:txBody>
      </p:sp>
      <p:pic>
        <p:nvPicPr>
          <p:cNvPr id="19" name="Word picture 2" descr="Teeth cleaning: a tooth and a toothbrush [sign: CLEANING]"/>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teeth cleaning</a:t>
            </a:r>
            <a:endParaRPr lang="en-US" sz="2000" dirty="0" b="1"/>
          </a:p>
        </p:txBody>
      </p:sp>
      <p:pic>
        <p:nvPicPr>
          <p:cNvPr id="21" name="Word picture 3" descr="Cavity: a tooth and a magnifying glass [sign: CAVITY]"/>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cavity</a:t>
            </a:r>
            <a:endParaRPr lang="en-US" sz="2000" dirty="0" b="1"/>
          </a:p>
        </p:txBody>
      </p:sp>
      <p:pic>
        <p:nvPicPr>
          <p:cNvPr id="23" name="Word picture 4" descr="Flu shot: a syringe [sign: FLU SHOT]"/>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flu shot</a:t>
            </a:r>
            <a:endParaRPr lang="en-US" sz="2000" dirty="0" b="1"/>
          </a:p>
        </p:txBody>
      </p:sp>
      <p:pic>
        <p:nvPicPr>
          <p:cNvPr id="25" name="Word picture 5" descr="Prescription: pills and a paper [sign: Rx]"/>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prescription</a:t>
            </a:r>
            <a:endParaRPr lang="en-US" sz="2000" dirty="0" b="1"/>
          </a:p>
        </p:txBody>
      </p:sp>
      <p:pic>
        <p:nvPicPr>
          <p:cNvPr id="27" name="Word picture 6" descr="Copay: a card and money [sign: COPAY $20]"/>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copay</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Do you get a checkup when you are sick or when you are well?</a:t>
            </a:r>
            <a:endParaRPr lang="en-US" sz="1500" dirty="0" b="1"/>
          </a:p>
        </p:txBody>
      </p:sp>
      <p:pic>
        <p:nvPicPr>
          <p:cNvPr id="101" name="R1 pic" descr="Checkup: a stethoscope and a clipboard [sign: CHECKUP]"/>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a cough a symptom?</a:t>
            </a:r>
            <a:endParaRPr lang="en-US" sz="1600" dirty="0" b="1"/>
          </a:p>
        </p:txBody>
      </p:sp>
      <p:pic>
        <p:nvPicPr>
          <p:cNvPr id="102" name="R2 pic" descr="Symptom: a person with a fever and a person sneezing [sign: SYMPTOMS]"/>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Do you pay a copay at the clinic or at home?</a:t>
            </a:r>
            <a:endParaRPr lang="en-US" sz="1600" dirty="0" b="1"/>
          </a:p>
        </p:txBody>
      </p:sp>
      <p:pic>
        <p:nvPicPr>
          <p:cNvPr id="103" name="R3 pic" descr="Copay: a card and money [sign: COPAY $20]"/>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when you are well; it's every year</a:t>
            </a:r>
            <a:endParaRPr lang="en-US" sz="14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at the clinic</a:t>
            </a:r>
            <a:endParaRPr lang="en-US" sz="22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Amina is at a clinic for back pain. First, Daniel, the medical assistant, asks her health history questions. Then, at checkout, she talks to Ms. Park, the receptionist.</a:t>
            </a:r>
            <a:endParaRPr lang="en-US" sz="16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Blood pressure: a stethoscope and an arm [sign: 120/80]"/>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Amina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Daniel</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Ms. Park</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Why is Amina at the clinic?</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1:58.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Why is Amina at the clinic?</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78892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Amina:</a:t>
            </a:r>
            <a:endParaRPr lang="en-US" sz="2000" dirty="0"/>
          </a:p>
        </p:txBody>
      </p:sp>
      <p:sp>
        <p:nvSpPr>
          <p:cNvPr id="9" name="R1 opt1"/>
          <p:cNvSpPr/>
          <p:nvPr/>
        </p:nvSpPr>
        <p:spPr>
          <a:xfrm>
            <a:off x="347472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a. for a flu shot</a:t>
            </a:r>
            <a:endParaRPr lang="en-US" sz="1700" dirty="0" b="1"/>
          </a:p>
        </p:txBody>
      </p:sp>
      <p:sp>
        <p:nvSpPr>
          <p:cNvPr id="10" name="R1 opt2"/>
          <p:cNvSpPr/>
          <p:nvPr/>
        </p:nvSpPr>
        <p:spPr>
          <a:xfrm>
            <a:off x="603504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 for back pain</a:t>
            </a:r>
            <a:endParaRPr lang="en-US" sz="1700" dirty="0" b="1"/>
          </a:p>
        </p:txBody>
      </p:sp>
      <p:sp>
        <p:nvSpPr>
          <p:cNvPr id="11" name="R1 opt3"/>
          <p:cNvSpPr/>
          <p:nvPr/>
        </p:nvSpPr>
        <p:spPr>
          <a:xfrm>
            <a:off x="859536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c. for a teeth cleaning</a:t>
            </a:r>
            <a:endParaRPr lang="en-US" sz="1700" dirty="0" b="1"/>
          </a:p>
        </p:txBody>
      </p:sp>
      <p:sp>
        <p:nvSpPr>
          <p:cNvPr id="12" name="R1 circle"/>
          <p:cNvSpPr/>
          <p:nvPr/>
        </p:nvSpPr>
        <p:spPr>
          <a:xfrm>
            <a:off x="5907024" y="3054096"/>
            <a:ext cx="263347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 Complete Amina's form.</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a:t>
            </a:r>
            <a:endParaRPr lang="en-US" sz="2000" dirty="0"/>
          </a:p>
        </p:txBody>
      </p:sp>
      <p:sp>
        <p:nvSpPr>
          <p:cNvPr id="8" name="R1 stmt"/>
          <p:cNvSpPr/>
          <p:nvPr/>
        </p:nvSpPr>
        <p:spPr>
          <a:xfrm>
            <a:off x="502920" y="3108960"/>
            <a:ext cx="45262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Symptom:</a:t>
            </a:r>
            <a:endParaRPr lang="en-US" sz="1800" dirty="0"/>
          </a:p>
        </p:txBody>
      </p:sp>
      <p:sp>
        <p:nvSpPr>
          <p:cNvPr id="9" name="R1 opt1"/>
          <p:cNvSpPr/>
          <p:nvPr/>
        </p:nvSpPr>
        <p:spPr>
          <a:xfrm>
            <a:off x="521208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rash</a:t>
            </a:r>
            <a:endParaRPr lang="en-US" sz="1500" dirty="0" b="1"/>
          </a:p>
        </p:txBody>
      </p:sp>
      <p:sp>
        <p:nvSpPr>
          <p:cNvPr id="10" name="R1 opt2"/>
          <p:cNvSpPr/>
          <p:nvPr/>
        </p:nvSpPr>
        <p:spPr>
          <a:xfrm>
            <a:off x="717804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back pain</a:t>
            </a:r>
            <a:endParaRPr lang="en-US" sz="1500" dirty="0" b="1"/>
          </a:p>
        </p:txBody>
      </p:sp>
      <p:sp>
        <p:nvSpPr>
          <p:cNvPr id="11" name="R1 opt3"/>
          <p:cNvSpPr/>
          <p:nvPr/>
        </p:nvSpPr>
        <p:spPr>
          <a:xfrm>
            <a:off x="91440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cough</a:t>
            </a:r>
            <a:endParaRPr lang="en-US" sz="1500" dirty="0" b="1"/>
          </a:p>
        </p:txBody>
      </p:sp>
      <p:sp>
        <p:nvSpPr>
          <p:cNvPr id="12" name="R1 circle"/>
          <p:cNvSpPr/>
          <p:nvPr/>
        </p:nvSpPr>
        <p:spPr>
          <a:xfrm>
            <a:off x="7050024" y="30540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3" name="R2 stmt"/>
          <p:cNvSpPr/>
          <p:nvPr/>
        </p:nvSpPr>
        <p:spPr>
          <a:xfrm>
            <a:off x="502920" y="3657600"/>
            <a:ext cx="45262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How long?</a:t>
            </a:r>
            <a:endParaRPr lang="en-US" sz="1800" dirty="0"/>
          </a:p>
        </p:txBody>
      </p:sp>
      <p:sp>
        <p:nvSpPr>
          <p:cNvPr id="14" name="R2 opt1"/>
          <p:cNvSpPr/>
          <p:nvPr/>
        </p:nvSpPr>
        <p:spPr>
          <a:xfrm>
            <a:off x="521208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two days</a:t>
            </a:r>
            <a:endParaRPr lang="en-US" sz="1500" dirty="0" b="1"/>
          </a:p>
        </p:txBody>
      </p:sp>
      <p:sp>
        <p:nvSpPr>
          <p:cNvPr id="15" name="R2 opt2"/>
          <p:cNvSpPr/>
          <p:nvPr/>
        </p:nvSpPr>
        <p:spPr>
          <a:xfrm>
            <a:off x="717804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about two weeks</a:t>
            </a:r>
            <a:endParaRPr lang="en-US" sz="1500" dirty="0" b="1"/>
          </a:p>
        </p:txBody>
      </p:sp>
      <p:sp>
        <p:nvSpPr>
          <p:cNvPr id="16" name="R2 opt3"/>
          <p:cNvSpPr/>
          <p:nvPr/>
        </p:nvSpPr>
        <p:spPr>
          <a:xfrm>
            <a:off x="91440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since January</a:t>
            </a:r>
            <a:endParaRPr lang="en-US" sz="1500" dirty="0" b="1"/>
          </a:p>
        </p:txBody>
      </p:sp>
      <p:sp>
        <p:nvSpPr>
          <p:cNvPr id="17" name="R2 circle"/>
          <p:cNvSpPr/>
          <p:nvPr/>
        </p:nvSpPr>
        <p:spPr>
          <a:xfrm>
            <a:off x="7050024" y="360273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8" name="R3 stmt"/>
          <p:cNvSpPr/>
          <p:nvPr/>
        </p:nvSpPr>
        <p:spPr>
          <a:xfrm>
            <a:off x="502920" y="4206240"/>
            <a:ext cx="64922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Back problems before?</a:t>
            </a:r>
            <a:endParaRPr lang="en-US" sz="1800" dirty="0"/>
          </a:p>
        </p:txBody>
      </p:sp>
      <p:sp>
        <p:nvSpPr>
          <p:cNvPr id="19" name="R3 opt1"/>
          <p:cNvSpPr/>
          <p:nvPr/>
        </p:nvSpPr>
        <p:spPr>
          <a:xfrm>
            <a:off x="717804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yes</a:t>
            </a:r>
            <a:endParaRPr lang="en-US" sz="1500" dirty="0" b="1"/>
          </a:p>
        </p:txBody>
      </p:sp>
      <p:sp>
        <p:nvSpPr>
          <p:cNvPr id="20" name="R3 opt2"/>
          <p:cNvSpPr/>
          <p:nvPr/>
        </p:nvSpPr>
        <p:spPr>
          <a:xfrm>
            <a:off x="91440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no</a:t>
            </a:r>
            <a:endParaRPr lang="en-US" sz="1500" dirty="0" b="1"/>
          </a:p>
        </p:txBody>
      </p:sp>
      <p:sp>
        <p:nvSpPr>
          <p:cNvPr id="21" name="R3 circle"/>
          <p:cNvSpPr/>
          <p:nvPr/>
        </p:nvSpPr>
        <p:spPr>
          <a:xfrm>
            <a:off x="9015984" y="415137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R4 stmt"/>
          <p:cNvSpPr/>
          <p:nvPr/>
        </p:nvSpPr>
        <p:spPr>
          <a:xfrm>
            <a:off x="502920" y="4754880"/>
            <a:ext cx="45262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Allergy:</a:t>
            </a:r>
            <a:endParaRPr lang="en-US" sz="1800" dirty="0"/>
          </a:p>
        </p:txBody>
      </p:sp>
      <p:sp>
        <p:nvSpPr>
          <p:cNvPr id="23" name="R4 opt1"/>
          <p:cNvSpPr/>
          <p:nvPr/>
        </p:nvSpPr>
        <p:spPr>
          <a:xfrm>
            <a:off x="521208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peanuts</a:t>
            </a:r>
            <a:endParaRPr lang="en-US" sz="1500" dirty="0" b="1"/>
          </a:p>
        </p:txBody>
      </p:sp>
      <p:sp>
        <p:nvSpPr>
          <p:cNvPr id="24" name="R4 opt2"/>
          <p:cNvSpPr/>
          <p:nvPr/>
        </p:nvSpPr>
        <p:spPr>
          <a:xfrm>
            <a:off x="717804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penicillin</a:t>
            </a:r>
            <a:endParaRPr lang="en-US" sz="1500" dirty="0" b="1"/>
          </a:p>
        </p:txBody>
      </p:sp>
      <p:sp>
        <p:nvSpPr>
          <p:cNvPr id="25" name="R4 opt3"/>
          <p:cNvSpPr/>
          <p:nvPr/>
        </p:nvSpPr>
        <p:spPr>
          <a:xfrm>
            <a:off x="91440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none</a:t>
            </a:r>
            <a:endParaRPr lang="en-US" sz="1500" dirty="0" b="1"/>
          </a:p>
        </p:txBody>
      </p:sp>
      <p:sp>
        <p:nvSpPr>
          <p:cNvPr id="26" name="R4 circle"/>
          <p:cNvSpPr/>
          <p:nvPr/>
        </p:nvSpPr>
        <p:spPr>
          <a:xfrm>
            <a:off x="7050024" y="470001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5 stmt"/>
          <p:cNvSpPr/>
          <p:nvPr/>
        </p:nvSpPr>
        <p:spPr>
          <a:xfrm>
            <a:off x="502920" y="5303520"/>
            <a:ext cx="64922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Dizzy?</a:t>
            </a:r>
            <a:endParaRPr lang="en-US" sz="1800" dirty="0"/>
          </a:p>
        </p:txBody>
      </p:sp>
      <p:sp>
        <p:nvSpPr>
          <p:cNvPr id="28" name="R5 opt1"/>
          <p:cNvSpPr/>
          <p:nvPr/>
        </p:nvSpPr>
        <p:spPr>
          <a:xfrm>
            <a:off x="717804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yes</a:t>
            </a:r>
            <a:endParaRPr lang="en-US" sz="1500" dirty="0" b="1"/>
          </a:p>
        </p:txBody>
      </p:sp>
      <p:sp>
        <p:nvSpPr>
          <p:cNvPr id="29" name="R5 opt2"/>
          <p:cNvSpPr/>
          <p:nvPr/>
        </p:nvSpPr>
        <p:spPr>
          <a:xfrm>
            <a:off x="91440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no</a:t>
            </a:r>
            <a:endParaRPr lang="en-US" sz="1500" dirty="0" b="1"/>
          </a:p>
        </p:txBody>
      </p:sp>
      <p:sp>
        <p:nvSpPr>
          <p:cNvPr id="30" name="R5 circle"/>
          <p:cNvSpPr/>
          <p:nvPr/>
        </p:nvSpPr>
        <p:spPr>
          <a:xfrm>
            <a:off x="9015984" y="524865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6 stmt"/>
          <p:cNvSpPr/>
          <p:nvPr/>
        </p:nvSpPr>
        <p:spPr>
          <a:xfrm>
            <a:off x="502920" y="5852160"/>
            <a:ext cx="45262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Copay today:</a:t>
            </a:r>
            <a:endParaRPr lang="en-US" sz="1800" dirty="0"/>
          </a:p>
        </p:txBody>
      </p:sp>
      <p:sp>
        <p:nvSpPr>
          <p:cNvPr id="32" name="R6 opt1"/>
          <p:cNvSpPr/>
          <p:nvPr/>
        </p:nvSpPr>
        <p:spPr>
          <a:xfrm>
            <a:off x="521208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$10</a:t>
            </a:r>
            <a:endParaRPr lang="en-US" sz="1500" dirty="0" b="1"/>
          </a:p>
        </p:txBody>
      </p:sp>
      <p:sp>
        <p:nvSpPr>
          <p:cNvPr id="33" name="R6 opt2"/>
          <p:cNvSpPr/>
          <p:nvPr/>
        </p:nvSpPr>
        <p:spPr>
          <a:xfrm>
            <a:off x="717804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$20</a:t>
            </a:r>
            <a:endParaRPr lang="en-US" sz="1500" dirty="0" b="1"/>
          </a:p>
        </p:txBody>
      </p:sp>
      <p:sp>
        <p:nvSpPr>
          <p:cNvPr id="34" name="R6 opt3"/>
          <p:cNvSpPr/>
          <p:nvPr/>
        </p:nvSpPr>
        <p:spPr>
          <a:xfrm>
            <a:off x="91440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$40</a:t>
            </a:r>
            <a:endParaRPr lang="en-US" sz="1500" dirty="0" b="1"/>
          </a:p>
        </p:txBody>
      </p:sp>
      <p:sp>
        <p:nvSpPr>
          <p:cNvPr id="35" name="R6 circle"/>
          <p:cNvSpPr/>
          <p:nvPr/>
        </p:nvSpPr>
        <p:spPr>
          <a:xfrm>
            <a:off x="7050024" y="57972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for, since, or ever.</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for, since, ever</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had it ____ about two weeks.</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____ had back problems before?</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ever</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____ had surgery?</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ever</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had it ____ January.</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Also, you haven't had a teeth cleaning ____ a year</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and you haven't had a checkup ____ last spring.</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a suggestion, and the stress</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are short forms. This listening uses the full forms.</a:t>
            </a:r>
            <a:endParaRPr lang="en-US" sz="2000" dirty="0"/>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Why don't you…?</a:t>
            </a:r>
            <a:r>
              <a:rPr lang="en-US" sz="2000" dirty="0" b="0">
                <a:solidFill>
                  <a:srgbClr val="1B2236"/>
                </a:solidFill>
                <a:latin typeface="Lexend Deca" pitchFamily="34" charset="0"/>
                <a:ea typeface="Lexend Deca" pitchFamily="34" charset="-122"/>
                <a:cs typeface="Lexend Deca" pitchFamily="34" charset="-120"/>
              </a:rPr>
              <a:t> Your voice goes </a:t>
            </a:r>
            <a:r>
              <a:rPr lang="en-US" sz="2000" dirty="0" b="1">
                <a:solidFill>
                  <a:srgbClr val="5B3FC4"/>
                </a:solidFill>
                <a:latin typeface="Lexend Deca" pitchFamily="34" charset="0"/>
                <a:ea typeface="Lexend Deca" pitchFamily="34" charset="-122"/>
                <a:cs typeface="Lexend Deca" pitchFamily="34" charset="-120"/>
              </a:rPr>
              <a:t>down</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 doctor's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see you in a few minutes.</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make an appointment.</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Why don't you</a:t>
            </a:r>
            <a:r>
              <a:rPr lang="en-US" sz="1800" dirty="0" b="1">
                <a:solidFill>
                  <a:srgbClr val="1B2236"/>
                </a:solidFill>
                <a:latin typeface="Lexend Deca" pitchFamily="34" charset="0"/>
                <a:ea typeface="Lexend Deca" pitchFamily="34" charset="-122"/>
                <a:cs typeface="Lexend Deca" pitchFamily="34" charset="-120"/>
              </a:rPr>
              <a:t> call the clinic?</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I've had a </a:t>
            </a:r>
            <a:r>
              <a:rPr lang="en-US" sz="1800" dirty="0" b="1">
                <a:solidFill>
                  <a:srgbClr val="5B3FC4"/>
                </a:solidFill>
                <a:latin typeface="Lexend Deca" pitchFamily="34" charset="0"/>
                <a:ea typeface="Lexend Deca" pitchFamily="34" charset="-122"/>
                <a:cs typeface="Lexend Deca" pitchFamily="34" charset="-120"/>
              </a:rPr>
              <a:t>RASH</a:t>
            </a:r>
            <a:r>
              <a:rPr lang="en-US" sz="1800" dirty="0" b="1">
                <a:solidFill>
                  <a:srgbClr val="1B2236"/>
                </a:solidFill>
                <a:latin typeface="Lexend Deca" pitchFamily="34" charset="0"/>
                <a:ea typeface="Lexend Deca" pitchFamily="34" charset="-122"/>
                <a:cs typeface="Lexend Deca" pitchFamily="34" charset="-120"/>
              </a:rPr>
              <a:t> since </a:t>
            </a:r>
            <a:r>
              <a:rPr lang="en-US" sz="1800" dirty="0" b="1">
                <a:solidFill>
                  <a:srgbClr val="5B3FC4"/>
                </a:solidFill>
                <a:latin typeface="Lexend Deca" pitchFamily="34" charset="0"/>
                <a:ea typeface="Lexend Deca" pitchFamily="34" charset="-122"/>
                <a:cs typeface="Lexend Deca" pitchFamily="34" charset="-120"/>
              </a:rPr>
              <a:t>MON</a:t>
            </a:r>
            <a:r>
              <a:rPr lang="en-US" sz="1800" dirty="0" b="1">
                <a:solidFill>
                  <a:srgbClr val="1B2236"/>
                </a:solidFill>
                <a:latin typeface="Lexend Deca" pitchFamily="34" charset="0"/>
                <a:ea typeface="Lexend Deca" pitchFamily="34" charset="-122"/>
                <a:cs typeface="Lexend Deca" pitchFamily="34" charset="-120"/>
              </a:rPr>
              <a:t>day.</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ash: a hand [sign: RASH]"/>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How long…? / Have you ever…?</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have</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this rash?</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had</a:t>
            </a:r>
            <a:r>
              <a:rPr lang="en-US" sz="1700" dirty="0" b="1">
                <a:solidFill>
                  <a:srgbClr val="1B2236"/>
                </a:solidFill>
                <a:latin typeface="Lexend Deca" pitchFamily="34" charset="0"/>
                <a:ea typeface="Lexend Deca" pitchFamily="34" charset="-122"/>
                <a:cs typeface="Lexend Deca" pitchFamily="34" charset="-120"/>
              </a:rPr>
              <a:t> it </a:t>
            </a:r>
            <a:r>
              <a:rPr lang="en-US" sz="1700" dirty="0" b="1">
                <a:solidFill>
                  <a:srgbClr val="1B2236"/>
                </a:solidFill>
                <a:latin typeface="Lexend Deca" pitchFamily="34" charset="0"/>
                <a:ea typeface="Lexend Deca" pitchFamily="34" charset="-122"/>
                <a:cs typeface="Lexend Deca" pitchFamily="34" charset="-120"/>
              </a:rPr>
              <a:t>for</a:t>
            </a:r>
            <a:r>
              <a:rPr lang="en-US" sz="1700" dirty="0" b="1">
                <a:solidFill>
                  <a:srgbClr val="1B2236"/>
                </a:solidFill>
                <a:latin typeface="Lexend Deca" pitchFamily="34" charset="0"/>
                <a:ea typeface="Lexend Deca" pitchFamily="34" charset="-122"/>
                <a:cs typeface="Lexend Deca" pitchFamily="34" charset="-120"/>
              </a:rPr>
              <a:t> three days.</a:t>
            </a:r>
            <a:endParaRPr lang="en-US" sz="1700" dirty="0" b="1"/>
          </a:p>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had</a:t>
            </a:r>
            <a:r>
              <a:rPr lang="en-US" sz="1700" dirty="0" b="1">
                <a:solidFill>
                  <a:srgbClr val="1B2236"/>
                </a:solidFill>
                <a:latin typeface="Lexend Deca" pitchFamily="34" charset="0"/>
                <a:ea typeface="Lexend Deca" pitchFamily="34" charset="-122"/>
                <a:cs typeface="Lexend Deca" pitchFamily="34" charset="-120"/>
              </a:rPr>
              <a:t> it </a:t>
            </a:r>
            <a:r>
              <a:rPr lang="en-US" sz="1700" dirty="0" b="1">
                <a:solidFill>
                  <a:srgbClr val="1B2236"/>
                </a:solidFill>
                <a:latin typeface="Lexend Deca" pitchFamily="34" charset="0"/>
                <a:ea typeface="Lexend Deca" pitchFamily="34" charset="-122"/>
                <a:cs typeface="Lexend Deca" pitchFamily="34" charset="-120"/>
              </a:rPr>
              <a:t>since</a:t>
            </a:r>
            <a:r>
              <a:rPr lang="en-US" sz="1700" dirty="0" b="1">
                <a:solidFill>
                  <a:srgbClr val="1B2236"/>
                </a:solidFill>
                <a:latin typeface="Lexend Deca" pitchFamily="34" charset="0"/>
                <a:ea typeface="Lexend Deca" pitchFamily="34" charset="-122"/>
                <a:cs typeface="Lexend Deca" pitchFamily="34" charset="-120"/>
              </a:rPr>
              <a:t> Monday.</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has</a:t>
            </a:r>
            <a:r>
              <a:rPr lang="en-US" sz="1700" dirty="0" b="1">
                <a:solidFill>
                  <a:srgbClr val="1B2236"/>
                </a:solidFill>
                <a:latin typeface="Lexend Deca" pitchFamily="34" charset="0"/>
                <a:ea typeface="Lexend Deca" pitchFamily="34" charset="-122"/>
                <a:cs typeface="Lexend Deca" pitchFamily="34" charset="-120"/>
              </a:rPr>
              <a:t> your back </a:t>
            </a:r>
            <a:r>
              <a:rPr lang="en-US" sz="1700" dirty="0" b="1">
                <a:solidFill>
                  <a:srgbClr val="1B2236"/>
                </a:solidFill>
                <a:latin typeface="Lexend Deca" pitchFamily="34" charset="0"/>
                <a:ea typeface="Lexend Deca" pitchFamily="34" charset="-122"/>
                <a:cs typeface="Lexend Deca" pitchFamily="34" charset="-120"/>
              </a:rPr>
              <a:t>hurt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a:t>
            </a:r>
            <a:r>
              <a:rPr lang="en-US" sz="1700" dirty="0" b="1">
                <a:solidFill>
                  <a:srgbClr val="1B2236"/>
                </a:solidFill>
                <a:latin typeface="Lexend Deca" pitchFamily="34" charset="0"/>
                <a:ea typeface="Lexend Deca" pitchFamily="34" charset="-122"/>
                <a:cs typeface="Lexend Deca" pitchFamily="34" charset="-120"/>
              </a:rPr>
              <a:t>'s hurt</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for</a:t>
            </a:r>
            <a:r>
              <a:rPr lang="en-US" sz="1700" dirty="0" b="1">
                <a:solidFill>
                  <a:srgbClr val="1B2236"/>
                </a:solidFill>
                <a:latin typeface="Lexend Deca" pitchFamily="34" charset="0"/>
                <a:ea typeface="Lexend Deca" pitchFamily="34" charset="-122"/>
                <a:cs typeface="Lexend Deca" pitchFamily="34" charset="-120"/>
              </a:rPr>
              <a:t> about two weeks.</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ever</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surgery?</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never</a:t>
            </a:r>
            <a:r>
              <a:rPr lang="en-US" sz="1700" dirty="0" b="1">
                <a:solidFill>
                  <a:srgbClr val="1B2236"/>
                </a:solidFill>
                <a:latin typeface="Lexend Deca" pitchFamily="34" charset="0"/>
                <a:ea typeface="Lexend Deca" pitchFamily="34" charset="-122"/>
                <a:cs typeface="Lexend Deca" pitchFamily="34" charset="-120"/>
              </a:rPr>
              <a:t>. / Yes, I </a:t>
            </a: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I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knee surgery in 2018.</a:t>
            </a:r>
            <a:endParaRPr lang="en-US" sz="17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tried</a:t>
            </a:r>
            <a:r>
              <a:rPr lang="en-US" sz="1700" dirty="0" b="1">
                <a:solidFill>
                  <a:srgbClr val="1B2236"/>
                </a:solidFill>
                <a:latin typeface="Lexend Deca" pitchFamily="34" charset="0"/>
                <a:ea typeface="Lexend Deca" pitchFamily="34" charset="-122"/>
                <a:cs typeface="Lexend Deca" pitchFamily="34" charset="-120"/>
              </a:rPr>
              <a:t> anything for it?</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 </a:t>
            </a: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've used</a:t>
            </a:r>
            <a:r>
              <a:rPr lang="en-US" sz="1700" dirty="0" b="1">
                <a:solidFill>
                  <a:srgbClr val="1B2236"/>
                </a:solidFill>
                <a:latin typeface="Lexend Deca" pitchFamily="34" charset="0"/>
                <a:ea typeface="Lexend Deca" pitchFamily="34" charset="-122"/>
                <a:cs typeface="Lexend Deca" pitchFamily="34" charset="-120"/>
              </a:rPr>
              <a:t> a heating pad.</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Prescription: pills and a paper [sign: Rx]"/>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a problem → a suggestion</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PROBLEM</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SUGGESTION</a:t>
            </a:r>
            <a:endParaRPr lang="en-US" sz="2000" dirty="0" b="1"/>
          </a:p>
        </p:txBody>
      </p:sp>
      <p:sp>
        <p:nvSpPr>
          <p:cNvPr id="18" name="Question 1"/>
          <p:cNvSpPr/>
          <p:nvPr/>
        </p:nvSpPr>
        <p:spPr>
          <a:xfrm>
            <a:off x="5138928" y="2286000"/>
            <a:ext cx="265176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back hurts. What can I do?</a:t>
            </a:r>
            <a:endParaRPr lang="en-US" sz="1700" dirty="0" b="1"/>
          </a:p>
        </p:txBody>
      </p:sp>
      <p:sp>
        <p:nvSpPr>
          <p:cNvPr id="19" name="Answer bg 1"/>
          <p:cNvSpPr/>
          <p:nvPr/>
        </p:nvSpPr>
        <p:spPr>
          <a:xfrm>
            <a:off x="7863840" y="2286000"/>
            <a:ext cx="406908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Why don't you</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call</a:t>
            </a:r>
            <a:r>
              <a:rPr lang="en-US" sz="1700" dirty="0" b="1">
                <a:solidFill>
                  <a:srgbClr val="1B2236"/>
                </a:solidFill>
                <a:latin typeface="Lexend Deca" pitchFamily="34" charset="0"/>
                <a:ea typeface="Lexend Deca" pitchFamily="34" charset="-122"/>
                <a:cs typeface="Lexend Deca" pitchFamily="34" charset="-120"/>
              </a:rPr>
              <a:t> the clinic?</a:t>
            </a:r>
            <a:endParaRPr lang="en-US" sz="1700" dirty="0" b="1"/>
          </a:p>
        </p:txBody>
      </p:sp>
      <p:sp>
        <p:nvSpPr>
          <p:cNvPr id="21" name="Question 2"/>
          <p:cNvSpPr/>
          <p:nvPr/>
        </p:nvSpPr>
        <p:spPr>
          <a:xfrm>
            <a:off x="5138928" y="3246120"/>
            <a:ext cx="265176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sit all day at work. Any ideas?</a:t>
            </a:r>
            <a:endParaRPr lang="en-US" sz="1700" dirty="0" b="1"/>
          </a:p>
        </p:txBody>
      </p:sp>
      <p:sp>
        <p:nvSpPr>
          <p:cNvPr id="22" name="Answer bg 2"/>
          <p:cNvSpPr/>
          <p:nvPr/>
        </p:nvSpPr>
        <p:spPr>
          <a:xfrm>
            <a:off x="7863840" y="3246120"/>
            <a:ext cx="406908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246120"/>
            <a:ext cx="406908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 </a:t>
            </a:r>
            <a:r>
              <a:rPr lang="en-US" sz="1700" dirty="0" b="1">
                <a:solidFill>
                  <a:srgbClr val="1B2236"/>
                </a:solidFill>
                <a:latin typeface="Lexend Deca" pitchFamily="34" charset="0"/>
                <a:ea typeface="Lexend Deca" pitchFamily="34" charset="-122"/>
                <a:cs typeface="Lexend Deca" pitchFamily="34" charset="-120"/>
              </a:rPr>
              <a:t>could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take</a:t>
            </a:r>
            <a:r>
              <a:rPr lang="en-US" sz="1700" dirty="0" b="1">
                <a:solidFill>
                  <a:srgbClr val="1B2236"/>
                </a:solidFill>
                <a:latin typeface="Lexend Deca" pitchFamily="34" charset="0"/>
                <a:ea typeface="Lexend Deca" pitchFamily="34" charset="-122"/>
                <a:cs typeface="Lexend Deca" pitchFamily="34" charset="-120"/>
              </a:rPr>
              <a:t> a short walk at lunch.</a:t>
            </a:r>
            <a:endParaRPr lang="en-US" sz="1700" dirty="0" b="1"/>
          </a:p>
        </p:txBody>
      </p:sp>
      <p:sp>
        <p:nvSpPr>
          <p:cNvPr id="24" name="Question 3"/>
          <p:cNvSpPr/>
          <p:nvPr/>
        </p:nvSpPr>
        <p:spPr>
          <a:xfrm>
            <a:off x="5138928" y="4206240"/>
            <a:ext cx="265176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haven't had a checkup for two years.</a:t>
            </a:r>
            <a:endParaRPr lang="en-US" sz="1700" dirty="0" b="1"/>
          </a:p>
        </p:txBody>
      </p:sp>
      <p:sp>
        <p:nvSpPr>
          <p:cNvPr id="25" name="Answer bg 3"/>
          <p:cNvSpPr/>
          <p:nvPr/>
        </p:nvSpPr>
        <p:spPr>
          <a:xfrm>
            <a:off x="7863840" y="4206240"/>
            <a:ext cx="406908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206240"/>
            <a:ext cx="406908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It's a good idea to</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get</a:t>
            </a:r>
            <a:r>
              <a:rPr lang="en-US" sz="1700" dirty="0" b="1">
                <a:solidFill>
                  <a:srgbClr val="1B2236"/>
                </a:solidFill>
                <a:latin typeface="Lexend Deca" pitchFamily="34" charset="0"/>
                <a:ea typeface="Lexend Deca" pitchFamily="34" charset="-122"/>
                <a:cs typeface="Lexend Deca" pitchFamily="34" charset="-120"/>
              </a:rPr>
              <a:t> one every year.</a:t>
            </a:r>
            <a:endParaRPr lang="en-US" sz="1700" dirty="0" b="1"/>
          </a:p>
        </p:txBody>
      </p:sp>
      <p:sp>
        <p:nvSpPr>
          <p:cNvPr id="27" name="Question 4"/>
          <p:cNvSpPr/>
          <p:nvPr/>
        </p:nvSpPr>
        <p:spPr>
          <a:xfrm>
            <a:off x="5138928" y="5166360"/>
            <a:ext cx="265176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tooth has hurt since Friday.</a:t>
            </a:r>
            <a:endParaRPr lang="en-US" sz="1700" dirty="0" b="1"/>
          </a:p>
        </p:txBody>
      </p:sp>
      <p:sp>
        <p:nvSpPr>
          <p:cNvPr id="28" name="Answer bg 4"/>
          <p:cNvSpPr/>
          <p:nvPr/>
        </p:nvSpPr>
        <p:spPr>
          <a:xfrm>
            <a:off x="7863840" y="5166360"/>
            <a:ext cx="406908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166360"/>
            <a:ext cx="406908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 </a:t>
            </a:r>
            <a:r>
              <a:rPr lang="en-US" sz="1700" dirty="0" b="1">
                <a:solidFill>
                  <a:srgbClr val="1B2236"/>
                </a:solidFill>
                <a:latin typeface="Lexend Deca" pitchFamily="34" charset="0"/>
                <a:ea typeface="Lexend Deca" pitchFamily="34" charset="-122"/>
                <a:cs typeface="Lexend Deca" pitchFamily="34" charset="-120"/>
              </a:rPr>
              <a:t>should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see</a:t>
            </a:r>
            <a:r>
              <a:rPr lang="en-US" sz="1700" dirty="0" b="1">
                <a:solidFill>
                  <a:srgbClr val="1B2236"/>
                </a:solidFill>
                <a:latin typeface="Lexend Deca" pitchFamily="34" charset="0"/>
                <a:ea typeface="Lexend Deca" pitchFamily="34" charset="-122"/>
                <a:cs typeface="Lexend Deca" pitchFamily="34" charset="-120"/>
              </a:rPr>
              <a:t> a dentist soon.</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Dizzy: a dizzy fac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how to say a symptom</a:t>
            </a:r>
            <a:endParaRPr lang="en-US" sz="24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EXAMPLES</a:t>
            </a:r>
            <a:endParaRPr lang="en-US" sz="2000" dirty="0" b="1"/>
          </a:p>
        </p:txBody>
      </p:sp>
      <p:sp>
        <p:nvSpPr>
          <p:cNvPr id="18" name="Question 1"/>
          <p:cNvSpPr/>
          <p:nvPr/>
        </p:nvSpPr>
        <p:spPr>
          <a:xfrm>
            <a:off x="5138928" y="2286000"/>
            <a:ext cx="23774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 have / I've had</a:t>
            </a:r>
            <a:r>
              <a:rPr lang="en-US" sz="1800" dirty="0" b="1">
                <a:solidFill>
                  <a:srgbClr val="1B2236"/>
                </a:solidFill>
                <a:latin typeface="Lexend Deca" pitchFamily="34" charset="0"/>
                <a:ea typeface="Lexend Deca" pitchFamily="34" charset="-122"/>
                <a:cs typeface="Lexend Deca" pitchFamily="34" charset="-120"/>
              </a:rPr>
              <a:t> + a noun</a:t>
            </a:r>
            <a:endParaRPr lang="en-US" sz="1800" dirty="0" b="1"/>
          </a:p>
        </p:txBody>
      </p:sp>
      <p:sp>
        <p:nvSpPr>
          <p:cNvPr id="19" name="Answer bg 1"/>
          <p:cNvSpPr/>
          <p:nvPr/>
        </p:nvSpPr>
        <p:spPr>
          <a:xfrm>
            <a:off x="7589520" y="2286000"/>
            <a:ext cx="434340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rash, a cough, a backache, a sore throat</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 I've had a cough since Sunday.</a:t>
            </a:r>
            <a:endParaRPr lang="en-US" sz="1700" dirty="0" b="1"/>
          </a:p>
        </p:txBody>
      </p:sp>
      <p:sp>
        <p:nvSpPr>
          <p:cNvPr id="21" name="Question 2"/>
          <p:cNvSpPr/>
          <p:nvPr/>
        </p:nvSpPr>
        <p:spPr>
          <a:xfrm>
            <a:off x="5138928" y="3383280"/>
            <a:ext cx="23774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My</a:t>
            </a:r>
            <a:r>
              <a:rPr lang="en-US" sz="1800" dirty="0" b="1">
                <a:solidFill>
                  <a:srgbClr val="1B2236"/>
                </a:solidFill>
                <a:latin typeface="Lexend Deca" pitchFamily="34" charset="0"/>
                <a:ea typeface="Lexend Deca" pitchFamily="34" charset="-122"/>
                <a:cs typeface="Lexend Deca" pitchFamily="34" charset="-120"/>
              </a:rPr>
              <a:t> ___ </a:t>
            </a:r>
            <a:r>
              <a:rPr lang="en-US" sz="1800" dirty="0" b="1">
                <a:solidFill>
                  <a:srgbClr val="5B3FC4"/>
                </a:solidFill>
                <a:latin typeface="Lexend Deca" pitchFamily="34" charset="0"/>
                <a:ea typeface="Lexend Deca" pitchFamily="34" charset="-122"/>
                <a:cs typeface="Lexend Deca" pitchFamily="34" charset="-120"/>
              </a:rPr>
              <a:t>hurts / has hurt</a:t>
            </a:r>
            <a:endParaRPr lang="en-US" sz="1800" dirty="0" b="1"/>
          </a:p>
        </p:txBody>
      </p:sp>
      <p:sp>
        <p:nvSpPr>
          <p:cNvPr id="22" name="Answer bg 2"/>
          <p:cNvSpPr/>
          <p:nvPr/>
        </p:nvSpPr>
        <p:spPr>
          <a:xfrm>
            <a:off x="7589520" y="3383280"/>
            <a:ext cx="434340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383280"/>
            <a:ext cx="434340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back hurts. My tooth has hurt for a week.</a:t>
            </a:r>
            <a:endParaRPr lang="en-US" sz="1700" dirty="0" b="1"/>
          </a:p>
        </p:txBody>
      </p:sp>
      <p:sp>
        <p:nvSpPr>
          <p:cNvPr id="24" name="Question 3"/>
          <p:cNvSpPr/>
          <p:nvPr/>
        </p:nvSpPr>
        <p:spPr>
          <a:xfrm>
            <a:off x="5138928" y="4480560"/>
            <a:ext cx="23774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 feel / I've felt</a:t>
            </a:r>
            <a:r>
              <a:rPr lang="en-US" sz="1800" dirty="0" b="1">
                <a:solidFill>
                  <a:srgbClr val="1B2236"/>
                </a:solidFill>
                <a:latin typeface="Lexend Deca" pitchFamily="34" charset="0"/>
                <a:ea typeface="Lexend Deca" pitchFamily="34" charset="-122"/>
                <a:cs typeface="Lexend Deca" pitchFamily="34" charset="-120"/>
              </a:rPr>
              <a:t> + a word</a:t>
            </a:r>
            <a:endParaRPr lang="en-US" sz="1800" dirty="0" b="1"/>
          </a:p>
        </p:txBody>
      </p:sp>
      <p:sp>
        <p:nvSpPr>
          <p:cNvPr id="25" name="Answer bg 3"/>
          <p:cNvSpPr/>
          <p:nvPr/>
        </p:nvSpPr>
        <p:spPr>
          <a:xfrm>
            <a:off x="7589520" y="4480560"/>
            <a:ext cx="434340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589520" y="4480560"/>
            <a:ext cx="434340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dizzy, tired → I've felt tired for three days.</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lu shot: a syringe [sign: FLU SHO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strong or soft?</a:t>
            </a:r>
            <a:endParaRPr lang="en-US" sz="2100" dirty="0" b="1"/>
          </a:p>
        </p:txBody>
      </p:sp>
      <p:sp>
        <p:nvSpPr>
          <p:cNvPr id="8" name="Q head"/>
          <p:cNvSpPr/>
          <p:nvPr/>
        </p:nvSpPr>
        <p:spPr>
          <a:xfrm>
            <a:off x="5166360" y="1828800"/>
            <a:ext cx="24688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1" name="A head"/>
          <p:cNvSpPr/>
          <p:nvPr/>
        </p:nvSpPr>
        <p:spPr>
          <a:xfrm>
            <a:off x="7680960" y="1828800"/>
            <a:ext cx="42519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HOW STRONG?  ·  EXAMPLE</a:t>
            </a:r>
            <a:endParaRPr lang="en-US" sz="2000" dirty="0" b="1"/>
          </a:p>
        </p:txBody>
      </p:sp>
      <p:sp>
        <p:nvSpPr>
          <p:cNvPr id="18" name="Question 1"/>
          <p:cNvSpPr/>
          <p:nvPr/>
        </p:nvSpPr>
        <p:spPr>
          <a:xfrm>
            <a:off x="5138928" y="228600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You should…</a:t>
            </a:r>
            <a:endParaRPr lang="en-US" sz="1800" dirty="0" b="1"/>
          </a:p>
        </p:txBody>
      </p:sp>
      <p:sp>
        <p:nvSpPr>
          <p:cNvPr id="19" name="Answer bg 1"/>
          <p:cNvSpPr/>
          <p:nvPr/>
        </p:nvSpPr>
        <p:spPr>
          <a:xfrm>
            <a:off x="7680960" y="228600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680960" y="228600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strong</a:t>
            </a:r>
            <a:r>
              <a:rPr lang="en-US" sz="1700" dirty="0" b="1">
                <a:solidFill>
                  <a:srgbClr val="1B2236"/>
                </a:solidFill>
                <a:latin typeface="Lexend Deca" pitchFamily="34" charset="0"/>
                <a:ea typeface="Lexend Deca" pitchFamily="34" charset="-122"/>
                <a:cs typeface="Lexend Deca" pitchFamily="34" charset="-120"/>
              </a:rPr>
              <a:t> advice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You should see a doctor.</a:t>
            </a:r>
            <a:endParaRPr lang="en-US" sz="1700" dirty="0" b="1"/>
          </a:p>
        </p:txBody>
      </p:sp>
      <p:sp>
        <p:nvSpPr>
          <p:cNvPr id="21" name="Question 2"/>
          <p:cNvSpPr/>
          <p:nvPr/>
        </p:nvSpPr>
        <p:spPr>
          <a:xfrm>
            <a:off x="5138928" y="338328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It's a good idea to…</a:t>
            </a:r>
            <a:endParaRPr lang="en-US" sz="1800" dirty="0" b="1"/>
          </a:p>
        </p:txBody>
      </p:sp>
      <p:sp>
        <p:nvSpPr>
          <p:cNvPr id="22" name="Answer bg 2"/>
          <p:cNvSpPr/>
          <p:nvPr/>
        </p:nvSpPr>
        <p:spPr>
          <a:xfrm>
            <a:off x="7680960" y="338328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680960" y="338328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a:t>
            </a:r>
            <a:r>
              <a:rPr lang="en-US" sz="1700" dirty="0" b="1">
                <a:solidFill>
                  <a:srgbClr val="1B2236"/>
                </a:solidFill>
                <a:latin typeface="Lexend Deca" pitchFamily="34" charset="0"/>
                <a:ea typeface="Lexend Deca" pitchFamily="34" charset="-122"/>
                <a:cs typeface="Lexend Deca" pitchFamily="34" charset="-120"/>
              </a:rPr>
              <a:t>general</a:t>
            </a:r>
            <a:r>
              <a:rPr lang="en-US" sz="1700" dirty="0" b="1">
                <a:solidFill>
                  <a:srgbClr val="1B2236"/>
                </a:solidFill>
                <a:latin typeface="Lexend Deca" pitchFamily="34" charset="0"/>
                <a:ea typeface="Lexend Deca" pitchFamily="34" charset="-122"/>
                <a:cs typeface="Lexend Deca" pitchFamily="34" charset="-120"/>
              </a:rPr>
              <a:t> idea (good for everyone)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It's a good idea to get a flu shot every year.</a:t>
            </a:r>
            <a:endParaRPr lang="en-US" sz="1700" dirty="0" b="1"/>
          </a:p>
        </p:txBody>
      </p:sp>
      <p:sp>
        <p:nvSpPr>
          <p:cNvPr id="24" name="Question 3"/>
          <p:cNvSpPr/>
          <p:nvPr/>
        </p:nvSpPr>
        <p:spPr>
          <a:xfrm>
            <a:off x="5138928" y="448056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Why don't you…? / You could…</a:t>
            </a:r>
            <a:endParaRPr lang="en-US" sz="1800" dirty="0" b="1"/>
          </a:p>
        </p:txBody>
      </p:sp>
      <p:sp>
        <p:nvSpPr>
          <p:cNvPr id="25" name="Answer bg 3"/>
          <p:cNvSpPr/>
          <p:nvPr/>
        </p:nvSpPr>
        <p:spPr>
          <a:xfrm>
            <a:off x="7680960" y="448056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680960" y="448056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a:t>
            </a:r>
            <a:r>
              <a:rPr lang="en-US" sz="1700" dirty="0" b="1">
                <a:solidFill>
                  <a:srgbClr val="1B2236"/>
                </a:solidFill>
                <a:latin typeface="Lexend Deca" pitchFamily="34" charset="0"/>
                <a:ea typeface="Lexend Deca" pitchFamily="34" charset="-122"/>
                <a:cs typeface="Lexend Deca" pitchFamily="34" charset="-120"/>
              </a:rPr>
              <a:t>soft</a:t>
            </a:r>
            <a:r>
              <a:rPr lang="en-US" sz="1700" dirty="0" b="1">
                <a:solidFill>
                  <a:srgbClr val="1B2236"/>
                </a:solidFill>
                <a:latin typeface="Lexend Deca" pitchFamily="34" charset="0"/>
                <a:ea typeface="Lexend Deca" pitchFamily="34" charset="-122"/>
                <a:cs typeface="Lexend Deca" pitchFamily="34" charset="-120"/>
              </a:rPr>
              <a:t> idea; the person chooses</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Why don't you try a heating pad? You could stretch.</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correct form of the verb.</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correct form of the verb.</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How long have you ____ the cough? (have)</a:t>
            </a:r>
            <a:endParaRPr lang="en-US" sz="16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had</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Why don't you ____ the clinic? (call)</a:t>
            </a:r>
            <a:endParaRPr lang="en-US" sz="16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call</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I've ____ dizzy since this morning. (feel)</a:t>
            </a:r>
            <a:endParaRPr lang="en-US" sz="16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felt</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You could ____ some easy stretches. (try)</a:t>
            </a:r>
            <a:endParaRPr lang="en-US" sz="16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try</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It's a good idea to ____ a flu shot every year. (get)</a:t>
            </a:r>
            <a:endParaRPr lang="en-US" sz="16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get</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Have you ever ____ surgery? (have)</a:t>
            </a:r>
            <a:endParaRPr lang="en-US" sz="16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I ____ a rash since Saturday.</a:t>
            </a:r>
            <a:endParaRPr lang="en-US" sz="1800" dirty="0"/>
          </a:p>
        </p:txBody>
      </p:sp>
      <p:sp>
        <p:nvSpPr>
          <p:cNvPr id="9" name="R1 opt1"/>
          <p:cNvSpPr/>
          <p:nvPr/>
        </p:nvSpPr>
        <p:spPr>
          <a:xfrm>
            <a:off x="676656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had</a:t>
            </a:r>
            <a:endParaRPr lang="en-US" sz="1600" dirty="0" b="1"/>
          </a:p>
        </p:txBody>
      </p:sp>
      <p:sp>
        <p:nvSpPr>
          <p:cNvPr id="10" name="R1 opt2"/>
          <p:cNvSpPr/>
          <p:nvPr/>
        </p:nvSpPr>
        <p:spPr>
          <a:xfrm>
            <a:off x="896112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a:t>
            </a:r>
            <a:endParaRPr lang="en-US" sz="1600" dirty="0" b="1"/>
          </a:p>
        </p:txBody>
      </p:sp>
      <p:sp>
        <p:nvSpPr>
          <p:cNvPr id="11" name="R1 circle"/>
          <p:cNvSpPr/>
          <p:nvPr/>
        </p:nvSpPr>
        <p:spPr>
          <a:xfrm>
            <a:off x="6638544" y="30540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You could ____ a heating pad.</a:t>
            </a:r>
            <a:endParaRPr lang="en-US" sz="1800" dirty="0"/>
          </a:p>
        </p:txBody>
      </p:sp>
      <p:sp>
        <p:nvSpPr>
          <p:cNvPr id="13" name="R2 opt1"/>
          <p:cNvSpPr/>
          <p:nvPr/>
        </p:nvSpPr>
        <p:spPr>
          <a:xfrm>
            <a:off x="676656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try</a:t>
            </a:r>
            <a:endParaRPr lang="en-US" sz="1600" dirty="0" b="1"/>
          </a:p>
        </p:txBody>
      </p:sp>
      <p:sp>
        <p:nvSpPr>
          <p:cNvPr id="14" name="R2 opt2"/>
          <p:cNvSpPr/>
          <p:nvPr/>
        </p:nvSpPr>
        <p:spPr>
          <a:xfrm>
            <a:off x="896112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to try</a:t>
            </a:r>
            <a:endParaRPr lang="en-US" sz="1600" dirty="0" b="1"/>
          </a:p>
        </p:txBody>
      </p:sp>
      <p:sp>
        <p:nvSpPr>
          <p:cNvPr id="15" name="R2 circle"/>
          <p:cNvSpPr/>
          <p:nvPr/>
        </p:nvSpPr>
        <p:spPr>
          <a:xfrm>
            <a:off x="6638544" y="360273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____ call the dentist?</a:t>
            </a:r>
            <a:endParaRPr lang="en-US" sz="1800" dirty="0"/>
          </a:p>
        </p:txBody>
      </p:sp>
      <p:sp>
        <p:nvSpPr>
          <p:cNvPr id="17" name="R3 opt1"/>
          <p:cNvSpPr/>
          <p:nvPr/>
        </p:nvSpPr>
        <p:spPr>
          <a:xfrm>
            <a:off x="676656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Why don't you</a:t>
            </a:r>
            <a:endParaRPr lang="en-US" sz="1600" dirty="0" b="1"/>
          </a:p>
        </p:txBody>
      </p:sp>
      <p:sp>
        <p:nvSpPr>
          <p:cNvPr id="18" name="R3 opt2"/>
          <p:cNvSpPr/>
          <p:nvPr/>
        </p:nvSpPr>
        <p:spPr>
          <a:xfrm>
            <a:off x="896112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Why you don't</a:t>
            </a:r>
            <a:endParaRPr lang="en-US" sz="1600" dirty="0" b="1"/>
          </a:p>
        </p:txBody>
      </p:sp>
      <p:sp>
        <p:nvSpPr>
          <p:cNvPr id="19" name="R3 circle"/>
          <p:cNvSpPr/>
          <p:nvPr/>
        </p:nvSpPr>
        <p:spPr>
          <a:xfrm>
            <a:off x="6638544" y="415137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My tooth has hurt ____ a week.</a:t>
            </a:r>
            <a:endParaRPr lang="en-US" sz="1800" dirty="0"/>
          </a:p>
        </p:txBody>
      </p:sp>
      <p:sp>
        <p:nvSpPr>
          <p:cNvPr id="21" name="R4 opt1"/>
          <p:cNvSpPr/>
          <p:nvPr/>
        </p:nvSpPr>
        <p:spPr>
          <a:xfrm>
            <a:off x="676656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for</a:t>
            </a:r>
            <a:endParaRPr lang="en-US" sz="1600" dirty="0" b="1"/>
          </a:p>
        </p:txBody>
      </p:sp>
      <p:sp>
        <p:nvSpPr>
          <p:cNvPr id="22" name="R4 opt2"/>
          <p:cNvSpPr/>
          <p:nvPr/>
        </p:nvSpPr>
        <p:spPr>
          <a:xfrm>
            <a:off x="896112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since</a:t>
            </a:r>
            <a:endParaRPr lang="en-US" sz="1600" dirty="0" b="1"/>
          </a:p>
        </p:txBody>
      </p:sp>
      <p:sp>
        <p:nvSpPr>
          <p:cNvPr id="23" name="R4 circle"/>
          <p:cNvSpPr/>
          <p:nvPr/>
        </p:nvSpPr>
        <p:spPr>
          <a:xfrm>
            <a:off x="6638544" y="470001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I ____ knee surgery in 2018.</a:t>
            </a:r>
            <a:endParaRPr lang="en-US" sz="1800" dirty="0"/>
          </a:p>
        </p:txBody>
      </p:sp>
      <p:sp>
        <p:nvSpPr>
          <p:cNvPr id="25" name="R5 opt1"/>
          <p:cNvSpPr/>
          <p:nvPr/>
        </p:nvSpPr>
        <p:spPr>
          <a:xfrm>
            <a:off x="676656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had</a:t>
            </a:r>
            <a:endParaRPr lang="en-US" sz="1600" dirty="0" b="1"/>
          </a:p>
        </p:txBody>
      </p:sp>
      <p:sp>
        <p:nvSpPr>
          <p:cNvPr id="26" name="R5 opt2"/>
          <p:cNvSpPr/>
          <p:nvPr/>
        </p:nvSpPr>
        <p:spPr>
          <a:xfrm>
            <a:off x="896112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had</a:t>
            </a:r>
            <a:endParaRPr lang="en-US" sz="1600" dirty="0" b="1"/>
          </a:p>
        </p:txBody>
      </p:sp>
      <p:sp>
        <p:nvSpPr>
          <p:cNvPr id="27" name="R5 circle"/>
          <p:cNvSpPr/>
          <p:nvPr/>
        </p:nvSpPr>
        <p:spPr>
          <a:xfrm>
            <a:off x="6638544" y="524865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It's a good idea ____ a checkup.</a:t>
            </a:r>
            <a:endParaRPr lang="en-US" sz="1800" dirty="0"/>
          </a:p>
        </p:txBody>
      </p:sp>
      <p:sp>
        <p:nvSpPr>
          <p:cNvPr id="29" name="R6 opt1"/>
          <p:cNvSpPr/>
          <p:nvPr/>
        </p:nvSpPr>
        <p:spPr>
          <a:xfrm>
            <a:off x="676656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to get</a:t>
            </a:r>
            <a:endParaRPr lang="en-US" sz="1600" dirty="0" b="1"/>
          </a:p>
        </p:txBody>
      </p:sp>
      <p:sp>
        <p:nvSpPr>
          <p:cNvPr id="30" name="R6 opt2"/>
          <p:cNvSpPr/>
          <p:nvPr/>
        </p:nvSpPr>
        <p:spPr>
          <a:xfrm>
            <a:off x="896112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get</a:t>
            </a:r>
            <a:endParaRPr lang="en-US" sz="1600" dirty="0" b="1"/>
          </a:p>
        </p:txBody>
      </p:sp>
      <p:sp>
        <p:nvSpPr>
          <p:cNvPr id="31" name="R6 circle"/>
          <p:cNvSpPr/>
          <p:nvPr/>
        </p:nvSpPr>
        <p:spPr>
          <a:xfrm>
            <a:off x="6638544" y="57972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Allergy: peanuts and a person sneezing [sign: ALLERGY: PEANUTS]"/>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have a rash since Monday.</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had</a:t>
            </a:r>
            <a:r>
              <a:rPr lang="en-US" sz="1700" dirty="0" b="1">
                <a:solidFill>
                  <a:srgbClr val="1B2236"/>
                </a:solidFill>
                <a:latin typeface="Lexend Deca" pitchFamily="34" charset="0"/>
                <a:ea typeface="Lexend Deca" pitchFamily="34" charset="-122"/>
                <a:cs typeface="Lexend Deca" pitchFamily="34" charset="-120"/>
              </a:rPr>
              <a:t> a rash since Monday.</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You could to call the clinic.</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 could </a:t>
            </a:r>
            <a:r>
              <a:rPr lang="en-US" sz="1700" dirty="0" b="1">
                <a:solidFill>
                  <a:srgbClr val="1B2236"/>
                </a:solidFill>
                <a:latin typeface="Lexend Deca" pitchFamily="34" charset="0"/>
                <a:ea typeface="Lexend Deca" pitchFamily="34" charset="-122"/>
                <a:cs typeface="Lexend Deca" pitchFamily="34" charset="-120"/>
              </a:rPr>
              <a:t>call</a:t>
            </a:r>
            <a:r>
              <a:rPr lang="en-US" sz="1700" dirty="0" b="1">
                <a:solidFill>
                  <a:srgbClr val="1B2236"/>
                </a:solidFill>
                <a:latin typeface="Lexend Deca" pitchFamily="34" charset="0"/>
                <a:ea typeface="Lexend Deca" pitchFamily="34" charset="-122"/>
                <a:cs typeface="Lexend Deca" pitchFamily="34" charset="-120"/>
              </a:rPr>
              <a:t> the clinic.</a:t>
            </a:r>
            <a:endParaRPr lang="en-US" sz="1700" dirty="0" b="1"/>
          </a:p>
        </p:txBody>
      </p:sp>
      <p:sp>
        <p:nvSpPr>
          <p:cNvPr id="28" name="Bad 3"/>
          <p:cNvSpPr/>
          <p:nvPr/>
        </p:nvSpPr>
        <p:spPr>
          <a:xfrm>
            <a:off x="914400" y="3602736"/>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Why you don't try a heating pad?</a:t>
            </a:r>
            <a:endParaRPr lang="en-US" sz="1700" dirty="0"/>
          </a:p>
        </p:txBody>
      </p:sp>
      <p:sp>
        <p:nvSpPr>
          <p:cNvPr id="29" name="Good 3"/>
          <p:cNvSpPr/>
          <p:nvPr/>
        </p:nvSpPr>
        <p:spPr>
          <a:xfrm>
            <a:off x="4800600" y="3602736"/>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Why don't you</a:t>
            </a:r>
            <a:r>
              <a:rPr lang="en-US" sz="1700" dirty="0" b="1">
                <a:solidFill>
                  <a:srgbClr val="1B2236"/>
                </a:solidFill>
                <a:latin typeface="Lexend Deca" pitchFamily="34" charset="0"/>
                <a:ea typeface="Lexend Deca" pitchFamily="34" charset="-122"/>
                <a:cs typeface="Lexend Deca" pitchFamily="34" charset="-120"/>
              </a:rPr>
              <a:t> try a heating pad?</a:t>
            </a:r>
            <a:endParaRPr lang="en-US" sz="1700" dirty="0" b="1"/>
          </a:p>
        </p:txBody>
      </p:sp>
      <p:sp>
        <p:nvSpPr>
          <p:cNvPr id="30" name="Bad 4"/>
          <p:cNvSpPr/>
          <p:nvPr/>
        </p:nvSpPr>
        <p:spPr>
          <a:xfrm>
            <a:off x="914400" y="4443984"/>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a good idea get a checkup.</a:t>
            </a:r>
            <a:endParaRPr lang="en-US" sz="1700" dirty="0"/>
          </a:p>
        </p:txBody>
      </p:sp>
      <p:sp>
        <p:nvSpPr>
          <p:cNvPr id="31" name="Good 4"/>
          <p:cNvSpPr/>
          <p:nvPr/>
        </p:nvSpPr>
        <p:spPr>
          <a:xfrm>
            <a:off x="4800600" y="4443984"/>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It's a good idea </a:t>
            </a:r>
            <a:r>
              <a:rPr lang="en-US" sz="1700" dirty="0" b="1">
                <a:solidFill>
                  <a:srgbClr val="1B2236"/>
                </a:solidFill>
                <a:latin typeface="Lexend Deca" pitchFamily="34" charset="0"/>
                <a:ea typeface="Lexend Deca" pitchFamily="34" charset="-122"/>
                <a:cs typeface="Lexend Deca" pitchFamily="34" charset="-120"/>
              </a:rPr>
              <a:t>to</a:t>
            </a:r>
            <a:r>
              <a:rPr lang="en-US" sz="1700" dirty="0" b="1">
                <a:solidFill>
                  <a:srgbClr val="1B2236"/>
                </a:solidFill>
                <a:latin typeface="Lexend Deca" pitchFamily="34" charset="0"/>
                <a:ea typeface="Lexend Deca" pitchFamily="34" charset="-122"/>
                <a:cs typeface="Lexend Deca" pitchFamily="34" charset="-120"/>
              </a:rPr>
              <a:t> get a checkup.</a:t>
            </a:r>
            <a:endParaRPr lang="en-US" sz="1700" dirty="0" b="1"/>
          </a:p>
        </p:txBody>
      </p:sp>
      <p:sp>
        <p:nvSpPr>
          <p:cNvPr id="32" name="Bad 5"/>
          <p:cNvSpPr/>
          <p:nvPr/>
        </p:nvSpPr>
        <p:spPr>
          <a:xfrm>
            <a:off x="914400" y="528523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I've had surgery in 2018.</a:t>
            </a:r>
            <a:endParaRPr lang="en-US" sz="1700" dirty="0"/>
          </a:p>
        </p:txBody>
      </p:sp>
      <p:sp>
        <p:nvSpPr>
          <p:cNvPr id="33" name="Good 5"/>
          <p:cNvSpPr/>
          <p:nvPr/>
        </p:nvSpPr>
        <p:spPr>
          <a:xfrm>
            <a:off x="4800600" y="528523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surgery in 2018.</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Teeth cleaning: a tooth and a toothbrush [sign: CLEANING]"/>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says a problem.</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gives a suggestion.</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My back hurts. What can I do?</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Why don't you… / You could…</a:t>
            </a:r>
            <a:endParaRPr lang="en-US" sz="1900" dirty="0" b="0"/>
          </a:p>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1">
                <a:solidFill>
                  <a:srgbClr val="1B2236"/>
                </a:solidFill>
                <a:latin typeface="Lexend Deca" pitchFamily="34" charset="0"/>
                <a:ea typeface="Lexend Deca" pitchFamily="34" charset="-122"/>
                <a:cs typeface="Lexend Deca" pitchFamily="34" charset="-120"/>
              </a:rPr>
              <a:t> Good idea.</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says a problem from Box 2.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Health history: a clipboard and a pen [sign: HEALTH HISTORY]"/>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Clinic Intake</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Sit back to back.</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is the medical assistant.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What brings you in today?</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chooses a symptom card and answers.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I've had it for three days.</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writes short notes. Then switch.</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I'm sorry to hear that.</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Flu shot: a syringe [sign: FLU SHOT]"/>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Good Idea Circle</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Circles of 5.</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One person reads a problem card.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One person reads a problem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 sit all day at work.</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Two people each give a suggestion.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Why don't you…? • You could…</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first person chooses one and says why.</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Good idea. I'm going to… because…</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letter.</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Riverside Family Clinic:</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 letter + an insurance card.</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When did Carmen have her last checkup?</a:t>
            </a:r>
            <a:endParaRPr lang="en-US" sz="1500" dirty="0"/>
          </a:p>
        </p:txBody>
      </p:sp>
      <p:sp>
        <p:nvSpPr>
          <p:cNvPr id="35" name="R1 ans"/>
          <p:cNvSpPr/>
          <p:nvPr/>
        </p:nvSpPr>
        <p:spPr>
          <a:xfrm>
            <a:off x="4187952" y="2525573"/>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In March 2025.</a:t>
            </a:r>
            <a:endParaRPr lang="en-US" sz="14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often is it a good idea to get a teeth cleaning?</a:t>
            </a:r>
            <a:endParaRPr lang="en-US" sz="1500" dirty="0"/>
          </a:p>
        </p:txBody>
      </p:sp>
      <p:sp>
        <p:nvSpPr>
          <p:cNvPr id="40" name="R2 ans"/>
          <p:cNvSpPr/>
          <p:nvPr/>
        </p:nvSpPr>
        <p:spPr>
          <a:xfrm>
            <a:off x="4187952" y="3311957"/>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Every six months.</a:t>
            </a:r>
            <a:endParaRPr lang="en-US" sz="14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three things should she bring?</a:t>
            </a:r>
            <a:endParaRPr lang="en-US" sz="1500" dirty="0"/>
          </a:p>
        </p:txBody>
      </p:sp>
      <p:sp>
        <p:nvSpPr>
          <p:cNvPr id="45" name="R3 ans"/>
          <p:cNvSpPr/>
          <p:nvPr/>
        </p:nvSpPr>
        <p:spPr>
          <a:xfrm>
            <a:off x="4187952" y="4098341"/>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Her insurance card, a photo ID, and a list of her medicines.</a:t>
            </a:r>
            <a:endParaRPr lang="en-US" sz="14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is her copay for a doctor visit?</a:t>
            </a:r>
            <a:endParaRPr lang="en-US" sz="1500" dirty="0"/>
          </a:p>
        </p:txBody>
      </p:sp>
      <p:sp>
        <p:nvSpPr>
          <p:cNvPr id="50" name="R4 ans"/>
          <p:cNvSpPr/>
          <p:nvPr/>
        </p:nvSpPr>
        <p:spPr>
          <a:xfrm>
            <a:off x="4187952" y="4884725"/>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$20.</a:t>
            </a:r>
            <a:endParaRPr lang="en-US" sz="14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much is her deductible?</a:t>
            </a:r>
            <a:endParaRPr lang="en-US" sz="1500" dirty="0"/>
          </a:p>
        </p:txBody>
      </p:sp>
      <p:sp>
        <p:nvSpPr>
          <p:cNvPr id="55" name="R5 ans"/>
          <p:cNvSpPr/>
          <p:nvPr/>
        </p:nvSpPr>
        <p:spPr>
          <a:xfrm>
            <a:off x="4187952" y="5671109"/>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$1,000.</a:t>
            </a:r>
            <a:endParaRPr lang="en-US" sz="14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Cavity: a tooth and a magnifying glass [sign: CAVITY]"/>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 friend has had a backache for a week.</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Ask how long (How long have you…?).</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A suggestion (Why don't you… / You could…).</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Use the words.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email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Write 3 good ideas to stay healthy.</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already, yet, or just.</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Teeth cleaning: a tooth and a toothbrush [sign: CLEANING]">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4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long you've had a symptom</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Answer health history questions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Make a suggestion</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Amina, Daniel, Ms. Park, Carmen Lopez, Rosa, and Marta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4: How Long Have You Had It?</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