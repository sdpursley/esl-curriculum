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731" r:id="rId33"/>
    <p:sldId id="732" r:id="rId34"/>
    <p:sldId id="733" r:id="rId35"/>
    <p:sldId id="734" r:id="rId36"/>
    <p:sldId id="735" r:id="rId31"/>
    <p:sldId id="736" r:id="rId30"/>
    <p:sldId id="737" r:id="rId29"/>
    <p:sldId id="738" r:id="rId28"/>
    <p:sldId id="739" r:id="rId27"/>
    <p:sldId id="740" r:id="rId20"/>
    <p:sldId id="741" r:id="rId18"/>
    <p:sldId id="742" r:id="rId17"/>
    <p:sldId id="743" r:id="rId16"/>
    <p:sldId id="744" r:id="rId14"/>
    <p:sldId id="745" r:id="rId13"/>
    <p:sldId id="746" r:id="rId12"/>
    <p:sldId id="747" r:id="rId11"/>
    <p:sldId id="748" r:id="rId10"/>
    <p:sldId id="749" r:id="rId8"/>
    <p:sldId id="750" r:id="rId7"/>
    <p:sldId id="751" r:id="rId6"/>
    <p:sldId id="752" r:id="rId5"/>
    <p:sldId id="753" r:id="rId4"/>
    <p:sldId id="754" r:id="rId3"/>
    <p:sldId id="755" r:id="rId57"/>
    <p:sldId id="7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2.xml"/><Relationship Id="rId3" Type="http://schemas.openxmlformats.org/officeDocument/2006/relationships/slide" Target="slides/slide50.xml"/><Relationship Id="rId4" Type="http://schemas.openxmlformats.org/officeDocument/2006/relationships/slide" Target="slides/slide49.xml"/><Relationship Id="rId5" Type="http://schemas.openxmlformats.org/officeDocument/2006/relationships/slide" Target="slides/slide48.xml"/><Relationship Id="rId6" Type="http://schemas.openxmlformats.org/officeDocument/2006/relationships/slide" Target="slides/slide47.xml"/><Relationship Id="rId7" Type="http://schemas.openxmlformats.org/officeDocument/2006/relationships/slide" Target="slides/slide46.xml"/><Relationship Id="rId8" Type="http://schemas.openxmlformats.org/officeDocument/2006/relationships/slide" Target="slides/slide45.xml"/><Relationship Id="rId10" Type="http://schemas.openxmlformats.org/officeDocument/2006/relationships/slide" Target="slides/slide44.xml"/><Relationship Id="rId11" Type="http://schemas.openxmlformats.org/officeDocument/2006/relationships/slide" Target="slides/slide43.xml"/><Relationship Id="rId12" Type="http://schemas.openxmlformats.org/officeDocument/2006/relationships/slide" Target="slides/slide42.xml"/><Relationship Id="rId13" Type="http://schemas.openxmlformats.org/officeDocument/2006/relationships/slide" Target="slides/slide41.xml"/><Relationship Id="rId14" Type="http://schemas.openxmlformats.org/officeDocument/2006/relationships/slide" Target="slides/slide40.xml"/><Relationship Id="rId16" Type="http://schemas.openxmlformats.org/officeDocument/2006/relationships/slide" Target="slides/slide39.xml"/><Relationship Id="rId17" Type="http://schemas.openxmlformats.org/officeDocument/2006/relationships/slide" Target="slides/slide38.xml"/><Relationship Id="rId18" Type="http://schemas.openxmlformats.org/officeDocument/2006/relationships/slide" Target="slides/slide37.xml"/><Relationship Id="rId20" Type="http://schemas.openxmlformats.org/officeDocument/2006/relationships/slide" Target="slides/slide36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35.xml"/><Relationship Id="rId28" Type="http://schemas.openxmlformats.org/officeDocument/2006/relationships/slide" Target="slides/slide34.xml"/><Relationship Id="rId29" Type="http://schemas.openxmlformats.org/officeDocument/2006/relationships/slide" Target="slides/slide33.xml"/><Relationship Id="rId30" Type="http://schemas.openxmlformats.org/officeDocument/2006/relationships/slide" Target="slides/slide32.xml"/><Relationship Id="rId31" Type="http://schemas.openxmlformats.org/officeDocument/2006/relationships/slide" Target="slides/slide31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57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 · 7:25–7:30 · Exit Ticket + Homework · 5 min · NEVER SKIP.</a:t>
            </a:r>
          </a:p>
          <a:p>
            <a:r>
              <a:t>Exit ticket (3 min): learners open the Exit Ticket page and answer in 3 sentences with a reason: What would you do if you had a free week? Example on the board: If I had a free week, I'd visit my sister in Chicago. I'd also cook a big dinner for my family. I'd do that because I don't see them very often. With 5 or fewer, a learner can say it to you first and then write it.</a:t>
            </a:r>
          </a:p>
          <a:p>
            <a:r>
              <a:t>Collect the pages. After class, sort them into ✓ / almost / not yet. Start next week with 2 corrections on the board (no names).</a:t>
            </a:r>
          </a:p>
          <a:p>
            <a:r>
              <a:t>Homework (2 min): open the Homework page. Do item 1 together (item 1: if I / have / a free week, I / visit / my cousin → If I had a free week, I'd visit my cousin.). Say: "About 15–20 minutes. Finish your Read &amp; Write writing at home."</a:t>
            </a:r>
          </a:p>
          <a:p>
            <a:r>
              <a:t>Homework items: 1. Write the sentence. Use the words. • 2. Finish your writing from Read &amp; Write C (your reply). Read it one more time. Check ✓ the list in D. • 3. Write 3 sentences about your dreams. Use If I had…, I'd… and a reason. • 4. Review (Lesson 5). Write one word.</a:t>
            </a:r>
          </a:p>
          <a:p>
            <a:r>
              <a:t>Lesson plan: Step 7; Exit Ticket page; Homework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7:15–7:25 · Read &amp; Write: An advice column · 10 min. Pairs read, then individual writing.</a:t>
            </a:r>
          </a:p>
          <a:p>
            <a:r>
              <a:t>Read (4 min): Learners read a letter to an advice column and the answer on the Read &amp; Write page and answer the questions. Say: "Read fast first. Then find the answers." Pairs answer questions 1–5 together.</a:t>
            </a:r>
          </a:p>
          <a:p>
            <a:r>
              <a:t>Check (1 min): click to show each answer (one click per question, 1 to 5): 1 At a busy restaurant. • 2 30 minutes, not 15. • 3 She'd talk to Leo. • 4 Alone, not in front of other people. • 5 If Leo still took long breaks after that.</a:t>
            </a:r>
          </a:p>
          <a:p>
            <a:r>
              <a:t>Write (5 min): Learners read a short letter about a noisy neighbor and write a reply (5–8 sentences) with If I were you, I'd… because…. Show the example. Invented details are fine. Learners start in class and finish at home (Homework item 2).</a:t>
            </a:r>
          </a:p>
          <a:p>
            <a:r>
              <a:t>If behind: questions 1–5 only; the writing becomes homework.</a:t>
            </a:r>
          </a:p>
          <a:p>
            <a:r>
              <a:t>Lesson plan: Step 6; Read &amp; Write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 (6 min): Magic Wand Chain (circle). Pass the "magic wand." Each person says, "If I had a magic wand, I'd…" One more round: "If I had my dream job, I'd…" Classmates can ask one follow-up question. Each click shows the next step.</a:t>
            </a:r>
          </a:p>
          <a:p>
            <a:r>
              <a:t>15 learners: groups of 3–4 for round 1; then two circles for round 2. 7–8 learners: two groups for round 1; then one circle. 5 or fewer: one group for round 1: you read the cards. Then one circle.</a:t>
            </a:r>
          </a:p>
          <a:p>
            <a:r>
              <a:t>Every answer needs a reason; every partner asks a follow-up. Walk around and listen. Note 2 good sentences to praise and 1 common error for next week.</a:t>
            </a:r>
          </a:p>
          <a:p>
            <a:r>
              <a:t>If behind: round 1 only.</a:t>
            </a:r>
          </a:p>
          <a:p>
            <a:r>
              <a:t>Lesson plan: Step 5; Talk Time: Magic Wand Chain.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7:00–7:15 · Talk Time: What Would You Do? + Magic Wand Chain · 15 min.</a:t>
            </a:r>
          </a:p>
          <a:p>
            <a:r>
              <a:t>Model it first (1 min): read a card: "You find $50 on the floor at work. What would you do?" Help a learner say, "If I found $50, I'd give it to my supervisor because it isn't mine." Say: "Your answer, then because."</a:t>
            </a:r>
          </a:p>
          <a:p>
            <a:r>
              <a:t>Round 1 (7 min): What Would You Do? (groups of 3–4). One person reads a situation card. Each person answers with If I…, I'd… and a reason. The group writes the most common answer. Then the next person reads a card. Each click shows the next step.</a:t>
            </a:r>
          </a:p>
          <a:p>
            <a:r>
              <a:t>15 learners: groups of 3–4 for round 1; then two circles for round 2. 7–8 learners: two groups for round 1; then one circle. 5 or fewer: one group for round 1: you read the cards. Then one circle.</a:t>
            </a:r>
          </a:p>
          <a:p>
            <a:r>
              <a:t>Lesson plan: Step 5; Talk Time: What Would You Do?.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check (last 3 min of Step 4). Pairs.</a:t>
            </a:r>
          </a:p>
          <a:p>
            <a:r>
              <a:t>A reads a situation from the pictures: "What would you do if you found an envelope with money?" B answers with If I found…, I'd… and a reason. Switch. 15 learners: swap partners once. 5 or fewer: you join one pair.</a:t>
            </a:r>
          </a:p>
          <a:p>
            <a:r>
              <a:t>If behind: skip the pair check. Talk Time practices it.</a:t>
            </a:r>
          </a:p>
          <a:p>
            <a:r>
              <a:t>Break · 6:45–7:00 · 15 min. Write on the board: What would you do if you found $50? → If I found $50, I'd give it back. • If I were you, I'd… • If it rains, I'll… (possible)</a:t>
            </a:r>
          </a:p>
          <a:p>
            <a:r>
              <a:t>Lesson plan: Step 4: Pair check; Break.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mistakes. Read the table together: "Don't say… Say…". Read a line from Don't say. Ask: "What's the right way?" Learners try first. Then click to show the right form. Each click shows one line, in order 1 to 5.</a:t>
            </a:r>
          </a:p>
          <a:p>
            <a:r>
              <a:t>Learners can read the contrast tip on their Grammar page on their own; it is optional. You never need to read, translate, or explain it.</a:t>
            </a:r>
          </a:p>
          <a:p>
            <a:r>
              <a:t>Lesson plan: Grammar: Common mistakes;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circle the correct words. Pairs check.</a:t>
            </a:r>
          </a:p>
          <a:p>
            <a:r>
              <a:t>Click to circle each answer (one click per item, 1 to 6): 1 had, 2 would, 3 were, 4 rains, 5 wouldn't, 6 What would you do.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6): 1 found, 2 take, 3 were, 4 do, 5 had, 6 I'll.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4: If I were you, I'd… for advice. Each click shows the answer side of one row.</a:t>
            </a:r>
          </a:p>
          <a:p>
            <a:r>
              <a:t>Questions and answers (2 min): Q: Can I say If I would have time, I'd take a class? A: No. Never put would right after if: If I had time, I'd take a class. • Q: If I was you or If I were you? A: Write If I were you. In speaking, many people say If I was you. That's OK. • Q: If it rains or If it rained? A: Possible (maybe tomorrow): If it rains, I'll stay home. Imaginary (not real now): If I had a car, I'd drive.</a:t>
            </a:r>
          </a:p>
          <a:p>
            <a:r>
              <a:t>Check questions: "Do I have a magic wand?" (no) "So do I say If I have or If I had?" (If I had) • "If I would have time or If I had time?" (If I had time) • "If I were you or If I am you?" (If I were you).</a:t>
            </a:r>
          </a:p>
          <a:p>
            <a:r>
              <a:t>Lesson plan: Step 4; Grammar Box 4; Questions and answers.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3: I'd and wouldn't. Each click shows the answer side of one row.</a:t>
            </a:r>
          </a:p>
          <a:p>
            <a:r>
              <a:t>Lesson plan: Step 4; Grammar Box 3.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2: possible (If it rains, I'll…) vs. imaginary (If I had a car, I'd…). Each click shows the answer side of one row.</a:t>
            </a:r>
          </a:p>
          <a:p>
            <a:r>
              <a:t>Rule of thumb (read it aloud): Imaginary: use the past form after if (found, had, were). Use would / 'd + base verb in the other half (I'd give, I'd visit). Never put would right after if.</a:t>
            </a:r>
          </a:p>
          <a:p>
            <a:r>
              <a:t>Lesson plan: Step 4; Grammar Box 2; Rule of thumb.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20). Whole class, then pairs. Show the Grammar page. The left side is the question. The right side is the answer.</a:t>
            </a:r>
          </a:p>
          <a:p>
            <a:r>
              <a:t>Show it (2 min): hold up a pencil as a magic wand. Say, "I don't have a magic wand. But if I had a magic wand, I'd fix all the potholes in this city." Write it in two halves: If I had a magic wand, | I'd fix the potholes. Say: "It's not real. We use the past form after if and would in the other half."</a:t>
            </a:r>
          </a:p>
          <a:p>
            <a:r>
              <a:t>Box 1: read across: What would you do if you found $50 at work? → If I found $50, I'd give it to my supervisor. Each click shows the answer side of one row.</a:t>
            </a:r>
          </a:p>
          <a:p>
            <a:r>
              <a:t>Lesson plan: Step 4; Grammar Box 1.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"Hear it, say it" (3 min): Point to the script lines. wanna = want to: "I want to hear your ideas." gonna = going to: "If you're going to call, call early!" Then practice I'd (say the d): I'd give it back, and What would you DO? with the stress on do. The class repeats the two lines twice.</a:t>
            </a:r>
          </a:p>
          <a:p>
            <a:r>
              <a:t>Reductions: the listening says going to and want to. People often say gonna and wanna. Learners only need to recognize the short forms.</a:t>
            </a:r>
          </a:p>
          <a:p>
            <a:r>
              <a:t>Lesson plan: Step 3: "Hear it, say it"; Listening page: Hear it, say it; Teacher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(play 2). Click to show each answer (one click per item, 1 to 6): 1 would, 2 kept, 3 were, 4 I'd, 5 I'd, 6 found.</a:t>
            </a:r>
          </a:p>
          <a:p>
            <a:r>
              <a:t>If behind: do Task C together on the board, reading the lines yourself.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circle each answer (one click per item, 1 to 6): 1 give the money back • 2 made a mistake • 3 $20 • 4 the next day • 5 probably keep it • 6 an envelope with money at work.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 (the main idea). Pairs compare. Check together.</a:t>
            </a:r>
          </a:p>
          <a:p>
            <a:r>
              <a:t>Click to circle the answer: a (A cashier gives you too much change.).</a:t>
            </a:r>
          </a:p>
          <a:p>
            <a:r>
              <a:t>Then read Tasks B and C together (1 min) so learners know what to listen for.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6:15–6:30 · Listening + "Hear it, say it" · 15 min (slides 8 to 12). Individuals, then pairs check.</a:t>
            </a:r>
          </a:p>
          <a:p>
            <a:r>
              <a:t>Before you listen (2 min). Say: "This is a radio show called What Would You Do? Mike is the host. He tells a situation, and two people call the show with their answers. Listen: what is the situation?"</a:t>
            </a:r>
          </a:p>
          <a:p>
            <a:r>
              <a:t>There are 3 people: Mike, Grace and Teresa. A narrator starts and ends the listening. Each click highlights the next person.</a:t>
            </a:r>
          </a:p>
          <a:p>
            <a:r>
              <a:t>The audio (L4_L6_listening.mp3, about 1:40) plays the conversation once. Press play again for play 2. A third play is fine if the class needs it.</a:t>
            </a:r>
          </a:p>
          <a:p>
            <a:r>
              <a:t>No speaker? Read the script with a volunteer at a natural, friendly speed, two times. The script says going to and want to. People often say gonna and wanna; learners only need to recognize those words.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Lesson plan: Step 3; Listening script;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"If a cashier gives you extra money, is it a mistake?" (yes) • 2. "Is the owner the person who found it or the person it belongs to?" (it belongs to) • 3. "If you tell the truth, are you honest?" (yes)</a:t>
            </a:r>
          </a:p>
          <a:p>
            <a:r>
              <a:t>Lesson plan: Step 2: Check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</a:t>
            </a:r>
          </a:p>
          <a:p>
            <a:r>
              <a:t>Partner game (2 min): A points to a picture and asks, "What would you do if you found an envelope with money?" B answers, "If I found…, I'd…" and gives a reason. Switch. 15 learners: finish with a quick team round (3 teams; you say a clue, the first team with the word gets a point). 7–8: 2 teams. 5 or fewer: one team against the clock.</a:t>
            </a:r>
          </a:p>
          <a:p>
            <a:r>
              <a:t>My Words: "Write any word you want in your language on the My Words page. It's your personal list. It's optional." Learners do it at home.</a:t>
            </a:r>
          </a:p>
          <a:p>
            <a:r>
              <a:t>If behind: teach the ★ words only.</a:t>
            </a:r>
          </a:p>
          <a:p>
            <a:r>
              <a:t>Lesson plan: Step 2; New Words page; Partner game; My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6:08–6:15 · New Words · 7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Show the hard words: imagine (point to your head: a picture in your mind); choose (hold up two things: pick one); honest and tell the truth (you don't lie); keep it vs. give it back (mime with a coin); owner (the person it belongs to); envelope; extra money (more than you should get); mistake; magic wand (wave a pencil); dream job (the job you want most).</a:t>
            </a:r>
          </a:p>
          <a:p>
            <a:r>
              <a:t>If behind: teach the ★ words only.</a:t>
            </a:r>
          </a:p>
          <a:p>
            <a:r>
              <a:t>Lesson plan: Step 2; Key vocabulary;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"What Would You Do?" Say: "Imagining situations and making choices: finding money, getting too much change, a free week, a magic wand, a dream job. Learners talk about imaginary situations with If I had / found / were…, I'd…, give reasons, and give advice with If I were you, I'd…. All situations are invented and everyday."</a:t>
            </a:r>
          </a:p>
          <a:p>
            <a:r>
              <a:t>Read the three lines under "Today you will".</a:t>
            </a:r>
          </a:p>
          <a:p>
            <a:r>
              <a:t>Past form, present meaning: If I had a car is about now, not the past. Say it: "I don't have a car. It's imaginary."</a:t>
            </a:r>
          </a:p>
          <a:p>
            <a:r>
              <a:t>Lesson plan: Topic; At a glance: Objectives;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6:00–6:08 · Opening Talk + Homework Check · 8 min. Pairs (7 pairs + 1 trio with 15 learners; 3–4 pairs with 7–8).</a:t>
            </a:r>
          </a:p>
          <a:p>
            <a:r>
              <a:t>Before class, write on the board: favors: Would you mind…? / Do you mind if I…?</a:t>
            </a:r>
          </a:p>
          <a:p>
            <a:r>
              <a:t>Model with one learner: you say, "Would you mind lending me a pen?" The learner answers, "No, not at all," or "Sorry, I can't, because…" Then they ask you a favor. Help them say 3 sentences. (Click to show the answer line.)</a:t>
            </a:r>
          </a:p>
          <a:p>
            <a:r>
              <a:t>Opening Talk (5 min): learners open the Opening Talk page. A asks a card question; B answers in 3 sentences (the answer, a reason, a detail); A asks one follow-up. Switch after each card. The cards are on the next slide.</a:t>
            </a:r>
          </a:p>
          <a:p>
            <a:r>
              <a:t>If behind: one card only.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question. B answers in 3 sentences. A asks one follow-up question. B answers with No, not at all or Sorry, I can't, because… (on the right). Then switch.</a:t>
            </a:r>
          </a:p>
          <a:p>
            <a:r>
              <a:t>Homework Check (3 min, last click): Pairs compare Homework item 1 (Would you mind + -ing) and ask each other their 3 favors (item 3). Then they fill in the box on the Opening Talk page. Walk around. Write 2 common errors on the board (often Would you mind to get…? (→ Would you mind getting…?) and Yes, I'll help as the answer (→ No, not at all)) and correct them together. Also put up 2 corrections from last week's exit tickets.</a:t>
            </a:r>
          </a:p>
          <a:p>
            <a:r>
              <a:t>Lesson plan: Step 1; Opening Talk page: cards, follow-ups; Homework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</a:t>
            </a:r>
          </a:p>
          <a:p>
            <a:r>
              <a:t>Lesson plan: At a glance: Objectives; Step 7.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2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1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1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1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Imagine: a person and a thought bubb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6  ·  Level 4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Would You Do?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and answer What would you do if…?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Talk about an imaginary situation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Give advice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five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 goal is a good goal.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093062"/>
            <a:ext cx="6227064" cy="678668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35454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35454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51548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35454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and answer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would you do if…?</a:t>
            </a:r>
            <a:endParaRPr lang="en-US" sz="15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6895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822936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822936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839029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822936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talk about an imaginary situation with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+ past, I'd + verb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5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95643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610417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610417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626510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610417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give advice with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were you, I'd…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a reason.</a:t>
            </a:r>
            <a:endParaRPr lang="en-US" sz="15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743919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397898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397898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413992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397898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tell a possible situation (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it rains, I'll…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) from an imaginary one (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had…, I'd…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).</a:t>
            </a:r>
            <a:endParaRPr lang="en-US" sz="15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53140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185380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185380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01473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185380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write a reply to an advice letter (5–8 sentences).</a:t>
            </a:r>
            <a:endParaRPr lang="en-US" sz="15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188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Choose: an apple, a thinking face, and a banan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04034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0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you mind lending me a pen?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in 3 sentences.</a:t>
            </a:r>
            <a:endParaRPr lang="en-US" sz="20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politely.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not at all. • Sorry, I can't, because…</a:t>
            </a:r>
            <a:endParaRPr lang="en-US" sz="20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in 3 sentences: the answer, a reason, and a detail.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not at all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or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Sorry, I can't, because…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you mind lending me a pen?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you mind opening the window?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mind if I sit here?</a:t>
            </a:r>
            <a:endParaRPr lang="en-US" sz="20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you mind helping me with my homework?</a:t>
            </a:r>
            <a:endParaRPr lang="en-US" sz="18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5, items 1 and 3.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Imagine: a person and a thought bubb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imagine</a:t>
            </a:r>
            <a:endParaRPr lang="en-US" sz="2000" dirty="0" b="1"/>
          </a:p>
        </p:txBody>
      </p:sp>
      <p:pic>
        <p:nvPicPr>
          <p:cNvPr id="19" name="Word picture 2" descr="Choose: an apple, a thinking face, and a banana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choose</a:t>
            </a:r>
            <a:endParaRPr lang="en-US" sz="2000" dirty="0" b="1"/>
          </a:p>
        </p:txBody>
      </p:sp>
      <p:pic>
        <p:nvPicPr>
          <p:cNvPr id="21" name="Word picture 3" descr="Honest: a person and a check mark [sign: HONEST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honest</a:t>
            </a:r>
            <a:endParaRPr lang="en-US" sz="2000" dirty="0" b="1"/>
          </a:p>
        </p:txBody>
      </p:sp>
      <p:pic>
        <p:nvPicPr>
          <p:cNvPr id="23" name="Word picture 4" descr="Tell the truth: a person speaking and a check mark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tell the truth</a:t>
            </a:r>
            <a:endParaRPr lang="en-US" sz="2000" dirty="0" b="1"/>
          </a:p>
        </p:txBody>
      </p:sp>
      <p:pic>
        <p:nvPicPr>
          <p:cNvPr id="25" name="Word picture 5" descr="Keep (it): open hands and a wallet [sign: KEEP IT?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keep (it)</a:t>
            </a:r>
            <a:endParaRPr lang="en-US" sz="2000" dirty="0" b="1"/>
          </a:p>
        </p:txBody>
      </p:sp>
      <p:pic>
        <p:nvPicPr>
          <p:cNvPr id="27" name="Word picture 6" descr="Give back: open hands and money [sign: GIVE IT BACK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give back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29184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would you do?</a:t>
            </a:r>
            <a:endParaRPr lang="en-US" sz="2200" dirty="0" b="1"/>
          </a:p>
        </p:txBody>
      </p:sp>
      <p:pic>
        <p:nvPicPr>
          <p:cNvPr id="17" name="Word picture 1" descr="Owner: a person and a handbag [sign: OWNER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owner</a:t>
            </a:r>
            <a:endParaRPr lang="en-US" sz="2000" dirty="0" b="1"/>
          </a:p>
        </p:txBody>
      </p:sp>
      <p:pic>
        <p:nvPicPr>
          <p:cNvPr id="19" name="Word picture 2" descr="Envelope: an envelop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envelope</a:t>
            </a:r>
            <a:endParaRPr lang="en-US" sz="2000" dirty="0" b="1"/>
          </a:p>
        </p:txBody>
      </p:sp>
      <p:pic>
        <p:nvPicPr>
          <p:cNvPr id="21" name="Word picture 3" descr="Extra money: money and a plus sign [sign: + $10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extra money</a:t>
            </a:r>
            <a:endParaRPr lang="en-US" sz="2000" dirty="0" b="1"/>
          </a:p>
        </p:txBody>
      </p:sp>
      <p:pic>
        <p:nvPicPr>
          <p:cNvPr id="23" name="Word picture 4" descr="Mistake: a receipt and an X [sign: MISTAKE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mistake</a:t>
            </a:r>
            <a:endParaRPr lang="en-US" sz="2000" dirty="0" b="1"/>
          </a:p>
        </p:txBody>
      </p:sp>
      <p:pic>
        <p:nvPicPr>
          <p:cNvPr id="25" name="Word picture 5" descr="Magic wand: a magic wand and sparkles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magic wand</a:t>
            </a:r>
            <a:endParaRPr lang="en-US" sz="2000" dirty="0" b="1"/>
          </a:p>
        </p:txBody>
      </p:sp>
      <p:pic>
        <p:nvPicPr>
          <p:cNvPr id="27" name="Word picture 6" descr="Dream job: a thought bubble and a cook [sign: DREAM JOB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dream job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a cashier gives you extra money, is it a mistake?</a:t>
            </a:r>
            <a:endParaRPr lang="en-US" sz="1600" dirty="0" b="1"/>
          </a:p>
        </p:txBody>
      </p:sp>
      <p:pic>
        <p:nvPicPr>
          <p:cNvPr id="101" name="R1 pic" descr="Extra money: money and a plus sign [sign: + $10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the owner the person who found it or the person it belongs to?</a:t>
            </a:r>
            <a:endParaRPr lang="en-US" sz="1600" dirty="0" b="1"/>
          </a:p>
        </p:txBody>
      </p:sp>
      <p:pic>
        <p:nvPicPr>
          <p:cNvPr id="102" name="R2 pic" descr="Owner: a person and a handbag [sign: OWNER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you tell the truth, are you honest?</a:t>
            </a:r>
            <a:endParaRPr lang="en-US" sz="1600" dirty="0" b="1"/>
          </a:p>
        </p:txBody>
      </p:sp>
      <p:pic>
        <p:nvPicPr>
          <p:cNvPr id="103" name="R3 pic" descr="Honest: a person and a check mark [sign: HONEST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belongs to</a:t>
            </a:r>
            <a:endParaRPr lang="en-US" sz="22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is a radio show called What Would You Do? Mike is the host. He tells a situation, and two people call the show with their answers.</a:t>
            </a:r>
            <a:endParaRPr lang="en-US" sz="16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Give back: open hands and money [sign: GIVE IT BACK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Mike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Grace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Teresa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the situation?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2: Tasks B and C.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1:40.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is the situation?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17830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246888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A cashier gives you too much change.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534924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You find money on the floor at work.</a:t>
            </a:r>
            <a:endParaRPr lang="en-US" sz="1500" dirty="0" b="1"/>
          </a:p>
        </p:txBody>
      </p:sp>
      <p:sp>
        <p:nvSpPr>
          <p:cNvPr id="11" name="R1 opt3"/>
          <p:cNvSpPr/>
          <p:nvPr/>
        </p:nvSpPr>
        <p:spPr>
          <a:xfrm>
            <a:off x="822960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A friend asks you to tell a small lie.</a:t>
            </a:r>
            <a:endParaRPr lang="en-US" sz="1500" dirty="0" b="1"/>
          </a:p>
        </p:txBody>
      </p:sp>
      <p:sp>
        <p:nvSpPr>
          <p:cNvPr id="12" name="R1 circle"/>
          <p:cNvSpPr/>
          <p:nvPr/>
        </p:nvSpPr>
        <p:spPr>
          <a:xfrm>
            <a:off x="2340864" y="3054096"/>
            <a:ext cx="29992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says it, and what?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answer.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 Grace would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6629400" y="31089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the money back</a:t>
            </a:r>
            <a:endParaRPr lang="en-US" sz="1400" dirty="0" b="1"/>
          </a:p>
        </p:txBody>
      </p:sp>
      <p:sp>
        <p:nvSpPr>
          <p:cNvPr id="10" name="R1 opt2"/>
          <p:cNvSpPr/>
          <p:nvPr/>
        </p:nvSpPr>
        <p:spPr>
          <a:xfrm>
            <a:off x="8869680" y="31089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keep the money</a:t>
            </a:r>
            <a:endParaRPr lang="en-US" sz="1400" dirty="0" b="1"/>
          </a:p>
        </p:txBody>
      </p:sp>
      <p:sp>
        <p:nvSpPr>
          <p:cNvPr id="11" name="R1 circle"/>
          <p:cNvSpPr/>
          <p:nvPr/>
        </p:nvSpPr>
        <p:spPr>
          <a:xfrm>
            <a:off x="6501384" y="305409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2. Grace's reason: the cashier</a:t>
            </a:r>
            <a:endParaRPr lang="en-US" sz="1600" dirty="0"/>
          </a:p>
        </p:txBody>
      </p:sp>
      <p:sp>
        <p:nvSpPr>
          <p:cNvPr id="13" name="R2 opt1"/>
          <p:cNvSpPr/>
          <p:nvPr/>
        </p:nvSpPr>
        <p:spPr>
          <a:xfrm>
            <a:off x="6629400" y="365760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made a mistake</a:t>
            </a:r>
            <a:endParaRPr lang="en-US" sz="1400" dirty="0" b="1"/>
          </a:p>
        </p:txBody>
      </p:sp>
      <p:sp>
        <p:nvSpPr>
          <p:cNvPr id="14" name="R2 opt2"/>
          <p:cNvSpPr/>
          <p:nvPr/>
        </p:nvSpPr>
        <p:spPr>
          <a:xfrm>
            <a:off x="8869680" y="365760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her friend</a:t>
            </a:r>
            <a:endParaRPr lang="en-US" sz="1400" dirty="0" b="1"/>
          </a:p>
        </p:txBody>
      </p:sp>
      <p:sp>
        <p:nvSpPr>
          <p:cNvPr id="15" name="R2 circle"/>
          <p:cNvSpPr/>
          <p:nvPr/>
        </p:nvSpPr>
        <p:spPr>
          <a:xfrm>
            <a:off x="6501384" y="360273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3. Teresa once got ____ too much.</a:t>
            </a:r>
            <a:endParaRPr lang="en-US" sz="1600" dirty="0"/>
          </a:p>
        </p:txBody>
      </p:sp>
      <p:sp>
        <p:nvSpPr>
          <p:cNvPr id="17" name="R3 opt1"/>
          <p:cNvSpPr/>
          <p:nvPr/>
        </p:nvSpPr>
        <p:spPr>
          <a:xfrm>
            <a:off x="6629400" y="420624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$10</a:t>
            </a:r>
            <a:endParaRPr lang="en-US" sz="1400" dirty="0" b="1"/>
          </a:p>
        </p:txBody>
      </p:sp>
      <p:sp>
        <p:nvSpPr>
          <p:cNvPr id="18" name="R3 opt2"/>
          <p:cNvSpPr/>
          <p:nvPr/>
        </p:nvSpPr>
        <p:spPr>
          <a:xfrm>
            <a:off x="8869680" y="420624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$20</a:t>
            </a:r>
            <a:endParaRPr lang="en-US" sz="1400" dirty="0" b="1"/>
          </a:p>
        </p:txBody>
      </p:sp>
      <p:sp>
        <p:nvSpPr>
          <p:cNvPr id="19" name="R3 circle"/>
          <p:cNvSpPr/>
          <p:nvPr/>
        </p:nvSpPr>
        <p:spPr>
          <a:xfrm>
            <a:off x="8741664" y="415137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4. Teresa gave it back</a:t>
            </a:r>
            <a:endParaRPr lang="en-US" sz="1600" dirty="0"/>
          </a:p>
        </p:txBody>
      </p:sp>
      <p:sp>
        <p:nvSpPr>
          <p:cNvPr id="21" name="R4 opt1"/>
          <p:cNvSpPr/>
          <p:nvPr/>
        </p:nvSpPr>
        <p:spPr>
          <a:xfrm>
            <a:off x="6629400" y="475488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same day</a:t>
            </a:r>
            <a:endParaRPr lang="en-US" sz="1400" dirty="0" b="1"/>
          </a:p>
        </p:txBody>
      </p:sp>
      <p:sp>
        <p:nvSpPr>
          <p:cNvPr id="22" name="R4 opt2"/>
          <p:cNvSpPr/>
          <p:nvPr/>
        </p:nvSpPr>
        <p:spPr>
          <a:xfrm>
            <a:off x="8869680" y="475488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next day</a:t>
            </a:r>
            <a:endParaRPr lang="en-US" sz="1400" dirty="0" b="1"/>
          </a:p>
        </p:txBody>
      </p:sp>
      <p:sp>
        <p:nvSpPr>
          <p:cNvPr id="23" name="R4 circle"/>
          <p:cNvSpPr/>
          <p:nvPr/>
        </p:nvSpPr>
        <p:spPr>
          <a:xfrm>
            <a:off x="8741664" y="470001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5. If it were one dollar, Teresa would</a:t>
            </a:r>
            <a:endParaRPr lang="en-US" sz="1600" dirty="0"/>
          </a:p>
        </p:txBody>
      </p:sp>
      <p:sp>
        <p:nvSpPr>
          <p:cNvPr id="25" name="R5 opt1"/>
          <p:cNvSpPr/>
          <p:nvPr/>
        </p:nvSpPr>
        <p:spPr>
          <a:xfrm>
            <a:off x="6629400" y="530352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probably keep it</a:t>
            </a:r>
            <a:endParaRPr lang="en-US" sz="1400" dirty="0" b="1"/>
          </a:p>
        </p:txBody>
      </p:sp>
      <p:sp>
        <p:nvSpPr>
          <p:cNvPr id="26" name="R5 opt2"/>
          <p:cNvSpPr/>
          <p:nvPr/>
        </p:nvSpPr>
        <p:spPr>
          <a:xfrm>
            <a:off x="8869680" y="530352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back</a:t>
            </a:r>
            <a:endParaRPr lang="en-US" sz="1400" dirty="0" b="1"/>
          </a:p>
        </p:txBody>
      </p:sp>
      <p:sp>
        <p:nvSpPr>
          <p:cNvPr id="27" name="R5 circle"/>
          <p:cNvSpPr/>
          <p:nvPr/>
        </p:nvSpPr>
        <p:spPr>
          <a:xfrm>
            <a:off x="6501384" y="524865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6. Next week's situation:</a:t>
            </a:r>
            <a:endParaRPr lang="en-US" sz="1600" dirty="0"/>
          </a:p>
        </p:txBody>
      </p:sp>
      <p:sp>
        <p:nvSpPr>
          <p:cNvPr id="29" name="R6 opt1"/>
          <p:cNvSpPr/>
          <p:nvPr/>
        </p:nvSpPr>
        <p:spPr>
          <a:xfrm>
            <a:off x="6629400" y="58521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 envelope with money at work</a:t>
            </a:r>
            <a:endParaRPr lang="en-US" sz="1400" dirty="0" b="1"/>
          </a:p>
        </p:txBody>
      </p:sp>
      <p:sp>
        <p:nvSpPr>
          <p:cNvPr id="30" name="R6 opt2"/>
          <p:cNvSpPr/>
          <p:nvPr/>
        </p:nvSpPr>
        <p:spPr>
          <a:xfrm>
            <a:off x="8869680" y="58521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lost phone on the bus</a:t>
            </a:r>
            <a:endParaRPr lang="en-US" sz="1400" dirty="0" b="1"/>
          </a:p>
        </p:txBody>
      </p:sp>
      <p:sp>
        <p:nvSpPr>
          <p:cNvPr id="31" name="R6 circle"/>
          <p:cNvSpPr/>
          <p:nvPr/>
        </p:nvSpPr>
        <p:spPr>
          <a:xfrm>
            <a:off x="6501384" y="579729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or a past verb.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or a past verb.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Why ____ you go back?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99632" y="2222144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____ the money, she would have a problem at the end of her shift.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99632" y="2950312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kept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And what would you do if it ____ only one dollar?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99632" y="3678479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it were one dollar, ____ probably keep it.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99632" y="4406646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But ____ feel a little bad.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99632" y="5134813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would you do if you ____ an envelope with money at work?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6199632" y="5862980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found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it: gonna = going to, wanna = want to</a:t>
            </a:r>
            <a:endParaRPr lang="en-US" sz="18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I'd, and the stress</a:t>
            </a:r>
            <a:endParaRPr lang="en-US" sz="18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It,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are short forms. This listening uses the full forms.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the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Stress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hear your ideas.</a:t>
            </a:r>
            <a:endParaRPr lang="en-US" sz="18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427171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427171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you're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call, call early!</a:t>
            </a:r>
            <a:endParaRPr lang="en-US" sz="18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138574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138574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give it back.</a:t>
            </a:r>
            <a:endParaRPr lang="en-US" sz="1800" dirty="0" b="1"/>
          </a:p>
        </p:txBody>
      </p:sp>
      <p:sp>
        <p:nvSpPr>
          <p:cNvPr id="37" name="S4 card"/>
          <p:cNvSpPr/>
          <p:nvPr/>
        </p:nvSpPr>
        <p:spPr>
          <a:xfrm>
            <a:off x="548640" y="484997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S4 text"/>
          <p:cNvSpPr/>
          <p:nvPr/>
        </p:nvSpPr>
        <p:spPr>
          <a:xfrm>
            <a:off x="777240" y="484997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would you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8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Owner: a person and a handbag [sign: OWNER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would you do if…?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would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if you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found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$50 at work?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found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$50, I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'd give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 to my supervisor.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would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if you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free week?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free week, I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'd visit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my cousin.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keep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extra money?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wouldn't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I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'd give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 back.</a:t>
            </a:r>
            <a:endParaRPr lang="en-US" sz="1700" dirty="0" b="1"/>
          </a:p>
        </p:txBody>
      </p:sp>
      <p:sp>
        <p:nvSpPr>
          <p:cNvPr id="27" name="Question 4"/>
          <p:cNvSpPr/>
          <p:nvPr/>
        </p:nvSpPr>
        <p:spPr>
          <a:xfrm>
            <a:off x="5138928" y="544068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would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if you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me?</a:t>
            </a:r>
            <a:endParaRPr lang="en-US" sz="1700" dirty="0" b="1"/>
          </a:p>
        </p:txBody>
      </p:sp>
      <p:sp>
        <p:nvSpPr>
          <p:cNvPr id="28" name="Answer bg 4"/>
          <p:cNvSpPr/>
          <p:nvPr/>
        </p:nvSpPr>
        <p:spPr>
          <a:xfrm>
            <a:off x="7863840" y="544068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7863840" y="544068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you, I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'd call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owner.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Envelope: an envel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possible or imaginary?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it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rains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tomorrow, I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'll take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bus.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car, I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'd drive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work.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get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job, I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'll buy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new phone.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won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$1,000, I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'd pay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my bills.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you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find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my keys,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call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me?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found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wallet, I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'd look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for the owner.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Extra money: money and a plus sign [sign: + $10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short forms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LONG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SHORT  ·  EXAMPLE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would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give it back.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would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she'd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She'd keep it.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not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wouldn't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wouldn't keep it.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Mistake: a receipt and an X [sign: MISTAK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advice with If I were you…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 ·  EXAMPLE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were you, I'd…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advice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were you, I'd talk to the supervisor.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for every person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imaginary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it were one dollar, I'd keep it.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was…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hear it in speaking; it's OK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writing, use If I were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correct form of the verb.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correct form of the verb.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____ a wallet, I'd look for the owner. (find)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925312" y="2222144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found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had more time, I'd ____ a computer class. (take)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925312" y="2950312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take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____ you, I'd tell the truth. (be)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925312" y="3678479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would you ____ if you won $500? (do)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925312" y="4406646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she ____ a car, she'd drive to work. (have)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925312" y="5134813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it rains tomorrow, ____ take the bus. (I'll / I'd)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5925312" y="5862980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I'll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correct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 If I ____ a magic wand, I'd fix all the potholes.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6766560" y="31089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8961120" y="31089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</a:t>
            </a:r>
            <a:endParaRPr lang="en-US" sz="1500" dirty="0" b="1"/>
          </a:p>
        </p:txBody>
      </p:sp>
      <p:sp>
        <p:nvSpPr>
          <p:cNvPr id="11" name="R1 circle"/>
          <p:cNvSpPr/>
          <p:nvPr/>
        </p:nvSpPr>
        <p:spPr>
          <a:xfrm>
            <a:off x="6638544" y="305409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2. If I found $50, I ____ give it back.</a:t>
            </a:r>
            <a:endParaRPr lang="en-US" sz="1600" dirty="0"/>
          </a:p>
        </p:txBody>
      </p:sp>
      <p:sp>
        <p:nvSpPr>
          <p:cNvPr id="13" name="R2 opt1"/>
          <p:cNvSpPr/>
          <p:nvPr/>
        </p:nvSpPr>
        <p:spPr>
          <a:xfrm>
            <a:off x="6766560" y="365760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</a:t>
            </a:r>
            <a:endParaRPr lang="en-US" sz="1500" dirty="0" b="1"/>
          </a:p>
        </p:txBody>
      </p:sp>
      <p:sp>
        <p:nvSpPr>
          <p:cNvPr id="14" name="R2 opt2"/>
          <p:cNvSpPr/>
          <p:nvPr/>
        </p:nvSpPr>
        <p:spPr>
          <a:xfrm>
            <a:off x="8961120" y="365760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endParaRPr lang="en-US" sz="1500" dirty="0" b="1"/>
          </a:p>
        </p:txBody>
      </p:sp>
      <p:sp>
        <p:nvSpPr>
          <p:cNvPr id="15" name="R2 circle"/>
          <p:cNvSpPr/>
          <p:nvPr/>
        </p:nvSpPr>
        <p:spPr>
          <a:xfrm>
            <a:off x="6638544" y="360273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3. If I ____ you, I'd call the owner.</a:t>
            </a:r>
            <a:endParaRPr lang="en-US" sz="1600" dirty="0"/>
          </a:p>
        </p:txBody>
      </p:sp>
      <p:sp>
        <p:nvSpPr>
          <p:cNvPr id="17" name="R3 opt1"/>
          <p:cNvSpPr/>
          <p:nvPr/>
        </p:nvSpPr>
        <p:spPr>
          <a:xfrm>
            <a:off x="6766560" y="420624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endParaRPr lang="en-US" sz="1500" dirty="0" b="1"/>
          </a:p>
        </p:txBody>
      </p:sp>
      <p:sp>
        <p:nvSpPr>
          <p:cNvPr id="18" name="R3 opt2"/>
          <p:cNvSpPr/>
          <p:nvPr/>
        </p:nvSpPr>
        <p:spPr>
          <a:xfrm>
            <a:off x="8961120" y="420624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be</a:t>
            </a:r>
            <a:endParaRPr lang="en-US" sz="1500" dirty="0" b="1"/>
          </a:p>
        </p:txBody>
      </p:sp>
      <p:sp>
        <p:nvSpPr>
          <p:cNvPr id="19" name="R3 circle"/>
          <p:cNvSpPr/>
          <p:nvPr/>
        </p:nvSpPr>
        <p:spPr>
          <a:xfrm>
            <a:off x="6638544" y="415137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4. If it ____ tomorrow, I'll stay home.</a:t>
            </a:r>
            <a:endParaRPr lang="en-US" sz="1600" dirty="0"/>
          </a:p>
        </p:txBody>
      </p:sp>
      <p:sp>
        <p:nvSpPr>
          <p:cNvPr id="21" name="R4 opt1"/>
          <p:cNvSpPr/>
          <p:nvPr/>
        </p:nvSpPr>
        <p:spPr>
          <a:xfrm>
            <a:off x="6766560" y="475488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rains</a:t>
            </a:r>
            <a:endParaRPr lang="en-US" sz="1500" dirty="0" b="1"/>
          </a:p>
        </p:txBody>
      </p:sp>
      <p:sp>
        <p:nvSpPr>
          <p:cNvPr id="22" name="R4 opt2"/>
          <p:cNvSpPr/>
          <p:nvPr/>
        </p:nvSpPr>
        <p:spPr>
          <a:xfrm>
            <a:off x="8961120" y="475488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rained</a:t>
            </a:r>
            <a:endParaRPr lang="en-US" sz="1500" dirty="0" b="1"/>
          </a:p>
        </p:txBody>
      </p:sp>
      <p:sp>
        <p:nvSpPr>
          <p:cNvPr id="23" name="R4 circle"/>
          <p:cNvSpPr/>
          <p:nvPr/>
        </p:nvSpPr>
        <p:spPr>
          <a:xfrm>
            <a:off x="6638544" y="470001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5. Would you keep it? No, I ____.</a:t>
            </a:r>
            <a:endParaRPr lang="en-US" sz="1600" dirty="0"/>
          </a:p>
        </p:txBody>
      </p:sp>
      <p:sp>
        <p:nvSpPr>
          <p:cNvPr id="25" name="R5 opt1"/>
          <p:cNvSpPr/>
          <p:nvPr/>
        </p:nvSpPr>
        <p:spPr>
          <a:xfrm>
            <a:off x="6766560" y="530352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wouldn't</a:t>
            </a:r>
            <a:endParaRPr lang="en-US" sz="1500" dirty="0" b="1"/>
          </a:p>
        </p:txBody>
      </p:sp>
      <p:sp>
        <p:nvSpPr>
          <p:cNvPr id="26" name="R5 opt2"/>
          <p:cNvSpPr/>
          <p:nvPr/>
        </p:nvSpPr>
        <p:spPr>
          <a:xfrm>
            <a:off x="8961120" y="530352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</a:t>
            </a:r>
            <a:endParaRPr lang="en-US" sz="1500" dirty="0" b="1"/>
          </a:p>
        </p:txBody>
      </p:sp>
      <p:sp>
        <p:nvSpPr>
          <p:cNvPr id="27" name="R5 circle"/>
          <p:cNvSpPr/>
          <p:nvPr/>
        </p:nvSpPr>
        <p:spPr>
          <a:xfrm>
            <a:off x="6638544" y="524865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6. ____ if you had a free week?</a:t>
            </a:r>
            <a:endParaRPr lang="en-US" sz="1600" dirty="0"/>
          </a:p>
        </p:txBody>
      </p:sp>
      <p:sp>
        <p:nvSpPr>
          <p:cNvPr id="29" name="R6 opt1"/>
          <p:cNvSpPr/>
          <p:nvPr/>
        </p:nvSpPr>
        <p:spPr>
          <a:xfrm>
            <a:off x="6766560" y="58521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would you do</a:t>
            </a:r>
            <a:endParaRPr lang="en-US" sz="1500" dirty="0" b="1"/>
          </a:p>
        </p:txBody>
      </p:sp>
      <p:sp>
        <p:nvSpPr>
          <p:cNvPr id="30" name="R6 opt2"/>
          <p:cNvSpPr/>
          <p:nvPr/>
        </p:nvSpPr>
        <p:spPr>
          <a:xfrm>
            <a:off x="8961120" y="58521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you would do</a:t>
            </a:r>
            <a:endParaRPr lang="en-US" sz="1500" dirty="0" b="1"/>
          </a:p>
        </p:txBody>
      </p:sp>
      <p:sp>
        <p:nvSpPr>
          <p:cNvPr id="31" name="R6 circle"/>
          <p:cNvSpPr/>
          <p:nvPr/>
        </p:nvSpPr>
        <p:spPr>
          <a:xfrm>
            <a:off x="6638544" y="579729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Magic wand: a magic wand and spark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would have time, I'd take a class.</a:t>
            </a:r>
            <a:endParaRPr lang="en-US" sz="17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time, I'd take a class.</a:t>
            </a:r>
            <a:endParaRPr lang="en-US" sz="1700" dirty="0" b="1"/>
          </a:p>
        </p:txBody>
      </p:sp>
      <p:sp>
        <p:nvSpPr>
          <p:cNvPr id="26" name="Bad 2"/>
          <p:cNvSpPr/>
          <p:nvPr/>
        </p:nvSpPr>
        <p:spPr>
          <a:xfrm>
            <a:off x="914400" y="3310128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found $50, I will give it back.</a:t>
            </a:r>
            <a:endParaRPr lang="en-US" sz="1700" dirty="0"/>
          </a:p>
        </p:txBody>
      </p:sp>
      <p:sp>
        <p:nvSpPr>
          <p:cNvPr id="27" name="Good 2"/>
          <p:cNvSpPr/>
          <p:nvPr/>
        </p:nvSpPr>
        <p:spPr>
          <a:xfrm>
            <a:off x="4800600" y="3310128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found $50, I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'd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give it back.</a:t>
            </a:r>
            <a:endParaRPr lang="en-US" sz="1700" dirty="0" b="1"/>
          </a:p>
        </p:txBody>
      </p:sp>
      <p:sp>
        <p:nvSpPr>
          <p:cNvPr id="28" name="Bad 3"/>
          <p:cNvSpPr/>
          <p:nvPr/>
        </p:nvSpPr>
        <p:spPr>
          <a:xfrm>
            <a:off x="914400" y="4151376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you would do?</a:t>
            </a:r>
            <a:endParaRPr lang="en-US" sz="1700" dirty="0"/>
          </a:p>
        </p:txBody>
      </p:sp>
      <p:sp>
        <p:nvSpPr>
          <p:cNvPr id="29" name="Good 3"/>
          <p:cNvSpPr/>
          <p:nvPr/>
        </p:nvSpPr>
        <p:spPr>
          <a:xfrm>
            <a:off x="4800600" y="4151376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would you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do?</a:t>
            </a:r>
            <a:endParaRPr lang="en-US" sz="1700" dirty="0" b="1"/>
          </a:p>
        </p:txBody>
      </p:sp>
      <p:sp>
        <p:nvSpPr>
          <p:cNvPr id="30" name="Bad 4"/>
          <p:cNvSpPr/>
          <p:nvPr/>
        </p:nvSpPr>
        <p:spPr>
          <a:xfrm>
            <a:off x="914400" y="4718304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am you, I'd call.</a:t>
            </a:r>
            <a:endParaRPr lang="en-US" sz="1700" dirty="0"/>
          </a:p>
        </p:txBody>
      </p:sp>
      <p:sp>
        <p:nvSpPr>
          <p:cNvPr id="31" name="Good 4"/>
          <p:cNvSpPr/>
          <p:nvPr/>
        </p:nvSpPr>
        <p:spPr>
          <a:xfrm>
            <a:off x="4800600" y="4718304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you, I'd call.</a:t>
            </a:r>
            <a:endParaRPr lang="en-US" sz="1700" dirty="0" b="1"/>
          </a:p>
        </p:txBody>
      </p:sp>
      <p:sp>
        <p:nvSpPr>
          <p:cNvPr id="32" name="Bad 5"/>
          <p:cNvSpPr/>
          <p:nvPr/>
        </p:nvSpPr>
        <p:spPr>
          <a:xfrm>
            <a:off x="914400" y="5285232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to give it back.</a:t>
            </a:r>
            <a:endParaRPr lang="en-US" sz="1700" dirty="0"/>
          </a:p>
        </p:txBody>
      </p:sp>
      <p:sp>
        <p:nvSpPr>
          <p:cNvPr id="33" name="Good 5"/>
          <p:cNvSpPr/>
          <p:nvPr/>
        </p:nvSpPr>
        <p:spPr>
          <a:xfrm>
            <a:off x="4800600" y="5285232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 back.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Dream job: a thought bubble and a cook [sign: DREAM JOB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Check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a reason.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What would you do if you found an envelope with money?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If I found…, I'd…</a:t>
            </a:r>
            <a:endParaRPr lang="en-US" sz="1900" dirty="0" b="0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because…</a:t>
            </a:r>
            <a:endParaRPr lang="en-US" sz="19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reads a situation from the pictures. Then switch.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Envelope: an envel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Would You Do?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 of 3–4.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a situation card.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7:00–7:15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person reads a situation card.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find $50 on the floor at work.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Each person answers with a reason.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found $50, I'd give it to my supervisor because…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your group's most common answer.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We'd… because…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Magic wand: a magic wand and spark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Magic Wand Chain</a:t>
            </a:r>
            <a:endParaRPr lang="en-US" sz="28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Sit in a circle.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Pass the "magic wand."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7:00–7:15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Each person says one sentence.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had a magic wand, I'd…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do one more round.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had my dream job, I'd…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Classmates can ask one question.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Why?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fast first.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the questions.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&amp;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ADVICE COLUMN · Ask Gloria: Work and Life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does the writer work?</a:t>
            </a:r>
            <a:endParaRPr lang="en-US" sz="1500" dirty="0"/>
          </a:p>
        </p:txBody>
      </p:sp>
      <p:sp>
        <p:nvSpPr>
          <p:cNvPr id="35" name="R1 ans"/>
          <p:cNvSpPr/>
          <p:nvPr/>
        </p:nvSpPr>
        <p:spPr>
          <a:xfrm>
            <a:off x="4187952" y="2525573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 a busy restaurant.</a:t>
            </a:r>
            <a:endParaRPr lang="en-US" sz="14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are Leo's breaks sometimes?</a:t>
            </a:r>
            <a:endParaRPr lang="en-US" sz="1500" dirty="0"/>
          </a:p>
        </p:txBody>
      </p:sp>
      <p:sp>
        <p:nvSpPr>
          <p:cNvPr id="40" name="R2 ans"/>
          <p:cNvSpPr/>
          <p:nvPr/>
        </p:nvSpPr>
        <p:spPr>
          <a:xfrm>
            <a:off x="4187952" y="3311957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30 minutes, not 15.</a:t>
            </a:r>
            <a:endParaRPr lang="en-US" sz="14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would Gloria do first?</a:t>
            </a:r>
            <a:endParaRPr lang="en-US" sz="1500" dirty="0"/>
          </a:p>
        </p:txBody>
      </p:sp>
      <p:sp>
        <p:nvSpPr>
          <p:cNvPr id="45" name="R3 ans"/>
          <p:cNvSpPr/>
          <p:nvPr/>
        </p:nvSpPr>
        <p:spPr>
          <a:xfrm>
            <a:off x="4187952" y="4098341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She'd talk to Leo.</a:t>
            </a:r>
            <a:endParaRPr lang="en-US" sz="14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would she talk to him?</a:t>
            </a:r>
            <a:endParaRPr lang="en-US" sz="1500" dirty="0"/>
          </a:p>
        </p:txBody>
      </p:sp>
      <p:sp>
        <p:nvSpPr>
          <p:cNvPr id="50" name="R4 ans"/>
          <p:cNvSpPr/>
          <p:nvPr/>
        </p:nvSpPr>
        <p:spPr>
          <a:xfrm>
            <a:off x="4187952" y="4884725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Alone, not in front of other people.</a:t>
            </a:r>
            <a:endParaRPr lang="en-US" sz="14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would she talk to the supervisor?</a:t>
            </a:r>
            <a:endParaRPr lang="en-US" sz="1500" dirty="0"/>
          </a:p>
        </p:txBody>
      </p:sp>
      <p:sp>
        <p:nvSpPr>
          <p:cNvPr id="55" name="R5 ans"/>
          <p:cNvSpPr/>
          <p:nvPr/>
        </p:nvSpPr>
        <p:spPr>
          <a:xfrm>
            <a:off x="4187952" y="5671109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Leo still took long breaks after that.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7:25–7:30</a:t>
            </a:r>
            <a:endParaRPr lang="en-US" sz="4000" dirty="0"/>
          </a:p>
        </p:txBody>
      </p:sp>
      <p:pic>
        <p:nvPicPr>
          <p:cNvPr id="16" name="pic" descr="Tell the truth: a person speaking and a check 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would you do if you had a free week?</a:t>
            </a:r>
            <a:endParaRPr lang="en-US" sz="16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An if-sentence (If I had a free week, I'd…).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A second idea (I'd also…).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The reason, with because.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6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15–20 minutes.</a:t>
            </a:r>
            <a:endParaRPr lang="en-US" sz="16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the sentence.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Finish your writing from Read &amp; Write C (your reply).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Write 3 sentences about your dreams.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 (Lesson 5).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600" dirty="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Keep (it): open hands and a wallet [sign: KEEP IT?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6  ·  Level 4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and answer What would you do if…?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Talk about an imaginary situation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Give advice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signs and labels were added.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Mike, Grace, Teresa, Gloria, and Leo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4 Lesson 6: What Would You Do?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