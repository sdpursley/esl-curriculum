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51.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2"/>
  </p:notesMasterIdLst>
  <p:sldIdLst>
    <p:sldId id="835" r:id="rId33"/>
    <p:sldId id="836" r:id="rId34"/>
    <p:sldId id="837" r:id="rId35"/>
    <p:sldId id="838" r:id="rId36"/>
    <p:sldId id="839" r:id="rId31"/>
    <p:sldId id="840" r:id="rId30"/>
    <p:sldId id="841" r:id="rId29"/>
    <p:sldId id="842" r:id="rId28"/>
    <p:sldId id="843" r:id="rId27"/>
    <p:sldId id="844" r:id="rId20"/>
    <p:sldId id="845" r:id="rId18"/>
    <p:sldId id="846" r:id="rId17"/>
    <p:sldId id="847" r:id="rId16"/>
    <p:sldId id="848" r:id="rId14"/>
    <p:sldId id="849" r:id="rId13"/>
    <p:sldId id="850" r:id="rId12"/>
    <p:sldId id="851" r:id="rId11"/>
    <p:sldId id="852" r:id="rId10"/>
    <p:sldId id="853" r:id="rId8"/>
    <p:sldId id="854" r:id="rId7"/>
    <p:sldId id="855" r:id="rId6"/>
    <p:sldId id="856" r:id="rId5"/>
    <p:sldId id="857" r:id="rId4"/>
    <p:sldId id="858" r:id="rId3"/>
    <p:sldId id="859" r:id="rId57"/>
    <p:sldId id="860" r:id="rId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52.xml"/><Relationship Id="rId3" Type="http://schemas.openxmlformats.org/officeDocument/2006/relationships/slide" Target="slides/slide50.xml"/><Relationship Id="rId4" Type="http://schemas.openxmlformats.org/officeDocument/2006/relationships/slide" Target="slides/slide49.xml"/><Relationship Id="rId5" Type="http://schemas.openxmlformats.org/officeDocument/2006/relationships/slide" Target="slides/slide48.xml"/><Relationship Id="rId6" Type="http://schemas.openxmlformats.org/officeDocument/2006/relationships/slide" Target="slides/slide47.xml"/><Relationship Id="rId7" Type="http://schemas.openxmlformats.org/officeDocument/2006/relationships/slide" Target="slides/slide46.xml"/><Relationship Id="rId8" Type="http://schemas.openxmlformats.org/officeDocument/2006/relationships/slide" Target="slides/slide45.xml"/><Relationship Id="rId10" Type="http://schemas.openxmlformats.org/officeDocument/2006/relationships/slide" Target="slides/slide44.xml"/><Relationship Id="rId11" Type="http://schemas.openxmlformats.org/officeDocument/2006/relationships/slide" Target="slides/slide43.xml"/><Relationship Id="rId12" Type="http://schemas.openxmlformats.org/officeDocument/2006/relationships/slide" Target="slides/slide42.xml"/><Relationship Id="rId13" Type="http://schemas.openxmlformats.org/officeDocument/2006/relationships/slide" Target="slides/slide41.xml"/><Relationship Id="rId14" Type="http://schemas.openxmlformats.org/officeDocument/2006/relationships/slide" Target="slides/slide40.xml"/><Relationship Id="rId16" Type="http://schemas.openxmlformats.org/officeDocument/2006/relationships/slide" Target="slides/slide39.xml"/><Relationship Id="rId17" Type="http://schemas.openxmlformats.org/officeDocument/2006/relationships/slide" Target="slides/slide38.xml"/><Relationship Id="rId18" Type="http://schemas.openxmlformats.org/officeDocument/2006/relationships/slide" Target="slides/slide37.xml"/><Relationship Id="rId20" Type="http://schemas.openxmlformats.org/officeDocument/2006/relationships/slide" Target="slides/slide36.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 Id="rId27" Type="http://schemas.openxmlformats.org/officeDocument/2006/relationships/slide" Target="slides/slide35.xml"/><Relationship Id="rId28" Type="http://schemas.openxmlformats.org/officeDocument/2006/relationships/slide" Target="slides/slide34.xml"/><Relationship Id="rId29" Type="http://schemas.openxmlformats.org/officeDocument/2006/relationships/slide" Target="slides/slide33.xml"/><Relationship Id="rId30" Type="http://schemas.openxmlformats.org/officeDocument/2006/relationships/slide" Target="slides/slide32.xml"/><Relationship Id="rId31" Type="http://schemas.openxmlformats.org/officeDocument/2006/relationships/slide" Target="slides/slide31.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57" Type="http://schemas.openxmlformats.org/officeDocument/2006/relationships/slide" Target="slides/slide5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Credits. You don't need to read this slide in class.</a:t>
            </a:r>
          </a:p>
          <a:p>
            <a:r>
              <a:t>Pictures: Twemoji graphics by Twitter, Inc. and other contributors, CC BY 4.0; the file-by-file list is in images/CREDITS.md.</a:t>
            </a:r>
          </a:p>
          <a:p>
            <a:r>
              <a:t>Audio: the listening audio for this lesson (about 2:07) is coming soon. It will use computer-generated voices (Chatterbox TTS cloned from synthetic Kokoro-82M reference clips); no recordings of real people. Until it is ready, read the listening script (in the notes of the Before You Listen slide) with a volunteer. The names and the story are invented.</a:t>
            </a:r>
          </a:p>
          <a:p>
            <a:r>
              <a:t>Course materials: © 2026 the authors, licensed under CC BY-NC-SA 4.0 (https://creativecommons.org/licenses/by-nc-sa/4.0/).</a:t>
            </a:r>
          </a:p>
          <a:p>
            <a:r>
              <a:t>Lesson plan: Picture Credits. Picture list: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7 · 7:25–7:30 · Exit Ticket + Homework · 5 min · NEVER SKIP.</a:t>
            </a:r>
          </a:p>
          <a:p>
            <a:r>
              <a:t>Exit ticket (3 min): learners open the Exit Ticket page and answer in 3 sentences with a reason: What can people do at home to save energy or stay safe? Example on the board: Turn off the lights when you leave a room. Unplug your charger and put it away. Make sure you lock the deadbolt at night, because it keeps your home safe. With 5 or fewer, a learner can say it to you first and then write it.</a:t>
            </a:r>
          </a:p>
          <a:p>
            <a:r>
              <a:t>Collect the pages. After class, sort them into ✓ / almost / not yet. Start next week with 2 corrections on the board (no names).</a:t>
            </a:r>
          </a:p>
          <a:p>
            <a:r>
              <a:t>Homework (2 min): open the Homework page. Do item 1 together (item 1: turn down / the heat (it) → Turn it down.). Say: "About 15–20 minutes. Finish your Read &amp; Write writing at home."</a:t>
            </a:r>
          </a:p>
          <a:p>
            <a:r>
              <a:t>Homework items: 1. Write the sentence. Use it or them. • 2. Finish your writing from Read &amp; Write C (your email). Read it one more time. Check ✓ the list in D. • 3. Look around your home. Write 3 things you can do to save energy or stay safe. • 4. Review (Lesson 9). Write one word.</a:t>
            </a:r>
          </a:p>
          <a:p>
            <a:r>
              <a:t>Lesson plan: Step 7; Exit Ticket page; Homework page.</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6 · 7:15–7:25 · Read &amp; Write: A utility bill + a "Save energy, stay safe" flyer · 10 min. Pairs read, then individual writing.</a:t>
            </a:r>
          </a:p>
          <a:p>
            <a:r>
              <a:t>Read (4 min): Learners read the invented bill and the flyer on the Read &amp; Write page and answer the questions. Say: "Read fast first. Then find the answers." Pairs answer questions 1–5 together.</a:t>
            </a:r>
          </a:p>
          <a:p>
            <a:r>
              <a:t>Check (1 min): click to show each answer (one click per question, 1 to 5): 1 $142.00. • 2 March 15. • 3 There is a $10 late fee. • 4 68 degrees. • 5 Look through the peephole.</a:t>
            </a:r>
          </a:p>
          <a:p>
            <a:r>
              <a:t>Write (5 min): Learners write an email (5–8 sentences) to a roommate or family member: what to change at home and why. Show the example. Check for 2 phrasal verbs and one it or them. Learners start in class and finish at home (Homework item 2).</a:t>
            </a:r>
          </a:p>
          <a:p>
            <a:r>
              <a:t>If behind: questions 1–5 only; the writing becomes homework.</a:t>
            </a:r>
          </a:p>
          <a:p>
            <a:r>
              <a:t>Lesson plan: Step 6; Read &amp; Write page; Answer key.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Round 2 (6 min): Home Tips (groups of 3). Groups write 5 tips to save energy or stay safe (Turn down the heat at night. Unplug the charger.) and present them in 1 minute. Each click shows the next step.</a:t>
            </a:r>
          </a:p>
          <a:p>
            <a:r>
              <a:t>15 learners: pairs for round 1; then 5 groups of 3. 7–8 learners: pairs; then 2 groups. 5 or fewer: pairs; then one poster together.</a:t>
            </a:r>
          </a:p>
          <a:p>
            <a:r>
              <a:t>Every answer needs a reason; every partner asks a follow-up. Walk around and listen. Note 2 good sentences to praise and 1 common error for next week.</a:t>
            </a:r>
          </a:p>
          <a:p>
            <a:r>
              <a:t>If behind: round 1 only.</a:t>
            </a:r>
          </a:p>
          <a:p>
            <a:r>
              <a:t>Lesson plan: Step 5; Talk Time: Home Tips.</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5 · 7:00–7:15 · Talk Time: Energy Detective + Home Tips · 15 min.</a:t>
            </a:r>
          </a:p>
          <a:p>
            <a:r>
              <a:t>Model it first (1 min): read the first problem on the Apartment A card: "The lights are on in an empty room." Say to a learner, "Turn them off, please." The learner mimes and says, "OK, I'll turn them off." Do one more: "The window is open, and the heat is on." (Close it. Turn the heat down.)</a:t>
            </a:r>
          </a:p>
          <a:p>
            <a:r>
              <a:t>Round 1 (7 min): Energy Detective (pairs). A reads a problem from the Apartment A card and gives an instruction (Turn them off. Close it. Put it away.). B mimes and answers with it / them. Then switch to the Apartment B card. Each click shows the next step.</a:t>
            </a:r>
          </a:p>
          <a:p>
            <a:r>
              <a:t>15 learners: pairs for round 1; then 5 groups of 3. 7–8 learners: pairs; then 2 groups. 5 or fewer: pairs; then one poster together.</a:t>
            </a:r>
          </a:p>
          <a:p>
            <a:r>
              <a:t>Lesson plan: Step 5; Talk Time: Energy Detective.</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Pair check (last 3 min of Step 4). Pairs.</a:t>
            </a:r>
          </a:p>
          <a:p>
            <a:r>
              <a:t>A points to a picture and says, "Can you unplug the charger?" B mimes and answers, "OK, I'll unplug it." A says, "Don't forget to lock the deadbolt." Switch. 15 learners: swap partners once. 5 or fewer: you join one pair.</a:t>
            </a:r>
          </a:p>
          <a:p>
            <a:r>
              <a:t>If behind: skip the pair check. Talk Time practices it.</a:t>
            </a:r>
          </a:p>
          <a:p>
            <a:r>
              <a:t>Break · 6:45–7:00 · 15 min. Write on the board: Can you turn off the lights? → OK, I'll turn them off. • Did you take out the trash? → Yes, I took it out. • Make sure you lock the deadbolt.</a:t>
            </a:r>
          </a:p>
          <a:p>
            <a:r>
              <a:t>Lesson plan: Step 4: Pair check; Break.</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Common mistakes. Read the table together: "Don't say… Say…". Read a line from Don't say. Ask: "What's the right way?" Learners try first. Then click to show the right form. Each click shows one line, in order 1 to 5.</a:t>
            </a:r>
          </a:p>
          <a:p>
            <a:r>
              <a:t>Learners can read the contrast tip on their Grammar page on their own; it is optional. You never need to read, translate, or explain it.</a:t>
            </a:r>
          </a:p>
          <a:p>
            <a:r>
              <a:t>Lesson plan: Grammar: Common mistakes; Teacher notes.</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 Learners circle the correct words. Pairs check.</a:t>
            </a:r>
          </a:p>
          <a:p>
            <a:r>
              <a:t>Click to circle each answer (one click per item, 1 to 6): 1 it off, 2 throw away, 3 down, 4 put them away, 5 to lock, 6 much.</a:t>
            </a:r>
          </a:p>
          <a:p>
            <a:r>
              <a:t>Lesson plan: Step 4; Grammar Practice B; Answer key.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A and B (3 min): learners write, then pairs check. Go over the answers.</a:t>
            </a:r>
          </a:p>
          <a:p>
            <a:r>
              <a:t>Click to show each answer (one click per item, 1 to 6): 1 them, 2 up, 3 it, 4 on, 5 sure, 6 forget.</a:t>
            </a:r>
          </a:p>
          <a:p>
            <a:r>
              <a:t>Lesson plan: Step 4; Grammar Practice A; Answer key.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Box 4: Make sure you… / Don't forget to… Each click shows the answer side of one row.</a:t>
            </a:r>
          </a:p>
          <a:p>
            <a:r>
              <a:t>Questions and answers (2 min): Q: turn off it or turn it off? A: turn it off. With it / them, the small word goes after: turn it off, put them away. • Q: Is turn off the TV OK? A: Yes. With a noun, both are OK: turn off the TV and turn the TV off. • Q: turn down or turn off? A: turn down = less. turn off = stop. Turn down the heat. Turn off the lights.</a:t>
            </a:r>
          </a:p>
          <a:p>
            <a:r>
              <a:t>Check questions: "turn off it or turn it off?" (turn it off) • "Is turn the TV off OK?" (yes) • "It's too loud. Turn it up or turn it down?" (turn it down).</a:t>
            </a:r>
          </a:p>
          <a:p>
            <a:r>
              <a:t>Lesson plan: Step 4; Grammar Box 4; Questions and answers.</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Box 3: the 8 phrasal verbs. Each click shows the answer side of one row.</a:t>
            </a:r>
          </a:p>
          <a:p>
            <a:r>
              <a:t>Lesson plan: Step 4; Grammar Box 3.</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Box 2: the past: Did you take out the trash? → Yes, I took it out. Each click shows the answer side of one row.</a:t>
            </a:r>
          </a:p>
          <a:p>
            <a:r>
              <a:t>Rule of thumb (read it aloud): With a noun, two places are OK: turn off the TV / turn the TV off. With it / them, only the middle: turn it off (not turn off it).</a:t>
            </a:r>
          </a:p>
          <a:p>
            <a:r>
              <a:t>Lesson plan: Step 4; Grammar Box 2; Rule of thumb.</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4 · 6:30–6:45 · Grammar Q&amp;A · 15 min (slides 13 to 20). Whole class, then pairs. Show the Grammar page. The left side is the question. The right side is the answer.</a:t>
            </a:r>
          </a:p>
          <a:p>
            <a:r>
              <a:t>Show it (2 min): point to the lights and say, "Can you turn off the lights?" A learner turns them off (or mimes it). You say, "Thank you. You turned them off." Turn them on again. Write: turn off the lights / turn the lights off → turn them off. Cross out turn off them.</a:t>
            </a:r>
          </a:p>
          <a:p>
            <a:r>
              <a:t>Box 1: read across: Can you turn off the lights? → OK, I'll turn them off. Each click shows the answer side of one row.</a:t>
            </a:r>
          </a:p>
          <a:p>
            <a:r>
              <a:t>Lesson plan: Step 4; Grammar Box 1.</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"Hear it, say it" (3 min): Point to the script line. gonna = going to: "I'm gonna unplug my phone charger." Then practice the stress on the small word: turn it OFF, put it aWAY, and the linking: turn_it_off, take_it_out. The class repeats the two lines twice.</a:t>
            </a:r>
          </a:p>
          <a:p>
            <a:r>
              <a:t>Reductions: the listening has gonna. Learners need to understand it; they can always say going to.</a:t>
            </a:r>
          </a:p>
          <a:p>
            <a:r>
              <a:t>Lesson plan: Step 3: "Hear it, say it"; Listening page: Hear it, say it; Teacher notes.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Task C (play 2). Click to show each answer (one click per item, 1 to 6): 1 them, 2 it, 3 down, 4 on, 5 up, 6 off.</a:t>
            </a:r>
          </a:p>
          <a:p>
            <a:r>
              <a:t>If behind: do Task C together on the board, reading the lines yourself.</a:t>
            </a:r>
          </a:p>
          <a:p>
            <a:r>
              <a:t>Lesson plan: Step 3; Listening Task C; Answer key.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Play 2 → Tasks B and C. Pairs compare. Then show the answers.</a:t>
            </a:r>
          </a:p>
          <a:p>
            <a:r>
              <a:t>Click to circle each answer (one click per item, 1 to 6): 1 $142 • 2 down • 3 phone charger • 4 sweaters • 5 March 15 • 6 free.</a:t>
            </a:r>
          </a:p>
          <a:p>
            <a:r>
              <a:t>Lesson plan: Step 3; Listening Task B; Answer key.</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Play 1 → Task A (the main idea). Pairs compare. Check together.</a:t>
            </a:r>
          </a:p>
          <a:p>
            <a:r>
              <a:t>Click to circle the answer: a (The electric bill is too high.).</a:t>
            </a:r>
          </a:p>
          <a:p>
            <a:r>
              <a:t>Then read Tasks B and C together (1 min) so learners know what to listen for.</a:t>
            </a:r>
          </a:p>
          <a:p>
            <a:r>
              <a:t>Lesson plan: Step 3; Listening Task A; Answer key.</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3 · 6:15–6:30 · Listening + "Hear it, say it" · 15 min (slides 8 to 12). Individuals, then pairs check.</a:t>
            </a:r>
          </a:p>
          <a:p>
            <a:r>
              <a:t>Before you listen (2 min). Say: "Two roommates, Sofia and Hana, look at a high electric bill and make a plan. Then Sofia calls the electric company. Listen: what is the problem?"</a:t>
            </a:r>
          </a:p>
          <a:p>
            <a:r>
              <a:t>There are 3 people: Sofia, Hana and Paul. A narrator starts and ends the listening. Each click highlights the next person.</a:t>
            </a:r>
          </a:p>
          <a:p>
            <a:r>
              <a:t>The audio (about 2:07) is coming soon. When it is ready, it plays the conversation once; press play again for play 2. Until then, read the listening script (at the end of these notes) with a volunteer.</a:t>
            </a:r>
          </a:p>
          <a:p>
            <a:r>
              <a:t>No speaker? Read the script with a volunteer at a natural, friendly speed, two times. Say gonna and wanna where the script has them.</a:t>
            </a:r>
          </a:p>
          <a:p>
            <a:r>
              <a:t>Audio: the listening audio for this lesson (about 2:07) is coming soon. It will use computer-generated voices (Chatterbox TTS cloned from synthetic Kokoro-82M reference clips); no recordings of real people. Until it is ready, read the listening script (in the notes of the Before You Listen slide) with a volunteer. The names and the story are invented.</a:t>
            </a:r>
          </a:p>
          <a:p>
            <a:r>
              <a:t>Lesson plan: Step 3; Listening script; Listening page.</a:t>
            </a:r>
          </a:p>
          <a:p>
            <a:r>
              <a:t>Picture: Twemoji graphics by Twitter, Inc. and other contributors (https://github.com/jdecked/twemoji), CC BY 4.0 (https://creativecommons.org/licenses/by/4.0/); resized and combined, with signs and labels (images/CREDITS.md).</a:t>
            </a:r>
          </a:p>
          <a:p>
            <a:r>
              <a:t>Listening script (the audio is coming soon; until then, read it aloud with a volunteer at a normal, friendly speed):</a:t>
            </a:r>
          </a:p>
          <a:p>
            <a:r>
              <a:t>Narrator: Lesson ten. Two roommates, Sofia and Hana, look at their electric bill. Then Sofia calls the electric company.</a:t>
            </a:r>
          </a:p>
          <a:p>
            <a:r>
              <a:t>Sofia: Hana, look at this. Our electric bill is one hundred and forty-two dollars this month!</a:t>
            </a:r>
          </a:p>
          <a:p>
            <a:r>
              <a:t>Hana: What? Last month it was ninety dollars. Why is it so high?</a:t>
            </a:r>
          </a:p>
          <a:p>
            <a:r>
              <a:t>Sofia: Well, we use too much electricity. The heat is on all day, and the lights are on in empty rooms.</a:t>
            </a:r>
          </a:p>
          <a:p>
            <a:r>
              <a:t>Hana: You're right. I always forget to turn them off. Oh, the TV is on now, and nobody is watching. I'll turn it off.</a:t>
            </a:r>
          </a:p>
          <a:p>
            <a:r>
              <a:t>Sofia: OK, let's make a plan. First, we can turn down the heat at night. Sixty-eight degrees is fine.</a:t>
            </a:r>
          </a:p>
          <a:p>
            <a:r>
              <a:t>Hana: Good idea. And I'm gonna unplug my phone charger in the morning. It uses electricity all day.</a:t>
            </a:r>
          </a:p>
          <a:p>
            <a:r>
              <a:t>Sofia: Also, let's put on sweaters and not turn up the heat. Can you call the electric company? I have class.</a:t>
            </a:r>
          </a:p>
          <a:p>
            <a:r>
              <a:t>Hana: Sorry, I have work. Can you call them tonight?</a:t>
            </a:r>
          </a:p>
          <a:p>
            <a:r>
              <a:t>Sofia: Sure. I'll call them now.</a:t>
            </a:r>
          </a:p>
          <a:p>
            <a:r>
              <a:t>Paul: Thank you for calling City Power. This is Paul. How can I help you?</a:t>
            </a:r>
          </a:p>
          <a:p>
            <a:r>
              <a:t>Sofia: Hi. I'm calling about my bill. When is it due?</a:t>
            </a:r>
          </a:p>
          <a:p>
            <a:r>
              <a:t>Paul: Can I have your account number, please?</a:t>
            </a:r>
          </a:p>
          <a:p>
            <a:r>
              <a:t>Sofia: Yes. It's four, seven, two, one, nine.</a:t>
            </a:r>
          </a:p>
          <a:p>
            <a:r>
              <a:t>Paul: Thank you. Your bill is due on March fifteenth.</a:t>
            </a:r>
          </a:p>
          <a:p>
            <a:r>
              <a:t>Sofia: OK. Also, do you have any programs to help us save energy?</a:t>
            </a:r>
          </a:p>
          <a:p>
            <a:r>
              <a:t>Paul: Yes. We have a free home energy check. Someone visits your apartment and gives you tips. And you can get free light bulbs.</a:t>
            </a:r>
          </a:p>
          <a:p>
            <a:r>
              <a:t>Sofia: That sounds great. Can I sign up?</a:t>
            </a:r>
          </a:p>
          <a:p>
            <a:r>
              <a:t>Paul: Sure. Is next Tuesday morning OK?</a:t>
            </a:r>
          </a:p>
          <a:p>
            <a:r>
              <a:t>Sofia: Yes, that's perfect. Thank you.</a:t>
            </a:r>
          </a:p>
          <a:p>
            <a:r>
              <a:t>Paul: You're welcome. And don't forget to turn off the lights when you leave a room!</a:t>
            </a:r>
          </a:p>
          <a:p>
            <a:r>
              <a:t>Narrator: That's the end of the listening.</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2 · Check meaning · 1 min. Whole class.</a:t>
            </a:r>
          </a:p>
          <a:p>
            <a:r>
              <a:t>The answers are hidden. Ask each question and wait for the class to answer. Then click to show the answer. Each click shows one answer, in order: 1, 2, 3.</a:t>
            </a:r>
          </a:p>
          <a:p>
            <a:r>
              <a:t>1. "Do you plug a charger into an outlet or a peephole?" (an outlet) • 2. "Is a deadbolt a lock or a light?" (a lock) • 3. "Does a thermostat control the heat or the water?" (the heat)</a:t>
            </a:r>
          </a:p>
          <a:p>
            <a:r>
              <a:t>Lesson plan: Step 2: Check meaning.</a:t>
            </a:r>
          </a:p>
          <a:p>
            <a:r>
              <a:t>Pictures: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2, continued. Point to each picture and say the word. Learners repeat once.</a:t>
            </a:r>
          </a:p>
          <a:p>
            <a:r>
              <a:t>Partner game (2 min): A points to a picture and says, "Can you unplug the charger?" B mimes and answers, "OK, I'll unplug it." Then A gives a tip: "Don't forget to lock the deadbolt." Switch. 15 learners: finish with a quick team round (3 teams; you say a clue, the first team with the word gets a point). 7–8: 2 teams. 5 or fewer: one team against the clock.</a:t>
            </a:r>
          </a:p>
          <a:p>
            <a:r>
              <a:t>My Words: "Write any word you want in your language on the My Words page. It's your personal list. It's optional." Learners do it at home.</a:t>
            </a:r>
          </a:p>
          <a:p>
            <a:r>
              <a:t>If behind: teach the ★ words only.</a:t>
            </a:r>
          </a:p>
          <a:p>
            <a:r>
              <a:t>Lesson plan: Step 2; New Words page; Partner game; My Words page.</a:t>
            </a:r>
          </a:p>
          <a:p>
            <a:r>
              <a:t>Pictures: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2 · 6:08–6:15 · New Words · 7 min (this slide and the next). Whole class, then pairs.</a:t>
            </a:r>
          </a:p>
          <a:p>
            <a:r>
              <a:t>Point to each picture and say the word. Learners repeat once. ★ = the most important words. Each click shows the next word.</a:t>
            </a:r>
          </a:p>
          <a:p>
            <a:r>
              <a:t>Show the hard words: utility bill (the bill for electricity, gas, or water); electricity; thermostat (it controls the heat); save energy (use less); unplug (take the plug out); charger; outlet (point to one in the room); fan; deadbolt (a strong lock); peephole (a small hole in the door to look out); fire extinguisher; usage (how much you use).</a:t>
            </a:r>
          </a:p>
          <a:p>
            <a:r>
              <a:t>If behind: teach the ★ words only.</a:t>
            </a:r>
          </a:p>
          <a:p>
            <a:r>
              <a:t>Lesson plan: Step 2; Key vocabulary; New Words page.</a:t>
            </a:r>
          </a:p>
          <a:p>
            <a:r>
              <a:t>Pictures: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learners as they arrive.</a:t>
            </a:r>
          </a:p>
          <a:p>
            <a:r>
              <a:t>Point to the title and read it: "Turn It Off" Say: "Saving energy and keeping a home safe: reading a utility bill, simple ways to use less electricity and water, locking up, and knowing where the fire extinguisher is. Learners give and follow home tips with separable phrasal verbs and it / them. The bill, the company, and the program are invented."</a:t>
            </a:r>
          </a:p>
          <a:p>
            <a:r>
              <a:t>Read the three lines under "Today you will".</a:t>
            </a:r>
          </a:p>
          <a:p>
            <a:r>
              <a:t>Safety stays simple and calm: practical tips only, no fire stories. Point to where the classroom fire extinguisher is.</a:t>
            </a:r>
          </a:p>
          <a:p>
            <a:r>
              <a:t>Lesson plan: Topic; At a glance: Objectives; Teacher notes.</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each goal slowly. Learners repeat.</a:t>
            </a:r>
          </a:p>
          <a:p>
            <a:r>
              <a:t>Lesson plan: At a glance: Objectives.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1 · 6:00–6:08 · Opening Talk + Homework Check · 8 min. Pairs (7 pairs + 1 trio with 15 learners; 3–4 pairs with 7–8).</a:t>
            </a:r>
          </a:p>
          <a:p>
            <a:r>
              <a:t>Before class, write on the board: opinions; agree / disagree politely; as … as</a:t>
            </a:r>
          </a:p>
          <a:p>
            <a:r>
              <a:t>Model with one learner: you say, "What do you think about homework for kids?" The learner gives an opinion and a reason. Then you disagree politely: "I see your point, but…" Help them answer with 3 sentences. (Click to show the follow-up.)</a:t>
            </a:r>
          </a:p>
          <a:p>
            <a:r>
              <a:t>Opening Talk (5 min): learners open the Opening Talk page. A asks a card question; B answers in 3 sentences (the answer, a reason, a detail); A asks one follow-up. Switch after each card. The cards are on the next slide.</a:t>
            </a:r>
          </a:p>
          <a:p>
            <a:r>
              <a:t>If behind: one card only.</a:t>
            </a:r>
          </a:p>
          <a:p>
            <a:r>
              <a:t>Lesson plan: Step 1; Opening Talk page.</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1, continued. The four cards from the Opening Talk page. Each click shows the next card.</a:t>
            </a:r>
          </a:p>
          <a:p>
            <a:r>
              <a:t>A asks a card question. B answers in 3 sentences. A asks one follow-up question (follow-ups on the right). Then switch.</a:t>
            </a:r>
          </a:p>
          <a:p>
            <a:r>
              <a:t>Homework Check (3 min, last click): Pairs compare Homework item 1 (as … as) and read their opinion and reasons (item 3) to each other. The partner agrees or disagrees politely. Then they fill in the box on the Opening Talk page. Walk around. Write 2 common errors on the board (often I am agree (→ I agree) and not as fast than (→ not as fast as)) and correct them together. Also put up 2 corrections from last week's exit tickets.</a:t>
            </a:r>
          </a:p>
          <a:p>
            <a:r>
              <a:t>Lesson plan: Step 1; Opening Talk page: cards, follow-ups; Homework check.</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title: "Goodbye! See you next week!" Learners repeat.</a:t>
            </a:r>
          </a:p>
          <a:p>
            <a:r>
              <a:t>Read the three "Now you can" lines.</a:t>
            </a:r>
          </a:p>
          <a:p>
            <a:r>
              <a:t>Lesson plan: At a glance: Objectives; Step 7.</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13.pn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14.png"/><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8" Type="http://schemas.openxmlformats.org/officeDocument/2006/relationships/image" Target="../media/image13.png"/><Relationship Id="rId9" Type="http://schemas.openxmlformats.org/officeDocument/2006/relationships/image" Target="../media/image14.png"/><Relationship Id="rId10" Type="http://schemas.openxmlformats.org/officeDocument/2006/relationships/image" Target="../media/image15.png"/><Relationship Id="rId11" Type="http://schemas.openxmlformats.org/officeDocument/2006/relationships/image" Target="../media/image16.png"/><Relationship Id="rId12" Type="http://schemas.openxmlformats.org/officeDocument/2006/relationships/image" Target="../media/image17.png"/><Relationship Id="rId13" Type="http://schemas.openxmlformats.org/officeDocument/2006/relationships/image" Target="../media/image18.png"/><Relationship Id="rId14" Type="http://schemas.openxmlformats.org/officeDocument/2006/relationships/notesSlide" Target="../notesSlides/notesSlide25.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8" Type="http://schemas.openxmlformats.org/officeDocument/2006/relationships/image" Target="../media/image19.png"/><Relationship Id="rId9" Type="http://schemas.openxmlformats.org/officeDocument/2006/relationships/image" Target="../media/image20.png"/><Relationship Id="rId10" Type="http://schemas.openxmlformats.org/officeDocument/2006/relationships/image" Target="../media/image21.png"/><Relationship Id="rId11" Type="http://schemas.openxmlformats.org/officeDocument/2006/relationships/image" Target="../media/image22.png"/><Relationship Id="rId12" Type="http://schemas.openxmlformats.org/officeDocument/2006/relationships/image" Target="../media/image23.png"/><Relationship Id="rId13" Type="http://schemas.openxmlformats.org/officeDocument/2006/relationships/image" Target="../media/image24.png"/><Relationship Id="rId14" Type="http://schemas.openxmlformats.org/officeDocument/2006/relationships/notesSlide" Target="../notesSlides/notesSlide2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5" Type="http://schemas.openxmlformats.org/officeDocument/2006/relationships/image" Target="../media/image18.png"/><Relationship Id="rId6" Type="http://schemas.openxmlformats.org/officeDocument/2006/relationships/image" Target="../media/image21.png"/><Relationship Id="rId7" Type="http://schemas.openxmlformats.org/officeDocument/2006/relationships/image" Target="../media/image15.png"/><Relationship Id="rId8" Type="http://schemas.openxmlformats.org/officeDocument/2006/relationships/notesSlide" Target="../notesSlides/notesSlide2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18.png"/><Relationship Id="rId4" Type="http://schemas.openxmlformats.org/officeDocument/2006/relationships/notesSlide" Target="../notesSlides/notesSlide2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19.png"/><Relationship Id="rId4" Type="http://schemas.openxmlformats.org/officeDocument/2006/relationships/notesSlide" Target="../notesSlides/notesSlide15.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20.png"/><Relationship Id="rId4" Type="http://schemas.openxmlformats.org/officeDocument/2006/relationships/notesSlide" Target="../notesSlides/notesSlide1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21.png"/><Relationship Id="rId4" Type="http://schemas.openxmlformats.org/officeDocument/2006/relationships/notesSlide" Target="../notesSlides/notesSlide1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22.png"/><Relationship Id="rId4" Type="http://schemas.openxmlformats.org/officeDocument/2006/relationships/notesSlide" Target="../notesSlides/notesSlide1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23.png"/><Relationship Id="rId4" Type="http://schemas.openxmlformats.org/officeDocument/2006/relationships/notesSlide" Target="../notesSlides/notesSlide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24.png"/><Relationship Id="rId4" Type="http://schemas.openxmlformats.org/officeDocument/2006/relationships/notesSlide" Target="../notesSlides/notesSlide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16.png"/><Relationship Id="rId4" Type="http://schemas.openxmlformats.org/officeDocument/2006/relationships/notesSlide" Target="../notesSlides/notesSlide5.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21.png"/><Relationship Id="rId4" Type="http://schemas.openxmlformats.org/officeDocument/2006/relationships/notesSlide" Target="../notesSlides/notesSlide4.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16.png"/><Relationship Id="rId4" Type="http://schemas.openxmlformats.org/officeDocument/2006/relationships/notesSlide" Target="../notesSlides/notesSlide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17.png"/><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slide27.xml><?xml version="1.0" encoding="utf-8"?>
<p:sld xmlns:a="http://schemas.openxmlformats.org/drawingml/2006/main" xmlns:p="http://schemas.openxmlformats.org/presentationml/2006/main" xmlns:r="http://schemas.openxmlformats.org/officeDocument/2006/relationships">
  <p:cSld name="L4:title">
    <p:bg>
      <p:bgPr>
        <a:solidFill>
          <a:srgbClr val="F1F5FB"/>
        </a:solidFill>
      </p:bgPr>
    </p:bg>
    <p:spTree>
      <p:nvGrpSpPr>
        <p:cNvPr id="1" name=""/>
        <p:cNvGrpSpPr/>
        <p:nvPr/>
      </p:nvGrpSpPr>
      <p:grpSpPr/>
      <p:sp>
        <p:nvSpPr>
          <p:cNvPr id="2" name="Shape 0"/>
          <p:cNvSpPr/>
          <p:nvPr/>
        </p:nvSpPr>
        <p:spPr>
          <a:xfrm>
            <a:off x="7223760" y="914400"/>
            <a:ext cx="4480560" cy="5120640"/>
          </a:xfrm>
          <a:prstGeom prst="round1Rect">
            <a:avLst>
              <a:gd name="adj" fmla="val 23087"/>
            </a:avLst>
          </a:prstGeom>
          <a:solidFill>
            <a:srgbClr val="B9D2F7"/>
          </a:solidFill>
          <a:ln/>
        </p:spPr>
        <p:txBody>
          <a:bodyPr/>
          <a:p/>
        </p:txBody>
      </p:sp>
      <p:pic>
        <p:nvPicPr>
          <p:cNvPr id="4" name="pic" descr="Utility bill: a receipt and a lightning bolt [sign: AMOUNT DUE]">    </p:cNvPr>
          <p:cNvPicPr>
            <a:picLocks noChangeAspect="1"/>
          </p:cNvPicPr>
          <p:nvPr/>
        </p:nvPicPr>
        <p:blipFill>
          <a:blip r:embed="rId3"/>
          <a:stretch>
            <a:fillRect/>
          </a:stretch>
        </p:blipFill>
        <p:spPr>
          <a:xfrm>
            <a:off x="7726680" y="1664208"/>
            <a:ext cx="3474720" cy="2432304"/>
          </a:xfrm>
          <a:prstGeom prst="rect">
            <a:avLst/>
          </a:prstGeom>
        </p:spPr>
      </p:pic>
      <p:sp>
        <p:nvSpPr>
          <p:cNvPr id="5" name="lesson"/>
          <p:cNvSpPr/>
          <p:nvPr/>
        </p:nvSpPr>
        <p:spPr>
          <a:xfrm>
            <a:off x="7635240" y="4434840"/>
            <a:ext cx="3657600" cy="548640"/>
          </a:xfrm>
          <a:prstGeom prst="rect">
            <a:avLst/>
          </a:prstGeom>
          <a:noFill/>
          <a:ln/>
        </p:spPr>
        <p:txBody>
          <a:bodyPr wrap="square" rtlCol="0" anchor="ctr"/>
          <a:lstStyle/>
          <a:p>
            <a:pPr algn="ctr" indent="0" marL="0">
              <a:buNone/>
            </a:pPr>
            <a:r>
              <a:rPr lang="en-US" sz="2200" b="1" dirty="0">
                <a:solidFill>
                  <a:srgbClr val="1B2236"/>
                </a:solidFill>
                <a:latin typeface="Lexend Deca" pitchFamily="34" charset="0"/>
                <a:ea typeface="Lexend Deca" pitchFamily="34" charset="-122"/>
                <a:cs typeface="Lexend Deca" pitchFamily="34" charset="-120"/>
              </a:rPr>
              <a:t>Lesson 10  ·  Level 4</a:t>
            </a:r>
            <a:endParaRPr lang="en-US" sz="2200" b="1" dirty="0"/>
          </a:p>
        </p:txBody>
      </p:sp>
      <p:sp>
        <p:nvSpPr>
          <p:cNvPr id="6" name="Shape 3"/>
          <p:cNvSpPr/>
          <p:nvPr/>
        </p:nvSpPr>
        <p:spPr>
          <a:xfrm>
            <a:off x="661111" y="1146658"/>
            <a:ext cx="6035040" cy="2468880"/>
          </a:xfrm>
          <a:prstGeom prst="roundRect">
            <a:avLst>
              <a:gd name="adj" fmla="val 16667"/>
            </a:avLst>
          </a:prstGeom>
          <a:solidFill>
            <a:srgbClr val="8FAFE3"/>
          </a:solidFill>
          <a:ln/>
        </p:spPr>
        <p:txBody>
          <a:bodyPr/>
          <a:p/>
        </p:txBody>
      </p:sp>
      <p:sp>
        <p:nvSpPr>
          <p:cNvPr id="7" name="Shape 4"/>
          <p:cNvSpPr/>
          <p:nvPr/>
        </p:nvSpPr>
        <p:spPr>
          <a:xfrm>
            <a:off x="685800" y="1097280"/>
            <a:ext cx="6035040" cy="2468880"/>
          </a:xfrm>
          <a:prstGeom prst="roundRect">
            <a:avLst>
              <a:gd name="adj" fmla="val 16667"/>
            </a:avLst>
          </a:prstGeom>
          <a:solidFill>
            <a:srgbClr val="FFFFFF"/>
          </a:solidFill>
          <a:ln/>
        </p:spPr>
        <p:txBody>
          <a:bodyPr/>
          <a:p/>
        </p:txBody>
      </p:sp>
      <p:sp>
        <p:nvSpPr>
          <p:cNvPr id="8" name="title"/>
          <p:cNvSpPr/>
          <p:nvPr/>
        </p:nvSpPr>
        <p:spPr>
          <a:xfrm>
            <a:off x="868680" y="1325880"/>
            <a:ext cx="5806440" cy="2011680"/>
          </a:xfrm>
          <a:prstGeom prst="rect">
            <a:avLst/>
          </a:prstGeom>
          <a:noFill/>
          <a:ln/>
        </p:spPr>
        <p:txBody>
          <a:bodyPr wrap="square" rtlCol="0" anchor="ctr"/>
          <a:lstStyle/>
          <a:p>
            <a:pPr algn="l" indent="0" marL="0">
              <a:lnSpc>
                <a:spcPct val="90000"/>
              </a:lnSpc>
              <a:buNone/>
            </a:pPr>
            <a:r>
              <a:rPr lang="en-US" sz="4400" b="1" dirty="0">
                <a:solidFill>
                  <a:srgbClr val="1B2236"/>
                </a:solidFill>
                <a:latin typeface="Lexend Deca" pitchFamily="34" charset="0"/>
                <a:ea typeface="Lexend Deca" pitchFamily="34" charset="-122"/>
                <a:cs typeface="Lexend Deca" pitchFamily="34" charset="-120"/>
              </a:rPr>
              <a:t>Turn It Off</a:t>
            </a:r>
            <a:endParaRPr lang="en-US" sz="4400" b="1" dirty="0"/>
          </a:p>
        </p:txBody>
      </p:sp>
      <p:sp>
        <p:nvSpPr>
          <p:cNvPr id="9" name="lead"/>
          <p:cNvSpPr/>
          <p:nvPr/>
        </p:nvSpPr>
        <p:spPr>
          <a:xfrm>
            <a:off x="777240" y="3977640"/>
            <a:ext cx="5852160" cy="502920"/>
          </a:xfrm>
          <a:prstGeom prst="rect">
            <a:avLst/>
          </a:prstGeom>
          <a:noFill/>
          <a:ln/>
        </p:spPr>
        <p:txBody>
          <a:bodyPr wrap="square" rtlCol="0" anchor="t"/>
          <a:lstStyle/>
          <a:p>
            <a:pPr algn="l" indent="0" marL="0">
              <a:buNone/>
            </a:pPr>
            <a:r>
              <a:rPr lang="en-US" sz="2400" b="1" dirty="0">
                <a:solidFill>
                  <a:srgbClr val="1B2236"/>
                </a:solidFill>
                <a:latin typeface="Lexend Deca" pitchFamily="34" charset="0"/>
                <a:ea typeface="Lexend Deca" pitchFamily="34" charset="-122"/>
                <a:cs typeface="Lexend Deca" pitchFamily="34" charset="-120"/>
              </a:rPr>
              <a:t>Today you will:</a:t>
            </a:r>
            <a:endParaRPr lang="en-US" sz="2400" b="1" dirty="0"/>
          </a:p>
        </p:txBody>
      </p:sp>
      <p:sp>
        <p:nvSpPr>
          <p:cNvPr id="10" name="bullets"/>
          <p:cNvSpPr/>
          <p:nvPr/>
        </p:nvSpPr>
        <p:spPr>
          <a:xfrm>
            <a:off x="777240" y="4480560"/>
            <a:ext cx="6035040" cy="1737360"/>
          </a:xfrm>
          <a:prstGeom prst="rect">
            <a:avLst/>
          </a:prstGeom>
          <a:noFill/>
          <a:ln/>
        </p:spPr>
        <p:txBody>
          <a:bodyPr wrap="square" rtlCol="0" anchor="t"/>
          <a:lstStyle/>
          <a:p>
            <a:pPr algn="l" indent="0" marL="0">
              <a:lnSpc>
                <a:spcPct val="115000"/>
              </a:lnSpc>
              <a:buNone/>
            </a:pPr>
            <a:r>
              <a:rPr lang="en-US" sz="2200" dirty="0">
                <a:solidFill>
                  <a:srgbClr val="1B2236"/>
                </a:solidFill>
                <a:latin typeface="Lexend Deca" pitchFamily="34" charset="0"/>
                <a:ea typeface="Lexend Deca" pitchFamily="34" charset="-122"/>
                <a:cs typeface="Lexend Deca" pitchFamily="34" charset="-120"/>
              </a:rPr>
              <a:t>•  Use phrasal verbs: turn off, put away…</a:t>
            </a:r>
            <a:endParaRPr lang="en-US" sz="2200" dirty="0"/>
          </a:p>
          <a:p>
            <a:pPr algn="l" indent="0" marL="0">
              <a:lnSpc>
                <a:spcPct val="115000"/>
              </a:lnSpc>
              <a:buNone/>
            </a:pPr>
            <a:r>
              <a:rPr lang="en-US" sz="2200" dirty="0">
                <a:solidFill>
                  <a:srgbClr val="1B2236"/>
                </a:solidFill>
                <a:latin typeface="Lexend Deca" pitchFamily="34" charset="0"/>
                <a:ea typeface="Lexend Deca" pitchFamily="34" charset="-122"/>
                <a:cs typeface="Lexend Deca" pitchFamily="34" charset="-120"/>
              </a:rPr>
              <a:t>•  Put it / them in the right place</a:t>
            </a:r>
            <a:endParaRPr lang="en-US" sz="2200" dirty="0"/>
          </a:p>
          <a:p>
            <a:pPr algn="l" indent="0" marL="0">
              <a:lnSpc>
                <a:spcPct val="115000"/>
              </a:lnSpc>
              <a:buNone/>
            </a:pPr>
            <a:r>
              <a:rPr lang="en-US" sz="2200" dirty="0">
                <a:solidFill>
                  <a:srgbClr val="1B2236"/>
                </a:solidFill>
                <a:latin typeface="Lexend Deca" pitchFamily="34" charset="0"/>
                <a:ea typeface="Lexend Deca" pitchFamily="34" charset="-122"/>
                <a:cs typeface="Lexend Deca" pitchFamily="34" charset="-120"/>
              </a:rPr>
              <a:t>•  Give tips to save energy and stay safe</a:t>
            </a:r>
            <a:endParaRPr lang="en-US" sz="2200" dirty="0"/>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name="L4:goals">
    <p:bg>
      <p:bgPr>
        <a:solidFill>
          <a:srgbClr val="F1F5FB"/>
        </a:solidFill>
      </p:bgPr>
    </p:bg>
    <p:spTree>
      <p:nvGrpSpPr>
        <p:cNvPr id="1" name=""/>
        <p:cNvGrpSpPr/>
        <p:nvPr/>
      </p:nvGrpSpPr>
      <p:grpSpPr/>
      <p:sp>
        <p:nvSpPr>
          <p:cNvPr id="29" name="title"/>
          <p:cNvSpPr/>
          <p:nvPr/>
        </p:nvSpPr>
        <p:spPr>
          <a:xfrm>
            <a:off x="7634326" y="1783080"/>
            <a:ext cx="4229100" cy="1600200"/>
          </a:xfrm>
          <a:prstGeom prst="rect">
            <a:avLst/>
          </a:prstGeom>
          <a:noFill/>
          <a:ln/>
        </p:spPr>
        <p:txBody>
          <a:bodyPr wrap="square" rtlCol="0" anchor="b"/>
          <a:lstStyle/>
          <a:p>
            <a:pPr algn="l" indent="0" marL="0">
              <a:buNone/>
            </a:pPr>
            <a:r>
              <a:rPr lang="en-US" sz="4000" dirty="0" b="1">
                <a:solidFill>
                  <a:srgbClr val="1B2236"/>
                </a:solidFill>
                <a:latin typeface="Lexend Deca" pitchFamily="34" charset="0"/>
                <a:ea typeface="Lexend Deca" pitchFamily="34" charset="-122"/>
                <a:cs typeface="Lexend Deca" pitchFamily="34" charset="-120"/>
              </a:rPr>
              <a:t>Today's</a:t>
            </a:r>
            <a:endParaRPr lang="en-US" sz="4000" dirty="0" b="1"/>
          </a:p>
          <a:p>
            <a:pPr algn="l" indent="0" marL="0">
              <a:buNone/>
            </a:pPr>
            <a:r>
              <a:rPr lang="en-US" sz="4000" dirty="0" b="1">
                <a:solidFill>
                  <a:srgbClr val="1B2236"/>
                </a:solidFill>
                <a:latin typeface="Lexend Deca" pitchFamily="34" charset="0"/>
                <a:ea typeface="Lexend Deca" pitchFamily="34" charset="-122"/>
                <a:cs typeface="Lexend Deca" pitchFamily="34" charset="-120"/>
              </a:rPr>
              <a:t>Goals</a:t>
            </a:r>
            <a:endParaRPr lang="en-US" sz="4000" dirty="0" b="1"/>
          </a:p>
        </p:txBody>
      </p:sp>
      <p:sp>
        <p:nvSpPr>
          <p:cNvPr id="30" name="side"/>
          <p:cNvSpPr/>
          <p:nvPr/>
        </p:nvSpPr>
        <p:spPr>
          <a:xfrm>
            <a:off x="7751369" y="3611880"/>
            <a:ext cx="3931920" cy="2377440"/>
          </a:xfrm>
          <a:prstGeom prst="rect">
            <a:avLst/>
          </a:prstGeom>
          <a:noFill/>
          <a:ln/>
        </p:spPr>
        <p:txBody>
          <a:bodyPr wrap="square" lIns="0" tIns="0" rIns="0" bIns="0" rtlCol="0" anchor="t"/>
          <a:lstStyle/>
          <a:p>
            <a:pPr algn="l" indent="0" marL="0">
              <a:lnSpc>
                <a:spcPct val="120000"/>
              </a:lnSpc>
              <a:spcAft>
                <a:spcPts val="1400"/>
              </a:spcAft>
              <a:buNone/>
            </a:pPr>
            <a:r>
              <a:rPr lang="en-US" sz="2000" dirty="0">
                <a:solidFill>
                  <a:srgbClr val="1B2236"/>
                </a:solidFill>
                <a:latin typeface="Lexend Deca" pitchFamily="34" charset="0"/>
                <a:ea typeface="Lexend Deca" pitchFamily="34" charset="-122"/>
                <a:cs typeface="Lexend Deca" pitchFamily="34" charset="-120"/>
              </a:rPr>
              <a:t>By the end of class, you can do these five things.</a:t>
            </a:r>
            <a:endParaRPr lang="en-US" sz="2000" dirty="0"/>
          </a:p>
          <a:p>
            <a:pPr algn="l" indent="0" marL="0">
              <a:lnSpc>
                <a:spcPct val="120000"/>
              </a:lnSpc>
              <a:spcAft>
                <a:spcPts val="1400"/>
              </a:spcAft>
              <a:buNone/>
            </a:pPr>
            <a:r>
              <a:rPr lang="en-US" sz="2000" dirty="0" b="1">
                <a:solidFill>
                  <a:srgbClr val="1B2236"/>
                </a:solidFill>
                <a:latin typeface="Lexend Deca" pitchFamily="34" charset="0"/>
                <a:ea typeface="Lexend Deca" pitchFamily="34" charset="-122"/>
                <a:cs typeface="Lexend Deca" pitchFamily="34" charset="-120"/>
              </a:rPr>
              <a:t>Every goal is a good goal.</a:t>
            </a:r>
            <a:endParaRPr lang="en-US" sz="2000" dirty="0" b="1"/>
          </a:p>
        </p:txBody>
      </p:sp>
      <p:sp>
        <p:nvSpPr>
          <p:cNvPr id="31" name="R1 shadow"/>
          <p:cNvSpPr/>
          <p:nvPr/>
        </p:nvSpPr>
        <p:spPr>
          <a:xfrm>
            <a:off x="544982" y="2093062"/>
            <a:ext cx="6227064" cy="678668"/>
          </a:xfrm>
          <a:prstGeom prst="round1Rect">
            <a:avLst>
              <a:gd name="adj" fmla="val 23087"/>
            </a:avLst>
          </a:prstGeom>
          <a:solidFill>
            <a:srgbClr val="8FAFE3"/>
          </a:solidFill>
          <a:ln/>
        </p:spPr>
        <p:txBody>
          <a:bodyPr/>
          <a:p/>
        </p:txBody>
      </p:sp>
      <p:sp>
        <p:nvSpPr>
          <p:cNvPr id="32" name="R1 card"/>
          <p:cNvSpPr/>
          <p:nvPr/>
        </p:nvSpPr>
        <p:spPr>
          <a:xfrm>
            <a:off x="1583741" y="2035454"/>
            <a:ext cx="5130698" cy="678668"/>
          </a:xfrm>
          <a:prstGeom prst="round1Rect">
            <a:avLst>
              <a:gd name="adj" fmla="val 23087"/>
            </a:avLst>
          </a:prstGeom>
          <a:solidFill>
            <a:srgbClr val="FFFFFF"/>
          </a:solidFill>
          <a:ln/>
        </p:spPr>
        <p:txBody>
          <a:bodyPr/>
          <a:p/>
        </p:txBody>
      </p:sp>
      <p:sp>
        <p:nvSpPr>
          <p:cNvPr id="33" name="R1 chip"/>
          <p:cNvSpPr/>
          <p:nvPr/>
        </p:nvSpPr>
        <p:spPr>
          <a:xfrm>
            <a:off x="544982" y="2035454"/>
            <a:ext cx="1039673" cy="678668"/>
          </a:xfrm>
          <a:prstGeom prst="rect">
            <a:avLst/>
          </a:prstGeom>
          <a:solidFill>
            <a:srgbClr val="B9D2F7"/>
          </a:solidFill>
          <a:ln/>
        </p:spPr>
        <p:txBody>
          <a:bodyPr/>
          <a:p/>
        </p:txBody>
      </p:sp>
      <p:sp>
        <p:nvSpPr>
          <p:cNvPr id="34" name="R1 num"/>
          <p:cNvSpPr/>
          <p:nvPr/>
        </p:nvSpPr>
        <p:spPr>
          <a:xfrm>
            <a:off x="686714" y="2051548"/>
            <a:ext cx="1109167" cy="646481"/>
          </a:xfrm>
          <a:prstGeom prst="rect">
            <a:avLst/>
          </a:prstGeom>
          <a:noFill/>
          <a:ln/>
        </p:spPr>
        <p:txBody>
          <a:bodyPr wrap="square" rtlCol="0" anchor="t"/>
          <a:lstStyle/>
          <a:p>
            <a:pPr algn="l" indent="0" marL="0">
              <a:buNone/>
            </a:pPr>
            <a:r>
              <a:rPr lang="en-US" sz="3600" b="1" dirty="0">
                <a:solidFill>
                  <a:srgbClr val="1B2236"/>
                </a:solidFill>
                <a:latin typeface="Lexend Deca" pitchFamily="34" charset="0"/>
                <a:ea typeface="Lexend Deca" pitchFamily="34" charset="-122"/>
                <a:cs typeface="Lexend Deca" pitchFamily="34" charset="-120"/>
              </a:rPr>
              <a:t>01</a:t>
            </a:r>
            <a:endParaRPr lang="en-US" sz="3600" b="1" dirty="0"/>
          </a:p>
        </p:txBody>
      </p:sp>
      <p:sp>
        <p:nvSpPr>
          <p:cNvPr id="35" name="R1 text"/>
          <p:cNvSpPr/>
          <p:nvPr/>
        </p:nvSpPr>
        <p:spPr>
          <a:xfrm>
            <a:off x="1810512" y="2035454"/>
            <a:ext cx="4434840" cy="678668"/>
          </a:xfrm>
          <a:prstGeom prst="rect">
            <a:avLst/>
          </a:prstGeom>
          <a:noFill/>
          <a:ln/>
        </p:spPr>
        <p:txBody>
          <a:bodyPr wrap="square" rtlCol="0" anchor="ctr"/>
          <a:lstStyle/>
          <a:p>
            <a:pPr algn="l" indent="0" marL="0">
              <a:buNone/>
            </a:pPr>
            <a:r>
              <a:rPr lang="en-US" sz="1500" dirty="0">
                <a:solidFill>
                  <a:srgbClr val="1B2236"/>
                </a:solidFill>
                <a:latin typeface="Lexend Deca" pitchFamily="34" charset="0"/>
                <a:ea typeface="Lexend Deca" pitchFamily="34" charset="-122"/>
                <a:cs typeface="Lexend Deca" pitchFamily="34" charset="-120"/>
              </a:rPr>
              <a:t>I can use phrasal verbs: </a:t>
            </a:r>
            <a:r>
              <a:rPr lang="en-US" sz="1500" dirty="0" b="1">
                <a:solidFill>
                  <a:srgbClr val="5B3FC4"/>
                </a:solidFill>
                <a:latin typeface="Lexend Deca" pitchFamily="34" charset="0"/>
                <a:ea typeface="Lexend Deca" pitchFamily="34" charset="-122"/>
                <a:cs typeface="Lexend Deca" pitchFamily="34" charset="-120"/>
              </a:rPr>
              <a:t>turn off, turn down, turn up, put on, put away, take out, throw away, shut off</a:t>
            </a:r>
            <a:r>
              <a:rPr lang="en-US" sz="1500" dirty="0">
                <a:solidFill>
                  <a:srgbClr val="1B2236"/>
                </a:solidFill>
                <a:latin typeface="Lexend Deca" pitchFamily="34" charset="0"/>
                <a:ea typeface="Lexend Deca" pitchFamily="34" charset="-122"/>
                <a:cs typeface="Lexend Deca" pitchFamily="34" charset="-120"/>
              </a:rPr>
              <a:t>.</a:t>
            </a:r>
            <a:endParaRPr lang="en-US" sz="1500" dirty="0"/>
          </a:p>
        </p:txBody>
      </p:sp>
      <p:sp>
        <p:nvSpPr>
          <p:cNvPr id="36" name="R1 dot"/>
          <p:cNvSpPr/>
          <p:nvPr/>
        </p:nvSpPr>
        <p:spPr>
          <a:xfrm rot="10800000">
            <a:off x="6361481" y="2168957"/>
            <a:ext cx="88697" cy="76810"/>
          </a:xfrm>
          <a:prstGeom prst="triangle">
            <a:avLst/>
          </a:prstGeom>
          <a:solidFill>
            <a:srgbClr val="8FAFE3"/>
          </a:solidFill>
          <a:ln/>
        </p:spPr>
        <p:txBody>
          <a:bodyPr/>
          <a:p/>
        </p:txBody>
      </p:sp>
      <p:sp>
        <p:nvSpPr>
          <p:cNvPr id="37" name="R2 card"/>
          <p:cNvSpPr/>
          <p:nvPr/>
        </p:nvSpPr>
        <p:spPr>
          <a:xfrm>
            <a:off x="1583741" y="2822936"/>
            <a:ext cx="5130698" cy="678668"/>
          </a:xfrm>
          <a:prstGeom prst="round1Rect">
            <a:avLst>
              <a:gd name="adj" fmla="val 23087"/>
            </a:avLst>
          </a:prstGeom>
          <a:solidFill>
            <a:srgbClr val="FFFFFF"/>
          </a:solidFill>
          <a:ln/>
        </p:spPr>
        <p:txBody>
          <a:bodyPr/>
          <a:p/>
        </p:txBody>
      </p:sp>
      <p:sp>
        <p:nvSpPr>
          <p:cNvPr id="38" name="R2 chip"/>
          <p:cNvSpPr/>
          <p:nvPr/>
        </p:nvSpPr>
        <p:spPr>
          <a:xfrm>
            <a:off x="544982" y="2822936"/>
            <a:ext cx="1039673" cy="678668"/>
          </a:xfrm>
          <a:prstGeom prst="rect">
            <a:avLst/>
          </a:prstGeom>
          <a:solidFill>
            <a:srgbClr val="B9D2F7"/>
          </a:solidFill>
          <a:ln/>
        </p:spPr>
        <p:txBody>
          <a:bodyPr/>
          <a:p/>
        </p:txBody>
      </p:sp>
      <p:sp>
        <p:nvSpPr>
          <p:cNvPr id="39" name="R2 num"/>
          <p:cNvSpPr/>
          <p:nvPr/>
        </p:nvSpPr>
        <p:spPr>
          <a:xfrm>
            <a:off x="686714" y="2839029"/>
            <a:ext cx="1109167" cy="646481"/>
          </a:xfrm>
          <a:prstGeom prst="rect">
            <a:avLst/>
          </a:prstGeom>
          <a:noFill/>
          <a:ln/>
        </p:spPr>
        <p:txBody>
          <a:bodyPr wrap="square" rtlCol="0" anchor="t"/>
          <a:lstStyle/>
          <a:p>
            <a:pPr algn="l" indent="0" marL="0">
              <a:buNone/>
            </a:pPr>
            <a:r>
              <a:rPr lang="en-US" sz="3200" b="1" dirty="0">
                <a:solidFill>
                  <a:srgbClr val="1B2236"/>
                </a:solidFill>
                <a:latin typeface="Lexend Deca" pitchFamily="34" charset="0"/>
                <a:ea typeface="Lexend Deca" pitchFamily="34" charset="-122"/>
                <a:cs typeface="Lexend Deca" pitchFamily="34" charset="-120"/>
              </a:rPr>
              <a:t>02</a:t>
            </a:r>
            <a:endParaRPr lang="en-US" sz="3200" b="1" dirty="0"/>
          </a:p>
        </p:txBody>
      </p:sp>
      <p:sp>
        <p:nvSpPr>
          <p:cNvPr id="40" name="R2 text"/>
          <p:cNvSpPr/>
          <p:nvPr/>
        </p:nvSpPr>
        <p:spPr>
          <a:xfrm>
            <a:off x="1810512" y="2822936"/>
            <a:ext cx="4434840" cy="678668"/>
          </a:xfrm>
          <a:prstGeom prst="rect">
            <a:avLst/>
          </a:prstGeom>
          <a:noFill/>
          <a:ln/>
        </p:spPr>
        <p:txBody>
          <a:bodyPr wrap="square" rtlCol="0" anchor="ctr"/>
          <a:lstStyle/>
          <a:p>
            <a:pPr algn="l" indent="0" marL="0">
              <a:buNone/>
            </a:pPr>
            <a:r>
              <a:rPr lang="en-US" sz="1500" dirty="0">
                <a:solidFill>
                  <a:srgbClr val="1B2236"/>
                </a:solidFill>
                <a:latin typeface="Lexend Deca" pitchFamily="34" charset="0"/>
                <a:ea typeface="Lexend Deca" pitchFamily="34" charset="-122"/>
                <a:cs typeface="Lexend Deca" pitchFamily="34" charset="-120"/>
              </a:rPr>
              <a:t>I can put </a:t>
            </a:r>
            <a:r>
              <a:rPr lang="en-US" sz="1500" dirty="0" b="1">
                <a:solidFill>
                  <a:srgbClr val="5B3FC4"/>
                </a:solidFill>
                <a:latin typeface="Lexend Deca" pitchFamily="34" charset="0"/>
                <a:ea typeface="Lexend Deca" pitchFamily="34" charset="-122"/>
                <a:cs typeface="Lexend Deca" pitchFamily="34" charset="-120"/>
              </a:rPr>
              <a:t>it / them</a:t>
            </a:r>
            <a:r>
              <a:rPr lang="en-US" sz="1500" dirty="0">
                <a:solidFill>
                  <a:srgbClr val="1B2236"/>
                </a:solidFill>
                <a:latin typeface="Lexend Deca" pitchFamily="34" charset="0"/>
                <a:ea typeface="Lexend Deca" pitchFamily="34" charset="-122"/>
                <a:cs typeface="Lexend Deca" pitchFamily="34" charset="-120"/>
              </a:rPr>
              <a:t> in the right place (</a:t>
            </a:r>
            <a:r>
              <a:rPr lang="en-US" sz="1500" dirty="0" b="1">
                <a:solidFill>
                  <a:srgbClr val="5B3FC4"/>
                </a:solidFill>
                <a:latin typeface="Lexend Deca" pitchFamily="34" charset="0"/>
                <a:ea typeface="Lexend Deca" pitchFamily="34" charset="-122"/>
                <a:cs typeface="Lexend Deca" pitchFamily="34" charset="-120"/>
              </a:rPr>
              <a:t>turn it off</a:t>
            </a:r>
            <a:r>
              <a:rPr lang="en-US" sz="1500" dirty="0">
                <a:solidFill>
                  <a:srgbClr val="1B2236"/>
                </a:solidFill>
                <a:latin typeface="Lexend Deca" pitchFamily="34" charset="0"/>
                <a:ea typeface="Lexend Deca" pitchFamily="34" charset="-122"/>
                <a:cs typeface="Lexend Deca" pitchFamily="34" charset="-120"/>
              </a:rPr>
              <a:t>, not </a:t>
            </a:r>
            <a:r>
              <a:rPr lang="en-US" sz="1500" dirty="0" b="1">
                <a:solidFill>
                  <a:srgbClr val="5B3FC4"/>
                </a:solidFill>
                <a:latin typeface="Lexend Deca" pitchFamily="34" charset="0"/>
                <a:ea typeface="Lexend Deca" pitchFamily="34" charset="-122"/>
                <a:cs typeface="Lexend Deca" pitchFamily="34" charset="-120"/>
              </a:rPr>
              <a:t>turn off it</a:t>
            </a:r>
            <a:r>
              <a:rPr lang="en-US" sz="1500" dirty="0">
                <a:solidFill>
                  <a:srgbClr val="1B2236"/>
                </a:solidFill>
                <a:latin typeface="Lexend Deca" pitchFamily="34" charset="0"/>
                <a:ea typeface="Lexend Deca" pitchFamily="34" charset="-122"/>
                <a:cs typeface="Lexend Deca" pitchFamily="34" charset="-120"/>
              </a:rPr>
              <a:t>).</a:t>
            </a:r>
            <a:endParaRPr lang="en-US" sz="1500" dirty="0"/>
          </a:p>
        </p:txBody>
      </p:sp>
      <p:sp>
        <p:nvSpPr>
          <p:cNvPr id="41" name="R2 dot"/>
          <p:cNvSpPr/>
          <p:nvPr/>
        </p:nvSpPr>
        <p:spPr>
          <a:xfrm rot="10800000">
            <a:off x="6361481" y="2956438"/>
            <a:ext cx="88697" cy="76810"/>
          </a:xfrm>
          <a:prstGeom prst="triangle">
            <a:avLst/>
          </a:prstGeom>
          <a:solidFill>
            <a:srgbClr val="8FAFE3"/>
          </a:solidFill>
          <a:ln/>
        </p:spPr>
        <p:txBody>
          <a:bodyPr/>
          <a:p/>
        </p:txBody>
      </p:sp>
      <p:sp>
        <p:nvSpPr>
          <p:cNvPr id="42" name="R3 card"/>
          <p:cNvSpPr/>
          <p:nvPr/>
        </p:nvSpPr>
        <p:spPr>
          <a:xfrm>
            <a:off x="1583741" y="3610417"/>
            <a:ext cx="5130698" cy="678668"/>
          </a:xfrm>
          <a:prstGeom prst="round1Rect">
            <a:avLst>
              <a:gd name="adj" fmla="val 23087"/>
            </a:avLst>
          </a:prstGeom>
          <a:solidFill>
            <a:srgbClr val="FFFFFF"/>
          </a:solidFill>
          <a:ln/>
        </p:spPr>
        <p:txBody>
          <a:bodyPr/>
          <a:p/>
        </p:txBody>
      </p:sp>
      <p:sp>
        <p:nvSpPr>
          <p:cNvPr id="43" name="R3 chip"/>
          <p:cNvSpPr/>
          <p:nvPr/>
        </p:nvSpPr>
        <p:spPr>
          <a:xfrm>
            <a:off x="544982" y="3610417"/>
            <a:ext cx="1039673" cy="678668"/>
          </a:xfrm>
          <a:prstGeom prst="rect">
            <a:avLst/>
          </a:prstGeom>
          <a:solidFill>
            <a:srgbClr val="B9D2F7"/>
          </a:solidFill>
          <a:ln/>
        </p:spPr>
        <p:txBody>
          <a:bodyPr/>
          <a:p/>
        </p:txBody>
      </p:sp>
      <p:sp>
        <p:nvSpPr>
          <p:cNvPr id="44" name="R3 num"/>
          <p:cNvSpPr/>
          <p:nvPr/>
        </p:nvSpPr>
        <p:spPr>
          <a:xfrm>
            <a:off x="686714" y="3626510"/>
            <a:ext cx="1109167" cy="646481"/>
          </a:xfrm>
          <a:prstGeom prst="rect">
            <a:avLst/>
          </a:prstGeom>
          <a:noFill/>
          <a:ln/>
        </p:spPr>
        <p:txBody>
          <a:bodyPr wrap="square" rtlCol="0" anchor="t"/>
          <a:lstStyle/>
          <a:p>
            <a:pPr algn="l" indent="0" marL="0">
              <a:buNone/>
            </a:pPr>
            <a:r>
              <a:rPr lang="en-US" sz="3200" b="1" dirty="0">
                <a:solidFill>
                  <a:srgbClr val="1B2236"/>
                </a:solidFill>
                <a:latin typeface="Lexend Deca" pitchFamily="34" charset="0"/>
                <a:ea typeface="Lexend Deca" pitchFamily="34" charset="-122"/>
                <a:cs typeface="Lexend Deca" pitchFamily="34" charset="-120"/>
              </a:rPr>
              <a:t>03</a:t>
            </a:r>
            <a:endParaRPr lang="en-US" sz="3200" b="1" dirty="0"/>
          </a:p>
        </p:txBody>
      </p:sp>
      <p:sp>
        <p:nvSpPr>
          <p:cNvPr id="45" name="R3 text"/>
          <p:cNvSpPr/>
          <p:nvPr/>
        </p:nvSpPr>
        <p:spPr>
          <a:xfrm>
            <a:off x="1810512" y="3610417"/>
            <a:ext cx="4434840" cy="678668"/>
          </a:xfrm>
          <a:prstGeom prst="rect">
            <a:avLst/>
          </a:prstGeom>
          <a:noFill/>
          <a:ln/>
        </p:spPr>
        <p:txBody>
          <a:bodyPr wrap="square" rtlCol="0" anchor="ctr"/>
          <a:lstStyle/>
          <a:p>
            <a:pPr algn="l" indent="0" marL="0">
              <a:buNone/>
            </a:pPr>
            <a:r>
              <a:rPr lang="en-US" sz="1500" dirty="0">
                <a:solidFill>
                  <a:srgbClr val="1B2236"/>
                </a:solidFill>
                <a:latin typeface="Lexend Deca" pitchFamily="34" charset="0"/>
                <a:ea typeface="Lexend Deca" pitchFamily="34" charset="-122"/>
                <a:cs typeface="Lexend Deca" pitchFamily="34" charset="-120"/>
              </a:rPr>
              <a:t>I can give tips to save energy and stay safe at home (</a:t>
            </a:r>
            <a:r>
              <a:rPr lang="en-US" sz="1500" dirty="0" b="1">
                <a:solidFill>
                  <a:srgbClr val="5B3FC4"/>
                </a:solidFill>
                <a:latin typeface="Lexend Deca" pitchFamily="34" charset="0"/>
                <a:ea typeface="Lexend Deca" pitchFamily="34" charset="-122"/>
                <a:cs typeface="Lexend Deca" pitchFamily="34" charset="-120"/>
              </a:rPr>
              <a:t>Make sure you… / Don't forget to…</a:t>
            </a:r>
            <a:r>
              <a:rPr lang="en-US" sz="1500" dirty="0">
                <a:solidFill>
                  <a:srgbClr val="1B2236"/>
                </a:solidFill>
                <a:latin typeface="Lexend Deca" pitchFamily="34" charset="0"/>
                <a:ea typeface="Lexend Deca" pitchFamily="34" charset="-122"/>
                <a:cs typeface="Lexend Deca" pitchFamily="34" charset="-120"/>
              </a:rPr>
              <a:t>).</a:t>
            </a:r>
            <a:endParaRPr lang="en-US" sz="1500" dirty="0"/>
          </a:p>
        </p:txBody>
      </p:sp>
      <p:sp>
        <p:nvSpPr>
          <p:cNvPr id="46" name="R3 dot"/>
          <p:cNvSpPr/>
          <p:nvPr/>
        </p:nvSpPr>
        <p:spPr>
          <a:xfrm rot="10800000">
            <a:off x="6361481" y="3743919"/>
            <a:ext cx="88697" cy="76810"/>
          </a:xfrm>
          <a:prstGeom prst="triangle">
            <a:avLst/>
          </a:prstGeom>
          <a:solidFill>
            <a:srgbClr val="8FAFE3"/>
          </a:solidFill>
          <a:ln/>
        </p:spPr>
        <p:txBody>
          <a:bodyPr/>
          <a:p/>
        </p:txBody>
      </p:sp>
      <p:sp>
        <p:nvSpPr>
          <p:cNvPr id="47" name="R4 card"/>
          <p:cNvSpPr/>
          <p:nvPr/>
        </p:nvSpPr>
        <p:spPr>
          <a:xfrm>
            <a:off x="1583741" y="4397898"/>
            <a:ext cx="5130698" cy="678668"/>
          </a:xfrm>
          <a:prstGeom prst="round1Rect">
            <a:avLst>
              <a:gd name="adj" fmla="val 23087"/>
            </a:avLst>
          </a:prstGeom>
          <a:solidFill>
            <a:srgbClr val="FFFFFF"/>
          </a:solidFill>
          <a:ln/>
        </p:spPr>
        <p:txBody>
          <a:bodyPr/>
          <a:p/>
        </p:txBody>
      </p:sp>
      <p:sp>
        <p:nvSpPr>
          <p:cNvPr id="48" name="R4 chip"/>
          <p:cNvSpPr/>
          <p:nvPr/>
        </p:nvSpPr>
        <p:spPr>
          <a:xfrm>
            <a:off x="544982" y="4397898"/>
            <a:ext cx="1039673" cy="678668"/>
          </a:xfrm>
          <a:prstGeom prst="rect">
            <a:avLst/>
          </a:prstGeom>
          <a:solidFill>
            <a:srgbClr val="B9D2F7"/>
          </a:solidFill>
          <a:ln/>
        </p:spPr>
        <p:txBody>
          <a:bodyPr/>
          <a:p/>
        </p:txBody>
      </p:sp>
      <p:sp>
        <p:nvSpPr>
          <p:cNvPr id="49" name="R4 num"/>
          <p:cNvSpPr/>
          <p:nvPr/>
        </p:nvSpPr>
        <p:spPr>
          <a:xfrm>
            <a:off x="686714" y="4413992"/>
            <a:ext cx="1109167" cy="646481"/>
          </a:xfrm>
          <a:prstGeom prst="rect">
            <a:avLst/>
          </a:prstGeom>
          <a:noFill/>
          <a:ln/>
        </p:spPr>
        <p:txBody>
          <a:bodyPr wrap="square" rtlCol="0" anchor="t"/>
          <a:lstStyle/>
          <a:p>
            <a:pPr algn="l" indent="0" marL="0">
              <a:buNone/>
            </a:pPr>
            <a:r>
              <a:rPr lang="en-US" sz="3200" b="1" dirty="0">
                <a:solidFill>
                  <a:srgbClr val="1B2236"/>
                </a:solidFill>
                <a:latin typeface="Lexend Deca" pitchFamily="34" charset="0"/>
                <a:ea typeface="Lexend Deca" pitchFamily="34" charset="-122"/>
                <a:cs typeface="Lexend Deca" pitchFamily="34" charset="-120"/>
              </a:rPr>
              <a:t>04</a:t>
            </a:r>
            <a:endParaRPr lang="en-US" sz="3200" b="1" dirty="0"/>
          </a:p>
        </p:txBody>
      </p:sp>
      <p:sp>
        <p:nvSpPr>
          <p:cNvPr id="50" name="R4 text"/>
          <p:cNvSpPr/>
          <p:nvPr/>
        </p:nvSpPr>
        <p:spPr>
          <a:xfrm>
            <a:off x="1810512" y="4397898"/>
            <a:ext cx="4434840" cy="678668"/>
          </a:xfrm>
          <a:prstGeom prst="rect">
            <a:avLst/>
          </a:prstGeom>
          <a:noFill/>
          <a:ln/>
        </p:spPr>
        <p:txBody>
          <a:bodyPr wrap="square" rtlCol="0" anchor="ctr"/>
          <a:lstStyle/>
          <a:p>
            <a:pPr algn="l" indent="0" marL="0">
              <a:buNone/>
            </a:pPr>
            <a:r>
              <a:rPr lang="en-US" sz="1500" dirty="0">
                <a:solidFill>
                  <a:srgbClr val="1B2236"/>
                </a:solidFill>
                <a:latin typeface="Lexend Deca" pitchFamily="34" charset="0"/>
                <a:ea typeface="Lexend Deca" pitchFamily="34" charset="-122"/>
                <a:cs typeface="Lexend Deca" pitchFamily="34" charset="-120"/>
              </a:rPr>
              <a:t>I can read the main parts of a utility bill (amount due, due date, usage).</a:t>
            </a:r>
            <a:endParaRPr lang="en-US" sz="1500" dirty="0"/>
          </a:p>
        </p:txBody>
      </p:sp>
      <p:sp>
        <p:nvSpPr>
          <p:cNvPr id="51" name="R4 dot"/>
          <p:cNvSpPr/>
          <p:nvPr/>
        </p:nvSpPr>
        <p:spPr>
          <a:xfrm rot="10800000">
            <a:off x="6361481" y="4531401"/>
            <a:ext cx="88697" cy="76810"/>
          </a:xfrm>
          <a:prstGeom prst="triangle">
            <a:avLst/>
          </a:prstGeom>
          <a:solidFill>
            <a:srgbClr val="8FAFE3"/>
          </a:solidFill>
          <a:ln/>
        </p:spPr>
        <p:txBody>
          <a:bodyPr/>
          <a:p/>
        </p:txBody>
      </p:sp>
      <p:sp>
        <p:nvSpPr>
          <p:cNvPr id="52" name="R5 card"/>
          <p:cNvSpPr/>
          <p:nvPr/>
        </p:nvSpPr>
        <p:spPr>
          <a:xfrm>
            <a:off x="1583741" y="5185380"/>
            <a:ext cx="5130698" cy="678668"/>
          </a:xfrm>
          <a:prstGeom prst="round1Rect">
            <a:avLst>
              <a:gd name="adj" fmla="val 23087"/>
            </a:avLst>
          </a:prstGeom>
          <a:solidFill>
            <a:srgbClr val="FFFFFF"/>
          </a:solidFill>
          <a:ln/>
        </p:spPr>
        <p:txBody>
          <a:bodyPr/>
          <a:p/>
        </p:txBody>
      </p:sp>
      <p:sp>
        <p:nvSpPr>
          <p:cNvPr id="53" name="R5 chip"/>
          <p:cNvSpPr/>
          <p:nvPr/>
        </p:nvSpPr>
        <p:spPr>
          <a:xfrm>
            <a:off x="544982" y="5185380"/>
            <a:ext cx="1039673" cy="678668"/>
          </a:xfrm>
          <a:prstGeom prst="rect">
            <a:avLst/>
          </a:prstGeom>
          <a:solidFill>
            <a:srgbClr val="B9D2F7"/>
          </a:solidFill>
          <a:ln/>
        </p:spPr>
        <p:txBody>
          <a:bodyPr/>
          <a:p/>
        </p:txBody>
      </p:sp>
      <p:sp>
        <p:nvSpPr>
          <p:cNvPr id="54" name="R5 num"/>
          <p:cNvSpPr/>
          <p:nvPr/>
        </p:nvSpPr>
        <p:spPr>
          <a:xfrm>
            <a:off x="686714" y="5201473"/>
            <a:ext cx="1109167" cy="646481"/>
          </a:xfrm>
          <a:prstGeom prst="rect">
            <a:avLst/>
          </a:prstGeom>
          <a:noFill/>
          <a:ln/>
        </p:spPr>
        <p:txBody>
          <a:bodyPr wrap="square" rtlCol="0" anchor="t"/>
          <a:lstStyle/>
          <a:p>
            <a:pPr algn="l" indent="0" marL="0">
              <a:buNone/>
            </a:pPr>
            <a:r>
              <a:rPr lang="en-US" sz="3200" b="1" dirty="0">
                <a:solidFill>
                  <a:srgbClr val="1B2236"/>
                </a:solidFill>
                <a:latin typeface="Lexend Deca" pitchFamily="34" charset="0"/>
                <a:ea typeface="Lexend Deca" pitchFamily="34" charset="-122"/>
                <a:cs typeface="Lexend Deca" pitchFamily="34" charset="-120"/>
              </a:rPr>
              <a:t>05</a:t>
            </a:r>
            <a:endParaRPr lang="en-US" sz="3200" b="1" dirty="0"/>
          </a:p>
        </p:txBody>
      </p:sp>
      <p:sp>
        <p:nvSpPr>
          <p:cNvPr id="55" name="R5 text"/>
          <p:cNvSpPr/>
          <p:nvPr/>
        </p:nvSpPr>
        <p:spPr>
          <a:xfrm>
            <a:off x="1810512" y="5185380"/>
            <a:ext cx="4434840" cy="678668"/>
          </a:xfrm>
          <a:prstGeom prst="rect">
            <a:avLst/>
          </a:prstGeom>
          <a:noFill/>
          <a:ln/>
        </p:spPr>
        <p:txBody>
          <a:bodyPr wrap="square" rtlCol="0" anchor="ctr"/>
          <a:lstStyle/>
          <a:p>
            <a:pPr algn="l" indent="0" marL="0">
              <a:buNone/>
            </a:pPr>
            <a:r>
              <a:rPr lang="en-US" sz="1500" dirty="0">
                <a:solidFill>
                  <a:srgbClr val="1B2236"/>
                </a:solidFill>
                <a:latin typeface="Lexend Deca" pitchFamily="34" charset="0"/>
                <a:ea typeface="Lexend Deca" pitchFamily="34" charset="-122"/>
                <a:cs typeface="Lexend Deca" pitchFamily="34" charset="-120"/>
              </a:rPr>
              <a:t>I can write an email (5–8 sentences) to a roommate or family member about changes at home.</a:t>
            </a:r>
            <a:endParaRPr lang="en-US" sz="1500" dirty="0"/>
          </a:p>
        </p:txBody>
      </p:sp>
      <p:sp>
        <p:nvSpPr>
          <p:cNvPr id="56" name="R5 dot"/>
          <p:cNvSpPr/>
          <p:nvPr/>
        </p:nvSpPr>
        <p:spPr>
          <a:xfrm rot="10800000">
            <a:off x="6361481" y="5318882"/>
            <a:ext cx="88697" cy="76810"/>
          </a:xfrm>
          <a:prstGeom prst="triangle">
            <a:avLst/>
          </a:prstGeom>
          <a:solidFill>
            <a:srgbClr val="8FAFE3"/>
          </a:solidFill>
          <a:ln/>
        </p:spPr>
        <p:txBody>
          <a:body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1"/>
                                        </p:tgtEl>
                                        <p:attrNameLst>
                                          <p:attrName>style.visibility</p:attrName>
                                        </p:attrNameLst>
                                      </p:cBhvr>
                                      <p:to>
                                        <p:strVal val="visible"/>
                                      </p:to>
                                    </p:set>
                                    <p:animEffect transition="in" filter="fade">
                                      <p:cBhvr>
                                        <p:cTn id="7" dur="400"/>
                                        <p:tgtEl>
                                          <p:spTgt spid="31"/>
                                        </p:tgtEl>
                                      </p:cBhvr>
                                    </p:animEffect>
                                  </p:childTnLst>
                                </p:cTn>
                              </p:par>
                              <p:par>
                                <p:cTn id="8" presetID="10" presetClass="entr" presetSubtype="0" fill="hold" nodeType="withEffect">
                                  <p:stCondLst>
                                    <p:cond delay="0"/>
                                  </p:stCondLst>
                                  <p:childTnLst>
                                    <p:set>
                                      <p:cBhvr>
                                        <p:cTn id="9" dur="1" fill="hold">
                                          <p:stCondLst>
                                            <p:cond delay="0"/>
                                          </p:stCondLst>
                                        </p:cTn>
                                        <p:tgtEl>
                                          <p:spTgt spid="32"/>
                                        </p:tgtEl>
                                        <p:attrNameLst>
                                          <p:attrName>style.visibility</p:attrName>
                                        </p:attrNameLst>
                                      </p:cBhvr>
                                      <p:to>
                                        <p:strVal val="visible"/>
                                      </p:to>
                                    </p:set>
                                    <p:animEffect transition="in" filter="fade">
                                      <p:cBhvr>
                                        <p:cTn id="10" dur="400"/>
                                        <p:tgtEl>
                                          <p:spTgt spid="32"/>
                                        </p:tgtEl>
                                      </p:cBhvr>
                                    </p:animEffect>
                                  </p:childTnLst>
                                </p:cTn>
                              </p:par>
                              <p:par>
                                <p:cTn id="11" presetID="10" presetClass="entr" presetSubtype="0" fill="hold" nodeType="withEffect">
                                  <p:stCondLst>
                                    <p:cond delay="0"/>
                                  </p:stCondLst>
                                  <p:childTnLst>
                                    <p:set>
                                      <p:cBhvr>
                                        <p:cTn id="12" dur="1" fill="hold">
                                          <p:stCondLst>
                                            <p:cond delay="0"/>
                                          </p:stCondLst>
                                        </p:cTn>
                                        <p:tgtEl>
                                          <p:spTgt spid="33"/>
                                        </p:tgtEl>
                                        <p:attrNameLst>
                                          <p:attrName>style.visibility</p:attrName>
                                        </p:attrNameLst>
                                      </p:cBhvr>
                                      <p:to>
                                        <p:strVal val="visible"/>
                                      </p:to>
                                    </p:set>
                                    <p:animEffect transition="in" filter="fade">
                                      <p:cBhvr>
                                        <p:cTn id="13" dur="400"/>
                                        <p:tgtEl>
                                          <p:spTgt spid="33"/>
                                        </p:tgtEl>
                                      </p:cBhvr>
                                    </p:animEffect>
                                  </p:childTnLst>
                                </p:cTn>
                              </p:par>
                              <p:par>
                                <p:cTn id="14" presetID="10" presetClass="entr" presetSubtype="0" fill="hold" nodeType="withEffect">
                                  <p:stCondLst>
                                    <p:cond delay="0"/>
                                  </p:stCondLst>
                                  <p:childTnLst>
                                    <p:set>
                                      <p:cBhvr>
                                        <p:cTn id="15" dur="1" fill="hold">
                                          <p:stCondLst>
                                            <p:cond delay="0"/>
                                          </p:stCondLst>
                                        </p:cTn>
                                        <p:tgtEl>
                                          <p:spTgt spid="34"/>
                                        </p:tgtEl>
                                        <p:attrNameLst>
                                          <p:attrName>style.visibility</p:attrName>
                                        </p:attrNameLst>
                                      </p:cBhvr>
                                      <p:to>
                                        <p:strVal val="visible"/>
                                      </p:to>
                                    </p:set>
                                    <p:animEffect transition="in" filter="fade">
                                      <p:cBhvr>
                                        <p:cTn id="16" dur="400"/>
                                        <p:tgtEl>
                                          <p:spTgt spid="34"/>
                                        </p:tgtEl>
                                      </p:cBhvr>
                                    </p:animEffect>
                                  </p:childTnLst>
                                </p:cTn>
                              </p:par>
                              <p:par>
                                <p:cTn id="17" presetID="10" presetClass="entr" presetSubtype="0" fill="hold" nodeType="withEffect">
                                  <p:stCondLst>
                                    <p:cond delay="0"/>
                                  </p:stCondLst>
                                  <p:childTnLst>
                                    <p:set>
                                      <p:cBhvr>
                                        <p:cTn id="18" dur="1" fill="hold">
                                          <p:stCondLst>
                                            <p:cond delay="0"/>
                                          </p:stCondLst>
                                        </p:cTn>
                                        <p:tgtEl>
                                          <p:spTgt spid="35"/>
                                        </p:tgtEl>
                                        <p:attrNameLst>
                                          <p:attrName>style.visibility</p:attrName>
                                        </p:attrNameLst>
                                      </p:cBhvr>
                                      <p:to>
                                        <p:strVal val="visible"/>
                                      </p:to>
                                    </p:set>
                                    <p:animEffect transition="in" filter="fade">
                                      <p:cBhvr>
                                        <p:cTn id="19" dur="400"/>
                                        <p:tgtEl>
                                          <p:spTgt spid="35"/>
                                        </p:tgtEl>
                                      </p:cBhvr>
                                    </p:animEffect>
                                  </p:childTnLst>
                                </p:cTn>
                              </p:par>
                              <p:par>
                                <p:cTn id="20" presetID="10" presetClass="entr" presetSubtype="0" fill="hold" nodeType="withEffect">
                                  <p:stCondLst>
                                    <p:cond delay="0"/>
                                  </p:stCondLst>
                                  <p:childTnLst>
                                    <p:set>
                                      <p:cBhvr>
                                        <p:cTn id="21" dur="1" fill="hold">
                                          <p:stCondLst>
                                            <p:cond delay="0"/>
                                          </p:stCondLst>
                                        </p:cTn>
                                        <p:tgtEl>
                                          <p:spTgt spid="36"/>
                                        </p:tgtEl>
                                        <p:attrNameLst>
                                          <p:attrName>style.visibility</p:attrName>
                                        </p:attrNameLst>
                                      </p:cBhvr>
                                      <p:to>
                                        <p:strVal val="visible"/>
                                      </p:to>
                                    </p:set>
                                    <p:animEffect transition="in" filter="fade">
                                      <p:cBhvr>
                                        <p:cTn id="22" dur="400"/>
                                        <p:tgtEl>
                                          <p:spTgt spid="3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7"/>
                                        </p:tgtEl>
                                        <p:attrNameLst>
                                          <p:attrName>style.visibility</p:attrName>
                                        </p:attrNameLst>
                                      </p:cBhvr>
                                      <p:to>
                                        <p:strVal val="visible"/>
                                      </p:to>
                                    </p:set>
                                    <p:animEffect transition="in" filter="fade">
                                      <p:cBhvr>
                                        <p:cTn id="27" dur="400"/>
                                        <p:tgtEl>
                                          <p:spTgt spid="37"/>
                                        </p:tgtEl>
                                      </p:cBhvr>
                                    </p:animEffect>
                                  </p:childTnLst>
                                </p:cTn>
                              </p:par>
                              <p:par>
                                <p:cTn id="28" presetID="10" presetClass="entr" presetSubtype="0" fill="hold" nodeType="withEffect">
                                  <p:stCondLst>
                                    <p:cond delay="0"/>
                                  </p:stCondLst>
                                  <p:childTnLst>
                                    <p:set>
                                      <p:cBhvr>
                                        <p:cTn id="29" dur="1" fill="hold">
                                          <p:stCondLst>
                                            <p:cond delay="0"/>
                                          </p:stCondLst>
                                        </p:cTn>
                                        <p:tgtEl>
                                          <p:spTgt spid="38"/>
                                        </p:tgtEl>
                                        <p:attrNameLst>
                                          <p:attrName>style.visibility</p:attrName>
                                        </p:attrNameLst>
                                      </p:cBhvr>
                                      <p:to>
                                        <p:strVal val="visible"/>
                                      </p:to>
                                    </p:set>
                                    <p:animEffect transition="in" filter="fade">
                                      <p:cBhvr>
                                        <p:cTn id="30" dur="400"/>
                                        <p:tgtEl>
                                          <p:spTgt spid="38"/>
                                        </p:tgtEl>
                                      </p:cBhvr>
                                    </p:animEffect>
                                  </p:childTnLst>
                                </p:cTn>
                              </p:par>
                              <p:par>
                                <p:cTn id="31" presetID="10" presetClass="entr" presetSubtype="0" fill="hold" nodeType="withEffect">
                                  <p:stCondLst>
                                    <p:cond delay="0"/>
                                  </p:stCondLst>
                                  <p:childTnLst>
                                    <p:set>
                                      <p:cBhvr>
                                        <p:cTn id="32" dur="1" fill="hold">
                                          <p:stCondLst>
                                            <p:cond delay="0"/>
                                          </p:stCondLst>
                                        </p:cTn>
                                        <p:tgtEl>
                                          <p:spTgt spid="39"/>
                                        </p:tgtEl>
                                        <p:attrNameLst>
                                          <p:attrName>style.visibility</p:attrName>
                                        </p:attrNameLst>
                                      </p:cBhvr>
                                      <p:to>
                                        <p:strVal val="visible"/>
                                      </p:to>
                                    </p:set>
                                    <p:animEffect transition="in" filter="fade">
                                      <p:cBhvr>
                                        <p:cTn id="33" dur="400"/>
                                        <p:tgtEl>
                                          <p:spTgt spid="39"/>
                                        </p:tgtEl>
                                      </p:cBhvr>
                                    </p:animEffect>
                                  </p:childTnLst>
                                </p:cTn>
                              </p:par>
                              <p:par>
                                <p:cTn id="34" presetID="10" presetClass="entr" presetSubtype="0" fill="hold" nodeType="withEffect">
                                  <p:stCondLst>
                                    <p:cond delay="0"/>
                                  </p:stCondLst>
                                  <p:childTnLst>
                                    <p:set>
                                      <p:cBhvr>
                                        <p:cTn id="35" dur="1" fill="hold">
                                          <p:stCondLst>
                                            <p:cond delay="0"/>
                                          </p:stCondLst>
                                        </p:cTn>
                                        <p:tgtEl>
                                          <p:spTgt spid="40"/>
                                        </p:tgtEl>
                                        <p:attrNameLst>
                                          <p:attrName>style.visibility</p:attrName>
                                        </p:attrNameLst>
                                      </p:cBhvr>
                                      <p:to>
                                        <p:strVal val="visible"/>
                                      </p:to>
                                    </p:set>
                                    <p:animEffect transition="in" filter="fade">
                                      <p:cBhvr>
                                        <p:cTn id="36" dur="400"/>
                                        <p:tgtEl>
                                          <p:spTgt spid="40"/>
                                        </p:tgtEl>
                                      </p:cBhvr>
                                    </p:animEffect>
                                  </p:childTnLst>
                                </p:cTn>
                              </p:par>
                              <p:par>
                                <p:cTn id="37" presetID="10" presetClass="entr" presetSubtype="0" fill="hold" nodeType="withEffect">
                                  <p:stCondLst>
                                    <p:cond delay="0"/>
                                  </p:stCondLst>
                                  <p:childTnLst>
                                    <p:set>
                                      <p:cBhvr>
                                        <p:cTn id="38" dur="1" fill="hold">
                                          <p:stCondLst>
                                            <p:cond delay="0"/>
                                          </p:stCondLst>
                                        </p:cTn>
                                        <p:tgtEl>
                                          <p:spTgt spid="41"/>
                                        </p:tgtEl>
                                        <p:attrNameLst>
                                          <p:attrName>style.visibility</p:attrName>
                                        </p:attrNameLst>
                                      </p:cBhvr>
                                      <p:to>
                                        <p:strVal val="visible"/>
                                      </p:to>
                                    </p:set>
                                    <p:animEffect transition="in" filter="fade">
                                      <p:cBhvr>
                                        <p:cTn id="39" dur="400"/>
                                        <p:tgtEl>
                                          <p:spTgt spid="41"/>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nodeType="clickEffect">
                                  <p:stCondLst>
                                    <p:cond delay="0"/>
                                  </p:stCondLst>
                                  <p:childTnLst>
                                    <p:set>
                                      <p:cBhvr>
                                        <p:cTn id="43" dur="1" fill="hold">
                                          <p:stCondLst>
                                            <p:cond delay="0"/>
                                          </p:stCondLst>
                                        </p:cTn>
                                        <p:tgtEl>
                                          <p:spTgt spid="42"/>
                                        </p:tgtEl>
                                        <p:attrNameLst>
                                          <p:attrName>style.visibility</p:attrName>
                                        </p:attrNameLst>
                                      </p:cBhvr>
                                      <p:to>
                                        <p:strVal val="visible"/>
                                      </p:to>
                                    </p:set>
                                    <p:animEffect transition="in" filter="fade">
                                      <p:cBhvr>
                                        <p:cTn id="44" dur="400"/>
                                        <p:tgtEl>
                                          <p:spTgt spid="42"/>
                                        </p:tgtEl>
                                      </p:cBhvr>
                                    </p:animEffect>
                                  </p:childTnLst>
                                </p:cTn>
                              </p:par>
                              <p:par>
                                <p:cTn id="45" presetID="10" presetClass="entr" presetSubtype="0" fill="hold" nodeType="withEffect">
                                  <p:stCondLst>
                                    <p:cond delay="0"/>
                                  </p:stCondLst>
                                  <p:childTnLst>
                                    <p:set>
                                      <p:cBhvr>
                                        <p:cTn id="46" dur="1" fill="hold">
                                          <p:stCondLst>
                                            <p:cond delay="0"/>
                                          </p:stCondLst>
                                        </p:cTn>
                                        <p:tgtEl>
                                          <p:spTgt spid="43"/>
                                        </p:tgtEl>
                                        <p:attrNameLst>
                                          <p:attrName>style.visibility</p:attrName>
                                        </p:attrNameLst>
                                      </p:cBhvr>
                                      <p:to>
                                        <p:strVal val="visible"/>
                                      </p:to>
                                    </p:set>
                                    <p:animEffect transition="in" filter="fade">
                                      <p:cBhvr>
                                        <p:cTn id="47" dur="400"/>
                                        <p:tgtEl>
                                          <p:spTgt spid="43"/>
                                        </p:tgtEl>
                                      </p:cBhvr>
                                    </p:animEffect>
                                  </p:childTnLst>
                                </p:cTn>
                              </p:par>
                              <p:par>
                                <p:cTn id="48" presetID="10" presetClass="entr" presetSubtype="0" fill="hold" nodeType="withEffect">
                                  <p:stCondLst>
                                    <p:cond delay="0"/>
                                  </p:stCondLst>
                                  <p:childTnLst>
                                    <p:set>
                                      <p:cBhvr>
                                        <p:cTn id="49" dur="1" fill="hold">
                                          <p:stCondLst>
                                            <p:cond delay="0"/>
                                          </p:stCondLst>
                                        </p:cTn>
                                        <p:tgtEl>
                                          <p:spTgt spid="44"/>
                                        </p:tgtEl>
                                        <p:attrNameLst>
                                          <p:attrName>style.visibility</p:attrName>
                                        </p:attrNameLst>
                                      </p:cBhvr>
                                      <p:to>
                                        <p:strVal val="visible"/>
                                      </p:to>
                                    </p:set>
                                    <p:animEffect transition="in" filter="fade">
                                      <p:cBhvr>
                                        <p:cTn id="50" dur="400"/>
                                        <p:tgtEl>
                                          <p:spTgt spid="44"/>
                                        </p:tgtEl>
                                      </p:cBhvr>
                                    </p:animEffect>
                                  </p:childTnLst>
                                </p:cTn>
                              </p:par>
                              <p:par>
                                <p:cTn id="51" presetID="10" presetClass="entr" presetSubtype="0" fill="hold" nodeType="withEffect">
                                  <p:stCondLst>
                                    <p:cond delay="0"/>
                                  </p:stCondLst>
                                  <p:childTnLst>
                                    <p:set>
                                      <p:cBhvr>
                                        <p:cTn id="52" dur="1" fill="hold">
                                          <p:stCondLst>
                                            <p:cond delay="0"/>
                                          </p:stCondLst>
                                        </p:cTn>
                                        <p:tgtEl>
                                          <p:spTgt spid="45"/>
                                        </p:tgtEl>
                                        <p:attrNameLst>
                                          <p:attrName>style.visibility</p:attrName>
                                        </p:attrNameLst>
                                      </p:cBhvr>
                                      <p:to>
                                        <p:strVal val="visible"/>
                                      </p:to>
                                    </p:set>
                                    <p:animEffect transition="in" filter="fade">
                                      <p:cBhvr>
                                        <p:cTn id="53" dur="400"/>
                                        <p:tgtEl>
                                          <p:spTgt spid="45"/>
                                        </p:tgtEl>
                                      </p:cBhvr>
                                    </p:animEffect>
                                  </p:childTnLst>
                                </p:cTn>
                              </p:par>
                              <p:par>
                                <p:cTn id="54" presetID="10" presetClass="entr" presetSubtype="0" fill="hold" nodeType="withEffect">
                                  <p:stCondLst>
                                    <p:cond delay="0"/>
                                  </p:stCondLst>
                                  <p:childTnLst>
                                    <p:set>
                                      <p:cBhvr>
                                        <p:cTn id="55" dur="1" fill="hold">
                                          <p:stCondLst>
                                            <p:cond delay="0"/>
                                          </p:stCondLst>
                                        </p:cTn>
                                        <p:tgtEl>
                                          <p:spTgt spid="46"/>
                                        </p:tgtEl>
                                        <p:attrNameLst>
                                          <p:attrName>style.visibility</p:attrName>
                                        </p:attrNameLst>
                                      </p:cBhvr>
                                      <p:to>
                                        <p:strVal val="visible"/>
                                      </p:to>
                                    </p:set>
                                    <p:animEffect transition="in" filter="fade">
                                      <p:cBhvr>
                                        <p:cTn id="56" dur="400"/>
                                        <p:tgtEl>
                                          <p:spTgt spid="46"/>
                                        </p:tgtEl>
                                      </p:cBhvr>
                                    </p:animEffect>
                                  </p:childTnLst>
                                </p:cTn>
                              </p:par>
                            </p:childTnLst>
                          </p:cTn>
                        </p:par>
                      </p:childTnLst>
                    </p:cTn>
                  </p:par>
                  <p:par>
                    <p:cTn id="57" fill="hold">
                      <p:stCondLst>
                        <p:cond delay="indefinite"/>
                      </p:stCondLst>
                      <p:childTnLst>
                        <p:par>
                          <p:cTn id="58" fill="hold">
                            <p:stCondLst>
                              <p:cond delay="0"/>
                            </p:stCondLst>
                            <p:childTnLst>
                              <p:par>
                                <p:cTn id="59" presetID="10" presetClass="entr" presetSubtype="0" fill="hold" nodeType="clickEffect">
                                  <p:stCondLst>
                                    <p:cond delay="0"/>
                                  </p:stCondLst>
                                  <p:childTnLst>
                                    <p:set>
                                      <p:cBhvr>
                                        <p:cTn id="60" dur="1" fill="hold">
                                          <p:stCondLst>
                                            <p:cond delay="0"/>
                                          </p:stCondLst>
                                        </p:cTn>
                                        <p:tgtEl>
                                          <p:spTgt spid="47"/>
                                        </p:tgtEl>
                                        <p:attrNameLst>
                                          <p:attrName>style.visibility</p:attrName>
                                        </p:attrNameLst>
                                      </p:cBhvr>
                                      <p:to>
                                        <p:strVal val="visible"/>
                                      </p:to>
                                    </p:set>
                                    <p:animEffect transition="in" filter="fade">
                                      <p:cBhvr>
                                        <p:cTn id="61" dur="400"/>
                                        <p:tgtEl>
                                          <p:spTgt spid="47"/>
                                        </p:tgtEl>
                                      </p:cBhvr>
                                    </p:animEffect>
                                  </p:childTnLst>
                                </p:cTn>
                              </p:par>
                              <p:par>
                                <p:cTn id="62" presetID="10" presetClass="entr" presetSubtype="0" fill="hold" nodeType="withEffect">
                                  <p:stCondLst>
                                    <p:cond delay="0"/>
                                  </p:stCondLst>
                                  <p:childTnLst>
                                    <p:set>
                                      <p:cBhvr>
                                        <p:cTn id="63" dur="1" fill="hold">
                                          <p:stCondLst>
                                            <p:cond delay="0"/>
                                          </p:stCondLst>
                                        </p:cTn>
                                        <p:tgtEl>
                                          <p:spTgt spid="48"/>
                                        </p:tgtEl>
                                        <p:attrNameLst>
                                          <p:attrName>style.visibility</p:attrName>
                                        </p:attrNameLst>
                                      </p:cBhvr>
                                      <p:to>
                                        <p:strVal val="visible"/>
                                      </p:to>
                                    </p:set>
                                    <p:animEffect transition="in" filter="fade">
                                      <p:cBhvr>
                                        <p:cTn id="64" dur="400"/>
                                        <p:tgtEl>
                                          <p:spTgt spid="48"/>
                                        </p:tgtEl>
                                      </p:cBhvr>
                                    </p:animEffect>
                                  </p:childTnLst>
                                </p:cTn>
                              </p:par>
                              <p:par>
                                <p:cTn id="65" presetID="10" presetClass="entr" presetSubtype="0" fill="hold" nodeType="withEffect">
                                  <p:stCondLst>
                                    <p:cond delay="0"/>
                                  </p:stCondLst>
                                  <p:childTnLst>
                                    <p:set>
                                      <p:cBhvr>
                                        <p:cTn id="66" dur="1" fill="hold">
                                          <p:stCondLst>
                                            <p:cond delay="0"/>
                                          </p:stCondLst>
                                        </p:cTn>
                                        <p:tgtEl>
                                          <p:spTgt spid="49"/>
                                        </p:tgtEl>
                                        <p:attrNameLst>
                                          <p:attrName>style.visibility</p:attrName>
                                        </p:attrNameLst>
                                      </p:cBhvr>
                                      <p:to>
                                        <p:strVal val="visible"/>
                                      </p:to>
                                    </p:set>
                                    <p:animEffect transition="in" filter="fade">
                                      <p:cBhvr>
                                        <p:cTn id="67" dur="400"/>
                                        <p:tgtEl>
                                          <p:spTgt spid="49"/>
                                        </p:tgtEl>
                                      </p:cBhvr>
                                    </p:animEffect>
                                  </p:childTnLst>
                                </p:cTn>
                              </p:par>
                              <p:par>
                                <p:cTn id="68" presetID="10" presetClass="entr" presetSubtype="0" fill="hold" nodeType="withEffect">
                                  <p:stCondLst>
                                    <p:cond delay="0"/>
                                  </p:stCondLst>
                                  <p:childTnLst>
                                    <p:set>
                                      <p:cBhvr>
                                        <p:cTn id="69" dur="1" fill="hold">
                                          <p:stCondLst>
                                            <p:cond delay="0"/>
                                          </p:stCondLst>
                                        </p:cTn>
                                        <p:tgtEl>
                                          <p:spTgt spid="50"/>
                                        </p:tgtEl>
                                        <p:attrNameLst>
                                          <p:attrName>style.visibility</p:attrName>
                                        </p:attrNameLst>
                                      </p:cBhvr>
                                      <p:to>
                                        <p:strVal val="visible"/>
                                      </p:to>
                                    </p:set>
                                    <p:animEffect transition="in" filter="fade">
                                      <p:cBhvr>
                                        <p:cTn id="70" dur="400"/>
                                        <p:tgtEl>
                                          <p:spTgt spid="50"/>
                                        </p:tgtEl>
                                      </p:cBhvr>
                                    </p:animEffect>
                                  </p:childTnLst>
                                </p:cTn>
                              </p:par>
                              <p:par>
                                <p:cTn id="71" presetID="10" presetClass="entr" presetSubtype="0" fill="hold" nodeType="withEffect">
                                  <p:stCondLst>
                                    <p:cond delay="0"/>
                                  </p:stCondLst>
                                  <p:childTnLst>
                                    <p:set>
                                      <p:cBhvr>
                                        <p:cTn id="72" dur="1" fill="hold">
                                          <p:stCondLst>
                                            <p:cond delay="0"/>
                                          </p:stCondLst>
                                        </p:cTn>
                                        <p:tgtEl>
                                          <p:spTgt spid="51"/>
                                        </p:tgtEl>
                                        <p:attrNameLst>
                                          <p:attrName>style.visibility</p:attrName>
                                        </p:attrNameLst>
                                      </p:cBhvr>
                                      <p:to>
                                        <p:strVal val="visible"/>
                                      </p:to>
                                    </p:set>
                                    <p:animEffect transition="in" filter="fade">
                                      <p:cBhvr>
                                        <p:cTn id="73" dur="400"/>
                                        <p:tgtEl>
                                          <p:spTgt spid="51"/>
                                        </p:tgtEl>
                                      </p:cBhvr>
                                    </p:animEffect>
                                  </p:childTnLst>
                                </p:cTn>
                              </p:par>
                            </p:childTnLst>
                          </p:cTn>
                        </p:par>
                      </p:childTnLst>
                    </p:cTn>
                  </p:par>
                  <p:par>
                    <p:cTn id="74" fill="hold">
                      <p:stCondLst>
                        <p:cond delay="indefinite"/>
                      </p:stCondLst>
                      <p:childTnLst>
                        <p:par>
                          <p:cTn id="75" fill="hold">
                            <p:stCondLst>
                              <p:cond delay="0"/>
                            </p:stCondLst>
                            <p:childTnLst>
                              <p:par>
                                <p:cTn id="76" presetID="10" presetClass="entr" presetSubtype="0" fill="hold" nodeType="clickEffect">
                                  <p:stCondLst>
                                    <p:cond delay="0"/>
                                  </p:stCondLst>
                                  <p:childTnLst>
                                    <p:set>
                                      <p:cBhvr>
                                        <p:cTn id="77" dur="1" fill="hold">
                                          <p:stCondLst>
                                            <p:cond delay="0"/>
                                          </p:stCondLst>
                                        </p:cTn>
                                        <p:tgtEl>
                                          <p:spTgt spid="52"/>
                                        </p:tgtEl>
                                        <p:attrNameLst>
                                          <p:attrName>style.visibility</p:attrName>
                                        </p:attrNameLst>
                                      </p:cBhvr>
                                      <p:to>
                                        <p:strVal val="visible"/>
                                      </p:to>
                                    </p:set>
                                    <p:animEffect transition="in" filter="fade">
                                      <p:cBhvr>
                                        <p:cTn id="78" dur="400"/>
                                        <p:tgtEl>
                                          <p:spTgt spid="52"/>
                                        </p:tgtEl>
                                      </p:cBhvr>
                                    </p:animEffect>
                                  </p:childTnLst>
                                </p:cTn>
                              </p:par>
                              <p:par>
                                <p:cTn id="79" presetID="10" presetClass="entr" presetSubtype="0" fill="hold" nodeType="withEffect">
                                  <p:stCondLst>
                                    <p:cond delay="0"/>
                                  </p:stCondLst>
                                  <p:childTnLst>
                                    <p:set>
                                      <p:cBhvr>
                                        <p:cTn id="80" dur="1" fill="hold">
                                          <p:stCondLst>
                                            <p:cond delay="0"/>
                                          </p:stCondLst>
                                        </p:cTn>
                                        <p:tgtEl>
                                          <p:spTgt spid="53"/>
                                        </p:tgtEl>
                                        <p:attrNameLst>
                                          <p:attrName>style.visibility</p:attrName>
                                        </p:attrNameLst>
                                      </p:cBhvr>
                                      <p:to>
                                        <p:strVal val="visible"/>
                                      </p:to>
                                    </p:set>
                                    <p:animEffect transition="in" filter="fade">
                                      <p:cBhvr>
                                        <p:cTn id="81" dur="400"/>
                                        <p:tgtEl>
                                          <p:spTgt spid="53"/>
                                        </p:tgtEl>
                                      </p:cBhvr>
                                    </p:animEffect>
                                  </p:childTnLst>
                                </p:cTn>
                              </p:par>
                              <p:par>
                                <p:cTn id="82" presetID="10" presetClass="entr" presetSubtype="0" fill="hold" nodeType="withEffect">
                                  <p:stCondLst>
                                    <p:cond delay="0"/>
                                  </p:stCondLst>
                                  <p:childTnLst>
                                    <p:set>
                                      <p:cBhvr>
                                        <p:cTn id="83" dur="1" fill="hold">
                                          <p:stCondLst>
                                            <p:cond delay="0"/>
                                          </p:stCondLst>
                                        </p:cTn>
                                        <p:tgtEl>
                                          <p:spTgt spid="54"/>
                                        </p:tgtEl>
                                        <p:attrNameLst>
                                          <p:attrName>style.visibility</p:attrName>
                                        </p:attrNameLst>
                                      </p:cBhvr>
                                      <p:to>
                                        <p:strVal val="visible"/>
                                      </p:to>
                                    </p:set>
                                    <p:animEffect transition="in" filter="fade">
                                      <p:cBhvr>
                                        <p:cTn id="84" dur="400"/>
                                        <p:tgtEl>
                                          <p:spTgt spid="54"/>
                                        </p:tgtEl>
                                      </p:cBhvr>
                                    </p:animEffect>
                                  </p:childTnLst>
                                </p:cTn>
                              </p:par>
                              <p:par>
                                <p:cTn id="85" presetID="10" presetClass="entr" presetSubtype="0" fill="hold" nodeType="withEffect">
                                  <p:stCondLst>
                                    <p:cond delay="0"/>
                                  </p:stCondLst>
                                  <p:childTnLst>
                                    <p:set>
                                      <p:cBhvr>
                                        <p:cTn id="86" dur="1" fill="hold">
                                          <p:stCondLst>
                                            <p:cond delay="0"/>
                                          </p:stCondLst>
                                        </p:cTn>
                                        <p:tgtEl>
                                          <p:spTgt spid="55"/>
                                        </p:tgtEl>
                                        <p:attrNameLst>
                                          <p:attrName>style.visibility</p:attrName>
                                        </p:attrNameLst>
                                      </p:cBhvr>
                                      <p:to>
                                        <p:strVal val="visible"/>
                                      </p:to>
                                    </p:set>
                                    <p:animEffect transition="in" filter="fade">
                                      <p:cBhvr>
                                        <p:cTn id="87" dur="400"/>
                                        <p:tgtEl>
                                          <p:spTgt spid="55"/>
                                        </p:tgtEl>
                                      </p:cBhvr>
                                    </p:animEffect>
                                  </p:childTnLst>
                                </p:cTn>
                              </p:par>
                              <p:par>
                                <p:cTn id="88" presetID="10" presetClass="entr" presetSubtype="0" fill="hold" nodeType="withEffect">
                                  <p:stCondLst>
                                    <p:cond delay="0"/>
                                  </p:stCondLst>
                                  <p:childTnLst>
                                    <p:set>
                                      <p:cBhvr>
                                        <p:cTn id="89" dur="1" fill="hold">
                                          <p:stCondLst>
                                            <p:cond delay="0"/>
                                          </p:stCondLst>
                                        </p:cTn>
                                        <p:tgtEl>
                                          <p:spTgt spid="56"/>
                                        </p:tgtEl>
                                        <p:attrNameLst>
                                          <p:attrName>style.visibility</p:attrName>
                                        </p:attrNameLst>
                                      </p:cBhvr>
                                      <p:to>
                                        <p:strVal val="visible"/>
                                      </p:to>
                                    </p:set>
                                    <p:animEffect transition="in" filter="fade">
                                      <p:cBhvr>
                                        <p:cTn id="90" dur="400"/>
                                        <p:tgtEl>
                                          <p:spTgt spid="5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p="http://schemas.openxmlformats.org/presentationml/2006/main" xmlns:r="http://schemas.openxmlformats.org/officeDocument/2006/relationships">
  <p:cSld name="L4:warmup">
    <p:bg>
      <p:bgPr>
        <a:solidFill>
          <a:srgbClr val="F1F5FB"/>
        </a:solidFill>
      </p:bgPr>
    </p:bg>
    <p:spTree>
      <p:nvGrpSpPr>
        <p:cNvPr id="1" name=""/>
        <p:cNvGrpSpPr/>
        <p:nvPr/>
      </p:nvGrpSpPr>
      <p:grpSpPr/>
      <p:sp>
        <p:nvSpPr>
          <p:cNvPr id="2" name="Shape 0"/>
          <p:cNvSpPr/>
          <p:nvPr/>
        </p:nvSpPr>
        <p:spPr>
          <a:xfrm>
            <a:off x="487604" y="1352535"/>
            <a:ext cx="5246827" cy="1783080"/>
          </a:xfrm>
          <a:prstGeom prst="roundRect">
            <a:avLst>
              <a:gd name="adj" fmla="val 16667"/>
            </a:avLst>
          </a:prstGeom>
          <a:solidFill>
            <a:srgbClr val="8FAFE3"/>
          </a:solidFill>
          <a:ln/>
        </p:spPr>
        <p:txBody>
          <a:bodyPr/>
          <a:p/>
        </p:txBody>
      </p:sp>
      <p:sp>
        <p:nvSpPr>
          <p:cNvPr id="3" name="Shape 1"/>
          <p:cNvSpPr/>
          <p:nvPr/>
        </p:nvSpPr>
        <p:spPr>
          <a:xfrm>
            <a:off x="518465" y="1300277"/>
            <a:ext cx="5246827" cy="1783080"/>
          </a:xfrm>
          <a:prstGeom prst="roundRect">
            <a:avLst>
              <a:gd name="adj" fmla="val 16667"/>
            </a:avLst>
          </a:prstGeom>
          <a:solidFill>
            <a:srgbClr val="FFFFFF"/>
          </a:solidFill>
          <a:ln/>
        </p:spPr>
        <p:txBody>
          <a:bodyPr/>
          <a:p/>
        </p:txBody>
      </p:sp>
      <p:sp>
        <p:nvSpPr>
          <p:cNvPr id="4" name="Shape 2"/>
          <p:cNvSpPr/>
          <p:nvPr/>
        </p:nvSpPr>
        <p:spPr>
          <a:xfrm flipH="1">
            <a:off x="5503774" y="3276295"/>
            <a:ext cx="6847942" cy="3931006"/>
          </a:xfrm>
          <a:prstGeom prst="round1Rect">
            <a:avLst>
              <a:gd name="adj" fmla="val 23087"/>
            </a:avLst>
          </a:prstGeom>
          <a:solidFill>
            <a:srgbClr val="B9D2F7"/>
          </a:solidFill>
          <a:ln w="76200">
            <a:solidFill>
              <a:srgbClr val="FFFFFF"/>
            </a:solidFill>
            <a:prstDash val="solid"/>
          </a:ln>
        </p:spPr>
        <p:txBody>
          <a:bodyPr/>
          <a:p/>
        </p:txBody>
      </p:sp>
      <p:pic>
        <p:nvPicPr>
          <p:cNvPr id="15" name="pic" descr="Electricity: a lightning bolt and a light bulb"/>
          <p:cNvPicPr>
            <a:picLocks noChangeAspect="1"/>
          </p:cNvPicPr>
          <p:nvPr/>
        </p:nvPicPr>
        <p:blipFill>
          <a:blip r:embed="rId3"/>
          <a:stretch>
            <a:fillRect/>
          </a:stretch>
        </p:blipFill>
        <p:spPr>
          <a:xfrm>
            <a:off x="6800393" y="2104034"/>
            <a:ext cx="4754880" cy="3328416"/>
          </a:xfrm>
          <a:prstGeom prst="rect">
            <a:avLst/>
          </a:prstGeom>
        </p:spPr>
      </p:pic>
      <p:sp>
        <p:nvSpPr>
          <p:cNvPr id="7" name="title"/>
          <p:cNvSpPr/>
          <p:nvPr/>
        </p:nvSpPr>
        <p:spPr>
          <a:xfrm>
            <a:off x="548640" y="1764792"/>
            <a:ext cx="5120640" cy="1234440"/>
          </a:xfrm>
          <a:prstGeom prst="rect">
            <a:avLst/>
          </a:prstGeom>
          <a:noFill/>
          <a:ln/>
        </p:spPr>
        <p:txBody>
          <a:bodyPr wrap="square" rtlCol="0" anchor="ctr"/>
          <a:lstStyle/>
          <a:p>
            <a:pPr algn="l" indent="0" marL="0">
              <a:buNone/>
            </a:pPr>
            <a:r>
              <a:rPr lang="en-US" sz="4000" dirty="0" b="1">
                <a:solidFill>
                  <a:srgbClr val="1B2236"/>
                </a:solidFill>
                <a:latin typeface="Lexend Deca" pitchFamily="34" charset="0"/>
                <a:ea typeface="Lexend Deca" pitchFamily="34" charset="-122"/>
                <a:cs typeface="Lexend Deca" pitchFamily="34" charset="-120"/>
              </a:rPr>
              <a:t>Opening Talk</a:t>
            </a:r>
            <a:endParaRPr lang="en-US" sz="4000" dirty="0" b="1"/>
          </a:p>
        </p:txBody>
      </p:sp>
      <p:sp>
        <p:nvSpPr>
          <p:cNvPr id="8" name="kicker"/>
          <p:cNvSpPr/>
          <p:nvPr/>
        </p:nvSpPr>
        <p:spPr>
          <a:xfrm>
            <a:off x="599846" y="1371600"/>
            <a:ext cx="4846320" cy="384048"/>
          </a:xfrm>
          <a:prstGeom prst="rect">
            <a:avLst/>
          </a:prstGeom>
          <a:noFill/>
          <a:ln/>
        </p:spPr>
        <p:txBody>
          <a:bodyPr wrap="square" rtlCol="0" anchor="t"/>
          <a:lstStyle/>
          <a:p>
            <a:pPr algn="l" indent="0" marL="0">
              <a:buNone/>
            </a:pPr>
            <a:r>
              <a:rPr lang="en-US" sz="2000" dirty="0" b="1">
                <a:solidFill>
                  <a:srgbClr val="1B2236"/>
                </a:solidFill>
                <a:latin typeface="Lexend Deca" pitchFamily="34" charset="0"/>
                <a:ea typeface="Lexend Deca" pitchFamily="34" charset="-122"/>
                <a:cs typeface="Lexend Deca" pitchFamily="34" charset="-120"/>
              </a:rPr>
              <a:t>OPENING TALK  ·  6:00</a:t>
            </a:r>
            <a:endParaRPr lang="en-US" sz="2000" dirty="0" b="1"/>
          </a:p>
        </p:txBody>
      </p:sp>
      <p:sp>
        <p:nvSpPr>
          <p:cNvPr id="9" name="box1"/>
          <p:cNvSpPr/>
          <p:nvPr/>
        </p:nvSpPr>
        <p:spPr>
          <a:xfrm>
            <a:off x="599846" y="3383280"/>
            <a:ext cx="4846320" cy="1188720"/>
          </a:xfrm>
          <a:prstGeom prst="rect">
            <a:avLst/>
          </a:prstGeom>
          <a:noFill/>
          <a:ln/>
        </p:spPr>
        <p:txBody>
          <a:bodyPr wrap="square" lIns="0" tIns="0" rIns="0" bIns="0" rtlCol="0" anchor="t"/>
          <a:lstStyle/>
          <a:p>
            <a:pPr algn="l" indent="0" marL="0">
              <a:lnSpc>
                <a:spcPct val="110000"/>
              </a:lnSpc>
              <a:buNone/>
            </a:pPr>
            <a:r>
              <a:rPr lang="en-US" sz="2000" dirty="0" b="1">
                <a:solidFill>
                  <a:srgbClr val="5B3FC4"/>
                </a:solidFill>
                <a:latin typeface="Lexend Deca" pitchFamily="34" charset="0"/>
                <a:ea typeface="Lexend Deca" pitchFamily="34" charset="-122"/>
                <a:cs typeface="Lexend Deca" pitchFamily="34" charset="-120"/>
              </a:rPr>
              <a:t>A asks a card question.</a:t>
            </a:r>
            <a:endParaRPr lang="en-US" sz="2000" dirty="0" b="1"/>
          </a:p>
          <a:p>
            <a:pPr algn="l" indent="0" marL="0">
              <a:lnSpc>
                <a:spcPct val="110000"/>
              </a:lnSpc>
              <a:buNone/>
            </a:pPr>
            <a:r>
              <a:rPr lang="en-US" sz="2000" dirty="0">
                <a:solidFill>
                  <a:srgbClr val="1B2236"/>
                </a:solidFill>
                <a:latin typeface="Lexend Deca" pitchFamily="34" charset="0"/>
                <a:ea typeface="Lexend Deca" pitchFamily="34" charset="-122"/>
                <a:cs typeface="Lexend Deca" pitchFamily="34" charset="-120"/>
              </a:rPr>
              <a:t>What do you think about homework for kids?</a:t>
            </a:r>
            <a:endParaRPr lang="en-US" sz="2000" dirty="0"/>
          </a:p>
          <a:p>
            <a:pPr algn="l" indent="0" marL="0">
              <a:lnSpc>
                <a:spcPct val="110000"/>
              </a:lnSpc>
              <a:buNone/>
            </a:pPr>
            <a:r>
              <a:rPr lang="en-US" sz="2000" dirty="0" b="1">
                <a:solidFill>
                  <a:srgbClr val="1B2236"/>
                </a:solidFill>
                <a:latin typeface="Lexend Deca" pitchFamily="34" charset="0"/>
                <a:ea typeface="Lexend Deca" pitchFamily="34" charset="-122"/>
                <a:cs typeface="Lexend Deca" pitchFamily="34" charset="-120"/>
              </a:rPr>
              <a:t>B answers in 3 sentences.</a:t>
            </a:r>
            <a:endParaRPr lang="en-US" sz="2000" dirty="0" b="1"/>
          </a:p>
        </p:txBody>
      </p:sp>
      <p:sp>
        <p:nvSpPr>
          <p:cNvPr id="14" name="box2"/>
          <p:cNvSpPr/>
          <p:nvPr/>
        </p:nvSpPr>
        <p:spPr>
          <a:xfrm>
            <a:off x="599846" y="4754880"/>
            <a:ext cx="4846320" cy="1600200"/>
          </a:xfrm>
          <a:prstGeom prst="rect">
            <a:avLst/>
          </a:prstGeom>
          <a:noFill/>
          <a:ln/>
        </p:spPr>
        <p:txBody>
          <a:bodyPr wrap="square" lIns="0" tIns="0" rIns="0" bIns="0" rtlCol="0" anchor="t"/>
          <a:lstStyle/>
          <a:p>
            <a:pPr algn="l" indent="0" marL="0">
              <a:spcAft>
                <a:spcPts val="400"/>
              </a:spcAft>
              <a:buNone/>
            </a:pPr>
            <a:r>
              <a:rPr lang="en-US" sz="2000" dirty="0" b="1">
                <a:solidFill>
                  <a:srgbClr val="5B3FC4"/>
                </a:solidFill>
                <a:latin typeface="Lexend Deca" pitchFamily="34" charset="0"/>
                <a:ea typeface="Lexend Deca" pitchFamily="34" charset="-122"/>
                <a:cs typeface="Lexend Deca" pitchFamily="34" charset="-120"/>
              </a:rPr>
              <a:t>A asks one follow-up.</a:t>
            </a:r>
            <a:endParaRPr lang="en-US" sz="2000" dirty="0" b="1"/>
          </a:p>
          <a:p>
            <a:pPr algn="l" indent="0" marL="0">
              <a:spcAft>
                <a:spcPts val="400"/>
              </a:spcAft>
              <a:buNone/>
            </a:pPr>
            <a:r>
              <a:rPr lang="en-US" sz="2000" dirty="0" b="0">
                <a:solidFill>
                  <a:srgbClr val="1B2236"/>
                </a:solidFill>
                <a:latin typeface="Lexend Deca" pitchFamily="34" charset="0"/>
                <a:ea typeface="Lexend Deca" pitchFamily="34" charset="-122"/>
                <a:cs typeface="Lexend Deca" pitchFamily="34" charset="-120"/>
              </a:rPr>
              <a:t>Do you agree?</a:t>
            </a:r>
            <a:endParaRPr lang="en-US" sz="2000" dirty="0" b="0"/>
          </a:p>
          <a:p>
            <a:pPr algn="l" indent="0" marL="0">
              <a:spcAft>
                <a:spcPts val="400"/>
              </a:spcAft>
              <a:buNone/>
            </a:pPr>
            <a:r>
              <a:rPr lang="en-US" sz="2000" dirty="0" b="1">
                <a:solidFill>
                  <a:srgbClr val="1B2236"/>
                </a:solidFill>
                <a:latin typeface="Lexend Deca" pitchFamily="34" charset="0"/>
                <a:ea typeface="Lexend Deca" pitchFamily="34" charset="-122"/>
                <a:cs typeface="Lexend Deca" pitchFamily="34" charset="-120"/>
              </a:rPr>
              <a:t>Then switch.</a:t>
            </a:r>
            <a:endParaRPr lang="en-US" sz="20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fade">
                                      <p:cBhvr>
                                        <p:cTn id="7" dur="4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p="http://schemas.openxmlformats.org/presentationml/2006/main" xmlns:r="http://schemas.openxmlformats.org/officeDocument/2006/relationships">
  <p:cSld name="L4:numlist">
    <p:bg>
      <p:bgPr>
        <a:solidFill>
          <a:srgbClr val="F1F5FB"/>
        </a:solidFill>
      </p:bgPr>
    </p:bg>
    <p:spTree>
      <p:nvGrpSpPr>
        <p:cNvPr id="1" name=""/>
        <p:cNvGrpSpPr/>
        <p:nvPr/>
      </p:nvGrpSpPr>
      <p:grpSpPr/>
      <p:sp>
        <p:nvSpPr>
          <p:cNvPr id="29" name="title"/>
          <p:cNvSpPr/>
          <p:nvPr/>
        </p:nvSpPr>
        <p:spPr>
          <a:xfrm>
            <a:off x="7634326" y="1783080"/>
            <a:ext cx="4229100" cy="1600200"/>
          </a:xfrm>
          <a:prstGeom prst="rect">
            <a:avLst/>
          </a:prstGeom>
          <a:noFill/>
          <a:ln/>
        </p:spPr>
        <p:txBody>
          <a:bodyPr wrap="square" rtlCol="0" anchor="b"/>
          <a:lstStyle/>
          <a:p>
            <a:pPr algn="l" indent="0" marL="0">
              <a:buNone/>
            </a:pPr>
            <a:r>
              <a:rPr lang="en-US" sz="4000" dirty="0" b="1">
                <a:solidFill>
                  <a:srgbClr val="1B2236"/>
                </a:solidFill>
                <a:latin typeface="Lexend Deca" pitchFamily="34" charset="0"/>
                <a:ea typeface="Lexend Deca" pitchFamily="34" charset="-122"/>
                <a:cs typeface="Lexend Deca" pitchFamily="34" charset="-120"/>
              </a:rPr>
              <a:t>Opening Talk</a:t>
            </a:r>
            <a:endParaRPr lang="en-US" sz="4000" dirty="0" b="1"/>
          </a:p>
          <a:p>
            <a:pPr algn="l" indent="0" marL="0">
              <a:buNone/>
            </a:pPr>
            <a:r>
              <a:rPr lang="en-US" sz="4000" dirty="0" b="1">
                <a:solidFill>
                  <a:srgbClr val="1B2236"/>
                </a:solidFill>
                <a:latin typeface="Lexend Deca" pitchFamily="34" charset="0"/>
                <a:ea typeface="Lexend Deca" pitchFamily="34" charset="-122"/>
                <a:cs typeface="Lexend Deca" pitchFamily="34" charset="-120"/>
              </a:rPr>
              <a:t>Cards</a:t>
            </a:r>
            <a:endParaRPr lang="en-US" sz="4000" dirty="0" b="1"/>
          </a:p>
        </p:txBody>
      </p:sp>
      <p:sp>
        <p:nvSpPr>
          <p:cNvPr id="30" name="side"/>
          <p:cNvSpPr/>
          <p:nvPr/>
        </p:nvSpPr>
        <p:spPr>
          <a:xfrm>
            <a:off x="7751369" y="3611880"/>
            <a:ext cx="3931920" cy="2377440"/>
          </a:xfrm>
          <a:prstGeom prst="rect">
            <a:avLst/>
          </a:prstGeom>
          <a:noFill/>
          <a:ln/>
        </p:spPr>
        <p:txBody>
          <a:bodyPr wrap="square" lIns="0" tIns="0" rIns="0" bIns="0" rtlCol="0" anchor="t"/>
          <a:lstStyle/>
          <a:p>
            <a:pPr algn="l" indent="0" marL="0">
              <a:lnSpc>
                <a:spcPct val="120000"/>
              </a:lnSpc>
              <a:spcAft>
                <a:spcPts val="1400"/>
              </a:spcAft>
              <a:buNone/>
            </a:pPr>
            <a:r>
              <a:rPr lang="en-US" sz="1800" dirty="0">
                <a:solidFill>
                  <a:srgbClr val="1B2236"/>
                </a:solidFill>
                <a:latin typeface="Lexend Deca" pitchFamily="34" charset="0"/>
                <a:ea typeface="Lexend Deca" pitchFamily="34" charset="-122"/>
                <a:cs typeface="Lexend Deca" pitchFamily="34" charset="-120"/>
              </a:rPr>
              <a:t>B answers in 3 sentences: the answer, a reason, and a detail.</a:t>
            </a:r>
            <a:endParaRPr lang="en-US" sz="1800" dirty="0"/>
          </a:p>
          <a:p>
            <a:pPr algn="l" indent="0" marL="0">
              <a:lnSpc>
                <a:spcPct val="120000"/>
              </a:lnSpc>
              <a:spcAft>
                <a:spcPts val="1400"/>
              </a:spcAft>
              <a:buNone/>
            </a:pPr>
            <a:r>
              <a:rPr lang="en-US" sz="1800" dirty="0" b="1">
                <a:solidFill>
                  <a:srgbClr val="1B2236"/>
                </a:solidFill>
                <a:latin typeface="Lexend Deca" pitchFamily="34" charset="0"/>
                <a:ea typeface="Lexend Deca" pitchFamily="34" charset="-122"/>
                <a:cs typeface="Lexend Deca" pitchFamily="34" charset="-120"/>
              </a:rPr>
              <a:t>Follow-ups:</a:t>
            </a:r>
            <a:endParaRPr lang="en-US" sz="1800" dirty="0" b="1"/>
          </a:p>
          <a:p>
            <a:pPr algn="l" indent="0" marL="0">
              <a:lnSpc>
                <a:spcPct val="120000"/>
              </a:lnSpc>
              <a:spcAft>
                <a:spcPts val="1400"/>
              </a:spcAft>
              <a:buNone/>
            </a:pPr>
            <a:r>
              <a:rPr lang="en-US" sz="1800" dirty="0" b="1">
                <a:solidFill>
                  <a:srgbClr val="1B2236"/>
                </a:solidFill>
                <a:latin typeface="Lexend Deca" pitchFamily="34" charset="0"/>
                <a:ea typeface="Lexend Deca" pitchFamily="34" charset="-122"/>
                <a:cs typeface="Lexend Deca" pitchFamily="34" charset="-120"/>
              </a:rPr>
              <a:t>Do you agree? Why? I see your point, but…</a:t>
            </a:r>
            <a:endParaRPr lang="en-US" sz="1800" dirty="0" b="1"/>
          </a:p>
        </p:txBody>
      </p:sp>
      <p:sp>
        <p:nvSpPr>
          <p:cNvPr id="31" name="R1 shadow"/>
          <p:cNvSpPr/>
          <p:nvPr/>
        </p:nvSpPr>
        <p:spPr>
          <a:xfrm>
            <a:off x="544982" y="2471623"/>
            <a:ext cx="6227064" cy="602590"/>
          </a:xfrm>
          <a:prstGeom prst="round1Rect">
            <a:avLst>
              <a:gd name="adj" fmla="val 23087"/>
            </a:avLst>
          </a:prstGeom>
          <a:solidFill>
            <a:srgbClr val="8FAFE3"/>
          </a:solidFill>
          <a:ln/>
        </p:spPr>
        <p:txBody>
          <a:bodyPr/>
          <a:p/>
        </p:txBody>
      </p:sp>
      <p:sp>
        <p:nvSpPr>
          <p:cNvPr id="32" name="R1 card"/>
          <p:cNvSpPr/>
          <p:nvPr/>
        </p:nvSpPr>
        <p:spPr>
          <a:xfrm>
            <a:off x="1583741" y="2414016"/>
            <a:ext cx="5130698" cy="602590"/>
          </a:xfrm>
          <a:prstGeom prst="round1Rect">
            <a:avLst>
              <a:gd name="adj" fmla="val 23087"/>
            </a:avLst>
          </a:prstGeom>
          <a:solidFill>
            <a:srgbClr val="FFFFFF"/>
          </a:solidFill>
          <a:ln/>
        </p:spPr>
        <p:txBody>
          <a:bodyPr/>
          <a:p/>
        </p:txBody>
      </p:sp>
      <p:sp>
        <p:nvSpPr>
          <p:cNvPr id="33" name="R1 chip"/>
          <p:cNvSpPr/>
          <p:nvPr/>
        </p:nvSpPr>
        <p:spPr>
          <a:xfrm>
            <a:off x="544982" y="2414016"/>
            <a:ext cx="1039673" cy="602590"/>
          </a:xfrm>
          <a:prstGeom prst="rect">
            <a:avLst/>
          </a:prstGeom>
          <a:solidFill>
            <a:srgbClr val="B9D2F7"/>
          </a:solidFill>
          <a:ln/>
        </p:spPr>
        <p:txBody>
          <a:bodyPr/>
          <a:p/>
        </p:txBody>
      </p:sp>
      <p:sp>
        <p:nvSpPr>
          <p:cNvPr id="34" name="R1 num"/>
          <p:cNvSpPr/>
          <p:nvPr/>
        </p:nvSpPr>
        <p:spPr>
          <a:xfrm>
            <a:off x="686714" y="2414016"/>
            <a:ext cx="1109167" cy="602590"/>
          </a:xfrm>
          <a:prstGeom prst="rect">
            <a:avLst/>
          </a:prstGeom>
          <a:noFill/>
          <a:ln/>
        </p:spPr>
        <p:txBody>
          <a:bodyPr wrap="square" rtlCol="0" anchor="t"/>
          <a:lstStyle/>
          <a:p>
            <a:pPr algn="l" indent="0" marL="0">
              <a:buNone/>
            </a:pPr>
            <a:r>
              <a:rPr lang="en-US" sz="3600" b="1" dirty="0">
                <a:solidFill>
                  <a:srgbClr val="1B2236"/>
                </a:solidFill>
                <a:latin typeface="Lexend Deca" pitchFamily="34" charset="0"/>
                <a:ea typeface="Lexend Deca" pitchFamily="34" charset="-122"/>
                <a:cs typeface="Lexend Deca" pitchFamily="34" charset="-120"/>
              </a:rPr>
              <a:t>01</a:t>
            </a:r>
            <a:endParaRPr lang="en-US" sz="3600" b="1" dirty="0"/>
          </a:p>
        </p:txBody>
      </p:sp>
      <p:sp>
        <p:nvSpPr>
          <p:cNvPr id="35" name="R1 text"/>
          <p:cNvSpPr/>
          <p:nvPr/>
        </p:nvSpPr>
        <p:spPr>
          <a:xfrm>
            <a:off x="1810512" y="2414016"/>
            <a:ext cx="4434840" cy="602590"/>
          </a:xfrm>
          <a:prstGeom prst="rect">
            <a:avLst/>
          </a:prstGeom>
          <a:noFill/>
          <a:ln/>
        </p:spPr>
        <p:txBody>
          <a:bodyPr wrap="square" rtlCol="0" anchor="ct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What do you think about homework for kids?</a:t>
            </a:r>
            <a:endParaRPr lang="en-US" sz="1800" dirty="0"/>
          </a:p>
        </p:txBody>
      </p:sp>
      <p:sp>
        <p:nvSpPr>
          <p:cNvPr id="36" name="R1 dot"/>
          <p:cNvSpPr/>
          <p:nvPr/>
        </p:nvSpPr>
        <p:spPr>
          <a:xfrm rot="10800000">
            <a:off x="6361481" y="2547518"/>
            <a:ext cx="88697" cy="76810"/>
          </a:xfrm>
          <a:prstGeom prst="triangle">
            <a:avLst/>
          </a:prstGeom>
          <a:solidFill>
            <a:srgbClr val="8FAFE3"/>
          </a:solidFill>
          <a:ln/>
        </p:spPr>
        <p:txBody>
          <a:bodyPr/>
          <a:p/>
        </p:txBody>
      </p:sp>
      <p:sp>
        <p:nvSpPr>
          <p:cNvPr id="37" name="R2 card"/>
          <p:cNvSpPr/>
          <p:nvPr/>
        </p:nvSpPr>
        <p:spPr>
          <a:xfrm>
            <a:off x="1583741" y="3125419"/>
            <a:ext cx="5130698" cy="602590"/>
          </a:xfrm>
          <a:prstGeom prst="round1Rect">
            <a:avLst>
              <a:gd name="adj" fmla="val 23087"/>
            </a:avLst>
          </a:prstGeom>
          <a:solidFill>
            <a:srgbClr val="FFFFFF"/>
          </a:solidFill>
          <a:ln/>
        </p:spPr>
        <p:txBody>
          <a:bodyPr/>
          <a:p/>
        </p:txBody>
      </p:sp>
      <p:sp>
        <p:nvSpPr>
          <p:cNvPr id="38" name="R2 chip"/>
          <p:cNvSpPr/>
          <p:nvPr/>
        </p:nvSpPr>
        <p:spPr>
          <a:xfrm>
            <a:off x="544982" y="3125419"/>
            <a:ext cx="1039673" cy="602590"/>
          </a:xfrm>
          <a:prstGeom prst="rect">
            <a:avLst/>
          </a:prstGeom>
          <a:solidFill>
            <a:srgbClr val="B9D2F7"/>
          </a:solidFill>
          <a:ln/>
        </p:spPr>
        <p:txBody>
          <a:bodyPr/>
          <a:p/>
        </p:txBody>
      </p:sp>
      <p:sp>
        <p:nvSpPr>
          <p:cNvPr id="39" name="R2 num"/>
          <p:cNvSpPr/>
          <p:nvPr/>
        </p:nvSpPr>
        <p:spPr>
          <a:xfrm>
            <a:off x="686714" y="3125419"/>
            <a:ext cx="1109167" cy="602590"/>
          </a:xfrm>
          <a:prstGeom prst="rect">
            <a:avLst/>
          </a:prstGeom>
          <a:noFill/>
          <a:ln/>
        </p:spPr>
        <p:txBody>
          <a:bodyPr wrap="square" rtlCol="0" anchor="t"/>
          <a:lstStyle/>
          <a:p>
            <a:pPr algn="l" indent="0" marL="0">
              <a:buNone/>
            </a:pPr>
            <a:r>
              <a:rPr lang="en-US" sz="3200" b="1" dirty="0">
                <a:solidFill>
                  <a:srgbClr val="1B2236"/>
                </a:solidFill>
                <a:latin typeface="Lexend Deca" pitchFamily="34" charset="0"/>
                <a:ea typeface="Lexend Deca" pitchFamily="34" charset="-122"/>
                <a:cs typeface="Lexend Deca" pitchFamily="34" charset="-120"/>
              </a:rPr>
              <a:t>02</a:t>
            </a:r>
            <a:endParaRPr lang="en-US" sz="3200" b="1" dirty="0"/>
          </a:p>
        </p:txBody>
      </p:sp>
      <p:sp>
        <p:nvSpPr>
          <p:cNvPr id="40" name="R2 text"/>
          <p:cNvSpPr/>
          <p:nvPr/>
        </p:nvSpPr>
        <p:spPr>
          <a:xfrm>
            <a:off x="1810512" y="3125419"/>
            <a:ext cx="4434840" cy="602590"/>
          </a:xfrm>
          <a:prstGeom prst="rect">
            <a:avLst/>
          </a:prstGeom>
          <a:noFill/>
          <a:ln/>
        </p:spPr>
        <p:txBody>
          <a:bodyPr wrap="square" rtlCol="0" anchor="ct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How do you feel about a new parking lot downtown?</a:t>
            </a:r>
            <a:endParaRPr lang="en-US" sz="1800" dirty="0"/>
          </a:p>
        </p:txBody>
      </p:sp>
      <p:sp>
        <p:nvSpPr>
          <p:cNvPr id="41" name="R2 dot"/>
          <p:cNvSpPr/>
          <p:nvPr/>
        </p:nvSpPr>
        <p:spPr>
          <a:xfrm rot="10800000">
            <a:off x="6361481" y="3258922"/>
            <a:ext cx="88697" cy="76810"/>
          </a:xfrm>
          <a:prstGeom prst="triangle">
            <a:avLst/>
          </a:prstGeom>
          <a:solidFill>
            <a:srgbClr val="8FAFE3"/>
          </a:solidFill>
          <a:ln/>
        </p:spPr>
        <p:txBody>
          <a:bodyPr/>
          <a:p/>
        </p:txBody>
      </p:sp>
      <p:sp>
        <p:nvSpPr>
          <p:cNvPr id="42" name="R3 card"/>
          <p:cNvSpPr/>
          <p:nvPr/>
        </p:nvSpPr>
        <p:spPr>
          <a:xfrm>
            <a:off x="1583741" y="3836822"/>
            <a:ext cx="5130698" cy="602590"/>
          </a:xfrm>
          <a:prstGeom prst="round1Rect">
            <a:avLst>
              <a:gd name="adj" fmla="val 23087"/>
            </a:avLst>
          </a:prstGeom>
          <a:solidFill>
            <a:srgbClr val="FFFFFF"/>
          </a:solidFill>
          <a:ln/>
        </p:spPr>
        <p:txBody>
          <a:bodyPr/>
          <a:p/>
        </p:txBody>
      </p:sp>
      <p:sp>
        <p:nvSpPr>
          <p:cNvPr id="43" name="R3 chip"/>
          <p:cNvSpPr/>
          <p:nvPr/>
        </p:nvSpPr>
        <p:spPr>
          <a:xfrm>
            <a:off x="544982" y="3836822"/>
            <a:ext cx="1039673" cy="602590"/>
          </a:xfrm>
          <a:prstGeom prst="rect">
            <a:avLst/>
          </a:prstGeom>
          <a:solidFill>
            <a:srgbClr val="B9D2F7"/>
          </a:solidFill>
          <a:ln/>
        </p:spPr>
        <p:txBody>
          <a:bodyPr/>
          <a:p/>
        </p:txBody>
      </p:sp>
      <p:sp>
        <p:nvSpPr>
          <p:cNvPr id="44" name="R3 num"/>
          <p:cNvSpPr/>
          <p:nvPr/>
        </p:nvSpPr>
        <p:spPr>
          <a:xfrm>
            <a:off x="686714" y="3836822"/>
            <a:ext cx="1109167" cy="602590"/>
          </a:xfrm>
          <a:prstGeom prst="rect">
            <a:avLst/>
          </a:prstGeom>
          <a:noFill/>
          <a:ln/>
        </p:spPr>
        <p:txBody>
          <a:bodyPr wrap="square" rtlCol="0" anchor="t"/>
          <a:lstStyle/>
          <a:p>
            <a:pPr algn="l" indent="0" marL="0">
              <a:buNone/>
            </a:pPr>
            <a:r>
              <a:rPr lang="en-US" sz="3200" b="1" dirty="0">
                <a:solidFill>
                  <a:srgbClr val="1B2236"/>
                </a:solidFill>
                <a:latin typeface="Lexend Deca" pitchFamily="34" charset="0"/>
                <a:ea typeface="Lexend Deca" pitchFamily="34" charset="-122"/>
                <a:cs typeface="Lexend Deca" pitchFamily="34" charset="-120"/>
              </a:rPr>
              <a:t>03</a:t>
            </a:r>
            <a:endParaRPr lang="en-US" sz="3200" b="1" dirty="0"/>
          </a:p>
        </p:txBody>
      </p:sp>
      <p:sp>
        <p:nvSpPr>
          <p:cNvPr id="45" name="R3 text"/>
          <p:cNvSpPr/>
          <p:nvPr/>
        </p:nvSpPr>
        <p:spPr>
          <a:xfrm>
            <a:off x="1810512" y="3836822"/>
            <a:ext cx="4434840" cy="602590"/>
          </a:xfrm>
          <a:prstGeom prst="rect">
            <a:avLst/>
          </a:prstGeom>
          <a:noFill/>
          <a:ln/>
        </p:spPr>
        <p:txBody>
          <a:bodyPr wrap="square" rtlCol="0" anchor="ct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Is a bus as fast as a car?</a:t>
            </a:r>
            <a:endParaRPr lang="en-US" sz="2000" dirty="0"/>
          </a:p>
        </p:txBody>
      </p:sp>
      <p:sp>
        <p:nvSpPr>
          <p:cNvPr id="46" name="R3 dot"/>
          <p:cNvSpPr/>
          <p:nvPr/>
        </p:nvSpPr>
        <p:spPr>
          <a:xfrm rot="10800000">
            <a:off x="6361481" y="3970325"/>
            <a:ext cx="88697" cy="76810"/>
          </a:xfrm>
          <a:prstGeom prst="triangle">
            <a:avLst/>
          </a:prstGeom>
          <a:solidFill>
            <a:srgbClr val="8FAFE3"/>
          </a:solidFill>
          <a:ln/>
        </p:spPr>
        <p:txBody>
          <a:bodyPr/>
          <a:p/>
        </p:txBody>
      </p:sp>
      <p:sp>
        <p:nvSpPr>
          <p:cNvPr id="47" name="R4 card"/>
          <p:cNvSpPr/>
          <p:nvPr/>
        </p:nvSpPr>
        <p:spPr>
          <a:xfrm>
            <a:off x="1583741" y="4548226"/>
            <a:ext cx="5130698" cy="602590"/>
          </a:xfrm>
          <a:prstGeom prst="round1Rect">
            <a:avLst>
              <a:gd name="adj" fmla="val 23087"/>
            </a:avLst>
          </a:prstGeom>
          <a:solidFill>
            <a:srgbClr val="FFFFFF"/>
          </a:solidFill>
          <a:ln/>
        </p:spPr>
        <p:txBody>
          <a:bodyPr/>
          <a:p/>
        </p:txBody>
      </p:sp>
      <p:sp>
        <p:nvSpPr>
          <p:cNvPr id="48" name="R4 chip"/>
          <p:cNvSpPr/>
          <p:nvPr/>
        </p:nvSpPr>
        <p:spPr>
          <a:xfrm>
            <a:off x="544982" y="4548226"/>
            <a:ext cx="1039673" cy="602590"/>
          </a:xfrm>
          <a:prstGeom prst="rect">
            <a:avLst/>
          </a:prstGeom>
          <a:solidFill>
            <a:srgbClr val="B9D2F7"/>
          </a:solidFill>
          <a:ln/>
        </p:spPr>
        <p:txBody>
          <a:bodyPr/>
          <a:p/>
        </p:txBody>
      </p:sp>
      <p:sp>
        <p:nvSpPr>
          <p:cNvPr id="49" name="R4 num"/>
          <p:cNvSpPr/>
          <p:nvPr/>
        </p:nvSpPr>
        <p:spPr>
          <a:xfrm>
            <a:off x="686714" y="4548226"/>
            <a:ext cx="1109167" cy="602590"/>
          </a:xfrm>
          <a:prstGeom prst="rect">
            <a:avLst/>
          </a:prstGeom>
          <a:noFill/>
          <a:ln/>
        </p:spPr>
        <p:txBody>
          <a:bodyPr wrap="square" rtlCol="0" anchor="t"/>
          <a:lstStyle/>
          <a:p>
            <a:pPr algn="l" indent="0" marL="0">
              <a:buNone/>
            </a:pPr>
            <a:r>
              <a:rPr lang="en-US" sz="3200" b="1" dirty="0">
                <a:solidFill>
                  <a:srgbClr val="1B2236"/>
                </a:solidFill>
                <a:latin typeface="Lexend Deca" pitchFamily="34" charset="0"/>
                <a:ea typeface="Lexend Deca" pitchFamily="34" charset="-122"/>
                <a:cs typeface="Lexend Deca" pitchFamily="34" charset="-120"/>
              </a:rPr>
              <a:t>04</a:t>
            </a:r>
            <a:endParaRPr lang="en-US" sz="3200" b="1" dirty="0"/>
          </a:p>
        </p:txBody>
      </p:sp>
      <p:sp>
        <p:nvSpPr>
          <p:cNvPr id="50" name="R4 text"/>
          <p:cNvSpPr/>
          <p:nvPr/>
        </p:nvSpPr>
        <p:spPr>
          <a:xfrm>
            <a:off x="1810512" y="4548226"/>
            <a:ext cx="4434840" cy="602590"/>
          </a:xfrm>
          <a:prstGeom prst="rect">
            <a:avLst/>
          </a:prstGeom>
          <a:noFill/>
          <a:ln/>
        </p:spPr>
        <p:txBody>
          <a:bodyPr wrap="square" rtlCol="0" anchor="ct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What should change in your neighborhood?</a:t>
            </a:r>
            <a:endParaRPr lang="en-US" sz="1800" dirty="0"/>
          </a:p>
        </p:txBody>
      </p:sp>
      <p:sp>
        <p:nvSpPr>
          <p:cNvPr id="51" name="R4 dot"/>
          <p:cNvSpPr/>
          <p:nvPr/>
        </p:nvSpPr>
        <p:spPr>
          <a:xfrm rot="10800000">
            <a:off x="6361481" y="4681728"/>
            <a:ext cx="88697" cy="76810"/>
          </a:xfrm>
          <a:prstGeom prst="triangle">
            <a:avLst/>
          </a:prstGeom>
          <a:solidFill>
            <a:srgbClr val="8FAFE3"/>
          </a:solidFill>
          <a:ln/>
        </p:spPr>
        <p:txBody>
          <a:bodyPr/>
          <a:p/>
        </p:txBody>
      </p:sp>
      <p:sp>
        <p:nvSpPr>
          <p:cNvPr id="52" name="R5 card"/>
          <p:cNvSpPr/>
          <p:nvPr/>
        </p:nvSpPr>
        <p:spPr>
          <a:xfrm>
            <a:off x="1583741" y="5259629"/>
            <a:ext cx="5130698" cy="602590"/>
          </a:xfrm>
          <a:prstGeom prst="round1Rect">
            <a:avLst>
              <a:gd name="adj" fmla="val 23087"/>
            </a:avLst>
          </a:prstGeom>
          <a:solidFill>
            <a:srgbClr val="FFFFFF"/>
          </a:solidFill>
          <a:ln/>
        </p:spPr>
        <p:txBody>
          <a:bodyPr/>
          <a:p/>
        </p:txBody>
      </p:sp>
      <p:sp>
        <p:nvSpPr>
          <p:cNvPr id="53" name="R5 chip"/>
          <p:cNvSpPr/>
          <p:nvPr/>
        </p:nvSpPr>
        <p:spPr>
          <a:xfrm>
            <a:off x="544982" y="5259629"/>
            <a:ext cx="1039673" cy="602590"/>
          </a:xfrm>
          <a:prstGeom prst="rect">
            <a:avLst/>
          </a:prstGeom>
          <a:solidFill>
            <a:srgbClr val="B9D2F7"/>
          </a:solidFill>
          <a:ln/>
        </p:spPr>
        <p:txBody>
          <a:bodyPr/>
          <a:p/>
        </p:txBody>
      </p:sp>
      <p:sp>
        <p:nvSpPr>
          <p:cNvPr id="54" name="R5 num"/>
          <p:cNvSpPr/>
          <p:nvPr/>
        </p:nvSpPr>
        <p:spPr>
          <a:xfrm>
            <a:off x="686714" y="5259629"/>
            <a:ext cx="1109167" cy="602590"/>
          </a:xfrm>
          <a:prstGeom prst="rect">
            <a:avLst/>
          </a:prstGeom>
          <a:noFill/>
          <a:ln/>
        </p:spPr>
        <p:txBody>
          <a:bodyPr wrap="square" rtlCol="0" anchor="t"/>
          <a:lstStyle/>
          <a:p>
            <a:pPr algn="l" indent="0" marL="0">
              <a:buNone/>
            </a:pPr>
            <a:r>
              <a:rPr lang="en-US" sz="3200" b="1" dirty="0">
                <a:solidFill>
                  <a:srgbClr val="1B2236"/>
                </a:solidFill>
                <a:latin typeface="Lexend Deca" pitchFamily="34" charset="0"/>
                <a:ea typeface="Lexend Deca" pitchFamily="34" charset="-122"/>
                <a:cs typeface="Lexend Deca" pitchFamily="34" charset="-120"/>
              </a:rPr>
              <a:t>05</a:t>
            </a:r>
            <a:endParaRPr lang="en-US" sz="3200" b="1" dirty="0"/>
          </a:p>
        </p:txBody>
      </p:sp>
      <p:sp>
        <p:nvSpPr>
          <p:cNvPr id="55" name="R5 text"/>
          <p:cNvSpPr/>
          <p:nvPr/>
        </p:nvSpPr>
        <p:spPr>
          <a:xfrm>
            <a:off x="1810512" y="5259629"/>
            <a:ext cx="4434840" cy="602590"/>
          </a:xfrm>
          <a:prstGeom prst="rect">
            <a:avLst/>
          </a:prstGeom>
          <a:noFill/>
          <a:ln/>
        </p:spPr>
        <p:txBody>
          <a:bodyPr wrap="square" rtlCol="0" anchor="ct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Homework check: Lesson 9, items 1 and 3.</a:t>
            </a:r>
            <a:endParaRPr lang="en-US" sz="1800" dirty="0"/>
          </a:p>
        </p:txBody>
      </p:sp>
      <p:sp>
        <p:nvSpPr>
          <p:cNvPr id="56" name="R5 dot"/>
          <p:cNvSpPr/>
          <p:nvPr/>
        </p:nvSpPr>
        <p:spPr>
          <a:xfrm rot="10800000">
            <a:off x="6361481" y="5393131"/>
            <a:ext cx="88697" cy="76810"/>
          </a:xfrm>
          <a:prstGeom prst="triangle">
            <a:avLst/>
          </a:prstGeom>
          <a:solidFill>
            <a:srgbClr val="8FAFE3"/>
          </a:solidFill>
          <a:ln/>
        </p:spPr>
        <p:txBody>
          <a:body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1"/>
                                        </p:tgtEl>
                                        <p:attrNameLst>
                                          <p:attrName>style.visibility</p:attrName>
                                        </p:attrNameLst>
                                      </p:cBhvr>
                                      <p:to>
                                        <p:strVal val="visible"/>
                                      </p:to>
                                    </p:set>
                                    <p:animEffect transition="in" filter="fade">
                                      <p:cBhvr>
                                        <p:cTn id="7" dur="400"/>
                                        <p:tgtEl>
                                          <p:spTgt spid="31"/>
                                        </p:tgtEl>
                                      </p:cBhvr>
                                    </p:animEffect>
                                  </p:childTnLst>
                                </p:cTn>
                              </p:par>
                              <p:par>
                                <p:cTn id="8" presetID="10" presetClass="entr" presetSubtype="0" fill="hold" nodeType="withEffect">
                                  <p:stCondLst>
                                    <p:cond delay="0"/>
                                  </p:stCondLst>
                                  <p:childTnLst>
                                    <p:set>
                                      <p:cBhvr>
                                        <p:cTn id="9" dur="1" fill="hold">
                                          <p:stCondLst>
                                            <p:cond delay="0"/>
                                          </p:stCondLst>
                                        </p:cTn>
                                        <p:tgtEl>
                                          <p:spTgt spid="32"/>
                                        </p:tgtEl>
                                        <p:attrNameLst>
                                          <p:attrName>style.visibility</p:attrName>
                                        </p:attrNameLst>
                                      </p:cBhvr>
                                      <p:to>
                                        <p:strVal val="visible"/>
                                      </p:to>
                                    </p:set>
                                    <p:animEffect transition="in" filter="fade">
                                      <p:cBhvr>
                                        <p:cTn id="10" dur="400"/>
                                        <p:tgtEl>
                                          <p:spTgt spid="32"/>
                                        </p:tgtEl>
                                      </p:cBhvr>
                                    </p:animEffect>
                                  </p:childTnLst>
                                </p:cTn>
                              </p:par>
                              <p:par>
                                <p:cTn id="11" presetID="10" presetClass="entr" presetSubtype="0" fill="hold" nodeType="withEffect">
                                  <p:stCondLst>
                                    <p:cond delay="0"/>
                                  </p:stCondLst>
                                  <p:childTnLst>
                                    <p:set>
                                      <p:cBhvr>
                                        <p:cTn id="12" dur="1" fill="hold">
                                          <p:stCondLst>
                                            <p:cond delay="0"/>
                                          </p:stCondLst>
                                        </p:cTn>
                                        <p:tgtEl>
                                          <p:spTgt spid="33"/>
                                        </p:tgtEl>
                                        <p:attrNameLst>
                                          <p:attrName>style.visibility</p:attrName>
                                        </p:attrNameLst>
                                      </p:cBhvr>
                                      <p:to>
                                        <p:strVal val="visible"/>
                                      </p:to>
                                    </p:set>
                                    <p:animEffect transition="in" filter="fade">
                                      <p:cBhvr>
                                        <p:cTn id="13" dur="400"/>
                                        <p:tgtEl>
                                          <p:spTgt spid="33"/>
                                        </p:tgtEl>
                                      </p:cBhvr>
                                    </p:animEffect>
                                  </p:childTnLst>
                                </p:cTn>
                              </p:par>
                              <p:par>
                                <p:cTn id="14" presetID="10" presetClass="entr" presetSubtype="0" fill="hold" nodeType="withEffect">
                                  <p:stCondLst>
                                    <p:cond delay="0"/>
                                  </p:stCondLst>
                                  <p:childTnLst>
                                    <p:set>
                                      <p:cBhvr>
                                        <p:cTn id="15" dur="1" fill="hold">
                                          <p:stCondLst>
                                            <p:cond delay="0"/>
                                          </p:stCondLst>
                                        </p:cTn>
                                        <p:tgtEl>
                                          <p:spTgt spid="34"/>
                                        </p:tgtEl>
                                        <p:attrNameLst>
                                          <p:attrName>style.visibility</p:attrName>
                                        </p:attrNameLst>
                                      </p:cBhvr>
                                      <p:to>
                                        <p:strVal val="visible"/>
                                      </p:to>
                                    </p:set>
                                    <p:animEffect transition="in" filter="fade">
                                      <p:cBhvr>
                                        <p:cTn id="16" dur="400"/>
                                        <p:tgtEl>
                                          <p:spTgt spid="34"/>
                                        </p:tgtEl>
                                      </p:cBhvr>
                                    </p:animEffect>
                                  </p:childTnLst>
                                </p:cTn>
                              </p:par>
                              <p:par>
                                <p:cTn id="17" presetID="10" presetClass="entr" presetSubtype="0" fill="hold" nodeType="withEffect">
                                  <p:stCondLst>
                                    <p:cond delay="0"/>
                                  </p:stCondLst>
                                  <p:childTnLst>
                                    <p:set>
                                      <p:cBhvr>
                                        <p:cTn id="18" dur="1" fill="hold">
                                          <p:stCondLst>
                                            <p:cond delay="0"/>
                                          </p:stCondLst>
                                        </p:cTn>
                                        <p:tgtEl>
                                          <p:spTgt spid="35"/>
                                        </p:tgtEl>
                                        <p:attrNameLst>
                                          <p:attrName>style.visibility</p:attrName>
                                        </p:attrNameLst>
                                      </p:cBhvr>
                                      <p:to>
                                        <p:strVal val="visible"/>
                                      </p:to>
                                    </p:set>
                                    <p:animEffect transition="in" filter="fade">
                                      <p:cBhvr>
                                        <p:cTn id="19" dur="400"/>
                                        <p:tgtEl>
                                          <p:spTgt spid="35"/>
                                        </p:tgtEl>
                                      </p:cBhvr>
                                    </p:animEffect>
                                  </p:childTnLst>
                                </p:cTn>
                              </p:par>
                              <p:par>
                                <p:cTn id="20" presetID="10" presetClass="entr" presetSubtype="0" fill="hold" nodeType="withEffect">
                                  <p:stCondLst>
                                    <p:cond delay="0"/>
                                  </p:stCondLst>
                                  <p:childTnLst>
                                    <p:set>
                                      <p:cBhvr>
                                        <p:cTn id="21" dur="1" fill="hold">
                                          <p:stCondLst>
                                            <p:cond delay="0"/>
                                          </p:stCondLst>
                                        </p:cTn>
                                        <p:tgtEl>
                                          <p:spTgt spid="36"/>
                                        </p:tgtEl>
                                        <p:attrNameLst>
                                          <p:attrName>style.visibility</p:attrName>
                                        </p:attrNameLst>
                                      </p:cBhvr>
                                      <p:to>
                                        <p:strVal val="visible"/>
                                      </p:to>
                                    </p:set>
                                    <p:animEffect transition="in" filter="fade">
                                      <p:cBhvr>
                                        <p:cTn id="22" dur="400"/>
                                        <p:tgtEl>
                                          <p:spTgt spid="3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7"/>
                                        </p:tgtEl>
                                        <p:attrNameLst>
                                          <p:attrName>style.visibility</p:attrName>
                                        </p:attrNameLst>
                                      </p:cBhvr>
                                      <p:to>
                                        <p:strVal val="visible"/>
                                      </p:to>
                                    </p:set>
                                    <p:animEffect transition="in" filter="fade">
                                      <p:cBhvr>
                                        <p:cTn id="27" dur="400"/>
                                        <p:tgtEl>
                                          <p:spTgt spid="37"/>
                                        </p:tgtEl>
                                      </p:cBhvr>
                                    </p:animEffect>
                                  </p:childTnLst>
                                </p:cTn>
                              </p:par>
                              <p:par>
                                <p:cTn id="28" presetID="10" presetClass="entr" presetSubtype="0" fill="hold" nodeType="withEffect">
                                  <p:stCondLst>
                                    <p:cond delay="0"/>
                                  </p:stCondLst>
                                  <p:childTnLst>
                                    <p:set>
                                      <p:cBhvr>
                                        <p:cTn id="29" dur="1" fill="hold">
                                          <p:stCondLst>
                                            <p:cond delay="0"/>
                                          </p:stCondLst>
                                        </p:cTn>
                                        <p:tgtEl>
                                          <p:spTgt spid="38"/>
                                        </p:tgtEl>
                                        <p:attrNameLst>
                                          <p:attrName>style.visibility</p:attrName>
                                        </p:attrNameLst>
                                      </p:cBhvr>
                                      <p:to>
                                        <p:strVal val="visible"/>
                                      </p:to>
                                    </p:set>
                                    <p:animEffect transition="in" filter="fade">
                                      <p:cBhvr>
                                        <p:cTn id="30" dur="400"/>
                                        <p:tgtEl>
                                          <p:spTgt spid="38"/>
                                        </p:tgtEl>
                                      </p:cBhvr>
                                    </p:animEffect>
                                  </p:childTnLst>
                                </p:cTn>
                              </p:par>
                              <p:par>
                                <p:cTn id="31" presetID="10" presetClass="entr" presetSubtype="0" fill="hold" nodeType="withEffect">
                                  <p:stCondLst>
                                    <p:cond delay="0"/>
                                  </p:stCondLst>
                                  <p:childTnLst>
                                    <p:set>
                                      <p:cBhvr>
                                        <p:cTn id="32" dur="1" fill="hold">
                                          <p:stCondLst>
                                            <p:cond delay="0"/>
                                          </p:stCondLst>
                                        </p:cTn>
                                        <p:tgtEl>
                                          <p:spTgt spid="39"/>
                                        </p:tgtEl>
                                        <p:attrNameLst>
                                          <p:attrName>style.visibility</p:attrName>
                                        </p:attrNameLst>
                                      </p:cBhvr>
                                      <p:to>
                                        <p:strVal val="visible"/>
                                      </p:to>
                                    </p:set>
                                    <p:animEffect transition="in" filter="fade">
                                      <p:cBhvr>
                                        <p:cTn id="33" dur="400"/>
                                        <p:tgtEl>
                                          <p:spTgt spid="39"/>
                                        </p:tgtEl>
                                      </p:cBhvr>
                                    </p:animEffect>
                                  </p:childTnLst>
                                </p:cTn>
                              </p:par>
                              <p:par>
                                <p:cTn id="34" presetID="10" presetClass="entr" presetSubtype="0" fill="hold" nodeType="withEffect">
                                  <p:stCondLst>
                                    <p:cond delay="0"/>
                                  </p:stCondLst>
                                  <p:childTnLst>
                                    <p:set>
                                      <p:cBhvr>
                                        <p:cTn id="35" dur="1" fill="hold">
                                          <p:stCondLst>
                                            <p:cond delay="0"/>
                                          </p:stCondLst>
                                        </p:cTn>
                                        <p:tgtEl>
                                          <p:spTgt spid="40"/>
                                        </p:tgtEl>
                                        <p:attrNameLst>
                                          <p:attrName>style.visibility</p:attrName>
                                        </p:attrNameLst>
                                      </p:cBhvr>
                                      <p:to>
                                        <p:strVal val="visible"/>
                                      </p:to>
                                    </p:set>
                                    <p:animEffect transition="in" filter="fade">
                                      <p:cBhvr>
                                        <p:cTn id="36" dur="400"/>
                                        <p:tgtEl>
                                          <p:spTgt spid="40"/>
                                        </p:tgtEl>
                                      </p:cBhvr>
                                    </p:animEffect>
                                  </p:childTnLst>
                                </p:cTn>
                              </p:par>
                              <p:par>
                                <p:cTn id="37" presetID="10" presetClass="entr" presetSubtype="0" fill="hold" nodeType="withEffect">
                                  <p:stCondLst>
                                    <p:cond delay="0"/>
                                  </p:stCondLst>
                                  <p:childTnLst>
                                    <p:set>
                                      <p:cBhvr>
                                        <p:cTn id="38" dur="1" fill="hold">
                                          <p:stCondLst>
                                            <p:cond delay="0"/>
                                          </p:stCondLst>
                                        </p:cTn>
                                        <p:tgtEl>
                                          <p:spTgt spid="41"/>
                                        </p:tgtEl>
                                        <p:attrNameLst>
                                          <p:attrName>style.visibility</p:attrName>
                                        </p:attrNameLst>
                                      </p:cBhvr>
                                      <p:to>
                                        <p:strVal val="visible"/>
                                      </p:to>
                                    </p:set>
                                    <p:animEffect transition="in" filter="fade">
                                      <p:cBhvr>
                                        <p:cTn id="39" dur="400"/>
                                        <p:tgtEl>
                                          <p:spTgt spid="41"/>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nodeType="clickEffect">
                                  <p:stCondLst>
                                    <p:cond delay="0"/>
                                  </p:stCondLst>
                                  <p:childTnLst>
                                    <p:set>
                                      <p:cBhvr>
                                        <p:cTn id="43" dur="1" fill="hold">
                                          <p:stCondLst>
                                            <p:cond delay="0"/>
                                          </p:stCondLst>
                                        </p:cTn>
                                        <p:tgtEl>
                                          <p:spTgt spid="42"/>
                                        </p:tgtEl>
                                        <p:attrNameLst>
                                          <p:attrName>style.visibility</p:attrName>
                                        </p:attrNameLst>
                                      </p:cBhvr>
                                      <p:to>
                                        <p:strVal val="visible"/>
                                      </p:to>
                                    </p:set>
                                    <p:animEffect transition="in" filter="fade">
                                      <p:cBhvr>
                                        <p:cTn id="44" dur="400"/>
                                        <p:tgtEl>
                                          <p:spTgt spid="42"/>
                                        </p:tgtEl>
                                      </p:cBhvr>
                                    </p:animEffect>
                                  </p:childTnLst>
                                </p:cTn>
                              </p:par>
                              <p:par>
                                <p:cTn id="45" presetID="10" presetClass="entr" presetSubtype="0" fill="hold" nodeType="withEffect">
                                  <p:stCondLst>
                                    <p:cond delay="0"/>
                                  </p:stCondLst>
                                  <p:childTnLst>
                                    <p:set>
                                      <p:cBhvr>
                                        <p:cTn id="46" dur="1" fill="hold">
                                          <p:stCondLst>
                                            <p:cond delay="0"/>
                                          </p:stCondLst>
                                        </p:cTn>
                                        <p:tgtEl>
                                          <p:spTgt spid="43"/>
                                        </p:tgtEl>
                                        <p:attrNameLst>
                                          <p:attrName>style.visibility</p:attrName>
                                        </p:attrNameLst>
                                      </p:cBhvr>
                                      <p:to>
                                        <p:strVal val="visible"/>
                                      </p:to>
                                    </p:set>
                                    <p:animEffect transition="in" filter="fade">
                                      <p:cBhvr>
                                        <p:cTn id="47" dur="400"/>
                                        <p:tgtEl>
                                          <p:spTgt spid="43"/>
                                        </p:tgtEl>
                                      </p:cBhvr>
                                    </p:animEffect>
                                  </p:childTnLst>
                                </p:cTn>
                              </p:par>
                              <p:par>
                                <p:cTn id="48" presetID="10" presetClass="entr" presetSubtype="0" fill="hold" nodeType="withEffect">
                                  <p:stCondLst>
                                    <p:cond delay="0"/>
                                  </p:stCondLst>
                                  <p:childTnLst>
                                    <p:set>
                                      <p:cBhvr>
                                        <p:cTn id="49" dur="1" fill="hold">
                                          <p:stCondLst>
                                            <p:cond delay="0"/>
                                          </p:stCondLst>
                                        </p:cTn>
                                        <p:tgtEl>
                                          <p:spTgt spid="44"/>
                                        </p:tgtEl>
                                        <p:attrNameLst>
                                          <p:attrName>style.visibility</p:attrName>
                                        </p:attrNameLst>
                                      </p:cBhvr>
                                      <p:to>
                                        <p:strVal val="visible"/>
                                      </p:to>
                                    </p:set>
                                    <p:animEffect transition="in" filter="fade">
                                      <p:cBhvr>
                                        <p:cTn id="50" dur="400"/>
                                        <p:tgtEl>
                                          <p:spTgt spid="44"/>
                                        </p:tgtEl>
                                      </p:cBhvr>
                                    </p:animEffect>
                                  </p:childTnLst>
                                </p:cTn>
                              </p:par>
                              <p:par>
                                <p:cTn id="51" presetID="10" presetClass="entr" presetSubtype="0" fill="hold" nodeType="withEffect">
                                  <p:stCondLst>
                                    <p:cond delay="0"/>
                                  </p:stCondLst>
                                  <p:childTnLst>
                                    <p:set>
                                      <p:cBhvr>
                                        <p:cTn id="52" dur="1" fill="hold">
                                          <p:stCondLst>
                                            <p:cond delay="0"/>
                                          </p:stCondLst>
                                        </p:cTn>
                                        <p:tgtEl>
                                          <p:spTgt spid="45"/>
                                        </p:tgtEl>
                                        <p:attrNameLst>
                                          <p:attrName>style.visibility</p:attrName>
                                        </p:attrNameLst>
                                      </p:cBhvr>
                                      <p:to>
                                        <p:strVal val="visible"/>
                                      </p:to>
                                    </p:set>
                                    <p:animEffect transition="in" filter="fade">
                                      <p:cBhvr>
                                        <p:cTn id="53" dur="400"/>
                                        <p:tgtEl>
                                          <p:spTgt spid="45"/>
                                        </p:tgtEl>
                                      </p:cBhvr>
                                    </p:animEffect>
                                  </p:childTnLst>
                                </p:cTn>
                              </p:par>
                              <p:par>
                                <p:cTn id="54" presetID="10" presetClass="entr" presetSubtype="0" fill="hold" nodeType="withEffect">
                                  <p:stCondLst>
                                    <p:cond delay="0"/>
                                  </p:stCondLst>
                                  <p:childTnLst>
                                    <p:set>
                                      <p:cBhvr>
                                        <p:cTn id="55" dur="1" fill="hold">
                                          <p:stCondLst>
                                            <p:cond delay="0"/>
                                          </p:stCondLst>
                                        </p:cTn>
                                        <p:tgtEl>
                                          <p:spTgt spid="46"/>
                                        </p:tgtEl>
                                        <p:attrNameLst>
                                          <p:attrName>style.visibility</p:attrName>
                                        </p:attrNameLst>
                                      </p:cBhvr>
                                      <p:to>
                                        <p:strVal val="visible"/>
                                      </p:to>
                                    </p:set>
                                    <p:animEffect transition="in" filter="fade">
                                      <p:cBhvr>
                                        <p:cTn id="56" dur="400"/>
                                        <p:tgtEl>
                                          <p:spTgt spid="46"/>
                                        </p:tgtEl>
                                      </p:cBhvr>
                                    </p:animEffect>
                                  </p:childTnLst>
                                </p:cTn>
                              </p:par>
                            </p:childTnLst>
                          </p:cTn>
                        </p:par>
                      </p:childTnLst>
                    </p:cTn>
                  </p:par>
                  <p:par>
                    <p:cTn id="57" fill="hold">
                      <p:stCondLst>
                        <p:cond delay="indefinite"/>
                      </p:stCondLst>
                      <p:childTnLst>
                        <p:par>
                          <p:cTn id="58" fill="hold">
                            <p:stCondLst>
                              <p:cond delay="0"/>
                            </p:stCondLst>
                            <p:childTnLst>
                              <p:par>
                                <p:cTn id="59" presetID="10" presetClass="entr" presetSubtype="0" fill="hold" nodeType="clickEffect">
                                  <p:stCondLst>
                                    <p:cond delay="0"/>
                                  </p:stCondLst>
                                  <p:childTnLst>
                                    <p:set>
                                      <p:cBhvr>
                                        <p:cTn id="60" dur="1" fill="hold">
                                          <p:stCondLst>
                                            <p:cond delay="0"/>
                                          </p:stCondLst>
                                        </p:cTn>
                                        <p:tgtEl>
                                          <p:spTgt spid="47"/>
                                        </p:tgtEl>
                                        <p:attrNameLst>
                                          <p:attrName>style.visibility</p:attrName>
                                        </p:attrNameLst>
                                      </p:cBhvr>
                                      <p:to>
                                        <p:strVal val="visible"/>
                                      </p:to>
                                    </p:set>
                                    <p:animEffect transition="in" filter="fade">
                                      <p:cBhvr>
                                        <p:cTn id="61" dur="400"/>
                                        <p:tgtEl>
                                          <p:spTgt spid="47"/>
                                        </p:tgtEl>
                                      </p:cBhvr>
                                    </p:animEffect>
                                  </p:childTnLst>
                                </p:cTn>
                              </p:par>
                              <p:par>
                                <p:cTn id="62" presetID="10" presetClass="entr" presetSubtype="0" fill="hold" nodeType="withEffect">
                                  <p:stCondLst>
                                    <p:cond delay="0"/>
                                  </p:stCondLst>
                                  <p:childTnLst>
                                    <p:set>
                                      <p:cBhvr>
                                        <p:cTn id="63" dur="1" fill="hold">
                                          <p:stCondLst>
                                            <p:cond delay="0"/>
                                          </p:stCondLst>
                                        </p:cTn>
                                        <p:tgtEl>
                                          <p:spTgt spid="48"/>
                                        </p:tgtEl>
                                        <p:attrNameLst>
                                          <p:attrName>style.visibility</p:attrName>
                                        </p:attrNameLst>
                                      </p:cBhvr>
                                      <p:to>
                                        <p:strVal val="visible"/>
                                      </p:to>
                                    </p:set>
                                    <p:animEffect transition="in" filter="fade">
                                      <p:cBhvr>
                                        <p:cTn id="64" dur="400"/>
                                        <p:tgtEl>
                                          <p:spTgt spid="48"/>
                                        </p:tgtEl>
                                      </p:cBhvr>
                                    </p:animEffect>
                                  </p:childTnLst>
                                </p:cTn>
                              </p:par>
                              <p:par>
                                <p:cTn id="65" presetID="10" presetClass="entr" presetSubtype="0" fill="hold" nodeType="withEffect">
                                  <p:stCondLst>
                                    <p:cond delay="0"/>
                                  </p:stCondLst>
                                  <p:childTnLst>
                                    <p:set>
                                      <p:cBhvr>
                                        <p:cTn id="66" dur="1" fill="hold">
                                          <p:stCondLst>
                                            <p:cond delay="0"/>
                                          </p:stCondLst>
                                        </p:cTn>
                                        <p:tgtEl>
                                          <p:spTgt spid="49"/>
                                        </p:tgtEl>
                                        <p:attrNameLst>
                                          <p:attrName>style.visibility</p:attrName>
                                        </p:attrNameLst>
                                      </p:cBhvr>
                                      <p:to>
                                        <p:strVal val="visible"/>
                                      </p:to>
                                    </p:set>
                                    <p:animEffect transition="in" filter="fade">
                                      <p:cBhvr>
                                        <p:cTn id="67" dur="400"/>
                                        <p:tgtEl>
                                          <p:spTgt spid="49"/>
                                        </p:tgtEl>
                                      </p:cBhvr>
                                    </p:animEffect>
                                  </p:childTnLst>
                                </p:cTn>
                              </p:par>
                              <p:par>
                                <p:cTn id="68" presetID="10" presetClass="entr" presetSubtype="0" fill="hold" nodeType="withEffect">
                                  <p:stCondLst>
                                    <p:cond delay="0"/>
                                  </p:stCondLst>
                                  <p:childTnLst>
                                    <p:set>
                                      <p:cBhvr>
                                        <p:cTn id="69" dur="1" fill="hold">
                                          <p:stCondLst>
                                            <p:cond delay="0"/>
                                          </p:stCondLst>
                                        </p:cTn>
                                        <p:tgtEl>
                                          <p:spTgt spid="50"/>
                                        </p:tgtEl>
                                        <p:attrNameLst>
                                          <p:attrName>style.visibility</p:attrName>
                                        </p:attrNameLst>
                                      </p:cBhvr>
                                      <p:to>
                                        <p:strVal val="visible"/>
                                      </p:to>
                                    </p:set>
                                    <p:animEffect transition="in" filter="fade">
                                      <p:cBhvr>
                                        <p:cTn id="70" dur="400"/>
                                        <p:tgtEl>
                                          <p:spTgt spid="50"/>
                                        </p:tgtEl>
                                      </p:cBhvr>
                                    </p:animEffect>
                                  </p:childTnLst>
                                </p:cTn>
                              </p:par>
                              <p:par>
                                <p:cTn id="71" presetID="10" presetClass="entr" presetSubtype="0" fill="hold" nodeType="withEffect">
                                  <p:stCondLst>
                                    <p:cond delay="0"/>
                                  </p:stCondLst>
                                  <p:childTnLst>
                                    <p:set>
                                      <p:cBhvr>
                                        <p:cTn id="72" dur="1" fill="hold">
                                          <p:stCondLst>
                                            <p:cond delay="0"/>
                                          </p:stCondLst>
                                        </p:cTn>
                                        <p:tgtEl>
                                          <p:spTgt spid="51"/>
                                        </p:tgtEl>
                                        <p:attrNameLst>
                                          <p:attrName>style.visibility</p:attrName>
                                        </p:attrNameLst>
                                      </p:cBhvr>
                                      <p:to>
                                        <p:strVal val="visible"/>
                                      </p:to>
                                    </p:set>
                                    <p:animEffect transition="in" filter="fade">
                                      <p:cBhvr>
                                        <p:cTn id="73" dur="400"/>
                                        <p:tgtEl>
                                          <p:spTgt spid="51"/>
                                        </p:tgtEl>
                                      </p:cBhvr>
                                    </p:animEffect>
                                  </p:childTnLst>
                                </p:cTn>
                              </p:par>
                            </p:childTnLst>
                          </p:cTn>
                        </p:par>
                      </p:childTnLst>
                    </p:cTn>
                  </p:par>
                  <p:par>
                    <p:cTn id="74" fill="hold">
                      <p:stCondLst>
                        <p:cond delay="indefinite"/>
                      </p:stCondLst>
                      <p:childTnLst>
                        <p:par>
                          <p:cTn id="75" fill="hold">
                            <p:stCondLst>
                              <p:cond delay="0"/>
                            </p:stCondLst>
                            <p:childTnLst>
                              <p:par>
                                <p:cTn id="76" presetID="10" presetClass="entr" presetSubtype="0" fill="hold" nodeType="clickEffect">
                                  <p:stCondLst>
                                    <p:cond delay="0"/>
                                  </p:stCondLst>
                                  <p:childTnLst>
                                    <p:set>
                                      <p:cBhvr>
                                        <p:cTn id="77" dur="1" fill="hold">
                                          <p:stCondLst>
                                            <p:cond delay="0"/>
                                          </p:stCondLst>
                                        </p:cTn>
                                        <p:tgtEl>
                                          <p:spTgt spid="52"/>
                                        </p:tgtEl>
                                        <p:attrNameLst>
                                          <p:attrName>style.visibility</p:attrName>
                                        </p:attrNameLst>
                                      </p:cBhvr>
                                      <p:to>
                                        <p:strVal val="visible"/>
                                      </p:to>
                                    </p:set>
                                    <p:animEffect transition="in" filter="fade">
                                      <p:cBhvr>
                                        <p:cTn id="78" dur="400"/>
                                        <p:tgtEl>
                                          <p:spTgt spid="52"/>
                                        </p:tgtEl>
                                      </p:cBhvr>
                                    </p:animEffect>
                                  </p:childTnLst>
                                </p:cTn>
                              </p:par>
                              <p:par>
                                <p:cTn id="79" presetID="10" presetClass="entr" presetSubtype="0" fill="hold" nodeType="withEffect">
                                  <p:stCondLst>
                                    <p:cond delay="0"/>
                                  </p:stCondLst>
                                  <p:childTnLst>
                                    <p:set>
                                      <p:cBhvr>
                                        <p:cTn id="80" dur="1" fill="hold">
                                          <p:stCondLst>
                                            <p:cond delay="0"/>
                                          </p:stCondLst>
                                        </p:cTn>
                                        <p:tgtEl>
                                          <p:spTgt spid="53"/>
                                        </p:tgtEl>
                                        <p:attrNameLst>
                                          <p:attrName>style.visibility</p:attrName>
                                        </p:attrNameLst>
                                      </p:cBhvr>
                                      <p:to>
                                        <p:strVal val="visible"/>
                                      </p:to>
                                    </p:set>
                                    <p:animEffect transition="in" filter="fade">
                                      <p:cBhvr>
                                        <p:cTn id="81" dur="400"/>
                                        <p:tgtEl>
                                          <p:spTgt spid="53"/>
                                        </p:tgtEl>
                                      </p:cBhvr>
                                    </p:animEffect>
                                  </p:childTnLst>
                                </p:cTn>
                              </p:par>
                              <p:par>
                                <p:cTn id="82" presetID="10" presetClass="entr" presetSubtype="0" fill="hold" nodeType="withEffect">
                                  <p:stCondLst>
                                    <p:cond delay="0"/>
                                  </p:stCondLst>
                                  <p:childTnLst>
                                    <p:set>
                                      <p:cBhvr>
                                        <p:cTn id="83" dur="1" fill="hold">
                                          <p:stCondLst>
                                            <p:cond delay="0"/>
                                          </p:stCondLst>
                                        </p:cTn>
                                        <p:tgtEl>
                                          <p:spTgt spid="54"/>
                                        </p:tgtEl>
                                        <p:attrNameLst>
                                          <p:attrName>style.visibility</p:attrName>
                                        </p:attrNameLst>
                                      </p:cBhvr>
                                      <p:to>
                                        <p:strVal val="visible"/>
                                      </p:to>
                                    </p:set>
                                    <p:animEffect transition="in" filter="fade">
                                      <p:cBhvr>
                                        <p:cTn id="84" dur="400"/>
                                        <p:tgtEl>
                                          <p:spTgt spid="54"/>
                                        </p:tgtEl>
                                      </p:cBhvr>
                                    </p:animEffect>
                                  </p:childTnLst>
                                </p:cTn>
                              </p:par>
                              <p:par>
                                <p:cTn id="85" presetID="10" presetClass="entr" presetSubtype="0" fill="hold" nodeType="withEffect">
                                  <p:stCondLst>
                                    <p:cond delay="0"/>
                                  </p:stCondLst>
                                  <p:childTnLst>
                                    <p:set>
                                      <p:cBhvr>
                                        <p:cTn id="86" dur="1" fill="hold">
                                          <p:stCondLst>
                                            <p:cond delay="0"/>
                                          </p:stCondLst>
                                        </p:cTn>
                                        <p:tgtEl>
                                          <p:spTgt spid="55"/>
                                        </p:tgtEl>
                                        <p:attrNameLst>
                                          <p:attrName>style.visibility</p:attrName>
                                        </p:attrNameLst>
                                      </p:cBhvr>
                                      <p:to>
                                        <p:strVal val="visible"/>
                                      </p:to>
                                    </p:set>
                                    <p:animEffect transition="in" filter="fade">
                                      <p:cBhvr>
                                        <p:cTn id="87" dur="400"/>
                                        <p:tgtEl>
                                          <p:spTgt spid="55"/>
                                        </p:tgtEl>
                                      </p:cBhvr>
                                    </p:animEffect>
                                  </p:childTnLst>
                                </p:cTn>
                              </p:par>
                              <p:par>
                                <p:cTn id="88" presetID="10" presetClass="entr" presetSubtype="0" fill="hold" nodeType="withEffect">
                                  <p:stCondLst>
                                    <p:cond delay="0"/>
                                  </p:stCondLst>
                                  <p:childTnLst>
                                    <p:set>
                                      <p:cBhvr>
                                        <p:cTn id="89" dur="1" fill="hold">
                                          <p:stCondLst>
                                            <p:cond delay="0"/>
                                          </p:stCondLst>
                                        </p:cTn>
                                        <p:tgtEl>
                                          <p:spTgt spid="56"/>
                                        </p:tgtEl>
                                        <p:attrNameLst>
                                          <p:attrName>style.visibility</p:attrName>
                                        </p:attrNameLst>
                                      </p:cBhvr>
                                      <p:to>
                                        <p:strVal val="visible"/>
                                      </p:to>
                                    </p:set>
                                    <p:animEffect transition="in" filter="fade">
                                      <p:cBhvr>
                                        <p:cTn id="90" dur="400"/>
                                        <p:tgtEl>
                                          <p:spTgt spid="5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p="http://schemas.openxmlformats.org/presentationml/2006/main" xmlns:r="http://schemas.openxmlformats.org/officeDocument/2006/relationships">
  <p:cSld name="L4:words">
    <p:bg>
      <p:bgPr>
        <a:solidFill>
          <a:srgbClr val="F1F5FB"/>
        </a:solidFill>
      </p:bgPr>
    </p:bg>
    <p:spTree>
      <p:nvGrpSpPr>
        <p:cNvPr id="1" name=""/>
        <p:cNvGrpSpPr/>
        <p:nvPr/>
      </p:nvGrpSpPr>
      <p:grpSpPr/>
      <p:sp>
        <p:nvSpPr>
          <p:cNvPr id="2" name="Shape 0"/>
          <p:cNvSpPr/>
          <p:nvPr/>
        </p:nvSpPr>
        <p:spPr>
          <a:xfrm flipH="1" flipV="1">
            <a:off x="541325" y="2231136"/>
            <a:ext cx="10958170" cy="4343400"/>
          </a:xfrm>
          <a:prstGeom prst="round1Rect">
            <a:avLst>
              <a:gd name="adj" fmla="val 23087"/>
            </a:avLst>
          </a:prstGeom>
          <a:solidFill>
            <a:srgbClr val="8FAFE3"/>
          </a:solidFill>
          <a:ln/>
        </p:spPr>
        <p:txBody>
          <a:bodyPr/>
          <a:p/>
        </p:txBody>
      </p:sp>
      <p:sp>
        <p:nvSpPr>
          <p:cNvPr id="3" name="Shape 1"/>
          <p:cNvSpPr/>
          <p:nvPr/>
        </p:nvSpPr>
        <p:spPr>
          <a:xfrm flipH="1" flipV="1">
            <a:off x="541325" y="2090318"/>
            <a:ext cx="10958170" cy="4343400"/>
          </a:xfrm>
          <a:prstGeom prst="round1Rect">
            <a:avLst>
              <a:gd name="adj" fmla="val 23087"/>
            </a:avLst>
          </a:prstGeom>
          <a:solidFill>
            <a:srgbClr val="B9D2F7"/>
          </a:solidFill>
          <a:ln/>
        </p:spPr>
        <p:txBody>
          <a:bodyPr/>
          <a:p/>
        </p:txBody>
      </p:sp>
      <p:sp>
        <p:nvSpPr>
          <p:cNvPr id="6" name="Shape 4"/>
          <p:cNvSpPr/>
          <p:nvPr/>
        </p:nvSpPr>
        <p:spPr>
          <a:xfrm>
            <a:off x="5630738" y="517002"/>
            <a:ext cx="6063386" cy="1331366"/>
          </a:xfrm>
          <a:prstGeom prst="roundRect">
            <a:avLst>
              <a:gd name="adj" fmla="val 16667"/>
            </a:avLst>
          </a:prstGeom>
          <a:solidFill>
            <a:srgbClr val="8FAFE3"/>
          </a:solidFill>
          <a:ln/>
        </p:spPr>
        <p:txBody>
          <a:bodyPr/>
          <a:p/>
        </p:txBody>
      </p:sp>
      <p:sp>
        <p:nvSpPr>
          <p:cNvPr id="7" name="Shape 5"/>
          <p:cNvSpPr/>
          <p:nvPr/>
        </p:nvSpPr>
        <p:spPr>
          <a:xfrm>
            <a:off x="5666537" y="462686"/>
            <a:ext cx="6063386" cy="1331366"/>
          </a:xfrm>
          <a:prstGeom prst="roundRect">
            <a:avLst>
              <a:gd name="adj" fmla="val 16667"/>
            </a:avLst>
          </a:prstGeom>
          <a:solidFill>
            <a:srgbClr val="FFFFFF"/>
          </a:solidFill>
          <a:ln/>
        </p:spPr>
        <p:txBody>
          <a:bodyPr/>
          <a:p/>
        </p:txBody>
      </p:sp>
      <p:sp>
        <p:nvSpPr>
          <p:cNvPr id="8" name="title"/>
          <p:cNvSpPr/>
          <p:nvPr/>
        </p:nvSpPr>
        <p:spPr>
          <a:xfrm>
            <a:off x="5938114" y="594360"/>
            <a:ext cx="5669280" cy="1143000"/>
          </a:xfrm>
          <a:prstGeom prst="rect">
            <a:avLst/>
          </a:prstGeom>
          <a:noFill/>
          <a:ln/>
        </p:spPr>
        <p:txBody>
          <a:bodyPr wrap="square" rtlCol="0" anchor="ctr"/>
          <a:lstStyle/>
          <a:p>
            <a:pPr algn="l" indent="0" marL="0">
              <a:buNone/>
            </a:pPr>
            <a:r>
              <a:rPr lang="en-US" sz="4900" dirty="0" b="1">
                <a:solidFill>
                  <a:srgbClr val="1B2236"/>
                </a:solidFill>
                <a:latin typeface="Lexend Deca" pitchFamily="34" charset="0"/>
                <a:ea typeface="Lexend Deca" pitchFamily="34" charset="-122"/>
                <a:cs typeface="Lexend Deca" pitchFamily="34" charset="-120"/>
              </a:rPr>
              <a:t>New Words</a:t>
            </a:r>
            <a:endParaRPr lang="en-US" sz="4900" dirty="0" b="1"/>
          </a:p>
        </p:txBody>
      </p:sp>
      <p:sp>
        <p:nvSpPr>
          <p:cNvPr id="9" name="instr card"/>
          <p:cNvSpPr/>
          <p:nvPr/>
        </p:nvSpPr>
        <p:spPr>
          <a:xfrm>
            <a:off x="1121969" y="587045"/>
            <a:ext cx="3557930" cy="1143000"/>
          </a:xfrm>
          <a:prstGeom prst="round1Rect">
            <a:avLst>
              <a:gd name="adj" fmla="val 23087"/>
            </a:avLst>
          </a:prstGeom>
          <a:solidFill>
            <a:srgbClr val="FFFFFF"/>
          </a:solidFill>
          <a:ln/>
        </p:spPr>
        <p:txBody>
          <a:bodyPr/>
          <a:p/>
        </p:txBody>
      </p:sp>
      <p:sp>
        <p:nvSpPr>
          <p:cNvPr id="13" name="instr"/>
          <p:cNvSpPr/>
          <p:nvPr/>
        </p:nvSpPr>
        <p:spPr>
          <a:xfrm>
            <a:off x="1325880" y="685800"/>
            <a:ext cx="2468880" cy="960120"/>
          </a:xfrm>
          <a:prstGeom prst="rect">
            <a:avLst/>
          </a:prstGeom>
          <a:noFill/>
          <a:ln/>
        </p:spPr>
        <p:txBody>
          <a:bodyPr wrap="square" lIns="0" tIns="0" rIns="0" bIns="0" rtlCol="0" anchor="ctr"/>
          <a:lstStyle/>
          <a:p>
            <a:pPr algn="l" indent="0" marL="0">
              <a:buNone/>
            </a:pPr>
            <a:r>
              <a:rPr lang="en-US" sz="2200" dirty="0" b="1">
                <a:solidFill>
                  <a:srgbClr val="1B2236"/>
                </a:solidFill>
                <a:latin typeface="Lexend Deca" pitchFamily="34" charset="0"/>
                <a:ea typeface="Lexend Deca" pitchFamily="34" charset="-122"/>
                <a:cs typeface="Lexend Deca" pitchFamily="34" charset="-120"/>
              </a:rPr>
              <a:t>Look. Listen.</a:t>
            </a:r>
            <a:endParaRPr lang="en-US" sz="2200" dirty="0" b="1"/>
          </a:p>
          <a:p>
            <a:pPr algn="l" indent="0" marL="0">
              <a:buNone/>
            </a:pPr>
            <a:r>
              <a:rPr lang="en-US" sz="2200" dirty="0" b="1">
                <a:solidFill>
                  <a:srgbClr val="1B2236"/>
                </a:solidFill>
                <a:latin typeface="Lexend Deca" pitchFamily="34" charset="0"/>
                <a:ea typeface="Lexend Deca" pitchFamily="34" charset="-122"/>
                <a:cs typeface="Lexend Deca" pitchFamily="34" charset="-120"/>
              </a:rPr>
              <a:t>Repeat.</a:t>
            </a:r>
            <a:endParaRPr lang="en-US" sz="2200" dirty="0" b="1"/>
          </a:p>
        </p:txBody>
      </p:sp>
      <p:pic>
        <p:nvPicPr>
          <p:cNvPr id="17" name="Word picture 1" descr="Utility bill: a receipt and a lightning bolt [sign: AMOUNT DUE]"/>
          <p:cNvPicPr>
            <a:picLocks noChangeAspect="1"/>
          </p:cNvPicPr>
          <p:nvPr/>
        </p:nvPicPr>
        <p:blipFill>
          <a:blip r:embed="rId8"/>
          <a:stretch>
            <a:fillRect/>
          </a:stretch>
        </p:blipFill>
        <p:spPr>
          <a:xfrm>
            <a:off x="1448410" y="2286000"/>
            <a:ext cx="1920240" cy="1344168"/>
          </a:xfrm>
          <a:prstGeom prst="rect">
            <a:avLst/>
          </a:prstGeom>
        </p:spPr>
      </p:pic>
      <p:sp>
        <p:nvSpPr>
          <p:cNvPr id="18" name="Word label 1"/>
          <p:cNvSpPr/>
          <p:nvPr/>
        </p:nvSpPr>
        <p:spPr>
          <a:xfrm>
            <a:off x="854050" y="3703320"/>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5B3FC4"/>
                </a:solidFill>
                <a:latin typeface="Lexend Deca" pitchFamily="34" charset="0"/>
                <a:ea typeface="Lexend Deca" pitchFamily="34" charset="-122"/>
                <a:cs typeface="Lexend Deca" pitchFamily="34" charset="-120"/>
              </a:rPr>
              <a:t>★</a:t>
            </a:r>
            <a:r>
              <a:rPr lang="en-US" sz="2000" dirty="0" b="1">
                <a:solidFill>
                  <a:srgbClr val="1B2236"/>
                </a:solidFill>
                <a:latin typeface="Lexend Deca" pitchFamily="34" charset="0"/>
                <a:ea typeface="Lexend Deca" pitchFamily="34" charset="-122"/>
                <a:cs typeface="Lexend Deca" pitchFamily="34" charset="-120"/>
              </a:rPr>
              <a:t> utility bill</a:t>
            </a:r>
            <a:endParaRPr lang="en-US" sz="2000" dirty="0" b="1"/>
          </a:p>
        </p:txBody>
      </p:sp>
      <p:pic>
        <p:nvPicPr>
          <p:cNvPr id="19" name="Word picture 2" descr="Electricity: a lightning bolt and a light bulb"/>
          <p:cNvPicPr>
            <a:picLocks noChangeAspect="1"/>
          </p:cNvPicPr>
          <p:nvPr/>
        </p:nvPicPr>
        <p:blipFill>
          <a:blip r:embed="rId9"/>
          <a:stretch>
            <a:fillRect/>
          </a:stretch>
        </p:blipFill>
        <p:spPr>
          <a:xfrm>
            <a:off x="5060290" y="2286000"/>
            <a:ext cx="1920240" cy="1344168"/>
          </a:xfrm>
          <a:prstGeom prst="rect">
            <a:avLst/>
          </a:prstGeom>
        </p:spPr>
      </p:pic>
      <p:sp>
        <p:nvSpPr>
          <p:cNvPr id="20" name="Word label 2"/>
          <p:cNvSpPr/>
          <p:nvPr/>
        </p:nvSpPr>
        <p:spPr>
          <a:xfrm>
            <a:off x="4465930" y="3703320"/>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5B3FC4"/>
                </a:solidFill>
                <a:latin typeface="Lexend Deca" pitchFamily="34" charset="0"/>
                <a:ea typeface="Lexend Deca" pitchFamily="34" charset="-122"/>
                <a:cs typeface="Lexend Deca" pitchFamily="34" charset="-120"/>
              </a:rPr>
              <a:t>★</a:t>
            </a:r>
            <a:r>
              <a:rPr lang="en-US" sz="2000" dirty="0" b="1">
                <a:solidFill>
                  <a:srgbClr val="1B2236"/>
                </a:solidFill>
                <a:latin typeface="Lexend Deca" pitchFamily="34" charset="0"/>
                <a:ea typeface="Lexend Deca" pitchFamily="34" charset="-122"/>
                <a:cs typeface="Lexend Deca" pitchFamily="34" charset="-120"/>
              </a:rPr>
              <a:t> electricity</a:t>
            </a:r>
            <a:endParaRPr lang="en-US" sz="2000" dirty="0" b="1"/>
          </a:p>
        </p:txBody>
      </p:sp>
      <p:pic>
        <p:nvPicPr>
          <p:cNvPr id="21" name="Word picture 3" descr="Thermostat: a thermometer and a house [sign: 68 degrees]"/>
          <p:cNvPicPr>
            <a:picLocks noChangeAspect="1"/>
          </p:cNvPicPr>
          <p:nvPr/>
        </p:nvPicPr>
        <p:blipFill>
          <a:blip r:embed="rId10"/>
          <a:stretch>
            <a:fillRect/>
          </a:stretch>
        </p:blipFill>
        <p:spPr>
          <a:xfrm>
            <a:off x="8672170" y="2286000"/>
            <a:ext cx="1920240" cy="1344168"/>
          </a:xfrm>
          <a:prstGeom prst="rect">
            <a:avLst/>
          </a:prstGeom>
        </p:spPr>
      </p:pic>
      <p:sp>
        <p:nvSpPr>
          <p:cNvPr id="22" name="Word label 3"/>
          <p:cNvSpPr/>
          <p:nvPr/>
        </p:nvSpPr>
        <p:spPr>
          <a:xfrm>
            <a:off x="8077810" y="3703320"/>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5B3FC4"/>
                </a:solidFill>
                <a:latin typeface="Lexend Deca" pitchFamily="34" charset="0"/>
                <a:ea typeface="Lexend Deca" pitchFamily="34" charset="-122"/>
                <a:cs typeface="Lexend Deca" pitchFamily="34" charset="-120"/>
              </a:rPr>
              <a:t>★</a:t>
            </a:r>
            <a:r>
              <a:rPr lang="en-US" sz="2000" dirty="0" b="1">
                <a:solidFill>
                  <a:srgbClr val="1B2236"/>
                </a:solidFill>
                <a:latin typeface="Lexend Deca" pitchFamily="34" charset="0"/>
                <a:ea typeface="Lexend Deca" pitchFamily="34" charset="-122"/>
                <a:cs typeface="Lexend Deca" pitchFamily="34" charset="-120"/>
              </a:rPr>
              <a:t> thermostat</a:t>
            </a:r>
            <a:endParaRPr lang="en-US" sz="2000" dirty="0" b="1"/>
          </a:p>
        </p:txBody>
      </p:sp>
      <p:pic>
        <p:nvPicPr>
          <p:cNvPr id="23" name="Word picture 4" descr="Save energy: a light bulb and a check mark [sign: SAVE ENERGY]"/>
          <p:cNvPicPr>
            <a:picLocks noChangeAspect="1"/>
          </p:cNvPicPr>
          <p:nvPr/>
        </p:nvPicPr>
        <p:blipFill>
          <a:blip r:embed="rId11"/>
          <a:stretch>
            <a:fillRect/>
          </a:stretch>
        </p:blipFill>
        <p:spPr>
          <a:xfrm>
            <a:off x="1448410" y="4315968"/>
            <a:ext cx="1920240" cy="1344168"/>
          </a:xfrm>
          <a:prstGeom prst="rect">
            <a:avLst/>
          </a:prstGeom>
        </p:spPr>
      </p:pic>
      <p:sp>
        <p:nvSpPr>
          <p:cNvPr id="24" name="Word label 4"/>
          <p:cNvSpPr/>
          <p:nvPr/>
        </p:nvSpPr>
        <p:spPr>
          <a:xfrm>
            <a:off x="854050" y="5733288"/>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5B3FC4"/>
                </a:solidFill>
                <a:latin typeface="Lexend Deca" pitchFamily="34" charset="0"/>
                <a:ea typeface="Lexend Deca" pitchFamily="34" charset="-122"/>
                <a:cs typeface="Lexend Deca" pitchFamily="34" charset="-120"/>
              </a:rPr>
              <a:t>★</a:t>
            </a:r>
            <a:r>
              <a:rPr lang="en-US" sz="2000" dirty="0" b="1">
                <a:solidFill>
                  <a:srgbClr val="1B2236"/>
                </a:solidFill>
                <a:latin typeface="Lexend Deca" pitchFamily="34" charset="0"/>
                <a:ea typeface="Lexend Deca" pitchFamily="34" charset="-122"/>
                <a:cs typeface="Lexend Deca" pitchFamily="34" charset="-120"/>
              </a:rPr>
              <a:t> save energy</a:t>
            </a:r>
            <a:endParaRPr lang="en-US" sz="2000" dirty="0" b="1"/>
          </a:p>
        </p:txBody>
      </p:sp>
      <p:pic>
        <p:nvPicPr>
          <p:cNvPr id="25" name="Word picture 5" descr="Unplug: a plug and a red X"/>
          <p:cNvPicPr>
            <a:picLocks noChangeAspect="1"/>
          </p:cNvPicPr>
          <p:nvPr/>
        </p:nvPicPr>
        <p:blipFill>
          <a:blip r:embed="rId12"/>
          <a:stretch>
            <a:fillRect/>
          </a:stretch>
        </p:blipFill>
        <p:spPr>
          <a:xfrm>
            <a:off x="5060290" y="4315968"/>
            <a:ext cx="1920240" cy="1344168"/>
          </a:xfrm>
          <a:prstGeom prst="rect">
            <a:avLst/>
          </a:prstGeom>
        </p:spPr>
      </p:pic>
      <p:sp>
        <p:nvSpPr>
          <p:cNvPr id="26" name="Word label 5"/>
          <p:cNvSpPr/>
          <p:nvPr/>
        </p:nvSpPr>
        <p:spPr>
          <a:xfrm>
            <a:off x="4465930" y="5733288"/>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5B3FC4"/>
                </a:solidFill>
                <a:latin typeface="Lexend Deca" pitchFamily="34" charset="0"/>
                <a:ea typeface="Lexend Deca" pitchFamily="34" charset="-122"/>
                <a:cs typeface="Lexend Deca" pitchFamily="34" charset="-120"/>
              </a:rPr>
              <a:t>★</a:t>
            </a:r>
            <a:r>
              <a:rPr lang="en-US" sz="2000" dirty="0" b="1">
                <a:solidFill>
                  <a:srgbClr val="1B2236"/>
                </a:solidFill>
                <a:latin typeface="Lexend Deca" pitchFamily="34" charset="0"/>
                <a:ea typeface="Lexend Deca" pitchFamily="34" charset="-122"/>
                <a:cs typeface="Lexend Deca" pitchFamily="34" charset="-120"/>
              </a:rPr>
              <a:t> unplug</a:t>
            </a:r>
            <a:endParaRPr lang="en-US" sz="2000" dirty="0" b="1"/>
          </a:p>
        </p:txBody>
      </p:sp>
      <p:pic>
        <p:nvPicPr>
          <p:cNvPr id="27" name="Word picture 6" descr="Charger: a plug and a phone"/>
          <p:cNvPicPr>
            <a:picLocks noChangeAspect="1"/>
          </p:cNvPicPr>
          <p:nvPr/>
        </p:nvPicPr>
        <p:blipFill>
          <a:blip r:embed="rId13"/>
          <a:stretch>
            <a:fillRect/>
          </a:stretch>
        </p:blipFill>
        <p:spPr>
          <a:xfrm>
            <a:off x="8672170" y="4315968"/>
            <a:ext cx="1920240" cy="1344168"/>
          </a:xfrm>
          <a:prstGeom prst="rect">
            <a:avLst/>
          </a:prstGeom>
        </p:spPr>
      </p:pic>
      <p:sp>
        <p:nvSpPr>
          <p:cNvPr id="28" name="Word label 6"/>
          <p:cNvSpPr/>
          <p:nvPr/>
        </p:nvSpPr>
        <p:spPr>
          <a:xfrm>
            <a:off x="8077810" y="5733288"/>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5B3FC4"/>
                </a:solidFill>
                <a:latin typeface="Lexend Deca" pitchFamily="34" charset="0"/>
                <a:ea typeface="Lexend Deca" pitchFamily="34" charset="-122"/>
                <a:cs typeface="Lexend Deca" pitchFamily="34" charset="-120"/>
              </a:rPr>
              <a:t>★</a:t>
            </a:r>
            <a:r>
              <a:rPr lang="en-US" sz="2000" dirty="0" b="1">
                <a:solidFill>
                  <a:srgbClr val="1B2236"/>
                </a:solidFill>
                <a:latin typeface="Lexend Deca" pitchFamily="34" charset="0"/>
                <a:ea typeface="Lexend Deca" pitchFamily="34" charset="-122"/>
                <a:cs typeface="Lexend Deca" pitchFamily="34" charset="-120"/>
              </a:rPr>
              <a:t> charger</a:t>
            </a:r>
            <a:endParaRPr lang="en-US" sz="20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400"/>
                                        <p:tgtEl>
                                          <p:spTgt spid="2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4"/>
                                        </p:tgtEl>
                                        <p:attrNameLst>
                                          <p:attrName>style.visibility</p:attrName>
                                        </p:attrNameLst>
                                      </p:cBhvr>
                                      <p:to>
                                        <p:strVal val="visible"/>
                                      </p:to>
                                    </p:set>
                                    <p:animEffect transition="in" filter="fade">
                                      <p:cBhvr>
                                        <p:cTn id="22" dur="400"/>
                                        <p:tgtEl>
                                          <p:spTgt spid="2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400"/>
                                        <p:tgtEl>
                                          <p:spTgt spid="26"/>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8"/>
                                        </p:tgtEl>
                                        <p:attrNameLst>
                                          <p:attrName>style.visibility</p:attrName>
                                        </p:attrNameLst>
                                      </p:cBhvr>
                                      <p:to>
                                        <p:strVal val="visible"/>
                                      </p:to>
                                    </p:set>
                                    <p:animEffect transition="in" filter="fade">
                                      <p:cBhvr>
                                        <p:cTn id="32"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p="http://schemas.openxmlformats.org/presentationml/2006/main" xmlns:r="http://schemas.openxmlformats.org/officeDocument/2006/relationships">
  <p:cSld name="L4:words">
    <p:bg>
      <p:bgPr>
        <a:solidFill>
          <a:srgbClr val="F1F5FB"/>
        </a:solidFill>
      </p:bgPr>
    </p:bg>
    <p:spTree>
      <p:nvGrpSpPr>
        <p:cNvPr id="1" name=""/>
        <p:cNvGrpSpPr/>
        <p:nvPr/>
      </p:nvGrpSpPr>
      <p:grpSpPr/>
      <p:sp>
        <p:nvSpPr>
          <p:cNvPr id="2" name="Shape 0"/>
          <p:cNvSpPr/>
          <p:nvPr/>
        </p:nvSpPr>
        <p:spPr>
          <a:xfrm flipH="1" flipV="1">
            <a:off x="541325" y="2231136"/>
            <a:ext cx="10958170" cy="4343400"/>
          </a:xfrm>
          <a:prstGeom prst="round1Rect">
            <a:avLst>
              <a:gd name="adj" fmla="val 23087"/>
            </a:avLst>
          </a:prstGeom>
          <a:solidFill>
            <a:srgbClr val="8FAFE3"/>
          </a:solidFill>
          <a:ln/>
        </p:spPr>
        <p:txBody>
          <a:bodyPr/>
          <a:p/>
        </p:txBody>
      </p:sp>
      <p:sp>
        <p:nvSpPr>
          <p:cNvPr id="3" name="Shape 1"/>
          <p:cNvSpPr/>
          <p:nvPr/>
        </p:nvSpPr>
        <p:spPr>
          <a:xfrm flipH="1" flipV="1">
            <a:off x="541325" y="2090318"/>
            <a:ext cx="10958170" cy="4343400"/>
          </a:xfrm>
          <a:prstGeom prst="round1Rect">
            <a:avLst>
              <a:gd name="adj" fmla="val 23087"/>
            </a:avLst>
          </a:prstGeom>
          <a:solidFill>
            <a:srgbClr val="B9D2F7"/>
          </a:solidFill>
          <a:ln/>
        </p:spPr>
        <p:txBody>
          <a:bodyPr/>
          <a:p/>
        </p:txBody>
      </p:sp>
      <p:sp>
        <p:nvSpPr>
          <p:cNvPr id="6" name="Shape 4"/>
          <p:cNvSpPr/>
          <p:nvPr/>
        </p:nvSpPr>
        <p:spPr>
          <a:xfrm>
            <a:off x="5630738" y="517002"/>
            <a:ext cx="6063386" cy="1331366"/>
          </a:xfrm>
          <a:prstGeom prst="roundRect">
            <a:avLst>
              <a:gd name="adj" fmla="val 16667"/>
            </a:avLst>
          </a:prstGeom>
          <a:solidFill>
            <a:srgbClr val="8FAFE3"/>
          </a:solidFill>
          <a:ln/>
        </p:spPr>
        <p:txBody>
          <a:bodyPr/>
          <a:p/>
        </p:txBody>
      </p:sp>
      <p:sp>
        <p:nvSpPr>
          <p:cNvPr id="7" name="Shape 5"/>
          <p:cNvSpPr/>
          <p:nvPr/>
        </p:nvSpPr>
        <p:spPr>
          <a:xfrm>
            <a:off x="5666537" y="462686"/>
            <a:ext cx="6063386" cy="1331366"/>
          </a:xfrm>
          <a:prstGeom prst="roundRect">
            <a:avLst>
              <a:gd name="adj" fmla="val 16667"/>
            </a:avLst>
          </a:prstGeom>
          <a:solidFill>
            <a:srgbClr val="FFFFFF"/>
          </a:solidFill>
          <a:ln/>
        </p:spPr>
        <p:txBody>
          <a:bodyPr/>
          <a:p/>
        </p:txBody>
      </p:sp>
      <p:sp>
        <p:nvSpPr>
          <p:cNvPr id="8" name="title"/>
          <p:cNvSpPr/>
          <p:nvPr/>
        </p:nvSpPr>
        <p:spPr>
          <a:xfrm>
            <a:off x="5938114" y="594360"/>
            <a:ext cx="5669280" cy="1143000"/>
          </a:xfrm>
          <a:prstGeom prst="rect">
            <a:avLst/>
          </a:prstGeom>
          <a:noFill/>
          <a:ln/>
        </p:spPr>
        <p:txBody>
          <a:bodyPr wrap="square" rtlCol="0" anchor="ctr"/>
          <a:lstStyle/>
          <a:p>
            <a:pPr algn="l" indent="0" marL="0">
              <a:buNone/>
            </a:pPr>
            <a:r>
              <a:rPr lang="en-US" sz="4900" dirty="0" b="1">
                <a:solidFill>
                  <a:srgbClr val="1B2236"/>
                </a:solidFill>
                <a:latin typeface="Lexend Deca" pitchFamily="34" charset="0"/>
                <a:ea typeface="Lexend Deca" pitchFamily="34" charset="-122"/>
                <a:cs typeface="Lexend Deca" pitchFamily="34" charset="-120"/>
              </a:rPr>
              <a:t>More New Words</a:t>
            </a:r>
            <a:endParaRPr lang="en-US" sz="4900" dirty="0" b="1"/>
          </a:p>
        </p:txBody>
      </p:sp>
      <p:sp>
        <p:nvSpPr>
          <p:cNvPr id="9" name="instr card"/>
          <p:cNvSpPr/>
          <p:nvPr/>
        </p:nvSpPr>
        <p:spPr>
          <a:xfrm>
            <a:off x="1121969" y="587045"/>
            <a:ext cx="3291840" cy="1143000"/>
          </a:xfrm>
          <a:prstGeom prst="round1Rect">
            <a:avLst>
              <a:gd name="adj" fmla="val 23087"/>
            </a:avLst>
          </a:prstGeom>
          <a:solidFill>
            <a:srgbClr val="FFFFFF"/>
          </a:solidFill>
          <a:ln/>
        </p:spPr>
        <p:txBody>
          <a:bodyPr/>
          <a:p/>
        </p:txBody>
      </p:sp>
      <p:sp>
        <p:nvSpPr>
          <p:cNvPr id="13" name="instr"/>
          <p:cNvSpPr/>
          <p:nvPr/>
        </p:nvSpPr>
        <p:spPr>
          <a:xfrm>
            <a:off x="1325880" y="685800"/>
            <a:ext cx="2880360" cy="960120"/>
          </a:xfrm>
          <a:prstGeom prst="rect">
            <a:avLst/>
          </a:prstGeom>
          <a:noFill/>
          <a:ln/>
        </p:spPr>
        <p:txBody>
          <a:bodyPr wrap="square" lIns="0" tIns="0" rIns="0" bIns="0" rtlCol="0" anchor="ctr"/>
          <a:lstStyle/>
          <a:p>
            <a:pPr algn="l" indent="0" marL="0">
              <a:buNone/>
            </a:pPr>
            <a:r>
              <a:rPr lang="en-US" sz="2200" dirty="0" b="1">
                <a:solidFill>
                  <a:srgbClr val="1B2236"/>
                </a:solidFill>
                <a:latin typeface="Lexend Deca" pitchFamily="34" charset="0"/>
                <a:ea typeface="Lexend Deca" pitchFamily="34" charset="-122"/>
                <a:cs typeface="Lexend Deca" pitchFamily="34" charset="-120"/>
              </a:rPr>
              <a:t>Partner game:</a:t>
            </a:r>
            <a:endParaRPr lang="en-US" sz="2200" dirty="0" b="1"/>
          </a:p>
          <a:p>
            <a:pPr algn="l" indent="0" marL="0">
              <a:buNone/>
            </a:pPr>
            <a:r>
              <a:rPr lang="en-US" sz="2200" dirty="0" b="1">
                <a:solidFill>
                  <a:srgbClr val="1B2236"/>
                </a:solidFill>
                <a:latin typeface="Lexend Deca" pitchFamily="34" charset="0"/>
                <a:ea typeface="Lexend Deca" pitchFamily="34" charset="-122"/>
                <a:cs typeface="Lexend Deca" pitchFamily="34" charset="-120"/>
              </a:rPr>
              <a:t>Turn it off!</a:t>
            </a:r>
            <a:endParaRPr lang="en-US" sz="2200" dirty="0" b="1"/>
          </a:p>
        </p:txBody>
      </p:sp>
      <p:pic>
        <p:nvPicPr>
          <p:cNvPr id="17" name="Word picture 1" descr="Outlet: a plug [sign: OUTLET]"/>
          <p:cNvPicPr>
            <a:picLocks noChangeAspect="1"/>
          </p:cNvPicPr>
          <p:nvPr/>
        </p:nvPicPr>
        <p:blipFill>
          <a:blip r:embed="rId8"/>
          <a:stretch>
            <a:fillRect/>
          </a:stretch>
        </p:blipFill>
        <p:spPr>
          <a:xfrm>
            <a:off x="1448410" y="2286000"/>
            <a:ext cx="1920240" cy="1344168"/>
          </a:xfrm>
          <a:prstGeom prst="rect">
            <a:avLst/>
          </a:prstGeom>
        </p:spPr>
      </p:pic>
      <p:sp>
        <p:nvSpPr>
          <p:cNvPr id="18" name="Word label 1"/>
          <p:cNvSpPr/>
          <p:nvPr/>
        </p:nvSpPr>
        <p:spPr>
          <a:xfrm>
            <a:off x="854050" y="3703320"/>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5B3FC4"/>
                </a:solidFill>
                <a:latin typeface="Lexend Deca" pitchFamily="34" charset="0"/>
                <a:ea typeface="Lexend Deca" pitchFamily="34" charset="-122"/>
                <a:cs typeface="Lexend Deca" pitchFamily="34" charset="-120"/>
              </a:rPr>
              <a:t>★</a:t>
            </a:r>
            <a:r>
              <a:rPr lang="en-US" sz="2000" dirty="0" b="1">
                <a:solidFill>
                  <a:srgbClr val="1B2236"/>
                </a:solidFill>
                <a:latin typeface="Lexend Deca" pitchFamily="34" charset="0"/>
                <a:ea typeface="Lexend Deca" pitchFamily="34" charset="-122"/>
                <a:cs typeface="Lexend Deca" pitchFamily="34" charset="-120"/>
              </a:rPr>
              <a:t> outlet</a:t>
            </a:r>
            <a:endParaRPr lang="en-US" sz="2000" dirty="0" b="1"/>
          </a:p>
        </p:txBody>
      </p:sp>
      <p:pic>
        <p:nvPicPr>
          <p:cNvPr id="19" name="Word picture 2" descr="Fan: a wind face and a puff of air [sign: FAN]"/>
          <p:cNvPicPr>
            <a:picLocks noChangeAspect="1"/>
          </p:cNvPicPr>
          <p:nvPr/>
        </p:nvPicPr>
        <p:blipFill>
          <a:blip r:embed="rId9"/>
          <a:stretch>
            <a:fillRect/>
          </a:stretch>
        </p:blipFill>
        <p:spPr>
          <a:xfrm>
            <a:off x="5060290" y="2286000"/>
            <a:ext cx="1920240" cy="1344168"/>
          </a:xfrm>
          <a:prstGeom prst="rect">
            <a:avLst/>
          </a:prstGeom>
        </p:spPr>
      </p:pic>
      <p:sp>
        <p:nvSpPr>
          <p:cNvPr id="20" name="Word label 2"/>
          <p:cNvSpPr/>
          <p:nvPr/>
        </p:nvSpPr>
        <p:spPr>
          <a:xfrm>
            <a:off x="4465930" y="3703320"/>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5B3FC4"/>
                </a:solidFill>
                <a:latin typeface="Lexend Deca" pitchFamily="34" charset="0"/>
                <a:ea typeface="Lexend Deca" pitchFamily="34" charset="-122"/>
                <a:cs typeface="Lexend Deca" pitchFamily="34" charset="-120"/>
              </a:rPr>
              <a:t>★</a:t>
            </a:r>
            <a:r>
              <a:rPr lang="en-US" sz="2000" dirty="0" b="1">
                <a:solidFill>
                  <a:srgbClr val="1B2236"/>
                </a:solidFill>
                <a:latin typeface="Lexend Deca" pitchFamily="34" charset="0"/>
                <a:ea typeface="Lexend Deca" pitchFamily="34" charset="-122"/>
                <a:cs typeface="Lexend Deca" pitchFamily="34" charset="-120"/>
              </a:rPr>
              <a:t> fan</a:t>
            </a:r>
            <a:endParaRPr lang="en-US" sz="2000" dirty="0" b="1"/>
          </a:p>
        </p:txBody>
      </p:sp>
      <p:pic>
        <p:nvPicPr>
          <p:cNvPr id="21" name="Word picture 3" descr="Deadbolt: a lock and a door"/>
          <p:cNvPicPr>
            <a:picLocks noChangeAspect="1"/>
          </p:cNvPicPr>
          <p:nvPr/>
        </p:nvPicPr>
        <p:blipFill>
          <a:blip r:embed="rId10"/>
          <a:stretch>
            <a:fillRect/>
          </a:stretch>
        </p:blipFill>
        <p:spPr>
          <a:xfrm>
            <a:off x="8672170" y="2286000"/>
            <a:ext cx="1920240" cy="1344168"/>
          </a:xfrm>
          <a:prstGeom prst="rect">
            <a:avLst/>
          </a:prstGeom>
        </p:spPr>
      </p:pic>
      <p:sp>
        <p:nvSpPr>
          <p:cNvPr id="22" name="Word label 3"/>
          <p:cNvSpPr/>
          <p:nvPr/>
        </p:nvSpPr>
        <p:spPr>
          <a:xfrm>
            <a:off x="8077810" y="3703320"/>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5B3FC4"/>
                </a:solidFill>
                <a:latin typeface="Lexend Deca" pitchFamily="34" charset="0"/>
                <a:ea typeface="Lexend Deca" pitchFamily="34" charset="-122"/>
                <a:cs typeface="Lexend Deca" pitchFamily="34" charset="-120"/>
              </a:rPr>
              <a:t>★</a:t>
            </a:r>
            <a:r>
              <a:rPr lang="en-US" sz="2000" dirty="0" b="1">
                <a:solidFill>
                  <a:srgbClr val="1B2236"/>
                </a:solidFill>
                <a:latin typeface="Lexend Deca" pitchFamily="34" charset="0"/>
                <a:ea typeface="Lexend Deca" pitchFamily="34" charset="-122"/>
                <a:cs typeface="Lexend Deca" pitchFamily="34" charset="-120"/>
              </a:rPr>
              <a:t> deadbolt</a:t>
            </a:r>
            <a:endParaRPr lang="en-US" sz="2000" dirty="0" b="1"/>
          </a:p>
        </p:txBody>
      </p:sp>
      <p:pic>
        <p:nvPicPr>
          <p:cNvPr id="23" name="Word picture 4" descr="Peephole: an eye and a door"/>
          <p:cNvPicPr>
            <a:picLocks noChangeAspect="1"/>
          </p:cNvPicPr>
          <p:nvPr/>
        </p:nvPicPr>
        <p:blipFill>
          <a:blip r:embed="rId11"/>
          <a:stretch>
            <a:fillRect/>
          </a:stretch>
        </p:blipFill>
        <p:spPr>
          <a:xfrm>
            <a:off x="1448410" y="4315968"/>
            <a:ext cx="1920240" cy="1344168"/>
          </a:xfrm>
          <a:prstGeom prst="rect">
            <a:avLst/>
          </a:prstGeom>
        </p:spPr>
      </p:pic>
      <p:sp>
        <p:nvSpPr>
          <p:cNvPr id="24" name="Word label 4"/>
          <p:cNvSpPr/>
          <p:nvPr/>
        </p:nvSpPr>
        <p:spPr>
          <a:xfrm>
            <a:off x="854050" y="5733288"/>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5B3FC4"/>
                </a:solidFill>
                <a:latin typeface="Lexend Deca" pitchFamily="34" charset="0"/>
                <a:ea typeface="Lexend Deca" pitchFamily="34" charset="-122"/>
                <a:cs typeface="Lexend Deca" pitchFamily="34" charset="-120"/>
              </a:rPr>
              <a:t>★</a:t>
            </a:r>
            <a:r>
              <a:rPr lang="en-US" sz="2000" dirty="0" b="1">
                <a:solidFill>
                  <a:srgbClr val="1B2236"/>
                </a:solidFill>
                <a:latin typeface="Lexend Deca" pitchFamily="34" charset="0"/>
                <a:ea typeface="Lexend Deca" pitchFamily="34" charset="-122"/>
                <a:cs typeface="Lexend Deca" pitchFamily="34" charset="-120"/>
              </a:rPr>
              <a:t> peephole</a:t>
            </a:r>
            <a:endParaRPr lang="en-US" sz="2000" dirty="0" b="1"/>
          </a:p>
        </p:txBody>
      </p:sp>
      <p:pic>
        <p:nvPicPr>
          <p:cNvPr id="25" name="Word picture 5" descr="Fire extinguisher: a fire extinguisher"/>
          <p:cNvPicPr>
            <a:picLocks noChangeAspect="1"/>
          </p:cNvPicPr>
          <p:nvPr/>
        </p:nvPicPr>
        <p:blipFill>
          <a:blip r:embed="rId12"/>
          <a:stretch>
            <a:fillRect/>
          </a:stretch>
        </p:blipFill>
        <p:spPr>
          <a:xfrm>
            <a:off x="5060290" y="4315968"/>
            <a:ext cx="1920240" cy="1344168"/>
          </a:xfrm>
          <a:prstGeom prst="rect">
            <a:avLst/>
          </a:prstGeom>
        </p:spPr>
      </p:pic>
      <p:sp>
        <p:nvSpPr>
          <p:cNvPr id="26" name="Word label 5"/>
          <p:cNvSpPr/>
          <p:nvPr/>
        </p:nvSpPr>
        <p:spPr>
          <a:xfrm>
            <a:off x="4465930" y="5733288"/>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800" dirty="0" b="1">
                <a:solidFill>
                  <a:srgbClr val="5B3FC4"/>
                </a:solidFill>
                <a:latin typeface="Lexend Deca" pitchFamily="34" charset="0"/>
                <a:ea typeface="Lexend Deca" pitchFamily="34" charset="-122"/>
                <a:cs typeface="Lexend Deca" pitchFamily="34" charset="-120"/>
              </a:rPr>
              <a:t>★</a:t>
            </a:r>
            <a:r>
              <a:rPr lang="en-US" sz="1800" dirty="0" b="1">
                <a:solidFill>
                  <a:srgbClr val="1B2236"/>
                </a:solidFill>
                <a:latin typeface="Lexend Deca" pitchFamily="34" charset="0"/>
                <a:ea typeface="Lexend Deca" pitchFamily="34" charset="-122"/>
                <a:cs typeface="Lexend Deca" pitchFamily="34" charset="-120"/>
              </a:rPr>
              <a:t> fire extinguisher</a:t>
            </a:r>
            <a:endParaRPr lang="en-US" sz="1800" dirty="0" b="1"/>
          </a:p>
        </p:txBody>
      </p:sp>
      <p:pic>
        <p:nvPicPr>
          <p:cNvPr id="27" name="Word picture 6" descr="Usage: a bar chart and a lightning bolt [sign: USAGE]"/>
          <p:cNvPicPr>
            <a:picLocks noChangeAspect="1"/>
          </p:cNvPicPr>
          <p:nvPr/>
        </p:nvPicPr>
        <p:blipFill>
          <a:blip r:embed="rId13"/>
          <a:stretch>
            <a:fillRect/>
          </a:stretch>
        </p:blipFill>
        <p:spPr>
          <a:xfrm>
            <a:off x="8672170" y="4315968"/>
            <a:ext cx="1920240" cy="1344168"/>
          </a:xfrm>
          <a:prstGeom prst="rect">
            <a:avLst/>
          </a:prstGeom>
        </p:spPr>
      </p:pic>
      <p:sp>
        <p:nvSpPr>
          <p:cNvPr id="28" name="Word label 6"/>
          <p:cNvSpPr/>
          <p:nvPr/>
        </p:nvSpPr>
        <p:spPr>
          <a:xfrm>
            <a:off x="8077810" y="5733288"/>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usage</a:t>
            </a:r>
            <a:endParaRPr lang="en-US" sz="20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400"/>
                                        <p:tgtEl>
                                          <p:spTgt spid="2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4"/>
                                        </p:tgtEl>
                                        <p:attrNameLst>
                                          <p:attrName>style.visibility</p:attrName>
                                        </p:attrNameLst>
                                      </p:cBhvr>
                                      <p:to>
                                        <p:strVal val="visible"/>
                                      </p:to>
                                    </p:set>
                                    <p:animEffect transition="in" filter="fade">
                                      <p:cBhvr>
                                        <p:cTn id="22" dur="400"/>
                                        <p:tgtEl>
                                          <p:spTgt spid="2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400"/>
                                        <p:tgtEl>
                                          <p:spTgt spid="26"/>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8"/>
                                        </p:tgtEl>
                                        <p:attrNameLst>
                                          <p:attrName>style.visibility</p:attrName>
                                        </p:attrNameLst>
                                      </p:cBhvr>
                                      <p:to>
                                        <p:strVal val="visible"/>
                                      </p:to>
                                    </p:set>
                                    <p:animEffect transition="in" filter="fade">
                                      <p:cBhvr>
                                        <p:cTn id="32"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p="http://schemas.openxmlformats.org/presentationml/2006/main" xmlns:r="http://schemas.openxmlformats.org/officeDocument/2006/relationships">
  <p:cSld name="L4:check">
    <p:bg>
      <p:bgPr>
        <a:solidFill>
          <a:srgbClr val="F1F5FB"/>
        </a:solidFill>
      </p:bgPr>
    </p:bg>
    <p:spTree>
      <p:nvGrpSpPr>
        <p:cNvPr id="1" name=""/>
        <p:cNvGrpSpPr/>
        <p:nvPr/>
      </p:nvGrpSpPr>
      <p:grpSpPr/>
      <p:sp>
        <p:nvSpPr>
          <p:cNvPr id="2" name="title"/>
          <p:cNvSpPr/>
          <p:nvPr/>
        </p:nvSpPr>
        <p:spPr>
          <a:xfrm>
            <a:off x="685800" y="502920"/>
            <a:ext cx="10789920" cy="1005840"/>
          </a:xfrm>
          <a:prstGeom prst="rect">
            <a:avLst/>
          </a:prstGeom>
          <a:noFill/>
          <a:ln/>
        </p:spPr>
        <p:txBody>
          <a:bodyPr wrap="square" rtlCol="0" anchor="ctr"/>
          <a:lstStyle/>
          <a:p>
            <a:pPr algn="l" indent="0" marL="0">
              <a:buNone/>
            </a:pPr>
            <a:r>
              <a:rPr lang="en-US" sz="4300" dirty="0" b="1">
                <a:solidFill>
                  <a:srgbClr val="1B2236"/>
                </a:solidFill>
                <a:latin typeface="Lexend Deca" pitchFamily="34" charset="0"/>
                <a:ea typeface="Lexend Deca" pitchFamily="34" charset="-122"/>
                <a:cs typeface="Lexend Deca" pitchFamily="34" charset="-120"/>
              </a:rPr>
              <a:t>Check the Meaning</a:t>
            </a:r>
            <a:endParaRPr lang="en-US" sz="4300" dirty="0" b="1"/>
          </a:p>
        </p:txBody>
      </p:sp>
      <p:sp>
        <p:nvSpPr>
          <p:cNvPr id="3" name="sub"/>
          <p:cNvSpPr/>
          <p:nvPr/>
        </p:nvSpPr>
        <p:spPr>
          <a:xfrm>
            <a:off x="685800" y="1554480"/>
            <a:ext cx="10789920" cy="548640"/>
          </a:xfrm>
          <a:prstGeom prst="rect">
            <a:avLst/>
          </a:prstGeom>
          <a:noFill/>
          <a:ln/>
        </p:spPr>
        <p:txBody>
          <a:bodyPr wrap="square" rtlCol="0" anchor="t"/>
          <a:lstStyle/>
          <a:p>
            <a:pPr algn="l" indent="0" marL="0">
              <a:buNone/>
            </a:pPr>
            <a:r>
              <a:rPr lang="en-US" sz="2400" dirty="0">
                <a:solidFill>
                  <a:srgbClr val="1B2236"/>
                </a:solidFill>
                <a:latin typeface="Lexend Deca" pitchFamily="34" charset="0"/>
                <a:ea typeface="Lexend Deca" pitchFamily="34" charset="-122"/>
                <a:cs typeface="Lexend Deca" pitchFamily="34" charset="-120"/>
              </a:rPr>
              <a:t>Look at the picture. Answer the question.</a:t>
            </a:r>
            <a:endParaRPr lang="en-US" sz="2400" dirty="0"/>
          </a:p>
        </p:txBody>
      </p:sp>
      <p:sp>
        <p:nvSpPr>
          <p:cNvPr id="4" name="R1 shadow"/>
          <p:cNvSpPr/>
          <p:nvPr/>
        </p:nvSpPr>
        <p:spPr>
          <a:xfrm>
            <a:off x="758952" y="2395728"/>
            <a:ext cx="3291840" cy="3383280"/>
          </a:xfrm>
          <a:prstGeom prst="round1Rect">
            <a:avLst>
              <a:gd name="adj" fmla="val 23087"/>
            </a:avLst>
          </a:prstGeom>
          <a:solidFill>
            <a:srgbClr val="8FAFE3"/>
          </a:solidFill>
          <a:ln/>
        </p:spPr>
        <p:txBody>
          <a:bodyPr/>
          <a:p/>
        </p:txBody>
      </p:sp>
      <p:sp>
        <p:nvSpPr>
          <p:cNvPr id="5" name="R1 card"/>
          <p:cNvSpPr/>
          <p:nvPr/>
        </p:nvSpPr>
        <p:spPr>
          <a:xfrm>
            <a:off x="685800" y="2286000"/>
            <a:ext cx="3291840" cy="3383280"/>
          </a:xfrm>
          <a:prstGeom prst="round1Rect">
            <a:avLst>
              <a:gd name="adj" fmla="val 23087"/>
            </a:avLst>
          </a:prstGeom>
          <a:solidFill>
            <a:srgbClr val="FFFFFF"/>
          </a:solidFill>
          <a:ln w="19050">
            <a:solidFill>
              <a:srgbClr val="8FAFE3"/>
            </a:solidFill>
            <a:prstDash val="solid"/>
          </a:ln>
        </p:spPr>
        <p:txBody>
          <a:bodyPr/>
          <a:p/>
        </p:txBody>
      </p:sp>
      <p:sp>
        <p:nvSpPr>
          <p:cNvPr id="6" name="R1 circle"/>
          <p:cNvSpPr/>
          <p:nvPr/>
        </p:nvSpPr>
        <p:spPr>
          <a:xfrm>
            <a:off x="960120" y="2560320"/>
            <a:ext cx="731520" cy="731520"/>
          </a:xfrm>
          <a:prstGeom prst="ellipse">
            <a:avLst/>
          </a:prstGeom>
          <a:solidFill>
            <a:srgbClr val="FFE28C"/>
          </a:solidFill>
          <a:ln/>
        </p:spPr>
        <p:txBody>
          <a:bodyPr/>
          <a:p/>
        </p:txBody>
      </p:sp>
      <p:sp>
        <p:nvSpPr>
          <p:cNvPr id="7" name="R1 num"/>
          <p:cNvSpPr/>
          <p:nvPr/>
        </p:nvSpPr>
        <p:spPr>
          <a:xfrm>
            <a:off x="960120" y="2560320"/>
            <a:ext cx="731520" cy="731520"/>
          </a:xfrm>
          <a:prstGeom prst="rect">
            <a:avLst/>
          </a:prstGeom>
          <a:noFill/>
          <a:ln/>
        </p:spPr>
        <p:txBody>
          <a:bodyPr wrap="square" lIns="0" tIns="0" rIns="0" bIns="0" rtlCol="0" anchor="ctr"/>
          <a:lstStyle/>
          <a:p>
            <a:pPr algn="ctr" indent="0" marL="0">
              <a:buNone/>
            </a:pPr>
            <a:r>
              <a:rPr lang="en-US" sz="2500" b="1" dirty="0">
                <a:solidFill>
                  <a:srgbClr val="1B2236"/>
                </a:solidFill>
                <a:latin typeface="Lexend Deca" pitchFamily="34" charset="0"/>
                <a:ea typeface="Lexend Deca" pitchFamily="34" charset="-122"/>
                <a:cs typeface="Lexend Deca" pitchFamily="34" charset="-120"/>
              </a:rPr>
              <a:t>1</a:t>
            </a:r>
            <a:endParaRPr lang="en-US" sz="2500" dirty="0"/>
          </a:p>
        </p:txBody>
      </p:sp>
      <p:sp>
        <p:nvSpPr>
          <p:cNvPr id="8" name="R1 q"/>
          <p:cNvSpPr/>
          <p:nvPr/>
        </p:nvSpPr>
        <p:spPr>
          <a:xfrm>
            <a:off x="960120" y="3931920"/>
            <a:ext cx="2788920" cy="731520"/>
          </a:xfrm>
          <a:prstGeom prst="rect">
            <a:avLst/>
          </a:prstGeom>
          <a:noFill/>
          <a:ln/>
        </p:spPr>
        <p:txBody>
          <a:bodyPr wrap="square" rtlCol="0" anchor="t"/>
          <a:lstStyle/>
          <a:p>
            <a:pPr algn="l" indent="0" marL="0">
              <a:buNone/>
            </a:pPr>
            <a:r>
              <a:rPr lang="en-US" sz="1600" dirty="0" b="1">
                <a:solidFill>
                  <a:srgbClr val="1B2236"/>
                </a:solidFill>
                <a:latin typeface="Lexend Deca" pitchFamily="34" charset="0"/>
                <a:ea typeface="Lexend Deca" pitchFamily="34" charset="-122"/>
                <a:cs typeface="Lexend Deca" pitchFamily="34" charset="-120"/>
              </a:rPr>
              <a:t>Do you plug a charger into an outlet or a peephole?</a:t>
            </a:r>
            <a:endParaRPr lang="en-US" sz="1600" dirty="0" b="1"/>
          </a:p>
        </p:txBody>
      </p:sp>
      <p:pic>
        <p:nvPicPr>
          <p:cNvPr id="101" name="R1 pic" descr="Charger: a plug and a phone"/>
          <p:cNvPicPr>
            <a:picLocks noChangeAspect="1"/>
          </p:cNvPicPr>
          <p:nvPr/>
        </p:nvPicPr>
        <p:blipFill>
          <a:blip r:embed="rId5"/>
          <a:stretch>
            <a:fillRect/>
          </a:stretch>
        </p:blipFill>
        <p:spPr>
          <a:xfrm>
            <a:off x="1783080" y="2560320"/>
            <a:ext cx="1920240" cy="1344168"/>
          </a:xfrm>
          <a:prstGeom prst="rect">
            <a:avLst/>
          </a:prstGeom>
        </p:spPr>
      </p:pic>
      <p:sp>
        <p:nvSpPr>
          <p:cNvPr id="10" name="R2 shadow"/>
          <p:cNvSpPr/>
          <p:nvPr/>
        </p:nvSpPr>
        <p:spPr>
          <a:xfrm>
            <a:off x="4416552" y="2395728"/>
            <a:ext cx="3291840" cy="3383280"/>
          </a:xfrm>
          <a:prstGeom prst="round1Rect">
            <a:avLst>
              <a:gd name="adj" fmla="val 23087"/>
            </a:avLst>
          </a:prstGeom>
          <a:solidFill>
            <a:srgbClr val="8FAFE3"/>
          </a:solidFill>
          <a:ln/>
        </p:spPr>
        <p:txBody>
          <a:bodyPr/>
          <a:p/>
        </p:txBody>
      </p:sp>
      <p:sp>
        <p:nvSpPr>
          <p:cNvPr id="11" name="R2 card"/>
          <p:cNvSpPr/>
          <p:nvPr/>
        </p:nvSpPr>
        <p:spPr>
          <a:xfrm>
            <a:off x="4343400" y="2286000"/>
            <a:ext cx="3291840" cy="3383280"/>
          </a:xfrm>
          <a:prstGeom prst="round1Rect">
            <a:avLst>
              <a:gd name="adj" fmla="val 23087"/>
            </a:avLst>
          </a:prstGeom>
          <a:solidFill>
            <a:srgbClr val="C9B8F2"/>
          </a:solidFill>
          <a:ln w="19050">
            <a:solidFill>
              <a:srgbClr val="8FAFE3"/>
            </a:solidFill>
            <a:prstDash val="solid"/>
          </a:ln>
        </p:spPr>
        <p:txBody>
          <a:bodyPr/>
          <a:p/>
        </p:txBody>
      </p:sp>
      <p:sp>
        <p:nvSpPr>
          <p:cNvPr id="12" name="R2 circle"/>
          <p:cNvSpPr/>
          <p:nvPr/>
        </p:nvSpPr>
        <p:spPr>
          <a:xfrm>
            <a:off x="4617720" y="2560320"/>
            <a:ext cx="731520" cy="731520"/>
          </a:xfrm>
          <a:prstGeom prst="ellipse">
            <a:avLst/>
          </a:prstGeom>
          <a:solidFill>
            <a:srgbClr val="FFE28C"/>
          </a:solidFill>
          <a:ln/>
        </p:spPr>
        <p:txBody>
          <a:bodyPr/>
          <a:p/>
        </p:txBody>
      </p:sp>
      <p:sp>
        <p:nvSpPr>
          <p:cNvPr id="13" name="R2 num"/>
          <p:cNvSpPr/>
          <p:nvPr/>
        </p:nvSpPr>
        <p:spPr>
          <a:xfrm>
            <a:off x="4617720" y="2560320"/>
            <a:ext cx="731520" cy="731520"/>
          </a:xfrm>
          <a:prstGeom prst="rect">
            <a:avLst/>
          </a:prstGeom>
          <a:noFill/>
          <a:ln/>
        </p:spPr>
        <p:txBody>
          <a:bodyPr wrap="square" lIns="0" tIns="0" rIns="0" bIns="0" rtlCol="0" anchor="ctr"/>
          <a:lstStyle/>
          <a:p>
            <a:pPr algn="ctr" indent="0" marL="0">
              <a:buNone/>
            </a:pPr>
            <a:r>
              <a:rPr lang="en-US" sz="2500" b="1" dirty="0">
                <a:solidFill>
                  <a:srgbClr val="1B2236"/>
                </a:solidFill>
                <a:latin typeface="Lexend Deca" pitchFamily="34" charset="0"/>
                <a:ea typeface="Lexend Deca" pitchFamily="34" charset="-122"/>
                <a:cs typeface="Lexend Deca" pitchFamily="34" charset="-120"/>
              </a:rPr>
              <a:t>2</a:t>
            </a:r>
            <a:endParaRPr lang="en-US" sz="2500" dirty="0"/>
          </a:p>
        </p:txBody>
      </p:sp>
      <p:sp>
        <p:nvSpPr>
          <p:cNvPr id="14" name="R2 q"/>
          <p:cNvSpPr/>
          <p:nvPr/>
        </p:nvSpPr>
        <p:spPr>
          <a:xfrm>
            <a:off x="4617720" y="3931920"/>
            <a:ext cx="2788920" cy="731520"/>
          </a:xfrm>
          <a:prstGeom prst="rect">
            <a:avLst/>
          </a:prstGeom>
          <a:noFill/>
          <a:ln/>
        </p:spPr>
        <p:txBody>
          <a:bodyPr wrap="square" rtlCol="0" anchor="t"/>
          <a:lstStyle/>
          <a:p>
            <a:pPr algn="l" indent="0" marL="0">
              <a:buNone/>
            </a:pPr>
            <a:r>
              <a:rPr lang="en-US" sz="1600" dirty="0" b="1">
                <a:solidFill>
                  <a:srgbClr val="1B2236"/>
                </a:solidFill>
                <a:latin typeface="Lexend Deca" pitchFamily="34" charset="0"/>
                <a:ea typeface="Lexend Deca" pitchFamily="34" charset="-122"/>
                <a:cs typeface="Lexend Deca" pitchFamily="34" charset="-120"/>
              </a:rPr>
              <a:t>Is a deadbolt a lock or a light?</a:t>
            </a:r>
            <a:endParaRPr lang="en-US" sz="1600" dirty="0" b="1"/>
          </a:p>
        </p:txBody>
      </p:sp>
      <p:pic>
        <p:nvPicPr>
          <p:cNvPr id="102" name="R2 pic" descr="Deadbolt: a lock and a door"/>
          <p:cNvPicPr>
            <a:picLocks noChangeAspect="1"/>
          </p:cNvPicPr>
          <p:nvPr/>
        </p:nvPicPr>
        <p:blipFill>
          <a:blip r:embed="rId6"/>
          <a:stretch>
            <a:fillRect/>
          </a:stretch>
        </p:blipFill>
        <p:spPr>
          <a:xfrm>
            <a:off x="5440680" y="2560320"/>
            <a:ext cx="1920240" cy="1344168"/>
          </a:xfrm>
          <a:prstGeom prst="rect">
            <a:avLst/>
          </a:prstGeom>
        </p:spPr>
      </p:pic>
      <p:sp>
        <p:nvSpPr>
          <p:cNvPr id="16" name="R3 shadow"/>
          <p:cNvSpPr/>
          <p:nvPr/>
        </p:nvSpPr>
        <p:spPr>
          <a:xfrm>
            <a:off x="8074152" y="2395728"/>
            <a:ext cx="3291840" cy="3383280"/>
          </a:xfrm>
          <a:prstGeom prst="round1Rect">
            <a:avLst>
              <a:gd name="adj" fmla="val 23087"/>
            </a:avLst>
          </a:prstGeom>
          <a:solidFill>
            <a:srgbClr val="8FAFE3"/>
          </a:solidFill>
          <a:ln/>
        </p:spPr>
        <p:txBody>
          <a:bodyPr/>
          <a:p/>
        </p:txBody>
      </p:sp>
      <p:sp>
        <p:nvSpPr>
          <p:cNvPr id="17" name="R3 card"/>
          <p:cNvSpPr/>
          <p:nvPr/>
        </p:nvSpPr>
        <p:spPr>
          <a:xfrm>
            <a:off x="8001000" y="2286000"/>
            <a:ext cx="3291840" cy="3383280"/>
          </a:xfrm>
          <a:prstGeom prst="round1Rect">
            <a:avLst>
              <a:gd name="adj" fmla="val 23087"/>
            </a:avLst>
          </a:prstGeom>
          <a:solidFill>
            <a:srgbClr val="FFFFFF"/>
          </a:solidFill>
          <a:ln w="19050">
            <a:solidFill>
              <a:srgbClr val="8FAFE3"/>
            </a:solidFill>
            <a:prstDash val="solid"/>
          </a:ln>
        </p:spPr>
        <p:txBody>
          <a:bodyPr/>
          <a:p/>
        </p:txBody>
      </p:sp>
      <p:sp>
        <p:nvSpPr>
          <p:cNvPr id="18" name="R3 circle"/>
          <p:cNvSpPr/>
          <p:nvPr/>
        </p:nvSpPr>
        <p:spPr>
          <a:xfrm>
            <a:off x="8275320" y="2560320"/>
            <a:ext cx="731520" cy="731520"/>
          </a:xfrm>
          <a:prstGeom prst="ellipse">
            <a:avLst/>
          </a:prstGeom>
          <a:solidFill>
            <a:srgbClr val="FFE28C"/>
          </a:solidFill>
          <a:ln/>
        </p:spPr>
        <p:txBody>
          <a:bodyPr/>
          <a:p/>
        </p:txBody>
      </p:sp>
      <p:sp>
        <p:nvSpPr>
          <p:cNvPr id="19" name="R3 num"/>
          <p:cNvSpPr/>
          <p:nvPr/>
        </p:nvSpPr>
        <p:spPr>
          <a:xfrm>
            <a:off x="8275320" y="2560320"/>
            <a:ext cx="731520" cy="731520"/>
          </a:xfrm>
          <a:prstGeom prst="rect">
            <a:avLst/>
          </a:prstGeom>
          <a:noFill/>
          <a:ln/>
        </p:spPr>
        <p:txBody>
          <a:bodyPr wrap="square" lIns="0" tIns="0" rIns="0" bIns="0" rtlCol="0" anchor="ctr"/>
          <a:lstStyle/>
          <a:p>
            <a:pPr algn="ctr" indent="0" marL="0">
              <a:buNone/>
            </a:pPr>
            <a:r>
              <a:rPr lang="en-US" sz="2500" b="1" dirty="0">
                <a:solidFill>
                  <a:srgbClr val="1B2236"/>
                </a:solidFill>
                <a:latin typeface="Lexend Deca" pitchFamily="34" charset="0"/>
                <a:ea typeface="Lexend Deca" pitchFamily="34" charset="-122"/>
                <a:cs typeface="Lexend Deca" pitchFamily="34" charset="-120"/>
              </a:rPr>
              <a:t>3</a:t>
            </a:r>
            <a:endParaRPr lang="en-US" sz="2500" dirty="0"/>
          </a:p>
        </p:txBody>
      </p:sp>
      <p:sp>
        <p:nvSpPr>
          <p:cNvPr id="20" name="R3 q"/>
          <p:cNvSpPr/>
          <p:nvPr/>
        </p:nvSpPr>
        <p:spPr>
          <a:xfrm>
            <a:off x="8275320" y="3931920"/>
            <a:ext cx="2788920" cy="731520"/>
          </a:xfrm>
          <a:prstGeom prst="rect">
            <a:avLst/>
          </a:prstGeom>
          <a:noFill/>
          <a:ln/>
        </p:spPr>
        <p:txBody>
          <a:bodyPr wrap="square" rtlCol="0" anchor="t"/>
          <a:lstStyle/>
          <a:p>
            <a:pPr algn="l" indent="0" marL="0">
              <a:buNone/>
            </a:pPr>
            <a:r>
              <a:rPr lang="en-US" sz="1600" dirty="0" b="1">
                <a:solidFill>
                  <a:srgbClr val="1B2236"/>
                </a:solidFill>
                <a:latin typeface="Lexend Deca" pitchFamily="34" charset="0"/>
                <a:ea typeface="Lexend Deca" pitchFamily="34" charset="-122"/>
                <a:cs typeface="Lexend Deca" pitchFamily="34" charset="-120"/>
              </a:rPr>
              <a:t>Does a thermostat control the heat or the water?</a:t>
            </a:r>
            <a:endParaRPr lang="en-US" sz="1600" dirty="0" b="1"/>
          </a:p>
        </p:txBody>
      </p:sp>
      <p:pic>
        <p:nvPicPr>
          <p:cNvPr id="103" name="R3 pic" descr="Thermostat: a thermometer and a house [sign: 68 degrees]"/>
          <p:cNvPicPr>
            <a:picLocks noChangeAspect="1"/>
          </p:cNvPicPr>
          <p:nvPr/>
        </p:nvPicPr>
        <p:blipFill>
          <a:blip r:embed="rId7"/>
          <a:stretch>
            <a:fillRect/>
          </a:stretch>
        </p:blipFill>
        <p:spPr>
          <a:xfrm>
            <a:off x="9098280" y="2560320"/>
            <a:ext cx="1920240" cy="1344168"/>
          </a:xfrm>
          <a:prstGeom prst="rect">
            <a:avLst/>
          </a:prstGeom>
        </p:spPr>
      </p:pic>
      <p:sp>
        <p:nvSpPr>
          <p:cNvPr id="25" name="R1 ans"/>
          <p:cNvSpPr/>
          <p:nvPr/>
        </p:nvSpPr>
        <p:spPr>
          <a:xfrm>
            <a:off x="960120" y="4709160"/>
            <a:ext cx="2286000" cy="685800"/>
          </a:xfrm>
          <a:prstGeom prst="roundRect">
            <a:avLst>
              <a:gd name="adj" fmla="val 22000"/>
            </a:avLst>
          </a:prstGeom>
          <a:solidFill>
            <a:srgbClr val="FFE28C"/>
          </a:solidFill>
          <a:ln w="38100">
            <a:noFill/>
          </a:ln>
        </p:spPr>
        <p:txBody>
          <a:bodyPr wrap="square" lIns="73152" tIns="36576" rIns="73152" bIns="36576" rtlCol="0" anchor="ctr">
            <a:noAutofit/>
          </a:bodyPr>
          <a:lstStyle/>
          <a:p>
            <a:pPr algn="ctr" indent="0" marL="0">
              <a:buNone/>
            </a:pPr>
            <a:r>
              <a:rPr lang="en-US" sz="2200" dirty="0" b="1">
                <a:solidFill>
                  <a:srgbClr val="1B2236"/>
                </a:solidFill>
                <a:latin typeface="Lexend Deca" pitchFamily="34" charset="0"/>
                <a:ea typeface="Lexend Deca" pitchFamily="34" charset="-122"/>
                <a:cs typeface="Lexend Deca" pitchFamily="34" charset="-120"/>
              </a:rPr>
              <a:t>an outlet</a:t>
            </a:r>
            <a:endParaRPr lang="en-US" sz="2200" dirty="0" b="1"/>
          </a:p>
        </p:txBody>
      </p:sp>
      <p:sp>
        <p:nvSpPr>
          <p:cNvPr id="26" name="R2 ans"/>
          <p:cNvSpPr/>
          <p:nvPr/>
        </p:nvSpPr>
        <p:spPr>
          <a:xfrm>
            <a:off x="4617720" y="4709160"/>
            <a:ext cx="2286000" cy="685800"/>
          </a:xfrm>
          <a:prstGeom prst="roundRect">
            <a:avLst>
              <a:gd name="adj" fmla="val 22000"/>
            </a:avLst>
          </a:prstGeom>
          <a:solidFill>
            <a:srgbClr val="FFE28C"/>
          </a:solidFill>
          <a:ln w="38100">
            <a:noFill/>
          </a:ln>
        </p:spPr>
        <p:txBody>
          <a:bodyPr wrap="square" lIns="73152" tIns="36576" rIns="73152" bIns="36576" rtlCol="0" anchor="ctr">
            <a:noAutofit/>
          </a:bodyPr>
          <a:lstStyle/>
          <a:p>
            <a:pPr algn="ctr" indent="0" marL="0">
              <a:buNone/>
            </a:pPr>
            <a:r>
              <a:rPr lang="en-US" sz="2800" dirty="0" b="1">
                <a:solidFill>
                  <a:srgbClr val="1B2236"/>
                </a:solidFill>
                <a:latin typeface="Lexend Deca" pitchFamily="34" charset="0"/>
                <a:ea typeface="Lexend Deca" pitchFamily="34" charset="-122"/>
                <a:cs typeface="Lexend Deca" pitchFamily="34" charset="-120"/>
              </a:rPr>
              <a:t>a lock</a:t>
            </a:r>
            <a:endParaRPr lang="en-US" sz="2800" dirty="0" b="1"/>
          </a:p>
        </p:txBody>
      </p:sp>
      <p:sp>
        <p:nvSpPr>
          <p:cNvPr id="27" name="R3 ans"/>
          <p:cNvSpPr/>
          <p:nvPr/>
        </p:nvSpPr>
        <p:spPr>
          <a:xfrm>
            <a:off x="8275320" y="4709160"/>
            <a:ext cx="2286000" cy="685800"/>
          </a:xfrm>
          <a:prstGeom prst="roundRect">
            <a:avLst>
              <a:gd name="adj" fmla="val 22000"/>
            </a:avLst>
          </a:prstGeom>
          <a:solidFill>
            <a:srgbClr val="FFE28C"/>
          </a:solidFill>
          <a:ln w="38100">
            <a:noFill/>
          </a:ln>
        </p:spPr>
        <p:txBody>
          <a:bodyPr wrap="square" lIns="73152" tIns="36576" rIns="73152" bIns="36576" rtlCol="0" anchor="ctr">
            <a:noAutofit/>
          </a:bodyPr>
          <a:lstStyle/>
          <a:p>
            <a:pPr algn="ctr" indent="0" marL="0">
              <a:buNone/>
            </a:pPr>
            <a:r>
              <a:rPr lang="en-US" sz="2800" dirty="0" b="1">
                <a:solidFill>
                  <a:srgbClr val="1B2236"/>
                </a:solidFill>
                <a:latin typeface="Lexend Deca" pitchFamily="34" charset="0"/>
                <a:ea typeface="Lexend Deca" pitchFamily="34" charset="-122"/>
                <a:cs typeface="Lexend Deca" pitchFamily="34" charset="-120"/>
              </a:rPr>
              <a:t>the heat</a:t>
            </a:r>
            <a:endParaRPr lang="en-US" sz="28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5"/>
                                        </p:tgtEl>
                                        <p:attrNameLst>
                                          <p:attrName>style.visibility</p:attrName>
                                        </p:attrNameLst>
                                      </p:cBhvr>
                                      <p:to>
                                        <p:strVal val="visible"/>
                                      </p:to>
                                    </p:set>
                                    <p:animEffect transition="in" filter="fade">
                                      <p:cBhvr>
                                        <p:cTn id="7" dur="400"/>
                                        <p:tgtEl>
                                          <p:spTgt spid="2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p="http://schemas.openxmlformats.org/presentationml/2006/main" xmlns:r="http://schemas.openxmlformats.org/officeDocument/2006/relationships">
  <p:cSld name="L4:before">
    <p:bg>
      <p:bgPr>
        <a:solidFill>
          <a:srgbClr val="F1F5FB"/>
        </a:solidFill>
      </p:bgPr>
    </p:bg>
    <p:spTree>
      <p:nvGrpSpPr>
        <p:cNvPr id="1" name=""/>
        <p:cNvGrpSpPr/>
        <p:nvPr/>
      </p:nvGrpSpPr>
      <p:grpSpPr/>
      <p:sp>
        <p:nvSpPr>
          <p:cNvPr id="2" name="Shape 0"/>
          <p:cNvSpPr/>
          <p:nvPr/>
        </p:nvSpPr>
        <p:spPr>
          <a:xfrm>
            <a:off x="0" y="0"/>
            <a:ext cx="3063240" cy="6858000"/>
          </a:xfrm>
          <a:prstGeom prst="rect">
            <a:avLst/>
          </a:prstGeom>
          <a:solidFill>
            <a:srgbClr val="B9D2F7"/>
          </a:solidFill>
          <a:ln/>
        </p:spPr>
        <p:txBody>
          <a:bodyPr/>
          <a:p/>
        </p:txBody>
      </p:sp>
      <p:sp>
        <p:nvSpPr>
          <p:cNvPr id="4" name="Shape 2"/>
          <p:cNvSpPr/>
          <p:nvPr/>
        </p:nvSpPr>
        <p:spPr>
          <a:xfrm>
            <a:off x="8156448" y="1289304"/>
            <a:ext cx="3429000" cy="4983480"/>
          </a:xfrm>
          <a:prstGeom prst="round1Rect">
            <a:avLst>
              <a:gd name="adj" fmla="val 23087"/>
            </a:avLst>
          </a:prstGeom>
          <a:solidFill>
            <a:srgbClr val="8FAFE3"/>
          </a:solidFill>
          <a:ln/>
        </p:spPr>
        <p:txBody>
          <a:bodyPr/>
          <a:p/>
        </p:txBody>
      </p:sp>
      <p:sp>
        <p:nvSpPr>
          <p:cNvPr id="5" name="Shape 3"/>
          <p:cNvSpPr/>
          <p:nvPr/>
        </p:nvSpPr>
        <p:spPr>
          <a:xfrm>
            <a:off x="8321040" y="1097280"/>
            <a:ext cx="3429000" cy="4983480"/>
          </a:xfrm>
          <a:prstGeom prst="round1Rect">
            <a:avLst>
              <a:gd name="adj" fmla="val 23087"/>
            </a:avLst>
          </a:prstGeom>
          <a:solidFill>
            <a:srgbClr val="B9D2F7"/>
          </a:solidFill>
          <a:ln/>
        </p:spPr>
        <p:txBody>
          <a:bodyPr/>
          <a:p/>
        </p:txBody>
      </p:sp>
      <p:sp>
        <p:nvSpPr>
          <p:cNvPr id="6" name="Shape 4"/>
          <p:cNvSpPr/>
          <p:nvPr/>
        </p:nvSpPr>
        <p:spPr>
          <a:xfrm>
            <a:off x="3394847" y="1032586"/>
            <a:ext cx="4424782" cy="1863547"/>
          </a:xfrm>
          <a:prstGeom prst="roundRect">
            <a:avLst>
              <a:gd name="adj" fmla="val 16667"/>
            </a:avLst>
          </a:prstGeom>
          <a:solidFill>
            <a:srgbClr val="8FAFE3"/>
          </a:solidFill>
          <a:ln/>
        </p:spPr>
        <p:txBody>
          <a:bodyPr/>
          <a:p/>
        </p:txBody>
      </p:sp>
      <p:sp>
        <p:nvSpPr>
          <p:cNvPr id="7" name="Shape 5"/>
          <p:cNvSpPr/>
          <p:nvPr/>
        </p:nvSpPr>
        <p:spPr>
          <a:xfrm>
            <a:off x="3420770" y="956462"/>
            <a:ext cx="4424782" cy="1863547"/>
          </a:xfrm>
          <a:prstGeom prst="roundRect">
            <a:avLst>
              <a:gd name="adj" fmla="val 16667"/>
            </a:avLst>
          </a:prstGeom>
          <a:solidFill>
            <a:srgbClr val="FFFFFF"/>
          </a:solidFill>
          <a:ln/>
        </p:spPr>
        <p:txBody>
          <a:bodyPr/>
          <a:p/>
        </p:txBody>
      </p:sp>
      <p:sp>
        <p:nvSpPr>
          <p:cNvPr id="8" name="title1"/>
          <p:cNvSpPr/>
          <p:nvPr/>
        </p:nvSpPr>
        <p:spPr>
          <a:xfrm>
            <a:off x="3566160" y="1078992"/>
            <a:ext cx="4114800" cy="749808"/>
          </a:xfrm>
          <a:prstGeom prst="rect">
            <a:avLst/>
          </a:prstGeom>
          <a:noFill/>
          <a:ln/>
        </p:spPr>
        <p:txBody>
          <a:bodyPr wrap="square" rtlCol="0" anchor="ctr"/>
          <a:lstStyle/>
          <a:p>
            <a:pPr algn="l" indent="0" marL="0">
              <a:buNone/>
            </a:pPr>
            <a:r>
              <a:rPr lang="en-US" sz="4400" dirty="0" b="1">
                <a:solidFill>
                  <a:srgbClr val="1B2236"/>
                </a:solidFill>
                <a:latin typeface="Lexend Deca" pitchFamily="34" charset="0"/>
                <a:ea typeface="Lexend Deca" pitchFamily="34" charset="-122"/>
                <a:cs typeface="Lexend Deca" pitchFamily="34" charset="-120"/>
              </a:rPr>
              <a:t>Before You</a:t>
            </a:r>
            <a:endParaRPr lang="en-US" sz="4400" dirty="0" b="1"/>
          </a:p>
        </p:txBody>
      </p:sp>
      <p:sp>
        <p:nvSpPr>
          <p:cNvPr id="9" name="title2"/>
          <p:cNvSpPr/>
          <p:nvPr/>
        </p:nvSpPr>
        <p:spPr>
          <a:xfrm>
            <a:off x="3566160" y="1828800"/>
            <a:ext cx="4114800" cy="822960"/>
          </a:xfrm>
          <a:prstGeom prst="rect">
            <a:avLst/>
          </a:prstGeom>
          <a:noFill/>
          <a:ln/>
        </p:spPr>
        <p:txBody>
          <a:bodyPr wrap="square" rtlCol="0" anchor="ctr"/>
          <a:lstStyle/>
          <a:p>
            <a:pPr algn="l" indent="0" marL="0">
              <a:buNone/>
            </a:pPr>
            <a:r>
              <a:rPr lang="en-US" sz="4400" dirty="0" b="1">
                <a:solidFill>
                  <a:srgbClr val="1B2236"/>
                </a:solidFill>
                <a:latin typeface="Lexend Deca" pitchFamily="34" charset="0"/>
                <a:ea typeface="Lexend Deca" pitchFamily="34" charset="-122"/>
                <a:cs typeface="Lexend Deca" pitchFamily="34" charset="-120"/>
              </a:rPr>
              <a:t>Listen</a:t>
            </a:r>
            <a:endParaRPr lang="en-US" sz="4400" dirty="0" b="1"/>
          </a:p>
        </p:txBody>
      </p:sp>
      <p:sp>
        <p:nvSpPr>
          <p:cNvPr id="10" name="context"/>
          <p:cNvSpPr/>
          <p:nvPr/>
        </p:nvSpPr>
        <p:spPr>
          <a:xfrm>
            <a:off x="3487522" y="3108960"/>
            <a:ext cx="4206240" cy="868680"/>
          </a:xfrm>
          <a:prstGeom prst="rect">
            <a:avLst/>
          </a:prstGeom>
          <a:noFill/>
          <a:ln/>
        </p:spPr>
        <p:txBody>
          <a:bodyPr wrap="square" lIns="0" tIns="0" rIns="0" bIns="0" rtlCol="0" anchor="ctr"/>
          <a:lstStyle/>
          <a:p>
            <a:pPr algn="l" indent="0" marL="0">
              <a:buNone/>
            </a:pPr>
            <a:r>
              <a:rPr lang="en-US" sz="1600" dirty="0">
                <a:solidFill>
                  <a:srgbClr val="1B2236"/>
                </a:solidFill>
                <a:latin typeface="Lexend Deca" pitchFamily="34" charset="0"/>
                <a:ea typeface="Lexend Deca" pitchFamily="34" charset="-122"/>
                <a:cs typeface="Lexend Deca" pitchFamily="34" charset="-120"/>
              </a:rPr>
              <a:t>Two roommates, Sofia and Hana, look at a high electric bill and make a plan. Then Sofia calls the electric company.</a:t>
            </a:r>
            <a:endParaRPr lang="en-US" sz="1600" dirty="0"/>
          </a:p>
        </p:txBody>
      </p:sp>
      <p:sp>
        <p:nvSpPr>
          <p:cNvPr id="11" name="R1 num"/>
          <p:cNvSpPr/>
          <p:nvPr/>
        </p:nvSpPr>
        <p:spPr>
          <a:xfrm>
            <a:off x="3383280" y="4114800"/>
            <a:ext cx="1005840" cy="822960"/>
          </a:xfrm>
          <a:prstGeom prst="rect">
            <a:avLst/>
          </a:prstGeom>
          <a:noFill/>
          <a:ln/>
        </p:spPr>
        <p:txBody>
          <a:bodyPr wrap="square" rtlCol="0" anchor="ctr"/>
          <a:lstStyle/>
          <a:p>
            <a:pPr algn="l" indent="0" marL="0">
              <a:buNone/>
            </a:pPr>
            <a:r>
              <a:rPr lang="en-US" sz="3600" dirty="0" b="1">
                <a:solidFill>
                  <a:srgbClr val="1B2236"/>
                </a:solidFill>
                <a:latin typeface="Lexend Deca" pitchFamily="34" charset="0"/>
                <a:ea typeface="Lexend Deca" pitchFamily="34" charset="-122"/>
                <a:cs typeface="Lexend Deca" pitchFamily="34" charset="-120"/>
              </a:rPr>
              <a:t>01</a:t>
            </a:r>
            <a:endParaRPr lang="en-US" sz="3600" dirty="0"/>
          </a:p>
        </p:txBody>
      </p:sp>
      <p:sp>
        <p:nvSpPr>
          <p:cNvPr id="13" name="R2 num"/>
          <p:cNvSpPr/>
          <p:nvPr/>
        </p:nvSpPr>
        <p:spPr>
          <a:xfrm>
            <a:off x="3383280" y="4919472"/>
            <a:ext cx="1005840" cy="822960"/>
          </a:xfrm>
          <a:prstGeom prst="rect">
            <a:avLst/>
          </a:prstGeom>
          <a:noFill/>
          <a:ln/>
        </p:spPr>
        <p:txBody>
          <a:bodyPr wrap="square" rtlCol="0" anchor="ctr"/>
          <a:lstStyle/>
          <a:p>
            <a:pPr algn="l" indent="0" marL="0">
              <a:buNone/>
            </a:pPr>
            <a:r>
              <a:rPr lang="en-US" sz="3600" dirty="0" b="1">
                <a:solidFill>
                  <a:srgbClr val="1B2236"/>
                </a:solidFill>
                <a:latin typeface="Lexend Deca" pitchFamily="34" charset="0"/>
                <a:ea typeface="Lexend Deca" pitchFamily="34" charset="-122"/>
                <a:cs typeface="Lexend Deca" pitchFamily="34" charset="-120"/>
              </a:rPr>
              <a:t>02</a:t>
            </a:r>
            <a:endParaRPr lang="en-US" sz="3600" dirty="0"/>
          </a:p>
        </p:txBody>
      </p:sp>
      <p:sp>
        <p:nvSpPr>
          <p:cNvPr id="15" name="R3 num"/>
          <p:cNvSpPr/>
          <p:nvPr/>
        </p:nvSpPr>
        <p:spPr>
          <a:xfrm>
            <a:off x="3383280" y="5724144"/>
            <a:ext cx="1005840" cy="822960"/>
          </a:xfrm>
          <a:prstGeom prst="rect">
            <a:avLst/>
          </a:prstGeom>
          <a:noFill/>
          <a:ln/>
        </p:spPr>
        <p:txBody>
          <a:bodyPr wrap="square" rtlCol="0" anchor="ctr"/>
          <a:lstStyle/>
          <a:p>
            <a:pPr algn="l" indent="0" marL="0">
              <a:buNone/>
            </a:pPr>
            <a:r>
              <a:rPr lang="en-US" sz="3600" dirty="0" b="1">
                <a:solidFill>
                  <a:srgbClr val="1B2236"/>
                </a:solidFill>
                <a:latin typeface="Lexend Deca" pitchFamily="34" charset="0"/>
                <a:ea typeface="Lexend Deca" pitchFamily="34" charset="-122"/>
                <a:cs typeface="Lexend Deca" pitchFamily="34" charset="-120"/>
              </a:rPr>
              <a:t>03</a:t>
            </a:r>
            <a:endParaRPr lang="en-US" sz="3600" dirty="0"/>
          </a:p>
        </p:txBody>
      </p:sp>
      <p:sp>
        <p:nvSpPr>
          <p:cNvPr id="17" name="line 1"/>
          <p:cNvSpPr/>
          <p:nvPr/>
        </p:nvSpPr>
        <p:spPr>
          <a:xfrm>
            <a:off x="3503066" y="4928616"/>
            <a:ext cx="4480560" cy="0"/>
          </a:xfrm>
          <a:prstGeom prst="line">
            <a:avLst/>
          </a:prstGeom>
          <a:noFill/>
          <a:ln w="6350">
            <a:solidFill>
              <a:srgbClr val="1B2236"/>
            </a:solidFill>
            <a:prstDash val="solid"/>
          </a:ln>
        </p:spPr>
        <p:txBody>
          <a:bodyPr/>
          <a:p/>
        </p:txBody>
      </p:sp>
      <p:sp>
        <p:nvSpPr>
          <p:cNvPr id="18" name="line 2"/>
          <p:cNvSpPr/>
          <p:nvPr/>
        </p:nvSpPr>
        <p:spPr>
          <a:xfrm>
            <a:off x="3503066" y="5733288"/>
            <a:ext cx="4480560" cy="0"/>
          </a:xfrm>
          <a:prstGeom prst="line">
            <a:avLst/>
          </a:prstGeom>
          <a:noFill/>
          <a:ln w="6350">
            <a:solidFill>
              <a:srgbClr val="1B2236"/>
            </a:solidFill>
            <a:prstDash val="solid"/>
          </a:ln>
        </p:spPr>
        <p:txBody>
          <a:bodyPr/>
          <a:p/>
        </p:txBody>
      </p:sp>
      <p:pic>
        <p:nvPicPr>
          <p:cNvPr id="24" name="pic" descr="Charger: a plug and a phone"/>
          <p:cNvPicPr>
            <a:picLocks noChangeAspect="1"/>
          </p:cNvPicPr>
          <p:nvPr/>
        </p:nvPicPr>
        <p:blipFill>
          <a:blip r:embed="rId3"/>
          <a:stretch>
            <a:fillRect/>
          </a:stretch>
        </p:blipFill>
        <p:spPr>
          <a:xfrm>
            <a:off x="160020" y="2423160"/>
            <a:ext cx="2743200" cy="1920240"/>
          </a:xfrm>
          <a:prstGeom prst="rect">
            <a:avLst/>
          </a:prstGeom>
        </p:spPr>
      </p:pic>
      <p:sp>
        <p:nvSpPr>
          <p:cNvPr id="25" name="R1 hl"/>
          <p:cNvSpPr/>
          <p:nvPr/>
        </p:nvSpPr>
        <p:spPr>
          <a:xfrm>
            <a:off x="4389120" y="4251960"/>
            <a:ext cx="3566160" cy="548640"/>
          </a:xfrm>
          <a:prstGeom prst="roundRect">
            <a:avLst>
              <a:gd name="adj" fmla="val 22000"/>
            </a:avLst>
          </a:prstGeom>
          <a:solidFill>
            <a:srgbClr val="FFE28C"/>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7" name="R1 voice"/>
          <p:cNvSpPr/>
          <p:nvPr/>
        </p:nvSpPr>
        <p:spPr>
          <a:xfrm>
            <a:off x="4389120" y="4251960"/>
            <a:ext cx="3566160" cy="548640"/>
          </a:xfrm>
          <a:prstGeom prst="rect">
            <a:avLst/>
          </a:prstGeom>
          <a:noFill/>
          <a:ln w="38100">
            <a:noFill/>
          </a:ln>
        </p:spPr>
        <p:txBody>
          <a:bodyPr wrap="square" lIns="0" tIns="36576" rIns="0" bIns="36576" rtlCol="0" anchor="ctr">
            <a:noAutofit/>
          </a:bodyPr>
          <a:lstStyle/>
          <a:p>
            <a:pPr algn="ctr" indent="0" marL="0">
              <a:buNone/>
            </a:pPr>
            <a:r>
              <a:rPr lang="en-US" sz="2200" dirty="0" b="1">
                <a:solidFill>
                  <a:srgbClr val="1B2236"/>
                </a:solidFill>
                <a:latin typeface="Lexend Deca" pitchFamily="34" charset="0"/>
                <a:ea typeface="Lexend Deca" pitchFamily="34" charset="-122"/>
                <a:cs typeface="Lexend Deca" pitchFamily="34" charset="-120"/>
              </a:rPr>
              <a:t>Sofia</a:t>
            </a:r>
            <a:endParaRPr lang="en-US" sz="2200" dirty="0" b="1"/>
          </a:p>
        </p:txBody>
      </p:sp>
      <p:sp>
        <p:nvSpPr>
          <p:cNvPr id="29" name="R2 hl"/>
          <p:cNvSpPr/>
          <p:nvPr/>
        </p:nvSpPr>
        <p:spPr>
          <a:xfrm>
            <a:off x="4389120" y="5056632"/>
            <a:ext cx="3566160" cy="548640"/>
          </a:xfrm>
          <a:prstGeom prst="roundRect">
            <a:avLst>
              <a:gd name="adj" fmla="val 22000"/>
            </a:avLst>
          </a:prstGeom>
          <a:solidFill>
            <a:srgbClr val="FFE28C"/>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31" name="R2 voice"/>
          <p:cNvSpPr/>
          <p:nvPr/>
        </p:nvSpPr>
        <p:spPr>
          <a:xfrm>
            <a:off x="4389120" y="5056632"/>
            <a:ext cx="3566160" cy="548640"/>
          </a:xfrm>
          <a:prstGeom prst="rect">
            <a:avLst/>
          </a:prstGeom>
          <a:noFill/>
          <a:ln w="38100">
            <a:noFill/>
          </a:ln>
        </p:spPr>
        <p:txBody>
          <a:bodyPr wrap="square" lIns="0" tIns="36576" rIns="0" bIns="36576" rtlCol="0" anchor="ctr">
            <a:noAutofit/>
          </a:bodyPr>
          <a:lstStyle/>
          <a:p>
            <a:pPr algn="ctr" indent="0" marL="0">
              <a:buNone/>
            </a:pPr>
            <a:r>
              <a:rPr lang="en-US" sz="2200" dirty="0" b="1">
                <a:solidFill>
                  <a:srgbClr val="1B2236"/>
                </a:solidFill>
                <a:latin typeface="Lexend Deca" pitchFamily="34" charset="0"/>
                <a:ea typeface="Lexend Deca" pitchFamily="34" charset="-122"/>
                <a:cs typeface="Lexend Deca" pitchFamily="34" charset="-120"/>
              </a:rPr>
              <a:t>Hana</a:t>
            </a:r>
            <a:endParaRPr lang="en-US" sz="2200" dirty="0" b="1"/>
          </a:p>
        </p:txBody>
      </p:sp>
      <p:sp>
        <p:nvSpPr>
          <p:cNvPr id="33" name="R3 hl"/>
          <p:cNvSpPr/>
          <p:nvPr/>
        </p:nvSpPr>
        <p:spPr>
          <a:xfrm>
            <a:off x="4389120" y="5861304"/>
            <a:ext cx="3566160" cy="548640"/>
          </a:xfrm>
          <a:prstGeom prst="roundRect">
            <a:avLst>
              <a:gd name="adj" fmla="val 22000"/>
            </a:avLst>
          </a:prstGeom>
          <a:solidFill>
            <a:srgbClr val="FFE28C"/>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35" name="R3 voice"/>
          <p:cNvSpPr/>
          <p:nvPr/>
        </p:nvSpPr>
        <p:spPr>
          <a:xfrm>
            <a:off x="4389120" y="5861304"/>
            <a:ext cx="3566160" cy="548640"/>
          </a:xfrm>
          <a:prstGeom prst="rect">
            <a:avLst/>
          </a:prstGeom>
          <a:noFill/>
          <a:ln w="38100">
            <a:noFill/>
          </a:ln>
        </p:spPr>
        <p:txBody>
          <a:bodyPr wrap="square" lIns="0" tIns="36576" rIns="0" bIns="36576" rtlCol="0" anchor="ctr">
            <a:noAutofit/>
          </a:bodyPr>
          <a:lstStyle/>
          <a:p>
            <a:pPr algn="ctr" indent="0" marL="0">
              <a:buNone/>
            </a:pPr>
            <a:r>
              <a:rPr lang="en-US" sz="2200" dirty="0" b="1">
                <a:solidFill>
                  <a:srgbClr val="1B2236"/>
                </a:solidFill>
                <a:latin typeface="Lexend Deca" pitchFamily="34" charset="0"/>
                <a:ea typeface="Lexend Deca" pitchFamily="34" charset="-122"/>
                <a:cs typeface="Lexend Deca" pitchFamily="34" charset="-120"/>
              </a:rPr>
              <a:t>Paul</a:t>
            </a:r>
            <a:endParaRPr lang="en-US" sz="2200" dirty="0" b="1"/>
          </a:p>
        </p:txBody>
      </p:sp>
      <p:sp>
        <p:nvSpPr>
          <p:cNvPr id="37" name="listen head"/>
          <p:cNvSpPr/>
          <p:nvPr/>
        </p:nvSpPr>
        <p:spPr>
          <a:xfrm>
            <a:off x="8549640" y="1280160"/>
            <a:ext cx="3017520" cy="548640"/>
          </a:xfrm>
          <a:prstGeom prst="rect">
            <a:avLst/>
          </a:prstGeom>
          <a:noFill/>
          <a:ln w="38100">
            <a:noFill/>
          </a:ln>
        </p:spPr>
        <p:txBody>
          <a:bodyPr wrap="square" lIns="73152" tIns="36576" rIns="73152" bIns="36576" rtlCol="0" anchor="ctr">
            <a:noAutofit/>
          </a:bodyPr>
          <a:lstStyle/>
          <a:p>
            <a:pPr algn="l" indent="0" marL="0">
              <a:buNone/>
            </a:pPr>
            <a:r>
              <a:rPr lang="en-US" sz="2400" dirty="0" b="1">
                <a:solidFill>
                  <a:srgbClr val="1B2236"/>
                </a:solidFill>
                <a:latin typeface="Lexend Deca" pitchFamily="34" charset="0"/>
                <a:ea typeface="Lexend Deca" pitchFamily="34" charset="-122"/>
                <a:cs typeface="Lexend Deca" pitchFamily="34" charset="-120"/>
              </a:rPr>
              <a:t>Listen for:</a:t>
            </a:r>
            <a:endParaRPr lang="en-US" sz="2400" dirty="0" b="1"/>
          </a:p>
        </p:txBody>
      </p:sp>
      <p:sp>
        <p:nvSpPr>
          <p:cNvPr id="39" name="listen 1"/>
          <p:cNvSpPr/>
          <p:nvPr/>
        </p:nvSpPr>
        <p:spPr>
          <a:xfrm>
            <a:off x="8549640" y="1965960"/>
            <a:ext cx="3063240" cy="914400"/>
          </a:xfrm>
          <a:prstGeom prst="rect">
            <a:avLst/>
          </a:prstGeom>
          <a:noFill/>
          <a:ln w="38100">
            <a:noFill/>
          </a:ln>
        </p:spPr>
        <p:txBody>
          <a:bodyPr wrap="square" lIns="73152" tIns="36576" rIns="73152" bIns="36576" rtlCol="0" anchor="ctr">
            <a:noAutofit/>
          </a:bodyPr>
          <a:lstStyle/>
          <a:p>
            <a:pPr algn="l" indent="0" marL="0">
              <a:buNone/>
            </a:pPr>
            <a:r>
              <a:rPr lang="en-US" sz="2200" dirty="0">
                <a:solidFill>
                  <a:srgbClr val="1B2236"/>
                </a:solidFill>
                <a:latin typeface="Lexend Deca" pitchFamily="34" charset="0"/>
                <a:ea typeface="Lexend Deca" pitchFamily="34" charset="-122"/>
                <a:cs typeface="Lexend Deca" pitchFamily="34" charset="-120"/>
              </a:rPr>
              <a:t>What is the problem?</a:t>
            </a:r>
            <a:endParaRPr lang="en-US" sz="2200" dirty="0"/>
          </a:p>
        </p:txBody>
      </p:sp>
      <p:sp>
        <p:nvSpPr>
          <p:cNvPr id="41" name="listen 2"/>
          <p:cNvSpPr/>
          <p:nvPr/>
        </p:nvSpPr>
        <p:spPr>
          <a:xfrm>
            <a:off x="8549640" y="3017520"/>
            <a:ext cx="3063240" cy="914400"/>
          </a:xfrm>
          <a:prstGeom prst="rect">
            <a:avLst/>
          </a:prstGeom>
          <a:noFill/>
          <a:ln w="38100">
            <a:noFill/>
          </a:ln>
        </p:spPr>
        <p:txBody>
          <a:bodyPr wrap="square" lIns="73152" tIns="36576" rIns="73152" bIns="36576" rtlCol="0" anchor="ctr">
            <a:noAutofit/>
          </a:bodyPr>
          <a:lstStyle/>
          <a:p>
            <a:pPr algn="l" indent="0" marL="0">
              <a:buNone/>
            </a:pPr>
            <a:r>
              <a:rPr lang="en-US" sz="2200" dirty="0">
                <a:solidFill>
                  <a:srgbClr val="1B2236"/>
                </a:solidFill>
                <a:latin typeface="Lexend Deca" pitchFamily="34" charset="0"/>
                <a:ea typeface="Lexend Deca" pitchFamily="34" charset="-122"/>
                <a:cs typeface="Lexend Deca" pitchFamily="34" charset="-120"/>
              </a:rPr>
              <a:t>Play 2: Tasks B and C.</a:t>
            </a:r>
            <a:endParaRPr lang="en-US" sz="2200" dirty="0"/>
          </a:p>
        </p:txBody>
      </p:sp>
      <p:sp>
        <p:nvSpPr>
          <p:cNvPr id="43" name="audio"/>
          <p:cNvSpPr/>
          <p:nvPr/>
        </p:nvSpPr>
        <p:spPr>
          <a:xfrm>
            <a:off x="8549640" y="4069080"/>
            <a:ext cx="3063240" cy="914400"/>
          </a:xfrm>
          <a:prstGeom prst="rect">
            <a:avLst/>
          </a:prstGeom>
          <a:noFill/>
          <a:ln w="38100">
            <a:noFill/>
          </a:ln>
        </p:spPr>
        <p:txBody>
          <a:bodyPr wrap="square" lIns="73152" tIns="36576" rIns="73152" bIns="36576" rtlCol="0" anchor="ctr">
            <a:noAutofit/>
          </a:bodyPr>
          <a:lstStyle/>
          <a:p>
            <a:pPr algn="l" indent="0" marL="0">
              <a:buNone/>
            </a:pPr>
            <a:r>
              <a:rPr lang="en-US" sz="2200" dirty="0">
                <a:solidFill>
                  <a:srgbClr val="1B2236"/>
                </a:solidFill>
                <a:latin typeface="Lexend Deca" pitchFamily="34" charset="0"/>
                <a:ea typeface="Lexend Deca" pitchFamily="34" charset="-122"/>
                <a:cs typeface="Lexend Deca" pitchFamily="34" charset="-120"/>
              </a:rPr>
              <a:t>Audio (about 2:07): coming soon.</a:t>
            </a:r>
            <a:endParaRPr lang="en-US" sz="2200" dirty="0"/>
          </a:p>
        </p:txBody>
      </p:sp>
      <p:sp>
        <p:nvSpPr>
          <p:cNvPr id="46" name="play"/>
          <p:cNvSpPr/>
          <p:nvPr/>
        </p:nvSpPr>
        <p:spPr>
          <a:xfrm>
            <a:off x="8549640" y="5029200"/>
            <a:ext cx="3017520" cy="7315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200" dirty="0" b="0">
                <a:solidFill>
                  <a:srgbClr val="1B2236"/>
                </a:solidFill>
                <a:latin typeface="Lexend Deca" pitchFamily="34" charset="0"/>
                <a:ea typeface="Lexend Deca" pitchFamily="34" charset="-122"/>
                <a:cs typeface="Lexend Deca" pitchFamily="34" charset="-120"/>
              </a:rPr>
              <a:t>Play 1: </a:t>
            </a:r>
            <a:r>
              <a:rPr lang="en-US" sz="2200" dirty="0" b="1">
                <a:solidFill>
                  <a:srgbClr val="5B3FC4"/>
                </a:solidFill>
                <a:latin typeface="Lexend Deca" pitchFamily="34" charset="0"/>
                <a:ea typeface="Lexend Deca" pitchFamily="34" charset="-122"/>
                <a:cs typeface="Lexend Deca" pitchFamily="34" charset="-120"/>
              </a:rPr>
              <a:t>Task A</a:t>
            </a:r>
            <a:endParaRPr lang="en-US" sz="2200" dirty="0" b="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5"/>
                                        </p:tgtEl>
                                        <p:attrNameLst>
                                          <p:attrName>style.visibility</p:attrName>
                                        </p:attrNameLst>
                                      </p:cBhvr>
                                      <p:to>
                                        <p:strVal val="visible"/>
                                      </p:to>
                                    </p:set>
                                    <p:animEffect transition="in" filter="fade">
                                      <p:cBhvr>
                                        <p:cTn id="7" dur="400"/>
                                        <p:tgtEl>
                                          <p:spTgt spid="2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9"/>
                                        </p:tgtEl>
                                        <p:attrNameLst>
                                          <p:attrName>style.visibility</p:attrName>
                                        </p:attrNameLst>
                                      </p:cBhvr>
                                      <p:to>
                                        <p:strVal val="visible"/>
                                      </p:to>
                                    </p:set>
                                    <p:animEffect transition="in" filter="fade">
                                      <p:cBhvr>
                                        <p:cTn id="12" dur="400"/>
                                        <p:tgtEl>
                                          <p:spTgt spid="2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3"/>
                                        </p:tgtEl>
                                        <p:attrNameLst>
                                          <p:attrName>style.visibility</p:attrName>
                                        </p:attrNameLst>
                                      </p:cBhvr>
                                      <p:to>
                                        <p:strVal val="visible"/>
                                      </p:to>
                                    </p:set>
                                    <p:animEffect transition="in" filter="fade">
                                      <p:cBhvr>
                                        <p:cTn id="17" dur="4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p="http://schemas.openxmlformats.org/presentationml/2006/main" xmlns:r="http://schemas.openxmlformats.org/officeDocument/2006/relationships">
  <p:cSld name="L4:choice">
    <p:bg>
      <p:bgPr>
        <a:solidFill>
          <a:srgbClr val="F1F5FB"/>
        </a:solidFill>
      </p:bgPr>
    </p:bg>
    <p:spTree>
      <p:nvGrpSpPr>
        <p:cNvPr id="1" name=""/>
        <p:cNvGrpSpPr/>
        <p:nvPr/>
      </p:nvGrpSpPr>
      <p:grpSpPr/>
      <p:sp>
        <p:nvSpPr>
          <p:cNvPr id="2" name="Shape 0"/>
          <p:cNvSpPr/>
          <p:nvPr/>
        </p:nvSpPr>
        <p:spPr>
          <a:xfrm>
            <a:off x="164592" y="2980944"/>
            <a:ext cx="11582705" cy="3623767"/>
          </a:xfrm>
          <a:prstGeom prst="round1Rect">
            <a:avLst>
              <a:gd name="adj" fmla="val 23087"/>
            </a:avLst>
          </a:prstGeom>
          <a:solidFill>
            <a:srgbClr val="8FAFE3"/>
          </a:solidFill>
          <a:ln/>
        </p:spPr>
        <p:txBody>
          <a:bodyPr/>
          <a:p/>
        </p:txBody>
      </p:sp>
      <p:sp>
        <p:nvSpPr>
          <p:cNvPr id="3" name="Shape 1"/>
          <p:cNvSpPr/>
          <p:nvPr/>
        </p:nvSpPr>
        <p:spPr>
          <a:xfrm>
            <a:off x="233172" y="1137194"/>
            <a:ext cx="5607101" cy="1375258"/>
          </a:xfrm>
          <a:prstGeom prst="roundRect">
            <a:avLst>
              <a:gd name="adj" fmla="val 16667"/>
            </a:avLst>
          </a:prstGeom>
          <a:solidFill>
            <a:srgbClr val="8FAFE3"/>
          </a:solidFill>
          <a:ln/>
        </p:spPr>
        <p:txBody>
          <a:bodyPr/>
          <a:p/>
        </p:txBody>
      </p:sp>
      <p:sp>
        <p:nvSpPr>
          <p:cNvPr id="4" name="Shape 2"/>
          <p:cNvSpPr/>
          <p:nvPr/>
        </p:nvSpPr>
        <p:spPr>
          <a:xfrm>
            <a:off x="266090" y="1080821"/>
            <a:ext cx="5607101" cy="1375258"/>
          </a:xfrm>
          <a:prstGeom prst="roundRect">
            <a:avLst>
              <a:gd name="adj" fmla="val 16667"/>
            </a:avLst>
          </a:prstGeom>
          <a:solidFill>
            <a:srgbClr val="FFFFFF"/>
          </a:solidFill>
          <a:ln/>
        </p:spPr>
        <p:txBody>
          <a:bodyPr/>
          <a:p/>
        </p:txBody>
      </p:sp>
      <p:sp>
        <p:nvSpPr>
          <p:cNvPr id="5" name="Shape 3"/>
          <p:cNvSpPr/>
          <p:nvPr/>
        </p:nvSpPr>
        <p:spPr>
          <a:xfrm>
            <a:off x="0" y="2856586"/>
            <a:ext cx="11582705" cy="3623767"/>
          </a:xfrm>
          <a:prstGeom prst="round1Rect">
            <a:avLst>
              <a:gd name="adj" fmla="val 23087"/>
            </a:avLst>
          </a:prstGeom>
          <a:solidFill>
            <a:srgbClr val="B9D2F7"/>
          </a:solidFill>
          <a:ln/>
        </p:spPr>
        <p:txBody>
          <a:bodyPr/>
          <a:p/>
        </p:txBody>
      </p:sp>
      <p:sp>
        <p:nvSpPr>
          <p:cNvPr id="6" name="title"/>
          <p:cNvSpPr/>
          <p:nvPr/>
        </p:nvSpPr>
        <p:spPr>
          <a:xfrm>
            <a:off x="416052" y="1452067"/>
            <a:ext cx="5680253" cy="947318"/>
          </a:xfrm>
          <a:prstGeom prst="rect">
            <a:avLst/>
          </a:prstGeom>
          <a:noFill/>
          <a:ln/>
        </p:spPr>
        <p:txBody>
          <a:bodyPr wrap="square" lIns="50800" tIns="50800" rIns="50800" bIns="50800" rtlCol="0" anchor="ctr"/>
          <a:lstStyle/>
          <a:p>
            <a:pPr algn="l" indent="0" marL="0">
              <a:buNone/>
            </a:pPr>
            <a:r>
              <a:rPr lang="en-US" sz="4800" dirty="0" b="1">
                <a:solidFill>
                  <a:srgbClr val="1B2236"/>
                </a:solidFill>
                <a:latin typeface="Lexend Deca" pitchFamily="34" charset="0"/>
                <a:ea typeface="Lexend Deca" pitchFamily="34" charset="-122"/>
                <a:cs typeface="Lexend Deca" pitchFamily="34" charset="-120"/>
              </a:rPr>
              <a:t>Listening A</a:t>
            </a:r>
            <a:endParaRPr lang="en-US" sz="4800" dirty="0" b="1"/>
          </a:p>
        </p:txBody>
      </p:sp>
      <p:sp>
        <p:nvSpPr>
          <p:cNvPr id="7" name="instr"/>
          <p:cNvSpPr/>
          <p:nvPr/>
        </p:nvSpPr>
        <p:spPr>
          <a:xfrm>
            <a:off x="6745529" y="1234440"/>
            <a:ext cx="4754880" cy="1188720"/>
          </a:xfrm>
          <a:prstGeom prst="rect">
            <a:avLst/>
          </a:prstGeom>
          <a:noFill/>
          <a:ln/>
        </p:spPr>
        <p:txBody>
          <a:bodyPr wrap="square" rtlCol="0" anchor="ctr"/>
          <a:lstStyle/>
          <a:p>
            <a:pPr algn="l" indent="0" marL="0">
              <a:spcAft>
                <a:spcPts val="400"/>
              </a:spcAft>
              <a:buNone/>
            </a:pPr>
            <a:r>
              <a:rPr lang="en-US" sz="2000" dirty="0">
                <a:solidFill>
                  <a:srgbClr val="1B2236"/>
                </a:solidFill>
                <a:latin typeface="Lexend Deca" pitchFamily="34" charset="0"/>
                <a:ea typeface="Lexend Deca" pitchFamily="34" charset="-122"/>
                <a:cs typeface="Lexend Deca" pitchFamily="34" charset="-120"/>
              </a:rPr>
              <a:t>Listen. What is the problem?</a:t>
            </a:r>
            <a:endParaRPr lang="en-US" sz="2000" dirty="0"/>
          </a:p>
          <a:p>
            <a:pPr algn="l" indent="0" marL="0">
              <a:spcAft>
                <a:spcPts val="400"/>
              </a:spcAft>
              <a:buNone/>
            </a:pPr>
            <a:r>
              <a:rPr lang="en-US" sz="2000" dirty="0">
                <a:solidFill>
                  <a:srgbClr val="1B2236"/>
                </a:solidFill>
                <a:latin typeface="Lexend Deca" pitchFamily="34" charset="0"/>
                <a:ea typeface="Lexend Deca" pitchFamily="34" charset="-122"/>
                <a:cs typeface="Lexend Deca" pitchFamily="34" charset="-120"/>
              </a:rPr>
              <a:t>Circle.</a:t>
            </a:r>
            <a:endParaRPr lang="en-US" sz="2000" dirty="0"/>
          </a:p>
        </p:txBody>
      </p:sp>
      <p:sp>
        <p:nvSpPr>
          <p:cNvPr id="8" name="R1 stmt"/>
          <p:cNvSpPr/>
          <p:nvPr/>
        </p:nvSpPr>
        <p:spPr>
          <a:xfrm>
            <a:off x="502920" y="3108960"/>
            <a:ext cx="1783080" cy="530352"/>
          </a:xfrm>
          <a:prstGeom prst="rect">
            <a:avLst/>
          </a:prstGeom>
          <a:noFill/>
          <a:ln w="38100">
            <a:noFill/>
          </a:ln>
        </p:spPr>
        <p:txBody>
          <a:bodyPr wrap="square" lIns="73152" tIns="36576" rIns="73152" bIns="36576" rtlCol="0" anchor="ctr">
            <a:noAutofit/>
          </a:bodyPr>
          <a:lstStyle/>
          <a:p>
            <a:pPr algn="l" indent="0" marL="0">
              <a:buNone/>
            </a:pPr>
            <a:endParaRPr lang="en-US" sz="2000" dirty="0"/>
          </a:p>
        </p:txBody>
      </p:sp>
      <p:sp>
        <p:nvSpPr>
          <p:cNvPr id="9" name="R1 opt1"/>
          <p:cNvSpPr/>
          <p:nvPr/>
        </p:nvSpPr>
        <p:spPr>
          <a:xfrm>
            <a:off x="2468880" y="3108960"/>
            <a:ext cx="2743200" cy="530352"/>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500" dirty="0" b="1">
                <a:solidFill>
                  <a:srgbClr val="1B2236"/>
                </a:solidFill>
                <a:latin typeface="Lexend Deca" pitchFamily="34" charset="0"/>
                <a:ea typeface="Lexend Deca" pitchFamily="34" charset="-122"/>
                <a:cs typeface="Lexend Deca" pitchFamily="34" charset="-120"/>
              </a:rPr>
              <a:t>a. The electric bill is too high.</a:t>
            </a:r>
            <a:endParaRPr lang="en-US" sz="1500" dirty="0" b="1"/>
          </a:p>
        </p:txBody>
      </p:sp>
      <p:sp>
        <p:nvSpPr>
          <p:cNvPr id="10" name="R1 opt2"/>
          <p:cNvSpPr/>
          <p:nvPr/>
        </p:nvSpPr>
        <p:spPr>
          <a:xfrm>
            <a:off x="5349240" y="3108960"/>
            <a:ext cx="2743200" cy="530352"/>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500" dirty="0" b="1">
                <a:solidFill>
                  <a:srgbClr val="1B2236"/>
                </a:solidFill>
                <a:latin typeface="Lexend Deca" pitchFamily="34" charset="0"/>
                <a:ea typeface="Lexend Deca" pitchFamily="34" charset="-122"/>
                <a:cs typeface="Lexend Deca" pitchFamily="34" charset="-120"/>
              </a:rPr>
              <a:t>b. The heat is broken.</a:t>
            </a:r>
            <a:endParaRPr lang="en-US" sz="1500" dirty="0" b="1"/>
          </a:p>
        </p:txBody>
      </p:sp>
      <p:sp>
        <p:nvSpPr>
          <p:cNvPr id="11" name="R1 opt3"/>
          <p:cNvSpPr/>
          <p:nvPr/>
        </p:nvSpPr>
        <p:spPr>
          <a:xfrm>
            <a:off x="8229600" y="3108960"/>
            <a:ext cx="2743200" cy="530352"/>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500" dirty="0" b="1">
                <a:solidFill>
                  <a:srgbClr val="1B2236"/>
                </a:solidFill>
                <a:latin typeface="Lexend Deca" pitchFamily="34" charset="0"/>
                <a:ea typeface="Lexend Deca" pitchFamily="34" charset="-122"/>
                <a:cs typeface="Lexend Deca" pitchFamily="34" charset="-120"/>
              </a:rPr>
              <a:t>c. The bill is late.</a:t>
            </a:r>
            <a:endParaRPr lang="en-US" sz="1500" dirty="0" b="1"/>
          </a:p>
        </p:txBody>
      </p:sp>
      <p:sp>
        <p:nvSpPr>
          <p:cNvPr id="12" name="R1 circle"/>
          <p:cNvSpPr/>
          <p:nvPr/>
        </p:nvSpPr>
        <p:spPr>
          <a:xfrm>
            <a:off x="2340864" y="3054096"/>
            <a:ext cx="2999232" cy="640080"/>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4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p="http://schemas.openxmlformats.org/presentationml/2006/main" xmlns:r="http://schemas.openxmlformats.org/officeDocument/2006/relationships">
  <p:cSld name="L4:choice">
    <p:bg>
      <p:bgPr>
        <a:solidFill>
          <a:srgbClr val="F1F5FB"/>
        </a:solidFill>
      </p:bgPr>
    </p:bg>
    <p:spTree>
      <p:nvGrpSpPr>
        <p:cNvPr id="1" name=""/>
        <p:cNvGrpSpPr/>
        <p:nvPr/>
      </p:nvGrpSpPr>
      <p:grpSpPr/>
      <p:sp>
        <p:nvSpPr>
          <p:cNvPr id="2" name="Shape 0"/>
          <p:cNvSpPr/>
          <p:nvPr/>
        </p:nvSpPr>
        <p:spPr>
          <a:xfrm>
            <a:off x="164592" y="2980944"/>
            <a:ext cx="11582705" cy="3623767"/>
          </a:xfrm>
          <a:prstGeom prst="round1Rect">
            <a:avLst>
              <a:gd name="adj" fmla="val 23087"/>
            </a:avLst>
          </a:prstGeom>
          <a:solidFill>
            <a:srgbClr val="8FAFE3"/>
          </a:solidFill>
          <a:ln/>
        </p:spPr>
        <p:txBody>
          <a:bodyPr/>
          <a:p/>
        </p:txBody>
      </p:sp>
      <p:sp>
        <p:nvSpPr>
          <p:cNvPr id="3" name="Shape 1"/>
          <p:cNvSpPr/>
          <p:nvPr/>
        </p:nvSpPr>
        <p:spPr>
          <a:xfrm>
            <a:off x="233172" y="1137194"/>
            <a:ext cx="5607101" cy="1375258"/>
          </a:xfrm>
          <a:prstGeom prst="roundRect">
            <a:avLst>
              <a:gd name="adj" fmla="val 16667"/>
            </a:avLst>
          </a:prstGeom>
          <a:solidFill>
            <a:srgbClr val="8FAFE3"/>
          </a:solidFill>
          <a:ln/>
        </p:spPr>
        <p:txBody>
          <a:bodyPr/>
          <a:p/>
        </p:txBody>
      </p:sp>
      <p:sp>
        <p:nvSpPr>
          <p:cNvPr id="4" name="Shape 2"/>
          <p:cNvSpPr/>
          <p:nvPr/>
        </p:nvSpPr>
        <p:spPr>
          <a:xfrm>
            <a:off x="266090" y="1080821"/>
            <a:ext cx="5607101" cy="1375258"/>
          </a:xfrm>
          <a:prstGeom prst="roundRect">
            <a:avLst>
              <a:gd name="adj" fmla="val 16667"/>
            </a:avLst>
          </a:prstGeom>
          <a:solidFill>
            <a:srgbClr val="FFFFFF"/>
          </a:solidFill>
          <a:ln/>
        </p:spPr>
        <p:txBody>
          <a:bodyPr/>
          <a:p/>
        </p:txBody>
      </p:sp>
      <p:sp>
        <p:nvSpPr>
          <p:cNvPr id="5" name="Shape 3"/>
          <p:cNvSpPr/>
          <p:nvPr/>
        </p:nvSpPr>
        <p:spPr>
          <a:xfrm>
            <a:off x="0" y="2856586"/>
            <a:ext cx="11582705" cy="3623767"/>
          </a:xfrm>
          <a:prstGeom prst="round1Rect">
            <a:avLst>
              <a:gd name="adj" fmla="val 23087"/>
            </a:avLst>
          </a:prstGeom>
          <a:solidFill>
            <a:srgbClr val="B9D2F7"/>
          </a:solidFill>
          <a:ln/>
        </p:spPr>
        <p:txBody>
          <a:bodyPr/>
          <a:p/>
        </p:txBody>
      </p:sp>
      <p:sp>
        <p:nvSpPr>
          <p:cNvPr id="6" name="title"/>
          <p:cNvSpPr/>
          <p:nvPr/>
        </p:nvSpPr>
        <p:spPr>
          <a:xfrm>
            <a:off x="416052" y="1452067"/>
            <a:ext cx="5680253" cy="947318"/>
          </a:xfrm>
          <a:prstGeom prst="rect">
            <a:avLst/>
          </a:prstGeom>
          <a:noFill/>
          <a:ln/>
        </p:spPr>
        <p:txBody>
          <a:bodyPr wrap="square" lIns="50800" tIns="50800" rIns="50800" bIns="50800" rtlCol="0" anchor="ctr"/>
          <a:lstStyle/>
          <a:p>
            <a:pPr algn="l" indent="0" marL="0">
              <a:buNone/>
            </a:pPr>
            <a:r>
              <a:rPr lang="en-US" sz="4800" dirty="0" b="1">
                <a:solidFill>
                  <a:srgbClr val="1B2236"/>
                </a:solidFill>
                <a:latin typeface="Lexend Deca" pitchFamily="34" charset="0"/>
                <a:ea typeface="Lexend Deca" pitchFamily="34" charset="-122"/>
                <a:cs typeface="Lexend Deca" pitchFamily="34" charset="-120"/>
              </a:rPr>
              <a:t>Listening B</a:t>
            </a:r>
            <a:endParaRPr lang="en-US" sz="4800" dirty="0" b="1"/>
          </a:p>
        </p:txBody>
      </p:sp>
      <p:sp>
        <p:nvSpPr>
          <p:cNvPr id="7" name="instr"/>
          <p:cNvSpPr/>
          <p:nvPr/>
        </p:nvSpPr>
        <p:spPr>
          <a:xfrm>
            <a:off x="6745529" y="1234440"/>
            <a:ext cx="4754880" cy="1188720"/>
          </a:xfrm>
          <a:prstGeom prst="rect">
            <a:avLst/>
          </a:prstGeom>
          <a:noFill/>
          <a:ln/>
        </p:spPr>
        <p:txBody>
          <a:bodyPr wrap="square" rtlCol="0" anchor="ctr"/>
          <a:lstStyle/>
          <a:p>
            <a:pPr algn="l" indent="0" marL="0">
              <a:spcAft>
                <a:spcPts val="400"/>
              </a:spcAft>
              <a:buNone/>
            </a:pPr>
            <a:r>
              <a:rPr lang="en-US" sz="2000" dirty="0">
                <a:solidFill>
                  <a:srgbClr val="1B2236"/>
                </a:solidFill>
                <a:latin typeface="Lexend Deca" pitchFamily="34" charset="0"/>
                <a:ea typeface="Lexend Deca" pitchFamily="34" charset="-122"/>
                <a:cs typeface="Lexend Deca" pitchFamily="34" charset="-120"/>
              </a:rPr>
              <a:t>Listen again.</a:t>
            </a:r>
            <a:endParaRPr lang="en-US" sz="2000" dirty="0"/>
          </a:p>
          <a:p>
            <a:pPr algn="l" indent="0" marL="0">
              <a:spcAft>
                <a:spcPts val="400"/>
              </a:spcAft>
              <a:buNone/>
            </a:pPr>
            <a:r>
              <a:rPr lang="en-US" sz="2000" dirty="0">
                <a:solidFill>
                  <a:srgbClr val="1B2236"/>
                </a:solidFill>
                <a:latin typeface="Lexend Deca" pitchFamily="34" charset="0"/>
                <a:ea typeface="Lexend Deca" pitchFamily="34" charset="-122"/>
                <a:cs typeface="Lexend Deca" pitchFamily="34" charset="-120"/>
              </a:rPr>
              <a:t>Circle the answer.</a:t>
            </a:r>
            <a:endParaRPr lang="en-US" sz="2000" dirty="0"/>
          </a:p>
        </p:txBody>
      </p:sp>
      <p:sp>
        <p:nvSpPr>
          <p:cNvPr id="8" name="R1 stmt"/>
          <p:cNvSpPr/>
          <p:nvPr/>
        </p:nvSpPr>
        <p:spPr>
          <a:xfrm>
            <a:off x="502920" y="3108960"/>
            <a:ext cx="5943600" cy="475488"/>
          </a:xfrm>
          <a:prstGeom prst="rect">
            <a:avLst/>
          </a:prstGeom>
          <a:noFill/>
          <a:ln w="38100">
            <a:noFill/>
          </a:ln>
        </p:spPr>
        <p:txBody>
          <a:bodyPr wrap="square" lIns="73152" tIns="36576" rIns="73152" bIns="36576" rtlCol="0" anchor="ctr">
            <a:noAutofit/>
          </a:bodyPr>
          <a:lstStyle/>
          <a:p>
            <a:pPr algn="l" indent="0" marL="0">
              <a:buNone/>
            </a:pPr>
            <a:r>
              <a:rPr lang="en-US" sz="1600" dirty="0"/>
              <a:t>1. The bill this month is</a:t>
            </a:r>
            <a:endParaRPr lang="en-US" sz="1600" dirty="0"/>
          </a:p>
        </p:txBody>
      </p:sp>
      <p:sp>
        <p:nvSpPr>
          <p:cNvPr id="9" name="R1 opt1"/>
          <p:cNvSpPr/>
          <p:nvPr/>
        </p:nvSpPr>
        <p:spPr>
          <a:xfrm>
            <a:off x="6629400" y="3108960"/>
            <a:ext cx="210312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400" dirty="0" b="1">
                <a:solidFill>
                  <a:srgbClr val="1B2236"/>
                </a:solidFill>
                <a:latin typeface="Lexend Deca" pitchFamily="34" charset="0"/>
                <a:ea typeface="Lexend Deca" pitchFamily="34" charset="-122"/>
                <a:cs typeface="Lexend Deca" pitchFamily="34" charset="-120"/>
              </a:rPr>
              <a:t>$142</a:t>
            </a:r>
            <a:endParaRPr lang="en-US" sz="1400" dirty="0" b="1"/>
          </a:p>
        </p:txBody>
      </p:sp>
      <p:sp>
        <p:nvSpPr>
          <p:cNvPr id="10" name="R1 opt2"/>
          <p:cNvSpPr/>
          <p:nvPr/>
        </p:nvSpPr>
        <p:spPr>
          <a:xfrm>
            <a:off x="8869680" y="3108960"/>
            <a:ext cx="210312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400" dirty="0" b="1">
                <a:solidFill>
                  <a:srgbClr val="1B2236"/>
                </a:solidFill>
                <a:latin typeface="Lexend Deca" pitchFamily="34" charset="0"/>
                <a:ea typeface="Lexend Deca" pitchFamily="34" charset="-122"/>
                <a:cs typeface="Lexend Deca" pitchFamily="34" charset="-120"/>
              </a:rPr>
              <a:t>$90</a:t>
            </a:r>
            <a:endParaRPr lang="en-US" sz="1400" dirty="0" b="1"/>
          </a:p>
        </p:txBody>
      </p:sp>
      <p:sp>
        <p:nvSpPr>
          <p:cNvPr id="11" name="R1 circle"/>
          <p:cNvSpPr/>
          <p:nvPr/>
        </p:nvSpPr>
        <p:spPr>
          <a:xfrm>
            <a:off x="6501384" y="3054096"/>
            <a:ext cx="2359152" cy="585216"/>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12" name="R2 stmt"/>
          <p:cNvSpPr/>
          <p:nvPr/>
        </p:nvSpPr>
        <p:spPr>
          <a:xfrm>
            <a:off x="502920" y="3657600"/>
            <a:ext cx="5943600" cy="475488"/>
          </a:xfrm>
          <a:prstGeom prst="rect">
            <a:avLst/>
          </a:prstGeom>
          <a:noFill/>
          <a:ln w="38100">
            <a:noFill/>
          </a:ln>
        </p:spPr>
        <p:txBody>
          <a:bodyPr wrap="square" lIns="73152" tIns="36576" rIns="73152" bIns="36576" rtlCol="0" anchor="ctr">
            <a:noAutofit/>
          </a:bodyPr>
          <a:lstStyle/>
          <a:p>
            <a:pPr algn="l" indent="0" marL="0">
              <a:buNone/>
            </a:pPr>
            <a:r>
              <a:rPr lang="en-US" sz="1600" dirty="0"/>
              <a:t>2. They will turn ____ the heat at night.</a:t>
            </a:r>
            <a:endParaRPr lang="en-US" sz="1600" dirty="0"/>
          </a:p>
        </p:txBody>
      </p:sp>
      <p:sp>
        <p:nvSpPr>
          <p:cNvPr id="13" name="R2 opt1"/>
          <p:cNvSpPr/>
          <p:nvPr/>
        </p:nvSpPr>
        <p:spPr>
          <a:xfrm>
            <a:off x="6629400" y="3657600"/>
            <a:ext cx="210312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400" dirty="0" b="1">
                <a:solidFill>
                  <a:srgbClr val="1B2236"/>
                </a:solidFill>
                <a:latin typeface="Lexend Deca" pitchFamily="34" charset="0"/>
                <a:ea typeface="Lexend Deca" pitchFamily="34" charset="-122"/>
                <a:cs typeface="Lexend Deca" pitchFamily="34" charset="-120"/>
              </a:rPr>
              <a:t>down</a:t>
            </a:r>
            <a:endParaRPr lang="en-US" sz="1400" dirty="0" b="1"/>
          </a:p>
        </p:txBody>
      </p:sp>
      <p:sp>
        <p:nvSpPr>
          <p:cNvPr id="14" name="R2 opt2"/>
          <p:cNvSpPr/>
          <p:nvPr/>
        </p:nvSpPr>
        <p:spPr>
          <a:xfrm>
            <a:off x="8869680" y="3657600"/>
            <a:ext cx="210312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400" dirty="0" b="1">
                <a:solidFill>
                  <a:srgbClr val="1B2236"/>
                </a:solidFill>
                <a:latin typeface="Lexend Deca" pitchFamily="34" charset="0"/>
                <a:ea typeface="Lexend Deca" pitchFamily="34" charset="-122"/>
                <a:cs typeface="Lexend Deca" pitchFamily="34" charset="-120"/>
              </a:rPr>
              <a:t>up</a:t>
            </a:r>
            <a:endParaRPr lang="en-US" sz="1400" dirty="0" b="1"/>
          </a:p>
        </p:txBody>
      </p:sp>
      <p:sp>
        <p:nvSpPr>
          <p:cNvPr id="15" name="R2 circle"/>
          <p:cNvSpPr/>
          <p:nvPr/>
        </p:nvSpPr>
        <p:spPr>
          <a:xfrm>
            <a:off x="6501384" y="3602736"/>
            <a:ext cx="2359152" cy="585216"/>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16" name="R3 stmt"/>
          <p:cNvSpPr/>
          <p:nvPr/>
        </p:nvSpPr>
        <p:spPr>
          <a:xfrm>
            <a:off x="502920" y="4206240"/>
            <a:ext cx="5943600" cy="475488"/>
          </a:xfrm>
          <a:prstGeom prst="rect">
            <a:avLst/>
          </a:prstGeom>
          <a:noFill/>
          <a:ln w="38100">
            <a:noFill/>
          </a:ln>
        </p:spPr>
        <p:txBody>
          <a:bodyPr wrap="square" lIns="73152" tIns="36576" rIns="73152" bIns="36576" rtlCol="0" anchor="ctr">
            <a:noAutofit/>
          </a:bodyPr>
          <a:lstStyle/>
          <a:p>
            <a:pPr algn="l" indent="0" marL="0">
              <a:buNone/>
            </a:pPr>
            <a:r>
              <a:rPr lang="en-US" sz="1600" dirty="0"/>
              <a:t>3. Hana is going to unplug her</a:t>
            </a:r>
            <a:endParaRPr lang="en-US" sz="1600" dirty="0"/>
          </a:p>
        </p:txBody>
      </p:sp>
      <p:sp>
        <p:nvSpPr>
          <p:cNvPr id="17" name="R3 opt1"/>
          <p:cNvSpPr/>
          <p:nvPr/>
        </p:nvSpPr>
        <p:spPr>
          <a:xfrm>
            <a:off x="6629400" y="4206240"/>
            <a:ext cx="210312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400" dirty="0" b="1">
                <a:solidFill>
                  <a:srgbClr val="1B2236"/>
                </a:solidFill>
                <a:latin typeface="Lexend Deca" pitchFamily="34" charset="0"/>
                <a:ea typeface="Lexend Deca" pitchFamily="34" charset="-122"/>
                <a:cs typeface="Lexend Deca" pitchFamily="34" charset="-120"/>
              </a:rPr>
              <a:t>phone charger</a:t>
            </a:r>
            <a:endParaRPr lang="en-US" sz="1400" dirty="0" b="1"/>
          </a:p>
        </p:txBody>
      </p:sp>
      <p:sp>
        <p:nvSpPr>
          <p:cNvPr id="18" name="R3 opt2"/>
          <p:cNvSpPr/>
          <p:nvPr/>
        </p:nvSpPr>
        <p:spPr>
          <a:xfrm>
            <a:off x="8869680" y="4206240"/>
            <a:ext cx="210312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400" dirty="0" b="1">
                <a:solidFill>
                  <a:srgbClr val="1B2236"/>
                </a:solidFill>
                <a:latin typeface="Lexend Deca" pitchFamily="34" charset="0"/>
                <a:ea typeface="Lexend Deca" pitchFamily="34" charset="-122"/>
                <a:cs typeface="Lexend Deca" pitchFamily="34" charset="-120"/>
              </a:rPr>
              <a:t>TV</a:t>
            </a:r>
            <a:endParaRPr lang="en-US" sz="1400" dirty="0" b="1"/>
          </a:p>
        </p:txBody>
      </p:sp>
      <p:sp>
        <p:nvSpPr>
          <p:cNvPr id="19" name="R3 circle"/>
          <p:cNvSpPr/>
          <p:nvPr/>
        </p:nvSpPr>
        <p:spPr>
          <a:xfrm>
            <a:off x="6501384" y="4151376"/>
            <a:ext cx="2359152" cy="585216"/>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0" name="R4 stmt"/>
          <p:cNvSpPr/>
          <p:nvPr/>
        </p:nvSpPr>
        <p:spPr>
          <a:xfrm>
            <a:off x="502920" y="4754880"/>
            <a:ext cx="5943600" cy="475488"/>
          </a:xfrm>
          <a:prstGeom prst="rect">
            <a:avLst/>
          </a:prstGeom>
          <a:noFill/>
          <a:ln w="38100">
            <a:noFill/>
          </a:ln>
        </p:spPr>
        <p:txBody>
          <a:bodyPr wrap="square" lIns="73152" tIns="36576" rIns="73152" bIns="36576" rtlCol="0" anchor="ctr">
            <a:noAutofit/>
          </a:bodyPr>
          <a:lstStyle/>
          <a:p>
            <a:pPr algn="l" indent="0" marL="0">
              <a:buNone/>
            </a:pPr>
            <a:r>
              <a:rPr lang="en-US" sz="1600" dirty="0"/>
              <a:t>4. They will put on</a:t>
            </a:r>
            <a:endParaRPr lang="en-US" sz="1600" dirty="0"/>
          </a:p>
        </p:txBody>
      </p:sp>
      <p:sp>
        <p:nvSpPr>
          <p:cNvPr id="21" name="R4 opt1"/>
          <p:cNvSpPr/>
          <p:nvPr/>
        </p:nvSpPr>
        <p:spPr>
          <a:xfrm>
            <a:off x="6629400" y="4754880"/>
            <a:ext cx="210312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400" dirty="0" b="1">
                <a:solidFill>
                  <a:srgbClr val="1B2236"/>
                </a:solidFill>
                <a:latin typeface="Lexend Deca" pitchFamily="34" charset="0"/>
                <a:ea typeface="Lexend Deca" pitchFamily="34" charset="-122"/>
                <a:cs typeface="Lexend Deca" pitchFamily="34" charset="-120"/>
              </a:rPr>
              <a:t>sweaters</a:t>
            </a:r>
            <a:endParaRPr lang="en-US" sz="1400" dirty="0" b="1"/>
          </a:p>
        </p:txBody>
      </p:sp>
      <p:sp>
        <p:nvSpPr>
          <p:cNvPr id="22" name="R4 opt2"/>
          <p:cNvSpPr/>
          <p:nvPr/>
        </p:nvSpPr>
        <p:spPr>
          <a:xfrm>
            <a:off x="8869680" y="4754880"/>
            <a:ext cx="210312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400" dirty="0" b="1">
                <a:solidFill>
                  <a:srgbClr val="1B2236"/>
                </a:solidFill>
                <a:latin typeface="Lexend Deca" pitchFamily="34" charset="0"/>
                <a:ea typeface="Lexend Deca" pitchFamily="34" charset="-122"/>
                <a:cs typeface="Lexend Deca" pitchFamily="34" charset="-120"/>
              </a:rPr>
              <a:t>coats</a:t>
            </a:r>
            <a:endParaRPr lang="en-US" sz="1400" dirty="0" b="1"/>
          </a:p>
        </p:txBody>
      </p:sp>
      <p:sp>
        <p:nvSpPr>
          <p:cNvPr id="23" name="R4 circle"/>
          <p:cNvSpPr/>
          <p:nvPr/>
        </p:nvSpPr>
        <p:spPr>
          <a:xfrm>
            <a:off x="6501384" y="4700016"/>
            <a:ext cx="2359152" cy="585216"/>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4" name="R5 stmt"/>
          <p:cNvSpPr/>
          <p:nvPr/>
        </p:nvSpPr>
        <p:spPr>
          <a:xfrm>
            <a:off x="502920" y="5303520"/>
            <a:ext cx="5943600" cy="475488"/>
          </a:xfrm>
          <a:prstGeom prst="rect">
            <a:avLst/>
          </a:prstGeom>
          <a:noFill/>
          <a:ln w="38100">
            <a:noFill/>
          </a:ln>
        </p:spPr>
        <p:txBody>
          <a:bodyPr wrap="square" lIns="73152" tIns="36576" rIns="73152" bIns="36576" rtlCol="0" anchor="ctr">
            <a:noAutofit/>
          </a:bodyPr>
          <a:lstStyle/>
          <a:p>
            <a:pPr algn="l" indent="0" marL="0">
              <a:buNone/>
            </a:pPr>
            <a:r>
              <a:rPr lang="en-US" sz="1600" dirty="0"/>
              <a:t>5. The bill is due on</a:t>
            </a:r>
            <a:endParaRPr lang="en-US" sz="1600" dirty="0"/>
          </a:p>
        </p:txBody>
      </p:sp>
      <p:sp>
        <p:nvSpPr>
          <p:cNvPr id="25" name="R5 opt1"/>
          <p:cNvSpPr/>
          <p:nvPr/>
        </p:nvSpPr>
        <p:spPr>
          <a:xfrm>
            <a:off x="6629400" y="5303520"/>
            <a:ext cx="210312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400" dirty="0" b="1">
                <a:solidFill>
                  <a:srgbClr val="1B2236"/>
                </a:solidFill>
                <a:latin typeface="Lexend Deca" pitchFamily="34" charset="0"/>
                <a:ea typeface="Lexend Deca" pitchFamily="34" charset="-122"/>
                <a:cs typeface="Lexend Deca" pitchFamily="34" charset="-120"/>
              </a:rPr>
              <a:t>March 15</a:t>
            </a:r>
            <a:endParaRPr lang="en-US" sz="1400" dirty="0" b="1"/>
          </a:p>
        </p:txBody>
      </p:sp>
      <p:sp>
        <p:nvSpPr>
          <p:cNvPr id="26" name="R5 opt2"/>
          <p:cNvSpPr/>
          <p:nvPr/>
        </p:nvSpPr>
        <p:spPr>
          <a:xfrm>
            <a:off x="8869680" y="5303520"/>
            <a:ext cx="210312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400" dirty="0" b="1">
                <a:solidFill>
                  <a:srgbClr val="1B2236"/>
                </a:solidFill>
                <a:latin typeface="Lexend Deca" pitchFamily="34" charset="0"/>
                <a:ea typeface="Lexend Deca" pitchFamily="34" charset="-122"/>
                <a:cs typeface="Lexend Deca" pitchFamily="34" charset="-120"/>
              </a:rPr>
              <a:t>March 5</a:t>
            </a:r>
            <a:endParaRPr lang="en-US" sz="1400" dirty="0" b="1"/>
          </a:p>
        </p:txBody>
      </p:sp>
      <p:sp>
        <p:nvSpPr>
          <p:cNvPr id="27" name="R5 circle"/>
          <p:cNvSpPr/>
          <p:nvPr/>
        </p:nvSpPr>
        <p:spPr>
          <a:xfrm>
            <a:off x="6501384" y="5248656"/>
            <a:ext cx="2359152" cy="585216"/>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8" name="R6 stmt"/>
          <p:cNvSpPr/>
          <p:nvPr/>
        </p:nvSpPr>
        <p:spPr>
          <a:xfrm>
            <a:off x="502920" y="5852160"/>
            <a:ext cx="5943600" cy="475488"/>
          </a:xfrm>
          <a:prstGeom prst="rect">
            <a:avLst/>
          </a:prstGeom>
          <a:noFill/>
          <a:ln w="38100">
            <a:noFill/>
          </a:ln>
        </p:spPr>
        <p:txBody>
          <a:bodyPr wrap="square" lIns="73152" tIns="36576" rIns="73152" bIns="36576" rtlCol="0" anchor="ctr">
            <a:noAutofit/>
          </a:bodyPr>
          <a:lstStyle/>
          <a:p>
            <a:pPr algn="l" indent="0" marL="0">
              <a:buNone/>
            </a:pPr>
            <a:r>
              <a:rPr lang="en-US" sz="1600" dirty="0"/>
              <a:t>6. The home energy check is</a:t>
            </a:r>
            <a:endParaRPr lang="en-US" sz="1600" dirty="0"/>
          </a:p>
        </p:txBody>
      </p:sp>
      <p:sp>
        <p:nvSpPr>
          <p:cNvPr id="29" name="R6 opt1"/>
          <p:cNvSpPr/>
          <p:nvPr/>
        </p:nvSpPr>
        <p:spPr>
          <a:xfrm>
            <a:off x="6629400" y="5852160"/>
            <a:ext cx="210312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400" dirty="0" b="1">
                <a:solidFill>
                  <a:srgbClr val="1B2236"/>
                </a:solidFill>
                <a:latin typeface="Lexend Deca" pitchFamily="34" charset="0"/>
                <a:ea typeface="Lexend Deca" pitchFamily="34" charset="-122"/>
                <a:cs typeface="Lexend Deca" pitchFamily="34" charset="-120"/>
              </a:rPr>
              <a:t>free</a:t>
            </a:r>
            <a:endParaRPr lang="en-US" sz="1400" dirty="0" b="1"/>
          </a:p>
        </p:txBody>
      </p:sp>
      <p:sp>
        <p:nvSpPr>
          <p:cNvPr id="30" name="R6 opt2"/>
          <p:cNvSpPr/>
          <p:nvPr/>
        </p:nvSpPr>
        <p:spPr>
          <a:xfrm>
            <a:off x="8869680" y="5852160"/>
            <a:ext cx="210312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400" dirty="0" b="1">
                <a:solidFill>
                  <a:srgbClr val="1B2236"/>
                </a:solidFill>
                <a:latin typeface="Lexend Deca" pitchFamily="34" charset="0"/>
                <a:ea typeface="Lexend Deca" pitchFamily="34" charset="-122"/>
                <a:cs typeface="Lexend Deca" pitchFamily="34" charset="-120"/>
              </a:rPr>
              <a:t>$20</a:t>
            </a:r>
            <a:endParaRPr lang="en-US" sz="1400" dirty="0" b="1"/>
          </a:p>
        </p:txBody>
      </p:sp>
      <p:sp>
        <p:nvSpPr>
          <p:cNvPr id="31" name="R6 circle"/>
          <p:cNvSpPr/>
          <p:nvPr/>
        </p:nvSpPr>
        <p:spPr>
          <a:xfrm>
            <a:off x="6501384" y="5797296"/>
            <a:ext cx="2359152" cy="585216"/>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00"/>
                                        <p:tgtEl>
                                          <p:spTgt spid="1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5"/>
                                        </p:tgtEl>
                                        <p:attrNameLst>
                                          <p:attrName>style.visibility</p:attrName>
                                        </p:attrNameLst>
                                      </p:cBhvr>
                                      <p:to>
                                        <p:strVal val="visible"/>
                                      </p:to>
                                    </p:set>
                                    <p:animEffect transition="in" filter="fade">
                                      <p:cBhvr>
                                        <p:cTn id="12" dur="400"/>
                                        <p:tgtEl>
                                          <p:spTgt spid="1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9"/>
                                        </p:tgtEl>
                                        <p:attrNameLst>
                                          <p:attrName>style.visibility</p:attrName>
                                        </p:attrNameLst>
                                      </p:cBhvr>
                                      <p:to>
                                        <p:strVal val="visible"/>
                                      </p:to>
                                    </p:set>
                                    <p:animEffect transition="in" filter="fade">
                                      <p:cBhvr>
                                        <p:cTn id="17" dur="400"/>
                                        <p:tgtEl>
                                          <p:spTgt spid="1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3"/>
                                        </p:tgtEl>
                                        <p:attrNameLst>
                                          <p:attrName>style.visibility</p:attrName>
                                        </p:attrNameLst>
                                      </p:cBhvr>
                                      <p:to>
                                        <p:strVal val="visible"/>
                                      </p:to>
                                    </p:set>
                                    <p:animEffect transition="in" filter="fade">
                                      <p:cBhvr>
                                        <p:cTn id="22" dur="400"/>
                                        <p:tgtEl>
                                          <p:spTgt spid="2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400"/>
                                        <p:tgtEl>
                                          <p:spTgt spid="2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1"/>
                                        </p:tgtEl>
                                        <p:attrNameLst>
                                          <p:attrName>style.visibility</p:attrName>
                                        </p:attrNameLst>
                                      </p:cBhvr>
                                      <p:to>
                                        <p:strVal val="visible"/>
                                      </p:to>
                                    </p:set>
                                    <p:animEffect transition="in" filter="fade">
                                      <p:cBhvr>
                                        <p:cTn id="32"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p="http://schemas.openxmlformats.org/presentationml/2006/main" xmlns:r="http://schemas.openxmlformats.org/officeDocument/2006/relationships">
  <p:cSld name="L4:gaps">
    <p:bg>
      <p:bgPr>
        <a:solidFill>
          <a:srgbClr val="F1F5FB"/>
        </a:solidFill>
      </p:bgPr>
    </p:bg>
    <p:spTree>
      <p:nvGrpSpPr>
        <p:cNvPr id="1" name=""/>
        <p:cNvGrpSpPr/>
        <p:nvPr/>
      </p:nvGrpSpPr>
      <p:grpSpPr/>
      <p:sp>
        <p:nvSpPr>
          <p:cNvPr id="2" name="head shadow"/>
          <p:cNvSpPr/>
          <p:nvPr/>
        </p:nvSpPr>
        <p:spPr>
          <a:xfrm>
            <a:off x="544982" y="1132942"/>
            <a:ext cx="7086600" cy="983894"/>
          </a:xfrm>
          <a:prstGeom prst="round1Rect">
            <a:avLst>
              <a:gd name="adj" fmla="val 23087"/>
            </a:avLst>
          </a:prstGeom>
          <a:solidFill>
            <a:srgbClr val="8FAFE3"/>
          </a:solidFill>
          <a:ln/>
        </p:spPr>
        <p:txBody>
          <a:bodyPr/>
          <a:p/>
        </p:txBody>
      </p:sp>
      <p:sp>
        <p:nvSpPr>
          <p:cNvPr id="3" name="head card"/>
          <p:cNvSpPr/>
          <p:nvPr/>
        </p:nvSpPr>
        <p:spPr>
          <a:xfrm>
            <a:off x="548640" y="1075334"/>
            <a:ext cx="7086600" cy="983894"/>
          </a:xfrm>
          <a:prstGeom prst="round1Rect">
            <a:avLst>
              <a:gd name="adj" fmla="val 23087"/>
            </a:avLst>
          </a:prstGeom>
          <a:solidFill>
            <a:srgbClr val="FFFFFF"/>
          </a:solidFill>
          <a:ln/>
        </p:spPr>
        <p:txBody>
          <a:bodyPr/>
          <a:p/>
        </p:txBody>
      </p:sp>
      <p:sp>
        <p:nvSpPr>
          <p:cNvPr id="8" name="head1"/>
          <p:cNvSpPr/>
          <p:nvPr/>
        </p:nvSpPr>
        <p:spPr>
          <a:xfrm>
            <a:off x="777240" y="1143000"/>
            <a:ext cx="5440680" cy="384048"/>
          </a:xfrm>
          <a:prstGeom prst="rect">
            <a:avLst/>
          </a:prstGeom>
          <a:noFill/>
          <a:ln/>
        </p:spPr>
        <p:txBody>
          <a:bodyPr wrap="square" rtlCol="0" anchor="t"/>
          <a:lstStyle/>
          <a:p>
            <a:pPr algn="l" indent="0" marL="0">
              <a:buNone/>
            </a:pPr>
            <a:r>
              <a:rPr lang="en-US" sz="2000" dirty="0" b="1">
                <a:solidFill>
                  <a:srgbClr val="1B2236"/>
                </a:solidFill>
                <a:latin typeface="Lexend Deca" pitchFamily="34" charset="0"/>
                <a:ea typeface="Lexend Deca" pitchFamily="34" charset="-122"/>
                <a:cs typeface="Lexend Deca" pitchFamily="34" charset="-120"/>
              </a:rPr>
              <a:t>Listen again.</a:t>
            </a:r>
            <a:endParaRPr lang="en-US" sz="2000" dirty="0" b="1"/>
          </a:p>
        </p:txBody>
      </p:sp>
      <p:sp>
        <p:nvSpPr>
          <p:cNvPr id="9" name="head2"/>
          <p:cNvSpPr/>
          <p:nvPr/>
        </p:nvSpPr>
        <p:spPr>
          <a:xfrm>
            <a:off x="868680" y="1545336"/>
            <a:ext cx="5349240" cy="411480"/>
          </a:xfrm>
          <a:prstGeom prst="rect">
            <a:avLst/>
          </a:prstGeom>
          <a:noFill/>
          <a:ln/>
        </p:spPr>
        <p:txBody>
          <a:bodyPr wrap="square" lIns="0" tIns="0" rIns="0" bIns="0" rtlCol="0" anchor="t"/>
          <a:lstStyle/>
          <a:p>
            <a:pPr algn="l" indent="0" marL="0">
              <a:buNone/>
            </a:pPr>
            <a:r>
              <a:rPr lang="en-US" sz="2000" dirty="0">
                <a:solidFill>
                  <a:srgbClr val="1B2236"/>
                </a:solidFill>
                <a:latin typeface="Lexend Deca" pitchFamily="34" charset="0"/>
                <a:ea typeface="Lexend Deca" pitchFamily="34" charset="-122"/>
                <a:cs typeface="Lexend Deca" pitchFamily="34" charset="-120"/>
              </a:rPr>
              <a:t>Write the missing word: the phrasal verb or </a:t>
            </a:r>
            <a:r>
              <a:rPr lang="en-US" sz="2000" dirty="0" b="1">
                <a:solidFill>
                  <a:srgbClr val="5B3FC4"/>
                </a:solidFill>
                <a:latin typeface="Lexend Deca" pitchFamily="34" charset="0"/>
                <a:ea typeface="Lexend Deca" pitchFamily="34" charset="-122"/>
                <a:cs typeface="Lexend Deca" pitchFamily="34" charset="-120"/>
              </a:rPr>
              <a:t>it / them</a:t>
            </a:r>
            <a:r>
              <a:rPr lang="en-US" sz="2000" dirty="0">
                <a:solidFill>
                  <a:srgbClr val="1B2236"/>
                </a:solidFill>
                <a:latin typeface="Lexend Deca" pitchFamily="34" charset="0"/>
                <a:ea typeface="Lexend Deca" pitchFamily="34" charset="-122"/>
                <a:cs typeface="Lexend Deca" pitchFamily="34" charset="-120"/>
              </a:rPr>
              <a:t>.</a:t>
            </a:r>
            <a:endParaRPr lang="en-US" sz="2000" dirty="0"/>
          </a:p>
        </p:txBody>
      </p:sp>
      <p:sp>
        <p:nvSpPr>
          <p:cNvPr id="29" name="title"/>
          <p:cNvSpPr/>
          <p:nvPr/>
        </p:nvSpPr>
        <p:spPr>
          <a:xfrm>
            <a:off x="8001000" y="1783080"/>
            <a:ext cx="3840480" cy="1600200"/>
          </a:xfrm>
          <a:prstGeom prst="rect">
            <a:avLst/>
          </a:prstGeom>
          <a:noFill/>
          <a:ln/>
        </p:spPr>
        <p:txBody>
          <a:bodyPr wrap="square" rtlCol="0" anchor="b"/>
          <a:lstStyle/>
          <a:p>
            <a:pPr algn="l" indent="0" marL="0">
              <a:buNone/>
            </a:pPr>
            <a:r>
              <a:rPr lang="en-US" sz="4000" dirty="0" b="1">
                <a:solidFill>
                  <a:srgbClr val="1B2236"/>
                </a:solidFill>
                <a:latin typeface="Lexend Deca" pitchFamily="34" charset="0"/>
                <a:ea typeface="Lexend Deca" pitchFamily="34" charset="-122"/>
                <a:cs typeface="Lexend Deca" pitchFamily="34" charset="-120"/>
              </a:rPr>
              <a:t>Listening C</a:t>
            </a:r>
            <a:endParaRPr lang="en-US" sz="4000" dirty="0" b="1"/>
          </a:p>
        </p:txBody>
      </p:sp>
      <p:sp>
        <p:nvSpPr>
          <p:cNvPr id="30" name="side"/>
          <p:cNvSpPr/>
          <p:nvPr/>
        </p:nvSpPr>
        <p:spPr>
          <a:xfrm>
            <a:off x="8046720" y="3611880"/>
            <a:ext cx="3749039" cy="2377440"/>
          </a:xfrm>
          <a:prstGeom prst="rect">
            <a:avLst/>
          </a:prstGeom>
          <a:noFill/>
          <a:ln/>
        </p:spPr>
        <p:txBody>
          <a:bodyPr wrap="square" lIns="0" tIns="0" rIns="0" bIns="0" rtlCol="0" anchor="t"/>
          <a:lstStyle/>
          <a:p>
            <a:pPr algn="l" indent="0" marL="0">
              <a:lnSpc>
                <a:spcPct val="120000"/>
              </a:lnSpc>
              <a:spcAft>
                <a:spcPts val="1200"/>
              </a:spcAft>
              <a:buNone/>
            </a:pPr>
            <a:r>
              <a:rPr lang="en-US" sz="2000" dirty="0" b="1">
                <a:solidFill>
                  <a:srgbClr val="1B2236"/>
                </a:solidFill>
                <a:latin typeface="Lexend Deca" pitchFamily="34" charset="0"/>
                <a:ea typeface="Lexend Deca" pitchFamily="34" charset="-122"/>
                <a:cs typeface="Lexend Deca" pitchFamily="34" charset="-120"/>
              </a:rPr>
              <a:t>Write the missing word: the phrasal verb or </a:t>
            </a:r>
            <a:r>
              <a:rPr lang="en-US" sz="2000" dirty="0" b="1">
                <a:solidFill>
                  <a:srgbClr val="5B3FC4"/>
                </a:solidFill>
                <a:latin typeface="Lexend Deca" pitchFamily="34" charset="0"/>
                <a:ea typeface="Lexend Deca" pitchFamily="34" charset="-122"/>
                <a:cs typeface="Lexend Deca" pitchFamily="34" charset="-120"/>
              </a:rPr>
              <a:t>it / them</a:t>
            </a:r>
            <a:r>
              <a:rPr lang="en-US" sz="2000" dirty="0" b="1">
                <a:solidFill>
                  <a:srgbClr val="1B2236"/>
                </a:solidFill>
                <a:latin typeface="Lexend Deca" pitchFamily="34" charset="0"/>
                <a:ea typeface="Lexend Deca" pitchFamily="34" charset="-122"/>
                <a:cs typeface="Lexend Deca" pitchFamily="34" charset="-120"/>
              </a:rPr>
              <a:t>.</a:t>
            </a:r>
            <a:endParaRPr lang="en-US" sz="2000" dirty="0" b="1"/>
          </a:p>
          <a:p>
            <a:pPr algn="l" indent="0" marL="0">
              <a:lnSpc>
                <a:spcPct val="120000"/>
              </a:lnSpc>
              <a:spcAft>
                <a:spcPts val="1200"/>
              </a:spcAft>
              <a:buNone/>
            </a:pPr>
            <a:r>
              <a:rPr lang="en-US" sz="2000" dirty="0" b="1">
                <a:solidFill>
                  <a:srgbClr val="1B2236"/>
                </a:solidFill>
                <a:latin typeface="Lexend Deca" pitchFamily="34" charset="0"/>
                <a:ea typeface="Lexend Deca" pitchFamily="34" charset="-122"/>
                <a:cs typeface="Lexend Deca" pitchFamily="34" charset="-120"/>
              </a:rPr>
              <a:t>Pairs: compare your answers.</a:t>
            </a:r>
            <a:endParaRPr lang="en-US" sz="2000" dirty="0" b="1"/>
          </a:p>
          <a:p>
            <a:pPr algn="l" indent="0" marL="0">
              <a:lnSpc>
                <a:spcPct val="120000"/>
              </a:lnSpc>
              <a:spcAft>
                <a:spcPts val="1200"/>
              </a:spcAft>
              <a:buNone/>
            </a:pPr>
            <a:r>
              <a:rPr lang="en-US" sz="2000" dirty="0" b="1">
                <a:solidFill>
                  <a:srgbClr val="1B2236"/>
                </a:solidFill>
                <a:latin typeface="Lexend Deca" pitchFamily="34" charset="0"/>
                <a:ea typeface="Lexend Deca" pitchFamily="34" charset="-122"/>
                <a:cs typeface="Lexend Deca" pitchFamily="34" charset="-120"/>
              </a:rPr>
              <a:t>Then </a:t>
            </a:r>
            <a:r>
              <a:rPr lang="en-US" sz="2000" dirty="0" b="1">
                <a:solidFill>
                  <a:srgbClr val="5B3FC4"/>
                </a:solidFill>
                <a:latin typeface="Lexend Deca" pitchFamily="34" charset="0"/>
                <a:ea typeface="Lexend Deca" pitchFamily="34" charset="-122"/>
                <a:cs typeface="Lexend Deca" pitchFamily="34" charset="-120"/>
              </a:rPr>
              <a:t>check together.</a:t>
            </a:r>
            <a:endParaRPr lang="en-US" sz="2000" dirty="0" b="1"/>
          </a:p>
        </p:txBody>
      </p:sp>
      <p:sp>
        <p:nvSpPr>
          <p:cNvPr id="31" name="R1 card"/>
          <p:cNvSpPr/>
          <p:nvPr/>
        </p:nvSpPr>
        <p:spPr>
          <a:xfrm>
            <a:off x="1583741" y="2123237"/>
            <a:ext cx="6035040" cy="655015"/>
          </a:xfrm>
          <a:prstGeom prst="round1Rect">
            <a:avLst>
              <a:gd name="adj" fmla="val 23087"/>
            </a:avLst>
          </a:prstGeom>
          <a:solidFill>
            <a:srgbClr val="FFFFFF"/>
          </a:solidFill>
          <a:ln/>
        </p:spPr>
        <p:txBody>
          <a:bodyPr/>
          <a:p/>
        </p:txBody>
      </p:sp>
      <p:sp>
        <p:nvSpPr>
          <p:cNvPr id="32" name="R1 chip"/>
          <p:cNvSpPr/>
          <p:nvPr/>
        </p:nvSpPr>
        <p:spPr>
          <a:xfrm>
            <a:off x="544982" y="2123237"/>
            <a:ext cx="1039673" cy="655015"/>
          </a:xfrm>
          <a:prstGeom prst="rect">
            <a:avLst/>
          </a:prstGeom>
          <a:solidFill>
            <a:srgbClr val="B9D2F7"/>
          </a:solidFill>
          <a:ln/>
        </p:spPr>
        <p:txBody>
          <a:bodyPr/>
          <a:p/>
        </p:txBody>
      </p:sp>
      <p:sp>
        <p:nvSpPr>
          <p:cNvPr id="33" name="R1 num"/>
          <p:cNvSpPr/>
          <p:nvPr/>
        </p:nvSpPr>
        <p:spPr>
          <a:xfrm>
            <a:off x="686714" y="2158136"/>
            <a:ext cx="1109167" cy="585216"/>
          </a:xfrm>
          <a:prstGeom prst="rect">
            <a:avLst/>
          </a:prstGeom>
          <a:noFill/>
          <a:ln/>
        </p:spPr>
        <p:txBody>
          <a:bodyPr wrap="square" rtlCol="0" anchor="ctr"/>
          <a:lstStyle/>
          <a:p>
            <a:pPr algn="ctr" indent="0" marL="0">
              <a:buNone/>
            </a:pPr>
            <a:r>
              <a:rPr lang="en-US" sz="3200" dirty="0" b="1"/>
              <a:t>1</a:t>
            </a:r>
            <a:endParaRPr lang="en-US" sz="3200" dirty="0" b="1"/>
          </a:p>
        </p:txBody>
      </p:sp>
      <p:sp>
        <p:nvSpPr>
          <p:cNvPr id="34" name="R1 text"/>
          <p:cNvSpPr/>
          <p:nvPr/>
        </p:nvSpPr>
        <p:spPr>
          <a:xfrm>
            <a:off x="1810512" y="2123237"/>
            <a:ext cx="4315968" cy="655015"/>
          </a:xfrm>
          <a:prstGeom prst="rect">
            <a:avLst/>
          </a:prstGeom>
          <a:noFill/>
          <a:ln/>
        </p:spPr>
        <p:txBody>
          <a:bodyPr wrap="square" rtlCol="0" anchor="ctr" tIns="0" bIns="0"/>
          <a:lstStyle/>
          <a:p>
            <a:pPr algn="l" indent="0" marL="0">
              <a:buNone/>
            </a:pPr>
            <a:r>
              <a:rPr lang="en-US" sz="1800" dirty="0">
                <a:solidFill>
                  <a:srgbClr val="1B2236"/>
                </a:solidFill>
                <a:latin typeface="Lexend Deca" pitchFamily="34" charset="0"/>
                <a:ea typeface="Lexend Deca" pitchFamily="34" charset="-122"/>
                <a:cs typeface="Lexend Deca" pitchFamily="34" charset="-120"/>
              </a:rPr>
              <a:t>I always forget to turn ____ off.</a:t>
            </a:r>
            <a:endParaRPr lang="en-US" sz="1800" dirty="0"/>
          </a:p>
        </p:txBody>
      </p:sp>
      <p:sp>
        <p:nvSpPr>
          <p:cNvPr id="35" name="R1 ans"/>
          <p:cNvSpPr/>
          <p:nvPr/>
        </p:nvSpPr>
        <p:spPr>
          <a:xfrm>
            <a:off x="6199632" y="2222144"/>
            <a:ext cx="137160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them</a:t>
            </a:r>
            <a:endParaRPr lang="en-US" sz="2000" dirty="0" b="1"/>
          </a:p>
        </p:txBody>
      </p:sp>
      <p:sp>
        <p:nvSpPr>
          <p:cNvPr id="36" name="R2 card"/>
          <p:cNvSpPr/>
          <p:nvPr/>
        </p:nvSpPr>
        <p:spPr>
          <a:xfrm>
            <a:off x="1583741" y="2851404"/>
            <a:ext cx="6035040" cy="655015"/>
          </a:xfrm>
          <a:prstGeom prst="round1Rect">
            <a:avLst>
              <a:gd name="adj" fmla="val 23087"/>
            </a:avLst>
          </a:prstGeom>
          <a:solidFill>
            <a:srgbClr val="FFFFFF"/>
          </a:solidFill>
          <a:ln/>
        </p:spPr>
        <p:txBody>
          <a:bodyPr/>
          <a:p/>
        </p:txBody>
      </p:sp>
      <p:sp>
        <p:nvSpPr>
          <p:cNvPr id="37" name="R2 chip"/>
          <p:cNvSpPr/>
          <p:nvPr/>
        </p:nvSpPr>
        <p:spPr>
          <a:xfrm>
            <a:off x="544982" y="2851404"/>
            <a:ext cx="1039673" cy="655015"/>
          </a:xfrm>
          <a:prstGeom prst="rect">
            <a:avLst/>
          </a:prstGeom>
          <a:solidFill>
            <a:srgbClr val="B9D2F7"/>
          </a:solidFill>
          <a:ln/>
        </p:spPr>
        <p:txBody>
          <a:bodyPr/>
          <a:p/>
        </p:txBody>
      </p:sp>
      <p:sp>
        <p:nvSpPr>
          <p:cNvPr id="38" name="R2 num"/>
          <p:cNvSpPr/>
          <p:nvPr/>
        </p:nvSpPr>
        <p:spPr>
          <a:xfrm>
            <a:off x="686714" y="2886304"/>
            <a:ext cx="1109167" cy="585216"/>
          </a:xfrm>
          <a:prstGeom prst="rect">
            <a:avLst/>
          </a:prstGeom>
          <a:noFill/>
          <a:ln/>
        </p:spPr>
        <p:txBody>
          <a:bodyPr wrap="square" rtlCol="0" anchor="ctr"/>
          <a:lstStyle/>
          <a:p>
            <a:pPr algn="ctr" indent="0" marL="0">
              <a:buNone/>
            </a:pPr>
            <a:r>
              <a:rPr lang="en-US" sz="3200" dirty="0" b="1"/>
              <a:t>2</a:t>
            </a:r>
            <a:endParaRPr lang="en-US" sz="3200" dirty="0" b="1"/>
          </a:p>
        </p:txBody>
      </p:sp>
      <p:sp>
        <p:nvSpPr>
          <p:cNvPr id="39" name="R2 text"/>
          <p:cNvSpPr/>
          <p:nvPr/>
        </p:nvSpPr>
        <p:spPr>
          <a:xfrm>
            <a:off x="1810512" y="2851404"/>
            <a:ext cx="4315968" cy="655015"/>
          </a:xfrm>
          <a:prstGeom prst="rect">
            <a:avLst/>
          </a:prstGeom>
          <a:noFill/>
          <a:ln/>
        </p:spPr>
        <p:txBody>
          <a:bodyPr wrap="square" rtlCol="0" anchor="ctr" tIns="0" bIns="0"/>
          <a:lstStyle/>
          <a:p>
            <a:pPr algn="l" indent="0" marL="0">
              <a:buNone/>
            </a:pPr>
            <a:r>
              <a:rPr lang="en-US" sz="1800" dirty="0">
                <a:solidFill>
                  <a:srgbClr val="1B2236"/>
                </a:solidFill>
                <a:latin typeface="Lexend Deca" pitchFamily="34" charset="0"/>
                <a:ea typeface="Lexend Deca" pitchFamily="34" charset="-122"/>
                <a:cs typeface="Lexend Deca" pitchFamily="34" charset="-120"/>
              </a:rPr>
              <a:t>I'll turn ____ off.</a:t>
            </a:r>
            <a:endParaRPr lang="en-US" sz="1800" dirty="0"/>
          </a:p>
        </p:txBody>
      </p:sp>
      <p:sp>
        <p:nvSpPr>
          <p:cNvPr id="40" name="R2 ans"/>
          <p:cNvSpPr/>
          <p:nvPr/>
        </p:nvSpPr>
        <p:spPr>
          <a:xfrm>
            <a:off x="6199632" y="2950312"/>
            <a:ext cx="137160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it</a:t>
            </a:r>
            <a:endParaRPr lang="en-US" sz="2000" dirty="0" b="1"/>
          </a:p>
        </p:txBody>
      </p:sp>
      <p:sp>
        <p:nvSpPr>
          <p:cNvPr id="41" name="R3 card"/>
          <p:cNvSpPr/>
          <p:nvPr/>
        </p:nvSpPr>
        <p:spPr>
          <a:xfrm>
            <a:off x="1583741" y="3579571"/>
            <a:ext cx="6035040" cy="655015"/>
          </a:xfrm>
          <a:prstGeom prst="round1Rect">
            <a:avLst>
              <a:gd name="adj" fmla="val 23087"/>
            </a:avLst>
          </a:prstGeom>
          <a:solidFill>
            <a:srgbClr val="FFFFFF"/>
          </a:solidFill>
          <a:ln/>
        </p:spPr>
        <p:txBody>
          <a:bodyPr/>
          <a:p/>
        </p:txBody>
      </p:sp>
      <p:sp>
        <p:nvSpPr>
          <p:cNvPr id="42" name="R3 chip"/>
          <p:cNvSpPr/>
          <p:nvPr/>
        </p:nvSpPr>
        <p:spPr>
          <a:xfrm>
            <a:off x="544982" y="3579571"/>
            <a:ext cx="1039673" cy="655015"/>
          </a:xfrm>
          <a:prstGeom prst="rect">
            <a:avLst/>
          </a:prstGeom>
          <a:solidFill>
            <a:srgbClr val="B9D2F7"/>
          </a:solidFill>
          <a:ln/>
        </p:spPr>
        <p:txBody>
          <a:bodyPr/>
          <a:p/>
        </p:txBody>
      </p:sp>
      <p:sp>
        <p:nvSpPr>
          <p:cNvPr id="43" name="R3 num"/>
          <p:cNvSpPr/>
          <p:nvPr/>
        </p:nvSpPr>
        <p:spPr>
          <a:xfrm>
            <a:off x="686714" y="3614471"/>
            <a:ext cx="1109167" cy="585216"/>
          </a:xfrm>
          <a:prstGeom prst="rect">
            <a:avLst/>
          </a:prstGeom>
          <a:noFill/>
          <a:ln/>
        </p:spPr>
        <p:txBody>
          <a:bodyPr wrap="square" rtlCol="0" anchor="ctr"/>
          <a:lstStyle/>
          <a:p>
            <a:pPr algn="ctr" indent="0" marL="0">
              <a:buNone/>
            </a:pPr>
            <a:r>
              <a:rPr lang="en-US" sz="3200" dirty="0" b="1"/>
              <a:t>3</a:t>
            </a:r>
            <a:endParaRPr lang="en-US" sz="3200" dirty="0" b="1"/>
          </a:p>
        </p:txBody>
      </p:sp>
      <p:sp>
        <p:nvSpPr>
          <p:cNvPr id="44" name="R3 text"/>
          <p:cNvSpPr/>
          <p:nvPr/>
        </p:nvSpPr>
        <p:spPr>
          <a:xfrm>
            <a:off x="1810512" y="3579571"/>
            <a:ext cx="4315968" cy="655015"/>
          </a:xfrm>
          <a:prstGeom prst="rect">
            <a:avLst/>
          </a:prstGeom>
          <a:noFill/>
          <a:ln/>
        </p:spPr>
        <p:txBody>
          <a:bodyPr wrap="square" rtlCol="0" anchor="ctr" tIns="0" bIns="0"/>
          <a:lstStyle/>
          <a:p>
            <a:pPr algn="l" indent="0" marL="0">
              <a:buNone/>
            </a:pPr>
            <a:r>
              <a:rPr lang="en-US" sz="1800" dirty="0">
                <a:solidFill>
                  <a:srgbClr val="1B2236"/>
                </a:solidFill>
                <a:latin typeface="Lexend Deca" pitchFamily="34" charset="0"/>
                <a:ea typeface="Lexend Deca" pitchFamily="34" charset="-122"/>
                <a:cs typeface="Lexend Deca" pitchFamily="34" charset="-120"/>
              </a:rPr>
              <a:t>we can turn ____ the heat at night.</a:t>
            </a:r>
            <a:endParaRPr lang="en-US" sz="1800" dirty="0"/>
          </a:p>
        </p:txBody>
      </p:sp>
      <p:sp>
        <p:nvSpPr>
          <p:cNvPr id="45" name="R3 ans"/>
          <p:cNvSpPr/>
          <p:nvPr/>
        </p:nvSpPr>
        <p:spPr>
          <a:xfrm>
            <a:off x="6199632" y="3678479"/>
            <a:ext cx="137160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down</a:t>
            </a:r>
            <a:endParaRPr lang="en-US" sz="2000" dirty="0" b="1"/>
          </a:p>
        </p:txBody>
      </p:sp>
      <p:sp>
        <p:nvSpPr>
          <p:cNvPr id="46" name="R4 card"/>
          <p:cNvSpPr/>
          <p:nvPr/>
        </p:nvSpPr>
        <p:spPr>
          <a:xfrm>
            <a:off x="1583741" y="4307738"/>
            <a:ext cx="6035040" cy="655015"/>
          </a:xfrm>
          <a:prstGeom prst="round1Rect">
            <a:avLst>
              <a:gd name="adj" fmla="val 23087"/>
            </a:avLst>
          </a:prstGeom>
          <a:solidFill>
            <a:srgbClr val="FFFFFF"/>
          </a:solidFill>
          <a:ln/>
        </p:spPr>
        <p:txBody>
          <a:bodyPr/>
          <a:p/>
        </p:txBody>
      </p:sp>
      <p:sp>
        <p:nvSpPr>
          <p:cNvPr id="47" name="R4 chip"/>
          <p:cNvSpPr/>
          <p:nvPr/>
        </p:nvSpPr>
        <p:spPr>
          <a:xfrm>
            <a:off x="544982" y="4307738"/>
            <a:ext cx="1039673" cy="655015"/>
          </a:xfrm>
          <a:prstGeom prst="rect">
            <a:avLst/>
          </a:prstGeom>
          <a:solidFill>
            <a:srgbClr val="B9D2F7"/>
          </a:solidFill>
          <a:ln/>
        </p:spPr>
        <p:txBody>
          <a:bodyPr/>
          <a:p/>
        </p:txBody>
      </p:sp>
      <p:sp>
        <p:nvSpPr>
          <p:cNvPr id="48" name="R4 num"/>
          <p:cNvSpPr/>
          <p:nvPr/>
        </p:nvSpPr>
        <p:spPr>
          <a:xfrm>
            <a:off x="686714" y="4342638"/>
            <a:ext cx="1109167" cy="585216"/>
          </a:xfrm>
          <a:prstGeom prst="rect">
            <a:avLst/>
          </a:prstGeom>
          <a:noFill/>
          <a:ln/>
        </p:spPr>
        <p:txBody>
          <a:bodyPr wrap="square" rtlCol="0" anchor="ctr"/>
          <a:lstStyle/>
          <a:p>
            <a:pPr algn="ctr" indent="0" marL="0">
              <a:buNone/>
            </a:pPr>
            <a:r>
              <a:rPr lang="en-US" sz="3200" dirty="0" b="1"/>
              <a:t>4</a:t>
            </a:r>
            <a:endParaRPr lang="en-US" sz="3200" dirty="0" b="1"/>
          </a:p>
        </p:txBody>
      </p:sp>
      <p:sp>
        <p:nvSpPr>
          <p:cNvPr id="49" name="R4 text"/>
          <p:cNvSpPr/>
          <p:nvPr/>
        </p:nvSpPr>
        <p:spPr>
          <a:xfrm>
            <a:off x="1810512" y="4307738"/>
            <a:ext cx="4315968" cy="655015"/>
          </a:xfrm>
          <a:prstGeom prst="rect">
            <a:avLst/>
          </a:prstGeom>
          <a:noFill/>
          <a:ln/>
        </p:spPr>
        <p:txBody>
          <a:bodyPr wrap="square" rtlCol="0" anchor="ctr" tIns="0" bIns="0"/>
          <a:lstStyle/>
          <a:p>
            <a:pPr algn="l" indent="0" marL="0">
              <a:buNone/>
            </a:pPr>
            <a:r>
              <a:rPr lang="en-US" sz="1800" dirty="0">
                <a:solidFill>
                  <a:srgbClr val="1B2236"/>
                </a:solidFill>
                <a:latin typeface="Lexend Deca" pitchFamily="34" charset="0"/>
                <a:ea typeface="Lexend Deca" pitchFamily="34" charset="-122"/>
                <a:cs typeface="Lexend Deca" pitchFamily="34" charset="-120"/>
              </a:rPr>
              <a:t>let's put ____ sweaters</a:t>
            </a:r>
            <a:endParaRPr lang="en-US" sz="1800" dirty="0"/>
          </a:p>
        </p:txBody>
      </p:sp>
      <p:sp>
        <p:nvSpPr>
          <p:cNvPr id="50" name="R4 ans"/>
          <p:cNvSpPr/>
          <p:nvPr/>
        </p:nvSpPr>
        <p:spPr>
          <a:xfrm>
            <a:off x="6199632" y="4406646"/>
            <a:ext cx="137160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on</a:t>
            </a:r>
            <a:endParaRPr lang="en-US" sz="2000" dirty="0" b="1"/>
          </a:p>
        </p:txBody>
      </p:sp>
      <p:sp>
        <p:nvSpPr>
          <p:cNvPr id="51" name="R5 card"/>
          <p:cNvSpPr/>
          <p:nvPr/>
        </p:nvSpPr>
        <p:spPr>
          <a:xfrm>
            <a:off x="1583741" y="5035906"/>
            <a:ext cx="6035040" cy="655015"/>
          </a:xfrm>
          <a:prstGeom prst="round1Rect">
            <a:avLst>
              <a:gd name="adj" fmla="val 23087"/>
            </a:avLst>
          </a:prstGeom>
          <a:solidFill>
            <a:srgbClr val="FFFFFF"/>
          </a:solidFill>
          <a:ln/>
        </p:spPr>
        <p:txBody>
          <a:bodyPr/>
          <a:p/>
        </p:txBody>
      </p:sp>
      <p:sp>
        <p:nvSpPr>
          <p:cNvPr id="52" name="R5 chip"/>
          <p:cNvSpPr/>
          <p:nvPr/>
        </p:nvSpPr>
        <p:spPr>
          <a:xfrm>
            <a:off x="544982" y="5035906"/>
            <a:ext cx="1039673" cy="655015"/>
          </a:xfrm>
          <a:prstGeom prst="rect">
            <a:avLst/>
          </a:prstGeom>
          <a:solidFill>
            <a:srgbClr val="B9D2F7"/>
          </a:solidFill>
          <a:ln/>
        </p:spPr>
        <p:txBody>
          <a:bodyPr/>
          <a:p/>
        </p:txBody>
      </p:sp>
      <p:sp>
        <p:nvSpPr>
          <p:cNvPr id="53" name="R5 num"/>
          <p:cNvSpPr/>
          <p:nvPr/>
        </p:nvSpPr>
        <p:spPr>
          <a:xfrm>
            <a:off x="686714" y="5070805"/>
            <a:ext cx="1109167" cy="585216"/>
          </a:xfrm>
          <a:prstGeom prst="rect">
            <a:avLst/>
          </a:prstGeom>
          <a:noFill/>
          <a:ln/>
        </p:spPr>
        <p:txBody>
          <a:bodyPr wrap="square" rtlCol="0" anchor="ctr"/>
          <a:lstStyle/>
          <a:p>
            <a:pPr algn="ctr" indent="0" marL="0">
              <a:buNone/>
            </a:pPr>
            <a:r>
              <a:rPr lang="en-US" sz="3200" dirty="0" b="1"/>
              <a:t>5</a:t>
            </a:r>
            <a:endParaRPr lang="en-US" sz="3200" dirty="0" b="1"/>
          </a:p>
        </p:txBody>
      </p:sp>
      <p:sp>
        <p:nvSpPr>
          <p:cNvPr id="54" name="R5 text"/>
          <p:cNvSpPr/>
          <p:nvPr/>
        </p:nvSpPr>
        <p:spPr>
          <a:xfrm>
            <a:off x="1810512" y="5035906"/>
            <a:ext cx="4315968" cy="655015"/>
          </a:xfrm>
          <a:prstGeom prst="rect">
            <a:avLst/>
          </a:prstGeom>
          <a:noFill/>
          <a:ln/>
        </p:spPr>
        <p:txBody>
          <a:bodyPr wrap="square" rtlCol="0" anchor="ctr" tIns="0" bIns="0"/>
          <a:lstStyle/>
          <a:p>
            <a:pPr algn="l" indent="0" marL="0">
              <a:buNone/>
            </a:pPr>
            <a:r>
              <a:rPr lang="en-US" sz="1800" dirty="0">
                <a:solidFill>
                  <a:srgbClr val="1B2236"/>
                </a:solidFill>
                <a:latin typeface="Lexend Deca" pitchFamily="34" charset="0"/>
                <a:ea typeface="Lexend Deca" pitchFamily="34" charset="-122"/>
                <a:cs typeface="Lexend Deca" pitchFamily="34" charset="-120"/>
              </a:rPr>
              <a:t>not turn ____ the heat</a:t>
            </a:r>
            <a:endParaRPr lang="en-US" sz="1800" dirty="0"/>
          </a:p>
        </p:txBody>
      </p:sp>
      <p:sp>
        <p:nvSpPr>
          <p:cNvPr id="55" name="R5 ans"/>
          <p:cNvSpPr/>
          <p:nvPr/>
        </p:nvSpPr>
        <p:spPr>
          <a:xfrm>
            <a:off x="6199632" y="5134813"/>
            <a:ext cx="137160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up</a:t>
            </a:r>
            <a:endParaRPr lang="en-US" sz="2000" dirty="0" b="1"/>
          </a:p>
        </p:txBody>
      </p:sp>
      <p:sp>
        <p:nvSpPr>
          <p:cNvPr id="56" name="R6 card"/>
          <p:cNvSpPr/>
          <p:nvPr/>
        </p:nvSpPr>
        <p:spPr>
          <a:xfrm>
            <a:off x="1583741" y="5764073"/>
            <a:ext cx="6035040" cy="655015"/>
          </a:xfrm>
          <a:prstGeom prst="round1Rect">
            <a:avLst>
              <a:gd name="adj" fmla="val 23087"/>
            </a:avLst>
          </a:prstGeom>
          <a:solidFill>
            <a:srgbClr val="FFFFFF"/>
          </a:solidFill>
          <a:ln/>
        </p:spPr>
        <p:txBody>
          <a:bodyPr/>
          <a:p/>
        </p:txBody>
      </p:sp>
      <p:sp>
        <p:nvSpPr>
          <p:cNvPr id="57" name="R6 chip"/>
          <p:cNvSpPr/>
          <p:nvPr/>
        </p:nvSpPr>
        <p:spPr>
          <a:xfrm>
            <a:off x="544982" y="5764073"/>
            <a:ext cx="1039673" cy="655015"/>
          </a:xfrm>
          <a:prstGeom prst="rect">
            <a:avLst/>
          </a:prstGeom>
          <a:solidFill>
            <a:srgbClr val="B9D2F7"/>
          </a:solidFill>
          <a:ln/>
        </p:spPr>
        <p:txBody>
          <a:bodyPr/>
          <a:p/>
        </p:txBody>
      </p:sp>
      <p:sp>
        <p:nvSpPr>
          <p:cNvPr id="58" name="R6 num"/>
          <p:cNvSpPr/>
          <p:nvPr/>
        </p:nvSpPr>
        <p:spPr>
          <a:xfrm>
            <a:off x="686714" y="5798972"/>
            <a:ext cx="1109167" cy="585216"/>
          </a:xfrm>
          <a:prstGeom prst="rect">
            <a:avLst/>
          </a:prstGeom>
          <a:noFill/>
          <a:ln/>
        </p:spPr>
        <p:txBody>
          <a:bodyPr wrap="square" rtlCol="0" anchor="ctr"/>
          <a:lstStyle/>
          <a:p>
            <a:pPr algn="ctr" indent="0" marL="0">
              <a:buNone/>
            </a:pPr>
            <a:r>
              <a:rPr lang="en-US" sz="3200" dirty="0" b="1"/>
              <a:t>6</a:t>
            </a:r>
            <a:endParaRPr lang="en-US" sz="3200" dirty="0" b="1"/>
          </a:p>
        </p:txBody>
      </p:sp>
      <p:sp>
        <p:nvSpPr>
          <p:cNvPr id="59" name="R6 text"/>
          <p:cNvSpPr/>
          <p:nvPr/>
        </p:nvSpPr>
        <p:spPr>
          <a:xfrm>
            <a:off x="1810512" y="5764073"/>
            <a:ext cx="4315968" cy="655015"/>
          </a:xfrm>
          <a:prstGeom prst="rect">
            <a:avLst/>
          </a:prstGeom>
          <a:noFill/>
          <a:ln/>
        </p:spPr>
        <p:txBody>
          <a:bodyPr wrap="square" rtlCol="0" anchor="ctr" tIns="0" bIns="0"/>
          <a:lstStyle/>
          <a:p>
            <a:pPr algn="l" indent="0" marL="0">
              <a:buNone/>
            </a:pPr>
            <a:r>
              <a:rPr lang="en-US" sz="1800" dirty="0">
                <a:solidFill>
                  <a:srgbClr val="1B2236"/>
                </a:solidFill>
                <a:latin typeface="Lexend Deca" pitchFamily="34" charset="0"/>
                <a:ea typeface="Lexend Deca" pitchFamily="34" charset="-122"/>
                <a:cs typeface="Lexend Deca" pitchFamily="34" charset="-120"/>
              </a:rPr>
              <a:t>don't forget to turn ____ the lights</a:t>
            </a:r>
            <a:endParaRPr lang="en-US" sz="1800" dirty="0"/>
          </a:p>
        </p:txBody>
      </p:sp>
      <p:sp>
        <p:nvSpPr>
          <p:cNvPr id="60" name="R6 ans"/>
          <p:cNvSpPr/>
          <p:nvPr/>
        </p:nvSpPr>
        <p:spPr>
          <a:xfrm>
            <a:off x="6199632" y="5862980"/>
            <a:ext cx="137160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off</a:t>
            </a:r>
            <a:endParaRPr lang="en-US" sz="20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5"/>
                                        </p:tgtEl>
                                        <p:attrNameLst>
                                          <p:attrName>style.visibility</p:attrName>
                                        </p:attrNameLst>
                                      </p:cBhvr>
                                      <p:to>
                                        <p:strVal val="visible"/>
                                      </p:to>
                                    </p:set>
                                    <p:animEffect transition="in" filter="fade">
                                      <p:cBhvr>
                                        <p:cTn id="7" dur="400"/>
                                        <p:tgtEl>
                                          <p:spTgt spid="3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0"/>
                                        </p:tgtEl>
                                        <p:attrNameLst>
                                          <p:attrName>style.visibility</p:attrName>
                                        </p:attrNameLst>
                                      </p:cBhvr>
                                      <p:to>
                                        <p:strVal val="visible"/>
                                      </p:to>
                                    </p:set>
                                    <p:animEffect transition="in" filter="fade">
                                      <p:cBhvr>
                                        <p:cTn id="12" dur="400"/>
                                        <p:tgtEl>
                                          <p:spTgt spid="4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45"/>
                                        </p:tgtEl>
                                        <p:attrNameLst>
                                          <p:attrName>style.visibility</p:attrName>
                                        </p:attrNameLst>
                                      </p:cBhvr>
                                      <p:to>
                                        <p:strVal val="visible"/>
                                      </p:to>
                                    </p:set>
                                    <p:animEffect transition="in" filter="fade">
                                      <p:cBhvr>
                                        <p:cTn id="17" dur="400"/>
                                        <p:tgtEl>
                                          <p:spTgt spid="4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50"/>
                                        </p:tgtEl>
                                        <p:attrNameLst>
                                          <p:attrName>style.visibility</p:attrName>
                                        </p:attrNameLst>
                                      </p:cBhvr>
                                      <p:to>
                                        <p:strVal val="visible"/>
                                      </p:to>
                                    </p:set>
                                    <p:animEffect transition="in" filter="fade">
                                      <p:cBhvr>
                                        <p:cTn id="22" dur="400"/>
                                        <p:tgtEl>
                                          <p:spTgt spid="5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55"/>
                                        </p:tgtEl>
                                        <p:attrNameLst>
                                          <p:attrName>style.visibility</p:attrName>
                                        </p:attrNameLst>
                                      </p:cBhvr>
                                      <p:to>
                                        <p:strVal val="visible"/>
                                      </p:to>
                                    </p:set>
                                    <p:animEffect transition="in" filter="fade">
                                      <p:cBhvr>
                                        <p:cTn id="27" dur="400"/>
                                        <p:tgtEl>
                                          <p:spTgt spid="5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60"/>
                                        </p:tgtEl>
                                        <p:attrNameLst>
                                          <p:attrName>style.visibility</p:attrName>
                                        </p:attrNameLst>
                                      </p:cBhvr>
                                      <p:to>
                                        <p:strVal val="visible"/>
                                      </p:to>
                                    </p:set>
                                    <p:animEffect transition="in" filter="fade">
                                      <p:cBhvr>
                                        <p:cTn id="32" dur="400"/>
                                        <p:tgtEl>
                                          <p:spTgt spid="6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p="http://schemas.openxmlformats.org/presentationml/2006/main" xmlns:r="http://schemas.openxmlformats.org/officeDocument/2006/relationships">
  <p:cSld name="L4:checksay">
    <p:bg>
      <p:bgPr>
        <a:solidFill>
          <a:srgbClr val="F1F5FB"/>
        </a:solidFill>
      </p:bgPr>
    </p:bg>
    <p:spTree>
      <p:nvGrpSpPr>
        <p:cNvPr id="1" name=""/>
        <p:cNvGrpSpPr/>
        <p:nvPr/>
      </p:nvGrpSpPr>
      <p:grpSpPr/>
      <p:sp>
        <p:nvSpPr>
          <p:cNvPr id="2" name="head shadow"/>
          <p:cNvSpPr/>
          <p:nvPr/>
        </p:nvSpPr>
        <p:spPr>
          <a:xfrm>
            <a:off x="544982" y="1681582"/>
            <a:ext cx="6227064" cy="983894"/>
          </a:xfrm>
          <a:prstGeom prst="round1Rect">
            <a:avLst>
              <a:gd name="adj" fmla="val 23087"/>
            </a:avLst>
          </a:prstGeom>
          <a:solidFill>
            <a:srgbClr val="8FAFE3"/>
          </a:solidFill>
          <a:ln/>
        </p:spPr>
        <p:txBody>
          <a:bodyPr/>
          <a:p/>
        </p:txBody>
      </p:sp>
      <p:sp>
        <p:nvSpPr>
          <p:cNvPr id="3" name="head card"/>
          <p:cNvSpPr/>
          <p:nvPr/>
        </p:nvSpPr>
        <p:spPr>
          <a:xfrm>
            <a:off x="544982" y="1623974"/>
            <a:ext cx="6169457" cy="983894"/>
          </a:xfrm>
          <a:prstGeom prst="round1Rect">
            <a:avLst>
              <a:gd name="adj" fmla="val 23087"/>
            </a:avLst>
          </a:prstGeom>
          <a:solidFill>
            <a:srgbClr val="FFFFFF"/>
          </a:solidFill>
          <a:ln/>
        </p:spPr>
        <p:txBody>
          <a:bodyPr/>
          <a:p/>
        </p:txBody>
      </p:sp>
      <p:sp>
        <p:nvSpPr>
          <p:cNvPr id="8" name="head1"/>
          <p:cNvSpPr/>
          <p:nvPr/>
        </p:nvSpPr>
        <p:spPr>
          <a:xfrm>
            <a:off x="777240" y="1691640"/>
            <a:ext cx="5669280" cy="384048"/>
          </a:xfrm>
          <a:prstGeom prst="rect">
            <a:avLst/>
          </a:prstGeom>
          <a:noFill/>
          <a:ln/>
        </p:spPr>
        <p:txBody>
          <a:bodyPr wrap="square" rtlCol="0" anchor="t"/>
          <a:lstStyle/>
          <a:p>
            <a:pPr algn="l" indent="0" marL="0">
              <a:buNone/>
            </a:pPr>
            <a:r>
              <a:rPr lang="en-US" sz="1800" dirty="0" b="1">
                <a:solidFill>
                  <a:srgbClr val="1B2236"/>
                </a:solidFill>
                <a:latin typeface="Lexend Deca" pitchFamily="34" charset="0"/>
                <a:ea typeface="Lexend Deca" pitchFamily="34" charset="-122"/>
                <a:cs typeface="Lexend Deca" pitchFamily="34" charset="-120"/>
              </a:rPr>
              <a:t>Hear it: gonna = going to</a:t>
            </a:r>
            <a:endParaRPr lang="en-US" sz="1800" dirty="0" b="1"/>
          </a:p>
        </p:txBody>
      </p:sp>
      <p:sp>
        <p:nvSpPr>
          <p:cNvPr id="9" name="head2"/>
          <p:cNvSpPr/>
          <p:nvPr/>
        </p:nvSpPr>
        <p:spPr>
          <a:xfrm>
            <a:off x="868680" y="2093976"/>
            <a:ext cx="5577840" cy="411480"/>
          </a:xfrm>
          <a:prstGeom prst="rect">
            <a:avLst/>
          </a:prstGeom>
          <a:noFill/>
          <a:ln/>
        </p:spPr>
        <p:txBody>
          <a:bodyPr wrap="square" lIns="0" tIns="0" rIns="0" bIns="0" rtlCol="0" anchor="t"/>
          <a:lstStyle/>
          <a:p>
            <a:pPr algn="l" indent="0" marL="0">
              <a:buNone/>
            </a:pPr>
            <a:r>
              <a:rPr lang="en-US" sz="1800" dirty="0">
                <a:solidFill>
                  <a:srgbClr val="1B2236"/>
                </a:solidFill>
                <a:latin typeface="Lexend Deca" pitchFamily="34" charset="0"/>
                <a:ea typeface="Lexend Deca" pitchFamily="34" charset="-122"/>
                <a:cs typeface="Lexend Deca" pitchFamily="34" charset="-120"/>
              </a:rPr>
              <a:t>Say it: the stress and the linking</a:t>
            </a:r>
            <a:endParaRPr lang="en-US" sz="1800" dirty="0"/>
          </a:p>
        </p:txBody>
      </p:sp>
      <p:sp>
        <p:nvSpPr>
          <p:cNvPr id="29" name="title"/>
          <p:cNvSpPr/>
          <p:nvPr/>
        </p:nvSpPr>
        <p:spPr>
          <a:xfrm>
            <a:off x="7634326" y="1783080"/>
            <a:ext cx="4229100" cy="1600200"/>
          </a:xfrm>
          <a:prstGeom prst="rect">
            <a:avLst/>
          </a:prstGeom>
          <a:noFill/>
          <a:ln/>
        </p:spPr>
        <p:txBody>
          <a:bodyPr wrap="square" rtlCol="0" anchor="b"/>
          <a:lstStyle/>
          <a:p>
            <a:pPr algn="l" indent="0" marL="0">
              <a:buNone/>
            </a:pPr>
            <a:r>
              <a:rPr lang="en-US" sz="4000" dirty="0" b="1">
                <a:solidFill>
                  <a:srgbClr val="1B2236"/>
                </a:solidFill>
                <a:latin typeface="Lexend Deca" pitchFamily="34" charset="0"/>
                <a:ea typeface="Lexend Deca" pitchFamily="34" charset="-122"/>
                <a:cs typeface="Lexend Deca" pitchFamily="34" charset="-120"/>
              </a:rPr>
              <a:t>Hear It,</a:t>
            </a:r>
            <a:endParaRPr lang="en-US" sz="4000" dirty="0" b="1"/>
          </a:p>
          <a:p>
            <a:pPr algn="l" indent="0" marL="0">
              <a:buNone/>
            </a:pPr>
            <a:r>
              <a:rPr lang="en-US" sz="4000" dirty="0" b="1">
                <a:solidFill>
                  <a:srgbClr val="1B2236"/>
                </a:solidFill>
                <a:latin typeface="Lexend Deca" pitchFamily="34" charset="0"/>
                <a:ea typeface="Lexend Deca" pitchFamily="34" charset="-122"/>
                <a:cs typeface="Lexend Deca" pitchFamily="34" charset="-120"/>
              </a:rPr>
              <a:t>Say It</a:t>
            </a:r>
            <a:endParaRPr lang="en-US" sz="4000" dirty="0" b="1"/>
          </a:p>
        </p:txBody>
      </p:sp>
      <p:sp>
        <p:nvSpPr>
          <p:cNvPr id="30" name="side"/>
          <p:cNvSpPr/>
          <p:nvPr/>
        </p:nvSpPr>
        <p:spPr>
          <a:xfrm>
            <a:off x="7751369" y="3611880"/>
            <a:ext cx="3931920" cy="2377440"/>
          </a:xfrm>
          <a:prstGeom prst="rect">
            <a:avLst/>
          </a:prstGeom>
          <a:noFill/>
          <a:ln/>
        </p:spPr>
        <p:txBody>
          <a:bodyPr wrap="square" lIns="0" tIns="0" rIns="0" bIns="0" rtlCol="0" anchor="t"/>
          <a:lstStyle/>
          <a:p>
            <a:pPr algn="l" indent="0" marL="0">
              <a:lnSpc>
                <a:spcPct val="120000"/>
              </a:lnSpc>
              <a:spcAft>
                <a:spcPts val="1200"/>
              </a:spcAft>
              <a:buNone/>
            </a:pPr>
            <a:r>
              <a:rPr lang="en-US" sz="2000" dirty="0">
                <a:solidFill>
                  <a:srgbClr val="1B2236"/>
                </a:solidFill>
                <a:latin typeface="Lexend Deca" pitchFamily="34" charset="0"/>
                <a:ea typeface="Lexend Deca" pitchFamily="34" charset="-122"/>
                <a:cs typeface="Lexend Deca" pitchFamily="34" charset="-120"/>
              </a:rPr>
              <a:t>You will hear </a:t>
            </a:r>
            <a:r>
              <a:rPr lang="en-US" sz="2000" dirty="0" b="1">
                <a:solidFill>
                  <a:srgbClr val="5B3FC4"/>
                </a:solidFill>
                <a:latin typeface="Lexend Deca" pitchFamily="34" charset="0"/>
                <a:ea typeface="Lexend Deca" pitchFamily="34" charset="-122"/>
                <a:cs typeface="Lexend Deca" pitchFamily="34" charset="-120"/>
              </a:rPr>
              <a:t>gonna</a:t>
            </a:r>
            <a:r>
              <a:rPr lang="en-US" sz="2000" dirty="0">
                <a:solidFill>
                  <a:srgbClr val="1B2236"/>
                </a:solidFill>
                <a:latin typeface="Lexend Deca" pitchFamily="34" charset="0"/>
                <a:ea typeface="Lexend Deca" pitchFamily="34" charset="-122"/>
                <a:cs typeface="Lexend Deca" pitchFamily="34" charset="-120"/>
              </a:rPr>
              <a:t>.</a:t>
            </a:r>
            <a:endParaRPr lang="en-US" sz="2000" dirty="0"/>
          </a:p>
          <a:p>
            <a:pPr algn="l" indent="0" marL="0">
              <a:lnSpc>
                <a:spcPct val="120000"/>
              </a:lnSpc>
              <a:spcAft>
                <a:spcPts val="1200"/>
              </a:spcAft>
              <a:buNone/>
            </a:pPr>
            <a:r>
              <a:rPr lang="en-US" sz="2000" dirty="0" b="0">
                <a:solidFill>
                  <a:srgbClr val="1B2236"/>
                </a:solidFill>
                <a:latin typeface="Lexend Deca" pitchFamily="34" charset="0"/>
                <a:ea typeface="Lexend Deca" pitchFamily="34" charset="-122"/>
                <a:cs typeface="Lexend Deca" pitchFamily="34" charset="-120"/>
              </a:rPr>
              <a:t>Stress the </a:t>
            </a:r>
            <a:r>
              <a:rPr lang="en-US" sz="2000" dirty="0" b="1">
                <a:solidFill>
                  <a:srgbClr val="5B3FC4"/>
                </a:solidFill>
                <a:latin typeface="Lexend Deca" pitchFamily="34" charset="0"/>
                <a:ea typeface="Lexend Deca" pitchFamily="34" charset="-122"/>
                <a:cs typeface="Lexend Deca" pitchFamily="34" charset="-120"/>
              </a:rPr>
              <a:t>small word</a:t>
            </a:r>
            <a:r>
              <a:rPr lang="en-US" sz="2000" dirty="0" b="0">
                <a:solidFill>
                  <a:srgbClr val="1B2236"/>
                </a:solidFill>
                <a:latin typeface="Lexend Deca" pitchFamily="34" charset="0"/>
                <a:ea typeface="Lexend Deca" pitchFamily="34" charset="-122"/>
                <a:cs typeface="Lexend Deca" pitchFamily="34" charset="-120"/>
              </a:rPr>
              <a:t>. Link the words.</a:t>
            </a:r>
            <a:endParaRPr lang="en-US" sz="2000" dirty="0" b="0"/>
          </a:p>
          <a:p>
            <a:pPr algn="l" indent="0" marL="0">
              <a:lnSpc>
                <a:spcPct val="120000"/>
              </a:lnSpc>
              <a:spcAft>
                <a:spcPts val="1200"/>
              </a:spcAft>
              <a:buNone/>
            </a:pPr>
            <a:r>
              <a:rPr lang="en-US" sz="2000" dirty="0" b="0">
                <a:solidFill>
                  <a:srgbClr val="1B2236"/>
                </a:solidFill>
                <a:latin typeface="Lexend Deca" pitchFamily="34" charset="0"/>
                <a:ea typeface="Lexend Deca" pitchFamily="34" charset="-122"/>
                <a:cs typeface="Lexend Deca" pitchFamily="34" charset="-120"/>
              </a:rPr>
              <a:t>Say each line </a:t>
            </a:r>
            <a:r>
              <a:rPr lang="en-US" sz="2000" dirty="0" b="1">
                <a:solidFill>
                  <a:srgbClr val="5B3FC4"/>
                </a:solidFill>
                <a:latin typeface="Lexend Deca" pitchFamily="34" charset="0"/>
                <a:ea typeface="Lexend Deca" pitchFamily="34" charset="-122"/>
                <a:cs typeface="Lexend Deca" pitchFamily="34" charset="-120"/>
              </a:rPr>
              <a:t>two times.</a:t>
            </a:r>
            <a:endParaRPr lang="en-US" sz="2000" dirty="0" b="0"/>
          </a:p>
        </p:txBody>
      </p:sp>
      <p:sp>
        <p:nvSpPr>
          <p:cNvPr id="31" name="S1 card"/>
          <p:cNvSpPr/>
          <p:nvPr/>
        </p:nvSpPr>
        <p:spPr>
          <a:xfrm>
            <a:off x="548640" y="2715768"/>
            <a:ext cx="6766560" cy="602590"/>
          </a:xfrm>
          <a:prstGeom prst="round1Rect">
            <a:avLst>
              <a:gd name="adj" fmla="val 23087"/>
            </a:avLst>
          </a:prstGeom>
          <a:solidFill>
            <a:srgbClr val="FFFFFF"/>
          </a:solidFill>
          <a:ln/>
        </p:spPr>
        <p:txBody>
          <a:bodyPr/>
          <a:p/>
        </p:txBody>
      </p:sp>
      <p:sp>
        <p:nvSpPr>
          <p:cNvPr id="32" name="S1 text"/>
          <p:cNvSpPr/>
          <p:nvPr/>
        </p:nvSpPr>
        <p:spPr>
          <a:xfrm>
            <a:off x="777240" y="2715768"/>
            <a:ext cx="6355080" cy="602590"/>
          </a:xfrm>
          <a:prstGeom prst="rect">
            <a:avLst/>
          </a:prstGeom>
          <a:noFill/>
          <a:ln/>
        </p:spPr>
        <p:txBody>
          <a:bodyPr wrap="square" rtlCol="0" anchor="ctr"/>
          <a:lstStyle/>
          <a:p>
            <a:pPr algn="l" indent="0" marL="0">
              <a:buNone/>
            </a:pPr>
            <a:r>
              <a:rPr lang="en-US" sz="1800" dirty="0" b="1">
                <a:solidFill>
                  <a:srgbClr val="1B2236"/>
                </a:solidFill>
                <a:latin typeface="Lexend Deca" pitchFamily="34" charset="0"/>
                <a:ea typeface="Lexend Deca" pitchFamily="34" charset="-122"/>
                <a:cs typeface="Lexend Deca" pitchFamily="34" charset="-120"/>
              </a:rPr>
              <a:t>I'm </a:t>
            </a:r>
            <a:r>
              <a:rPr lang="en-US" sz="1800" dirty="0" b="1">
                <a:solidFill>
                  <a:srgbClr val="5B3FC4"/>
                </a:solidFill>
                <a:latin typeface="Lexend Deca" pitchFamily="34" charset="0"/>
                <a:ea typeface="Lexend Deca" pitchFamily="34" charset="-122"/>
                <a:cs typeface="Lexend Deca" pitchFamily="34" charset="-120"/>
              </a:rPr>
              <a:t>gonna</a:t>
            </a:r>
            <a:r>
              <a:rPr lang="en-US" sz="1800" dirty="0" b="1">
                <a:solidFill>
                  <a:srgbClr val="1B2236"/>
                </a:solidFill>
                <a:latin typeface="Lexend Deca" pitchFamily="34" charset="0"/>
                <a:ea typeface="Lexend Deca" pitchFamily="34" charset="-122"/>
                <a:cs typeface="Lexend Deca" pitchFamily="34" charset="-120"/>
              </a:rPr>
              <a:t> unplug my phone charger.</a:t>
            </a:r>
            <a:endParaRPr lang="en-US" sz="1800" dirty="0" b="1"/>
          </a:p>
        </p:txBody>
      </p:sp>
      <p:sp>
        <p:nvSpPr>
          <p:cNvPr id="33" name="S2 card"/>
          <p:cNvSpPr/>
          <p:nvPr/>
        </p:nvSpPr>
        <p:spPr>
          <a:xfrm>
            <a:off x="548640" y="3427171"/>
            <a:ext cx="6766560" cy="602590"/>
          </a:xfrm>
          <a:prstGeom prst="round1Rect">
            <a:avLst>
              <a:gd name="adj" fmla="val 23087"/>
            </a:avLst>
          </a:prstGeom>
          <a:solidFill>
            <a:srgbClr val="FFFFFF"/>
          </a:solidFill>
          <a:ln/>
        </p:spPr>
        <p:txBody>
          <a:bodyPr/>
          <a:p/>
        </p:txBody>
      </p:sp>
      <p:sp>
        <p:nvSpPr>
          <p:cNvPr id="34" name="S2 text"/>
          <p:cNvSpPr/>
          <p:nvPr/>
        </p:nvSpPr>
        <p:spPr>
          <a:xfrm>
            <a:off x="777240" y="3427171"/>
            <a:ext cx="6355080" cy="602590"/>
          </a:xfrm>
          <a:prstGeom prst="rect">
            <a:avLst/>
          </a:prstGeom>
          <a:noFill/>
          <a:ln/>
        </p:spPr>
        <p:txBody>
          <a:bodyPr wrap="square" rtlCol="0" anchor="ctr"/>
          <a:lstStyle/>
          <a:p>
            <a:pPr algn="l" indent="0" marL="0">
              <a:buNone/>
            </a:pPr>
            <a:r>
              <a:rPr lang="en-US" sz="1800" dirty="0" b="1">
                <a:solidFill>
                  <a:srgbClr val="1B2236"/>
                </a:solidFill>
                <a:latin typeface="Lexend Deca" pitchFamily="34" charset="0"/>
                <a:ea typeface="Lexend Deca" pitchFamily="34" charset="-122"/>
                <a:cs typeface="Lexend Deca" pitchFamily="34" charset="-120"/>
              </a:rPr>
              <a:t>turn it </a:t>
            </a:r>
            <a:r>
              <a:rPr lang="en-US" sz="1800" dirty="0" b="1">
                <a:solidFill>
                  <a:srgbClr val="5B3FC4"/>
                </a:solidFill>
                <a:latin typeface="Lexend Deca" pitchFamily="34" charset="0"/>
                <a:ea typeface="Lexend Deca" pitchFamily="34" charset="-122"/>
                <a:cs typeface="Lexend Deca" pitchFamily="34" charset="-120"/>
              </a:rPr>
              <a:t>OFF</a:t>
            </a:r>
            <a:r>
              <a:rPr lang="en-US" sz="1800" dirty="0" b="1">
                <a:solidFill>
                  <a:srgbClr val="1B2236"/>
                </a:solidFill>
                <a:latin typeface="Lexend Deca" pitchFamily="34" charset="0"/>
                <a:ea typeface="Lexend Deca" pitchFamily="34" charset="-122"/>
                <a:cs typeface="Lexend Deca" pitchFamily="34" charset="-120"/>
              </a:rPr>
              <a:t> • put it a</a:t>
            </a:r>
            <a:r>
              <a:rPr lang="en-US" sz="1800" dirty="0" b="1">
                <a:solidFill>
                  <a:srgbClr val="5B3FC4"/>
                </a:solidFill>
                <a:latin typeface="Lexend Deca" pitchFamily="34" charset="0"/>
                <a:ea typeface="Lexend Deca" pitchFamily="34" charset="-122"/>
                <a:cs typeface="Lexend Deca" pitchFamily="34" charset="-120"/>
              </a:rPr>
              <a:t>WAY</a:t>
            </a:r>
            <a:endParaRPr lang="en-US" sz="1800" dirty="0" b="1"/>
          </a:p>
        </p:txBody>
      </p:sp>
      <p:sp>
        <p:nvSpPr>
          <p:cNvPr id="35" name="S3 card"/>
          <p:cNvSpPr/>
          <p:nvPr/>
        </p:nvSpPr>
        <p:spPr>
          <a:xfrm>
            <a:off x="548640" y="4138574"/>
            <a:ext cx="6766560" cy="602590"/>
          </a:xfrm>
          <a:prstGeom prst="round1Rect">
            <a:avLst>
              <a:gd name="adj" fmla="val 23087"/>
            </a:avLst>
          </a:prstGeom>
          <a:solidFill>
            <a:srgbClr val="FFFFFF"/>
          </a:solidFill>
          <a:ln/>
        </p:spPr>
        <p:txBody>
          <a:bodyPr/>
          <a:p/>
        </p:txBody>
      </p:sp>
      <p:sp>
        <p:nvSpPr>
          <p:cNvPr id="36" name="S3 text"/>
          <p:cNvSpPr/>
          <p:nvPr/>
        </p:nvSpPr>
        <p:spPr>
          <a:xfrm>
            <a:off x="777240" y="4138574"/>
            <a:ext cx="6355080" cy="602590"/>
          </a:xfrm>
          <a:prstGeom prst="rect">
            <a:avLst/>
          </a:prstGeom>
          <a:noFill/>
          <a:ln/>
        </p:spPr>
        <p:txBody>
          <a:bodyPr wrap="square" rtlCol="0" anchor="ctr"/>
          <a:lstStyle/>
          <a:p>
            <a:pPr algn="l" indent="0" marL="0">
              <a:buNone/>
            </a:pPr>
            <a:r>
              <a:rPr lang="en-US" sz="1800" dirty="0" b="1">
                <a:solidFill>
                  <a:srgbClr val="1B2236"/>
                </a:solidFill>
                <a:latin typeface="Lexend Deca" pitchFamily="34" charset="0"/>
                <a:ea typeface="Lexend Deca" pitchFamily="34" charset="-122"/>
                <a:cs typeface="Lexend Deca" pitchFamily="34" charset="-120"/>
              </a:rPr>
              <a:t>turn_it_off • take_it_out</a:t>
            </a:r>
            <a:endParaRPr lang="en-US" sz="1800" dirty="0" b="1"/>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name="L4:table">
    <p:bg>
      <p:bgPr>
        <a:solidFill>
          <a:srgbClr val="F1F5FB"/>
        </a:solidFill>
      </p:bgPr>
    </p:bg>
    <p:spTree>
      <p:nvGrpSpPr>
        <p:cNvPr id="1" name=""/>
        <p:cNvGrpSpPr/>
        <p:nvPr/>
      </p:nvGrpSpPr>
      <p:grpSpPr/>
      <p:sp>
        <p:nvSpPr>
          <p:cNvPr id="2" name="Shape 0"/>
          <p:cNvSpPr/>
          <p:nvPr/>
        </p:nvSpPr>
        <p:spPr>
          <a:xfrm>
            <a:off x="5076429" y="533095"/>
            <a:ext cx="5814670" cy="1234440"/>
          </a:xfrm>
          <a:prstGeom prst="roundRect">
            <a:avLst>
              <a:gd name="adj" fmla="val 16667"/>
            </a:avLst>
          </a:prstGeom>
          <a:solidFill>
            <a:srgbClr val="8FAFE3"/>
          </a:solidFill>
          <a:ln/>
        </p:spPr>
        <p:txBody>
          <a:bodyPr/>
          <a:p/>
        </p:txBody>
      </p:sp>
      <p:sp>
        <p:nvSpPr>
          <p:cNvPr id="3" name="Shape 1"/>
          <p:cNvSpPr/>
          <p:nvPr/>
        </p:nvSpPr>
        <p:spPr>
          <a:xfrm>
            <a:off x="5110582" y="457200"/>
            <a:ext cx="5814670" cy="1234440"/>
          </a:xfrm>
          <a:prstGeom prst="roundRect">
            <a:avLst>
              <a:gd name="adj" fmla="val 16667"/>
            </a:avLst>
          </a:prstGeom>
          <a:solidFill>
            <a:srgbClr val="FFFFFF"/>
          </a:solidFill>
          <a:ln/>
        </p:spPr>
        <p:txBody>
          <a:bodyPr/>
          <a:p/>
        </p:txBody>
      </p:sp>
      <p:sp>
        <p:nvSpPr>
          <p:cNvPr id="4" name="left panel"/>
          <p:cNvSpPr/>
          <p:nvPr/>
        </p:nvSpPr>
        <p:spPr>
          <a:xfrm flipV="1">
            <a:off x="-106985" y="-101498"/>
            <a:ext cx="3844138" cy="6418174"/>
          </a:xfrm>
          <a:prstGeom prst="round1Rect">
            <a:avLst>
              <a:gd name="adj" fmla="val 23087"/>
            </a:avLst>
          </a:prstGeom>
          <a:solidFill>
            <a:srgbClr val="B9D2F7"/>
          </a:solidFill>
          <a:ln w="76200">
            <a:solidFill>
              <a:srgbClr val="FFFFFF"/>
            </a:solidFill>
            <a:prstDash val="solid"/>
          </a:ln>
        </p:spPr>
        <p:txBody>
          <a:bodyPr/>
          <a:p/>
        </p:txBody>
      </p:sp>
      <p:pic>
        <p:nvPicPr>
          <p:cNvPr id="17" name="pic" descr="Outlet: a plug [sign: OUTLET]"/>
          <p:cNvPicPr>
            <a:picLocks noChangeAspect="1"/>
          </p:cNvPicPr>
          <p:nvPr/>
        </p:nvPicPr>
        <p:blipFill>
          <a:blip r:embed="rId3"/>
          <a:stretch>
            <a:fillRect/>
          </a:stretch>
        </p:blipFill>
        <p:spPr>
          <a:xfrm>
            <a:off x="457200" y="2265152"/>
            <a:ext cx="3326587" cy="2328611"/>
          </a:xfrm>
          <a:prstGeom prst="rect">
            <a:avLst/>
          </a:prstGeom>
        </p:spPr>
      </p:pic>
      <p:sp>
        <p:nvSpPr>
          <p:cNvPr id="7" name="head"/>
          <p:cNvSpPr/>
          <p:nvPr/>
        </p:nvSpPr>
        <p:spPr>
          <a:xfrm>
            <a:off x="5333695" y="566928"/>
            <a:ext cx="4846320" cy="1097280"/>
          </a:xfrm>
          <a:prstGeom prst="rect">
            <a:avLst/>
          </a:prstGeom>
          <a:noFill/>
          <a:ln/>
        </p:spPr>
        <p:txBody>
          <a:bodyPr wrap="square" rtlCol="0" anchor="ctr"/>
          <a:lstStyle/>
          <a:p>
            <a:pPr algn="l" indent="0" marL="0">
              <a:spcAft>
                <a:spcPts val="400"/>
              </a:spcAft>
              <a:buNone/>
            </a:pPr>
            <a:r>
              <a:rPr lang="en-US" sz="2000" dirty="0" b="1">
                <a:solidFill>
                  <a:srgbClr val="5B3FC4"/>
                </a:solidFill>
                <a:latin typeface="Lexend Deca" pitchFamily="34" charset="0"/>
                <a:ea typeface="Lexend Deca" pitchFamily="34" charset="-122"/>
                <a:cs typeface="Lexend Deca" pitchFamily="34" charset="-120"/>
              </a:rPr>
              <a:t>Grammar Box 1</a:t>
            </a:r>
            <a:endParaRPr lang="en-US" sz="2000" dirty="0" b="1"/>
          </a:p>
          <a:p>
            <a:pPr algn="l" indent="0" marL="0">
              <a:spcAft>
                <a:spcPts val="400"/>
              </a:spcAft>
              <a:buNone/>
            </a:pPr>
            <a:r>
              <a:rPr lang="en-US" sz="2400" dirty="0" b="1">
                <a:solidFill>
                  <a:srgbClr val="1B2236"/>
                </a:solidFill>
                <a:latin typeface="Lexend Deca" pitchFamily="34" charset="0"/>
                <a:ea typeface="Lexend Deca" pitchFamily="34" charset="-122"/>
                <a:cs typeface="Lexend Deca" pitchFamily="34" charset="-120"/>
              </a:rPr>
              <a:t>phrasal verbs + it / them</a:t>
            </a:r>
            <a:endParaRPr lang="en-US" sz="2400" dirty="0" b="1"/>
          </a:p>
        </p:txBody>
      </p:sp>
      <p:sp>
        <p:nvSpPr>
          <p:cNvPr id="8" name="Q head"/>
          <p:cNvSpPr/>
          <p:nvPr/>
        </p:nvSpPr>
        <p:spPr>
          <a:xfrm>
            <a:off x="5166360" y="1828800"/>
            <a:ext cx="2651760" cy="457200"/>
          </a:xfrm>
          <a:prstGeom prst="rect">
            <a:avLst/>
          </a:prstGeom>
          <a:noFill/>
          <a:ln/>
        </p:spPr>
        <p:txBody>
          <a:bodyPr wrap="square" rtlCol="0" anchor="ctr"/>
          <a:lstStyle/>
          <a:p>
            <a:pPr algn="l" indent="0" marL="0">
              <a:buNone/>
            </a:pPr>
            <a:r>
              <a:rPr lang="en-US" sz="2000" dirty="0" b="1">
                <a:solidFill>
                  <a:srgbClr val="5B3FC4"/>
                </a:solidFill>
                <a:latin typeface="Lexend Deca" pitchFamily="34" charset="0"/>
                <a:ea typeface="Lexend Deca" pitchFamily="34" charset="-122"/>
                <a:cs typeface="Lexend Deca" pitchFamily="34" charset="-120"/>
              </a:rPr>
              <a:t>QUESTION</a:t>
            </a:r>
            <a:endParaRPr lang="en-US" sz="2000" dirty="0" b="1"/>
          </a:p>
        </p:txBody>
      </p:sp>
      <p:sp>
        <p:nvSpPr>
          <p:cNvPr id="11" name="A head"/>
          <p:cNvSpPr/>
          <p:nvPr/>
        </p:nvSpPr>
        <p:spPr>
          <a:xfrm>
            <a:off x="7863840" y="1828800"/>
            <a:ext cx="4069080" cy="457200"/>
          </a:xfrm>
          <a:prstGeom prst="rect">
            <a:avLst/>
          </a:prstGeom>
          <a:noFill/>
          <a:ln/>
        </p:spPr>
        <p:txBody>
          <a:bodyPr wrap="square" rtlCol="0" anchor="ctr"/>
          <a:lstStyle/>
          <a:p>
            <a:pPr algn="l" indent="0" marL="0">
              <a:buNone/>
            </a:pPr>
            <a:r>
              <a:rPr lang="en-US" sz="2000" dirty="0" b="1">
                <a:solidFill>
                  <a:srgbClr val="5B3FC4"/>
                </a:solidFill>
                <a:latin typeface="Lexend Deca" pitchFamily="34" charset="0"/>
                <a:ea typeface="Lexend Deca" pitchFamily="34" charset="-122"/>
                <a:cs typeface="Lexend Deca" pitchFamily="34" charset="-120"/>
              </a:rPr>
              <a:t>ANSWER</a:t>
            </a:r>
            <a:endParaRPr lang="en-US" sz="2000" dirty="0" b="1"/>
          </a:p>
        </p:txBody>
      </p:sp>
      <p:sp>
        <p:nvSpPr>
          <p:cNvPr id="18" name="Question 1"/>
          <p:cNvSpPr/>
          <p:nvPr/>
        </p:nvSpPr>
        <p:spPr>
          <a:xfrm>
            <a:off x="5138928" y="2286000"/>
            <a:ext cx="2651760" cy="97840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Can you turn off</a:t>
            </a:r>
            <a:r>
              <a:rPr lang="en-US" sz="1700" dirty="0" b="1">
                <a:solidFill>
                  <a:srgbClr val="1B2236"/>
                </a:solidFill>
                <a:latin typeface="Lexend Deca" pitchFamily="34" charset="0"/>
                <a:ea typeface="Lexend Deca" pitchFamily="34" charset="-122"/>
                <a:cs typeface="Lexend Deca" pitchFamily="34" charset="-120"/>
              </a:rPr>
              <a:t> the lights?</a:t>
            </a:r>
            <a:endParaRPr lang="en-US" sz="1700" dirty="0" b="1"/>
          </a:p>
        </p:txBody>
      </p:sp>
      <p:sp>
        <p:nvSpPr>
          <p:cNvPr id="19" name="Answer bg 1"/>
          <p:cNvSpPr/>
          <p:nvPr/>
        </p:nvSpPr>
        <p:spPr>
          <a:xfrm>
            <a:off x="7863840" y="2286000"/>
            <a:ext cx="4069080" cy="97840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0" name="Answer 1"/>
          <p:cNvSpPr/>
          <p:nvPr/>
        </p:nvSpPr>
        <p:spPr>
          <a:xfrm>
            <a:off x="7863840" y="2286000"/>
            <a:ext cx="4069080" cy="97840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OK, </a:t>
            </a:r>
            <a:r>
              <a:rPr lang="en-US" sz="1700" dirty="0" b="1">
                <a:solidFill>
                  <a:srgbClr val="1B2236"/>
                </a:solidFill>
                <a:latin typeface="Lexend Deca" pitchFamily="34" charset="0"/>
                <a:ea typeface="Lexend Deca" pitchFamily="34" charset="-122"/>
                <a:cs typeface="Lexend Deca" pitchFamily="34" charset="-120"/>
              </a:rPr>
              <a:t>I'll turn them off.</a:t>
            </a:r>
            <a:r>
              <a:rPr lang="en-US" sz="1700" dirty="0" b="1">
                <a:solidFill>
                  <a:srgbClr val="1B2236"/>
                </a:solidFill>
                <a:latin typeface="Lexend Deca" pitchFamily="34" charset="0"/>
                <a:ea typeface="Lexend Deca" pitchFamily="34" charset="-122"/>
                <a:cs typeface="Lexend Deca" pitchFamily="34" charset="-120"/>
              </a:rPr>
              <a:t> (not </a:t>
            </a:r>
            <a:r>
              <a:rPr lang="en-US" sz="1700" dirty="0" b="1">
                <a:solidFill>
                  <a:srgbClr val="5B3FC4"/>
                </a:solidFill>
                <a:latin typeface="Lexend Deca" pitchFamily="34" charset="0"/>
                <a:ea typeface="Lexend Deca" pitchFamily="34" charset="-122"/>
                <a:cs typeface="Lexend Deca" pitchFamily="34" charset="-120"/>
              </a:rPr>
              <a:t>turn off them</a:t>
            </a:r>
            <a:r>
              <a:rPr lang="en-US" sz="1700" dirty="0" b="1">
                <a:solidFill>
                  <a:srgbClr val="1B2236"/>
                </a:solidFill>
                <a:latin typeface="Lexend Deca" pitchFamily="34" charset="0"/>
                <a:ea typeface="Lexend Deca" pitchFamily="34" charset="-122"/>
                <a:cs typeface="Lexend Deca" pitchFamily="34" charset="-120"/>
              </a:rPr>
              <a:t>)</a:t>
            </a:r>
            <a:endParaRPr lang="en-US" sz="1700" dirty="0" b="1"/>
          </a:p>
        </p:txBody>
      </p:sp>
      <p:sp>
        <p:nvSpPr>
          <p:cNvPr id="21" name="Question 2"/>
          <p:cNvSpPr/>
          <p:nvPr/>
        </p:nvSpPr>
        <p:spPr>
          <a:xfrm>
            <a:off x="5138928" y="3337560"/>
            <a:ext cx="2651760" cy="97840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Can you turn</a:t>
            </a:r>
            <a:r>
              <a:rPr lang="en-US" sz="1700" dirty="0" b="1">
                <a:solidFill>
                  <a:srgbClr val="1B2236"/>
                </a:solidFill>
                <a:latin typeface="Lexend Deca" pitchFamily="34" charset="0"/>
                <a:ea typeface="Lexend Deca" pitchFamily="34" charset="-122"/>
                <a:cs typeface="Lexend Deca" pitchFamily="34" charset="-120"/>
              </a:rPr>
              <a:t> the TV </a:t>
            </a:r>
            <a:r>
              <a:rPr lang="en-US" sz="1700" dirty="0" b="1">
                <a:solidFill>
                  <a:srgbClr val="1B2236"/>
                </a:solidFill>
                <a:latin typeface="Lexend Deca" pitchFamily="34" charset="0"/>
                <a:ea typeface="Lexend Deca" pitchFamily="34" charset="-122"/>
                <a:cs typeface="Lexend Deca" pitchFamily="34" charset="-120"/>
              </a:rPr>
              <a:t>down</a:t>
            </a:r>
            <a:r>
              <a:rPr lang="en-US" sz="1700" dirty="0" b="1">
                <a:solidFill>
                  <a:srgbClr val="1B2236"/>
                </a:solidFill>
                <a:latin typeface="Lexend Deca" pitchFamily="34" charset="0"/>
                <a:ea typeface="Lexend Deca" pitchFamily="34" charset="-122"/>
                <a:cs typeface="Lexend Deca" pitchFamily="34" charset="-120"/>
              </a:rPr>
              <a:t>?</a:t>
            </a:r>
            <a:endParaRPr lang="en-US" sz="1700" dirty="0" b="1"/>
          </a:p>
        </p:txBody>
      </p:sp>
      <p:sp>
        <p:nvSpPr>
          <p:cNvPr id="22" name="Answer bg 2"/>
          <p:cNvSpPr/>
          <p:nvPr/>
        </p:nvSpPr>
        <p:spPr>
          <a:xfrm>
            <a:off x="7863840" y="3337560"/>
            <a:ext cx="4069080" cy="97840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3" name="Answer 2"/>
          <p:cNvSpPr/>
          <p:nvPr/>
        </p:nvSpPr>
        <p:spPr>
          <a:xfrm>
            <a:off x="7863840" y="3337560"/>
            <a:ext cx="4069080" cy="97840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Sure, </a:t>
            </a:r>
            <a:r>
              <a:rPr lang="en-US" sz="1700" dirty="0" b="1">
                <a:solidFill>
                  <a:srgbClr val="1B2236"/>
                </a:solidFill>
                <a:latin typeface="Lexend Deca" pitchFamily="34" charset="0"/>
                <a:ea typeface="Lexend Deca" pitchFamily="34" charset="-122"/>
                <a:cs typeface="Lexend Deca" pitchFamily="34" charset="-120"/>
              </a:rPr>
              <a:t>I'll turn it down.</a:t>
            </a:r>
            <a:r>
              <a:rPr lang="en-US" sz="1700" dirty="0" b="1">
                <a:solidFill>
                  <a:srgbClr val="1B2236"/>
                </a:solidFill>
                <a:latin typeface="Lexend Deca" pitchFamily="34" charset="0"/>
                <a:ea typeface="Lexend Deca" pitchFamily="34" charset="-122"/>
                <a:cs typeface="Lexend Deca" pitchFamily="34" charset="-120"/>
              </a:rPr>
              <a:t> It's loud.</a:t>
            </a:r>
            <a:endParaRPr lang="en-US" sz="1700" dirty="0" b="1"/>
          </a:p>
        </p:txBody>
      </p:sp>
      <p:sp>
        <p:nvSpPr>
          <p:cNvPr id="24" name="Question 3"/>
          <p:cNvSpPr/>
          <p:nvPr/>
        </p:nvSpPr>
        <p:spPr>
          <a:xfrm>
            <a:off x="5138928" y="4389120"/>
            <a:ext cx="2651760" cy="97840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Can you take out</a:t>
            </a:r>
            <a:r>
              <a:rPr lang="en-US" sz="1700" dirty="0" b="1">
                <a:solidFill>
                  <a:srgbClr val="1B2236"/>
                </a:solidFill>
                <a:latin typeface="Lexend Deca" pitchFamily="34" charset="0"/>
                <a:ea typeface="Lexend Deca" pitchFamily="34" charset="-122"/>
                <a:cs typeface="Lexend Deca" pitchFamily="34" charset="-120"/>
              </a:rPr>
              <a:t> the trash?</a:t>
            </a:r>
            <a:endParaRPr lang="en-US" sz="1700" dirty="0" b="1"/>
          </a:p>
        </p:txBody>
      </p:sp>
      <p:sp>
        <p:nvSpPr>
          <p:cNvPr id="25" name="Answer bg 3"/>
          <p:cNvSpPr/>
          <p:nvPr/>
        </p:nvSpPr>
        <p:spPr>
          <a:xfrm>
            <a:off x="7863840" y="4389120"/>
            <a:ext cx="4069080" cy="97840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6" name="Answer 3"/>
          <p:cNvSpPr/>
          <p:nvPr/>
        </p:nvSpPr>
        <p:spPr>
          <a:xfrm>
            <a:off x="7863840" y="4389120"/>
            <a:ext cx="4069080" cy="97840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Yes, </a:t>
            </a:r>
            <a:r>
              <a:rPr lang="en-US" sz="1700" dirty="0" b="1">
                <a:solidFill>
                  <a:srgbClr val="1B2236"/>
                </a:solidFill>
                <a:latin typeface="Lexend Deca" pitchFamily="34" charset="0"/>
                <a:ea typeface="Lexend Deca" pitchFamily="34" charset="-122"/>
                <a:cs typeface="Lexend Deca" pitchFamily="34" charset="-120"/>
              </a:rPr>
              <a:t>I'll take it out</a:t>
            </a:r>
            <a:r>
              <a:rPr lang="en-US" sz="1700" dirty="0" b="1">
                <a:solidFill>
                  <a:srgbClr val="1B2236"/>
                </a:solidFill>
                <a:latin typeface="Lexend Deca" pitchFamily="34" charset="0"/>
                <a:ea typeface="Lexend Deca" pitchFamily="34" charset="-122"/>
                <a:cs typeface="Lexend Deca" pitchFamily="34" charset="-120"/>
              </a:rPr>
              <a:t> now.</a:t>
            </a:r>
            <a:endParaRPr lang="en-US" sz="17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400"/>
                                        <p:tgtEl>
                                          <p:spTgt spid="1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400"/>
                                        <p:tgtEl>
                                          <p:spTgt spid="23"/>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6"/>
                                        </p:tgtEl>
                                        <p:attrNameLst>
                                          <p:attrName>style.visibility</p:attrName>
                                        </p:attrNameLst>
                                      </p:cBhvr>
                                      <p:to>
                                        <p:strVal val="visible"/>
                                      </p:to>
                                    </p:set>
                                    <p:animEffect transition="in" filter="fade">
                                      <p:cBhvr>
                                        <p:cTn id="23" dur="400"/>
                                        <p:tgtEl>
                                          <p:spTgt spid="26"/>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p="http://schemas.openxmlformats.org/presentationml/2006/main" xmlns:r="http://schemas.openxmlformats.org/officeDocument/2006/relationships">
  <p:cSld name="L4:table">
    <p:bg>
      <p:bgPr>
        <a:solidFill>
          <a:srgbClr val="F1F5FB"/>
        </a:solidFill>
      </p:bgPr>
    </p:bg>
    <p:spTree>
      <p:nvGrpSpPr>
        <p:cNvPr id="1" name=""/>
        <p:cNvGrpSpPr/>
        <p:nvPr/>
      </p:nvGrpSpPr>
      <p:grpSpPr/>
      <p:sp>
        <p:nvSpPr>
          <p:cNvPr id="2" name="Shape 0"/>
          <p:cNvSpPr/>
          <p:nvPr/>
        </p:nvSpPr>
        <p:spPr>
          <a:xfrm>
            <a:off x="5076429" y="533095"/>
            <a:ext cx="5814670" cy="1234440"/>
          </a:xfrm>
          <a:prstGeom prst="roundRect">
            <a:avLst>
              <a:gd name="adj" fmla="val 16667"/>
            </a:avLst>
          </a:prstGeom>
          <a:solidFill>
            <a:srgbClr val="8FAFE3"/>
          </a:solidFill>
          <a:ln/>
        </p:spPr>
        <p:txBody>
          <a:bodyPr/>
          <a:p/>
        </p:txBody>
      </p:sp>
      <p:sp>
        <p:nvSpPr>
          <p:cNvPr id="3" name="Shape 1"/>
          <p:cNvSpPr/>
          <p:nvPr/>
        </p:nvSpPr>
        <p:spPr>
          <a:xfrm>
            <a:off x="5110582" y="457200"/>
            <a:ext cx="5814670" cy="1234440"/>
          </a:xfrm>
          <a:prstGeom prst="roundRect">
            <a:avLst>
              <a:gd name="adj" fmla="val 16667"/>
            </a:avLst>
          </a:prstGeom>
          <a:solidFill>
            <a:srgbClr val="FFFFFF"/>
          </a:solidFill>
          <a:ln/>
        </p:spPr>
        <p:txBody>
          <a:bodyPr/>
          <a:p/>
        </p:txBody>
      </p:sp>
      <p:sp>
        <p:nvSpPr>
          <p:cNvPr id="4" name="left panel"/>
          <p:cNvSpPr/>
          <p:nvPr/>
        </p:nvSpPr>
        <p:spPr>
          <a:xfrm flipV="1">
            <a:off x="-106985" y="-101498"/>
            <a:ext cx="3844138" cy="6418174"/>
          </a:xfrm>
          <a:prstGeom prst="round1Rect">
            <a:avLst>
              <a:gd name="adj" fmla="val 23087"/>
            </a:avLst>
          </a:prstGeom>
          <a:solidFill>
            <a:srgbClr val="B9D2F7"/>
          </a:solidFill>
          <a:ln w="76200">
            <a:solidFill>
              <a:srgbClr val="FFFFFF"/>
            </a:solidFill>
            <a:prstDash val="solid"/>
          </a:ln>
        </p:spPr>
        <p:txBody>
          <a:bodyPr/>
          <a:p/>
        </p:txBody>
      </p:sp>
      <p:pic>
        <p:nvPicPr>
          <p:cNvPr id="17" name="pic" descr="Fan: a wind face and a puff of air [sign: FAN]"/>
          <p:cNvPicPr>
            <a:picLocks noChangeAspect="1"/>
          </p:cNvPicPr>
          <p:nvPr/>
        </p:nvPicPr>
        <p:blipFill>
          <a:blip r:embed="rId3"/>
          <a:stretch>
            <a:fillRect/>
          </a:stretch>
        </p:blipFill>
        <p:spPr>
          <a:xfrm>
            <a:off x="457200" y="2265152"/>
            <a:ext cx="3326587" cy="2328611"/>
          </a:xfrm>
          <a:prstGeom prst="rect">
            <a:avLst/>
          </a:prstGeom>
        </p:spPr>
      </p:pic>
      <p:sp>
        <p:nvSpPr>
          <p:cNvPr id="7" name="head"/>
          <p:cNvSpPr/>
          <p:nvPr/>
        </p:nvSpPr>
        <p:spPr>
          <a:xfrm>
            <a:off x="5333695" y="566928"/>
            <a:ext cx="4846320" cy="1097280"/>
          </a:xfrm>
          <a:prstGeom prst="rect">
            <a:avLst/>
          </a:prstGeom>
          <a:noFill/>
          <a:ln/>
        </p:spPr>
        <p:txBody>
          <a:bodyPr wrap="square" rtlCol="0" anchor="ctr"/>
          <a:lstStyle/>
          <a:p>
            <a:pPr algn="l" indent="0" marL="0">
              <a:spcAft>
                <a:spcPts val="400"/>
              </a:spcAft>
              <a:buNone/>
            </a:pPr>
            <a:r>
              <a:rPr lang="en-US" sz="2000" dirty="0" b="1">
                <a:solidFill>
                  <a:srgbClr val="5B3FC4"/>
                </a:solidFill>
                <a:latin typeface="Lexend Deca" pitchFamily="34" charset="0"/>
                <a:ea typeface="Lexend Deca" pitchFamily="34" charset="-122"/>
                <a:cs typeface="Lexend Deca" pitchFamily="34" charset="-120"/>
              </a:rPr>
              <a:t>Grammar Box 2</a:t>
            </a:r>
            <a:endParaRPr lang="en-US" sz="2000" dirty="0" b="1"/>
          </a:p>
          <a:p>
            <a:pPr algn="l" indent="0" marL="0">
              <a:spcAft>
                <a:spcPts val="400"/>
              </a:spcAft>
              <a:buNone/>
            </a:pPr>
            <a:r>
              <a:rPr lang="en-US" sz="2400" dirty="0" b="1">
                <a:solidFill>
                  <a:srgbClr val="1B2236"/>
                </a:solidFill>
                <a:latin typeface="Lexend Deca" pitchFamily="34" charset="0"/>
                <a:ea typeface="Lexend Deca" pitchFamily="34" charset="-122"/>
                <a:cs typeface="Lexend Deca" pitchFamily="34" charset="-120"/>
              </a:rPr>
              <a:t>the past</a:t>
            </a:r>
            <a:endParaRPr lang="en-US" sz="2400" dirty="0" b="1"/>
          </a:p>
        </p:txBody>
      </p:sp>
      <p:sp>
        <p:nvSpPr>
          <p:cNvPr id="8" name="Q head"/>
          <p:cNvSpPr/>
          <p:nvPr/>
        </p:nvSpPr>
        <p:spPr>
          <a:xfrm>
            <a:off x="5166360" y="1828800"/>
            <a:ext cx="2651760" cy="457200"/>
          </a:xfrm>
          <a:prstGeom prst="rect">
            <a:avLst/>
          </a:prstGeom>
          <a:noFill/>
          <a:ln/>
        </p:spPr>
        <p:txBody>
          <a:bodyPr wrap="square" rtlCol="0" anchor="ctr"/>
          <a:lstStyle/>
          <a:p>
            <a:pPr algn="l" indent="0" marL="0">
              <a:buNone/>
            </a:pPr>
            <a:r>
              <a:rPr lang="en-US" sz="2000" dirty="0" b="1">
                <a:solidFill>
                  <a:srgbClr val="5B3FC4"/>
                </a:solidFill>
                <a:latin typeface="Lexend Deca" pitchFamily="34" charset="0"/>
                <a:ea typeface="Lexend Deca" pitchFamily="34" charset="-122"/>
                <a:cs typeface="Lexend Deca" pitchFamily="34" charset="-120"/>
              </a:rPr>
              <a:t>QUESTION</a:t>
            </a:r>
            <a:endParaRPr lang="en-US" sz="2000" dirty="0" b="1"/>
          </a:p>
        </p:txBody>
      </p:sp>
      <p:sp>
        <p:nvSpPr>
          <p:cNvPr id="11" name="A head"/>
          <p:cNvSpPr/>
          <p:nvPr/>
        </p:nvSpPr>
        <p:spPr>
          <a:xfrm>
            <a:off x="7863840" y="1828800"/>
            <a:ext cx="4069080" cy="457200"/>
          </a:xfrm>
          <a:prstGeom prst="rect">
            <a:avLst/>
          </a:prstGeom>
          <a:noFill/>
          <a:ln/>
        </p:spPr>
        <p:txBody>
          <a:bodyPr wrap="square" rtlCol="0" anchor="ctr"/>
          <a:lstStyle/>
          <a:p>
            <a:pPr algn="l" indent="0" marL="0">
              <a:buNone/>
            </a:pPr>
            <a:r>
              <a:rPr lang="en-US" sz="2000" dirty="0" b="1">
                <a:solidFill>
                  <a:srgbClr val="5B3FC4"/>
                </a:solidFill>
                <a:latin typeface="Lexend Deca" pitchFamily="34" charset="0"/>
                <a:ea typeface="Lexend Deca" pitchFamily="34" charset="-122"/>
                <a:cs typeface="Lexend Deca" pitchFamily="34" charset="-120"/>
              </a:rPr>
              <a:t>ANSWER</a:t>
            </a:r>
            <a:endParaRPr lang="en-US" sz="2000" dirty="0" b="1"/>
          </a:p>
        </p:txBody>
      </p:sp>
      <p:sp>
        <p:nvSpPr>
          <p:cNvPr id="18" name="Question 1"/>
          <p:cNvSpPr/>
          <p:nvPr/>
        </p:nvSpPr>
        <p:spPr>
          <a:xfrm>
            <a:off x="5138928" y="2286000"/>
            <a:ext cx="2651760" cy="97840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Did you take out</a:t>
            </a:r>
            <a:r>
              <a:rPr lang="en-US" sz="1700" dirty="0" b="1">
                <a:solidFill>
                  <a:srgbClr val="1B2236"/>
                </a:solidFill>
                <a:latin typeface="Lexend Deca" pitchFamily="34" charset="0"/>
                <a:ea typeface="Lexend Deca" pitchFamily="34" charset="-122"/>
                <a:cs typeface="Lexend Deca" pitchFamily="34" charset="-120"/>
              </a:rPr>
              <a:t> the trash?</a:t>
            </a:r>
            <a:endParaRPr lang="en-US" sz="1700" dirty="0" b="1"/>
          </a:p>
        </p:txBody>
      </p:sp>
      <p:sp>
        <p:nvSpPr>
          <p:cNvPr id="19" name="Answer bg 1"/>
          <p:cNvSpPr/>
          <p:nvPr/>
        </p:nvSpPr>
        <p:spPr>
          <a:xfrm>
            <a:off x="7863840" y="2286000"/>
            <a:ext cx="4069080" cy="97840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0" name="Answer 1"/>
          <p:cNvSpPr/>
          <p:nvPr/>
        </p:nvSpPr>
        <p:spPr>
          <a:xfrm>
            <a:off x="7863840" y="2286000"/>
            <a:ext cx="4069080" cy="97840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Yes, </a:t>
            </a:r>
            <a:r>
              <a:rPr lang="en-US" sz="1700" dirty="0" b="1">
                <a:solidFill>
                  <a:srgbClr val="1B2236"/>
                </a:solidFill>
                <a:latin typeface="Lexend Deca" pitchFamily="34" charset="0"/>
                <a:ea typeface="Lexend Deca" pitchFamily="34" charset="-122"/>
                <a:cs typeface="Lexend Deca" pitchFamily="34" charset="-120"/>
              </a:rPr>
              <a:t>I took it out</a:t>
            </a:r>
            <a:r>
              <a:rPr lang="en-US" sz="1700" dirty="0" b="1">
                <a:solidFill>
                  <a:srgbClr val="1B2236"/>
                </a:solidFill>
                <a:latin typeface="Lexend Deca" pitchFamily="34" charset="0"/>
                <a:ea typeface="Lexend Deca" pitchFamily="34" charset="-122"/>
                <a:cs typeface="Lexend Deca" pitchFamily="34" charset="-120"/>
              </a:rPr>
              <a:t> this morning.</a:t>
            </a:r>
            <a:endParaRPr lang="en-US" sz="1700" dirty="0" b="1"/>
          </a:p>
        </p:txBody>
      </p:sp>
      <p:sp>
        <p:nvSpPr>
          <p:cNvPr id="21" name="Question 2"/>
          <p:cNvSpPr/>
          <p:nvPr/>
        </p:nvSpPr>
        <p:spPr>
          <a:xfrm>
            <a:off x="5138928" y="3337560"/>
            <a:ext cx="2651760" cy="97840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Did you put away</a:t>
            </a:r>
            <a:r>
              <a:rPr lang="en-US" sz="1700" dirty="0" b="1">
                <a:solidFill>
                  <a:srgbClr val="1B2236"/>
                </a:solidFill>
                <a:latin typeface="Lexend Deca" pitchFamily="34" charset="0"/>
                <a:ea typeface="Lexend Deca" pitchFamily="34" charset="-122"/>
                <a:cs typeface="Lexend Deca" pitchFamily="34" charset="-120"/>
              </a:rPr>
              <a:t> the dishes?</a:t>
            </a:r>
            <a:endParaRPr lang="en-US" sz="1700" dirty="0" b="1"/>
          </a:p>
        </p:txBody>
      </p:sp>
      <p:sp>
        <p:nvSpPr>
          <p:cNvPr id="22" name="Answer bg 2"/>
          <p:cNvSpPr/>
          <p:nvPr/>
        </p:nvSpPr>
        <p:spPr>
          <a:xfrm>
            <a:off x="7863840" y="3337560"/>
            <a:ext cx="4069080" cy="97840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3" name="Answer 2"/>
          <p:cNvSpPr/>
          <p:nvPr/>
        </p:nvSpPr>
        <p:spPr>
          <a:xfrm>
            <a:off x="7863840" y="3337560"/>
            <a:ext cx="4069080" cy="97840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No, </a:t>
            </a:r>
            <a:r>
              <a:rPr lang="en-US" sz="1700" dirty="0" b="1">
                <a:solidFill>
                  <a:srgbClr val="1B2236"/>
                </a:solidFill>
                <a:latin typeface="Lexend Deca" pitchFamily="34" charset="0"/>
                <a:ea typeface="Lexend Deca" pitchFamily="34" charset="-122"/>
                <a:cs typeface="Lexend Deca" pitchFamily="34" charset="-120"/>
              </a:rPr>
              <a:t>I didn't put them away</a:t>
            </a:r>
            <a:r>
              <a:rPr lang="en-US" sz="1700" dirty="0" b="1">
                <a:solidFill>
                  <a:srgbClr val="1B2236"/>
                </a:solidFill>
                <a:latin typeface="Lexend Deca" pitchFamily="34" charset="0"/>
                <a:ea typeface="Lexend Deca" pitchFamily="34" charset="-122"/>
                <a:cs typeface="Lexend Deca" pitchFamily="34" charset="-120"/>
              </a:rPr>
              <a:t> yet.</a:t>
            </a:r>
            <a:endParaRPr lang="en-US" sz="1700" dirty="0" b="1"/>
          </a:p>
        </p:txBody>
      </p:sp>
      <p:sp>
        <p:nvSpPr>
          <p:cNvPr id="24" name="Question 3"/>
          <p:cNvSpPr/>
          <p:nvPr/>
        </p:nvSpPr>
        <p:spPr>
          <a:xfrm>
            <a:off x="5138928" y="4389120"/>
            <a:ext cx="2651760" cy="97840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Did you shut off</a:t>
            </a:r>
            <a:r>
              <a:rPr lang="en-US" sz="1700" dirty="0" b="1">
                <a:solidFill>
                  <a:srgbClr val="1B2236"/>
                </a:solidFill>
                <a:latin typeface="Lexend Deca" pitchFamily="34" charset="0"/>
                <a:ea typeface="Lexend Deca" pitchFamily="34" charset="-122"/>
                <a:cs typeface="Lexend Deca" pitchFamily="34" charset="-120"/>
              </a:rPr>
              <a:t> the water?</a:t>
            </a:r>
            <a:endParaRPr lang="en-US" sz="1700" dirty="0" b="1"/>
          </a:p>
        </p:txBody>
      </p:sp>
      <p:sp>
        <p:nvSpPr>
          <p:cNvPr id="25" name="Answer bg 3"/>
          <p:cNvSpPr/>
          <p:nvPr/>
        </p:nvSpPr>
        <p:spPr>
          <a:xfrm>
            <a:off x="7863840" y="4389120"/>
            <a:ext cx="4069080" cy="97840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6" name="Answer 3"/>
          <p:cNvSpPr/>
          <p:nvPr/>
        </p:nvSpPr>
        <p:spPr>
          <a:xfrm>
            <a:off x="7863840" y="4389120"/>
            <a:ext cx="4069080" cy="97840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Yes, </a:t>
            </a:r>
            <a:r>
              <a:rPr lang="en-US" sz="1700" dirty="0" b="1">
                <a:solidFill>
                  <a:srgbClr val="1B2236"/>
                </a:solidFill>
                <a:latin typeface="Lexend Deca" pitchFamily="34" charset="0"/>
                <a:ea typeface="Lexend Deca" pitchFamily="34" charset="-122"/>
                <a:cs typeface="Lexend Deca" pitchFamily="34" charset="-120"/>
              </a:rPr>
              <a:t>I shut it off</a:t>
            </a:r>
            <a:r>
              <a:rPr lang="en-US" sz="1700" dirty="0" b="1">
                <a:solidFill>
                  <a:srgbClr val="1B2236"/>
                </a:solidFill>
                <a:latin typeface="Lexend Deca" pitchFamily="34" charset="0"/>
                <a:ea typeface="Lexend Deca" pitchFamily="34" charset="-122"/>
                <a:cs typeface="Lexend Deca" pitchFamily="34" charset="-120"/>
              </a:rPr>
              <a:t> before I left.</a:t>
            </a:r>
            <a:endParaRPr lang="en-US" sz="17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400"/>
                                        <p:tgtEl>
                                          <p:spTgt spid="1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400"/>
                                        <p:tgtEl>
                                          <p:spTgt spid="23"/>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6"/>
                                        </p:tgtEl>
                                        <p:attrNameLst>
                                          <p:attrName>style.visibility</p:attrName>
                                        </p:attrNameLst>
                                      </p:cBhvr>
                                      <p:to>
                                        <p:strVal val="visible"/>
                                      </p:to>
                                    </p:set>
                                    <p:animEffect transition="in" filter="fade">
                                      <p:cBhvr>
                                        <p:cTn id="23" dur="400"/>
                                        <p:tgtEl>
                                          <p:spTgt spid="26"/>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p="http://schemas.openxmlformats.org/presentationml/2006/main" xmlns:r="http://schemas.openxmlformats.org/officeDocument/2006/relationships">
  <p:cSld name="L4:table">
    <p:bg>
      <p:bgPr>
        <a:solidFill>
          <a:srgbClr val="F1F5FB"/>
        </a:solidFill>
      </p:bgPr>
    </p:bg>
    <p:spTree>
      <p:nvGrpSpPr>
        <p:cNvPr id="1" name=""/>
        <p:cNvGrpSpPr/>
        <p:nvPr/>
      </p:nvGrpSpPr>
      <p:grpSpPr/>
      <p:sp>
        <p:nvSpPr>
          <p:cNvPr id="2" name="Shape 0"/>
          <p:cNvSpPr/>
          <p:nvPr/>
        </p:nvSpPr>
        <p:spPr>
          <a:xfrm>
            <a:off x="5076429" y="533095"/>
            <a:ext cx="5814670" cy="1234440"/>
          </a:xfrm>
          <a:prstGeom prst="roundRect">
            <a:avLst>
              <a:gd name="adj" fmla="val 16667"/>
            </a:avLst>
          </a:prstGeom>
          <a:solidFill>
            <a:srgbClr val="8FAFE3"/>
          </a:solidFill>
          <a:ln/>
        </p:spPr>
        <p:txBody>
          <a:bodyPr/>
          <a:p/>
        </p:txBody>
      </p:sp>
      <p:sp>
        <p:nvSpPr>
          <p:cNvPr id="3" name="Shape 1"/>
          <p:cNvSpPr/>
          <p:nvPr/>
        </p:nvSpPr>
        <p:spPr>
          <a:xfrm>
            <a:off x="5110582" y="457200"/>
            <a:ext cx="5814670" cy="1234440"/>
          </a:xfrm>
          <a:prstGeom prst="roundRect">
            <a:avLst>
              <a:gd name="adj" fmla="val 16667"/>
            </a:avLst>
          </a:prstGeom>
          <a:solidFill>
            <a:srgbClr val="FFFFFF"/>
          </a:solidFill>
          <a:ln/>
        </p:spPr>
        <p:txBody>
          <a:bodyPr/>
          <a:p/>
        </p:txBody>
      </p:sp>
      <p:sp>
        <p:nvSpPr>
          <p:cNvPr id="4" name="left panel"/>
          <p:cNvSpPr/>
          <p:nvPr/>
        </p:nvSpPr>
        <p:spPr>
          <a:xfrm flipV="1">
            <a:off x="-106985" y="-101498"/>
            <a:ext cx="3844138" cy="6418174"/>
          </a:xfrm>
          <a:prstGeom prst="round1Rect">
            <a:avLst>
              <a:gd name="adj" fmla="val 23087"/>
            </a:avLst>
          </a:prstGeom>
          <a:solidFill>
            <a:srgbClr val="B9D2F7"/>
          </a:solidFill>
          <a:ln w="76200">
            <a:solidFill>
              <a:srgbClr val="FFFFFF"/>
            </a:solidFill>
            <a:prstDash val="solid"/>
          </a:ln>
        </p:spPr>
        <p:txBody>
          <a:bodyPr/>
          <a:p/>
        </p:txBody>
      </p:sp>
      <p:pic>
        <p:nvPicPr>
          <p:cNvPr id="17" name="pic" descr="Deadbolt: a lock and a door"/>
          <p:cNvPicPr>
            <a:picLocks noChangeAspect="1"/>
          </p:cNvPicPr>
          <p:nvPr/>
        </p:nvPicPr>
        <p:blipFill>
          <a:blip r:embed="rId3"/>
          <a:stretch>
            <a:fillRect/>
          </a:stretch>
        </p:blipFill>
        <p:spPr>
          <a:xfrm>
            <a:off x="457200" y="2265152"/>
            <a:ext cx="3326587" cy="2328611"/>
          </a:xfrm>
          <a:prstGeom prst="rect">
            <a:avLst/>
          </a:prstGeom>
        </p:spPr>
      </p:pic>
      <p:sp>
        <p:nvSpPr>
          <p:cNvPr id="7" name="head"/>
          <p:cNvSpPr/>
          <p:nvPr/>
        </p:nvSpPr>
        <p:spPr>
          <a:xfrm>
            <a:off x="5333695" y="566928"/>
            <a:ext cx="4846320" cy="1097280"/>
          </a:xfrm>
          <a:prstGeom prst="rect">
            <a:avLst/>
          </a:prstGeom>
          <a:noFill/>
          <a:ln/>
        </p:spPr>
        <p:txBody>
          <a:bodyPr wrap="square" rtlCol="0" anchor="ctr"/>
          <a:lstStyle/>
          <a:p>
            <a:pPr algn="l" indent="0" marL="0">
              <a:spcAft>
                <a:spcPts val="400"/>
              </a:spcAft>
              <a:buNone/>
            </a:pPr>
            <a:r>
              <a:rPr lang="en-US" sz="2000" dirty="0" b="1">
                <a:solidFill>
                  <a:srgbClr val="5B3FC4"/>
                </a:solidFill>
                <a:latin typeface="Lexend Deca" pitchFamily="34" charset="0"/>
                <a:ea typeface="Lexend Deca" pitchFamily="34" charset="-122"/>
                <a:cs typeface="Lexend Deca" pitchFamily="34" charset="-120"/>
              </a:rPr>
              <a:t>Grammar Box 3</a:t>
            </a:r>
            <a:endParaRPr lang="en-US" sz="2000" dirty="0" b="1"/>
          </a:p>
          <a:p>
            <a:pPr algn="l" indent="0" marL="0">
              <a:spcAft>
                <a:spcPts val="400"/>
              </a:spcAft>
              <a:buNone/>
            </a:pPr>
            <a:r>
              <a:rPr lang="en-US" sz="2400" dirty="0" b="1">
                <a:solidFill>
                  <a:srgbClr val="1B2236"/>
                </a:solidFill>
                <a:latin typeface="Lexend Deca" pitchFamily="34" charset="0"/>
                <a:ea typeface="Lexend Deca" pitchFamily="34" charset="-122"/>
                <a:cs typeface="Lexend Deca" pitchFamily="34" charset="-120"/>
              </a:rPr>
              <a:t>8 phrasal verbs for home</a:t>
            </a:r>
            <a:endParaRPr lang="en-US" sz="2400" dirty="0" b="1"/>
          </a:p>
        </p:txBody>
      </p:sp>
      <p:sp>
        <p:nvSpPr>
          <p:cNvPr id="8" name="Q head"/>
          <p:cNvSpPr/>
          <p:nvPr/>
        </p:nvSpPr>
        <p:spPr>
          <a:xfrm>
            <a:off x="5166360" y="1828800"/>
            <a:ext cx="2651760" cy="457200"/>
          </a:xfrm>
          <a:prstGeom prst="rect">
            <a:avLst/>
          </a:prstGeom>
          <a:noFill/>
          <a:ln/>
        </p:spPr>
        <p:txBody>
          <a:bodyPr wrap="square" rtlCol="0" anchor="ctr"/>
          <a:lstStyle/>
          <a:p>
            <a:pPr algn="l" indent="0" marL="0">
              <a:buNone/>
            </a:pPr>
            <a:r>
              <a:rPr lang="en-US" sz="2000" dirty="0" b="1">
                <a:solidFill>
                  <a:srgbClr val="5B3FC4"/>
                </a:solidFill>
                <a:latin typeface="Lexend Deca" pitchFamily="34" charset="0"/>
                <a:ea typeface="Lexend Deca" pitchFamily="34" charset="-122"/>
                <a:cs typeface="Lexend Deca" pitchFamily="34" charset="-120"/>
              </a:rPr>
              <a:t>VERB</a:t>
            </a:r>
            <a:endParaRPr lang="en-US" sz="2000" dirty="0" b="1"/>
          </a:p>
        </p:txBody>
      </p:sp>
      <p:sp>
        <p:nvSpPr>
          <p:cNvPr id="11" name="A head"/>
          <p:cNvSpPr/>
          <p:nvPr/>
        </p:nvSpPr>
        <p:spPr>
          <a:xfrm>
            <a:off x="7863840" y="1828800"/>
            <a:ext cx="4069080" cy="457200"/>
          </a:xfrm>
          <a:prstGeom prst="rect">
            <a:avLst/>
          </a:prstGeom>
          <a:noFill/>
          <a:ln/>
        </p:spPr>
        <p:txBody>
          <a:bodyPr wrap="square" rtlCol="0" anchor="ctr"/>
          <a:lstStyle/>
          <a:p>
            <a:pPr algn="l" indent="0" marL="0">
              <a:buNone/>
            </a:pPr>
            <a:r>
              <a:rPr lang="en-US" sz="2000" dirty="0" b="1">
                <a:solidFill>
                  <a:srgbClr val="5B3FC4"/>
                </a:solidFill>
                <a:latin typeface="Lexend Deca" pitchFamily="34" charset="0"/>
                <a:ea typeface="Lexend Deca" pitchFamily="34" charset="-122"/>
                <a:cs typeface="Lexend Deca" pitchFamily="34" charset="-120"/>
              </a:rPr>
              <a:t>MEANING  ·  EXAMPLE</a:t>
            </a:r>
            <a:endParaRPr lang="en-US" sz="2000" dirty="0" b="1"/>
          </a:p>
        </p:txBody>
      </p:sp>
      <p:sp>
        <p:nvSpPr>
          <p:cNvPr id="18" name="Question 1"/>
          <p:cNvSpPr/>
          <p:nvPr/>
        </p:nvSpPr>
        <p:spPr>
          <a:xfrm>
            <a:off x="5138928" y="2286000"/>
            <a:ext cx="2651760" cy="97840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5B3FC4"/>
                </a:solidFill>
                <a:latin typeface="Lexend Deca" pitchFamily="34" charset="0"/>
                <a:ea typeface="Lexend Deca" pitchFamily="34" charset="-122"/>
                <a:cs typeface="Lexend Deca" pitchFamily="34" charset="-120"/>
              </a:rPr>
              <a:t>turn off / turn up / turn down</a:t>
            </a:r>
            <a:endParaRPr lang="en-US" sz="1700" dirty="0" b="1"/>
          </a:p>
        </p:txBody>
      </p:sp>
      <p:sp>
        <p:nvSpPr>
          <p:cNvPr id="19" name="Answer bg 1"/>
          <p:cNvSpPr/>
          <p:nvPr/>
        </p:nvSpPr>
        <p:spPr>
          <a:xfrm>
            <a:off x="7863840" y="2286000"/>
            <a:ext cx="4069080" cy="97840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0" name="Answer 1"/>
          <p:cNvSpPr/>
          <p:nvPr/>
        </p:nvSpPr>
        <p:spPr>
          <a:xfrm>
            <a:off x="7863840" y="2286000"/>
            <a:ext cx="4069080" cy="97840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stop / more / less</a:t>
            </a:r>
            <a:br>
              <a:rPr lang="en-US" sz="1700" dirty="0" b="1">
                <a:solidFill>
                  <a:srgbClr val="1B2236"/>
                </a:solidFill>
                <a:latin typeface="Lexend Deca" pitchFamily="34" charset="0"/>
                <a:ea typeface="Lexend Deca" pitchFamily="34" charset="-122"/>
                <a:cs typeface="Lexend Deca" pitchFamily="34" charset="-120"/>
              </a:rPr>
            </a:br>
            <a:r>
              <a:rPr lang="en-US" sz="1700" dirty="0" b="1">
                <a:solidFill>
                  <a:srgbClr val="1B2236"/>
                </a:solidFill>
                <a:latin typeface="Lexend Deca" pitchFamily="34" charset="0"/>
                <a:ea typeface="Lexend Deca" pitchFamily="34" charset="-122"/>
                <a:cs typeface="Lexend Deca" pitchFamily="34" charset="-120"/>
              </a:rPr>
              <a:t>Turn off the lights. Turn the heat down at night.</a:t>
            </a:r>
            <a:endParaRPr lang="en-US" sz="1700" dirty="0" b="1"/>
          </a:p>
        </p:txBody>
      </p:sp>
      <p:sp>
        <p:nvSpPr>
          <p:cNvPr id="21" name="Question 2"/>
          <p:cNvSpPr/>
          <p:nvPr/>
        </p:nvSpPr>
        <p:spPr>
          <a:xfrm>
            <a:off x="5138928" y="3337560"/>
            <a:ext cx="2651760" cy="97840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5B3FC4"/>
                </a:solidFill>
                <a:latin typeface="Lexend Deca" pitchFamily="34" charset="0"/>
                <a:ea typeface="Lexend Deca" pitchFamily="34" charset="-122"/>
                <a:cs typeface="Lexend Deca" pitchFamily="34" charset="-120"/>
              </a:rPr>
              <a:t>put on / put away</a:t>
            </a:r>
            <a:endParaRPr lang="en-US" sz="1700" dirty="0" b="1"/>
          </a:p>
        </p:txBody>
      </p:sp>
      <p:sp>
        <p:nvSpPr>
          <p:cNvPr id="22" name="Answer bg 2"/>
          <p:cNvSpPr/>
          <p:nvPr/>
        </p:nvSpPr>
        <p:spPr>
          <a:xfrm>
            <a:off x="7863840" y="3337560"/>
            <a:ext cx="4069080" cy="97840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3" name="Answer 2"/>
          <p:cNvSpPr/>
          <p:nvPr/>
        </p:nvSpPr>
        <p:spPr>
          <a:xfrm>
            <a:off x="7863840" y="3337560"/>
            <a:ext cx="4069080" cy="97840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wear / put in its place</a:t>
            </a:r>
            <a:br>
              <a:rPr lang="en-US" sz="1700" dirty="0" b="1">
                <a:solidFill>
                  <a:srgbClr val="1B2236"/>
                </a:solidFill>
                <a:latin typeface="Lexend Deca" pitchFamily="34" charset="0"/>
                <a:ea typeface="Lexend Deca" pitchFamily="34" charset="-122"/>
                <a:cs typeface="Lexend Deca" pitchFamily="34" charset="-120"/>
              </a:rPr>
            </a:br>
            <a:r>
              <a:rPr lang="en-US" sz="1700" dirty="0" b="1">
                <a:solidFill>
                  <a:srgbClr val="1B2236"/>
                </a:solidFill>
                <a:latin typeface="Lexend Deca" pitchFamily="34" charset="0"/>
                <a:ea typeface="Lexend Deca" pitchFamily="34" charset="-122"/>
                <a:cs typeface="Lexend Deca" pitchFamily="34" charset="-120"/>
              </a:rPr>
              <a:t>Put on a sweater. Put the dishes away.</a:t>
            </a:r>
            <a:endParaRPr lang="en-US" sz="1700" dirty="0" b="1"/>
          </a:p>
        </p:txBody>
      </p:sp>
      <p:sp>
        <p:nvSpPr>
          <p:cNvPr id="24" name="Question 3"/>
          <p:cNvSpPr/>
          <p:nvPr/>
        </p:nvSpPr>
        <p:spPr>
          <a:xfrm>
            <a:off x="5138928" y="4389120"/>
            <a:ext cx="2651760" cy="97840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5B3FC4"/>
                </a:solidFill>
                <a:latin typeface="Lexend Deca" pitchFamily="34" charset="0"/>
                <a:ea typeface="Lexend Deca" pitchFamily="34" charset="-122"/>
                <a:cs typeface="Lexend Deca" pitchFamily="34" charset="-120"/>
              </a:rPr>
              <a:t>take out / throw away</a:t>
            </a:r>
            <a:endParaRPr lang="en-US" sz="1700" dirty="0" b="1"/>
          </a:p>
        </p:txBody>
      </p:sp>
      <p:sp>
        <p:nvSpPr>
          <p:cNvPr id="25" name="Answer bg 3"/>
          <p:cNvSpPr/>
          <p:nvPr/>
        </p:nvSpPr>
        <p:spPr>
          <a:xfrm>
            <a:off x="7863840" y="4389120"/>
            <a:ext cx="4069080" cy="97840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6" name="Answer 3"/>
          <p:cNvSpPr/>
          <p:nvPr/>
        </p:nvSpPr>
        <p:spPr>
          <a:xfrm>
            <a:off x="7863840" y="4389120"/>
            <a:ext cx="4069080" cy="97840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take outside / put in the trash</a:t>
            </a:r>
            <a:br>
              <a:rPr lang="en-US" sz="1700" dirty="0" b="1">
                <a:solidFill>
                  <a:srgbClr val="1B2236"/>
                </a:solidFill>
                <a:latin typeface="Lexend Deca" pitchFamily="34" charset="0"/>
                <a:ea typeface="Lexend Deca" pitchFamily="34" charset="-122"/>
                <a:cs typeface="Lexend Deca" pitchFamily="34" charset="-120"/>
              </a:rPr>
            </a:br>
            <a:r>
              <a:rPr lang="en-US" sz="1700" dirty="0" b="1">
                <a:solidFill>
                  <a:srgbClr val="1B2236"/>
                </a:solidFill>
                <a:latin typeface="Lexend Deca" pitchFamily="34" charset="0"/>
                <a:ea typeface="Lexend Deca" pitchFamily="34" charset="-122"/>
                <a:cs typeface="Lexend Deca" pitchFamily="34" charset="-120"/>
              </a:rPr>
              <a:t>Take out the trash. Throw away old food.</a:t>
            </a:r>
            <a:endParaRPr lang="en-US" sz="1700" dirty="0" b="1"/>
          </a:p>
        </p:txBody>
      </p:sp>
      <p:sp>
        <p:nvSpPr>
          <p:cNvPr id="27" name="Question 4"/>
          <p:cNvSpPr/>
          <p:nvPr/>
        </p:nvSpPr>
        <p:spPr>
          <a:xfrm>
            <a:off x="5138928" y="5440680"/>
            <a:ext cx="2651760" cy="97840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5B3FC4"/>
                </a:solidFill>
                <a:latin typeface="Lexend Deca" pitchFamily="34" charset="0"/>
                <a:ea typeface="Lexend Deca" pitchFamily="34" charset="-122"/>
                <a:cs typeface="Lexend Deca" pitchFamily="34" charset="-120"/>
              </a:rPr>
              <a:t>shut off</a:t>
            </a:r>
            <a:endParaRPr lang="en-US" sz="1700" dirty="0" b="1"/>
          </a:p>
        </p:txBody>
      </p:sp>
      <p:sp>
        <p:nvSpPr>
          <p:cNvPr id="28" name="Answer bg 4"/>
          <p:cNvSpPr/>
          <p:nvPr/>
        </p:nvSpPr>
        <p:spPr>
          <a:xfrm>
            <a:off x="7863840" y="5440680"/>
            <a:ext cx="4069080" cy="97840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9" name="Answer 4"/>
          <p:cNvSpPr/>
          <p:nvPr/>
        </p:nvSpPr>
        <p:spPr>
          <a:xfrm>
            <a:off x="7863840" y="5440680"/>
            <a:ext cx="4069080" cy="97840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stop (water, gas)</a:t>
            </a:r>
            <a:br>
              <a:rPr lang="en-US" sz="1700" dirty="0" b="1">
                <a:solidFill>
                  <a:srgbClr val="1B2236"/>
                </a:solidFill>
                <a:latin typeface="Lexend Deca" pitchFamily="34" charset="0"/>
                <a:ea typeface="Lexend Deca" pitchFamily="34" charset="-122"/>
                <a:cs typeface="Lexend Deca" pitchFamily="34" charset="-120"/>
              </a:rPr>
            </a:br>
            <a:r>
              <a:rPr lang="en-US" sz="1700" dirty="0" b="1">
                <a:solidFill>
                  <a:srgbClr val="1B2236"/>
                </a:solidFill>
                <a:latin typeface="Lexend Deca" pitchFamily="34" charset="0"/>
                <a:ea typeface="Lexend Deca" pitchFamily="34" charset="-122"/>
                <a:cs typeface="Lexend Deca" pitchFamily="34" charset="-120"/>
              </a:rPr>
              <a:t>Shut off the water.</a:t>
            </a:r>
            <a:endParaRPr lang="en-US" sz="17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400"/>
                                        <p:tgtEl>
                                          <p:spTgt spid="1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400"/>
                                        <p:tgtEl>
                                          <p:spTgt spid="23"/>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6"/>
                                        </p:tgtEl>
                                        <p:attrNameLst>
                                          <p:attrName>style.visibility</p:attrName>
                                        </p:attrNameLst>
                                      </p:cBhvr>
                                      <p:to>
                                        <p:strVal val="visible"/>
                                      </p:to>
                                    </p:set>
                                    <p:animEffect transition="in" filter="fade">
                                      <p:cBhvr>
                                        <p:cTn id="23" dur="400"/>
                                        <p:tgtEl>
                                          <p:spTgt spid="26"/>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9"/>
                                        </p:tgtEl>
                                        <p:attrNameLst>
                                          <p:attrName>style.visibility</p:attrName>
                                        </p:attrNameLst>
                                      </p:cBhvr>
                                      <p:to>
                                        <p:strVal val="visible"/>
                                      </p:to>
                                    </p:set>
                                    <p:animEffect transition="in" filter="fade">
                                      <p:cBhvr>
                                        <p:cTn id="31" dur="400"/>
                                        <p:tgtEl>
                                          <p:spTgt spid="29"/>
                                        </p:tgtEl>
                                      </p:cBhvr>
                                    </p:animEffect>
                                  </p:childTnLst>
                                </p:cTn>
                              </p:par>
                              <p:par>
                                <p:cTn id="32" presetID="10" presetClass="entr" presetSubtype="0" fill="hold" nodeType="withEffect">
                                  <p:stCondLst>
                                    <p:cond delay="0"/>
                                  </p:stCondLst>
                                  <p:childTnLst>
                                    <p:set>
                                      <p:cBhvr>
                                        <p:cTn id="33" dur="1" fill="hold">
                                          <p:stCondLst>
                                            <p:cond delay="0"/>
                                          </p:stCondLst>
                                        </p:cTn>
                                        <p:tgtEl>
                                          <p:spTgt spid="28"/>
                                        </p:tgtEl>
                                        <p:attrNameLst>
                                          <p:attrName>style.visibility</p:attrName>
                                        </p:attrNameLst>
                                      </p:cBhvr>
                                      <p:to>
                                        <p:strVal val="visible"/>
                                      </p:to>
                                    </p:set>
                                    <p:animEffect transition="in" filter="fade">
                                      <p:cBhvr>
                                        <p:cTn id="34"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p="http://schemas.openxmlformats.org/presentationml/2006/main" xmlns:r="http://schemas.openxmlformats.org/officeDocument/2006/relationships">
  <p:cSld name="L4:table">
    <p:bg>
      <p:bgPr>
        <a:solidFill>
          <a:srgbClr val="F1F5FB"/>
        </a:solidFill>
      </p:bgPr>
    </p:bg>
    <p:spTree>
      <p:nvGrpSpPr>
        <p:cNvPr id="1" name=""/>
        <p:cNvGrpSpPr/>
        <p:nvPr/>
      </p:nvGrpSpPr>
      <p:grpSpPr/>
      <p:sp>
        <p:nvSpPr>
          <p:cNvPr id="2" name="Shape 0"/>
          <p:cNvSpPr/>
          <p:nvPr/>
        </p:nvSpPr>
        <p:spPr>
          <a:xfrm>
            <a:off x="5076429" y="533095"/>
            <a:ext cx="5814670" cy="1234440"/>
          </a:xfrm>
          <a:prstGeom prst="roundRect">
            <a:avLst>
              <a:gd name="adj" fmla="val 16667"/>
            </a:avLst>
          </a:prstGeom>
          <a:solidFill>
            <a:srgbClr val="8FAFE3"/>
          </a:solidFill>
          <a:ln/>
        </p:spPr>
        <p:txBody>
          <a:bodyPr/>
          <a:p/>
        </p:txBody>
      </p:sp>
      <p:sp>
        <p:nvSpPr>
          <p:cNvPr id="3" name="Shape 1"/>
          <p:cNvSpPr/>
          <p:nvPr/>
        </p:nvSpPr>
        <p:spPr>
          <a:xfrm>
            <a:off x="5110582" y="457200"/>
            <a:ext cx="5814670" cy="1234440"/>
          </a:xfrm>
          <a:prstGeom prst="roundRect">
            <a:avLst>
              <a:gd name="adj" fmla="val 16667"/>
            </a:avLst>
          </a:prstGeom>
          <a:solidFill>
            <a:srgbClr val="FFFFFF"/>
          </a:solidFill>
          <a:ln/>
        </p:spPr>
        <p:txBody>
          <a:bodyPr/>
          <a:p/>
        </p:txBody>
      </p:sp>
      <p:sp>
        <p:nvSpPr>
          <p:cNvPr id="4" name="left panel"/>
          <p:cNvSpPr/>
          <p:nvPr/>
        </p:nvSpPr>
        <p:spPr>
          <a:xfrm flipV="1">
            <a:off x="-106985" y="-101498"/>
            <a:ext cx="3844138" cy="6418174"/>
          </a:xfrm>
          <a:prstGeom prst="round1Rect">
            <a:avLst>
              <a:gd name="adj" fmla="val 23087"/>
            </a:avLst>
          </a:prstGeom>
          <a:solidFill>
            <a:srgbClr val="B9D2F7"/>
          </a:solidFill>
          <a:ln w="76200">
            <a:solidFill>
              <a:srgbClr val="FFFFFF"/>
            </a:solidFill>
            <a:prstDash val="solid"/>
          </a:ln>
        </p:spPr>
        <p:txBody>
          <a:bodyPr/>
          <a:p/>
        </p:txBody>
      </p:sp>
      <p:pic>
        <p:nvPicPr>
          <p:cNvPr id="17" name="pic" descr="Peephole: an eye and a door"/>
          <p:cNvPicPr>
            <a:picLocks noChangeAspect="1"/>
          </p:cNvPicPr>
          <p:nvPr/>
        </p:nvPicPr>
        <p:blipFill>
          <a:blip r:embed="rId3"/>
          <a:stretch>
            <a:fillRect/>
          </a:stretch>
        </p:blipFill>
        <p:spPr>
          <a:xfrm>
            <a:off x="457200" y="2265152"/>
            <a:ext cx="3326587" cy="2328611"/>
          </a:xfrm>
          <a:prstGeom prst="rect">
            <a:avLst/>
          </a:prstGeom>
        </p:spPr>
      </p:pic>
      <p:sp>
        <p:nvSpPr>
          <p:cNvPr id="7" name="head"/>
          <p:cNvSpPr/>
          <p:nvPr/>
        </p:nvSpPr>
        <p:spPr>
          <a:xfrm>
            <a:off x="5333695" y="566928"/>
            <a:ext cx="4846320" cy="1097280"/>
          </a:xfrm>
          <a:prstGeom prst="rect">
            <a:avLst/>
          </a:prstGeom>
          <a:noFill/>
          <a:ln/>
        </p:spPr>
        <p:txBody>
          <a:bodyPr wrap="square" rtlCol="0" anchor="ctr"/>
          <a:lstStyle/>
          <a:p>
            <a:pPr algn="l" indent="0" marL="0">
              <a:spcAft>
                <a:spcPts val="400"/>
              </a:spcAft>
              <a:buNone/>
            </a:pPr>
            <a:r>
              <a:rPr lang="en-US" sz="2000" dirty="0" b="1">
                <a:solidFill>
                  <a:srgbClr val="5B3FC4"/>
                </a:solidFill>
                <a:latin typeface="Lexend Deca" pitchFamily="34" charset="0"/>
                <a:ea typeface="Lexend Deca" pitchFamily="34" charset="-122"/>
                <a:cs typeface="Lexend Deca" pitchFamily="34" charset="-120"/>
              </a:rPr>
              <a:t>Grammar Box 4</a:t>
            </a:r>
            <a:endParaRPr lang="en-US" sz="2000" dirty="0" b="1"/>
          </a:p>
          <a:p>
            <a:pPr algn="l" indent="0" marL="0">
              <a:spcAft>
                <a:spcPts val="400"/>
              </a:spcAft>
              <a:buNone/>
            </a:pPr>
            <a:r>
              <a:rPr lang="en-US" sz="2400" dirty="0" b="1">
                <a:solidFill>
                  <a:srgbClr val="1B2236"/>
                </a:solidFill>
                <a:latin typeface="Lexend Deca" pitchFamily="34" charset="0"/>
                <a:ea typeface="Lexend Deca" pitchFamily="34" charset="-122"/>
                <a:cs typeface="Lexend Deca" pitchFamily="34" charset="-120"/>
              </a:rPr>
              <a:t>home tips</a:t>
            </a:r>
            <a:endParaRPr lang="en-US" sz="2400" dirty="0" b="1"/>
          </a:p>
        </p:txBody>
      </p:sp>
      <p:sp>
        <p:nvSpPr>
          <p:cNvPr id="8" name="Q head"/>
          <p:cNvSpPr/>
          <p:nvPr/>
        </p:nvSpPr>
        <p:spPr>
          <a:xfrm>
            <a:off x="5166360" y="1828800"/>
            <a:ext cx="2651760" cy="457200"/>
          </a:xfrm>
          <a:prstGeom prst="rect">
            <a:avLst/>
          </a:prstGeom>
          <a:noFill/>
          <a:ln/>
        </p:spPr>
        <p:txBody>
          <a:bodyPr wrap="square" rtlCol="0" anchor="ctr"/>
          <a:lstStyle/>
          <a:p>
            <a:pPr algn="l" indent="0" marL="0">
              <a:buNone/>
            </a:pPr>
            <a:r>
              <a:rPr lang="en-US" sz="2000" dirty="0" b="1">
                <a:solidFill>
                  <a:srgbClr val="5B3FC4"/>
                </a:solidFill>
                <a:latin typeface="Lexend Deca" pitchFamily="34" charset="0"/>
                <a:ea typeface="Lexend Deca" pitchFamily="34" charset="-122"/>
                <a:cs typeface="Lexend Deca" pitchFamily="34" charset="-120"/>
              </a:rPr>
              <a:t>START</a:t>
            </a:r>
            <a:endParaRPr lang="en-US" sz="2000" dirty="0" b="1"/>
          </a:p>
        </p:txBody>
      </p:sp>
      <p:sp>
        <p:nvSpPr>
          <p:cNvPr id="11" name="A head"/>
          <p:cNvSpPr/>
          <p:nvPr/>
        </p:nvSpPr>
        <p:spPr>
          <a:xfrm>
            <a:off x="7863840" y="1828800"/>
            <a:ext cx="4069080" cy="457200"/>
          </a:xfrm>
          <a:prstGeom prst="rect">
            <a:avLst/>
          </a:prstGeom>
          <a:noFill/>
          <a:ln/>
        </p:spPr>
        <p:txBody>
          <a:bodyPr wrap="square" rtlCol="0" anchor="ctr"/>
          <a:lstStyle/>
          <a:p>
            <a:pPr algn="l" indent="0" marL="0">
              <a:buNone/>
            </a:pPr>
            <a:r>
              <a:rPr lang="en-US" sz="2000" dirty="0" b="1">
                <a:solidFill>
                  <a:srgbClr val="5B3FC4"/>
                </a:solidFill>
                <a:latin typeface="Lexend Deca" pitchFamily="34" charset="0"/>
                <a:ea typeface="Lexend Deca" pitchFamily="34" charset="-122"/>
                <a:cs typeface="Lexend Deca" pitchFamily="34" charset="-120"/>
              </a:rPr>
              <a:t>EXAMPLE</a:t>
            </a:r>
            <a:endParaRPr lang="en-US" sz="2000" dirty="0" b="1"/>
          </a:p>
        </p:txBody>
      </p:sp>
      <p:sp>
        <p:nvSpPr>
          <p:cNvPr id="18" name="Question 1"/>
          <p:cNvSpPr/>
          <p:nvPr/>
        </p:nvSpPr>
        <p:spPr>
          <a:xfrm>
            <a:off x="5138928" y="2286000"/>
            <a:ext cx="2651760" cy="97840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5B3FC4"/>
                </a:solidFill>
                <a:latin typeface="Lexend Deca" pitchFamily="34" charset="0"/>
                <a:ea typeface="Lexend Deca" pitchFamily="34" charset="-122"/>
                <a:cs typeface="Lexend Deca" pitchFamily="34" charset="-120"/>
              </a:rPr>
              <a:t>Make sure you…</a:t>
            </a:r>
            <a:endParaRPr lang="en-US" sz="1700" dirty="0" b="1"/>
          </a:p>
        </p:txBody>
      </p:sp>
      <p:sp>
        <p:nvSpPr>
          <p:cNvPr id="19" name="Answer bg 1"/>
          <p:cNvSpPr/>
          <p:nvPr/>
        </p:nvSpPr>
        <p:spPr>
          <a:xfrm>
            <a:off x="7863840" y="2286000"/>
            <a:ext cx="4069080" cy="97840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0" name="Answer 1"/>
          <p:cNvSpPr/>
          <p:nvPr/>
        </p:nvSpPr>
        <p:spPr>
          <a:xfrm>
            <a:off x="7863840" y="2286000"/>
            <a:ext cx="4069080" cy="97840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5B3FC4"/>
                </a:solidFill>
                <a:latin typeface="Lexend Deca" pitchFamily="34" charset="0"/>
                <a:ea typeface="Lexend Deca" pitchFamily="34" charset="-122"/>
                <a:cs typeface="Lexend Deca" pitchFamily="34" charset="-120"/>
              </a:rPr>
              <a:t>Make sure you lock the deadbolt at night.</a:t>
            </a:r>
            <a:endParaRPr lang="en-US" sz="1700" dirty="0" b="1"/>
          </a:p>
        </p:txBody>
      </p:sp>
      <p:sp>
        <p:nvSpPr>
          <p:cNvPr id="21" name="Question 2"/>
          <p:cNvSpPr/>
          <p:nvPr/>
        </p:nvSpPr>
        <p:spPr>
          <a:xfrm>
            <a:off x="5138928" y="3337560"/>
            <a:ext cx="2651760" cy="97840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5B3FC4"/>
                </a:solidFill>
                <a:latin typeface="Lexend Deca" pitchFamily="34" charset="0"/>
                <a:ea typeface="Lexend Deca" pitchFamily="34" charset="-122"/>
                <a:cs typeface="Lexend Deca" pitchFamily="34" charset="-120"/>
              </a:rPr>
              <a:t>Don't forget to…</a:t>
            </a:r>
            <a:endParaRPr lang="en-US" sz="1700" dirty="0" b="1"/>
          </a:p>
        </p:txBody>
      </p:sp>
      <p:sp>
        <p:nvSpPr>
          <p:cNvPr id="22" name="Answer bg 2"/>
          <p:cNvSpPr/>
          <p:nvPr/>
        </p:nvSpPr>
        <p:spPr>
          <a:xfrm>
            <a:off x="7863840" y="3337560"/>
            <a:ext cx="4069080" cy="97840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3" name="Answer 2"/>
          <p:cNvSpPr/>
          <p:nvPr/>
        </p:nvSpPr>
        <p:spPr>
          <a:xfrm>
            <a:off x="7863840" y="3337560"/>
            <a:ext cx="4069080" cy="97840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5B3FC4"/>
                </a:solidFill>
                <a:latin typeface="Lexend Deca" pitchFamily="34" charset="0"/>
                <a:ea typeface="Lexend Deca" pitchFamily="34" charset="-122"/>
                <a:cs typeface="Lexend Deca" pitchFamily="34" charset="-120"/>
              </a:rPr>
              <a:t>Don't forget to unplug the charger.</a:t>
            </a:r>
            <a:endParaRPr lang="en-US" sz="1700" dirty="0" b="1"/>
          </a:p>
        </p:txBody>
      </p:sp>
      <p:sp>
        <p:nvSpPr>
          <p:cNvPr id="24" name="Question 3"/>
          <p:cNvSpPr/>
          <p:nvPr/>
        </p:nvSpPr>
        <p:spPr>
          <a:xfrm>
            <a:off x="5138928" y="4389120"/>
            <a:ext cx="2651760" cy="97840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5B3FC4"/>
                </a:solidFill>
                <a:latin typeface="Lexend Deca" pitchFamily="34" charset="0"/>
                <a:ea typeface="Lexend Deca" pitchFamily="34" charset="-122"/>
                <a:cs typeface="Lexend Deca" pitchFamily="34" charset="-120"/>
              </a:rPr>
              <a:t>We use too much…</a:t>
            </a:r>
            <a:endParaRPr lang="en-US" sz="1700" dirty="0" b="1"/>
          </a:p>
        </p:txBody>
      </p:sp>
      <p:sp>
        <p:nvSpPr>
          <p:cNvPr id="25" name="Answer bg 3"/>
          <p:cNvSpPr/>
          <p:nvPr/>
        </p:nvSpPr>
        <p:spPr>
          <a:xfrm>
            <a:off x="7863840" y="4389120"/>
            <a:ext cx="4069080" cy="97840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6" name="Answer 3"/>
          <p:cNvSpPr/>
          <p:nvPr/>
        </p:nvSpPr>
        <p:spPr>
          <a:xfrm>
            <a:off x="7863840" y="4389120"/>
            <a:ext cx="4069080" cy="97840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5B3FC4"/>
                </a:solidFill>
                <a:latin typeface="Lexend Deca" pitchFamily="34" charset="0"/>
                <a:ea typeface="Lexend Deca" pitchFamily="34" charset="-122"/>
                <a:cs typeface="Lexend Deca" pitchFamily="34" charset="-120"/>
              </a:rPr>
              <a:t>We use too much electricity.</a:t>
            </a:r>
            <a:endParaRPr lang="en-US" sz="17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400"/>
                                        <p:tgtEl>
                                          <p:spTgt spid="1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400"/>
                                        <p:tgtEl>
                                          <p:spTgt spid="23"/>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6"/>
                                        </p:tgtEl>
                                        <p:attrNameLst>
                                          <p:attrName>style.visibility</p:attrName>
                                        </p:attrNameLst>
                                      </p:cBhvr>
                                      <p:to>
                                        <p:strVal val="visible"/>
                                      </p:to>
                                    </p:set>
                                    <p:animEffect transition="in" filter="fade">
                                      <p:cBhvr>
                                        <p:cTn id="23" dur="400"/>
                                        <p:tgtEl>
                                          <p:spTgt spid="26"/>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p="http://schemas.openxmlformats.org/presentationml/2006/main" xmlns:r="http://schemas.openxmlformats.org/officeDocument/2006/relationships">
  <p:cSld name="L4:gaps">
    <p:bg>
      <p:bgPr>
        <a:solidFill>
          <a:srgbClr val="F1F5FB"/>
        </a:solidFill>
      </p:bgPr>
    </p:bg>
    <p:spTree>
      <p:nvGrpSpPr>
        <p:cNvPr id="1" name=""/>
        <p:cNvGrpSpPr/>
        <p:nvPr/>
      </p:nvGrpSpPr>
      <p:grpSpPr/>
      <p:sp>
        <p:nvSpPr>
          <p:cNvPr id="2" name="head shadow"/>
          <p:cNvSpPr/>
          <p:nvPr/>
        </p:nvSpPr>
        <p:spPr>
          <a:xfrm>
            <a:off x="544982" y="1132942"/>
            <a:ext cx="7086600" cy="983894"/>
          </a:xfrm>
          <a:prstGeom prst="round1Rect">
            <a:avLst>
              <a:gd name="adj" fmla="val 23087"/>
            </a:avLst>
          </a:prstGeom>
          <a:solidFill>
            <a:srgbClr val="8FAFE3"/>
          </a:solidFill>
          <a:ln/>
        </p:spPr>
        <p:txBody>
          <a:bodyPr/>
          <a:p/>
        </p:txBody>
      </p:sp>
      <p:sp>
        <p:nvSpPr>
          <p:cNvPr id="3" name="head card"/>
          <p:cNvSpPr/>
          <p:nvPr/>
        </p:nvSpPr>
        <p:spPr>
          <a:xfrm>
            <a:off x="548640" y="1075334"/>
            <a:ext cx="7086600" cy="983894"/>
          </a:xfrm>
          <a:prstGeom prst="round1Rect">
            <a:avLst>
              <a:gd name="adj" fmla="val 23087"/>
            </a:avLst>
          </a:prstGeom>
          <a:solidFill>
            <a:srgbClr val="FFFFFF"/>
          </a:solidFill>
          <a:ln/>
        </p:spPr>
        <p:txBody>
          <a:bodyPr/>
          <a:p/>
        </p:txBody>
      </p:sp>
      <p:sp>
        <p:nvSpPr>
          <p:cNvPr id="8" name="head1"/>
          <p:cNvSpPr/>
          <p:nvPr/>
        </p:nvSpPr>
        <p:spPr>
          <a:xfrm>
            <a:off x="777240" y="1143000"/>
            <a:ext cx="5440680" cy="384048"/>
          </a:xfrm>
          <a:prstGeom prst="rect">
            <a:avLst/>
          </a:prstGeom>
          <a:noFill/>
          <a:ln/>
        </p:spPr>
        <p:txBody>
          <a:bodyPr wrap="square" rtlCol="0" anchor="t"/>
          <a:lstStyle/>
          <a:p>
            <a:pPr algn="l" indent="0" marL="0">
              <a:buNone/>
            </a:pPr>
            <a:r>
              <a:rPr lang="en-US" sz="2000" dirty="0" b="1">
                <a:solidFill>
                  <a:srgbClr val="1B2236"/>
                </a:solidFill>
                <a:latin typeface="Lexend Deca" pitchFamily="34" charset="0"/>
                <a:ea typeface="Lexend Deca" pitchFamily="34" charset="-122"/>
                <a:cs typeface="Lexend Deca" pitchFamily="34" charset="-120"/>
              </a:rPr>
              <a:t>Practice A</a:t>
            </a:r>
            <a:endParaRPr lang="en-US" sz="2000" dirty="0" b="1"/>
          </a:p>
        </p:txBody>
      </p:sp>
      <p:sp>
        <p:nvSpPr>
          <p:cNvPr id="9" name="head2"/>
          <p:cNvSpPr/>
          <p:nvPr/>
        </p:nvSpPr>
        <p:spPr>
          <a:xfrm>
            <a:off x="868680" y="1545336"/>
            <a:ext cx="5349240" cy="411480"/>
          </a:xfrm>
          <a:prstGeom prst="rect">
            <a:avLst/>
          </a:prstGeom>
          <a:noFill/>
          <a:ln/>
        </p:spPr>
        <p:txBody>
          <a:bodyPr wrap="square" lIns="0" tIns="0" rIns="0" bIns="0" rtlCol="0" anchor="t"/>
          <a:lstStyle/>
          <a:p>
            <a:pPr algn="l" indent="0" marL="0">
              <a:buNone/>
            </a:pPr>
            <a:r>
              <a:rPr lang="en-US" sz="2000" dirty="0">
                <a:solidFill>
                  <a:srgbClr val="1B2236"/>
                </a:solidFill>
                <a:latin typeface="Lexend Deca" pitchFamily="34" charset="0"/>
                <a:ea typeface="Lexend Deca" pitchFamily="34" charset="-122"/>
                <a:cs typeface="Lexend Deca" pitchFamily="34" charset="-120"/>
              </a:rPr>
              <a:t>Write one word.</a:t>
            </a:r>
            <a:endParaRPr lang="en-US" sz="2000" dirty="0"/>
          </a:p>
        </p:txBody>
      </p:sp>
      <p:sp>
        <p:nvSpPr>
          <p:cNvPr id="29" name="title"/>
          <p:cNvSpPr/>
          <p:nvPr/>
        </p:nvSpPr>
        <p:spPr>
          <a:xfrm>
            <a:off x="8001000" y="1783080"/>
            <a:ext cx="3840480" cy="1600200"/>
          </a:xfrm>
          <a:prstGeom prst="rect">
            <a:avLst/>
          </a:prstGeom>
          <a:noFill/>
          <a:ln/>
        </p:spPr>
        <p:txBody>
          <a:bodyPr wrap="square" rtlCol="0" anchor="b"/>
          <a:lstStyle/>
          <a:p>
            <a:pPr algn="l" indent="0" marL="0">
              <a:buNone/>
            </a:pPr>
            <a:r>
              <a:rPr lang="en-US" sz="4000" dirty="0" b="1">
                <a:solidFill>
                  <a:srgbClr val="1B2236"/>
                </a:solidFill>
                <a:latin typeface="Lexend Deca" pitchFamily="34" charset="0"/>
                <a:ea typeface="Lexend Deca" pitchFamily="34" charset="-122"/>
                <a:cs typeface="Lexend Deca" pitchFamily="34" charset="-120"/>
              </a:rPr>
              <a:t>Practice A</a:t>
            </a:r>
            <a:endParaRPr lang="en-US" sz="4000" dirty="0" b="1"/>
          </a:p>
        </p:txBody>
      </p:sp>
      <p:sp>
        <p:nvSpPr>
          <p:cNvPr id="30" name="side"/>
          <p:cNvSpPr/>
          <p:nvPr/>
        </p:nvSpPr>
        <p:spPr>
          <a:xfrm>
            <a:off x="8046720" y="3611880"/>
            <a:ext cx="3749039" cy="2377440"/>
          </a:xfrm>
          <a:prstGeom prst="rect">
            <a:avLst/>
          </a:prstGeom>
          <a:noFill/>
          <a:ln/>
        </p:spPr>
        <p:txBody>
          <a:bodyPr wrap="square" lIns="0" tIns="0" rIns="0" bIns="0" rtlCol="0" anchor="t"/>
          <a:lstStyle/>
          <a:p>
            <a:pPr algn="l" indent="0" marL="0">
              <a:lnSpc>
                <a:spcPct val="120000"/>
              </a:lnSpc>
              <a:spcAft>
                <a:spcPts val="1200"/>
              </a:spcAft>
              <a:buNone/>
            </a:pPr>
            <a:r>
              <a:rPr lang="en-US" sz="2000" dirty="0" b="1">
                <a:solidFill>
                  <a:srgbClr val="1B2236"/>
                </a:solidFill>
                <a:latin typeface="Lexend Deca" pitchFamily="34" charset="0"/>
                <a:ea typeface="Lexend Deca" pitchFamily="34" charset="-122"/>
                <a:cs typeface="Lexend Deca" pitchFamily="34" charset="-120"/>
              </a:rPr>
              <a:t>Write one word.</a:t>
            </a:r>
            <a:endParaRPr lang="en-US" sz="2000" dirty="0" b="1"/>
          </a:p>
          <a:p>
            <a:pPr algn="l" indent="0" marL="0">
              <a:lnSpc>
                <a:spcPct val="120000"/>
              </a:lnSpc>
              <a:spcAft>
                <a:spcPts val="1200"/>
              </a:spcAft>
              <a:buNone/>
            </a:pPr>
            <a:r>
              <a:rPr lang="en-US" sz="2000" dirty="0" b="1">
                <a:solidFill>
                  <a:srgbClr val="1B2236"/>
                </a:solidFill>
                <a:latin typeface="Lexend Deca" pitchFamily="34" charset="0"/>
                <a:ea typeface="Lexend Deca" pitchFamily="34" charset="-122"/>
                <a:cs typeface="Lexend Deca" pitchFamily="34" charset="-120"/>
              </a:rPr>
              <a:t>Pairs: </a:t>
            </a:r>
            <a:r>
              <a:rPr lang="en-US" sz="2000" dirty="0" b="1">
                <a:solidFill>
                  <a:srgbClr val="5B3FC4"/>
                </a:solidFill>
                <a:latin typeface="Lexend Deca" pitchFamily="34" charset="0"/>
                <a:ea typeface="Lexend Deca" pitchFamily="34" charset="-122"/>
                <a:cs typeface="Lexend Deca" pitchFamily="34" charset="-120"/>
              </a:rPr>
              <a:t>check your answers.</a:t>
            </a:r>
            <a:endParaRPr lang="en-US" sz="2000" dirty="0" b="1"/>
          </a:p>
        </p:txBody>
      </p:sp>
      <p:sp>
        <p:nvSpPr>
          <p:cNvPr id="31" name="R1 card"/>
          <p:cNvSpPr/>
          <p:nvPr/>
        </p:nvSpPr>
        <p:spPr>
          <a:xfrm>
            <a:off x="1583741" y="2123237"/>
            <a:ext cx="6035040" cy="655015"/>
          </a:xfrm>
          <a:prstGeom prst="round1Rect">
            <a:avLst>
              <a:gd name="adj" fmla="val 23087"/>
            </a:avLst>
          </a:prstGeom>
          <a:solidFill>
            <a:srgbClr val="FFFFFF"/>
          </a:solidFill>
          <a:ln/>
        </p:spPr>
        <p:txBody>
          <a:bodyPr/>
          <a:p/>
        </p:txBody>
      </p:sp>
      <p:sp>
        <p:nvSpPr>
          <p:cNvPr id="32" name="R1 chip"/>
          <p:cNvSpPr/>
          <p:nvPr/>
        </p:nvSpPr>
        <p:spPr>
          <a:xfrm>
            <a:off x="544982" y="2123237"/>
            <a:ext cx="1039673" cy="655015"/>
          </a:xfrm>
          <a:prstGeom prst="rect">
            <a:avLst/>
          </a:prstGeom>
          <a:solidFill>
            <a:srgbClr val="B9D2F7"/>
          </a:solidFill>
          <a:ln/>
        </p:spPr>
        <p:txBody>
          <a:bodyPr/>
          <a:p/>
        </p:txBody>
      </p:sp>
      <p:sp>
        <p:nvSpPr>
          <p:cNvPr id="33" name="R1 num"/>
          <p:cNvSpPr/>
          <p:nvPr/>
        </p:nvSpPr>
        <p:spPr>
          <a:xfrm>
            <a:off x="686714" y="2158136"/>
            <a:ext cx="1109167" cy="585216"/>
          </a:xfrm>
          <a:prstGeom prst="rect">
            <a:avLst/>
          </a:prstGeom>
          <a:noFill/>
          <a:ln/>
        </p:spPr>
        <p:txBody>
          <a:bodyPr wrap="square" rtlCol="0" anchor="ctr"/>
          <a:lstStyle/>
          <a:p>
            <a:pPr algn="ctr" indent="0" marL="0">
              <a:buNone/>
            </a:pPr>
            <a:r>
              <a:rPr lang="en-US" sz="3200" dirty="0" b="1"/>
              <a:t>1</a:t>
            </a:r>
            <a:endParaRPr lang="en-US" sz="3200" dirty="0" b="1"/>
          </a:p>
        </p:txBody>
      </p:sp>
      <p:sp>
        <p:nvSpPr>
          <p:cNvPr id="34" name="R1 text"/>
          <p:cNvSpPr/>
          <p:nvPr/>
        </p:nvSpPr>
        <p:spPr>
          <a:xfrm>
            <a:off x="1810512" y="2123237"/>
            <a:ext cx="4041648" cy="655015"/>
          </a:xfrm>
          <a:prstGeom prst="rect">
            <a:avLst/>
          </a:prstGeom>
          <a:noFill/>
          <a:ln/>
        </p:spPr>
        <p:txBody>
          <a:bodyPr wrap="square" rtlCol="0" anchor="ctr" tIns="0" bIns="0"/>
          <a:lstStyle/>
          <a:p>
            <a:pPr algn="l" indent="0" marL="0">
              <a:buNone/>
            </a:pPr>
            <a:r>
              <a:rPr lang="en-US" sz="1600" dirty="0">
                <a:solidFill>
                  <a:srgbClr val="1B2236"/>
                </a:solidFill>
                <a:latin typeface="Lexend Deca" pitchFamily="34" charset="0"/>
                <a:ea typeface="Lexend Deca" pitchFamily="34" charset="-122"/>
                <a:cs typeface="Lexend Deca" pitchFamily="34" charset="-120"/>
              </a:rPr>
              <a:t>The lights are on. Please turn ____ off.</a:t>
            </a:r>
            <a:endParaRPr lang="en-US" sz="1600" dirty="0"/>
          </a:p>
        </p:txBody>
      </p:sp>
      <p:sp>
        <p:nvSpPr>
          <p:cNvPr id="35" name="R1 ans"/>
          <p:cNvSpPr/>
          <p:nvPr/>
        </p:nvSpPr>
        <p:spPr>
          <a:xfrm>
            <a:off x="5925312" y="2222144"/>
            <a:ext cx="164592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them</a:t>
            </a:r>
            <a:endParaRPr lang="en-US" sz="2000" dirty="0" b="1"/>
          </a:p>
        </p:txBody>
      </p:sp>
      <p:sp>
        <p:nvSpPr>
          <p:cNvPr id="36" name="R2 card"/>
          <p:cNvSpPr/>
          <p:nvPr/>
        </p:nvSpPr>
        <p:spPr>
          <a:xfrm>
            <a:off x="1583741" y="2851404"/>
            <a:ext cx="6035040" cy="655015"/>
          </a:xfrm>
          <a:prstGeom prst="round1Rect">
            <a:avLst>
              <a:gd name="adj" fmla="val 23087"/>
            </a:avLst>
          </a:prstGeom>
          <a:solidFill>
            <a:srgbClr val="FFFFFF"/>
          </a:solidFill>
          <a:ln/>
        </p:spPr>
        <p:txBody>
          <a:bodyPr/>
          <a:p/>
        </p:txBody>
      </p:sp>
      <p:sp>
        <p:nvSpPr>
          <p:cNvPr id="37" name="R2 chip"/>
          <p:cNvSpPr/>
          <p:nvPr/>
        </p:nvSpPr>
        <p:spPr>
          <a:xfrm>
            <a:off x="544982" y="2851404"/>
            <a:ext cx="1039673" cy="655015"/>
          </a:xfrm>
          <a:prstGeom prst="rect">
            <a:avLst/>
          </a:prstGeom>
          <a:solidFill>
            <a:srgbClr val="B9D2F7"/>
          </a:solidFill>
          <a:ln/>
        </p:spPr>
        <p:txBody>
          <a:bodyPr/>
          <a:p/>
        </p:txBody>
      </p:sp>
      <p:sp>
        <p:nvSpPr>
          <p:cNvPr id="38" name="R2 num"/>
          <p:cNvSpPr/>
          <p:nvPr/>
        </p:nvSpPr>
        <p:spPr>
          <a:xfrm>
            <a:off x="686714" y="2886304"/>
            <a:ext cx="1109167" cy="585216"/>
          </a:xfrm>
          <a:prstGeom prst="rect">
            <a:avLst/>
          </a:prstGeom>
          <a:noFill/>
          <a:ln/>
        </p:spPr>
        <p:txBody>
          <a:bodyPr wrap="square" rtlCol="0" anchor="ctr"/>
          <a:lstStyle/>
          <a:p>
            <a:pPr algn="ctr" indent="0" marL="0">
              <a:buNone/>
            </a:pPr>
            <a:r>
              <a:rPr lang="en-US" sz="3200" dirty="0" b="1"/>
              <a:t>2</a:t>
            </a:r>
            <a:endParaRPr lang="en-US" sz="3200" dirty="0" b="1"/>
          </a:p>
        </p:txBody>
      </p:sp>
      <p:sp>
        <p:nvSpPr>
          <p:cNvPr id="39" name="R2 text"/>
          <p:cNvSpPr/>
          <p:nvPr/>
        </p:nvSpPr>
        <p:spPr>
          <a:xfrm>
            <a:off x="1810512" y="2851404"/>
            <a:ext cx="4041648" cy="655015"/>
          </a:xfrm>
          <a:prstGeom prst="rect">
            <a:avLst/>
          </a:prstGeom>
          <a:noFill/>
          <a:ln/>
        </p:spPr>
        <p:txBody>
          <a:bodyPr wrap="square" rtlCol="0" anchor="ctr" tIns="0" bIns="0"/>
          <a:lstStyle/>
          <a:p>
            <a:pPr algn="l" indent="0" marL="0">
              <a:buNone/>
            </a:pPr>
            <a:r>
              <a:rPr lang="en-US" sz="1600" dirty="0">
                <a:solidFill>
                  <a:srgbClr val="1B2236"/>
                </a:solidFill>
                <a:latin typeface="Lexend Deca" pitchFamily="34" charset="0"/>
                <a:ea typeface="Lexend Deca" pitchFamily="34" charset="-122"/>
                <a:cs typeface="Lexend Deca" pitchFamily="34" charset="-120"/>
              </a:rPr>
              <a:t>It's hot. Can you turn ____ the fan?</a:t>
            </a:r>
            <a:endParaRPr lang="en-US" sz="1600" dirty="0"/>
          </a:p>
        </p:txBody>
      </p:sp>
      <p:sp>
        <p:nvSpPr>
          <p:cNvPr id="40" name="R2 ans"/>
          <p:cNvSpPr/>
          <p:nvPr/>
        </p:nvSpPr>
        <p:spPr>
          <a:xfrm>
            <a:off x="5925312" y="2950312"/>
            <a:ext cx="164592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up</a:t>
            </a:r>
            <a:endParaRPr lang="en-US" sz="2000" dirty="0" b="1"/>
          </a:p>
        </p:txBody>
      </p:sp>
      <p:sp>
        <p:nvSpPr>
          <p:cNvPr id="41" name="R3 card"/>
          <p:cNvSpPr/>
          <p:nvPr/>
        </p:nvSpPr>
        <p:spPr>
          <a:xfrm>
            <a:off x="1583741" y="3579571"/>
            <a:ext cx="6035040" cy="655015"/>
          </a:xfrm>
          <a:prstGeom prst="round1Rect">
            <a:avLst>
              <a:gd name="adj" fmla="val 23087"/>
            </a:avLst>
          </a:prstGeom>
          <a:solidFill>
            <a:srgbClr val="FFFFFF"/>
          </a:solidFill>
          <a:ln/>
        </p:spPr>
        <p:txBody>
          <a:bodyPr/>
          <a:p/>
        </p:txBody>
      </p:sp>
      <p:sp>
        <p:nvSpPr>
          <p:cNvPr id="42" name="R3 chip"/>
          <p:cNvSpPr/>
          <p:nvPr/>
        </p:nvSpPr>
        <p:spPr>
          <a:xfrm>
            <a:off x="544982" y="3579571"/>
            <a:ext cx="1039673" cy="655015"/>
          </a:xfrm>
          <a:prstGeom prst="rect">
            <a:avLst/>
          </a:prstGeom>
          <a:solidFill>
            <a:srgbClr val="B9D2F7"/>
          </a:solidFill>
          <a:ln/>
        </p:spPr>
        <p:txBody>
          <a:bodyPr/>
          <a:p/>
        </p:txBody>
      </p:sp>
      <p:sp>
        <p:nvSpPr>
          <p:cNvPr id="43" name="R3 num"/>
          <p:cNvSpPr/>
          <p:nvPr/>
        </p:nvSpPr>
        <p:spPr>
          <a:xfrm>
            <a:off x="686714" y="3614471"/>
            <a:ext cx="1109167" cy="585216"/>
          </a:xfrm>
          <a:prstGeom prst="rect">
            <a:avLst/>
          </a:prstGeom>
          <a:noFill/>
          <a:ln/>
        </p:spPr>
        <p:txBody>
          <a:bodyPr wrap="square" rtlCol="0" anchor="ctr"/>
          <a:lstStyle/>
          <a:p>
            <a:pPr algn="ctr" indent="0" marL="0">
              <a:buNone/>
            </a:pPr>
            <a:r>
              <a:rPr lang="en-US" sz="3200" dirty="0" b="1"/>
              <a:t>3</a:t>
            </a:r>
            <a:endParaRPr lang="en-US" sz="3200" dirty="0" b="1"/>
          </a:p>
        </p:txBody>
      </p:sp>
      <p:sp>
        <p:nvSpPr>
          <p:cNvPr id="44" name="R3 text"/>
          <p:cNvSpPr/>
          <p:nvPr/>
        </p:nvSpPr>
        <p:spPr>
          <a:xfrm>
            <a:off x="1810512" y="3579571"/>
            <a:ext cx="4041648" cy="655015"/>
          </a:xfrm>
          <a:prstGeom prst="rect">
            <a:avLst/>
          </a:prstGeom>
          <a:noFill/>
          <a:ln/>
        </p:spPr>
        <p:txBody>
          <a:bodyPr wrap="square" rtlCol="0" anchor="ctr" tIns="0" bIns="0"/>
          <a:lstStyle/>
          <a:p>
            <a:pPr algn="l" indent="0" marL="0">
              <a:buNone/>
            </a:pPr>
            <a:r>
              <a:rPr lang="en-US" sz="1600" dirty="0">
                <a:solidFill>
                  <a:srgbClr val="1B2236"/>
                </a:solidFill>
                <a:latin typeface="Lexend Deca" pitchFamily="34" charset="0"/>
                <a:ea typeface="Lexend Deca" pitchFamily="34" charset="-122"/>
                <a:cs typeface="Lexend Deca" pitchFamily="34" charset="-120"/>
              </a:rPr>
              <a:t>Did you take out the trash? Yes, I took ____ out.</a:t>
            </a:r>
            <a:endParaRPr lang="en-US" sz="1600" dirty="0"/>
          </a:p>
        </p:txBody>
      </p:sp>
      <p:sp>
        <p:nvSpPr>
          <p:cNvPr id="45" name="R3 ans"/>
          <p:cNvSpPr/>
          <p:nvPr/>
        </p:nvSpPr>
        <p:spPr>
          <a:xfrm>
            <a:off x="5925312" y="3678479"/>
            <a:ext cx="164592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it</a:t>
            </a:r>
            <a:endParaRPr lang="en-US" sz="2000" dirty="0" b="1"/>
          </a:p>
        </p:txBody>
      </p:sp>
      <p:sp>
        <p:nvSpPr>
          <p:cNvPr id="46" name="R4 card"/>
          <p:cNvSpPr/>
          <p:nvPr/>
        </p:nvSpPr>
        <p:spPr>
          <a:xfrm>
            <a:off x="1583741" y="4307738"/>
            <a:ext cx="6035040" cy="655015"/>
          </a:xfrm>
          <a:prstGeom prst="round1Rect">
            <a:avLst>
              <a:gd name="adj" fmla="val 23087"/>
            </a:avLst>
          </a:prstGeom>
          <a:solidFill>
            <a:srgbClr val="FFFFFF"/>
          </a:solidFill>
          <a:ln/>
        </p:spPr>
        <p:txBody>
          <a:bodyPr/>
          <a:p/>
        </p:txBody>
      </p:sp>
      <p:sp>
        <p:nvSpPr>
          <p:cNvPr id="47" name="R4 chip"/>
          <p:cNvSpPr/>
          <p:nvPr/>
        </p:nvSpPr>
        <p:spPr>
          <a:xfrm>
            <a:off x="544982" y="4307738"/>
            <a:ext cx="1039673" cy="655015"/>
          </a:xfrm>
          <a:prstGeom prst="rect">
            <a:avLst/>
          </a:prstGeom>
          <a:solidFill>
            <a:srgbClr val="B9D2F7"/>
          </a:solidFill>
          <a:ln/>
        </p:spPr>
        <p:txBody>
          <a:bodyPr/>
          <a:p/>
        </p:txBody>
      </p:sp>
      <p:sp>
        <p:nvSpPr>
          <p:cNvPr id="48" name="R4 num"/>
          <p:cNvSpPr/>
          <p:nvPr/>
        </p:nvSpPr>
        <p:spPr>
          <a:xfrm>
            <a:off x="686714" y="4342638"/>
            <a:ext cx="1109167" cy="585216"/>
          </a:xfrm>
          <a:prstGeom prst="rect">
            <a:avLst/>
          </a:prstGeom>
          <a:noFill/>
          <a:ln/>
        </p:spPr>
        <p:txBody>
          <a:bodyPr wrap="square" rtlCol="0" anchor="ctr"/>
          <a:lstStyle/>
          <a:p>
            <a:pPr algn="ctr" indent="0" marL="0">
              <a:buNone/>
            </a:pPr>
            <a:r>
              <a:rPr lang="en-US" sz="3200" dirty="0" b="1"/>
              <a:t>4</a:t>
            </a:r>
            <a:endParaRPr lang="en-US" sz="3200" dirty="0" b="1"/>
          </a:p>
        </p:txBody>
      </p:sp>
      <p:sp>
        <p:nvSpPr>
          <p:cNvPr id="49" name="R4 text"/>
          <p:cNvSpPr/>
          <p:nvPr/>
        </p:nvSpPr>
        <p:spPr>
          <a:xfrm>
            <a:off x="1810512" y="4307738"/>
            <a:ext cx="4041648" cy="655015"/>
          </a:xfrm>
          <a:prstGeom prst="rect">
            <a:avLst/>
          </a:prstGeom>
          <a:noFill/>
          <a:ln/>
        </p:spPr>
        <p:txBody>
          <a:bodyPr wrap="square" rtlCol="0" anchor="ctr" tIns="0" bIns="0"/>
          <a:lstStyle/>
          <a:p>
            <a:pPr algn="l" indent="0" marL="0">
              <a:buNone/>
            </a:pPr>
            <a:r>
              <a:rPr lang="en-US" sz="1600" dirty="0">
                <a:solidFill>
                  <a:srgbClr val="1B2236"/>
                </a:solidFill>
                <a:latin typeface="Lexend Deca" pitchFamily="34" charset="0"/>
                <a:ea typeface="Lexend Deca" pitchFamily="34" charset="-122"/>
                <a:cs typeface="Lexend Deca" pitchFamily="34" charset="-120"/>
              </a:rPr>
              <a:t>It's cold. Put ____ a sweater.</a:t>
            </a:r>
            <a:endParaRPr lang="en-US" sz="1600" dirty="0"/>
          </a:p>
        </p:txBody>
      </p:sp>
      <p:sp>
        <p:nvSpPr>
          <p:cNvPr id="50" name="R4 ans"/>
          <p:cNvSpPr/>
          <p:nvPr/>
        </p:nvSpPr>
        <p:spPr>
          <a:xfrm>
            <a:off x="5925312" y="4406646"/>
            <a:ext cx="164592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on</a:t>
            </a:r>
            <a:endParaRPr lang="en-US" sz="2000" dirty="0" b="1"/>
          </a:p>
        </p:txBody>
      </p:sp>
      <p:sp>
        <p:nvSpPr>
          <p:cNvPr id="51" name="R5 card"/>
          <p:cNvSpPr/>
          <p:nvPr/>
        </p:nvSpPr>
        <p:spPr>
          <a:xfrm>
            <a:off x="1583741" y="5035906"/>
            <a:ext cx="6035040" cy="655015"/>
          </a:xfrm>
          <a:prstGeom prst="round1Rect">
            <a:avLst>
              <a:gd name="adj" fmla="val 23087"/>
            </a:avLst>
          </a:prstGeom>
          <a:solidFill>
            <a:srgbClr val="FFFFFF"/>
          </a:solidFill>
          <a:ln/>
        </p:spPr>
        <p:txBody>
          <a:bodyPr/>
          <a:p/>
        </p:txBody>
      </p:sp>
      <p:sp>
        <p:nvSpPr>
          <p:cNvPr id="52" name="R5 chip"/>
          <p:cNvSpPr/>
          <p:nvPr/>
        </p:nvSpPr>
        <p:spPr>
          <a:xfrm>
            <a:off x="544982" y="5035906"/>
            <a:ext cx="1039673" cy="655015"/>
          </a:xfrm>
          <a:prstGeom prst="rect">
            <a:avLst/>
          </a:prstGeom>
          <a:solidFill>
            <a:srgbClr val="B9D2F7"/>
          </a:solidFill>
          <a:ln/>
        </p:spPr>
        <p:txBody>
          <a:bodyPr/>
          <a:p/>
        </p:txBody>
      </p:sp>
      <p:sp>
        <p:nvSpPr>
          <p:cNvPr id="53" name="R5 num"/>
          <p:cNvSpPr/>
          <p:nvPr/>
        </p:nvSpPr>
        <p:spPr>
          <a:xfrm>
            <a:off x="686714" y="5070805"/>
            <a:ext cx="1109167" cy="585216"/>
          </a:xfrm>
          <a:prstGeom prst="rect">
            <a:avLst/>
          </a:prstGeom>
          <a:noFill/>
          <a:ln/>
        </p:spPr>
        <p:txBody>
          <a:bodyPr wrap="square" rtlCol="0" anchor="ctr"/>
          <a:lstStyle/>
          <a:p>
            <a:pPr algn="ctr" indent="0" marL="0">
              <a:buNone/>
            </a:pPr>
            <a:r>
              <a:rPr lang="en-US" sz="3200" dirty="0" b="1"/>
              <a:t>5</a:t>
            </a:r>
            <a:endParaRPr lang="en-US" sz="3200" dirty="0" b="1"/>
          </a:p>
        </p:txBody>
      </p:sp>
      <p:sp>
        <p:nvSpPr>
          <p:cNvPr id="54" name="R5 text"/>
          <p:cNvSpPr/>
          <p:nvPr/>
        </p:nvSpPr>
        <p:spPr>
          <a:xfrm>
            <a:off x="1810512" y="5035906"/>
            <a:ext cx="4041648" cy="655015"/>
          </a:xfrm>
          <a:prstGeom prst="rect">
            <a:avLst/>
          </a:prstGeom>
          <a:noFill/>
          <a:ln/>
        </p:spPr>
        <p:txBody>
          <a:bodyPr wrap="square" rtlCol="0" anchor="ctr" tIns="0" bIns="0"/>
          <a:lstStyle/>
          <a:p>
            <a:pPr algn="l" indent="0" marL="0">
              <a:buNone/>
            </a:pPr>
            <a:r>
              <a:rPr lang="en-US" sz="1600" dirty="0">
                <a:solidFill>
                  <a:srgbClr val="1B2236"/>
                </a:solidFill>
                <a:latin typeface="Lexend Deca" pitchFamily="34" charset="0"/>
                <a:ea typeface="Lexend Deca" pitchFamily="34" charset="-122"/>
                <a:cs typeface="Lexend Deca" pitchFamily="34" charset="-120"/>
              </a:rPr>
              <a:t>Make ____ you lock the deadbolt.</a:t>
            </a:r>
            <a:endParaRPr lang="en-US" sz="1600" dirty="0"/>
          </a:p>
        </p:txBody>
      </p:sp>
      <p:sp>
        <p:nvSpPr>
          <p:cNvPr id="55" name="R5 ans"/>
          <p:cNvSpPr/>
          <p:nvPr/>
        </p:nvSpPr>
        <p:spPr>
          <a:xfrm>
            <a:off x="5925312" y="5134813"/>
            <a:ext cx="164592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sure</a:t>
            </a:r>
            <a:endParaRPr lang="en-US" sz="2000" dirty="0" b="1"/>
          </a:p>
        </p:txBody>
      </p:sp>
      <p:sp>
        <p:nvSpPr>
          <p:cNvPr id="56" name="R6 card"/>
          <p:cNvSpPr/>
          <p:nvPr/>
        </p:nvSpPr>
        <p:spPr>
          <a:xfrm>
            <a:off x="1583741" y="5764073"/>
            <a:ext cx="6035040" cy="655015"/>
          </a:xfrm>
          <a:prstGeom prst="round1Rect">
            <a:avLst>
              <a:gd name="adj" fmla="val 23087"/>
            </a:avLst>
          </a:prstGeom>
          <a:solidFill>
            <a:srgbClr val="FFFFFF"/>
          </a:solidFill>
          <a:ln/>
        </p:spPr>
        <p:txBody>
          <a:bodyPr/>
          <a:p/>
        </p:txBody>
      </p:sp>
      <p:sp>
        <p:nvSpPr>
          <p:cNvPr id="57" name="R6 chip"/>
          <p:cNvSpPr/>
          <p:nvPr/>
        </p:nvSpPr>
        <p:spPr>
          <a:xfrm>
            <a:off x="544982" y="5764073"/>
            <a:ext cx="1039673" cy="655015"/>
          </a:xfrm>
          <a:prstGeom prst="rect">
            <a:avLst/>
          </a:prstGeom>
          <a:solidFill>
            <a:srgbClr val="B9D2F7"/>
          </a:solidFill>
          <a:ln/>
        </p:spPr>
        <p:txBody>
          <a:bodyPr/>
          <a:p/>
        </p:txBody>
      </p:sp>
      <p:sp>
        <p:nvSpPr>
          <p:cNvPr id="58" name="R6 num"/>
          <p:cNvSpPr/>
          <p:nvPr/>
        </p:nvSpPr>
        <p:spPr>
          <a:xfrm>
            <a:off x="686714" y="5798972"/>
            <a:ext cx="1109167" cy="585216"/>
          </a:xfrm>
          <a:prstGeom prst="rect">
            <a:avLst/>
          </a:prstGeom>
          <a:noFill/>
          <a:ln/>
        </p:spPr>
        <p:txBody>
          <a:bodyPr wrap="square" rtlCol="0" anchor="ctr"/>
          <a:lstStyle/>
          <a:p>
            <a:pPr algn="ctr" indent="0" marL="0">
              <a:buNone/>
            </a:pPr>
            <a:r>
              <a:rPr lang="en-US" sz="3200" dirty="0" b="1"/>
              <a:t>6</a:t>
            </a:r>
            <a:endParaRPr lang="en-US" sz="3200" dirty="0" b="1"/>
          </a:p>
        </p:txBody>
      </p:sp>
      <p:sp>
        <p:nvSpPr>
          <p:cNvPr id="59" name="R6 text"/>
          <p:cNvSpPr/>
          <p:nvPr/>
        </p:nvSpPr>
        <p:spPr>
          <a:xfrm>
            <a:off x="1810512" y="5764073"/>
            <a:ext cx="4041648" cy="655015"/>
          </a:xfrm>
          <a:prstGeom prst="rect">
            <a:avLst/>
          </a:prstGeom>
          <a:noFill/>
          <a:ln/>
        </p:spPr>
        <p:txBody>
          <a:bodyPr wrap="square" rtlCol="0" anchor="ctr" tIns="0" bIns="0"/>
          <a:lstStyle/>
          <a:p>
            <a:pPr algn="l" indent="0" marL="0">
              <a:buNone/>
            </a:pPr>
            <a:r>
              <a:rPr lang="en-US" sz="1600" dirty="0">
                <a:solidFill>
                  <a:srgbClr val="1B2236"/>
                </a:solidFill>
                <a:latin typeface="Lexend Deca" pitchFamily="34" charset="0"/>
                <a:ea typeface="Lexend Deca" pitchFamily="34" charset="-122"/>
                <a:cs typeface="Lexend Deca" pitchFamily="34" charset="-120"/>
              </a:rPr>
              <a:t>Don't ____ to unplug the charger.</a:t>
            </a:r>
            <a:endParaRPr lang="en-US" sz="1600" dirty="0"/>
          </a:p>
        </p:txBody>
      </p:sp>
      <p:sp>
        <p:nvSpPr>
          <p:cNvPr id="60" name="R6 ans"/>
          <p:cNvSpPr/>
          <p:nvPr/>
        </p:nvSpPr>
        <p:spPr>
          <a:xfrm>
            <a:off x="5925312" y="5862980"/>
            <a:ext cx="164592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forget</a:t>
            </a:r>
            <a:endParaRPr lang="en-US" sz="20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5"/>
                                        </p:tgtEl>
                                        <p:attrNameLst>
                                          <p:attrName>style.visibility</p:attrName>
                                        </p:attrNameLst>
                                      </p:cBhvr>
                                      <p:to>
                                        <p:strVal val="visible"/>
                                      </p:to>
                                    </p:set>
                                    <p:animEffect transition="in" filter="fade">
                                      <p:cBhvr>
                                        <p:cTn id="7" dur="400"/>
                                        <p:tgtEl>
                                          <p:spTgt spid="3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0"/>
                                        </p:tgtEl>
                                        <p:attrNameLst>
                                          <p:attrName>style.visibility</p:attrName>
                                        </p:attrNameLst>
                                      </p:cBhvr>
                                      <p:to>
                                        <p:strVal val="visible"/>
                                      </p:to>
                                    </p:set>
                                    <p:animEffect transition="in" filter="fade">
                                      <p:cBhvr>
                                        <p:cTn id="12" dur="400"/>
                                        <p:tgtEl>
                                          <p:spTgt spid="4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45"/>
                                        </p:tgtEl>
                                        <p:attrNameLst>
                                          <p:attrName>style.visibility</p:attrName>
                                        </p:attrNameLst>
                                      </p:cBhvr>
                                      <p:to>
                                        <p:strVal val="visible"/>
                                      </p:to>
                                    </p:set>
                                    <p:animEffect transition="in" filter="fade">
                                      <p:cBhvr>
                                        <p:cTn id="17" dur="400"/>
                                        <p:tgtEl>
                                          <p:spTgt spid="4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50"/>
                                        </p:tgtEl>
                                        <p:attrNameLst>
                                          <p:attrName>style.visibility</p:attrName>
                                        </p:attrNameLst>
                                      </p:cBhvr>
                                      <p:to>
                                        <p:strVal val="visible"/>
                                      </p:to>
                                    </p:set>
                                    <p:animEffect transition="in" filter="fade">
                                      <p:cBhvr>
                                        <p:cTn id="22" dur="400"/>
                                        <p:tgtEl>
                                          <p:spTgt spid="5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55"/>
                                        </p:tgtEl>
                                        <p:attrNameLst>
                                          <p:attrName>style.visibility</p:attrName>
                                        </p:attrNameLst>
                                      </p:cBhvr>
                                      <p:to>
                                        <p:strVal val="visible"/>
                                      </p:to>
                                    </p:set>
                                    <p:animEffect transition="in" filter="fade">
                                      <p:cBhvr>
                                        <p:cTn id="27" dur="400"/>
                                        <p:tgtEl>
                                          <p:spTgt spid="5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60"/>
                                        </p:tgtEl>
                                        <p:attrNameLst>
                                          <p:attrName>style.visibility</p:attrName>
                                        </p:attrNameLst>
                                      </p:cBhvr>
                                      <p:to>
                                        <p:strVal val="visible"/>
                                      </p:to>
                                    </p:set>
                                    <p:animEffect transition="in" filter="fade">
                                      <p:cBhvr>
                                        <p:cTn id="32" dur="400"/>
                                        <p:tgtEl>
                                          <p:spTgt spid="6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p="http://schemas.openxmlformats.org/presentationml/2006/main" xmlns:r="http://schemas.openxmlformats.org/officeDocument/2006/relationships">
  <p:cSld name="L4:choice">
    <p:bg>
      <p:bgPr>
        <a:solidFill>
          <a:srgbClr val="F1F5FB"/>
        </a:solidFill>
      </p:bgPr>
    </p:bg>
    <p:spTree>
      <p:nvGrpSpPr>
        <p:cNvPr id="1" name=""/>
        <p:cNvGrpSpPr/>
        <p:nvPr/>
      </p:nvGrpSpPr>
      <p:grpSpPr/>
      <p:sp>
        <p:nvSpPr>
          <p:cNvPr id="2" name="Shape 0"/>
          <p:cNvSpPr/>
          <p:nvPr/>
        </p:nvSpPr>
        <p:spPr>
          <a:xfrm>
            <a:off x="164592" y="2980944"/>
            <a:ext cx="11582705" cy="3623767"/>
          </a:xfrm>
          <a:prstGeom prst="round1Rect">
            <a:avLst>
              <a:gd name="adj" fmla="val 23087"/>
            </a:avLst>
          </a:prstGeom>
          <a:solidFill>
            <a:srgbClr val="8FAFE3"/>
          </a:solidFill>
          <a:ln/>
        </p:spPr>
        <p:txBody>
          <a:bodyPr/>
          <a:p/>
        </p:txBody>
      </p:sp>
      <p:sp>
        <p:nvSpPr>
          <p:cNvPr id="3" name="Shape 1"/>
          <p:cNvSpPr/>
          <p:nvPr/>
        </p:nvSpPr>
        <p:spPr>
          <a:xfrm>
            <a:off x="233172" y="1137194"/>
            <a:ext cx="5607101" cy="1375258"/>
          </a:xfrm>
          <a:prstGeom prst="roundRect">
            <a:avLst>
              <a:gd name="adj" fmla="val 16667"/>
            </a:avLst>
          </a:prstGeom>
          <a:solidFill>
            <a:srgbClr val="8FAFE3"/>
          </a:solidFill>
          <a:ln/>
        </p:spPr>
        <p:txBody>
          <a:bodyPr/>
          <a:p/>
        </p:txBody>
      </p:sp>
      <p:sp>
        <p:nvSpPr>
          <p:cNvPr id="4" name="Shape 2"/>
          <p:cNvSpPr/>
          <p:nvPr/>
        </p:nvSpPr>
        <p:spPr>
          <a:xfrm>
            <a:off x="266090" y="1080821"/>
            <a:ext cx="5607101" cy="1375258"/>
          </a:xfrm>
          <a:prstGeom prst="roundRect">
            <a:avLst>
              <a:gd name="adj" fmla="val 16667"/>
            </a:avLst>
          </a:prstGeom>
          <a:solidFill>
            <a:srgbClr val="FFFFFF"/>
          </a:solidFill>
          <a:ln/>
        </p:spPr>
        <p:txBody>
          <a:bodyPr/>
          <a:p/>
        </p:txBody>
      </p:sp>
      <p:sp>
        <p:nvSpPr>
          <p:cNvPr id="5" name="Shape 3"/>
          <p:cNvSpPr/>
          <p:nvPr/>
        </p:nvSpPr>
        <p:spPr>
          <a:xfrm>
            <a:off x="0" y="2856586"/>
            <a:ext cx="11582705" cy="3623767"/>
          </a:xfrm>
          <a:prstGeom prst="round1Rect">
            <a:avLst>
              <a:gd name="adj" fmla="val 23087"/>
            </a:avLst>
          </a:prstGeom>
          <a:solidFill>
            <a:srgbClr val="B9D2F7"/>
          </a:solidFill>
          <a:ln/>
        </p:spPr>
        <p:txBody>
          <a:bodyPr/>
          <a:p/>
        </p:txBody>
      </p:sp>
      <p:sp>
        <p:nvSpPr>
          <p:cNvPr id="6" name="title"/>
          <p:cNvSpPr/>
          <p:nvPr/>
        </p:nvSpPr>
        <p:spPr>
          <a:xfrm>
            <a:off x="416052" y="1452067"/>
            <a:ext cx="5680253" cy="947318"/>
          </a:xfrm>
          <a:prstGeom prst="rect">
            <a:avLst/>
          </a:prstGeom>
          <a:noFill/>
          <a:ln/>
        </p:spPr>
        <p:txBody>
          <a:bodyPr wrap="square" lIns="50800" tIns="50800" rIns="50800" bIns="50800" rtlCol="0" anchor="ctr"/>
          <a:lstStyle/>
          <a:p>
            <a:pPr algn="l" indent="0" marL="0">
              <a:buNone/>
            </a:pPr>
            <a:r>
              <a:rPr lang="en-US" sz="4800" dirty="0" b="1">
                <a:solidFill>
                  <a:srgbClr val="1B2236"/>
                </a:solidFill>
                <a:latin typeface="Lexend Deca" pitchFamily="34" charset="0"/>
                <a:ea typeface="Lexend Deca" pitchFamily="34" charset="-122"/>
                <a:cs typeface="Lexend Deca" pitchFamily="34" charset="-120"/>
              </a:rPr>
              <a:t>Practice B</a:t>
            </a:r>
            <a:endParaRPr lang="en-US" sz="4800" dirty="0" b="1"/>
          </a:p>
        </p:txBody>
      </p:sp>
      <p:sp>
        <p:nvSpPr>
          <p:cNvPr id="7" name="instr"/>
          <p:cNvSpPr/>
          <p:nvPr/>
        </p:nvSpPr>
        <p:spPr>
          <a:xfrm>
            <a:off x="6745529" y="1234440"/>
            <a:ext cx="4754880" cy="1188720"/>
          </a:xfrm>
          <a:prstGeom prst="rect">
            <a:avLst/>
          </a:prstGeom>
          <a:noFill/>
          <a:ln/>
        </p:spPr>
        <p:txBody>
          <a:bodyPr wrap="square" rtlCol="0" anchor="ctr"/>
          <a:lstStyle/>
          <a:p>
            <a:pPr algn="l" indent="0" marL="0">
              <a:spcAft>
                <a:spcPts val="400"/>
              </a:spcAft>
              <a:buNone/>
            </a:pPr>
            <a:r>
              <a:rPr lang="en-US" sz="2000" dirty="0">
                <a:solidFill>
                  <a:srgbClr val="1B2236"/>
                </a:solidFill>
                <a:latin typeface="Lexend Deca" pitchFamily="34" charset="0"/>
                <a:ea typeface="Lexend Deca" pitchFamily="34" charset="-122"/>
                <a:cs typeface="Lexend Deca" pitchFamily="34" charset="-120"/>
              </a:rPr>
              <a:t>Circle the correct words.</a:t>
            </a:r>
            <a:endParaRPr lang="en-US" sz="2000" dirty="0"/>
          </a:p>
        </p:txBody>
      </p:sp>
      <p:sp>
        <p:nvSpPr>
          <p:cNvPr id="8" name="R1 stmt"/>
          <p:cNvSpPr/>
          <p:nvPr/>
        </p:nvSpPr>
        <p:spPr>
          <a:xfrm>
            <a:off x="502920" y="3108960"/>
            <a:ext cx="6080760" cy="475488"/>
          </a:xfrm>
          <a:prstGeom prst="rect">
            <a:avLst/>
          </a:prstGeom>
          <a:noFill/>
          <a:ln w="38100">
            <a:noFill/>
          </a:ln>
        </p:spPr>
        <p:txBody>
          <a:bodyPr wrap="square" lIns="73152" tIns="36576" rIns="73152" bIns="36576" rtlCol="0" anchor="ctr">
            <a:noAutofit/>
          </a:bodyPr>
          <a:lstStyle/>
          <a:p>
            <a:pPr algn="l" indent="0" marL="0">
              <a:buNone/>
            </a:pPr>
            <a:r>
              <a:rPr lang="en-US" sz="1600" dirty="0"/>
              <a:t>1. Turn ____, please.</a:t>
            </a:r>
            <a:endParaRPr lang="en-US" sz="1600" dirty="0"/>
          </a:p>
        </p:txBody>
      </p:sp>
      <p:sp>
        <p:nvSpPr>
          <p:cNvPr id="9" name="R1 opt1"/>
          <p:cNvSpPr/>
          <p:nvPr/>
        </p:nvSpPr>
        <p:spPr>
          <a:xfrm>
            <a:off x="6766560" y="3108960"/>
            <a:ext cx="201168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500" dirty="0" b="1">
                <a:solidFill>
                  <a:srgbClr val="1B2236"/>
                </a:solidFill>
                <a:latin typeface="Lexend Deca" pitchFamily="34" charset="0"/>
                <a:ea typeface="Lexend Deca" pitchFamily="34" charset="-122"/>
                <a:cs typeface="Lexend Deca" pitchFamily="34" charset="-120"/>
              </a:rPr>
              <a:t>it off</a:t>
            </a:r>
            <a:endParaRPr lang="en-US" sz="1500" dirty="0" b="1"/>
          </a:p>
        </p:txBody>
      </p:sp>
      <p:sp>
        <p:nvSpPr>
          <p:cNvPr id="10" name="R1 opt2"/>
          <p:cNvSpPr/>
          <p:nvPr/>
        </p:nvSpPr>
        <p:spPr>
          <a:xfrm>
            <a:off x="8961120" y="3108960"/>
            <a:ext cx="201168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500" dirty="0" b="1">
                <a:solidFill>
                  <a:srgbClr val="1B2236"/>
                </a:solidFill>
                <a:latin typeface="Lexend Deca" pitchFamily="34" charset="0"/>
                <a:ea typeface="Lexend Deca" pitchFamily="34" charset="-122"/>
                <a:cs typeface="Lexend Deca" pitchFamily="34" charset="-120"/>
              </a:rPr>
              <a:t>off it</a:t>
            </a:r>
            <a:endParaRPr lang="en-US" sz="1500" dirty="0" b="1"/>
          </a:p>
        </p:txBody>
      </p:sp>
      <p:sp>
        <p:nvSpPr>
          <p:cNvPr id="11" name="R1 circle"/>
          <p:cNvSpPr/>
          <p:nvPr/>
        </p:nvSpPr>
        <p:spPr>
          <a:xfrm>
            <a:off x="6638544" y="3054096"/>
            <a:ext cx="2267712" cy="585216"/>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12" name="R2 stmt"/>
          <p:cNvSpPr/>
          <p:nvPr/>
        </p:nvSpPr>
        <p:spPr>
          <a:xfrm>
            <a:off x="502920" y="3657600"/>
            <a:ext cx="6080760" cy="475488"/>
          </a:xfrm>
          <a:prstGeom prst="rect">
            <a:avLst/>
          </a:prstGeom>
          <a:noFill/>
          <a:ln w="38100">
            <a:noFill/>
          </a:ln>
        </p:spPr>
        <p:txBody>
          <a:bodyPr wrap="square" lIns="73152" tIns="36576" rIns="73152" bIns="36576" rtlCol="0" anchor="ctr">
            <a:noAutofit/>
          </a:bodyPr>
          <a:lstStyle/>
          <a:p>
            <a:pPr algn="l" indent="0" marL="0">
              <a:buNone/>
            </a:pPr>
            <a:r>
              <a:rPr lang="en-US" sz="1600" dirty="0"/>
              <a:t>2. Can you ____ the old milk?</a:t>
            </a:r>
            <a:endParaRPr lang="en-US" sz="1600" dirty="0"/>
          </a:p>
        </p:txBody>
      </p:sp>
      <p:sp>
        <p:nvSpPr>
          <p:cNvPr id="13" name="R2 opt1"/>
          <p:cNvSpPr/>
          <p:nvPr/>
        </p:nvSpPr>
        <p:spPr>
          <a:xfrm>
            <a:off x="6766560" y="3657600"/>
            <a:ext cx="201168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500" dirty="0" b="1">
                <a:solidFill>
                  <a:srgbClr val="1B2236"/>
                </a:solidFill>
                <a:latin typeface="Lexend Deca" pitchFamily="34" charset="0"/>
                <a:ea typeface="Lexend Deca" pitchFamily="34" charset="-122"/>
                <a:cs typeface="Lexend Deca" pitchFamily="34" charset="-120"/>
              </a:rPr>
              <a:t>throw away</a:t>
            </a:r>
            <a:endParaRPr lang="en-US" sz="1500" dirty="0" b="1"/>
          </a:p>
        </p:txBody>
      </p:sp>
      <p:sp>
        <p:nvSpPr>
          <p:cNvPr id="14" name="R2 opt2"/>
          <p:cNvSpPr/>
          <p:nvPr/>
        </p:nvSpPr>
        <p:spPr>
          <a:xfrm>
            <a:off x="8961120" y="3657600"/>
            <a:ext cx="201168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500" dirty="0" b="1">
                <a:solidFill>
                  <a:srgbClr val="1B2236"/>
                </a:solidFill>
                <a:latin typeface="Lexend Deca" pitchFamily="34" charset="0"/>
                <a:ea typeface="Lexend Deca" pitchFamily="34" charset="-122"/>
                <a:cs typeface="Lexend Deca" pitchFamily="34" charset="-120"/>
              </a:rPr>
              <a:t>throw on</a:t>
            </a:r>
            <a:endParaRPr lang="en-US" sz="1500" dirty="0" b="1"/>
          </a:p>
        </p:txBody>
      </p:sp>
      <p:sp>
        <p:nvSpPr>
          <p:cNvPr id="15" name="R2 circle"/>
          <p:cNvSpPr/>
          <p:nvPr/>
        </p:nvSpPr>
        <p:spPr>
          <a:xfrm>
            <a:off x="6638544" y="3602736"/>
            <a:ext cx="2267712" cy="585216"/>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16" name="R3 stmt"/>
          <p:cNvSpPr/>
          <p:nvPr/>
        </p:nvSpPr>
        <p:spPr>
          <a:xfrm>
            <a:off x="502920" y="4206240"/>
            <a:ext cx="6080760" cy="475488"/>
          </a:xfrm>
          <a:prstGeom prst="rect">
            <a:avLst/>
          </a:prstGeom>
          <a:noFill/>
          <a:ln w="38100">
            <a:noFill/>
          </a:ln>
        </p:spPr>
        <p:txBody>
          <a:bodyPr wrap="square" lIns="73152" tIns="36576" rIns="73152" bIns="36576" rtlCol="0" anchor="ctr">
            <a:noAutofit/>
          </a:bodyPr>
          <a:lstStyle/>
          <a:p>
            <a:pPr algn="l" indent="0" marL="0">
              <a:buNone/>
            </a:pPr>
            <a:r>
              <a:rPr lang="en-US" sz="1600" dirty="0"/>
              <a:t>3. It's late. Please turn ____ the music.</a:t>
            </a:r>
            <a:endParaRPr lang="en-US" sz="1600" dirty="0"/>
          </a:p>
        </p:txBody>
      </p:sp>
      <p:sp>
        <p:nvSpPr>
          <p:cNvPr id="17" name="R3 opt1"/>
          <p:cNvSpPr/>
          <p:nvPr/>
        </p:nvSpPr>
        <p:spPr>
          <a:xfrm>
            <a:off x="6766560" y="4206240"/>
            <a:ext cx="201168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500" dirty="0" b="1">
                <a:solidFill>
                  <a:srgbClr val="1B2236"/>
                </a:solidFill>
                <a:latin typeface="Lexend Deca" pitchFamily="34" charset="0"/>
                <a:ea typeface="Lexend Deca" pitchFamily="34" charset="-122"/>
                <a:cs typeface="Lexend Deca" pitchFamily="34" charset="-120"/>
              </a:rPr>
              <a:t>down</a:t>
            </a:r>
            <a:endParaRPr lang="en-US" sz="1500" dirty="0" b="1"/>
          </a:p>
        </p:txBody>
      </p:sp>
      <p:sp>
        <p:nvSpPr>
          <p:cNvPr id="18" name="R3 opt2"/>
          <p:cNvSpPr/>
          <p:nvPr/>
        </p:nvSpPr>
        <p:spPr>
          <a:xfrm>
            <a:off x="8961120" y="4206240"/>
            <a:ext cx="201168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500" dirty="0" b="1">
                <a:solidFill>
                  <a:srgbClr val="1B2236"/>
                </a:solidFill>
                <a:latin typeface="Lexend Deca" pitchFamily="34" charset="0"/>
                <a:ea typeface="Lexend Deca" pitchFamily="34" charset="-122"/>
                <a:cs typeface="Lexend Deca" pitchFamily="34" charset="-120"/>
              </a:rPr>
              <a:t>up</a:t>
            </a:r>
            <a:endParaRPr lang="en-US" sz="1500" dirty="0" b="1"/>
          </a:p>
        </p:txBody>
      </p:sp>
      <p:sp>
        <p:nvSpPr>
          <p:cNvPr id="19" name="R3 circle"/>
          <p:cNvSpPr/>
          <p:nvPr/>
        </p:nvSpPr>
        <p:spPr>
          <a:xfrm>
            <a:off x="6638544" y="4151376"/>
            <a:ext cx="2267712" cy="585216"/>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0" name="R4 stmt"/>
          <p:cNvSpPr/>
          <p:nvPr/>
        </p:nvSpPr>
        <p:spPr>
          <a:xfrm>
            <a:off x="502920" y="4754880"/>
            <a:ext cx="6080760" cy="475488"/>
          </a:xfrm>
          <a:prstGeom prst="rect">
            <a:avLst/>
          </a:prstGeom>
          <a:noFill/>
          <a:ln w="38100">
            <a:noFill/>
          </a:ln>
        </p:spPr>
        <p:txBody>
          <a:bodyPr wrap="square" lIns="73152" tIns="36576" rIns="73152" bIns="36576" rtlCol="0" anchor="ctr">
            <a:noAutofit/>
          </a:bodyPr>
          <a:lstStyle/>
          <a:p>
            <a:pPr algn="l" indent="0" marL="0">
              <a:buNone/>
            </a:pPr>
            <a:r>
              <a:rPr lang="en-US" sz="1600" dirty="0"/>
              <a:t>4. I ____ yesterday.</a:t>
            </a:r>
            <a:endParaRPr lang="en-US" sz="1600" dirty="0"/>
          </a:p>
        </p:txBody>
      </p:sp>
      <p:sp>
        <p:nvSpPr>
          <p:cNvPr id="21" name="R4 opt1"/>
          <p:cNvSpPr/>
          <p:nvPr/>
        </p:nvSpPr>
        <p:spPr>
          <a:xfrm>
            <a:off x="6766560" y="4754880"/>
            <a:ext cx="201168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500" dirty="0" b="1">
                <a:solidFill>
                  <a:srgbClr val="1B2236"/>
                </a:solidFill>
                <a:latin typeface="Lexend Deca" pitchFamily="34" charset="0"/>
                <a:ea typeface="Lexend Deca" pitchFamily="34" charset="-122"/>
                <a:cs typeface="Lexend Deca" pitchFamily="34" charset="-120"/>
              </a:rPr>
              <a:t>put them away</a:t>
            </a:r>
            <a:endParaRPr lang="en-US" sz="1500" dirty="0" b="1"/>
          </a:p>
        </p:txBody>
      </p:sp>
      <p:sp>
        <p:nvSpPr>
          <p:cNvPr id="22" name="R4 opt2"/>
          <p:cNvSpPr/>
          <p:nvPr/>
        </p:nvSpPr>
        <p:spPr>
          <a:xfrm>
            <a:off x="8961120" y="4754880"/>
            <a:ext cx="201168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500" dirty="0" b="1">
                <a:solidFill>
                  <a:srgbClr val="1B2236"/>
                </a:solidFill>
                <a:latin typeface="Lexend Deca" pitchFamily="34" charset="0"/>
                <a:ea typeface="Lexend Deca" pitchFamily="34" charset="-122"/>
                <a:cs typeface="Lexend Deca" pitchFamily="34" charset="-120"/>
              </a:rPr>
              <a:t>put away them</a:t>
            </a:r>
            <a:endParaRPr lang="en-US" sz="1500" dirty="0" b="1"/>
          </a:p>
        </p:txBody>
      </p:sp>
      <p:sp>
        <p:nvSpPr>
          <p:cNvPr id="23" name="R4 circle"/>
          <p:cNvSpPr/>
          <p:nvPr/>
        </p:nvSpPr>
        <p:spPr>
          <a:xfrm>
            <a:off x="6638544" y="4700016"/>
            <a:ext cx="2267712" cy="585216"/>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4" name="R5 stmt"/>
          <p:cNvSpPr/>
          <p:nvPr/>
        </p:nvSpPr>
        <p:spPr>
          <a:xfrm>
            <a:off x="502920" y="5303520"/>
            <a:ext cx="6080760" cy="475488"/>
          </a:xfrm>
          <a:prstGeom prst="rect">
            <a:avLst/>
          </a:prstGeom>
          <a:noFill/>
          <a:ln w="38100">
            <a:noFill/>
          </a:ln>
        </p:spPr>
        <p:txBody>
          <a:bodyPr wrap="square" lIns="73152" tIns="36576" rIns="73152" bIns="36576" rtlCol="0" anchor="ctr">
            <a:noAutofit/>
          </a:bodyPr>
          <a:lstStyle/>
          <a:p>
            <a:pPr algn="l" indent="0" marL="0">
              <a:buNone/>
            </a:pPr>
            <a:r>
              <a:rPr lang="en-US" sz="1600" dirty="0"/>
              <a:t>5. Don't forget ____ the door.</a:t>
            </a:r>
            <a:endParaRPr lang="en-US" sz="1600" dirty="0"/>
          </a:p>
        </p:txBody>
      </p:sp>
      <p:sp>
        <p:nvSpPr>
          <p:cNvPr id="25" name="R5 opt1"/>
          <p:cNvSpPr/>
          <p:nvPr/>
        </p:nvSpPr>
        <p:spPr>
          <a:xfrm>
            <a:off x="6766560" y="5303520"/>
            <a:ext cx="201168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500" dirty="0" b="1">
                <a:solidFill>
                  <a:srgbClr val="1B2236"/>
                </a:solidFill>
                <a:latin typeface="Lexend Deca" pitchFamily="34" charset="0"/>
                <a:ea typeface="Lexend Deca" pitchFamily="34" charset="-122"/>
                <a:cs typeface="Lexend Deca" pitchFamily="34" charset="-120"/>
              </a:rPr>
              <a:t>to lock</a:t>
            </a:r>
            <a:endParaRPr lang="en-US" sz="1500" dirty="0" b="1"/>
          </a:p>
        </p:txBody>
      </p:sp>
      <p:sp>
        <p:nvSpPr>
          <p:cNvPr id="26" name="R5 opt2"/>
          <p:cNvSpPr/>
          <p:nvPr/>
        </p:nvSpPr>
        <p:spPr>
          <a:xfrm>
            <a:off x="8961120" y="5303520"/>
            <a:ext cx="201168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500" dirty="0" b="1">
                <a:solidFill>
                  <a:srgbClr val="1B2236"/>
                </a:solidFill>
                <a:latin typeface="Lexend Deca" pitchFamily="34" charset="0"/>
                <a:ea typeface="Lexend Deca" pitchFamily="34" charset="-122"/>
                <a:cs typeface="Lexend Deca" pitchFamily="34" charset="-120"/>
              </a:rPr>
              <a:t>lock</a:t>
            </a:r>
            <a:endParaRPr lang="en-US" sz="1500" dirty="0" b="1"/>
          </a:p>
        </p:txBody>
      </p:sp>
      <p:sp>
        <p:nvSpPr>
          <p:cNvPr id="27" name="R5 circle"/>
          <p:cNvSpPr/>
          <p:nvPr/>
        </p:nvSpPr>
        <p:spPr>
          <a:xfrm>
            <a:off x="6638544" y="5248656"/>
            <a:ext cx="2267712" cy="585216"/>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8" name="R6 stmt"/>
          <p:cNvSpPr/>
          <p:nvPr/>
        </p:nvSpPr>
        <p:spPr>
          <a:xfrm>
            <a:off x="502920" y="5852160"/>
            <a:ext cx="6080760" cy="475488"/>
          </a:xfrm>
          <a:prstGeom prst="rect">
            <a:avLst/>
          </a:prstGeom>
          <a:noFill/>
          <a:ln w="38100">
            <a:noFill/>
          </a:ln>
        </p:spPr>
        <p:txBody>
          <a:bodyPr wrap="square" lIns="73152" tIns="36576" rIns="73152" bIns="36576" rtlCol="0" anchor="ctr">
            <a:noAutofit/>
          </a:bodyPr>
          <a:lstStyle/>
          <a:p>
            <a:pPr algn="l" indent="0" marL="0">
              <a:buNone/>
            </a:pPr>
            <a:r>
              <a:rPr lang="en-US" sz="1600" dirty="0"/>
              <a:t>6. We use too ____ water.</a:t>
            </a:r>
            <a:endParaRPr lang="en-US" sz="1600" dirty="0"/>
          </a:p>
        </p:txBody>
      </p:sp>
      <p:sp>
        <p:nvSpPr>
          <p:cNvPr id="29" name="R6 opt1"/>
          <p:cNvSpPr/>
          <p:nvPr/>
        </p:nvSpPr>
        <p:spPr>
          <a:xfrm>
            <a:off x="6766560" y="5852160"/>
            <a:ext cx="201168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500" dirty="0" b="1">
                <a:solidFill>
                  <a:srgbClr val="1B2236"/>
                </a:solidFill>
                <a:latin typeface="Lexend Deca" pitchFamily="34" charset="0"/>
                <a:ea typeface="Lexend Deca" pitchFamily="34" charset="-122"/>
                <a:cs typeface="Lexend Deca" pitchFamily="34" charset="-120"/>
              </a:rPr>
              <a:t>much</a:t>
            </a:r>
            <a:endParaRPr lang="en-US" sz="1500" dirty="0" b="1"/>
          </a:p>
        </p:txBody>
      </p:sp>
      <p:sp>
        <p:nvSpPr>
          <p:cNvPr id="30" name="R6 opt2"/>
          <p:cNvSpPr/>
          <p:nvPr/>
        </p:nvSpPr>
        <p:spPr>
          <a:xfrm>
            <a:off x="8961120" y="5852160"/>
            <a:ext cx="201168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500" dirty="0" b="1">
                <a:solidFill>
                  <a:srgbClr val="1B2236"/>
                </a:solidFill>
                <a:latin typeface="Lexend Deca" pitchFamily="34" charset="0"/>
                <a:ea typeface="Lexend Deca" pitchFamily="34" charset="-122"/>
                <a:cs typeface="Lexend Deca" pitchFamily="34" charset="-120"/>
              </a:rPr>
              <a:t>many</a:t>
            </a:r>
            <a:endParaRPr lang="en-US" sz="1500" dirty="0" b="1"/>
          </a:p>
        </p:txBody>
      </p:sp>
      <p:sp>
        <p:nvSpPr>
          <p:cNvPr id="31" name="R6 circle"/>
          <p:cNvSpPr/>
          <p:nvPr/>
        </p:nvSpPr>
        <p:spPr>
          <a:xfrm>
            <a:off x="6638544" y="5797296"/>
            <a:ext cx="2267712" cy="585216"/>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00"/>
                                        <p:tgtEl>
                                          <p:spTgt spid="1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5"/>
                                        </p:tgtEl>
                                        <p:attrNameLst>
                                          <p:attrName>style.visibility</p:attrName>
                                        </p:attrNameLst>
                                      </p:cBhvr>
                                      <p:to>
                                        <p:strVal val="visible"/>
                                      </p:to>
                                    </p:set>
                                    <p:animEffect transition="in" filter="fade">
                                      <p:cBhvr>
                                        <p:cTn id="12" dur="400"/>
                                        <p:tgtEl>
                                          <p:spTgt spid="1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9"/>
                                        </p:tgtEl>
                                        <p:attrNameLst>
                                          <p:attrName>style.visibility</p:attrName>
                                        </p:attrNameLst>
                                      </p:cBhvr>
                                      <p:to>
                                        <p:strVal val="visible"/>
                                      </p:to>
                                    </p:set>
                                    <p:animEffect transition="in" filter="fade">
                                      <p:cBhvr>
                                        <p:cTn id="17" dur="400"/>
                                        <p:tgtEl>
                                          <p:spTgt spid="1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3"/>
                                        </p:tgtEl>
                                        <p:attrNameLst>
                                          <p:attrName>style.visibility</p:attrName>
                                        </p:attrNameLst>
                                      </p:cBhvr>
                                      <p:to>
                                        <p:strVal val="visible"/>
                                      </p:to>
                                    </p:set>
                                    <p:animEffect transition="in" filter="fade">
                                      <p:cBhvr>
                                        <p:cTn id="22" dur="400"/>
                                        <p:tgtEl>
                                          <p:spTgt spid="2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400"/>
                                        <p:tgtEl>
                                          <p:spTgt spid="2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1"/>
                                        </p:tgtEl>
                                        <p:attrNameLst>
                                          <p:attrName>style.visibility</p:attrName>
                                        </p:attrNameLst>
                                      </p:cBhvr>
                                      <p:to>
                                        <p:strVal val="visible"/>
                                      </p:to>
                                    </p:set>
                                    <p:animEffect transition="in" filter="fade">
                                      <p:cBhvr>
                                        <p:cTn id="32"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5.xml><?xml version="1.0" encoding="utf-8"?>
<p:sld xmlns:a="http://schemas.openxmlformats.org/drawingml/2006/main" xmlns:p="http://schemas.openxmlformats.org/presentationml/2006/main" xmlns:r="http://schemas.openxmlformats.org/officeDocument/2006/relationships">
  <p:cSld name="L4:mistakes">
    <p:bg>
      <p:bgPr>
        <a:solidFill>
          <a:srgbClr val="F1F5FB"/>
        </a:solidFill>
      </p:bgPr>
    </p:bg>
    <p:spTree>
      <p:nvGrpSpPr>
        <p:cNvPr id="1" name=""/>
        <p:cNvGrpSpPr/>
        <p:nvPr/>
      </p:nvGrpSpPr>
      <p:grpSpPr/>
      <p:sp>
        <p:nvSpPr>
          <p:cNvPr id="2" name="Shape 0"/>
          <p:cNvSpPr/>
          <p:nvPr/>
        </p:nvSpPr>
        <p:spPr>
          <a:xfrm flipH="1" flipV="1">
            <a:off x="8060436" y="1132027"/>
            <a:ext cx="4274820" cy="5860390"/>
          </a:xfrm>
          <a:prstGeom prst="round1Rect">
            <a:avLst>
              <a:gd name="adj" fmla="val 23087"/>
            </a:avLst>
          </a:prstGeom>
          <a:solidFill>
            <a:srgbClr val="B9D2F7"/>
          </a:solidFill>
          <a:ln w="76200">
            <a:solidFill>
              <a:srgbClr val="FFFFFF"/>
            </a:solidFill>
            <a:prstDash val="solid"/>
          </a:ln>
        </p:spPr>
        <p:txBody>
          <a:bodyPr/>
          <a:p/>
        </p:txBody>
      </p:sp>
      <p:sp>
        <p:nvSpPr>
          <p:cNvPr id="3" name="Shape 1"/>
          <p:cNvSpPr/>
          <p:nvPr/>
        </p:nvSpPr>
        <p:spPr>
          <a:xfrm>
            <a:off x="10442448" y="1188720"/>
            <a:ext cx="1691640" cy="1371600"/>
          </a:xfrm>
          <a:prstGeom prst="rect">
            <a:avLst/>
          </a:prstGeom>
          <a:solidFill>
            <a:srgbClr val="B9D2F7"/>
          </a:solidFill>
          <a:ln/>
        </p:spPr>
        <p:txBody>
          <a:bodyPr/>
          <a:p/>
        </p:txBody>
      </p:sp>
      <p:sp>
        <p:nvSpPr>
          <p:cNvPr id="5" name="Shape 3"/>
          <p:cNvSpPr/>
          <p:nvPr/>
        </p:nvSpPr>
        <p:spPr>
          <a:xfrm flipH="1">
            <a:off x="501091" y="2020824"/>
            <a:ext cx="3543300" cy="4709160"/>
          </a:xfrm>
          <a:prstGeom prst="round1Rect">
            <a:avLst>
              <a:gd name="adj" fmla="val 23087"/>
            </a:avLst>
          </a:prstGeom>
          <a:solidFill>
            <a:srgbClr val="8FAFE3"/>
          </a:solidFill>
          <a:ln/>
        </p:spPr>
        <p:txBody>
          <a:bodyPr/>
          <a:p/>
        </p:txBody>
      </p:sp>
      <p:sp>
        <p:nvSpPr>
          <p:cNvPr id="6" name="Shape 4"/>
          <p:cNvSpPr/>
          <p:nvPr/>
        </p:nvSpPr>
        <p:spPr>
          <a:xfrm flipH="1">
            <a:off x="4388206" y="2020824"/>
            <a:ext cx="5860390" cy="4709160"/>
          </a:xfrm>
          <a:prstGeom prst="round1Rect">
            <a:avLst>
              <a:gd name="adj" fmla="val 23087"/>
            </a:avLst>
          </a:prstGeom>
          <a:solidFill>
            <a:srgbClr val="8FAFE3"/>
          </a:solidFill>
          <a:ln/>
        </p:spPr>
        <p:txBody>
          <a:bodyPr/>
          <a:p/>
        </p:txBody>
      </p:sp>
      <p:sp>
        <p:nvSpPr>
          <p:cNvPr id="7" name="Shape 5"/>
          <p:cNvSpPr/>
          <p:nvPr/>
        </p:nvSpPr>
        <p:spPr>
          <a:xfrm>
            <a:off x="479328" y="457200"/>
            <a:ext cx="7295083" cy="1143000"/>
          </a:xfrm>
          <a:prstGeom prst="roundRect">
            <a:avLst>
              <a:gd name="adj" fmla="val 16667"/>
            </a:avLst>
          </a:prstGeom>
          <a:solidFill>
            <a:srgbClr val="8FAFE3"/>
          </a:solidFill>
          <a:ln/>
        </p:spPr>
        <p:txBody>
          <a:bodyPr/>
          <a:p/>
        </p:txBody>
      </p:sp>
      <p:sp>
        <p:nvSpPr>
          <p:cNvPr id="8" name="Shape 6"/>
          <p:cNvSpPr/>
          <p:nvPr/>
        </p:nvSpPr>
        <p:spPr>
          <a:xfrm>
            <a:off x="522122" y="393192"/>
            <a:ext cx="7295083" cy="1143000"/>
          </a:xfrm>
          <a:prstGeom prst="roundRect">
            <a:avLst>
              <a:gd name="adj" fmla="val 16667"/>
            </a:avLst>
          </a:prstGeom>
          <a:solidFill>
            <a:srgbClr val="FFFFFF"/>
          </a:solidFill>
          <a:ln/>
        </p:spPr>
        <p:txBody>
          <a:bodyPr/>
          <a:p/>
        </p:txBody>
      </p:sp>
      <p:sp>
        <p:nvSpPr>
          <p:cNvPr id="9" name="Shape 7"/>
          <p:cNvSpPr/>
          <p:nvPr/>
        </p:nvSpPr>
        <p:spPr>
          <a:xfrm flipH="1">
            <a:off x="658368" y="1828800"/>
            <a:ext cx="3610966" cy="4709160"/>
          </a:xfrm>
          <a:prstGeom prst="round1Rect">
            <a:avLst>
              <a:gd name="adj" fmla="val 23087"/>
            </a:avLst>
          </a:prstGeom>
          <a:solidFill>
            <a:srgbClr val="FFFFFF"/>
          </a:solidFill>
          <a:ln/>
        </p:spPr>
        <p:txBody>
          <a:bodyPr/>
          <a:p/>
        </p:txBody>
      </p:sp>
      <p:sp>
        <p:nvSpPr>
          <p:cNvPr id="10" name="Shape 8"/>
          <p:cNvSpPr/>
          <p:nvPr/>
        </p:nvSpPr>
        <p:spPr>
          <a:xfrm flipH="1">
            <a:off x="4519879" y="1828800"/>
            <a:ext cx="5860390" cy="4709160"/>
          </a:xfrm>
          <a:prstGeom prst="round1Rect">
            <a:avLst>
              <a:gd name="adj" fmla="val 23087"/>
            </a:avLst>
          </a:prstGeom>
          <a:solidFill>
            <a:srgbClr val="FFFFFF"/>
          </a:solidFill>
          <a:ln/>
        </p:spPr>
        <p:txBody>
          <a:bodyPr/>
          <a:p/>
        </p:txBody>
      </p:sp>
      <p:sp>
        <p:nvSpPr>
          <p:cNvPr id="11" name="title"/>
          <p:cNvSpPr/>
          <p:nvPr/>
        </p:nvSpPr>
        <p:spPr>
          <a:xfrm>
            <a:off x="608076" y="457200"/>
            <a:ext cx="6949440" cy="1005840"/>
          </a:xfrm>
          <a:prstGeom prst="rect">
            <a:avLst/>
          </a:prstGeom>
          <a:noFill/>
          <a:ln/>
        </p:spPr>
        <p:txBody>
          <a:bodyPr wrap="square" rtlCol="0" anchor="ctr"/>
          <a:lstStyle/>
          <a:p>
            <a:pPr algn="l" indent="0" marL="0">
              <a:buNone/>
            </a:pPr>
            <a:r>
              <a:rPr lang="en-US" sz="4300" dirty="0" b="1">
                <a:solidFill>
                  <a:srgbClr val="1B2236"/>
                </a:solidFill>
                <a:latin typeface="Lexend Deca" pitchFamily="34" charset="0"/>
                <a:ea typeface="Lexend Deca" pitchFamily="34" charset="-122"/>
                <a:cs typeface="Lexend Deca" pitchFamily="34" charset="-120"/>
              </a:rPr>
              <a:t>Common Mistakes</a:t>
            </a:r>
            <a:endParaRPr lang="en-US" sz="4300" dirty="0" b="1"/>
          </a:p>
        </p:txBody>
      </p:sp>
      <p:pic>
        <p:nvPicPr>
          <p:cNvPr id="21" name="pic" descr="Fire extinguisher: a fire extinguisher"/>
          <p:cNvPicPr>
            <a:picLocks noChangeAspect="1"/>
          </p:cNvPicPr>
          <p:nvPr/>
        </p:nvPicPr>
        <p:blipFill>
          <a:blip r:embed="rId3"/>
          <a:stretch>
            <a:fillRect/>
          </a:stretch>
        </p:blipFill>
        <p:spPr>
          <a:xfrm>
            <a:off x="10515600" y="1325880"/>
            <a:ext cx="1554480" cy="1088136"/>
          </a:xfrm>
          <a:prstGeom prst="rect">
            <a:avLst/>
          </a:prstGeom>
        </p:spPr>
      </p:pic>
      <p:sp>
        <p:nvSpPr>
          <p:cNvPr id="22" name="Dont head"/>
          <p:cNvSpPr/>
          <p:nvPr/>
        </p:nvSpPr>
        <p:spPr>
          <a:xfrm>
            <a:off x="914400" y="1938528"/>
            <a:ext cx="3108960" cy="502920"/>
          </a:xfrm>
          <a:prstGeom prst="rect">
            <a:avLst/>
          </a:prstGeom>
          <a:noFill/>
          <a:ln w="38100">
            <a:noFill/>
          </a:ln>
        </p:spPr>
        <p:txBody>
          <a:bodyPr wrap="square" lIns="73152" tIns="36576" rIns="73152" bIns="36576" rtlCol="0" anchor="ctr">
            <a:noAutofit/>
          </a:bodyPr>
          <a:lstStyle/>
          <a:p>
            <a:pPr algn="l" indent="0" marL="0">
              <a:buNone/>
            </a:pPr>
            <a:r>
              <a:rPr lang="en-US" sz="2200" dirty="0" b="1">
                <a:solidFill>
                  <a:srgbClr val="B42318"/>
                </a:solidFill>
                <a:latin typeface="Lexend Deca" pitchFamily="34" charset="0"/>
                <a:ea typeface="Lexend Deca" pitchFamily="34" charset="-122"/>
                <a:cs typeface="Lexend Deca" pitchFamily="34" charset="-120"/>
              </a:rPr>
              <a:t>Don't say</a:t>
            </a:r>
            <a:endParaRPr lang="en-US" sz="2200" dirty="0"/>
          </a:p>
        </p:txBody>
      </p:sp>
      <p:sp>
        <p:nvSpPr>
          <p:cNvPr id="23" name="Say head"/>
          <p:cNvSpPr/>
          <p:nvPr/>
        </p:nvSpPr>
        <p:spPr>
          <a:xfrm>
            <a:off x="4800600" y="1938528"/>
            <a:ext cx="5303520" cy="502920"/>
          </a:xfrm>
          <a:prstGeom prst="rect">
            <a:avLst/>
          </a:prstGeom>
          <a:noFill/>
          <a:ln w="38100">
            <a:noFill/>
          </a:ln>
        </p:spPr>
        <p:txBody>
          <a:bodyPr wrap="square" lIns="73152" tIns="36576" rIns="73152" bIns="36576" rtlCol="0" anchor="ctr">
            <a:noAutofit/>
          </a:bodyPr>
          <a:lstStyle/>
          <a:p>
            <a:pPr algn="l" indent="0" marL="0">
              <a:buNone/>
            </a:pPr>
            <a:r>
              <a:rPr lang="en-US" sz="2200" dirty="0" b="1">
                <a:solidFill>
                  <a:srgbClr val="1E6B45"/>
                </a:solidFill>
                <a:latin typeface="Lexend Deca" pitchFamily="34" charset="0"/>
                <a:ea typeface="Lexend Deca" pitchFamily="34" charset="-122"/>
                <a:cs typeface="Lexend Deca" pitchFamily="34" charset="-120"/>
              </a:rPr>
              <a:t>Say</a:t>
            </a:r>
            <a:endParaRPr lang="en-US" sz="2200" dirty="0"/>
          </a:p>
        </p:txBody>
      </p:sp>
      <p:sp>
        <p:nvSpPr>
          <p:cNvPr id="24" name="Bad 1"/>
          <p:cNvSpPr/>
          <p:nvPr/>
        </p:nvSpPr>
        <p:spPr>
          <a:xfrm>
            <a:off x="914400" y="2468880"/>
            <a:ext cx="3246120" cy="502920"/>
          </a:xfrm>
          <a:prstGeom prst="rect">
            <a:avLst/>
          </a:prstGeom>
          <a:noFill/>
          <a:ln w="38100">
            <a:noFill/>
          </a:ln>
        </p:spPr>
        <p:txBody>
          <a:bodyPr wrap="square" lIns="73152" tIns="36576" rIns="73152" bIns="36576" rtlCol="0" anchor="ctr">
            <a:noAutofit/>
          </a:bodyPr>
          <a:lstStyle/>
          <a:p>
            <a:pPr algn="l" indent="0" marL="0">
              <a:buNone/>
            </a:pPr>
            <a:r>
              <a:rPr lang="en-US" sz="1700" dirty="0">
                <a:solidFill>
                  <a:srgbClr val="1B2236"/>
                </a:solidFill>
                <a:latin typeface="Lexend Deca" pitchFamily="34" charset="0"/>
                <a:ea typeface="Lexend Deca" pitchFamily="34" charset="-122"/>
                <a:cs typeface="Lexend Deca" pitchFamily="34" charset="-120"/>
              </a:rPr>
              <a:t>Turn off it.</a:t>
            </a:r>
            <a:endParaRPr lang="en-US" sz="1700" dirty="0"/>
          </a:p>
        </p:txBody>
      </p:sp>
      <p:sp>
        <p:nvSpPr>
          <p:cNvPr id="25" name="Good 1"/>
          <p:cNvSpPr/>
          <p:nvPr/>
        </p:nvSpPr>
        <p:spPr>
          <a:xfrm>
            <a:off x="4800600" y="2468880"/>
            <a:ext cx="5394960" cy="50292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Turn </a:t>
            </a:r>
            <a:r>
              <a:rPr lang="en-US" sz="1700" dirty="0" b="1">
                <a:solidFill>
                  <a:srgbClr val="1B2236"/>
                </a:solidFill>
                <a:latin typeface="Lexend Deca" pitchFamily="34" charset="0"/>
                <a:ea typeface="Lexend Deca" pitchFamily="34" charset="-122"/>
                <a:cs typeface="Lexend Deca" pitchFamily="34" charset="-120"/>
              </a:rPr>
              <a:t>it off</a:t>
            </a:r>
            <a:r>
              <a:rPr lang="en-US" sz="1700" dirty="0" b="1">
                <a:solidFill>
                  <a:srgbClr val="1B2236"/>
                </a:solidFill>
                <a:latin typeface="Lexend Deca" pitchFamily="34" charset="0"/>
                <a:ea typeface="Lexend Deca" pitchFamily="34" charset="-122"/>
                <a:cs typeface="Lexend Deca" pitchFamily="34" charset="-120"/>
              </a:rPr>
              <a:t>.</a:t>
            </a:r>
            <a:endParaRPr lang="en-US" sz="1700" dirty="0" b="1"/>
          </a:p>
        </p:txBody>
      </p:sp>
      <p:sp>
        <p:nvSpPr>
          <p:cNvPr id="26" name="Bad 2"/>
          <p:cNvSpPr/>
          <p:nvPr/>
        </p:nvSpPr>
        <p:spPr>
          <a:xfrm>
            <a:off x="914400" y="3035808"/>
            <a:ext cx="3246120" cy="502920"/>
          </a:xfrm>
          <a:prstGeom prst="rect">
            <a:avLst/>
          </a:prstGeom>
          <a:noFill/>
          <a:ln w="38100">
            <a:noFill/>
          </a:ln>
        </p:spPr>
        <p:txBody>
          <a:bodyPr wrap="square" lIns="73152" tIns="36576" rIns="73152" bIns="36576" rtlCol="0" anchor="ctr">
            <a:noAutofit/>
          </a:bodyPr>
          <a:lstStyle/>
          <a:p>
            <a:pPr algn="l" indent="0" marL="0">
              <a:buNone/>
            </a:pPr>
            <a:r>
              <a:rPr lang="en-US" sz="1700" dirty="0">
                <a:solidFill>
                  <a:srgbClr val="1B2236"/>
                </a:solidFill>
                <a:latin typeface="Lexend Deca" pitchFamily="34" charset="0"/>
                <a:ea typeface="Lexend Deca" pitchFamily="34" charset="-122"/>
                <a:cs typeface="Lexend Deca" pitchFamily="34" charset="-120"/>
              </a:rPr>
              <a:t>I put away them.</a:t>
            </a:r>
            <a:endParaRPr lang="en-US" sz="1700" dirty="0"/>
          </a:p>
        </p:txBody>
      </p:sp>
      <p:sp>
        <p:nvSpPr>
          <p:cNvPr id="27" name="Good 2"/>
          <p:cNvSpPr/>
          <p:nvPr/>
        </p:nvSpPr>
        <p:spPr>
          <a:xfrm>
            <a:off x="4800600" y="3035808"/>
            <a:ext cx="5394960" cy="50292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I put </a:t>
            </a:r>
            <a:r>
              <a:rPr lang="en-US" sz="1700" dirty="0" b="1">
                <a:solidFill>
                  <a:srgbClr val="1B2236"/>
                </a:solidFill>
                <a:latin typeface="Lexend Deca" pitchFamily="34" charset="0"/>
                <a:ea typeface="Lexend Deca" pitchFamily="34" charset="-122"/>
                <a:cs typeface="Lexend Deca" pitchFamily="34" charset="-120"/>
              </a:rPr>
              <a:t>them away</a:t>
            </a:r>
            <a:r>
              <a:rPr lang="en-US" sz="1700" dirty="0" b="1">
                <a:solidFill>
                  <a:srgbClr val="1B2236"/>
                </a:solidFill>
                <a:latin typeface="Lexend Deca" pitchFamily="34" charset="0"/>
                <a:ea typeface="Lexend Deca" pitchFamily="34" charset="-122"/>
                <a:cs typeface="Lexend Deca" pitchFamily="34" charset="-120"/>
              </a:rPr>
              <a:t>.</a:t>
            </a:r>
            <a:endParaRPr lang="en-US" sz="1700" dirty="0" b="1"/>
          </a:p>
        </p:txBody>
      </p:sp>
      <p:sp>
        <p:nvSpPr>
          <p:cNvPr id="28" name="Bad 3"/>
          <p:cNvSpPr/>
          <p:nvPr/>
        </p:nvSpPr>
        <p:spPr>
          <a:xfrm>
            <a:off x="914400" y="3602736"/>
            <a:ext cx="3246120" cy="502920"/>
          </a:xfrm>
          <a:prstGeom prst="rect">
            <a:avLst/>
          </a:prstGeom>
          <a:noFill/>
          <a:ln w="38100">
            <a:noFill/>
          </a:ln>
        </p:spPr>
        <p:txBody>
          <a:bodyPr wrap="square" lIns="73152" tIns="36576" rIns="73152" bIns="36576" rtlCol="0" anchor="ctr">
            <a:noAutofit/>
          </a:bodyPr>
          <a:lstStyle/>
          <a:p>
            <a:pPr algn="l" indent="0" marL="0">
              <a:buNone/>
            </a:pPr>
            <a:r>
              <a:rPr lang="en-US" sz="1700" dirty="0">
                <a:solidFill>
                  <a:srgbClr val="1B2236"/>
                </a:solidFill>
                <a:latin typeface="Lexend Deca" pitchFamily="34" charset="0"/>
                <a:ea typeface="Lexend Deca" pitchFamily="34" charset="-122"/>
                <a:cs typeface="Lexend Deca" pitchFamily="34" charset="-120"/>
              </a:rPr>
              <a:t>Close the light.</a:t>
            </a:r>
            <a:endParaRPr lang="en-US" sz="1700" dirty="0"/>
          </a:p>
        </p:txBody>
      </p:sp>
      <p:sp>
        <p:nvSpPr>
          <p:cNvPr id="29" name="Good 3"/>
          <p:cNvSpPr/>
          <p:nvPr/>
        </p:nvSpPr>
        <p:spPr>
          <a:xfrm>
            <a:off x="4800600" y="3602736"/>
            <a:ext cx="5394960" cy="50292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Turn off</a:t>
            </a:r>
            <a:r>
              <a:rPr lang="en-US" sz="1700" dirty="0" b="1">
                <a:solidFill>
                  <a:srgbClr val="1B2236"/>
                </a:solidFill>
                <a:latin typeface="Lexend Deca" pitchFamily="34" charset="0"/>
                <a:ea typeface="Lexend Deca" pitchFamily="34" charset="-122"/>
                <a:cs typeface="Lexend Deca" pitchFamily="34" charset="-120"/>
              </a:rPr>
              <a:t> the light.</a:t>
            </a:r>
            <a:endParaRPr lang="en-US" sz="1700" dirty="0" b="1"/>
          </a:p>
        </p:txBody>
      </p:sp>
      <p:sp>
        <p:nvSpPr>
          <p:cNvPr id="30" name="Bad 4"/>
          <p:cNvSpPr/>
          <p:nvPr/>
        </p:nvSpPr>
        <p:spPr>
          <a:xfrm>
            <a:off x="914400" y="4169664"/>
            <a:ext cx="3246120" cy="502920"/>
          </a:xfrm>
          <a:prstGeom prst="rect">
            <a:avLst/>
          </a:prstGeom>
          <a:noFill/>
          <a:ln w="38100">
            <a:noFill/>
          </a:ln>
        </p:spPr>
        <p:txBody>
          <a:bodyPr wrap="square" lIns="73152" tIns="36576" rIns="73152" bIns="36576" rtlCol="0" anchor="ctr">
            <a:noAutofit/>
          </a:bodyPr>
          <a:lstStyle/>
          <a:p>
            <a:pPr algn="l" indent="0" marL="0">
              <a:buNone/>
            </a:pPr>
            <a:r>
              <a:rPr lang="en-US" sz="1700" dirty="0">
                <a:solidFill>
                  <a:srgbClr val="1B2236"/>
                </a:solidFill>
                <a:latin typeface="Lexend Deca" pitchFamily="34" charset="0"/>
                <a:ea typeface="Lexend Deca" pitchFamily="34" charset="-122"/>
                <a:cs typeface="Lexend Deca" pitchFamily="34" charset="-120"/>
              </a:rPr>
              <a:t>Open the TV.</a:t>
            </a:r>
            <a:endParaRPr lang="en-US" sz="1700" dirty="0"/>
          </a:p>
        </p:txBody>
      </p:sp>
      <p:sp>
        <p:nvSpPr>
          <p:cNvPr id="31" name="Good 4"/>
          <p:cNvSpPr/>
          <p:nvPr/>
        </p:nvSpPr>
        <p:spPr>
          <a:xfrm>
            <a:off x="4800600" y="4169664"/>
            <a:ext cx="5394960" cy="50292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Turn on</a:t>
            </a:r>
            <a:r>
              <a:rPr lang="en-US" sz="1700" dirty="0" b="1">
                <a:solidFill>
                  <a:srgbClr val="1B2236"/>
                </a:solidFill>
                <a:latin typeface="Lexend Deca" pitchFamily="34" charset="0"/>
                <a:ea typeface="Lexend Deca" pitchFamily="34" charset="-122"/>
                <a:cs typeface="Lexend Deca" pitchFamily="34" charset="-120"/>
              </a:rPr>
              <a:t> the TV.</a:t>
            </a:r>
            <a:endParaRPr lang="en-US" sz="1700" dirty="0" b="1"/>
          </a:p>
        </p:txBody>
      </p:sp>
      <p:sp>
        <p:nvSpPr>
          <p:cNvPr id="32" name="Bad 5"/>
          <p:cNvSpPr/>
          <p:nvPr/>
        </p:nvSpPr>
        <p:spPr>
          <a:xfrm>
            <a:off x="914400" y="4736592"/>
            <a:ext cx="3246120" cy="502920"/>
          </a:xfrm>
          <a:prstGeom prst="rect">
            <a:avLst/>
          </a:prstGeom>
          <a:noFill/>
          <a:ln w="38100">
            <a:noFill/>
          </a:ln>
        </p:spPr>
        <p:txBody>
          <a:bodyPr wrap="square" lIns="73152" tIns="36576" rIns="73152" bIns="36576" rtlCol="0" anchor="ctr">
            <a:noAutofit/>
          </a:bodyPr>
          <a:lstStyle/>
          <a:p>
            <a:pPr algn="l" indent="0" marL="0">
              <a:buNone/>
            </a:pPr>
            <a:r>
              <a:rPr lang="en-US" sz="1700" dirty="0">
                <a:solidFill>
                  <a:srgbClr val="1B2236"/>
                </a:solidFill>
                <a:latin typeface="Lexend Deca" pitchFamily="34" charset="0"/>
                <a:ea typeface="Lexend Deca" pitchFamily="34" charset="-122"/>
                <a:cs typeface="Lexend Deca" pitchFamily="34" charset="-120"/>
              </a:rPr>
              <a:t>Don't forget lock the door.</a:t>
            </a:r>
            <a:endParaRPr lang="en-US" sz="1700" dirty="0"/>
          </a:p>
        </p:txBody>
      </p:sp>
      <p:sp>
        <p:nvSpPr>
          <p:cNvPr id="33" name="Good 5"/>
          <p:cNvSpPr/>
          <p:nvPr/>
        </p:nvSpPr>
        <p:spPr>
          <a:xfrm>
            <a:off x="4800600" y="4736592"/>
            <a:ext cx="5394960" cy="50292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Don't forget </a:t>
            </a:r>
            <a:r>
              <a:rPr lang="en-US" sz="1700" dirty="0" b="1">
                <a:solidFill>
                  <a:srgbClr val="1B2236"/>
                </a:solidFill>
                <a:latin typeface="Lexend Deca" pitchFamily="34" charset="0"/>
                <a:ea typeface="Lexend Deca" pitchFamily="34" charset="-122"/>
                <a:cs typeface="Lexend Deca" pitchFamily="34" charset="-120"/>
              </a:rPr>
              <a:t>to</a:t>
            </a:r>
            <a:r>
              <a:rPr lang="en-US" sz="1700" dirty="0" b="1">
                <a:solidFill>
                  <a:srgbClr val="1B2236"/>
                </a:solidFill>
                <a:latin typeface="Lexend Deca" pitchFamily="34" charset="0"/>
                <a:ea typeface="Lexend Deca" pitchFamily="34" charset="-122"/>
                <a:cs typeface="Lexend Deca" pitchFamily="34" charset="-120"/>
              </a:rPr>
              <a:t> lock the door.</a:t>
            </a:r>
            <a:endParaRPr lang="en-US" sz="17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5"/>
                                        </p:tgtEl>
                                        <p:attrNameLst>
                                          <p:attrName>style.visibility</p:attrName>
                                        </p:attrNameLst>
                                      </p:cBhvr>
                                      <p:to>
                                        <p:strVal val="visible"/>
                                      </p:to>
                                    </p:set>
                                    <p:animEffect transition="in" filter="fade">
                                      <p:cBhvr>
                                        <p:cTn id="7" dur="400"/>
                                        <p:tgtEl>
                                          <p:spTgt spid="2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7"/>
                                        </p:tgtEl>
                                        <p:attrNameLst>
                                          <p:attrName>style.visibility</p:attrName>
                                        </p:attrNameLst>
                                      </p:cBhvr>
                                      <p:to>
                                        <p:strVal val="visible"/>
                                      </p:to>
                                    </p:set>
                                    <p:animEffect transition="in" filter="fade">
                                      <p:cBhvr>
                                        <p:cTn id="12" dur="400"/>
                                        <p:tgtEl>
                                          <p:spTgt spid="2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6.xml><?xml version="1.0" encoding="utf-8"?>
<p:sld xmlns:a="http://schemas.openxmlformats.org/drawingml/2006/main" xmlns:p="http://schemas.openxmlformats.org/presentationml/2006/main" xmlns:r="http://schemas.openxmlformats.org/officeDocument/2006/relationships">
  <p:cSld name="L4:drill">
    <p:bg>
      <p:bgPr>
        <a:solidFill>
          <a:srgbClr val="F1F5FB"/>
        </a:solidFill>
      </p:bgPr>
    </p:bg>
    <p:spTree>
      <p:nvGrpSpPr>
        <p:cNvPr id="1" name=""/>
        <p:cNvGrpSpPr/>
        <p:nvPr/>
      </p:nvGrpSpPr>
      <p:grpSpPr/>
      <p:pic>
        <p:nvPicPr>
          <p:cNvPr id="26" name="pic" descr="Usage: a bar chart and a lightning bolt [sign: USAGE]"/>
          <p:cNvPicPr>
            <a:picLocks noChangeAspect="1"/>
          </p:cNvPicPr>
          <p:nvPr/>
        </p:nvPicPr>
        <p:blipFill>
          <a:blip r:embed="rId3"/>
          <a:stretch>
            <a:fillRect/>
          </a:stretch>
        </p:blipFill>
        <p:spPr>
          <a:xfrm>
            <a:off x="1274739" y="3680460"/>
            <a:ext cx="3449901" cy="2414930"/>
          </a:xfrm>
          <a:prstGeom prst="rect">
            <a:avLst/>
          </a:prstGeom>
        </p:spPr>
      </p:pic>
      <p:sp>
        <p:nvSpPr>
          <p:cNvPr id="4" name="Shape 2"/>
          <p:cNvSpPr/>
          <p:nvPr/>
        </p:nvSpPr>
        <p:spPr>
          <a:xfrm>
            <a:off x="560984" y="1342842"/>
            <a:ext cx="4912157" cy="1595628"/>
          </a:xfrm>
          <a:prstGeom prst="roundRect">
            <a:avLst>
              <a:gd name="adj" fmla="val 16667"/>
            </a:avLst>
          </a:prstGeom>
          <a:solidFill>
            <a:srgbClr val="8FAFE3"/>
          </a:solidFill>
          <a:ln/>
        </p:spPr>
        <p:txBody>
          <a:bodyPr/>
          <a:p/>
        </p:txBody>
      </p:sp>
      <p:sp>
        <p:nvSpPr>
          <p:cNvPr id="5" name="Shape 3"/>
          <p:cNvSpPr/>
          <p:nvPr/>
        </p:nvSpPr>
        <p:spPr>
          <a:xfrm>
            <a:off x="589788" y="1277417"/>
            <a:ext cx="4912157" cy="1595628"/>
          </a:xfrm>
          <a:prstGeom prst="roundRect">
            <a:avLst>
              <a:gd name="adj" fmla="val 16667"/>
            </a:avLst>
          </a:prstGeom>
          <a:solidFill>
            <a:srgbClr val="FFFFFF"/>
          </a:solidFill>
          <a:ln/>
        </p:spPr>
        <p:txBody>
          <a:bodyPr/>
          <a:p/>
        </p:txBody>
      </p:sp>
      <p:sp>
        <p:nvSpPr>
          <p:cNvPr id="6" name="title"/>
          <p:cNvSpPr/>
          <p:nvPr/>
        </p:nvSpPr>
        <p:spPr>
          <a:xfrm>
            <a:off x="771754" y="1417320"/>
            <a:ext cx="4572000" cy="731520"/>
          </a:xfrm>
          <a:prstGeom prst="rect">
            <a:avLst/>
          </a:prstGeom>
          <a:noFill/>
          <a:ln/>
        </p:spPr>
        <p:txBody>
          <a:bodyPr wrap="square" rtlCol="0" anchor="ctr"/>
          <a:lstStyle/>
          <a:p>
            <a:pPr algn="l" indent="0" marL="0">
              <a:buNone/>
            </a:pPr>
            <a:r>
              <a:rPr lang="en-US" sz="4000" dirty="0" b="1">
                <a:solidFill>
                  <a:srgbClr val="1B2236"/>
                </a:solidFill>
                <a:latin typeface="Lexend Deca" pitchFamily="34" charset="0"/>
                <a:ea typeface="Lexend Deca" pitchFamily="34" charset="-122"/>
                <a:cs typeface="Lexend Deca" pitchFamily="34" charset="-120"/>
              </a:rPr>
              <a:t>Pair Check</a:t>
            </a:r>
            <a:endParaRPr lang="en-US" sz="4000" dirty="0" b="1"/>
          </a:p>
        </p:txBody>
      </p:sp>
      <p:sp>
        <p:nvSpPr>
          <p:cNvPr id="7" name="Shape 5"/>
          <p:cNvSpPr/>
          <p:nvPr/>
        </p:nvSpPr>
        <p:spPr>
          <a:xfrm>
            <a:off x="6107278" y="1382572"/>
            <a:ext cx="5577840" cy="1920240"/>
          </a:xfrm>
          <a:prstGeom prst="round1Rect">
            <a:avLst>
              <a:gd name="adj" fmla="val 23087"/>
            </a:avLst>
          </a:prstGeom>
          <a:solidFill>
            <a:srgbClr val="8FAFE3"/>
          </a:solidFill>
          <a:ln/>
        </p:spPr>
        <p:txBody>
          <a:bodyPr/>
          <a:p/>
        </p:txBody>
      </p:sp>
      <p:sp>
        <p:nvSpPr>
          <p:cNvPr id="8" name="Shape 6"/>
          <p:cNvSpPr/>
          <p:nvPr/>
        </p:nvSpPr>
        <p:spPr>
          <a:xfrm>
            <a:off x="6107278" y="3714292"/>
            <a:ext cx="5577840" cy="1920240"/>
          </a:xfrm>
          <a:prstGeom prst="round1Rect">
            <a:avLst>
              <a:gd name="adj" fmla="val 23087"/>
            </a:avLst>
          </a:prstGeom>
          <a:solidFill>
            <a:srgbClr val="8FAFE3"/>
          </a:solidFill>
          <a:ln/>
        </p:spPr>
        <p:txBody>
          <a:bodyPr/>
          <a:p/>
        </p:txBody>
      </p:sp>
      <p:sp>
        <p:nvSpPr>
          <p:cNvPr id="10" name="Shape 8"/>
          <p:cNvSpPr/>
          <p:nvPr/>
        </p:nvSpPr>
        <p:spPr>
          <a:xfrm>
            <a:off x="6035040" y="1325880"/>
            <a:ext cx="5577840" cy="1920240"/>
          </a:xfrm>
          <a:prstGeom prst="round1Rect">
            <a:avLst>
              <a:gd name="adj" fmla="val 23087"/>
            </a:avLst>
          </a:prstGeom>
          <a:solidFill>
            <a:srgbClr val="FFFFFF"/>
          </a:solidFill>
          <a:ln/>
        </p:spPr>
        <p:txBody>
          <a:bodyPr/>
          <a:p/>
        </p:txBody>
      </p:sp>
      <p:sp>
        <p:nvSpPr>
          <p:cNvPr id="11" name="Shape 9"/>
          <p:cNvSpPr/>
          <p:nvPr/>
        </p:nvSpPr>
        <p:spPr>
          <a:xfrm>
            <a:off x="6172200" y="1946757"/>
            <a:ext cx="678485" cy="678485"/>
          </a:xfrm>
          <a:prstGeom prst="star32">
            <a:avLst>
              <a:gd name="adj" fmla="val 43755"/>
            </a:avLst>
          </a:prstGeom>
          <a:solidFill>
            <a:srgbClr val="B9D2F7"/>
          </a:solidFill>
          <a:ln/>
        </p:spPr>
        <p:txBody>
          <a:bodyPr/>
          <a:p/>
        </p:txBody>
      </p:sp>
      <p:sp>
        <p:nvSpPr>
          <p:cNvPr id="12" name="Text 10"/>
          <p:cNvSpPr/>
          <p:nvPr/>
        </p:nvSpPr>
        <p:spPr>
          <a:xfrm>
            <a:off x="6172200" y="1946757"/>
            <a:ext cx="678485" cy="678485"/>
          </a:xfrm>
          <a:prstGeom prst="rect">
            <a:avLst/>
          </a:prstGeom>
          <a:noFill/>
          <a:ln/>
        </p:spPr>
        <p:txBody>
          <a:bodyPr wrap="square" rtlCol="0" anchor="ct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01</a:t>
            </a:r>
            <a:endParaRPr lang="en-US" sz="2000" dirty="0"/>
          </a:p>
        </p:txBody>
      </p:sp>
      <p:sp>
        <p:nvSpPr>
          <p:cNvPr id="13" name="s1 label"/>
          <p:cNvSpPr/>
          <p:nvPr/>
        </p:nvSpPr>
        <p:spPr>
          <a:xfrm>
            <a:off x="6995160" y="1508760"/>
            <a:ext cx="4480560" cy="502920"/>
          </a:xfrm>
          <a:prstGeom prst="rect">
            <a:avLst/>
          </a:prstGeom>
          <a:noFill/>
          <a:ln/>
        </p:spPr>
        <p:txBody>
          <a:bodyPr wrap="square" lIns="0" tIns="0" rIns="0" bIns="0" rtlCol="0" anchor="ctr"/>
          <a:lstStyle/>
          <a:p>
            <a:pPr algn="l" indent="0" marL="0">
              <a:buNone/>
            </a:pPr>
            <a:r>
              <a:rPr lang="en-US" sz="2200" dirty="0" b="1">
                <a:solidFill>
                  <a:srgbClr val="1B2236"/>
                </a:solidFill>
                <a:latin typeface="Lexend Deca" pitchFamily="34" charset="0"/>
                <a:ea typeface="Lexend Deca" pitchFamily="34" charset="-122"/>
                <a:cs typeface="Lexend Deca" pitchFamily="34" charset="-120"/>
              </a:rPr>
              <a:t>A gives an instruction.</a:t>
            </a:r>
            <a:endParaRPr lang="en-US" sz="2200" dirty="0" b="1"/>
          </a:p>
        </p:txBody>
      </p:sp>
      <p:sp>
        <p:nvSpPr>
          <p:cNvPr id="14" name="Shape 12"/>
          <p:cNvSpPr/>
          <p:nvPr/>
        </p:nvSpPr>
        <p:spPr>
          <a:xfrm>
            <a:off x="6035040" y="3657600"/>
            <a:ext cx="5577840" cy="1920240"/>
          </a:xfrm>
          <a:prstGeom prst="round1Rect">
            <a:avLst>
              <a:gd name="adj" fmla="val 23087"/>
            </a:avLst>
          </a:prstGeom>
          <a:solidFill>
            <a:srgbClr val="B9D2F7"/>
          </a:solidFill>
          <a:ln/>
        </p:spPr>
        <p:txBody>
          <a:bodyPr/>
          <a:p/>
        </p:txBody>
      </p:sp>
      <p:sp>
        <p:nvSpPr>
          <p:cNvPr id="15" name="Shape 13"/>
          <p:cNvSpPr/>
          <p:nvPr/>
        </p:nvSpPr>
        <p:spPr>
          <a:xfrm>
            <a:off x="6172200" y="4278477"/>
            <a:ext cx="678485" cy="678485"/>
          </a:xfrm>
          <a:prstGeom prst="star32">
            <a:avLst>
              <a:gd name="adj" fmla="val 43755"/>
            </a:avLst>
          </a:prstGeom>
          <a:solidFill>
            <a:srgbClr val="FFFFFF"/>
          </a:solidFill>
          <a:ln/>
        </p:spPr>
        <p:txBody>
          <a:bodyPr/>
          <a:p/>
        </p:txBody>
      </p:sp>
      <p:sp>
        <p:nvSpPr>
          <p:cNvPr id="16" name="Text 14"/>
          <p:cNvSpPr/>
          <p:nvPr/>
        </p:nvSpPr>
        <p:spPr>
          <a:xfrm>
            <a:off x="6172200" y="4278477"/>
            <a:ext cx="678485" cy="678485"/>
          </a:xfrm>
          <a:prstGeom prst="rect">
            <a:avLst/>
          </a:prstGeom>
          <a:noFill/>
          <a:ln/>
        </p:spPr>
        <p:txBody>
          <a:bodyPr wrap="square" rtlCol="0" anchor="ct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02</a:t>
            </a:r>
            <a:endParaRPr lang="en-US" sz="2000" dirty="0"/>
          </a:p>
        </p:txBody>
      </p:sp>
      <p:sp>
        <p:nvSpPr>
          <p:cNvPr id="17" name="s2 label"/>
          <p:cNvSpPr/>
          <p:nvPr/>
        </p:nvSpPr>
        <p:spPr>
          <a:xfrm>
            <a:off x="6995160" y="3840480"/>
            <a:ext cx="4480560" cy="502920"/>
          </a:xfrm>
          <a:prstGeom prst="rect">
            <a:avLst/>
          </a:prstGeom>
          <a:noFill/>
          <a:ln/>
        </p:spPr>
        <p:txBody>
          <a:bodyPr wrap="square" lIns="0" tIns="0" rIns="0" bIns="0" rtlCol="0" anchor="ctr"/>
          <a:lstStyle/>
          <a:p>
            <a:pPr algn="l" indent="0" marL="0">
              <a:buNone/>
            </a:pPr>
            <a:r>
              <a:rPr lang="en-US" sz="2200" dirty="0" b="1">
                <a:solidFill>
                  <a:srgbClr val="1B2236"/>
                </a:solidFill>
                <a:latin typeface="Lexend Deca" pitchFamily="34" charset="0"/>
                <a:ea typeface="Lexend Deca" pitchFamily="34" charset="-122"/>
                <a:cs typeface="Lexend Deca" pitchFamily="34" charset="-120"/>
              </a:rPr>
              <a:t>B mimes and answers.</a:t>
            </a:r>
            <a:endParaRPr lang="en-US" sz="2200" dirty="0" b="1"/>
          </a:p>
        </p:txBody>
      </p:sp>
      <p:sp>
        <p:nvSpPr>
          <p:cNvPr id="60" name="s1 body"/>
          <p:cNvSpPr/>
          <p:nvPr/>
        </p:nvSpPr>
        <p:spPr>
          <a:xfrm>
            <a:off x="6995160" y="2103120"/>
            <a:ext cx="4480560" cy="914400"/>
          </a:xfrm>
          <a:prstGeom prst="rect">
            <a:avLst/>
          </a:prstGeom>
          <a:noFill/>
          <a:ln/>
        </p:spPr>
        <p:txBody>
          <a:bodyPr wrap="square" lIns="0" tIns="0" rIns="0" bIns="0" rtlCol="0" anchor="ctr"/>
          <a:lstStyle/>
          <a:p>
            <a:pPr algn="l" indent="0" marL="0">
              <a:buNone/>
            </a:pPr>
            <a:r>
              <a:rPr lang="en-US" sz="1900" dirty="0" b="1">
                <a:solidFill>
                  <a:srgbClr val="5B3FC4"/>
                </a:solidFill>
                <a:latin typeface="Lexend Deca" pitchFamily="34" charset="0"/>
                <a:ea typeface="Lexend Deca" pitchFamily="34" charset="-122"/>
                <a:cs typeface="Lexend Deca" pitchFamily="34" charset="-120"/>
              </a:rPr>
              <a:t>A:</a:t>
            </a:r>
            <a:r>
              <a:rPr lang="en-US" sz="1900" dirty="0" b="0">
                <a:solidFill>
                  <a:srgbClr val="1B2236"/>
                </a:solidFill>
                <a:latin typeface="Lexend Deca" pitchFamily="34" charset="0"/>
                <a:ea typeface="Lexend Deca" pitchFamily="34" charset="-122"/>
                <a:cs typeface="Lexend Deca" pitchFamily="34" charset="-120"/>
              </a:rPr>
              <a:t> Can you unplug the charger?</a:t>
            </a:r>
            <a:endParaRPr lang="en-US" sz="1900" dirty="0" b="0"/>
          </a:p>
        </p:txBody>
      </p:sp>
      <p:sp>
        <p:nvSpPr>
          <p:cNvPr id="70" name="s2 body"/>
          <p:cNvSpPr/>
          <p:nvPr/>
        </p:nvSpPr>
        <p:spPr>
          <a:xfrm>
            <a:off x="6995160" y="4434840"/>
            <a:ext cx="4480560" cy="914400"/>
          </a:xfrm>
          <a:prstGeom prst="rect">
            <a:avLst/>
          </a:prstGeom>
          <a:noFill/>
          <a:ln/>
        </p:spPr>
        <p:txBody>
          <a:bodyPr wrap="square" lIns="0" tIns="0" rIns="0" bIns="0" rtlCol="0" anchor="ctr"/>
          <a:lstStyle/>
          <a:p>
            <a:pPr algn="l" indent="0" marL="0">
              <a:buNone/>
            </a:pPr>
            <a:r>
              <a:rPr lang="en-US" sz="1900" dirty="0" b="1">
                <a:solidFill>
                  <a:srgbClr val="5B3FC4"/>
                </a:solidFill>
                <a:latin typeface="Lexend Deca" pitchFamily="34" charset="0"/>
                <a:ea typeface="Lexend Deca" pitchFamily="34" charset="-122"/>
                <a:cs typeface="Lexend Deca" pitchFamily="34" charset="-120"/>
              </a:rPr>
              <a:t>B:</a:t>
            </a:r>
            <a:r>
              <a:rPr lang="en-US" sz="1900" dirty="0" b="0">
                <a:solidFill>
                  <a:srgbClr val="1B2236"/>
                </a:solidFill>
                <a:latin typeface="Lexend Deca" pitchFamily="34" charset="0"/>
                <a:ea typeface="Lexend Deca" pitchFamily="34" charset="-122"/>
                <a:cs typeface="Lexend Deca" pitchFamily="34" charset="-120"/>
              </a:rPr>
              <a:t> OK, I'll unplug it.</a:t>
            </a:r>
            <a:endParaRPr lang="en-US" sz="1900" dirty="0" b="0"/>
          </a:p>
          <a:p>
            <a:pPr algn="l" indent="0" marL="0">
              <a:buNone/>
            </a:pPr>
            <a:r>
              <a:rPr lang="en-US" sz="1900" dirty="0" b="1">
                <a:solidFill>
                  <a:srgbClr val="5B3FC4"/>
                </a:solidFill>
                <a:latin typeface="Lexend Deca" pitchFamily="34" charset="0"/>
                <a:ea typeface="Lexend Deca" pitchFamily="34" charset="-122"/>
                <a:cs typeface="Lexend Deca" pitchFamily="34" charset="-120"/>
              </a:rPr>
              <a:t>A:</a:t>
            </a:r>
            <a:r>
              <a:rPr lang="en-US" sz="1900" dirty="0" b="1">
                <a:solidFill>
                  <a:srgbClr val="1B2236"/>
                </a:solidFill>
                <a:latin typeface="Lexend Deca" pitchFamily="34" charset="0"/>
                <a:ea typeface="Lexend Deca" pitchFamily="34" charset="-122"/>
                <a:cs typeface="Lexend Deca" pitchFamily="34" charset="-120"/>
              </a:rPr>
              <a:t> Don't forget to lock the deadbolt.</a:t>
            </a:r>
            <a:endParaRPr lang="en-US" sz="1900" dirty="0" b="1"/>
          </a:p>
        </p:txBody>
      </p:sp>
      <p:sp>
        <p:nvSpPr>
          <p:cNvPr id="25" name="sub"/>
          <p:cNvSpPr/>
          <p:nvPr/>
        </p:nvSpPr>
        <p:spPr>
          <a:xfrm>
            <a:off x="771754" y="2148840"/>
            <a:ext cx="4572000" cy="685800"/>
          </a:xfrm>
          <a:prstGeom prst="rect">
            <a:avLst/>
          </a:prstGeom>
          <a:noFill/>
          <a:ln w="38100">
            <a:noFill/>
          </a:ln>
        </p:spPr>
        <p:txBody>
          <a:bodyPr wrap="square" lIns="91440" tIns="36576" rIns="91440"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A points to a picture. Then switch.</a:t>
            </a:r>
            <a:endParaRPr lang="en-US" sz="2000" dirty="0"/>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name="L4:talk">
    <p:bg>
      <p:bgPr>
        <a:solidFill>
          <a:srgbClr val="F1F5FB"/>
        </a:solidFill>
      </p:bgPr>
    </p:bg>
    <p:spTree>
      <p:nvGrpSpPr>
        <p:cNvPr id="1" name=""/>
        <p:cNvGrpSpPr/>
        <p:nvPr/>
      </p:nvGrpSpPr>
      <p:grpSpPr/>
      <p:sp>
        <p:nvSpPr>
          <p:cNvPr id="2" name="Shape 0"/>
          <p:cNvSpPr/>
          <p:nvPr/>
        </p:nvSpPr>
        <p:spPr>
          <a:xfrm>
            <a:off x="-171907" y="-142646"/>
            <a:ext cx="5937199" cy="7143293"/>
          </a:xfrm>
          <a:prstGeom prst="round1Rect">
            <a:avLst>
              <a:gd name="adj" fmla="val 23087"/>
            </a:avLst>
          </a:prstGeom>
          <a:solidFill>
            <a:srgbClr val="B9D2F7"/>
          </a:solidFill>
          <a:ln w="127000">
            <a:solidFill>
              <a:srgbClr val="F1F5FB"/>
            </a:solidFill>
            <a:prstDash val="solid"/>
          </a:ln>
        </p:spPr>
        <p:txBody>
          <a:bodyPr/>
          <a:p/>
        </p:txBody>
      </p:sp>
      <p:pic>
        <p:nvPicPr>
          <p:cNvPr id="18" name="pic" descr="Save energy: a light bulb and a check mark [sign: SAVE ENERGY]"/>
          <p:cNvPicPr>
            <a:picLocks noChangeAspect="1"/>
          </p:cNvPicPr>
          <p:nvPr/>
        </p:nvPicPr>
        <p:blipFill>
          <a:blip r:embed="rId3"/>
          <a:stretch>
            <a:fillRect/>
          </a:stretch>
        </p:blipFill>
        <p:spPr>
          <a:xfrm>
            <a:off x="726164" y="3418942"/>
            <a:ext cx="3882281" cy="2717597"/>
          </a:xfrm>
          <a:prstGeom prst="rect">
            <a:avLst/>
          </a:prstGeom>
        </p:spPr>
      </p:pic>
      <p:sp>
        <p:nvSpPr>
          <p:cNvPr id="5" name="Shape 3"/>
          <p:cNvSpPr/>
          <p:nvPr/>
        </p:nvSpPr>
        <p:spPr>
          <a:xfrm>
            <a:off x="308610" y="1260546"/>
            <a:ext cx="4912157" cy="1595628"/>
          </a:xfrm>
          <a:prstGeom prst="roundRect">
            <a:avLst>
              <a:gd name="adj" fmla="val 16667"/>
            </a:avLst>
          </a:prstGeom>
          <a:solidFill>
            <a:srgbClr val="8FAFE3"/>
          </a:solidFill>
          <a:ln/>
        </p:spPr>
        <p:txBody>
          <a:bodyPr/>
          <a:p/>
        </p:txBody>
      </p:sp>
      <p:sp>
        <p:nvSpPr>
          <p:cNvPr id="6" name="Shape 4"/>
          <p:cNvSpPr/>
          <p:nvPr/>
        </p:nvSpPr>
        <p:spPr>
          <a:xfrm>
            <a:off x="337414" y="1195121"/>
            <a:ext cx="4912157" cy="1595628"/>
          </a:xfrm>
          <a:prstGeom prst="roundRect">
            <a:avLst>
              <a:gd name="adj" fmla="val 16667"/>
            </a:avLst>
          </a:prstGeom>
          <a:solidFill>
            <a:srgbClr val="FFFFFF"/>
          </a:solidFill>
          <a:ln/>
        </p:spPr>
        <p:txBody>
          <a:bodyPr/>
          <a:p/>
        </p:txBody>
      </p:sp>
      <p:sp>
        <p:nvSpPr>
          <p:cNvPr id="7" name="head"/>
          <p:cNvSpPr/>
          <p:nvPr/>
        </p:nvSpPr>
        <p:spPr>
          <a:xfrm>
            <a:off x="502920" y="1298448"/>
            <a:ext cx="4663440" cy="1417320"/>
          </a:xfrm>
          <a:prstGeom prst="rect">
            <a:avLst/>
          </a:prstGeom>
          <a:noFill/>
          <a:ln/>
        </p:spPr>
        <p:txBody>
          <a:bodyPr wrap="square" rtlCol="0" anchor="ctr"/>
          <a:lstStyle/>
          <a:p>
            <a:pPr algn="l" indent="0" marL="0">
              <a:spcAft>
                <a:spcPts val="200"/>
              </a:spcAft>
              <a:buNone/>
            </a:pPr>
            <a:r>
              <a:rPr lang="en-US" sz="4000" dirty="0" b="1">
                <a:solidFill>
                  <a:srgbClr val="1B2236"/>
                </a:solidFill>
                <a:latin typeface="Lexend Deca" pitchFamily="34" charset="0"/>
                <a:ea typeface="Lexend Deca" pitchFamily="34" charset="-122"/>
                <a:cs typeface="Lexend Deca" pitchFamily="34" charset="-120"/>
              </a:rPr>
              <a:t>Talk Time</a:t>
            </a:r>
            <a:endParaRPr lang="en-US" sz="4000" dirty="0" b="1"/>
          </a:p>
          <a:p>
            <a:pPr algn="l" indent="0" marL="0">
              <a:spcAft>
                <a:spcPts val="200"/>
              </a:spcAft>
              <a:buNone/>
            </a:pPr>
            <a:r>
              <a:rPr lang="en-US" sz="2800" dirty="0" b="1">
                <a:solidFill>
                  <a:srgbClr val="1B2236"/>
                </a:solidFill>
                <a:latin typeface="Lexend Deca" pitchFamily="34" charset="0"/>
                <a:ea typeface="Lexend Deca" pitchFamily="34" charset="-122"/>
                <a:cs typeface="Lexend Deca" pitchFamily="34" charset="-120"/>
              </a:rPr>
              <a:t>Energy Detective</a:t>
            </a:r>
            <a:endParaRPr lang="en-US" sz="2800" dirty="0" b="1"/>
          </a:p>
        </p:txBody>
      </p:sp>
      <p:sp>
        <p:nvSpPr>
          <p:cNvPr id="8" name="grouping"/>
          <p:cNvSpPr/>
          <p:nvPr/>
        </p:nvSpPr>
        <p:spPr>
          <a:xfrm>
            <a:off x="6291072" y="1783080"/>
            <a:ext cx="3291840" cy="914400"/>
          </a:xfrm>
          <a:prstGeom prst="rect">
            <a:avLst/>
          </a:prstGeom>
          <a:noFill/>
          <a:ln/>
        </p:spPr>
        <p:txBody>
          <a:bodyPr wrap="square" lIns="0" tIns="0" rIns="0" bIns="0" rtlCol="0" anchor="ct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Pairs.</a:t>
            </a:r>
            <a:endParaRPr lang="en-US" sz="1800" dirty="0"/>
          </a:p>
          <a:p>
            <a:pPr algn="l" indent="0" marL="0">
              <a:buNone/>
            </a:pPr>
            <a:r>
              <a:rPr lang="en-US" sz="1800" dirty="0">
                <a:solidFill>
                  <a:srgbClr val="1B2236"/>
                </a:solidFill>
                <a:latin typeface="Lexend Deca" pitchFamily="34" charset="0"/>
                <a:ea typeface="Lexend Deca" pitchFamily="34" charset="-122"/>
                <a:cs typeface="Lexend Deca" pitchFamily="34" charset="-120"/>
              </a:rPr>
              <a:t>Read a problem card.</a:t>
            </a:r>
            <a:endParaRPr lang="en-US" sz="1800" dirty="0"/>
          </a:p>
        </p:txBody>
      </p:sp>
      <p:sp>
        <p:nvSpPr>
          <p:cNvPr id="9" name="Shape 7"/>
          <p:cNvSpPr/>
          <p:nvPr/>
        </p:nvSpPr>
        <p:spPr>
          <a:xfrm>
            <a:off x="9734702" y="2103120"/>
            <a:ext cx="1992478" cy="0"/>
          </a:xfrm>
          <a:prstGeom prst="line">
            <a:avLst/>
          </a:prstGeom>
          <a:noFill/>
          <a:ln w="6350">
            <a:solidFill>
              <a:srgbClr val="1B2236"/>
            </a:solidFill>
            <a:prstDash val="solid"/>
          </a:ln>
        </p:spPr>
        <p:txBody>
          <a:bodyPr/>
          <a:p/>
        </p:txBody>
      </p:sp>
      <p:sp>
        <p:nvSpPr>
          <p:cNvPr id="10" name="Shape 8"/>
          <p:cNvSpPr/>
          <p:nvPr/>
        </p:nvSpPr>
        <p:spPr>
          <a:xfrm>
            <a:off x="9734702" y="2571293"/>
            <a:ext cx="1992478" cy="0"/>
          </a:xfrm>
          <a:prstGeom prst="line">
            <a:avLst/>
          </a:prstGeom>
          <a:noFill/>
          <a:ln w="6350">
            <a:solidFill>
              <a:srgbClr val="1B2236"/>
            </a:solidFill>
            <a:prstDash val="solid"/>
          </a:ln>
        </p:spPr>
        <p:txBody>
          <a:bodyPr/>
          <a:p/>
        </p:txBody>
      </p:sp>
      <p:sp>
        <p:nvSpPr>
          <p:cNvPr id="11" name="time"/>
          <p:cNvSpPr/>
          <p:nvPr/>
        </p:nvSpPr>
        <p:spPr>
          <a:xfrm>
            <a:off x="9784080" y="2130552"/>
            <a:ext cx="1920240" cy="384048"/>
          </a:xfrm>
          <a:prstGeom prst="rect">
            <a:avLst/>
          </a:prstGeom>
          <a:noFill/>
          <a:ln/>
        </p:spPr>
        <p:txBody>
          <a:bodyPr wrap="none" lIns="0" tIns="0" rIns="0" bIns="0" rtlCol="0" anchor="ct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7:00–7:15</a:t>
            </a:r>
            <a:endParaRPr lang="en-US" sz="2000" dirty="0" b="1"/>
          </a:p>
        </p:txBody>
      </p:sp>
      <p:sp>
        <p:nvSpPr>
          <p:cNvPr id="12" name="Shape 10"/>
          <p:cNvSpPr/>
          <p:nvPr/>
        </p:nvSpPr>
        <p:spPr>
          <a:xfrm>
            <a:off x="6416345" y="3198571"/>
            <a:ext cx="5486400" cy="3411626"/>
          </a:xfrm>
          <a:prstGeom prst="round1Rect">
            <a:avLst>
              <a:gd name="adj" fmla="val 23087"/>
            </a:avLst>
          </a:prstGeom>
          <a:solidFill>
            <a:srgbClr val="8FAFE3"/>
          </a:solidFill>
          <a:ln/>
        </p:spPr>
        <p:txBody>
          <a:bodyPr/>
          <a:p/>
        </p:txBody>
      </p:sp>
      <p:sp>
        <p:nvSpPr>
          <p:cNvPr id="13" name="Shape 11"/>
          <p:cNvSpPr/>
          <p:nvPr/>
        </p:nvSpPr>
        <p:spPr>
          <a:xfrm>
            <a:off x="6291986" y="3071470"/>
            <a:ext cx="5486400" cy="3411626"/>
          </a:xfrm>
          <a:prstGeom prst="round1Rect">
            <a:avLst>
              <a:gd name="adj" fmla="val 23087"/>
            </a:avLst>
          </a:prstGeom>
          <a:solidFill>
            <a:srgbClr val="FFFFFF"/>
          </a:solidFill>
          <a:ln/>
        </p:spPr>
        <p:txBody>
          <a:bodyPr/>
          <a:p/>
        </p:txBody>
      </p:sp>
      <p:sp>
        <p:nvSpPr>
          <p:cNvPr id="19" name="Step num 1"/>
          <p:cNvSpPr/>
          <p:nvPr/>
        </p:nvSpPr>
        <p:spPr>
          <a:xfrm>
            <a:off x="6583680" y="3511296"/>
            <a:ext cx="566928" cy="566928"/>
          </a:xfrm>
          <a:prstGeom prst="ellipse">
            <a:avLst/>
          </a:prstGeom>
          <a:solidFill>
            <a:srgbClr val="FFE28C"/>
          </a:solidFill>
          <a:ln w="38100">
            <a:noFill/>
          </a:ln>
        </p:spPr>
        <p:txBody>
          <a:bodyPr wrap="square" lIns="0" tIns="36576" rIns="0" bIns="36576" rtlCol="0" anchor="ctr">
            <a:noAutofit/>
          </a:bodyPr>
          <a:lstStyle/>
          <a:p>
            <a:pPr algn="ctr" indent="0" marL="0">
              <a:buNone/>
            </a:pPr>
            <a:r>
              <a:rPr lang="en-US" sz="2200" dirty="0" b="1">
                <a:solidFill>
                  <a:srgbClr val="1B2236"/>
                </a:solidFill>
                <a:latin typeface="Lexend Deca" pitchFamily="34" charset="0"/>
                <a:ea typeface="Lexend Deca" pitchFamily="34" charset="-122"/>
                <a:cs typeface="Lexend Deca" pitchFamily="34" charset="-120"/>
              </a:rPr>
              <a:t>1</a:t>
            </a:r>
            <a:endParaRPr lang="en-US" sz="2200" dirty="0"/>
          </a:p>
        </p:txBody>
      </p:sp>
      <p:sp>
        <p:nvSpPr>
          <p:cNvPr id="20" name="Step 1"/>
          <p:cNvSpPr/>
          <p:nvPr/>
        </p:nvSpPr>
        <p:spPr>
          <a:xfrm>
            <a:off x="7315200" y="3401568"/>
            <a:ext cx="4206240" cy="86868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A reads a problem and gives an instruction.</a:t>
            </a:r>
            <a:endParaRPr lang="en-US" sz="1700" dirty="0" b="1"/>
          </a:p>
          <a:p>
            <a:pPr algn="l" indent="0" marL="0">
              <a:buNone/>
            </a:pPr>
            <a:r>
              <a:rPr lang="en-US" sz="1700" dirty="0" b="0">
                <a:solidFill>
                  <a:srgbClr val="5B3FC4"/>
                </a:solidFill>
                <a:latin typeface="Lexend Deca" pitchFamily="34" charset="0"/>
                <a:ea typeface="Lexend Deca" pitchFamily="34" charset="-122"/>
                <a:cs typeface="Lexend Deca" pitchFamily="34" charset="-120"/>
              </a:rPr>
              <a:t>Turn them off, please.</a:t>
            </a:r>
            <a:endParaRPr lang="en-US" sz="1700" dirty="0" b="0"/>
          </a:p>
        </p:txBody>
      </p:sp>
      <p:sp>
        <p:nvSpPr>
          <p:cNvPr id="21" name="Step num 2"/>
          <p:cNvSpPr/>
          <p:nvPr/>
        </p:nvSpPr>
        <p:spPr>
          <a:xfrm>
            <a:off x="6583680" y="4489704"/>
            <a:ext cx="566928" cy="566928"/>
          </a:xfrm>
          <a:prstGeom prst="ellipse">
            <a:avLst/>
          </a:prstGeom>
          <a:solidFill>
            <a:srgbClr val="FFE28C"/>
          </a:solidFill>
          <a:ln w="38100">
            <a:noFill/>
          </a:ln>
        </p:spPr>
        <p:txBody>
          <a:bodyPr wrap="square" lIns="0" tIns="36576" rIns="0" bIns="36576" rtlCol="0" anchor="ctr">
            <a:noAutofit/>
          </a:bodyPr>
          <a:lstStyle/>
          <a:p>
            <a:pPr algn="ctr" indent="0" marL="0">
              <a:buNone/>
            </a:pPr>
            <a:r>
              <a:rPr lang="en-US" sz="2200" dirty="0" b="1">
                <a:solidFill>
                  <a:srgbClr val="1B2236"/>
                </a:solidFill>
                <a:latin typeface="Lexend Deca" pitchFamily="34" charset="0"/>
                <a:ea typeface="Lexend Deca" pitchFamily="34" charset="-122"/>
                <a:cs typeface="Lexend Deca" pitchFamily="34" charset="-120"/>
              </a:rPr>
              <a:t>2</a:t>
            </a:r>
            <a:endParaRPr lang="en-US" sz="2200" dirty="0"/>
          </a:p>
        </p:txBody>
      </p:sp>
      <p:sp>
        <p:nvSpPr>
          <p:cNvPr id="22" name="Step 2"/>
          <p:cNvSpPr/>
          <p:nvPr/>
        </p:nvSpPr>
        <p:spPr>
          <a:xfrm>
            <a:off x="7315200" y="4379976"/>
            <a:ext cx="4206240" cy="86868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B mimes and answers with it or them.</a:t>
            </a:r>
            <a:endParaRPr lang="en-US" sz="1700" dirty="0" b="1"/>
          </a:p>
          <a:p>
            <a:pPr algn="l" indent="0" marL="0">
              <a:buNone/>
            </a:pPr>
            <a:r>
              <a:rPr lang="en-US" sz="1700" dirty="0" b="0">
                <a:solidFill>
                  <a:srgbClr val="5B3FC4"/>
                </a:solidFill>
                <a:latin typeface="Lexend Deca" pitchFamily="34" charset="0"/>
                <a:ea typeface="Lexend Deca" pitchFamily="34" charset="-122"/>
                <a:cs typeface="Lexend Deca" pitchFamily="34" charset="-120"/>
              </a:rPr>
              <a:t>OK, I'll turn them off.</a:t>
            </a:r>
            <a:endParaRPr lang="en-US" sz="1700" dirty="0" b="0"/>
          </a:p>
        </p:txBody>
      </p:sp>
      <p:sp>
        <p:nvSpPr>
          <p:cNvPr id="23" name="Step num 3"/>
          <p:cNvSpPr/>
          <p:nvPr/>
        </p:nvSpPr>
        <p:spPr>
          <a:xfrm>
            <a:off x="6583680" y="5468112"/>
            <a:ext cx="566928" cy="566928"/>
          </a:xfrm>
          <a:prstGeom prst="ellipse">
            <a:avLst/>
          </a:prstGeom>
          <a:solidFill>
            <a:srgbClr val="FFE28C"/>
          </a:solidFill>
          <a:ln w="38100">
            <a:noFill/>
          </a:ln>
        </p:spPr>
        <p:txBody>
          <a:bodyPr wrap="square" lIns="0" tIns="36576" rIns="0" bIns="36576" rtlCol="0" anchor="ctr">
            <a:noAutofit/>
          </a:bodyPr>
          <a:lstStyle/>
          <a:p>
            <a:pPr algn="ctr" indent="0" marL="0">
              <a:buNone/>
            </a:pPr>
            <a:r>
              <a:rPr lang="en-US" sz="2200" dirty="0" b="1">
                <a:solidFill>
                  <a:srgbClr val="1B2236"/>
                </a:solidFill>
                <a:latin typeface="Lexend Deca" pitchFamily="34" charset="0"/>
                <a:ea typeface="Lexend Deca" pitchFamily="34" charset="-122"/>
                <a:cs typeface="Lexend Deca" pitchFamily="34" charset="-120"/>
              </a:rPr>
              <a:t>3</a:t>
            </a:r>
            <a:endParaRPr lang="en-US" sz="2200" dirty="0"/>
          </a:p>
        </p:txBody>
      </p:sp>
      <p:sp>
        <p:nvSpPr>
          <p:cNvPr id="24" name="Step 3"/>
          <p:cNvSpPr/>
          <p:nvPr/>
        </p:nvSpPr>
        <p:spPr>
          <a:xfrm>
            <a:off x="7315200" y="5358384"/>
            <a:ext cx="4206240" cy="86868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Then switch: B uses Apartment B.</a:t>
            </a:r>
            <a:endParaRPr lang="en-US" sz="1700" dirty="0" b="1"/>
          </a:p>
          <a:p>
            <a:pPr algn="l" indent="0" marL="0">
              <a:buNone/>
            </a:pPr>
            <a:r>
              <a:rPr lang="en-US" sz="1700" dirty="0" b="0">
                <a:solidFill>
                  <a:srgbClr val="5B3FC4"/>
                </a:solidFill>
                <a:latin typeface="Lexend Deca" pitchFamily="34" charset="0"/>
                <a:ea typeface="Lexend Deca" pitchFamily="34" charset="-122"/>
                <a:cs typeface="Lexend Deca" pitchFamily="34" charset="-120"/>
              </a:rPr>
              <a:t>Unplug it. • Put it away.</a:t>
            </a:r>
            <a:endParaRPr lang="en-US" sz="1700" dirty="0" b="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fade">
                                      <p:cBhvr>
                                        <p:cTn id="15" dur="400"/>
                                        <p:tgtEl>
                                          <p:spTgt spid="21"/>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3"/>
                                        </p:tgtEl>
                                        <p:attrNameLst>
                                          <p:attrName>style.visibility</p:attrName>
                                        </p:attrNameLst>
                                      </p:cBhvr>
                                      <p:to>
                                        <p:strVal val="visible"/>
                                      </p:to>
                                    </p:set>
                                    <p:animEffect transition="in" filter="fade">
                                      <p:cBhvr>
                                        <p:cTn id="23" dur="400"/>
                                        <p:tgtEl>
                                          <p:spTgt spid="23"/>
                                        </p:tgtEl>
                                      </p:cBhvr>
                                    </p:animEffect>
                                  </p:childTnLst>
                                </p:cTn>
                              </p:par>
                              <p:par>
                                <p:cTn id="24" presetID="10" presetClass="entr" presetSubtype="0" fill="hold" nodeType="withEffect">
                                  <p:stCondLst>
                                    <p:cond delay="0"/>
                                  </p:stCondLst>
                                  <p:childTnLst>
                                    <p:set>
                                      <p:cBhvr>
                                        <p:cTn id="25" dur="1" fill="hold">
                                          <p:stCondLst>
                                            <p:cond delay="0"/>
                                          </p:stCondLst>
                                        </p:cTn>
                                        <p:tgtEl>
                                          <p:spTgt spid="24"/>
                                        </p:tgtEl>
                                        <p:attrNameLst>
                                          <p:attrName>style.visibility</p:attrName>
                                        </p:attrNameLst>
                                      </p:cBhvr>
                                      <p:to>
                                        <p:strVal val="visible"/>
                                      </p:to>
                                    </p:set>
                                    <p:animEffect transition="in" filter="fade">
                                      <p:cBhvr>
                                        <p:cTn id="26" dur="4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8.xml><?xml version="1.0" encoding="utf-8"?>
<p:sld xmlns:a="http://schemas.openxmlformats.org/drawingml/2006/main" xmlns:p="http://schemas.openxmlformats.org/presentationml/2006/main" xmlns:r="http://schemas.openxmlformats.org/officeDocument/2006/relationships">
  <p:cSld name="L4:talk">
    <p:bg>
      <p:bgPr>
        <a:solidFill>
          <a:srgbClr val="F1F5FB"/>
        </a:solidFill>
      </p:bgPr>
    </p:bg>
    <p:spTree>
      <p:nvGrpSpPr>
        <p:cNvPr id="1" name=""/>
        <p:cNvGrpSpPr/>
        <p:nvPr/>
      </p:nvGrpSpPr>
      <p:grpSpPr/>
      <p:sp>
        <p:nvSpPr>
          <p:cNvPr id="2" name="Shape 0"/>
          <p:cNvSpPr/>
          <p:nvPr/>
        </p:nvSpPr>
        <p:spPr>
          <a:xfrm>
            <a:off x="-171907" y="-142646"/>
            <a:ext cx="5937199" cy="7143293"/>
          </a:xfrm>
          <a:prstGeom prst="round1Rect">
            <a:avLst>
              <a:gd name="adj" fmla="val 23087"/>
            </a:avLst>
          </a:prstGeom>
          <a:solidFill>
            <a:srgbClr val="B9D2F7"/>
          </a:solidFill>
          <a:ln w="127000">
            <a:solidFill>
              <a:srgbClr val="F1F5FB"/>
            </a:solidFill>
            <a:prstDash val="solid"/>
          </a:ln>
        </p:spPr>
        <p:txBody>
          <a:bodyPr/>
          <a:p/>
        </p:txBody>
      </p:sp>
      <p:pic>
        <p:nvPicPr>
          <p:cNvPr id="18" name="pic" descr="Deadbolt: a lock and a door"/>
          <p:cNvPicPr>
            <a:picLocks noChangeAspect="1"/>
          </p:cNvPicPr>
          <p:nvPr/>
        </p:nvPicPr>
        <p:blipFill>
          <a:blip r:embed="rId3"/>
          <a:stretch>
            <a:fillRect/>
          </a:stretch>
        </p:blipFill>
        <p:spPr>
          <a:xfrm>
            <a:off x="726164" y="3418942"/>
            <a:ext cx="3882281" cy="2717597"/>
          </a:xfrm>
          <a:prstGeom prst="rect">
            <a:avLst/>
          </a:prstGeom>
        </p:spPr>
      </p:pic>
      <p:sp>
        <p:nvSpPr>
          <p:cNvPr id="5" name="Shape 3"/>
          <p:cNvSpPr/>
          <p:nvPr/>
        </p:nvSpPr>
        <p:spPr>
          <a:xfrm>
            <a:off x="308610" y="1260546"/>
            <a:ext cx="4912157" cy="1595628"/>
          </a:xfrm>
          <a:prstGeom prst="roundRect">
            <a:avLst>
              <a:gd name="adj" fmla="val 16667"/>
            </a:avLst>
          </a:prstGeom>
          <a:solidFill>
            <a:srgbClr val="8FAFE3"/>
          </a:solidFill>
          <a:ln/>
        </p:spPr>
        <p:txBody>
          <a:bodyPr/>
          <a:p/>
        </p:txBody>
      </p:sp>
      <p:sp>
        <p:nvSpPr>
          <p:cNvPr id="6" name="Shape 4"/>
          <p:cNvSpPr/>
          <p:nvPr/>
        </p:nvSpPr>
        <p:spPr>
          <a:xfrm>
            <a:off x="337414" y="1195121"/>
            <a:ext cx="4912157" cy="1595628"/>
          </a:xfrm>
          <a:prstGeom prst="roundRect">
            <a:avLst>
              <a:gd name="adj" fmla="val 16667"/>
            </a:avLst>
          </a:prstGeom>
          <a:solidFill>
            <a:srgbClr val="FFFFFF"/>
          </a:solidFill>
          <a:ln/>
        </p:spPr>
        <p:txBody>
          <a:bodyPr/>
          <a:p/>
        </p:txBody>
      </p:sp>
      <p:sp>
        <p:nvSpPr>
          <p:cNvPr id="7" name="head"/>
          <p:cNvSpPr/>
          <p:nvPr/>
        </p:nvSpPr>
        <p:spPr>
          <a:xfrm>
            <a:off x="502920" y="1298448"/>
            <a:ext cx="4663440" cy="1417320"/>
          </a:xfrm>
          <a:prstGeom prst="rect">
            <a:avLst/>
          </a:prstGeom>
          <a:noFill/>
          <a:ln/>
        </p:spPr>
        <p:txBody>
          <a:bodyPr wrap="square" rtlCol="0" anchor="ctr"/>
          <a:lstStyle/>
          <a:p>
            <a:pPr algn="l" indent="0" marL="0">
              <a:spcAft>
                <a:spcPts val="200"/>
              </a:spcAft>
              <a:buNone/>
            </a:pPr>
            <a:r>
              <a:rPr lang="en-US" sz="4000" dirty="0" b="1">
                <a:solidFill>
                  <a:srgbClr val="1B2236"/>
                </a:solidFill>
                <a:latin typeface="Lexend Deca" pitchFamily="34" charset="0"/>
                <a:ea typeface="Lexend Deca" pitchFamily="34" charset="-122"/>
                <a:cs typeface="Lexend Deca" pitchFamily="34" charset="-120"/>
              </a:rPr>
              <a:t>Talk Time</a:t>
            </a:r>
            <a:endParaRPr lang="en-US" sz="4000" dirty="0" b="1"/>
          </a:p>
          <a:p>
            <a:pPr algn="l" indent="0" marL="0">
              <a:spcAft>
                <a:spcPts val="200"/>
              </a:spcAft>
              <a:buNone/>
            </a:pPr>
            <a:r>
              <a:rPr lang="en-US" sz="3000" dirty="0" b="1">
                <a:solidFill>
                  <a:srgbClr val="1B2236"/>
                </a:solidFill>
                <a:latin typeface="Lexend Deca" pitchFamily="34" charset="0"/>
                <a:ea typeface="Lexend Deca" pitchFamily="34" charset="-122"/>
                <a:cs typeface="Lexend Deca" pitchFamily="34" charset="-120"/>
              </a:rPr>
              <a:t>Home Tips</a:t>
            </a:r>
            <a:endParaRPr lang="en-US" sz="3000" dirty="0" b="1"/>
          </a:p>
        </p:txBody>
      </p:sp>
      <p:sp>
        <p:nvSpPr>
          <p:cNvPr id="8" name="grouping"/>
          <p:cNvSpPr/>
          <p:nvPr/>
        </p:nvSpPr>
        <p:spPr>
          <a:xfrm>
            <a:off x="6291072" y="1783080"/>
            <a:ext cx="3291840" cy="914400"/>
          </a:xfrm>
          <a:prstGeom prst="rect">
            <a:avLst/>
          </a:prstGeom>
          <a:noFill/>
          <a:ln/>
        </p:spPr>
        <p:txBody>
          <a:bodyPr wrap="square" lIns="0" tIns="0" rIns="0" bIns="0" rtlCol="0" anchor="ct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Groups of 3.</a:t>
            </a:r>
            <a:endParaRPr lang="en-US" sz="1800" dirty="0"/>
          </a:p>
          <a:p>
            <a:pPr algn="l" indent="0" marL="0">
              <a:buNone/>
            </a:pPr>
            <a:r>
              <a:rPr lang="en-US" sz="1800" dirty="0">
                <a:solidFill>
                  <a:srgbClr val="1B2236"/>
                </a:solidFill>
                <a:latin typeface="Lexend Deca" pitchFamily="34" charset="0"/>
                <a:ea typeface="Lexend Deca" pitchFamily="34" charset="-122"/>
                <a:cs typeface="Lexend Deca" pitchFamily="34" charset="-120"/>
              </a:rPr>
              <a:t>Write 5 tips.</a:t>
            </a:r>
            <a:endParaRPr lang="en-US" sz="1800" dirty="0"/>
          </a:p>
        </p:txBody>
      </p:sp>
      <p:sp>
        <p:nvSpPr>
          <p:cNvPr id="9" name="Shape 7"/>
          <p:cNvSpPr/>
          <p:nvPr/>
        </p:nvSpPr>
        <p:spPr>
          <a:xfrm>
            <a:off x="9734702" y="2103120"/>
            <a:ext cx="1992478" cy="0"/>
          </a:xfrm>
          <a:prstGeom prst="line">
            <a:avLst/>
          </a:prstGeom>
          <a:noFill/>
          <a:ln w="6350">
            <a:solidFill>
              <a:srgbClr val="1B2236"/>
            </a:solidFill>
            <a:prstDash val="solid"/>
          </a:ln>
        </p:spPr>
        <p:txBody>
          <a:bodyPr/>
          <a:p/>
        </p:txBody>
      </p:sp>
      <p:sp>
        <p:nvSpPr>
          <p:cNvPr id="10" name="Shape 8"/>
          <p:cNvSpPr/>
          <p:nvPr/>
        </p:nvSpPr>
        <p:spPr>
          <a:xfrm>
            <a:off x="9734702" y="2571293"/>
            <a:ext cx="1992478" cy="0"/>
          </a:xfrm>
          <a:prstGeom prst="line">
            <a:avLst/>
          </a:prstGeom>
          <a:noFill/>
          <a:ln w="6350">
            <a:solidFill>
              <a:srgbClr val="1B2236"/>
            </a:solidFill>
            <a:prstDash val="solid"/>
          </a:ln>
        </p:spPr>
        <p:txBody>
          <a:bodyPr/>
          <a:p/>
        </p:txBody>
      </p:sp>
      <p:sp>
        <p:nvSpPr>
          <p:cNvPr id="11" name="time"/>
          <p:cNvSpPr/>
          <p:nvPr/>
        </p:nvSpPr>
        <p:spPr>
          <a:xfrm>
            <a:off x="9784080" y="2130552"/>
            <a:ext cx="1920240" cy="384048"/>
          </a:xfrm>
          <a:prstGeom prst="rect">
            <a:avLst/>
          </a:prstGeom>
          <a:noFill/>
          <a:ln/>
        </p:spPr>
        <p:txBody>
          <a:bodyPr wrap="none" lIns="0" tIns="0" rIns="0" bIns="0" rtlCol="0" anchor="ct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7:00–7:15</a:t>
            </a:r>
            <a:endParaRPr lang="en-US" sz="2000" dirty="0" b="1"/>
          </a:p>
        </p:txBody>
      </p:sp>
      <p:sp>
        <p:nvSpPr>
          <p:cNvPr id="12" name="Shape 10"/>
          <p:cNvSpPr/>
          <p:nvPr/>
        </p:nvSpPr>
        <p:spPr>
          <a:xfrm>
            <a:off x="6416345" y="3198571"/>
            <a:ext cx="5486400" cy="3411626"/>
          </a:xfrm>
          <a:prstGeom prst="round1Rect">
            <a:avLst>
              <a:gd name="adj" fmla="val 23087"/>
            </a:avLst>
          </a:prstGeom>
          <a:solidFill>
            <a:srgbClr val="8FAFE3"/>
          </a:solidFill>
          <a:ln/>
        </p:spPr>
        <p:txBody>
          <a:bodyPr/>
          <a:p/>
        </p:txBody>
      </p:sp>
      <p:sp>
        <p:nvSpPr>
          <p:cNvPr id="13" name="Shape 11"/>
          <p:cNvSpPr/>
          <p:nvPr/>
        </p:nvSpPr>
        <p:spPr>
          <a:xfrm>
            <a:off x="6291986" y="3071470"/>
            <a:ext cx="5486400" cy="3411626"/>
          </a:xfrm>
          <a:prstGeom prst="round1Rect">
            <a:avLst>
              <a:gd name="adj" fmla="val 23087"/>
            </a:avLst>
          </a:prstGeom>
          <a:solidFill>
            <a:srgbClr val="FFFFFF"/>
          </a:solidFill>
          <a:ln/>
        </p:spPr>
        <p:txBody>
          <a:bodyPr/>
          <a:p/>
        </p:txBody>
      </p:sp>
      <p:sp>
        <p:nvSpPr>
          <p:cNvPr id="19" name="Step num 1"/>
          <p:cNvSpPr/>
          <p:nvPr/>
        </p:nvSpPr>
        <p:spPr>
          <a:xfrm>
            <a:off x="6583680" y="3511296"/>
            <a:ext cx="566928" cy="566928"/>
          </a:xfrm>
          <a:prstGeom prst="ellipse">
            <a:avLst/>
          </a:prstGeom>
          <a:solidFill>
            <a:srgbClr val="FFE28C"/>
          </a:solidFill>
          <a:ln w="38100">
            <a:noFill/>
          </a:ln>
        </p:spPr>
        <p:txBody>
          <a:bodyPr wrap="square" lIns="0" tIns="36576" rIns="0" bIns="36576" rtlCol="0" anchor="ctr">
            <a:noAutofit/>
          </a:bodyPr>
          <a:lstStyle/>
          <a:p>
            <a:pPr algn="ctr" indent="0" marL="0">
              <a:buNone/>
            </a:pPr>
            <a:r>
              <a:rPr lang="en-US" sz="2200" dirty="0" b="1">
                <a:solidFill>
                  <a:srgbClr val="1B2236"/>
                </a:solidFill>
                <a:latin typeface="Lexend Deca" pitchFamily="34" charset="0"/>
                <a:ea typeface="Lexend Deca" pitchFamily="34" charset="-122"/>
                <a:cs typeface="Lexend Deca" pitchFamily="34" charset="-120"/>
              </a:rPr>
              <a:t>1</a:t>
            </a:r>
            <a:endParaRPr lang="en-US" sz="2200" dirty="0"/>
          </a:p>
        </p:txBody>
      </p:sp>
      <p:sp>
        <p:nvSpPr>
          <p:cNvPr id="20" name="Step 1"/>
          <p:cNvSpPr/>
          <p:nvPr/>
        </p:nvSpPr>
        <p:spPr>
          <a:xfrm>
            <a:off x="7315200" y="3401568"/>
            <a:ext cx="4206240" cy="86868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Write 5 tips to save energy or stay safe.</a:t>
            </a:r>
            <a:endParaRPr lang="en-US" sz="1700" dirty="0" b="1"/>
          </a:p>
          <a:p>
            <a:pPr algn="l" indent="0" marL="0">
              <a:buNone/>
            </a:pPr>
            <a:r>
              <a:rPr lang="en-US" sz="1700" dirty="0" b="0">
                <a:solidFill>
                  <a:srgbClr val="5B3FC4"/>
                </a:solidFill>
                <a:latin typeface="Lexend Deca" pitchFamily="34" charset="0"/>
                <a:ea typeface="Lexend Deca" pitchFamily="34" charset="-122"/>
                <a:cs typeface="Lexend Deca" pitchFamily="34" charset="-120"/>
              </a:rPr>
              <a:t>Turn down the heat at night.</a:t>
            </a:r>
            <a:endParaRPr lang="en-US" sz="1700" dirty="0" b="0"/>
          </a:p>
        </p:txBody>
      </p:sp>
      <p:sp>
        <p:nvSpPr>
          <p:cNvPr id="21" name="Step num 2"/>
          <p:cNvSpPr/>
          <p:nvPr/>
        </p:nvSpPr>
        <p:spPr>
          <a:xfrm>
            <a:off x="6583680" y="4489704"/>
            <a:ext cx="566928" cy="566928"/>
          </a:xfrm>
          <a:prstGeom prst="ellipse">
            <a:avLst/>
          </a:prstGeom>
          <a:solidFill>
            <a:srgbClr val="FFE28C"/>
          </a:solidFill>
          <a:ln w="38100">
            <a:noFill/>
          </a:ln>
        </p:spPr>
        <p:txBody>
          <a:bodyPr wrap="square" lIns="0" tIns="36576" rIns="0" bIns="36576" rtlCol="0" anchor="ctr">
            <a:noAutofit/>
          </a:bodyPr>
          <a:lstStyle/>
          <a:p>
            <a:pPr algn="ctr" indent="0" marL="0">
              <a:buNone/>
            </a:pPr>
            <a:r>
              <a:rPr lang="en-US" sz="2200" dirty="0" b="1">
                <a:solidFill>
                  <a:srgbClr val="1B2236"/>
                </a:solidFill>
                <a:latin typeface="Lexend Deca" pitchFamily="34" charset="0"/>
                <a:ea typeface="Lexend Deca" pitchFamily="34" charset="-122"/>
                <a:cs typeface="Lexend Deca" pitchFamily="34" charset="-120"/>
              </a:rPr>
              <a:t>2</a:t>
            </a:r>
            <a:endParaRPr lang="en-US" sz="2200" dirty="0"/>
          </a:p>
        </p:txBody>
      </p:sp>
      <p:sp>
        <p:nvSpPr>
          <p:cNvPr id="22" name="Step 2"/>
          <p:cNvSpPr/>
          <p:nvPr/>
        </p:nvSpPr>
        <p:spPr>
          <a:xfrm>
            <a:off x="7315200" y="4379976"/>
            <a:ext cx="4206240" cy="86868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Use Make sure you… and Don't forget to…</a:t>
            </a:r>
            <a:endParaRPr lang="en-US" sz="1700" dirty="0" b="1"/>
          </a:p>
          <a:p>
            <a:pPr algn="l" indent="0" marL="0">
              <a:buNone/>
            </a:pPr>
            <a:r>
              <a:rPr lang="en-US" sz="1700" dirty="0" b="0">
                <a:solidFill>
                  <a:srgbClr val="5B3FC4"/>
                </a:solidFill>
                <a:latin typeface="Lexend Deca" pitchFamily="34" charset="0"/>
                <a:ea typeface="Lexend Deca" pitchFamily="34" charset="-122"/>
                <a:cs typeface="Lexend Deca" pitchFamily="34" charset="-120"/>
              </a:rPr>
              <a:t>Make sure you lock the deadbolt.</a:t>
            </a:r>
            <a:endParaRPr lang="en-US" sz="1700" dirty="0" b="0"/>
          </a:p>
        </p:txBody>
      </p:sp>
      <p:sp>
        <p:nvSpPr>
          <p:cNvPr id="23" name="Step num 3"/>
          <p:cNvSpPr/>
          <p:nvPr/>
        </p:nvSpPr>
        <p:spPr>
          <a:xfrm>
            <a:off x="6583680" y="5468112"/>
            <a:ext cx="566928" cy="566928"/>
          </a:xfrm>
          <a:prstGeom prst="ellipse">
            <a:avLst/>
          </a:prstGeom>
          <a:solidFill>
            <a:srgbClr val="FFE28C"/>
          </a:solidFill>
          <a:ln w="38100">
            <a:noFill/>
          </a:ln>
        </p:spPr>
        <p:txBody>
          <a:bodyPr wrap="square" lIns="0" tIns="36576" rIns="0" bIns="36576" rtlCol="0" anchor="ctr">
            <a:noAutofit/>
          </a:bodyPr>
          <a:lstStyle/>
          <a:p>
            <a:pPr algn="ctr" indent="0" marL="0">
              <a:buNone/>
            </a:pPr>
            <a:r>
              <a:rPr lang="en-US" sz="2200" dirty="0" b="1">
                <a:solidFill>
                  <a:srgbClr val="1B2236"/>
                </a:solidFill>
                <a:latin typeface="Lexend Deca" pitchFamily="34" charset="0"/>
                <a:ea typeface="Lexend Deca" pitchFamily="34" charset="-122"/>
                <a:cs typeface="Lexend Deca" pitchFamily="34" charset="-120"/>
              </a:rPr>
              <a:t>3</a:t>
            </a:r>
            <a:endParaRPr lang="en-US" sz="2200" dirty="0"/>
          </a:p>
        </p:txBody>
      </p:sp>
      <p:sp>
        <p:nvSpPr>
          <p:cNvPr id="24" name="Step 3"/>
          <p:cNvSpPr/>
          <p:nvPr/>
        </p:nvSpPr>
        <p:spPr>
          <a:xfrm>
            <a:off x="7315200" y="5358384"/>
            <a:ext cx="4206240" cy="86868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Present them in 1 minute.</a:t>
            </a:r>
            <a:endParaRPr lang="en-US" sz="1700" dirty="0" b="1"/>
          </a:p>
          <a:p>
            <a:pPr algn="l" indent="0" marL="0">
              <a:buNone/>
            </a:pPr>
            <a:r>
              <a:rPr lang="en-US" sz="1700" dirty="0" b="0">
                <a:solidFill>
                  <a:srgbClr val="5B3FC4"/>
                </a:solidFill>
                <a:latin typeface="Lexend Deca" pitchFamily="34" charset="0"/>
                <a:ea typeface="Lexend Deca" pitchFamily="34" charset="-122"/>
                <a:cs typeface="Lexend Deca" pitchFamily="34" charset="-120"/>
              </a:rPr>
              <a:t>Unplug the charger when the phone is full.</a:t>
            </a:r>
            <a:endParaRPr lang="en-US" sz="1700" dirty="0" b="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fade">
                                      <p:cBhvr>
                                        <p:cTn id="15" dur="400"/>
                                        <p:tgtEl>
                                          <p:spTgt spid="21"/>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3"/>
                                        </p:tgtEl>
                                        <p:attrNameLst>
                                          <p:attrName>style.visibility</p:attrName>
                                        </p:attrNameLst>
                                      </p:cBhvr>
                                      <p:to>
                                        <p:strVal val="visible"/>
                                      </p:to>
                                    </p:set>
                                    <p:animEffect transition="in" filter="fade">
                                      <p:cBhvr>
                                        <p:cTn id="23" dur="400"/>
                                        <p:tgtEl>
                                          <p:spTgt spid="23"/>
                                        </p:tgtEl>
                                      </p:cBhvr>
                                    </p:animEffect>
                                  </p:childTnLst>
                                </p:cTn>
                              </p:par>
                              <p:par>
                                <p:cTn id="24" presetID="10" presetClass="entr" presetSubtype="0" fill="hold" nodeType="withEffect">
                                  <p:stCondLst>
                                    <p:cond delay="0"/>
                                  </p:stCondLst>
                                  <p:childTnLst>
                                    <p:set>
                                      <p:cBhvr>
                                        <p:cTn id="25" dur="1" fill="hold">
                                          <p:stCondLst>
                                            <p:cond delay="0"/>
                                          </p:stCondLst>
                                        </p:cTn>
                                        <p:tgtEl>
                                          <p:spTgt spid="24"/>
                                        </p:tgtEl>
                                        <p:attrNameLst>
                                          <p:attrName>style.visibility</p:attrName>
                                        </p:attrNameLst>
                                      </p:cBhvr>
                                      <p:to>
                                        <p:strVal val="visible"/>
                                      </p:to>
                                    </p:set>
                                    <p:animEffect transition="in" filter="fade">
                                      <p:cBhvr>
                                        <p:cTn id="26" dur="4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xml><?xml version="1.0" encoding="utf-8"?>
<p:sld xmlns:a="http://schemas.openxmlformats.org/drawingml/2006/main" xmlns:p="http://schemas.openxmlformats.org/presentationml/2006/main" xmlns:r="http://schemas.openxmlformats.org/officeDocument/2006/relationships">
  <p:cSld name="L4:gaps">
    <p:bg>
      <p:bgPr>
        <a:solidFill>
          <a:srgbClr val="F1F5FB"/>
        </a:solidFill>
      </p:bgPr>
    </p:bg>
    <p:spTree>
      <p:nvGrpSpPr>
        <p:cNvPr id="1" name=""/>
        <p:cNvGrpSpPr/>
        <p:nvPr/>
      </p:nvGrpSpPr>
      <p:grpSpPr/>
      <p:sp>
        <p:nvSpPr>
          <p:cNvPr id="2" name="head shadow"/>
          <p:cNvSpPr/>
          <p:nvPr/>
        </p:nvSpPr>
        <p:spPr>
          <a:xfrm>
            <a:off x="544982" y="1407262"/>
            <a:ext cx="7086600" cy="983894"/>
          </a:xfrm>
          <a:prstGeom prst="round1Rect">
            <a:avLst>
              <a:gd name="adj" fmla="val 23087"/>
            </a:avLst>
          </a:prstGeom>
          <a:solidFill>
            <a:srgbClr val="8FAFE3"/>
          </a:solidFill>
          <a:ln/>
        </p:spPr>
        <p:txBody>
          <a:bodyPr/>
          <a:p/>
        </p:txBody>
      </p:sp>
      <p:sp>
        <p:nvSpPr>
          <p:cNvPr id="3" name="head card"/>
          <p:cNvSpPr/>
          <p:nvPr/>
        </p:nvSpPr>
        <p:spPr>
          <a:xfrm>
            <a:off x="548640" y="1349654"/>
            <a:ext cx="7086600" cy="983894"/>
          </a:xfrm>
          <a:prstGeom prst="round1Rect">
            <a:avLst>
              <a:gd name="adj" fmla="val 23087"/>
            </a:avLst>
          </a:prstGeom>
          <a:solidFill>
            <a:srgbClr val="FFFFFF"/>
          </a:solidFill>
          <a:ln/>
        </p:spPr>
        <p:txBody>
          <a:bodyPr/>
          <a:p/>
        </p:txBody>
      </p:sp>
      <p:sp>
        <p:nvSpPr>
          <p:cNvPr id="8" name="head1"/>
          <p:cNvSpPr/>
          <p:nvPr/>
        </p:nvSpPr>
        <p:spPr>
          <a:xfrm>
            <a:off x="777240" y="1417320"/>
            <a:ext cx="5440680" cy="384048"/>
          </a:xfrm>
          <a:prstGeom prst="rect">
            <a:avLst/>
          </a:prstGeom>
          <a:noFill/>
          <a:ln/>
        </p:spPr>
        <p:txBody>
          <a:bodyPr wrap="square" rtlCol="0" anchor="t"/>
          <a:lstStyle/>
          <a:p>
            <a:pPr algn="l" indent="0" marL="0">
              <a:buNone/>
            </a:pPr>
            <a:r>
              <a:rPr lang="en-US" sz="2000" dirty="0" b="1">
                <a:solidFill>
                  <a:srgbClr val="1B2236"/>
                </a:solidFill>
                <a:latin typeface="Lexend Deca" pitchFamily="34" charset="0"/>
                <a:ea typeface="Lexend Deca" pitchFamily="34" charset="-122"/>
                <a:cs typeface="Lexend Deca" pitchFamily="34" charset="-120"/>
              </a:rPr>
              <a:t>Read fast first.</a:t>
            </a:r>
            <a:endParaRPr lang="en-US" sz="2000" dirty="0" b="1"/>
          </a:p>
        </p:txBody>
      </p:sp>
      <p:sp>
        <p:nvSpPr>
          <p:cNvPr id="9" name="head2"/>
          <p:cNvSpPr/>
          <p:nvPr/>
        </p:nvSpPr>
        <p:spPr>
          <a:xfrm>
            <a:off x="868680" y="1819656"/>
            <a:ext cx="5349240" cy="411480"/>
          </a:xfrm>
          <a:prstGeom prst="rect">
            <a:avLst/>
          </a:prstGeom>
          <a:noFill/>
          <a:ln/>
        </p:spPr>
        <p:txBody>
          <a:bodyPr wrap="square" lIns="0" tIns="0" rIns="0" bIns="0" rtlCol="0" anchor="t"/>
          <a:lstStyle/>
          <a:p>
            <a:pPr algn="l" indent="0" marL="0">
              <a:buNone/>
            </a:pPr>
            <a:r>
              <a:rPr lang="en-US" sz="2000" dirty="0">
                <a:solidFill>
                  <a:srgbClr val="1B2236"/>
                </a:solidFill>
                <a:latin typeface="Lexend Deca" pitchFamily="34" charset="0"/>
                <a:ea typeface="Lexend Deca" pitchFamily="34" charset="-122"/>
                <a:cs typeface="Lexend Deca" pitchFamily="34" charset="-120"/>
              </a:rPr>
              <a:t>Answer the questions.</a:t>
            </a:r>
            <a:endParaRPr lang="en-US" sz="2000" dirty="0"/>
          </a:p>
        </p:txBody>
      </p:sp>
      <p:sp>
        <p:nvSpPr>
          <p:cNvPr id="29" name="title"/>
          <p:cNvSpPr/>
          <p:nvPr/>
        </p:nvSpPr>
        <p:spPr>
          <a:xfrm>
            <a:off x="8001000" y="1783080"/>
            <a:ext cx="3840480" cy="1600200"/>
          </a:xfrm>
          <a:prstGeom prst="rect">
            <a:avLst/>
          </a:prstGeom>
          <a:noFill/>
          <a:ln/>
        </p:spPr>
        <p:txBody>
          <a:bodyPr wrap="square" rtlCol="0" anchor="b"/>
          <a:lstStyle/>
          <a:p>
            <a:pPr algn="l" indent="0" marL="0">
              <a:buNone/>
            </a:pPr>
            <a:r>
              <a:rPr lang="en-US" sz="4000" dirty="0" b="1">
                <a:solidFill>
                  <a:srgbClr val="1B2236"/>
                </a:solidFill>
                <a:latin typeface="Lexend Deca" pitchFamily="34" charset="0"/>
                <a:ea typeface="Lexend Deca" pitchFamily="34" charset="-122"/>
                <a:cs typeface="Lexend Deca" pitchFamily="34" charset="-120"/>
              </a:rPr>
              <a:t>Read &amp;</a:t>
            </a:r>
            <a:endParaRPr lang="en-US" sz="4000" dirty="0" b="1"/>
          </a:p>
          <a:p>
            <a:pPr algn="l" indent="0" marL="0">
              <a:buNone/>
            </a:pPr>
            <a:r>
              <a:rPr lang="en-US" sz="4000" dirty="0" b="1">
                <a:solidFill>
                  <a:srgbClr val="1B2236"/>
                </a:solidFill>
                <a:latin typeface="Lexend Deca" pitchFamily="34" charset="0"/>
                <a:ea typeface="Lexend Deca" pitchFamily="34" charset="-122"/>
                <a:cs typeface="Lexend Deca" pitchFamily="34" charset="-120"/>
              </a:rPr>
              <a:t>Write</a:t>
            </a:r>
            <a:endParaRPr lang="en-US" sz="4000" dirty="0" b="1"/>
          </a:p>
        </p:txBody>
      </p:sp>
      <p:sp>
        <p:nvSpPr>
          <p:cNvPr id="30" name="side"/>
          <p:cNvSpPr/>
          <p:nvPr/>
        </p:nvSpPr>
        <p:spPr>
          <a:xfrm>
            <a:off x="8046720" y="3611880"/>
            <a:ext cx="3749039" cy="2377440"/>
          </a:xfrm>
          <a:prstGeom prst="rect">
            <a:avLst/>
          </a:prstGeom>
          <a:noFill/>
          <a:ln/>
        </p:spPr>
        <p:txBody>
          <a:bodyPr wrap="square" lIns="0" tIns="0" rIns="0" bIns="0" rtlCol="0" anchor="t"/>
          <a:lstStyle/>
          <a:p>
            <a:pPr algn="l" indent="0" marL="0">
              <a:lnSpc>
                <a:spcPct val="120000"/>
              </a:lnSpc>
              <a:spcAft>
                <a:spcPts val="1200"/>
              </a:spcAft>
              <a:buNone/>
            </a:pPr>
            <a:r>
              <a:rPr lang="en-US" sz="2000" dirty="0" b="1">
                <a:solidFill>
                  <a:srgbClr val="1B2236"/>
                </a:solidFill>
                <a:latin typeface="Lexend Deca" pitchFamily="34" charset="0"/>
                <a:ea typeface="Lexend Deca" pitchFamily="34" charset="-122"/>
                <a:cs typeface="Lexend Deca" pitchFamily="34" charset="-120"/>
              </a:rPr>
              <a:t>CITY POWER · A bill + a flyer (invented)</a:t>
            </a:r>
            <a:endParaRPr lang="en-US" sz="2000" dirty="0" b="1"/>
          </a:p>
          <a:p>
            <a:pPr algn="l" indent="0" marL="0">
              <a:lnSpc>
                <a:spcPct val="120000"/>
              </a:lnSpc>
              <a:spcAft>
                <a:spcPts val="1200"/>
              </a:spcAft>
              <a:buNone/>
            </a:pPr>
            <a:r>
              <a:rPr lang="en-US" sz="2000" dirty="0" b="1">
                <a:solidFill>
                  <a:srgbClr val="1B2236"/>
                </a:solidFill>
                <a:latin typeface="Lexend Deca" pitchFamily="34" charset="0"/>
                <a:ea typeface="Lexend Deca" pitchFamily="34" charset="-122"/>
                <a:cs typeface="Lexend Deca" pitchFamily="34" charset="-120"/>
              </a:rPr>
              <a:t>Pairs: </a:t>
            </a:r>
            <a:r>
              <a:rPr lang="en-US" sz="2000" dirty="0" b="1">
                <a:solidFill>
                  <a:srgbClr val="5B3FC4"/>
                </a:solidFill>
                <a:latin typeface="Lexend Deca" pitchFamily="34" charset="0"/>
                <a:ea typeface="Lexend Deca" pitchFamily="34" charset="-122"/>
                <a:cs typeface="Lexend Deca" pitchFamily="34" charset="-120"/>
              </a:rPr>
              <a:t>answer together.</a:t>
            </a:r>
            <a:endParaRPr lang="en-US" sz="2000" dirty="0" b="1"/>
          </a:p>
        </p:txBody>
      </p:sp>
      <p:sp>
        <p:nvSpPr>
          <p:cNvPr id="31" name="R1 card"/>
          <p:cNvSpPr/>
          <p:nvPr/>
        </p:nvSpPr>
        <p:spPr>
          <a:xfrm>
            <a:off x="1583741" y="2397557"/>
            <a:ext cx="6035040" cy="713232"/>
          </a:xfrm>
          <a:prstGeom prst="round1Rect">
            <a:avLst>
              <a:gd name="adj" fmla="val 23087"/>
            </a:avLst>
          </a:prstGeom>
          <a:solidFill>
            <a:srgbClr val="FFFFFF"/>
          </a:solidFill>
          <a:ln/>
        </p:spPr>
        <p:txBody>
          <a:bodyPr/>
          <a:p/>
        </p:txBody>
      </p:sp>
      <p:sp>
        <p:nvSpPr>
          <p:cNvPr id="32" name="R1 chip"/>
          <p:cNvSpPr/>
          <p:nvPr/>
        </p:nvSpPr>
        <p:spPr>
          <a:xfrm>
            <a:off x="544982" y="2397557"/>
            <a:ext cx="1039673" cy="713232"/>
          </a:xfrm>
          <a:prstGeom prst="rect">
            <a:avLst/>
          </a:prstGeom>
          <a:solidFill>
            <a:srgbClr val="B9D2F7"/>
          </a:solidFill>
          <a:ln/>
        </p:spPr>
        <p:txBody>
          <a:bodyPr/>
          <a:p/>
        </p:txBody>
      </p:sp>
      <p:sp>
        <p:nvSpPr>
          <p:cNvPr id="33" name="R1 num"/>
          <p:cNvSpPr/>
          <p:nvPr/>
        </p:nvSpPr>
        <p:spPr>
          <a:xfrm>
            <a:off x="686714" y="2461565"/>
            <a:ext cx="1109167" cy="585216"/>
          </a:xfrm>
          <a:prstGeom prst="rect">
            <a:avLst/>
          </a:prstGeom>
          <a:noFill/>
          <a:ln/>
        </p:spPr>
        <p:txBody>
          <a:bodyPr wrap="square" rtlCol="0" anchor="ctr"/>
          <a:lstStyle/>
          <a:p>
            <a:pPr algn="ctr" indent="0" marL="0">
              <a:buNone/>
            </a:pPr>
            <a:r>
              <a:rPr lang="en-US" sz="3200" dirty="0" b="1"/>
              <a:t>1</a:t>
            </a:r>
            <a:endParaRPr lang="en-US" sz="3200" dirty="0" b="1"/>
          </a:p>
        </p:txBody>
      </p:sp>
      <p:sp>
        <p:nvSpPr>
          <p:cNvPr id="34" name="R1 text"/>
          <p:cNvSpPr/>
          <p:nvPr/>
        </p:nvSpPr>
        <p:spPr>
          <a:xfrm>
            <a:off x="1810512" y="2397557"/>
            <a:ext cx="2304288" cy="713232"/>
          </a:xfrm>
          <a:prstGeom prst="rect">
            <a:avLst/>
          </a:prstGeom>
          <a:noFill/>
          <a:ln/>
        </p:spPr>
        <p:txBody>
          <a:bodyPr wrap="square" rtlCol="0" anchor="ctr" tIns="0" bIns="0"/>
          <a:lstStyle/>
          <a:p>
            <a:pPr algn="l" indent="0" marL="0">
              <a:buNone/>
            </a:pPr>
            <a:r>
              <a:rPr lang="en-US" sz="1500" dirty="0">
                <a:solidFill>
                  <a:srgbClr val="1B2236"/>
                </a:solidFill>
                <a:latin typeface="Lexend Deca" pitchFamily="34" charset="0"/>
                <a:ea typeface="Lexend Deca" pitchFamily="34" charset="-122"/>
                <a:cs typeface="Lexend Deca" pitchFamily="34" charset="-120"/>
              </a:rPr>
              <a:t>How much is the bill?</a:t>
            </a:r>
            <a:endParaRPr lang="en-US" sz="1500" dirty="0"/>
          </a:p>
        </p:txBody>
      </p:sp>
      <p:sp>
        <p:nvSpPr>
          <p:cNvPr id="35" name="R1 ans"/>
          <p:cNvSpPr/>
          <p:nvPr/>
        </p:nvSpPr>
        <p:spPr>
          <a:xfrm>
            <a:off x="4187952" y="2525573"/>
            <a:ext cx="338328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1400" dirty="0" b="1">
                <a:solidFill>
                  <a:srgbClr val="1B2236"/>
                </a:solidFill>
                <a:latin typeface="Lexend Deca" pitchFamily="34" charset="0"/>
                <a:ea typeface="Lexend Deca" pitchFamily="34" charset="-122"/>
                <a:cs typeface="Lexend Deca" pitchFamily="34" charset="-120"/>
              </a:rPr>
              <a:t>$142.00.</a:t>
            </a:r>
            <a:endParaRPr lang="en-US" sz="1400" dirty="0" b="1"/>
          </a:p>
        </p:txBody>
      </p:sp>
      <p:sp>
        <p:nvSpPr>
          <p:cNvPr id="36" name="R2 card"/>
          <p:cNvSpPr/>
          <p:nvPr/>
        </p:nvSpPr>
        <p:spPr>
          <a:xfrm>
            <a:off x="1583741" y="3183941"/>
            <a:ext cx="6035040" cy="713232"/>
          </a:xfrm>
          <a:prstGeom prst="round1Rect">
            <a:avLst>
              <a:gd name="adj" fmla="val 23087"/>
            </a:avLst>
          </a:prstGeom>
          <a:solidFill>
            <a:srgbClr val="FFFFFF"/>
          </a:solidFill>
          <a:ln/>
        </p:spPr>
        <p:txBody>
          <a:bodyPr/>
          <a:p/>
        </p:txBody>
      </p:sp>
      <p:sp>
        <p:nvSpPr>
          <p:cNvPr id="37" name="R2 chip"/>
          <p:cNvSpPr/>
          <p:nvPr/>
        </p:nvSpPr>
        <p:spPr>
          <a:xfrm>
            <a:off x="544982" y="3183941"/>
            <a:ext cx="1039673" cy="713232"/>
          </a:xfrm>
          <a:prstGeom prst="rect">
            <a:avLst/>
          </a:prstGeom>
          <a:solidFill>
            <a:srgbClr val="B9D2F7"/>
          </a:solidFill>
          <a:ln/>
        </p:spPr>
        <p:txBody>
          <a:bodyPr/>
          <a:p/>
        </p:txBody>
      </p:sp>
      <p:sp>
        <p:nvSpPr>
          <p:cNvPr id="38" name="R2 num"/>
          <p:cNvSpPr/>
          <p:nvPr/>
        </p:nvSpPr>
        <p:spPr>
          <a:xfrm>
            <a:off x="686714" y="3247949"/>
            <a:ext cx="1109167" cy="585216"/>
          </a:xfrm>
          <a:prstGeom prst="rect">
            <a:avLst/>
          </a:prstGeom>
          <a:noFill/>
          <a:ln/>
        </p:spPr>
        <p:txBody>
          <a:bodyPr wrap="square" rtlCol="0" anchor="ctr"/>
          <a:lstStyle/>
          <a:p>
            <a:pPr algn="ctr" indent="0" marL="0">
              <a:buNone/>
            </a:pPr>
            <a:r>
              <a:rPr lang="en-US" sz="3200" dirty="0" b="1"/>
              <a:t>2</a:t>
            </a:r>
            <a:endParaRPr lang="en-US" sz="3200" dirty="0" b="1"/>
          </a:p>
        </p:txBody>
      </p:sp>
      <p:sp>
        <p:nvSpPr>
          <p:cNvPr id="39" name="R2 text"/>
          <p:cNvSpPr/>
          <p:nvPr/>
        </p:nvSpPr>
        <p:spPr>
          <a:xfrm>
            <a:off x="1810512" y="3183941"/>
            <a:ext cx="2304288" cy="713232"/>
          </a:xfrm>
          <a:prstGeom prst="rect">
            <a:avLst/>
          </a:prstGeom>
          <a:noFill/>
          <a:ln/>
        </p:spPr>
        <p:txBody>
          <a:bodyPr wrap="square" rtlCol="0" anchor="ctr" tIns="0" bIns="0"/>
          <a:lstStyle/>
          <a:p>
            <a:pPr algn="l" indent="0" marL="0">
              <a:buNone/>
            </a:pPr>
            <a:r>
              <a:rPr lang="en-US" sz="1500" dirty="0">
                <a:solidFill>
                  <a:srgbClr val="1B2236"/>
                </a:solidFill>
                <a:latin typeface="Lexend Deca" pitchFamily="34" charset="0"/>
                <a:ea typeface="Lexend Deca" pitchFamily="34" charset="-122"/>
                <a:cs typeface="Lexend Deca" pitchFamily="34" charset="-120"/>
              </a:rPr>
              <a:t>When is it due?</a:t>
            </a:r>
            <a:endParaRPr lang="en-US" sz="1500" dirty="0"/>
          </a:p>
        </p:txBody>
      </p:sp>
      <p:sp>
        <p:nvSpPr>
          <p:cNvPr id="40" name="R2 ans"/>
          <p:cNvSpPr/>
          <p:nvPr/>
        </p:nvSpPr>
        <p:spPr>
          <a:xfrm>
            <a:off x="4187952" y="3311957"/>
            <a:ext cx="338328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1400" dirty="0" b="1">
                <a:solidFill>
                  <a:srgbClr val="1B2236"/>
                </a:solidFill>
                <a:latin typeface="Lexend Deca" pitchFamily="34" charset="0"/>
                <a:ea typeface="Lexend Deca" pitchFamily="34" charset="-122"/>
                <a:cs typeface="Lexend Deca" pitchFamily="34" charset="-120"/>
              </a:rPr>
              <a:t>March 15.</a:t>
            </a:r>
            <a:endParaRPr lang="en-US" sz="1400" dirty="0" b="1"/>
          </a:p>
        </p:txBody>
      </p:sp>
      <p:sp>
        <p:nvSpPr>
          <p:cNvPr id="41" name="R3 card"/>
          <p:cNvSpPr/>
          <p:nvPr/>
        </p:nvSpPr>
        <p:spPr>
          <a:xfrm>
            <a:off x="1583741" y="3970325"/>
            <a:ext cx="6035040" cy="713232"/>
          </a:xfrm>
          <a:prstGeom prst="round1Rect">
            <a:avLst>
              <a:gd name="adj" fmla="val 23087"/>
            </a:avLst>
          </a:prstGeom>
          <a:solidFill>
            <a:srgbClr val="FFFFFF"/>
          </a:solidFill>
          <a:ln/>
        </p:spPr>
        <p:txBody>
          <a:bodyPr/>
          <a:p/>
        </p:txBody>
      </p:sp>
      <p:sp>
        <p:nvSpPr>
          <p:cNvPr id="42" name="R3 chip"/>
          <p:cNvSpPr/>
          <p:nvPr/>
        </p:nvSpPr>
        <p:spPr>
          <a:xfrm>
            <a:off x="544982" y="3970325"/>
            <a:ext cx="1039673" cy="713232"/>
          </a:xfrm>
          <a:prstGeom prst="rect">
            <a:avLst/>
          </a:prstGeom>
          <a:solidFill>
            <a:srgbClr val="B9D2F7"/>
          </a:solidFill>
          <a:ln/>
        </p:spPr>
        <p:txBody>
          <a:bodyPr/>
          <a:p/>
        </p:txBody>
      </p:sp>
      <p:sp>
        <p:nvSpPr>
          <p:cNvPr id="43" name="R3 num"/>
          <p:cNvSpPr/>
          <p:nvPr/>
        </p:nvSpPr>
        <p:spPr>
          <a:xfrm>
            <a:off x="686714" y="4034333"/>
            <a:ext cx="1109167" cy="585216"/>
          </a:xfrm>
          <a:prstGeom prst="rect">
            <a:avLst/>
          </a:prstGeom>
          <a:noFill/>
          <a:ln/>
        </p:spPr>
        <p:txBody>
          <a:bodyPr wrap="square" rtlCol="0" anchor="ctr"/>
          <a:lstStyle/>
          <a:p>
            <a:pPr algn="ctr" indent="0" marL="0">
              <a:buNone/>
            </a:pPr>
            <a:r>
              <a:rPr lang="en-US" sz="3200" dirty="0" b="1"/>
              <a:t>3</a:t>
            </a:r>
            <a:endParaRPr lang="en-US" sz="3200" dirty="0" b="1"/>
          </a:p>
        </p:txBody>
      </p:sp>
      <p:sp>
        <p:nvSpPr>
          <p:cNvPr id="44" name="R3 text"/>
          <p:cNvSpPr/>
          <p:nvPr/>
        </p:nvSpPr>
        <p:spPr>
          <a:xfrm>
            <a:off x="1810512" y="3970325"/>
            <a:ext cx="2304288" cy="713232"/>
          </a:xfrm>
          <a:prstGeom prst="rect">
            <a:avLst/>
          </a:prstGeom>
          <a:noFill/>
          <a:ln/>
        </p:spPr>
        <p:txBody>
          <a:bodyPr wrap="square" rtlCol="0" anchor="ctr" tIns="0" bIns="0"/>
          <a:lstStyle/>
          <a:p>
            <a:pPr algn="l" indent="0" marL="0">
              <a:buNone/>
            </a:pPr>
            <a:r>
              <a:rPr lang="en-US" sz="1500" dirty="0">
                <a:solidFill>
                  <a:srgbClr val="1B2236"/>
                </a:solidFill>
                <a:latin typeface="Lexend Deca" pitchFamily="34" charset="0"/>
                <a:ea typeface="Lexend Deca" pitchFamily="34" charset="-122"/>
                <a:cs typeface="Lexend Deca" pitchFamily="34" charset="-120"/>
              </a:rPr>
              <a:t>What happens if you pay late?</a:t>
            </a:r>
            <a:endParaRPr lang="en-US" sz="1500" dirty="0"/>
          </a:p>
        </p:txBody>
      </p:sp>
      <p:sp>
        <p:nvSpPr>
          <p:cNvPr id="45" name="R3 ans"/>
          <p:cNvSpPr/>
          <p:nvPr/>
        </p:nvSpPr>
        <p:spPr>
          <a:xfrm>
            <a:off x="4187952" y="4098341"/>
            <a:ext cx="338328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1400" dirty="0" b="1">
                <a:solidFill>
                  <a:srgbClr val="1B2236"/>
                </a:solidFill>
                <a:latin typeface="Lexend Deca" pitchFamily="34" charset="0"/>
                <a:ea typeface="Lexend Deca" pitchFamily="34" charset="-122"/>
                <a:cs typeface="Lexend Deca" pitchFamily="34" charset="-120"/>
              </a:rPr>
              <a:t>There is a $10 late fee.</a:t>
            </a:r>
            <a:endParaRPr lang="en-US" sz="1400" dirty="0" b="1"/>
          </a:p>
        </p:txBody>
      </p:sp>
      <p:sp>
        <p:nvSpPr>
          <p:cNvPr id="46" name="R4 card"/>
          <p:cNvSpPr/>
          <p:nvPr/>
        </p:nvSpPr>
        <p:spPr>
          <a:xfrm>
            <a:off x="1583741" y="4756709"/>
            <a:ext cx="6035040" cy="713232"/>
          </a:xfrm>
          <a:prstGeom prst="round1Rect">
            <a:avLst>
              <a:gd name="adj" fmla="val 23087"/>
            </a:avLst>
          </a:prstGeom>
          <a:solidFill>
            <a:srgbClr val="FFFFFF"/>
          </a:solidFill>
          <a:ln/>
        </p:spPr>
        <p:txBody>
          <a:bodyPr/>
          <a:p/>
        </p:txBody>
      </p:sp>
      <p:sp>
        <p:nvSpPr>
          <p:cNvPr id="47" name="R4 chip"/>
          <p:cNvSpPr/>
          <p:nvPr/>
        </p:nvSpPr>
        <p:spPr>
          <a:xfrm>
            <a:off x="544982" y="4756709"/>
            <a:ext cx="1039673" cy="713232"/>
          </a:xfrm>
          <a:prstGeom prst="rect">
            <a:avLst/>
          </a:prstGeom>
          <a:solidFill>
            <a:srgbClr val="B9D2F7"/>
          </a:solidFill>
          <a:ln/>
        </p:spPr>
        <p:txBody>
          <a:bodyPr/>
          <a:p/>
        </p:txBody>
      </p:sp>
      <p:sp>
        <p:nvSpPr>
          <p:cNvPr id="48" name="R4 num"/>
          <p:cNvSpPr/>
          <p:nvPr/>
        </p:nvSpPr>
        <p:spPr>
          <a:xfrm>
            <a:off x="686714" y="4820717"/>
            <a:ext cx="1109167" cy="585216"/>
          </a:xfrm>
          <a:prstGeom prst="rect">
            <a:avLst/>
          </a:prstGeom>
          <a:noFill/>
          <a:ln/>
        </p:spPr>
        <p:txBody>
          <a:bodyPr wrap="square" rtlCol="0" anchor="ctr"/>
          <a:lstStyle/>
          <a:p>
            <a:pPr algn="ctr" indent="0" marL="0">
              <a:buNone/>
            </a:pPr>
            <a:r>
              <a:rPr lang="en-US" sz="3200" dirty="0" b="1"/>
              <a:t>4</a:t>
            </a:r>
            <a:endParaRPr lang="en-US" sz="3200" dirty="0" b="1"/>
          </a:p>
        </p:txBody>
      </p:sp>
      <p:sp>
        <p:nvSpPr>
          <p:cNvPr id="49" name="R4 text"/>
          <p:cNvSpPr/>
          <p:nvPr/>
        </p:nvSpPr>
        <p:spPr>
          <a:xfrm>
            <a:off x="1810512" y="4756709"/>
            <a:ext cx="2304288" cy="713232"/>
          </a:xfrm>
          <a:prstGeom prst="rect">
            <a:avLst/>
          </a:prstGeom>
          <a:noFill/>
          <a:ln/>
        </p:spPr>
        <p:txBody>
          <a:bodyPr wrap="square" rtlCol="0" anchor="ctr" tIns="0" bIns="0"/>
          <a:lstStyle/>
          <a:p>
            <a:pPr algn="l" indent="0" marL="0">
              <a:buNone/>
            </a:pPr>
            <a:r>
              <a:rPr lang="en-US" sz="1500" dirty="0">
                <a:solidFill>
                  <a:srgbClr val="1B2236"/>
                </a:solidFill>
                <a:latin typeface="Lexend Deca" pitchFamily="34" charset="0"/>
                <a:ea typeface="Lexend Deca" pitchFamily="34" charset="-122"/>
                <a:cs typeface="Lexend Deca" pitchFamily="34" charset="-120"/>
              </a:rPr>
              <a:t>What is a good temperature at night in winter?</a:t>
            </a:r>
            <a:endParaRPr lang="en-US" sz="1500" dirty="0"/>
          </a:p>
        </p:txBody>
      </p:sp>
      <p:sp>
        <p:nvSpPr>
          <p:cNvPr id="50" name="R4 ans"/>
          <p:cNvSpPr/>
          <p:nvPr/>
        </p:nvSpPr>
        <p:spPr>
          <a:xfrm>
            <a:off x="4187952" y="4884725"/>
            <a:ext cx="338328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1400" dirty="0" b="1">
                <a:solidFill>
                  <a:srgbClr val="1B2236"/>
                </a:solidFill>
                <a:latin typeface="Lexend Deca" pitchFamily="34" charset="0"/>
                <a:ea typeface="Lexend Deca" pitchFamily="34" charset="-122"/>
                <a:cs typeface="Lexend Deca" pitchFamily="34" charset="-120"/>
              </a:rPr>
              <a:t>68 degrees.</a:t>
            </a:r>
            <a:endParaRPr lang="en-US" sz="1400" dirty="0" b="1"/>
          </a:p>
        </p:txBody>
      </p:sp>
      <p:sp>
        <p:nvSpPr>
          <p:cNvPr id="51" name="R5 card"/>
          <p:cNvSpPr/>
          <p:nvPr/>
        </p:nvSpPr>
        <p:spPr>
          <a:xfrm>
            <a:off x="1583741" y="5543093"/>
            <a:ext cx="6035040" cy="713232"/>
          </a:xfrm>
          <a:prstGeom prst="round1Rect">
            <a:avLst>
              <a:gd name="adj" fmla="val 23087"/>
            </a:avLst>
          </a:prstGeom>
          <a:solidFill>
            <a:srgbClr val="FFFFFF"/>
          </a:solidFill>
          <a:ln/>
        </p:spPr>
        <p:txBody>
          <a:bodyPr/>
          <a:p/>
        </p:txBody>
      </p:sp>
      <p:sp>
        <p:nvSpPr>
          <p:cNvPr id="52" name="R5 chip"/>
          <p:cNvSpPr/>
          <p:nvPr/>
        </p:nvSpPr>
        <p:spPr>
          <a:xfrm>
            <a:off x="544982" y="5543093"/>
            <a:ext cx="1039673" cy="713232"/>
          </a:xfrm>
          <a:prstGeom prst="rect">
            <a:avLst/>
          </a:prstGeom>
          <a:solidFill>
            <a:srgbClr val="B9D2F7"/>
          </a:solidFill>
          <a:ln/>
        </p:spPr>
        <p:txBody>
          <a:bodyPr/>
          <a:p/>
        </p:txBody>
      </p:sp>
      <p:sp>
        <p:nvSpPr>
          <p:cNvPr id="53" name="R5 num"/>
          <p:cNvSpPr/>
          <p:nvPr/>
        </p:nvSpPr>
        <p:spPr>
          <a:xfrm>
            <a:off x="686714" y="5607101"/>
            <a:ext cx="1109167" cy="585216"/>
          </a:xfrm>
          <a:prstGeom prst="rect">
            <a:avLst/>
          </a:prstGeom>
          <a:noFill/>
          <a:ln/>
        </p:spPr>
        <p:txBody>
          <a:bodyPr wrap="square" rtlCol="0" anchor="ctr"/>
          <a:lstStyle/>
          <a:p>
            <a:pPr algn="ctr" indent="0" marL="0">
              <a:buNone/>
            </a:pPr>
            <a:r>
              <a:rPr lang="en-US" sz="3200" dirty="0" b="1"/>
              <a:t>5</a:t>
            </a:r>
            <a:endParaRPr lang="en-US" sz="3200" dirty="0" b="1"/>
          </a:p>
        </p:txBody>
      </p:sp>
      <p:sp>
        <p:nvSpPr>
          <p:cNvPr id="54" name="R5 text"/>
          <p:cNvSpPr/>
          <p:nvPr/>
        </p:nvSpPr>
        <p:spPr>
          <a:xfrm>
            <a:off x="1810512" y="5543093"/>
            <a:ext cx="2304288" cy="713232"/>
          </a:xfrm>
          <a:prstGeom prst="rect">
            <a:avLst/>
          </a:prstGeom>
          <a:noFill/>
          <a:ln/>
        </p:spPr>
        <p:txBody>
          <a:bodyPr wrap="square" rtlCol="0" anchor="ctr" tIns="0" bIns="0"/>
          <a:lstStyle/>
          <a:p>
            <a:pPr algn="l" indent="0" marL="0">
              <a:buNone/>
            </a:pPr>
            <a:r>
              <a:rPr lang="en-US" sz="1500" dirty="0">
                <a:solidFill>
                  <a:srgbClr val="1B2236"/>
                </a:solidFill>
                <a:latin typeface="Lexend Deca" pitchFamily="34" charset="0"/>
                <a:ea typeface="Lexend Deca" pitchFamily="34" charset="-122"/>
                <a:cs typeface="Lexend Deca" pitchFamily="34" charset="-120"/>
              </a:rPr>
              <a:t>What should you do before you open the door?</a:t>
            </a:r>
            <a:endParaRPr lang="en-US" sz="1500" dirty="0"/>
          </a:p>
        </p:txBody>
      </p:sp>
      <p:sp>
        <p:nvSpPr>
          <p:cNvPr id="55" name="R5 ans"/>
          <p:cNvSpPr/>
          <p:nvPr/>
        </p:nvSpPr>
        <p:spPr>
          <a:xfrm>
            <a:off x="4187952" y="5671109"/>
            <a:ext cx="338328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1400" dirty="0" b="1">
                <a:solidFill>
                  <a:srgbClr val="1B2236"/>
                </a:solidFill>
                <a:latin typeface="Lexend Deca" pitchFamily="34" charset="0"/>
                <a:ea typeface="Lexend Deca" pitchFamily="34" charset="-122"/>
                <a:cs typeface="Lexend Deca" pitchFamily="34" charset="-120"/>
              </a:rPr>
              <a:t>Look through the peephole.</a:t>
            </a:r>
            <a:endParaRPr lang="en-US" sz="14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5"/>
                                        </p:tgtEl>
                                        <p:attrNameLst>
                                          <p:attrName>style.visibility</p:attrName>
                                        </p:attrNameLst>
                                      </p:cBhvr>
                                      <p:to>
                                        <p:strVal val="visible"/>
                                      </p:to>
                                    </p:set>
                                    <p:animEffect transition="in" filter="fade">
                                      <p:cBhvr>
                                        <p:cTn id="7" dur="400"/>
                                        <p:tgtEl>
                                          <p:spTgt spid="3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0"/>
                                        </p:tgtEl>
                                        <p:attrNameLst>
                                          <p:attrName>style.visibility</p:attrName>
                                        </p:attrNameLst>
                                      </p:cBhvr>
                                      <p:to>
                                        <p:strVal val="visible"/>
                                      </p:to>
                                    </p:set>
                                    <p:animEffect transition="in" filter="fade">
                                      <p:cBhvr>
                                        <p:cTn id="12" dur="400"/>
                                        <p:tgtEl>
                                          <p:spTgt spid="4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45"/>
                                        </p:tgtEl>
                                        <p:attrNameLst>
                                          <p:attrName>style.visibility</p:attrName>
                                        </p:attrNameLst>
                                      </p:cBhvr>
                                      <p:to>
                                        <p:strVal val="visible"/>
                                      </p:to>
                                    </p:set>
                                    <p:animEffect transition="in" filter="fade">
                                      <p:cBhvr>
                                        <p:cTn id="17" dur="400"/>
                                        <p:tgtEl>
                                          <p:spTgt spid="4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50"/>
                                        </p:tgtEl>
                                        <p:attrNameLst>
                                          <p:attrName>style.visibility</p:attrName>
                                        </p:attrNameLst>
                                      </p:cBhvr>
                                      <p:to>
                                        <p:strVal val="visible"/>
                                      </p:to>
                                    </p:set>
                                    <p:animEffect transition="in" filter="fade">
                                      <p:cBhvr>
                                        <p:cTn id="22" dur="400"/>
                                        <p:tgtEl>
                                          <p:spTgt spid="5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55"/>
                                        </p:tgtEl>
                                        <p:attrNameLst>
                                          <p:attrName>style.visibility</p:attrName>
                                        </p:attrNameLst>
                                      </p:cBhvr>
                                      <p:to>
                                        <p:strVal val="visible"/>
                                      </p:to>
                                    </p:set>
                                    <p:animEffect transition="in" filter="fade">
                                      <p:cBhvr>
                                        <p:cTn id="27" dur="400"/>
                                        <p:tgtEl>
                                          <p:spTgt spid="5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0.xml><?xml version="1.0" encoding="utf-8"?>
<p:sld xmlns:a="http://schemas.openxmlformats.org/drawingml/2006/main" xmlns:p="http://schemas.openxmlformats.org/presentationml/2006/main" xmlns:r="http://schemas.openxmlformats.org/officeDocument/2006/relationships">
  <p:cSld name="L4:go">
    <p:bg>
      <p:bgPr>
        <a:solidFill>
          <a:srgbClr val="F1F5FB"/>
        </a:solidFill>
      </p:bgPr>
    </p:bg>
    <p:spTree>
      <p:nvGrpSpPr>
        <p:cNvPr id="1" name=""/>
        <p:cNvGrpSpPr/>
        <p:nvPr/>
      </p:nvGrpSpPr>
      <p:grpSpPr/>
      <p:sp>
        <p:nvSpPr>
          <p:cNvPr id="2" name="Shape 0"/>
          <p:cNvSpPr/>
          <p:nvPr/>
        </p:nvSpPr>
        <p:spPr>
          <a:xfrm>
            <a:off x="544982" y="786384"/>
            <a:ext cx="5486400" cy="5731459"/>
          </a:xfrm>
          <a:prstGeom prst="rect">
            <a:avLst/>
          </a:prstGeom>
          <a:solidFill>
            <a:srgbClr val="B9D2F7"/>
          </a:solidFill>
          <a:ln/>
        </p:spPr>
        <p:txBody>
          <a:bodyPr/>
          <a:p/>
        </p:txBody>
      </p:sp>
      <p:sp>
        <p:nvSpPr>
          <p:cNvPr id="4" name="Shape 2"/>
          <p:cNvSpPr/>
          <p:nvPr/>
        </p:nvSpPr>
        <p:spPr>
          <a:xfrm>
            <a:off x="4147718" y="2196389"/>
            <a:ext cx="7699248" cy="4160520"/>
          </a:xfrm>
          <a:prstGeom prst="round1Rect">
            <a:avLst>
              <a:gd name="adj" fmla="val 23087"/>
            </a:avLst>
          </a:prstGeom>
          <a:solidFill>
            <a:srgbClr val="8FAFE3"/>
          </a:solidFill>
          <a:ln/>
        </p:spPr>
        <p:txBody>
          <a:bodyPr/>
          <a:p/>
        </p:txBody>
      </p:sp>
      <p:sp>
        <p:nvSpPr>
          <p:cNvPr id="5" name="Shape 3"/>
          <p:cNvSpPr/>
          <p:nvPr/>
        </p:nvSpPr>
        <p:spPr>
          <a:xfrm>
            <a:off x="3992270" y="1937614"/>
            <a:ext cx="7699248" cy="4160520"/>
          </a:xfrm>
          <a:prstGeom prst="round1Rect">
            <a:avLst>
              <a:gd name="adj" fmla="val 23087"/>
            </a:avLst>
          </a:prstGeom>
          <a:solidFill>
            <a:srgbClr val="FFFFFF"/>
          </a:solidFill>
          <a:ln/>
        </p:spPr>
        <p:txBody>
          <a:bodyPr/>
          <a:p/>
        </p:txBody>
      </p:sp>
      <p:sp>
        <p:nvSpPr>
          <p:cNvPr id="6" name="title"/>
          <p:cNvSpPr/>
          <p:nvPr/>
        </p:nvSpPr>
        <p:spPr>
          <a:xfrm>
            <a:off x="4343400" y="2103120"/>
            <a:ext cx="7315200" cy="822960"/>
          </a:xfrm>
          <a:prstGeom prst="rect">
            <a:avLst/>
          </a:prstGeom>
          <a:noFill/>
          <a:ln/>
        </p:spPr>
        <p:txBody>
          <a:bodyPr wrap="square" rtlCol="0" anchor="ctr"/>
          <a:lstStyle/>
          <a:p>
            <a:pPr algn="l" indent="0" marL="0">
              <a:buNone/>
            </a:pPr>
            <a:r>
              <a:rPr lang="en-US" sz="3800" dirty="0" b="1">
                <a:solidFill>
                  <a:srgbClr val="1B2236"/>
                </a:solidFill>
                <a:latin typeface="Lexend Deca" pitchFamily="34" charset="0"/>
                <a:ea typeface="Lexend Deca" pitchFamily="34" charset="-122"/>
                <a:cs typeface="Lexend Deca" pitchFamily="34" charset="-120"/>
              </a:rPr>
              <a:t>Before You Go   </a:t>
            </a:r>
            <a:r>
              <a:rPr lang="en-US" sz="2200" dirty="0" b="1">
                <a:solidFill>
                  <a:srgbClr val="5B3FC4"/>
                </a:solidFill>
                <a:latin typeface="Lexend Deca" pitchFamily="34" charset="0"/>
                <a:ea typeface="Lexend Deca" pitchFamily="34" charset="-122"/>
                <a:cs typeface="Lexend Deca" pitchFamily="34" charset="-120"/>
              </a:rPr>
              <a:t>7:25–7:30</a:t>
            </a:r>
            <a:endParaRPr lang="en-US" sz="4000" dirty="0"/>
          </a:p>
        </p:txBody>
      </p:sp>
      <p:pic>
        <p:nvPicPr>
          <p:cNvPr id="16" name="pic" descr="Save energy: a light bulb and a check mark [sign: SAVE ENERGY]"/>
          <p:cNvPicPr>
            <a:picLocks noChangeAspect="1"/>
          </p:cNvPicPr>
          <p:nvPr/>
        </p:nvPicPr>
        <p:blipFill>
          <a:blip r:embed="rId3"/>
          <a:stretch>
            <a:fillRect/>
          </a:stretch>
        </p:blipFill>
        <p:spPr>
          <a:xfrm>
            <a:off x="777240" y="2651760"/>
            <a:ext cx="3017520" cy="2112264"/>
          </a:xfrm>
          <a:prstGeom prst="rect">
            <a:avLst/>
          </a:prstGeom>
        </p:spPr>
      </p:pic>
      <p:sp>
        <p:nvSpPr>
          <p:cNvPr id="17" name="Num 01"/>
          <p:cNvSpPr/>
          <p:nvPr/>
        </p:nvSpPr>
        <p:spPr>
          <a:xfrm>
            <a:off x="4343400" y="2971800"/>
            <a:ext cx="731520" cy="548640"/>
          </a:xfrm>
          <a:prstGeom prst="rect">
            <a:avLst/>
          </a:prstGeom>
          <a:noFill/>
          <a:ln w="38100">
            <a:noFill/>
          </a:ln>
        </p:spPr>
        <p:txBody>
          <a:bodyPr wrap="square" lIns="0" tIns="36576" rIns="0" bIns="36576" rtlCol="0" anchor="ctr">
            <a:noAutofit/>
          </a:bodyPr>
          <a:lstStyle/>
          <a:p>
            <a:pPr algn="l" indent="0" marL="0">
              <a:buNone/>
            </a:pPr>
            <a:r>
              <a:rPr lang="en-US" sz="3000" dirty="0" b="1">
                <a:solidFill>
                  <a:srgbClr val="8FAFE3"/>
                </a:solidFill>
                <a:latin typeface="Lexend Deca" pitchFamily="34" charset="0"/>
                <a:ea typeface="Lexend Deca" pitchFamily="34" charset="-122"/>
                <a:cs typeface="Lexend Deca" pitchFamily="34" charset="-120"/>
              </a:rPr>
              <a:t>01</a:t>
            </a:r>
            <a:endParaRPr lang="en-US" sz="3000" dirty="0"/>
          </a:p>
        </p:txBody>
      </p:sp>
      <p:sp>
        <p:nvSpPr>
          <p:cNvPr id="18" name="Label 01"/>
          <p:cNvSpPr/>
          <p:nvPr/>
        </p:nvSpPr>
        <p:spPr>
          <a:xfrm>
            <a:off x="5120640" y="2971800"/>
            <a:ext cx="2651760" cy="548640"/>
          </a:xfrm>
          <a:prstGeom prst="rect">
            <a:avLst/>
          </a:prstGeom>
          <a:noFill/>
          <a:ln w="38100">
            <a:noFill/>
          </a:ln>
        </p:spPr>
        <p:txBody>
          <a:bodyPr wrap="square" lIns="73152" tIns="36576" rIns="73152" bIns="36576" rtlCol="0" anchor="ctr">
            <a:noAutofit/>
          </a:bodyPr>
          <a:lstStyle/>
          <a:p>
            <a:pPr algn="l" indent="0" marL="0">
              <a:buNone/>
            </a:pPr>
            <a:r>
              <a:rPr lang="en-US" sz="2200" dirty="0" b="1">
                <a:solidFill>
                  <a:srgbClr val="1B2236"/>
                </a:solidFill>
                <a:latin typeface="Lexend Deca" pitchFamily="34" charset="0"/>
                <a:ea typeface="Lexend Deca" pitchFamily="34" charset="-122"/>
                <a:cs typeface="Lexend Deca" pitchFamily="34" charset="-120"/>
              </a:rPr>
              <a:t>Exit ticket</a:t>
            </a:r>
            <a:endParaRPr lang="en-US" sz="2200" dirty="0" b="1"/>
          </a:p>
        </p:txBody>
      </p:sp>
      <p:sp>
        <p:nvSpPr>
          <p:cNvPr id="19" name="Body 01"/>
          <p:cNvSpPr/>
          <p:nvPr/>
        </p:nvSpPr>
        <p:spPr>
          <a:xfrm>
            <a:off x="4343400" y="3520440"/>
            <a:ext cx="3520440" cy="2468880"/>
          </a:xfrm>
          <a:prstGeom prst="rect">
            <a:avLst/>
          </a:prstGeom>
          <a:noFill/>
          <a:ln w="38100">
            <a:noFill/>
          </a:ln>
        </p:spPr>
        <p:txBody>
          <a:bodyPr wrap="square" lIns="73152" tIns="36576" rIns="73152" bIns="36576" rtlCol="0" anchor="t">
            <a:noAutofit/>
          </a:bodyPr>
          <a:lstStyle/>
          <a:p>
            <a:pPr algn="l" indent="0" marL="0">
              <a:spcAft>
                <a:spcPts val="200"/>
              </a:spcAft>
              <a:buNone/>
            </a:pPr>
            <a:r>
              <a:rPr lang="en-US" sz="1600" dirty="0" b="1">
                <a:solidFill>
                  <a:srgbClr val="1B2236"/>
                </a:solidFill>
                <a:latin typeface="Lexend Deca" pitchFamily="34" charset="0"/>
                <a:ea typeface="Lexend Deca" pitchFamily="34" charset="-122"/>
                <a:cs typeface="Lexend Deca" pitchFamily="34" charset="-120"/>
              </a:rPr>
              <a:t>What can people do at home to save energy or stay safe?</a:t>
            </a:r>
            <a:endParaRPr lang="en-US" sz="1600" dirty="0" b="1"/>
          </a:p>
          <a:p>
            <a:pPr algn="l" indent="0" marL="0">
              <a:spcAft>
                <a:spcPts val="200"/>
              </a:spcAft>
              <a:buNone/>
            </a:pPr>
            <a:r>
              <a:rPr lang="en-US" sz="1600" dirty="0" b="0">
                <a:solidFill>
                  <a:srgbClr val="1B2236"/>
                </a:solidFill>
                <a:latin typeface="Lexend Deca" pitchFamily="34" charset="0"/>
                <a:ea typeface="Lexend Deca" pitchFamily="34" charset="-122"/>
                <a:cs typeface="Lexend Deca" pitchFamily="34" charset="-120"/>
              </a:rPr>
              <a:t>1. A tip with a phrasal verb.</a:t>
            </a:r>
            <a:endParaRPr lang="en-US" sz="1600" dirty="0" b="0"/>
          </a:p>
          <a:p>
            <a:pPr algn="l" indent="0" marL="0">
              <a:spcAft>
                <a:spcPts val="200"/>
              </a:spcAft>
              <a:buNone/>
            </a:pPr>
            <a:r>
              <a:rPr lang="en-US" sz="1600" dirty="0" b="0">
                <a:solidFill>
                  <a:srgbClr val="1B2236"/>
                </a:solidFill>
                <a:latin typeface="Lexend Deca" pitchFamily="34" charset="0"/>
                <a:ea typeface="Lexend Deca" pitchFamily="34" charset="-122"/>
                <a:cs typeface="Lexend Deca" pitchFamily="34" charset="-120"/>
              </a:rPr>
              <a:t>2. A tip with it or them.</a:t>
            </a:r>
            <a:endParaRPr lang="en-US" sz="1600" dirty="0" b="0"/>
          </a:p>
          <a:p>
            <a:pPr algn="l" indent="0" marL="0">
              <a:spcAft>
                <a:spcPts val="200"/>
              </a:spcAft>
              <a:buNone/>
            </a:pPr>
            <a:r>
              <a:rPr lang="en-US" sz="1600" dirty="0" b="0">
                <a:solidFill>
                  <a:srgbClr val="1B2236"/>
                </a:solidFill>
                <a:latin typeface="Lexend Deca" pitchFamily="34" charset="0"/>
                <a:ea typeface="Lexend Deca" pitchFamily="34" charset="-122"/>
                <a:cs typeface="Lexend Deca" pitchFamily="34" charset="-120"/>
              </a:rPr>
              <a:t>3. A reason, with because.</a:t>
            </a:r>
            <a:endParaRPr lang="en-US" sz="1600" dirty="0" b="0"/>
          </a:p>
          <a:p>
            <a:pPr algn="l" indent="0" marL="0">
              <a:spcAft>
                <a:spcPts val="200"/>
              </a:spcAft>
              <a:buNone/>
            </a:pPr>
            <a:r>
              <a:rPr lang="en-US" sz="1600" dirty="0" b="0">
                <a:solidFill>
                  <a:srgbClr val="1B2236"/>
                </a:solidFill>
                <a:latin typeface="Lexend Deca" pitchFamily="34" charset="0"/>
                <a:ea typeface="Lexend Deca" pitchFamily="34" charset="-122"/>
                <a:cs typeface="Lexend Deca" pitchFamily="34" charset="-120"/>
              </a:rPr>
              <a:t>Give it to me at the door.</a:t>
            </a:r>
            <a:endParaRPr lang="en-US" sz="1600" dirty="0" b="0"/>
          </a:p>
        </p:txBody>
      </p:sp>
      <p:sp>
        <p:nvSpPr>
          <p:cNvPr id="20" name="Num 02"/>
          <p:cNvSpPr/>
          <p:nvPr/>
        </p:nvSpPr>
        <p:spPr>
          <a:xfrm>
            <a:off x="8001000" y="2971800"/>
            <a:ext cx="731520" cy="548640"/>
          </a:xfrm>
          <a:prstGeom prst="rect">
            <a:avLst/>
          </a:prstGeom>
          <a:noFill/>
          <a:ln w="38100">
            <a:noFill/>
          </a:ln>
        </p:spPr>
        <p:txBody>
          <a:bodyPr wrap="square" lIns="0" tIns="36576" rIns="0" bIns="36576" rtlCol="0" anchor="ctr">
            <a:noAutofit/>
          </a:bodyPr>
          <a:lstStyle/>
          <a:p>
            <a:pPr algn="l" indent="0" marL="0">
              <a:buNone/>
            </a:pPr>
            <a:r>
              <a:rPr lang="en-US" sz="3000" dirty="0" b="1">
                <a:solidFill>
                  <a:srgbClr val="8FAFE3"/>
                </a:solidFill>
                <a:latin typeface="Lexend Deca" pitchFamily="34" charset="0"/>
                <a:ea typeface="Lexend Deca" pitchFamily="34" charset="-122"/>
                <a:cs typeface="Lexend Deca" pitchFamily="34" charset="-120"/>
              </a:rPr>
              <a:t>02</a:t>
            </a:r>
            <a:endParaRPr lang="en-US" sz="3000" dirty="0"/>
          </a:p>
        </p:txBody>
      </p:sp>
      <p:sp>
        <p:nvSpPr>
          <p:cNvPr id="21" name="Label 02"/>
          <p:cNvSpPr/>
          <p:nvPr/>
        </p:nvSpPr>
        <p:spPr>
          <a:xfrm>
            <a:off x="8778240" y="2971800"/>
            <a:ext cx="2651760" cy="548640"/>
          </a:xfrm>
          <a:prstGeom prst="rect">
            <a:avLst/>
          </a:prstGeom>
          <a:noFill/>
          <a:ln w="38100">
            <a:noFill/>
          </a:ln>
        </p:spPr>
        <p:txBody>
          <a:bodyPr wrap="square" lIns="73152" tIns="36576" rIns="73152" bIns="36576" rtlCol="0" anchor="ctr">
            <a:noAutofit/>
          </a:bodyPr>
          <a:lstStyle/>
          <a:p>
            <a:pPr algn="l" indent="0" marL="0">
              <a:buNone/>
            </a:pPr>
            <a:r>
              <a:rPr lang="en-US" sz="2200" dirty="0" b="1">
                <a:solidFill>
                  <a:srgbClr val="1B2236"/>
                </a:solidFill>
                <a:latin typeface="Lexend Deca" pitchFamily="34" charset="0"/>
                <a:ea typeface="Lexend Deca" pitchFamily="34" charset="-122"/>
                <a:cs typeface="Lexend Deca" pitchFamily="34" charset="-120"/>
              </a:rPr>
              <a:t>Homework</a:t>
            </a:r>
            <a:endParaRPr lang="en-US" sz="2200" dirty="0" b="1"/>
          </a:p>
        </p:txBody>
      </p:sp>
      <p:sp>
        <p:nvSpPr>
          <p:cNvPr id="22" name="Body 02"/>
          <p:cNvSpPr/>
          <p:nvPr/>
        </p:nvSpPr>
        <p:spPr>
          <a:xfrm>
            <a:off x="8001000" y="3520440"/>
            <a:ext cx="3657600" cy="2468880"/>
          </a:xfrm>
          <a:prstGeom prst="rect">
            <a:avLst/>
          </a:prstGeom>
          <a:noFill/>
          <a:ln w="38100">
            <a:noFill/>
          </a:ln>
        </p:spPr>
        <p:txBody>
          <a:bodyPr wrap="square" lIns="73152" tIns="36576" rIns="73152" bIns="36576" rtlCol="0" anchor="t">
            <a:noAutofit/>
          </a:bodyPr>
          <a:lstStyle/>
          <a:p>
            <a:pPr algn="l" indent="0" marL="0">
              <a:spcAft>
                <a:spcPts val="200"/>
              </a:spcAft>
              <a:buNone/>
            </a:pPr>
            <a:r>
              <a:rPr lang="en-US" sz="1600" dirty="0" b="1">
                <a:solidFill>
                  <a:srgbClr val="1B2236"/>
                </a:solidFill>
                <a:latin typeface="Lexend Deca" pitchFamily="34" charset="0"/>
                <a:ea typeface="Lexend Deca" pitchFamily="34" charset="-122"/>
                <a:cs typeface="Lexend Deca" pitchFamily="34" charset="-120"/>
              </a:rPr>
              <a:t>About 15–20 minutes.</a:t>
            </a:r>
            <a:endParaRPr lang="en-US" sz="1600" dirty="0" b="1"/>
          </a:p>
          <a:p>
            <a:pPr algn="l" indent="0" marL="0">
              <a:spcAft>
                <a:spcPts val="200"/>
              </a:spcAft>
              <a:buNone/>
            </a:pPr>
            <a:r>
              <a:rPr lang="en-US" sz="1600" dirty="0" b="0">
                <a:solidFill>
                  <a:srgbClr val="1B2236"/>
                </a:solidFill>
                <a:latin typeface="Lexend Deca" pitchFamily="34" charset="0"/>
                <a:ea typeface="Lexend Deca" pitchFamily="34" charset="-122"/>
                <a:cs typeface="Lexend Deca" pitchFamily="34" charset="-120"/>
              </a:rPr>
              <a:t>1. Write the sentence.</a:t>
            </a:r>
            <a:endParaRPr lang="en-US" sz="1600" dirty="0" b="0"/>
          </a:p>
          <a:p>
            <a:pPr algn="l" indent="0" marL="0">
              <a:spcAft>
                <a:spcPts val="200"/>
              </a:spcAft>
              <a:buNone/>
            </a:pPr>
            <a:r>
              <a:rPr lang="en-US" sz="1600" dirty="0" b="0">
                <a:solidFill>
                  <a:srgbClr val="1B2236"/>
                </a:solidFill>
                <a:latin typeface="Lexend Deca" pitchFamily="34" charset="0"/>
                <a:ea typeface="Lexend Deca" pitchFamily="34" charset="-122"/>
                <a:cs typeface="Lexend Deca" pitchFamily="34" charset="-120"/>
              </a:rPr>
              <a:t>2. Finish your writing from Read &amp; Write C (your email).</a:t>
            </a:r>
            <a:endParaRPr lang="en-US" sz="1600" dirty="0" b="0"/>
          </a:p>
          <a:p>
            <a:pPr algn="l" indent="0" marL="0">
              <a:spcAft>
                <a:spcPts val="200"/>
              </a:spcAft>
              <a:buNone/>
            </a:pPr>
            <a:r>
              <a:rPr lang="en-US" sz="1600" dirty="0" b="0">
                <a:solidFill>
                  <a:srgbClr val="1B2236"/>
                </a:solidFill>
                <a:latin typeface="Lexend Deca" pitchFamily="34" charset="0"/>
                <a:ea typeface="Lexend Deca" pitchFamily="34" charset="-122"/>
                <a:cs typeface="Lexend Deca" pitchFamily="34" charset="-120"/>
              </a:rPr>
              <a:t>3. Look around your home.</a:t>
            </a:r>
            <a:endParaRPr lang="en-US" sz="1600" dirty="0" b="0"/>
          </a:p>
          <a:p>
            <a:pPr algn="l" indent="0" marL="0">
              <a:spcAft>
                <a:spcPts val="200"/>
              </a:spcAft>
              <a:buNone/>
            </a:pPr>
            <a:r>
              <a:rPr lang="en-US" sz="1600" dirty="0" b="0">
                <a:solidFill>
                  <a:srgbClr val="1B2236"/>
                </a:solidFill>
                <a:latin typeface="Lexend Deca" pitchFamily="34" charset="0"/>
                <a:ea typeface="Lexend Deca" pitchFamily="34" charset="-122"/>
                <a:cs typeface="Lexend Deca" pitchFamily="34" charset="-120"/>
              </a:rPr>
              <a:t>4. Review (Lesson 9).</a:t>
            </a:r>
            <a:endParaRPr lang="en-US" sz="1600" dirty="0" b="0"/>
          </a:p>
          <a:p>
            <a:pPr algn="l" indent="0" marL="0">
              <a:spcAft>
                <a:spcPts val="200"/>
              </a:spcAft>
              <a:buNone/>
            </a:pPr>
            <a:r>
              <a:rPr lang="en-US" sz="1600" dirty="0" b="1">
                <a:solidFill>
                  <a:srgbClr val="1B2236"/>
                </a:solidFill>
                <a:latin typeface="Lexend Deca" pitchFamily="34" charset="0"/>
                <a:ea typeface="Lexend Deca" pitchFamily="34" charset="-122"/>
                <a:cs typeface="Lexend Deca" pitchFamily="34" charset="-120"/>
              </a:rPr>
              <a:t>Bring it next week!</a:t>
            </a:r>
            <a:endParaRPr lang="en-US" sz="1600" dirty="0" b="1"/>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name="L4:goodbye">
    <p:bg>
      <p:bgPr>
        <a:solidFill>
          <a:srgbClr val="F1F5FB"/>
        </a:solidFill>
      </p:bgPr>
    </p:bg>
    <p:spTree>
      <p:nvGrpSpPr>
        <p:cNvPr id="1" name=""/>
        <p:cNvGrpSpPr/>
        <p:nvPr/>
      </p:nvGrpSpPr>
      <p:grpSpPr/>
      <p:sp>
        <p:nvSpPr>
          <p:cNvPr id="2" name="Shape 0"/>
          <p:cNvSpPr/>
          <p:nvPr/>
        </p:nvSpPr>
        <p:spPr>
          <a:xfrm>
            <a:off x="7223760" y="914400"/>
            <a:ext cx="4480560" cy="5120640"/>
          </a:xfrm>
          <a:prstGeom prst="round1Rect">
            <a:avLst>
              <a:gd name="adj" fmla="val 23087"/>
            </a:avLst>
          </a:prstGeom>
          <a:solidFill>
            <a:srgbClr val="B9D2F7"/>
          </a:solidFill>
          <a:ln/>
        </p:spPr>
        <p:txBody>
          <a:bodyPr/>
          <a:p/>
        </p:txBody>
      </p:sp>
      <p:pic>
        <p:nvPicPr>
          <p:cNvPr id="4" name="pic" descr="Unplug: a plug and a red X">    </p:cNvPr>
          <p:cNvPicPr>
            <a:picLocks noChangeAspect="1"/>
          </p:cNvPicPr>
          <p:nvPr/>
        </p:nvPicPr>
        <p:blipFill>
          <a:blip r:embed="rId3"/>
          <a:stretch>
            <a:fillRect/>
          </a:stretch>
        </p:blipFill>
        <p:spPr>
          <a:xfrm>
            <a:off x="7726680" y="1664208"/>
            <a:ext cx="3474720" cy="2432304"/>
          </a:xfrm>
          <a:prstGeom prst="rect">
            <a:avLst/>
          </a:prstGeom>
        </p:spPr>
      </p:pic>
      <p:sp>
        <p:nvSpPr>
          <p:cNvPr id="5" name="lesson"/>
          <p:cNvSpPr/>
          <p:nvPr/>
        </p:nvSpPr>
        <p:spPr>
          <a:xfrm>
            <a:off x="7635240" y="4434840"/>
            <a:ext cx="3657600" cy="548640"/>
          </a:xfrm>
          <a:prstGeom prst="rect">
            <a:avLst/>
          </a:prstGeom>
          <a:noFill/>
          <a:ln/>
        </p:spPr>
        <p:txBody>
          <a:bodyPr wrap="square" rtlCol="0" anchor="ctr"/>
          <a:lstStyle/>
          <a:p>
            <a:pPr algn="ctr" indent="0" marL="0">
              <a:buNone/>
            </a:pPr>
            <a:r>
              <a:rPr lang="en-US" sz="2200" b="1" dirty="0">
                <a:solidFill>
                  <a:srgbClr val="1B2236"/>
                </a:solidFill>
                <a:latin typeface="Lexend Deca" pitchFamily="34" charset="0"/>
                <a:ea typeface="Lexend Deca" pitchFamily="34" charset="-122"/>
                <a:cs typeface="Lexend Deca" pitchFamily="34" charset="-120"/>
              </a:rPr>
              <a:t>Lesson 10  ·  Level 4</a:t>
            </a:r>
            <a:endParaRPr lang="en-US" sz="2200" b="1" dirty="0"/>
          </a:p>
        </p:txBody>
      </p:sp>
      <p:sp>
        <p:nvSpPr>
          <p:cNvPr id="6" name="Shape 3"/>
          <p:cNvSpPr/>
          <p:nvPr/>
        </p:nvSpPr>
        <p:spPr>
          <a:xfrm>
            <a:off x="661111" y="1146658"/>
            <a:ext cx="6035040" cy="2468880"/>
          </a:xfrm>
          <a:prstGeom prst="roundRect">
            <a:avLst>
              <a:gd name="adj" fmla="val 16667"/>
            </a:avLst>
          </a:prstGeom>
          <a:solidFill>
            <a:srgbClr val="8FAFE3"/>
          </a:solidFill>
          <a:ln/>
        </p:spPr>
        <p:txBody>
          <a:bodyPr/>
          <a:p/>
        </p:txBody>
      </p:sp>
      <p:sp>
        <p:nvSpPr>
          <p:cNvPr id="7" name="Shape 4"/>
          <p:cNvSpPr/>
          <p:nvPr/>
        </p:nvSpPr>
        <p:spPr>
          <a:xfrm>
            <a:off x="685800" y="1097280"/>
            <a:ext cx="6035040" cy="2468880"/>
          </a:xfrm>
          <a:prstGeom prst="roundRect">
            <a:avLst>
              <a:gd name="adj" fmla="val 16667"/>
            </a:avLst>
          </a:prstGeom>
          <a:solidFill>
            <a:srgbClr val="FFFFFF"/>
          </a:solidFill>
          <a:ln/>
        </p:spPr>
        <p:txBody>
          <a:bodyPr/>
          <a:p/>
        </p:txBody>
      </p:sp>
      <p:sp>
        <p:nvSpPr>
          <p:cNvPr id="8" name="title"/>
          <p:cNvSpPr/>
          <p:nvPr/>
        </p:nvSpPr>
        <p:spPr>
          <a:xfrm>
            <a:off x="868680" y="1325880"/>
            <a:ext cx="5806440" cy="2011680"/>
          </a:xfrm>
          <a:prstGeom prst="rect">
            <a:avLst/>
          </a:prstGeom>
          <a:noFill/>
          <a:ln/>
        </p:spPr>
        <p:txBody>
          <a:bodyPr wrap="square" rtlCol="0" anchor="ctr"/>
          <a:lstStyle/>
          <a:p>
            <a:pPr algn="l" indent="0" marL="0">
              <a:lnSpc>
                <a:spcPct val="90000"/>
              </a:lnSpc>
              <a:buNone/>
            </a:pPr>
            <a:r>
              <a:rPr lang="en-US" sz="4400" b="1" dirty="0">
                <a:solidFill>
                  <a:srgbClr val="1B2236"/>
                </a:solidFill>
                <a:latin typeface="Lexend Deca" pitchFamily="34" charset="0"/>
                <a:ea typeface="Lexend Deca" pitchFamily="34" charset="-122"/>
                <a:cs typeface="Lexend Deca" pitchFamily="34" charset="-120"/>
              </a:rPr>
              <a:t>Goodbye! See You Next Week!</a:t>
            </a:r>
            <a:endParaRPr lang="en-US" sz="4400" b="1" dirty="0"/>
          </a:p>
        </p:txBody>
      </p:sp>
      <p:sp>
        <p:nvSpPr>
          <p:cNvPr id="9" name="lead"/>
          <p:cNvSpPr/>
          <p:nvPr/>
        </p:nvSpPr>
        <p:spPr>
          <a:xfrm>
            <a:off x="777240" y="3977640"/>
            <a:ext cx="5852160" cy="502920"/>
          </a:xfrm>
          <a:prstGeom prst="rect">
            <a:avLst/>
          </a:prstGeom>
          <a:noFill/>
          <a:ln/>
        </p:spPr>
        <p:txBody>
          <a:bodyPr wrap="square" rtlCol="0" anchor="t"/>
          <a:lstStyle/>
          <a:p>
            <a:pPr algn="l" indent="0" marL="0">
              <a:buNone/>
            </a:pPr>
            <a:r>
              <a:rPr lang="en-US" sz="2400" b="1" dirty="0">
                <a:solidFill>
                  <a:srgbClr val="1B2236"/>
                </a:solidFill>
                <a:latin typeface="Lexend Deca" pitchFamily="34" charset="0"/>
                <a:ea typeface="Lexend Deca" pitchFamily="34" charset="-122"/>
                <a:cs typeface="Lexend Deca" pitchFamily="34" charset="-120"/>
              </a:rPr>
              <a:t>Now you can:</a:t>
            </a:r>
            <a:endParaRPr lang="en-US" sz="2400" b="1" dirty="0"/>
          </a:p>
        </p:txBody>
      </p:sp>
      <p:sp>
        <p:nvSpPr>
          <p:cNvPr id="10" name="bullets"/>
          <p:cNvSpPr/>
          <p:nvPr/>
        </p:nvSpPr>
        <p:spPr>
          <a:xfrm>
            <a:off x="777240" y="4480560"/>
            <a:ext cx="6035040" cy="1737360"/>
          </a:xfrm>
          <a:prstGeom prst="rect">
            <a:avLst/>
          </a:prstGeom>
          <a:noFill/>
          <a:ln/>
        </p:spPr>
        <p:txBody>
          <a:bodyPr wrap="square" rtlCol="0" anchor="t"/>
          <a:lstStyle/>
          <a:p>
            <a:pPr algn="l" indent="0" marL="0">
              <a:lnSpc>
                <a:spcPct val="115000"/>
              </a:lnSpc>
              <a:buNone/>
            </a:pPr>
            <a:r>
              <a:rPr lang="en-US" sz="2200" dirty="0">
                <a:solidFill>
                  <a:srgbClr val="1B2236"/>
                </a:solidFill>
                <a:latin typeface="Lexend Deca" pitchFamily="34" charset="0"/>
                <a:ea typeface="Lexend Deca" pitchFamily="34" charset="-122"/>
                <a:cs typeface="Lexend Deca" pitchFamily="34" charset="-120"/>
              </a:rPr>
              <a:t>•  Use phrasal verbs: turn off, put away…</a:t>
            </a:r>
            <a:endParaRPr lang="en-US" sz="2200" dirty="0"/>
          </a:p>
          <a:p>
            <a:pPr algn="l" indent="0" marL="0">
              <a:lnSpc>
                <a:spcPct val="115000"/>
              </a:lnSpc>
              <a:buNone/>
            </a:pPr>
            <a:r>
              <a:rPr lang="en-US" sz="2200" dirty="0">
                <a:solidFill>
                  <a:srgbClr val="1B2236"/>
                </a:solidFill>
                <a:latin typeface="Lexend Deca" pitchFamily="34" charset="0"/>
                <a:ea typeface="Lexend Deca" pitchFamily="34" charset="-122"/>
                <a:cs typeface="Lexend Deca" pitchFamily="34" charset="-120"/>
              </a:rPr>
              <a:t>•  Put it / them in the right place</a:t>
            </a:r>
            <a:endParaRPr lang="en-US" sz="2200" dirty="0"/>
          </a:p>
          <a:p>
            <a:pPr algn="l" indent="0" marL="0">
              <a:lnSpc>
                <a:spcPct val="115000"/>
              </a:lnSpc>
              <a:buNone/>
            </a:pPr>
            <a:r>
              <a:rPr lang="en-US" sz="2200" dirty="0">
                <a:solidFill>
                  <a:srgbClr val="1B2236"/>
                </a:solidFill>
                <a:latin typeface="Lexend Deca" pitchFamily="34" charset="0"/>
                <a:ea typeface="Lexend Deca" pitchFamily="34" charset="-122"/>
                <a:cs typeface="Lexend Deca" pitchFamily="34" charset="-120"/>
              </a:rPr>
              <a:t>•  Give tips to save energy and stay safe</a:t>
            </a:r>
            <a:endParaRPr lang="en-US" sz="2200" dirty="0"/>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name="L4:credits">
    <p:bg>
      <p:bgPr>
        <a:solidFill>
          <a:srgbClr val="C9B8F2"/>
        </a:solidFill>
      </p:bgPr>
    </p:bg>
    <p:spTree>
      <p:nvGrpSpPr>
        <p:cNvPr id="1" name=""/>
        <p:cNvGrpSpPr/>
        <p:nvPr/>
      </p:nvGrpSpPr>
      <p:grpSpPr/>
      <p:sp>
        <p:nvSpPr>
          <p:cNvPr id="2" name="Shape 0"/>
          <p:cNvSpPr/>
          <p:nvPr/>
        </p:nvSpPr>
        <p:spPr>
          <a:xfrm>
            <a:off x="0" y="0"/>
            <a:ext cx="12191695" cy="6858000"/>
          </a:xfrm>
          <a:prstGeom prst="rect">
            <a:avLst/>
          </a:prstGeom>
          <a:solidFill>
            <a:srgbClr val="DCE6F5"/>
          </a:solidFill>
          <a:ln/>
        </p:spPr>
        <p:txBody>
          <a:bodyPr/>
          <a:p/>
        </p:txBody>
      </p:sp>
      <p:sp>
        <p:nvSpPr>
          <p:cNvPr id="4" name="Shape 2"/>
          <p:cNvSpPr/>
          <p:nvPr/>
        </p:nvSpPr>
        <p:spPr>
          <a:xfrm>
            <a:off x="0" y="1371600"/>
            <a:ext cx="12191695" cy="5486400"/>
          </a:xfrm>
          <a:prstGeom prst="round1Rect">
            <a:avLst>
              <a:gd name="adj" fmla="val 23087"/>
            </a:avLst>
          </a:prstGeom>
          <a:solidFill>
            <a:srgbClr val="B9D2F7"/>
          </a:solidFill>
          <a:ln/>
        </p:spPr>
        <p:txBody>
          <a:bodyPr/>
          <a:p/>
        </p:txBody>
      </p:sp>
      <p:sp>
        <p:nvSpPr>
          <p:cNvPr id="5" name="Shape 3"/>
          <p:cNvSpPr/>
          <p:nvPr/>
        </p:nvSpPr>
        <p:spPr>
          <a:xfrm>
            <a:off x="518465" y="431597"/>
            <a:ext cx="5361127" cy="1595628"/>
          </a:xfrm>
          <a:prstGeom prst="roundRect">
            <a:avLst>
              <a:gd name="adj" fmla="val 16667"/>
            </a:avLst>
          </a:prstGeom>
          <a:solidFill>
            <a:srgbClr val="8FAFE3"/>
          </a:solidFill>
          <a:ln/>
        </p:spPr>
        <p:txBody>
          <a:bodyPr/>
          <a:p/>
        </p:txBody>
      </p:sp>
      <p:sp>
        <p:nvSpPr>
          <p:cNvPr id="6" name="Shape 4"/>
          <p:cNvSpPr/>
          <p:nvPr/>
        </p:nvSpPr>
        <p:spPr>
          <a:xfrm>
            <a:off x="550469" y="365760"/>
            <a:ext cx="5361127" cy="1595628"/>
          </a:xfrm>
          <a:prstGeom prst="roundRect">
            <a:avLst>
              <a:gd name="adj" fmla="val 16667"/>
            </a:avLst>
          </a:prstGeom>
          <a:solidFill>
            <a:srgbClr val="FFFFFF"/>
          </a:solidFill>
          <a:ln/>
        </p:spPr>
        <p:txBody>
          <a:bodyPr/>
          <a:p/>
        </p:txBody>
      </p:sp>
      <p:sp>
        <p:nvSpPr>
          <p:cNvPr id="7" name="title"/>
          <p:cNvSpPr/>
          <p:nvPr/>
        </p:nvSpPr>
        <p:spPr>
          <a:xfrm>
            <a:off x="674827" y="640080"/>
            <a:ext cx="5120640" cy="1024128"/>
          </a:xfrm>
          <a:prstGeom prst="rect">
            <a:avLst/>
          </a:prstGeom>
          <a:noFill/>
          <a:ln/>
        </p:spPr>
        <p:txBody>
          <a:bodyPr wrap="square" lIns="50800" tIns="50800" rIns="50800" bIns="50800" rtlCol="0" anchor="ctr"/>
          <a:lstStyle/>
          <a:p>
            <a:pPr algn="l" indent="0" marL="0">
              <a:buNone/>
            </a:pPr>
            <a:r>
              <a:rPr lang="en-US" sz="5400" dirty="0" b="1">
                <a:solidFill>
                  <a:srgbClr val="1B2236"/>
                </a:solidFill>
                <a:latin typeface="Lexend Deca" pitchFamily="34" charset="0"/>
                <a:ea typeface="Lexend Deca" pitchFamily="34" charset="-122"/>
                <a:cs typeface="Lexend Deca" pitchFamily="34" charset="-120"/>
              </a:rPr>
              <a:t>Credits</a:t>
            </a:r>
            <a:endParaRPr lang="en-US" sz="5400" dirty="0"/>
          </a:p>
        </p:txBody>
      </p:sp>
      <p:sp>
        <p:nvSpPr>
          <p:cNvPr id="15" name="pictures"/>
          <p:cNvSpPr/>
          <p:nvPr/>
        </p:nvSpPr>
        <p:spPr>
          <a:xfrm>
            <a:off x="411480" y="2240280"/>
            <a:ext cx="11365992" cy="2240280"/>
          </a:xfrm>
          <a:prstGeom prst="roundRect">
            <a:avLst>
              <a:gd name="adj" fmla="val 22000"/>
            </a:avLst>
          </a:prstGeom>
          <a:solidFill>
            <a:srgbClr val="FFFFFF"/>
          </a:solidFill>
          <a:ln w="38100">
            <a:noFill/>
          </a:ln>
        </p:spPr>
        <p:txBody>
          <a:bodyPr wrap="square" lIns="274320" tIns="36576" rIns="274320" bIns="36576" rtlCol="0" anchor="ctr">
            <a:noAutofit/>
          </a:bodyPr>
          <a:lstStyle/>
          <a:p>
            <a:pPr algn="l" indent="0" marL="0">
              <a:spcAft>
                <a:spcPts val="600"/>
              </a:spcAft>
              <a:buNone/>
            </a:pPr>
            <a:r>
              <a:rPr lang="en-US" sz="2000" dirty="0" b="1">
                <a:solidFill>
                  <a:srgbClr val="5B3FC4"/>
                </a:solidFill>
                <a:latin typeface="Lexend Deca" pitchFamily="34" charset="0"/>
                <a:ea typeface="Lexend Deca" pitchFamily="34" charset="-122"/>
                <a:cs typeface="Lexend Deca" pitchFamily="34" charset="-120"/>
              </a:rPr>
              <a:t>Pictures</a:t>
            </a:r>
            <a:endParaRPr lang="en-US" sz="2000" dirty="0" b="1"/>
          </a:p>
          <a:p>
            <a:pPr algn="l" indent="0" marL="0">
              <a:spcAft>
                <a:spcPts val="600"/>
              </a:spcAft>
              <a:buNone/>
            </a:pPr>
            <a:r>
              <a:rPr lang="en-US" sz="1600" dirty="0" b="0">
                <a:solidFill>
                  <a:srgbClr val="1B2236"/>
                </a:solidFill>
                <a:latin typeface="Lexend Deca" pitchFamily="34" charset="0"/>
                <a:ea typeface="Lexend Deca" pitchFamily="34" charset="-122"/>
                <a:cs typeface="Lexend Deca" pitchFamily="34" charset="-120"/>
              </a:rPr>
              <a:t>Vocabulary pictures use Twemoji graphics by Twitter, Inc. and other contributors (https://github.com/jdecked/twemoji), licensed under CC BY 4.0 (https://creativecommons.org/licenses/by/4.0/). The graphics were resized and combined, and signs and labels were added.</a:t>
            </a:r>
            <a:endParaRPr lang="en-US" sz="1600" dirty="0" b="0"/>
          </a:p>
        </p:txBody>
      </p:sp>
      <p:sp>
        <p:nvSpPr>
          <p:cNvPr id="16" name="names"/>
          <p:cNvSpPr/>
          <p:nvPr/>
        </p:nvSpPr>
        <p:spPr>
          <a:xfrm>
            <a:off x="411480" y="4709160"/>
            <a:ext cx="4206240" cy="1783080"/>
          </a:xfrm>
          <a:prstGeom prst="roundRect">
            <a:avLst>
              <a:gd name="adj" fmla="val 22000"/>
            </a:avLst>
          </a:prstGeom>
          <a:solidFill>
            <a:srgbClr val="FFFFFF"/>
          </a:solidFill>
          <a:ln w="38100">
            <a:noFill/>
          </a:ln>
        </p:spPr>
        <p:txBody>
          <a:bodyPr wrap="square" lIns="274320" tIns="36576" rIns="274320" bIns="36576" rtlCol="0" anchor="ctr">
            <a:noAutofit/>
          </a:bodyPr>
          <a:lstStyle/>
          <a:p>
            <a:pPr algn="l" indent="0" marL="0">
              <a:spcAft>
                <a:spcPts val="600"/>
              </a:spcAft>
              <a:buNone/>
            </a:pPr>
            <a:r>
              <a:rPr lang="en-US" sz="2000" dirty="0" b="1">
                <a:solidFill>
                  <a:srgbClr val="5B3FC4"/>
                </a:solidFill>
                <a:latin typeface="Lexend Deca" pitchFamily="34" charset="0"/>
                <a:ea typeface="Lexend Deca" pitchFamily="34" charset="-122"/>
                <a:cs typeface="Lexend Deca" pitchFamily="34" charset="-120"/>
              </a:rPr>
              <a:t>Names and story</a:t>
            </a:r>
            <a:endParaRPr lang="en-US" sz="2000" dirty="0" b="1"/>
          </a:p>
          <a:p>
            <a:pPr algn="l" indent="0" marL="0">
              <a:spcAft>
                <a:spcPts val="600"/>
              </a:spcAft>
              <a:buNone/>
            </a:pPr>
            <a:r>
              <a:rPr lang="en-US" sz="1600" dirty="0" b="0">
                <a:solidFill>
                  <a:srgbClr val="1B2236"/>
                </a:solidFill>
                <a:latin typeface="Lexend Deca" pitchFamily="34" charset="0"/>
                <a:ea typeface="Lexend Deca" pitchFamily="34" charset="-122"/>
                <a:cs typeface="Lexend Deca" pitchFamily="34" charset="-120"/>
              </a:rPr>
              <a:t>Sofia Ruiz, Hana, and Paul are invented names. The listening story is invented.</a:t>
            </a:r>
            <a:endParaRPr lang="en-US" sz="1600" dirty="0" b="0"/>
          </a:p>
        </p:txBody>
      </p:sp>
      <p:sp>
        <p:nvSpPr>
          <p:cNvPr id="17" name="audio"/>
          <p:cNvSpPr/>
          <p:nvPr/>
        </p:nvSpPr>
        <p:spPr>
          <a:xfrm>
            <a:off x="4846320" y="4709160"/>
            <a:ext cx="6931152" cy="1783080"/>
          </a:xfrm>
          <a:prstGeom prst="roundRect">
            <a:avLst>
              <a:gd name="adj" fmla="val 22000"/>
            </a:avLst>
          </a:prstGeom>
          <a:solidFill>
            <a:srgbClr val="FFFFFF"/>
          </a:solidFill>
          <a:ln w="38100">
            <a:noFill/>
          </a:ln>
        </p:spPr>
        <p:txBody>
          <a:bodyPr wrap="square" lIns="274320" tIns="36576" rIns="274320" bIns="36576" rtlCol="0" anchor="ctr">
            <a:noAutofit/>
          </a:bodyPr>
          <a:lstStyle/>
          <a:p>
            <a:pPr algn="l" indent="0" marL="0">
              <a:spcAft>
                <a:spcPts val="600"/>
              </a:spcAft>
              <a:buNone/>
            </a:pPr>
            <a:r>
              <a:rPr lang="en-US" sz="2000" dirty="0" b="1">
                <a:solidFill>
                  <a:srgbClr val="5B3FC4"/>
                </a:solidFill>
                <a:latin typeface="Lexend Deca" pitchFamily="34" charset="0"/>
                <a:ea typeface="Lexend Deca" pitchFamily="34" charset="-122"/>
                <a:cs typeface="Lexend Deca" pitchFamily="34" charset="-120"/>
              </a:rPr>
              <a:t>Audio and font</a:t>
            </a:r>
            <a:endParaRPr lang="en-US" sz="2000" dirty="0" b="1"/>
          </a:p>
          <a:p>
            <a:pPr algn="l" indent="0" marL="0">
              <a:spcAft>
                <a:spcPts val="600"/>
              </a:spcAft>
              <a:buNone/>
            </a:pPr>
            <a:r>
              <a:rPr lang="en-US" sz="1350" dirty="0" b="0">
                <a:solidFill>
                  <a:srgbClr val="1B2236"/>
                </a:solidFill>
                <a:latin typeface="Lexend Deca" pitchFamily="34" charset="0"/>
                <a:ea typeface="Lexend Deca" pitchFamily="34" charset="-122"/>
                <a:cs typeface="Lexend Deca" pitchFamily="34" charset="-120"/>
              </a:rPr>
              <a:t>Audio (coming soon): synthetic voices made with Chatterbox TTS (MIT License), cloned from short synthetic reference clips made with Kokoro-82M (Apache License 2.0). No recordings of real people. Each file will carry an inaudible Perth watermark marking it as AI-generated. Font: Lexend Deca (OFL 1.1).</a:t>
            </a:r>
            <a:endParaRPr lang="en-US" sz="1350" dirty="0" b="0"/>
          </a:p>
          <a:p>
            <a:pPr algn="l" indent="0" marL="0">
              <a:spcAft>
                <a:spcPts val="600"/>
              </a:spcAft>
              <a:buNone/>
            </a:pPr>
            <a:r>
              <a:rPr lang="en-US" sz="1350" dirty="0" b="0">
                <a:solidFill>
                  <a:srgbClr val="1B2236"/>
                </a:solidFill>
                <a:latin typeface="Lexend Deca" pitchFamily="34" charset="0"/>
                <a:ea typeface="Lexend Deca" pitchFamily="34" charset="-122"/>
                <a:cs typeface="Lexend Deca" pitchFamily="34" charset="-120"/>
              </a:rPr>
              <a:t>© 2026 the authors. The authors license this deck under CC BY-NC-SA 4.0.</a:t>
            </a:r>
            <a:endParaRPr lang="en-US" sz="1350" dirty="0" b="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Level 4 Lesson 10: Turn It Off</dc:title>
  <dc:subject>PptxGenJS Presentation</dc:subject>
  <dc:creator>Level 1 ESL</dc:creator>
  <cp:lastModifiedBy>Level 1 ESL</cp:lastModifiedBy>
  <cp:revision>1</cp:revision>
  <dcterms:created xsi:type="dcterms:W3CDTF">2026-10-15T20:54:31Z</dcterms:created>
  <dcterms:modified xsi:type="dcterms:W3CDTF">2026-10-15T20:54:31Z</dcterms:modified>
</cp:coreProperties>
</file>