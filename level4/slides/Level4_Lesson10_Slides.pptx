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835" r:id="rId33"/>
    <p:sldId id="836" r:id="rId34"/>
    <p:sldId id="837" r:id="rId35"/>
    <p:sldId id="838" r:id="rId36"/>
    <p:sldId id="839" r:id="rId31"/>
    <p:sldId id="840" r:id="rId30"/>
    <p:sldId id="841" r:id="rId29"/>
    <p:sldId id="842" r:id="rId28"/>
    <p:sldId id="843" r:id="rId27"/>
    <p:sldId id="844" r:id="rId20"/>
    <p:sldId id="845" r:id="rId18"/>
    <p:sldId id="846" r:id="rId17"/>
    <p:sldId id="847" r:id="rId16"/>
    <p:sldId id="848" r:id="rId14"/>
    <p:sldId id="849" r:id="rId13"/>
    <p:sldId id="850" r:id="rId12"/>
    <p:sldId id="851" r:id="rId11"/>
    <p:sldId id="852" r:id="rId10"/>
    <p:sldId id="853" r:id="rId8"/>
    <p:sldId id="854" r:id="rId7"/>
    <p:sldId id="855" r:id="rId6"/>
    <p:sldId id="856" r:id="rId5"/>
    <p:sldId id="857" r:id="rId4"/>
    <p:sldId id="858" r:id="rId3"/>
    <p:sldId id="859" r:id="rId57"/>
    <p:sldId id="860"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synthetic voices, computer-generated (Chatterbox TTS cloned from Kokoro-82M reference clips). No recordings of real people.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What can people do at home to save energy or stay safe? Example on the board: Turn off the lights when you leave a room. Unplug your charger and put it away. Make sure you lock the deadbolt at night, because it keeps your home safe. With 5 or fewer, a learner can say it to you first and then write it.</a:t>
            </a:r>
          </a:p>
          <a:p>
            <a:r>
              <a:t>Collect the pages. After class, sort them into ✓ / almost / not yet. Start next week with 2 corrections on the board (no names).</a:t>
            </a:r>
          </a:p>
          <a:p>
            <a:r>
              <a:t>Homework (2 min): open the Homework page. Do item 1 together (item 1: turn down / the heat (it) → Turn it down.). Say: "About 15–20 minutes. Finish your Read &amp; Write writing at home."</a:t>
            </a:r>
          </a:p>
          <a:p>
            <a:r>
              <a:t>Homework items: 1. Write the sentence. Use it or them. • 2. Finish your writing from Read &amp; Write C (your email). Read it one more time. Check ✓ the list in D. • 3. Look around your home. Write 3 things you can do to save energy or stay safe. • 4. Review (Lesson 9). Write one word.</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utility bill + a "Save energy, stay safe" flyer · 10 min. Pairs read, then individual writing.</a:t>
            </a:r>
          </a:p>
          <a:p>
            <a:r>
              <a:t>Read (4 min): Learners read the invented bill and the flyer on the Read &amp; Write page and answer the questions. Say: "Read fast first. Then find the answers." Pairs answer questions 1–5 together.</a:t>
            </a:r>
          </a:p>
          <a:p>
            <a:r>
              <a:t>Check (1 min): click to show each answer (one click per question, 1 to 5): 1 $142.00. • 2 March 15. • 3 There is a $10 late fee. • 4 68 degrees. • 5 Look through the peephole.</a:t>
            </a:r>
          </a:p>
          <a:p>
            <a:r>
              <a:t>Write (5 min): Learners write an email (5–8 sentences) to a roommate or family member: what to change at home and why. Show the example. Check for 2 phrasal verbs and one it or them.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Home Tips (groups of 3). Groups write 5 tips to save energy or stay safe (Turn down the heat at night. Unplug the charger.) and present them in 1 minute. Each click shows the next step.</a:t>
            </a:r>
          </a:p>
          <a:p>
            <a:r>
              <a:t>15 learners: pairs for round 1; then 5 groups of 3. 7–8 learners: pairs; then 2 groups. 5 or fewer: pairs; then one poster together.</a:t>
            </a:r>
          </a:p>
          <a:p>
            <a:r>
              <a:t>Every answer needs a reason; every partner asks a follow-up. Walk around and listen. Note 2 good sentences to praise and 1 common error for next week.</a:t>
            </a:r>
          </a:p>
          <a:p>
            <a:r>
              <a:t>If behind: round 1 only.</a:t>
            </a:r>
          </a:p>
          <a:p>
            <a:r>
              <a:t>Lesson plan: Step 5; Talk Time: Home Tips.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Energy Detective + Home Tips · 15 min.</a:t>
            </a:r>
          </a:p>
          <a:p>
            <a:r>
              <a:t>Model it first (1 min): read the first problem on the Apartment A card: "The lights are on in an empty room." Say to a learner, "Turn them off, please." The learner mimes and says, "OK, I'll turn them off." Do one more: "The window is open, and the heat is on." (Close it. Turn the heat down.)</a:t>
            </a:r>
          </a:p>
          <a:p>
            <a:r>
              <a:t>Round 1 (7 min): Energy Detective (pairs). A reads a problem from the Apartment A card and gives an instruction (Turn them off. Close it. Put it away.). B mimes and answers with it / them. Then switch to the Apartment B card. Each click shows the next step.</a:t>
            </a:r>
          </a:p>
          <a:p>
            <a:r>
              <a:t>15 learners: pairs for round 1; then 5 groups of 3. 7–8 learners: pairs; then 2 groups. 5 or fewer: pairs; then one poster together.</a:t>
            </a:r>
          </a:p>
          <a:p>
            <a:r>
              <a:t>Lesson plan: Step 5; Talk Time: Energy Detective.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points to a picture and says, "Can you unplug the charger?" B mimes and answers, "OK, I'll unplug it." A says, "Don't forget to lock the deadbolt." Switch. 15 learners: swap partners once. 5 or fewer: you join one pair.</a:t>
            </a:r>
          </a:p>
          <a:p>
            <a:r>
              <a:t>If behind: skip the pair check. Talk Time practices it.</a:t>
            </a:r>
          </a:p>
          <a:p>
            <a:r>
              <a:t>Break · 6:45–7:00 · 15 min. Write on the board: Can you turn off the lights? → OK, I'll turn them off. • Did you take out the trash? → Yes, I took it out. • Make sure you lock the deadbolt.</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it off, 2 throw away, 3 down, 4 put them away, 5 to lock, 6 much.</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them, 2 up, 3 it, 4 on, 5 sure, 6 forget.</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Make sure you… / Don't forget to… Each click shows the answer side of one row.</a:t>
            </a:r>
          </a:p>
          <a:p>
            <a:r>
              <a:t>Questions and answers (2 min): Q: turn off it or turn it off? A: turn it off. With it / them, the small word goes after: turn it off, put them away. • Q: Is turn off the TV OK? A: Yes. With a noun, both are OK: turn off the TV and turn the TV off. • Q: turn down or turn off? A: turn down = less. turn off = stop. Turn down the heat. Turn off the lights.</a:t>
            </a:r>
          </a:p>
          <a:p>
            <a:r>
              <a:t>Check questions: "turn off it or turn it off?" (turn it off) • "Is turn the TV off OK?" (yes) • "It's too loud. Turn it up or turn it down?" (turn it down).</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the 8 phrasal verbs. Each click shows the answer side of one row.</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the past: Did you take out the trash? → Yes, I took it out. Each click shows the answer side of one row.</a:t>
            </a:r>
          </a:p>
          <a:p>
            <a:r>
              <a:t>Rule of thumb (read it aloud): With a noun, two places are OK: turn off the TV / turn the TV off. With it / them, only the middle: turn it off (not turn off it).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point to the lights and say, "Can you turn off the lights?" A learner turns them off (or mimes it). You say, "Thank you. You turned them off." Turn them on again. Write: turn off the lights / turn the lights off → turn them off. Cross out turn off them.</a:t>
            </a:r>
          </a:p>
          <a:p>
            <a:r>
              <a:t>Box 1: read across: Can you turn off the lights? → OK, I'll turn them off. Each click shows the answer side of one row.</a:t>
            </a:r>
          </a:p>
          <a:p>
            <a:r>
              <a:t>Lesson plan: Step 4; Grammar Box 1.</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 gonna = going to: "I'm going to unplug my phone charger." Then practice the stress on the small word: turn it OFF, put it aWAY, and the linking: turn_it_off, take_it_out. The class repeats the two lines twice.</a:t>
            </a:r>
          </a:p>
          <a:p>
            <a:r>
              <a:t>Reductions: the listening says going to. People often say gonna. Learners only need to recognize it.</a:t>
            </a:r>
          </a:p>
          <a:p>
            <a:r>
              <a:t>Everyday English: people often say gonna (going to) and wanna (want to). Learners will hear them often. They are fine in casual talk; in writing, at a job interview, or in a formal email, use going to and want to. The listening uses the full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them, 2 it, 3 down, 4 on, 5 up, 6 off.</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1 $142 • 2 down • 3 phone charger • 4 sweaters • 5 March 15 • 6 free.</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a (The electric bill is too high.).</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"Two roommates, Sofia and Hana, look at a high electric bill and make a plan. Then Sofia calls the electric company. Listen: what is the problem?"</a:t>
            </a:r>
          </a:p>
          <a:p>
            <a:r>
              <a:t>There are 3 people: Sofia, Hana and Paul. A narrator starts and ends the listening. Each click highlights the next person.</a:t>
            </a:r>
          </a:p>
          <a:p>
            <a:r>
              <a:t>The audio (L4_L10_listening.mp3, about 2:07) plays the conversation once. Press play again for play 2. A third play is fine if the class needs it.</a:t>
            </a:r>
          </a:p>
          <a:p>
            <a:r>
              <a:t>No speaker? Read the script with a volunteer at a natural, friendly speed, two times. The script says going to and want to. People often say gonna and wanna; learners only need to recognize those words.</a:t>
            </a:r>
          </a:p>
          <a:p>
            <a:r>
              <a:t>Audio: synthetic voices, computer-generated (Chatterbox TTS cloned from Kokoro-82M reference clips). No recordings of real people.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"Do you plug a charger into an outlet or a peephole?" (an outlet) • 2. "Is a deadbolt a lock or a light?" (a lock) • 3. "Does a thermostat control the heat or the water?" (the heat)</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points to a picture and says, "Can you unplug the charger?" B mimes and answers, "OK, I'll unplug it." Then A gives a tip: "Don't forget to lock the deadbolt."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utility bill (the bill for electricity, gas, or water); electricity; thermostat (it controls the heat); save energy (use less); unplug (take the plug out); charger; outlet (point to one in the room); fan; deadbolt (a strong lock); peephole (a small hole in the door to look out); fire extinguisher; usage (how much you use).</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"Turn It Off" Say: "Saving energy and keeping a home safe: reading a utility bill, simple ways to use less electricity and water, locking up, and knowing where the fire extinguisher is. Learners give and follow home tips with separable phrasal verbs and it / them. The bill, the company, and the program are invented."</a:t>
            </a:r>
          </a:p>
          <a:p>
            <a:r>
              <a:t>Read the three lines under "Today you will".</a:t>
            </a:r>
          </a:p>
          <a:p>
            <a:r>
              <a:t>Safety stays simple and calm: practical tips only, no fire stories. Point to where the classroom fire extinguisher is.</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opinions; agree / disagree politely; as … as</a:t>
            </a:r>
          </a:p>
          <a:p>
            <a:r>
              <a:t>Model with one learner: you say, "What do you think about homework for kids?" The learner gives an opinion and a reason. Then you disagree politely: "I see your point, but…" Help them answer with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a:t>
            </a:r>
          </a:p>
          <a:p>
            <a:r>
              <a:t>Homework Check (3 min, last click): Pairs compare Homework item 1 (as … as) and read their opinion and reasons (item 3) to each other. The partner agrees or disagrees politely. Then they fill in the box on the Opening Talk page. Walk around. Write 2 common errors on the board (often I am agree (→ I agree) and not as fast than (→ not as fast as))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Utility bill: a receipt and a lightning bolt [sign: AMOUNT DU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10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Turn It Off</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phrasal verbs: turn off, put away…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Put it / them in the right place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tips to save energy and stay safe</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use phrasal verbs: </a:t>
            </a:r>
            <a:r>
              <a:rPr lang="en-US" sz="1500" dirty="0" b="1">
                <a:solidFill>
                  <a:srgbClr val="5B3FC4"/>
                </a:solidFill>
                <a:latin typeface="Lexend Deca" pitchFamily="34" charset="0"/>
                <a:ea typeface="Lexend Deca" pitchFamily="34" charset="-122"/>
                <a:cs typeface="Lexend Deca" pitchFamily="34" charset="-120"/>
              </a:rPr>
              <a:t>turn off, turn down, turn up, put on, put away, take out, throw away, shut off</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put </a:t>
            </a:r>
            <a:r>
              <a:rPr lang="en-US" sz="1500" dirty="0" b="1">
                <a:solidFill>
                  <a:srgbClr val="5B3FC4"/>
                </a:solidFill>
                <a:latin typeface="Lexend Deca" pitchFamily="34" charset="0"/>
                <a:ea typeface="Lexend Deca" pitchFamily="34" charset="-122"/>
                <a:cs typeface="Lexend Deca" pitchFamily="34" charset="-120"/>
              </a:rPr>
              <a:t>it / them</a:t>
            </a:r>
            <a:r>
              <a:rPr lang="en-US" sz="1500" dirty="0">
                <a:solidFill>
                  <a:srgbClr val="1B2236"/>
                </a:solidFill>
                <a:latin typeface="Lexend Deca" pitchFamily="34" charset="0"/>
                <a:ea typeface="Lexend Deca" pitchFamily="34" charset="-122"/>
                <a:cs typeface="Lexend Deca" pitchFamily="34" charset="-120"/>
              </a:rPr>
              <a:t> in the right place (</a:t>
            </a:r>
            <a:r>
              <a:rPr lang="en-US" sz="1500" dirty="0" b="1">
                <a:solidFill>
                  <a:srgbClr val="5B3FC4"/>
                </a:solidFill>
                <a:latin typeface="Lexend Deca" pitchFamily="34" charset="0"/>
                <a:ea typeface="Lexend Deca" pitchFamily="34" charset="-122"/>
                <a:cs typeface="Lexend Deca" pitchFamily="34" charset="-120"/>
              </a:rPr>
              <a:t>turn it off</a:t>
            </a:r>
            <a:r>
              <a:rPr lang="en-US" sz="1500" dirty="0">
                <a:solidFill>
                  <a:srgbClr val="1B2236"/>
                </a:solidFill>
                <a:latin typeface="Lexend Deca" pitchFamily="34" charset="0"/>
                <a:ea typeface="Lexend Deca" pitchFamily="34" charset="-122"/>
                <a:cs typeface="Lexend Deca" pitchFamily="34" charset="-120"/>
              </a:rPr>
              <a:t>, not </a:t>
            </a:r>
            <a:r>
              <a:rPr lang="en-US" sz="1500" dirty="0" b="1">
                <a:solidFill>
                  <a:srgbClr val="5B3FC4"/>
                </a:solidFill>
                <a:latin typeface="Lexend Deca" pitchFamily="34" charset="0"/>
                <a:ea typeface="Lexend Deca" pitchFamily="34" charset="-122"/>
                <a:cs typeface="Lexend Deca" pitchFamily="34" charset="-120"/>
              </a:rPr>
              <a:t>turn off it</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give tips to save energy and stay safe at home (</a:t>
            </a:r>
            <a:r>
              <a:rPr lang="en-US" sz="1500" dirty="0" b="1">
                <a:solidFill>
                  <a:srgbClr val="5B3FC4"/>
                </a:solidFill>
                <a:latin typeface="Lexend Deca" pitchFamily="34" charset="0"/>
                <a:ea typeface="Lexend Deca" pitchFamily="34" charset="-122"/>
                <a:cs typeface="Lexend Deca" pitchFamily="34" charset="-120"/>
              </a:rPr>
              <a:t>Make sure you… / Don't forget to…</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read the main parts of a utility bill (amount due, due date, usage).</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an email (5–8 sentences) to a roommate or family member about changes at home.</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Electricity: a lightning bolt and a light bulb"/>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do you think about homework for kids?</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Do you agree?</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Do you agree? Why? I see your point, but…</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do you think about homework for kids?</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do you feel about a new parking lot downtown?</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Is a bus as fast as a car?</a:t>
            </a:r>
            <a:endParaRPr lang="en-US" sz="20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should change in your neighborhood?</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9,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Utility bill: a receipt and a lightning bolt [sign: AMOUNT DU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utility bill</a:t>
            </a:r>
            <a:endParaRPr lang="en-US" sz="2000" dirty="0" b="1"/>
          </a:p>
        </p:txBody>
      </p:sp>
      <p:pic>
        <p:nvPicPr>
          <p:cNvPr id="19" name="Word picture 2" descr="Electricity: a lightning bolt and a light bulb"/>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electricity</a:t>
            </a:r>
            <a:endParaRPr lang="en-US" sz="2000" dirty="0" b="1"/>
          </a:p>
        </p:txBody>
      </p:sp>
      <p:pic>
        <p:nvPicPr>
          <p:cNvPr id="21" name="Word picture 3" descr="Thermostat: a thermometer and a house [sign: 68 degree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thermostat</a:t>
            </a:r>
            <a:endParaRPr lang="en-US" sz="2000" dirty="0" b="1"/>
          </a:p>
        </p:txBody>
      </p:sp>
      <p:pic>
        <p:nvPicPr>
          <p:cNvPr id="23" name="Word picture 4" descr="Save energy: a light bulb and a check mark [sign: SAVE ENERGY]"/>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save energy</a:t>
            </a:r>
            <a:endParaRPr lang="en-US" sz="2000" dirty="0" b="1"/>
          </a:p>
        </p:txBody>
      </p:sp>
      <p:pic>
        <p:nvPicPr>
          <p:cNvPr id="25" name="Word picture 5" descr="Unplug: a plug and a red X"/>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unplug</a:t>
            </a:r>
            <a:endParaRPr lang="en-US" sz="2000" dirty="0" b="1"/>
          </a:p>
        </p:txBody>
      </p:sp>
      <p:pic>
        <p:nvPicPr>
          <p:cNvPr id="27" name="Word picture 6" descr="Charger: a plug and a phon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charger</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Turn it off!</a:t>
            </a:r>
            <a:endParaRPr lang="en-US" sz="2200" dirty="0" b="1"/>
          </a:p>
        </p:txBody>
      </p:sp>
      <p:pic>
        <p:nvPicPr>
          <p:cNvPr id="17" name="Word picture 1" descr="Outlet: a plug [sign: OUTLE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outlet</a:t>
            </a:r>
            <a:endParaRPr lang="en-US" sz="2000" dirty="0" b="1"/>
          </a:p>
        </p:txBody>
      </p:sp>
      <p:pic>
        <p:nvPicPr>
          <p:cNvPr id="19" name="Word picture 2" descr="Fan: a wind face and a puff of air [sign: FAN]"/>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fan</a:t>
            </a:r>
            <a:endParaRPr lang="en-US" sz="2000" dirty="0" b="1"/>
          </a:p>
        </p:txBody>
      </p:sp>
      <p:pic>
        <p:nvPicPr>
          <p:cNvPr id="21" name="Word picture 3" descr="Deadbolt: a lock and a door"/>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deadbolt</a:t>
            </a:r>
            <a:endParaRPr lang="en-US" sz="2000" dirty="0" b="1"/>
          </a:p>
        </p:txBody>
      </p:sp>
      <p:pic>
        <p:nvPicPr>
          <p:cNvPr id="23" name="Word picture 4" descr="Peephole: an eye and a doo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peephole</a:t>
            </a:r>
            <a:endParaRPr lang="en-US" sz="2000" dirty="0" b="1"/>
          </a:p>
        </p:txBody>
      </p:sp>
      <p:pic>
        <p:nvPicPr>
          <p:cNvPr id="25" name="Word picture 5" descr="Fire extinguisher: a fire extinguisher"/>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fire extinguisher</a:t>
            </a:r>
            <a:endParaRPr lang="en-US" sz="1800" dirty="0" b="1"/>
          </a:p>
        </p:txBody>
      </p:sp>
      <p:pic>
        <p:nvPicPr>
          <p:cNvPr id="27" name="Word picture 6" descr="Usage: a bar chart and a lightning bolt [sign: USAG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usage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 you plug a charger into an outlet or a peephole?</a:t>
            </a:r>
            <a:endParaRPr lang="en-US" sz="1600" dirty="0" b="1"/>
          </a:p>
        </p:txBody>
      </p:sp>
      <p:pic>
        <p:nvPicPr>
          <p:cNvPr id="101" name="R1 pic" descr="Charger: a plug and a phone"/>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deadbolt a lock or a light?</a:t>
            </a:r>
            <a:endParaRPr lang="en-US" sz="1600" dirty="0" b="1"/>
          </a:p>
        </p:txBody>
      </p:sp>
      <p:pic>
        <p:nvPicPr>
          <p:cNvPr id="102" name="R2 pic" descr="Deadbolt: a lock and a door"/>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Does a thermostat control the heat or the water?</a:t>
            </a:r>
            <a:endParaRPr lang="en-US" sz="1600" dirty="0" b="1"/>
          </a:p>
        </p:txBody>
      </p:sp>
      <p:pic>
        <p:nvPicPr>
          <p:cNvPr id="103" name="R3 pic" descr="Thermostat: a thermometer and a house [sign: 68 degrees]"/>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an outlet</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a lock</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the heat</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Two roommates, Sofia and Hana, look at a high electric bill and make a plan. Then Sofia calls the electric company.</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Charger: a plug and a phone"/>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Sofia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Hana</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Paul</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the problem?</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2:07.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the problem?</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1783080" cy="530352"/>
          </a:xfrm>
          <a:prstGeom prst="rect">
            <a:avLst/>
          </a:prstGeom>
          <a:noFill/>
          <a:ln w="38100">
            <a:noFill/>
          </a:ln>
        </p:spPr>
        <p:txBody>
          <a:bodyPr wrap="square" lIns="73152" tIns="36576" rIns="73152" bIns="36576" rtlCol="0" anchor="ctr">
            <a:noAutofit/>
          </a:bodyPr>
          <a:lstStyle/>
          <a:p>
            <a:pPr algn="l" indent="0" marL="0">
              <a:buNone/>
            </a:pPr>
            <a:endParaRPr lang="en-US" sz="2000" dirty="0"/>
          </a:p>
        </p:txBody>
      </p:sp>
      <p:sp>
        <p:nvSpPr>
          <p:cNvPr id="9" name="R1 opt1"/>
          <p:cNvSpPr/>
          <p:nvPr/>
        </p:nvSpPr>
        <p:spPr>
          <a:xfrm>
            <a:off x="246888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The electric bill is too high.</a:t>
            </a:r>
            <a:endParaRPr lang="en-US" sz="1500" dirty="0" b="1"/>
          </a:p>
        </p:txBody>
      </p:sp>
      <p:sp>
        <p:nvSpPr>
          <p:cNvPr id="10" name="R1 opt2"/>
          <p:cNvSpPr/>
          <p:nvPr/>
        </p:nvSpPr>
        <p:spPr>
          <a:xfrm>
            <a:off x="534924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The heat is broken.</a:t>
            </a:r>
            <a:endParaRPr lang="en-US" sz="1500" dirty="0" b="1"/>
          </a:p>
        </p:txBody>
      </p:sp>
      <p:sp>
        <p:nvSpPr>
          <p:cNvPr id="11" name="R1 opt3"/>
          <p:cNvSpPr/>
          <p:nvPr/>
        </p:nvSpPr>
        <p:spPr>
          <a:xfrm>
            <a:off x="822960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The bill is late.</a:t>
            </a:r>
            <a:endParaRPr lang="en-US" sz="1500" dirty="0" b="1"/>
          </a:p>
        </p:txBody>
      </p:sp>
      <p:sp>
        <p:nvSpPr>
          <p:cNvPr id="12" name="R1 circle"/>
          <p:cNvSpPr/>
          <p:nvPr/>
        </p:nvSpPr>
        <p:spPr>
          <a:xfrm>
            <a:off x="2340864" y="3054096"/>
            <a:ext cx="29992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The bill this month is</a:t>
            </a:r>
            <a:endParaRPr lang="en-US" sz="1600" dirty="0"/>
          </a:p>
        </p:txBody>
      </p:sp>
      <p:sp>
        <p:nvSpPr>
          <p:cNvPr id="9" name="R1 opt1"/>
          <p:cNvSpPr/>
          <p:nvPr/>
        </p:nvSpPr>
        <p:spPr>
          <a:xfrm>
            <a:off x="662940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$142</a:t>
            </a:r>
            <a:endParaRPr lang="en-US" sz="14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$90</a:t>
            </a:r>
            <a:endParaRPr lang="en-US" sz="1400" dirty="0" b="1"/>
          </a:p>
        </p:txBody>
      </p:sp>
      <p:sp>
        <p:nvSpPr>
          <p:cNvPr id="11" name="R1 circle"/>
          <p:cNvSpPr/>
          <p:nvPr/>
        </p:nvSpPr>
        <p:spPr>
          <a:xfrm>
            <a:off x="650138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They will turn ____ the heat at night.</a:t>
            </a:r>
            <a:endParaRPr lang="en-US" sz="1600" dirty="0"/>
          </a:p>
        </p:txBody>
      </p:sp>
      <p:sp>
        <p:nvSpPr>
          <p:cNvPr id="13" name="R2 opt1"/>
          <p:cNvSpPr/>
          <p:nvPr/>
        </p:nvSpPr>
        <p:spPr>
          <a:xfrm>
            <a:off x="662940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down</a:t>
            </a:r>
            <a:endParaRPr lang="en-US" sz="14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up</a:t>
            </a:r>
            <a:endParaRPr lang="en-US" sz="1400" dirty="0" b="1"/>
          </a:p>
        </p:txBody>
      </p:sp>
      <p:sp>
        <p:nvSpPr>
          <p:cNvPr id="15" name="R2 circle"/>
          <p:cNvSpPr/>
          <p:nvPr/>
        </p:nvSpPr>
        <p:spPr>
          <a:xfrm>
            <a:off x="650138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Hana is going to unplug her</a:t>
            </a:r>
            <a:endParaRPr lang="en-US" sz="1600" dirty="0"/>
          </a:p>
        </p:txBody>
      </p:sp>
      <p:sp>
        <p:nvSpPr>
          <p:cNvPr id="17" name="R3 opt1"/>
          <p:cNvSpPr/>
          <p:nvPr/>
        </p:nvSpPr>
        <p:spPr>
          <a:xfrm>
            <a:off x="662940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phone charger</a:t>
            </a:r>
            <a:endParaRPr lang="en-US" sz="14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TV</a:t>
            </a:r>
            <a:endParaRPr lang="en-US" sz="1400" dirty="0" b="1"/>
          </a:p>
        </p:txBody>
      </p:sp>
      <p:sp>
        <p:nvSpPr>
          <p:cNvPr id="19" name="R3 circle"/>
          <p:cNvSpPr/>
          <p:nvPr/>
        </p:nvSpPr>
        <p:spPr>
          <a:xfrm>
            <a:off x="650138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They will put on</a:t>
            </a:r>
            <a:endParaRPr lang="en-US" sz="1600" dirty="0"/>
          </a:p>
        </p:txBody>
      </p:sp>
      <p:sp>
        <p:nvSpPr>
          <p:cNvPr id="21" name="R4 opt1"/>
          <p:cNvSpPr/>
          <p:nvPr/>
        </p:nvSpPr>
        <p:spPr>
          <a:xfrm>
            <a:off x="662940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sweaters</a:t>
            </a:r>
            <a:endParaRPr lang="en-US" sz="14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coats</a:t>
            </a:r>
            <a:endParaRPr lang="en-US" sz="1400" dirty="0" b="1"/>
          </a:p>
        </p:txBody>
      </p:sp>
      <p:sp>
        <p:nvSpPr>
          <p:cNvPr id="23" name="R4 circle"/>
          <p:cNvSpPr/>
          <p:nvPr/>
        </p:nvSpPr>
        <p:spPr>
          <a:xfrm>
            <a:off x="650138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The bill is due on</a:t>
            </a:r>
            <a:endParaRPr lang="en-US" sz="1600" dirty="0"/>
          </a:p>
        </p:txBody>
      </p:sp>
      <p:sp>
        <p:nvSpPr>
          <p:cNvPr id="25" name="R5 opt1"/>
          <p:cNvSpPr/>
          <p:nvPr/>
        </p:nvSpPr>
        <p:spPr>
          <a:xfrm>
            <a:off x="662940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15</a:t>
            </a:r>
            <a:endParaRPr lang="en-US" sz="14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5</a:t>
            </a:r>
            <a:endParaRPr lang="en-US" sz="1400" dirty="0" b="1"/>
          </a:p>
        </p:txBody>
      </p:sp>
      <p:sp>
        <p:nvSpPr>
          <p:cNvPr id="27" name="R5 circle"/>
          <p:cNvSpPr/>
          <p:nvPr/>
        </p:nvSpPr>
        <p:spPr>
          <a:xfrm>
            <a:off x="650138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The home energy check is</a:t>
            </a:r>
            <a:endParaRPr lang="en-US" sz="1600" dirty="0"/>
          </a:p>
        </p:txBody>
      </p:sp>
      <p:sp>
        <p:nvSpPr>
          <p:cNvPr id="29" name="R6 opt1"/>
          <p:cNvSpPr/>
          <p:nvPr/>
        </p:nvSpPr>
        <p:spPr>
          <a:xfrm>
            <a:off x="662940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free</a:t>
            </a:r>
            <a:endParaRPr lang="en-US" sz="14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$20</a:t>
            </a:r>
            <a:endParaRPr lang="en-US" sz="1400" dirty="0" b="1"/>
          </a:p>
        </p:txBody>
      </p:sp>
      <p:sp>
        <p:nvSpPr>
          <p:cNvPr id="31" name="R6 circle"/>
          <p:cNvSpPr/>
          <p:nvPr/>
        </p:nvSpPr>
        <p:spPr>
          <a:xfrm>
            <a:off x="650138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missing word: the phrasal verb or </a:t>
            </a:r>
            <a:r>
              <a:rPr lang="en-US" sz="2000" dirty="0" b="1">
                <a:solidFill>
                  <a:srgbClr val="5B3FC4"/>
                </a:solidFill>
                <a:latin typeface="Lexend Deca" pitchFamily="34" charset="0"/>
                <a:ea typeface="Lexend Deca" pitchFamily="34" charset="-122"/>
                <a:cs typeface="Lexend Deca" pitchFamily="34" charset="-120"/>
              </a:rPr>
              <a:t>it / them</a:t>
            </a:r>
            <a:r>
              <a:rPr lang="en-US" sz="2000" dirty="0">
                <a:solidFill>
                  <a:srgbClr val="1B2236"/>
                </a:solidFill>
                <a:latin typeface="Lexend Deca" pitchFamily="34" charset="0"/>
                <a:ea typeface="Lexend Deca" pitchFamily="34" charset="-122"/>
                <a:cs typeface="Lexend Deca" pitchFamily="34" charset="-120"/>
              </a:rPr>
              <a:t>.</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missing word: the phrasal verb or </a:t>
            </a:r>
            <a:r>
              <a:rPr lang="en-US" sz="2000" dirty="0" b="1">
                <a:solidFill>
                  <a:srgbClr val="5B3FC4"/>
                </a:solidFill>
                <a:latin typeface="Lexend Deca" pitchFamily="34" charset="0"/>
                <a:ea typeface="Lexend Deca" pitchFamily="34" charset="-122"/>
                <a:cs typeface="Lexend Deca" pitchFamily="34" charset="-120"/>
              </a:rPr>
              <a:t>it / them</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always forget to turn ____ off.</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them</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I'll turn ____ off.</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 can turn ____ the heat at night.</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down</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let's put ____ sweaters</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on</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not turn ____ the heat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up</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don't forget to turn ____ the lights</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off</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the stress and the linking</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 going to,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 want to: fine in everyday talk.</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Stress the </a:t>
            </a:r>
            <a:r>
              <a:rPr lang="en-US" sz="2000" dirty="0" b="1">
                <a:solidFill>
                  <a:srgbClr val="5B3FC4"/>
                </a:solidFill>
                <a:latin typeface="Lexend Deca" pitchFamily="34" charset="0"/>
                <a:ea typeface="Lexend Deca" pitchFamily="34" charset="-122"/>
                <a:cs typeface="Lexend Deca" pitchFamily="34" charset="-120"/>
              </a:rPr>
              <a:t>small word</a:t>
            </a:r>
            <a:r>
              <a:rPr lang="en-US" sz="2000" dirty="0" b="0">
                <a:solidFill>
                  <a:srgbClr val="1B2236"/>
                </a:solidFill>
                <a:latin typeface="Lexend Deca" pitchFamily="34" charset="0"/>
                <a:ea typeface="Lexend Deca" pitchFamily="34" charset="-122"/>
                <a:cs typeface="Lexend Deca" pitchFamily="34" charset="-120"/>
              </a:rPr>
              <a:t>. Link the words.</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unplug my phone charger.</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turn it </a:t>
            </a:r>
            <a:r>
              <a:rPr lang="en-US" sz="1800" dirty="0" b="1">
                <a:solidFill>
                  <a:srgbClr val="5B3FC4"/>
                </a:solidFill>
                <a:latin typeface="Lexend Deca" pitchFamily="34" charset="0"/>
                <a:ea typeface="Lexend Deca" pitchFamily="34" charset="-122"/>
                <a:cs typeface="Lexend Deca" pitchFamily="34" charset="-120"/>
              </a:rPr>
              <a:t>OFF</a:t>
            </a:r>
            <a:r>
              <a:rPr lang="en-US" sz="1800" dirty="0" b="1">
                <a:solidFill>
                  <a:srgbClr val="1B2236"/>
                </a:solidFill>
                <a:latin typeface="Lexend Deca" pitchFamily="34" charset="0"/>
                <a:ea typeface="Lexend Deca" pitchFamily="34" charset="-122"/>
                <a:cs typeface="Lexend Deca" pitchFamily="34" charset="-120"/>
              </a:rPr>
              <a:t> • put it a</a:t>
            </a:r>
            <a:r>
              <a:rPr lang="en-US" sz="1800" dirty="0" b="1">
                <a:solidFill>
                  <a:srgbClr val="5B3FC4"/>
                </a:solidFill>
                <a:latin typeface="Lexend Deca" pitchFamily="34" charset="0"/>
                <a:ea typeface="Lexend Deca" pitchFamily="34" charset="-122"/>
                <a:cs typeface="Lexend Deca" pitchFamily="34" charset="-120"/>
              </a:rPr>
              <a:t>WAY</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turn_it_off • take_it_out</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Outlet: a plug [sign: OUTLE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phrasal verbs + it / them</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Can you turn off</a:t>
            </a:r>
            <a:r>
              <a:rPr lang="en-US" sz="1700" dirty="0" b="1">
                <a:solidFill>
                  <a:srgbClr val="1B2236"/>
                </a:solidFill>
                <a:latin typeface="Lexend Deca" pitchFamily="34" charset="0"/>
                <a:ea typeface="Lexend Deca" pitchFamily="34" charset="-122"/>
                <a:cs typeface="Lexend Deca" pitchFamily="34" charset="-120"/>
              </a:rPr>
              <a:t> the lights?</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OK, </a:t>
            </a:r>
            <a:r>
              <a:rPr lang="en-US" sz="1700" dirty="0" b="1">
                <a:solidFill>
                  <a:srgbClr val="1B2236"/>
                </a:solidFill>
                <a:latin typeface="Lexend Deca" pitchFamily="34" charset="0"/>
                <a:ea typeface="Lexend Deca" pitchFamily="34" charset="-122"/>
                <a:cs typeface="Lexend Deca" pitchFamily="34" charset="-120"/>
              </a:rPr>
              <a:t>I'll turn them off.</a:t>
            </a:r>
            <a:r>
              <a:rPr lang="en-US" sz="1700" dirty="0" b="1">
                <a:solidFill>
                  <a:srgbClr val="1B2236"/>
                </a:solidFill>
                <a:latin typeface="Lexend Deca" pitchFamily="34" charset="0"/>
                <a:ea typeface="Lexend Deca" pitchFamily="34" charset="-122"/>
                <a:cs typeface="Lexend Deca" pitchFamily="34" charset="-120"/>
              </a:rPr>
              <a:t> (not </a:t>
            </a:r>
            <a:r>
              <a:rPr lang="en-US" sz="1700" dirty="0" b="1">
                <a:solidFill>
                  <a:srgbClr val="5B3FC4"/>
                </a:solidFill>
                <a:latin typeface="Lexend Deca" pitchFamily="34" charset="0"/>
                <a:ea typeface="Lexend Deca" pitchFamily="34" charset="-122"/>
                <a:cs typeface="Lexend Deca" pitchFamily="34" charset="-120"/>
              </a:rPr>
              <a:t>turn off them</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Can you turn</a:t>
            </a:r>
            <a:r>
              <a:rPr lang="en-US" sz="1700" dirty="0" b="1">
                <a:solidFill>
                  <a:srgbClr val="1B2236"/>
                </a:solidFill>
                <a:latin typeface="Lexend Deca" pitchFamily="34" charset="0"/>
                <a:ea typeface="Lexend Deca" pitchFamily="34" charset="-122"/>
                <a:cs typeface="Lexend Deca" pitchFamily="34" charset="-120"/>
              </a:rPr>
              <a:t> the TV </a:t>
            </a:r>
            <a:r>
              <a:rPr lang="en-US" sz="1700" dirty="0" b="1">
                <a:solidFill>
                  <a:srgbClr val="1B2236"/>
                </a:solidFill>
                <a:latin typeface="Lexend Deca" pitchFamily="34" charset="0"/>
                <a:ea typeface="Lexend Deca" pitchFamily="34" charset="-122"/>
                <a:cs typeface="Lexend Deca" pitchFamily="34" charset="-120"/>
              </a:rPr>
              <a:t>down</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Sure, </a:t>
            </a:r>
            <a:r>
              <a:rPr lang="en-US" sz="1700" dirty="0" b="1">
                <a:solidFill>
                  <a:srgbClr val="1B2236"/>
                </a:solidFill>
                <a:latin typeface="Lexend Deca" pitchFamily="34" charset="0"/>
                <a:ea typeface="Lexend Deca" pitchFamily="34" charset="-122"/>
                <a:cs typeface="Lexend Deca" pitchFamily="34" charset="-120"/>
              </a:rPr>
              <a:t>I'll turn it down.</a:t>
            </a:r>
            <a:r>
              <a:rPr lang="en-US" sz="1700" dirty="0" b="1">
                <a:solidFill>
                  <a:srgbClr val="1B2236"/>
                </a:solidFill>
                <a:latin typeface="Lexend Deca" pitchFamily="34" charset="0"/>
                <a:ea typeface="Lexend Deca" pitchFamily="34" charset="-122"/>
                <a:cs typeface="Lexend Deca" pitchFamily="34" charset="-120"/>
              </a:rPr>
              <a:t> It's loud.</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Can you take out</a:t>
            </a:r>
            <a:r>
              <a:rPr lang="en-US" sz="1700" dirty="0" b="1">
                <a:solidFill>
                  <a:srgbClr val="1B2236"/>
                </a:solidFill>
                <a:latin typeface="Lexend Deca" pitchFamily="34" charset="0"/>
                <a:ea typeface="Lexend Deca" pitchFamily="34" charset="-122"/>
                <a:cs typeface="Lexend Deca" pitchFamily="34" charset="-120"/>
              </a:rPr>
              <a:t> the trash?</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a:t>
            </a:r>
            <a:r>
              <a:rPr lang="en-US" sz="1700" dirty="0" b="1">
                <a:solidFill>
                  <a:srgbClr val="1B2236"/>
                </a:solidFill>
                <a:latin typeface="Lexend Deca" pitchFamily="34" charset="0"/>
                <a:ea typeface="Lexend Deca" pitchFamily="34" charset="-122"/>
                <a:cs typeface="Lexend Deca" pitchFamily="34" charset="-120"/>
              </a:rPr>
              <a:t>I'll take it out</a:t>
            </a:r>
            <a:r>
              <a:rPr lang="en-US" sz="1700" dirty="0" b="1">
                <a:solidFill>
                  <a:srgbClr val="1B2236"/>
                </a:solidFill>
                <a:latin typeface="Lexend Deca" pitchFamily="34" charset="0"/>
                <a:ea typeface="Lexend Deca" pitchFamily="34" charset="-122"/>
                <a:cs typeface="Lexend Deca" pitchFamily="34" charset="-120"/>
              </a:rPr>
              <a:t> now.</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an: a wind face and a puff of air [sign: FA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the past</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Did you take out</a:t>
            </a:r>
            <a:r>
              <a:rPr lang="en-US" sz="1700" dirty="0" b="1">
                <a:solidFill>
                  <a:srgbClr val="1B2236"/>
                </a:solidFill>
                <a:latin typeface="Lexend Deca" pitchFamily="34" charset="0"/>
                <a:ea typeface="Lexend Deca" pitchFamily="34" charset="-122"/>
                <a:cs typeface="Lexend Deca" pitchFamily="34" charset="-120"/>
              </a:rPr>
              <a:t> the trash?</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a:t>
            </a:r>
            <a:r>
              <a:rPr lang="en-US" sz="1700" dirty="0" b="1">
                <a:solidFill>
                  <a:srgbClr val="1B2236"/>
                </a:solidFill>
                <a:latin typeface="Lexend Deca" pitchFamily="34" charset="0"/>
                <a:ea typeface="Lexend Deca" pitchFamily="34" charset="-122"/>
                <a:cs typeface="Lexend Deca" pitchFamily="34" charset="-120"/>
              </a:rPr>
              <a:t>I took it out</a:t>
            </a:r>
            <a:r>
              <a:rPr lang="en-US" sz="1700" dirty="0" b="1">
                <a:solidFill>
                  <a:srgbClr val="1B2236"/>
                </a:solidFill>
                <a:latin typeface="Lexend Deca" pitchFamily="34" charset="0"/>
                <a:ea typeface="Lexend Deca" pitchFamily="34" charset="-122"/>
                <a:cs typeface="Lexend Deca" pitchFamily="34" charset="-120"/>
              </a:rPr>
              <a:t> this morning.</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Did you put away</a:t>
            </a:r>
            <a:r>
              <a:rPr lang="en-US" sz="1700" dirty="0" b="1">
                <a:solidFill>
                  <a:srgbClr val="1B2236"/>
                </a:solidFill>
                <a:latin typeface="Lexend Deca" pitchFamily="34" charset="0"/>
                <a:ea typeface="Lexend Deca" pitchFamily="34" charset="-122"/>
                <a:cs typeface="Lexend Deca" pitchFamily="34" charset="-120"/>
              </a:rPr>
              <a:t> the dishes?</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I didn't put them away</a:t>
            </a:r>
            <a:r>
              <a:rPr lang="en-US" sz="1700" dirty="0" b="1">
                <a:solidFill>
                  <a:srgbClr val="1B2236"/>
                </a:solidFill>
                <a:latin typeface="Lexend Deca" pitchFamily="34" charset="0"/>
                <a:ea typeface="Lexend Deca" pitchFamily="34" charset="-122"/>
                <a:cs typeface="Lexend Deca" pitchFamily="34" charset="-120"/>
              </a:rPr>
              <a:t> yet.</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Did you shut off</a:t>
            </a:r>
            <a:r>
              <a:rPr lang="en-US" sz="1700" dirty="0" b="1">
                <a:solidFill>
                  <a:srgbClr val="1B2236"/>
                </a:solidFill>
                <a:latin typeface="Lexend Deca" pitchFamily="34" charset="0"/>
                <a:ea typeface="Lexend Deca" pitchFamily="34" charset="-122"/>
                <a:cs typeface="Lexend Deca" pitchFamily="34" charset="-120"/>
              </a:rPr>
              <a:t> the water?</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Yes, </a:t>
            </a:r>
            <a:r>
              <a:rPr lang="en-US" sz="1700" dirty="0" b="1">
                <a:solidFill>
                  <a:srgbClr val="1B2236"/>
                </a:solidFill>
                <a:latin typeface="Lexend Deca" pitchFamily="34" charset="0"/>
                <a:ea typeface="Lexend Deca" pitchFamily="34" charset="-122"/>
                <a:cs typeface="Lexend Deca" pitchFamily="34" charset="-120"/>
              </a:rPr>
              <a:t>I shut it off</a:t>
            </a:r>
            <a:r>
              <a:rPr lang="en-US" sz="1700" dirty="0" b="1">
                <a:solidFill>
                  <a:srgbClr val="1B2236"/>
                </a:solidFill>
                <a:latin typeface="Lexend Deca" pitchFamily="34" charset="0"/>
                <a:ea typeface="Lexend Deca" pitchFamily="34" charset="-122"/>
                <a:cs typeface="Lexend Deca" pitchFamily="34" charset="-120"/>
              </a:rPr>
              <a:t> before I left.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Deadbolt: a lock and a doo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8 phrasal verbs for home</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VERB</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MEANING  ·  EXAMPLE</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turn off / turn up / turn down</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stop / more / less</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Turn off the lights. Turn the heat down at night.</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put on / put away</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wear / put in its place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Put on a sweater. Put the dishes away.</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take out / throw away</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 outside / put in the trash</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Take out the trash. Throw away old food.</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shut off</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stop (water, gas)</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Shut off the water.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Peephole: an eye and a doo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home tips</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START</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EXAMPLE</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Make sure you…</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Make sure you lock the deadbolt at night.</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Don't forget to…</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Don't forget to unplug the charger.</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We use too much…</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We use too much electricity.</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one word.</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one word.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lights are on. Please turn ____ off.</a:t>
            </a:r>
            <a:endParaRPr lang="en-US" sz="16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them</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It's hot. Can you turn ____ the fan?</a:t>
            </a:r>
            <a:endParaRPr lang="en-US" sz="16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up</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Did you take out the trash? Yes, I took ____ out.</a:t>
            </a:r>
            <a:endParaRPr lang="en-US" sz="16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It's cold. Put ____ a sweater.</a:t>
            </a:r>
            <a:endParaRPr lang="en-US" sz="16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on</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Make ____ you lock the deadbolt.</a:t>
            </a:r>
            <a:endParaRPr lang="en-US" sz="16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sure</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Don't ____ to unplug the charger.</a:t>
            </a:r>
            <a:endParaRPr lang="en-US" sz="16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forget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Turn ____, please.</a:t>
            </a:r>
            <a:endParaRPr lang="en-US" sz="16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it off</a:t>
            </a:r>
            <a:endParaRPr lang="en-US" sz="15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off it</a:t>
            </a:r>
            <a:endParaRPr lang="en-US" sz="15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Can you ____ the old milk?</a:t>
            </a:r>
            <a:endParaRPr lang="en-US" sz="16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throw away</a:t>
            </a:r>
            <a:endParaRPr lang="en-US" sz="15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throw on</a:t>
            </a:r>
            <a:endParaRPr lang="en-US" sz="15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It's late. Please turn ____ the music.</a:t>
            </a:r>
            <a:endParaRPr lang="en-US" sz="16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down</a:t>
            </a:r>
            <a:endParaRPr lang="en-US" sz="15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up</a:t>
            </a:r>
            <a:endParaRPr lang="en-US" sz="15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I ____ yesterday.</a:t>
            </a:r>
            <a:endParaRPr lang="en-US" sz="16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put them away</a:t>
            </a:r>
            <a:endParaRPr lang="en-US" sz="15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put away them</a:t>
            </a:r>
            <a:endParaRPr lang="en-US" sz="15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Don't forget ____ the door.</a:t>
            </a:r>
            <a:endParaRPr lang="en-US" sz="16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lock</a:t>
            </a:r>
            <a:endParaRPr lang="en-US" sz="15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lock</a:t>
            </a:r>
            <a:endParaRPr lang="en-US" sz="15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We use too ____ water.</a:t>
            </a:r>
            <a:endParaRPr lang="en-US" sz="16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much</a:t>
            </a:r>
            <a:endParaRPr lang="en-US" sz="15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many</a:t>
            </a:r>
            <a:endParaRPr lang="en-US" sz="15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Fire extinguisher: a fire extinguisher"/>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Turn off it.</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Turn </a:t>
            </a:r>
            <a:r>
              <a:rPr lang="en-US" sz="1700" dirty="0" b="1">
                <a:solidFill>
                  <a:srgbClr val="1B2236"/>
                </a:solidFill>
                <a:latin typeface="Lexend Deca" pitchFamily="34" charset="0"/>
                <a:ea typeface="Lexend Deca" pitchFamily="34" charset="-122"/>
                <a:cs typeface="Lexend Deca" pitchFamily="34" charset="-120"/>
              </a:rPr>
              <a:t>it off</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put away them.</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put </a:t>
            </a:r>
            <a:r>
              <a:rPr lang="en-US" sz="1700" dirty="0" b="1">
                <a:solidFill>
                  <a:srgbClr val="1B2236"/>
                </a:solidFill>
                <a:latin typeface="Lexend Deca" pitchFamily="34" charset="0"/>
                <a:ea typeface="Lexend Deca" pitchFamily="34" charset="-122"/>
                <a:cs typeface="Lexend Deca" pitchFamily="34" charset="-120"/>
              </a:rPr>
              <a:t>them away</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Close the light.</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Turn off</a:t>
            </a:r>
            <a:r>
              <a:rPr lang="en-US" sz="1700" dirty="0" b="1">
                <a:solidFill>
                  <a:srgbClr val="1B2236"/>
                </a:solidFill>
                <a:latin typeface="Lexend Deca" pitchFamily="34" charset="0"/>
                <a:ea typeface="Lexend Deca" pitchFamily="34" charset="-122"/>
                <a:cs typeface="Lexend Deca" pitchFamily="34" charset="-120"/>
              </a:rPr>
              <a:t> the light.</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Open the TV.</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Turn on</a:t>
            </a:r>
            <a:r>
              <a:rPr lang="en-US" sz="1700" dirty="0" b="1">
                <a:solidFill>
                  <a:srgbClr val="1B2236"/>
                </a:solidFill>
                <a:latin typeface="Lexend Deca" pitchFamily="34" charset="0"/>
                <a:ea typeface="Lexend Deca" pitchFamily="34" charset="-122"/>
                <a:cs typeface="Lexend Deca" pitchFamily="34" charset="-120"/>
              </a:rPr>
              <a:t> the TV.</a:t>
            </a:r>
            <a:endParaRPr lang="en-US" sz="1700" dirty="0" b="1"/>
          </a:p>
        </p:txBody>
      </p:sp>
      <p:sp>
        <p:nvSpPr>
          <p:cNvPr id="32" name="Bad 5"/>
          <p:cNvSpPr/>
          <p:nvPr/>
        </p:nvSpPr>
        <p:spPr>
          <a:xfrm>
            <a:off x="914400" y="473659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Don't forget lock the door.</a:t>
            </a:r>
            <a:endParaRPr lang="en-US" sz="1700" dirty="0"/>
          </a:p>
        </p:txBody>
      </p:sp>
      <p:sp>
        <p:nvSpPr>
          <p:cNvPr id="33" name="Good 5"/>
          <p:cNvSpPr/>
          <p:nvPr/>
        </p:nvSpPr>
        <p:spPr>
          <a:xfrm>
            <a:off x="4800600" y="473659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Don't forget </a:t>
            </a:r>
            <a:r>
              <a:rPr lang="en-US" sz="1700" dirty="0" b="1">
                <a:solidFill>
                  <a:srgbClr val="1B2236"/>
                </a:solidFill>
                <a:latin typeface="Lexend Deca" pitchFamily="34" charset="0"/>
                <a:ea typeface="Lexend Deca" pitchFamily="34" charset="-122"/>
                <a:cs typeface="Lexend Deca" pitchFamily="34" charset="-120"/>
              </a:rPr>
              <a:t>to</a:t>
            </a:r>
            <a:r>
              <a:rPr lang="en-US" sz="1700" dirty="0" b="1">
                <a:solidFill>
                  <a:srgbClr val="1B2236"/>
                </a:solidFill>
                <a:latin typeface="Lexend Deca" pitchFamily="34" charset="0"/>
                <a:ea typeface="Lexend Deca" pitchFamily="34" charset="-122"/>
                <a:cs typeface="Lexend Deca" pitchFamily="34" charset="-120"/>
              </a:rPr>
              <a:t> lock the door.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Usage: a bar chart and a lightning bolt [sign: USAGE]"/>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gives an instruction.</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mimes and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Can you unplug the charger?</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OK, I'll unplug it.</a:t>
            </a:r>
            <a:endParaRPr lang="en-US" sz="1900" dirty="0" b="0"/>
          </a:p>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1">
                <a:solidFill>
                  <a:srgbClr val="1B2236"/>
                </a:solidFill>
                <a:latin typeface="Lexend Deca" pitchFamily="34" charset="0"/>
                <a:ea typeface="Lexend Deca" pitchFamily="34" charset="-122"/>
                <a:cs typeface="Lexend Deca" pitchFamily="34" charset="-120"/>
              </a:rPr>
              <a:t> Don't forget to lock the deadbolt.</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points to a picture.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ave energy: a light bulb and a check mark [sign: SAVE ENERGY]"/>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800" dirty="0" b="1">
                <a:solidFill>
                  <a:srgbClr val="1B2236"/>
                </a:solidFill>
                <a:latin typeface="Lexend Deca" pitchFamily="34" charset="0"/>
                <a:ea typeface="Lexend Deca" pitchFamily="34" charset="-122"/>
                <a:cs typeface="Lexend Deca" pitchFamily="34" charset="-120"/>
              </a:rPr>
              <a:t>Energy Detective</a:t>
            </a:r>
            <a:endParaRPr lang="en-US" sz="28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Read a problem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reads a problem and gives an instruction.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Turn them off, please.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mimes and answers with it or them.</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OK, I'll turn them off.</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Then switch: B uses Apartment B.</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Unplug it. • Put it away.</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Deadbolt: a lock and a door"/>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Home Tips</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 of 3.</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Write 5 tips.</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5 tips to save energy or stay safe.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Turn down the heat at night.</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Use Make sure you… and Don't forget to…</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Make sure you lock the deadbolt.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Present them in 1 minute.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Unplug the charger when the phone is full.</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fast first.</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CITY POWER · A bill + a flyer (invented)</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much is the bill?</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$142.00.</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is it due?</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March 15.</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happens if you pay late?</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There is a $10 late fee.</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is a good temperature at night in winter?</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68 degrees.</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should you do before you open the door?</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Look through the peephole.</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Save energy: a light bulb and a check mark [sign: SAVE ENERGY]"/>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What can people do at home to save energy or stay safe?</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A tip with a phrasal verb.</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A tip with it or them.</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writing from Read &amp; Write C (your email).</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Look around your home.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(Lesson 9).</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Unplug: a plug and a red X">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10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Use phrasal verbs: turn off, put away…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Put it / them in the right place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tips to save energy and stay safe</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Sofia Ruiz, Hana, and Paul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10: Turn It Off</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